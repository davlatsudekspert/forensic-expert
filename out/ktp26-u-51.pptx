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KOAHni “soyabon” atama deb atashadi? 2) Nima uchun kichik havo yo‘llari “jim zona” deyiladi? Doskada chizish: KOAH markazda, ikki shox — emfizema va kichik havo yo‘llari kasalligi. Tipik xato: KOAH va emfizemani bir xil tushuncha deb hisoblash; emfizema KOAHning tarkibiy qismi xolos.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Havo xaltachalari yorilsa, nega kislorod qonga qiyin o‘tadi? 2) Nima uchun dastlabki belgilar e’tiborsiz qoladi? Doskada chizish: normal alveolalar va birlashib katta xaltaga aylangan alveolalar sxemasi. Tipik xato: emfizemani faqat “o‘pkaning havo bilan to‘lishi” deb bilish; asosiy mohiyat — devorlarning buzilishi.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Alfa-1 antitripsin tanqisligi chekuvchida nega xavfni ayniqsa oshiradi? 2) Qaysi xavf omillarini oldini olish mumkin? Doskada chizish: xavf omillari ikki guruhga — o‘zgartirib bo‘ladigan (chekish, havo) va genetik (alfa-1 antitripsin). Tipik xato: infeksiyani emfizemaning asosiy sababi deb hisoblash; u faqat xavfni oshiruvchi omil.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bitta gipoteza emfizemani to‘liq tushuntirmaydi? 2) Mexanizmlar bir-birini istisno qiladimi (manbaga ko‘ra yo‘q, ular o‘zaro ta’sirlashishi mumkin)? Doskada: yetti mexanizmni markazda proteaza–antiproteaza bo‘lgan aylana sxemada chizdiring, oqibat mexanizmlarini alohida belgilang. Tipik xato: elastik tola shikastini birlamchi sabab deb hisoblash. Manbada tartib sub’ektiv ekani ham aytilgan.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A1AT tanqisligida emfizema chekmaydigan odamda ham rivojlanishi mumkin? 2) Tajriba dalillari gipotezani qanday quvvatlaydi? Doskada: tarozi chizing, bir pallada proteazalar (NE), ikkinchisida inhibitor (A1AT), elastin esa o‘rtada. Tipik xato: emfizemani faqat infeksiya natijasi deb o‘ylash; manbada u yallig‘lanish va nazoratsiz proteazalar bilan bog‘langan.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oksidantlar proteaza–antiproteaza muvozanatiga ham ta’sir qiladi? 2) Nrf2 buzilishi nimaga olib keladi? Doskada: 3-tugundan 2-tugunga qaytuvchi strelka bilan o‘z-o‘zini kuchaytiruvchi sikl chizing. Tipik xato: oksidantlarni faqat tashqi manba (tutun) deb hisoblash; endogen manba ham faol hujayralardir (neytrofil, makrofag, epiteliy).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elastokinlar halqani yopuvchi bo‘g‘in hisoblanadi? Elastokinlar ham marker, ham davo nishoni bo‘la oladimi? Doskada: 5 tugunli halqani strelkalar bilan chizib, oxirgi tugundan birinchisiga qaytuvchi strelka qo‘shing. Tipik xato: elastokinlarni elastinning o‘zi deb o‘ylash; ular proteaza ta’sirida hosil bo‘lgan bo‘laklar.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chekishni tashlash nega yallig‘lanishni darhol to‘xtatmasligi mumkin? Apoptoz qanday hujayralar yo‘qolishiga olib keladi? Doskada: makrofag va CD8+ limfotsitdan alveolyar to‘siqqa strelkalar chizing. Tipik xato: apoptozni kasallikni boshlovchi omil deb hisoblash; manbada u boshlovchi emas, progressiya va qaytmaslikka hissa qo‘shuvchi omil deyilgan.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elastik tolalar yo‘qolsa nafas chiqarish nega qiyinlashadi? Notekis shikastlanishdan so‘ng qolgan alveolalar nima uchun ortiqcha zo‘riqadi? Doskada: sog‘lom alveola bilan emfizemali alveolani yonma-yon chizib, tortib turuvchi tolalarni ko‘rsating. Tipik xato: elastik tola shikasti emfizemaning birlamchi sababi deb o‘ylash; manbada u oqibat, lekin zararli rol o‘ynashi aytilgan.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proteaza–antiproteaza gipotezasi markaziy deb olinadi? 2) Sabab va oqibat farqi nimada? Doskada: 5 ta mexanizmni ahamiyat zanjiri ko‘rinishida chizing, sabablarni bir rangda, oqibatlarni boshqa rangda belgilang. Tipik xato: apoptozni boshlovchi omil deb o‘ylash. Eslatma: mualliflar bu tartib ‘‘ma’lum darajada subyektiv’’ va gipotezalar bir-birini inkor etmasligini aytadi.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Kutilgan javob: genetik tanqislik (elastaza nazoratsiz) + chekish (oksidant, inhibitorni inaktivlash) → elastin parchalanishi, alveola devori buzilishi. Manbaga ko‘ra alfa-1 antitripsin tanqisligini skrining qilish barcha emfizemali bemorlarga, ayniqsa 45 yoshdan kichik yoki chekmaydiganlarga tavsiya etiladi. Muhokama: 1) Chekish bu holatda xavfni qanday oshiradi? 2) Nega ikki mexanizm bir-birini kuchaytiradi? Doskada: ‘‘tanqislik + chekish → proteoliz’’ sxemasini chizing. Tipik xato: genetik va chekishdan kelgan emfizemani butunlay alohida jarayon deb bilish. Vaziyat o‘quv maqsadida soddalashtirilgan.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(blits, har savolga ~1 daq). Javoblar: 1) proteaza–antiproteaza nomutanosibligi; 2) oqibat, lekin boshlanish va avj olishda zararli rol o‘ynaydi; yakuniy natija — havo bo‘shliqlarining kengayishi; 3) proteazalar (neytrofil elastaza, MMP-12, katepsinlar) elastinni parchalaydi; oksidantlar A1AT kabi inhibitorlarni inaktivlaydi va/yoki elastinni bevosita oksidlaydi; 4) CD8+ T-limfotsitlar. Muhokama: nega elastik tola shikasti ‘‘oqibat’’ bo‘lsa-da, muhim? Doskada: elastin buzilishining ikki yo‘lini chizing. Tipik xato: elastik tola shikasti va proteaza gipotezasini bir xil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kichik yo‘llar ‘jim zona‘ deyiladi? 2) Spirometriya normal bo‘lsa ham kichik yo‘l kasalligi bo‘lishi mumkinmi? Doskada: bronxial daraxtni chizib, 2 mm chegarasi va 8–15-avlodni belgilang. Tipik xato: kichik yo‘llarni alveolalar bilan adashtirish; bu bronxiolalar, alveolalar esa ularning distalida joylashgan.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Laminar oqim nega gaz zichligiga kam bog‘liq? 2) Sirt faol qatlam kollapsdan qanday himoya qiladi? Doskada: ikki ustunli jadvalni talabalar bilan birga to‘ldiring. Tipik xato: kichik yo‘llarning qarshilikka hissasi normada katta deb o‘ylash; aslida taxminan 10%, lekin kasallikda keskin oshadi. Diqqat: laminar ≠ turbulent oqim.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neytrofillar eng birinchi hujayralar hisoblanadi? 2) Qaysi bosqichda o‘zgarishlar qaytmas bo‘lib qoladi? Doskada: boshlanish → kengayish → qayta qurilish zanjirini strelkalar bilan chizing va har bosqichga bitta asosiy hodisa yozing. Tipik xato: bosqichlar tartibini aralashtirish; masalan fibrozni boshlanish bosqichiga qo‘yish.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takroriy shikast tiklanish tsikli kasallikni boshlaydi? 2) EMT qanday o‘zgarishlar bilan namoyon bo‘ladi? Doskada: shikastdan shilimshiq tiqingacha bo‘lgan zanjirni chizdiring. Tipik xato: EMT tomonidan yo‘l obstruksiyasiga qo‘shgan hissasini aniq isbotlangan deb hisoblash; manbada bu munozarali deyilgan.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Shilimshiq tiqin nega yallig‘lanishni kuchaytiradi? 2) SIgA kamayishi infeksiyaga moyillikka qanday olib keladi? Doskada: tiqin, yallig‘lanish va infeksiya o‘rtasidagi yopiq doirani chizdiring. Tipik xato: shilimshiq tiqinni faqat mexanik to‘siq deb o‘ylash; manbada u mikroblar uchun muhit ham yaratadi.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Spirometriya me’yorda bo‘lsa-yu, bemorda kichik yo‘l shikasti bo‘lishi mumkinmi? 2) Erta aniqlash uchun qanday qo‘shimcha usullar kerak (masalan, impuls ossillometriya, ko‘p nafasli yuvish, HRCT-PRM)? Doskada: «me’yoriy spirometriya» va «kichik yo‘l shikasti» ni ikki ustunda solishtiring. Tipik xato: me’yoriy spirometriyani kasallik yo‘qligi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kichik yo‘llarda avval neytrofillar, keyin makrofag va T-limfotsitlar paydo bo‘ladi? 2) Eozinofilli fenotipni aniqlash davolashni qanday o‘zgartiradi? Doskada: hujayralar ketma-ketligini strelkalar bilan chizing (neytrofil → makrofag → T-limfotsit) va har biriga mediatorni yozing. Tipik xato: yallig‘lanishda faqat neytrofillar bor deb o‘ylash; manbada keyingi bosqichda makrofag va T-limfotsitlar ham qatnashadi.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SASP nima uchun yallig‘lanishni kuchaytiradi? 2) miR-34a va SIRT1/6 o‘rtasidagi bog‘liqlik nimani anglatadi? Doskada: yopiq halqa chizing (yallig‘lanish → qarish → SASP → yangi qarish). Tipik xato: qarishni oddiy hujayra o‘limi bilan adashtirish; qarigan hujayra o‘lmaydi, doimiy o‘sishdan to‘xtaydi va omillar ajratadi.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ROS–IL-1β halqasini qaysi nuqtada uzish mumkin? 2) Substans P nima uchun ham tiklovchi, ham fibrozga olib keluvchi ta’sir ko‘rsatadi? Doskada: ROS → NLRP3 → IL-1β → neytrofil → ROS halqasini chizing. Tipik xato: NK1 antagonistlari KOO da isbotlangan davo deb o‘ylash; manbada ular hayvon modellarida sinalgan va dalillar dastlabki.</a:t>
            </a:r>
          </a:p>
          <a:p/>
          <a:p>
            <a:r>
              <a:t>Tekshirish kerak (manbada noaniq):</a:t>
            </a:r>
          </a:p>
          <a:p>
            <a:r>
              <a:t>- NK1 retseptor antagonistlari (masalan, aprepitant) hayvon modelida yallig‘lanish va fibrozni kamaytirdi. Mexanizm va klinik dalillar dastlabki bosqichda.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Qisqartmalar: ASM (havo yo‘li silliq mushagi), TGF-β (o‘zgartiruvchi o‘sish omili-β), PDGF (trombotsitlardan olingan o‘sish omili), EMT (epiteliy-mezenximal o‘tish), MMP (matriks metalloproteinaza), TIMP (MMP to‘qima ingibitori), α-SMA (α-silliq mushak aktini). Muhokama: nima uchun MMP/TIMP buzilishi bir vaqtda ham yemirilish, ham cho‘kish beradi? Doskada: diagrammadagi 5 bosqichni strelkalar bilan chizdiring va har bosqichga bitta signal yo‘lini yozdiring. Tipik xato: fibrozni faqat yemirilish deb o‘ylash; manbada ikkalasi birga kechishi (fazoviy notekis qayta qurilish) ta’kidlanadi.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Diqqat: arterial remodeling ≠ kapillyar siyraklashuvi. Birinchisi qarshilikni (gemodinamika), ikkinchisi gaz almashinuvini buzadi. Qisqartmalar: DLCO (o‘pkaning diffuziya sig‘imi), V/Q (ventilyatsiya/perfuziya nisbati), pruning (distal arteriyalarning kamayishi). Muhokama: qaysi o‘zgarish o‘ng qorincha yuklamasini oshiradi va nima uchun? Doskada: ikki ustunli taqqoslash jadvalini daftarga chizdiring. Tipik xato: ikkalasini bitta jarayon deb aytish.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GOLD (Global Initiative for Chronic Obstructive Lung Disease) bosqichlari: I–II erta bosqich. Muhokama: nima uchun hujayralar aynan alveola birikish joylarida to‘planishi muhim? Epigenetik signal sababmi yoki oqibatmi? Doskada: terminal bronxiola, alveola va ularga yig‘ilgan hujayralar sxemasini chizing. Tipik xato: 4-bandni isbotlangan sabab deb aytish; manbada bu faqat taxmin (suggesting) sifatida berilgan.</a:t>
            </a:r>
          </a:p>
          <a:p/>
          <a:p>
            <a:r>
              <a:t>Tekshirish kerak (manbada noaniq):</a:t>
            </a:r>
          </a:p>
          <a:p>
            <a:r>
              <a:t>- T-hujayra va makrofaglarda RNK metilatsiyasi va autofagiya genlari faol, yallig‘lanish bilan bog‘liq; bu epigenetik signal yuqori bo‘g‘in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Parenximal shikastlanishni hisobga olgandan keyin ham bashorat kuchining saqlanishi nimani anglatadi? (2) Chekuvchida simptomlar yo‘q bo‘lsa ham KT nega foydali? Doskada chizish: normal va kesilgan (pruning) distal arteriyalar daraxti, o‘ng qorincha tomon strelka. Tipik xato: pruning ni kapillyar rarefikatsiya bilan aralashtirish; pruning KT da ko‘rinadigan distal arteriyalar hajmining kamayishi.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Javoblar: (1) qutblilik va hujayralararo aloqalarni yo‘qotadi, mezenxima-o‘xshash fenotip oladi (ko‘chish va kollagen to‘planishi kuchayadi); (2) senessent hujayralar ajratadigan yallig‘lanish va fibrozga undovchi omillar: IL-6, IL-8, MMP-9, MMP-12; (3) silliq mushak proliferatsiyasi, ECM fibrozi va tomirlar pruningi. Muhokama: EMT va SASP qanday qilib bir-birini kuchaytiradi? Doskada: Initiation → Expansion → Remodeling zanjiri. Tipik xato: remodeling ni faqat fibroz deb tushunish, tomir o‘zgarishlarini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FEV1 normal bo‘lib, kichik yo‘llar shikastlangan bo‘lishi mumkin? (2) Chekuvchini skrining qilishda FEV3/FEV6 ni qanday rolda ishlatish mumkin? Doskada: FVC egri chizig‘ini chizib, 25–75% oralig‘ini va FEV1, FEV3, FEV6 nuqtalarini belgilang. Tipik xato: MMEF ni mustaqil ishonchli ‘oltin standart’ deb qabul qilish; manbada u tortishuvli. Slaydda faqat ’qayta tuzilgan’ ma‘lumot: FEV3/FEV6 ning mortalitetga ta‘siri noaniq.</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MBW bolalar va chaqaloqlar uchun qulay? 2) IOS spirometriyadan qaysi jihati bilan afzal? Doskada chizing: SBW, MBW va IOS uchun ‘bemor kuchi’ o‘qi bo‘yicha taqqoslash chizig‘i. Tipik xato: LCI ni SBW parametri deb o‘ylash; LCI MBW ko‘rsatkichi, SIII esa SBW ko‘rsatkichi.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sog‘lom odamda nafas tezligi Cdyn ga ta’sir qilmaydi? 2) Normal spirometriyada Cdyn pasayishi nimani bildiradi? Doskada chizing: τ = R⋅C formulasi va tez nafasda ikki xil hudud sxemasi. Tipik xato: Cdyn ni statik compliance bilan aralashtirish; statik compliance yo‘llar qarshiligiga bog‘liq emas, Cdyn esa bog‘liq.</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PRM nega oddiy spirometriyadan ko‘ra ko‘proq ma’lumot beradi? 2) Qaysi bemorlarda PRM ni tanlash o‘rinli? Doskada chizing: PRM ning 5 bosqichli zanjiri va fSAD hamda emfizema hududlarini ajratuvchi sxema. Tipik xato: PRM ni struktura tasviri deb o‘ylash; u gaz tutilishi, ya’ni funksiyani ko‘rsatadi, devor qalinlashuvini esa HRCT baholaydi.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VDP nima uchun FEV1 dan farq qiladi? 2) Nega bu usullar hali rutin emas? Doskada: VDP = ventilyatsiyalangan hajm / proton MRT hajmi sxemasini chizdiring. Qo‘shimcha: bronxodilatatordan keyin VDP astmada o‘rtacha 33%, COPD da 14% kamaygan. Tipik xato: SPECT/CT ni COPD skrining usuli deb o‘ylash; yo‘riqnomalar uni asosan o‘pka emboliyasi uchun tavsiya qiladi.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Spirometriya normal bo‘lsa, kichik yo‘l kasalligini qaysi usul bilan izlaysiz? 2) PRM nima uchun rutin emas? Doskada: usullarni sezgirlik va qulaylik bo‘yicha ikki o‘qli sxemada joylashtiring. Tipik xato: normal FEV1 kichik yo‘l zararini istisno qiladi deb o‘ylash. Diqqat: fSAD ≠ emfizema, PRM ularni ajratadi.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elastaza modeli odam kasalligini to‘liq aks ettirmaydi? 2) Desmozin elastin aylanishi haqida nimani bildiradi? Doskada: elastin parchalanishi → desmozin ajralishi zanjirini chizing. Tipik xato: hayvon modelini odam kasalligining to‘liq nusxasi deb hisoblash. Diqqat: sRAGE qonda, desmozin esa BAL, balg‘am, plazma va siydikda o‘lchanadi.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Nega LABA va LAMA birgalikda qo‘llanadi? 2) Bronxodilatatorlar emfizemani davolaydimi? Doskaga chizing: ikki dori turining retseptor mexanizmi. Tipik xato: bronxodilatatorni emfizemani davolovchi vosita deb o‘ylash (ular faqat simptomni yengillashtiradi).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Muhokama: 1) Antibiotik emfizemada qachon foydali? 2) Kortikosteroid kimlarga ajratiladi? Doskaga chizing: uch ustunli jadval. Tipik xato: antibiotikni emfizemaning asosiy davosi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COPD — surunkali obstruktiv o‘pka kasalligi; GOLD — shu kasallik bo‘yicha global yo‘riqnoma. Muhokama: 1) Nega chekishni tashlash birinchi o‘rinda? 2) Kortikosteroid qaysi bemorlarga qo‘shiladi (tez-tez avj olish)? Doskada: zanjirni 5 pog‘onali narvon shaklida chizdiring. Tipik xato: bronxodilatatorlar emfizemani davolaydi deb o‘ylash — ular faqat simptomni yengillatadi, o‘pka shikasti qaytmaydi.</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Senolitik dori nima uchun faqat qarigan hujayralarga ta’sir qilishi kerak? 2) Nega antifibrotik dorilar bo‘yicha dalillar hozircha asosan tajriba modellaridan? Doskada: «yallig‘lanish → qarish → fibroz» uchburchagini chizib, har tomonga bitta dori guruhini yozdiring. Tipik xato: sichqon modelidagi natijani odamda isbotlangan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Emfizema va SAD bir kasallikning ikki yuzi ekanini qanday tushuntirasiz? 2) Spirometriya normal bo‘lganda qaysi usullar yordam beradi? Doskada: SAD → emfizema → aniq COPD yo‘nalishini strelkalar bilan chizdiring. Qo‘shimcha: yuqori aniqlikdagi KT (HRCT) va parametrik xaritalash (PRM) funksional SAD ni emfizemadan ajratadi. Tipik xato: normal spirometriyani «kasallik yo‘q» deb talqin qilish.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Surunkali obstruktiv o'pkaning patomorfologik xususiyatlari Kasalliklar</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KOAH patomorfologiyasi va ma‘ruza rejasi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KOAH (surunkali obstruktiv o‘pka kasalligi) — havo oqimini asta-sekin yomonlashtiradigan o‘pka kasalliklarining umumiy “soyabon” atamasi.</a:t>
            </a:r>
          </a:p>
          <a:p>
            <a:pPr>
              <a:spcAft>
                <a:spcPts val="1200"/>
              </a:spcAft>
            </a:pPr>
            <a:r>
              <a:rPr sz="2200">
                <a:solidFill>
                  <a:srgbClr val="1F2937"/>
                </a:solidFill>
                <a:latin typeface="Calibri"/>
              </a:rPr>
              <a:t>▸  Emfizema KOAHning eng keng tarqalgan tarkibiy qismlaridan biri: unda o‘pka elastikligi yo‘qoladi va gaz almashinuvi buziladi.</a:t>
            </a:r>
          </a:p>
          <a:p>
            <a:pPr>
              <a:spcAft>
                <a:spcPts val="1200"/>
              </a:spcAft>
            </a:pPr>
            <a:r>
              <a:rPr sz="2200">
                <a:solidFill>
                  <a:srgbClr val="1F2937"/>
                </a:solidFill>
                <a:latin typeface="Calibri"/>
              </a:rPr>
              <a:t>▸  Ikkinchi bo‘lim kichik havo yo‘llariga bag‘ishlanadi: diametri 2 mm dan kichik, tog‘aysiz bronxiolalar KOAHning eng erta bosqichlarida ko‘p zararlanadi.</a:t>
            </a:r>
          </a:p>
          <a:p>
            <a:pPr>
              <a:spcAft>
                <a:spcPts val="1200"/>
              </a:spcAft>
            </a:pPr>
            <a:r>
              <a:rPr sz="2200">
                <a:solidFill>
                  <a:srgbClr val="1F2937"/>
                </a:solidFill>
                <a:latin typeface="Calibri"/>
              </a:rPr>
              <a:t>▸  Maqsad: emfizema va kichik havo yo‘llari o‘zgarishlarini tushunish hamda “erta aniqlash, erta tashxis, erta aralashuv” tamoyilini o‘zlashtirish.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Bentaher A va boshq., Pulmonary Emphysema: Current Understanding of Disease Pathogenesis and Therapeutic Approaches, betlar: PMID 41007683, 1-bo‘lim, PMID 41007683, Abstract va 1-bo‘lim; Ruoyi Zhou va boshq., Small airway disease as a key factor in COPD: new perspectives and insights, betlar: PMID 41080967, Abstract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KOAH va emfizema: ta‘rif, morfologiya,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Emfizema — terminal bronxiolalardan distal havo bo‘shliqlarining asta-sekin kengayishi bo‘lib, bu bo‘shliqlar devorlarining buzilishidan kelib chiqadi.</a:t>
            </a:r>
          </a:p>
          <a:p>
            <a:pPr>
              <a:spcAft>
                <a:spcPts val="800"/>
              </a:spcAft>
            </a:pPr>
            <a:r>
              <a:rPr sz="1600">
                <a:solidFill>
                  <a:srgbClr val="1F2937"/>
                </a:solidFill>
                <a:latin typeface="Calibri"/>
              </a:rPr>
              <a:t>▸  Havo xaltachalari vaqt o‘tib yorilib, bitta “katta xalta” hosil qiladi va havo tutilib qoladi; kislorod qonga qiyin o‘tadi, o‘pka esa “to‘lib” boradi.</a:t>
            </a:r>
          </a:p>
          <a:p>
            <a:pPr>
              <a:spcAft>
                <a:spcPts val="800"/>
              </a:spcAft>
            </a:pPr>
            <a:r>
              <a:rPr sz="1600">
                <a:solidFill>
                  <a:srgbClr val="1F2937"/>
                </a:solidFill>
                <a:latin typeface="Calibri"/>
              </a:rPr>
              <a:t>▸  Belgilar: nafas qisishi, balg‘amli surunkali yo‘tal, xirillash, ko‘krakda siqilish. Dastlab ular yengil bo‘lib, e’tibordan chetda qolishi mumkin.</a:t>
            </a:r>
          </a:p>
          <a:p>
            <a:pPr>
              <a:spcAft>
                <a:spcPts val="800"/>
              </a:spcAft>
            </a:pPr>
            <a:r>
              <a:rPr sz="1600">
                <a:solidFill>
                  <a:srgbClr val="1F2937"/>
                </a:solidFill>
                <a:latin typeface="Calibri"/>
              </a:rPr>
              <a:t>▸  Kasallik dunyo aholisining taxminan 9–10 foizida uchraydi va yaqin yillarda o‘lim sabablari orasida uchinchi o‘rinni egallashi kutilmoqda.</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Dunyo aholisida</a:t>
            </a:r>
          </a:p>
          <a:p>
            <a:pPr algn="l">
              <a:spcAft>
                <a:spcPts val="100"/>
              </a:spcAft>
            </a:pPr>
            <a:r>
              <a:rPr sz="3000" b="1">
                <a:solidFill>
                  <a:srgbClr val="0B1F3A"/>
                </a:solidFill>
                <a:latin typeface="Calibri"/>
              </a:rPr>
              <a:t>9–10 %</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O‘lim sabablari orasida</a:t>
            </a:r>
          </a:p>
          <a:p>
            <a:pPr algn="l">
              <a:spcAft>
                <a:spcPts val="100"/>
              </a:spcAft>
            </a:pPr>
            <a:r>
              <a:rPr sz="2300" b="1">
                <a:solidFill>
                  <a:srgbClr val="0B1F3A"/>
                </a:solidFill>
                <a:latin typeface="Calibri"/>
              </a:rPr>
              <a:t>3-o‘rin (kutilmoqda)</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Kichik yo‘llar diametri</a:t>
            </a:r>
          </a:p>
          <a:p>
            <a:pPr algn="l">
              <a:spcAft>
                <a:spcPts val="100"/>
              </a:spcAft>
            </a:pPr>
            <a:r>
              <a:rPr sz="3000" b="1">
                <a:solidFill>
                  <a:srgbClr val="0B1F3A"/>
                </a:solidFill>
                <a:latin typeface="Calibri"/>
              </a:rPr>
              <a:t>&lt;2 mm</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Emfizema va kichik yo‘llar: raqamlar</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Bentaher A va boshq., Pulmonary Emphysema: Current Understanding of Disease Pathogenesis and Therapeutic Approaches, betlar: PMID 41007683, 1-bo‘lim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Emfizemaning xavf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Asosiy xavf omili — sigaret chekish. Atrof-muhit omillari ham muhim: havo ifloslanishi, chang va kimyoviy moddalar.</a:t>
            </a:r>
          </a:p>
          <a:p>
            <a:pPr>
              <a:spcAft>
                <a:spcPts val="800"/>
              </a:spcAft>
            </a:pPr>
            <a:r>
              <a:rPr sz="1600">
                <a:solidFill>
                  <a:srgbClr val="1F2937"/>
                </a:solidFill>
                <a:latin typeface="Calibri"/>
              </a:rPr>
              <a:t>▸  Havo ifloslanishida zarrachalar tarkibidagi ikkilamchi organik aerozollar (SOA) emfizema rivojlanishining muhim xavf omili sifatida ko‘rsatilgan.</a:t>
            </a:r>
          </a:p>
          <a:p>
            <a:pPr>
              <a:spcAft>
                <a:spcPts val="800"/>
              </a:spcAft>
            </a:pPr>
            <a:r>
              <a:rPr sz="1600">
                <a:solidFill>
                  <a:srgbClr val="1F2937"/>
                </a:solidFill>
                <a:latin typeface="Calibri"/>
              </a:rPr>
              <a:t>▸  Genetik omil — alfa-1 antitripsin (neytrofil elastazaning asosiy fiziologik ingibitori) tanqisligi; u ayniqsa chekuvchilarda xavfni oshiradi.</a:t>
            </a:r>
          </a:p>
          <a:p>
            <a:pPr>
              <a:spcAft>
                <a:spcPts val="800"/>
              </a:spcAft>
            </a:pPr>
            <a:r>
              <a:rPr sz="1600">
                <a:solidFill>
                  <a:srgbClr val="1F2937"/>
                </a:solidFill>
                <a:latin typeface="Calibri"/>
              </a:rPr>
              <a:t>▸  Takroriy nafas yo‘li infeksiyalari (masalan, pnevmoniya) va astma ham emfizema xavfini oshiradi yoki uning rivojlanishini tezlashtiradi.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Emfizema xavf omillari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Sigaret chekish</a:t>
            </a:r>
          </a:p>
          <a:p>
            <a:pPr algn="l">
              <a:spcAft>
                <a:spcPts val="0"/>
              </a:spcAft>
            </a:pPr>
            <a:r>
              <a:rPr sz="1200" b="0">
                <a:solidFill>
                  <a:srgbClr val="1F2937"/>
                </a:solidFill>
                <a:latin typeface="Calibri"/>
              </a:rPr>
              <a:t>Asosiy xavf omili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Atrof-muhit</a:t>
            </a:r>
          </a:p>
          <a:p>
            <a:pPr algn="l">
              <a:spcAft>
                <a:spcPts val="0"/>
              </a:spcAft>
            </a:pPr>
            <a:r>
              <a:rPr sz="1200" b="0">
                <a:solidFill>
                  <a:srgbClr val="1F2937"/>
                </a:solidFill>
                <a:latin typeface="Calibri"/>
              </a:rPr>
              <a:t>Havo ifloslanishi (SOA)  ·  Chang va kimyoviy moddalar</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Genetik omil</a:t>
            </a:r>
          </a:p>
          <a:p>
            <a:pPr algn="l">
              <a:spcAft>
                <a:spcPts val="0"/>
              </a:spcAft>
            </a:pPr>
            <a:r>
              <a:rPr sz="1200" b="0">
                <a:solidFill>
                  <a:srgbClr val="1F2937"/>
                </a:solidFill>
                <a:latin typeface="Calibri"/>
              </a:rPr>
              <a:t>Alfa-1 antitripsin tanqisligi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Infeksiya va astma</a:t>
            </a:r>
          </a:p>
          <a:p>
            <a:pPr algn="l">
              <a:spcAft>
                <a:spcPts val="0"/>
              </a:spcAft>
            </a:pPr>
            <a:r>
              <a:rPr sz="1200" b="0">
                <a:solidFill>
                  <a:srgbClr val="1F2937"/>
                </a:solidFill>
                <a:latin typeface="Calibri"/>
              </a:rPr>
              <a:t>Takroriy nafas yo‘li infeksiyasi  ·  Astma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Xavf omillari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Bentaher A va boshq., Pulmonary Emphysema: Current Understanding of Disease Pathogenesis and Therapeutic Approaches, betlar: PMID 41007683, 2-bo‘lim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Patogenez gipotezalari: umumiy ko‘rinish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Emfizema patogenezi murakkab va to‘liq tushunilmagan; asosan alveolalar, bilvosita kichik nafas yo‘llari zararlanadi.</a:t>
            </a:r>
          </a:p>
          <a:p>
            <a:pPr>
              <a:spcAft>
                <a:spcPts val="800"/>
              </a:spcAft>
            </a:pPr>
            <a:r>
              <a:rPr sz="1800">
                <a:solidFill>
                  <a:srgbClr val="1F2937"/>
                </a:solidFill>
                <a:latin typeface="Calibri"/>
              </a:rPr>
              <a:t>▸  Proteaza–antiproteaza muvozanatsizligi genetik va chekishdan kelgan emfizemada eng markaziy gipoteza hisoblanadi.</a:t>
            </a:r>
          </a:p>
          <a:p>
            <a:pPr>
              <a:spcAft>
                <a:spcPts val="800"/>
              </a:spcAft>
            </a:pPr>
            <a:r>
              <a:rPr sz="1800">
                <a:solidFill>
                  <a:srgbClr val="1F2937"/>
                </a:solidFill>
                <a:latin typeface="Calibri"/>
              </a:rPr>
              <a:t>▸  Diqqat: elastik tola shikasti va to‘qima tortilishining yo‘qolishi oqibat; ularni birlamchi sabab deb bo‘lmaydi.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Emfizema patogenezi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Proteaza–antiproteaza</a:t>
            </a:r>
          </a:p>
          <a:p>
            <a:pPr algn="l">
              <a:spcAft>
                <a:spcPts val="0"/>
              </a:spcAft>
            </a:pPr>
            <a:r>
              <a:rPr sz="1200" b="0">
                <a:solidFill>
                  <a:srgbClr val="1F2937"/>
                </a:solidFill>
                <a:latin typeface="Calibri"/>
              </a:rPr>
              <a:t>Elastin parchalanadi  ·  Eng markaziy gipoteza</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Oksidant–antioksidant</a:t>
            </a:r>
          </a:p>
          <a:p>
            <a:pPr algn="l">
              <a:spcAft>
                <a:spcPts val="0"/>
              </a:spcAft>
            </a:pPr>
            <a:r>
              <a:rPr sz="1200" b="0">
                <a:solidFill>
                  <a:srgbClr val="1F2937"/>
                </a:solidFill>
                <a:latin typeface="Calibri"/>
              </a:rPr>
              <a:t>Proteazani kuchaytiradi  ·  Apoptozni oshiradi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Yallig‘lanish, immun javob</a:t>
            </a:r>
          </a:p>
          <a:p>
            <a:pPr algn="l">
              <a:spcAft>
                <a:spcPts val="0"/>
              </a:spcAft>
            </a:pPr>
            <a:r>
              <a:rPr sz="1200" b="0">
                <a:solidFill>
                  <a:srgbClr val="1F2937"/>
                </a:solidFill>
                <a:latin typeface="Calibri"/>
              </a:rPr>
              <a:t>Makrofag, CD8+ T-hujayra  ·  Elastokin sikli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Apoptoz, tola, mexanika</a:t>
            </a:r>
          </a:p>
          <a:p>
            <a:pPr algn="l">
              <a:spcAft>
                <a:spcPts val="0"/>
              </a:spcAft>
            </a:pPr>
            <a:r>
              <a:rPr sz="1200" b="0">
                <a:solidFill>
                  <a:srgbClr val="1F2937"/>
                </a:solidFill>
                <a:latin typeface="Calibri"/>
              </a:rPr>
              <a:t>Asosan oqibat  ·  Qaytmaslikni kuchaytiradi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Yetti mexanizm: qisqacha</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Bentaher A va boshq., Pulmonary Emphysema: Current Understanding of Disease Pathogenesis and Therapeutic Approaches, betlar: PMID 41007683; DOI 10.3390/biomedicines13092120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Proteaza–antiproteaza muvozanatsizligi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Uzoq ta’sir proteazaga boy muhit yaratadi; proteazalar asosan elastinni parchalaydi.</a:t>
            </a:r>
          </a:p>
          <a:p>
            <a:pPr>
              <a:spcAft>
                <a:spcPts val="800"/>
              </a:spcAft>
            </a:pPr>
            <a:r>
              <a:rPr sz="1800">
                <a:solidFill>
                  <a:srgbClr val="1F2937"/>
                </a:solidFill>
                <a:latin typeface="Calibri"/>
              </a:rPr>
              <a:t>▸  Neytrofil elastaza (NE) inhibitori alfa-1 antitripsin (A1AT) tanqisligi emfizemaga moyil qiladi.</a:t>
            </a:r>
          </a:p>
          <a:p>
            <a:pPr>
              <a:spcAft>
                <a:spcPts val="800"/>
              </a:spcAft>
            </a:pPr>
            <a:r>
              <a:rPr sz="1800">
                <a:solidFill>
                  <a:srgbClr val="1F2937"/>
                </a:solidFill>
                <a:latin typeface="Calibri"/>
              </a:rPr>
              <a:t>▸  Tajriba: proteaza geni o‘chirilsa sichqon himoyalanadi; o‘pkaga proteaza yuborilsa emfizema chiqadi.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Uzoq chekish va boshqa omillar</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Proteazaga boy muhit</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Proteaza ustun, inhibitor kam</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Elastin parchalanadi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Tuzilma yo‘qoladi: emfizema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Proteaza–antiproteaza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Bentaher A va boshq., Pulmonary Emphysema: Current Understanding of Disease Pathogenesis and Therapeutic Approaches, betlar: PMID 41007683; DOI 10.3390/biomedicines13092120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Oksidant–antioksidant muvozanatsizligi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Oksidantlar (vodorod peroksid, azot oksidi va b.) oqsil, lipid va nuklein kislotalarni shikastlaydi.</a:t>
            </a:r>
          </a:p>
          <a:p>
            <a:pPr>
              <a:spcAft>
                <a:spcPts val="800"/>
              </a:spcAft>
            </a:pPr>
            <a:r>
              <a:rPr sz="1800">
                <a:solidFill>
                  <a:srgbClr val="1F2937"/>
                </a:solidFill>
                <a:latin typeface="Calibri"/>
              </a:rPr>
              <a:t>▸  Oksidantlar proteaza inhibitorlarini inaktivlaydi; yangi chaqirilgan hujayralar siklni kuchaytiradi.</a:t>
            </a:r>
          </a:p>
          <a:p>
            <a:pPr>
              <a:spcAft>
                <a:spcPts val="800"/>
              </a:spcAft>
            </a:pPr>
            <a:r>
              <a:rPr sz="1800">
                <a:solidFill>
                  <a:srgbClr val="1F2937"/>
                </a:solidFill>
                <a:latin typeface="Calibri"/>
              </a:rPr>
              <a:t>▸  Nrf2 (eritroid-2 bog‘liq omil) katalaza va glutation sintezini boshqaradi; buzilsa emfizema og‘irlashadi.</a:t>
            </a:r>
          </a:p>
        </p:txBody>
      </p:sp>
      <p:cxnSp>
        <p:nvCxnSpPr>
          <p:cNvPr id="9" name="Connector 8"/>
          <p:cNvCxnSpPr/>
          <p:nvPr/>
        </p:nvCxnSpPr>
        <p:spPr>
          <a:xfrm>
            <a:off x="9318287" y="2295144"/>
            <a:ext cx="305031" cy="173023"/>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9894969" y="3400855"/>
            <a:ext cx="356409" cy="856389"/>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8352110" y="4723588"/>
            <a:ext cx="288074" cy="0"/>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6740916" y="3400855"/>
            <a:ext cx="356409" cy="856389"/>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7368976" y="2295144"/>
            <a:ext cx="305031" cy="173023"/>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90307" y="1417320"/>
            <a:ext cx="2011680" cy="8229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Chekish, ifloslanish</a:t>
            </a:r>
          </a:p>
        </p:txBody>
      </p:sp>
      <p:sp>
        <p:nvSpPr>
          <p:cNvPr id="15" name="Rounded Rectangle 14"/>
          <p:cNvSpPr/>
          <p:nvPr/>
        </p:nvSpPr>
        <p:spPr>
          <a:xfrm>
            <a:off x="9439619" y="2523031"/>
            <a:ext cx="2011680" cy="82296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Oksidant, sitokin ajraladi</a:t>
            </a:r>
          </a:p>
        </p:txBody>
      </p:sp>
      <p:sp>
        <p:nvSpPr>
          <p:cNvPr id="16" name="Rounded Rectangle 15"/>
          <p:cNvSpPr/>
          <p:nvPr/>
        </p:nvSpPr>
        <p:spPr>
          <a:xfrm>
            <a:off x="8695048" y="4312108"/>
            <a:ext cx="2011680" cy="8229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Neytrofil, makrofag keladi</a:t>
            </a:r>
          </a:p>
        </p:txBody>
      </p:sp>
      <p:sp>
        <p:nvSpPr>
          <p:cNvPr id="17" name="Rounded Rectangle 16"/>
          <p:cNvSpPr/>
          <p:nvPr/>
        </p:nvSpPr>
        <p:spPr>
          <a:xfrm>
            <a:off x="6285566" y="4312108"/>
            <a:ext cx="2011680" cy="82296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Ingibitorlar inaktivlanadi</a:t>
            </a:r>
          </a:p>
        </p:txBody>
      </p:sp>
      <p:sp>
        <p:nvSpPr>
          <p:cNvPr id="18" name="Rounded Rectangle 17"/>
          <p:cNvSpPr/>
          <p:nvPr/>
        </p:nvSpPr>
        <p:spPr>
          <a:xfrm>
            <a:off x="5540995" y="2523031"/>
            <a:ext cx="2011680" cy="8229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Proteoliz, hujayra o‘limi</a:t>
            </a:r>
          </a:p>
        </p:txBody>
      </p:sp>
      <p:sp>
        <p:nvSpPr>
          <p:cNvPr id="19" name="TextBox 18"/>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Oksidativ stress sikli</a:t>
            </a:r>
          </a:p>
        </p:txBody>
      </p:sp>
      <p:sp>
        <p:nvSpPr>
          <p:cNvPr id="20" name="TextBox 19"/>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Bentaher A va boshq., Pulmonary Emphysema: Current Understanding of Disease Pathogenesis and Therapeutic Approaches, betlar: PMID 41007683; DOI 10.3390/biomedicines13092120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Yallig‘lanishning o‘zini ushlovchi halqasi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Chekish kabi qo‘zg‘atuvchilar sitokin, oksidant va proteazalarni ajratib, alveola devorini shikastlaydi.</a:t>
            </a:r>
          </a:p>
          <a:p>
            <a:pPr>
              <a:spcAft>
                <a:spcPts val="800"/>
              </a:spcAft>
            </a:pPr>
            <a:r>
              <a:rPr sz="1800">
                <a:solidFill>
                  <a:srgbClr val="1F2937"/>
                </a:solidFill>
                <a:latin typeface="Calibri"/>
              </a:rPr>
              <a:t>▸  Elastin bo‘laklari — elastokinlar — xemotaktik va yallig‘lanishni kuchaytiruvchi xususiyatga ega.</a:t>
            </a:r>
          </a:p>
          <a:p>
            <a:pPr>
              <a:spcAft>
                <a:spcPts val="800"/>
              </a:spcAft>
            </a:pPr>
            <a:r>
              <a:rPr sz="1800">
                <a:solidFill>
                  <a:srgbClr val="1F2937"/>
                </a:solidFill>
                <a:latin typeface="Calibri"/>
              </a:rPr>
              <a:t>▸  Elastokinlarni neytrallash yoki retseptoriga bog‘lanishini to‘sish nazariy davo nishoni sifatida ko‘riladi.</a:t>
            </a:r>
          </a:p>
        </p:txBody>
      </p:sp>
      <p:cxnSp>
        <p:nvCxnSpPr>
          <p:cNvPr id="9" name="Connector 8"/>
          <p:cNvCxnSpPr/>
          <p:nvPr/>
        </p:nvCxnSpPr>
        <p:spPr>
          <a:xfrm>
            <a:off x="9318287" y="2295144"/>
            <a:ext cx="305031" cy="173023"/>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9894969" y="3400855"/>
            <a:ext cx="356409" cy="856389"/>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8352110" y="4723588"/>
            <a:ext cx="288074" cy="0"/>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6740916" y="3400855"/>
            <a:ext cx="356409" cy="856389"/>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7368976" y="2295144"/>
            <a:ext cx="305031" cy="173023"/>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90307" y="1417320"/>
            <a:ext cx="2011680" cy="8229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Chekish / irritantlar</a:t>
            </a:r>
          </a:p>
        </p:txBody>
      </p:sp>
      <p:sp>
        <p:nvSpPr>
          <p:cNvPr id="15" name="Rounded Rectangle 14"/>
          <p:cNvSpPr/>
          <p:nvPr/>
        </p:nvSpPr>
        <p:spPr>
          <a:xfrm>
            <a:off x="9439619" y="2523031"/>
            <a:ext cx="2011680" cy="82296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Yallig‘lanish hujayralari</a:t>
            </a:r>
          </a:p>
        </p:txBody>
      </p:sp>
      <p:sp>
        <p:nvSpPr>
          <p:cNvPr id="16" name="Rounded Rectangle 15"/>
          <p:cNvSpPr/>
          <p:nvPr/>
        </p:nvSpPr>
        <p:spPr>
          <a:xfrm>
            <a:off x="8695048" y="4312108"/>
            <a:ext cx="2011680" cy="8229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Proteaza, oksidant, sitokin</a:t>
            </a:r>
          </a:p>
        </p:txBody>
      </p:sp>
      <p:sp>
        <p:nvSpPr>
          <p:cNvPr id="17" name="Rounded Rectangle 16"/>
          <p:cNvSpPr/>
          <p:nvPr/>
        </p:nvSpPr>
        <p:spPr>
          <a:xfrm>
            <a:off x="6285566" y="4312108"/>
            <a:ext cx="2011680" cy="82296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Elastin → elastokinlar</a:t>
            </a:r>
          </a:p>
        </p:txBody>
      </p:sp>
      <p:sp>
        <p:nvSpPr>
          <p:cNvPr id="18" name="Rounded Rectangle 17"/>
          <p:cNvSpPr/>
          <p:nvPr/>
        </p:nvSpPr>
        <p:spPr>
          <a:xfrm>
            <a:off x="5540995" y="2523031"/>
            <a:ext cx="2011680" cy="8229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Yangi hujayralar chaqiriladi</a:t>
            </a:r>
          </a:p>
        </p:txBody>
      </p:sp>
      <p:sp>
        <p:nvSpPr>
          <p:cNvPr id="19" name="TextBox 18"/>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Yallig‘lanish halqasi</a:t>
            </a:r>
          </a:p>
        </p:txBody>
      </p:sp>
      <p:sp>
        <p:nvSpPr>
          <p:cNvPr id="20" name="TextBox 19"/>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Bentaher A va boshq., Pulmonary Emphysema: Current Understanding of Disease Pathogenesis and Therapeutic Approaches, betlar: PMID 41007683; 3.3-bo‘lim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Doimiy immun javob va apoptoz</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Bronxoalveolyar lavaj suyuqligi va to‘qima tahlilida kasallik og‘irligidan qat’i nazar makrofaglar ustunlik qiladi.</a:t>
            </a:r>
          </a:p>
          <a:p>
            <a:pPr>
              <a:spcAft>
                <a:spcPts val="1200"/>
              </a:spcAft>
            </a:pPr>
            <a:r>
              <a:rPr sz="2200">
                <a:solidFill>
                  <a:srgbClr val="1F2937"/>
                </a:solidFill>
                <a:latin typeface="Calibri"/>
              </a:rPr>
              <a:t>▸  Bu makrofaglarda fagotsitoz biroz buzilgan, ular to‘qimani shikastlovchi molekulalar ajratadi. CD8+ limfotsitlar ham patogenezga hissa qo‘shadi.</a:t>
            </a:r>
          </a:p>
          <a:p>
            <a:pPr>
              <a:spcAft>
                <a:spcPts val="1200"/>
              </a:spcAft>
            </a:pPr>
            <a:r>
              <a:rPr sz="2200">
                <a:solidFill>
                  <a:srgbClr val="1F2937"/>
                </a:solidFill>
                <a:latin typeface="Calibri"/>
              </a:rPr>
              <a:t>▸  Hujayraviy yallig‘lanish javobi chekishni tashlagandan keyin ham davom etadigandek ko‘rinadi.</a:t>
            </a:r>
          </a:p>
          <a:p>
            <a:pPr>
              <a:spcAft>
                <a:spcPts val="1200"/>
              </a:spcAft>
            </a:pPr>
            <a:r>
              <a:rPr sz="2200">
                <a:solidFill>
                  <a:srgbClr val="1F2937"/>
                </a:solidFill>
                <a:latin typeface="Calibri"/>
              </a:rPr>
              <a:t>▸  Emfizemali o‘pka to‘qimasida alveolyar to‘siqlardagi apoptotik epitelial va endotelial hujayralar ko‘paygan; tajriba hayvonlarida ham shu topilgan.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Bentaher A va boshq., Pulmonary Emphysema: Current Understanding of Disease Pathogenesis and Therapeutic Approaches, betlar: PMID 41007683; 3.4-bo‘lim, PMID 41007683; 3.5-bo‘lim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Elastik tola shikasti va mexanik kuchlar buzilishi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Elastik tolalar (elastin, fibrillin) alveola to‘siqlari butunligini saqlaydi va nafas chiqarishda mexanik qaytishni ta’minlaydi.</a:t>
            </a:r>
          </a:p>
          <a:p>
            <a:pPr>
              <a:spcAft>
                <a:spcPts val="1200"/>
              </a:spcAft>
            </a:pPr>
            <a:r>
              <a:rPr sz="2200">
                <a:solidFill>
                  <a:srgbClr val="1F2937"/>
                </a:solidFill>
                <a:latin typeface="Calibri"/>
              </a:rPr>
              <a:t>▸  Proteazalar (neytrofil elastaza, MMP-12, katepsinlar) elastinni parchalaydi; oksidantlar alfa-1 antitripsinni (A1AT) inaktivlaydi va elastinni oksidlaydi.</a:t>
            </a:r>
          </a:p>
          <a:p>
            <a:pPr>
              <a:spcAft>
                <a:spcPts val="1200"/>
              </a:spcAft>
            </a:pPr>
            <a:r>
              <a:rPr sz="2200">
                <a:solidFill>
                  <a:srgbClr val="1F2937"/>
                </a:solidFill>
                <a:latin typeface="Calibri"/>
              </a:rPr>
              <a:t>▸  Elastik tola shikasti birlamchi sabab emas, oqibatdir; biroq kasallik boshlanishi va avj olishida zararli rol o‘ynaydi. Natijada havo bo‘shliqlari kengayadi.</a:t>
            </a:r>
          </a:p>
          <a:p>
            <a:pPr>
              <a:spcAft>
                <a:spcPts val="1200"/>
              </a:spcAft>
            </a:pPr>
            <a:r>
              <a:rPr sz="2200">
                <a:solidFill>
                  <a:srgbClr val="1F2937"/>
                </a:solidFill>
                <a:latin typeface="Calibri"/>
              </a:rPr>
              <a:t>▸  Cho‘zilish va qaytish buzilsa, notekis shikast stress zonalarini va qolgan alveolalarning kompensator haddan ortiq kengayishini beradi; zarar davom etadi.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Bentaher A va boshq., Pulmonary Emphysema: Current Understanding of Disease Pathogenesis and Therapeutic Approaches, betlar: PMID 41007683; 3.6-bo‘lim, PMID 41007683; 3.7-bo‘lim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Mexanizmlarning nisbiy ahamiyati tartibi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Eng markaziy — proteaza–antiproteaza muvozanati buzilishi; genetik va chekishdan kelgan emfizemada.</a:t>
            </a:r>
          </a:p>
          <a:p>
            <a:pPr>
              <a:spcAft>
                <a:spcPts val="800"/>
              </a:spcAft>
            </a:pPr>
            <a:r>
              <a:rPr sz="1800">
                <a:solidFill>
                  <a:srgbClr val="1F2937"/>
                </a:solidFill>
                <a:latin typeface="Calibri"/>
              </a:rPr>
              <a:t>▸  Oksidlovchi stress proteazani kuchaytiradi, apoptozni oshiradi; yallig‘lanish proteaza va oksidant manbai.</a:t>
            </a:r>
          </a:p>
          <a:p>
            <a:pPr>
              <a:spcAft>
                <a:spcPts val="800"/>
              </a:spcAft>
            </a:pPr>
            <a:r>
              <a:rPr sz="1800">
                <a:solidFill>
                  <a:srgbClr val="1F2937"/>
                </a:solidFill>
                <a:latin typeface="Calibri"/>
              </a:rPr>
              <a:t>▸  Diqqat: apoptoz va tamirlash buzilishi — sabab emas, oqibat; ularni boshlovchi deb adashmang.</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500" b="1">
                <a:solidFill>
                  <a:srgbClr val="0B1F3A"/>
                </a:solidFill>
                <a:latin typeface="Calibri"/>
              </a:rPr>
              <a:t>Proteaza–antiproteaza</a:t>
            </a:r>
          </a:p>
          <a:p>
            <a:pPr algn="l">
              <a:spcAft>
                <a:spcPts val="200"/>
              </a:spcAft>
            </a:pPr>
            <a:r>
              <a:rPr sz="1400" b="0">
                <a:solidFill>
                  <a:srgbClr val="1F2937"/>
                </a:solidFill>
                <a:latin typeface="Calibri"/>
              </a:rPr>
              <a:t>Eng markaziy; genetik va chekishdan emfizemada</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Oksidlovchi stress</a:t>
            </a:r>
          </a:p>
          <a:p>
            <a:pPr algn="l">
              <a:spcAft>
                <a:spcPts val="200"/>
              </a:spcAft>
            </a:pPr>
            <a:r>
              <a:rPr sz="1400" b="0">
                <a:solidFill>
                  <a:srgbClr val="1F2937"/>
                </a:solidFill>
                <a:latin typeface="Calibri"/>
              </a:rPr>
              <a:t>Proteazani kuchaytiradi, apoptozni oshiradi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500" b="1">
                <a:solidFill>
                  <a:srgbClr val="0B1F3A"/>
                </a:solidFill>
                <a:latin typeface="Calibri"/>
              </a:rPr>
              <a:t>Surunkali yallig‘lanish</a:t>
            </a:r>
          </a:p>
          <a:p>
            <a:pPr algn="l">
              <a:spcAft>
                <a:spcPts val="200"/>
              </a:spcAft>
            </a:pPr>
            <a:r>
              <a:rPr sz="1400" b="0">
                <a:solidFill>
                  <a:srgbClr val="1F2937"/>
                </a:solidFill>
                <a:latin typeface="Calibri"/>
              </a:rPr>
              <a:t>Proteaza va oksidant manbai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Apoptoz</a:t>
            </a:r>
          </a:p>
          <a:p>
            <a:pPr algn="l">
              <a:spcAft>
                <a:spcPts val="200"/>
              </a:spcAft>
            </a:pPr>
            <a:r>
              <a:rPr sz="1400" b="0">
                <a:solidFill>
                  <a:srgbClr val="1F2937"/>
                </a:solidFill>
                <a:latin typeface="Calibri"/>
              </a:rPr>
              <a:t>Asosan oqibat, sabab emas</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500" b="1">
                <a:solidFill>
                  <a:srgbClr val="0B1F3A"/>
                </a:solidFill>
                <a:latin typeface="Calibri"/>
              </a:rPr>
              <a:t>Tamir, tortilish buzilishi</a:t>
            </a:r>
          </a:p>
          <a:p>
            <a:pPr algn="l">
              <a:spcAft>
                <a:spcPts val="200"/>
              </a:spcAft>
            </a:pPr>
            <a:r>
              <a:rPr sz="1400" b="0">
                <a:solidFill>
                  <a:srgbClr val="1F2937"/>
                </a:solidFill>
                <a:latin typeface="Calibri"/>
              </a:rPr>
              <a:t>Asosan oqibat, sabab emas</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Ahamiyat kamayish tartibi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Bentaher A va boshq., Pulmonary Emphysema: Current Understanding of Disease Pathogenesis and Therapeutic Approaches, betlar: PMID 41007683, 3.7-bo‘lim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chekuvchi va alfa-1 antitripsin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45 yoshdan kichik chekuvchi bemorda nafas qisilishi va balg‘amli surunkali yo‘tal; emfizema aniqlandi.</a:t>
            </a:r>
          </a:p>
          <a:p>
            <a:pPr>
              <a:spcAft>
                <a:spcPts val="1200"/>
              </a:spcAft>
            </a:pPr>
            <a:r>
              <a:rPr sz="2200">
                <a:solidFill>
                  <a:srgbClr val="1F2937"/>
                </a:solidFill>
                <a:latin typeface="Calibri"/>
              </a:rPr>
              <a:t>▸  Alfa-1 antitripsin neytrofil elastazaning asosiy inhibitori; tanqislikda xavf ortadi, ayniqsa chekuvchilarda.</a:t>
            </a:r>
          </a:p>
          <a:p>
            <a:pPr>
              <a:spcAft>
                <a:spcPts val="1200"/>
              </a:spcAft>
            </a:pPr>
            <a:r>
              <a:rPr sz="2200">
                <a:solidFill>
                  <a:srgbClr val="1F2937"/>
                </a:solidFill>
                <a:latin typeface="Calibri"/>
              </a:rPr>
              <a:t>▸  Chekish oksidantlarni ko‘paytiradi; oksidantlar proteaza inhibitorlarini inaktivlab, to‘qima buzilishini kuchaytiradi.</a:t>
            </a:r>
          </a:p>
          <a:p>
            <a:pPr>
              <a:spcAft>
                <a:spcPts val="1200"/>
              </a:spcAft>
            </a:pPr>
            <a:r>
              <a:rPr sz="2200">
                <a:solidFill>
                  <a:srgbClr val="1F2937"/>
                </a:solidFill>
                <a:latin typeface="Calibri"/>
              </a:rPr>
              <a:t>▸  Savol: bu bemorda qaysi mexanizmlar birgalikda ishlaydi va nega alfa-1 antitripsin tanqisligini tekshirish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Bentaher A va boshq., Pulmonary Emphysema: Current Understanding of Disease Pathogenesis and Therapeutic Approaches, betlar: PMID 41007683, 1- va 7-bo‘limlar, PMID 41007683, 2- va 3.1-bo‘limlar, PMID 41007683, 3.2-bo‘lim, PMID 41007683, 7-bo‘lim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emfizema patogenezi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patogenezning qaysi gipotezasi genetik va chekishdan kelgan emfizemada eng markaziy hisoblanadi?</a:t>
            </a:r>
          </a:p>
          <a:p>
            <a:pPr>
              <a:spcAft>
                <a:spcPts val="1200"/>
              </a:spcAft>
            </a:pPr>
            <a:r>
              <a:rPr sz="2200">
                <a:solidFill>
                  <a:srgbClr val="1F2937"/>
                </a:solidFill>
                <a:latin typeface="Calibri"/>
              </a:rPr>
              <a:t>▸  2-savol: elastik tola shikasti emfizemaning boshlang‘ich sababimi yoki oqibatmi? Yakuniy natijasi nima?</a:t>
            </a:r>
          </a:p>
          <a:p>
            <a:pPr>
              <a:spcAft>
                <a:spcPts val="1200"/>
              </a:spcAft>
            </a:pPr>
            <a:r>
              <a:rPr sz="2200">
                <a:solidFill>
                  <a:srgbClr val="1F2937"/>
                </a:solidFill>
                <a:latin typeface="Calibri"/>
              </a:rPr>
              <a:t>▸  3-savol: elastin tolalari qaysi ikki yo‘l bilan buziladi? Misollar keltiring.</a:t>
            </a:r>
          </a:p>
          <a:p>
            <a:pPr>
              <a:spcAft>
                <a:spcPts val="1200"/>
              </a:spcAft>
            </a:pPr>
            <a:r>
              <a:rPr sz="2200">
                <a:solidFill>
                  <a:srgbClr val="1F2937"/>
                </a:solidFill>
                <a:latin typeface="Calibri"/>
              </a:rPr>
              <a:t>▸  4-savol: chekishni to‘xtatgandan keyin ham qaysi limfotsitlar bilan bog‘liq yallig‘lanish davom etadi?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Bentaher A va boshq., Pulmonary Emphysema: Current Understanding of Disease Pathogenesis and Therapeutic Approaches, betlar: PMID 41007683, 3.7-bo‘lim, PMID 41007683, 3.6-bo‘lim, PMID 41007683, 3.4-bo‘lim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Kichik havo yo‘llari: ta‘rif va ‘jim zona‘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Kichik havo yo‘llari — ichki diametri 2 mm dan kichik, xaftaga tayanchsiz bronxiolalar; COPD ning eng erta bosqichida ko‘p zararlanadi.</a:t>
            </a:r>
          </a:p>
          <a:p>
            <a:pPr>
              <a:spcAft>
                <a:spcPts val="800"/>
              </a:spcAft>
            </a:pPr>
            <a:r>
              <a:rPr sz="1600">
                <a:solidFill>
                  <a:srgbClr val="1F2937"/>
                </a:solidFill>
                <a:latin typeface="Calibri"/>
              </a:rPr>
              <a:t>▸  Ular membranoz va respirator bronxiolalar hamda alveolyar yo‘llardan iborat; taxminan 8–15-avlod shoxlanishdan boshlanib, terminal bronxiolalar bilan tugaydi.</a:t>
            </a:r>
          </a:p>
          <a:p>
            <a:pPr>
              <a:spcAft>
                <a:spcPts val="800"/>
              </a:spcAft>
            </a:pPr>
            <a:r>
              <a:rPr sz="1600">
                <a:solidFill>
                  <a:srgbClr val="1F2937"/>
                </a:solidFill>
                <a:latin typeface="Calibri"/>
              </a:rPr>
              <a:t>▸  Yo‘li tor va xaftaga tayanchi yo‘q, shuning uchun zararli zarrachalarga o‘ta sezgir. Ammo klinik jihatdan ko‘rinmaydi, shu bois ularni ‘jim zona‘ deb atashadi.</a:t>
            </a:r>
          </a:p>
          <a:p>
            <a:pPr>
              <a:spcAft>
                <a:spcPts val="800"/>
              </a:spcAft>
            </a:pPr>
            <a:r>
              <a:rPr sz="1600">
                <a:solidFill>
                  <a:srgbClr val="1F2937"/>
                </a:solidFill>
                <a:latin typeface="Calibri"/>
              </a:rPr>
              <a:t>▸  Kichik yo‘llar funksiyasi buzilishi ko‘pincha alomat, spirometriya yoki rentgen o‘zgarishidan oldin boshlanadi; terminal bronxiolalar avval yo‘qolishi mumkin.</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Ichki diametr</a:t>
            </a:r>
          </a:p>
          <a:p>
            <a:pPr algn="l">
              <a:spcAft>
                <a:spcPts val="100"/>
              </a:spcAft>
            </a:pPr>
            <a:r>
              <a:rPr sz="3000" b="1">
                <a:solidFill>
                  <a:srgbClr val="0B1F3A"/>
                </a:solidFill>
                <a:latin typeface="Calibri"/>
              </a:rPr>
              <a:t>&lt;2 mm</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Shoxlanish avlodi</a:t>
            </a:r>
          </a:p>
          <a:p>
            <a:pPr algn="l">
              <a:spcAft>
                <a:spcPts val="100"/>
              </a:spcAft>
            </a:pPr>
            <a:r>
              <a:rPr sz="2300" b="1">
                <a:solidFill>
                  <a:srgbClr val="0B1F3A"/>
                </a:solidFill>
                <a:latin typeface="Calibri"/>
              </a:rPr>
              <a:t>8–15-avlod</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Norma: qarshilik hissasi</a:t>
            </a:r>
          </a:p>
          <a:p>
            <a:pPr algn="l">
              <a:spcAft>
                <a:spcPts val="100"/>
              </a:spcAft>
            </a:pPr>
            <a:r>
              <a:rPr sz="3000" b="1">
                <a:solidFill>
                  <a:srgbClr val="0B1F3A"/>
                </a:solidFill>
                <a:latin typeface="Calibri"/>
              </a:rPr>
              <a:t>≈10 %</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Kichik havo yo‘llari: ko‘rsatkichlar</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 DOI 10.3389/fmed.2025.1648612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Kichik va katta havo yo‘llari: solishtirish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Kichik yo‘llar devori yupqa; ichi kiprikli ustunsimon, distalda kubsimon epiteliy bilan qoplangan.</a:t>
            </a:r>
          </a:p>
          <a:p>
            <a:pPr>
              <a:spcAft>
                <a:spcPts val="800"/>
              </a:spcAft>
            </a:pPr>
            <a:r>
              <a:rPr sz="1800">
                <a:solidFill>
                  <a:srgbClr val="1F2937"/>
                </a:solidFill>
                <a:latin typeface="Calibri"/>
              </a:rPr>
              <a:t>▸  Normada umumiy qarshilikning taxminan 10% ini beradi; COPD erta bosqichida qarshilik sezilarli oshadi.</a:t>
            </a:r>
          </a:p>
          <a:p>
            <a:pPr>
              <a:spcAft>
                <a:spcPts val="800"/>
              </a:spcAft>
            </a:pPr>
            <a:r>
              <a:rPr sz="1800">
                <a:solidFill>
                  <a:srgbClr val="1F2937"/>
                </a:solidFill>
                <a:latin typeface="Calibri"/>
              </a:rPr>
              <a:t>▸  Nafas chiqarish oxirida tortuvchi kuch kamayib, kichik yo‘llar kollapsga moyil bo‘ladi.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Kichik yo‘llar</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Gaz oqimi asosan laminar (Reynolds past)</a:t>
            </a:r>
          </a:p>
          <a:p>
            <a:pPr algn="l">
              <a:spcAft>
                <a:spcPts val="700"/>
              </a:spcAft>
            </a:pPr>
            <a:r>
              <a:rPr sz="1500" b="1">
                <a:solidFill>
                  <a:srgbClr val="C9A227"/>
                </a:solidFill>
                <a:latin typeface="Calibri"/>
              </a:rPr>
              <a:t>●  </a:t>
            </a:r>
            <a:r>
              <a:rPr sz="1500" b="0">
                <a:solidFill>
                  <a:srgbClr val="1F2937"/>
                </a:solidFill>
                <a:latin typeface="Calibri"/>
              </a:rPr>
              <a:t>Gaz zichligi ta’siri kam yoki yo‘q</a:t>
            </a:r>
          </a:p>
          <a:p>
            <a:pPr algn="l">
              <a:spcAft>
                <a:spcPts val="700"/>
              </a:spcAft>
            </a:pPr>
            <a:r>
              <a:rPr sz="1500" b="1">
                <a:solidFill>
                  <a:srgbClr val="C9A227"/>
                </a:solidFill>
                <a:latin typeface="Calibri"/>
              </a:rPr>
              <a:t>●  </a:t>
            </a:r>
            <a:r>
              <a:rPr sz="1500" b="0">
                <a:solidFill>
                  <a:srgbClr val="1F2937"/>
                </a:solidFill>
                <a:latin typeface="Calibri"/>
              </a:rPr>
              <a:t>Sirt faol qatlam kollapsni oldini oladi</a:t>
            </a:r>
          </a:p>
          <a:p>
            <a:pPr algn="l">
              <a:spcAft>
                <a:spcPts val="700"/>
              </a:spcAft>
            </a:pPr>
            <a:r>
              <a:rPr sz="1500" b="1">
                <a:solidFill>
                  <a:srgbClr val="C9A227"/>
                </a:solidFill>
                <a:latin typeface="Calibri"/>
              </a:rPr>
              <a:t>●  </a:t>
            </a:r>
            <a:r>
              <a:rPr sz="1500" b="0">
                <a:solidFill>
                  <a:srgbClr val="1F2937"/>
                </a:solidFill>
                <a:latin typeface="Calibri"/>
              </a:rPr>
              <a:t>Normada qarshilikning ≈10 %</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Katta yo‘llar</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Gaz oqimi asosan turbulent</a:t>
            </a:r>
          </a:p>
          <a:p>
            <a:pPr algn="l">
              <a:spcAft>
                <a:spcPts val="700"/>
              </a:spcAft>
            </a:pPr>
            <a:r>
              <a:rPr sz="1500" b="1">
                <a:solidFill>
                  <a:srgbClr val="C9A227"/>
                </a:solidFill>
                <a:latin typeface="Calibri"/>
              </a:rPr>
              <a:t>●  </a:t>
            </a:r>
            <a:r>
              <a:rPr sz="1500" b="0">
                <a:solidFill>
                  <a:srgbClr val="1F2937"/>
                </a:solidFill>
                <a:latin typeface="Calibri"/>
              </a:rPr>
              <a:t>Gaz zichligi ta’siri sezilarli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Kichik va katta yo‘llar farqi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 DOI 10.3389/fmed.2025.1648612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Kichik yo‘l kasalligi: uch bosqichli yo‘l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Boshlanish: tamaki tutuni va ifloslik epiteliyni shikastlab, shilliq tiqin hosil qiladi.</a:t>
            </a:r>
          </a:p>
          <a:p>
            <a:pPr>
              <a:spcAft>
                <a:spcPts val="800"/>
              </a:spcAft>
            </a:pPr>
            <a:r>
              <a:rPr sz="1800">
                <a:solidFill>
                  <a:srgbClr val="1F2937"/>
                </a:solidFill>
                <a:latin typeface="Calibri"/>
              </a:rPr>
              <a:t>▸  Kengayish: neytrofillar, so‘ng makrofag va T-limfotsitlar kirib, mediatorlar va hujayra qarishi kuchayadi.</a:t>
            </a:r>
          </a:p>
          <a:p>
            <a:pPr>
              <a:spcAft>
                <a:spcPts val="800"/>
              </a:spcAft>
            </a:pPr>
            <a:r>
              <a:rPr sz="1800">
                <a:solidFill>
                  <a:srgbClr val="1F2937"/>
                </a:solidFill>
                <a:latin typeface="Calibri"/>
              </a:rPr>
              <a:t>▸  Qayta qurilish: silliq mushak giperplaziyasi, fibroz va kapillyarlar kamayishi yo‘llarni toraytiradi.</a:t>
            </a:r>
          </a:p>
        </p:txBody>
      </p:sp>
      <p:sp>
        <p:nvSpPr>
          <p:cNvPr id="9" name="Rounded Rectangle 8"/>
          <p:cNvSpPr/>
          <p:nvPr/>
        </p:nvSpPr>
        <p:spPr>
          <a:xfrm>
            <a:off x="5440680" y="1417320"/>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Boshlanish</a:t>
            </a:r>
          </a:p>
          <a:p>
            <a:pPr algn="l">
              <a:spcAft>
                <a:spcPts val="200"/>
              </a:spcAft>
            </a:pPr>
            <a:r>
              <a:rPr sz="1400" b="0">
                <a:solidFill>
                  <a:srgbClr val="1F2937"/>
                </a:solidFill>
                <a:latin typeface="Calibri"/>
              </a:rPr>
              <a:t>Tutun epiteliyni shikastlaydi, shilliq tiqin hosil bo‘ladi</a:t>
            </a:r>
          </a:p>
        </p:txBody>
      </p:sp>
      <p:sp>
        <p:nvSpPr>
          <p:cNvPr id="12" name="Rounded Rectangle 11"/>
          <p:cNvSpPr/>
          <p:nvPr/>
        </p:nvSpPr>
        <p:spPr>
          <a:xfrm>
            <a:off x="5440680" y="2801112"/>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6080760" y="2801112"/>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Kengayish</a:t>
            </a:r>
          </a:p>
          <a:p>
            <a:pPr algn="l">
              <a:spcAft>
                <a:spcPts val="200"/>
              </a:spcAft>
            </a:pPr>
            <a:r>
              <a:rPr sz="1400" b="0">
                <a:solidFill>
                  <a:srgbClr val="1F2937"/>
                </a:solidFill>
                <a:latin typeface="Calibri"/>
              </a:rPr>
              <a:t>Neytrofil, makrofag, T-limfotsit; mediatorlar, qarish</a:t>
            </a:r>
          </a:p>
        </p:txBody>
      </p:sp>
      <p:sp>
        <p:nvSpPr>
          <p:cNvPr id="15" name="Rounded Rectangle 14"/>
          <p:cNvSpPr/>
          <p:nvPr/>
        </p:nvSpPr>
        <p:spPr>
          <a:xfrm>
            <a:off x="5440680" y="4184904"/>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4184904"/>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Qayta qurilish</a:t>
            </a:r>
          </a:p>
          <a:p>
            <a:pPr algn="l">
              <a:spcAft>
                <a:spcPts val="200"/>
              </a:spcAft>
            </a:pPr>
            <a:r>
              <a:rPr sz="1400" b="0">
                <a:solidFill>
                  <a:srgbClr val="1F2937"/>
                </a:solidFill>
                <a:latin typeface="Calibri"/>
              </a:rPr>
              <a:t>Silliq mushak giperplaziyasi, fibroz, kapillyar kamayishi</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Uch bosqichli patogenez</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 DOI 10.3389/fmed.2025.1648612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Boshlanish: epitelial shikast va EMT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Tutun va havo ifloslanishi kichik yo‘l epiteliysini qayta-qayta shikastlaydi, shikast va tiklanish tsikli takrorlanadi.</a:t>
            </a:r>
          </a:p>
          <a:p>
            <a:pPr>
              <a:spcAft>
                <a:spcPts val="800"/>
              </a:spcAft>
            </a:pPr>
            <a:r>
              <a:rPr sz="1800">
                <a:solidFill>
                  <a:srgbClr val="1F2937"/>
                </a:solidFill>
                <a:latin typeface="Calibri"/>
              </a:rPr>
              <a:t>▸  TGF-β, Wnt/β-katenin va Notch yo‘llari epiteliy-mezenximal o‘tishni (EMT) boshlaydi; hujayra mezenxima xususiyatini oladi.</a:t>
            </a:r>
          </a:p>
          <a:p>
            <a:pPr>
              <a:spcAft>
                <a:spcPts val="800"/>
              </a:spcAft>
            </a:pPr>
            <a:r>
              <a:rPr sz="1800">
                <a:solidFill>
                  <a:srgbClr val="1F2937"/>
                </a:solidFill>
                <a:latin typeface="Calibri"/>
              </a:rPr>
              <a:t>▸  STAT3 fibrozni kuchaytiradi; PINK1-Parkin buzilsa reaktiv kislorod turlari (ROS) ortadi.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Tutun/ifloslik ta’siri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Epiteliy shikasti va tiklanishi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TGF-β, STAT3, PINK1-Parkin</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EMT: fibroz, remodellanish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To‘siq buzilishi → tiqin</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Erta zanjir: shikastdan tiqingacha</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 DOI 10.3389/fmed.2025.1648612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Shilimshiq tiqin va to‘siq buzilishi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Tutun va ifloslik kosasimon hujayralar ko‘payishiga hamda MUC5AC va MUC5B shilimshiq oqsillari ortishiga olib keladi.</a:t>
            </a:r>
          </a:p>
          <a:p>
            <a:pPr>
              <a:spcAft>
                <a:spcPts val="800"/>
              </a:spcAft>
            </a:pPr>
            <a:r>
              <a:rPr sz="1600">
                <a:solidFill>
                  <a:srgbClr val="1F2937"/>
                </a:solidFill>
                <a:latin typeface="Calibri"/>
              </a:rPr>
              <a:t>▸  Zich birikma oqsillari buziladi, shilimshiq-kirpikchali tozalanish va to‘siq yaxlitligi yomonlashadi.</a:t>
            </a:r>
          </a:p>
          <a:p>
            <a:pPr>
              <a:spcAft>
                <a:spcPts val="800"/>
              </a:spcAft>
            </a:pPr>
            <a:r>
              <a:rPr sz="1600">
                <a:solidFill>
                  <a:srgbClr val="1F2937"/>
                </a:solidFill>
                <a:latin typeface="Calibri"/>
              </a:rPr>
              <a:t>▸  Sekretor IgA (SIgA) va polimer immunoglobulin retseptori (pIgR) kamayadi; antimikrob to‘siq zaiflashib, infeksiyaga moyillik ortadi.</a:t>
            </a:r>
          </a:p>
          <a:p>
            <a:pPr>
              <a:spcAft>
                <a:spcPts val="800"/>
              </a:spcAft>
            </a:pPr>
            <a:r>
              <a:rPr sz="1600">
                <a:solidFill>
                  <a:srgbClr val="1F2937"/>
                </a:solidFill>
                <a:latin typeface="Calibri"/>
              </a:rPr>
              <a:t>▸  Shilimshiq to‘planishi havo oqimini to‘sadi va mikroblar ko‘payishiga qulay muhit yaratadi; tiqin kasallik og‘irligi bilan bog‘liq.</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Tutun va ifloslik ta’siri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Kosasimon hujayralar</a:t>
            </a:r>
          </a:p>
          <a:p>
            <a:pPr algn="l">
              <a:spcAft>
                <a:spcPts val="0"/>
              </a:spcAft>
            </a:pPr>
            <a:r>
              <a:rPr sz="1200" b="0">
                <a:solidFill>
                  <a:srgbClr val="1F2937"/>
                </a:solidFill>
                <a:latin typeface="Calibri"/>
              </a:rPr>
              <a:t>MUC5AC, MUC5B ortadi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To‘siq buzilishi</a:t>
            </a:r>
          </a:p>
          <a:p>
            <a:pPr algn="l">
              <a:spcAft>
                <a:spcPts val="0"/>
              </a:spcAft>
            </a:pPr>
            <a:r>
              <a:rPr sz="1200" b="0">
                <a:solidFill>
                  <a:srgbClr val="1F2937"/>
                </a:solidFill>
                <a:latin typeface="Calibri"/>
              </a:rPr>
              <a:t>Zich birikma oqsillari buziladi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Immun himoya</a:t>
            </a:r>
          </a:p>
          <a:p>
            <a:pPr algn="l">
              <a:spcAft>
                <a:spcPts val="0"/>
              </a:spcAft>
            </a:pPr>
            <a:r>
              <a:rPr sz="1200" b="0">
                <a:solidFill>
                  <a:srgbClr val="1F2937"/>
                </a:solidFill>
                <a:latin typeface="Calibri"/>
              </a:rPr>
              <a:t>SIgA va pIgR kamayadi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Oqibat</a:t>
            </a:r>
          </a:p>
          <a:p>
            <a:pPr algn="l">
              <a:spcAft>
                <a:spcPts val="0"/>
              </a:spcAft>
            </a:pPr>
            <a:r>
              <a:rPr sz="1200" b="0">
                <a:solidFill>
                  <a:srgbClr val="1F2937"/>
                </a:solidFill>
                <a:latin typeface="Calibri"/>
              </a:rPr>
              <a:t>Shilimshiq to‘planadi  ·  Infeksiyaga moyillik</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Shilimshiq tiqin mexanizmi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 DOI 10.3389/fmed.2025.1648612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kichik yo‘llarda shilimshiq tiqin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chekuvchida spirometriya me’yorda. Manbaga ko‘ra, patologik o‘zgarishli bemorlarda ham FEV1 va FVC saqlanib qolishi mumkin.</a:t>
            </a:r>
          </a:p>
          <a:p>
            <a:pPr>
              <a:spcAft>
                <a:spcPts val="1200"/>
              </a:spcAft>
            </a:pPr>
            <a:r>
              <a:rPr sz="2200">
                <a:solidFill>
                  <a:srgbClr val="1F2937"/>
                </a:solidFill>
                <a:latin typeface="Calibri"/>
              </a:rPr>
              <a:t>▸  Tahlil: kichik yo‘llar epiteliy shikasti, tiqin va yallig‘lanish bilan kasallikni erta boshlashi mumkin, ammo spirometriya buni sezmasligi mumkin.</a:t>
            </a:r>
          </a:p>
          <a:p>
            <a:pPr>
              <a:spcAft>
                <a:spcPts val="1200"/>
              </a:spcAft>
            </a:pPr>
            <a:r>
              <a:rPr sz="2200">
                <a:solidFill>
                  <a:srgbClr val="1F2937"/>
                </a:solidFill>
                <a:latin typeface="Calibri"/>
              </a:rPr>
              <a:t>▸  Savol: spirometriya me’yorda bo‘lsa, kichik yo‘l shikastini qaysi usullar erta aniqlashi mumkin?</a:t>
            </a:r>
          </a:p>
          <a:p>
            <a:pPr>
              <a:spcAft>
                <a:spcPts val="1200"/>
              </a:spcAft>
            </a:pPr>
            <a:r>
              <a:rPr sz="2200">
                <a:solidFill>
                  <a:srgbClr val="1F2937"/>
                </a:solidFill>
                <a:latin typeface="Calibri"/>
              </a:rPr>
              <a:t>▸  Diqqat: me’yoriy spirometriya ≠ sog‘lom kichik yo‘llar. Tiqin tez-tezligi kasallik og‘irligi bilan bog‘liq.</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 DOI 10.3389/fmed.2025.1648612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Kengayish: immun hujayralar va mediatorlar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Sigaret tutuni va zarralar epiteliy hamda alveolyar makrofaglarni faollashtiradi; ular TNF-α, IL-1β, IL-6 va CXCL8, LTB4 (xemokinlar) chiqaradi.</a:t>
            </a:r>
          </a:p>
          <a:p>
            <a:pPr>
              <a:spcAft>
                <a:spcPts val="1200"/>
              </a:spcAft>
            </a:pPr>
            <a:r>
              <a:rPr sz="2000">
                <a:solidFill>
                  <a:srgbClr val="1F2937"/>
                </a:solidFill>
                <a:latin typeface="Calibri"/>
              </a:rPr>
              <a:t>▸  KOO da kichik yo‘llarga birinchi bo‘lib neytrofillar kiradi; keyin makrofaglar va CD4+/CD8+ T-limfotsitlar keladi, ular to‘qimani sitotoksik shikastlaydi.</a:t>
            </a:r>
          </a:p>
          <a:p>
            <a:pPr>
              <a:spcAft>
                <a:spcPts val="1200"/>
              </a:spcAft>
            </a:pPr>
            <a:r>
              <a:rPr sz="2000">
                <a:solidFill>
                  <a:srgbClr val="1F2937"/>
                </a:solidFill>
                <a:latin typeface="Calibri"/>
              </a:rPr>
              <a:t>▸  Tutun va zarralar NF-κB hamda p38 MAPK yo‘llarini faollashtirib, sitokinlar ajralishini davom ettiradi; oksidlovchi stress PI3K/Akt/mTOR ni ham ishga soladi.</a:t>
            </a:r>
          </a:p>
          <a:p>
            <a:pPr>
              <a:spcAft>
                <a:spcPts val="1200"/>
              </a:spcAft>
            </a:pPr>
            <a:r>
              <a:rPr sz="2000">
                <a:solidFill>
                  <a:srgbClr val="1F2937"/>
                </a:solidFill>
                <a:latin typeface="Calibri"/>
              </a:rPr>
              <a:t>▸  Diqqat: KOO bemorlarining taxminan 20–40 foizida eozinofilli fenotip bor; u kichik yo‘l disfunksiyasi bilan bog‘liq va IKS ga yaxshi javob berishi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Hujayra qarishi va SASP</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Yallig‘lanish va oksidlovchi stress hujayralarni ATM/ATR–p53/p21 yo‘li orqali qarish holatiga o‘tkazadi.</a:t>
            </a:r>
          </a:p>
          <a:p>
            <a:pPr>
              <a:spcAft>
                <a:spcPts val="800"/>
              </a:spcAft>
            </a:pPr>
            <a:r>
              <a:rPr sz="1800">
                <a:solidFill>
                  <a:srgbClr val="1F2937"/>
                </a:solidFill>
                <a:latin typeface="Calibri"/>
              </a:rPr>
              <a:t>▸  Qarigan hujayralar SASP (sekretor fenotip) ajratadi: IL-6, IL-8, MMP-9, MMP-12. Qo‘shnilar ham qariydi.</a:t>
            </a:r>
          </a:p>
          <a:p>
            <a:pPr>
              <a:spcAft>
                <a:spcPts val="800"/>
              </a:spcAft>
            </a:pPr>
            <a:r>
              <a:rPr sz="1800">
                <a:solidFill>
                  <a:srgbClr val="1F2937"/>
                </a:solidFill>
                <a:latin typeface="Calibri"/>
              </a:rPr>
              <a:t>▸  miR-34a ortib, SIRT1/6 (antioksidant va tiklovchi fermentlar) ni susaytiradi; SASP turg‘un bo‘lib qoladi.</a:t>
            </a:r>
          </a:p>
        </p:txBody>
      </p:sp>
      <p:cxnSp>
        <p:nvCxnSpPr>
          <p:cNvPr id="9" name="Connector 8"/>
          <p:cNvCxnSpPr/>
          <p:nvPr/>
        </p:nvCxnSpPr>
        <p:spPr>
          <a:xfrm>
            <a:off x="9318287" y="2295144"/>
            <a:ext cx="305031" cy="173023"/>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9894969" y="3400855"/>
            <a:ext cx="356409" cy="856389"/>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8352110" y="4723588"/>
            <a:ext cx="288074" cy="0"/>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6740916" y="3400855"/>
            <a:ext cx="356409" cy="856389"/>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7368976" y="2295144"/>
            <a:ext cx="305031" cy="173023"/>
          </a:xfrm>
          <a:prstGeom prst="line">
            <a:avLst/>
          </a:prstGeom>
          <a:ln w="38100">
            <a:solidFill>
              <a:srgbClr val="C9A22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90307" y="1417320"/>
            <a:ext cx="2011680" cy="8229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Yallig‘lanish va stress</a:t>
            </a:r>
          </a:p>
        </p:txBody>
      </p:sp>
      <p:sp>
        <p:nvSpPr>
          <p:cNvPr id="15" name="Rounded Rectangle 14"/>
          <p:cNvSpPr/>
          <p:nvPr/>
        </p:nvSpPr>
        <p:spPr>
          <a:xfrm>
            <a:off x="9439619" y="2523031"/>
            <a:ext cx="2011680" cy="82296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ATM/ATR–p53/p21 faol</a:t>
            </a:r>
          </a:p>
        </p:txBody>
      </p:sp>
      <p:sp>
        <p:nvSpPr>
          <p:cNvPr id="16" name="Rounded Rectangle 15"/>
          <p:cNvSpPr/>
          <p:nvPr/>
        </p:nvSpPr>
        <p:spPr>
          <a:xfrm>
            <a:off x="8695048" y="4312108"/>
            <a:ext cx="2011680" cy="8229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Qarigan hujayra (SASP)</a:t>
            </a:r>
          </a:p>
        </p:txBody>
      </p:sp>
      <p:sp>
        <p:nvSpPr>
          <p:cNvPr id="17" name="Rounded Rectangle 16"/>
          <p:cNvSpPr/>
          <p:nvPr/>
        </p:nvSpPr>
        <p:spPr>
          <a:xfrm>
            <a:off x="6285566" y="4312108"/>
            <a:ext cx="2011680" cy="82296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IL-6, IL-8, MMP-9/12</a:t>
            </a:r>
          </a:p>
        </p:txBody>
      </p:sp>
      <p:sp>
        <p:nvSpPr>
          <p:cNvPr id="18" name="Rounded Rectangle 17"/>
          <p:cNvSpPr/>
          <p:nvPr/>
        </p:nvSpPr>
        <p:spPr>
          <a:xfrm>
            <a:off x="5540995" y="2523031"/>
            <a:ext cx="2011680" cy="8229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Qo‘shni hujayralar qariydi</a:t>
            </a:r>
          </a:p>
        </p:txBody>
      </p:sp>
      <p:sp>
        <p:nvSpPr>
          <p:cNvPr id="19" name="TextBox 18"/>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Ikkilamchi qarish halqasi</a:t>
            </a:r>
          </a:p>
        </p:txBody>
      </p:sp>
      <p:sp>
        <p:nvSpPr>
          <p:cNvPr id="20" name="TextBox 19"/>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NLRP3 inflammasoma va substans P</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NLRP3 inflammasoma yallig‘lanish kuchaytirgichi: ROS, hujayradan tashqari ATF va lizosoma beqarorligi uni faollashtiradi; IL-1β va IL-18 yetiladi.</a:t>
            </a:r>
          </a:p>
          <a:p>
            <a:pPr>
              <a:spcAft>
                <a:spcPts val="1200"/>
              </a:spcAft>
            </a:pPr>
            <a:r>
              <a:rPr sz="2200">
                <a:solidFill>
                  <a:srgbClr val="1F2937"/>
                </a:solidFill>
                <a:latin typeface="Calibri"/>
              </a:rPr>
              <a:t>▸  IL-1β neytrofillarni jalb qilib, ROS–IL-1β kuchaytirish halqasini hosil qiladi. Tajribada NLRP3 ni to‘sish bu halqani uzdi.</a:t>
            </a:r>
          </a:p>
          <a:p>
            <a:pPr>
              <a:spcAft>
                <a:spcPts val="1200"/>
              </a:spcAft>
            </a:pPr>
            <a:r>
              <a:rPr sz="2200">
                <a:solidFill>
                  <a:srgbClr val="1F2937"/>
                </a:solidFill>
                <a:latin typeface="Calibri"/>
              </a:rPr>
              <a:t>▸  Substans P tutun ta’siriga neyrogen yallig‘lanish beradi: shilliq ajralishi va infiltratsiya kuchayadi. Ortiqcha ifodasi fibrozga olib kelishi mumkin.</a:t>
            </a:r>
          </a:p>
          <a:p>
            <a:pPr>
              <a:spcAft>
                <a:spcPts val="1200"/>
              </a:spcAft>
            </a:pPr>
            <a:r>
              <a:rPr sz="2200">
                <a:solidFill>
                  <a:srgbClr val="1F2937"/>
                </a:solidFill>
                <a:latin typeface="Calibri"/>
              </a:rPr>
              <a:t>▸  NK1 retseptor antagonistlari (masalan, aprepitant) hayvon modelida yallig‘lanish va fibrozni kamaytirdi. Mexanizm va klinik dalillar dastlabki bosqichda.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Qayta qurilish: silliq mushak va fibroz</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Silliq mushak hujayralari ko‘payib va kattalashib, devorni qalinlashtiradi va kichik yo‘llarni toraytiradi.</a:t>
            </a:r>
          </a:p>
          <a:p>
            <a:pPr>
              <a:spcAft>
                <a:spcPts val="800"/>
              </a:spcAft>
            </a:pPr>
            <a:r>
              <a:rPr sz="1800">
                <a:solidFill>
                  <a:srgbClr val="1F2937"/>
                </a:solidFill>
                <a:latin typeface="Calibri"/>
              </a:rPr>
              <a:t>▸  Fibroblastlar α-SMA musbat miofibroblastga aylanib, I/III tur kollagen va laminin ko‘p ishlab chiqaradi.</a:t>
            </a:r>
          </a:p>
          <a:p>
            <a:pPr>
              <a:spcAft>
                <a:spcPts val="800"/>
              </a:spcAft>
            </a:pPr>
            <a:r>
              <a:rPr sz="1800">
                <a:solidFill>
                  <a:srgbClr val="1F2937"/>
                </a:solidFill>
                <a:latin typeface="Calibri"/>
              </a:rPr>
              <a:t>▸  MMP/TIMP muvozanati buzilib, matriks parchalanishi ham, kollagen cho‘kishi ham bir vaqtda kechadi.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Jarohat va yallig‘lanish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TGF-β, PDGF ajralishi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Mushak ko‘payishi, EMT</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Miofibroblast: kollagen I/III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Devor qotishi, qaytmas torayish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Fibrotik qayta qurilish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 DOI 10.3389/fmed.2025.1648612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Tomir o‘zgarishlari: arterial va kapillyar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Arterial remodeling va kapillyar siyraklashuvi ikki alohida angiopatiya bo‘lib, ta’siri har xil.</a:t>
            </a:r>
          </a:p>
          <a:p>
            <a:pPr>
              <a:spcAft>
                <a:spcPts val="800"/>
              </a:spcAft>
            </a:pPr>
            <a:r>
              <a:rPr sz="1800">
                <a:solidFill>
                  <a:srgbClr val="1F2937"/>
                </a:solidFill>
                <a:latin typeface="Calibri"/>
              </a:rPr>
              <a:t>▸  Tomografiyada distal arteriyalar hajmining kamayishi (arterial pruning) emfizema tezlashuvini bashorat qiladi.</a:t>
            </a:r>
          </a:p>
          <a:p>
            <a:pPr>
              <a:spcAft>
                <a:spcPts val="800"/>
              </a:spcAft>
            </a:pPr>
            <a:r>
              <a:rPr sz="1800">
                <a:solidFill>
                  <a:srgbClr val="1F2937"/>
                </a:solidFill>
                <a:latin typeface="Calibri"/>
              </a:rPr>
              <a:t>▸  Ular sinergik: arterial gipertenziya kapillyar yo‘qotishni, kapillyar yo‘qolishi qarshilikni oshiradi.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Arterial o‘zgarish</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Intima qalinlashadi, lumen torayadi</a:t>
            </a:r>
          </a:p>
          <a:p>
            <a:pPr algn="l">
              <a:spcAft>
                <a:spcPts val="700"/>
              </a:spcAft>
            </a:pPr>
            <a:r>
              <a:rPr sz="1500" b="1">
                <a:solidFill>
                  <a:srgbClr val="C9A227"/>
                </a:solidFill>
                <a:latin typeface="Calibri"/>
              </a:rPr>
              <a:t>●  </a:t>
            </a:r>
            <a:r>
              <a:rPr sz="1500" b="0">
                <a:solidFill>
                  <a:srgbClr val="1F2937"/>
                </a:solidFill>
                <a:latin typeface="Calibri"/>
              </a:rPr>
              <a:t>Tomir qarshiligi ortadi</a:t>
            </a:r>
          </a:p>
          <a:p>
            <a:pPr algn="l">
              <a:spcAft>
                <a:spcPts val="700"/>
              </a:spcAft>
            </a:pPr>
            <a:r>
              <a:rPr sz="1500" b="1">
                <a:solidFill>
                  <a:srgbClr val="C9A227"/>
                </a:solidFill>
                <a:latin typeface="Calibri"/>
              </a:rPr>
              <a:t>●  </a:t>
            </a:r>
            <a:r>
              <a:rPr sz="1500" b="0">
                <a:solidFill>
                  <a:srgbClr val="1F2937"/>
                </a:solidFill>
                <a:latin typeface="Calibri"/>
              </a:rPr>
              <a:t>Gipertenziya, o‘ng qorincha disfunksiyasi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Kapillyar o‘zgarish</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Kapillyar zichligi kamayadi</a:t>
            </a:r>
          </a:p>
          <a:p>
            <a:pPr algn="l">
              <a:spcAft>
                <a:spcPts val="700"/>
              </a:spcAft>
            </a:pPr>
            <a:r>
              <a:rPr sz="1500" b="1">
                <a:solidFill>
                  <a:srgbClr val="C9A227"/>
                </a:solidFill>
                <a:latin typeface="Calibri"/>
              </a:rPr>
              <a:t>●  </a:t>
            </a:r>
            <a:r>
              <a:rPr sz="1500" b="0">
                <a:solidFill>
                  <a:srgbClr val="1F2937"/>
                </a:solidFill>
                <a:latin typeface="Calibri"/>
              </a:rPr>
              <a:t>Diffuziya sig‘imi (DLCO) kamayadi</a:t>
            </a:r>
          </a:p>
          <a:p>
            <a:pPr algn="l">
              <a:spcAft>
                <a:spcPts val="700"/>
              </a:spcAft>
            </a:pPr>
            <a:r>
              <a:rPr sz="1500" b="1">
                <a:solidFill>
                  <a:srgbClr val="C9A227"/>
                </a:solidFill>
                <a:latin typeface="Calibri"/>
              </a:rPr>
              <a:t>●  </a:t>
            </a:r>
            <a:r>
              <a:rPr sz="1500" b="0">
                <a:solidFill>
                  <a:srgbClr val="1F2937"/>
                </a:solidFill>
                <a:latin typeface="Calibri"/>
              </a:rPr>
              <a:t>Gipoksemiya, V/Q nomutanosibligi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Arterial va kapillyar farqi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 DOI 10.3389/fmed.2025.1648612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Bir hujayrali omika ma‘lumotlari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Terminal bronxiolalar atlasida KOBL ning erta bosqichida (GOLD I–II) M1-simon makrofag va neytrofillar alveola birikkan joylarda to‘planadi.</a:t>
            </a:r>
          </a:p>
          <a:p>
            <a:pPr>
              <a:spcAft>
                <a:spcPts val="1200"/>
              </a:spcAft>
            </a:pPr>
            <a:r>
              <a:rPr sz="2200">
                <a:solidFill>
                  <a:srgbClr val="1F2937"/>
                </a:solidFill>
                <a:latin typeface="Calibri"/>
              </a:rPr>
              <a:t>▸  Bu hujayralar elastik tolalar parchalanishi bilan bog‘liq: immun infiltratsiya va matriks shikastlanishi vaqt va joy jihatidan bir-biriga yaqin.</a:t>
            </a:r>
          </a:p>
          <a:p>
            <a:pPr>
              <a:spcAft>
                <a:spcPts val="1200"/>
              </a:spcAft>
            </a:pPr>
            <a:r>
              <a:rPr sz="2200">
                <a:solidFill>
                  <a:srgbClr val="1F2937"/>
                </a:solidFill>
                <a:latin typeface="Calibri"/>
              </a:rPr>
              <a:t>▸  Bazal hujayra, fibroblast va immun hujayralar ligand–retseptor tarmog‘i yallig‘lanish va matriks omillarini boshqarib, qaytmas remodellanishni kuchaytiradi.</a:t>
            </a:r>
          </a:p>
          <a:p>
            <a:pPr>
              <a:spcAft>
                <a:spcPts val="1200"/>
              </a:spcAft>
            </a:pPr>
            <a:r>
              <a:rPr sz="2200">
                <a:solidFill>
                  <a:srgbClr val="1F2937"/>
                </a:solidFill>
                <a:latin typeface="Calibri"/>
              </a:rPr>
              <a:t>▸  T-hujayra va makrofaglarda RNK metilatsiyasi va autofagiya genlari faol, yallig‘lanish bilan bog‘liq; bu epigenetik signal yuqori bo‘g‘in bo‘lishi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 DOI 10.3389/fmed.2025.1648612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arterial pruning</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COPDGene kogortasida KT da distal mayda arteriyalar hajmining kamayishi (arterial pruning) o‘rganilgan; u emfizema avj olishi bilan bog‘liq.</a:t>
            </a:r>
          </a:p>
          <a:p>
            <a:pPr>
              <a:spcAft>
                <a:spcPts val="1200"/>
              </a:spcAft>
            </a:pPr>
            <a:r>
              <a:rPr sz="2200">
                <a:solidFill>
                  <a:srgbClr val="1F2937"/>
                </a:solidFill>
                <a:latin typeface="Calibri"/>
              </a:rPr>
              <a:t>▸  Boshlang‘ich parenxima shikastini hisobga olmaganda ham, dastlabki arterial pruning emfizema tezlashuvi va o‘pka funksiyasi pasayishini oldindan ko‘rsatgan.</a:t>
            </a:r>
          </a:p>
          <a:p>
            <a:pPr>
              <a:spcAft>
                <a:spcPts val="1200"/>
              </a:spcAft>
            </a:pPr>
            <a:r>
              <a:rPr sz="2200">
                <a:solidFill>
                  <a:srgbClr val="1F2937"/>
                </a:solidFill>
                <a:latin typeface="Calibri"/>
              </a:rPr>
              <a:t>▸  Aniq KOO belgisiz chekuvchilarda erta arterial pruning o‘pka tomirlari qarshiligini oshirib, o‘ng qorincha remodellanishiga hissa qo‘shishi mumkin.</a:t>
            </a:r>
          </a:p>
          <a:p>
            <a:pPr>
              <a:spcAft>
                <a:spcPts val="1200"/>
              </a:spcAft>
            </a:pPr>
            <a:r>
              <a:rPr sz="2200">
                <a:solidFill>
                  <a:srgbClr val="1F2937"/>
                </a:solidFill>
                <a:latin typeface="Calibri"/>
              </a:rPr>
              <a:t>▸  Savol: nega arterial pruning faqat hamroh o‘zgarish emas, balki kasallik rivojining mustaqil omili sifatida talqin qilinadi?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kichik yo‘llar va qayta qurilish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EMT (epiteliy-mezenximal o‘tish) paytida epiteliy hujayralari nimani yo‘qotadi va qanday fenotip egallaydi?</a:t>
            </a:r>
          </a:p>
          <a:p>
            <a:pPr>
              <a:spcAft>
                <a:spcPts val="1200"/>
              </a:spcAft>
            </a:pPr>
            <a:r>
              <a:rPr sz="2200">
                <a:solidFill>
                  <a:srgbClr val="1F2937"/>
                </a:solidFill>
                <a:latin typeface="Calibri"/>
              </a:rPr>
              <a:t>▸  2-savol: SASP (senessensiya bilan bog‘liq sekretor fenotip) nima va unga qaysi omillar kiradi?</a:t>
            </a:r>
          </a:p>
          <a:p>
            <a:pPr>
              <a:spcAft>
                <a:spcPts val="1200"/>
              </a:spcAft>
            </a:pPr>
            <a:r>
              <a:rPr sz="2200">
                <a:solidFill>
                  <a:srgbClr val="1F2937"/>
                </a:solidFill>
                <a:latin typeface="Calibri"/>
              </a:rPr>
              <a:t>▸  3-savol: qayta qurilish (remodeling) bosqichida qaysi uchta jarayon vaqt va makon bo‘yicha bir-biriga bog‘liq?</a:t>
            </a:r>
          </a:p>
          <a:p>
            <a:pPr>
              <a:spcAft>
                <a:spcPts val="1200"/>
              </a:spcAft>
            </a:pPr>
            <a:r>
              <a:rPr sz="2200">
                <a:solidFill>
                  <a:srgbClr val="1F2937"/>
                </a:solidFill>
                <a:latin typeface="Calibri"/>
              </a:rPr>
              <a:t>▸  Diqqat: arterial remodeling ≠ kapillyar rarefikatsiya. Birinchisi tomir qarshiligini oshiradi, ikkinchisi diffuziya sig‘imini (DLCO) kamaytiradi.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Erta aniqlash: spirometriya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MMEF (FEF25–75%) — FVC ning 25–75% qismidagi o‘rtacha forsirlangan oqim; periferik yo‘llarni aks ettiradi, erta SAD da kamayadi, FEV1 dan sezgirroq.</a:t>
            </a:r>
          </a:p>
          <a:p>
            <a:pPr>
              <a:spcAft>
                <a:spcPts val="800"/>
              </a:spcAft>
            </a:pPr>
            <a:r>
              <a:rPr sz="1600">
                <a:solidFill>
                  <a:srgbClr val="1F2937"/>
                </a:solidFill>
                <a:latin typeface="Calibri"/>
              </a:rPr>
              <a:t>▸  MMEF sezgirligi va o‘ziga xosligi yetarli emas. Erta SAD da FEV1 va FVC saqlanishi mumkin, shu sabab spirometriya sezgirligi cheklangan.</a:t>
            </a:r>
          </a:p>
          <a:p>
            <a:pPr>
              <a:spcAft>
                <a:spcPts val="800"/>
              </a:spcAft>
            </a:pPr>
            <a:r>
              <a:rPr sz="1600">
                <a:solidFill>
                  <a:srgbClr val="1F2937"/>
                </a:solidFill>
                <a:latin typeface="Calibri"/>
              </a:rPr>
              <a:t>▸  Muqobil ko‘rsatkich FEV3/FEV6: FEV3 kichik yo‘llar havosini ham ko‘proq qamraydi, FEV6 esa FVC ni aniq o‘lchash zaruratini yo‘qotadi.</a:t>
            </a:r>
          </a:p>
          <a:p>
            <a:pPr>
              <a:spcAft>
                <a:spcPts val="800"/>
              </a:spcAft>
            </a:pPr>
            <a:r>
              <a:rPr sz="1600">
                <a:solidFill>
                  <a:srgbClr val="1F2937"/>
                </a:solidFill>
                <a:latin typeface="Calibri"/>
              </a:rPr>
              <a:t>▸  FEV3/FEV6 me‘yorning pastki chegarasidan past bo‘lsa, FEV1/FVC normal chekuvchilarda ham KT da gaz tutilishi va fSAD aniqlanishi mumkin.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MMEF (FEF25–75%)</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Periferik yo‘llar oqimini aks ettiradi</a:t>
            </a:r>
          </a:p>
          <a:p>
            <a:pPr algn="l">
              <a:spcAft>
                <a:spcPts val="700"/>
              </a:spcAft>
            </a:pPr>
            <a:r>
              <a:rPr sz="1500" b="1">
                <a:solidFill>
                  <a:srgbClr val="C9A227"/>
                </a:solidFill>
                <a:latin typeface="Calibri"/>
              </a:rPr>
              <a:t>●  </a:t>
            </a:r>
            <a:r>
              <a:rPr sz="1500" b="0">
                <a:solidFill>
                  <a:srgbClr val="1F2937"/>
                </a:solidFill>
                <a:latin typeface="Calibri"/>
              </a:rPr>
              <a:t>Erta SADda kamayadi</a:t>
            </a:r>
          </a:p>
          <a:p>
            <a:pPr algn="l">
              <a:spcAft>
                <a:spcPts val="700"/>
              </a:spcAft>
            </a:pPr>
            <a:r>
              <a:rPr sz="1500" b="1">
                <a:solidFill>
                  <a:srgbClr val="C9A227"/>
                </a:solidFill>
                <a:latin typeface="Calibri"/>
              </a:rPr>
              <a:t>●  </a:t>
            </a:r>
            <a:r>
              <a:rPr sz="1500" b="0">
                <a:solidFill>
                  <a:srgbClr val="1F2937"/>
                </a:solidFill>
                <a:latin typeface="Calibri"/>
              </a:rPr>
              <a:t>Sezgirlik va o‘ziga xoslik yetarli emas</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FEV3/FEV6</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FEV3 kichik yo‘llar havosini ko‘proq qamraydi</a:t>
            </a:r>
          </a:p>
          <a:p>
            <a:pPr algn="l">
              <a:spcAft>
                <a:spcPts val="700"/>
              </a:spcAft>
            </a:pPr>
            <a:r>
              <a:rPr sz="1500" b="1">
                <a:solidFill>
                  <a:srgbClr val="C9A227"/>
                </a:solidFill>
                <a:latin typeface="Calibri"/>
              </a:rPr>
              <a:t>●  </a:t>
            </a:r>
            <a:r>
              <a:rPr sz="1500" b="0">
                <a:solidFill>
                  <a:srgbClr val="1F2937"/>
                </a:solidFill>
                <a:latin typeface="Calibri"/>
              </a:rPr>
              <a:t>FEV6 FVC ni aniq o‘lchashni talab qilmaydi</a:t>
            </a:r>
          </a:p>
          <a:p>
            <a:pPr algn="l">
              <a:spcAft>
                <a:spcPts val="700"/>
              </a:spcAft>
            </a:pPr>
            <a:r>
              <a:rPr sz="1500" b="1">
                <a:solidFill>
                  <a:srgbClr val="C9A227"/>
                </a:solidFill>
                <a:latin typeface="Calibri"/>
              </a:rPr>
              <a:t>●  </a:t>
            </a:r>
            <a:r>
              <a:rPr sz="1500" b="0">
                <a:solidFill>
                  <a:srgbClr val="1F2937"/>
                </a:solidFill>
                <a:latin typeface="Calibri"/>
              </a:rPr>
              <a:t>Past bo‘lsa — gaz tutilishi, fSAD</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Spirometriya ko‘rsatkichlari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Washout testlari va impuls-ossillometriya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 nafasli washout (SBW) sodda, lekin maksimal nafas kerak; sezgirligi cheklangan.</a:t>
            </a:r>
          </a:p>
          <a:p>
            <a:pPr>
              <a:spcAft>
                <a:spcPts val="800"/>
              </a:spcAft>
            </a:pPr>
            <a:r>
              <a:rPr sz="1800">
                <a:solidFill>
                  <a:srgbClr val="1F2937"/>
                </a:solidFill>
                <a:latin typeface="Calibri"/>
              </a:rPr>
              <a:t>▸  Ko‘p nafasli washout (MBW) tinch nafasda bajariladi; LCI ventilyatsiya notekisligini ko‘rsatadi.</a:t>
            </a:r>
          </a:p>
          <a:p>
            <a:pPr>
              <a:spcAft>
                <a:spcPts val="800"/>
              </a:spcAft>
            </a:pPr>
            <a:r>
              <a:rPr sz="1800">
                <a:solidFill>
                  <a:srgbClr val="1F2937"/>
                </a:solidFill>
                <a:latin typeface="Calibri"/>
              </a:rPr>
              <a:t>▸  Impuls-ossillometriya (IOS) tinch nafasga tebranish qo‘shadi; R5–R20 va X5 kichik yo‘llarni baholaydi.</a:t>
            </a:r>
          </a:p>
        </p:txBody>
      </p:sp>
      <p:graphicFrame>
        <p:nvGraphicFramePr>
          <p:cNvPr id="9" name="Table 8"/>
          <p:cNvGraphicFramePr>
            <a:graphicFrameLocks noGrp="1"/>
          </p:cNvGraphicFramePr>
          <p:nvPr/>
        </p:nvGraphicFramePr>
        <p:xfrm>
          <a:off x="6263640" y="1463040"/>
          <a:ext cx="5287973" cy="3072384"/>
        </p:xfrm>
        <a:graphic>
          <a:graphicData uri="http://schemas.openxmlformats.org/drawingml/2006/table">
            <a:tbl>
              <a:tblPr firstRow="1" bandRow="1">
                <a:tableStyleId>{5C22544A-7EE6-4342-B048-85BDC9FD1C3A}</a:tableStyleId>
              </a:tblPr>
              <a:tblGrid>
                <a:gridCol w="1084712"/>
                <a:gridCol w="1830452"/>
                <a:gridCol w="2372809"/>
              </a:tblGrid>
              <a:tr h="768096">
                <a:tc>
                  <a:txBody>
                    <a:bodyPr/>
                    <a:lstStyle/>
                    <a:p>
                      <a:r>
                        <a:rPr sz="1600" b="1">
                          <a:solidFill>
                            <a:srgbClr val="FFFFFF"/>
                          </a:solidFill>
                        </a:rPr>
                        <a:t>Test</a:t>
                      </a:r>
                    </a:p>
                  </a:txBody>
                  <a:tcPr marL="73152" marR="73152" marT="36576" marB="36576">
                    <a:solidFill>
                      <a:srgbClr val="0B1F3A"/>
                    </a:solidFill>
                  </a:tcPr>
                </a:tc>
                <a:tc>
                  <a:txBody>
                    <a:bodyPr/>
                    <a:lstStyle/>
                    <a:p>
                      <a:r>
                        <a:rPr sz="1600" b="1">
                          <a:solidFill>
                            <a:srgbClr val="FFFFFF"/>
                          </a:solidFill>
                        </a:rPr>
                        <a:t>Afzallik</a:t>
                      </a:r>
                    </a:p>
                  </a:txBody>
                  <a:tcPr marL="73152" marR="73152" marT="36576" marB="36576">
                    <a:solidFill>
                      <a:srgbClr val="0B1F3A"/>
                    </a:solidFill>
                  </a:tcPr>
                </a:tc>
                <a:tc>
                  <a:txBody>
                    <a:bodyPr/>
                    <a:lstStyle/>
                    <a:p>
                      <a:r>
                        <a:rPr sz="1600" b="1">
                          <a:solidFill>
                            <a:srgbClr val="FFFFFF"/>
                          </a:solidFill>
                        </a:rPr>
                        <a:t>Kamchilik</a:t>
                      </a:r>
                    </a:p>
                  </a:txBody>
                  <a:tcPr marL="73152" marR="73152" marT="36576" marB="36576">
                    <a:solidFill>
                      <a:srgbClr val="0B1F3A"/>
                    </a:solidFill>
                  </a:tcPr>
                </a:tc>
              </a:tr>
              <a:tr h="768096">
                <a:tc>
                  <a:txBody>
                    <a:bodyPr/>
                    <a:lstStyle/>
                    <a:p>
                      <a:r>
                        <a:rPr sz="1500" b="0">
                          <a:solidFill>
                            <a:srgbClr val="1F2937"/>
                          </a:solidFill>
                        </a:rPr>
                        <a:t>SBW</a:t>
                      </a:r>
                    </a:p>
                  </a:txBody>
                  <a:tcPr marL="73152" marR="73152" marT="36576" marB="36576">
                    <a:solidFill>
                      <a:srgbClr val="E8EEF6"/>
                    </a:solidFill>
                  </a:tcPr>
                </a:tc>
                <a:tc>
                  <a:txBody>
                    <a:bodyPr/>
                    <a:lstStyle/>
                    <a:p>
                      <a:r>
                        <a:rPr sz="1500" b="0">
                          <a:solidFill>
                            <a:srgbClr val="1F2937"/>
                          </a:solidFill>
                        </a:rPr>
                        <a:t>Sodda, tez bajariladi</a:t>
                      </a:r>
                    </a:p>
                  </a:txBody>
                  <a:tcPr marL="73152" marR="73152" marT="36576" marB="36576">
                    <a:solidFill>
                      <a:srgbClr val="E8EEF6"/>
                    </a:solidFill>
                  </a:tcPr>
                </a:tc>
                <a:tc>
                  <a:txBody>
                    <a:bodyPr/>
                    <a:lstStyle/>
                    <a:p>
                      <a:r>
                        <a:rPr sz="1500" b="0">
                          <a:solidFill>
                            <a:srgbClr val="1F2937"/>
                          </a:solidFill>
                        </a:rPr>
                        <a:t>Hamkorlik kerak, sezgirligi past</a:t>
                      </a:r>
                    </a:p>
                  </a:txBody>
                  <a:tcPr marL="73152" marR="73152" marT="36576" marB="36576">
                    <a:solidFill>
                      <a:srgbClr val="E8EEF6"/>
                    </a:solidFill>
                  </a:tcPr>
                </a:tc>
              </a:tr>
              <a:tr h="768096">
                <a:tc>
                  <a:txBody>
                    <a:bodyPr/>
                    <a:lstStyle/>
                    <a:p>
                      <a:r>
                        <a:rPr sz="1500" b="0">
                          <a:solidFill>
                            <a:srgbClr val="1F2937"/>
                          </a:solidFill>
                        </a:rPr>
                        <a:t>MBW</a:t>
                      </a:r>
                    </a:p>
                  </a:txBody>
                  <a:tcPr marL="73152" marR="73152" marT="36576" marB="36576">
                    <a:solidFill>
                      <a:srgbClr val="FFFFFF"/>
                    </a:solidFill>
                  </a:tcPr>
                </a:tc>
                <a:tc>
                  <a:txBody>
                    <a:bodyPr/>
                    <a:lstStyle/>
                    <a:p>
                      <a:r>
                        <a:rPr sz="1500" b="0">
                          <a:solidFill>
                            <a:srgbClr val="1F2937"/>
                          </a:solidFill>
                        </a:rPr>
                        <a:t>Tinch nafas, bolalarga mos</a:t>
                      </a:r>
                    </a:p>
                  </a:txBody>
                  <a:tcPr marL="73152" marR="73152" marT="36576" marB="36576">
                    <a:solidFill>
                      <a:srgbClr val="FFFFFF"/>
                    </a:solidFill>
                  </a:tcPr>
                </a:tc>
                <a:tc>
                  <a:txBody>
                    <a:bodyPr/>
                    <a:lstStyle/>
                    <a:p>
                      <a:r>
                        <a:rPr sz="1500" b="0">
                          <a:solidFill>
                            <a:srgbClr val="1F2937"/>
                          </a:solidFill>
                        </a:rPr>
                        <a:t>Uzoq, maxsus gaz analizatori kerak</a:t>
                      </a:r>
                    </a:p>
                  </a:txBody>
                  <a:tcPr marL="73152" marR="73152" marT="36576" marB="36576">
                    <a:solidFill>
                      <a:srgbClr val="FFFFFF"/>
                    </a:solidFill>
                  </a:tcPr>
                </a:tc>
              </a:tr>
              <a:tr h="768096">
                <a:tc>
                  <a:txBody>
                    <a:bodyPr/>
                    <a:lstStyle/>
                    <a:p>
                      <a:r>
                        <a:rPr sz="1500" b="0">
                          <a:solidFill>
                            <a:srgbClr val="1F2937"/>
                          </a:solidFill>
                        </a:rPr>
                        <a:t>IOS</a:t>
                      </a:r>
                    </a:p>
                  </a:txBody>
                  <a:tcPr marL="73152" marR="73152" marT="36576" marB="36576">
                    <a:solidFill>
                      <a:srgbClr val="E8EEF6"/>
                    </a:solidFill>
                  </a:tcPr>
                </a:tc>
                <a:tc>
                  <a:txBody>
                    <a:bodyPr/>
                    <a:lstStyle/>
                    <a:p>
                      <a:r>
                        <a:rPr sz="1500" b="0">
                          <a:solidFill>
                            <a:srgbClr val="1F2937"/>
                          </a:solidFill>
                        </a:rPr>
                        <a:t>Kuch talab qilmaydi, sezgir</a:t>
                      </a:r>
                    </a:p>
                  </a:txBody>
                  <a:tcPr marL="73152" marR="73152" marT="36576" marB="36576">
                    <a:solidFill>
                      <a:srgbClr val="E8EEF6"/>
                    </a:solidFill>
                  </a:tcPr>
                </a:tc>
                <a:tc>
                  <a:txBody>
                    <a:bodyPr/>
                    <a:lstStyle/>
                    <a:p>
                      <a:r>
                        <a:rPr sz="1500" b="0">
                          <a:solidFill>
                            <a:srgbClr val="1F2937"/>
                          </a:solidFill>
                        </a:rPr>
                        <a:t>Boshqa usullar bilan mos kelmasligi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SBW, MBW va IOS solishtirmasi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 DOI 10.3389/fmed.2025.1648612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Dinamik compliance chastotaga bog‘liqligi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Dinamik compliance (Cdyn) o‘pka elastikligi va yo‘llar qarshiligini birgalikda aks ettiradi.</a:t>
            </a:r>
          </a:p>
          <a:p>
            <a:pPr>
              <a:spcAft>
                <a:spcPts val="800"/>
              </a:spcAft>
            </a:pPr>
            <a:r>
              <a:rPr sz="1800">
                <a:solidFill>
                  <a:srgbClr val="1F2937"/>
                </a:solidFill>
                <a:latin typeface="Calibri"/>
              </a:rPr>
              <a:t>▸  Sog‘lom o‘pkada vaqt konstantasi bir xil, shuning uchun nafas tezlashsa ham Cdyn deyarli o‘zgarmaydi.</a:t>
            </a:r>
          </a:p>
          <a:p>
            <a:pPr>
              <a:spcAft>
                <a:spcPts val="800"/>
              </a:spcAft>
            </a:pPr>
            <a:r>
              <a:rPr sz="1800">
                <a:solidFill>
                  <a:srgbClr val="1F2937"/>
                </a:solidFill>
                <a:latin typeface="Calibri"/>
              </a:rPr>
              <a:t>▸  Woolcock: odatiy testlar normal bo‘lsa ham, tez nafasda Cdyn pasaygan — yashirin obstruksiya belgisi.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Kichik yo‘llar torayadi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Vaqt konstantasi notekis</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Nafas chastotasi ortadi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Ba’zi hududlar bo‘shamaydi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Cdyn pasayadi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Cdyn chastotaga bog‘liq bo‘lish mexanizmi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 DOI 10.3389/fmed.2025.1648612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HRCT va parametrik javob xaritalash (PRM)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HRCT eng samarali usul, lekin ajratish qobiliyati ~2 mm — terminal bronxiolalar ko‘rinmaydi.</a:t>
            </a:r>
          </a:p>
          <a:p>
            <a:pPr>
              <a:spcAft>
                <a:spcPts val="800"/>
              </a:spcAft>
            </a:pPr>
            <a:r>
              <a:rPr sz="1800">
                <a:solidFill>
                  <a:srgbClr val="1F2937"/>
                </a:solidFill>
                <a:latin typeface="Calibri"/>
              </a:rPr>
              <a:t>▸  PRM juft skanerlar yordamida funksional kichik yo‘llar kasalligi (fSAD) va emfizemani ajratadi.</a:t>
            </a:r>
          </a:p>
          <a:p>
            <a:pPr>
              <a:spcAft>
                <a:spcPts val="800"/>
              </a:spcAft>
            </a:pPr>
            <a:r>
              <a:rPr sz="1800">
                <a:solidFill>
                  <a:srgbClr val="1F2937"/>
                </a:solidFill>
                <a:latin typeface="Calibri"/>
              </a:rPr>
              <a:t>▸  Cheklov: ikki skaner, ko‘p nurlanish va xarajat; bronx devori va shilimshiq tiqin uchun HRCT kerak.</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Juft KT</a:t>
            </a:r>
          </a:p>
          <a:p>
            <a:pPr algn="l">
              <a:spcAft>
                <a:spcPts val="200"/>
              </a:spcAft>
            </a:pPr>
            <a:r>
              <a:rPr sz="1400" b="0">
                <a:solidFill>
                  <a:srgbClr val="1F2937"/>
                </a:solidFill>
                <a:latin typeface="Calibri"/>
              </a:rPr>
              <a:t>Inspirator va ekspirator skaner</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Moslashtirish</a:t>
            </a:r>
          </a:p>
          <a:p>
            <a:pPr algn="l">
              <a:spcAft>
                <a:spcPts val="200"/>
              </a:spcAft>
            </a:pPr>
            <a:r>
              <a:rPr sz="1400" b="0">
                <a:solidFill>
                  <a:srgbClr val="1F2937"/>
                </a:solidFill>
                <a:latin typeface="Calibri"/>
              </a:rPr>
              <a:t>Skanerlar bir-biriga moslashtiriladi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Voxel HU</a:t>
            </a:r>
          </a:p>
          <a:p>
            <a:pPr algn="l">
              <a:spcAft>
                <a:spcPts val="200"/>
              </a:spcAft>
            </a:pPr>
            <a:r>
              <a:rPr sz="1400" b="0">
                <a:solidFill>
                  <a:srgbClr val="1F2937"/>
                </a:solidFill>
                <a:latin typeface="Calibri"/>
              </a:rPr>
              <a:t>Har voxel HU qiymati bo‘yicha</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Ajratish</a:t>
            </a:r>
          </a:p>
          <a:p>
            <a:pPr algn="l">
              <a:spcAft>
                <a:spcPts val="200"/>
              </a:spcAft>
            </a:pPr>
            <a:r>
              <a:rPr sz="1400" b="0">
                <a:solidFill>
                  <a:srgbClr val="1F2937"/>
                </a:solidFill>
                <a:latin typeface="Calibri"/>
              </a:rPr>
              <a:t>fSAD yoki emfizema ajratiladi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3D xarita</a:t>
            </a:r>
          </a:p>
          <a:p>
            <a:pPr algn="l">
              <a:spcAft>
                <a:spcPts val="200"/>
              </a:spcAft>
            </a:pPr>
            <a:r>
              <a:rPr sz="1400" b="0">
                <a:solidFill>
                  <a:srgbClr val="1F2937"/>
                </a:solidFill>
                <a:latin typeface="Calibri"/>
              </a:rPr>
              <a:t>Natija 3D xarita ko‘rinishida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PRM tahlili bosqichlari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 DOI 10.3389/fmed.2025.1648612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SPECT va 19F MRT (VDP)</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Bir fotonli emission tomografiya (SPECT) AUC-CV orqali ventilyatsiya notekisligini baholaydi, yengil o‘zgarishni ham sezadi.</a:t>
            </a:r>
          </a:p>
          <a:p>
            <a:pPr>
              <a:spcAft>
                <a:spcPts val="800"/>
              </a:spcAft>
            </a:pPr>
            <a:r>
              <a:rPr sz="1800">
                <a:solidFill>
                  <a:srgbClr val="1F2937"/>
                </a:solidFill>
                <a:latin typeface="Calibri"/>
              </a:rPr>
              <a:t>▸  19F magnit-rezonans tomografiyada (MRT) VDP mahalliy havo tutilishini, FEV1 (1-soniya hajmi) esa umumiy cheklovni ko‘rsatadi.</a:t>
            </a:r>
          </a:p>
          <a:p>
            <a:pPr>
              <a:spcAft>
                <a:spcPts val="800"/>
              </a:spcAft>
            </a:pPr>
            <a:r>
              <a:rPr sz="1800">
                <a:solidFill>
                  <a:srgbClr val="1F2937"/>
                </a:solidFill>
                <a:latin typeface="Calibri"/>
              </a:rPr>
              <a:t>▸  Ikkala usul ham asosan tadqiqot vositasi bo‘lib, COPD ning kundalik diagnostikasiga hali kiritilmagan.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SPECT/CT</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Ko‘rsatkich: AUC-CV</a:t>
            </a:r>
          </a:p>
          <a:p>
            <a:pPr algn="l">
              <a:spcAft>
                <a:spcPts val="700"/>
              </a:spcAft>
            </a:pPr>
            <a:r>
              <a:rPr sz="1500" b="1">
                <a:solidFill>
                  <a:srgbClr val="C9A227"/>
                </a:solidFill>
                <a:latin typeface="Calibri"/>
              </a:rPr>
              <a:t>●  </a:t>
            </a:r>
            <a:r>
              <a:rPr sz="1500" b="0">
                <a:solidFill>
                  <a:srgbClr val="1F2937"/>
                </a:solidFill>
                <a:latin typeface="Calibri"/>
              </a:rPr>
              <a:t>Inhalatsion radioaktiv tracer</a:t>
            </a:r>
          </a:p>
          <a:p>
            <a:pPr algn="l">
              <a:spcAft>
                <a:spcPts val="700"/>
              </a:spcAft>
            </a:pPr>
            <a:r>
              <a:rPr sz="1500" b="1">
                <a:solidFill>
                  <a:srgbClr val="C9A227"/>
                </a:solidFill>
                <a:latin typeface="Calibri"/>
              </a:rPr>
              <a:t>●  </a:t>
            </a:r>
            <a:r>
              <a:rPr sz="1500" b="0">
                <a:solidFill>
                  <a:srgbClr val="1F2937"/>
                </a:solidFill>
                <a:latin typeface="Calibri"/>
              </a:rPr>
              <a:t>Yengil o‘zgarishni ham sezadi</a:t>
            </a:r>
          </a:p>
          <a:p>
            <a:pPr algn="l">
              <a:spcAft>
                <a:spcPts val="700"/>
              </a:spcAft>
            </a:pPr>
            <a:r>
              <a:rPr sz="1500" b="1">
                <a:solidFill>
                  <a:srgbClr val="C9A227"/>
                </a:solidFill>
                <a:latin typeface="Calibri"/>
              </a:rPr>
              <a:t>●  </a:t>
            </a:r>
            <a:r>
              <a:rPr sz="1500" b="0">
                <a:solidFill>
                  <a:srgbClr val="1F2937"/>
                </a:solidFill>
                <a:latin typeface="Calibri"/>
              </a:rPr>
              <a:t>Asosan ilmiy ish vositasi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19F MRT</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Ko‘rsatkich: VDP</a:t>
            </a:r>
          </a:p>
          <a:p>
            <a:pPr algn="l">
              <a:spcAft>
                <a:spcPts val="700"/>
              </a:spcAft>
            </a:pPr>
            <a:r>
              <a:rPr sz="1500" b="1">
                <a:solidFill>
                  <a:srgbClr val="C9A227"/>
                </a:solidFill>
                <a:latin typeface="Calibri"/>
              </a:rPr>
              <a:t>●  </a:t>
            </a:r>
            <a:r>
              <a:rPr sz="1500" b="0">
                <a:solidFill>
                  <a:srgbClr val="1F2937"/>
                </a:solidFill>
                <a:latin typeface="Calibri"/>
              </a:rPr>
              <a:t>Inert perftorpropan gazi</a:t>
            </a:r>
          </a:p>
          <a:p>
            <a:pPr algn="l">
              <a:spcAft>
                <a:spcPts val="700"/>
              </a:spcAft>
            </a:pPr>
            <a:r>
              <a:rPr sz="1500" b="1">
                <a:solidFill>
                  <a:srgbClr val="C9A227"/>
                </a:solidFill>
                <a:latin typeface="Calibri"/>
              </a:rPr>
              <a:t>●  </a:t>
            </a:r>
            <a:r>
              <a:rPr sz="1500" b="0">
                <a:solidFill>
                  <a:srgbClr val="1F2937"/>
                </a:solidFill>
                <a:latin typeface="Calibri"/>
              </a:rPr>
              <a:t>Oddiy, tejamkor, xavfsiz</a:t>
            </a:r>
          </a:p>
          <a:p>
            <a:pPr algn="l">
              <a:spcAft>
                <a:spcPts val="700"/>
              </a:spcAft>
            </a:pPr>
            <a:r>
              <a:rPr sz="1500" b="1">
                <a:solidFill>
                  <a:srgbClr val="C9A227"/>
                </a:solidFill>
                <a:latin typeface="Calibri"/>
              </a:rPr>
              <a:t>●  </a:t>
            </a:r>
            <a:r>
              <a:rPr sz="1500" b="0">
                <a:solidFill>
                  <a:srgbClr val="1F2937"/>
                </a:solidFill>
                <a:latin typeface="Calibri"/>
              </a:rPr>
              <a:t>Keng mavjud emas; nafas ushlash kerak</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SPECT va 19F MRT solishtiruvi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Diagnostik usullarni solishtirish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Spirometriya oddiy va arzon, ammo erta kichik yo‘l kasalligida (SAD) sezgirligi yetarli emas.</a:t>
            </a:r>
          </a:p>
          <a:p>
            <a:pPr>
              <a:spcAft>
                <a:spcPts val="800"/>
              </a:spcAft>
            </a:pPr>
            <a:r>
              <a:rPr sz="1800">
                <a:solidFill>
                  <a:srgbClr val="1F2937"/>
                </a:solidFill>
                <a:latin typeface="Calibri"/>
              </a:rPr>
              <a:t>▸  Ko‘p nafas bilan yuvish (MBW) va impuls ossillometriya (IOS) spirometriya normal bo‘lganda ham sezgirroq.</a:t>
            </a:r>
          </a:p>
          <a:p>
            <a:pPr>
              <a:spcAft>
                <a:spcPts val="800"/>
              </a:spcAft>
            </a:pPr>
            <a:r>
              <a:rPr sz="1800">
                <a:solidFill>
                  <a:srgbClr val="1F2937"/>
                </a:solidFill>
                <a:latin typeface="Calibri"/>
              </a:rPr>
              <a:t>▸  Parametrik javob xaritasi (PRM) fSAD ni emfizemadan ajratadi, lekin ikki skan talab qiladi va qimmat.</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691639"/>
                <a:gridCol w="2045969"/>
                <a:gridCol w="1550367"/>
              </a:tblGrid>
              <a:tr h="614476">
                <a:tc>
                  <a:txBody>
                    <a:bodyPr/>
                    <a:lstStyle/>
                    <a:p>
                      <a:r>
                        <a:rPr sz="1600" b="1">
                          <a:solidFill>
                            <a:srgbClr val="FFFFFF"/>
                          </a:solidFill>
                        </a:rPr>
                        <a:t>Usul</a:t>
                      </a:r>
                    </a:p>
                  </a:txBody>
                  <a:tcPr marL="73152" marR="73152" marT="36576" marB="36576">
                    <a:solidFill>
                      <a:srgbClr val="0B1F3A"/>
                    </a:solidFill>
                  </a:tcPr>
                </a:tc>
                <a:tc>
                  <a:txBody>
                    <a:bodyPr/>
                    <a:lstStyle/>
                    <a:p>
                      <a:r>
                        <a:rPr sz="1600" b="1">
                          <a:solidFill>
                            <a:srgbClr val="FFFFFF"/>
                          </a:solidFill>
                        </a:rPr>
                        <a:t>Sezgirlik</a:t>
                      </a:r>
                    </a:p>
                  </a:txBody>
                  <a:tcPr marL="73152" marR="73152" marT="36576" marB="36576">
                    <a:solidFill>
                      <a:srgbClr val="0B1F3A"/>
                    </a:solidFill>
                  </a:tcPr>
                </a:tc>
                <a:tc>
                  <a:txBody>
                    <a:bodyPr/>
                    <a:lstStyle/>
                    <a:p>
                      <a:r>
                        <a:rPr sz="1600" b="1">
                          <a:solidFill>
                            <a:srgbClr val="FFFFFF"/>
                          </a:solidFill>
                        </a:rPr>
                        <a:t>Qulaylik</a:t>
                      </a:r>
                    </a:p>
                  </a:txBody>
                  <a:tcPr marL="73152" marR="73152" marT="36576" marB="36576">
                    <a:solidFill>
                      <a:srgbClr val="0B1F3A"/>
                    </a:solidFill>
                  </a:tcPr>
                </a:tc>
              </a:tr>
              <a:tr h="614476">
                <a:tc>
                  <a:txBody>
                    <a:bodyPr/>
                    <a:lstStyle/>
                    <a:p>
                      <a:r>
                        <a:rPr sz="1500" b="0">
                          <a:solidFill>
                            <a:srgbClr val="1F2937"/>
                          </a:solidFill>
                        </a:rPr>
                        <a:t>Spirometriya</a:t>
                      </a:r>
                    </a:p>
                  </a:txBody>
                  <a:tcPr marL="73152" marR="73152" marT="36576" marB="36576">
                    <a:solidFill>
                      <a:srgbClr val="E8EEF6"/>
                    </a:solidFill>
                  </a:tcPr>
                </a:tc>
                <a:tc>
                  <a:txBody>
                    <a:bodyPr/>
                    <a:lstStyle/>
                    <a:p>
                      <a:r>
                        <a:rPr sz="1500" b="0">
                          <a:solidFill>
                            <a:srgbClr val="1F2937"/>
                          </a:solidFill>
                        </a:rPr>
                        <a:t>Erta SADda cheklangan</a:t>
                      </a:r>
                    </a:p>
                  </a:txBody>
                  <a:tcPr marL="73152" marR="73152" marT="36576" marB="36576">
                    <a:solidFill>
                      <a:srgbClr val="E8EEF6"/>
                    </a:solidFill>
                  </a:tcPr>
                </a:tc>
                <a:tc>
                  <a:txBody>
                    <a:bodyPr/>
                    <a:lstStyle/>
                    <a:p>
                      <a:r>
                        <a:rPr sz="1500" b="0">
                          <a:solidFill>
                            <a:srgbClr val="1F2937"/>
                          </a:solidFill>
                        </a:rPr>
                        <a:t>Oson, arzon, eng keng qo‘llanadi</a:t>
                      </a:r>
                    </a:p>
                  </a:txBody>
                  <a:tcPr marL="73152" marR="73152" marT="36576" marB="36576">
                    <a:solidFill>
                      <a:srgbClr val="E8EEF6"/>
                    </a:solidFill>
                  </a:tcPr>
                </a:tc>
              </a:tr>
              <a:tr h="614476">
                <a:tc>
                  <a:txBody>
                    <a:bodyPr/>
                    <a:lstStyle/>
                    <a:p>
                      <a:r>
                        <a:rPr sz="1500" b="0">
                          <a:solidFill>
                            <a:srgbClr val="1F2937"/>
                          </a:solidFill>
                        </a:rPr>
                        <a:t>MBW va IOS</a:t>
                      </a:r>
                    </a:p>
                  </a:txBody>
                  <a:tcPr marL="73152" marR="73152" marT="36576" marB="36576">
                    <a:solidFill>
                      <a:srgbClr val="FFFFFF"/>
                    </a:solidFill>
                  </a:tcPr>
                </a:tc>
                <a:tc>
                  <a:txBody>
                    <a:bodyPr/>
                    <a:lstStyle/>
                    <a:p>
                      <a:r>
                        <a:rPr sz="1500" b="0">
                          <a:solidFill>
                            <a:srgbClr val="1F2937"/>
                          </a:solidFill>
                        </a:rPr>
                        <a:t>Spirometriyadan sezgirroq</a:t>
                      </a:r>
                    </a:p>
                  </a:txBody>
                  <a:tcPr marL="73152" marR="73152" marT="36576" marB="36576">
                    <a:solidFill>
                      <a:srgbClr val="FFFFFF"/>
                    </a:solidFill>
                  </a:tcPr>
                </a:tc>
                <a:tc>
                  <a:txBody>
                    <a:bodyPr/>
                    <a:lstStyle/>
                    <a:p>
                      <a:r>
                        <a:rPr sz="1500" b="0">
                          <a:solidFill>
                            <a:srgbClr val="1F2937"/>
                          </a:solidFill>
                        </a:rPr>
                        <a:t>MBW bolalarga mos; IOS kam kuch talab</a:t>
                      </a:r>
                    </a:p>
                  </a:txBody>
                  <a:tcPr marL="73152" marR="73152" marT="36576" marB="36576">
                    <a:solidFill>
                      <a:srgbClr val="FFFFFF"/>
                    </a:solidFill>
                  </a:tcPr>
                </a:tc>
              </a:tr>
              <a:tr h="614476">
                <a:tc>
                  <a:txBody>
                    <a:bodyPr/>
                    <a:lstStyle/>
                    <a:p>
                      <a:r>
                        <a:rPr sz="1500" b="0">
                          <a:solidFill>
                            <a:srgbClr val="1F2937"/>
                          </a:solidFill>
                        </a:rPr>
                        <a:t>PRM (HRCT)</a:t>
                      </a:r>
                    </a:p>
                  </a:txBody>
                  <a:tcPr marL="73152" marR="73152" marT="36576" marB="36576">
                    <a:solidFill>
                      <a:srgbClr val="E8EEF6"/>
                    </a:solidFill>
                  </a:tcPr>
                </a:tc>
                <a:tc>
                  <a:txBody>
                    <a:bodyPr/>
                    <a:lstStyle/>
                    <a:p>
                      <a:r>
                        <a:rPr sz="1500" b="0">
                          <a:solidFill>
                            <a:srgbClr val="1F2937"/>
                          </a:solidFill>
                        </a:rPr>
                        <a:t>Funksional SAD (fSAD) ni ajratadi</a:t>
                      </a:r>
                    </a:p>
                  </a:txBody>
                  <a:tcPr marL="73152" marR="73152" marT="36576" marB="36576">
                    <a:solidFill>
                      <a:srgbClr val="E8EEF6"/>
                    </a:solidFill>
                  </a:tcPr>
                </a:tc>
                <a:tc>
                  <a:txBody>
                    <a:bodyPr/>
                    <a:lstStyle/>
                    <a:p>
                      <a:r>
                        <a:rPr sz="1500" b="0">
                          <a:solidFill>
                            <a:srgbClr val="1F2937"/>
                          </a:solidFill>
                        </a:rPr>
                        <a:t>Ikki skan: qimmat, nur yuklamasi</a:t>
                      </a:r>
                    </a:p>
                  </a:txBody>
                  <a:tcPr marL="73152" marR="73152" marT="36576" marB="36576">
                    <a:solidFill>
                      <a:srgbClr val="E8EEF6"/>
                    </a:solidFill>
                  </a:tcPr>
                </a:tc>
              </a:tr>
              <a:tr h="614476">
                <a:tc>
                  <a:txBody>
                    <a:bodyPr/>
                    <a:lstStyle/>
                    <a:p>
                      <a:r>
                        <a:rPr sz="1500" b="0">
                          <a:solidFill>
                            <a:srgbClr val="1F2937"/>
                          </a:solidFill>
                        </a:rPr>
                        <a:t>SPECT, 19F MRT</a:t>
                      </a:r>
                    </a:p>
                  </a:txBody>
                  <a:tcPr marL="73152" marR="73152" marT="36576" marB="36576">
                    <a:solidFill>
                      <a:srgbClr val="FFFFFF"/>
                    </a:solidFill>
                  </a:tcPr>
                </a:tc>
                <a:tc>
                  <a:txBody>
                    <a:bodyPr/>
                    <a:lstStyle/>
                    <a:p>
                      <a:r>
                        <a:rPr sz="1500" b="0">
                          <a:solidFill>
                            <a:srgbClr val="1F2937"/>
                          </a:solidFill>
                        </a:rPr>
                        <a:t>Hududiy ventilyatsiyani sezadi</a:t>
                      </a:r>
                    </a:p>
                  </a:txBody>
                  <a:tcPr marL="73152" marR="73152" marT="36576" marB="36576">
                    <a:solidFill>
                      <a:srgbClr val="FFFFFF"/>
                    </a:solidFill>
                  </a:tcPr>
                </a:tc>
                <a:tc>
                  <a:txBody>
                    <a:bodyPr/>
                    <a:lstStyle/>
                    <a:p>
                      <a:r>
                        <a:rPr sz="1500" b="0">
                          <a:solidFill>
                            <a:srgbClr val="1F2937"/>
                          </a:solidFill>
                        </a:rPr>
                        <a:t>Tadqiqot vositasi, kam mavjud</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Kichik yo‘llarni aniqlash usullari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Tajriba modellari va emfizema biomarkerlari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Hayvon modellari inson kasalligining ayrim belgilarini aks ettiradi; sichqon eng ko‘p ishlatiladi.</a:t>
            </a:r>
          </a:p>
          <a:p>
            <a:pPr>
              <a:spcAft>
                <a:spcPts val="800"/>
              </a:spcAft>
            </a:pPr>
            <a:r>
              <a:rPr sz="1800">
                <a:solidFill>
                  <a:srgbClr val="1F2937"/>
                </a:solidFill>
                <a:latin typeface="Calibri"/>
              </a:rPr>
              <a:t>▸  Qondagi sRAGE (glikatsiya mahsulotlari eruvchan retseptori) kasallik og‘irligi bilan bog‘liq.</a:t>
            </a:r>
          </a:p>
          <a:p>
            <a:pPr>
              <a:spcAft>
                <a:spcPts val="800"/>
              </a:spcAft>
            </a:pPr>
            <a:r>
              <a:rPr sz="1800">
                <a:solidFill>
                  <a:srgbClr val="1F2937"/>
                </a:solidFill>
                <a:latin typeface="Calibri"/>
              </a:rPr>
              <a:t>▸  Desmozin — elastinga xos aminokislota; alveola devori buzilishining sezgir va o‘ziga xos belgisi.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337310"/>
                <a:gridCol w="2031309"/>
                <a:gridCol w="1919355"/>
              </a:tblGrid>
              <a:tr h="614476">
                <a:tc>
                  <a:txBody>
                    <a:bodyPr/>
                    <a:lstStyle/>
                    <a:p>
                      <a:r>
                        <a:rPr sz="1600" b="1">
                          <a:solidFill>
                            <a:srgbClr val="FFFFFF"/>
                          </a:solidFill>
                        </a:rPr>
                        <a:t>Model</a:t>
                      </a:r>
                    </a:p>
                  </a:txBody>
                  <a:tcPr marL="73152" marR="73152" marT="36576" marB="36576">
                    <a:solidFill>
                      <a:srgbClr val="0B1F3A"/>
                    </a:solidFill>
                  </a:tcPr>
                </a:tc>
                <a:tc>
                  <a:txBody>
                    <a:bodyPr/>
                    <a:lstStyle/>
                    <a:p>
                      <a:r>
                        <a:rPr sz="1600" b="1">
                          <a:solidFill>
                            <a:srgbClr val="FFFFFF"/>
                          </a:solidFill>
                        </a:rPr>
                        <a:t>Mohiyati</a:t>
                      </a:r>
                    </a:p>
                  </a:txBody>
                  <a:tcPr marL="73152" marR="73152" marT="36576" marB="36576">
                    <a:solidFill>
                      <a:srgbClr val="0B1F3A"/>
                    </a:solidFill>
                  </a:tcPr>
                </a:tc>
                <a:tc>
                  <a:txBody>
                    <a:bodyPr/>
                    <a:lstStyle/>
                    <a:p>
                      <a:r>
                        <a:rPr sz="1600" b="1">
                          <a:solidFill>
                            <a:srgbClr val="FFFFFF"/>
                          </a:solidFill>
                        </a:rPr>
                        <a:t>Cheklov</a:t>
                      </a:r>
                    </a:p>
                  </a:txBody>
                  <a:tcPr marL="73152" marR="73152" marT="36576" marB="36576">
                    <a:solidFill>
                      <a:srgbClr val="0B1F3A"/>
                    </a:solidFill>
                  </a:tcPr>
                </a:tc>
              </a:tr>
              <a:tr h="614476">
                <a:tc>
                  <a:txBody>
                    <a:bodyPr/>
                    <a:lstStyle/>
                    <a:p>
                      <a:r>
                        <a:rPr sz="1500" b="0">
                          <a:solidFill>
                            <a:srgbClr val="1F2937"/>
                          </a:solidFill>
                        </a:rPr>
                        <a:t>Chekish (tutun)</a:t>
                      </a:r>
                    </a:p>
                  </a:txBody>
                  <a:tcPr marL="73152" marR="73152" marT="36576" marB="36576">
                    <a:solidFill>
                      <a:srgbClr val="E8EEF6"/>
                    </a:solidFill>
                  </a:tcPr>
                </a:tc>
                <a:tc>
                  <a:txBody>
                    <a:bodyPr/>
                    <a:lstStyle/>
                    <a:p>
                      <a:r>
                        <a:rPr sz="1500" b="0">
                          <a:solidFill>
                            <a:srgbClr val="1F2937"/>
                          </a:solidFill>
                        </a:rPr>
                        <a:t>Yallig‘lanish, alveola yorilishi</a:t>
                      </a:r>
                    </a:p>
                  </a:txBody>
                  <a:tcPr marL="73152" marR="73152" marT="36576" marB="36576">
                    <a:solidFill>
                      <a:srgbClr val="E8EEF6"/>
                    </a:solidFill>
                  </a:tcPr>
                </a:tc>
                <a:tc>
                  <a:txBody>
                    <a:bodyPr/>
                    <a:lstStyle/>
                    <a:p>
                      <a:r>
                        <a:rPr sz="1500" b="0">
                          <a:solidFill>
                            <a:srgbClr val="1F2937"/>
                          </a:solidFill>
                        </a:rPr>
                        <a:t>Tutun dozasi va tur farqi ta’sir qiladi</a:t>
                      </a:r>
                    </a:p>
                  </a:txBody>
                  <a:tcPr marL="73152" marR="73152" marT="36576" marB="36576">
                    <a:solidFill>
                      <a:srgbClr val="E8EEF6"/>
                    </a:solidFill>
                  </a:tcPr>
                </a:tc>
              </a:tr>
              <a:tr h="614476">
                <a:tc>
                  <a:txBody>
                    <a:bodyPr/>
                    <a:lstStyle/>
                    <a:p>
                      <a:r>
                        <a:rPr sz="1500" b="0">
                          <a:solidFill>
                            <a:srgbClr val="1F2937"/>
                          </a:solidFill>
                        </a:rPr>
                        <a:t>Elastaza</a:t>
                      </a:r>
                    </a:p>
                  </a:txBody>
                  <a:tcPr marL="73152" marR="73152" marT="36576" marB="36576">
                    <a:solidFill>
                      <a:srgbClr val="FFFFFF"/>
                    </a:solidFill>
                  </a:tcPr>
                </a:tc>
                <a:tc>
                  <a:txBody>
                    <a:bodyPr/>
                    <a:lstStyle/>
                    <a:p>
                      <a:r>
                        <a:rPr sz="1500" b="0">
                          <a:solidFill>
                            <a:srgbClr val="1F2937"/>
                          </a:solidFill>
                        </a:rPr>
                        <a:t>Elastik tolalar parchalanadi</a:t>
                      </a:r>
                    </a:p>
                  </a:txBody>
                  <a:tcPr marL="73152" marR="73152" marT="36576" marB="36576">
                    <a:solidFill>
                      <a:srgbClr val="FFFFFF"/>
                    </a:solidFill>
                  </a:tcPr>
                </a:tc>
                <a:tc>
                  <a:txBody>
                    <a:bodyPr/>
                    <a:lstStyle/>
                    <a:p>
                      <a:r>
                        <a:rPr sz="1500" b="0">
                          <a:solidFill>
                            <a:srgbClr val="1F2937"/>
                          </a:solidFill>
                        </a:rPr>
                        <a:t>Tez rivojlanadi, odamda esa surunkali</a:t>
                      </a:r>
                    </a:p>
                  </a:txBody>
                  <a:tcPr marL="73152" marR="73152" marT="36576" marB="36576">
                    <a:solidFill>
                      <a:srgbClr val="FFFFFF"/>
                    </a:solidFill>
                  </a:tcPr>
                </a:tc>
              </a:tr>
              <a:tr h="614476">
                <a:tc>
                  <a:txBody>
                    <a:bodyPr/>
                    <a:lstStyle/>
                    <a:p>
                      <a:r>
                        <a:rPr sz="1500" b="0">
                          <a:solidFill>
                            <a:srgbClr val="1F2937"/>
                          </a:solidFill>
                        </a:rPr>
                        <a:t>Kimyoviy</a:t>
                      </a:r>
                    </a:p>
                  </a:txBody>
                  <a:tcPr marL="73152" marR="73152" marT="36576" marB="36576">
                    <a:solidFill>
                      <a:srgbClr val="E8EEF6"/>
                    </a:solidFill>
                  </a:tcPr>
                </a:tc>
                <a:tc>
                  <a:txBody>
                    <a:bodyPr/>
                    <a:lstStyle/>
                    <a:p>
                      <a:r>
                        <a:rPr sz="1500" b="0">
                          <a:solidFill>
                            <a:srgbClr val="1F2937"/>
                          </a:solidFill>
                        </a:rPr>
                        <a:t>Ozon, azot va oltingugurt dioksidi</a:t>
                      </a:r>
                    </a:p>
                  </a:txBody>
                  <a:tcPr marL="73152" marR="73152" marT="36576" marB="36576">
                    <a:solidFill>
                      <a:srgbClr val="E8EEF6"/>
                    </a:solidFill>
                  </a:tcPr>
                </a:tc>
                <a:tc>
                  <a:txBody>
                    <a:bodyPr/>
                    <a:lstStyle/>
                    <a:p>
                      <a:r>
                        <a:rPr sz="1500" b="0">
                          <a:solidFill>
                            <a:srgbClr val="1F2937"/>
                          </a:solidFill>
                        </a:rPr>
                        <a:t>Doza va muddat real hayotga mos emas</a:t>
                      </a:r>
                    </a:p>
                  </a:txBody>
                  <a:tcPr marL="73152" marR="73152" marT="36576" marB="36576">
                    <a:solidFill>
                      <a:srgbClr val="E8EEF6"/>
                    </a:solidFill>
                  </a:tcPr>
                </a:tc>
              </a:tr>
              <a:tr h="614476">
                <a:tc>
                  <a:txBody>
                    <a:bodyPr/>
                    <a:lstStyle/>
                    <a:p>
                      <a:r>
                        <a:rPr sz="1500" b="0">
                          <a:solidFill>
                            <a:srgbClr val="1F2937"/>
                          </a:solidFill>
                        </a:rPr>
                        <a:t>Gen o‘zgargan</a:t>
                      </a:r>
                    </a:p>
                  </a:txBody>
                  <a:tcPr marL="73152" marR="73152" marT="36576" marB="36576">
                    <a:solidFill>
                      <a:srgbClr val="FFFFFF"/>
                    </a:solidFill>
                  </a:tcPr>
                </a:tc>
                <a:tc>
                  <a:txBody>
                    <a:bodyPr/>
                    <a:lstStyle/>
                    <a:p>
                      <a:r>
                        <a:rPr sz="1500" b="0">
                          <a:solidFill>
                            <a:srgbClr val="1F2937"/>
                          </a:solidFill>
                        </a:rPr>
                        <a:t>MMP-12 ortishi; elastaza yoki A1AT yo‘q</a:t>
                      </a:r>
                    </a:p>
                  </a:txBody>
                  <a:tcPr marL="73152" marR="73152" marT="36576" marB="36576">
                    <a:solidFill>
                      <a:srgbClr val="FFFFFF"/>
                    </a:solidFill>
                  </a:tcPr>
                </a:tc>
                <a:tc>
                  <a:txBody>
                    <a:bodyPr/>
                    <a:lstStyle/>
                    <a:p>
                      <a:r>
                        <a:rPr sz="1500" b="0">
                          <a:solidFill>
                            <a:srgbClr val="1F2937"/>
                          </a:solidFill>
                        </a:rPr>
                        <a:t>Yosh, jins ta’sirini nazorat etish qiyin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Emfizema tajriba modellari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Bentaher A va boshq., Pulmonary Emphysema: Current Understanding of Disease Pathogenesis and Therapeutic Approaches, betlar: PMID 41007683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Bronxodilatatorlar: β-2 agonistlar va antixolinergiklar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Bronxodilatatorlar havo yo‘llari mushaklarini bo‘shashtirib, havo oqimi pasayishi va nafas qiyinligini kamaytiradi: β-2 agonistlar va antixolinergiklar.</a:t>
            </a:r>
          </a:p>
          <a:p>
            <a:pPr>
              <a:spcAft>
                <a:spcPts val="800"/>
              </a:spcAft>
            </a:pPr>
            <a:r>
              <a:rPr sz="1600">
                <a:solidFill>
                  <a:srgbClr val="1F2937"/>
                </a:solidFill>
                <a:latin typeface="Calibri"/>
              </a:rPr>
              <a:t>▸  β-2 agonistlar β-2 adrenoretseptorlarni qo‘zg‘atadi: adenilatsiklaza → cAMP → proteinkinaza A; silliq mushak bo‘shashadi, havo yo‘llari kengayadi.</a:t>
            </a:r>
          </a:p>
          <a:p>
            <a:pPr>
              <a:spcAft>
                <a:spcPts val="800"/>
              </a:spcAft>
            </a:pPr>
            <a:r>
              <a:rPr sz="1600">
                <a:solidFill>
                  <a:srgbClr val="1F2937"/>
                </a:solidFill>
                <a:latin typeface="Calibri"/>
              </a:rPr>
              <a:t>▸  Qisqa ta’sirli (salbutamol) — tez yengillik uchun; uzoq ta’sirli LABA (salmeterol, formoterol) — davomli davo; indakaterol kuniga bir marta.</a:t>
            </a:r>
          </a:p>
          <a:p>
            <a:pPr>
              <a:spcAft>
                <a:spcPts val="800"/>
              </a:spcAft>
            </a:pPr>
            <a:r>
              <a:rPr sz="1600">
                <a:solidFill>
                  <a:srgbClr val="1F2937"/>
                </a:solidFill>
                <a:latin typeface="Calibri"/>
              </a:rPr>
              <a:t>▸  Antixolinergiklar M3 muskarin retseptorlarini to‘sadi; ipratropiy bromid — qisqa ta’sirli, uzoq ta’sirli LAMA — davoning asosiy tayanchi.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β-2 agonistlar</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β-2 retseptor → cAMP → proteinkinaza A</a:t>
            </a:r>
          </a:p>
          <a:p>
            <a:pPr algn="l">
              <a:spcAft>
                <a:spcPts val="700"/>
              </a:spcAft>
            </a:pPr>
            <a:r>
              <a:rPr sz="1500" b="1">
                <a:solidFill>
                  <a:srgbClr val="C9A227"/>
                </a:solidFill>
                <a:latin typeface="Calibri"/>
              </a:rPr>
              <a:t>●  </a:t>
            </a:r>
            <a:r>
              <a:rPr sz="1500" b="0">
                <a:solidFill>
                  <a:srgbClr val="1F2937"/>
                </a:solidFill>
                <a:latin typeface="Calibri"/>
              </a:rPr>
              <a:t>Qisqa: salbutamol (tez yengillik)</a:t>
            </a:r>
          </a:p>
          <a:p>
            <a:pPr algn="l">
              <a:spcAft>
                <a:spcPts val="700"/>
              </a:spcAft>
            </a:pPr>
            <a:r>
              <a:rPr sz="1500" b="1">
                <a:solidFill>
                  <a:srgbClr val="C9A227"/>
                </a:solidFill>
                <a:latin typeface="Calibri"/>
              </a:rPr>
              <a:t>●  </a:t>
            </a:r>
            <a:r>
              <a:rPr sz="1500" b="0">
                <a:solidFill>
                  <a:srgbClr val="1F2937"/>
                </a:solidFill>
                <a:latin typeface="Calibri"/>
              </a:rPr>
              <a:t>LABA: salmeterol, formoterol</a:t>
            </a:r>
          </a:p>
          <a:p>
            <a:pPr algn="l">
              <a:spcAft>
                <a:spcPts val="700"/>
              </a:spcAft>
            </a:pPr>
            <a:r>
              <a:rPr sz="1500" b="1">
                <a:solidFill>
                  <a:srgbClr val="C9A227"/>
                </a:solidFill>
                <a:latin typeface="Calibri"/>
              </a:rPr>
              <a:t>●  </a:t>
            </a:r>
            <a:r>
              <a:rPr sz="1500" b="0">
                <a:solidFill>
                  <a:srgbClr val="1F2937"/>
                </a:solidFill>
                <a:latin typeface="Calibri"/>
              </a:rPr>
              <a:t>Indakaterol: kuniga bir marta</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Antixolinergiklar</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M3 muskarin retseptorlarini to‘sadi</a:t>
            </a:r>
          </a:p>
          <a:p>
            <a:pPr algn="l">
              <a:spcAft>
                <a:spcPts val="700"/>
              </a:spcAft>
            </a:pPr>
            <a:r>
              <a:rPr sz="1500" b="1">
                <a:solidFill>
                  <a:srgbClr val="C9A227"/>
                </a:solidFill>
                <a:latin typeface="Calibri"/>
              </a:rPr>
              <a:t>●  </a:t>
            </a:r>
            <a:r>
              <a:rPr sz="1500" b="0">
                <a:solidFill>
                  <a:srgbClr val="1F2937"/>
                </a:solidFill>
                <a:latin typeface="Calibri"/>
              </a:rPr>
              <a:t>Qisqa ta’sirli: ipratropiy bromid</a:t>
            </a:r>
          </a:p>
          <a:p>
            <a:pPr algn="l">
              <a:spcAft>
                <a:spcPts val="700"/>
              </a:spcAft>
            </a:pPr>
            <a:r>
              <a:rPr sz="1500" b="1">
                <a:solidFill>
                  <a:srgbClr val="C9A227"/>
                </a:solidFill>
                <a:latin typeface="Calibri"/>
              </a:rPr>
              <a:t>●  </a:t>
            </a:r>
            <a:r>
              <a:rPr sz="1500" b="0">
                <a:solidFill>
                  <a:srgbClr val="1F2937"/>
                </a:solidFill>
                <a:latin typeface="Calibri"/>
              </a:rPr>
              <a:t>LAMA — asosiy tayanch davo</a:t>
            </a:r>
          </a:p>
          <a:p>
            <a:pPr algn="l">
              <a:spcAft>
                <a:spcPts val="700"/>
              </a:spcAft>
            </a:pPr>
            <a:r>
              <a:rPr sz="1500" b="1">
                <a:solidFill>
                  <a:srgbClr val="C9A227"/>
                </a:solidFill>
                <a:latin typeface="Calibri"/>
              </a:rPr>
              <a:t>●  </a:t>
            </a:r>
            <a:r>
              <a:rPr sz="1500" b="0">
                <a:solidFill>
                  <a:srgbClr val="1F2937"/>
                </a:solidFill>
                <a:latin typeface="Calibri"/>
              </a:rPr>
              <a:t>Glikopirrolat, aklidiniy bromid</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Bronxodilatatorlar</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Bentaher A va boshq., Pulmonary Emphysema: Current Understanding of Disease Pathogenesis and Therapeutic Approaches, betlar: PMID 41007683, 5.2.1-bo‘lim, PMID 41007683, 5.2.2-bo‘lim, PMID 41007683, 5.2.3-bo‘lim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Kortikosteroidlar, antibiotiklar va PDE4 ingibitorlari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Kortikosteroidlar glyukokortikoid retseptoriga bog‘lanib, NF-κB va AP-1 ni susaytiradi; asosan tez-tez xurujlanuvchi bemorlarga, ko‘pincha inhalatsiya bilan.</a:t>
            </a:r>
          </a:p>
          <a:p>
            <a:pPr>
              <a:spcAft>
                <a:spcPts val="800"/>
              </a:spcAft>
            </a:pPr>
            <a:r>
              <a:rPr sz="1600">
                <a:solidFill>
                  <a:srgbClr val="1F2937"/>
                </a:solidFill>
                <a:latin typeface="Calibri"/>
              </a:rPr>
              <a:t>▸  Kortikosteroid xavfi: infeksiya, vazn oshishi, gipertoniya, osteoporoz; ba’zan kortikosteroid rezistentligi bo‘ladi.</a:t>
            </a:r>
          </a:p>
          <a:p>
            <a:pPr>
              <a:spcAft>
                <a:spcPts val="800"/>
              </a:spcAft>
            </a:pPr>
            <a:r>
              <a:rPr sz="1600">
                <a:solidFill>
                  <a:srgbClr val="1F2937"/>
                </a:solidFill>
                <a:latin typeface="Calibri"/>
              </a:rPr>
              <a:t>▸  Antibiotiklar emfizemani davolamaydi (kasallik infeksiyadan emas), lekin bakterial xurujda tiklanish tezroq; makrolidlar in vitro yallig‘lanishga qarshi.</a:t>
            </a:r>
          </a:p>
          <a:p>
            <a:pPr>
              <a:spcAft>
                <a:spcPts val="800"/>
              </a:spcAft>
            </a:pPr>
            <a:r>
              <a:rPr sz="1600">
                <a:solidFill>
                  <a:srgbClr val="1F2937"/>
                </a:solidFill>
                <a:latin typeface="Calibri"/>
              </a:rPr>
              <a:t>▸  PDE4 ingibitorlari (roflumilast, rolipram, silomilast): ko‘ngil aynishi, diareya, bosh og‘rig‘i, uyqusizlik; ensifentrin — PDE3/PDE4 ingibitori.</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Kortikosteroidlar</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Glyukokortikoid retseptoriga bog‘lanadi</a:t>
            </a:r>
          </a:p>
          <a:p>
            <a:pPr algn="l">
              <a:spcAft>
                <a:spcPts val="700"/>
              </a:spcAft>
            </a:pPr>
            <a:r>
              <a:rPr sz="1500" b="1">
                <a:solidFill>
                  <a:srgbClr val="C9A227"/>
                </a:solidFill>
                <a:latin typeface="Calibri"/>
              </a:rPr>
              <a:t>●  </a:t>
            </a:r>
            <a:r>
              <a:rPr sz="1500" b="0">
                <a:solidFill>
                  <a:srgbClr val="1F2937"/>
                </a:solidFill>
                <a:latin typeface="Calibri"/>
              </a:rPr>
              <a:t>NF-κB va AP-1 ni susaytiradi</a:t>
            </a:r>
          </a:p>
          <a:p>
            <a:pPr algn="l">
              <a:spcAft>
                <a:spcPts val="700"/>
              </a:spcAft>
            </a:pPr>
            <a:r>
              <a:rPr sz="1500" b="1">
                <a:solidFill>
                  <a:srgbClr val="C9A227"/>
                </a:solidFill>
                <a:latin typeface="Calibri"/>
              </a:rPr>
              <a:t>●  </a:t>
            </a:r>
            <a:r>
              <a:rPr sz="1500" b="0">
                <a:solidFill>
                  <a:srgbClr val="1F2937"/>
                </a:solidFill>
                <a:latin typeface="Calibri"/>
              </a:rPr>
              <a:t>Tez-tez xurujlarda; asosan inhalatsiya</a:t>
            </a:r>
          </a:p>
          <a:p>
            <a:pPr algn="l">
              <a:spcAft>
                <a:spcPts val="700"/>
              </a:spcAft>
            </a:pPr>
            <a:r>
              <a:rPr sz="1500" b="1">
                <a:solidFill>
                  <a:srgbClr val="C9A227"/>
                </a:solidFill>
                <a:latin typeface="Calibri"/>
              </a:rPr>
              <a:t>●  </a:t>
            </a:r>
            <a:r>
              <a:rPr sz="1500" b="0">
                <a:solidFill>
                  <a:srgbClr val="1F2937"/>
                </a:solidFill>
                <a:latin typeface="Calibri"/>
              </a:rPr>
              <a:t>Xavf: infeksiya, osteoporoz, rezistentlik</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Antibiotiklar</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Emfizemani davolamaydi</a:t>
            </a:r>
          </a:p>
          <a:p>
            <a:pPr algn="l">
              <a:spcAft>
                <a:spcPts val="700"/>
              </a:spcAft>
            </a:pPr>
            <a:r>
              <a:rPr sz="1500" b="1">
                <a:solidFill>
                  <a:srgbClr val="C9A227"/>
                </a:solidFill>
                <a:latin typeface="Calibri"/>
              </a:rPr>
              <a:t>●  </a:t>
            </a:r>
            <a:r>
              <a:rPr sz="1500" b="0">
                <a:solidFill>
                  <a:srgbClr val="1F2937"/>
                </a:solidFill>
                <a:latin typeface="Calibri"/>
              </a:rPr>
              <a:t>Bakterial xurujda tiklanishni tezlashtiradi</a:t>
            </a:r>
          </a:p>
          <a:p>
            <a:pPr algn="l">
              <a:spcAft>
                <a:spcPts val="700"/>
              </a:spcAft>
            </a:pPr>
            <a:r>
              <a:rPr sz="1500" b="1">
                <a:solidFill>
                  <a:srgbClr val="C9A227"/>
                </a:solidFill>
                <a:latin typeface="Calibri"/>
              </a:rPr>
              <a:t>●  </a:t>
            </a:r>
            <a:r>
              <a:rPr sz="1500" b="0">
                <a:solidFill>
                  <a:srgbClr val="1F2937"/>
                </a:solidFill>
                <a:latin typeface="Calibri"/>
              </a:rPr>
              <a:t>Makrolidlar: yallig‘lanishga qarshi (in vitro)</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PDE4 ingibitorlari</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Neytrofil, T-hujayra, makrofagda PDE4</a:t>
            </a:r>
          </a:p>
          <a:p>
            <a:pPr algn="l">
              <a:spcAft>
                <a:spcPts val="700"/>
              </a:spcAft>
            </a:pPr>
            <a:r>
              <a:rPr sz="1500" b="1">
                <a:solidFill>
                  <a:srgbClr val="C9A227"/>
                </a:solidFill>
                <a:latin typeface="Calibri"/>
              </a:rPr>
              <a:t>●  </a:t>
            </a:r>
            <a:r>
              <a:rPr sz="1500" b="0">
                <a:solidFill>
                  <a:srgbClr val="1F2937"/>
                </a:solidFill>
                <a:latin typeface="Calibri"/>
              </a:rPr>
              <a:t>Roflumilast, rolipram, silomilast</a:t>
            </a:r>
          </a:p>
          <a:p>
            <a:pPr algn="l">
              <a:spcAft>
                <a:spcPts val="700"/>
              </a:spcAft>
            </a:pPr>
            <a:r>
              <a:rPr sz="1500" b="1">
                <a:solidFill>
                  <a:srgbClr val="C9A227"/>
                </a:solidFill>
                <a:latin typeface="Calibri"/>
              </a:rPr>
              <a:t>●  </a:t>
            </a:r>
            <a:r>
              <a:rPr sz="1500" b="0">
                <a:solidFill>
                  <a:srgbClr val="1F2937"/>
                </a:solidFill>
                <a:latin typeface="Calibri"/>
              </a:rPr>
              <a:t>Nojo‘ya: ko‘ngil aynishi, diareya</a:t>
            </a:r>
          </a:p>
          <a:p>
            <a:pPr algn="l">
              <a:spcAft>
                <a:spcPts val="700"/>
              </a:spcAft>
            </a:pPr>
            <a:r>
              <a:rPr sz="1500" b="1">
                <a:solidFill>
                  <a:srgbClr val="C9A227"/>
                </a:solidFill>
                <a:latin typeface="Calibri"/>
              </a:rPr>
              <a:t>●  </a:t>
            </a:r>
            <a:r>
              <a:rPr sz="1500" b="0">
                <a:solidFill>
                  <a:srgbClr val="1F2937"/>
                </a:solidFill>
                <a:latin typeface="Calibri"/>
              </a:rPr>
              <a:t>Ensifentrin — PDE3/PDE4</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Qo‘shimcha dori guruhlari</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Bentaher A va boshq., Pulmonary Emphysema: Current Understanding of Disease Pathogenesis and Therapeutic Approaches, betlar: PMID 41007683, 5.2.5-bo‘lim, PMID 41007683, 5.2.6-bo‘lim, PMID 41007683, 5.2.7-bo‘lim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Davolash va boshqarish: emfizema yondashuvlari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GOLD (Global Initiative for COPD) yo‘riqnomasida chekishni tashlash — kasallik rivojini sekinlatuvchi birinchi qator chora.</a:t>
            </a:r>
          </a:p>
          <a:p>
            <a:pPr>
              <a:spcAft>
                <a:spcPts val="800"/>
              </a:spcAft>
            </a:pPr>
            <a:r>
              <a:rPr sz="1800">
                <a:solidFill>
                  <a:srgbClr val="1F2937"/>
                </a:solidFill>
                <a:latin typeface="Calibri"/>
              </a:rPr>
              <a:t>▸  Uzoq ta’sirli antixolinergiklar va β-2 agonistlar (LAMA/LABA) kortikosteroid bilan yoki ularsiz simptomni kamaytiradi.</a:t>
            </a:r>
          </a:p>
          <a:p>
            <a:pPr>
              <a:spcAft>
                <a:spcPts val="800"/>
              </a:spcAft>
            </a:pPr>
            <a:r>
              <a:rPr sz="1800">
                <a:solidFill>
                  <a:srgbClr val="1F2937"/>
                </a:solidFill>
                <a:latin typeface="Calibri"/>
              </a:rPr>
              <a:t>▸  Og‘ir emfizemada o‘pka hajmini kamaytirish; terminal bosqichda o‘pka transplantatsiyasi ko‘riladi.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Xavf omillari</a:t>
            </a:r>
          </a:p>
          <a:p>
            <a:pPr algn="l">
              <a:spcAft>
                <a:spcPts val="200"/>
              </a:spcAft>
            </a:pPr>
            <a:r>
              <a:rPr sz="1400" b="0">
                <a:solidFill>
                  <a:srgbClr val="1F2937"/>
                </a:solidFill>
                <a:latin typeface="Calibri"/>
              </a:rPr>
              <a:t>Chekishni tashlash, ifloslanishdan saqlanish</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500" b="1">
                <a:solidFill>
                  <a:srgbClr val="0B1F3A"/>
                </a:solidFill>
                <a:latin typeface="Calibri"/>
              </a:rPr>
              <a:t>Qisqa bronxodilatator</a:t>
            </a:r>
          </a:p>
          <a:p>
            <a:pPr algn="l">
              <a:spcAft>
                <a:spcPts val="200"/>
              </a:spcAft>
            </a:pPr>
            <a:r>
              <a:rPr sz="1400" b="0">
                <a:solidFill>
                  <a:srgbClr val="1F2937"/>
                </a:solidFill>
                <a:latin typeface="Calibri"/>
              </a:rPr>
              <a:t>Zudlik bilan yengillik uchun</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500" b="1">
                <a:solidFill>
                  <a:srgbClr val="0B1F3A"/>
                </a:solidFill>
                <a:latin typeface="Calibri"/>
              </a:rPr>
              <a:t>Uzoq bronxodilatator</a:t>
            </a:r>
          </a:p>
          <a:p>
            <a:pPr algn="l">
              <a:spcAft>
                <a:spcPts val="200"/>
              </a:spcAft>
            </a:pPr>
            <a:r>
              <a:rPr sz="1400" b="0">
                <a:solidFill>
                  <a:srgbClr val="1F2937"/>
                </a:solidFill>
                <a:latin typeface="Calibri"/>
              </a:rPr>
              <a:t>Kasallik rivojlangan sari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Kortikosteroid</a:t>
            </a:r>
          </a:p>
          <a:p>
            <a:pPr algn="l">
              <a:spcAft>
                <a:spcPts val="200"/>
              </a:spcAft>
            </a:pPr>
            <a:r>
              <a:rPr sz="1400" b="0">
                <a:solidFill>
                  <a:srgbClr val="1F2937"/>
                </a:solidFill>
                <a:latin typeface="Calibri"/>
              </a:rPr>
              <a:t>Tez-tez xurujda yoki og‘ir simptomda</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Ilg‘or bosqich</a:t>
            </a:r>
          </a:p>
          <a:p>
            <a:pPr algn="l">
              <a:spcAft>
                <a:spcPts val="200"/>
              </a:spcAft>
            </a:pPr>
            <a:r>
              <a:rPr sz="1400" b="0">
                <a:solidFill>
                  <a:srgbClr val="1F2937"/>
                </a:solidFill>
                <a:latin typeface="Calibri"/>
              </a:rPr>
              <a:t>Hajm kamaytirish yoki transplantatsiya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Bosqichma-bosqich davo</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Bentaher A va boshq., Pulmonary Emphysema: Current Understanding of Disease Pathogenesis and Therapeutic Approaches, betlar: PMID 41007683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Yangi yo‘nalishlar: antifibrotik va senolitik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Inhalatsion glyukokortikoidlar (ICS) yallig‘lanish genlarini bosadi; qonda eozinofillar ko‘p bo‘lsa, ta’siri yaxshiroq bo‘ladi.</a:t>
            </a:r>
          </a:p>
          <a:p>
            <a:pPr>
              <a:spcAft>
                <a:spcPts val="800"/>
              </a:spcAft>
            </a:pPr>
            <a:r>
              <a:rPr sz="1600">
                <a:solidFill>
                  <a:srgbClr val="1F2937"/>
                </a:solidFill>
                <a:latin typeface="Calibri"/>
              </a:rPr>
              <a:t>▸  Pirfenidon transformatsiyalovchi o‘sish omili-β (TGF-β) yo‘lini, nintedanib (tirozinkinaza ingibitori) esa fibroblast ko‘payishini susaytiradi.</a:t>
            </a:r>
          </a:p>
          <a:p>
            <a:pPr>
              <a:spcAft>
                <a:spcPts val="800"/>
              </a:spcAft>
            </a:pPr>
            <a:r>
              <a:rPr sz="1600">
                <a:solidFill>
                  <a:srgbClr val="1F2937"/>
                </a:solidFill>
                <a:latin typeface="Calibri"/>
              </a:rPr>
              <a:t>▸  Dasatinib + kversetin qarigan hujayralarni yo‘qotib, o‘pka fibrozi sichqon modelida fibroz omillarini kamaytirgan; odamda dalillar hali kam.</a:t>
            </a:r>
          </a:p>
          <a:p>
            <a:pPr>
              <a:spcAft>
                <a:spcPts val="800"/>
              </a:spcAft>
            </a:pPr>
            <a:r>
              <a:rPr sz="1600">
                <a:solidFill>
                  <a:srgbClr val="1F2937"/>
                </a:solidFill>
                <a:latin typeface="Calibri"/>
              </a:rPr>
              <a:t>▸  Kelajak: senolitiklar, mikroRNK yoki ekzosomaga asoslangan aralashuvlar, anti-TGF-β va antioksidant terapiya, neytrofil hamda PI3Kδ yo‘lini nishonga olish.</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Yangi davo yo‘nalishlari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Inhalatsion kortikosteroid</a:t>
            </a:r>
          </a:p>
          <a:p>
            <a:pPr algn="l">
              <a:spcAft>
                <a:spcPts val="0"/>
              </a:spcAft>
            </a:pPr>
            <a:r>
              <a:rPr sz="1200" b="0">
                <a:solidFill>
                  <a:srgbClr val="1F2937"/>
                </a:solidFill>
                <a:latin typeface="Calibri"/>
              </a:rPr>
              <a:t>Yallig‘lanish genlarini bosadi  ·  Eozinofil ko‘p bo‘lsa yaxshiroq</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Antifibrotiklar</a:t>
            </a:r>
          </a:p>
          <a:p>
            <a:pPr algn="l">
              <a:spcAft>
                <a:spcPts val="0"/>
              </a:spcAft>
            </a:pPr>
            <a:r>
              <a:rPr sz="1200" b="0">
                <a:solidFill>
                  <a:srgbClr val="1F2937"/>
                </a:solidFill>
                <a:latin typeface="Calibri"/>
              </a:rPr>
              <a:t>Pirfenidon: TGF-β yo‘li  ·  Nintedanib: fibroblast ko‘payishi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Senolitiklar</a:t>
            </a:r>
          </a:p>
          <a:p>
            <a:pPr algn="l">
              <a:spcAft>
                <a:spcPts val="0"/>
              </a:spcAft>
            </a:pPr>
            <a:r>
              <a:rPr sz="1200" b="0">
                <a:solidFill>
                  <a:srgbClr val="1F2937"/>
                </a:solidFill>
                <a:latin typeface="Calibri"/>
              </a:rPr>
              <a:t>Dasatinib + kversetin  ·  Odamda dalil hali kam</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Kelajak</a:t>
            </a:r>
          </a:p>
          <a:p>
            <a:pPr algn="l">
              <a:spcAft>
                <a:spcPts val="0"/>
              </a:spcAft>
            </a:pPr>
            <a:r>
              <a:rPr sz="1200" b="0">
                <a:solidFill>
                  <a:srgbClr val="1F2937"/>
                </a:solidFill>
                <a:latin typeface="Calibri"/>
              </a:rPr>
              <a:t>MikroRNK, ekzosoma  ·  Anti-TGF-β, antioksidant</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Yangi yo‘nalishlar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asosiy xabarlar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Uch o‘zaro bog‘liq mexanizm: surunkali yallig‘lanish, fibroz va epiteliy-mezenximal o‘tish (EMT), hujayra qarishi va uning sekretor fenotipi (SASP).</a:t>
            </a:r>
          </a:p>
          <a:p>
            <a:pPr>
              <a:spcAft>
                <a:spcPts val="1200"/>
              </a:spcAft>
            </a:pPr>
            <a:r>
              <a:rPr sz="2200">
                <a:solidFill>
                  <a:srgbClr val="1F2937"/>
                </a:solidFill>
                <a:latin typeface="Calibri"/>
              </a:rPr>
              <a:t>▸  Emfizema COPD ning asosiy tarkibiy qismi bo‘lib, alveola devorlarining yemirilishi va o‘pka elastikligi yo‘qolishi bilan tavsiflanadi.</a:t>
            </a:r>
          </a:p>
          <a:p>
            <a:pPr>
              <a:spcAft>
                <a:spcPts val="1200"/>
              </a:spcAft>
            </a:pPr>
            <a:r>
              <a:rPr sz="2200">
                <a:solidFill>
                  <a:srgbClr val="1F2937"/>
                </a:solidFill>
                <a:latin typeface="Calibri"/>
              </a:rPr>
              <a:t>▸  Kichik nafas yo‘llari kasalligi (SAD) alveolar yemirilishdan oldin boshlanishi mumkin, shu sabab COPD ning dastlabki bosqichida muhim.</a:t>
            </a:r>
          </a:p>
          <a:p>
            <a:pPr>
              <a:spcAft>
                <a:spcPts val="1200"/>
              </a:spcAft>
            </a:pPr>
            <a:r>
              <a:rPr sz="2200">
                <a:solidFill>
                  <a:srgbClr val="1F2937"/>
                </a:solidFill>
                <a:latin typeface="Calibri"/>
              </a:rPr>
              <a:t>▸  Tamoyil: erta aniqlash, erta tashxis, erta davo; spirometriya normal bo‘lsa, MBW (ko‘p nafasli yuvish) va IOS (impuls ossillometriya) sezgirroq.</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Ruoyi Zhou va boshq., Small airway disease as a key factor in COPD: new perspectives and insights, betlar: PMID 41080967; Bentaher A va boshq., Pulmonary Emphysema: Current Understanding of Disease Pathogenesis and Therapeutic Approaches, betlar: PMID 41007683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Qiziqarli fakt: kichik nafas yo‘llari (ichki diametri 2 mm dan kichik, tog‘aysiz bronxiolalar) «jim zona» deb ataladi. Zararli zarrachalarga juda sezgir, lekin klinik jihatdan «ko‘rinmas» bo‘ladi. Ularning dastlabki funksional buzilishi simptomlar, spirometriya va rentgen o‘zgarishlaridan oldin boshlanishi mumkin. Shu sababli spirometriya normal bo‘lsa ham kichik yo‘llar kasalligini istisno qilib bo‘lmaydi.</a:t>
            </a:r>
          </a:p>
          <a:p>
            <a:pPr>
              <a:spcAft>
                <a:spcPts val="1200"/>
              </a:spcAft>
            </a:pPr>
            <a:r>
              <a:rPr sz="1800">
                <a:solidFill>
                  <a:srgbClr val="1F2937"/>
                </a:solidFill>
                <a:latin typeface="Calibri"/>
              </a:rPr>
              <a:t>▸  Eslab qolish usuli (emfizema zanjiri): tamaki tutuni → yallig‘lanish → proteazalar ko‘payadi → elastin buziladi → alveola devori yemiriladi → havo bo‘shliqlari kengayadi. Eng markaziy gipoteza — proteaza–antiproteaza nomutanosibligi. Oksidlovchi stress uni kuchaytiradi, chunki proteaza ingibitorlarini faolsizlantiradi. Doskada shu zanjirni strelkalar bilan chizing.</a:t>
            </a:r>
          </a:p>
          <a:p>
            <a:pPr>
              <a:spcAft>
                <a:spcPts val="1200"/>
              </a:spcAft>
            </a:pPr>
            <a:r>
              <a:rPr sz="1800">
                <a:solidFill>
                  <a:srgbClr val="1F2937"/>
                </a:solidFill>
                <a:latin typeface="Calibri"/>
              </a:rPr>
              <a:t>▸  Hodisa tahlili: elastin proteazalar ta’sirida bo‘laklanganda elastokinlar (elastin peptidlari) hosil bo‘ladi. Ular yallig‘lanish hujayralarini chorlaydi va yangi buzilish tsiklini ushlab turadi. Shu sababli elastokinlar kasallik belgisi va davolash nishoni sifatida o‘rganiladi. Desmozin (elastinning o‘ziga xos aminokislotasi) alveola devori buzilishining sezgir biomarkeri hisoblanadi.</a:t>
            </a:r>
          </a:p>
          <a:p>
            <a:pPr>
              <a:spcAft>
                <a:spcPts val="1200"/>
              </a:spcAft>
            </a:pPr>
            <a:r>
              <a:rPr sz="1800">
                <a:solidFill>
                  <a:srgbClr val="1F2937"/>
                </a:solidFill>
                <a:latin typeface="Calibri"/>
              </a:rPr>
              <a:t>▸  Eslab qolish usuli (kichik yo‘llar kasalligi 3 bosqichi): Boshlanish → Kengayish → Qayta qurilish. Boshlanishda epiteliy shikastlanadi, so‘ng EMT (epiteliy-mezenximal o‘tish), to‘siq buzilishi va shilimshiq tiqinlari paydo bo‘ladi. Kengayishda yallig‘lanish va hujayra qarishi (SASP) kuchayadi. Qayta qurilishda silliq mushak ko‘payadi, fibroz va tomirlar «qirqilishi» rivojlanadi.</a:t>
            </a:r>
          </a:p>
          <a:p>
            <a:pPr>
              <a:spcAft>
                <a:spcPts val="1200"/>
              </a:spcAft>
            </a:pPr>
            <a:r>
              <a:rPr sz="1800">
                <a:solidFill>
                  <a:srgbClr val="1F2937"/>
                </a:solidFill>
                <a:latin typeface="Calibri"/>
              </a:rPr>
              <a:t>▸  Diqqat: arterial remodeling ≠ kapillyar siyraklashuvi. Arterial remodeling mushakli arteriyalar devori qalinlashib, tomir qarshiligini oshiradi va o‘ng qorincha yuklamasiga olib keladi. Kapillyarlar siyraklashuvi esa kapillyarlar zichligini kamaytirib DLCO ni pasaytiradi va V/Q nomutanosibligini keltirib chiqaradi. Ikkalasi bir-birini kuchaytiradi, lekin fiziologik oqibatlari har xil.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Surunkali obstruktiv o'pkaning patomorfologik xususiyatlari Kasalliklar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Bentaher A va boshq. Pulmonary Emphysema: Current Understanding of Disease Pathogenesis and Therapeutic Approaches, Biomedicines. 2025. PMID 41007683; DOI 10.3390/biomedicines13092120</a:t>
            </a:r>
          </a:p>
          <a:p>
            <a:pPr>
              <a:spcAft>
                <a:spcPts val="800"/>
              </a:spcAft>
            </a:pPr>
            <a:r>
              <a:rPr sz="2000">
                <a:solidFill>
                  <a:srgbClr val="1F2937"/>
                </a:solidFill>
                <a:latin typeface="Calibri"/>
              </a:rPr>
              <a:t>▸  Ruoyi Zhou va boshq. Small airway disease as a key factor in COPD: new perspectives and insights, Frontiers in Medicine. 2025. PMID 41080967; DOI 10.3389/fmed.2025.1648612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