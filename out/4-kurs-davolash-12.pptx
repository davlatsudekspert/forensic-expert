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tirik shaxslar ekspertizasi eng ko‘p o‘tkaziladigan ekspertiza hisoblanadi? 2) Ekspertiza qaysi joylarda o‘tkazilishi mumkin? Doskada: darsning 5 ta bo‘limini ketma-ket yozib chiqing. Tipik xato: talabalar bu ekspertizani faqat jarohat bilan cheklab, jinsiy holat, salomatlik va yosh masalalarini unutadi.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holatlarda jinsiy jinoyat ekspertizasi tayinlanadi? 2) Simulyasiya va aggravatsiya nimasi bilan farq qiladi? Doskada: jadvalning 4 qatorini talabalar bilan birga to‘ldiring. Tipik xato: jinsiy holatlar (jins, bokiralik) bilan jinsiy jinoyatlarni (zo‘rlash)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og‘irlik darajasi tasniflovchi belgi bilan birga yoziladi? 2) Ekspert xulosasiga yana qaysi ma’lumotlar kiradi? Doskada: 5 ta savolni ketma-ket sxema qilib chizdiring. Tipik xato: faqat og‘irlik darajasini yozib, quroli, mexanizmi va muddatini tushirib qoldirish.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104, 105 va 109-moddalar alohida ajratilgan? 2) Jarohat 21 kun va 22 kun davom etsa, daraja qanday o‘zgaradi? Doskada: jadvalni ustunlarsiz, o‘z so‘zlaringiz bilan chizing. Tipik xato: 21 kunning o‘zini o‘rtacha og‘ir deb hisoblash. O‘rtacha og‘ir uchun 21 kundan ORTIQ bo‘lishi shart.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Klinik va sud-tibbiy baholash nima uchun farq qiladi? 2) Bir jarohatda ikki xil mezon topilsa, qaysi biri tanlanadi? Doskada: 7 mezonni ro‘yxat qilib yozdiring. Tipik xato: talabalar mezonlar orasidagi ketma-ketlik yoki ularning jamlanishini talab qiladi deb o‘ylaydi. Mezonlardan bittasi yetarli. Izoh: matnda aynan yettita mezon sanalgan; ba’zi manbalarda boshqacha guruhlanishi mumkin.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yordam ko‘rsatilganligi baholashda hisobga olinmaydi? 2) Jarohat va tahdidli holat o‘rtasidagi sababiy bog‘liqlikni qanday tekshirasiz? Doskada: ikki guruh – to‘g‘ridan-to‘g‘ri xavfli jarohat va xavfli holatga olib keluvchi jarohat – sxemasini chizing. Tipik xato: davolash natijasida bemor tuzalsa, jarohat engil deb baholanadi. Jarohat va hayotga tahdid o‘rtasida bevosita (tasodifiy bo‘lmagan) bog‘liqlik bo‘lishi shart.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tez-tez so‘rang. Muhokama: nega bemor ahvolining klinik og‘irligi va sud-tibbiy og‘irlik mos kelmasligi mumkin? Doskada: 4 ta darajani ustun qilib yozdiring. Tipik xato: klinik ‘og‘ir ahvol’ni avtomatik ‘og‘ir tan jarohati’ deb olish.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kasbiy qobiliyat jarohat og‘irligini belgilamaydi, u qayerda ko‘riladi (fuqarolik ishlarida moddiy va ma’naviy ziyon)? Doskada: jadvalni chizib, 10% va 33% chegaralarini belgilang. Tipik xato: kasbiy qobiliyat yo‘qotilishini og‘irlik mezoni sifatida olish.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shaxs vrachga murojaat qilmagan bo‘lsa, sog‘liq buzilishi bo‘lmaydimi? (Manbaga ko‘ra, bu buzilishni istisno qilmaydi.) Doskada: 6 va 21 kun chegaralarini vaqt chizig‘ida chizing. Tipik xato: kasalxonada yotgan kunlarni to‘g‘ridan-to‘g‘ri sog‘liq buzilishi kunlariga tenglash.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bir ko‘z va bir quloq yo‘qotilishi turlicha baholanadi? Ko‘rish qobiliyati bo‘lmagan ko‘zning yo‘qotilishi qaysi mezon bilan baholanadi (sog‘liq buzilish davomiyligi)? Doskada: to‘rt qatorli jadvalni talabalar bilan chizing. Tipik xato: bir quloq karligini ham og‘ir deb yozish; ikkala quloqda eshitish 3-5 sm masofadan nutqni eshitmaslik bilan farqlanadi.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homiladorlik uzilishi ayolning avvalgi kasalliklari bilan bog‘liq bo‘lmasligi kerak? Erta tug‘ruq va bachadondan tashqari homiladorlikda qaysi mezonlar qo‘llanadi? Doskada: homiladorlik uzilishi bo‘yicha ikki shoxli qaror sxemasini chizing (og‘ir / boshqa mezonlar). Tipik xato: kaft yoki tovon yo‘qotilishini a’zo yo‘qotilishidan alohida deb o‘ylash. Ekspertiza akusher-ginekolog ishtirokida o‘tkaziladi.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ruhiy buzilish boshqa kasallik tufayli emasligini istisno qilish kerak? Silliqlanmaydigan badburushlikni kim aniqlaydi (sud) va ekspertiza nimani baholaydi? Doskada: besh tugunli flow sxemani chizdiring. Tipik xato: sababiy bog‘liqlikni tekshirmasdan faqat ruhiy buzilish borligiga qarab jarohatni og‘ir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bir necha mezon bo‘lsa og‘irrog‘i tanlanadi? 2) Nega kech murojaat sababli cho‘zilgan davo hisobga olinmaydi? Doskada jadvalni chizdiring va har qatorga bittadan misol keltirtiring. Tipik xato: talabalar yomonlashuvni jarohatga emas, shaxsning kasalligiga bog‘liq bo‘lsa ham og‘irlikka qo‘shib yuboradi.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Savollar: 1) Bir ko‘z sog‘ bo‘lgan va ko‘rmaydigan ko‘z yo‘qotilgan holatlar nega har xil baholanadi? 2) Bemor ahvoli klinik og‘ir bo‘lsa, sud-tibbiy daraja ham og‘ir bo‘ladimi? Doskada ikki holat uchun mezon zanjirini chizdiring. Tipik xato: ko‘rishi yo‘q ko‘zning olib tashlanishini ham og‘ir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bunday ekspertiza komission tartibda o‘tkaziladi? 2) Qaysi hollarda statsionar kuzatuv zarur? Doskada tayinlanish holatlarining ro‘yxatini tuzdiring. Tipik xato: simulyasiya va dissimulyasiyani adashtirish, ya’ni yo‘q kasallikni ko‘rsatish bilan bor kasallikni yashirishni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«tajribali» simulyant ham kasallik dinamikasini to‘liq aks ettira olmaydi? 2) Diagnoz aniqlanmaguncha nega davo tayinlash tavsiya etilmaydi (davo kasallik mavjudligining bilvosita tasdig‘i bo‘lib qoladi)? Doskada: simulyasiyani aniqlash bosqichlarini (kuzatuv, takroriy tekshiruv, ob’ektiv belgilar bilan solishtirish) strelkalar bilan chizing. Tipik xato: simulyantning shikoyatini tekshiruvsiz haqiqiy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Qasddan va patologik aggravatsiya nimasi bilan farq qiladi? 2) Nima uchun dissimulyasiya nisbatan kam uchraydi, lekin haydovchi va uchuvchilarda muhim? Doskada: simulyasiya, aggravatsiya, dissimulyasiyani «kasallik bor/yo‘q — ko‘rsatiladi/yashiriladi» matritsasi sifatida chizing. Tipik xato: aggravatsiyani simulyasiya bilan aralashtirish (aggravatsiyada kasallik haqiqatan mavjud). Eslatma: uchala holatda ekspertiza komission, ko‘pincha statsionarda o‘tkaziladi.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ichki a’zolarning sun’iy kasalliklari amaliyotda kam uchraydi? 2) Sun’iy kasallik maqsadi jihatidan simulyasiyaga qanday o‘xshaydi? Doskada: a’zo tizimlari (teri, ichki a’zolar, ko‘z, quloq) va har biriga bittadan usulni jadval qilib yozing. Tipik xato: sun’iy kasallikni haqiqiy kasallikdan farqlamay, uni tabiiy deb baholash (masalan, sun’iy flegmonani oddiy yiringli jarayon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A‘zobuzarlik nega ko‘pincha qo‘l kaftida uchraydi? 2) Tergov eksperimenti ekspertga nima beradi? Doskada: jadvalni chizib, har belgi yoniga baxtsiz hodisadagi farqni yozdiring. Diqqat: barmoq amputatsiyasi sathi — turli sath o‘zini shikastlashga, bir sath baxtsiz hodisaga xos. Tipik xato: bitta belgiga qarab xulosa qilish — belgilar majmui baholanadi.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belgilar o‘zini shikastlashni ko‘rsatadi? 2) Simulyasiya bilan a‘zobuzarlik farqi nimada? Doskada: ikki ustunli ‘Simulyasiya | A‘zobuzarlik’ taqqoslash jadvalini chizdiring. Tipik xato: simulyasiya va a‘zobuzarlikni aralashtirish — birida kasallik yo‘q, ikkinchisida jarohat haqiqiy.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jins aniqlash nikoh va aliment ishlarida kerak bo‘ladi? 2) Genetik jins qanday aniqlanadi? Doskada: uchta turni jadval shaklida chizdiring. Eslatma: chin germafroditizm juda kam, soxtasi ko‘proq uchraydi. Tipik xato: soxta germafroditizmda tashqi belgilarga qarab jinsni aniqlash — asosiy mezon jinsiy bez.</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14 yosh va nikoh yoshi oralig‘ida bu masala paydo bo‘ladi? 2) Nega antropometrik ko‘rsatkichlar «nisbiy» deyiladi? Doskada: qizlar uchun yetuklik belgilari ro‘yxatini (jismoniy rivojlanish, jinsiy a’zolar, ikkilamchi belgilar, tos, menstruatsiya) chizdiring. Tipik xato: o‘lchamlarni qat’iy chegara deb qabul qilish. Kitobga ko‘ra, 16–17 yoshga kelib tos rivojlanishi normal tug‘ruqqa imkon beradi.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Bokiralik tushunchasi nimaga asoslanadi? 2) Qaysi pardalarda jinsiy aloqada ham defloratsiya bo‘lmasligi mumkin? Doskada: parda sxemasini (asos, erkin chet, teshik) va soat siferblati bilan tavsiflashni chizdiring. Tipik xato: pardaning butunligini bokiralikning yagona va mutlaq belgisi deb hisoblash. Parda boshqa holatlarda ham buzilishi mumkin. Shakllar tasnifi M.D. Nikitin va M.G. Serdyukov bo‘yicha.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muddatni faqat dastlabki haftalarda aniqlash mumkin? 2) Bokiralikka shubha bo‘lsa, fuqaroga nimani tushuntirish kerak? Javob: imkon qadar qisqa muddatda sud-tibbiy ekspertga murojaat qilish (akusher-ginekolog emas). Doskada: bitish zanjirini va yoriq bilan o‘yiq farqini 2 ustunli jadvalda chizdiring. Tipik xato: uch haftadan keyin ham yoriq muddatini aniq aytish.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Talabalarga savollarni og‘zaki berib, javobni 1–2 talabadan so‘rang. Muhokama: nega tos o‘lchamlari yetuklikning mutlaq mezoni emas? Yoriq va tabiiy o‘yiqni nima bilan farqlaymiz? Doskada qizlik pardasini soat siferblati ko‘rinishida chizib, 5–7 oralig‘ini belgilang. Tipik xato: tabiiy o‘yiqni yoriq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erkak va ayolda nasl qoldirish qobiliyati tushunchasi qanday farq qiladi? Qaysi holatlarda bu ekspertiza tayinlanadi? Doskada ikki ustunli solishtirish (erkak / ayol) chizing. Tipik xato: impotensiya (jinsiy aloqaga monelik) bilan urug‘lantirish qobiliyatining yo‘qligini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homiladorlikning qaysi belgilari ishonchli, qaysilari yordamchi? Tug‘ruqdan keyingi vaqt o‘tgan sari nega aniqlash qiyinlashadi? Doskada homiladorlik belgilarini ikki ustunga (yordamchi / ishonchli) ajratib yozing. Tipik xato: hayz kechikishini yoki sut bezlari o‘zgarishini yagona ishonchli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Tibbiy va jinoiy abort nimasi bilan farq qiladi? 2) Usulga qarab ayol tanasida qanday izlar kutiladi? Doskada: abort turlari daraxtini chizdiring (o‘z-o‘zidan va sun’iy, sun’iy ichida tibbiy va jinoiy). Tipik xato: tibbiy abortni jinoiy abort bilan aralashtirish. Diqqat: jinoiy abortni belgilovchi narsa tayyorgarlikning yo‘qligi va qoidaga rioya qilinmasligi.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mutaxassislar ekspertizaga jalb qilinadi? 2) Qon ketish va boshqa asoratlar jarohat og‘irligini baholashga qanday ta’sir qiladi? Doskada: ‘homiladorlik — usul — izlar — oqibat’ zanjirini chizdiring. Javob: tibbiy abort tegishli muassasada, tayyorgarlikka ega akusher-ginekolog tomonidan, tekshiruvdan keyin o‘tkaziladi; jinoiy abortga Jinoyat kodeksining 114-moddasi tegishli. Tipik xato: ekspertiza vazifasini faqat homiladorlikni aniqlash deb o‘ylash; usul va oqibatlar ham o‘rganiladi.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qo‘rqitish ob’ektiv belgi qoldirmaydi va bu ekspertizaga qanday ta’sir qiladi? 2) Surtma olishda nega shoshilish kerak? Doskada: bosqichlar zanjirini va sonning ichki yuzasi hamda jinsiy a’zolardagi jarohat joylarini chizdiring. Ojizlik sabablari: ruhiy kasallik, travma, jismoniy nuqson, kichik yoki qari yosh, alkogol yoki narkotik mastlik, gangituvchi moddalar. Nomusga tegish huquqiy tushuncha ekanini ta’kidlang. Tipik xato: qin yoki oraliq shikastini faqat zo‘rlikka xos deb hisoblash; u jinsiy hayot olib borgan ayollarda ham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1) Nega passiv qatnashchida ba’zan hech qanday o‘zgarish topilmaydi? 2) Proktologning maslahati qachon kerak? Doskada: aktiv va passiv qatnashchi belgilari jadvalini chizdiring. Tipik xato: 120-modda (zo‘rliksiz) bilan 119-modda (zo‘rlik ishlatilgan holat) aralashtiriladi.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kech bosqichdagi shaxs jinoyat sub’ekti deb olinadi? 2) Tibbiyot xodimi qaysi holatda javobgar bo‘ladi? Doskada: jinsiy erkinlikka qarshi va hayot-sog‘liq uchun xavfli jinoyatlar guruhlarini ikki ustunda yozdiring. Tipik xato: 113-moddani nomusga tegish bilan bir guruhga qo‘shish.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Jabrlanuvchi bir necha kundan keyin kelsa, qaysi dalillar yo‘qolishi mumkin? 2) Gumondorda qaysi sohalar tekshiriladi? Doskada: namuna olinadigan sohalar ro‘yxatini yozdiring. Tipik xato: namuna olishni keyinga qoldirish yoki gumondorni ko‘rikdan o‘tkazishni unutish.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tibbiy hujjatlar ko‘rikdan oldin o‘rganiladi? 2) Qaysi bosqichda mutaxassis maslahati olinadi? Doskada 6 bosqichli zanjirni chizdiring (so‘rov va ko‘rik alohida bosqich ekanini ko‘rsating). Tipik xato: ko‘rikni birinchi bosqich deb o‘ylash; shuningdek tibbiy hujjatlarning asl nusxasi talab etilishini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o‘zga jinsdagi shaxs yalang‘ochlanganda tergovchi chiqib turadi? 2) Davolanayotgan bemor ko‘rigi qaysi shart bilan o‘tkaziladi (bemorning sog‘lig‘i ruxsat bergandagina; ko‘rik kasallik tarixida qayd etiladi)? Doskada jadvalni o‘zlari to‘ldirishsin. Tipik xato: jinsiy ishlarda ikkita fotosurat talabini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Tezkor savol: ’Ko‘rikdan oldin qaysi ikki bosqich bajariladi?’; ’Davolanish muddati va sog‘liq buzilishi davomiyligi bir narsami?’. Doskada kun chegaralarini (6 va 21) yozib, kategoriyalarni belgilatiring. Tipik xato: 21 kunning o‘zini o‘rtacha og‘ir deb hisoblash (o‘rtacha og‘ir — 21 kundan ortiq).</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Tirik shaxslar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maqsadi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Tirik shaxslar ekspertizasi amaliyotda eng ko‘p o‘tkaziladigan turdir. U jinoiy, fuqarolik va ma’muriy ishlar bo‘yicha tayinlanadi.</a:t>
            </a:r>
          </a:p>
          <a:p>
            <a:pPr>
              <a:spcAft>
                <a:spcPts val="1200"/>
              </a:spcAft>
            </a:pPr>
            <a:r>
              <a:rPr sz="2200">
                <a:solidFill>
                  <a:srgbClr val="1F2937"/>
                </a:solidFill>
                <a:latin typeface="Calibri"/>
              </a:rPr>
              <a:t>▸  Ekspertiza sud-tibbiy muassasa ambulatoriyasi hamda tuman, shahar, tumanlararo bo‘limlarida o‘tadi. Zarur sharoit bo‘lsa, davolash muassasasida ham mumkin.</a:t>
            </a:r>
          </a:p>
          <a:p>
            <a:pPr>
              <a:spcAft>
                <a:spcPts val="1200"/>
              </a:spcAft>
            </a:pPr>
            <a:r>
              <a:rPr sz="2200">
                <a:solidFill>
                  <a:srgbClr val="1F2937"/>
                </a:solidFill>
                <a:latin typeface="Calibri"/>
              </a:rPr>
              <a:t>▸  Tartib Jinoyat kodeksi, Jinoyat-protsessual kodeksi, Fuqarolik kodeksi, Sud ekspertizasi to‘g‘risidagi qonun va Yo‘riqnoma bilan belgilanadi.</a:t>
            </a:r>
          </a:p>
          <a:p>
            <a:pPr>
              <a:spcAft>
                <a:spcPts val="1200"/>
              </a:spcAft>
            </a:pPr>
            <a:r>
              <a:rPr sz="2200">
                <a:solidFill>
                  <a:srgbClr val="1F2937"/>
                </a:solidFill>
                <a:latin typeface="Calibri"/>
              </a:rPr>
              <a:t>▸  Dars rejasi: tan jarohatlari, salomatlik va soxtalash, jinsiy holatlar, jinsiy jinoyatlar, so‘ngra ekspertiza o‘tkazish tartibi.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 299, 276-299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qachon tayinlanadi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Eng ko‘p o‘tkaziladigan ekspertizalar bo‘lib, jinoiy, fuqarolik va ma’muriy ishlar bo‘yicha tayinlanadi.</a:t>
            </a:r>
          </a:p>
          <a:p>
            <a:pPr>
              <a:spcAft>
                <a:spcPts val="800"/>
              </a:spcAft>
            </a:pPr>
            <a:r>
              <a:rPr sz="1800">
                <a:solidFill>
                  <a:srgbClr val="1F2937"/>
                </a:solidFill>
                <a:latin typeface="Calibri"/>
              </a:rPr>
              <a:t>▸  Jinsiy holatlar: jins, bokiralik, yetuklik, nasl qoldirish, homiladorlik, tug‘ruq, abort.</a:t>
            </a:r>
          </a:p>
          <a:p>
            <a:pPr>
              <a:spcAft>
                <a:spcPts val="800"/>
              </a:spcAft>
            </a:pPr>
            <a:r>
              <a:rPr sz="1800">
                <a:solidFill>
                  <a:srgbClr val="1F2937"/>
                </a:solidFill>
                <a:latin typeface="Calibri"/>
              </a:rPr>
              <a:t>▸  Salomatlik holati, simulyasiya, aggravatsiya, sun’iy kasallik, o‘ziga jarohat va yosh aniqlanadi.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77115"/>
                <a:gridCol w="3710859"/>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Aniqlanadi</a:t>
                      </a:r>
                    </a:p>
                  </a:txBody>
                  <a:tcPr marL="73152" marR="73152" marT="36576" marB="36576">
                    <a:solidFill>
                      <a:srgbClr val="0B1F3A"/>
                    </a:solidFill>
                  </a:tcPr>
                </a:tc>
              </a:tr>
              <a:tr h="411480">
                <a:tc>
                  <a:txBody>
                    <a:bodyPr/>
                    <a:lstStyle/>
                    <a:p>
                      <a:r>
                        <a:rPr sz="1300" b="0">
                          <a:solidFill>
                            <a:srgbClr val="1F2937"/>
                          </a:solidFill>
                        </a:rPr>
                        <a:t>Tan jarohatlari</a:t>
                      </a:r>
                    </a:p>
                  </a:txBody>
                  <a:tcPr marL="73152" marR="73152" marT="36576" marB="36576">
                    <a:solidFill>
                      <a:srgbClr val="E8EEF6"/>
                    </a:solidFill>
                  </a:tcPr>
                </a:tc>
                <a:tc>
                  <a:txBody>
                    <a:bodyPr/>
                    <a:lstStyle/>
                    <a:p>
                      <a:r>
                        <a:rPr sz="1300" b="0">
                          <a:solidFill>
                            <a:srgbClr val="1F2937"/>
                          </a:solidFill>
                        </a:rPr>
                        <a:t>Xarakteri va og‘irlik darajasi</a:t>
                      </a:r>
                    </a:p>
                  </a:txBody>
                  <a:tcPr marL="73152" marR="73152" marT="36576" marB="36576">
                    <a:solidFill>
                      <a:srgbClr val="E8EEF6"/>
                    </a:solidFill>
                  </a:tcPr>
                </a:tc>
              </a:tr>
              <a:tr h="411480">
                <a:tc>
                  <a:txBody>
                    <a:bodyPr/>
                    <a:lstStyle/>
                    <a:p>
                      <a:r>
                        <a:rPr sz="1300" b="0">
                          <a:solidFill>
                            <a:srgbClr val="1F2937"/>
                          </a:solidFill>
                        </a:rPr>
                        <a:t>Jinsiy holatlar</a:t>
                      </a:r>
                    </a:p>
                  </a:txBody>
                  <a:tcPr marL="73152" marR="73152" marT="36576" marB="36576">
                    <a:solidFill>
                      <a:srgbClr val="FFFFFF"/>
                    </a:solidFill>
                  </a:tcPr>
                </a:tc>
                <a:tc>
                  <a:txBody>
                    <a:bodyPr/>
                    <a:lstStyle/>
                    <a:p>
                      <a:r>
                        <a:rPr sz="1300" b="0">
                          <a:solidFill>
                            <a:srgbClr val="1F2937"/>
                          </a:solidFill>
                        </a:rPr>
                        <a:t>Jins, bokiralik, homiladorlik, tug‘ruq</a:t>
                      </a:r>
                    </a:p>
                  </a:txBody>
                  <a:tcPr marL="73152" marR="73152" marT="36576" marB="36576">
                    <a:solidFill>
                      <a:srgbClr val="FFFFFF"/>
                    </a:solidFill>
                  </a:tcPr>
                </a:tc>
              </a:tr>
              <a:tr h="411480">
                <a:tc>
                  <a:txBody>
                    <a:bodyPr/>
                    <a:lstStyle/>
                    <a:p>
                      <a:r>
                        <a:rPr sz="1300" b="0">
                          <a:solidFill>
                            <a:srgbClr val="1F2937"/>
                          </a:solidFill>
                        </a:rPr>
                        <a:t>Jinsiy jinoyatlar</a:t>
                      </a:r>
                    </a:p>
                  </a:txBody>
                  <a:tcPr marL="73152" marR="73152" marT="36576" marB="36576">
                    <a:solidFill>
                      <a:srgbClr val="E8EEF6"/>
                    </a:solidFill>
                  </a:tcPr>
                </a:tc>
                <a:tc>
                  <a:txBody>
                    <a:bodyPr/>
                    <a:lstStyle/>
                    <a:p>
                      <a:r>
                        <a:rPr sz="1300" b="0">
                          <a:solidFill>
                            <a:srgbClr val="1F2937"/>
                          </a:solidFill>
                        </a:rPr>
                        <a:t>Zo‘rlash, besoqolbozlik, fahsh harakatlari</a:t>
                      </a:r>
                    </a:p>
                  </a:txBody>
                  <a:tcPr marL="73152" marR="73152" marT="36576" marB="36576">
                    <a:solidFill>
                      <a:srgbClr val="E8EEF6"/>
                    </a:solidFill>
                  </a:tcPr>
                </a:tc>
              </a:tr>
              <a:tr h="411480">
                <a:tc>
                  <a:txBody>
                    <a:bodyPr/>
                    <a:lstStyle/>
                    <a:p>
                      <a:r>
                        <a:rPr sz="1300" b="0">
                          <a:solidFill>
                            <a:srgbClr val="1F2937"/>
                          </a:solidFill>
                        </a:rPr>
                        <a:t>Salomatlik, yosh</a:t>
                      </a:r>
                    </a:p>
                  </a:txBody>
                  <a:tcPr marL="73152" marR="73152" marT="36576" marB="36576">
                    <a:solidFill>
                      <a:srgbClr val="FFFFFF"/>
                    </a:solidFill>
                  </a:tcPr>
                </a:tc>
                <a:tc>
                  <a:txBody>
                    <a:bodyPr/>
                    <a:lstStyle/>
                    <a:p>
                      <a:r>
                        <a:rPr sz="1300" b="0">
                          <a:solidFill>
                            <a:srgbClr val="1F2937"/>
                          </a:solidFill>
                        </a:rPr>
                        <a:t>Simulyasiya, aggravatsiya, yosh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Tayinlash holatlari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jarohatlarida hal etiladigan masalalar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 jarohatlari ekspertizasi Jinoyat kodeksi va og‘irlik darajasini aniqlash qoidalariga muvofiq o‘tkaziladi.</a:t>
            </a:r>
          </a:p>
          <a:p>
            <a:pPr>
              <a:spcAft>
                <a:spcPts val="800"/>
              </a:spcAft>
            </a:pPr>
            <a:r>
              <a:rPr sz="1800">
                <a:solidFill>
                  <a:srgbClr val="1F2937"/>
                </a:solidFill>
                <a:latin typeface="Calibri"/>
              </a:rPr>
              <a:t>▸  Bu masalalar bo‘yicha ma’lumotlar ekspert xulosasida qayd etilishi shart.</a:t>
            </a:r>
          </a:p>
          <a:p>
            <a:pPr>
              <a:spcAft>
                <a:spcPts val="800"/>
              </a:spcAft>
            </a:pPr>
            <a:r>
              <a:rPr sz="1800">
                <a:solidFill>
                  <a:srgbClr val="1F2937"/>
                </a:solidFill>
                <a:latin typeface="Calibri"/>
              </a:rPr>
              <a:t>▸  Og‘irlik darajasi tasniflovchi belgini ko‘rsatgan holda belgilanadi.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turi va joylashuvi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quroli yoki vositasi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Vujudga kelish mexanizmi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Yetkazilish muddati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Og‘irlik darajasi va belgi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 hal etadigan masalalar</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275-276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jarohatlarining yuridik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Kodeks bo‘yicha jarohat uch xil: og‘ir (104-modda), o‘rtacha og‘ir (105-modda) va yengil (109-modda).</a:t>
            </a:r>
          </a:p>
          <a:p>
            <a:pPr>
              <a:spcAft>
                <a:spcPts val="800"/>
              </a:spcAft>
            </a:pPr>
            <a:r>
              <a:rPr sz="1800">
                <a:solidFill>
                  <a:srgbClr val="1F2937"/>
                </a:solidFill>
                <a:latin typeface="Calibri"/>
              </a:rPr>
              <a:t>▸  104-modda: hayot uchun xavfli yoki mehnat qobiliyatining 33% dan kam bo‘lmagan qismi yo‘qolgan jarohat og‘ir sanaladi.</a:t>
            </a:r>
          </a:p>
          <a:p>
            <a:pPr>
              <a:spcAft>
                <a:spcPts val="800"/>
              </a:spcAft>
            </a:pPr>
            <a:r>
              <a:rPr sz="1800">
                <a:solidFill>
                  <a:srgbClr val="1F2937"/>
                </a:solidFill>
                <a:latin typeface="Calibri"/>
              </a:rPr>
              <a:t>▸  109-modda: yengil jarohat ikki xil – sog‘liq qisqa muddat buzilgan va buzilmagan yengil jarohat.</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47897"/>
                <a:gridCol w="2140370"/>
                <a:gridCol w="1699706"/>
              </a:tblGrid>
              <a:tr h="411480">
                <a:tc>
                  <a:txBody>
                    <a:bodyPr/>
                    <a:lstStyle/>
                    <a:p>
                      <a:r>
                        <a:rPr sz="1300" b="1">
                          <a:solidFill>
                            <a:srgbClr val="FFFFFF"/>
                          </a:solidFill>
                        </a:rPr>
                        <a:t>Daraja</a:t>
                      </a:r>
                    </a:p>
                  </a:txBody>
                  <a:tcPr marL="73152" marR="73152" marT="36576" marB="36576">
                    <a:solidFill>
                      <a:srgbClr val="0B1F3A"/>
                    </a:solidFill>
                  </a:tcPr>
                </a:tc>
                <a:tc>
                  <a:txBody>
                    <a:bodyPr/>
                    <a:lstStyle/>
                    <a:p>
                      <a:r>
                        <a:rPr sz="1300" b="1">
                          <a:solidFill>
                            <a:srgbClr val="FFFFFF"/>
                          </a:solidFill>
                        </a:rPr>
                        <a:t>Sog‘liq buzilishi</a:t>
                      </a:r>
                    </a:p>
                  </a:txBody>
                  <a:tcPr marL="73152" marR="73152" marT="36576" marB="36576">
                    <a:solidFill>
                      <a:srgbClr val="0B1F3A"/>
                    </a:solidFill>
                  </a:tcPr>
                </a:tc>
                <a:tc>
                  <a:txBody>
                    <a:bodyPr/>
                    <a:lstStyle/>
                    <a:p>
                      <a:r>
                        <a:rPr sz="1300" b="1">
                          <a:solidFill>
                            <a:srgbClr val="FFFFFF"/>
                          </a:solidFill>
                        </a:rPr>
                        <a:t>Mehnat qobiliyati</a:t>
                      </a:r>
                    </a:p>
                  </a:txBody>
                  <a:tcPr marL="73152" marR="73152" marT="36576" marB="36576">
                    <a:solidFill>
                      <a:srgbClr val="0B1F3A"/>
                    </a:solidFill>
                  </a:tcPr>
                </a:tc>
              </a:tr>
              <a:tr h="411480">
                <a:tc>
                  <a:txBody>
                    <a:bodyPr/>
                    <a:lstStyle/>
                    <a:p>
                      <a:r>
                        <a:rPr sz="1200" b="0">
                          <a:solidFill>
                            <a:srgbClr val="1F2937"/>
                          </a:solidFill>
                        </a:rPr>
                        <a:t>Og‘ir</a:t>
                      </a:r>
                    </a:p>
                  </a:txBody>
                  <a:tcPr marL="73152" marR="73152" marT="36576" marB="36576">
                    <a:solidFill>
                      <a:srgbClr val="E8EEF6"/>
                    </a:solidFill>
                  </a:tcPr>
                </a:tc>
                <a:tc>
                  <a:txBody>
                    <a:bodyPr/>
                    <a:lstStyle/>
                    <a:p>
                      <a:r>
                        <a:rPr sz="1200" b="0">
                          <a:solidFill>
                            <a:srgbClr val="1F2937"/>
                          </a:solidFill>
                        </a:rPr>
                        <a:t>Boshqa og‘ir belgilar ham bor</a:t>
                      </a:r>
                    </a:p>
                  </a:txBody>
                  <a:tcPr marL="73152" marR="73152" marT="36576" marB="36576">
                    <a:solidFill>
                      <a:srgbClr val="E8EEF6"/>
                    </a:solidFill>
                  </a:tcPr>
                </a:tc>
                <a:tc>
                  <a:txBody>
                    <a:bodyPr/>
                    <a:lstStyle/>
                    <a:p>
                      <a:r>
                        <a:rPr sz="1200" b="0">
                          <a:solidFill>
                            <a:srgbClr val="1F2937"/>
                          </a:solidFill>
                        </a:rPr>
                        <a:t>33% dan kam bo‘lmagan qismi</a:t>
                      </a:r>
                    </a:p>
                  </a:txBody>
                  <a:tcPr marL="73152" marR="73152" marT="36576" marB="36576">
                    <a:solidFill>
                      <a:srgbClr val="E8EEF6"/>
                    </a:solidFill>
                  </a:tcPr>
                </a:tc>
              </a:tr>
              <a:tr h="411480">
                <a:tc>
                  <a:txBody>
                    <a:bodyPr/>
                    <a:lstStyle/>
                    <a:p>
                      <a:r>
                        <a:rPr sz="1200" b="0">
                          <a:solidFill>
                            <a:srgbClr val="1F2937"/>
                          </a:solidFill>
                        </a:rPr>
                        <a:t>O‘rtacha og‘ir</a:t>
                      </a:r>
                    </a:p>
                  </a:txBody>
                  <a:tcPr marL="73152" marR="73152" marT="36576" marB="36576">
                    <a:solidFill>
                      <a:srgbClr val="FFFFFF"/>
                    </a:solidFill>
                  </a:tcPr>
                </a:tc>
                <a:tc>
                  <a:txBody>
                    <a:bodyPr/>
                    <a:lstStyle/>
                    <a:p>
                      <a:r>
                        <a:rPr sz="1200" b="0">
                          <a:solidFill>
                            <a:srgbClr val="1F2937"/>
                          </a:solidFill>
                        </a:rPr>
                        <a:t>21 kundan ortiq</a:t>
                      </a:r>
                    </a:p>
                  </a:txBody>
                  <a:tcPr marL="73152" marR="73152" marT="36576" marB="36576">
                    <a:solidFill>
                      <a:srgbClr val="FFFFFF"/>
                    </a:solidFill>
                  </a:tcPr>
                </a:tc>
                <a:tc>
                  <a:txBody>
                    <a:bodyPr/>
                    <a:lstStyle/>
                    <a:p>
                      <a:r>
                        <a:rPr sz="1200" b="0">
                          <a:solidFill>
                            <a:srgbClr val="1F2937"/>
                          </a:solidFill>
                        </a:rPr>
                        <a:t>10% dan 33% gacha</a:t>
                      </a:r>
                    </a:p>
                  </a:txBody>
                  <a:tcPr marL="73152" marR="73152" marT="36576" marB="36576">
                    <a:solidFill>
                      <a:srgbClr val="FFFFFF"/>
                    </a:solidFill>
                  </a:tcPr>
                </a:tc>
              </a:tr>
              <a:tr h="411480">
                <a:tc>
                  <a:txBody>
                    <a:bodyPr/>
                    <a:lstStyle/>
                    <a:p>
                      <a:r>
                        <a:rPr sz="1200" b="0">
                          <a:solidFill>
                            <a:srgbClr val="1F2937"/>
                          </a:solidFill>
                        </a:rPr>
                        <a:t>Yengil (qisqa muddatli)</a:t>
                      </a:r>
                    </a:p>
                  </a:txBody>
                  <a:tcPr marL="73152" marR="73152" marT="36576" marB="36576">
                    <a:solidFill>
                      <a:srgbClr val="E8EEF6"/>
                    </a:solidFill>
                  </a:tcPr>
                </a:tc>
                <a:tc>
                  <a:txBody>
                    <a:bodyPr/>
                    <a:lstStyle/>
                    <a:p>
                      <a:r>
                        <a:rPr sz="1200" b="0">
                          <a:solidFill>
                            <a:srgbClr val="1F2937"/>
                          </a:solidFill>
                        </a:rPr>
                        <a:t>6 kundan ortiq, 21 kundan oshmagan</a:t>
                      </a:r>
                    </a:p>
                  </a:txBody>
                  <a:tcPr marL="73152" marR="73152" marT="36576" marB="36576">
                    <a:solidFill>
                      <a:srgbClr val="E8EEF6"/>
                    </a:solidFill>
                  </a:tcPr>
                </a:tc>
                <a:tc>
                  <a:txBody>
                    <a:bodyPr/>
                    <a:lstStyle/>
                    <a:p>
                      <a:r>
                        <a:rPr sz="1200" b="0">
                          <a:solidFill>
                            <a:srgbClr val="1F2937"/>
                          </a:solidFill>
                        </a:rPr>
                        <a:t>10% gacha</a:t>
                      </a:r>
                    </a:p>
                  </a:txBody>
                  <a:tcPr marL="73152" marR="73152" marT="36576" marB="36576">
                    <a:solidFill>
                      <a:srgbClr val="E8EEF6"/>
                    </a:solidFill>
                  </a:tcPr>
                </a:tc>
              </a:tr>
              <a:tr h="411480">
                <a:tc>
                  <a:txBody>
                    <a:bodyPr/>
                    <a:lstStyle/>
                    <a:p>
                      <a:r>
                        <a:rPr sz="1200" b="0">
                          <a:solidFill>
                            <a:srgbClr val="1F2937"/>
                          </a:solidFill>
                        </a:rPr>
                        <a:t>Yengil</a:t>
                      </a:r>
                    </a:p>
                  </a:txBody>
                  <a:tcPr marL="73152" marR="73152" marT="36576" marB="36576">
                    <a:solidFill>
                      <a:srgbClr val="FFFFFF"/>
                    </a:solidFill>
                  </a:tcPr>
                </a:tc>
                <a:tc>
                  <a:txBody>
                    <a:bodyPr/>
                    <a:lstStyle/>
                    <a:p>
                      <a:r>
                        <a:rPr sz="1200" b="0">
                          <a:solidFill>
                            <a:srgbClr val="1F2937"/>
                          </a:solidFill>
                        </a:rPr>
                        <a:t>6 kungacha</a:t>
                      </a:r>
                    </a:p>
                  </a:txBody>
                  <a:tcPr marL="73152" marR="73152" marT="36576" marB="36576">
                    <a:solidFill>
                      <a:srgbClr val="FFFFFF"/>
                    </a:solidFill>
                  </a:tcPr>
                </a:tc>
                <a:tc>
                  <a:txBody>
                    <a:bodyPr/>
                    <a:lstStyle/>
                    <a:p>
                      <a:r>
                        <a:rPr sz="1200" b="0">
                          <a:solidFill>
                            <a:srgbClr val="1F2937"/>
                          </a:solidFill>
                        </a:rPr>
                        <a:t>Turg‘un yo‘qotish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Og‘irlik darajalari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276-277, 277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Og‘irlik darajasini aniqlash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Mezonlar – Jinoyat kodeksidagi tasniflovchi belgilarning tibbiy tavsifi. Ular jinoiy, fuqarolik va ma’muriy ishlarda qo‘llanadi.</a:t>
            </a:r>
          </a:p>
          <a:p>
            <a:pPr>
              <a:spcAft>
                <a:spcPts val="1200"/>
              </a:spcAft>
            </a:pPr>
            <a:r>
              <a:rPr sz="2200">
                <a:solidFill>
                  <a:srgbClr val="1F2937"/>
                </a:solidFill>
                <a:latin typeface="Calibri"/>
              </a:rPr>
              <a:t>▸  Yetti mezon: hayot uchun xavf, sog‘liq buzilishi davomiyligi, mehnat qobiliyatining turg‘un yo‘qotilishi, a’zo yoki funksiya yo‘qotilishi, ruhiy buzilish, homiladorlik uzilishi, badburushlik.</a:t>
            </a:r>
          </a:p>
          <a:p>
            <a:pPr>
              <a:spcAft>
                <a:spcPts val="1200"/>
              </a:spcAft>
            </a:pPr>
            <a:r>
              <a:rPr sz="2200">
                <a:solidFill>
                  <a:srgbClr val="1F2937"/>
                </a:solidFill>
                <a:latin typeface="Calibri"/>
              </a:rPr>
              <a:t>▸  Mezonlardan birining bo‘lishi yetarli. Bir nechta mezon bo‘lsa, daraja og‘irroq mezonga qarab belgilanadi.</a:t>
            </a:r>
          </a:p>
          <a:p>
            <a:pPr>
              <a:spcAft>
                <a:spcPts val="1200"/>
              </a:spcAft>
            </a:pPr>
            <a:r>
              <a:rPr sz="2200">
                <a:solidFill>
                  <a:srgbClr val="1F2937"/>
                </a:solidFill>
                <a:latin typeface="Calibri"/>
              </a:rPr>
              <a:t>▸  Diqqat: xato qilish xavfi: klinik “og‘ir ahvol” ≠ sud-tibbiy “og‘ir tan jarohati”. Maqsad va mezonlari boshqa, natijalar mos kelmasligi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277, 283, 278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 uchun xavfli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Shikastlanish vaqtida hayotga bevosita tahdid soladigan jarohatlar hayot uchun xavfli hisoblanadi.</a:t>
            </a:r>
          </a:p>
          <a:p>
            <a:pPr>
              <a:spcAft>
                <a:spcPts val="800"/>
              </a:spcAft>
            </a:pPr>
            <a:r>
              <a:rPr sz="1800">
                <a:solidFill>
                  <a:srgbClr val="1F2937"/>
                </a:solidFill>
                <a:latin typeface="Calibri"/>
              </a:rPr>
              <a:t>▸  Organizm o‘zi tiklay olmaydigan, hayotga tahdid soluvchi holatga olib kelgan jarohat ham og‘ir sanaladi.</a:t>
            </a:r>
          </a:p>
          <a:p>
            <a:pPr>
              <a:spcAft>
                <a:spcPts val="800"/>
              </a:spcAft>
            </a:pPr>
            <a:r>
              <a:rPr sz="1800">
                <a:solidFill>
                  <a:srgbClr val="1F2937"/>
                </a:solidFill>
                <a:latin typeface="Calibri"/>
              </a:rPr>
              <a:t>▸  Tibbiy yordam tahdidni bartaraf etgan bo‘lsa ham, jarohat hayot uchun xavfli deb baholanadi.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76378"/>
                <a:gridCol w="3411596"/>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Misol</a:t>
                      </a:r>
                    </a:p>
                  </a:txBody>
                  <a:tcPr marL="73152" marR="73152" marT="36576" marB="36576">
                    <a:solidFill>
                      <a:srgbClr val="0B1F3A"/>
                    </a:solidFill>
                  </a:tcPr>
                </a:tc>
              </a:tr>
              <a:tr h="411480">
                <a:tc>
                  <a:txBody>
                    <a:bodyPr/>
                    <a:lstStyle/>
                    <a:p>
                      <a:r>
                        <a:rPr sz="1300" b="0">
                          <a:solidFill>
                            <a:srgbClr val="1F2937"/>
                          </a:solidFill>
                        </a:rPr>
                        <a:t>Bosh va tana jarohati</a:t>
                      </a:r>
                    </a:p>
                  </a:txBody>
                  <a:tcPr marL="73152" marR="73152" marT="36576" marB="36576">
                    <a:solidFill>
                      <a:srgbClr val="E8EEF6"/>
                    </a:solidFill>
                  </a:tcPr>
                </a:tc>
                <a:tc>
                  <a:txBody>
                    <a:bodyPr/>
                    <a:lstStyle/>
                    <a:p>
                      <a:r>
                        <a:rPr sz="1300" b="0">
                          <a:solidFill>
                            <a:srgbClr val="1F2937"/>
                          </a:solidFill>
                        </a:rPr>
                        <a:t>Kalla suyagi sinishi, ichki a’zo jarohati</a:t>
                      </a:r>
                    </a:p>
                  </a:txBody>
                  <a:tcPr marL="73152" marR="73152" marT="36576" marB="36576">
                    <a:solidFill>
                      <a:srgbClr val="E8EEF6"/>
                    </a:solidFill>
                  </a:tcPr>
                </a:tc>
              </a:tr>
              <a:tr h="411480">
                <a:tc>
                  <a:txBody>
                    <a:bodyPr/>
                    <a:lstStyle/>
                    <a:p>
                      <a:r>
                        <a:rPr sz="1300" b="0">
                          <a:solidFill>
                            <a:srgbClr val="1F2937"/>
                          </a:solidFill>
                        </a:rPr>
                        <a:t>Yirik qon tomirlar</a:t>
                      </a:r>
                    </a:p>
                  </a:txBody>
                  <a:tcPr marL="73152" marR="73152" marT="36576" marB="36576">
                    <a:solidFill>
                      <a:srgbClr val="FFFFFF"/>
                    </a:solidFill>
                  </a:tcPr>
                </a:tc>
                <a:tc>
                  <a:txBody>
                    <a:bodyPr/>
                    <a:lstStyle/>
                    <a:p>
                      <a:r>
                        <a:rPr sz="1300" b="0">
                          <a:solidFill>
                            <a:srgbClr val="1F2937"/>
                          </a:solidFill>
                        </a:rPr>
                        <a:t>Aorta, uyqu, son arteriyasi jarohati</a:t>
                      </a:r>
                    </a:p>
                  </a:txBody>
                  <a:tcPr marL="73152" marR="73152" marT="36576" marB="36576">
                    <a:solidFill>
                      <a:srgbClr val="FFFFFF"/>
                    </a:solidFill>
                  </a:tcPr>
                </a:tc>
              </a:tr>
              <a:tr h="411480">
                <a:tc>
                  <a:txBody>
                    <a:bodyPr/>
                    <a:lstStyle/>
                    <a:p>
                      <a:r>
                        <a:rPr sz="1300" b="0">
                          <a:solidFill>
                            <a:srgbClr val="1F2937"/>
                          </a:solidFill>
                        </a:rPr>
                        <a:t>Kuyish</a:t>
                      </a:r>
                    </a:p>
                  </a:txBody>
                  <a:tcPr marL="73152" marR="73152" marT="36576" marB="36576">
                    <a:solidFill>
                      <a:srgbClr val="E8EEF6"/>
                    </a:solidFill>
                  </a:tcPr>
                </a:tc>
                <a:tc>
                  <a:txBody>
                    <a:bodyPr/>
                    <a:lstStyle/>
                    <a:p>
                      <a:r>
                        <a:rPr sz="1300" b="0">
                          <a:solidFill>
                            <a:srgbClr val="1F2937"/>
                          </a:solidFill>
                        </a:rPr>
                        <a:t>Tananing 15% dan ortig‘i III darajali</a:t>
                      </a:r>
                    </a:p>
                  </a:txBody>
                  <a:tcPr marL="73152" marR="73152" marT="36576" marB="36576">
                    <a:solidFill>
                      <a:srgbClr val="E8EEF6"/>
                    </a:solidFill>
                  </a:tcPr>
                </a:tc>
              </a:tr>
              <a:tr h="411480">
                <a:tc>
                  <a:txBody>
                    <a:bodyPr/>
                    <a:lstStyle/>
                    <a:p>
                      <a:r>
                        <a:rPr sz="1300" b="0">
                          <a:solidFill>
                            <a:srgbClr val="1F2937"/>
                          </a:solidFill>
                        </a:rPr>
                        <a:t>Hayotga tahdidli holat</a:t>
                      </a:r>
                    </a:p>
                  </a:txBody>
                  <a:tcPr marL="73152" marR="73152" marT="36576" marB="36576">
                    <a:solidFill>
                      <a:srgbClr val="FFFFFF"/>
                    </a:solidFill>
                  </a:tcPr>
                </a:tc>
                <a:tc>
                  <a:txBody>
                    <a:bodyPr/>
                    <a:lstStyle/>
                    <a:p>
                      <a:r>
                        <a:rPr sz="1300" b="0">
                          <a:solidFill>
                            <a:srgbClr val="1F2937"/>
                          </a:solidFill>
                        </a:rPr>
                        <a:t>Og‘ir shok, II-III daraja koma, sepsis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 uchun xavf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278, 279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tasnif va mezonlar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Mezonlar: hayot uchun xavf, sog‘liq buzilish davomiyligi, mehnat qobiliyatining turg‘un yo‘qotilishi, a’zo funksiyasi, homiladorlik uzilishi, ruhiy buzilish, badburushlik.</a:t>
            </a:r>
          </a:p>
          <a:p>
            <a:pPr>
              <a:spcAft>
                <a:spcPts val="1200"/>
              </a:spcAft>
            </a:pPr>
            <a:r>
              <a:rPr sz="2200">
                <a:solidFill>
                  <a:srgbClr val="1F2937"/>
                </a:solidFill>
                <a:latin typeface="Calibri"/>
              </a:rPr>
              <a:t>▸  Savol: jarohat og‘irligining nechta darajasi bor? Javob: og‘ir, o‘rtacha og‘ir, qisqa muddatga buzilishga olib kelgan yengil va yengil.</a:t>
            </a:r>
          </a:p>
          <a:p>
            <a:pPr>
              <a:spcAft>
                <a:spcPts val="1200"/>
              </a:spcAft>
            </a:pPr>
            <a:r>
              <a:rPr sz="2200">
                <a:solidFill>
                  <a:srgbClr val="1F2937"/>
                </a:solidFill>
                <a:latin typeface="Calibri"/>
              </a:rPr>
              <a:t>▸  Savol: klinik og‘irlik sud-tibbiy og‘irlikka tengmi? Javob: yo‘q. Maqsad va mezonlari farq qiladi, natijalar mos kelmasligi mumkin.</a:t>
            </a:r>
          </a:p>
          <a:p>
            <a:pPr>
              <a:spcAft>
                <a:spcPts val="1200"/>
              </a:spcAft>
            </a:pPr>
            <a:r>
              <a:rPr sz="2200">
                <a:solidFill>
                  <a:srgbClr val="1F2937"/>
                </a:solidFill>
                <a:latin typeface="Calibri"/>
              </a:rPr>
              <a:t>▸  Savol: bir necha mezon bo‘lsa-chi? Javob: bitta mezon yetarli. Bir nechta bo‘lsa, og‘irroq darajaga mos mezon bo‘yicha baholanadi.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277, 276-277, 278, 283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va kasbiy mehnat qobiliyati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Umumiy — o‘z-o‘ziga xizmat va oddiy ishlar; kasbiy — muayyan kasb. Baholashda faqat umumiysi olinadi.</a:t>
            </a:r>
          </a:p>
          <a:p>
            <a:pPr>
              <a:spcAft>
                <a:spcPts val="800"/>
              </a:spcAft>
            </a:pPr>
            <a:r>
              <a:rPr sz="1800">
                <a:solidFill>
                  <a:srgbClr val="1F2937"/>
                </a:solidFill>
                <a:latin typeface="Calibri"/>
              </a:rPr>
              <a:t>▸  Vaqtincha yo‘qotilish kunlarda, turg‘uni foizda ifodalanadi; 120 kundan ortiq bo‘lsa shartli turg‘un sanaladi.</a:t>
            </a:r>
          </a:p>
          <a:p>
            <a:pPr>
              <a:spcAft>
                <a:spcPts val="800"/>
              </a:spcAft>
            </a:pPr>
            <a:r>
              <a:rPr sz="1800">
                <a:solidFill>
                  <a:srgbClr val="1F2937"/>
                </a:solidFill>
                <a:latin typeface="Calibri"/>
              </a:rPr>
              <a:t>▸  Yelka, son, katta boldir suyaklarining sinishi 1/3 dan ortiq yo‘qotishga olib keladi — og‘ir jarohat.</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482110"/>
                <a:gridCol w="2805864"/>
              </a:tblGrid>
              <a:tr h="411480">
                <a:tc>
                  <a:txBody>
                    <a:bodyPr/>
                    <a:lstStyle/>
                    <a:p>
                      <a:r>
                        <a:rPr sz="1400" b="1">
                          <a:solidFill>
                            <a:srgbClr val="FFFFFF"/>
                          </a:solidFill>
                        </a:rPr>
                        <a:t>Daraja</a:t>
                      </a:r>
                    </a:p>
                  </a:txBody>
                  <a:tcPr marL="73152" marR="73152" marT="36576" marB="36576">
                    <a:solidFill>
                      <a:srgbClr val="0B1F3A"/>
                    </a:solidFill>
                  </a:tcPr>
                </a:tc>
                <a:tc>
                  <a:txBody>
                    <a:bodyPr/>
                    <a:lstStyle/>
                    <a:p>
                      <a:r>
                        <a:rPr sz="1400" b="1">
                          <a:solidFill>
                            <a:srgbClr val="FFFFFF"/>
                          </a:solidFill>
                        </a:rPr>
                        <a:t>Turg‘un yo‘qotilish</a:t>
                      </a:r>
                    </a:p>
                  </a:txBody>
                  <a:tcPr marL="73152" marR="73152" marT="36576" marB="36576">
                    <a:solidFill>
                      <a:srgbClr val="0B1F3A"/>
                    </a:solidFill>
                  </a:tcPr>
                </a:tc>
              </a:tr>
              <a:tr h="411480">
                <a:tc>
                  <a:txBody>
                    <a:bodyPr/>
                    <a:lstStyle/>
                    <a:p>
                      <a:r>
                        <a:rPr sz="1300" b="0">
                          <a:solidFill>
                            <a:srgbClr val="1F2937"/>
                          </a:solidFill>
                        </a:rPr>
                        <a:t>Og‘ir</a:t>
                      </a:r>
                    </a:p>
                  </a:txBody>
                  <a:tcPr marL="73152" marR="73152" marT="36576" marB="36576">
                    <a:solidFill>
                      <a:srgbClr val="E8EEF6"/>
                    </a:solidFill>
                  </a:tcPr>
                </a:tc>
                <a:tc>
                  <a:txBody>
                    <a:bodyPr/>
                    <a:lstStyle/>
                    <a:p>
                      <a:r>
                        <a:rPr sz="1300" b="0">
                          <a:solidFill>
                            <a:srgbClr val="1F2937"/>
                          </a:solidFill>
                        </a:rPr>
                        <a:t>33% dan kam bo‘lmagan qism</a:t>
                      </a:r>
                    </a:p>
                  </a:txBody>
                  <a:tcPr marL="73152" marR="73152" marT="36576" marB="36576">
                    <a:solidFill>
                      <a:srgbClr val="E8EEF6"/>
                    </a:solidFill>
                  </a:tcPr>
                </a:tc>
              </a:tr>
              <a:tr h="411480">
                <a:tc>
                  <a:txBody>
                    <a:bodyPr/>
                    <a:lstStyle/>
                    <a:p>
                      <a:r>
                        <a:rPr sz="1300" b="0">
                          <a:solidFill>
                            <a:srgbClr val="1F2937"/>
                          </a:solidFill>
                        </a:rPr>
                        <a:t>O‘rtacha og‘ir</a:t>
                      </a:r>
                    </a:p>
                  </a:txBody>
                  <a:tcPr marL="73152" marR="73152" marT="36576" marB="36576">
                    <a:solidFill>
                      <a:srgbClr val="FFFFFF"/>
                    </a:solidFill>
                  </a:tcPr>
                </a:tc>
                <a:tc>
                  <a:txBody>
                    <a:bodyPr/>
                    <a:lstStyle/>
                    <a:p>
                      <a:r>
                        <a:rPr sz="1300" b="0">
                          <a:solidFill>
                            <a:srgbClr val="1F2937"/>
                          </a:solidFill>
                        </a:rPr>
                        <a:t>10% dan 33% gacha</a:t>
                      </a:r>
                    </a:p>
                  </a:txBody>
                  <a:tcPr marL="73152" marR="73152" marT="36576" marB="36576">
                    <a:solidFill>
                      <a:srgbClr val="FFFFFF"/>
                    </a:solidFill>
                  </a:tcPr>
                </a:tc>
              </a:tr>
              <a:tr h="411480">
                <a:tc>
                  <a:txBody>
                    <a:bodyPr/>
                    <a:lstStyle/>
                    <a:p>
                      <a:r>
                        <a:rPr sz="1300" b="0">
                          <a:solidFill>
                            <a:srgbClr val="1F2937"/>
                          </a:solidFill>
                        </a:rPr>
                        <a:t>Yengil (qisqa muddatli)</a:t>
                      </a:r>
                    </a:p>
                  </a:txBody>
                  <a:tcPr marL="73152" marR="73152" marT="36576" marB="36576">
                    <a:solidFill>
                      <a:srgbClr val="E8EEF6"/>
                    </a:solidFill>
                  </a:tcPr>
                </a:tc>
                <a:tc>
                  <a:txBody>
                    <a:bodyPr/>
                    <a:lstStyle/>
                    <a:p>
                      <a:r>
                        <a:rPr sz="1300" b="0">
                          <a:solidFill>
                            <a:srgbClr val="1F2937"/>
                          </a:solidFill>
                        </a:rPr>
                        <a:t>10% gacha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Foiz bo‘yicha darajalar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279, 279-280, 280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Sog‘liq buzilishi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eng ko‘p qo‘llanadigan mezon; u vaqtinchalik mehnatga yaroqsizlikni keltirgan faoliyat buzilishidir.</a:t>
            </a:r>
          </a:p>
          <a:p>
            <a:pPr>
              <a:spcAft>
                <a:spcPts val="800"/>
              </a:spcAft>
            </a:pPr>
            <a:r>
              <a:rPr sz="1800">
                <a:solidFill>
                  <a:srgbClr val="1F2937"/>
                </a:solidFill>
                <a:latin typeface="Calibri"/>
              </a:rPr>
              <a:t>▸  Diqqat: sog‘liq buzilishi davomiyligi ≠ davolanish yoki anatomik tuzalish muddati.</a:t>
            </a:r>
          </a:p>
          <a:p>
            <a:pPr>
              <a:spcAft>
                <a:spcPts val="800"/>
              </a:spcAft>
            </a:pPr>
            <a:r>
              <a:rPr sz="1800">
                <a:solidFill>
                  <a:srgbClr val="1F2937"/>
                </a:solidFill>
                <a:latin typeface="Calibri"/>
              </a:rPr>
              <a:t>▸  Kech murojaat, kasalliklar yoki tibbiy yordam kamchiligi sabab cho‘zilgan muddat hisobga olinmaydi.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419920"/>
                <a:gridCol w="2868054"/>
              </a:tblGrid>
              <a:tr h="411480">
                <a:tc>
                  <a:txBody>
                    <a:bodyPr/>
                    <a:lstStyle/>
                    <a:p>
                      <a:r>
                        <a:rPr sz="1400" b="1">
                          <a:solidFill>
                            <a:srgbClr val="FFFFFF"/>
                          </a:solidFill>
                        </a:rPr>
                        <a:t>Muddat</a:t>
                      </a:r>
                    </a:p>
                  </a:txBody>
                  <a:tcPr marL="73152" marR="73152" marT="36576" marB="36576">
                    <a:solidFill>
                      <a:srgbClr val="0B1F3A"/>
                    </a:solidFill>
                  </a:tcPr>
                </a:tc>
                <a:tc>
                  <a:txBody>
                    <a:bodyPr/>
                    <a:lstStyle/>
                    <a:p>
                      <a:r>
                        <a:rPr sz="1400" b="1">
                          <a:solidFill>
                            <a:srgbClr val="FFFFFF"/>
                          </a:solidFill>
                        </a:rPr>
                        <a:t>Baho</a:t>
                      </a:r>
                    </a:p>
                  </a:txBody>
                  <a:tcPr marL="73152" marR="73152" marT="36576" marB="36576">
                    <a:solidFill>
                      <a:srgbClr val="0B1F3A"/>
                    </a:solidFill>
                  </a:tcPr>
                </a:tc>
              </a:tr>
              <a:tr h="411480">
                <a:tc>
                  <a:txBody>
                    <a:bodyPr/>
                    <a:lstStyle/>
                    <a:p>
                      <a:r>
                        <a:rPr sz="1300" b="0">
                          <a:solidFill>
                            <a:srgbClr val="1F2937"/>
                          </a:solidFill>
                        </a:rPr>
                        <a:t>6 kungacha</a:t>
                      </a:r>
                    </a:p>
                  </a:txBody>
                  <a:tcPr marL="73152" marR="73152" marT="36576" marB="36576">
                    <a:solidFill>
                      <a:srgbClr val="E8EEF6"/>
                    </a:solidFill>
                  </a:tcPr>
                </a:tc>
                <a:tc>
                  <a:txBody>
                    <a:bodyPr/>
                    <a:lstStyle/>
                    <a:p>
                      <a:r>
                        <a:rPr sz="1300" b="0">
                          <a:solidFill>
                            <a:srgbClr val="1F2937"/>
                          </a:solidFill>
                        </a:rPr>
                        <a:t>Yengil</a:t>
                      </a:r>
                    </a:p>
                  </a:txBody>
                  <a:tcPr marL="73152" marR="73152" marT="36576" marB="36576">
                    <a:solidFill>
                      <a:srgbClr val="E8EEF6"/>
                    </a:solidFill>
                  </a:tcPr>
                </a:tc>
              </a:tr>
              <a:tr h="411480">
                <a:tc>
                  <a:txBody>
                    <a:bodyPr/>
                    <a:lstStyle/>
                    <a:p>
                      <a:r>
                        <a:rPr sz="1300" b="0">
                          <a:solidFill>
                            <a:srgbClr val="1F2937"/>
                          </a:solidFill>
                        </a:rPr>
                        <a:t>6 kundan ortiq, 21 kungacha</a:t>
                      </a:r>
                    </a:p>
                  </a:txBody>
                  <a:tcPr marL="73152" marR="73152" marT="36576" marB="36576">
                    <a:solidFill>
                      <a:srgbClr val="FFFFFF"/>
                    </a:solidFill>
                  </a:tcPr>
                </a:tc>
                <a:tc>
                  <a:txBody>
                    <a:bodyPr/>
                    <a:lstStyle/>
                    <a:p>
                      <a:r>
                        <a:rPr sz="1300" b="0">
                          <a:solidFill>
                            <a:srgbClr val="1F2937"/>
                          </a:solidFill>
                        </a:rPr>
                        <a:t>Qisqa muddatga buzilishli yengil</a:t>
                      </a:r>
                    </a:p>
                  </a:txBody>
                  <a:tcPr marL="73152" marR="73152" marT="36576" marB="36576">
                    <a:solidFill>
                      <a:srgbClr val="FFFFFF"/>
                    </a:solidFill>
                  </a:tcPr>
                </a:tc>
              </a:tr>
              <a:tr h="411480">
                <a:tc>
                  <a:txBody>
                    <a:bodyPr/>
                    <a:lstStyle/>
                    <a:p>
                      <a:r>
                        <a:rPr sz="1300" b="0">
                          <a:solidFill>
                            <a:srgbClr val="1F2937"/>
                          </a:solidFill>
                        </a:rPr>
                        <a:t>21 kundan ortiq</a:t>
                      </a:r>
                    </a:p>
                  </a:txBody>
                  <a:tcPr marL="73152" marR="73152" marT="36576" marB="36576">
                    <a:solidFill>
                      <a:srgbClr val="E8EEF6"/>
                    </a:solidFill>
                  </a:tcPr>
                </a:tc>
                <a:tc>
                  <a:txBody>
                    <a:bodyPr/>
                    <a:lstStyle/>
                    <a:p>
                      <a:r>
                        <a:rPr sz="1300" b="0">
                          <a:solidFill>
                            <a:srgbClr val="1F2937"/>
                          </a:solidFill>
                        </a:rPr>
                        <a:t>O‘rtacha og‘ir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Kun bo‘yicha chegaralar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280, 281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Ko‘rish, so‘zlash, eshitish qobiliyati yo‘qotilishi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Ikkala ko‘zda doimiy to‘liq ko‘rlik yoki ko‘rish o‘tkirligi 0,04 va undan past bo‘lsa, jarohat og‘ir hisoblanadi.</a:t>
            </a:r>
          </a:p>
          <a:p>
            <a:pPr>
              <a:spcAft>
                <a:spcPts val="800"/>
              </a:spcAft>
            </a:pPr>
            <a:r>
              <a:rPr sz="1800">
                <a:solidFill>
                  <a:srgbClr val="1F2937"/>
                </a:solidFill>
                <a:latin typeface="Calibri"/>
              </a:rPr>
              <a:t>▸  Bir ko‘zda ko‘rish to‘liq yo‘qolsa, mehnat qobiliyatining 1/3 dan ortig‘i yo‘qoladi; bu ham og‘ir jarohat.</a:t>
            </a:r>
          </a:p>
          <a:p>
            <a:pPr>
              <a:spcAft>
                <a:spcPts val="800"/>
              </a:spcAft>
            </a:pPr>
            <a:r>
              <a:rPr sz="1800">
                <a:solidFill>
                  <a:srgbClr val="1F2937"/>
                </a:solidFill>
                <a:latin typeface="Calibri"/>
              </a:rPr>
              <a:t>▸  Diqqat: ikkala quloq karligi ≠ bir quloq karligi. Birinchisi og‘ir, ikkinchisi o‘rtacha og‘ir jarohat.</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682306"/>
                <a:gridCol w="2605668"/>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Baho</a:t>
                      </a:r>
                    </a:p>
                  </a:txBody>
                  <a:tcPr marL="73152" marR="73152" marT="36576" marB="36576">
                    <a:solidFill>
                      <a:srgbClr val="0B1F3A"/>
                    </a:solidFill>
                  </a:tcPr>
                </a:tc>
              </a:tr>
              <a:tr h="411480">
                <a:tc>
                  <a:txBody>
                    <a:bodyPr/>
                    <a:lstStyle/>
                    <a:p>
                      <a:r>
                        <a:rPr sz="1300" b="0">
                          <a:solidFill>
                            <a:srgbClr val="1F2937"/>
                          </a:solidFill>
                        </a:rPr>
                        <a:t>Ikkala ko‘z to‘liq ko‘rlik (≤0,04)</a:t>
                      </a:r>
                    </a:p>
                  </a:txBody>
                  <a:tcPr marL="73152" marR="73152" marT="36576" marB="36576">
                    <a:solidFill>
                      <a:srgbClr val="E8EEF6"/>
                    </a:solidFill>
                  </a:tcPr>
                </a:tc>
                <a:tc>
                  <a:txBody>
                    <a:bodyPr/>
                    <a:lstStyle/>
                    <a:p>
                      <a:r>
                        <a:rPr sz="1300" b="0">
                          <a:solidFill>
                            <a:srgbClr val="1F2937"/>
                          </a:solidFill>
                        </a:rPr>
                        <a:t>Og‘ir</a:t>
                      </a:r>
                    </a:p>
                  </a:txBody>
                  <a:tcPr marL="73152" marR="73152" marT="36576" marB="36576">
                    <a:solidFill>
                      <a:srgbClr val="E8EEF6"/>
                    </a:solidFill>
                  </a:tcPr>
                </a:tc>
              </a:tr>
              <a:tr h="411480">
                <a:tc>
                  <a:txBody>
                    <a:bodyPr/>
                    <a:lstStyle/>
                    <a:p>
                      <a:r>
                        <a:rPr sz="1300" b="0">
                          <a:solidFill>
                            <a:srgbClr val="1F2937"/>
                          </a:solidFill>
                        </a:rPr>
                        <a:t>Bir ko‘z ko‘rishi to‘liq yo‘qolishi</a:t>
                      </a:r>
                    </a:p>
                  </a:txBody>
                  <a:tcPr marL="73152" marR="73152" marT="36576" marB="36576">
                    <a:solidFill>
                      <a:srgbClr val="FFFFFF"/>
                    </a:solidFill>
                  </a:tcPr>
                </a:tc>
                <a:tc>
                  <a:txBody>
                    <a:bodyPr/>
                    <a:lstStyle/>
                    <a:p>
                      <a:r>
                        <a:rPr sz="1300" b="0">
                          <a:solidFill>
                            <a:srgbClr val="1F2937"/>
                          </a:solidFill>
                        </a:rPr>
                        <a:t>Og‘ir (mehnat qobiliyati bo‘yicha)</a:t>
                      </a:r>
                    </a:p>
                  </a:txBody>
                  <a:tcPr marL="73152" marR="73152" marT="36576" marB="36576">
                    <a:solidFill>
                      <a:srgbClr val="FFFFFF"/>
                    </a:solidFill>
                  </a:tcPr>
                </a:tc>
              </a:tr>
              <a:tr h="411480">
                <a:tc>
                  <a:txBody>
                    <a:bodyPr/>
                    <a:lstStyle/>
                    <a:p>
                      <a:r>
                        <a:rPr sz="1300" b="0">
                          <a:solidFill>
                            <a:srgbClr val="1F2937"/>
                          </a:solidFill>
                        </a:rPr>
                        <a:t>Tilning umuman yoki yarmi yo‘qligi</a:t>
                      </a:r>
                    </a:p>
                  </a:txBody>
                  <a:tcPr marL="73152" marR="73152" marT="36576" marB="36576">
                    <a:solidFill>
                      <a:srgbClr val="E8EEF6"/>
                    </a:solidFill>
                  </a:tcPr>
                </a:tc>
                <a:tc>
                  <a:txBody>
                    <a:bodyPr/>
                    <a:lstStyle/>
                    <a:p>
                      <a:r>
                        <a:rPr sz="1300" b="0">
                          <a:solidFill>
                            <a:srgbClr val="1F2937"/>
                          </a:solidFill>
                        </a:rPr>
                        <a:t>Og‘ir</a:t>
                      </a:r>
                    </a:p>
                  </a:txBody>
                  <a:tcPr marL="73152" marR="73152" marT="36576" marB="36576">
                    <a:solidFill>
                      <a:srgbClr val="E8EEF6"/>
                    </a:solidFill>
                  </a:tcPr>
                </a:tc>
              </a:tr>
              <a:tr h="411480">
                <a:tc>
                  <a:txBody>
                    <a:bodyPr/>
                    <a:lstStyle/>
                    <a:p>
                      <a:r>
                        <a:rPr sz="1300" b="0">
                          <a:solidFill>
                            <a:srgbClr val="1F2937"/>
                          </a:solidFill>
                        </a:rPr>
                        <a:t>Bir quloq eshitishi yo‘qolishi</a:t>
                      </a:r>
                    </a:p>
                  </a:txBody>
                  <a:tcPr marL="73152" marR="73152" marT="36576" marB="36576">
                    <a:solidFill>
                      <a:srgbClr val="FFFFFF"/>
                    </a:solidFill>
                  </a:tcPr>
                </a:tc>
                <a:tc>
                  <a:txBody>
                    <a:bodyPr/>
                    <a:lstStyle/>
                    <a:p>
                      <a:r>
                        <a:rPr sz="1300" b="0">
                          <a:solidFill>
                            <a:srgbClr val="1F2937"/>
                          </a:solidFill>
                        </a:rPr>
                        <a:t>O‘rtacha og‘ir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Funksiya yo‘qotilishi va baho</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281, 282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 yo‘qotilishi va homiladorlik 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Qo‘l yoki oyoqning tanadan uzilishi yoki falajlik kabi turg‘un faoliyat yo‘qotilishi a’zo yo‘qotilishi hisoblanadi; kaft yoki tovon ham shunga tenglashtiriladi.</a:t>
            </a:r>
          </a:p>
          <a:p>
            <a:pPr>
              <a:spcAft>
                <a:spcPts val="1200"/>
              </a:spcAft>
            </a:pPr>
            <a:r>
              <a:rPr sz="2200">
                <a:solidFill>
                  <a:srgbClr val="1F2937"/>
                </a:solidFill>
                <a:latin typeface="Calibri"/>
              </a:rPr>
              <a:t>▸  Nasl qoldirish qobiliyati yo‘qolishi, shuningdek bitta urug‘don, tuxumdon yoki buyrak yo‘qotilishi ham og‘ir tan jarohati sanaladi.</a:t>
            </a:r>
          </a:p>
          <a:p>
            <a:pPr>
              <a:spcAft>
                <a:spcPts val="1200"/>
              </a:spcAft>
            </a:pPr>
            <a:r>
              <a:rPr sz="2200">
                <a:solidFill>
                  <a:srgbClr val="1F2937"/>
                </a:solidFill>
                <a:latin typeface="Calibri"/>
              </a:rPr>
              <a:t>▸  Homiladorlik uzilishi og‘ir deyiladi, agar travmadan keyin o‘lik yoki hayotga layoqatsiz go‘dak tug‘ilsa va bog‘liqlik to‘g‘ridan-to‘g‘ri bo‘lsa.</a:t>
            </a:r>
          </a:p>
          <a:p>
            <a:pPr>
              <a:spcAft>
                <a:spcPts val="1200"/>
              </a:spcAft>
            </a:pPr>
            <a:r>
              <a:rPr sz="2200">
                <a:solidFill>
                  <a:srgbClr val="1F2937"/>
                </a:solidFill>
                <a:latin typeface="Calibri"/>
              </a:rPr>
              <a:t>▸  Hayotga layoqatli go‘dak tug‘ilsa yoki bachadondan tashqari homiladorlik uzilsa, og‘irlik boshqa mezonlar bo‘yicha aniqlanadi.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Ruhiy buzilish va silliqlanmaydigan badburushlik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Komissiyaga sud-psixiatr yoki psixiatr kiradi; kerak bo‘lsa nevrolog, neyroxirurg ham jalb qilinadi.</a:t>
            </a:r>
          </a:p>
          <a:p>
            <a:pPr>
              <a:spcAft>
                <a:spcPts val="800"/>
              </a:spcAft>
            </a:pPr>
            <a:r>
              <a:rPr sz="1800">
                <a:solidFill>
                  <a:srgbClr val="1F2937"/>
                </a:solidFill>
                <a:latin typeface="Calibri"/>
              </a:rPr>
              <a:t>▸  Badburushlik mavjudligini sud aniqlaydi; ekspertiza uning silliqlanish yoki silliqlanmasligini baholaydi.</a:t>
            </a:r>
          </a:p>
          <a:p>
            <a:pPr>
              <a:spcAft>
                <a:spcPts val="800"/>
              </a:spcAft>
            </a:pPr>
            <a:r>
              <a:rPr sz="1800">
                <a:solidFill>
                  <a:srgbClr val="1F2937"/>
                </a:solidFill>
                <a:latin typeface="Calibri"/>
              </a:rPr>
              <a:t>▸  Silliqlanmaydigan iz o‘zi yo‘qolmaydi, jarrohlik talab qiladi; kosmetolog, plastik jarroh ishtirok etadi.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Ruhiy buzilish mavjudmi?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Avval buzilish bo‘lmaganmi?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Tegishli jarohat aniqlanadimi?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Bevosita sababiy bog‘liqlikmi?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 bo‘lsa — og‘ir jarohat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Ruhiy buzilishni baholash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Mezonlarni qo‘llash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Og‘irlik darajasini belgilash uchun tibbiy mezonlardan bittasining mavjudligi yetarli.</a:t>
            </a:r>
          </a:p>
          <a:p>
            <a:pPr>
              <a:spcAft>
                <a:spcPts val="800"/>
              </a:spcAft>
            </a:pPr>
            <a:r>
              <a:rPr sz="1800">
                <a:solidFill>
                  <a:srgbClr val="1F2937"/>
                </a:solidFill>
                <a:latin typeface="Calibri"/>
              </a:rPr>
              <a:t>▸  Ilgari kasalligi bo‘lgan shaxsda faqat yangi jarohat bilan sababiy bog‘liq oqibat hisobga olinadi.</a:t>
            </a:r>
          </a:p>
          <a:p>
            <a:pPr>
              <a:spcAft>
                <a:spcPts val="800"/>
              </a:spcAft>
            </a:pPr>
            <a:r>
              <a:rPr sz="1800">
                <a:solidFill>
                  <a:srgbClr val="1F2937"/>
                </a:solidFill>
                <a:latin typeface="Calibri"/>
              </a:rPr>
              <a:t>▸  Yosh, kasallik, kech murojaat, davodagi kamchilik tufayli yomonlashuv inobatga olinmaydi.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427267"/>
                <a:gridCol w="2860707"/>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Qoida</a:t>
                      </a:r>
                    </a:p>
                  </a:txBody>
                  <a:tcPr marL="73152" marR="73152" marT="36576" marB="36576">
                    <a:solidFill>
                      <a:srgbClr val="0B1F3A"/>
                    </a:solidFill>
                  </a:tcPr>
                </a:tc>
              </a:tr>
              <a:tr h="411480">
                <a:tc>
                  <a:txBody>
                    <a:bodyPr/>
                    <a:lstStyle/>
                    <a:p>
                      <a:r>
                        <a:rPr sz="1300" b="0">
                          <a:solidFill>
                            <a:srgbClr val="1F2937"/>
                          </a:solidFill>
                        </a:rPr>
                        <a:t>Bir necha mezon qo‘llanadi</a:t>
                      </a:r>
                    </a:p>
                  </a:txBody>
                  <a:tcPr marL="73152" marR="73152" marT="36576" marB="36576">
                    <a:solidFill>
                      <a:srgbClr val="E8EEF6"/>
                    </a:solidFill>
                  </a:tcPr>
                </a:tc>
                <a:tc>
                  <a:txBody>
                    <a:bodyPr/>
                    <a:lstStyle/>
                    <a:p>
                      <a:r>
                        <a:rPr sz="1300" b="0">
                          <a:solidFill>
                            <a:srgbClr val="1F2937"/>
                          </a:solidFill>
                        </a:rPr>
                        <a:t>Og‘irroq darajadagi mezon olinadi</a:t>
                      </a:r>
                    </a:p>
                  </a:txBody>
                  <a:tcPr marL="73152" marR="73152" marT="36576" marB="36576">
                    <a:solidFill>
                      <a:srgbClr val="E8EEF6"/>
                    </a:solidFill>
                  </a:tcPr>
                </a:tc>
              </a:tr>
              <a:tr h="411480">
                <a:tc>
                  <a:txBody>
                    <a:bodyPr/>
                    <a:lstStyle/>
                    <a:p>
                      <a:r>
                        <a:rPr sz="1300" b="0">
                          <a:solidFill>
                            <a:srgbClr val="1F2937"/>
                          </a:solidFill>
                        </a:rPr>
                        <a:t>Bir hodisada ko‘p jarohat</a:t>
                      </a:r>
                    </a:p>
                  </a:txBody>
                  <a:tcPr marL="73152" marR="73152" marT="36576" marB="36576">
                    <a:solidFill>
                      <a:srgbClr val="FFFFFF"/>
                    </a:solidFill>
                  </a:tcPr>
                </a:tc>
                <a:tc>
                  <a:txBody>
                    <a:bodyPr/>
                    <a:lstStyle/>
                    <a:p>
                      <a:r>
                        <a:rPr sz="1300" b="0">
                          <a:solidFill>
                            <a:srgbClr val="1F2937"/>
                          </a:solidFill>
                        </a:rPr>
                        <a:t>Majmui uchun umumiy daraja</a:t>
                      </a:r>
                    </a:p>
                  </a:txBody>
                  <a:tcPr marL="73152" marR="73152" marT="36576" marB="36576">
                    <a:solidFill>
                      <a:srgbClr val="FFFFFF"/>
                    </a:solidFill>
                  </a:tcPr>
                </a:tc>
              </a:tr>
              <a:tr h="411480">
                <a:tc>
                  <a:txBody>
                    <a:bodyPr/>
                    <a:lstStyle/>
                    <a:p>
                      <a:r>
                        <a:rPr sz="1300" b="0">
                          <a:solidFill>
                            <a:srgbClr val="1F2937"/>
                          </a:solidFill>
                        </a:rPr>
                        <a:t>Turli muddatdagi jarohatlar</a:t>
                      </a:r>
                    </a:p>
                  </a:txBody>
                  <a:tcPr marL="73152" marR="73152" marT="36576" marB="36576">
                    <a:solidFill>
                      <a:srgbClr val="E8EEF6"/>
                    </a:solidFill>
                  </a:tcPr>
                </a:tc>
                <a:tc>
                  <a:txBody>
                    <a:bodyPr/>
                    <a:lstStyle/>
                    <a:p>
                      <a:r>
                        <a:rPr sz="1300" b="0">
                          <a:solidFill>
                            <a:srgbClr val="1F2937"/>
                          </a:solidFill>
                        </a:rPr>
                        <a:t>Har biri alohida baholanadi</a:t>
                      </a:r>
                    </a:p>
                  </a:txBody>
                  <a:tcPr marL="73152" marR="73152" marT="36576" marB="36576">
                    <a:solidFill>
                      <a:srgbClr val="E8EEF6"/>
                    </a:solidFill>
                  </a:tcPr>
                </a:tc>
              </a:tr>
              <a:tr h="411480">
                <a:tc>
                  <a:txBody>
                    <a:bodyPr/>
                    <a:lstStyle/>
                    <a:p>
                      <a:r>
                        <a:rPr sz="1300" b="0">
                          <a:solidFill>
                            <a:srgbClr val="1F2937"/>
                          </a:solidFill>
                        </a:rPr>
                        <a:t>Mohiyati yoki oqibati mavhum</a:t>
                      </a:r>
                    </a:p>
                  </a:txBody>
                  <a:tcPr marL="73152" marR="73152" marT="36576" marB="36576">
                    <a:solidFill>
                      <a:srgbClr val="FFFFFF"/>
                    </a:solidFill>
                  </a:tcPr>
                </a:tc>
                <a:tc>
                  <a:txBody>
                    <a:bodyPr/>
                    <a:lstStyle/>
                    <a:p>
                      <a:r>
                        <a:rPr sz="1300" b="0">
                          <a:solidFill>
                            <a:srgbClr val="1F2937"/>
                          </a:solidFill>
                        </a:rPr>
                        <a:t>Og‘irlik darajasi aniqlanmaydi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Mezonlarni qo‘llash qoidalari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283, 284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tan jarohati og‘irligi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jarohatgacha sog‘ bo‘lgan bitta ko‘z shikastlanishdan so‘ng olib tashlangan. Jarohatning og‘irlik darajasi qanday?</a:t>
            </a:r>
          </a:p>
          <a:p>
            <a:pPr>
              <a:spcAft>
                <a:spcPts val="1200"/>
              </a:spcAft>
            </a:pPr>
            <a:r>
              <a:rPr sz="2200">
                <a:solidFill>
                  <a:srgbClr val="1F2937"/>
                </a:solidFill>
                <a:latin typeface="Calibri"/>
              </a:rPr>
              <a:t>▸  Javob: baho umumiy mehnat qobiliyatining turg‘un yo‘qotilishi mezoni bo‘yicha beriladi. Yo‘qotish uchdan birdan ortiq, shuning uchun jarohat og‘ir.</a:t>
            </a:r>
          </a:p>
          <a:p>
            <a:pPr>
              <a:spcAft>
                <a:spcPts val="1200"/>
              </a:spcAft>
            </a:pPr>
            <a:r>
              <a:rPr sz="2200">
                <a:solidFill>
                  <a:srgbClr val="1F2937"/>
                </a:solidFill>
                <a:latin typeface="Calibri"/>
              </a:rPr>
              <a:t>▸  Diqqat: xato qilish xavfi. Ko‘rish qobiliyati bo‘lmagan ko‘z yo‘qotilsa, daraja sog‘liq buzilishi davomiyligi bo‘yicha aniqlanadi.</a:t>
            </a:r>
          </a:p>
          <a:p>
            <a:pPr>
              <a:spcAft>
                <a:spcPts val="1200"/>
              </a:spcAft>
            </a:pPr>
            <a:r>
              <a:rPr sz="2200">
                <a:solidFill>
                  <a:srgbClr val="1F2937"/>
                </a:solidFill>
                <a:latin typeface="Calibri"/>
              </a:rPr>
              <a:t>▸  Diqqat: klinik baholash ≠ sud-tibbiy baholash. Maqsad va mezonlari turlicha, natijalari mos kelmasligi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281, 278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Salomatlik holatini aniqlash ekspertizasi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Shubhali kasallik tufayli shaxs chaqiruvga kela olmasa, shuningdek gumondorning sud-tergov harakatlarida ishtirok etishi va mahbusni ushlab turish imkoni aniqlanishi kerak bo‘lsa tayinlanadi.</a:t>
            </a:r>
          </a:p>
          <a:p>
            <a:pPr>
              <a:spcAft>
                <a:spcPts val="1200"/>
              </a:spcAft>
            </a:pPr>
            <a:r>
              <a:rPr sz="2000">
                <a:solidFill>
                  <a:srgbClr val="1F2937"/>
                </a:solidFill>
                <a:latin typeface="Calibri"/>
              </a:rPr>
              <a:t>▸  Hukm ijrosini kechiktirish (kasallik, homiladorlik, tug‘ruq) va harbiy xizmatdan bosh tortish holatlarida ham tayinlanadi.</a:t>
            </a:r>
          </a:p>
          <a:p>
            <a:pPr>
              <a:spcAft>
                <a:spcPts val="1200"/>
              </a:spcAft>
            </a:pPr>
            <a:r>
              <a:rPr sz="2000">
                <a:solidFill>
                  <a:srgbClr val="1F2937"/>
                </a:solidFill>
                <a:latin typeface="Calibri"/>
              </a:rPr>
              <a:t>▸  Odatda komission tartibda klinitsist-mutaxassislar bilan o‘tkaziladi: tibbiy hujjatlar o‘rganiladi, ba’zan statsionar tekshiruv zarur.</a:t>
            </a:r>
          </a:p>
          <a:p>
            <a:pPr>
              <a:spcAft>
                <a:spcPts val="1200"/>
              </a:spcAft>
            </a:pPr>
            <a:r>
              <a:rPr sz="2000">
                <a:solidFill>
                  <a:srgbClr val="1F2937"/>
                </a:solidFill>
                <a:latin typeface="Calibri"/>
              </a:rPr>
              <a:t>▸  Komissiya simulyasiya (yo‘q kasallikni bor deb ko‘rsatish), aggravatsiya (kasallikni og‘irroq ko‘rsatish), dissimulyasiya (yashirish), sun‘iy kasallik va a‘zobuzarlik ehtimolini ham nazarda tutadi.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284, 284–286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Simulyasiya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Simulyasiya — sog‘lom odamning mavjud bo‘lmagan kasallikni bor deb ko‘rsatishi.</a:t>
            </a:r>
          </a:p>
          <a:p>
            <a:pPr>
              <a:spcAft>
                <a:spcPts val="800"/>
              </a:spcAft>
            </a:pPr>
            <a:r>
              <a:rPr sz="1800">
                <a:solidFill>
                  <a:srgbClr val="1F2937"/>
                </a:solidFill>
                <a:latin typeface="Calibri"/>
              </a:rPr>
              <a:t>▸  Simulyant holatini og‘irroq ko‘rsatadi; shikoyatlari ob’ektiv belgilarga mos kelmaydi.</a:t>
            </a:r>
          </a:p>
          <a:p>
            <a:pPr>
              <a:spcAft>
                <a:spcPts val="800"/>
              </a:spcAft>
            </a:pPr>
            <a:r>
              <a:rPr sz="1800">
                <a:solidFill>
                  <a:srgbClr val="1F2937"/>
                </a:solidFill>
                <a:latin typeface="Calibri"/>
              </a:rPr>
              <a:t>▸  Aniqlash uchun uzoq kuzatiladi; ayrim tekshiruvlar to‘satdan, takroran o‘tkaziladi.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55429"/>
                <a:gridCol w="3432545"/>
              </a:tblGrid>
              <a:tr h="411480">
                <a:tc>
                  <a:txBody>
                    <a:bodyPr/>
                    <a:lstStyle/>
                    <a:p>
                      <a:r>
                        <a:rPr sz="1400" b="1">
                          <a:solidFill>
                            <a:srgbClr val="FFFFFF"/>
                          </a:solidFill>
                        </a:rPr>
                        <a:t>Kasallik</a:t>
                      </a:r>
                    </a:p>
                  </a:txBody>
                  <a:tcPr marL="73152" marR="73152" marT="36576" marB="36576">
                    <a:solidFill>
                      <a:srgbClr val="0B1F3A"/>
                    </a:solidFill>
                  </a:tcPr>
                </a:tc>
                <a:tc>
                  <a:txBody>
                    <a:bodyPr/>
                    <a:lstStyle/>
                    <a:p>
                      <a:r>
                        <a:rPr sz="1400" b="1">
                          <a:solidFill>
                            <a:srgbClr val="FFFFFF"/>
                          </a:solidFill>
                        </a:rPr>
                        <a:t>Usul</a:t>
                      </a:r>
                    </a:p>
                  </a:txBody>
                  <a:tcPr marL="73152" marR="73152" marT="36576" marB="36576">
                    <a:solidFill>
                      <a:srgbClr val="0B1F3A"/>
                    </a:solidFill>
                  </a:tcPr>
                </a:tc>
              </a:tr>
              <a:tr h="411480">
                <a:tc>
                  <a:txBody>
                    <a:bodyPr/>
                    <a:lstStyle/>
                    <a:p>
                      <a:r>
                        <a:rPr sz="1300" b="0">
                          <a:solidFill>
                            <a:srgbClr val="1F2937"/>
                          </a:solidFill>
                        </a:rPr>
                        <a:t>Oshqozon yarasi</a:t>
                      </a:r>
                    </a:p>
                  </a:txBody>
                  <a:tcPr marL="73152" marR="73152" marT="36576" marB="36576">
                    <a:solidFill>
                      <a:srgbClr val="E8EEF6"/>
                    </a:solidFill>
                  </a:tcPr>
                </a:tc>
                <a:tc>
                  <a:txBody>
                    <a:bodyPr/>
                    <a:lstStyle/>
                    <a:p>
                      <a:r>
                        <a:rPr sz="1300" b="0">
                          <a:solidFill>
                            <a:srgbClr val="1F2937"/>
                          </a:solidFill>
                        </a:rPr>
                        <a:t>Najasga qon, askorbin kislotasi</a:t>
                      </a:r>
                    </a:p>
                  </a:txBody>
                  <a:tcPr marL="73152" marR="73152" marT="36576" marB="36576">
                    <a:solidFill>
                      <a:srgbClr val="E8EEF6"/>
                    </a:solidFill>
                  </a:tcPr>
                </a:tc>
              </a:tr>
              <a:tr h="411480">
                <a:tc>
                  <a:txBody>
                    <a:bodyPr/>
                    <a:lstStyle/>
                    <a:p>
                      <a:r>
                        <a:rPr sz="1300" b="0">
                          <a:solidFill>
                            <a:srgbClr val="1F2937"/>
                          </a:solidFill>
                        </a:rPr>
                        <a:t>Yurak kasalligi</a:t>
                      </a:r>
                    </a:p>
                  </a:txBody>
                  <a:tcPr marL="73152" marR="73152" marT="36576" marB="36576">
                    <a:solidFill>
                      <a:srgbClr val="FFFFFF"/>
                    </a:solidFill>
                  </a:tcPr>
                </a:tc>
                <a:tc>
                  <a:txBody>
                    <a:bodyPr/>
                    <a:lstStyle/>
                    <a:p>
                      <a:r>
                        <a:rPr sz="1300" b="0">
                          <a:solidFill>
                            <a:srgbClr val="1F2937"/>
                          </a:solidFill>
                        </a:rPr>
                        <a:t>Achchiq choy, kofe: taxikardiya</a:t>
                      </a:r>
                    </a:p>
                  </a:txBody>
                  <a:tcPr marL="73152" marR="73152" marT="36576" marB="36576">
                    <a:solidFill>
                      <a:srgbClr val="FFFFFF"/>
                    </a:solidFill>
                  </a:tcPr>
                </a:tc>
              </a:tr>
              <a:tr h="411480">
                <a:tc>
                  <a:txBody>
                    <a:bodyPr/>
                    <a:lstStyle/>
                    <a:p>
                      <a:r>
                        <a:rPr sz="1300" b="0">
                          <a:solidFill>
                            <a:srgbClr val="1F2937"/>
                          </a:solidFill>
                        </a:rPr>
                        <a:t>O‘pka sili</a:t>
                      </a:r>
                    </a:p>
                  </a:txBody>
                  <a:tcPr marL="73152" marR="73152" marT="36576" marB="36576">
                    <a:solidFill>
                      <a:srgbClr val="E8EEF6"/>
                    </a:solidFill>
                  </a:tcPr>
                </a:tc>
                <a:tc>
                  <a:txBody>
                    <a:bodyPr/>
                    <a:lstStyle/>
                    <a:p>
                      <a:r>
                        <a:rPr sz="1300" b="0">
                          <a:solidFill>
                            <a:srgbClr val="1F2937"/>
                          </a:solidFill>
                        </a:rPr>
                        <a:t>Haqiqiy bemor balg‘ami, rentgensurati</a:t>
                      </a:r>
                    </a:p>
                  </a:txBody>
                  <a:tcPr marL="73152" marR="73152" marT="36576" marB="36576">
                    <a:solidFill>
                      <a:srgbClr val="E8EEF6"/>
                    </a:solidFill>
                  </a:tcPr>
                </a:tc>
              </a:tr>
              <a:tr h="411480">
                <a:tc>
                  <a:txBody>
                    <a:bodyPr/>
                    <a:lstStyle/>
                    <a:p>
                      <a:r>
                        <a:rPr sz="1300" b="0">
                          <a:solidFill>
                            <a:srgbClr val="1F2937"/>
                          </a:solidFill>
                        </a:rPr>
                        <a:t>O‘pkadan qon ketishi</a:t>
                      </a:r>
                    </a:p>
                  </a:txBody>
                  <a:tcPr marL="73152" marR="73152" marT="36576" marB="36576">
                    <a:solidFill>
                      <a:srgbClr val="FFFFFF"/>
                    </a:solidFill>
                  </a:tcPr>
                </a:tc>
                <a:tc>
                  <a:txBody>
                    <a:bodyPr/>
                    <a:lstStyle/>
                    <a:p>
                      <a:r>
                        <a:rPr sz="1300" b="0">
                          <a:solidFill>
                            <a:srgbClr val="1F2937"/>
                          </a:solidFill>
                        </a:rPr>
                        <a:t>Balg‘amga milk yoki burun qoni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Simulyasiya usullari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Aggravatsiya va dissimulyasiya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Aggravatsiya — mavjud kasallik yoki travma belgilarini og‘irroq qilib ko‘rsatish.</a:t>
            </a:r>
          </a:p>
          <a:p>
            <a:pPr>
              <a:spcAft>
                <a:spcPts val="800"/>
              </a:spcAft>
            </a:pPr>
            <a:r>
              <a:rPr sz="1800">
                <a:solidFill>
                  <a:srgbClr val="1F2937"/>
                </a:solidFill>
                <a:latin typeface="Calibri"/>
              </a:rPr>
              <a:t>▸  Dissimulyasiya simulyasiyaga qarama-qarshi: kasallik yoki patologik holatni qasddan yashirish.</a:t>
            </a:r>
          </a:p>
          <a:p>
            <a:pPr>
              <a:spcAft>
                <a:spcPts val="800"/>
              </a:spcAft>
            </a:pPr>
            <a:r>
              <a:rPr sz="1800">
                <a:solidFill>
                  <a:srgbClr val="1F2937"/>
                </a:solidFill>
                <a:latin typeface="Calibri"/>
              </a:rPr>
              <a:t>▸  Diqqat: simulyasiya ≠ dissimulyasiya — biri yo‘q kasallikni ko‘rsatadi, ikkinchisi borini yashiradi.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83809"/>
                <a:gridCol w="2152082"/>
                <a:gridCol w="215208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Aggravatsiya</a:t>
                      </a:r>
                    </a:p>
                  </a:txBody>
                  <a:tcPr marL="73152" marR="73152" marT="36576" marB="36576">
                    <a:solidFill>
                      <a:srgbClr val="0B1F3A"/>
                    </a:solidFill>
                  </a:tcPr>
                </a:tc>
                <a:tc>
                  <a:txBody>
                    <a:bodyPr/>
                    <a:lstStyle/>
                    <a:p>
                      <a:r>
                        <a:rPr sz="1300" b="1">
                          <a:solidFill>
                            <a:srgbClr val="FFFFFF"/>
                          </a:solidFill>
                        </a:rPr>
                        <a:t>Dissimulyasiya</a:t>
                      </a:r>
                    </a:p>
                  </a:txBody>
                  <a:tcPr marL="73152" marR="73152" marT="36576" marB="36576">
                    <a:solidFill>
                      <a:srgbClr val="0B1F3A"/>
                    </a:solidFill>
                  </a:tcPr>
                </a:tc>
              </a:tr>
              <a:tr h="411480">
                <a:tc>
                  <a:txBody>
                    <a:bodyPr/>
                    <a:lstStyle/>
                    <a:p>
                      <a:r>
                        <a:rPr sz="1200" b="0">
                          <a:solidFill>
                            <a:srgbClr val="1F2937"/>
                          </a:solidFill>
                        </a:rPr>
                        <a:t>Mohiyati</a:t>
                      </a:r>
                    </a:p>
                  </a:txBody>
                  <a:tcPr marL="73152" marR="73152" marT="36576" marB="36576">
                    <a:solidFill>
                      <a:srgbClr val="E8EEF6"/>
                    </a:solidFill>
                  </a:tcPr>
                </a:tc>
                <a:tc>
                  <a:txBody>
                    <a:bodyPr/>
                    <a:lstStyle/>
                    <a:p>
                      <a:r>
                        <a:rPr sz="1200" b="0">
                          <a:solidFill>
                            <a:srgbClr val="1F2937"/>
                          </a:solidFill>
                        </a:rPr>
                        <a:t>Mavjud belgini og‘irroq ko‘rsatish</a:t>
                      </a:r>
                    </a:p>
                  </a:txBody>
                  <a:tcPr marL="73152" marR="73152" marT="36576" marB="36576">
                    <a:solidFill>
                      <a:srgbClr val="E8EEF6"/>
                    </a:solidFill>
                  </a:tcPr>
                </a:tc>
                <a:tc>
                  <a:txBody>
                    <a:bodyPr/>
                    <a:lstStyle/>
                    <a:p>
                      <a:r>
                        <a:rPr sz="1200" b="0">
                          <a:solidFill>
                            <a:srgbClr val="1F2937"/>
                          </a:solidFill>
                        </a:rPr>
                        <a:t>Kasallikni yashirish</a:t>
                      </a:r>
                    </a:p>
                  </a:txBody>
                  <a:tcPr marL="73152" marR="73152" marT="36576" marB="36576">
                    <a:solidFill>
                      <a:srgbClr val="E8EEF6"/>
                    </a:solidFill>
                  </a:tcPr>
                </a:tc>
              </a:tr>
              <a:tr h="411480">
                <a:tc>
                  <a:txBody>
                    <a:bodyPr/>
                    <a:lstStyle/>
                    <a:p>
                      <a:r>
                        <a:rPr sz="1200" b="0">
                          <a:solidFill>
                            <a:srgbClr val="1F2937"/>
                          </a:solidFill>
                        </a:rPr>
                        <a:t>Shakli</a:t>
                      </a:r>
                    </a:p>
                  </a:txBody>
                  <a:tcPr marL="73152" marR="73152" marT="36576" marB="36576">
                    <a:solidFill>
                      <a:srgbClr val="FFFFFF"/>
                    </a:solidFill>
                  </a:tcPr>
                </a:tc>
                <a:tc>
                  <a:txBody>
                    <a:bodyPr/>
                    <a:lstStyle/>
                    <a:p>
                      <a:r>
                        <a:rPr sz="1200" b="0">
                          <a:solidFill>
                            <a:srgbClr val="1F2937"/>
                          </a:solidFill>
                        </a:rPr>
                        <a:t>Qasddan yoki patologik</a:t>
                      </a:r>
                    </a:p>
                  </a:txBody>
                  <a:tcPr marL="73152" marR="73152" marT="36576" marB="36576">
                    <a:solidFill>
                      <a:srgbClr val="FFFFFF"/>
                    </a:solidFill>
                  </a:tcPr>
                </a:tc>
                <a:tc>
                  <a:txBody>
                    <a:bodyPr/>
                    <a:lstStyle/>
                    <a:p>
                      <a:r>
                        <a:rPr sz="1200" b="0">
                          <a:solidFill>
                            <a:srgbClr val="1F2937"/>
                          </a:solidFill>
                        </a:rPr>
                        <a:t>Doim qasddan</a:t>
                      </a:r>
                    </a:p>
                  </a:txBody>
                  <a:tcPr marL="73152" marR="73152" marT="36576" marB="36576">
                    <a:solidFill>
                      <a:srgbClr val="FFFFFF"/>
                    </a:solidFill>
                  </a:tcPr>
                </a:tc>
              </a:tr>
              <a:tr h="411480">
                <a:tc>
                  <a:txBody>
                    <a:bodyPr/>
                    <a:lstStyle/>
                    <a:p>
                      <a:r>
                        <a:rPr sz="1200" b="0">
                          <a:solidFill>
                            <a:srgbClr val="1F2937"/>
                          </a:solidFill>
                        </a:rPr>
                        <a:t>Maqsad</a:t>
                      </a:r>
                    </a:p>
                  </a:txBody>
                  <a:tcPr marL="73152" marR="73152" marT="36576" marB="36576">
                    <a:solidFill>
                      <a:srgbClr val="E8EEF6"/>
                    </a:solidFill>
                  </a:tcPr>
                </a:tc>
                <a:tc>
                  <a:txBody>
                    <a:bodyPr/>
                    <a:lstStyle/>
                    <a:p>
                      <a:r>
                        <a:rPr sz="1200" b="0">
                          <a:solidFill>
                            <a:srgbClr val="1F2937"/>
                          </a:solidFill>
                        </a:rPr>
                        <a:t>Jazodan qutulish, xizmatdan qochish</a:t>
                      </a:r>
                    </a:p>
                  </a:txBody>
                  <a:tcPr marL="73152" marR="73152" marT="36576" marB="36576">
                    <a:solidFill>
                      <a:srgbClr val="E8EEF6"/>
                    </a:solidFill>
                  </a:tcPr>
                </a:tc>
                <a:tc>
                  <a:txBody>
                    <a:bodyPr/>
                    <a:lstStyle/>
                    <a:p>
                      <a:r>
                        <a:rPr sz="1200" b="0">
                          <a:solidFill>
                            <a:srgbClr val="1F2937"/>
                          </a:solidFill>
                        </a:rPr>
                        <a:t>Kasb talabi, javobgarlikdan qochish</a:t>
                      </a:r>
                    </a:p>
                  </a:txBody>
                  <a:tcPr marL="73152" marR="73152" marT="36576" marB="36576">
                    <a:solidFill>
                      <a:srgbClr val="E8EEF6"/>
                    </a:solidFill>
                  </a:tcPr>
                </a:tc>
              </a:tr>
              <a:tr h="411480">
                <a:tc>
                  <a:txBody>
                    <a:bodyPr/>
                    <a:lstStyle/>
                    <a:p>
                      <a:r>
                        <a:rPr sz="1200" b="0">
                          <a:solidFill>
                            <a:srgbClr val="1F2937"/>
                          </a:solidFill>
                        </a:rPr>
                        <a:t>Misollar</a:t>
                      </a:r>
                    </a:p>
                  </a:txBody>
                  <a:tcPr marL="73152" marR="73152" marT="36576" marB="36576">
                    <a:solidFill>
                      <a:srgbClr val="FFFFFF"/>
                    </a:solidFill>
                  </a:tcPr>
                </a:tc>
                <a:tc>
                  <a:txBody>
                    <a:bodyPr/>
                    <a:lstStyle/>
                    <a:p>
                      <a:r>
                        <a:rPr sz="1200" b="0">
                          <a:solidFill>
                            <a:srgbClr val="1F2937"/>
                          </a:solidFill>
                        </a:rPr>
                        <a:t>Davoni qabul qilmaslik</a:t>
                      </a:r>
                    </a:p>
                  </a:txBody>
                  <a:tcPr marL="73152" marR="73152" marT="36576" marB="36576">
                    <a:solidFill>
                      <a:srgbClr val="FFFFFF"/>
                    </a:solidFill>
                  </a:tcPr>
                </a:tc>
                <a:tc>
                  <a:txBody>
                    <a:bodyPr/>
                    <a:lstStyle/>
                    <a:p>
                      <a:r>
                        <a:rPr sz="1200" b="0">
                          <a:solidFill>
                            <a:srgbClr val="1F2937"/>
                          </a:solidFill>
                        </a:rPr>
                        <a:t>Uchuvchi, g‘avvos, haydovchi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tushunchaning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285, 286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Sun’iy kasalliklar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Teri: qo‘l-oyoqni siqib boylash yoki yengil zarbalar sun’iy shish beradi; teri ostiga parafin, vazelin, yog‘ yuborilsa sun’iy o‘sma paydo bo‘ladi.</a:t>
            </a:r>
          </a:p>
          <a:p>
            <a:pPr>
              <a:spcAft>
                <a:spcPts val="1200"/>
              </a:spcAft>
            </a:pPr>
            <a:r>
              <a:rPr sz="2000">
                <a:solidFill>
                  <a:srgbClr val="1F2937"/>
                </a:solidFill>
                <a:latin typeface="Calibri"/>
              </a:rPr>
              <a:t>▸  Sun’iy dermatit mexanik, kimyoviy yoki termik ta’sirdan chiqadi; teri ostiga kerosin, skipidar, so‘lak yuborilsa abssess, flegmona rivojlanadi.</a:t>
            </a:r>
          </a:p>
          <a:p>
            <a:pPr>
              <a:spcAft>
                <a:spcPts val="1200"/>
              </a:spcAft>
            </a:pPr>
            <a:r>
              <a:rPr sz="2000">
                <a:solidFill>
                  <a:srgbClr val="1F2937"/>
                </a:solidFill>
                <a:latin typeface="Calibri"/>
              </a:rPr>
              <a:t>▸  Ichki a’zolar: ko‘p surgi dorisi yoki sovun eritmasi — o‘tkir gastroenterit; ko‘p osh tuzi — nefrozo-nefrit; efedrin kabi moddalar — gipertonik kasallik alomatlari.</a:t>
            </a:r>
          </a:p>
          <a:p>
            <a:pPr>
              <a:spcAft>
                <a:spcPts val="1200"/>
              </a:spcAft>
            </a:pPr>
            <a:r>
              <a:rPr sz="2000">
                <a:solidFill>
                  <a:srgbClr val="1F2937"/>
                </a:solidFill>
                <a:latin typeface="Calibri"/>
              </a:rPr>
              <a:t>▸  Ko‘z va quloq: ishqalash, chang yoki kislota kon’yunktivit, keratit chaqiradi; quloqqa yot jism solinadi, nog‘ora parda sanchuvchi jism bilan teshiladi.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286, 286-287, 287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A‘zobuzarlik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A‘zobuzarlik — muayyan maqsadda qasddan o‘ziga shikast yetkazish. Harbiy xizmatdan bosh tortishda ko‘p uchraydi.</a:t>
            </a:r>
          </a:p>
          <a:p>
            <a:pPr>
              <a:spcAft>
                <a:spcPts val="800"/>
              </a:spcAft>
            </a:pPr>
            <a:r>
              <a:rPr sz="1800">
                <a:solidFill>
                  <a:srgbClr val="1F2937"/>
                </a:solidFill>
                <a:latin typeface="Calibri"/>
              </a:rPr>
              <a:t>▸  Jarohat ko‘pincha qo‘l va oyoqda, asosan kaftda, shaxsning o‘z qo‘li yetadigan joyida bo‘ladi.</a:t>
            </a:r>
          </a:p>
          <a:p>
            <a:pPr>
              <a:spcAft>
                <a:spcPts val="800"/>
              </a:spcAft>
            </a:pPr>
            <a:r>
              <a:rPr sz="1800">
                <a:solidFill>
                  <a:srgbClr val="1F2937"/>
                </a:solidFill>
                <a:latin typeface="Calibri"/>
              </a:rPr>
              <a:t>▸  Tergov eksperimenti tavsiya etiladi: hodisaga yaqin sharoitda shaxsning bayoni tekshiriladi.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76378"/>
                <a:gridCol w="3411596"/>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Izohi</a:t>
                      </a:r>
                    </a:p>
                  </a:txBody>
                  <a:tcPr marL="73152" marR="73152" marT="36576" marB="36576">
                    <a:solidFill>
                      <a:srgbClr val="0B1F3A"/>
                    </a:solidFill>
                  </a:tcPr>
                </a:tc>
              </a:tr>
              <a:tr h="411480">
                <a:tc>
                  <a:txBody>
                    <a:bodyPr/>
                    <a:lstStyle/>
                    <a:p>
                      <a:r>
                        <a:rPr sz="1300" b="0">
                          <a:solidFill>
                            <a:srgbClr val="1F2937"/>
                          </a:solidFill>
                        </a:rPr>
                        <a:t>Bir nechta yuzaki yara</a:t>
                      </a:r>
                    </a:p>
                  </a:txBody>
                  <a:tcPr marL="73152" marR="73152" marT="36576" marB="36576">
                    <a:solidFill>
                      <a:srgbClr val="E8EEF6"/>
                    </a:solidFill>
                  </a:tcPr>
                </a:tc>
                <a:tc>
                  <a:txBody>
                    <a:bodyPr/>
                    <a:lstStyle/>
                    <a:p>
                      <a:r>
                        <a:rPr sz="1300" b="0">
                          <a:solidFill>
                            <a:srgbClr val="1F2937"/>
                          </a:solidFill>
                        </a:rPr>
                        <a:t>Asosiy jarohat yaqinida takror ta‘sir</a:t>
                      </a:r>
                    </a:p>
                  </a:txBody>
                  <a:tcPr marL="73152" marR="73152" marT="36576" marB="36576">
                    <a:solidFill>
                      <a:srgbClr val="E8EEF6"/>
                    </a:solidFill>
                  </a:tcPr>
                </a:tc>
              </a:tr>
              <a:tr h="411480">
                <a:tc>
                  <a:txBody>
                    <a:bodyPr/>
                    <a:lstStyle/>
                    <a:p>
                      <a:r>
                        <a:rPr sz="1300" b="0">
                          <a:solidFill>
                            <a:srgbClr val="1F2937"/>
                          </a:solidFill>
                        </a:rPr>
                        <a:t>Barmoq amputatsiyasi</a:t>
                      </a:r>
                    </a:p>
                  </a:txBody>
                  <a:tcPr marL="73152" marR="73152" marT="36576" marB="36576">
                    <a:solidFill>
                      <a:srgbClr val="FFFFFF"/>
                    </a:solidFill>
                  </a:tcPr>
                </a:tc>
                <a:tc>
                  <a:txBody>
                    <a:bodyPr/>
                    <a:lstStyle/>
                    <a:p>
                      <a:r>
                        <a:rPr sz="1300" b="0">
                          <a:solidFill>
                            <a:srgbClr val="1F2937"/>
                          </a:solidFill>
                        </a:rPr>
                        <a:t>Turli sathda; baxtsiz hodisada — bir sathda</a:t>
                      </a:r>
                    </a:p>
                  </a:txBody>
                  <a:tcPr marL="73152" marR="73152" marT="36576" marB="36576">
                    <a:solidFill>
                      <a:srgbClr val="FFFFFF"/>
                    </a:solidFill>
                  </a:tcPr>
                </a:tc>
              </a:tr>
              <a:tr h="411480">
                <a:tc>
                  <a:txBody>
                    <a:bodyPr/>
                    <a:lstStyle/>
                    <a:p>
                      <a:r>
                        <a:rPr sz="1300" b="0">
                          <a:solidFill>
                            <a:srgbClr val="1F2937"/>
                          </a:solidFill>
                        </a:rPr>
                        <a:t>Jarohat tomoni</a:t>
                      </a:r>
                    </a:p>
                  </a:txBody>
                  <a:tcPr marL="73152" marR="73152" marT="36576" marB="36576">
                    <a:solidFill>
                      <a:srgbClr val="E8EEF6"/>
                    </a:solidFill>
                  </a:tcPr>
                </a:tc>
                <a:tc>
                  <a:txBody>
                    <a:bodyPr/>
                    <a:lstStyle/>
                    <a:p>
                      <a:r>
                        <a:rPr sz="1300" b="0">
                          <a:solidFill>
                            <a:srgbClr val="1F2937"/>
                          </a:solidFill>
                        </a:rPr>
                        <a:t>Asosan chap tomonda</a:t>
                      </a:r>
                    </a:p>
                  </a:txBody>
                  <a:tcPr marL="73152" marR="73152" marT="36576" marB="36576">
                    <a:solidFill>
                      <a:srgbClr val="E8EEF6"/>
                    </a:solidFill>
                  </a:tcPr>
                </a:tc>
              </a:tr>
              <a:tr h="411480">
                <a:tc>
                  <a:txBody>
                    <a:bodyPr/>
                    <a:lstStyle/>
                    <a:p>
                      <a:r>
                        <a:rPr sz="1300" b="0">
                          <a:solidFill>
                            <a:srgbClr val="1F2937"/>
                          </a:solidFill>
                        </a:rPr>
                        <a:t>Qurol turi</a:t>
                      </a:r>
                    </a:p>
                  </a:txBody>
                  <a:tcPr marL="73152" marR="73152" marT="36576" marB="36576">
                    <a:solidFill>
                      <a:srgbClr val="FFFFFF"/>
                    </a:solidFill>
                  </a:tcPr>
                </a:tc>
                <a:tc>
                  <a:txBody>
                    <a:bodyPr/>
                    <a:lstStyle/>
                    <a:p>
                      <a:r>
                        <a:rPr sz="1300" b="0">
                          <a:solidFill>
                            <a:srgbClr val="1F2937"/>
                          </a:solidFill>
                        </a:rPr>
                        <a:t>O‘tkir, o‘qotar; ba‘zan o‘tmas jism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O‘zini shikastlash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287, 287-288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simulyasiya yoki a‘zobuzarlik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chaqiriluvchining kaftida asosiy jarohat yaqinida bir nechta yuzaki kesma yara va barmoqlarning turli sathdagi amputatsiyasi bor.</a:t>
            </a:r>
          </a:p>
          <a:p>
            <a:pPr>
              <a:spcAft>
                <a:spcPts val="1200"/>
              </a:spcAft>
            </a:pPr>
            <a:r>
              <a:rPr sz="2200">
                <a:solidFill>
                  <a:srgbClr val="1F2937"/>
                </a:solidFill>
                <a:latin typeface="Calibri"/>
              </a:rPr>
              <a:t>▸  Shikastlanish asosan chap qo‘lda. Shaxs buni baxtsiz hodisa deb tushuntiradi.</a:t>
            </a:r>
          </a:p>
          <a:p>
            <a:pPr>
              <a:spcAft>
                <a:spcPts val="1200"/>
              </a:spcAft>
            </a:pPr>
            <a:r>
              <a:rPr sz="2200">
                <a:solidFill>
                  <a:srgbClr val="1F2937"/>
                </a:solidFill>
                <a:latin typeface="Calibri"/>
              </a:rPr>
              <a:t>▸  Farq: simulyasiyada sog‘lom odam mavjud bo‘lmagan kasallikni ko‘rsatadi. A‘zobuzarlikda esa real jarohat o‘ziga yetkaziladi.</a:t>
            </a:r>
          </a:p>
          <a:p>
            <a:pPr>
              <a:spcAft>
                <a:spcPts val="1200"/>
              </a:spcAft>
            </a:pPr>
            <a:r>
              <a:rPr sz="2200">
                <a:solidFill>
                  <a:srgbClr val="1F2937"/>
                </a:solidFill>
                <a:latin typeface="Calibri"/>
              </a:rPr>
              <a:t>▸  Savol: belgilar baxtsiz hodisaga mosmi yoki o‘zini shikastlashga? Javob: belgilar majmui a‘zobuzarlikni ko‘rsatadi; tergov eksperimenti tavsiya etiladi.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287, 285, 287, 287-288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Jins noto‘g‘ri aniqlanganda, hujjat berishda, nikohni bekor qilishda yoki jinoyat tergovida tekshiruv zarur bo‘ladi.</a:t>
            </a:r>
          </a:p>
          <a:p>
            <a:pPr>
              <a:spcAft>
                <a:spcPts val="800"/>
              </a:spcAft>
            </a:pPr>
            <a:r>
              <a:rPr sz="1800">
                <a:solidFill>
                  <a:srgbClr val="1F2937"/>
                </a:solidFill>
                <a:latin typeface="Calibri"/>
              </a:rPr>
              <a:t>▸  Germafroditizm — bir paytning o‘zida ikki jinsga xos jinsiy a‘zolar bo‘lishi; chin va soxta turi farqlanadi.</a:t>
            </a:r>
          </a:p>
          <a:p>
            <a:pPr>
              <a:spcAft>
                <a:spcPts val="800"/>
              </a:spcAft>
            </a:pPr>
            <a:r>
              <a:rPr sz="1800">
                <a:solidFill>
                  <a:srgbClr val="1F2937"/>
                </a:solidFill>
                <a:latin typeface="Calibri"/>
              </a:rPr>
              <a:t>▸  Anamnez, tibbiy hujjatlar, antropometriya, klinik-laborator tekshiruv va xromosoma tahlili qo‘llanadi.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226197"/>
                <a:gridCol w="2069207"/>
                <a:gridCol w="1992570"/>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Jinsiy bez</a:t>
                      </a:r>
                    </a:p>
                  </a:txBody>
                  <a:tcPr marL="73152" marR="73152" marT="36576" marB="36576">
                    <a:solidFill>
                      <a:srgbClr val="0B1F3A"/>
                    </a:solidFill>
                  </a:tcPr>
                </a:tc>
                <a:tc>
                  <a:txBody>
                    <a:bodyPr/>
                    <a:lstStyle/>
                    <a:p>
                      <a:r>
                        <a:rPr sz="1300" b="1">
                          <a:solidFill>
                            <a:srgbClr val="FFFFFF"/>
                          </a:solidFill>
                        </a:rPr>
                        <a:t>Tashqi belgi</a:t>
                      </a:r>
                    </a:p>
                  </a:txBody>
                  <a:tcPr marL="73152" marR="73152" marT="36576" marB="36576">
                    <a:solidFill>
                      <a:srgbClr val="0B1F3A"/>
                    </a:solidFill>
                  </a:tcPr>
                </a:tc>
              </a:tr>
              <a:tr h="411480">
                <a:tc>
                  <a:txBody>
                    <a:bodyPr/>
                    <a:lstStyle/>
                    <a:p>
                      <a:r>
                        <a:rPr sz="1200" b="0">
                          <a:solidFill>
                            <a:srgbClr val="1F2937"/>
                          </a:solidFill>
                        </a:rPr>
                        <a:t>Chin</a:t>
                      </a:r>
                    </a:p>
                  </a:txBody>
                  <a:tcPr marL="73152" marR="73152" marT="36576" marB="36576">
                    <a:solidFill>
                      <a:srgbClr val="E8EEF6"/>
                    </a:solidFill>
                  </a:tcPr>
                </a:tc>
                <a:tc>
                  <a:txBody>
                    <a:bodyPr/>
                    <a:lstStyle/>
                    <a:p>
                      <a:r>
                        <a:rPr sz="1200" b="0">
                          <a:solidFill>
                            <a:srgbClr val="1F2937"/>
                          </a:solidFill>
                        </a:rPr>
                        <a:t>Erkak va ayol bezlari birga</a:t>
                      </a:r>
                    </a:p>
                  </a:txBody>
                  <a:tcPr marL="73152" marR="73152" marT="36576" marB="36576">
                    <a:solidFill>
                      <a:srgbClr val="E8EEF6"/>
                    </a:solidFill>
                  </a:tcPr>
                </a:tc>
                <a:tc>
                  <a:txBody>
                    <a:bodyPr/>
                    <a:lstStyle/>
                    <a:p>
                      <a:r>
                        <a:rPr sz="1200" b="0">
                          <a:solidFill>
                            <a:srgbClr val="1F2937"/>
                          </a:solidFill>
                        </a:rPr>
                        <a:t>Erkak yoki ayolga o‘xshash</a:t>
                      </a:r>
                    </a:p>
                  </a:txBody>
                  <a:tcPr marL="73152" marR="73152" marT="36576" marB="36576">
                    <a:solidFill>
                      <a:srgbClr val="E8EEF6"/>
                    </a:solidFill>
                  </a:tcPr>
                </a:tc>
              </a:tr>
              <a:tr h="411480">
                <a:tc>
                  <a:txBody>
                    <a:bodyPr/>
                    <a:lstStyle/>
                    <a:p>
                      <a:r>
                        <a:rPr sz="1200" b="0">
                          <a:solidFill>
                            <a:srgbClr val="1F2937"/>
                          </a:solidFill>
                        </a:rPr>
                        <a:t>Soxta erkak</a:t>
                      </a:r>
                    </a:p>
                  </a:txBody>
                  <a:tcPr marL="73152" marR="73152" marT="36576" marB="36576">
                    <a:solidFill>
                      <a:srgbClr val="FFFFFF"/>
                    </a:solidFill>
                  </a:tcPr>
                </a:tc>
                <a:tc>
                  <a:txBody>
                    <a:bodyPr/>
                    <a:lstStyle/>
                    <a:p>
                      <a:r>
                        <a:rPr sz="1200" b="0">
                          <a:solidFill>
                            <a:srgbClr val="1F2937"/>
                          </a:solidFill>
                        </a:rPr>
                        <a:t>Yorg‘oq (spermatogenez)</a:t>
                      </a:r>
                    </a:p>
                  </a:txBody>
                  <a:tcPr marL="73152" marR="73152" marT="36576" marB="36576">
                    <a:solidFill>
                      <a:srgbClr val="FFFFFF"/>
                    </a:solidFill>
                  </a:tcPr>
                </a:tc>
                <a:tc>
                  <a:txBody>
                    <a:bodyPr/>
                    <a:lstStyle/>
                    <a:p>
                      <a:r>
                        <a:rPr sz="1200" b="0">
                          <a:solidFill>
                            <a:srgbClr val="1F2937"/>
                          </a:solidFill>
                        </a:rPr>
                        <a:t>Ayolga o‘xshash belgilar</a:t>
                      </a:r>
                    </a:p>
                  </a:txBody>
                  <a:tcPr marL="73152" marR="73152" marT="36576" marB="36576">
                    <a:solidFill>
                      <a:srgbClr val="FFFFFF"/>
                    </a:solidFill>
                  </a:tcPr>
                </a:tc>
              </a:tr>
              <a:tr h="411480">
                <a:tc>
                  <a:txBody>
                    <a:bodyPr/>
                    <a:lstStyle/>
                    <a:p>
                      <a:r>
                        <a:rPr sz="1200" b="0">
                          <a:solidFill>
                            <a:srgbClr val="1F2937"/>
                          </a:solidFill>
                        </a:rPr>
                        <a:t>Soxta ayol</a:t>
                      </a:r>
                    </a:p>
                  </a:txBody>
                  <a:tcPr marL="73152" marR="73152" marT="36576" marB="36576">
                    <a:solidFill>
                      <a:srgbClr val="E8EEF6"/>
                    </a:solidFill>
                  </a:tcPr>
                </a:tc>
                <a:tc>
                  <a:txBody>
                    <a:bodyPr/>
                    <a:lstStyle/>
                    <a:p>
                      <a:r>
                        <a:rPr sz="1200" b="0">
                          <a:solidFill>
                            <a:srgbClr val="1F2937"/>
                          </a:solidFill>
                        </a:rPr>
                        <a:t>Tuxumdon (ovogenez)</a:t>
                      </a:r>
                    </a:p>
                  </a:txBody>
                  <a:tcPr marL="73152" marR="73152" marT="36576" marB="36576">
                    <a:solidFill>
                      <a:srgbClr val="E8EEF6"/>
                    </a:solidFill>
                  </a:tcPr>
                </a:tc>
                <a:tc>
                  <a:txBody>
                    <a:bodyPr/>
                    <a:lstStyle/>
                    <a:p>
                      <a:r>
                        <a:rPr sz="1200" b="0">
                          <a:solidFill>
                            <a:srgbClr val="1F2937"/>
                          </a:solidFill>
                        </a:rPr>
                        <a:t>Erkakka o‘xshash belgilar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Germafroditizm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yetuklikni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Jinsiy yetuklik — salomatlikka zarar bermay jinsiy hayot olib borishga imkon beradigan rivojlanish darajasi. Ayollarda jinsiy aloqa, homiladorlik, tug‘ish va emizish qobiliyatini qamraydi.</a:t>
            </a:r>
          </a:p>
          <a:p>
            <a:pPr>
              <a:spcAft>
                <a:spcPts val="1200"/>
              </a:spcAft>
            </a:pPr>
            <a:r>
              <a:rPr sz="2000">
                <a:solidFill>
                  <a:srgbClr val="1F2937"/>
                </a:solidFill>
                <a:latin typeface="Calibri"/>
              </a:rPr>
              <a:t>▸  Odatda 14 yoshga to‘lmaganlar jinsiy yetilmagan hisoblanadi. Yetuklikni aniqlash masalasi 14 yoshdan nikoh yoshigacha bo‘lgan oraliqda tug‘iladi.</a:t>
            </a:r>
          </a:p>
          <a:p>
            <a:pPr>
              <a:spcAft>
                <a:spcPts val="1200"/>
              </a:spcAft>
            </a:pPr>
            <a:r>
              <a:rPr sz="2000">
                <a:solidFill>
                  <a:srgbClr val="1F2937"/>
                </a:solidFill>
                <a:latin typeface="Calibri"/>
              </a:rPr>
              <a:t>▸  Qizlarda tana uzunligi tik holatda 150 sm dan, o‘tirganda 80 sm dan kam bo‘lmasligi kerak. Ko‘krak aylanasi tinch holatda 78–80 sm dan kam bo‘lmasligi lozim.</a:t>
            </a:r>
          </a:p>
          <a:p>
            <a:pPr>
              <a:spcAft>
                <a:spcPts val="1200"/>
              </a:spcAft>
            </a:pPr>
            <a:r>
              <a:rPr sz="2000">
                <a:solidFill>
                  <a:srgbClr val="1F2937"/>
                </a:solidFill>
                <a:latin typeface="Calibri"/>
              </a:rPr>
              <a:t>▸  Tos o‘lchamlari kamida: yonbosh suyaklari ustki o‘siqlari oralig‘i 26–27 sm, katta ko‘stlar oralig‘i 29 sm, tashqi konyugata 17–18 sm. Bu ko‘rsatkichlar nisbiy ahamiyatga ega.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Bokiralik va qizlik pardasi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Bokiralik asosan qizlik pardasining anatomik butunligi bilan belgilanadi.</a:t>
            </a:r>
          </a:p>
          <a:p>
            <a:pPr>
              <a:spcAft>
                <a:spcPts val="800"/>
              </a:spcAft>
            </a:pPr>
            <a:r>
              <a:rPr sz="1800">
                <a:solidFill>
                  <a:srgbClr val="1F2937"/>
                </a:solidFill>
                <a:latin typeface="Calibri"/>
              </a:rPr>
              <a:t>▸  Parda — qin shilliq qavatining duplikaturasi; unda asos, erkin chet va teshik farqlanadi.</a:t>
            </a:r>
          </a:p>
          <a:p>
            <a:pPr>
              <a:spcAft>
                <a:spcPts val="800"/>
              </a:spcAft>
            </a:pPr>
            <a:r>
              <a:rPr sz="1800">
                <a:solidFill>
                  <a:srgbClr val="1F2937"/>
                </a:solidFill>
                <a:latin typeface="Calibri"/>
              </a:rPr>
              <a:t>▸  Odatda birinchi aloqada defloratsiya bo‘ladi; parda barmoq, jism yoki operatsiyada ham buzilishi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40084"/>
                <a:gridCol w="2056434"/>
                <a:gridCol w="2291455"/>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Shakllari</a:t>
                      </a:r>
                    </a:p>
                  </a:txBody>
                  <a:tcPr marL="73152" marR="73152" marT="36576" marB="36576">
                    <a:solidFill>
                      <a:srgbClr val="0B1F3A"/>
                    </a:solidFill>
                  </a:tcPr>
                </a:tc>
                <a:tc>
                  <a:txBody>
                    <a:bodyPr/>
                    <a:lstStyle/>
                    <a:p>
                      <a:r>
                        <a:rPr sz="1300" b="1">
                          <a:solidFill>
                            <a:srgbClr val="FFFFFF"/>
                          </a:solidFill>
                        </a:rPr>
                        <a:t>Uchrashi</a:t>
                      </a:r>
                    </a:p>
                  </a:txBody>
                  <a:tcPr marL="73152" marR="73152" marT="36576" marB="36576">
                    <a:solidFill>
                      <a:srgbClr val="0B1F3A"/>
                    </a:solidFill>
                  </a:tcPr>
                </a:tc>
              </a:tr>
              <a:tr h="411480">
                <a:tc>
                  <a:txBody>
                    <a:bodyPr/>
                    <a:lstStyle/>
                    <a:p>
                      <a:r>
                        <a:rPr sz="1200" b="0">
                          <a:solidFill>
                            <a:srgbClr val="1F2937"/>
                          </a:solidFill>
                        </a:rPr>
                        <a:t>1-guruh</a:t>
                      </a:r>
                    </a:p>
                  </a:txBody>
                  <a:tcPr marL="73152" marR="73152" marT="36576" marB="36576">
                    <a:solidFill>
                      <a:srgbClr val="E8EEF6"/>
                    </a:solidFill>
                  </a:tcPr>
                </a:tc>
                <a:tc>
                  <a:txBody>
                    <a:bodyPr/>
                    <a:lstStyle/>
                    <a:p>
                      <a:r>
                        <a:rPr sz="1200" b="0">
                          <a:solidFill>
                            <a:srgbClr val="1F2937"/>
                          </a:solidFill>
                        </a:rPr>
                        <a:t>Halqasimon, yarim oysimon, naysimon</a:t>
                      </a:r>
                    </a:p>
                  </a:txBody>
                  <a:tcPr marL="73152" marR="73152" marT="36576" marB="36576">
                    <a:solidFill>
                      <a:srgbClr val="E8EEF6"/>
                    </a:solidFill>
                  </a:tcPr>
                </a:tc>
                <a:tc>
                  <a:txBody>
                    <a:bodyPr/>
                    <a:lstStyle/>
                    <a:p>
                      <a:r>
                        <a:rPr sz="1200" b="0">
                          <a:solidFill>
                            <a:srgbClr val="1F2937"/>
                          </a:solidFill>
                        </a:rPr>
                        <a:t>Odatdagi, ko‘p uchraydi</a:t>
                      </a:r>
                    </a:p>
                  </a:txBody>
                  <a:tcPr marL="73152" marR="73152" marT="36576" marB="36576">
                    <a:solidFill>
                      <a:srgbClr val="E8EEF6"/>
                    </a:solidFill>
                  </a:tcPr>
                </a:tc>
              </a:tr>
              <a:tr h="411480">
                <a:tc>
                  <a:txBody>
                    <a:bodyPr/>
                    <a:lstStyle/>
                    <a:p>
                      <a:r>
                        <a:rPr sz="1200" b="0">
                          <a:solidFill>
                            <a:srgbClr val="1F2937"/>
                          </a:solidFill>
                        </a:rPr>
                        <a:t>2-guruh</a:t>
                      </a:r>
                    </a:p>
                  </a:txBody>
                  <a:tcPr marL="73152" marR="73152" marT="36576" marB="36576">
                    <a:solidFill>
                      <a:srgbClr val="FFFFFF"/>
                    </a:solidFill>
                  </a:tcPr>
                </a:tc>
                <a:tc>
                  <a:txBody>
                    <a:bodyPr/>
                    <a:lstStyle/>
                    <a:p>
                      <a:r>
                        <a:rPr sz="1200" b="0">
                          <a:solidFill>
                            <a:srgbClr val="1F2937"/>
                          </a:solidFill>
                        </a:rPr>
                        <a:t>Bo‘lakchali, spiralsimon, tishsimon</a:t>
                      </a:r>
                    </a:p>
                  </a:txBody>
                  <a:tcPr marL="73152" marR="73152" marT="36576" marB="36576">
                    <a:solidFill>
                      <a:srgbClr val="FFFFFF"/>
                    </a:solidFill>
                  </a:tcPr>
                </a:tc>
                <a:tc>
                  <a:txBody>
                    <a:bodyPr/>
                    <a:lstStyle/>
                    <a:p>
                      <a:r>
                        <a:rPr sz="1200" b="0">
                          <a:solidFill>
                            <a:srgbClr val="1F2937"/>
                          </a:solidFill>
                        </a:rPr>
                        <a:t>G‘ayrioddiy, kam</a:t>
                      </a:r>
                    </a:p>
                  </a:txBody>
                  <a:tcPr marL="73152" marR="73152" marT="36576" marB="36576">
                    <a:solidFill>
                      <a:srgbClr val="FFFFFF"/>
                    </a:solidFill>
                  </a:tcPr>
                </a:tc>
              </a:tr>
              <a:tr h="411480">
                <a:tc>
                  <a:txBody>
                    <a:bodyPr/>
                    <a:lstStyle/>
                    <a:p>
                      <a:r>
                        <a:rPr sz="1200" b="0">
                          <a:solidFill>
                            <a:srgbClr val="1F2937"/>
                          </a:solidFill>
                        </a:rPr>
                        <a:t>3-guruh</a:t>
                      </a:r>
                    </a:p>
                  </a:txBody>
                  <a:tcPr marL="73152" marR="73152" marT="36576" marB="36576">
                    <a:solidFill>
                      <a:srgbClr val="E8EEF6"/>
                    </a:solidFill>
                  </a:tcPr>
                </a:tc>
                <a:tc>
                  <a:txBody>
                    <a:bodyPr/>
                    <a:lstStyle/>
                    <a:p>
                      <a:r>
                        <a:rPr sz="1200" b="0">
                          <a:solidFill>
                            <a:srgbClr val="1F2937"/>
                          </a:solidFill>
                        </a:rPr>
                        <a:t>Ikki oynali, to‘siqli, teshigi yo‘q</a:t>
                      </a:r>
                    </a:p>
                  </a:txBody>
                  <a:tcPr marL="73152" marR="73152" marT="36576" marB="36576">
                    <a:solidFill>
                      <a:srgbClr val="E8EEF6"/>
                    </a:solidFill>
                  </a:tcPr>
                </a:tc>
                <a:tc>
                  <a:txBody>
                    <a:bodyPr/>
                    <a:lstStyle/>
                    <a:p>
                      <a:r>
                        <a:rPr sz="1200" b="0">
                          <a:solidFill>
                            <a:srgbClr val="1F2937"/>
                          </a:solidFill>
                        </a:rPr>
                        <a:t>Juda kam uchraydi</a:t>
                      </a:r>
                    </a:p>
                  </a:txBody>
                  <a:tcPr marL="73152" marR="73152" marT="36576" marB="36576">
                    <a:solidFill>
                      <a:srgbClr val="E8EEF6"/>
                    </a:solidFill>
                  </a:tcPr>
                </a:tc>
              </a:tr>
              <a:tr h="411480">
                <a:tc>
                  <a:txBody>
                    <a:bodyPr/>
                    <a:lstStyle/>
                    <a:p>
                      <a:r>
                        <a:rPr sz="1200" b="0">
                          <a:solidFill>
                            <a:srgbClr val="1F2937"/>
                          </a:solidFill>
                        </a:rPr>
                        <a:t>Istisno</a:t>
                      </a:r>
                    </a:p>
                  </a:txBody>
                  <a:tcPr marL="73152" marR="73152" marT="36576" marB="36576">
                    <a:solidFill>
                      <a:srgbClr val="FFFFFF"/>
                    </a:solidFill>
                  </a:tcPr>
                </a:tc>
                <a:tc>
                  <a:txBody>
                    <a:bodyPr/>
                    <a:lstStyle/>
                    <a:p>
                      <a:r>
                        <a:rPr sz="1200" b="0">
                          <a:solidFill>
                            <a:srgbClr val="1F2937"/>
                          </a:solidFill>
                        </a:rPr>
                        <a:t>Elastik, past, o‘yiqli parda</a:t>
                      </a:r>
                    </a:p>
                  </a:txBody>
                  <a:tcPr marL="73152" marR="73152" marT="36576" marB="36576">
                    <a:solidFill>
                      <a:srgbClr val="FFFFFF"/>
                    </a:solidFill>
                  </a:tcPr>
                </a:tc>
                <a:tc>
                  <a:txBody>
                    <a:bodyPr/>
                    <a:lstStyle/>
                    <a:p>
                      <a:r>
                        <a:rPr sz="1200" b="0">
                          <a:solidFill>
                            <a:srgbClr val="1F2937"/>
                          </a:solidFill>
                        </a:rPr>
                        <a:t>Aloqada defloratsiya bo‘lmasligi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Parda shakllari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290, 291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Qizlik pardasi yorig‘ining bitish davrlari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Yupqa, elastik pardalarda yoriqlar qalin, go‘shtsimon pardalardagiga nisbatan tezroq bitadi.</a:t>
            </a:r>
          </a:p>
          <a:p>
            <a:pPr>
              <a:spcAft>
                <a:spcPts val="800"/>
              </a:spcAft>
            </a:pPr>
            <a:r>
              <a:rPr sz="1800">
                <a:solidFill>
                  <a:srgbClr val="1F2937"/>
                </a:solidFill>
                <a:latin typeface="Calibri"/>
              </a:rPr>
              <a:t>▸  Yoriq odatda pastki segmentda (soat 5–7); tabiiy o‘yiq istalgan segmentda bo‘lishi mumkin.</a:t>
            </a:r>
          </a:p>
          <a:p>
            <a:pPr>
              <a:spcAft>
                <a:spcPts val="800"/>
              </a:spcAft>
            </a:pPr>
            <a:r>
              <a:rPr sz="1800">
                <a:solidFill>
                  <a:srgbClr val="1F2937"/>
                </a:solidFill>
                <a:latin typeface="Calibri"/>
              </a:rPr>
              <a:t>▸  Diqqat: yoriq ≠ o‘yiq. O‘yiq asosgacha yetmaydi, cheti oddiy; eski yoriq cheti qalin, chandiqli.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 qonash, shish, laxta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Shish kamayadi, oqimtir qoplama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1-hafta oxiri: granulyasiya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2-hafta oxiri–3-hafta: chandiq</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Uch haftadan so‘ng: imkon yo‘q</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Yoriqning bitish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291, 292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jins, yetuklik, bokiralik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chin va soxta germafroditizm nimasi bilan farq qiladi? Chinida ikkala jins bezi bo‘ladi, soxtasida bitta jins bezi bo‘lib, tashqi belgilar boshqa jinsga o‘xshaydi.</a:t>
            </a:r>
          </a:p>
          <a:p>
            <a:pPr>
              <a:spcAft>
                <a:spcPts val="1200"/>
              </a:spcAft>
            </a:pPr>
            <a:r>
              <a:rPr sz="2000">
                <a:solidFill>
                  <a:srgbClr val="1F2937"/>
                </a:solidFill>
                <a:latin typeface="Calibri"/>
              </a:rPr>
              <a:t>▸  Savol: qaysi yoshgacha shaxs odatda jinsiy jihatdan yetilmagan hisoblanadi? Javob: 14 yoshga to‘lmaganlar yetilmagan deb qaraladi.</a:t>
            </a:r>
          </a:p>
          <a:p>
            <a:pPr>
              <a:spcAft>
                <a:spcPts val="1200"/>
              </a:spcAft>
            </a:pPr>
            <a:r>
              <a:rPr sz="2000">
                <a:solidFill>
                  <a:srgbClr val="1F2937"/>
                </a:solidFill>
                <a:latin typeface="Calibri"/>
              </a:rPr>
              <a:t>▸  Savol: tos va tana o‘lchamlari qat’iy mezonmi? Yo‘q, ular nisbiy ahamiyatga ega. Kichikroq ko‘rsatkichda ham ayol xavfsiz tarzda farzand ko‘rishi mumkin.</a:t>
            </a:r>
          </a:p>
          <a:p>
            <a:pPr>
              <a:spcAft>
                <a:spcPts val="1200"/>
              </a:spcAft>
            </a:pPr>
            <a:r>
              <a:rPr sz="2000">
                <a:solidFill>
                  <a:srgbClr val="1F2937"/>
                </a:solidFill>
                <a:latin typeface="Calibri"/>
              </a:rPr>
              <a:t>▸  Diqqat: xato qilish xavfi! Qizlik pardasidagi yoriq ≠ tabiiy o‘yiq. Yoriq ko‘pincha pastki segmentda, soat siferblati bo‘yicha 5–7 oralig‘ida bo‘ladi. Tabiiy o‘yiq aksariyat asosgacha yetmaydi.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288, 289, 292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Nasl qoldirish qobiliyatini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Erkakda bu qobiliyat jinsiy aloqa qilish va urug‘lantirishni, ayolda jinsiy aloqa qilish, homilador bo‘lish va tug‘ish imkoniyatini bildiradi.</a:t>
            </a:r>
          </a:p>
          <a:p>
            <a:pPr>
              <a:spcAft>
                <a:spcPts val="1200"/>
              </a:spcAft>
            </a:pPr>
            <a:r>
              <a:rPr sz="2000">
                <a:solidFill>
                  <a:srgbClr val="1F2937"/>
                </a:solidFill>
                <a:latin typeface="Calibri"/>
              </a:rPr>
              <a:t>▸  Erkakda impotensiya markaziy nerv tizimi kasalliklari, tashqi jinsiy a’zo nuqsonlari va endokrin kasalliklar bilan bog‘liq bo‘ladi. Nevrotik reaksiyadan funksional impotensiya ham chiqishi mumkin.</a:t>
            </a:r>
          </a:p>
          <a:p>
            <a:pPr>
              <a:spcAft>
                <a:spcPts val="1200"/>
              </a:spcAft>
            </a:pPr>
            <a:r>
              <a:rPr sz="2000">
                <a:solidFill>
                  <a:srgbClr val="1F2937"/>
                </a:solidFill>
                <a:latin typeface="Calibri"/>
              </a:rPr>
              <a:t>▸  Urug‘lantirish qobiliyati eyakulyatning laboratoriya tekshiruvida aniqlanadi. Harakatchan normal spermatozoidlar topilsa, qobiliyat tasdiqlanadi.</a:t>
            </a:r>
          </a:p>
          <a:p>
            <a:pPr>
              <a:spcAft>
                <a:spcPts val="1200"/>
              </a:spcAft>
            </a:pPr>
            <a:r>
              <a:rPr sz="2000">
                <a:solidFill>
                  <a:srgbClr val="1F2937"/>
                </a:solidFill>
                <a:latin typeface="Calibri"/>
              </a:rPr>
              <a:t>▸  Ayolda qin atreziyasi, aplaziyasi, chandiqlar, o‘smalar va vaginizm jinsiy aloqaga to‘sqinlik qiladi. Tor tos va tos suyaklarining deformatsiyasi tabiiy tug‘ishga monelik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292, 292-293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Homiladorlik va bo‘lib o‘tgan tug‘ruqni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Kechayotgan homiladorlikda hayz to‘xtaydi, sut bezlari kattalashadi va pigmentatsiya kuchayadi. Laboratoriyada xorial gonadotropin aniqlanadi.</a:t>
            </a:r>
          </a:p>
          <a:p>
            <a:pPr>
              <a:spcAft>
                <a:spcPts val="1200"/>
              </a:spcAft>
            </a:pPr>
            <a:r>
              <a:rPr sz="2200">
                <a:solidFill>
                  <a:srgbClr val="1F2937"/>
                </a:solidFill>
                <a:latin typeface="Calibri"/>
              </a:rPr>
              <a:t>▸  Ishonchli belgilar: auskultatsiyada homila yuragining urishi hamda palpatsiya va ultratovushda homila qismlari va qimirlashi aniqlanadi.</a:t>
            </a:r>
          </a:p>
          <a:p>
            <a:pPr>
              <a:spcAft>
                <a:spcPts val="1200"/>
              </a:spcAft>
            </a:pPr>
            <a:r>
              <a:rPr sz="2200">
                <a:solidFill>
                  <a:srgbClr val="1F2937"/>
                </a:solidFill>
                <a:latin typeface="Calibri"/>
              </a:rPr>
              <a:t>▸  Tug‘ruqdan so‘ng dastlabki kunlarda sut bezlari shishgan bo‘ladi, so‘rg‘ich atrofi to‘qroq tusga kiradi, ajralma chiqadi. Jinsiy oraliq keng bo‘ladi.</a:t>
            </a:r>
          </a:p>
          <a:p>
            <a:pPr>
              <a:spcAft>
                <a:spcPts val="1200"/>
              </a:spcAft>
            </a:pPr>
            <a:r>
              <a:rPr sz="2200">
                <a:solidFill>
                  <a:srgbClr val="1F2937"/>
                </a:solidFill>
                <a:latin typeface="Calibri"/>
              </a:rPr>
              <a:t>▸  Tug‘gan ayolda bachadon bo‘yinchasining tashqi teshigi yoriqsimon, tug‘magan ayolda odatda dumaloq shaklda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293, 293-294, 294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turlari va jinoiy abort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Abort — homiladorlikning 22 haftasigacha uzilishi; u o‘z-o‘zidan yoki sun’iy bo‘ladi.</a:t>
            </a:r>
          </a:p>
          <a:p>
            <a:pPr>
              <a:spcAft>
                <a:spcPts val="800"/>
              </a:spcAft>
            </a:pPr>
            <a:r>
              <a:rPr sz="1800">
                <a:solidFill>
                  <a:srgbClr val="1F2937"/>
                </a:solidFill>
                <a:latin typeface="Calibri"/>
              </a:rPr>
              <a:t>▸  Mexanik usulda shilinma, qontalash, yara; kimyoviy usulda kuyish va zaharlanish alomatlari topiladi.</a:t>
            </a:r>
          </a:p>
          <a:p>
            <a:pPr>
              <a:spcAft>
                <a:spcPts val="800"/>
              </a:spcAft>
            </a:pPr>
            <a:r>
              <a:rPr sz="1800">
                <a:solidFill>
                  <a:srgbClr val="1F2937"/>
                </a:solidFill>
                <a:latin typeface="Calibri"/>
              </a:rPr>
              <a:t>▸  Havo emboliyasi, shok, o‘tkir qon ketish, perforatsiya va infeksiya o‘limning sababi bo‘lishi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43345"/>
                <a:gridCol w="1786478"/>
                <a:gridCol w="2358151"/>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Kim / nima</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O‘z-o‘zidan</a:t>
                      </a:r>
                    </a:p>
                  </a:txBody>
                  <a:tcPr marL="73152" marR="73152" marT="36576" marB="36576">
                    <a:solidFill>
                      <a:srgbClr val="E8EEF6"/>
                    </a:solidFill>
                  </a:tcPr>
                </a:tc>
                <a:tc>
                  <a:txBody>
                    <a:bodyPr/>
                    <a:lstStyle/>
                    <a:p>
                      <a:r>
                        <a:rPr sz="1200" b="0">
                          <a:solidFill>
                            <a:srgbClr val="1F2937"/>
                          </a:solidFill>
                        </a:rPr>
                        <a:t>Kasallik, zaharlanish</a:t>
                      </a:r>
                    </a:p>
                  </a:txBody>
                  <a:tcPr marL="73152" marR="73152" marT="36576" marB="36576">
                    <a:solidFill>
                      <a:srgbClr val="E8EEF6"/>
                    </a:solidFill>
                  </a:tcPr>
                </a:tc>
                <a:tc>
                  <a:txBody>
                    <a:bodyPr/>
                    <a:lstStyle/>
                    <a:p>
                      <a:r>
                        <a:rPr sz="1200" b="0">
                          <a:solidFill>
                            <a:srgbClr val="1F2937"/>
                          </a:solidFill>
                        </a:rPr>
                        <a:t>Ona yoki homila patologiyasi</a:t>
                      </a:r>
                    </a:p>
                  </a:txBody>
                  <a:tcPr marL="73152" marR="73152" marT="36576" marB="36576">
                    <a:solidFill>
                      <a:srgbClr val="E8EEF6"/>
                    </a:solidFill>
                  </a:tcPr>
                </a:tc>
              </a:tr>
              <a:tr h="411480">
                <a:tc>
                  <a:txBody>
                    <a:bodyPr/>
                    <a:lstStyle/>
                    <a:p>
                      <a:r>
                        <a:rPr sz="1200" b="0">
                          <a:solidFill>
                            <a:srgbClr val="1F2937"/>
                          </a:solidFill>
                        </a:rPr>
                        <a:t>Tibbiy</a:t>
                      </a:r>
                    </a:p>
                  </a:txBody>
                  <a:tcPr marL="73152" marR="73152" marT="36576" marB="36576">
                    <a:solidFill>
                      <a:srgbClr val="FFFFFF"/>
                    </a:solidFill>
                  </a:tcPr>
                </a:tc>
                <a:tc>
                  <a:txBody>
                    <a:bodyPr/>
                    <a:lstStyle/>
                    <a:p>
                      <a:r>
                        <a:rPr sz="1200" b="0">
                          <a:solidFill>
                            <a:srgbClr val="1F2937"/>
                          </a:solidFill>
                        </a:rPr>
                        <a:t>Akusher-ginekolog</a:t>
                      </a:r>
                    </a:p>
                  </a:txBody>
                  <a:tcPr marL="73152" marR="73152" marT="36576" marB="36576">
                    <a:solidFill>
                      <a:srgbClr val="FFFFFF"/>
                    </a:solidFill>
                  </a:tcPr>
                </a:tc>
                <a:tc>
                  <a:txBody>
                    <a:bodyPr/>
                    <a:lstStyle/>
                    <a:p>
                      <a:r>
                        <a:rPr sz="1200" b="0">
                          <a:solidFill>
                            <a:srgbClr val="1F2937"/>
                          </a:solidFill>
                        </a:rPr>
                        <a:t>12 hafta: xohish; keyin ko‘rsatma</a:t>
                      </a:r>
                    </a:p>
                  </a:txBody>
                  <a:tcPr marL="73152" marR="73152" marT="36576" marB="36576">
                    <a:solidFill>
                      <a:srgbClr val="FFFFFF"/>
                    </a:solidFill>
                  </a:tcPr>
                </a:tc>
              </a:tr>
              <a:tr h="411480">
                <a:tc>
                  <a:txBody>
                    <a:bodyPr/>
                    <a:lstStyle/>
                    <a:p>
                      <a:r>
                        <a:rPr sz="1200" b="0">
                          <a:solidFill>
                            <a:srgbClr val="1F2937"/>
                          </a:solidFill>
                        </a:rPr>
                        <a:t>Jinoiy</a:t>
                      </a:r>
                    </a:p>
                  </a:txBody>
                  <a:tcPr marL="73152" marR="73152" marT="36576" marB="36576">
                    <a:solidFill>
                      <a:srgbClr val="E8EEF6"/>
                    </a:solidFill>
                  </a:tcPr>
                </a:tc>
                <a:tc>
                  <a:txBody>
                    <a:bodyPr/>
                    <a:lstStyle/>
                    <a:p>
                      <a:r>
                        <a:rPr sz="1200" b="0">
                          <a:solidFill>
                            <a:srgbClr val="1F2937"/>
                          </a:solidFill>
                        </a:rPr>
                        <a:t>Tayyorgarliksiz shaxs</a:t>
                      </a:r>
                    </a:p>
                  </a:txBody>
                  <a:tcPr marL="73152" marR="73152" marT="36576" marB="36576">
                    <a:solidFill>
                      <a:srgbClr val="E8EEF6"/>
                    </a:solidFill>
                  </a:tcPr>
                </a:tc>
                <a:tc>
                  <a:txBody>
                    <a:bodyPr/>
                    <a:lstStyle/>
                    <a:p>
                      <a:r>
                        <a:rPr sz="1200" b="0">
                          <a:solidFill>
                            <a:srgbClr val="1F2937"/>
                          </a:solidFill>
                        </a:rPr>
                        <a:t>Jinoyat kodeksi 114-moddasi</a:t>
                      </a:r>
                    </a:p>
                  </a:txBody>
                  <a:tcPr marL="73152" marR="73152" marT="36576" marB="36576">
                    <a:solidFill>
                      <a:srgbClr val="E8EEF6"/>
                    </a:solidFill>
                  </a:tcPr>
                </a:tc>
              </a:tr>
              <a:tr h="411480">
                <a:tc>
                  <a:txBody>
                    <a:bodyPr/>
                    <a:lstStyle/>
                    <a:p>
                      <a:r>
                        <a:rPr sz="1200" b="0">
                          <a:solidFill>
                            <a:srgbClr val="1F2937"/>
                          </a:solidFill>
                        </a:rPr>
                        <a:t>Jinoiy usullar</a:t>
                      </a:r>
                    </a:p>
                  </a:txBody>
                  <a:tcPr marL="73152" marR="73152" marT="36576" marB="36576">
                    <a:solidFill>
                      <a:srgbClr val="FFFFFF"/>
                    </a:solidFill>
                  </a:tcPr>
                </a:tc>
                <a:tc>
                  <a:txBody>
                    <a:bodyPr/>
                    <a:lstStyle/>
                    <a:p>
                      <a:r>
                        <a:rPr sz="1200" b="0">
                          <a:solidFill>
                            <a:srgbClr val="1F2937"/>
                          </a:solidFill>
                        </a:rPr>
                        <a:t>Mexanik, kimyoviy, termik</a:t>
                      </a:r>
                    </a:p>
                  </a:txBody>
                  <a:tcPr marL="73152" marR="73152" marT="36576" marB="36576">
                    <a:solidFill>
                      <a:srgbClr val="FFFFFF"/>
                    </a:solidFill>
                  </a:tcPr>
                </a:tc>
                <a:tc>
                  <a:txBody>
                    <a:bodyPr/>
                    <a:lstStyle/>
                    <a:p>
                      <a:r>
                        <a:rPr sz="1200" b="0">
                          <a:solidFill>
                            <a:srgbClr val="1F2937"/>
                          </a:solidFill>
                        </a:rPr>
                        <a:t>Kamdan-kam elektr toki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Abort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294, 295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jinsiy holatlar ekspertizasi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ayolga tibbiy muassasadan tashqarida, tibbiy tayyorgarligi yo‘q shaxs homilani tushirgan; ayolda o‘tkir qon ketish bor.</a:t>
            </a:r>
          </a:p>
          <a:p>
            <a:pPr>
              <a:spcAft>
                <a:spcPts val="1200"/>
              </a:spcAft>
            </a:pPr>
            <a:r>
              <a:rPr sz="2200">
                <a:solidFill>
                  <a:srgbClr val="1F2937"/>
                </a:solidFill>
                <a:latin typeface="Calibri"/>
              </a:rPr>
              <a:t>▸  Ekspertiza aniqlaydi: homiladorlik va uning uzilishi bo‘lganmi, homila qaysi usulda tushirilgan va oqibatlari qanday.</a:t>
            </a:r>
          </a:p>
          <a:p>
            <a:pPr>
              <a:spcAft>
                <a:spcPts val="1200"/>
              </a:spcAft>
            </a:pPr>
            <a:r>
              <a:rPr sz="2200">
                <a:solidFill>
                  <a:srgbClr val="1F2937"/>
                </a:solidFill>
                <a:latin typeface="Calibri"/>
              </a:rPr>
              <a:t>▸  Ko‘rikda usulga mos izlar qidiriladi: tashqi jinsiy a’zo, qin, bachadonda shilinma, qontalash, yara, kuyish.</a:t>
            </a:r>
          </a:p>
          <a:p>
            <a:pPr>
              <a:spcAft>
                <a:spcPts val="1200"/>
              </a:spcAft>
            </a:pPr>
            <a:r>
              <a:rPr sz="2200">
                <a:solidFill>
                  <a:srgbClr val="1F2937"/>
                </a:solidFill>
                <a:latin typeface="Calibri"/>
              </a:rPr>
              <a:t>▸  Savol: bu holat tibbiy abortdan nimasi bilan farq qiladi va qaysi modda bo‘yicha javobgarlik ko‘zda tutiladi?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294-295, 294, 295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Nomusga tegish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Jinoyat kodeksi 118-moddasi: xohishga qarshi zo‘rlik, qo‘rqitish yoki ojizlikdan foydalanib jinsiy aloqa qilish.</a:t>
            </a:r>
          </a:p>
          <a:p>
            <a:pPr>
              <a:spcAft>
                <a:spcPts val="800"/>
              </a:spcAft>
            </a:pPr>
            <a:r>
              <a:rPr sz="1800">
                <a:solidFill>
                  <a:srgbClr val="1F2937"/>
                </a:solidFill>
                <a:latin typeface="Calibri"/>
              </a:rPr>
              <a:t>▸  Zo‘rlik izi: sonning ichki yuzasi va jinsiy a’zolarda qontalash, shilinma; qo‘rqitish iz qoldirmaydi.</a:t>
            </a:r>
          </a:p>
          <a:p>
            <a:pPr>
              <a:spcAft>
                <a:spcPts val="800"/>
              </a:spcAft>
            </a:pPr>
            <a:r>
              <a:rPr sz="1800">
                <a:solidFill>
                  <a:srgbClr val="1F2937"/>
                </a:solidFill>
                <a:latin typeface="Calibri"/>
              </a:rPr>
              <a:t>▸  Maniy qin ichi, qov, oraliq, sonda izlanadi; surtma qancha erta olinsa, shuncha samarali.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Qaror, bayonnoma, tibbiy hujjat</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So‘rov va ginekologik anamnez</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va ojizlik belgilari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Surtma va bosmalar olish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Laboratoriya tekshiruvi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295, 296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Besoqolbozlik va fahsh harakatlari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120-modda: erkakning erkak bilan zo‘rliksiz jinsiy aloqasi. Aktiv va passiv qatnashchining ikkovi ham javobgar.</a:t>
            </a:r>
          </a:p>
          <a:p>
            <a:pPr>
              <a:spcAft>
                <a:spcPts val="800"/>
              </a:spcAft>
            </a:pPr>
            <a:r>
              <a:rPr sz="1800">
                <a:solidFill>
                  <a:srgbClr val="1F2937"/>
                </a:solidFill>
                <a:latin typeface="Calibri"/>
              </a:rPr>
              <a:t>▸  Diqqat: proktit, bavosil kabi kasalliklar passiv besoqolbozlik belgisi deb xato talqin qilinishi mumkin.</a:t>
            </a:r>
          </a:p>
          <a:p>
            <a:pPr>
              <a:spcAft>
                <a:spcPts val="800"/>
              </a:spcAft>
            </a:pPr>
            <a:r>
              <a:rPr sz="1800">
                <a:solidFill>
                  <a:srgbClr val="1F2937"/>
                </a:solidFill>
                <a:latin typeface="Calibri"/>
              </a:rPr>
              <a:t>▸  Fahsh harakatlari: 16 yoshga to‘lmaganga nisbatan, 129-modda. Ba’zan hech qanday iz qolmaydi.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96089"/>
                <a:gridCol w="2014466"/>
                <a:gridCol w="2077418"/>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Aktiv</a:t>
                      </a:r>
                    </a:p>
                  </a:txBody>
                  <a:tcPr marL="73152" marR="73152" marT="36576" marB="36576">
                    <a:solidFill>
                      <a:srgbClr val="0B1F3A"/>
                    </a:solidFill>
                  </a:tcPr>
                </a:tc>
                <a:tc>
                  <a:txBody>
                    <a:bodyPr/>
                    <a:lstStyle/>
                    <a:p>
                      <a:r>
                        <a:rPr sz="1300" b="1">
                          <a:solidFill>
                            <a:srgbClr val="FFFFFF"/>
                          </a:solidFill>
                        </a:rPr>
                        <a:t>Passiv</a:t>
                      </a:r>
                    </a:p>
                  </a:txBody>
                  <a:tcPr marL="73152" marR="73152" marT="36576" marB="36576">
                    <a:solidFill>
                      <a:srgbClr val="0B1F3A"/>
                    </a:solidFill>
                  </a:tcPr>
                </a:tc>
              </a:tr>
              <a:tr h="411480">
                <a:tc>
                  <a:txBody>
                    <a:bodyPr/>
                    <a:lstStyle/>
                    <a:p>
                      <a:r>
                        <a:rPr sz="1200" b="0">
                          <a:solidFill>
                            <a:srgbClr val="1F2937"/>
                          </a:solidFill>
                        </a:rPr>
                        <a:t>Tekshiriladigan joy</a:t>
                      </a:r>
                    </a:p>
                  </a:txBody>
                  <a:tcPr marL="73152" marR="73152" marT="36576" marB="36576">
                    <a:solidFill>
                      <a:srgbClr val="E8EEF6"/>
                    </a:solidFill>
                  </a:tcPr>
                </a:tc>
                <a:tc>
                  <a:txBody>
                    <a:bodyPr/>
                    <a:lstStyle/>
                    <a:p>
                      <a:r>
                        <a:rPr sz="1200" b="0">
                          <a:solidFill>
                            <a:srgbClr val="1F2937"/>
                          </a:solidFill>
                        </a:rPr>
                        <a:t>Jinsiy olat, qov sohasi</a:t>
                      </a:r>
                    </a:p>
                  </a:txBody>
                  <a:tcPr marL="73152" marR="73152" marT="36576" marB="36576">
                    <a:solidFill>
                      <a:srgbClr val="E8EEF6"/>
                    </a:solidFill>
                  </a:tcPr>
                </a:tc>
                <a:tc>
                  <a:txBody>
                    <a:bodyPr/>
                    <a:lstStyle/>
                    <a:p>
                      <a:r>
                        <a:rPr sz="1200" b="0">
                          <a:solidFill>
                            <a:srgbClr val="1F2937"/>
                          </a:solidFill>
                        </a:rPr>
                        <a:t>Orqa teshik, to‘g‘ri ichak</a:t>
                      </a:r>
                    </a:p>
                  </a:txBody>
                  <a:tcPr marL="73152" marR="73152" marT="36576" marB="36576">
                    <a:solidFill>
                      <a:srgbClr val="E8EEF6"/>
                    </a:solidFill>
                  </a:tcPr>
                </a:tc>
              </a:tr>
              <a:tr h="411480">
                <a:tc>
                  <a:txBody>
                    <a:bodyPr/>
                    <a:lstStyle/>
                    <a:p>
                      <a:r>
                        <a:rPr sz="1200" b="0">
                          <a:solidFill>
                            <a:srgbClr val="1F2937"/>
                          </a:solidFill>
                        </a:rPr>
                        <a:t>Topilma</a:t>
                      </a:r>
                    </a:p>
                  </a:txBody>
                  <a:tcPr marL="73152" marR="73152" marT="36576" marB="36576">
                    <a:solidFill>
                      <a:srgbClr val="FFFFFF"/>
                    </a:solidFill>
                  </a:tcPr>
                </a:tc>
                <a:tc>
                  <a:txBody>
                    <a:bodyPr/>
                    <a:lstStyle/>
                    <a:p>
                      <a:r>
                        <a:rPr sz="1200" b="0">
                          <a:solidFill>
                            <a:srgbClr val="1F2937"/>
                          </a:solidFill>
                        </a:rPr>
                        <a:t>Qon, soch, axlat, moysimon modda</a:t>
                      </a:r>
                    </a:p>
                  </a:txBody>
                  <a:tcPr marL="73152" marR="73152" marT="36576" marB="36576">
                    <a:solidFill>
                      <a:srgbClr val="FFFFFF"/>
                    </a:solidFill>
                  </a:tcPr>
                </a:tc>
                <a:tc>
                  <a:txBody>
                    <a:bodyPr/>
                    <a:lstStyle/>
                    <a:p>
                      <a:r>
                        <a:rPr sz="1200" b="0">
                          <a:solidFill>
                            <a:srgbClr val="1F2937"/>
                          </a:solidFill>
                        </a:rPr>
                        <a:t>Shilinma, qon quyilishi, yoriqlar</a:t>
                      </a:r>
                    </a:p>
                  </a:txBody>
                  <a:tcPr marL="73152" marR="73152" marT="36576" marB="36576">
                    <a:solidFill>
                      <a:srgbClr val="FFFFFF"/>
                    </a:solidFill>
                  </a:tcPr>
                </a:tc>
              </a:tr>
              <a:tr h="411480">
                <a:tc>
                  <a:txBody>
                    <a:bodyPr/>
                    <a:lstStyle/>
                    <a:p>
                      <a:r>
                        <a:rPr sz="1200" b="0">
                          <a:solidFill>
                            <a:srgbClr val="1F2937"/>
                          </a:solidFill>
                        </a:rPr>
                        <a:t>Qo‘shimcha</a:t>
                      </a:r>
                    </a:p>
                  </a:txBody>
                  <a:tcPr marL="73152" marR="73152" marT="36576" marB="36576">
                    <a:solidFill>
                      <a:srgbClr val="E8EEF6"/>
                    </a:solidFill>
                  </a:tcPr>
                </a:tc>
                <a:tc>
                  <a:txBody>
                    <a:bodyPr/>
                    <a:lstStyle/>
                    <a:p>
                      <a:r>
                        <a:rPr sz="1200" b="0">
                          <a:solidFill>
                            <a:srgbClr val="1F2937"/>
                          </a:solidFill>
                        </a:rPr>
                        <a:t>Toj egatchasida uzoq saqlanadi</a:t>
                      </a:r>
                    </a:p>
                  </a:txBody>
                  <a:tcPr marL="73152" marR="73152" marT="36576" marB="36576">
                    <a:solidFill>
                      <a:srgbClr val="E8EEF6"/>
                    </a:solidFill>
                  </a:tcPr>
                </a:tc>
                <a:tc>
                  <a:txBody>
                    <a:bodyPr/>
                    <a:lstStyle/>
                    <a:p>
                      <a:r>
                        <a:rPr sz="1200" b="0">
                          <a:solidFill>
                            <a:srgbClr val="1F2937"/>
                          </a:solidFill>
                        </a:rPr>
                        <a:t>Muntazamda sfinkter zaiflashadi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Aktiv va passiv qatnashchi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297, 298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Tanosil kasalliklari va OIV-infeksiyasi tarqatish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113-modda: o‘zida tanosil kasalligi yoki OIV (odam immunitet tanqisligi virusi)/OITS borligini bila turib yuqtirgan yoki xavf ostida qoldirgan shaxs javobgar.</a:t>
            </a:r>
          </a:p>
          <a:p>
            <a:pPr>
              <a:spcAft>
                <a:spcPts val="1200"/>
              </a:spcAft>
            </a:pPr>
            <a:r>
              <a:rPr sz="2200">
                <a:solidFill>
                  <a:srgbClr val="1F2937"/>
                </a:solidFill>
                <a:latin typeface="Calibri"/>
              </a:rPr>
              <a:t>▸  Diqqat: bu jinoyat jinsiy erkinlikka emas, hayot yoki sog‘liq uchun xavfli jinoyatlar guruhiga kiradi (nomusga tegishdan farqi).</a:t>
            </a:r>
          </a:p>
          <a:p>
            <a:pPr>
              <a:spcAft>
                <a:spcPts val="1200"/>
              </a:spcAft>
            </a:pPr>
            <a:r>
              <a:rPr sz="2200">
                <a:solidFill>
                  <a:srgbClr val="1F2937"/>
                </a:solidFill>
                <a:latin typeface="Calibri"/>
              </a:rPr>
              <a:t>▸  Ekspertiza dermatovenerolog va OITS bo‘yicha mutaxassislar ishtirokida o‘tadi: ko‘rik, klinik-laborator tekshiruv, tibbiy hujjatlar tahlili, yuqish manbai.</a:t>
            </a:r>
          </a:p>
          <a:p>
            <a:pPr>
              <a:spcAft>
                <a:spcPts val="1200"/>
              </a:spcAft>
            </a:pPr>
            <a:r>
              <a:rPr sz="2200">
                <a:solidFill>
                  <a:srgbClr val="1F2937"/>
                </a:solidFill>
                <a:latin typeface="Calibri"/>
              </a:rPr>
              <a:t>▸  Kasallikning kech bosqichi aniqlangan shaxs jinoyat sub’ekti hisoblanadi. Xizmat vazifasini lozim bajarmay OIV yuqtirgan tibbiyot xodimi ham javobgar.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jinsiy jinoyatlar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ayol nomusga tegish gumoni bilan murojaat qildi. Sonning ichki yuzasida qontalash, qin ichida maniy bo‘lishi mumkin.</a:t>
            </a:r>
          </a:p>
          <a:p>
            <a:pPr>
              <a:spcAft>
                <a:spcPts val="1200"/>
              </a:spcAft>
            </a:pPr>
            <a:r>
              <a:rPr sz="2200">
                <a:solidFill>
                  <a:srgbClr val="1F2937"/>
                </a:solidFill>
                <a:latin typeface="Calibri"/>
              </a:rPr>
              <a:t>▸  Qin ichidan surtma, qov, oraliq va sondan bosmalar imkon qadar tez olinadi. Vaqt o‘tsa spermatozoid topilish ehtimoli kamayadi.</a:t>
            </a:r>
          </a:p>
          <a:p>
            <a:pPr>
              <a:spcAft>
                <a:spcPts val="1200"/>
              </a:spcAft>
            </a:pPr>
            <a:r>
              <a:rPr sz="2200">
                <a:solidFill>
                  <a:srgbClr val="1F2937"/>
                </a:solidFill>
                <a:latin typeface="Calibri"/>
              </a:rPr>
              <a:t>▸  Maniy qinda odatda 3-5 kungacha saqlanadi, shuning uchun namuna qancha tez olinsa, natija shuncha ishonchli bo‘ladi.</a:t>
            </a:r>
          </a:p>
          <a:p>
            <a:pPr>
              <a:spcAft>
                <a:spcPts val="1200"/>
              </a:spcAft>
            </a:pPr>
            <a:r>
              <a:rPr sz="2200">
                <a:solidFill>
                  <a:srgbClr val="1F2937"/>
                </a:solidFill>
                <a:latin typeface="Calibri"/>
              </a:rPr>
              <a:t>▸  Savol: gumondorni ko‘rikdan o‘tkazish kerakmi? Unda himoyalanish izlari va ayolga tegishli qon, soch topilishi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296, 292, 297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Ekspertizani o‘tkazish umumiy algoritmi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Tirik shaxslar ekspertizasi umumiy algoritm bo‘yicha, olti bosqichda o‘tkaziladi.</a:t>
            </a:r>
          </a:p>
          <a:p>
            <a:pPr>
              <a:spcAft>
                <a:spcPts val="800"/>
              </a:spcAft>
            </a:pPr>
            <a:r>
              <a:rPr sz="1800">
                <a:solidFill>
                  <a:srgbClr val="1F2937"/>
                </a:solidFill>
                <a:latin typeface="Calibri"/>
              </a:rPr>
              <a:t>▸  Metodikani hodisa xususiyati va ekspertiza oldiga qo‘yilgan vazifa belgilaydi. Shuning uchun har bir turi o‘ziga xos.</a:t>
            </a:r>
          </a:p>
          <a:p>
            <a:pPr>
              <a:spcAft>
                <a:spcPts val="800"/>
              </a:spcAft>
            </a:pPr>
            <a:r>
              <a:rPr sz="1800">
                <a:solidFill>
                  <a:srgbClr val="1F2937"/>
                </a:solidFill>
                <a:latin typeface="Calibri"/>
              </a:rPr>
              <a:t>▸  Hodisa tafsilotlari avvalo ekspertiza tayinlash qarori yoki ajrimidagi ma’lumotlardan o‘rganiladi.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Hodisa tafsilotlari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hujjatlar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So‘rov va ko‘rik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Qo‘shimcha tekshiruv</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 300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Ko‘rik tartibi va ishtirokchilar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Shaxs hujjat (pasport, harbiy bilet, guvohnoma) bilan tasdiqlanadi; jinsiy ishlarda ikkita foto ham kerak.</a:t>
            </a:r>
          </a:p>
          <a:p>
            <a:pPr>
              <a:spcAft>
                <a:spcPts val="800"/>
              </a:spcAft>
            </a:pPr>
            <a:r>
              <a:rPr sz="1800">
                <a:solidFill>
                  <a:srgbClr val="1F2937"/>
                </a:solidFill>
                <a:latin typeface="Calibri"/>
              </a:rPr>
              <a:t>▸  Ko‘rik o‘lchagich, lupa, stereomikroskop bilan o‘tadi; zarur bo‘lsa mutaxassislar birga ko‘radi.</a:t>
            </a:r>
          </a:p>
          <a:p>
            <a:pPr>
              <a:spcAft>
                <a:spcPts val="800"/>
              </a:spcAft>
            </a:pPr>
            <a:r>
              <a:rPr sz="1800">
                <a:solidFill>
                  <a:srgbClr val="1F2937"/>
                </a:solidFill>
                <a:latin typeface="Calibri"/>
              </a:rPr>
              <a:t>▸  Jarohatni rasmga olish faqat shaxsning ruxsati bilan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83141"/>
                <a:gridCol w="3204833"/>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Ishtirokchi</a:t>
                      </a:r>
                    </a:p>
                  </a:txBody>
                  <a:tcPr marL="73152" marR="73152" marT="36576" marB="36576">
                    <a:solidFill>
                      <a:srgbClr val="0B1F3A"/>
                    </a:solidFill>
                  </a:tcPr>
                </a:tc>
              </a:tr>
              <a:tr h="411480">
                <a:tc>
                  <a:txBody>
                    <a:bodyPr/>
                    <a:lstStyle/>
                    <a:p>
                      <a:r>
                        <a:rPr sz="1300" b="0">
                          <a:solidFill>
                            <a:srgbClr val="1F2937"/>
                          </a:solidFill>
                        </a:rPr>
                        <a:t>Voyaga yetmagan shaxs</a:t>
                      </a:r>
                    </a:p>
                  </a:txBody>
                  <a:tcPr marL="73152" marR="73152" marT="36576" marB="36576">
                    <a:solidFill>
                      <a:srgbClr val="E8EEF6"/>
                    </a:solidFill>
                  </a:tcPr>
                </a:tc>
                <a:tc>
                  <a:txBody>
                    <a:bodyPr/>
                    <a:lstStyle/>
                    <a:p>
                      <a:r>
                        <a:rPr sz="1300" b="0">
                          <a:solidFill>
                            <a:srgbClr val="1F2937"/>
                          </a:solidFill>
                        </a:rPr>
                        <a:t>Ota-ona yoki pedagoglar</a:t>
                      </a:r>
                    </a:p>
                  </a:txBody>
                  <a:tcPr marL="73152" marR="73152" marT="36576" marB="36576">
                    <a:solidFill>
                      <a:srgbClr val="E8EEF6"/>
                    </a:solidFill>
                  </a:tcPr>
                </a:tc>
              </a:tr>
              <a:tr h="411480">
                <a:tc>
                  <a:txBody>
                    <a:bodyPr/>
                    <a:lstStyle/>
                    <a:p>
                      <a:r>
                        <a:rPr sz="1300" b="0">
                          <a:solidFill>
                            <a:srgbClr val="1F2937"/>
                          </a:solidFill>
                        </a:rPr>
                        <a:t>Muomalaga layoqatsiz</a:t>
                      </a:r>
                    </a:p>
                  </a:txBody>
                  <a:tcPr marL="73152" marR="73152" marT="36576" marB="36576">
                    <a:solidFill>
                      <a:srgbClr val="FFFFFF"/>
                    </a:solidFill>
                  </a:tcPr>
                </a:tc>
                <a:tc>
                  <a:txBody>
                    <a:bodyPr/>
                    <a:lstStyle/>
                    <a:p>
                      <a:r>
                        <a:rPr sz="1300" b="0">
                          <a:solidFill>
                            <a:srgbClr val="1F2937"/>
                          </a:solidFill>
                        </a:rPr>
                        <a:t>Qonuniy vakil</a:t>
                      </a:r>
                    </a:p>
                  </a:txBody>
                  <a:tcPr marL="73152" marR="73152" marT="36576" marB="36576">
                    <a:solidFill>
                      <a:srgbClr val="FFFFFF"/>
                    </a:solidFill>
                  </a:tcPr>
                </a:tc>
              </a:tr>
              <a:tr h="411480">
                <a:tc>
                  <a:txBody>
                    <a:bodyPr/>
                    <a:lstStyle/>
                    <a:p>
                      <a:r>
                        <a:rPr sz="1300" b="0">
                          <a:solidFill>
                            <a:srgbClr val="1F2937"/>
                          </a:solidFill>
                        </a:rPr>
                        <a:t>O‘zga jins, yalang‘ochlash</a:t>
                      </a:r>
                    </a:p>
                  </a:txBody>
                  <a:tcPr marL="73152" marR="73152" marT="36576" marB="36576">
                    <a:solidFill>
                      <a:srgbClr val="E8EEF6"/>
                    </a:solidFill>
                  </a:tcPr>
                </a:tc>
                <a:tc>
                  <a:txBody>
                    <a:bodyPr/>
                    <a:lstStyle/>
                    <a:p>
                      <a:r>
                        <a:rPr sz="1300" b="0">
                          <a:solidFill>
                            <a:srgbClr val="1F2937"/>
                          </a:solidFill>
                        </a:rPr>
                        <a:t>Tergovchi xonadan chiqadi</a:t>
                      </a:r>
                    </a:p>
                  </a:txBody>
                  <a:tcPr marL="73152" marR="73152" marT="36576" marB="36576">
                    <a:solidFill>
                      <a:srgbClr val="E8EEF6"/>
                    </a:solidFill>
                  </a:tcPr>
                </a:tc>
              </a:tr>
              <a:tr h="411480">
                <a:tc>
                  <a:txBody>
                    <a:bodyPr/>
                    <a:lstStyle/>
                    <a:p>
                      <a:r>
                        <a:rPr sz="1300" b="0">
                          <a:solidFill>
                            <a:srgbClr val="1F2937"/>
                          </a:solidFill>
                        </a:rPr>
                        <a:t>Davolanayotgan bemor</a:t>
                      </a:r>
                    </a:p>
                  </a:txBody>
                  <a:tcPr marL="73152" marR="73152" marT="36576" marB="36576">
                    <a:solidFill>
                      <a:srgbClr val="FFFFFF"/>
                    </a:solidFill>
                  </a:tcPr>
                </a:tc>
                <a:tc>
                  <a:txBody>
                    <a:bodyPr/>
                    <a:lstStyle/>
                    <a:p>
                      <a:r>
                        <a:rPr sz="1300" b="0">
                          <a:solidFill>
                            <a:srgbClr val="1F2937"/>
                          </a:solidFill>
                        </a:rPr>
                        <a:t>Tayinlagan shaxs/vakil, davolovchi vrach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Ko‘rikda kim ishtirok etadi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300, 301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mustahkamlash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Eslab qoling: ekspertiza olti bosqichda — tafsilot, tibbiy hujjat, so‘rov, ko‘rik, qo‘shimcha tekshiruv, xulosa.</a:t>
            </a:r>
          </a:p>
          <a:p>
            <a:pPr>
              <a:spcAft>
                <a:spcPts val="1200"/>
              </a:spcAft>
            </a:pPr>
            <a:r>
              <a:rPr sz="2200">
                <a:solidFill>
                  <a:srgbClr val="1F2937"/>
                </a:solidFill>
                <a:latin typeface="Calibri"/>
              </a:rPr>
              <a:t>▸  Diqqat: sog‘liqning buzilish davomiyligi davolanish muddatiga aynan teng emas. Kech murojaat yoki davo nuqsoni hisobga olinmaydi.</a:t>
            </a:r>
          </a:p>
          <a:p>
            <a:pPr>
              <a:spcAft>
                <a:spcPts val="1200"/>
              </a:spcAft>
            </a:pPr>
            <a:r>
              <a:rPr sz="2200">
                <a:solidFill>
                  <a:srgbClr val="1F2937"/>
                </a:solidFill>
                <a:latin typeface="Calibri"/>
              </a:rPr>
              <a:t>▸  Chegaralar: 6 kungacha — yengil; 6 dan 21 kungacha — qisqa muddatli yengil; 21 kundan ortiq — o‘rtacha og‘ir.</a:t>
            </a:r>
          </a:p>
          <a:p>
            <a:pPr>
              <a:spcAft>
                <a:spcPts val="1200"/>
              </a:spcAft>
            </a:pPr>
            <a:r>
              <a:rPr sz="2200">
                <a:solidFill>
                  <a:srgbClr val="1F2937"/>
                </a:solidFill>
                <a:latin typeface="Calibri"/>
              </a:rPr>
              <a:t>▸  Mustaqil ish: berilgan hodisa uchun olti bosqichli reja tuzing va har bosqichda kimlar ishtirok etishini yozing.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299-300, 281, 300-301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(sog‘liq buzilishi muddati): 6 kungacha – yengil; 6 kundan 21 kungacha – sog‘liqning qisqa muddatga buzilishiga olib kelgan yengil; 21 kundan ortiq – o‘rtacha og‘ir. Raqamlar tartibi: 6 → 21.</a:t>
            </a:r>
          </a:p>
          <a:p>
            <a:pPr>
              <a:spcAft>
                <a:spcPts val="1200"/>
              </a:spcAft>
            </a:pPr>
            <a:r>
              <a:rPr sz="1800">
                <a:solidFill>
                  <a:srgbClr val="1F2937"/>
                </a:solidFill>
                <a:latin typeface="Calibri"/>
              </a:rPr>
              <a:t>▸  Hodisa tahlili: bir ko‘zning ko‘rishi to‘liq yo‘qolsa, jarohat og‘ir hisoblanadi, chunki umumiy mehnat qobiliyatining uchdan biridan ko‘pi yo‘qoladi. Bir quloqda eshitish yo‘qolsa, jarohat o‘rtacha og‘ir deb baholanadi.</a:t>
            </a:r>
          </a:p>
          <a:p>
            <a:pPr>
              <a:spcAft>
                <a:spcPts val="1200"/>
              </a:spcAft>
            </a:pPr>
            <a:r>
              <a:rPr sz="1800">
                <a:solidFill>
                  <a:srgbClr val="1F2937"/>
                </a:solidFill>
                <a:latin typeface="Calibri"/>
              </a:rPr>
              <a:t>▸  Qiziqarli fakt: simulyant yurak kasalligini ko‘rsatish uchun tekshiruvdan oldin achchiq choy yoki kofe ichib, taxikardiya va hansirashni chaqirishi mumkin. Shu sababli ayrim tekshiruvlar to‘satdan va takroran o‘tkaziladi.</a:t>
            </a:r>
          </a:p>
          <a:p>
            <a:pPr>
              <a:spcAft>
                <a:spcPts val="1200"/>
              </a:spcAft>
            </a:pPr>
            <a:r>
              <a:rPr sz="1800">
                <a:solidFill>
                  <a:srgbClr val="1F2937"/>
                </a:solidFill>
                <a:latin typeface="Calibri"/>
              </a:rPr>
              <a:t>▸  Diqqat, vaqt omili: qizlik pardasi butunligi buzilgan muddatni faqat dastlabki haftalarda aniqlash mumkin, uch haftadan keyin bu mumkin emas. Yangi yoriqlar ko‘pincha soat siferblati bo‘yicha 5–7 oralig‘ida bo‘ladi.</a:t>
            </a:r>
          </a:p>
          <a:p>
            <a:pPr>
              <a:spcAft>
                <a:spcPts val="1200"/>
              </a:spcAft>
            </a:pPr>
            <a:r>
              <a:rPr sz="1800">
                <a:solidFill>
                  <a:srgbClr val="1F2937"/>
                </a:solidFill>
                <a:latin typeface="Calibri"/>
              </a:rPr>
              <a:t>▸  Hodisa tahlili: o‘zini shikastlashga shubha qilinganda quyidagilarga qaraladi: jarohat qo‘l yetadigan joyda, asosiy jarohat yonida bir nechta yuzaki yara, barmoqlar turli sathda amputatsiya bo‘lgan, shikast asosan chap tomonda.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Jabrlanuvchida jarohat tufayli sog‘liq 15 kun buzilgan, mehnat qobiliyati turg‘un yo‘qotilmagan. Jarohat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Oddiy yengil tan jarohati sifatida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Sog‘liqning qisqa muddatga buzilishiga olib kelgan yengil jarohat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O‘rtacha og‘ir tan jarohati sifatida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Og‘ir tan jarohati sifatida baholanadi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Bemorda bosh suyagi gumbazi sinishi aniqlangan. Tez operatsiya hayotga tahdidni bartaraf etdi. Jarohat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 yordam hisobga olinib, o‘rtacha og‘ir deb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Davolanish muddatiga qarab, yengil jarohat deb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bemor holatiga qarab, klinik tarzda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Hayot uchun xavfli, ya’ni og‘ir jarohat deb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Pianist barmog‘i jarohatlanib, kasbiy faoliyatini davom ettira olmaydi. Og‘irlik darajasini aniqlashda qaysi mehnat qobiliyati mezon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Umumiy mehnat qobiliyatining turg‘un yo‘qotilishi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Kasbiy mehnat qobiliyatining turg‘un yo‘qotilishi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Ham umumiy, ham kasbiy qobiliyat birgalikda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o‘z-o‘ziga xizmat qilish qobiliyati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Jinoyat kodeksining qaysi moddasida o‘rtacha og‘ir tan jarohatlarining tasniflovchi belgilari berilgan?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104-moddasida keltirilgan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105-moddasida keltirilgan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109-moddasida keltirilgan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118-moddasida keltirilgan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Shaxs tibbiy yordamga kech murojaat qilgani sabab davolanishi 30 kunga cho‘zildi. Cho‘zilgan muddat sog‘liq buzilishi davomiyligida qanday hisobga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To‘liq hisobga olinadi, chunki davolanish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Yarmi hisobga olinadi, qolgani chiqariladi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Inobatga olinmaydi, chunki sababi kech murojaat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ambulator davolanish bo‘lsa hisobga olinadi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Jarohatdan oldin sog‘ bo‘lgan bitta ko‘zda ko‘rish to‘liq yo‘qolgan. Bu shikastlanish qanday og‘irlikda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O‘rtacha og‘ir tan jarohati deb baholanadi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Og‘ir tan jarohati deb baholanadi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Yengil, sog‘liq qisqa muddat buzilgan jarohat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sog‘liq buzilish muddatiga qarab baholanadi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Travmadan so‘ng erta tug‘ruq bo‘ldi, noyetuk, ammo hayotga layoqatli tirik go‘dak tug‘ildi. Og‘irlik darajasi qanday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Homiladorlik uzilishi mezoni bo‘yicha, og‘ir deb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 doim o‘rtacha og‘ir tan jarohati deb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Og‘irlik darajasi umuman aniqlanmaydi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Hayot xavfi, sog‘liq muddati, mehnat qobiliyati bo‘yicha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Jarohatda sog‘liq buzilishi 15 kun, umumiy mehnat qobiliyati esa 15% turg‘un yo‘qotilgan. Qaysi daraja belgilanadi?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O‘rtacha og‘ir, chunki og‘irroq mezon 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Muddatiga qarab, qisqa muddatli yengil daraja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 mezonning o‘rtachasi, ya’ni yengil daraja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Og‘ir, chunki mezonlar qo‘shib hisoblanadi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Yo‘l-transport hodisasidan so‘ng aybdor haydovchi javobgarlikdan qutulish uchun mastlik holatini yashirmoqda. Bu qanday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Simulyasiya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Aggravatsiya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Dissimulyasiya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A’zobuzarlik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Bosh jarohatidan so‘ng jabrlanuvchida ruhiy buzilish rivojlandi. Jarohatni og‘ir deb baholash uchun qaysi shart zarur?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Jabrlanuvchi psixiatrga o‘zi murojaat qilgan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va buzilish o‘rtasida bevosita sababiy bog‘liqlik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Ruhiy buzilish jarohatgacha ham mavjud bo‘lgan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Davolanish muddati yigirma kundan oshgan bo‘lishi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Askarning kaft sohasida asosiy yara yonida bir nechta yuzaki kesma yara bor, barmoqlari turli sathda amputatsiya bo‘lgan, shikast chap qo‘lda. Bu belgilar qaysi holatga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A‘zobuzarlik (o‘ziga qasddan jarohat yetkazish)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Aggravatsiya (mavjud belgini og‘irroq ko‘rsatish)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Dissimulyasiya (kasallikni qasddan yashirish)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Baxtsiz hodisa natijasidagi jarohat holati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Shaxsda faoliyat ko‘rsatayotgan yorg‘oq va spermatogenez bor, ammo tashqi belgilari ayollarnikiga o‘xshaydi (kichik jinsiy olat, kriptorxizm, ko‘krak bezlari kattalashgan).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Chin germafroditizm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Soxta erkak germafroditizm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Soxta ayol germafroditizm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Jinsning noto‘g‘ri qayd etilishi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Jinsiy yetuklikni aniqlashda odatda qaysi yoshga to‘lmagan shaxslar jinsiy jihatdan yetilmagan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yoshga to‘lmagan shaxslar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16 yoshga to‘lmagan shaxslar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14 yoshga to‘lmagan shaxslar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18 yoshga to‘lmagan shaxslar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Qiz jinsiy aloqadan taxminan besh hafta o‘tib sud-tibbiy ekspertizaga keldi. Qizlik pardasi butunligi buzilishining muddati haqida nima deyish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Muddatini kunigacha aniq aytish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qon quyilishi izlariga qarab aytiladi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Granulyasion to‘qima bo‘yicha aniqlanadi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Muddatini aniqlashning imkoni bo‘lmaydi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Ayolda bachadon bo‘yinchasining tashqi teshigi yoriqsimon, qizlik pardasi o‘rnida mirtasimon so‘rg‘ichlar, qorin terisida mayda chandiqlar topildi. Keyingi davrda bu belgilar bo‘yicha nimani qayd etish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Homiladorlik muddatini hafta bo‘yicha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Jinoiy abort bo‘lib o‘tganligini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Tug‘ruq bo‘lib o‘tganligini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Tug‘ruqdan keyingi aniq kunni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Homilador ayol 10 haftalik homiladorligini o‘z xohishiga ko‘ra tibbiyot muassasasida akusher-ginekolog yordamida uzdirdi. Bu qaysi abort turiga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O‘z-o‘zidan abort holati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Jinoiy abort turi bo‘yicha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Tibbiy (artifitsial) abort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Erta tug‘ruq holati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Nomusga tegish gumon qilingan jabrlanuvchidan qin surtmasi va tashqi sohalardan bosmalar qachon olinishi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Voqeadan so‘ng imkon qadar qisqa vaqtda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Sud majlisi boshlangan paytda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Barcha jarohatlar bitib bo‘lgach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Gumondor ko‘rigi tugagandan keyin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erkak ikkinchi erkakni qo‘rqitib, uning ojizligidan foydalanib jinsiy ehtiyojini qondirdi. Kim va qaysi modda bo‘yicha javobgar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 qatnashchi, 120-modda bo‘yicha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passiv qatnashchi, 119-modda bo‘yicha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qatnashchi, 118-modda bo‘yicha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aktiv qatnashchi, 119-modda bo‘yicha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Jinoyat kodeksining qaysi moddasida o‘zida tanosil kasalligi yoki OIV-infeksiyasi borligini bila turib boshqaga yuqtirish uchun javobgarlik belgilangan?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114-modda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113-modda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118-modda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129-modda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tirik shaxs ekspertizasida hodisa tafsilotlari bilan tanishdi va tibbiy hujjatlarni o‘rgandi. Umumiy algoritmda keyingi bosqich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Ekspert xulosasini tuzish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Shaxsni bevosita ko‘rikdan o‘tkazish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Ekspertizadan o‘tuvchi shaxsni so‘rash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Qo‘shimcha laboratoriya tekshiruvi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Sog‘liqning qisqa muddatga buzilishiga olib kelgan yengil jarohat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Sog‘liq olti kundan ortiq, lekin yigirma bir kundan ko‘p bo‘lmagan muddatga buzilsa, jarohat sog‘liqning qisqa muddatga buzilishiga olib kelgan yengil jarohat hisoblanadi. Olti kungacha bo‘lsa oddiy yengil, 21 kundan ortiq bo‘lsa o‘rtacha og‘ir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277-bet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Hayot uchun xavfli, ya’ni og‘ir jarohat deb</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Kalla gumbazi suyaklarining sinishi hayot uchun xavfli jarohatlar ro‘yxatida. Tibbiy yordam bilan hayotga tahdidning bartaraf etilishi bahoda inobatga olinmaydi, shuning uchun jarohat og‘ir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278-279-bet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Umumiy mehnat qobiliyatining turg‘un yo‘qotilishi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Qonunga ko‘ra og‘irlik darajasini aniqlashda faqat umumiy mehnat qobiliyatining yo‘qotilishi hisobga olinadi. Kasbiy qobiliyat yo‘qotilishi moddiy va ma’naviy ziyonni qoplashga oid fuqarolik ishlarida ko‘rilishi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279-bet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105-moddasida keltirilgan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O‘rtacha og‘ir jarohatlarning belgilari 105-moddada berilgan. 104-modda og‘ir, 109-modda yengil jarohatlarga tegishli. 118-modda nomusga tegishga oid.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277-bet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Inobatga olinmaydi, chunki sababi kech murojaat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Individual xususiyatlar, tibbiy yordamga kech murojaat yoki yordamdagi kamchiliklar tufayli davolanish muddatining cho‘zilishi sog‘liq buzilishi davomiyligini aniqlashda inobatga olinmaydi.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281-bet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Og‘ir tan jarohati deb baholanadi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Jarohatgacha sog‘ bo‘lgan bir ko‘zda ko‘rishning to‘liq yo‘qolishi umumiy mehnat qobiliyatining uchdan biridan ortig‘ini yo‘qotishga olib keladi, shuning uchun og‘ir jarohat hisoblanadi. Sog‘liq buzilish muddati mezoni faqat ko‘rish qobiliyati bo‘lmagan ko‘z yo‘qotilganda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281-bet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Hayot xavfi, sog‘liq muddati, mehnat qobiliyati bo‘yicha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Homiladorlik uzilishi mezoni faqat o‘lik yoki hayotga layoqatsiz go‘dak tug‘ilganda qo‘llanadi. Hayotga layoqatli go‘dak tug‘ilganda og‘irlik boshqa mezonlar (hayot uchun xavf, sog‘liq buzilish davomiyligi, mehnat qobiliyati yo‘qotilishi) bo‘yicha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282-bet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O‘rtacha og‘ir, chunki og‘irroq mezon olinadi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15 kunlik buzilish qisqa muddatli yengil jarohatga (6–21 kun), 15% turg‘un yo‘qotilish esa o‘rtacha og‘irga (10–33%) mos keladi. Bir necha mezon qo‘llansa, og‘irroq darajaga mos mezon tanlanadi.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283-bet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Dissimulyasiya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Dissimulyasiya kasallik yoki boshqa patologik holatni, shu jumladan mastlikni, qasddan yashirishdir. Simulyasiyada mavjud bo‘lmagan kasallik ko‘rsatiladi, aggravatsiyada mavjud belgilar og‘irroq qilib ko‘rsatiladi.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286-bet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Jarohat va buzilish o‘rtasida bevosita sababiy bog‘liqlik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 og‘ir deb faqat shikastlanish bilan ruhiy buzilish o‘rtasida bevosita sababiy bog‘liqlik bo‘lgandagina baholanadi. Shikastlanishgacha ruhiy buzilish bo‘lmaganligi ham aniqlanishi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283-bet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A‘zobuzarlik (o‘ziga qasddan jarohat yetkazish)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Asosiy jarohat yaqinida bir necha yuzaki kesma yara, barmoqlarning turli sathdagi amputatsiyasi va shikastning asosan chap tomonda bo‘lishi o‘zini shikastlashga xos belgilardir. Baxtsiz hodisada amputatsiya odatda bir sathda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287-bet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Soxta erkak germafroditizm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Soxta erkak germafroditizmda yorg‘oq ishlaydi va spermatogenez bo‘ladi, tashqi belgilar esa ayollarga o‘xshaydi. Chin germafroditizmda ikkala jins bezlari bo‘ladi, soxta ayol turida esa tuxumdon faoliyat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288-bet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14 yoshga to‘lmagan shaxslar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Odatda 14 yoshga to‘lmagan shaxslar jinsiy yetilmagan deb hisoblanadi. Yetuklikni aniqlash masalasi 14 yoshdan nikoh yoshigacha bo‘lgan davrda paydo bo‘ladi. 16 va 18 yosh esa Jinoyat kodeksining ayrim moddalaridagi javobgarlik yoshlari.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289-bet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Muddatini aniqlashning imkoni bo‘lmaydi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Yoriq chetida chandiq ikkinchi haftaning oxiri – uchinchi haftada hosil bo‘ladi va yallig‘lanish alomatlari yo‘qoladi. Shu sababli muddat faqat dastlabki haftalarda aniqlanadi, uch haftadan so‘ng bu masalani hal etib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291-bet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Tug‘ruq bo‘lib o‘tganligini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Tug‘ruqdan keyingi kechroq davrda tashqi teshikning yoriqsimon shakli, mirtasimon so‘rg‘ichlar, qin shilliq qavatining silliqlanishi va qorin terisidagi mayda chandiqlar bo‘yicha faqat tug‘ruq bo‘lganligini qayd etish mumkin. Aniq muddatni belgilash imkoni cheklanadi.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294-bet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Tibbiy (artifitsial) abort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Tibbiy abort homiladorlikning 12 haftasigacha ayolning xohishiga ko‘ra, tibbiyot muassasasida va belgilangan tartibda akusher-ginekologlar tomonidan o‘tkaziladi. Jinoiy abort esa tayyorgarligi yo‘q shaxslar tomonidan amalga oshiriladi.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294-bet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Voqeadan so‘ng imkon qadar qisqa vaqtda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Vaqt o‘tgan sari tekshiruv samaradorligi, xususan spermatozoidlarning topilish ehtimoli kamayadi. Shu sababli namunalar voqeadan so‘ng imkon qadar tez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296-bet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Faqat aktiv qatnashchi, 119-modda bo‘yicha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Zo‘rlik ishlatilganda faqat aktiv qatnashchi 119-modda bo‘yicha javobgar bo‘ladi, passiv qatnashchi esa jabrlanuvchi hisoblanadi. Zo‘rliksiz besoqolbozlikda (120-modda) ikkala qatnashchi ham javobgar.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113-modda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113-modda kasallikni bila turib yuqtirish yoki yuqtirish xavfi ostida qoldirishni qamrab oladi. 114-modda jinoiy abort, 118-modda nomusga tegish, 129-modda fahsh harakatlari uchun javobgarlikni belgilaydi.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299-bet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Ekspertizadan o‘tuvchi shaxsni so‘rash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Algoritm tartibi: hodisa tafsilotlari, tibbiy hujjatlar, shaxsning so‘rovi, ko‘rik, qo‘shimcha tekshiruvlar va xulosa. Shuning uchun hujjatlardan keyin so‘rov o‘tkaziladi.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299-300-bet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12. Tirik shaxslar sud-tibbiy ekspertizasi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