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savollari: 1) Nima uchun tirik shaxslar ekspertizasi eng ko‘p uchraydi deb o‘ylaysiz? 2) Tibbiy profilaktika shifokori bu ekspertizalarga qanday duch kelishi mumkin? Doskada: bobning 5 bo‘limini ustun shaklida yozing (12.1–12.5). Tipik xato: talabalar tirik shaxslar ekspertizasini faqat jarohatlar bilan cheklaydi, jinsiy holat va salomatlik masalalarini unutadi.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savollari: 1) Qaysi turda jabrlanuvchi, qaysi turda gumondor tekshiriladi? 2) Ekspertiza nega faqat sud-tibbiy muassasada emas, davolash muassasasida ham o‘tishi mumkin? Doskada: jadvalni ko‘chirib, har turga bittadan hayotiy misol yozdiring. Tipik xato: jinsiy holat (masalan, bokiralik) va jinsiy jinoyat (nomusga tegish) turlarini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savollari: 1) Ekspert xulosasida nima uchun tasniflovchi belgi albatta ko‘rsatilishi kerak? 2) Bemor klinikada og‘ir holatda, ammo sud-tibbiy baho yengil bo‘lishi mumkinmi? Doskada: 5 ta masala (tur, qurol, mexanizm, muddat, og‘irlik) ro‘yxatini chizib, har biriga bitta so‘roq savolini yozing. Tipik xato: klinik ahvol og‘irligini sud-tibbiy og‘irlik darajasi bilan bir xil deb hisoblash. Eslatma: ekspertiza Jinoyat kodeksi talablariga mos “Tan jarohatlarining og‘irlik darajasini sud-tibbiy aniqlash qoidalari” bo‘yicha o‘tkaziladi.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yengil jarohat ikki turga bo‘linadi? 2) Qaysi moddalar qaysi darajani belgilaydi? Doskada: 104, 105, 109-moddalarni og‘irlik zinapoyasi bilan bog‘lab chizing. Tipik xato: 21 kunning o‘zini o‘rtacha og‘ir deb hisoblash; o‘rtacha og‘ir uchun 21 kundan ORTIQ bo‘lishi kerak.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daqiqa. Muhokama: 1) Nega klinik og‘irlik va sud-tibbiy og‘irlik farq qiladi? 2) Bir necha mezon bo‘lsa qaysi biri tanlanadi? Doskada: 12.1-jadvalni o‘z so‘zlaringiz bilan qayta chizing. Tipik xato: klinik jihatdan ‘og‘ir bemor’ni avtomatik ‘og‘ir tan jarohati’ deb yozish. Tezkor savol: 15 kunlik buzilish qaysi darajaga kiradi?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tibbiy yordam ko‘rsatilishi bahoga ta’sir qilmaydi? 2) Sabab bog‘liqligini qanday isbotlaymiz? Doskada: ‘jarohat → hayotga tahdid → og‘ir tan jarohati’ zanjirini chizing. Tipik xato: shifokor tahdidni bartaraf etgani uchun jarohatni og‘ir emas deb baholash. Tezkor savol: tasodifiy bog‘liq bo‘lgan holat og‘ir jarohat mezoniga kiradimi?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kasbiy mehnat qobiliyati og‘irlik mezoni emas? 2) Nega 120 kun ‘shartli’ deyiladi? Doskada: umumiy va kasbiy mehnat qobiliyatini ikki ustunda yozing, ostiga foiz shkalasini chizing. Tipik xato: umumiy va kasbiy mehnat qobiliyatini aralashtirish; foizni kun bilan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Davolanish muddati va sog‘liq buzilishi davomiyligi nega bir xil emas? 2) Bemor shifokorga kech murojaat qilsa, davomiylik qanday baholanadi? Doskada: 6, 21 va 120 kunlik vaqt chizig‘ini chizib, har bo‘lakka baho yozing. Tipik xato: 21 kunni ‘o‘rtacha og‘ir’ deb hisoblash; aslida o‘rtacha og‘ir — 21 kundan ortiq.</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og‘zaki bering, talabalar javobini jadvalsiz bering. Muhokama: 21 kun va 120 kun nimasi bilan farq qiladi? Doskada: 6–21–120 kun va 10–33 foiz raqamlarini ketma-ket yozdiring. Tipik xato: chegara raqamlarini (6 va 21) noto‘g‘ri toifaga qo‘shish.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bir ko‘z yo‘qolishi og‘ir, bir quloq esa o‘rtacha og‘ir hisoblanadi? 2) Ko‘rmaydigan ko‘z yo‘qolganda nega boshqa mezon ishlatiladi? Doskada: jadvalni o‘zlari chizsin, har qatorga umumiy mehnat qobiliyatining 1/3 qismi bilan bog‘lab izoh yozsin. Tipik xato: bir quloq va ikkala quloq holatini aralashtirish; eshitishni ‘3-5 sm masofada so‘zlashuv nutqini eshita olmaslik’ mezonidan farqlamaslik.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kaft va tovon yo‘qotilishi butun qo‘l yoki oyoq yo‘qotilishiga tenglashtiriladi? 2) Erkak va ayolda nasl qoldirish funksiyalari qanday farqlanadi? Doskada: ikki ustunli ro‘yxat chizing — erkak funksiyalari va ayol funksiyalari. Tipik xato: a’zoning anatomik yo‘qolishi bilan faoliyatning turg‘un yo‘qolishini (falajlik) alohida holat deb o‘ylash; aslida ikkalasi ham ‘yo‘qotilish’ sanaladi.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Erta tug‘ruqda hayotga layoqatli go‘dak tug‘ilsa, og‘irlik qaysi mezon bo‘yicha aniqlanadi? 2) Nega sabab-oqibat bog‘liqligi shart? Eslatma: bunday ekspertiza akusher-ginekologlar ishtirokida o‘tkaziladi, ekspertiza uzilish, jarohat va ular orasidagi to‘g‘ridan-to‘g‘ri sabab-oqibat bog‘lanishini aniqlaydi. Doskada: ‘jarohat → uzilish → go‘dak holati → baho’ zanjirini chizing. Tipik xato: har qanday homila tushishini avtomatik og‘ir jarohat deb baholash; mezon faqat bevosita bog‘liqlik va belgilangan shartlarda qo‘llanadi.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ruhiy buzilishda faqat vaqt emas, sababiy bog‘liqlik hal qiluvchi? 2) Badburushlik masalasini nega sud hal qiladi? Doskada: ruhiy buzilishni baholash uchun to‘rt savolli zanjir chizdiring. Tipik xato: ekspert badburushlik mavjudligini o‘zi hal qiladi deb o‘ylash; aslida u faqat silliqlanish xususiyatini aniqlaydi.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Jabrlanuvchi surunkali kasal bo‘lsa, nimalar hisobga olinadi? 2) Jarohatlar turli kunlarda yetkazilsa-chi? Doskada: to‘rt vaziyat va qoidani juftlab chizdiring. Tipik xato: kech murojaat yoki davolashdagi kamchilik sabab og‘irlashuvni jarohat og‘irligiga qo‘shib yuborish.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Davomiylik mezoni bo‘yicha bu jarohat qanday baholanardi? 2) Nega ikkala mezon natijasi farq qiladi? Doskada: ikki mezonni ustun ko‘rinishida solishtiring. Tipik xato: kasbiy mehnat qobiliyatini hisobga olish va birinchi topilgan mezonda to‘xtash.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daqiqa. Muhokama: 1) Nega diagnoz aniqlanmaguncha davo tayinlash tavsiya etilmaydi (davo kasallik borligining bilvosita tasdig‘i bo‘ladi)? 2) Nega simulyantni uzoq kuzatish kerak? Doskada chizish: ekspertiza bosqichlari zanjiri (hujjat → so‘rov → kuzatuv → komissiya xulosasi). Manbadagi misollar: tekshiruv oldidan askorbin kislotasi, achchiq choy yoki kofe bilan taxikardiya, boshqa bemorning balg‘ami va rentgensurati. Tipik xato: talaba simulyasiyani faqat ‘yolg‘on shikoyat’ deb tushunadi va ob’ektiv belgilar bilan solishtirishni unutadi.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daqiqa. Muhokama: 1) Nega harbiy bilim yurtiga kiruvchilar yoki uchuvchilar dissimulyasiya qilishi mumkin? 2) Qasddan va patologik simulyasiyaning farqi nimada? Doskada chizish: ikki yo‘nalishli o‘q — simulyasiya (yo‘qni ko‘rsatish) va dissimulyasiya (borni yashirish). Manbadagi qo‘shimcha misol: yo‘l-transport hodisasida aybdor haydovchi mastlikni, jinoyatchi jarohatni, ayrim ayollar homiladorlik yoki abortni yashirishi mumkin. Tipik xato: talabalar aggravatsiyani simulyasiya bilan aralashtiradi, chunki aggravatsiyada kasallik haqiqatan mavjud.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Talabalar javobni qo‘l ko‘tarib yoki kartochkada ko‘rsatadi. Muhokama: 1) Qaysi belgi bo‘yicha aggravatsiyani simulyasiyadan ajratasiz (kasallik haqiqatan bormi)? 2) Dissimulyasiya qaysi kasblarda ko‘proq uchraydi? Doskada chizish: uch tushunchaning qisqa ta’rifini bir qatorga yozing. Tipik xato: ‘dis’ old qo‘shimchasini e’tiborsiz qoldirib, dissimulyasiyani simulyasiyaning sinonimi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Sun’iy kasallik simulyasiyadan nimasi bilan farq qiladi (soxta kasallik ko‘rsatish va shikastlash orqali kasallik chaqirish)? 2) Nega ichki a’zolarda sun’iy kasallik kam uchraydi? Doskada: a’zolar tizimi bo‘yicha (teri, ichki a’zolar, ko‘z, quloq) usullar ustunini chizdiring. Tipik xato: sun’iy kasallikni oddiy simulyasiya bilan aralashtirish va soxta to‘g‘ri ichak tushishini chin tushish deb baholash. Qo‘shimcha: manbada bu holat maqsadi bo‘yicha simulyasiyaga o‘xshash, hayotga jiddiy xavf solmaydigan usullar bilan amalga oshiriladi, deyiladi.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o‘zini shikastlashda yaralar qo‘li yetadigan sohada joylashadi? 2) Barmoq amputatsiyasi sathi nimani ko‘rsatadi? Doskada: kaft va yaqin sohadagi bir necha yuzaki yaraning sxemasini chizdiring. Tipik xato: bitta belgiga qarab xulosa qilish; belgilar majmui baholanadi. Qo‘shimcha: o‘qotar jarohatda tirab yoki yaqin masofadan otishga xos belgilar bo‘ladi, ammo sochiq, choyshab orqali otilsa jarohat uzoq masofadan otishga o‘xshashi mumkin.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Vaziyat o‘quv maqsadida tuzilgan, manbadagi belgilarga asoslangan. Kutiladigan javob: asosiy jarohat yaqinida bir necha yuzaki yara, barmoqlarning turli sathdagi amputatsiyasi, qo‘l yetadigan soha, chap tomon; tavsiya: tergov eksperimenti. Muhokama: harbiy xizmatdan bosh tortish motivi ekspertiza xulosasiga qanday ta’sir qiladi? Doskada: belgi va uning izohi ro‘yxatini tuzdiring. Tipik xato: tanlangan bir belgini mutlaq isbot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Jinsni aniqlash ekspertizasi qanday hollarda kerak bo‘ladi? 2) Nega tashqi belgilarga qarab xulosa qilish yetarli emas? Doskada jadvalni chizdiring: chin, soxta erkak, soxta ayol — bez va tashqi belgilarni yozing. Tipik xato: Diqqat! Chin germafroditizmda ikkala bez bor, soxtasida bitta jinsning bezi bor. Talabalar buni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bugun yetuklikni aniqlash ilgarigidek ahamiyatga ega emas? 2) Nega tos o‘lchamlari mutlaq mezon emas? Doskada tos o‘lchamlarini (yonbosh o‘siqlari, katta ko‘stlar, tashqi konyugata) sxema ko‘rinishida yozdiring. Tipik xato: 14 yosh chegarasini mutlaq deb olish yoki o‘lchamlarni qat’iy me’yor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9 daqiqa. Muhokama: 1) Defloratsiya har doim jinsiy aloqadan bo‘ladimi? 2) Qanday pardalarda aloqada ham butunlik saqlanishi mumkin? Doskada pardani soat siferblati ko‘rinishida chizib, asos, erkin chet va teshikni belgilang. Tipik xato: Diqqat! Parda butunligi buzilishi (defloratsiya) ≠ jinsiy aloqa; boshqa holatlarda (barmoq, jism, operatsiya) ham buzilishi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uch haftadan keyin jarohat muddatini aytib bo‘lmaydi? 2) Nega laboratoriya namunasi tez olinishi kerak? Doskada: bitish jadvalini hafta bo‘yicha chizdiring. Tipik xato: tabiiy o‘yiqni yangi yoriq deb qabul qilish va ekspertga murojaatni kechiktirish.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Impotensiya bilan urug‘lantirish qobiliyatining farqi nimada? 2) Qaysi hollarda statsionar tekshiruv kerak bo‘ladi? Doskada: erkak va ayol uchun monelik sabablarini ikki ustunda yozdiring. Tipik xato: impotensiyani bepushtlik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Homiladorlikning ishonchli belgilari qaysilar? 2) Jinoiy abort usuliga qarab qanday izlar kutiladi? Doskada: abort turlari daraxtini (o‘z-o‘zidan, tibbiy, jinoiy) chizdiring. Tipik xato: 12 haftalik tibbiy abort bilan 22 haftalik abort chegarasini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talabalarga navbat bilan bering, javobni avval o‘zlari aytsin. Muhokama: nima uchun maniy namunasini tez olish kerak? Doskada: ’bokiralik muddati’ bo‘yicha 3 haftalik vaqt chizig‘ini chizdiring. Tipik xato: 3-5 kunni va 3 haftani aralashtirish (biri maniy, ikkinchisi pardadagi yoriq uchun).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ota-onaga shifokor qanday tushuntirish berishi kerak? Parda butunligi buzilishining boshqa sabablari qaysilar (barmoq, jismlar, jarrohlik)? Doskada: qizlik pardasining soat siferblati va 5-7 oralig‘ini chizdiring. Tipik xato: ’parda butun bo‘lsa, aloqa bo‘lmagan’ degan xulosa.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nima uchun gumondor ham ko‘rikdan o‘tkazilishi kerak? Qo‘rqitish holatida iz bo‘lmasa ekspert nimaga tayanadi? Doskada: ekspert ko‘rigi bosqichlarini ketma-ket chizdiring (hujjat, so‘rov, anamnez, ko‘rik, namuna). Tipik xato: qin va oraliq shikastini faqat zo‘rlikka xos deb hisoblash, holbuki u jinsiy hayot olib borgan ayollarda ham bo‘ladi.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120-moddada ikkala qatnashchi javobgar, 119-moddada esa faqat aktiv? 2) Passiv qatnashchida qaysi kasalliklar xato talqinga olib keladi va ekspert kimning maslahatini oladi? Doskada: aktiv/passiv jadvalini chizib, 119 va 120-modda farqini strelka bilan ko‘rsating. Tipik xato: 120 va 119-moddalarni aralashtirish; kasallik izlarini muntazam jinsiy aloqa belgisi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bu jinoyat jinsiy erkinlikka qarshi emas, hayot va sog‘liqqa xavfli jinoyatlar guruhiga kiritilgan? 2) Tibbiyot xodimi uchun 113-moddaning ahamiyati nimada? Doskada: ekspertiza ishtirokchilari (gumondor, jabrlanuvchi, mutaxassislar) sxemasini chizing. Tipik xato: 113-moddani 118-modda bilan aralashtirish; kasallik bosqichini hisobga olmaslik.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Talabalar guruhlarda javob beradi. Muhokama: 1) Namuna qaysi joylardan va qachon olinadi? 2) Qo‘rqitish nega ob’ektiv iz qoldirmasligi mumkin? Doskada: jabrlanuvchi va gumondordan olinadigan namunalar ro‘yxatini ikki ustunda yozing. Tipik xato: faqat jabrlanuvchini ko‘rib, gumondorni ko‘rikdan o‘tkazishni unutish; vaqt omilini e’tiborsiz qoldirish.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ko‘rikdan oldin hujjatlar o‘rganiladi? Qaysi holatda qo‘shimcha mutaxassis kerak bo‘ladi? Doskada: algoritmni strelkalar bilan chizdiring. Eslatma: manbadagi 1-2 bosqich (tafsilot va tibbiy hujjat) diagrammada bitta tugunga birlashtirilgan. Tipik xato: bosqichlar tartibini aralashtirish, ko‘rikni so‘rovdan oldin qo‘yish.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ko‘rik vaqtida kimlar ishtirok etishi mumkin va kim chiqib turishi shart? Nega tibbiy hujjat asl nusxada talab qilinadi? Doskada: ishtirokchilar jadvalini (shaxs turi, kim ishtirok etadi) chizdiring. Tipik xato: jinsiy holat ekspertizasida ikkita fotosuratni unutish; ruxsatsiz rasmga olish.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bosqichlardan qaysi birini o‘tkazib yuborish eng katta xatoga olib keladi? Doskada: talabalar xotiradan olti bosqichni yozsin. Tipik xato: ekspert xulosasini ko‘rikdan oldin shakllantirish yoki tibbiy hujjatlarni o‘rganmasdan ko‘rikka o‘tish.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mashg’ulot: Tirik shaxslar sud-tibbiy ekspertizasi.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mashg‘ulot maqsadi va rejasi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Tirik shaxslar ekspertizasi amaliyotda eng ko‘p o‘tkaziladigan ekspertizalardan biri bo‘lib, jinoiy, fuqarolik va ma’muriy ishlarda tayinlanadi.</a:t>
            </a:r>
          </a:p>
          <a:p>
            <a:pPr>
              <a:spcAft>
                <a:spcPts val="1200"/>
              </a:spcAft>
            </a:pPr>
            <a:r>
              <a:rPr sz="2000">
                <a:solidFill>
                  <a:srgbClr val="1F2937"/>
                </a:solidFill>
                <a:latin typeface="Calibri"/>
              </a:rPr>
              <a:t>▸  Reja: 12.1 tan jarohatlari; 12.2 salomatlik holati, simulyasiya, aggravatsiya, dissimulyasiya, sun’iy kasalliklar va a’zobuzarlik.</a:t>
            </a:r>
          </a:p>
          <a:p>
            <a:pPr>
              <a:spcAft>
                <a:spcPts val="1200"/>
              </a:spcAft>
            </a:pPr>
            <a:r>
              <a:rPr sz="2000">
                <a:solidFill>
                  <a:srgbClr val="1F2937"/>
                </a:solidFill>
                <a:latin typeface="Calibri"/>
              </a:rPr>
              <a:t>▸  Davomi: 12.3 jinsiy holatlar; 12.4 jinsiy jinoyatlar (nomusga tegish, besoqolbozlik, fahsh harakatlari, tanosil kasalliklari va OIV — odam immunitet tanqisligi virusi — yuqtirish).</a:t>
            </a:r>
          </a:p>
          <a:p>
            <a:pPr>
              <a:spcAft>
                <a:spcPts val="1200"/>
              </a:spcAft>
            </a:pPr>
            <a:r>
              <a:rPr sz="2000">
                <a:solidFill>
                  <a:srgbClr val="1F2937"/>
                </a:solidFill>
                <a:latin typeface="Calibri"/>
              </a:rPr>
              <a:t>▸  12.5 ekspertizani o‘tkazish tartibi: umumiy algoritm hodisa tafsilotlarini o‘rganishdan boshlanib, ekspert xulosasini tuzish bilan tugaydi (6 bosqich).</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275–276, 276–284, 288–299, 299–300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Tirik shaxslar ekspertizasi qachon tayinlanadi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Ekspertiza jinoiy, fuqarolik va ma’muriy ishlar bo‘yicha belgilangan holatlarda tayinlanadi.</a:t>
            </a:r>
          </a:p>
          <a:p>
            <a:pPr>
              <a:spcAft>
                <a:spcPts val="800"/>
              </a:spcAft>
            </a:pPr>
            <a:r>
              <a:rPr sz="1800">
                <a:solidFill>
                  <a:srgbClr val="1F2937"/>
                </a:solidFill>
                <a:latin typeface="Calibri"/>
              </a:rPr>
              <a:t>▸  Joyi: sud-tibbiy ekspertiza muassasalari bo‘limlari; ba’zan zarur shart-sharoiti bor davolash muassasalari.</a:t>
            </a:r>
          </a:p>
          <a:p>
            <a:pPr>
              <a:spcAft>
                <a:spcPts val="800"/>
              </a:spcAft>
            </a:pPr>
            <a:r>
              <a:rPr sz="1800">
                <a:solidFill>
                  <a:srgbClr val="1F2937"/>
                </a:solidFill>
                <a:latin typeface="Calibri"/>
              </a:rPr>
              <a:t>▸  Jinsiy holatlar ekspertizasiga bokiralik, homiladorlik, sodir bo‘lgan tug‘ruq va abortni aniqlash ham kiradi.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641095"/>
                <a:gridCol w="3646879"/>
              </a:tblGrid>
              <a:tr h="411480">
                <a:tc>
                  <a:txBody>
                    <a:bodyPr/>
                    <a:lstStyle/>
                    <a:p>
                      <a:r>
                        <a:rPr sz="1400" b="1">
                          <a:solidFill>
                            <a:srgbClr val="FFFFFF"/>
                          </a:solidFill>
                        </a:rPr>
                        <a:t>Turi</a:t>
                      </a:r>
                    </a:p>
                  </a:txBody>
                  <a:tcPr marL="73152" marR="73152" marT="36576" marB="36576">
                    <a:solidFill>
                      <a:srgbClr val="0B1F3A"/>
                    </a:solidFill>
                  </a:tcPr>
                </a:tc>
                <a:tc>
                  <a:txBody>
                    <a:bodyPr/>
                    <a:lstStyle/>
                    <a:p>
                      <a:r>
                        <a:rPr sz="1400" b="1">
                          <a:solidFill>
                            <a:srgbClr val="FFFFFF"/>
                          </a:solidFill>
                        </a:rPr>
                        <a:t>Nima aniqlanadi</a:t>
                      </a:r>
                    </a:p>
                  </a:txBody>
                  <a:tcPr marL="73152" marR="73152" marT="36576" marB="36576">
                    <a:solidFill>
                      <a:srgbClr val="0B1F3A"/>
                    </a:solidFill>
                  </a:tcPr>
                </a:tc>
              </a:tr>
              <a:tr h="411480">
                <a:tc>
                  <a:txBody>
                    <a:bodyPr/>
                    <a:lstStyle/>
                    <a:p>
                      <a:r>
                        <a:rPr sz="1300" b="0">
                          <a:solidFill>
                            <a:srgbClr val="1F2937"/>
                          </a:solidFill>
                        </a:rPr>
                        <a:t>Tan jarohatlari</a:t>
                      </a:r>
                    </a:p>
                  </a:txBody>
                  <a:tcPr marL="73152" marR="73152" marT="36576" marB="36576">
                    <a:solidFill>
                      <a:srgbClr val="E8EEF6"/>
                    </a:solidFill>
                  </a:tcPr>
                </a:tc>
                <a:tc>
                  <a:txBody>
                    <a:bodyPr/>
                    <a:lstStyle/>
                    <a:p>
                      <a:r>
                        <a:rPr sz="1300" b="0">
                          <a:solidFill>
                            <a:srgbClr val="1F2937"/>
                          </a:solidFill>
                        </a:rPr>
                        <a:t>Xarakteri va og‘irlik darajasi</a:t>
                      </a:r>
                    </a:p>
                  </a:txBody>
                  <a:tcPr marL="73152" marR="73152" marT="36576" marB="36576">
                    <a:solidFill>
                      <a:srgbClr val="E8EEF6"/>
                    </a:solidFill>
                  </a:tcPr>
                </a:tc>
              </a:tr>
              <a:tr h="411480">
                <a:tc>
                  <a:txBody>
                    <a:bodyPr/>
                    <a:lstStyle/>
                    <a:p>
                      <a:r>
                        <a:rPr sz="1300" b="0">
                          <a:solidFill>
                            <a:srgbClr val="1F2937"/>
                          </a:solidFill>
                        </a:rPr>
                        <a:t>Jinsiy holatlar</a:t>
                      </a:r>
                    </a:p>
                  </a:txBody>
                  <a:tcPr marL="73152" marR="73152" marT="36576" marB="36576">
                    <a:solidFill>
                      <a:srgbClr val="FFFFFF"/>
                    </a:solidFill>
                  </a:tcPr>
                </a:tc>
                <a:tc>
                  <a:txBody>
                    <a:bodyPr/>
                    <a:lstStyle/>
                    <a:p>
                      <a:r>
                        <a:rPr sz="1300" b="0">
                          <a:solidFill>
                            <a:srgbClr val="1F2937"/>
                          </a:solidFill>
                        </a:rPr>
                        <a:t>Jins, bokiralik, homiladorlik, tug‘ruq</a:t>
                      </a:r>
                    </a:p>
                  </a:txBody>
                  <a:tcPr marL="73152" marR="73152" marT="36576" marB="36576">
                    <a:solidFill>
                      <a:srgbClr val="FFFFFF"/>
                    </a:solidFill>
                  </a:tcPr>
                </a:tc>
              </a:tr>
              <a:tr h="411480">
                <a:tc>
                  <a:txBody>
                    <a:bodyPr/>
                    <a:lstStyle/>
                    <a:p>
                      <a:r>
                        <a:rPr sz="1300" b="0">
                          <a:solidFill>
                            <a:srgbClr val="1F2937"/>
                          </a:solidFill>
                        </a:rPr>
                        <a:t>Jinsiy jinoyatlar</a:t>
                      </a:r>
                    </a:p>
                  </a:txBody>
                  <a:tcPr marL="73152" marR="73152" marT="36576" marB="36576">
                    <a:solidFill>
                      <a:srgbClr val="E8EEF6"/>
                    </a:solidFill>
                  </a:tcPr>
                </a:tc>
                <a:tc>
                  <a:txBody>
                    <a:bodyPr/>
                    <a:lstStyle/>
                    <a:p>
                      <a:r>
                        <a:rPr sz="1300" b="0">
                          <a:solidFill>
                            <a:srgbClr val="1F2937"/>
                          </a:solidFill>
                        </a:rPr>
                        <a:t>Zo‘rlash, besoqolbozlik, fahsh harakatlari</a:t>
                      </a:r>
                    </a:p>
                  </a:txBody>
                  <a:tcPr marL="73152" marR="73152" marT="36576" marB="36576">
                    <a:solidFill>
                      <a:srgbClr val="E8EEF6"/>
                    </a:solidFill>
                  </a:tcPr>
                </a:tc>
              </a:tr>
              <a:tr h="411480">
                <a:tc>
                  <a:txBody>
                    <a:bodyPr/>
                    <a:lstStyle/>
                    <a:p>
                      <a:r>
                        <a:rPr sz="1300" b="0">
                          <a:solidFill>
                            <a:srgbClr val="1F2937"/>
                          </a:solidFill>
                        </a:rPr>
                        <a:t>Salomatlik va yosh</a:t>
                      </a:r>
                    </a:p>
                  </a:txBody>
                  <a:tcPr marL="73152" marR="73152" marT="36576" marB="36576">
                    <a:solidFill>
                      <a:srgbClr val="FFFFFF"/>
                    </a:solidFill>
                  </a:tcPr>
                </a:tc>
                <a:tc>
                  <a:txBody>
                    <a:bodyPr/>
                    <a:lstStyle/>
                    <a:p>
                      <a:r>
                        <a:rPr sz="1300" b="0">
                          <a:solidFill>
                            <a:srgbClr val="1F2937"/>
                          </a:solidFill>
                        </a:rPr>
                        <a:t>Simulyasiya, sun’iy kasallik, yosh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275–276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 jarohatlari ekspertizasida hal etiladigan masalalar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Ekspert jarohatlarning turi, joylashuvi va xususiyatlarini hamda jarohat yetkazgan qurol yoki vosita turini aniqlaydi.</a:t>
            </a:r>
          </a:p>
          <a:p>
            <a:pPr>
              <a:spcAft>
                <a:spcPts val="1200"/>
              </a:spcAft>
            </a:pPr>
            <a:r>
              <a:rPr sz="2200">
                <a:solidFill>
                  <a:srgbClr val="1F2937"/>
                </a:solidFill>
                <a:latin typeface="Calibri"/>
              </a:rPr>
              <a:t>▸  Shuningdek shikastlanishning vujudga kelish mexanizmi va jarohat yetkazilgan muddat belgilanadi.</a:t>
            </a:r>
          </a:p>
          <a:p>
            <a:pPr>
              <a:spcAft>
                <a:spcPts val="1200"/>
              </a:spcAft>
            </a:pPr>
            <a:r>
              <a:rPr sz="2200">
                <a:solidFill>
                  <a:srgbClr val="1F2937"/>
                </a:solidFill>
                <a:latin typeface="Calibri"/>
              </a:rPr>
              <a:t>▸  Tasniflovchi belgi ko‘rsatilgan holda og‘irlik darajasi aniqlanadi; barcha ma’lumotlar “Ekspert xulosasi”da qayd etilishi lozim.</a:t>
            </a:r>
          </a:p>
          <a:p>
            <a:pPr>
              <a:spcAft>
                <a:spcPts val="1200"/>
              </a:spcAft>
            </a:pPr>
            <a:r>
              <a:rPr sz="2200">
                <a:solidFill>
                  <a:srgbClr val="1F2937"/>
                </a:solidFill>
                <a:latin typeface="Calibri"/>
              </a:rPr>
              <a:t>▸  Diqqat: jarohatning sud-tibbiy og‘irligi ≠ klinik og‘irlik. Maqsad va mezonlari boshqa, natijalari mos kelmasligi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276, 278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 jarohatlarining yuridik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Jinoyat kodeksiga ko‘ra tan jarohatlari og‘ir, o‘rtacha og‘ir va yengil turlarga bo‘linadi.</a:t>
            </a:r>
          </a:p>
          <a:p>
            <a:pPr>
              <a:spcAft>
                <a:spcPts val="800"/>
              </a:spcAft>
            </a:pPr>
            <a:r>
              <a:rPr sz="1800">
                <a:solidFill>
                  <a:srgbClr val="1F2937"/>
                </a:solidFill>
                <a:latin typeface="Calibri"/>
              </a:rPr>
              <a:t>▸  104-modda: hayot xavfi, a’zo yo‘qolishi, ruhiy buzilish va badburushlik og‘ir jarohat sanaladi.</a:t>
            </a:r>
          </a:p>
          <a:p>
            <a:pPr>
              <a:spcAft>
                <a:spcPts val="800"/>
              </a:spcAft>
            </a:pPr>
            <a:r>
              <a:rPr sz="1800">
                <a:solidFill>
                  <a:srgbClr val="1F2937"/>
                </a:solidFill>
                <a:latin typeface="Calibri"/>
              </a:rPr>
              <a:t>▸  105-modda o‘rtacha og‘ir, 109-modda ikki xil yengil jarohat belgilarini beradi.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Yengil: 6 kungacha</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Qisqa muddatli yengil: 6–21 kun</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O‘rtacha og‘ir: 21 kundan ortiq</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Og‘ir: hayot xavfi yoki ≥33%</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Og‘irlik zinapoyasi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276, 276–277, 277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Og‘irlik darajasini aniqlash mezonlari (jadval 12.1)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Mezonlar: hayot xavfi, buzilish muddati, mehnat qobiliyati, a’zo yo‘qolishi, ruhiy buzilish, badburushlik.</a:t>
            </a:r>
          </a:p>
          <a:p>
            <a:pPr>
              <a:spcAft>
                <a:spcPts val="800"/>
              </a:spcAft>
            </a:pPr>
            <a:r>
              <a:rPr sz="1800">
                <a:solidFill>
                  <a:srgbClr val="1F2937"/>
                </a:solidFill>
                <a:latin typeface="Calibri"/>
              </a:rPr>
              <a:t>▸  Bitta mezonning o‘zi yetarli; bir nechta bo‘lsa, og‘irroq darajaga mos mezon qabul qilinadi.</a:t>
            </a:r>
          </a:p>
          <a:p>
            <a:pPr>
              <a:spcAft>
                <a:spcPts val="800"/>
              </a:spcAft>
            </a:pPr>
            <a:r>
              <a:rPr sz="1800">
                <a:solidFill>
                  <a:srgbClr val="1F2937"/>
                </a:solidFill>
                <a:latin typeface="Calibri"/>
              </a:rPr>
              <a:t>▸  Diqqat: sud-tibbiy va klinik baho bir xil emas, natijalari mos kelmasligi mumkin.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930530"/>
                <a:gridCol w="3357444"/>
              </a:tblGrid>
              <a:tr h="411480">
                <a:tc>
                  <a:txBody>
                    <a:bodyPr/>
                    <a:lstStyle/>
                    <a:p>
                      <a:r>
                        <a:rPr sz="1400" b="1">
                          <a:solidFill>
                            <a:srgbClr val="FFFFFF"/>
                          </a:solidFill>
                        </a:rPr>
                        <a:t>Daraja</a:t>
                      </a:r>
                    </a:p>
                  </a:txBody>
                  <a:tcPr marL="73152" marR="73152" marT="36576" marB="36576">
                    <a:solidFill>
                      <a:srgbClr val="0B1F3A"/>
                    </a:solidFill>
                  </a:tcPr>
                </a:tc>
                <a:tc>
                  <a:txBody>
                    <a:bodyPr/>
                    <a:lstStyle/>
                    <a:p>
                      <a:r>
                        <a:rPr sz="1400" b="1">
                          <a:solidFill>
                            <a:srgbClr val="FFFFFF"/>
                          </a:solidFill>
                        </a:rPr>
                        <a:t>Belgi</a:t>
                      </a:r>
                    </a:p>
                  </a:txBody>
                  <a:tcPr marL="73152" marR="73152" marT="36576" marB="36576">
                    <a:solidFill>
                      <a:srgbClr val="0B1F3A"/>
                    </a:solidFill>
                  </a:tcPr>
                </a:tc>
              </a:tr>
              <a:tr h="411480">
                <a:tc>
                  <a:txBody>
                    <a:bodyPr/>
                    <a:lstStyle/>
                    <a:p>
                      <a:r>
                        <a:rPr sz="1300" b="0">
                          <a:solidFill>
                            <a:srgbClr val="1F2937"/>
                          </a:solidFill>
                        </a:rPr>
                        <a:t>Og‘ir</a:t>
                      </a:r>
                    </a:p>
                  </a:txBody>
                  <a:tcPr marL="73152" marR="73152" marT="36576" marB="36576">
                    <a:solidFill>
                      <a:srgbClr val="E8EEF6"/>
                    </a:solidFill>
                  </a:tcPr>
                </a:tc>
                <a:tc>
                  <a:txBody>
                    <a:bodyPr/>
                    <a:lstStyle/>
                    <a:p>
                      <a:r>
                        <a:rPr sz="1300" b="0">
                          <a:solidFill>
                            <a:srgbClr val="1F2937"/>
                          </a:solidFill>
                        </a:rPr>
                        <a:t>Hayot xavfi, ≥33% yo‘qotish va boshqalar</a:t>
                      </a:r>
                    </a:p>
                  </a:txBody>
                  <a:tcPr marL="73152" marR="73152" marT="36576" marB="36576">
                    <a:solidFill>
                      <a:srgbClr val="E8EEF6"/>
                    </a:solidFill>
                  </a:tcPr>
                </a:tc>
              </a:tr>
              <a:tr h="411480">
                <a:tc>
                  <a:txBody>
                    <a:bodyPr/>
                    <a:lstStyle/>
                    <a:p>
                      <a:r>
                        <a:rPr sz="1300" b="0">
                          <a:solidFill>
                            <a:srgbClr val="1F2937"/>
                          </a:solidFill>
                        </a:rPr>
                        <a:t>O‘rtacha og‘ir</a:t>
                      </a:r>
                    </a:p>
                  </a:txBody>
                  <a:tcPr marL="73152" marR="73152" marT="36576" marB="36576">
                    <a:solidFill>
                      <a:srgbClr val="FFFFFF"/>
                    </a:solidFill>
                  </a:tcPr>
                </a:tc>
                <a:tc>
                  <a:txBody>
                    <a:bodyPr/>
                    <a:lstStyle/>
                    <a:p>
                      <a:r>
                        <a:rPr sz="1300" b="0">
                          <a:solidFill>
                            <a:srgbClr val="1F2937"/>
                          </a:solidFill>
                        </a:rPr>
                        <a:t>10–33% yo‘qotish yoki 21 kundan ortiq</a:t>
                      </a:r>
                    </a:p>
                  </a:txBody>
                  <a:tcPr marL="73152" marR="73152" marT="36576" marB="36576">
                    <a:solidFill>
                      <a:srgbClr val="FFFFFF"/>
                    </a:solidFill>
                  </a:tcPr>
                </a:tc>
              </a:tr>
              <a:tr h="411480">
                <a:tc>
                  <a:txBody>
                    <a:bodyPr/>
                    <a:lstStyle/>
                    <a:p>
                      <a:r>
                        <a:rPr sz="1300" b="0">
                          <a:solidFill>
                            <a:srgbClr val="1F2937"/>
                          </a:solidFill>
                        </a:rPr>
                        <a:t>Yengil (qisqa muddatli)</a:t>
                      </a:r>
                    </a:p>
                  </a:txBody>
                  <a:tcPr marL="73152" marR="73152" marT="36576" marB="36576">
                    <a:solidFill>
                      <a:srgbClr val="E8EEF6"/>
                    </a:solidFill>
                  </a:tcPr>
                </a:tc>
                <a:tc>
                  <a:txBody>
                    <a:bodyPr/>
                    <a:lstStyle/>
                    <a:p>
                      <a:r>
                        <a:rPr sz="1300" b="0">
                          <a:solidFill>
                            <a:srgbClr val="1F2937"/>
                          </a:solidFill>
                        </a:rPr>
                        <a:t>10% gacha yoki 6–21 kun</a:t>
                      </a:r>
                    </a:p>
                  </a:txBody>
                  <a:tcPr marL="73152" marR="73152" marT="36576" marB="36576">
                    <a:solidFill>
                      <a:srgbClr val="E8EEF6"/>
                    </a:solidFill>
                  </a:tcPr>
                </a:tc>
              </a:tr>
              <a:tr h="411480">
                <a:tc>
                  <a:txBody>
                    <a:bodyPr/>
                    <a:lstStyle/>
                    <a:p>
                      <a:r>
                        <a:rPr sz="1300" b="0">
                          <a:solidFill>
                            <a:srgbClr val="1F2937"/>
                          </a:solidFill>
                        </a:rPr>
                        <a:t>Yengil</a:t>
                      </a:r>
                    </a:p>
                  </a:txBody>
                  <a:tcPr marL="73152" marR="73152" marT="36576" marB="36576">
                    <a:solidFill>
                      <a:srgbClr val="FFFFFF"/>
                    </a:solidFill>
                  </a:tcPr>
                </a:tc>
                <a:tc>
                  <a:txBody>
                    <a:bodyPr/>
                    <a:lstStyle/>
                    <a:p>
                      <a:r>
                        <a:rPr sz="1300" b="0">
                          <a:solidFill>
                            <a:srgbClr val="1F2937"/>
                          </a:solidFill>
                        </a:rPr>
                        <a:t>Buzilish 6 kungacha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Daraja va belgi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277, 283, 278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 uchun xavf mezoni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Shikastlanish vaqtida inson hayotiga bevosita tahdid soladigan yoki hayot uchun tahdidli holatni yuzaga keltiradigan jarohat hayot uchun xavfli hisoblanadi.</a:t>
            </a:r>
          </a:p>
          <a:p>
            <a:pPr>
              <a:spcAft>
                <a:spcPts val="1200"/>
              </a:spcAft>
            </a:pPr>
            <a:r>
              <a:rPr sz="2200">
                <a:solidFill>
                  <a:srgbClr val="1F2937"/>
                </a:solidFill>
                <a:latin typeface="Calibri"/>
              </a:rPr>
              <a:t>▸  Ro‘yxatga kalla, ko‘krak, qorin bo‘shlig‘iga o‘tuvchi yaralar, kalla va bo‘yin umurtqalari sinishi, yirik qon tomirlar jarohati va og‘ir kuyishlar kiradi.</a:t>
            </a:r>
          </a:p>
          <a:p>
            <a:pPr>
              <a:spcAft>
                <a:spcPts val="1200"/>
              </a:spcAft>
            </a:pPr>
            <a:r>
              <a:rPr sz="2200">
                <a:solidFill>
                  <a:srgbClr val="1F2937"/>
                </a:solidFill>
                <a:latin typeface="Calibri"/>
              </a:rPr>
              <a:t>▸  Og‘ir shok, II–III darajali koma, ko‘p qon yo‘qotish, sepsis, peritonit, emboliya kabi holatlar ham hayotga tahdid soluvchi hisoblanadi.</a:t>
            </a:r>
          </a:p>
          <a:p>
            <a:pPr>
              <a:spcAft>
                <a:spcPts val="1200"/>
              </a:spcAft>
            </a:pPr>
            <a:r>
              <a:rPr sz="2200">
                <a:solidFill>
                  <a:srgbClr val="1F2937"/>
                </a:solidFill>
                <a:latin typeface="Calibri"/>
              </a:rPr>
              <a:t>▸  Diqqat: tahdid jarohat bilan bevosita bog‘liq bo‘lishi kerak, tasodifiy emas; tibbiy yordam tahdidni bartaraf etsa ham, baho o‘zgarmaydi.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278, 278–279, 279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Umumiy mehnat qobiliyatining turg‘un yo‘qotilishi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Umumiy qobiliyat — o‘ziga xizmat va oddiy ish; kasbiy — kasb faoliyati. Og‘irlikda faqat umumiy olinadi.</a:t>
            </a:r>
          </a:p>
          <a:p>
            <a:pPr>
              <a:spcAft>
                <a:spcPts val="800"/>
              </a:spcAft>
            </a:pPr>
            <a:r>
              <a:rPr sz="1800">
                <a:solidFill>
                  <a:srgbClr val="1F2937"/>
                </a:solidFill>
                <a:latin typeface="Calibri"/>
              </a:rPr>
              <a:t>▸  120 kundan oshgan buzilish shartli turg‘un yo‘qotish hisoblanadi; foizi maxsus jadval bilan aniqlanadi.</a:t>
            </a:r>
          </a:p>
          <a:p>
            <a:pPr>
              <a:spcAft>
                <a:spcPts val="800"/>
              </a:spcAft>
            </a:pPr>
            <a:r>
              <a:rPr sz="1800">
                <a:solidFill>
                  <a:srgbClr val="1F2937"/>
                </a:solidFill>
                <a:latin typeface="Calibri"/>
              </a:rPr>
              <a:t>▸  Yelka, son, katta boldir suyaklari sinishi — uchdan biridan ko‘p yo‘qotish, ya’ni og‘ir jarohat.</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2220949"/>
                <a:gridCol w="3067025"/>
              </a:tblGrid>
              <a:tr h="411480">
                <a:tc>
                  <a:txBody>
                    <a:bodyPr/>
                    <a:lstStyle/>
                    <a:p>
                      <a:r>
                        <a:rPr sz="1400" b="1">
                          <a:solidFill>
                            <a:srgbClr val="FFFFFF"/>
                          </a:solidFill>
                        </a:rPr>
                        <a:t>Yo‘qotilish</a:t>
                      </a:r>
                    </a:p>
                  </a:txBody>
                  <a:tcPr marL="73152" marR="73152" marT="36576" marB="36576">
                    <a:solidFill>
                      <a:srgbClr val="0B1F3A"/>
                    </a:solidFill>
                  </a:tcPr>
                </a:tc>
                <a:tc>
                  <a:txBody>
                    <a:bodyPr/>
                    <a:lstStyle/>
                    <a:p>
                      <a:r>
                        <a:rPr sz="1400" b="1">
                          <a:solidFill>
                            <a:srgbClr val="FFFFFF"/>
                          </a:solidFill>
                        </a:rPr>
                        <a:t>Og‘irlik</a:t>
                      </a:r>
                    </a:p>
                  </a:txBody>
                  <a:tcPr marL="73152" marR="73152" marT="36576" marB="36576">
                    <a:solidFill>
                      <a:srgbClr val="0B1F3A"/>
                    </a:solidFill>
                  </a:tcPr>
                </a:tc>
              </a:tr>
              <a:tr h="411480">
                <a:tc>
                  <a:txBody>
                    <a:bodyPr/>
                    <a:lstStyle/>
                    <a:p>
                      <a:r>
                        <a:rPr sz="1300" b="0">
                          <a:solidFill>
                            <a:srgbClr val="1F2937"/>
                          </a:solidFill>
                        </a:rPr>
                        <a:t>33% dan kam bo‘lmagan</a:t>
                      </a:r>
                    </a:p>
                  </a:txBody>
                  <a:tcPr marL="73152" marR="73152" marT="36576" marB="36576">
                    <a:solidFill>
                      <a:srgbClr val="E8EEF6"/>
                    </a:solidFill>
                  </a:tcPr>
                </a:tc>
                <a:tc>
                  <a:txBody>
                    <a:bodyPr/>
                    <a:lstStyle/>
                    <a:p>
                      <a:r>
                        <a:rPr sz="1300" b="0">
                          <a:solidFill>
                            <a:srgbClr val="1F2937"/>
                          </a:solidFill>
                        </a:rPr>
                        <a:t>Og‘ir</a:t>
                      </a:r>
                    </a:p>
                  </a:txBody>
                  <a:tcPr marL="73152" marR="73152" marT="36576" marB="36576">
                    <a:solidFill>
                      <a:srgbClr val="E8EEF6"/>
                    </a:solidFill>
                  </a:tcPr>
                </a:tc>
              </a:tr>
              <a:tr h="411480">
                <a:tc>
                  <a:txBody>
                    <a:bodyPr/>
                    <a:lstStyle/>
                    <a:p>
                      <a:r>
                        <a:rPr sz="1300" b="0">
                          <a:solidFill>
                            <a:srgbClr val="1F2937"/>
                          </a:solidFill>
                        </a:rPr>
                        <a:t>10% dan 33% gacha</a:t>
                      </a:r>
                    </a:p>
                  </a:txBody>
                  <a:tcPr marL="73152" marR="73152" marT="36576" marB="36576">
                    <a:solidFill>
                      <a:srgbClr val="FFFFFF"/>
                    </a:solidFill>
                  </a:tcPr>
                </a:tc>
                <a:tc>
                  <a:txBody>
                    <a:bodyPr/>
                    <a:lstStyle/>
                    <a:p>
                      <a:r>
                        <a:rPr sz="1300" b="0">
                          <a:solidFill>
                            <a:srgbClr val="1F2937"/>
                          </a:solidFill>
                        </a:rPr>
                        <a:t>O‘rtacha og‘ir</a:t>
                      </a:r>
                    </a:p>
                  </a:txBody>
                  <a:tcPr marL="73152" marR="73152" marT="36576" marB="36576">
                    <a:solidFill>
                      <a:srgbClr val="FFFFFF"/>
                    </a:solidFill>
                  </a:tcPr>
                </a:tc>
              </a:tr>
              <a:tr h="411480">
                <a:tc>
                  <a:txBody>
                    <a:bodyPr/>
                    <a:lstStyle/>
                    <a:p>
                      <a:r>
                        <a:rPr sz="1300" b="0">
                          <a:solidFill>
                            <a:srgbClr val="1F2937"/>
                          </a:solidFill>
                        </a:rPr>
                        <a:t>10% gacha</a:t>
                      </a:r>
                    </a:p>
                  </a:txBody>
                  <a:tcPr marL="73152" marR="73152" marT="36576" marB="36576">
                    <a:solidFill>
                      <a:srgbClr val="E8EEF6"/>
                    </a:solidFill>
                  </a:tcPr>
                </a:tc>
                <a:tc>
                  <a:txBody>
                    <a:bodyPr/>
                    <a:lstStyle/>
                    <a:p>
                      <a:r>
                        <a:rPr sz="1300" b="0">
                          <a:solidFill>
                            <a:srgbClr val="1F2937"/>
                          </a:solidFill>
                        </a:rPr>
                        <a:t>Yengil (qisqa buzilish bilan)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Foiz va og‘irlik darajasi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279, 280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Sog‘liqning buzilish davomiyligi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Eng ko‘p qo‘llaniladigan mezon: vaqtincha mehnatga yaroqsizlik bilan bog‘liq a’zo faoliyatining buzilishi.</a:t>
            </a:r>
          </a:p>
          <a:p>
            <a:pPr>
              <a:spcAft>
                <a:spcPts val="800"/>
              </a:spcAft>
            </a:pPr>
            <a:r>
              <a:rPr sz="1800">
                <a:solidFill>
                  <a:srgbClr val="1F2937"/>
                </a:solidFill>
                <a:latin typeface="Calibri"/>
              </a:rPr>
              <a:t>▸  Davomiylik ob’ektiv tibbiy ma’lumotlar asosida kunlarda belgilanadi; shifokorlar davo muddatini asoslashi kerak.</a:t>
            </a:r>
          </a:p>
          <a:p>
            <a:pPr>
              <a:spcAft>
                <a:spcPts val="800"/>
              </a:spcAft>
            </a:pPr>
            <a:r>
              <a:rPr sz="1800">
                <a:solidFill>
                  <a:srgbClr val="1F2937"/>
                </a:solidFill>
                <a:latin typeface="Calibri"/>
              </a:rPr>
              <a:t>▸  Davolanish muddatiga teng emas: davolanmaslik buzilishni inkor etmaydi, kechikish hisobga olinmaydi.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504830"/>
                <a:gridCol w="2783144"/>
              </a:tblGrid>
              <a:tr h="411480">
                <a:tc>
                  <a:txBody>
                    <a:bodyPr/>
                    <a:lstStyle/>
                    <a:p>
                      <a:r>
                        <a:rPr sz="1400" b="1">
                          <a:solidFill>
                            <a:srgbClr val="FFFFFF"/>
                          </a:solidFill>
                        </a:rPr>
                        <a:t>Davomiylik</a:t>
                      </a:r>
                    </a:p>
                  </a:txBody>
                  <a:tcPr marL="73152" marR="73152" marT="36576" marB="36576">
                    <a:solidFill>
                      <a:srgbClr val="0B1F3A"/>
                    </a:solidFill>
                  </a:tcPr>
                </a:tc>
                <a:tc>
                  <a:txBody>
                    <a:bodyPr/>
                    <a:lstStyle/>
                    <a:p>
                      <a:r>
                        <a:rPr sz="1400" b="1">
                          <a:solidFill>
                            <a:srgbClr val="FFFFFF"/>
                          </a:solidFill>
                        </a:rPr>
                        <a:t>Baho</a:t>
                      </a:r>
                    </a:p>
                  </a:txBody>
                  <a:tcPr marL="73152" marR="73152" marT="36576" marB="36576">
                    <a:solidFill>
                      <a:srgbClr val="0B1F3A"/>
                    </a:solidFill>
                  </a:tcPr>
                </a:tc>
              </a:tr>
              <a:tr h="411480">
                <a:tc>
                  <a:txBody>
                    <a:bodyPr/>
                    <a:lstStyle/>
                    <a:p>
                      <a:r>
                        <a:rPr sz="1300" b="0">
                          <a:solidFill>
                            <a:srgbClr val="1F2937"/>
                          </a:solidFill>
                        </a:rPr>
                        <a:t>6 kungacha</a:t>
                      </a:r>
                    </a:p>
                  </a:txBody>
                  <a:tcPr marL="73152" marR="73152" marT="36576" marB="36576">
                    <a:solidFill>
                      <a:srgbClr val="E8EEF6"/>
                    </a:solidFill>
                  </a:tcPr>
                </a:tc>
                <a:tc>
                  <a:txBody>
                    <a:bodyPr/>
                    <a:lstStyle/>
                    <a:p>
                      <a:r>
                        <a:rPr sz="1300" b="0">
                          <a:solidFill>
                            <a:srgbClr val="1F2937"/>
                          </a:solidFill>
                        </a:rPr>
                        <a:t>Yengil</a:t>
                      </a:r>
                    </a:p>
                  </a:txBody>
                  <a:tcPr marL="73152" marR="73152" marT="36576" marB="36576">
                    <a:solidFill>
                      <a:srgbClr val="E8EEF6"/>
                    </a:solidFill>
                  </a:tcPr>
                </a:tc>
              </a:tr>
              <a:tr h="411480">
                <a:tc>
                  <a:txBody>
                    <a:bodyPr/>
                    <a:lstStyle/>
                    <a:p>
                      <a:r>
                        <a:rPr sz="1300" b="0">
                          <a:solidFill>
                            <a:srgbClr val="1F2937"/>
                          </a:solidFill>
                        </a:rPr>
                        <a:t>6 kundan ortiq, 21 kungacha</a:t>
                      </a:r>
                    </a:p>
                  </a:txBody>
                  <a:tcPr marL="73152" marR="73152" marT="36576" marB="36576">
                    <a:solidFill>
                      <a:srgbClr val="FFFFFF"/>
                    </a:solidFill>
                  </a:tcPr>
                </a:tc>
                <a:tc>
                  <a:txBody>
                    <a:bodyPr/>
                    <a:lstStyle/>
                    <a:p>
                      <a:r>
                        <a:rPr sz="1300" b="0">
                          <a:solidFill>
                            <a:srgbClr val="1F2937"/>
                          </a:solidFill>
                        </a:rPr>
                        <a:t>Yengil, sog‘liq qisqa buzilgan</a:t>
                      </a:r>
                    </a:p>
                  </a:txBody>
                  <a:tcPr marL="73152" marR="73152" marT="36576" marB="36576">
                    <a:solidFill>
                      <a:srgbClr val="FFFFFF"/>
                    </a:solidFill>
                  </a:tcPr>
                </a:tc>
              </a:tr>
              <a:tr h="411480">
                <a:tc>
                  <a:txBody>
                    <a:bodyPr/>
                    <a:lstStyle/>
                    <a:p>
                      <a:r>
                        <a:rPr sz="1300" b="0">
                          <a:solidFill>
                            <a:srgbClr val="1F2937"/>
                          </a:solidFill>
                        </a:rPr>
                        <a:t>21 kundan ortiq</a:t>
                      </a:r>
                    </a:p>
                  </a:txBody>
                  <a:tcPr marL="73152" marR="73152" marT="36576" marB="36576">
                    <a:solidFill>
                      <a:srgbClr val="E8EEF6"/>
                    </a:solidFill>
                  </a:tcPr>
                </a:tc>
                <a:tc>
                  <a:txBody>
                    <a:bodyPr/>
                    <a:lstStyle/>
                    <a:p>
                      <a:r>
                        <a:rPr sz="1300" b="0">
                          <a:solidFill>
                            <a:srgbClr val="1F2937"/>
                          </a:solidFill>
                        </a:rPr>
                        <a:t>O‘rtacha og‘ir</a:t>
                      </a:r>
                    </a:p>
                  </a:txBody>
                  <a:tcPr marL="73152" marR="73152" marT="36576" marB="36576">
                    <a:solidFill>
                      <a:srgbClr val="E8EEF6"/>
                    </a:solidFill>
                  </a:tcPr>
                </a:tc>
              </a:tr>
              <a:tr h="411480">
                <a:tc>
                  <a:txBody>
                    <a:bodyPr/>
                    <a:lstStyle/>
                    <a:p>
                      <a:r>
                        <a:rPr sz="1300" b="0">
                          <a:solidFill>
                            <a:srgbClr val="1F2937"/>
                          </a:solidFill>
                        </a:rPr>
                        <a:t>120 kundan ortiq</a:t>
                      </a:r>
                    </a:p>
                  </a:txBody>
                  <a:tcPr marL="73152" marR="73152" marT="36576" marB="36576">
                    <a:solidFill>
                      <a:srgbClr val="FFFFFF"/>
                    </a:solidFill>
                  </a:tcPr>
                </a:tc>
                <a:tc>
                  <a:txBody>
                    <a:bodyPr/>
                    <a:lstStyle/>
                    <a:p>
                      <a:r>
                        <a:rPr sz="1300" b="0">
                          <a:solidFill>
                            <a:srgbClr val="1F2937"/>
                          </a:solidFill>
                        </a:rPr>
                        <a:t>Shartli turg‘un yo‘qotish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Kunlar chegarasi va baho</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280, 281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 tasnif va chegaralar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Buzilish 6 kungacha bo‘lsa, jarohat qanday baholanadi? Javob: yengil tan jarohati.</a:t>
            </a:r>
          </a:p>
          <a:p>
            <a:pPr>
              <a:spcAft>
                <a:spcPts val="1200"/>
              </a:spcAft>
            </a:pPr>
            <a:r>
              <a:rPr sz="2200">
                <a:solidFill>
                  <a:srgbClr val="1F2937"/>
                </a:solidFill>
                <a:latin typeface="Calibri"/>
              </a:rPr>
              <a:t>▸  2-savol: 21 kunlik buzilish qaysi toifa? Javob: sog‘liq qisqa buzilgan yengil; 21 kundan ortig‘i — o‘rtacha og‘ir.</a:t>
            </a:r>
          </a:p>
          <a:p>
            <a:pPr>
              <a:spcAft>
                <a:spcPts val="1200"/>
              </a:spcAft>
            </a:pPr>
            <a:r>
              <a:rPr sz="2200">
                <a:solidFill>
                  <a:srgbClr val="1F2937"/>
                </a:solidFill>
                <a:latin typeface="Calibri"/>
              </a:rPr>
              <a:t>▸  3-savol: Turg‘un yo‘qotish qaysi foizda og‘ir? Javob: 33 foizdan kam bo‘lmaganda; 10–33 foiz — o‘rtacha, 10 foizgacha — yengil.</a:t>
            </a:r>
          </a:p>
          <a:p>
            <a:pPr>
              <a:spcAft>
                <a:spcPts val="1200"/>
              </a:spcAft>
            </a:pPr>
            <a:r>
              <a:rPr sz="2200">
                <a:solidFill>
                  <a:srgbClr val="1F2937"/>
                </a:solidFill>
                <a:latin typeface="Calibri"/>
              </a:rPr>
              <a:t>▸  Diqqat: xato qilish xavfi — kunlar vaqtincha, foizlar turg‘un yo‘qotishni bildiradi; ularni aralashtirmang.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281, 277, 279–280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Ko‘rish, so‘zlash, eshitish qobiliyatining yo‘qotilishi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Ikkala ko‘zda doimiy to‘liq ko‘rlik yoki ko‘rish o‘tkirligi 0,04 va undan past bo‘lsa, og‘ir tan jarohati hisoblanadi.</a:t>
            </a:r>
          </a:p>
          <a:p>
            <a:pPr>
              <a:spcAft>
                <a:spcPts val="800"/>
              </a:spcAft>
            </a:pPr>
            <a:r>
              <a:rPr sz="1800">
                <a:solidFill>
                  <a:srgbClr val="1F2937"/>
                </a:solidFill>
                <a:latin typeface="Calibri"/>
              </a:rPr>
              <a:t>▸  Bir sog‘ ko‘z yo‘qolsa — og‘ir; ko‘rmaydigan ko‘z yo‘qolsa — sog‘liq buzilishi davomiyligi bo‘yicha baholanadi.</a:t>
            </a:r>
          </a:p>
          <a:p>
            <a:pPr>
              <a:spcAft>
                <a:spcPts val="800"/>
              </a:spcAft>
            </a:pPr>
            <a:r>
              <a:rPr sz="1800">
                <a:solidFill>
                  <a:srgbClr val="1F2937"/>
                </a:solidFill>
                <a:latin typeface="Calibri"/>
              </a:rPr>
              <a:t>▸  Diqqat: ikkala quloqda to‘liq karlik — og‘ir; faqat bir quloqda eshitish yo‘qolsa — o‘rtacha og‘ir.</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281933"/>
                <a:gridCol w="2323504"/>
                <a:gridCol w="1682537"/>
              </a:tblGrid>
              <a:tr h="411480">
                <a:tc>
                  <a:txBody>
                    <a:bodyPr/>
                    <a:lstStyle/>
                    <a:p>
                      <a:r>
                        <a:rPr sz="1300" b="1">
                          <a:solidFill>
                            <a:srgbClr val="FFFFFF"/>
                          </a:solidFill>
                        </a:rPr>
                        <a:t>Qobiliyat</a:t>
                      </a:r>
                    </a:p>
                  </a:txBody>
                  <a:tcPr marL="73152" marR="73152" marT="36576" marB="36576">
                    <a:solidFill>
                      <a:srgbClr val="0B1F3A"/>
                    </a:solidFill>
                  </a:tcPr>
                </a:tc>
                <a:tc>
                  <a:txBody>
                    <a:bodyPr/>
                    <a:lstStyle/>
                    <a:p>
                      <a:r>
                        <a:rPr sz="1300" b="1">
                          <a:solidFill>
                            <a:srgbClr val="FFFFFF"/>
                          </a:solidFill>
                        </a:rPr>
                        <a:t>Holat</a:t>
                      </a:r>
                    </a:p>
                  </a:txBody>
                  <a:tcPr marL="73152" marR="73152" marT="36576" marB="36576">
                    <a:solidFill>
                      <a:srgbClr val="0B1F3A"/>
                    </a:solidFill>
                  </a:tcPr>
                </a:tc>
                <a:tc>
                  <a:txBody>
                    <a:bodyPr/>
                    <a:lstStyle/>
                    <a:p>
                      <a:r>
                        <a:rPr sz="1300" b="1">
                          <a:solidFill>
                            <a:srgbClr val="FFFFFF"/>
                          </a:solidFill>
                        </a:rPr>
                        <a:t>Baho</a:t>
                      </a:r>
                    </a:p>
                  </a:txBody>
                  <a:tcPr marL="73152" marR="73152" marT="36576" marB="36576">
                    <a:solidFill>
                      <a:srgbClr val="0B1F3A"/>
                    </a:solidFill>
                  </a:tcPr>
                </a:tc>
              </a:tr>
              <a:tr h="411480">
                <a:tc>
                  <a:txBody>
                    <a:bodyPr/>
                    <a:lstStyle/>
                    <a:p>
                      <a:r>
                        <a:rPr sz="1200" b="0">
                          <a:solidFill>
                            <a:srgbClr val="1F2937"/>
                          </a:solidFill>
                        </a:rPr>
                        <a:t>Ko‘rish</a:t>
                      </a:r>
                    </a:p>
                  </a:txBody>
                  <a:tcPr marL="73152" marR="73152" marT="36576" marB="36576">
                    <a:solidFill>
                      <a:srgbClr val="E8EEF6"/>
                    </a:solidFill>
                  </a:tcPr>
                </a:tc>
                <a:tc>
                  <a:txBody>
                    <a:bodyPr/>
                    <a:lstStyle/>
                    <a:p>
                      <a:r>
                        <a:rPr sz="1200" b="0">
                          <a:solidFill>
                            <a:srgbClr val="1F2937"/>
                          </a:solidFill>
                        </a:rPr>
                        <a:t>Ikkala ko‘z qaytmas yo‘qolgan</a:t>
                      </a:r>
                    </a:p>
                  </a:txBody>
                  <a:tcPr marL="73152" marR="73152" marT="36576" marB="36576">
                    <a:solidFill>
                      <a:srgbClr val="E8EEF6"/>
                    </a:solidFill>
                  </a:tcPr>
                </a:tc>
                <a:tc>
                  <a:txBody>
                    <a:bodyPr/>
                    <a:lstStyle/>
                    <a:p>
                      <a:r>
                        <a:rPr sz="1200" b="0">
                          <a:solidFill>
                            <a:srgbClr val="1F2937"/>
                          </a:solidFill>
                        </a:rPr>
                        <a:t>Og‘ir</a:t>
                      </a:r>
                    </a:p>
                  </a:txBody>
                  <a:tcPr marL="73152" marR="73152" marT="36576" marB="36576">
                    <a:solidFill>
                      <a:srgbClr val="E8EEF6"/>
                    </a:solidFill>
                  </a:tcPr>
                </a:tc>
              </a:tr>
              <a:tr h="411480">
                <a:tc>
                  <a:txBody>
                    <a:bodyPr/>
                    <a:lstStyle/>
                    <a:p>
                      <a:r>
                        <a:rPr sz="1200" b="0">
                          <a:solidFill>
                            <a:srgbClr val="1F2937"/>
                          </a:solidFill>
                        </a:rPr>
                        <a:t>Ko‘rish</a:t>
                      </a:r>
                    </a:p>
                  </a:txBody>
                  <a:tcPr marL="73152" marR="73152" marT="36576" marB="36576">
                    <a:solidFill>
                      <a:srgbClr val="FFFFFF"/>
                    </a:solidFill>
                  </a:tcPr>
                </a:tc>
                <a:tc>
                  <a:txBody>
                    <a:bodyPr/>
                    <a:lstStyle/>
                    <a:p>
                      <a:r>
                        <a:rPr sz="1200" b="0">
                          <a:solidFill>
                            <a:srgbClr val="1F2937"/>
                          </a:solidFill>
                        </a:rPr>
                        <a:t>Bir sog‘ ko‘z yo‘qolgan</a:t>
                      </a:r>
                    </a:p>
                  </a:txBody>
                  <a:tcPr marL="73152" marR="73152" marT="36576" marB="36576">
                    <a:solidFill>
                      <a:srgbClr val="FFFFFF"/>
                    </a:solidFill>
                  </a:tcPr>
                </a:tc>
                <a:tc>
                  <a:txBody>
                    <a:bodyPr/>
                    <a:lstStyle/>
                    <a:p>
                      <a:r>
                        <a:rPr sz="1200" b="0">
                          <a:solidFill>
                            <a:srgbClr val="1F2937"/>
                          </a:solidFill>
                        </a:rPr>
                        <a:t>Og‘ir (1/3 dan ortiq)</a:t>
                      </a:r>
                    </a:p>
                  </a:txBody>
                  <a:tcPr marL="73152" marR="73152" marT="36576" marB="36576">
                    <a:solidFill>
                      <a:srgbClr val="FFFFFF"/>
                    </a:solidFill>
                  </a:tcPr>
                </a:tc>
              </a:tr>
              <a:tr h="411480">
                <a:tc>
                  <a:txBody>
                    <a:bodyPr/>
                    <a:lstStyle/>
                    <a:p>
                      <a:r>
                        <a:rPr sz="1200" b="0">
                          <a:solidFill>
                            <a:srgbClr val="1F2937"/>
                          </a:solidFill>
                        </a:rPr>
                        <a:t>So‘zlash</a:t>
                      </a:r>
                    </a:p>
                  </a:txBody>
                  <a:tcPr marL="73152" marR="73152" marT="36576" marB="36576">
                    <a:solidFill>
                      <a:srgbClr val="E8EEF6"/>
                    </a:solidFill>
                  </a:tcPr>
                </a:tc>
                <a:tc>
                  <a:txBody>
                    <a:bodyPr/>
                    <a:lstStyle/>
                    <a:p>
                      <a:r>
                        <a:rPr sz="1200" b="0">
                          <a:solidFill>
                            <a:srgbClr val="1F2937"/>
                          </a:solidFill>
                        </a:rPr>
                        <a:t>Til butunlay yoki yarmi yo‘q</a:t>
                      </a:r>
                    </a:p>
                  </a:txBody>
                  <a:tcPr marL="73152" marR="73152" marT="36576" marB="36576">
                    <a:solidFill>
                      <a:srgbClr val="E8EEF6"/>
                    </a:solidFill>
                  </a:tcPr>
                </a:tc>
                <a:tc>
                  <a:txBody>
                    <a:bodyPr/>
                    <a:lstStyle/>
                    <a:p>
                      <a:r>
                        <a:rPr sz="1200" b="0">
                          <a:solidFill>
                            <a:srgbClr val="1F2937"/>
                          </a:solidFill>
                        </a:rPr>
                        <a:t>Og‘ir</a:t>
                      </a:r>
                    </a:p>
                  </a:txBody>
                  <a:tcPr marL="73152" marR="73152" marT="36576" marB="36576">
                    <a:solidFill>
                      <a:srgbClr val="E8EEF6"/>
                    </a:solidFill>
                  </a:tcPr>
                </a:tc>
              </a:tr>
              <a:tr h="411480">
                <a:tc>
                  <a:txBody>
                    <a:bodyPr/>
                    <a:lstStyle/>
                    <a:p>
                      <a:r>
                        <a:rPr sz="1200" b="0">
                          <a:solidFill>
                            <a:srgbClr val="1F2937"/>
                          </a:solidFill>
                        </a:rPr>
                        <a:t>Eshitish</a:t>
                      </a:r>
                    </a:p>
                  </a:txBody>
                  <a:tcPr marL="73152" marR="73152" marT="36576" marB="36576">
                    <a:solidFill>
                      <a:srgbClr val="FFFFFF"/>
                    </a:solidFill>
                  </a:tcPr>
                </a:tc>
                <a:tc>
                  <a:txBody>
                    <a:bodyPr/>
                    <a:lstStyle/>
                    <a:p>
                      <a:r>
                        <a:rPr sz="1200" b="0">
                          <a:solidFill>
                            <a:srgbClr val="1F2937"/>
                          </a:solidFill>
                        </a:rPr>
                        <a:t>Bir quloq / ikkala quloq</a:t>
                      </a:r>
                    </a:p>
                  </a:txBody>
                  <a:tcPr marL="73152" marR="73152" marT="36576" marB="36576">
                    <a:solidFill>
                      <a:srgbClr val="FFFFFF"/>
                    </a:solidFill>
                  </a:tcPr>
                </a:tc>
                <a:tc>
                  <a:txBody>
                    <a:bodyPr/>
                    <a:lstStyle/>
                    <a:p>
                      <a:r>
                        <a:rPr sz="1200" b="0">
                          <a:solidFill>
                            <a:srgbClr val="1F2937"/>
                          </a:solidFill>
                        </a:rPr>
                        <a:t>O‘rtacha / og‘ir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Yo‘qotish va baho</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281, 282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A’zo va nasl qoldirish qobiliyatining yo‘qotilishi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Qo‘l yoki oyoqning yo‘qotilishi — ularning tanadan uzilishi yoki faoliyatining turg‘un yo‘qolishi (falajlik va shu kabi holatlar). Kaft yoki tovon yo‘qotilishi ham qo‘l yoki oyoq yo‘qotilishiga tenglashtiriladi.</a:t>
            </a:r>
          </a:p>
          <a:p>
            <a:pPr>
              <a:spcAft>
                <a:spcPts val="1200"/>
              </a:spcAft>
            </a:pPr>
            <a:r>
              <a:rPr sz="2000">
                <a:solidFill>
                  <a:srgbClr val="1F2937"/>
                </a:solidFill>
                <a:latin typeface="Calibri"/>
              </a:rPr>
              <a:t>▸  Biron-bir a’zo yoki uning funksiyasining yo‘qotilishiga olib kelgan shikastlanish og‘ir tan jarohati hisoblanadi. Bitta urug‘don, tuxumdon yoki buyrak yo‘qotilishi ham shu qatorga kiradi.</a:t>
            </a:r>
          </a:p>
          <a:p>
            <a:pPr>
              <a:spcAft>
                <a:spcPts val="1200"/>
              </a:spcAft>
            </a:pPr>
            <a:r>
              <a:rPr sz="2000">
                <a:solidFill>
                  <a:srgbClr val="1F2937"/>
                </a:solidFill>
                <a:latin typeface="Calibri"/>
              </a:rPr>
              <a:t>▸  Nasl qoldirish qobiliyati erkakda jinsiy aloqa va urug‘lantirishni, ayolda jinsiy aloqa, urug‘lanish, homilani saqlash va bola tug‘ishni o‘z ichiga oladi.</a:t>
            </a:r>
          </a:p>
          <a:p>
            <a:pPr>
              <a:spcAft>
                <a:spcPts val="1200"/>
              </a:spcAft>
            </a:pPr>
            <a:r>
              <a:rPr sz="2000">
                <a:solidFill>
                  <a:srgbClr val="1F2937"/>
                </a:solidFill>
                <a:latin typeface="Calibri"/>
              </a:rPr>
              <a:t>▸  Jarohat natijasida shu funksiyalarni bajarishga monelik qiladigan holat paydo bo‘lsa, nasl qoldirish qobiliyati yo‘qotilgan hisoblanadi.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Homiladorlikning uzilishi mezoni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Homiladorlikning uzilishi — muddatidan qat’i nazar homila tushishi, ona qornida o‘lishi yoki erta tug‘ruq tufayli homiladorlik to‘xtashi. Bunday shikastlanish og‘ir jarohat sanaladi.</a:t>
            </a:r>
          </a:p>
          <a:p>
            <a:pPr>
              <a:spcAft>
                <a:spcPts val="1200"/>
              </a:spcAft>
            </a:pPr>
            <a:r>
              <a:rPr sz="2000">
                <a:solidFill>
                  <a:srgbClr val="1F2937"/>
                </a:solidFill>
                <a:latin typeface="Calibri"/>
              </a:rPr>
              <a:t>▸  Mezon faqat travmadan keyin uzilish o‘lik yoki tirik, ammo hayotga layoqatsiz go‘dak tug‘ilishi bilan tugagandagina qo‘llanadi.</a:t>
            </a:r>
          </a:p>
          <a:p>
            <a:pPr>
              <a:spcAft>
                <a:spcPts val="1200"/>
              </a:spcAft>
            </a:pPr>
            <a:r>
              <a:rPr sz="2000">
                <a:solidFill>
                  <a:srgbClr val="1F2937"/>
                </a:solidFill>
                <a:latin typeface="Calibri"/>
              </a:rPr>
              <a:t>▸  Uzilish jarohat bilan bevosita bog‘liq bo‘lishi, jarohatdan oldingi kasalliklar yoki ayol va homilaning individual xususiyatlariga aloqador bo‘lmasligi kerak.</a:t>
            </a:r>
          </a:p>
          <a:p>
            <a:pPr>
              <a:spcAft>
                <a:spcPts val="1200"/>
              </a:spcAft>
            </a:pPr>
            <a:r>
              <a:rPr sz="2000">
                <a:solidFill>
                  <a:srgbClr val="1F2937"/>
                </a:solidFill>
                <a:latin typeface="Calibri"/>
              </a:rPr>
              <a:t>▸  Hayotga layoqatli tirik go‘dak tug‘ilsa yoki bachadondan tashqari homiladorlik uzilsa, og‘irlik boshqa mezonlar (hayot uchun xavf, sog‘liq buzilishi davomiyligi, mehnat qobiliyati) bo‘yicha aniqlanadi.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Ruhiy buzilish va silliqlanmaydigan badburushlik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Ruhiy buzilish bor-yo‘qligi, jarohatdan oldin bo‘lmaganligi va hodisaga aloqasi aniqlanadi.</a:t>
            </a:r>
          </a:p>
          <a:p>
            <a:pPr>
              <a:spcAft>
                <a:spcPts val="800"/>
              </a:spcAft>
            </a:pPr>
            <a:r>
              <a:rPr sz="1800">
                <a:solidFill>
                  <a:srgbClr val="1F2937"/>
                </a:solidFill>
                <a:latin typeface="Calibri"/>
              </a:rPr>
              <a:t>▸  Shikastlanish va ruhiy buzilish bevosita sababiy bog‘liq bo‘lsagina, jarohat og‘ir baholanadi.</a:t>
            </a:r>
          </a:p>
          <a:p>
            <a:pPr>
              <a:spcAft>
                <a:spcPts val="800"/>
              </a:spcAft>
            </a:pPr>
            <a:r>
              <a:rPr sz="1800">
                <a:solidFill>
                  <a:srgbClr val="1F2937"/>
                </a:solidFill>
                <a:latin typeface="Calibri"/>
              </a:rPr>
              <a:t>▸  Silliqlanmaydigan iz o‘z-o‘zidan yoki konservativ davoda yo‘qolmaydi; plastik operatsiya talab qiladi.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382084"/>
                <a:gridCol w="1562356"/>
                <a:gridCol w="2343534"/>
              </a:tblGrid>
              <a:tr h="411480">
                <a:tc>
                  <a:txBody>
                    <a:bodyPr/>
                    <a:lstStyle/>
                    <a:p>
                      <a:r>
                        <a:rPr sz="1300" b="1">
                          <a:solidFill>
                            <a:srgbClr val="FFFFFF"/>
                          </a:solidFill>
                        </a:rPr>
                        <a:t>Mezon</a:t>
                      </a:r>
                    </a:p>
                  </a:txBody>
                  <a:tcPr marL="73152" marR="73152" marT="36576" marB="36576">
                    <a:solidFill>
                      <a:srgbClr val="0B1F3A"/>
                    </a:solidFill>
                  </a:tcPr>
                </a:tc>
                <a:tc>
                  <a:txBody>
                    <a:bodyPr/>
                    <a:lstStyle/>
                    <a:p>
                      <a:r>
                        <a:rPr sz="1300" b="1">
                          <a:solidFill>
                            <a:srgbClr val="FFFFFF"/>
                          </a:solidFill>
                        </a:rPr>
                        <a:t>Ishtirokchi</a:t>
                      </a:r>
                    </a:p>
                  </a:txBody>
                  <a:tcPr marL="73152" marR="73152" marT="36576" marB="36576">
                    <a:solidFill>
                      <a:srgbClr val="0B1F3A"/>
                    </a:solidFill>
                  </a:tcPr>
                </a:tc>
                <a:tc>
                  <a:txBody>
                    <a:bodyPr/>
                    <a:lstStyle/>
                    <a:p>
                      <a:r>
                        <a:rPr sz="1300" b="1">
                          <a:solidFill>
                            <a:srgbClr val="FFFFFF"/>
                          </a:solidFill>
                        </a:rPr>
                        <a:t>Aniqlanadigan</a:t>
                      </a:r>
                    </a:p>
                  </a:txBody>
                  <a:tcPr marL="73152" marR="73152" marT="36576" marB="36576">
                    <a:solidFill>
                      <a:srgbClr val="0B1F3A"/>
                    </a:solidFill>
                  </a:tcPr>
                </a:tc>
              </a:tr>
              <a:tr h="411480">
                <a:tc>
                  <a:txBody>
                    <a:bodyPr/>
                    <a:lstStyle/>
                    <a:p>
                      <a:r>
                        <a:rPr sz="1200" b="0">
                          <a:solidFill>
                            <a:srgbClr val="1F2937"/>
                          </a:solidFill>
                        </a:rPr>
                        <a:t>Ruhiy buzilish</a:t>
                      </a:r>
                    </a:p>
                  </a:txBody>
                  <a:tcPr marL="73152" marR="73152" marT="36576" marB="36576">
                    <a:solidFill>
                      <a:srgbClr val="E8EEF6"/>
                    </a:solidFill>
                  </a:tcPr>
                </a:tc>
                <a:tc>
                  <a:txBody>
                    <a:bodyPr/>
                    <a:lstStyle/>
                    <a:p>
                      <a:r>
                        <a:rPr sz="1200" b="0">
                          <a:solidFill>
                            <a:srgbClr val="1F2937"/>
                          </a:solidFill>
                        </a:rPr>
                        <a:t>Sud-psixiatr yoki psixiatr</a:t>
                      </a:r>
                    </a:p>
                  </a:txBody>
                  <a:tcPr marL="73152" marR="73152" marT="36576" marB="36576">
                    <a:solidFill>
                      <a:srgbClr val="E8EEF6"/>
                    </a:solidFill>
                  </a:tcPr>
                </a:tc>
                <a:tc>
                  <a:txBody>
                    <a:bodyPr/>
                    <a:lstStyle/>
                    <a:p>
                      <a:r>
                        <a:rPr sz="1200" b="0">
                          <a:solidFill>
                            <a:srgbClr val="1F2937"/>
                          </a:solidFill>
                        </a:rPr>
                        <a:t>Buzilish va travma aloqasi</a:t>
                      </a:r>
                    </a:p>
                  </a:txBody>
                  <a:tcPr marL="73152" marR="73152" marT="36576" marB="36576">
                    <a:solidFill>
                      <a:srgbClr val="E8EEF6"/>
                    </a:solidFill>
                  </a:tcPr>
                </a:tc>
              </a:tr>
              <a:tr h="411480">
                <a:tc>
                  <a:txBody>
                    <a:bodyPr/>
                    <a:lstStyle/>
                    <a:p>
                      <a:r>
                        <a:rPr sz="1200" b="0">
                          <a:solidFill>
                            <a:srgbClr val="1F2937"/>
                          </a:solidFill>
                        </a:rPr>
                        <a:t>Ruhiy buzilish (shubha)</a:t>
                      </a:r>
                    </a:p>
                  </a:txBody>
                  <a:tcPr marL="73152" marR="73152" marT="36576" marB="36576">
                    <a:solidFill>
                      <a:srgbClr val="FFFFFF"/>
                    </a:solidFill>
                  </a:tcPr>
                </a:tc>
                <a:tc>
                  <a:txBody>
                    <a:bodyPr/>
                    <a:lstStyle/>
                    <a:p>
                      <a:r>
                        <a:rPr sz="1200" b="0">
                          <a:solidFill>
                            <a:srgbClr val="1F2937"/>
                          </a:solidFill>
                        </a:rPr>
                        <a:t>Nevrolog, neyroxirurg</a:t>
                      </a:r>
                    </a:p>
                  </a:txBody>
                  <a:tcPr marL="73152" marR="73152" marT="36576" marB="36576">
                    <a:solidFill>
                      <a:srgbClr val="FFFFFF"/>
                    </a:solidFill>
                  </a:tcPr>
                </a:tc>
                <a:tc>
                  <a:txBody>
                    <a:bodyPr/>
                    <a:lstStyle/>
                    <a:p>
                      <a:r>
                        <a:rPr sz="1200" b="0">
                          <a:solidFill>
                            <a:srgbClr val="1F2937"/>
                          </a:solidFill>
                        </a:rPr>
                        <a:t>Boshqa kasallik sababini istisno qilish</a:t>
                      </a:r>
                    </a:p>
                  </a:txBody>
                  <a:tcPr marL="73152" marR="73152" marT="36576" marB="36576">
                    <a:solidFill>
                      <a:srgbClr val="FFFFFF"/>
                    </a:solidFill>
                  </a:tcPr>
                </a:tc>
              </a:tr>
              <a:tr h="411480">
                <a:tc>
                  <a:txBody>
                    <a:bodyPr/>
                    <a:lstStyle/>
                    <a:p>
                      <a:r>
                        <a:rPr sz="1200" b="0">
                          <a:solidFill>
                            <a:srgbClr val="1F2937"/>
                          </a:solidFill>
                        </a:rPr>
                        <a:t>Badburushlik</a:t>
                      </a:r>
                    </a:p>
                  </a:txBody>
                  <a:tcPr marL="73152" marR="73152" marT="36576" marB="36576">
                    <a:solidFill>
                      <a:srgbClr val="E8EEF6"/>
                    </a:solidFill>
                  </a:tcPr>
                </a:tc>
                <a:tc>
                  <a:txBody>
                    <a:bodyPr/>
                    <a:lstStyle/>
                    <a:p>
                      <a:r>
                        <a:rPr sz="1200" b="0">
                          <a:solidFill>
                            <a:srgbClr val="1F2937"/>
                          </a:solidFill>
                        </a:rPr>
                        <a:t>Kosmetolog, plastik jarroh</a:t>
                      </a:r>
                    </a:p>
                  </a:txBody>
                  <a:tcPr marL="73152" marR="73152" marT="36576" marB="36576">
                    <a:solidFill>
                      <a:srgbClr val="E8EEF6"/>
                    </a:solidFill>
                  </a:tcPr>
                </a:tc>
                <a:tc>
                  <a:txBody>
                    <a:bodyPr/>
                    <a:lstStyle/>
                    <a:p>
                      <a:r>
                        <a:rPr sz="1200" b="0">
                          <a:solidFill>
                            <a:srgbClr val="1F2937"/>
                          </a:solidFill>
                        </a:rPr>
                        <a:t>Silliqlanish xususiyati</a:t>
                      </a:r>
                    </a:p>
                  </a:txBody>
                  <a:tcPr marL="73152" marR="73152" marT="36576" marB="36576">
                    <a:solidFill>
                      <a:srgbClr val="E8EEF6"/>
                    </a:solidFill>
                  </a:tcPr>
                </a:tc>
              </a:tr>
              <a:tr h="411480">
                <a:tc>
                  <a:txBody>
                    <a:bodyPr/>
                    <a:lstStyle/>
                    <a:p>
                      <a:r>
                        <a:rPr sz="1200" b="0">
                          <a:solidFill>
                            <a:srgbClr val="1F2937"/>
                          </a:solidFill>
                        </a:rPr>
                        <a:t>Badburushlik (xulosa)</a:t>
                      </a:r>
                    </a:p>
                  </a:txBody>
                  <a:tcPr marL="73152" marR="73152" marT="36576" marB="36576">
                    <a:solidFill>
                      <a:srgbClr val="FFFFFF"/>
                    </a:solidFill>
                  </a:tcPr>
                </a:tc>
                <a:tc>
                  <a:txBody>
                    <a:bodyPr/>
                    <a:lstStyle/>
                    <a:p>
                      <a:r>
                        <a:rPr sz="1200" b="0">
                          <a:solidFill>
                            <a:srgbClr val="1F2937"/>
                          </a:solidFill>
                        </a:rPr>
                        <a:t>Sud</a:t>
                      </a:r>
                    </a:p>
                  </a:txBody>
                  <a:tcPr marL="73152" marR="73152" marT="36576" marB="36576">
                    <a:solidFill>
                      <a:srgbClr val="FFFFFF"/>
                    </a:solidFill>
                  </a:tcPr>
                </a:tc>
                <a:tc>
                  <a:txBody>
                    <a:bodyPr/>
                    <a:lstStyle/>
                    <a:p>
                      <a:r>
                        <a:rPr sz="1200" b="0">
                          <a:solidFill>
                            <a:srgbClr val="1F2937"/>
                          </a:solidFill>
                        </a:rPr>
                        <a:t>Badburushlik mavjudligi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ishtirokchilari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Bir necha mezon va ko‘p jarohatlarda baholash qoidalari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Og‘irlikni aniqlashda bitta tibbiy mezonning mavjudligi yetarli.</a:t>
            </a:r>
          </a:p>
          <a:p>
            <a:pPr>
              <a:spcAft>
                <a:spcPts val="800"/>
              </a:spcAft>
            </a:pPr>
            <a:r>
              <a:rPr sz="1800">
                <a:solidFill>
                  <a:srgbClr val="1F2937"/>
                </a:solidFill>
                <a:latin typeface="Calibri"/>
              </a:rPr>
              <a:t>▸  Avvalgi kasallik yoki nuqson bo‘lsa, faqat yangi jarohat bilan sababiy bog‘liq oqibat hisobga olinadi.</a:t>
            </a:r>
          </a:p>
          <a:p>
            <a:pPr>
              <a:spcAft>
                <a:spcPts val="800"/>
              </a:spcAft>
            </a:pPr>
            <a:r>
              <a:rPr sz="1800">
                <a:solidFill>
                  <a:srgbClr val="1F2937"/>
                </a:solidFill>
                <a:latin typeface="Calibri"/>
              </a:rPr>
              <a:t>▸  Yosh, kasallik yoki tibbiy yordam nuqsoni sabab bo‘lgan yomonlashuv og‘irlikni baholashda inobatga olinmaydi.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3326306"/>
                <a:gridCol w="1961668"/>
              </a:tblGrid>
              <a:tr h="411480">
                <a:tc>
                  <a:txBody>
                    <a:bodyPr/>
                    <a:lstStyle/>
                    <a:p>
                      <a:r>
                        <a:rPr sz="1400" b="1">
                          <a:solidFill>
                            <a:srgbClr val="FFFFFF"/>
                          </a:solidFill>
                        </a:rPr>
                        <a:t>Vaziyat</a:t>
                      </a:r>
                    </a:p>
                  </a:txBody>
                  <a:tcPr marL="73152" marR="73152" marT="36576" marB="36576">
                    <a:solidFill>
                      <a:srgbClr val="0B1F3A"/>
                    </a:solidFill>
                  </a:tcPr>
                </a:tc>
                <a:tc>
                  <a:txBody>
                    <a:bodyPr/>
                    <a:lstStyle/>
                    <a:p>
                      <a:r>
                        <a:rPr sz="1400" b="1">
                          <a:solidFill>
                            <a:srgbClr val="FFFFFF"/>
                          </a:solidFill>
                        </a:rPr>
                        <a:t>Qoida</a:t>
                      </a:r>
                    </a:p>
                  </a:txBody>
                  <a:tcPr marL="73152" marR="73152" marT="36576" marB="36576">
                    <a:solidFill>
                      <a:srgbClr val="0B1F3A"/>
                    </a:solidFill>
                  </a:tcPr>
                </a:tc>
              </a:tr>
              <a:tr h="411480">
                <a:tc>
                  <a:txBody>
                    <a:bodyPr/>
                    <a:lstStyle/>
                    <a:p>
                      <a:r>
                        <a:rPr sz="1300" b="0">
                          <a:solidFill>
                            <a:srgbClr val="1F2937"/>
                          </a:solidFill>
                        </a:rPr>
                        <a:t>Bir necha mezon qo‘llanadi</a:t>
                      </a:r>
                    </a:p>
                  </a:txBody>
                  <a:tcPr marL="73152" marR="73152" marT="36576" marB="36576">
                    <a:solidFill>
                      <a:srgbClr val="E8EEF6"/>
                    </a:solidFill>
                  </a:tcPr>
                </a:tc>
                <a:tc>
                  <a:txBody>
                    <a:bodyPr/>
                    <a:lstStyle/>
                    <a:p>
                      <a:r>
                        <a:rPr sz="1300" b="0">
                          <a:solidFill>
                            <a:srgbClr val="1F2937"/>
                          </a:solidFill>
                        </a:rPr>
                        <a:t>Og‘irroq mezon bo‘yicha</a:t>
                      </a:r>
                    </a:p>
                  </a:txBody>
                  <a:tcPr marL="73152" marR="73152" marT="36576" marB="36576">
                    <a:solidFill>
                      <a:srgbClr val="E8EEF6"/>
                    </a:solidFill>
                  </a:tcPr>
                </a:tc>
              </a:tr>
              <a:tr h="411480">
                <a:tc>
                  <a:txBody>
                    <a:bodyPr/>
                    <a:lstStyle/>
                    <a:p>
                      <a:r>
                        <a:rPr sz="1300" b="0">
                          <a:solidFill>
                            <a:srgbClr val="1F2937"/>
                          </a:solidFill>
                        </a:rPr>
                        <a:t>Bir hodisadagi o‘zaro og‘irlashtiruvchi</a:t>
                      </a:r>
                    </a:p>
                  </a:txBody>
                  <a:tcPr marL="73152" marR="73152" marT="36576" marB="36576">
                    <a:solidFill>
                      <a:srgbClr val="FFFFFF"/>
                    </a:solidFill>
                  </a:tcPr>
                </a:tc>
                <a:tc>
                  <a:txBody>
                    <a:bodyPr/>
                    <a:lstStyle/>
                    <a:p>
                      <a:r>
                        <a:rPr sz="1300" b="0">
                          <a:solidFill>
                            <a:srgbClr val="1F2937"/>
                          </a:solidFill>
                        </a:rPr>
                        <a:t>Majmui uchun umumiy</a:t>
                      </a:r>
                    </a:p>
                  </a:txBody>
                  <a:tcPr marL="73152" marR="73152" marT="36576" marB="36576">
                    <a:solidFill>
                      <a:srgbClr val="FFFFFF"/>
                    </a:solidFill>
                  </a:tcPr>
                </a:tc>
              </a:tr>
              <a:tr h="411480">
                <a:tc>
                  <a:txBody>
                    <a:bodyPr/>
                    <a:lstStyle/>
                    <a:p>
                      <a:r>
                        <a:rPr sz="1300" b="0">
                          <a:solidFill>
                            <a:srgbClr val="1F2937"/>
                          </a:solidFill>
                        </a:rPr>
                        <a:t>Turli muddatda yetkazilgan</a:t>
                      </a:r>
                    </a:p>
                  </a:txBody>
                  <a:tcPr marL="73152" marR="73152" marT="36576" marB="36576">
                    <a:solidFill>
                      <a:srgbClr val="E8EEF6"/>
                    </a:solidFill>
                  </a:tcPr>
                </a:tc>
                <a:tc>
                  <a:txBody>
                    <a:bodyPr/>
                    <a:lstStyle/>
                    <a:p>
                      <a:r>
                        <a:rPr sz="1300" b="0">
                          <a:solidFill>
                            <a:srgbClr val="1F2937"/>
                          </a:solidFill>
                        </a:rPr>
                        <a:t>Har biri alohida</a:t>
                      </a:r>
                    </a:p>
                  </a:txBody>
                  <a:tcPr marL="73152" marR="73152" marT="36576" marB="36576">
                    <a:solidFill>
                      <a:srgbClr val="E8EEF6"/>
                    </a:solidFill>
                  </a:tcPr>
                </a:tc>
              </a:tr>
              <a:tr h="411480">
                <a:tc>
                  <a:txBody>
                    <a:bodyPr/>
                    <a:lstStyle/>
                    <a:p>
                      <a:r>
                        <a:rPr sz="1300" b="0">
                          <a:solidFill>
                            <a:srgbClr val="1F2937"/>
                          </a:solidFill>
                        </a:rPr>
                        <a:t>Mohiyat yoki oqibat mavhum</a:t>
                      </a:r>
                    </a:p>
                  </a:txBody>
                  <a:tcPr marL="73152" marR="73152" marT="36576" marB="36576">
                    <a:solidFill>
                      <a:srgbClr val="FFFFFF"/>
                    </a:solidFill>
                  </a:tcPr>
                </a:tc>
                <a:tc>
                  <a:txBody>
                    <a:bodyPr/>
                    <a:lstStyle/>
                    <a:p>
                      <a:r>
                        <a:rPr sz="1300" b="0">
                          <a:solidFill>
                            <a:srgbClr val="1F2937"/>
                          </a:solidFill>
                        </a:rPr>
                        <a:t>Og‘irlik aniqlanmaydi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Baholash qoidalari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283, 284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tan jarohati og‘irligini baholash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jabrlanuvchining jarohatgacha sog‘ bo‘lgan bir ko‘zi shikastdan so‘ng ko‘rmay qoldi; sog‘liq buzilishi 6 kundan ortiq, 21 kundan oshmagan.</a:t>
            </a:r>
          </a:p>
          <a:p>
            <a:pPr>
              <a:spcAft>
                <a:spcPts val="1200"/>
              </a:spcAft>
            </a:pPr>
            <a:r>
              <a:rPr sz="2200">
                <a:solidFill>
                  <a:srgbClr val="1F2937"/>
                </a:solidFill>
                <a:latin typeface="Calibri"/>
              </a:rPr>
              <a:t>▸  Savol: og‘irlik qaysi mezon bo‘yicha va qaysi darajada aniqlanadi? Nega faqat buzilish davomiyligi tanlanmaydi?</a:t>
            </a:r>
          </a:p>
          <a:p>
            <a:pPr>
              <a:spcAft>
                <a:spcPts val="1200"/>
              </a:spcAft>
            </a:pPr>
            <a:r>
              <a:rPr sz="2200">
                <a:solidFill>
                  <a:srgbClr val="1F2937"/>
                </a:solidFill>
                <a:latin typeface="Calibri"/>
              </a:rPr>
              <a:t>▸  Yo‘nalish: bir ko‘zda ko‘rishning to‘liq yo‘qolishi mehnat qobiliyatining uchdan biridan ortig‘ini yo‘qotadi; og‘irroq mezon tanlanib, jarohat og‘ir baholanadi.</a:t>
            </a:r>
          </a:p>
          <a:p>
            <a:pPr>
              <a:spcAft>
                <a:spcPts val="1200"/>
              </a:spcAft>
            </a:pPr>
            <a:r>
              <a:rPr sz="2200">
                <a:solidFill>
                  <a:srgbClr val="1F2937"/>
                </a:solidFill>
                <a:latin typeface="Calibri"/>
              </a:rPr>
              <a:t>▸  Diqqat: xato qilish xavfi — klinik og‘irlik ≠ sud-tibbiy og‘irlik; mezon faqat umumiy mehnat qobiliyatiga tayanadi.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281, 281, 283, 278–279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Salomatlik holatini aniqlash va simulyasiya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Tayinlanish holatlari: kasallik tufayli sudga yoki tergovga kelmaslik, mahbusning ishlashdan bosh tortishi, hukm ijrosini kechiktirish, harbiy xizmatdan bosh tortish.</a:t>
            </a:r>
          </a:p>
          <a:p>
            <a:pPr>
              <a:spcAft>
                <a:spcPts val="1200"/>
              </a:spcAft>
            </a:pPr>
            <a:r>
              <a:rPr sz="2000">
                <a:solidFill>
                  <a:srgbClr val="1F2937"/>
                </a:solidFill>
                <a:latin typeface="Calibri"/>
              </a:rPr>
              <a:t>▸  Ekspertiza komission tartibda, klinik mutaxassislar ishtirokida o‘tadi. Tibbiy hujjatlar o‘rganiladi, kerak bo‘lsa shaxs statsionarda tekshiriladi.</a:t>
            </a:r>
          </a:p>
          <a:p>
            <a:pPr>
              <a:spcAft>
                <a:spcPts val="1200"/>
              </a:spcAft>
            </a:pPr>
            <a:r>
              <a:rPr sz="2000">
                <a:solidFill>
                  <a:srgbClr val="1F2937"/>
                </a:solidFill>
                <a:latin typeface="Calibri"/>
              </a:rPr>
              <a:t>▸  Simulyasiya — sog‘lom shaxsning mavjud bo‘lmagan kasallikni bor deb ko‘rsatishi. Bunda kasallikning sub’ektiv va ob’ektiv belgilari ko‘rsatilishi mumkin.</a:t>
            </a:r>
          </a:p>
          <a:p>
            <a:pPr>
              <a:spcAft>
                <a:spcPts val="1200"/>
              </a:spcAft>
            </a:pPr>
            <a:r>
              <a:rPr sz="2000">
                <a:solidFill>
                  <a:srgbClr val="1F2937"/>
                </a:solidFill>
                <a:latin typeface="Calibri"/>
              </a:rPr>
              <a:t>▸  Simulyantni aniqlash uchun uni uzoqroq kuzatish kerak. Ayrim tekshiruvlar ogohlantirmasdan, to‘satdan, takroran o‘tkaziladi. Diagnozgacha davo tayinlanmaydi.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284, 285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Aggravatsiya va dissimulyasiya: solishtirish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Aggravatsiyada ko‘pincha sub’ektiv belgilar og‘irroq ko‘rsatiladi. Ular ob’ektiv topilmalarga mos keladimi, shu tahlil qilinadi.</a:t>
            </a:r>
          </a:p>
          <a:p>
            <a:pPr>
              <a:spcAft>
                <a:spcPts val="800"/>
              </a:spcAft>
            </a:pPr>
            <a:r>
              <a:rPr sz="1800">
                <a:solidFill>
                  <a:srgbClr val="1F2937"/>
                </a:solidFill>
                <a:latin typeface="Calibri"/>
              </a:rPr>
              <a:t>▸  Dissimulyasiya simulyasiyaga qarama-qarshi, kamroq uchraydi va har doim qasddan qilinadi.</a:t>
            </a:r>
          </a:p>
          <a:p>
            <a:pPr>
              <a:spcAft>
                <a:spcPts val="800"/>
              </a:spcAft>
            </a:pPr>
            <a:r>
              <a:rPr sz="1800">
                <a:solidFill>
                  <a:srgbClr val="1F2937"/>
                </a:solidFill>
                <a:latin typeface="Calibri"/>
              </a:rPr>
              <a:t>▸  Uchala holatda ham ekspertiza komission tartibda, klinik mutaxassislar ishtirokida o‘tadi; ko‘pincha statsionar kuzatuv kerak.</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19647"/>
                <a:gridCol w="2299119"/>
                <a:gridCol w="2069207"/>
              </a:tblGrid>
              <a:tr h="411480">
                <a:tc>
                  <a:txBody>
                    <a:bodyPr/>
                    <a:lstStyle/>
                    <a:p>
                      <a:r>
                        <a:rPr sz="1300" b="1">
                          <a:solidFill>
                            <a:srgbClr val="FFFFFF"/>
                          </a:solidFill>
                        </a:rPr>
                        <a:t>Tushuncha</a:t>
                      </a:r>
                    </a:p>
                  </a:txBody>
                  <a:tcPr marL="73152" marR="73152" marT="36576" marB="36576">
                    <a:solidFill>
                      <a:srgbClr val="0B1F3A"/>
                    </a:solidFill>
                  </a:tcPr>
                </a:tc>
                <a:tc>
                  <a:txBody>
                    <a:bodyPr/>
                    <a:lstStyle/>
                    <a:p>
                      <a:r>
                        <a:rPr sz="1300" b="1">
                          <a:solidFill>
                            <a:srgbClr val="FFFFFF"/>
                          </a:solidFill>
                        </a:rPr>
                        <a:t>Mohiyati</a:t>
                      </a:r>
                    </a:p>
                  </a:txBody>
                  <a:tcPr marL="73152" marR="73152" marT="36576" marB="36576">
                    <a:solidFill>
                      <a:srgbClr val="0B1F3A"/>
                    </a:solidFill>
                  </a:tcPr>
                </a:tc>
                <a:tc>
                  <a:txBody>
                    <a:bodyPr/>
                    <a:lstStyle/>
                    <a:p>
                      <a:r>
                        <a:rPr sz="1300" b="1">
                          <a:solidFill>
                            <a:srgbClr val="FFFFFF"/>
                          </a:solidFill>
                        </a:rPr>
                        <a:t>Maqsad/holat</a:t>
                      </a:r>
                    </a:p>
                  </a:txBody>
                  <a:tcPr marL="73152" marR="73152" marT="36576" marB="36576">
                    <a:solidFill>
                      <a:srgbClr val="0B1F3A"/>
                    </a:solidFill>
                  </a:tcPr>
                </a:tc>
              </a:tr>
              <a:tr h="411480">
                <a:tc>
                  <a:txBody>
                    <a:bodyPr/>
                    <a:lstStyle/>
                    <a:p>
                      <a:r>
                        <a:rPr sz="1200" b="0">
                          <a:solidFill>
                            <a:srgbClr val="1F2937"/>
                          </a:solidFill>
                        </a:rPr>
                        <a:t>Simulyasiya</a:t>
                      </a:r>
                    </a:p>
                  </a:txBody>
                  <a:tcPr marL="73152" marR="73152" marT="36576" marB="36576">
                    <a:solidFill>
                      <a:srgbClr val="E8EEF6"/>
                    </a:solidFill>
                  </a:tcPr>
                </a:tc>
                <a:tc>
                  <a:txBody>
                    <a:bodyPr/>
                    <a:lstStyle/>
                    <a:p>
                      <a:r>
                        <a:rPr sz="1200" b="0">
                          <a:solidFill>
                            <a:srgbClr val="1F2937"/>
                          </a:solidFill>
                        </a:rPr>
                        <a:t>Yo‘q kasallikni bor deb ko‘rsatish</a:t>
                      </a:r>
                    </a:p>
                  </a:txBody>
                  <a:tcPr marL="73152" marR="73152" marT="36576" marB="36576">
                    <a:solidFill>
                      <a:srgbClr val="E8EEF6"/>
                    </a:solidFill>
                  </a:tcPr>
                </a:tc>
                <a:tc>
                  <a:txBody>
                    <a:bodyPr/>
                    <a:lstStyle/>
                    <a:p>
                      <a:r>
                        <a:rPr sz="1200" b="0">
                          <a:solidFill>
                            <a:srgbClr val="1F2937"/>
                          </a:solidFill>
                        </a:rPr>
                        <a:t>Jazodan, harbiy xizmatdan qutulish</a:t>
                      </a:r>
                    </a:p>
                  </a:txBody>
                  <a:tcPr marL="73152" marR="73152" marT="36576" marB="36576">
                    <a:solidFill>
                      <a:srgbClr val="E8EEF6"/>
                    </a:solidFill>
                  </a:tcPr>
                </a:tc>
              </a:tr>
              <a:tr h="411480">
                <a:tc>
                  <a:txBody>
                    <a:bodyPr/>
                    <a:lstStyle/>
                    <a:p>
                      <a:r>
                        <a:rPr sz="1200" b="0">
                          <a:solidFill>
                            <a:srgbClr val="1F2937"/>
                          </a:solidFill>
                        </a:rPr>
                        <a:t>Aggravatsiya</a:t>
                      </a:r>
                    </a:p>
                  </a:txBody>
                  <a:tcPr marL="73152" marR="73152" marT="36576" marB="36576">
                    <a:solidFill>
                      <a:srgbClr val="FFFFFF"/>
                    </a:solidFill>
                  </a:tcPr>
                </a:tc>
                <a:tc>
                  <a:txBody>
                    <a:bodyPr/>
                    <a:lstStyle/>
                    <a:p>
                      <a:r>
                        <a:rPr sz="1200" b="0">
                          <a:solidFill>
                            <a:srgbClr val="1F2937"/>
                          </a:solidFill>
                        </a:rPr>
                        <a:t>Bor kasallik belgisini og‘irroq ko‘rsatish</a:t>
                      </a:r>
                    </a:p>
                  </a:txBody>
                  <a:tcPr marL="73152" marR="73152" marT="36576" marB="36576">
                    <a:solidFill>
                      <a:srgbClr val="FFFFFF"/>
                    </a:solidFill>
                  </a:tcPr>
                </a:tc>
                <a:tc>
                  <a:txBody>
                    <a:bodyPr/>
                    <a:lstStyle/>
                    <a:p>
                      <a:r>
                        <a:rPr sz="1200" b="0">
                          <a:solidFill>
                            <a:srgbClr val="1F2937"/>
                          </a:solidFill>
                        </a:rPr>
                        <a:t>Sub’ektiv belgilar; davoni rad etish</a:t>
                      </a:r>
                    </a:p>
                  </a:txBody>
                  <a:tcPr marL="73152" marR="73152" marT="36576" marB="36576">
                    <a:solidFill>
                      <a:srgbClr val="FFFFFF"/>
                    </a:solidFill>
                  </a:tcPr>
                </a:tc>
              </a:tr>
              <a:tr h="411480">
                <a:tc>
                  <a:txBody>
                    <a:bodyPr/>
                    <a:lstStyle/>
                    <a:p>
                      <a:r>
                        <a:rPr sz="1200" b="0">
                          <a:solidFill>
                            <a:srgbClr val="1F2937"/>
                          </a:solidFill>
                        </a:rPr>
                        <a:t>Dissimulyasiya</a:t>
                      </a:r>
                    </a:p>
                  </a:txBody>
                  <a:tcPr marL="73152" marR="73152" marT="36576" marB="36576">
                    <a:solidFill>
                      <a:srgbClr val="E8EEF6"/>
                    </a:solidFill>
                  </a:tcPr>
                </a:tc>
                <a:tc>
                  <a:txBody>
                    <a:bodyPr/>
                    <a:lstStyle/>
                    <a:p>
                      <a:r>
                        <a:rPr sz="1200" b="0">
                          <a:solidFill>
                            <a:srgbClr val="1F2937"/>
                          </a:solidFill>
                        </a:rPr>
                        <a:t>Kasallikni yoki jarohatni yashirish</a:t>
                      </a:r>
                    </a:p>
                  </a:txBody>
                  <a:tcPr marL="73152" marR="73152" marT="36576" marB="36576">
                    <a:solidFill>
                      <a:srgbClr val="E8EEF6"/>
                    </a:solidFill>
                  </a:tcPr>
                </a:tc>
                <a:tc>
                  <a:txBody>
                    <a:bodyPr/>
                    <a:lstStyle/>
                    <a:p>
                      <a:r>
                        <a:rPr sz="1200" b="0">
                          <a:solidFill>
                            <a:srgbClr val="1F2937"/>
                          </a:solidFill>
                        </a:rPr>
                        <a:t>Haydovchi, uchuvchi, g‘avvos</a:t>
                      </a:r>
                    </a:p>
                  </a:txBody>
                  <a:tcPr marL="73152" marR="73152" marT="36576" marB="36576">
                    <a:solidFill>
                      <a:srgbClr val="E8EEF6"/>
                    </a:solidFill>
                  </a:tcPr>
                </a:tc>
              </a:tr>
              <a:tr h="411480">
                <a:tc>
                  <a:txBody>
                    <a:bodyPr/>
                    <a:lstStyle/>
                    <a:p>
                      <a:r>
                        <a:rPr sz="1200" b="0">
                          <a:solidFill>
                            <a:srgbClr val="1F2937"/>
                          </a:solidFill>
                        </a:rPr>
                        <a:t>Patologik shakl</a:t>
                      </a:r>
                    </a:p>
                  </a:txBody>
                  <a:tcPr marL="73152" marR="73152" marT="36576" marB="36576">
                    <a:solidFill>
                      <a:srgbClr val="FFFFFF"/>
                    </a:solidFill>
                  </a:tcPr>
                </a:tc>
                <a:tc>
                  <a:txBody>
                    <a:bodyPr/>
                    <a:lstStyle/>
                    <a:p>
                      <a:r>
                        <a:rPr sz="1200" b="0">
                          <a:solidFill>
                            <a:srgbClr val="1F2937"/>
                          </a:solidFill>
                        </a:rPr>
                        <a:t>Simulyasiya/aggravatsiya maqsadsiz bo‘ladi</a:t>
                      </a:r>
                    </a:p>
                  </a:txBody>
                  <a:tcPr marL="73152" marR="73152" marT="36576" marB="36576">
                    <a:solidFill>
                      <a:srgbClr val="FFFFFF"/>
                    </a:solidFill>
                  </a:tcPr>
                </a:tc>
                <a:tc>
                  <a:txBody>
                    <a:bodyPr/>
                    <a:lstStyle/>
                    <a:p>
                      <a:r>
                        <a:rPr sz="1200" b="0">
                          <a:solidFill>
                            <a:srgbClr val="1F2937"/>
                          </a:solidFill>
                        </a:rPr>
                        <a:t>Nerv yoki ruhiy kasallik alomati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tushunchani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285, 286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 simulyasiya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sog‘lom shaxs mavjud bo‘lmagan kasallikni bor deb ko‘rsatsa, bu qaysi holat? (Javob: simulyasiya.)</a:t>
            </a:r>
          </a:p>
          <a:p>
            <a:pPr>
              <a:spcAft>
                <a:spcPts val="1200"/>
              </a:spcAft>
            </a:pPr>
            <a:r>
              <a:rPr sz="2200">
                <a:solidFill>
                  <a:srgbClr val="1F2937"/>
                </a:solidFill>
                <a:latin typeface="Calibri"/>
              </a:rPr>
              <a:t>▸  2-savol: haqiqiy kasallik belgilari bo‘rttirilsa yoki davo qabul qilinmasa, bu nima? (Javob: aggravatsiya.)</a:t>
            </a:r>
          </a:p>
          <a:p>
            <a:pPr>
              <a:spcAft>
                <a:spcPts val="1200"/>
              </a:spcAft>
            </a:pPr>
            <a:r>
              <a:rPr sz="2200">
                <a:solidFill>
                  <a:srgbClr val="1F2937"/>
                </a:solidFill>
                <a:latin typeface="Calibri"/>
              </a:rPr>
              <a:t>▸  3-savol: uchuvchi yoki haydovchi kasallikni yashirsa, bu nima? (Javob: dissimulyasiya.)</a:t>
            </a:r>
          </a:p>
          <a:p>
            <a:pPr>
              <a:spcAft>
                <a:spcPts val="1200"/>
              </a:spcAft>
            </a:pPr>
            <a:r>
              <a:rPr sz="2200">
                <a:solidFill>
                  <a:srgbClr val="1F2937"/>
                </a:solidFill>
                <a:latin typeface="Calibri"/>
              </a:rPr>
              <a:t>▸  Diqqat: xato qilish xavfi — simulyasiya ≠ dissimulyasiya. Birinchisi kasallikni ko‘rsatadi, ikkinchisi yashiradi.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285, 286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Sun’iy kasalliklar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Teri va teri osti: sun’iy shish, o‘sma, abssess, flegmona, dermatit. Siqib boylash yoki ko‘p marta yengil zarba shishga, teri ostiga parafin, vazelin yuborish o‘smaga olib keladi.</a:t>
            </a:r>
          </a:p>
          <a:p>
            <a:pPr>
              <a:spcAft>
                <a:spcPts val="1200"/>
              </a:spcAft>
            </a:pPr>
            <a:r>
              <a:rPr sz="2000">
                <a:solidFill>
                  <a:srgbClr val="1F2937"/>
                </a:solidFill>
                <a:latin typeface="Calibri"/>
              </a:rPr>
              <a:t>▸  Ichki a’zolarda kam uchraydi: surgi dori yoki sovun eritmasi — o‘tkir gastroenterit, ko‘p osh tuzi — nefrozo-nefrit, efedrin kabi moddalar — gipertonik kasallik alomatlari.</a:t>
            </a:r>
          </a:p>
          <a:p>
            <a:pPr>
              <a:spcAft>
                <a:spcPts val="1200"/>
              </a:spcAft>
            </a:pPr>
            <a:r>
              <a:rPr sz="2000">
                <a:solidFill>
                  <a:srgbClr val="1F2937"/>
                </a:solidFill>
                <a:latin typeface="Calibri"/>
              </a:rPr>
              <a:t>▸  Ko‘z: ishqalash, chang, qum, kislota yoki ishqor kon’yunktivit va keratit chaqiradi. Quloq: yo‘lga yot jism kiritiladi, nog‘ora parda sanchuvchi jism bilan teshiladi.</a:t>
            </a:r>
          </a:p>
          <a:p>
            <a:pPr>
              <a:spcAft>
                <a:spcPts val="1200"/>
              </a:spcAft>
            </a:pPr>
            <a:r>
              <a:rPr sz="2000">
                <a:solidFill>
                  <a:srgbClr val="1F2937"/>
                </a:solidFill>
                <a:latin typeface="Calibri"/>
              </a:rPr>
              <a:t>▸  Diqqat: no‘xatli qopcha bilan chaqirilgan to‘g‘ri ichak tushishida, chin tushishdan farqli, shilliq qavat va orqa teshik sohasida jarohatlar topiladi.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286, 286-287, 287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A’zobuzarlik va o‘zini shikastlash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A’zobuzarlik — qasddan o‘ziga shikast yetkazish; ko‘pincha harbiy xizmatdan bosh tortish uchun.</a:t>
            </a:r>
          </a:p>
          <a:p>
            <a:pPr>
              <a:spcAft>
                <a:spcPts val="800"/>
              </a:spcAft>
            </a:pPr>
            <a:r>
              <a:rPr sz="1800">
                <a:solidFill>
                  <a:srgbClr val="1F2937"/>
                </a:solidFill>
                <a:latin typeface="Calibri"/>
              </a:rPr>
              <a:t>▸  Jarohatni ko‘pincha o‘zi yetkazadi; kamdan-kam kelishuvga binoan boshqa shaxs.</a:t>
            </a:r>
          </a:p>
          <a:p>
            <a:pPr>
              <a:spcAft>
                <a:spcPts val="800"/>
              </a:spcAft>
            </a:pPr>
            <a:r>
              <a:rPr sz="1800">
                <a:solidFill>
                  <a:srgbClr val="1F2937"/>
                </a:solidFill>
                <a:latin typeface="Calibri"/>
              </a:rPr>
              <a:t>▸  Tergov eksperimenti: shaxs bayoni, shaxs va qurol joylashuvi hodisaga yaqin sharoitda tekshiriladi.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Belgi</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Joylashuv</a:t>
                      </a:r>
                    </a:p>
                  </a:txBody>
                  <a:tcPr marL="73152" marR="73152" marT="36576" marB="36576">
                    <a:solidFill>
                      <a:srgbClr val="E8EEF6"/>
                    </a:solidFill>
                  </a:tcPr>
                </a:tc>
                <a:tc>
                  <a:txBody>
                    <a:bodyPr/>
                    <a:lstStyle/>
                    <a:p>
                      <a:r>
                        <a:rPr sz="1300" b="0">
                          <a:solidFill>
                            <a:srgbClr val="1F2937"/>
                          </a:solidFill>
                        </a:rPr>
                        <a:t>Qo‘l yetadigan soha, asosan kaft</a:t>
                      </a:r>
                    </a:p>
                  </a:txBody>
                  <a:tcPr marL="73152" marR="73152" marT="36576" marB="36576">
                    <a:solidFill>
                      <a:srgbClr val="E8EEF6"/>
                    </a:solidFill>
                  </a:tcPr>
                </a:tc>
              </a:tr>
              <a:tr h="411480">
                <a:tc>
                  <a:txBody>
                    <a:bodyPr/>
                    <a:lstStyle/>
                    <a:p>
                      <a:r>
                        <a:rPr sz="1300" b="0">
                          <a:solidFill>
                            <a:srgbClr val="1F2937"/>
                          </a:solidFill>
                        </a:rPr>
                        <a:t>Qurol</a:t>
                      </a:r>
                    </a:p>
                  </a:txBody>
                  <a:tcPr marL="73152" marR="73152" marT="36576" marB="36576">
                    <a:solidFill>
                      <a:srgbClr val="FFFFFF"/>
                    </a:solidFill>
                  </a:tcPr>
                </a:tc>
                <a:tc>
                  <a:txBody>
                    <a:bodyPr/>
                    <a:lstStyle/>
                    <a:p>
                      <a:r>
                        <a:rPr sz="1300" b="0">
                          <a:solidFill>
                            <a:srgbClr val="1F2937"/>
                          </a:solidFill>
                        </a:rPr>
                        <a:t>O‘tkir, o‘qotar, ba’zan o‘tmas jism</a:t>
                      </a:r>
                    </a:p>
                  </a:txBody>
                  <a:tcPr marL="73152" marR="73152" marT="36576" marB="36576">
                    <a:solidFill>
                      <a:srgbClr val="FFFFFF"/>
                    </a:solidFill>
                  </a:tcPr>
                </a:tc>
              </a:tr>
              <a:tr h="411480">
                <a:tc>
                  <a:txBody>
                    <a:bodyPr/>
                    <a:lstStyle/>
                    <a:p>
                      <a:r>
                        <a:rPr sz="1300" b="0">
                          <a:solidFill>
                            <a:srgbClr val="1F2937"/>
                          </a:solidFill>
                        </a:rPr>
                        <a:t>Yaralar</a:t>
                      </a:r>
                    </a:p>
                  </a:txBody>
                  <a:tcPr marL="73152" marR="73152" marT="36576" marB="36576">
                    <a:solidFill>
                      <a:srgbClr val="E8EEF6"/>
                    </a:solidFill>
                  </a:tcPr>
                </a:tc>
                <a:tc>
                  <a:txBody>
                    <a:bodyPr/>
                    <a:lstStyle/>
                    <a:p>
                      <a:r>
                        <a:rPr sz="1300" b="0">
                          <a:solidFill>
                            <a:srgbClr val="1F2937"/>
                          </a:solidFill>
                        </a:rPr>
                        <a:t>Yaqinida bir necha yuzaki yara</a:t>
                      </a:r>
                    </a:p>
                  </a:txBody>
                  <a:tcPr marL="73152" marR="73152" marT="36576" marB="36576">
                    <a:solidFill>
                      <a:srgbClr val="E8EEF6"/>
                    </a:solidFill>
                  </a:tcPr>
                </a:tc>
              </a:tr>
              <a:tr h="411480">
                <a:tc>
                  <a:txBody>
                    <a:bodyPr/>
                    <a:lstStyle/>
                    <a:p>
                      <a:r>
                        <a:rPr sz="1300" b="0">
                          <a:solidFill>
                            <a:srgbClr val="1F2937"/>
                          </a:solidFill>
                        </a:rPr>
                        <a:t>Amputatsiya</a:t>
                      </a:r>
                    </a:p>
                  </a:txBody>
                  <a:tcPr marL="73152" marR="73152" marT="36576" marB="36576">
                    <a:solidFill>
                      <a:srgbClr val="FFFFFF"/>
                    </a:solidFill>
                  </a:tcPr>
                </a:tc>
                <a:tc>
                  <a:txBody>
                    <a:bodyPr/>
                    <a:lstStyle/>
                    <a:p>
                      <a:r>
                        <a:rPr sz="1300" b="0">
                          <a:solidFill>
                            <a:srgbClr val="1F2937"/>
                          </a:solidFill>
                        </a:rPr>
                        <a:t>Turli sathda (baxtsiz hodisada bir sathda)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O‘zini shikastlash belgilari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287, 287-288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a’zobuzarlikka shubha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Taxminiy vaziyat: harbiy xizmatga chaqirilgan yigit kaftidagi jarohatni ish paytidagi baxtsiz hodisa deb tushuntiradi.</a:t>
            </a:r>
          </a:p>
          <a:p>
            <a:pPr>
              <a:spcAft>
                <a:spcPts val="1200"/>
              </a:spcAft>
            </a:pPr>
            <a:r>
              <a:rPr sz="2200">
                <a:solidFill>
                  <a:srgbClr val="1F2937"/>
                </a:solidFill>
                <a:latin typeface="Calibri"/>
              </a:rPr>
              <a:t>▸  Ko‘rikda chap qo‘lda asosiy jarohat yaqinida bir nechta yuzaki sanchma-kesma yara va barmoqlarning turli sathdagi amputatsiyasi topilgan.</a:t>
            </a:r>
          </a:p>
          <a:p>
            <a:pPr>
              <a:spcAft>
                <a:spcPts val="1200"/>
              </a:spcAft>
            </a:pPr>
            <a:r>
              <a:rPr sz="2200">
                <a:solidFill>
                  <a:srgbClr val="1F2937"/>
                </a:solidFill>
                <a:latin typeface="Calibri"/>
              </a:rPr>
              <a:t>▸  Savol: bu belgilarning qaysilari o‘zini shikastlashga xos va ekspert qanday qo‘shimcha tekshiruv o‘tkazishni tavsiya etadi?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287, 287-288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Jinsni aniqlash va germafroditizm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Jinsga shubha tug‘ilsa (hujjat berish, nikoh, aliment, tergov) jinsni aniqlash ekspertizasi tayinlanadi.</a:t>
            </a:r>
          </a:p>
          <a:p>
            <a:pPr>
              <a:spcAft>
                <a:spcPts val="800"/>
              </a:spcAft>
            </a:pPr>
            <a:r>
              <a:rPr sz="1800">
                <a:solidFill>
                  <a:srgbClr val="1F2937"/>
                </a:solidFill>
                <a:latin typeface="Calibri"/>
              </a:rPr>
              <a:t>▸  Germafroditizm — bir paytda ikki jinsga xos jinsiy a’zolarning bo‘lishi. Chin va soxta turi farqlanadi.</a:t>
            </a:r>
          </a:p>
          <a:p>
            <a:pPr>
              <a:spcAft>
                <a:spcPts val="800"/>
              </a:spcAft>
            </a:pPr>
            <a:r>
              <a:rPr sz="1800">
                <a:solidFill>
                  <a:srgbClr val="1F2937"/>
                </a:solidFill>
                <a:latin typeface="Calibri"/>
              </a:rPr>
              <a:t>▸  Anamnez, tibbiy hujjatlar, antropometriya, laboratoriya va leykotsitlardagi xromosomalar tekshiriladi.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266910"/>
                <a:gridCol w="2203322"/>
                <a:gridCol w="1817741"/>
              </a:tblGrid>
              <a:tr h="411480">
                <a:tc>
                  <a:txBody>
                    <a:bodyPr/>
                    <a:lstStyle/>
                    <a:p>
                      <a:r>
                        <a:rPr sz="1300" b="1">
                          <a:solidFill>
                            <a:srgbClr val="FFFFFF"/>
                          </a:solidFill>
                        </a:rPr>
                        <a:t>Tur</a:t>
                      </a:r>
                    </a:p>
                  </a:txBody>
                  <a:tcPr marL="73152" marR="73152" marT="36576" marB="36576">
                    <a:solidFill>
                      <a:srgbClr val="0B1F3A"/>
                    </a:solidFill>
                  </a:tcPr>
                </a:tc>
                <a:tc>
                  <a:txBody>
                    <a:bodyPr/>
                    <a:lstStyle/>
                    <a:p>
                      <a:r>
                        <a:rPr sz="1300" b="1">
                          <a:solidFill>
                            <a:srgbClr val="FFFFFF"/>
                          </a:solidFill>
                        </a:rPr>
                        <a:t>Jinsiy bez</a:t>
                      </a:r>
                    </a:p>
                  </a:txBody>
                  <a:tcPr marL="73152" marR="73152" marT="36576" marB="36576">
                    <a:solidFill>
                      <a:srgbClr val="0B1F3A"/>
                    </a:solidFill>
                  </a:tcPr>
                </a:tc>
                <a:tc>
                  <a:txBody>
                    <a:bodyPr/>
                    <a:lstStyle/>
                    <a:p>
                      <a:r>
                        <a:rPr sz="1300" b="1">
                          <a:solidFill>
                            <a:srgbClr val="FFFFFF"/>
                          </a:solidFill>
                        </a:rPr>
                        <a:t>Tashqi alomat</a:t>
                      </a:r>
                    </a:p>
                  </a:txBody>
                  <a:tcPr marL="73152" marR="73152" marT="36576" marB="36576">
                    <a:solidFill>
                      <a:srgbClr val="0B1F3A"/>
                    </a:solidFill>
                  </a:tcPr>
                </a:tc>
              </a:tr>
              <a:tr h="411480">
                <a:tc>
                  <a:txBody>
                    <a:bodyPr/>
                    <a:lstStyle/>
                    <a:p>
                      <a:r>
                        <a:rPr sz="1200" b="0">
                          <a:solidFill>
                            <a:srgbClr val="1F2937"/>
                          </a:solidFill>
                        </a:rPr>
                        <a:t>Chin germafroditizm</a:t>
                      </a:r>
                    </a:p>
                  </a:txBody>
                  <a:tcPr marL="73152" marR="73152" marT="36576" marB="36576">
                    <a:solidFill>
                      <a:srgbClr val="E8EEF6"/>
                    </a:solidFill>
                  </a:tcPr>
                </a:tc>
                <a:tc>
                  <a:txBody>
                    <a:bodyPr/>
                    <a:lstStyle/>
                    <a:p>
                      <a:r>
                        <a:rPr sz="1200" b="0">
                          <a:solidFill>
                            <a:srgbClr val="1F2937"/>
                          </a:solidFill>
                        </a:rPr>
                        <a:t>Erkak va ayol bezi (spermatogenez, ovogenez)</a:t>
                      </a:r>
                    </a:p>
                  </a:txBody>
                  <a:tcPr marL="73152" marR="73152" marT="36576" marB="36576">
                    <a:solidFill>
                      <a:srgbClr val="E8EEF6"/>
                    </a:solidFill>
                  </a:tcPr>
                </a:tc>
                <a:tc>
                  <a:txBody>
                    <a:bodyPr/>
                    <a:lstStyle/>
                    <a:p>
                      <a:r>
                        <a:rPr sz="1200" b="0">
                          <a:solidFill>
                            <a:srgbClr val="1F2937"/>
                          </a:solidFill>
                        </a:rPr>
                        <a:t>Erkakka yoki ayolga o‘xshash</a:t>
                      </a:r>
                    </a:p>
                  </a:txBody>
                  <a:tcPr marL="73152" marR="73152" marT="36576" marB="36576">
                    <a:solidFill>
                      <a:srgbClr val="E8EEF6"/>
                    </a:solidFill>
                  </a:tcPr>
                </a:tc>
              </a:tr>
              <a:tr h="411480">
                <a:tc>
                  <a:txBody>
                    <a:bodyPr/>
                    <a:lstStyle/>
                    <a:p>
                      <a:r>
                        <a:rPr sz="1200" b="0">
                          <a:solidFill>
                            <a:srgbClr val="1F2937"/>
                          </a:solidFill>
                        </a:rPr>
                        <a:t>Soxta erkak germafrodit</a:t>
                      </a:r>
                    </a:p>
                  </a:txBody>
                  <a:tcPr marL="73152" marR="73152" marT="36576" marB="36576">
                    <a:solidFill>
                      <a:srgbClr val="FFFFFF"/>
                    </a:solidFill>
                  </a:tcPr>
                </a:tc>
                <a:tc>
                  <a:txBody>
                    <a:bodyPr/>
                    <a:lstStyle/>
                    <a:p>
                      <a:r>
                        <a:rPr sz="1200" b="0">
                          <a:solidFill>
                            <a:srgbClr val="1F2937"/>
                          </a:solidFill>
                        </a:rPr>
                        <a:t>Yorg‘oq bor (spermatogenez)</a:t>
                      </a:r>
                    </a:p>
                  </a:txBody>
                  <a:tcPr marL="73152" marR="73152" marT="36576" marB="36576">
                    <a:solidFill>
                      <a:srgbClr val="FFFFFF"/>
                    </a:solidFill>
                  </a:tcPr>
                </a:tc>
                <a:tc>
                  <a:txBody>
                    <a:bodyPr/>
                    <a:lstStyle/>
                    <a:p>
                      <a:r>
                        <a:rPr sz="1200" b="0">
                          <a:solidFill>
                            <a:srgbClr val="1F2937"/>
                          </a:solidFill>
                        </a:rPr>
                        <a:t>Ayolcha: kichik olat, kriptorxizm</a:t>
                      </a:r>
                    </a:p>
                  </a:txBody>
                  <a:tcPr marL="73152" marR="73152" marT="36576" marB="36576">
                    <a:solidFill>
                      <a:srgbClr val="FFFFFF"/>
                    </a:solidFill>
                  </a:tcPr>
                </a:tc>
              </a:tr>
              <a:tr h="411480">
                <a:tc>
                  <a:txBody>
                    <a:bodyPr/>
                    <a:lstStyle/>
                    <a:p>
                      <a:r>
                        <a:rPr sz="1200" b="0">
                          <a:solidFill>
                            <a:srgbClr val="1F2937"/>
                          </a:solidFill>
                        </a:rPr>
                        <a:t>Soxta ayol germafrodit</a:t>
                      </a:r>
                    </a:p>
                  </a:txBody>
                  <a:tcPr marL="73152" marR="73152" marT="36576" marB="36576">
                    <a:solidFill>
                      <a:srgbClr val="E8EEF6"/>
                    </a:solidFill>
                  </a:tcPr>
                </a:tc>
                <a:tc>
                  <a:txBody>
                    <a:bodyPr/>
                    <a:lstStyle/>
                    <a:p>
                      <a:r>
                        <a:rPr sz="1200" b="0">
                          <a:solidFill>
                            <a:srgbClr val="1F2937"/>
                          </a:solidFill>
                        </a:rPr>
                        <a:t>Tuxumdon bor (ovogenez)</a:t>
                      </a:r>
                    </a:p>
                  </a:txBody>
                  <a:tcPr marL="73152" marR="73152" marT="36576" marB="36576">
                    <a:solidFill>
                      <a:srgbClr val="E8EEF6"/>
                    </a:solidFill>
                  </a:tcPr>
                </a:tc>
                <a:tc>
                  <a:txBody>
                    <a:bodyPr/>
                    <a:lstStyle/>
                    <a:p>
                      <a:r>
                        <a:rPr sz="1200" b="0">
                          <a:solidFill>
                            <a:srgbClr val="1F2937"/>
                          </a:solidFill>
                        </a:rPr>
                        <a:t>Erkakcha: klitor gipertrofiyasi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Germafroditizm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Jinsiy yetuklikni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Jinsiy yetuklik — salomatlikka ziyon yetkazmay jinsiy hayot olib borish imkonini beruvchi rivojlanish darajasi. Ayollarda aloqa, homiladorlik, tug‘ish, emizish qobiliyatini qamraydi.</a:t>
            </a:r>
          </a:p>
          <a:p>
            <a:pPr>
              <a:spcAft>
                <a:spcPts val="1200"/>
              </a:spcAft>
            </a:pPr>
            <a:r>
              <a:rPr sz="2000">
                <a:solidFill>
                  <a:srgbClr val="1F2937"/>
                </a:solidFill>
                <a:latin typeface="Calibri"/>
              </a:rPr>
              <a:t>▸  Odatda 14 yoshgacha jinsiy yetilmagan hisoblanadi. Masala 14 yoshdan nikoh yoshigacha ko‘tariladi. Jinoyat kodeksida javobgarlik yoshi (14, 16, 18) belgilangan.</a:t>
            </a:r>
          </a:p>
          <a:p>
            <a:pPr>
              <a:spcAft>
                <a:spcPts val="1200"/>
              </a:spcAft>
            </a:pPr>
            <a:r>
              <a:rPr sz="2000">
                <a:solidFill>
                  <a:srgbClr val="1F2937"/>
                </a:solidFill>
                <a:latin typeface="Calibri"/>
              </a:rPr>
              <a:t>▸  Qizlarda tana bo‘yi tik holatda kamida 150 sm, o‘tirganda 80 sm bo‘lishi lozim. Tos: yonbosh o‘siqlari 26-27, katta ko‘stlar 29, tashqi konyugata 17-18 sm. Ko‘rsatkichlar nisbiy.</a:t>
            </a:r>
          </a:p>
          <a:p>
            <a:pPr>
              <a:spcAft>
                <a:spcPts val="1200"/>
              </a:spcAft>
            </a:pPr>
            <a:r>
              <a:rPr sz="2000">
                <a:solidFill>
                  <a:srgbClr val="1F2937"/>
                </a:solidFill>
                <a:latin typeface="Calibri"/>
              </a:rPr>
              <a:t>▸  Yetuklikda bachadon tanasi uning uchdan ikki qismini, bo‘yinchasi uchdan bir qismini tashkil etadi. Aks holda bachadon homilani muddatigacha saqlay olmaydi.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289, 290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Bokiralik va qizlik pardasi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Bokiralik asosan qizlik pardasining anatomik butunligi bilan belgilanadi.</a:t>
            </a:r>
          </a:p>
          <a:p>
            <a:pPr>
              <a:spcAft>
                <a:spcPts val="800"/>
              </a:spcAft>
            </a:pPr>
            <a:r>
              <a:rPr sz="1800">
                <a:solidFill>
                  <a:srgbClr val="1F2937"/>
                </a:solidFill>
                <a:latin typeface="Calibri"/>
              </a:rPr>
              <a:t>▸  Parda — qin shilliq qavati burmasi: asos, erkin chet, teshik. Teshik bir nechta yoki yo‘q bo‘lishi mumkin.</a:t>
            </a:r>
          </a:p>
          <a:p>
            <a:pPr>
              <a:spcAft>
                <a:spcPts val="800"/>
              </a:spcAft>
            </a:pPr>
            <a:r>
              <a:rPr sz="1800">
                <a:solidFill>
                  <a:srgbClr val="1F2937"/>
                </a:solidFill>
                <a:latin typeface="Calibri"/>
              </a:rPr>
              <a:t>▸  Birinchi aloqada defloratsiya bo‘ladi; elastik, past, o‘yiqli pardada u bo‘lmasligi mumkin.</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244229"/>
                <a:gridCol w="2721751"/>
                <a:gridCol w="1321993"/>
              </a:tblGrid>
              <a:tr h="411480">
                <a:tc>
                  <a:txBody>
                    <a:bodyPr/>
                    <a:lstStyle/>
                    <a:p>
                      <a:r>
                        <a:rPr sz="1300" b="1">
                          <a:solidFill>
                            <a:srgbClr val="FFFFFF"/>
                          </a:solidFill>
                        </a:rPr>
                        <a:t>Guruh</a:t>
                      </a:r>
                    </a:p>
                  </a:txBody>
                  <a:tcPr marL="73152" marR="73152" marT="36576" marB="36576">
                    <a:solidFill>
                      <a:srgbClr val="0B1F3A"/>
                    </a:solidFill>
                  </a:tcPr>
                </a:tc>
                <a:tc>
                  <a:txBody>
                    <a:bodyPr/>
                    <a:lstStyle/>
                    <a:p>
                      <a:r>
                        <a:rPr sz="1300" b="1">
                          <a:solidFill>
                            <a:srgbClr val="FFFFFF"/>
                          </a:solidFill>
                        </a:rPr>
                        <a:t>Shakllar</a:t>
                      </a:r>
                    </a:p>
                  </a:txBody>
                  <a:tcPr marL="73152" marR="73152" marT="36576" marB="36576">
                    <a:solidFill>
                      <a:srgbClr val="0B1F3A"/>
                    </a:solidFill>
                  </a:tcPr>
                </a:tc>
                <a:tc>
                  <a:txBody>
                    <a:bodyPr/>
                    <a:lstStyle/>
                    <a:p>
                      <a:r>
                        <a:rPr sz="1300" b="1">
                          <a:solidFill>
                            <a:srgbClr val="FFFFFF"/>
                          </a:solidFill>
                        </a:rPr>
                        <a:t>Uchrashi</a:t>
                      </a:r>
                    </a:p>
                  </a:txBody>
                  <a:tcPr marL="73152" marR="73152" marT="36576" marB="36576">
                    <a:solidFill>
                      <a:srgbClr val="0B1F3A"/>
                    </a:solidFill>
                  </a:tcPr>
                </a:tc>
              </a:tr>
              <a:tr h="411480">
                <a:tc>
                  <a:txBody>
                    <a:bodyPr/>
                    <a:lstStyle/>
                    <a:p>
                      <a:r>
                        <a:rPr sz="1200" b="0">
                          <a:solidFill>
                            <a:srgbClr val="1F2937"/>
                          </a:solidFill>
                        </a:rPr>
                        <a:t>Odatdagi</a:t>
                      </a:r>
                    </a:p>
                  </a:txBody>
                  <a:tcPr marL="73152" marR="73152" marT="36576" marB="36576">
                    <a:solidFill>
                      <a:srgbClr val="E8EEF6"/>
                    </a:solidFill>
                  </a:tcPr>
                </a:tc>
                <a:tc>
                  <a:txBody>
                    <a:bodyPr/>
                    <a:lstStyle/>
                    <a:p>
                      <a:r>
                        <a:rPr sz="1200" b="0">
                          <a:solidFill>
                            <a:srgbClr val="1F2937"/>
                          </a:solidFill>
                        </a:rPr>
                        <a:t>Halqasimon, yarim oysimon, naysimon</a:t>
                      </a:r>
                    </a:p>
                  </a:txBody>
                  <a:tcPr marL="73152" marR="73152" marT="36576" marB="36576">
                    <a:solidFill>
                      <a:srgbClr val="E8EEF6"/>
                    </a:solidFill>
                  </a:tcPr>
                </a:tc>
                <a:tc>
                  <a:txBody>
                    <a:bodyPr/>
                    <a:lstStyle/>
                    <a:p>
                      <a:r>
                        <a:rPr sz="1200" b="0">
                          <a:solidFill>
                            <a:srgbClr val="1F2937"/>
                          </a:solidFill>
                        </a:rPr>
                        <a:t>Ko‘p uchraydi</a:t>
                      </a:r>
                    </a:p>
                  </a:txBody>
                  <a:tcPr marL="73152" marR="73152" marT="36576" marB="36576">
                    <a:solidFill>
                      <a:srgbClr val="E8EEF6"/>
                    </a:solidFill>
                  </a:tcPr>
                </a:tc>
              </a:tr>
              <a:tr h="411480">
                <a:tc>
                  <a:txBody>
                    <a:bodyPr/>
                    <a:lstStyle/>
                    <a:p>
                      <a:r>
                        <a:rPr sz="1200" b="0">
                          <a:solidFill>
                            <a:srgbClr val="1F2937"/>
                          </a:solidFill>
                        </a:rPr>
                        <a:t>G‘ayrioddiy</a:t>
                      </a:r>
                    </a:p>
                  </a:txBody>
                  <a:tcPr marL="73152" marR="73152" marT="36576" marB="36576">
                    <a:solidFill>
                      <a:srgbClr val="FFFFFF"/>
                    </a:solidFill>
                  </a:tcPr>
                </a:tc>
                <a:tc>
                  <a:txBody>
                    <a:bodyPr/>
                    <a:lstStyle/>
                    <a:p>
                      <a:r>
                        <a:rPr sz="1200" b="0">
                          <a:solidFill>
                            <a:srgbClr val="1F2937"/>
                          </a:solidFill>
                        </a:rPr>
                        <a:t>Bo‘lakchali, spiralsimon, tishsimon</a:t>
                      </a:r>
                    </a:p>
                  </a:txBody>
                  <a:tcPr marL="73152" marR="73152" marT="36576" marB="36576">
                    <a:solidFill>
                      <a:srgbClr val="FFFFFF"/>
                    </a:solidFill>
                  </a:tcPr>
                </a:tc>
                <a:tc>
                  <a:txBody>
                    <a:bodyPr/>
                    <a:lstStyle/>
                    <a:p>
                      <a:r>
                        <a:rPr sz="1200" b="0">
                          <a:solidFill>
                            <a:srgbClr val="1F2937"/>
                          </a:solidFill>
                        </a:rPr>
                        <a:t>Kam uchraydi</a:t>
                      </a:r>
                    </a:p>
                  </a:txBody>
                  <a:tcPr marL="73152" marR="73152" marT="36576" marB="36576">
                    <a:solidFill>
                      <a:srgbClr val="FFFFFF"/>
                    </a:solidFill>
                  </a:tcPr>
                </a:tc>
              </a:tr>
              <a:tr h="411480">
                <a:tc>
                  <a:txBody>
                    <a:bodyPr/>
                    <a:lstStyle/>
                    <a:p>
                      <a:r>
                        <a:rPr sz="1200" b="0">
                          <a:solidFill>
                            <a:srgbClr val="1F2937"/>
                          </a:solidFill>
                        </a:rPr>
                        <a:t>Juda kam</a:t>
                      </a:r>
                    </a:p>
                  </a:txBody>
                  <a:tcPr marL="73152" marR="73152" marT="36576" marB="36576">
                    <a:solidFill>
                      <a:srgbClr val="E8EEF6"/>
                    </a:solidFill>
                  </a:tcPr>
                </a:tc>
                <a:tc>
                  <a:txBody>
                    <a:bodyPr/>
                    <a:lstStyle/>
                    <a:p>
                      <a:r>
                        <a:rPr sz="1200" b="0">
                          <a:solidFill>
                            <a:srgbClr val="1F2937"/>
                          </a:solidFill>
                        </a:rPr>
                        <a:t>Ikki oynali, to‘siqli, teshigi yo‘q</a:t>
                      </a:r>
                    </a:p>
                  </a:txBody>
                  <a:tcPr marL="73152" marR="73152" marT="36576" marB="36576">
                    <a:solidFill>
                      <a:srgbClr val="E8EEF6"/>
                    </a:solidFill>
                  </a:tcPr>
                </a:tc>
                <a:tc>
                  <a:txBody>
                    <a:bodyPr/>
                    <a:lstStyle/>
                    <a:p>
                      <a:r>
                        <a:rPr sz="1200" b="0">
                          <a:solidFill>
                            <a:srgbClr val="1F2937"/>
                          </a:solidFill>
                        </a:rPr>
                        <a:t>Juda kam uchraydi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Qizlik pardasi shakllari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290, 291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Qizlik pardasi jarohatining bitish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Uch haftadan so‘ng yoriq muddatini aniqlash imkoni qolmaydi; muddat faqat dastlabki haftalarda belgilanadi.</a:t>
            </a:r>
          </a:p>
          <a:p>
            <a:pPr>
              <a:spcAft>
                <a:spcPts val="800"/>
              </a:spcAft>
            </a:pPr>
            <a:r>
              <a:rPr sz="1800">
                <a:solidFill>
                  <a:srgbClr val="1F2937"/>
                </a:solidFill>
                <a:latin typeface="Calibri"/>
              </a:rPr>
              <a:t>▸  Diqqat: yoriq ≠ tabiiy o‘yiq. Yoriq ko‘pincha soat 5–7 oralig‘ida, o‘yiq esa asosgacha yetmaydi.</a:t>
            </a:r>
          </a:p>
          <a:p>
            <a:pPr>
              <a:spcAft>
                <a:spcPts val="800"/>
              </a:spcAft>
            </a:pPr>
            <a:r>
              <a:rPr sz="1800">
                <a:solidFill>
                  <a:srgbClr val="1F2937"/>
                </a:solidFill>
                <a:latin typeface="Calibri"/>
              </a:rPr>
              <a:t>▸  Shubhada tezroq sud-tibbiy ekspertga murojaat qilinadi; maniy qinda 3–5 kun saqlanadi.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027057"/>
                <a:gridCol w="3260917"/>
              </a:tblGrid>
              <a:tr h="411480">
                <a:tc>
                  <a:txBody>
                    <a:bodyPr/>
                    <a:lstStyle/>
                    <a:p>
                      <a:r>
                        <a:rPr sz="1400" b="1">
                          <a:solidFill>
                            <a:srgbClr val="FFFFFF"/>
                          </a:solidFill>
                        </a:rPr>
                        <a:t>Muddat</a:t>
                      </a:r>
                    </a:p>
                  </a:txBody>
                  <a:tcPr marL="73152" marR="73152" marT="36576" marB="36576">
                    <a:solidFill>
                      <a:srgbClr val="0B1F3A"/>
                    </a:solidFill>
                  </a:tcPr>
                </a:tc>
                <a:tc>
                  <a:txBody>
                    <a:bodyPr/>
                    <a:lstStyle/>
                    <a:p>
                      <a:r>
                        <a:rPr sz="1400" b="1">
                          <a:solidFill>
                            <a:srgbClr val="FFFFFF"/>
                          </a:solidFill>
                        </a:rPr>
                        <a:t>O‘zgarish</a:t>
                      </a:r>
                    </a:p>
                  </a:txBody>
                  <a:tcPr marL="73152" marR="73152" marT="36576" marB="36576">
                    <a:solidFill>
                      <a:srgbClr val="0B1F3A"/>
                    </a:solidFill>
                  </a:tcPr>
                </a:tc>
              </a:tr>
              <a:tr h="411480">
                <a:tc>
                  <a:txBody>
                    <a:bodyPr/>
                    <a:lstStyle/>
                    <a:p>
                      <a:r>
                        <a:rPr sz="1300" b="0">
                          <a:solidFill>
                            <a:srgbClr val="1F2937"/>
                          </a:solidFill>
                        </a:rPr>
                        <a:t>Dastlabki kunlar</a:t>
                      </a:r>
                    </a:p>
                  </a:txBody>
                  <a:tcPr marL="73152" marR="73152" marT="36576" marB="36576">
                    <a:solidFill>
                      <a:srgbClr val="E8EEF6"/>
                    </a:solidFill>
                  </a:tcPr>
                </a:tc>
                <a:tc>
                  <a:txBody>
                    <a:bodyPr/>
                    <a:lstStyle/>
                    <a:p>
                      <a:r>
                        <a:rPr sz="1300" b="0">
                          <a:solidFill>
                            <a:srgbClr val="1F2937"/>
                          </a:solidFill>
                        </a:rPr>
                        <a:t>Chetlari qonaydi, shish, qon laxtasi</a:t>
                      </a:r>
                    </a:p>
                  </a:txBody>
                  <a:tcPr marL="73152" marR="73152" marT="36576" marB="36576">
                    <a:solidFill>
                      <a:srgbClr val="E8EEF6"/>
                    </a:solidFill>
                  </a:tcPr>
                </a:tc>
              </a:tr>
              <a:tr h="411480">
                <a:tc>
                  <a:txBody>
                    <a:bodyPr/>
                    <a:lstStyle/>
                    <a:p>
                      <a:r>
                        <a:rPr sz="1300" b="0">
                          <a:solidFill>
                            <a:srgbClr val="1F2937"/>
                          </a:solidFill>
                        </a:rPr>
                        <a:t>Keyinroq</a:t>
                      </a:r>
                    </a:p>
                  </a:txBody>
                  <a:tcPr marL="73152" marR="73152" marT="36576" marB="36576">
                    <a:solidFill>
                      <a:srgbClr val="FFFFFF"/>
                    </a:solidFill>
                  </a:tcPr>
                </a:tc>
                <a:tc>
                  <a:txBody>
                    <a:bodyPr/>
                    <a:lstStyle/>
                    <a:p>
                      <a:r>
                        <a:rPr sz="1300" b="0">
                          <a:solidFill>
                            <a:srgbClr val="1F2937"/>
                          </a:solidFill>
                        </a:rPr>
                        <a:t>Shish kamayadi, oqimtir qoplama</a:t>
                      </a:r>
                    </a:p>
                  </a:txBody>
                  <a:tcPr marL="73152" marR="73152" marT="36576" marB="36576">
                    <a:solidFill>
                      <a:srgbClr val="FFFFFF"/>
                    </a:solidFill>
                  </a:tcPr>
                </a:tc>
              </a:tr>
              <a:tr h="411480">
                <a:tc>
                  <a:txBody>
                    <a:bodyPr/>
                    <a:lstStyle/>
                    <a:p>
                      <a:r>
                        <a:rPr sz="1300" b="0">
                          <a:solidFill>
                            <a:srgbClr val="1F2937"/>
                          </a:solidFill>
                        </a:rPr>
                        <a:t>1-hafta oxiri</a:t>
                      </a:r>
                    </a:p>
                  </a:txBody>
                  <a:tcPr marL="73152" marR="73152" marT="36576" marB="36576">
                    <a:solidFill>
                      <a:srgbClr val="E8EEF6"/>
                    </a:solidFill>
                  </a:tcPr>
                </a:tc>
                <a:tc>
                  <a:txBody>
                    <a:bodyPr/>
                    <a:lstStyle/>
                    <a:p>
                      <a:r>
                        <a:rPr sz="1300" b="0">
                          <a:solidFill>
                            <a:srgbClr val="1F2937"/>
                          </a:solidFill>
                        </a:rPr>
                        <a:t>Granulyasion to‘qima qoplay boshlaydi</a:t>
                      </a:r>
                    </a:p>
                  </a:txBody>
                  <a:tcPr marL="73152" marR="73152" marT="36576" marB="36576">
                    <a:solidFill>
                      <a:srgbClr val="E8EEF6"/>
                    </a:solidFill>
                  </a:tcPr>
                </a:tc>
              </a:tr>
              <a:tr h="411480">
                <a:tc>
                  <a:txBody>
                    <a:bodyPr/>
                    <a:lstStyle/>
                    <a:p>
                      <a:r>
                        <a:rPr sz="1300" b="0">
                          <a:solidFill>
                            <a:srgbClr val="1F2937"/>
                          </a:solidFill>
                        </a:rPr>
                        <a:t>2-hafta oxiri – 3-hafta</a:t>
                      </a:r>
                    </a:p>
                  </a:txBody>
                  <a:tcPr marL="73152" marR="73152" marT="36576" marB="36576">
                    <a:solidFill>
                      <a:srgbClr val="FFFFFF"/>
                    </a:solidFill>
                  </a:tcPr>
                </a:tc>
                <a:tc>
                  <a:txBody>
                    <a:bodyPr/>
                    <a:lstStyle/>
                    <a:p>
                      <a:r>
                        <a:rPr sz="1300" b="0">
                          <a:solidFill>
                            <a:srgbClr val="1F2937"/>
                          </a:solidFill>
                        </a:rPr>
                        <a:t>Chandiq hosil bo‘ladi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Bitish dinamikasi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291, 292, 291–292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Nasl qoldirish qobiliyatini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Erkakda nasl qoldirish – jinsiy aloqa va urug‘lantirish; ayolda – aloqa, homilador bo‘lish va tug‘ish imkoniyati.</a:t>
            </a:r>
          </a:p>
          <a:p>
            <a:pPr>
              <a:spcAft>
                <a:spcPts val="1200"/>
              </a:spcAft>
            </a:pPr>
            <a:r>
              <a:rPr sz="2200">
                <a:solidFill>
                  <a:srgbClr val="1F2937"/>
                </a:solidFill>
                <a:latin typeface="Calibri"/>
              </a:rPr>
              <a:t>▸  Impotensiya sababi: markaziy nerv tizimi (MNT) kasalligi, tashqi a’zo nuqsoni, endokrin kasallik yoki nevrotik reaksiya.</a:t>
            </a:r>
          </a:p>
          <a:p>
            <a:pPr>
              <a:spcAft>
                <a:spcPts val="1200"/>
              </a:spcAft>
            </a:pPr>
            <a:r>
              <a:rPr sz="2200">
                <a:solidFill>
                  <a:srgbClr val="1F2937"/>
                </a:solidFill>
                <a:latin typeface="Calibri"/>
              </a:rPr>
              <a:t>▸  Eyakulyatda normal harakatchan spermatozoid urug‘lantirishni tasdiqlaydi; azospermiya, nekrospermiya, astenospermiya inkor etadi.</a:t>
            </a:r>
          </a:p>
          <a:p>
            <a:pPr>
              <a:spcAft>
                <a:spcPts val="1200"/>
              </a:spcAft>
            </a:pPr>
            <a:r>
              <a:rPr sz="2200">
                <a:solidFill>
                  <a:srgbClr val="1F2937"/>
                </a:solidFill>
                <a:latin typeface="Calibri"/>
              </a:rPr>
              <a:t>▸  Ayolda qin atreziyasi, vaginizm, tor tos, jinsiy a’zo kasalligi yoki operatsiya monelik qiladi; tekshiruv klinitsistlar ishtirokida o‘tadi.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292, 292–293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Homiladorlik, tug‘ruq va abortni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Abort tibbiy yoki jinoiy bo‘ladi; jinoiy abort uchun Jinoyat kodeksining 114-moddasida javobgarlik bor.</a:t>
            </a:r>
          </a:p>
          <a:p>
            <a:pPr>
              <a:spcAft>
                <a:spcPts val="800"/>
              </a:spcAft>
            </a:pPr>
            <a:r>
              <a:rPr sz="1800">
                <a:solidFill>
                  <a:srgbClr val="1F2937"/>
                </a:solidFill>
                <a:latin typeface="Calibri"/>
              </a:rPr>
              <a:t>▸  Jinoiy abort usullari: mexanik, kimyoviy, termik; kamdan-kam hollarda elektr toki.</a:t>
            </a:r>
          </a:p>
          <a:p>
            <a:pPr>
              <a:spcAft>
                <a:spcPts val="800"/>
              </a:spcAft>
            </a:pPr>
            <a:r>
              <a:rPr sz="1800">
                <a:solidFill>
                  <a:srgbClr val="1F2937"/>
                </a:solidFill>
                <a:latin typeface="Calibri"/>
              </a:rPr>
              <a:t>▸  Oqibati: havo emboliyasi, shok, qon ketish, perforatsiya, zaharlanish, infeksiya; o‘limga olib kelishi mumkin.</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692152"/>
                <a:gridCol w="3595823"/>
              </a:tblGrid>
              <a:tr h="411480">
                <a:tc>
                  <a:txBody>
                    <a:bodyPr/>
                    <a:lstStyle/>
                    <a:p>
                      <a:r>
                        <a:rPr sz="1400" b="1">
                          <a:solidFill>
                            <a:srgbClr val="FFFFFF"/>
                          </a:solidFill>
                        </a:rPr>
                        <a:t>Holat</a:t>
                      </a:r>
                    </a:p>
                  </a:txBody>
                  <a:tcPr marL="73152" marR="73152" marT="36576" marB="36576">
                    <a:solidFill>
                      <a:srgbClr val="0B1F3A"/>
                    </a:solidFill>
                  </a:tcPr>
                </a:tc>
                <a:tc>
                  <a:txBody>
                    <a:bodyPr/>
                    <a:lstStyle/>
                    <a:p>
                      <a:r>
                        <a:rPr sz="1400" b="1">
                          <a:solidFill>
                            <a:srgbClr val="FFFFFF"/>
                          </a:solidFill>
                        </a:rPr>
                        <a:t>Asosiy belgi</a:t>
                      </a:r>
                    </a:p>
                  </a:txBody>
                  <a:tcPr marL="73152" marR="73152" marT="36576" marB="36576">
                    <a:solidFill>
                      <a:srgbClr val="0B1F3A"/>
                    </a:solidFill>
                  </a:tcPr>
                </a:tc>
              </a:tr>
              <a:tr h="411480">
                <a:tc>
                  <a:txBody>
                    <a:bodyPr/>
                    <a:lstStyle/>
                    <a:p>
                      <a:r>
                        <a:rPr sz="1300" b="0">
                          <a:solidFill>
                            <a:srgbClr val="1F2937"/>
                          </a:solidFill>
                        </a:rPr>
                        <a:t>Homiladorlik</a:t>
                      </a:r>
                    </a:p>
                  </a:txBody>
                  <a:tcPr marL="73152" marR="73152" marT="36576" marB="36576">
                    <a:solidFill>
                      <a:srgbClr val="E8EEF6"/>
                    </a:solidFill>
                  </a:tcPr>
                </a:tc>
                <a:tc>
                  <a:txBody>
                    <a:bodyPr/>
                    <a:lstStyle/>
                    <a:p>
                      <a:r>
                        <a:rPr sz="1300" b="0">
                          <a:solidFill>
                            <a:srgbClr val="1F2937"/>
                          </a:solidFill>
                        </a:rPr>
                        <a:t>Hayz yo‘q, sut bezi kattalashadi</a:t>
                      </a:r>
                    </a:p>
                  </a:txBody>
                  <a:tcPr marL="73152" marR="73152" marT="36576" marB="36576">
                    <a:solidFill>
                      <a:srgbClr val="E8EEF6"/>
                    </a:solidFill>
                  </a:tcPr>
                </a:tc>
              </a:tr>
              <a:tr h="411480">
                <a:tc>
                  <a:txBody>
                    <a:bodyPr/>
                    <a:lstStyle/>
                    <a:p>
                      <a:r>
                        <a:rPr sz="1300" b="0">
                          <a:solidFill>
                            <a:srgbClr val="1F2937"/>
                          </a:solidFill>
                        </a:rPr>
                        <a:t>Ishonchli belgi</a:t>
                      </a:r>
                    </a:p>
                  </a:txBody>
                  <a:tcPr marL="73152" marR="73152" marT="36576" marB="36576">
                    <a:solidFill>
                      <a:srgbClr val="FFFFFF"/>
                    </a:solidFill>
                  </a:tcPr>
                </a:tc>
                <a:tc>
                  <a:txBody>
                    <a:bodyPr/>
                    <a:lstStyle/>
                    <a:p>
                      <a:r>
                        <a:rPr sz="1300" b="0">
                          <a:solidFill>
                            <a:srgbClr val="1F2937"/>
                          </a:solidFill>
                        </a:rPr>
                        <a:t>Homila yurak urishi, ultratovush</a:t>
                      </a:r>
                    </a:p>
                  </a:txBody>
                  <a:tcPr marL="73152" marR="73152" marT="36576" marB="36576">
                    <a:solidFill>
                      <a:srgbClr val="FFFFFF"/>
                    </a:solidFill>
                  </a:tcPr>
                </a:tc>
              </a:tr>
              <a:tr h="411480">
                <a:tc>
                  <a:txBody>
                    <a:bodyPr/>
                    <a:lstStyle/>
                    <a:p>
                      <a:r>
                        <a:rPr sz="1300" b="0">
                          <a:solidFill>
                            <a:srgbClr val="1F2937"/>
                          </a:solidFill>
                        </a:rPr>
                        <a:t>Tug‘ruq izi</a:t>
                      </a:r>
                    </a:p>
                  </a:txBody>
                  <a:tcPr marL="73152" marR="73152" marT="36576" marB="36576">
                    <a:solidFill>
                      <a:srgbClr val="E8EEF6"/>
                    </a:solidFill>
                  </a:tcPr>
                </a:tc>
                <a:tc>
                  <a:txBody>
                    <a:bodyPr/>
                    <a:lstStyle/>
                    <a:p>
                      <a:r>
                        <a:rPr sz="1300" b="0">
                          <a:solidFill>
                            <a:srgbClr val="1F2937"/>
                          </a:solidFill>
                        </a:rPr>
                        <a:t>Bachadon bo‘yin teshigi yoriqsimon</a:t>
                      </a:r>
                    </a:p>
                  </a:txBody>
                  <a:tcPr marL="73152" marR="73152" marT="36576" marB="36576">
                    <a:solidFill>
                      <a:srgbClr val="E8EEF6"/>
                    </a:solidFill>
                  </a:tcPr>
                </a:tc>
              </a:tr>
              <a:tr h="411480">
                <a:tc>
                  <a:txBody>
                    <a:bodyPr/>
                    <a:lstStyle/>
                    <a:p>
                      <a:r>
                        <a:rPr sz="1300" b="0">
                          <a:solidFill>
                            <a:srgbClr val="1F2937"/>
                          </a:solidFill>
                        </a:rPr>
                        <a:t>Abort</a:t>
                      </a:r>
                    </a:p>
                  </a:txBody>
                  <a:tcPr marL="73152" marR="73152" marT="36576" marB="36576">
                    <a:solidFill>
                      <a:srgbClr val="FFFFFF"/>
                    </a:solidFill>
                  </a:tcPr>
                </a:tc>
                <a:tc>
                  <a:txBody>
                    <a:bodyPr/>
                    <a:lstStyle/>
                    <a:p>
                      <a:r>
                        <a:rPr sz="1300" b="0">
                          <a:solidFill>
                            <a:srgbClr val="1F2937"/>
                          </a:solidFill>
                        </a:rPr>
                        <a:t>22 haftagacha homila uzilishi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Asosiy belgilar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294, 294–295, 295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 jinsiy holatlar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necha yoshgacha shaxs jinsiy jihatdan yetilmagan hisoblanadi? Javob: odatda 14 yoshga to‘lmaganlar yetilmagan deb qaraladi.</a:t>
            </a:r>
          </a:p>
          <a:p>
            <a:pPr>
              <a:spcAft>
                <a:spcPts val="1200"/>
              </a:spcAft>
            </a:pPr>
            <a:r>
              <a:rPr sz="2200">
                <a:solidFill>
                  <a:srgbClr val="1F2937"/>
                </a:solidFill>
                <a:latin typeface="Calibri"/>
              </a:rPr>
              <a:t>▸  Savol: maniy qinda qancha saqlanadi? Javob: odatda 3-5 kun, shuning uchun namuna qancha tez olinsa, natija shuncha ishonchli bo‘ladi.</a:t>
            </a:r>
          </a:p>
          <a:p>
            <a:pPr>
              <a:spcAft>
                <a:spcPts val="1200"/>
              </a:spcAft>
            </a:pPr>
            <a:r>
              <a:rPr sz="2200">
                <a:solidFill>
                  <a:srgbClr val="1F2937"/>
                </a:solidFill>
                <a:latin typeface="Calibri"/>
              </a:rPr>
              <a:t>▸  Savol: qizlik pardasi butunligi buzilgan muddatni qachongacha aniqlash mumkin? Javob: dastlabki haftalarda; uch haftadan so‘ng bu masalani hal etib bo‘lmaydi.</a:t>
            </a:r>
          </a:p>
          <a:p>
            <a:pPr>
              <a:spcAft>
                <a:spcPts val="1200"/>
              </a:spcAft>
            </a:pPr>
            <a:r>
              <a:rPr sz="2200">
                <a:solidFill>
                  <a:srgbClr val="1F2937"/>
                </a:solidFill>
                <a:latin typeface="Calibri"/>
              </a:rPr>
              <a:t>▸  Savol: abort homiladorlikning qaysi muddatigacha uzilishi hisoblanadi? Javob: 22 haftagacha; tibbiy abort ayol xohishiga ko‘ra 12 haftagacha o‘tkaziladi.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289, 292, 291, 294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bokiralik va jinsiy yetuklik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balog‘atga yetmagan qiz bolada jinsiy aloqa bo‘lganligiga shubha bor. Ota-ona oddiy shifokorga murojaat qilmoqda va nima qilishni so‘ramoqda.</a:t>
            </a:r>
          </a:p>
          <a:p>
            <a:pPr>
              <a:spcAft>
                <a:spcPts val="1200"/>
              </a:spcAft>
            </a:pPr>
            <a:r>
              <a:rPr sz="2200">
                <a:solidFill>
                  <a:srgbClr val="1F2937"/>
                </a:solidFill>
                <a:latin typeface="Calibri"/>
              </a:rPr>
              <a:t>▸  1-savol: qaysi mutaxassisga va qachon yuborish kerak? Javob: imkon qadar qisqa muddatda sud-tibbiy ekspertga, akusher-ginekologga emas.</a:t>
            </a:r>
          </a:p>
          <a:p>
            <a:pPr>
              <a:spcAft>
                <a:spcPts val="1200"/>
              </a:spcAft>
            </a:pPr>
            <a:r>
              <a:rPr sz="2200">
                <a:solidFill>
                  <a:srgbClr val="1F2937"/>
                </a:solidFill>
                <a:latin typeface="Calibri"/>
              </a:rPr>
              <a:t>▸  2-savol: pardadagi yoriq tabiiy o‘yiqdan qanday farqlanadi? Yoriq ko‘pincha pastki segmentda, soat bo‘yicha 5-7 oralig‘ida, asosigacha yetadi.</a:t>
            </a:r>
          </a:p>
          <a:p>
            <a:pPr>
              <a:spcAft>
                <a:spcPts val="1200"/>
              </a:spcAft>
            </a:pPr>
            <a:r>
              <a:rPr sz="2200">
                <a:solidFill>
                  <a:srgbClr val="1F2937"/>
                </a:solidFill>
                <a:latin typeface="Calibri"/>
              </a:rPr>
              <a:t>▸  Diqqat: xato qilish xavfi! Parda butunligi buzilishi faqat jinsiy aloqadan bo‘lavermaydi; ba’zan aloqada defloratsiya ham bo‘lmaydi.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290-291, 291-292, 292, 291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Jinsiy jinoyatlar: nomusga tegish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118-modda: jabrlanuvchi xohishiga qarshi zo‘rlik, qo‘rqitish yoki ojizligidan foydalanib jinsiy aloqa qilish. Ojizlik ruhiy kasallik, mastlik, yosh yoki nuqson bilan bog‘liq bo‘ladi.</a:t>
            </a:r>
          </a:p>
          <a:p>
            <a:pPr>
              <a:spcAft>
                <a:spcPts val="1200"/>
              </a:spcAft>
            </a:pPr>
            <a:r>
              <a:rPr sz="2000">
                <a:solidFill>
                  <a:srgbClr val="1F2937"/>
                </a:solidFill>
                <a:latin typeface="Calibri"/>
              </a:rPr>
              <a:t>▸  Ko‘rikdan avval qaror, bayonnoma va tibbiy hujjatlar o‘rganiladi, so‘ng so‘rov va ginekologik anamnez olinadi. Qo‘rqitish ob’ektiv belgi qoldirmaydi.</a:t>
            </a:r>
          </a:p>
          <a:p>
            <a:pPr>
              <a:spcAft>
                <a:spcPts val="1200"/>
              </a:spcAft>
            </a:pPr>
            <a:r>
              <a:rPr sz="2000">
                <a:solidFill>
                  <a:srgbClr val="1F2937"/>
                </a:solidFill>
                <a:latin typeface="Calibri"/>
              </a:rPr>
              <a:t>▸  Zo‘rlik izlari: qontalash va shilinmalar, ko‘pincha sonning ichki yuzasi va jinsiy a’zolarda. Qizlik pardasi yorig‘i, qin va oraliqda qon quyilishi bo‘lishi mumkin.</a:t>
            </a:r>
          </a:p>
          <a:p>
            <a:pPr>
              <a:spcAft>
                <a:spcPts val="1200"/>
              </a:spcAft>
            </a:pPr>
            <a:r>
              <a:rPr sz="2000">
                <a:solidFill>
                  <a:srgbClr val="1F2937"/>
                </a:solidFill>
                <a:latin typeface="Calibri"/>
              </a:rPr>
              <a:t>▸  Qin ichidan surtma, tashqi sohalardan bosma tezroq olinadi, chunki vaqt o‘tishi bilan spermatozoid topilishi kamayadi. Gumondorlar ham ko‘rikdan o‘tkaziladi.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295-296, 296, 296-297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Besoqolbozlik va fahsh harakatlari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120-modda: erkakning erkak bilan zo‘rliksiz jinsiy aloqasi besoqolbozlik; ikkala qatnashchi javobgar.</a:t>
            </a:r>
          </a:p>
          <a:p>
            <a:pPr>
              <a:spcAft>
                <a:spcPts val="800"/>
              </a:spcAft>
            </a:pPr>
            <a:r>
              <a:rPr sz="1800">
                <a:solidFill>
                  <a:srgbClr val="1F2937"/>
                </a:solidFill>
                <a:latin typeface="Calibri"/>
              </a:rPr>
              <a:t>▸  Fahsh harakatlari: 16 yoshga to‘lmaganlarga uyatsiz-buzuq harakatlar (129-modda); iz qolmasligi ham mumkin.</a:t>
            </a:r>
          </a:p>
          <a:p>
            <a:pPr>
              <a:spcAft>
                <a:spcPts val="800"/>
              </a:spcAft>
            </a:pPr>
            <a:r>
              <a:rPr sz="1800">
                <a:solidFill>
                  <a:srgbClr val="1F2937"/>
                </a:solidFill>
                <a:latin typeface="Calibri"/>
              </a:rPr>
              <a:t>▸  Diqqat: proktit, bavosil kabi kasalliklar passiv besoqolbozlik belgisi deb xato talqin etilishi mumkin.</a:t>
            </a:r>
          </a:p>
        </p:txBody>
      </p:sp>
      <p:graphicFrame>
        <p:nvGraphicFramePr>
          <p:cNvPr id="9" name="Table 8"/>
          <p:cNvGraphicFramePr>
            <a:graphicFrameLocks noGrp="1"/>
          </p:cNvGraphicFramePr>
          <p:nvPr/>
        </p:nvGraphicFramePr>
        <p:xfrm>
          <a:off x="6263640" y="1463040"/>
          <a:ext cx="5287975" cy="1645920"/>
        </p:xfrm>
        <a:graphic>
          <a:graphicData uri="http://schemas.openxmlformats.org/drawingml/2006/table">
            <a:tbl>
              <a:tblPr firstRow="1" bandRow="1">
                <a:tableStyleId>{5C22544A-7EE6-4342-B048-85BDC9FD1C3A}</a:tableStyleId>
              </a:tblPr>
              <a:tblGrid>
                <a:gridCol w="1031800"/>
                <a:gridCol w="2063600"/>
                <a:gridCol w="2192575"/>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Aktiv</a:t>
                      </a:r>
                    </a:p>
                  </a:txBody>
                  <a:tcPr marL="73152" marR="73152" marT="36576" marB="36576">
                    <a:solidFill>
                      <a:srgbClr val="0B1F3A"/>
                    </a:solidFill>
                  </a:tcPr>
                </a:tc>
                <a:tc>
                  <a:txBody>
                    <a:bodyPr/>
                    <a:lstStyle/>
                    <a:p>
                      <a:r>
                        <a:rPr sz="1300" b="1">
                          <a:solidFill>
                            <a:srgbClr val="FFFFFF"/>
                          </a:solidFill>
                        </a:rPr>
                        <a:t>Passiv</a:t>
                      </a:r>
                    </a:p>
                  </a:txBody>
                  <a:tcPr marL="73152" marR="73152" marT="36576" marB="36576">
                    <a:solidFill>
                      <a:srgbClr val="0B1F3A"/>
                    </a:solidFill>
                  </a:tcPr>
                </a:tc>
              </a:tr>
              <a:tr h="411480">
                <a:tc>
                  <a:txBody>
                    <a:bodyPr/>
                    <a:lstStyle/>
                    <a:p>
                      <a:r>
                        <a:rPr sz="1200" b="0">
                          <a:solidFill>
                            <a:srgbClr val="1F2937"/>
                          </a:solidFill>
                        </a:rPr>
                        <a:t>Joyi</a:t>
                      </a:r>
                    </a:p>
                  </a:txBody>
                  <a:tcPr marL="73152" marR="73152" marT="36576" marB="36576">
                    <a:solidFill>
                      <a:srgbClr val="E8EEF6"/>
                    </a:solidFill>
                  </a:tcPr>
                </a:tc>
                <a:tc>
                  <a:txBody>
                    <a:bodyPr/>
                    <a:lstStyle/>
                    <a:p>
                      <a:r>
                        <a:rPr sz="1200" b="0">
                          <a:solidFill>
                            <a:srgbClr val="1F2937"/>
                          </a:solidFill>
                        </a:rPr>
                        <a:t>Olat, qov sohasi</a:t>
                      </a:r>
                    </a:p>
                  </a:txBody>
                  <a:tcPr marL="73152" marR="73152" marT="36576" marB="36576">
                    <a:solidFill>
                      <a:srgbClr val="E8EEF6"/>
                    </a:solidFill>
                  </a:tcPr>
                </a:tc>
                <a:tc>
                  <a:txBody>
                    <a:bodyPr/>
                    <a:lstStyle/>
                    <a:p>
                      <a:r>
                        <a:rPr sz="1200" b="0">
                          <a:solidFill>
                            <a:srgbClr val="1F2937"/>
                          </a:solidFill>
                        </a:rPr>
                        <a:t>Orqa teshik, to‘g‘ri ichak, oraliq</a:t>
                      </a:r>
                    </a:p>
                  </a:txBody>
                  <a:tcPr marL="73152" marR="73152" marT="36576" marB="36576">
                    <a:solidFill>
                      <a:srgbClr val="E8EEF6"/>
                    </a:solidFill>
                  </a:tcPr>
                </a:tc>
              </a:tr>
              <a:tr h="411480">
                <a:tc>
                  <a:txBody>
                    <a:bodyPr/>
                    <a:lstStyle/>
                    <a:p>
                      <a:r>
                        <a:rPr sz="1200" b="0">
                          <a:solidFill>
                            <a:srgbClr val="1F2937"/>
                          </a:solidFill>
                        </a:rPr>
                        <a:t>Izlar</a:t>
                      </a:r>
                    </a:p>
                  </a:txBody>
                  <a:tcPr marL="73152" marR="73152" marT="36576" marB="36576">
                    <a:solidFill>
                      <a:srgbClr val="FFFFFF"/>
                    </a:solidFill>
                  </a:tcPr>
                </a:tc>
                <a:tc>
                  <a:txBody>
                    <a:bodyPr/>
                    <a:lstStyle/>
                    <a:p>
                      <a:r>
                        <a:rPr sz="1200" b="0">
                          <a:solidFill>
                            <a:srgbClr val="1F2937"/>
                          </a:solidFill>
                        </a:rPr>
                        <a:t>Qon, soch, axlat, moysimon modda</a:t>
                      </a:r>
                    </a:p>
                  </a:txBody>
                  <a:tcPr marL="73152" marR="73152" marT="36576" marB="36576">
                    <a:solidFill>
                      <a:srgbClr val="FFFFFF"/>
                    </a:solidFill>
                  </a:tcPr>
                </a:tc>
                <a:tc>
                  <a:txBody>
                    <a:bodyPr/>
                    <a:lstStyle/>
                    <a:p>
                      <a:r>
                        <a:rPr sz="1200" b="0">
                          <a:solidFill>
                            <a:srgbClr val="1F2937"/>
                          </a:solidFill>
                        </a:rPr>
                        <a:t>Maniy, soch, moysimon modda</a:t>
                      </a:r>
                    </a:p>
                  </a:txBody>
                  <a:tcPr marL="73152" marR="73152" marT="36576" marB="36576">
                    <a:solidFill>
                      <a:srgbClr val="FFFFFF"/>
                    </a:solidFill>
                  </a:tcPr>
                </a:tc>
              </a:tr>
              <a:tr h="411480">
                <a:tc>
                  <a:txBody>
                    <a:bodyPr/>
                    <a:lstStyle/>
                    <a:p>
                      <a:r>
                        <a:rPr sz="1200" b="0">
                          <a:solidFill>
                            <a:srgbClr val="1F2937"/>
                          </a:solidFill>
                        </a:rPr>
                        <a:t>Zo‘rlik bo‘lsa</a:t>
                      </a:r>
                    </a:p>
                  </a:txBody>
                  <a:tcPr marL="73152" marR="73152" marT="36576" marB="36576">
                    <a:solidFill>
                      <a:srgbClr val="E8EEF6"/>
                    </a:solidFill>
                  </a:tcPr>
                </a:tc>
                <a:tc>
                  <a:txBody>
                    <a:bodyPr/>
                    <a:lstStyle/>
                    <a:p>
                      <a:r>
                        <a:rPr sz="1200" b="0">
                          <a:solidFill>
                            <a:srgbClr val="1F2937"/>
                          </a:solidFill>
                        </a:rPr>
                        <a:t>119-modda bo‘yicha javobgar</a:t>
                      </a:r>
                    </a:p>
                  </a:txBody>
                  <a:tcPr marL="73152" marR="73152" marT="36576" marB="36576">
                    <a:solidFill>
                      <a:srgbClr val="E8EEF6"/>
                    </a:solidFill>
                  </a:tcPr>
                </a:tc>
                <a:tc>
                  <a:txBody>
                    <a:bodyPr/>
                    <a:lstStyle/>
                    <a:p>
                      <a:r>
                        <a:rPr sz="1200" b="0">
                          <a:solidFill>
                            <a:srgbClr val="1F2937"/>
                          </a:solidFill>
                        </a:rPr>
                        <a:t>Jabrlanuvchi hisoblanadi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Aktiv va passiv qatnashchi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297, 298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Tanosil kasalliklari, OIV/OITSni tarqatish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Diqqat: nomusga tegish jinsiy erkinlikka qarshi jinoyat; tanosil kasalligi, OIV (odam immunitet tanqisligi virusi) yuqtirish esa hayot yoki sog‘liq uchun xavfli jinoyat.</a:t>
            </a:r>
          </a:p>
          <a:p>
            <a:pPr>
              <a:spcAft>
                <a:spcPts val="1200"/>
              </a:spcAft>
            </a:pPr>
            <a:r>
              <a:rPr sz="2000">
                <a:solidFill>
                  <a:srgbClr val="1F2937"/>
                </a:solidFill>
                <a:latin typeface="Calibri"/>
              </a:rPr>
              <a:t>▸  113-modda: o‘zida tanosil kasalligi yoki OIV-infeksiyasi/OITS (orttirilgan immun tanqisligi sindromi) borligini bila turib yuqtirish yoki xavf ostida qoldirish jazolanadi.</a:t>
            </a:r>
          </a:p>
          <a:p>
            <a:pPr>
              <a:spcAft>
                <a:spcPts val="1200"/>
              </a:spcAft>
            </a:pPr>
            <a:r>
              <a:rPr sz="2000">
                <a:solidFill>
                  <a:srgbClr val="1F2937"/>
                </a:solidFill>
                <a:latin typeface="Calibri"/>
              </a:rPr>
              <a:t>▸  Xizmat vazifasini lozim bajarmay OIV yuqtirish ham shu moddada nazarda tutilgan; bu holat ko‘proq tibbiyot xodimlari faoliyatiga bog‘liq.</a:t>
            </a:r>
          </a:p>
          <a:p>
            <a:pPr>
              <a:spcAft>
                <a:spcPts val="1200"/>
              </a:spcAft>
            </a:pPr>
            <a:r>
              <a:rPr sz="2000">
                <a:solidFill>
                  <a:srgbClr val="1F2937"/>
                </a:solidFill>
                <a:latin typeface="Calibri"/>
              </a:rPr>
              <a:t>▸  Ekspertizada dermatovenerolog va OITS mutaxassisi qatnashadi; yuqish manbai va kasallik bosqichi o‘rganiladi, kech bosqichdagi shaxs sub’ekt hisoblanadi.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jinsiy jinoyat ekspertizasi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nomusga tegish gumoni; jabrlanuvchi sonning ichki yuzasi va jinsiy a’zo sohasida qontalash, shilinmalar bilan keltirilgan.</a:t>
            </a:r>
          </a:p>
          <a:p>
            <a:pPr>
              <a:spcAft>
                <a:spcPts val="1200"/>
              </a:spcAft>
            </a:pPr>
            <a:r>
              <a:rPr sz="2200">
                <a:solidFill>
                  <a:srgbClr val="1F2937"/>
                </a:solidFill>
                <a:latin typeface="Calibri"/>
              </a:rPr>
              <a:t>▸  Surtma qin ichidan, bosmalar qov, oraliq, son sohalaridan olinadi; maniy qinda odatda 3-5 kun saqlanadi, kechiksa topilish ehtimoli kamayadi.</a:t>
            </a:r>
          </a:p>
          <a:p>
            <a:pPr>
              <a:spcAft>
                <a:spcPts val="1200"/>
              </a:spcAft>
            </a:pPr>
            <a:r>
              <a:rPr sz="2200">
                <a:solidFill>
                  <a:srgbClr val="1F2937"/>
                </a:solidFill>
                <a:latin typeface="Calibri"/>
              </a:rPr>
              <a:t>▸  Gumondor ham ko‘riladi: kurash izlari — qontalash, shilinma, tishlanma, shuningdek jinsiy a’zo va qovda ayolga tegishli qon, soch topilishi mumkin.</a:t>
            </a:r>
          </a:p>
          <a:p>
            <a:pPr>
              <a:spcAft>
                <a:spcPts val="1200"/>
              </a:spcAft>
            </a:pPr>
            <a:r>
              <a:rPr sz="2200">
                <a:solidFill>
                  <a:srgbClr val="1F2937"/>
                </a:solidFill>
                <a:latin typeface="Calibri"/>
              </a:rPr>
              <a:t>▸  Savol: nega namuna olishni kechiktirib bo‘lmaydi va gumondor ko‘rigida nimalar laboratoriyaga olinadi?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296, 296; 292, 297, 296-297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o‘tkazish tartibi: umumiy algoritm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Asos: huquqiy kodekslar, “Sud ekspertizasi to‘g‘risida”gi qonun va Yo‘riqnoma talablari.</a:t>
            </a:r>
          </a:p>
          <a:p>
            <a:pPr>
              <a:spcAft>
                <a:spcPts val="800"/>
              </a:spcAft>
            </a:pPr>
            <a:r>
              <a:rPr sz="1800">
                <a:solidFill>
                  <a:srgbClr val="1F2937"/>
                </a:solidFill>
                <a:latin typeface="Calibri"/>
              </a:rPr>
              <a:t>▸  Tartib va metodika hodisa xususiyati hamda ekspertiza vazifalariga bog‘liq; har turi o‘ziga xos.</a:t>
            </a:r>
          </a:p>
          <a:p>
            <a:pPr>
              <a:spcAft>
                <a:spcPts val="800"/>
              </a:spcAft>
            </a:pPr>
            <a:r>
              <a:rPr sz="1800">
                <a:solidFill>
                  <a:srgbClr val="1F2937"/>
                </a:solidFill>
                <a:latin typeface="Calibri"/>
              </a:rPr>
              <a:t>▸  Diqqat: xulosa eng oxirida tuziladi; ko‘rikdan oldin hodisa va tibbiy hujjatlar o‘rganiladi.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Hodisa va hujjatlarni o‘rganish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Shaxsning so‘rovi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Shaxsni ko‘rikdan o‘tkazish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Qo‘shimcha tekshiruvlar</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Ekspert xulosasini tuzish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Olti bosqichli algoritm</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299, 299-300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Hujjatlar, so‘rov, ko‘rik va ishtirokchilar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Shaxs pasport, harbiy bilet yoki tug‘ilganlik guvohnomasi bilan tasdiqlanadi. Jinsiy holat va jinoyatlarda ikkita fotosurat ham taqdim etiladi.</a:t>
            </a:r>
          </a:p>
          <a:p>
            <a:pPr>
              <a:spcAft>
                <a:spcPts val="1200"/>
              </a:spcAft>
            </a:pPr>
            <a:r>
              <a:rPr sz="2000">
                <a:solidFill>
                  <a:srgbClr val="1F2937"/>
                </a:solidFill>
                <a:latin typeface="Calibri"/>
              </a:rPr>
              <a:t>▸  Tibbiy hujjatlarning asl nusxasi beriladi; ishonchliligi uchun ekspertiza tayinlagan shaxs javob beradi. So‘rovda jarohat qachon, qayerda, kim, nima bilan, necha marta yetkazilgani so‘raladi.</a:t>
            </a:r>
          </a:p>
          <a:p>
            <a:pPr>
              <a:spcAft>
                <a:spcPts val="1200"/>
              </a:spcAft>
            </a:pPr>
            <a:r>
              <a:rPr sz="2000">
                <a:solidFill>
                  <a:srgbClr val="1F2937"/>
                </a:solidFill>
                <a:latin typeface="Calibri"/>
              </a:rPr>
              <a:t>▸  Jarohatlar faqat shaxsning ruxsati bilan rasmga olinadi. O‘zga jins shaxs yalang‘ochlanib ko‘rilganda tergovchi xonadan chiqib turadi.</a:t>
            </a:r>
          </a:p>
          <a:p>
            <a:pPr>
              <a:spcAft>
                <a:spcPts val="1200"/>
              </a:spcAft>
            </a:pPr>
            <a:r>
              <a:rPr sz="2000">
                <a:solidFill>
                  <a:srgbClr val="1F2937"/>
                </a:solidFill>
                <a:latin typeface="Calibri"/>
              </a:rPr>
              <a:t>▸  Balog‘atga yetmaganlar ota-ona yoki pedagog, layoqatsizlar qonuniy vakil ishtirokida ko‘riladi. Davolanayotganlar ko‘rigi sog‘lig‘i yo‘l qo‘ysagina, davolovchi vrach ishtirokida o‘tadi.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300, 301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asosiy tamoyillar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Tartib har tur uchun o‘ziga xos, ammo umumiy algoritm bir: tafsilot, hujjat, so‘rov, ko‘rik, qo‘shimcha tekshiruv, xulosa.</a:t>
            </a:r>
          </a:p>
          <a:p>
            <a:pPr>
              <a:spcAft>
                <a:spcPts val="1200"/>
              </a:spcAft>
            </a:pPr>
            <a:r>
              <a:rPr sz="2200">
                <a:solidFill>
                  <a:srgbClr val="1F2937"/>
                </a:solidFill>
                <a:latin typeface="Calibri"/>
              </a:rPr>
              <a:t>▸  Diqqat: tibbiy hujjatlarning nusxasi emas, asl nusxasi talab qilinadi; rasmga olish esa faqat shaxs ruxsati bilan mumkin.</a:t>
            </a:r>
          </a:p>
          <a:p>
            <a:pPr>
              <a:spcAft>
                <a:spcPts val="1200"/>
              </a:spcAft>
            </a:pPr>
            <a:r>
              <a:rPr sz="2200">
                <a:solidFill>
                  <a:srgbClr val="1F2937"/>
                </a:solidFill>
                <a:latin typeface="Calibri"/>
              </a:rPr>
              <a:t>▸  Hujjatlarni oldindan o‘rganish so‘rov va ko‘rikda nimaga e’tibor berishni aniqlaydi; ayniqsa jarohat dastlabki holatini baholashda muhim.</a:t>
            </a:r>
          </a:p>
          <a:p>
            <a:pPr>
              <a:spcAft>
                <a:spcPts val="1200"/>
              </a:spcAft>
            </a:pPr>
            <a:r>
              <a:rPr sz="2200">
                <a:solidFill>
                  <a:srgbClr val="1F2937"/>
                </a:solidFill>
                <a:latin typeface="Calibri"/>
              </a:rPr>
              <a:t>▸  O‘zingizni tekshiring: algoritm bosqichlarini sanang. Jinsiy holat ekspertizasida nechta fotosurat kerak? Voyaga yetmagan ko‘rigi kim ishtirokida o‘tadi?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299-300, 300-301, 300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qolish usuli: sog‘liq buzilishi “zinapoyasi”. 6 kungacha – yengil; 6 dan 21 kungacha – qisqa muddatli buzilishga olib kelgan yengil; 21 kundan ortiq – o‘rtacha og‘ir jarohat.</a:t>
            </a:r>
          </a:p>
          <a:p>
            <a:pPr>
              <a:spcAft>
                <a:spcPts val="1200"/>
              </a:spcAft>
            </a:pPr>
            <a:r>
              <a:rPr sz="1800">
                <a:solidFill>
                  <a:srgbClr val="1F2937"/>
                </a:solidFill>
                <a:latin typeface="Calibri"/>
              </a:rPr>
              <a:t>▸  Fakt: sog‘liq buzilishi 120 kundan ortiq bo‘lsa, bu shartli ravishda mehnat qobiliyatining turg‘un yo‘qotilishi hisoblanadi. To‘rt oydan keyin qobiliyat nisbatan tiklanishi yoki yanada pasayishi mumkin.</a:t>
            </a:r>
          </a:p>
          <a:p>
            <a:pPr>
              <a:spcAft>
                <a:spcPts val="1200"/>
              </a:spcAft>
            </a:pPr>
            <a:r>
              <a:rPr sz="1800">
                <a:solidFill>
                  <a:srgbClr val="1F2937"/>
                </a:solidFill>
                <a:latin typeface="Calibri"/>
              </a:rPr>
              <a:t>▸  Hodisa tahlili: bir ko‘zda ko‘rish to‘liq yo‘qolsa, mehnat qobiliyatining uchdan biridan ortig‘i yo‘qotiladi va jarohat og‘ir sanaladi. Bir quloqda eshitish yo‘qolsa, jarohat o‘rtacha og‘ir baholanadi.</a:t>
            </a:r>
          </a:p>
          <a:p>
            <a:pPr>
              <a:spcAft>
                <a:spcPts val="1200"/>
              </a:spcAft>
            </a:pPr>
            <a:r>
              <a:rPr sz="1800">
                <a:solidFill>
                  <a:srgbClr val="1F2937"/>
                </a:solidFill>
                <a:latin typeface="Calibri"/>
              </a:rPr>
              <a:t>▸  Simulyantlar achchiq choy yoki kofe ichib taxikardiya va hansirash chaqirib, yurak kasalligini taqlid qilishi mumkin. Shu sababli ayrim tekshiruvlar ogohlantirmasdan, to‘satdan va takroran o‘tkaziladi.</a:t>
            </a:r>
          </a:p>
          <a:p>
            <a:pPr>
              <a:spcAft>
                <a:spcPts val="1200"/>
              </a:spcAft>
            </a:pPr>
            <a:r>
              <a:rPr sz="1800">
                <a:solidFill>
                  <a:srgbClr val="1F2937"/>
                </a:solidFill>
                <a:latin typeface="Calibri"/>
              </a:rPr>
              <a:t>▸  Qizlik pardasi yorig‘i bitib, 2-haftaning oxiri – 3-haftada chandiq hosil bo‘ladi. Uch haftadan keyin buzilish muddatini aniqlab bo‘lmaydi, shu sabab sud-tibbiy ekspertga tezroq murojaat qilinadi.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Jabrlanuvchida shikastlanish tufayli sog‘liqning buzilishi 14 kun davom etgan. Umumiy mehnat qobiliyatining turg‘un yo‘qotilishi va boshqa belgilar yo‘q. Jarohat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Oddiy yengil tan jarohati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Qisqa muddatga buzilishga olib kelgan yengil jarohat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O‘rtacha og‘ir tan jarohati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Og‘ir tan jarohati deb baholanadi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Kalla asosi suyagi sinishi bilan kelgan bemorga shoshilinch operatsiya qilindi va hayotga tahdid bartaraf etildi. Jarohat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Yengil tan jarohati sifatida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O‘rtacha og‘ir tan jarohati sifatida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Qisqa muddatli yengil jarohat sifatida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Og‘ir tan jarohati sifatida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Ekspertizada jarohat oqibatida umumiy mehnat qobiliyatining 20 foizi turg‘un yo‘qotilgani aniqlandi. Boshqa mezonlar yo‘q. Jarohat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O‘rtacha og‘ir tan jarohati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Og‘ir tan jarohati deb</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Yengil tan jarohati deb</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Qisqa muddatli yengil jarohat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O‘zbekiston Respublikasi Jinoyat kodeksining qaysi moddasida og‘ir tan jarohatlarining tasniflovchi belgilari keltirilgan?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105-modda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109-modda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104-modda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114-modda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Sog‘liqning buzilish davomiyligi necha kundan ortiq bo‘lganda holat shartli ravishda mehnat qobiliyatining turg‘un yo‘qotilishi deb belgilanadi?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60 kundan ortiq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120 kundan ortiq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21 kundan ortiq</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180 kundan ortiq</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Jabrlanuvchining jarohatgacha sog‘ bo‘lgan bitta ko‘zida ko‘rish butunlay yo‘qolgan. Bu shikastlanish qaysi og‘irlik darajasiga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Yengil, chunki ikkinchi ko‘z ko‘rishni to‘liq saqlab qolgan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O‘rtacha og‘ir, chunki bir ko‘z faoliyati qisman yo‘qolgan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Og‘ir, chunki mehnat qobiliyatining uchdan biridan ko‘pi yo‘qoladi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Sog‘liq buzilishi muddatiga qarab, yengil yoki o‘rtacha baholanadi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Shaxsning bir qulog‘ida eshitish qaytmas yo‘qolgan, ikkinchi qulog‘i sog‘. Bu tan jarohati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O‘rtacha og‘ir, chunki mehnat qobiliyati uchdan biridan kamroq yo‘qoladi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Og‘ir, chunki eshitish a’zosining funksiyasi to‘liq yo‘qolgan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Yengil, chunki ikkinchi quloq nutqni eshitishda davom etadi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Yengil, chunki baho faqat sog‘liq buzilishi kunlariga bog‘liq</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Urilish oqibatida homilador ayolda erta tug‘ruq bo‘ldi, noyetuk, lekin hayotga layoqatli tirik go‘dak tug‘ildi. Og‘irlik darajasi qaysi mezonlar bo‘yicha aniqlanadi?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Homiladorlikning uzilishi mezoni bo‘yicha, jarohat avtomatik og‘ir sanaladi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ruhiy buzilish mezoni bo‘yicha, psixiatr xulosasiga tayanib</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Og‘irlik darajasi aniqlanmaydi, chunki go‘dak tirik tug‘ilgan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Hayot uchun xavf, sog‘liq buzilishi davomiyligi va mehnat qobiliyati bo‘yicha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Yo‘l-transport hodisasida aybdor haydovchi javobgarlikdan qutulish uchun mastlik holatini yashirmoqda. Bu holat qanday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Simulyasiya, ya’ni mavjud bo‘lmagan holatni bor deb ko‘rsatish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Dissimulyasiya, ya’ni mavjud holatni qasddan yashirish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Aggravatsiya, ya’ni mavjud belgilarni og‘irroq qilib ko‘rsatish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A’zobuzarlik, ya’ni maqsadli ravishda o‘ziga shikast yetkazish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Tan jarohatining og‘irligini aniqlashda bir necha tibbiy mezonni qo‘llash mumkin bo‘lsa, qaysi mezon asos qilib olinadi?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Eng yengil darajani beruvchi mezon, shubha jabrlanuvchi foydasiga hal etiladi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Barcha mezonlar natijasining o‘rtachasi, ya’ni o‘rtacha og‘ir daraja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Og‘irroq darajaga mos keladigan mezon bo‘yicha baho beriladi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Ekspertiza tayinlagan shaxs birinchi tanlagan mezon bo‘yicha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Harbiy xizmatdan bosh tortmoqchi yigitning chap kaftida asosiy jarohat yonida bir necha yuzaki kesma yara topildi. Bu holat ko‘proq nimaga shubha tug‘diradi?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Dissimulyasiyaga, ya’ni jarohatni yashirishga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A’zobuzarlikka, ya’ni qasddan o‘ziga shikast yetkazishga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Aggravatsiyaga, ya’ni mavjud belgilarni og‘irlashtirishga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Patologik simulyasiyaga, ya’ni maqsadsiz soxtalashtirishga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Bemorda to‘g‘ri ichakning tushishi aniqlandi. Qaysi belgi bu holat sun’iy tarzda chaqirilganini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Orqa teshik sohasida hech qanday jarohat topilmasligi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Qabziyat va ich ketishi bilan kechgan uzoq kasallik tarixi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Qorin terisida faqat ko‘plab mayda chandiqlar mavjudligi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To‘g‘ri ichak shilliq qavati va orqa teshikdagi jarohatlar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Qizlik pardasi yorig‘ida chetlarda chandiq hosil bo‘lgan, yallig‘lanish alomatlari yo‘qolgan. Bu qaysi muddatga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Ikkinchi haftaning oxiri – uchinchi hafta davriga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Dastlabki kunlar, yoriq chetlari qonab turgan davrga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Birinchi haftaning oxiri, granulyasion to‘qima davriga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Jarohatdan keyingi dastlabki bir necha soat davriga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Tekshiruvda faoliyat ko‘rsatayotgan yorg‘oq (spermatogenez) bor, ammo jinsiy olat kichik, kriptorxizm va ko‘krak bezlari kattalashgan. Bu qaysi holat?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Chin germafroditizm (erkak va ayol bezlari birga)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Soxta ayol germafroditizm (tuxumdon faoliyati bilan)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Soxta erkak germafroditizm (yorg‘oq faoliyati bilan)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Jinsiy yetuklikning kechikishi (umumiy rivojlanishda)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Erkakning eyakulyatida spermatozoidlar umuman topilmadi. Bu holat qanday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Nekrospermiya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Azospermiya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Astenospermiya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Impotensiya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Qiz jinsiy aloqadan 4 hafta o‘tgach ekspertizaga keltirildi. Qizlik pardasi yorig‘ining hosil bo‘lish muddati haqida nima deyish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Muddatni kungacha aniq belgilash mumkin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Uch haftadan keyin muddatni hal etib bo‘lmaydi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Muddatni faqat ikkinchi haftada aniqlash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Muddatni faqat laboratoriya usuli bilan aniqlanadi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Nomusga tegish gumon qilingan jabrlanuvchidan qin surtmasi va tashqi sohalardan bosmalar qachon olinishi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 necha haftadan keyin, jarohatlar bitgandan so‘ng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sud majlisi boshlanishidan oldingi kunlarda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Voqeadan so‘ng imkon qadar qisqa vaqt ichida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jinsiy aloqa izlari butunlay yo‘qolgach</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Bir erkak ikkinchi erkakni qo‘rqitib, uning ojizligidan foydalanib jinsiy ehtiyojini qondirdi. Kim va qaysi modda bo‘yicha javobgar?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Ikkala qatnashchi, Jinoyat kodeksining 120-moddasi bo‘yicha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passiv qatnashchi, Jinoyat kodeksining 120-moddasi bo‘yicha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Ikkala qatnashchi, Jinoyat kodeksining 119-moddasi bo‘yicha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aktiv qatnashchi, Jinoyat kodeksining 119-moddasi bo‘yicha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O‘zida OIV-infeksiyasi borligini bila turib, boshqa shaxsni yuqtirish xavfi ostida qoldirgan odam Jinoyat kodeksining qaysi moddasi bo‘yicha javobgar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113-modda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118-modda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120-modda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129-modda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Tirik shaxslar sud-tibbiy ekspertizasining umumiy algoritmida tibbiy hujjatlarni o‘rganishdan keyingi bosqich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Shaxsni ko‘rikdan o‘tkazish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Ekspertizadan o‘tayotgan shaxsning so‘rovi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Ekspert xulosasini tuzish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Qo‘shimcha laboratoriya tekshiruvi</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Qisqa muddatga buzilishga olib kelgan yengil jarohat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Sog‘liq olti kundan ortiq, ammo yigirma bir kundan ko‘p bo‘lmagan muddatga buzilsa, jarohat sog‘liqning qisqa muddatga buzilishiga olib kelgan yengil jarohat hisoblanadi. Olti kungacha bo‘lsa oddiy yengil, 21 kundan ortiq bo‘lsa o‘rtacha og‘ir deb baholanadi.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281-bet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Og‘ir tan jarohati sifatida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Kalla asosi va gumbazi suyaklarining sinishi hayot uchun xavfli jarohatlar ro‘yxatiga kiradi. Tibbiy yordam bilan tahdidning bartaraf etilishi bahoda inobatga olinmaydi, shuning uchun jarohat og‘ir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278-279-bet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O‘rtacha og‘ir tan jarohati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Umumiy mehnat qobiliyatining o‘n foizidan o‘ttiz uch foizigacha turg‘un yo‘qotilishi o‘rtacha og‘ir jarohat belgisidir. O‘n foizgacha bo‘lsa qisqa muddatli yengil, o‘ttiz uch foizdan kam bo‘lmasa og‘ir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278, 280-bet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104-modda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Og‘ir tan jarohatlari belgilari 104-moddada berilgan. 105-modda o‘rtacha og‘ir, 109-modda esa yengil jarohatlarning belgilarini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276-277-bet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120 kundan ortiq</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Sog‘liqning buzilishi 120 kundan ortiq davom etgan holatlar shartli ravishda mehnat qobiliyatining turg‘un yo‘qotilishi deb belgilanadi. To‘rt oydan keyin qobiliyat nisbatan tiklanishi yoki yanada pasayishi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280-bet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Og‘ir, chunki mehnat qobiliyatining uchdan biridan ko‘pi yo‘qoladi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Jarohatgacha sog‘ bo‘lgan bir ko‘zda ko‘rishning to‘liq yo‘qolishi umumiy mehnat qobiliyatining uchdan bir qismidan ortig‘ini yo‘qotishga olib keladi. Shu belgiga ko‘ra u og‘ir tan jarohati hisoblanadi. Sog‘liq buzilishi davomiyligi mezoni faqat ko‘rishi bo‘lmagan ko‘z yo‘qotilganda qo‘llanadi.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281-bet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O‘rtacha og‘ir, chunki mehnat qobiliyati uchdan biridan kamroq yo‘qoladi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Og‘ir jarohat uchun ikkala quloqda to‘liq karlik talab qilinadi. Bir quloqning eshitishi yo‘qolsa, umumiy mehnat qobiliyatining uchdan bir qismidan kamrog‘i yo‘qotiladi va jarohat o‘rtacha og‘ir deb baholanadi.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282-bet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Hayot uchun xavf, sog‘liq buzilishi davomiyligi va mehnat qobiliyati bo‘yicha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Homiladorlikning uzilishi mezoni faqat o‘lik yoki hayotga layoqatsiz go‘dak tug‘ilganda qo‘llanadi. Erta tug‘ruqda hayotga layoqatli tirik go‘dak tug‘ilsa, og‘irlik boshqa mezonlar bo‘yicha aniqlanadi.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282-bet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Dissimulyasiya, ya’ni mavjud holatni qasddan yashirish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Dissimulyasiya simulyasiyaga qarama-qarshi bo‘lib, kasallik yoki boshqa patologik holatni yashirish maqsadida qasddan qilinadi. Javobgarlikdan qutulish uchun mastlikni yashirish shunday holatlardan biridir.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286-bet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Og‘irroq darajaga mos keladigan mezon bo‘yicha baho beriladi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Og‘irlik darajasini aniqlash uchun mezonlardan birining mavjudligi yetarli. Bir necha mezon qo‘llanishi mumkin bo‘lsa, og‘irroq darajaga mos mezon bo‘yicha baho beriladi.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283-bet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A’zobuzarlikka, ya’ni qasddan o‘ziga shikast yetkazishga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O‘zini shikastlashga xos belgilar: jarohat qo‘l yetadigan sohada joylashadi, asosiy jarohat yaqinida bir necha yuzaki kesma yoki chopma yara bo‘ladi, shikastlanish asosan chap tomonda uchraydi. A’zobuzarlik esa maqsadli, qasddan o‘ziga shikast yetkazishdir.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287-bet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To‘g‘ri ichak shilliq qavati va orqa teshikdagi jarohatlar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Sun’iy holat (no‘xatli tasmali qopcha kiritilib, tasma keskin tortilganda) chin tushishdan farq qiladi: to‘g‘ri ichak shilliq qavati va orqa teshik sohasida jarohatlar aniqlanadi.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287-bet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Ikkinchi haftaning oxiri – uchinchi hafta davriga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Birinchi haftaning oxirida chetlar granulyasion to‘qima bilan qoplana boshlaydi. Ikkinchi haftaning oxiri – uchinchi haftada chandiq hosil bo‘lib, yallig‘lanish yo‘qoladi. Uch haftadan keyin muddatni aniqlash imkoni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291-bet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Soxta erkak germafroditizm (yorg‘oq faoliyati bilan)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Soxta erkak germafroditizmda faoliyat ko‘rsatayotgan yorg‘oq bo‘ladi, tashqi belgilar esa ayollarga o‘xshaydi. Chin germafroditizmda erkak va ayol jinsiy bezlari birga topiladi, soxta ayol turida esa tuxumdon faoliyat ko‘rsatadi.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288-bet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Azospermiya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Eyakulyatda spermatozoidlarning umuman bo‘lmasligi azospermiya deyiladi va urug‘lantirish qobiliyatini inkor etadi. Impotensiya esa jinsiy aloqa qilishga monelikni bildiradi, bu boshqa tushuncha.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292-bet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Uch haftadan keyin muddatni hal etib bo‘lmaydi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Yoriq chetida chandiq ikkinchi haftaning oxiri – uchinchi haftada hosil bo‘ladi. Shu sababli parda butunligi buzilishining muddati faqat dastlabki haftalarda aniqlanadi. Uch haftadan so‘ng bu masalani hal etib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291-bet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Voqeadan so‘ng imkon qadar qisqa vaqt ichida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Vaqt o‘tgan sari laboratoriya tekshiruvlarining samaradorligi, xususan spermatozoidlarning topilish ehtimoli kamayadi. Shuning uchun namunalar voqeadan keyin imkon qadar tez olinib, laboratoriyaga yuboriladi.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296-bet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Faqat aktiv qatnashchi, Jinoyat kodeksining 119-moddasi bo‘yicha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Zo‘rlik ishlatilmagan besoqolbozlikda (120-modda) ikkala qatnashchi javobgar bo‘ladi. Zo‘rlik, qo‘rqitish yoki ojizlikdan foydalanilganda esa faqat aktiv qatnashchi 119-modda bo‘yicha javobgarlikka tortiladi. Passiv qatnashchi jabrlanuvchi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298-bet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113-modda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113-moddada tanosil kasalliklari yoki OIV-infeksiyasi/OITS borligini bila turib yuqtirish yoki yuqtirish xavfi ostida qoldirish uchun javobgarlik belgilangan. Bu jinoyat hayot yoki sog‘liq uchun xavfli jinoyatlar guruhiga kiradi. 118-modda nomusga tegishga, 120-modda besoqolbozlikka, 129-modda fahsh harakatlariga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299-bet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Ekspertizadan o‘tayotgan shaxsning so‘rovi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Algoritm: hodisa tafsilotlari bilan tanishish, tibbiy hujjatlarni o‘rganish, shaxsning so‘rovi, ko‘rik, zarur bo‘lsa qo‘shimcha tekshiruvlar va ekspert xulosasi. Tibbiy hujjatlardan keyin so‘rov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299–300-bet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darslik, Toshkent: Global Books nashriyoti. 2018. Bob 12. Tirik shaxslar sud-tibbiy ekspertizasi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