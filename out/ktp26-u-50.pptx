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yurak-qon tomir kasalliklari nogahon o‘limning asosiy sababi hisoblanadi? Mikroskopiya har doim o‘lim sababini ko‘rsata oladimi? Doskaga ma’ruza rejasini 5-6 punktda yozdiring. Tipik xato: talabalar darslik gistologik usullarni to‘liq bayon qiladi deb o‘ylaydi. Bu qisman mos manba ekanini aytib qo‘ying.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kasallikdan o‘lim aniq bo‘lsa ham zo‘rakilikni istisno qilish shart? Ekspertiza natijalaridan profilaktikada qanday foydalaniladi? Doskada: o‘lim holati → zo‘rakilikni istisno qilish → sabab → profilaktika zanjirini chizdiring. Tipik xato: kasallikni topish bilan ekspertiza tugaydi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bu farq shartli hisoblanadi? Tibbiy yordam sifati atamani tanlashga qanday ta’sir qiladi? Doskada jadvalni qayta chizdiring va ikki atamani ingliz nomlari bilan yozdiring. Tipik xato: eski bo‘linishni hozirgi amaliyot deb o‘ylash. Aslida atamalar hozir sinonim sifatida qabul qilinadi.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o‘limdan oldingi sog‘liq holati yaxshi bo‘lishi shubha uyg‘otadi? 2) Beshta belgidan qaysi biri ekspertiza uchun hal qiluvchi? Doskada: 5 belgini raqamlab, ustun shaklida yozdiring. Tipik xato: talabalar ’shubha uyg‘otadi’ degan belgini zo‘rakilik isbotlangan deb tushunadi; murdada kasallik topilishi bilan zo‘rakilik istisno qilinadi.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yurak-qon tomir kasalliklari ’simptomsiz kechgan’ guruhga misol qilib berilgan? 2) Xurujli va o‘tkir kasalliklar o‘rtasida qanday farq bor? Doskada: to‘rt guruhni to‘rt ustunli sxema ko‘rinishida chizdiring va har biriga misol yozdiring. Tipik xato: miya qon aylanishining buzilishini surunkali kasalliklar guruhiga qo‘shib yuborish; manbada u o‘tkir rivojlanadigan kasalliklar qatorida.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ayni joy va vaqt shubha yo‘nalishini belgilaydi? 2) Har bir shubhani istisno qilish uchun murdada nimani qidirasiz? Doskada: jadvalni ko‘chirib, ’vaziyat – shubha – istisno usuli’ degan uchinchi ustun qo‘shishni topshiring. Tipik xato: shubha ro‘yxatini aniq tashxis deb qabul qilish; bu faqat istisno qilinishi kerak bo‘lgan taxminlar.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turtki omil kasallikning o‘zi emas, faqat dekompensatsiyani tezlatadi? 2) Qaysi turtkilarni marhumning yaqinlaridan so‘rab aniqlash mumkin? Doskada: 6 ta turtki omilni ustun qilib yozing va har biriga bittadan misol keltiring. Tipik xato: turtki omilni o‘limning asosiy sababi deb olish; sabab hamisha kasallikning o‘zi.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tez-tez bering; 2-3 talabadan javob oling. Muhokama: nega ikki atama orasidagi farq ‘shartli’ deyilgan? Doskada: ‘nogahon’ va ‘to‘satdan’ ta’riflarini ikki ustunda yozing. Tipik xato: atamalarni aralashtirish va 24 soatlik muddatni unutish.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‘o‘lim joyi va vaqti’ zo‘rakilikni istisno qilish zaruratini tug‘diradi? 2) Qaysi turtki omillar bu holatda ahamiyatli bo‘lishi mumkin? Doskada: ‘shubha → istisno qilish → sabab aniqlash’ ketma-ketligini chizing. Tipik xato: faqat tashqi vaziyatga qarab xulosa chiqarish, murda tekshiruvidagi kasallik topilmasini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Nima uchun katta yoshdagilarda yetakchi sabab yurak-qon tomir kasalliklari? 2) Nogahon o‘lim nima uchun zo‘raki o‘limga shubha tug‘diradi? Doskada: ikki ustunli ro‘yxat chizing: katta yoshdagilar va bolalar, ularning yetakchi sabablari. Tipik xato: talabalar 85-90% ko‘rsatkichini bolalarga ham tatbiq qiladi.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Nima uchun nogahon o‘limda yaqqol infarkt ko‘rinmaydi? 2) Ateroskleroz bilan ishemik kasallik o‘rtasidagi bog‘liqlik qanday? Doskada: zanjir chizing: ateroskleroz, ishemik kasallik, ikki asorat. Tipik xato: o‘tkir koronar etishmovchilik va infarktni bir xil holat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qon aylanishi tiklangach xavf kuchayadi? 2) Nega bunday o‘limda ateroskleroz yaqqol bo‘lmasligi mumkin? Doskada: besh bosqichli zanjirni talabalar bilan birga chizing. Tipik xato: ateroskleroz birlamchi sabab deb o‘ylash, aslida spazm asosiy o‘rin tutadi.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nogahon o‘limda yaqqol infarkt ko‘rinmaydi? 2) Spazm bilan infarktning farqi nimada? Doskada: vaqt o‘qini chizing va 12–24 soat oralig‘ini belgilang. Tipik xato: talaba nogahon o‘lim har doim infarktdan bo‘ladi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dastlabki soatlarda o‘choq ko‘rinmaydi? 2) Rang o‘zgarishi o‘lim muddatini baholashda qanday yordam beradi? Doskada: jadvalni daftarga ko‘chirib, har qatorga rang bilan belgi qo‘yishni topshiring. Tipik xato: sarg‘ish-yashil rangni birinchi sutkaga tegishli deb aytish.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kamida 12–24 soat; 2) toj tomirlar spazmi; 3) er rangli, qizg‘ish, atrofida qon quyilish hoshiyasi; 4) keyinroq paydo bo‘ladi. Muhokama: spazm va infarkt qaysi vaqt oralig‘ida farqlanadi? Doskada: 4 savolning javobini bir qatorli zanjir qilib yozdiring. Tipik xato: 12–24 soatni nogahon o‘lim muddati deb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infarkt asoratlari bevosita o‘lim sababi deb ataladi? 2) Qaysi asoratlar yurak ichida, qaysi biri katta qon aylanish doirasida rivojlanadi? Doskada chizish: infarktdan beshta asoratgacha bo‘lgan sxemani chizing. Tipik xato: talaba infarktning o‘zini bevosita o‘lim sababi deb yozadi, aslida o‘limni uning asoratlari keltirib chiqaradi.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Gipertonik kasallik o‘limga qanday yo‘llar bilan olib keladi? 2) Nima uchun uni ishemik kasallik bilan birga baholash kerak? Doskada chizish: gipertonik kasallikdan uchta o‘lim yo‘liga (yurak yetishmovchiligi, infarkt, miya qon aylanishi buzilishi) o‘q chizing. Tipik xato: fon kasallikni (gipertoniya) o‘limning bevosita sababi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Bu kasalliklarning qaysilari yoshlarda ko‘proq uchraydi? 2) Nima uchun bu holatlarda zo‘raki o‘limni istisno qilish kerak? Doskada chizish: katta yoshdagilar va bolalar uchun yurak-qon tomir sabablarining ikki ustunli ro‘yxati. Tipik xato: faqat ateroskleroz va infarktni eslab, miokardit, nuqson, tromboflebitni unutish.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mikroskopik topilma o‘z-o‘zidan o‘lim sababi bo‘lavermaydi? 2) Manbada yurak gistologiyasi bo‘yicha qanday bo‘shliq bor va uni qaysi qo‘shimcha adabiyot bilan to‘ldirish mumkin? Doskada: ‘murda – gistologik – virusologik – bakteriologik – xulosa’ zanjirini chizdiring. Tipik xato: o‘pkadagi yengil yallig‘lanishni darhol o‘lim sababi deb yozish.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tez o‘limda infarktning klassik belgilari ko‘rinmaydi? 2) Spazm qaytgach qon aylanishi tiklansa nima yuz beradi (aritmogen substansiya)? Doskada: ikki ustunli ‘spazm | infarkt’ taqqoslashini chizdiring (vaqt, ateroskleroz darajasi, morfologiya). Tipik xato: har qanday nogahon yurak o‘limini ‘infarktdan’ deb yozish.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Savol: Bu holatda qaysi ma’lumotlar o‘lim sababini isbotlaydi, qaysilari faqat taxmin? Muhokama: zo‘raki o‘limni istisno qilish uchun yana qanday ma’lumot kerak? Doskada: ‘zo‘riqish → spazm → ishemiya → fibrillyasiya → o‘lim’ zanjirini chizdiring. Tipik xato: faqat aterosklerozni topib, uni to‘g‘ridan-to‘g‘ri o‘lim sababi deb yozish; manbada ateroskleroz ahamiyati ikkilamchi deyilgan.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Nima uchun bolalarda nogahon o‘limning asosiy sababi yurak emas, nafas tizimi kasalliklari? 2) Kattaroq yoshdagi bolalarda yurak kasalliklarining o‘rni qanday? Doskada: bolalar nogahon o‘limi sabablarining sodda ro‘yxatini (virusli, bakterial, aralash) chizdiring. Tipik xato: talabalar 90% ni barcha yoshdagi aholiga tegishli deb o‘ylaydi, aslida u bolalar uchun.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simptomsiz kechish shifokor va ota-onani chalg‘itadi? 2) Mikroskopiyada spetsifik o‘zgarish bo‘lmasa, o‘lim sababi qanday asoslanadi? Doskada: jadvalni uch ustunli qilib chizdiring va talabalar bilan to‘ldiring. Tipik xato: mikroskopiyada o‘zgarish topilmasa kasallik yo‘q deb xulosa qilish; manbada bunday o‘zgarishlar ko‘pincha aniqlanmasligi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Savollarni og‘zaki bering, javobni slaydda ko‘rsatishdan oldin 2-3 talabadan so‘rang. Muhokama: nogahon o‘limga olib keluvchi va olib kelmaydigan infeksiyani qaysi belgilar bo‘yicha farqlash mumkin? Doskada: ikki ustunli qisqa xulosa (virusli va aralash/bakterial) yozdiring. Tipik xato: 90% va 80% raqamlarini aralashtirish; 80% go‘daklar o‘limining birinchi yil birinchi yarmiga tegishli.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kuchsiz ta’sirot ham bu bolalarda o‘ta kuchli javob beradi? 2) Nima sababdan bu holat ko‘pincha faqat murda tekshiruvida topiladi? Doskada chizish: timus, limfa tugunlari va buyrak usti bezi belgilari bilan bola organlarining sodda sxemasi. Tipik xato: talaba timiko-limfatik holatni bevosita o‘lim sababi deb qabul qiladi; manbada u sezgirlik holati sifatida tavsiflangan.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Yurak kasalliklari (endokardit, miokardit, nuqson) bolalarda qanday sabab bo‘lib qoladi? 2) Giperdiagnostika statistikaga qanday ta’sir qiladi? Doskada chizish: ikki ustun, chapda yurak sabablari, o‘ngda giperdiagnostika sabablari. Tipik xato: giperdiagnostikani gipodiagnostika (kam aniqlash) bilan aralashtirish. Diqqat: giperdiagnostika ≠ gipodiagnostika.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Raqobatchi sabab, asorat va hamroh kasallik bir-biridan qanday farqlanadi? 2) Nima uchun ekspert faqat gistologiyaga tayanmay, katamnez va hujjatlarni ham o‘rganadi? Doskada chizish: o‘lim sababini aniqlash zanjiri (hujjat, ko‘rik, laboratoriya, katamnez, xulosa). Tipik xato: pnevmoniya topilgani zahoti uni o‘lim sababi deb yozish. Diqqat: pnevmoniya topildi ≠ o‘lim sababi aniqlandi.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Pnevmoniya raqobatchi sabab bo‘lsa, asosiy sababni qaysi tekshiruvlar ochib beradi? 2) Nega shifokor hujjatda o‘lim mexanizmini yozishi shart? Doskada: «pnevmoniya → asosiy / raqobatchi / asorat / hamroh» tarmoqlanishini chizdiring. Tipik xato: pnevmoniyani avtomatik o‘lim sababi deb yozish (giperdiagnostika). Katamnestik ma’lumot – marhumning yaqinlaridan olinadigan anamnez ekanini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GTO‘S «istisno tashxisi» deyiladi? 2) «Krovatdagi o‘lim» (cot death) va «belanchakdagi o‘lim» (crib death) eski atamalari nimani anglatgan? Doskada: ta’rifning 4 shartini (yosh, uyqu, to‘liq tekshiruv, sabab yo‘q) ustun qilib yozdiring. Tipik xato: GTO‘Sni yetarli tekshirmasdan qo‘yish yoki bir yoshdan katta bolaga qo‘llash.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mexanik gipoteza mexanik asfiksiya bilan chalkashtirilishi mumkin? 2) Respirator va kardiogen gipotezalar farqi nimada? Doskada: 6 gipotezani ikki guruhga (ilgari surilgan / so‘nggi davrda asosiy) ajratib chizdiring. Tipik xato: bitta gipotezani yagona haqiqiy sabab deb o‘rgatish; darslikda birortasi barcha holatni asoslay olmaydi, deyilgan.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xavf omillarini bilish profilaktika uchun muhim? 2) Nima uchun O‘zbekiston ko‘rsatkichi faqat taxmin qilingan? Doskada: xavf omillarining ikki ustunli ro‘yxatini chizdiring (go‘dak bilan bog‘liq / parvarish va sharoit bilan bog‘liq). Tipik xato: xavf omili bor go‘dakni o‘limga mahkum deb hisoblash. To‘g‘ri parvarish va kuzatuvda go‘dak sog‘lom o‘sadi.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navbat bilan bering, javobni slayddan ko‘rsatmasdan oldin so‘rang. Muhokama: nega birorta gipoteza barcha holatni tushuntirib bera olmaydi? Doskada: to‘rt eski gipoteza va ikki hozirgi gipotezani ikki ustunda yozdiring. Tipik xato: eski gipotezalardan birini yagona sabab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Bu topilmalar nima uchun o‘limning sababini ko‘rsata olmaydi? 2) Nima uchun diagnoz boshqa sabablar istisno qilingandan keyin qo‘yiladi? Doskada: jadvalni ko‘chirib, har topilma yoniga ‘tez o‘lim belgisi’ deb belgi qo‘ydiring. Diqqat: xato qilish xavfi: bu belgilar mexanik asfiksiyada ham uchraydi, shuning uchun GTO‘S ≠ mexanik asfiksiya, voqea tafsiloti va boshqa tekshiruvlar bilan solishtiring. Tipik xato: o‘pkadagi yengil yallig‘lanishni pnevmoniya deb o‘lim sababi qilish.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bronxopnevmoniya tashxisi asossiz bo‘lishi mumkin? 2) Tez o‘lim belgilari nega GTO‘S ni isbotlamaydi? Doskada: ikki ustunli ro‘yxat tuzing, chapda GTO‘S, o‘ngda mexanik asfiksiya, o‘rtada umumiy belgilar. Tipik xato: o‘pkadagi yengil yallig‘lanishni o‘lim sababi deb yozish..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ma’lumotlar mexanik asfiksiyani GTO‘S dan ajratishga yordam beradi? 2) Boshqa sabablarni istisno qilish uchun nimalarni tekshirasiz? Doskada: bosqichlar ketma-ketligini chizing (hujjatlar, katamnez, tekshiruv, istisno, xulosa). Tipik xato: tafsilotga qarab nafas teshiklari bekilganini avtomatik sabab deb yozish.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Nogahon o‘limda ekspert birinchi navbatda nimani istisno qiladi? 2) Mikroskopik tekshiruvning chegarasi nimada? Doskada: to‘rt asosiy xulosani yuqoridan pastga strelkalar bilan bog‘lab chizing. Tipik xato: mikroskopik o‘zgarish topilmasa, o‘limni sababsiz deb hisoblash.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Yurak-qon tomir kasalliklaridan to'satdan o'limni tekshirishning gistopatologik usullari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ma’ruza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Mavzu: yurak-qon tomir kasalliklaridan to‘satdan (nogahon) o‘limni tekshirish va mikroskopik usullarning o‘rni. Reja: atamalar, belgilar, turtki omillar, kattalar va bolalar o‘limi, GTO‘S.</a:t>
            </a:r>
          </a:p>
          <a:p>
            <a:pPr>
              <a:spcAft>
                <a:spcPts val="1200"/>
              </a:spcAft>
            </a:pPr>
            <a:r>
              <a:rPr sz="2000">
                <a:solidFill>
                  <a:srgbClr val="1F2937"/>
                </a:solidFill>
                <a:latin typeface="Calibri"/>
              </a:rPr>
              <a:t>▸  Katta yoshdagilarda nogahon o‘lim hollarining 85-90% ida sababchi yurak-qon tomir kasalliklari. Yetakchilari: ateroskleroz va gipertonik kasallik.</a:t>
            </a:r>
          </a:p>
          <a:p>
            <a:pPr>
              <a:spcAft>
                <a:spcPts val="1200"/>
              </a:spcAft>
            </a:pPr>
            <a:r>
              <a:rPr sz="2000">
                <a:solidFill>
                  <a:srgbClr val="1F2937"/>
                </a:solidFill>
                <a:latin typeface="Calibri"/>
              </a:rPr>
              <a:t>▸  Bolalar o‘limida gistologik, virusologik va bakteriologik tekshiruvlar o‘tkaziladi. Natijalar boshqa ma’lumotlar bilan birga tahlil qilinib, o‘lim sababi aytiladi.</a:t>
            </a:r>
          </a:p>
          <a:p>
            <a:pPr>
              <a:spcAft>
                <a:spcPts val="1200"/>
              </a:spcAft>
            </a:pPr>
            <a:r>
              <a:rPr sz="2000">
                <a:solidFill>
                  <a:srgbClr val="1F2937"/>
                </a:solidFill>
                <a:latin typeface="Calibri"/>
              </a:rPr>
              <a:t>▸  Ochiq izoh: bu manba gistologik usullarni faqat qisman yoritadi. Infarktning mikroskopik belgilari unda batafsil berilmagan.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248-254, 249, 251-252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Nozo‘raki o‘lim ekspertizasining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Nozo‘raki o‘limning sababi turli kasalliklar bo‘lishi mumkin. Shunday holatlarda ham sud-tibbiy ekspertiza o‘tkaziladi.</a:t>
            </a:r>
          </a:p>
          <a:p>
            <a:pPr>
              <a:spcAft>
                <a:spcPts val="1200"/>
              </a:spcAft>
            </a:pPr>
            <a:r>
              <a:rPr sz="2200">
                <a:solidFill>
                  <a:srgbClr val="1F2937"/>
                </a:solidFill>
                <a:latin typeface="Calibri"/>
              </a:rPr>
              <a:t>▸  Ekspertizaning asosiy maqsadi — zo‘rakilik alomatlarini istisno qilish.</a:t>
            </a:r>
          </a:p>
          <a:p>
            <a:pPr>
              <a:spcAft>
                <a:spcPts val="1200"/>
              </a:spcAft>
            </a:pPr>
            <a:r>
              <a:rPr sz="2200">
                <a:solidFill>
                  <a:srgbClr val="1F2937"/>
                </a:solidFill>
                <a:latin typeface="Calibri"/>
              </a:rPr>
              <a:t>▸  Ekspertiza materiallari umumlashtirilib tahlil qilinadi. Shu asosda bunday o‘limning oldini olishga qaratilgan taklif va tavsiyalar ishlab chiqiladi.</a:t>
            </a:r>
          </a:p>
          <a:p>
            <a:pPr>
              <a:spcAft>
                <a:spcPts val="1200"/>
              </a:spcAft>
            </a:pPr>
            <a:r>
              <a:rPr sz="2200">
                <a:solidFill>
                  <a:srgbClr val="1F2937"/>
                </a:solidFill>
                <a:latin typeface="Calibri"/>
              </a:rPr>
              <a:t>▸  Diqqat: o‘lim vaqti va joyi zo‘rakilikka shubha tug‘diradi. Masalan, elektromonterning ish paytidagi o‘limida elektrotravma istisno qilinishi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248, 248-249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Nogahon va to‘satdan o‘lim atamalari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Ilgari nozo‘raki o‘lim ikki ko‘rinishda farqlangan: nogahon va to‘satdan.</a:t>
            </a:r>
          </a:p>
          <a:p>
            <a:pPr>
              <a:spcAft>
                <a:spcPts val="800"/>
              </a:spcAft>
            </a:pPr>
            <a:r>
              <a:rPr sz="1800">
                <a:solidFill>
                  <a:srgbClr val="1F2937"/>
                </a:solidFill>
                <a:latin typeface="Calibri"/>
              </a:rPr>
              <a:t>▸  Farq shartli: shaxsning munosabati va tibbiy yordam sifati muhim o‘rin tutadi.</a:t>
            </a:r>
          </a:p>
          <a:p>
            <a:pPr>
              <a:spcAft>
                <a:spcPts val="800"/>
              </a:spcAft>
            </a:pPr>
            <a:r>
              <a:rPr sz="1800">
                <a:solidFill>
                  <a:srgbClr val="1F2937"/>
                </a:solidFill>
                <a:latin typeface="Calibri"/>
              </a:rPr>
              <a:t>▸  Diqqat: eski bo‘linishda nogahon ≠ to‘satdan. Hozir ko‘pchilik tadqiqotchi ularni sinonim deb oladi.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87009"/>
                <a:gridCol w="1733762"/>
                <a:gridCol w="216720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Nogahon</a:t>
                      </a:r>
                    </a:p>
                  </a:txBody>
                  <a:tcPr marL="73152" marR="73152" marT="36576" marB="36576">
                    <a:solidFill>
                      <a:srgbClr val="0B1F3A"/>
                    </a:solidFill>
                  </a:tcPr>
                </a:tc>
                <a:tc>
                  <a:txBody>
                    <a:bodyPr/>
                    <a:lstStyle/>
                    <a:p>
                      <a:r>
                        <a:rPr sz="1300" b="1">
                          <a:solidFill>
                            <a:srgbClr val="FFFFFF"/>
                          </a:solidFill>
                        </a:rPr>
                        <a:t>To‘satdan</a:t>
                      </a:r>
                    </a:p>
                  </a:txBody>
                  <a:tcPr marL="73152" marR="73152" marT="36576" marB="36576">
                    <a:solidFill>
                      <a:srgbClr val="0B1F3A"/>
                    </a:solidFill>
                  </a:tcPr>
                </a:tc>
              </a:tr>
              <a:tr h="411480">
                <a:tc>
                  <a:txBody>
                    <a:bodyPr/>
                    <a:lstStyle/>
                    <a:p>
                      <a:r>
                        <a:rPr sz="1200" b="0">
                          <a:solidFill>
                            <a:srgbClr val="1F2937"/>
                          </a:solidFill>
                        </a:rPr>
                        <a:t>Kasallik</a:t>
                      </a:r>
                    </a:p>
                  </a:txBody>
                  <a:tcPr marL="73152" marR="73152" marT="36576" marB="36576">
                    <a:solidFill>
                      <a:srgbClr val="E8EEF6"/>
                    </a:solidFill>
                  </a:tcPr>
                </a:tc>
                <a:tc>
                  <a:txBody>
                    <a:bodyPr/>
                    <a:lstStyle/>
                    <a:p>
                      <a:r>
                        <a:rPr sz="1200" b="0">
                          <a:solidFill>
                            <a:srgbClr val="1F2937"/>
                          </a:solidFill>
                        </a:rPr>
                        <a:t>Avval aniqlanmagan</a:t>
                      </a:r>
                    </a:p>
                  </a:txBody>
                  <a:tcPr marL="73152" marR="73152" marT="36576" marB="36576">
                    <a:solidFill>
                      <a:srgbClr val="E8EEF6"/>
                    </a:solidFill>
                  </a:tcPr>
                </a:tc>
                <a:tc>
                  <a:txBody>
                    <a:bodyPr/>
                    <a:lstStyle/>
                    <a:p>
                      <a:r>
                        <a:rPr sz="1200" b="0">
                          <a:solidFill>
                            <a:srgbClr val="1F2937"/>
                          </a:solidFill>
                        </a:rPr>
                        <a:t>Aniqlangan</a:t>
                      </a:r>
                    </a:p>
                  </a:txBody>
                  <a:tcPr marL="73152" marR="73152" marT="36576" marB="36576">
                    <a:solidFill>
                      <a:srgbClr val="E8EEF6"/>
                    </a:solidFill>
                  </a:tcPr>
                </a:tc>
              </a:tr>
              <a:tr h="411480">
                <a:tc>
                  <a:txBody>
                    <a:bodyPr/>
                    <a:lstStyle/>
                    <a:p>
                      <a:r>
                        <a:rPr sz="1200" b="0">
                          <a:solidFill>
                            <a:srgbClr val="1F2937"/>
                          </a:solidFill>
                        </a:rPr>
                        <a:t>Muddat/vaziyat</a:t>
                      </a:r>
                    </a:p>
                  </a:txBody>
                  <a:tcPr marL="73152" marR="73152" marT="36576" marB="36576">
                    <a:solidFill>
                      <a:srgbClr val="FFFFFF"/>
                    </a:solidFill>
                  </a:tcPr>
                </a:tc>
                <a:tc>
                  <a:txBody>
                    <a:bodyPr/>
                    <a:lstStyle/>
                    <a:p>
                      <a:r>
                        <a:rPr sz="1200" b="0">
                          <a:solidFill>
                            <a:srgbClr val="1F2937"/>
                          </a:solidFill>
                        </a:rPr>
                        <a:t>24 soat ichida o‘lim</a:t>
                      </a:r>
                    </a:p>
                  </a:txBody>
                  <a:tcPr marL="73152" marR="73152" marT="36576" marB="36576">
                    <a:solidFill>
                      <a:srgbClr val="FFFFFF"/>
                    </a:solidFill>
                  </a:tcPr>
                </a:tc>
                <a:tc>
                  <a:txBody>
                    <a:bodyPr/>
                    <a:lstStyle/>
                    <a:p>
                      <a:r>
                        <a:rPr sz="1200" b="0">
                          <a:solidFill>
                            <a:srgbClr val="1F2937"/>
                          </a:solidFill>
                        </a:rPr>
                        <a:t>Xavf yo‘q vaziyatda o‘lim</a:t>
                      </a:r>
                    </a:p>
                  </a:txBody>
                  <a:tcPr marL="73152" marR="73152" marT="36576" marB="36576">
                    <a:solidFill>
                      <a:srgbClr val="FFFFFF"/>
                    </a:solidFill>
                  </a:tcPr>
                </a:tc>
              </a:tr>
              <a:tr h="411480">
                <a:tc>
                  <a:txBody>
                    <a:bodyPr/>
                    <a:lstStyle/>
                    <a:p>
                      <a:r>
                        <a:rPr sz="1200" b="0">
                          <a:solidFill>
                            <a:srgbClr val="1F2937"/>
                          </a:solidFill>
                        </a:rPr>
                        <a:t>Inglizcha</a:t>
                      </a:r>
                    </a:p>
                  </a:txBody>
                  <a:tcPr marL="73152" marR="73152" marT="36576" marB="36576">
                    <a:solidFill>
                      <a:srgbClr val="E8EEF6"/>
                    </a:solidFill>
                  </a:tcPr>
                </a:tc>
                <a:tc>
                  <a:txBody>
                    <a:bodyPr/>
                    <a:lstStyle/>
                    <a:p>
                      <a:r>
                        <a:rPr sz="1200" b="0">
                          <a:solidFill>
                            <a:srgbClr val="1F2937"/>
                          </a:solidFill>
                        </a:rPr>
                        <a:t>unexpected death</a:t>
                      </a:r>
                    </a:p>
                  </a:txBody>
                  <a:tcPr marL="73152" marR="73152" marT="36576" marB="36576">
                    <a:solidFill>
                      <a:srgbClr val="E8EEF6"/>
                    </a:solidFill>
                  </a:tcPr>
                </a:tc>
                <a:tc>
                  <a:txBody>
                    <a:bodyPr/>
                    <a:lstStyle/>
                    <a:p>
                      <a:r>
                        <a:rPr sz="1200" b="0">
                          <a:solidFill>
                            <a:srgbClr val="1F2937"/>
                          </a:solidFill>
                        </a:rPr>
                        <a:t>sudden death</a:t>
                      </a:r>
                    </a:p>
                  </a:txBody>
                  <a:tcPr marL="73152" marR="73152" marT="36576" marB="36576">
                    <a:solidFill>
                      <a:srgbClr val="E8EEF6"/>
                    </a:solidFill>
                  </a:tcPr>
                </a:tc>
              </a:tr>
              <a:tr h="411480">
                <a:tc>
                  <a:txBody>
                    <a:bodyPr/>
                    <a:lstStyle/>
                    <a:p>
                      <a:r>
                        <a:rPr sz="1200" b="0">
                          <a:solidFill>
                            <a:srgbClr val="1F2937"/>
                          </a:solidFill>
                        </a:rPr>
                        <a:t>Hozir</a:t>
                      </a:r>
                    </a:p>
                  </a:txBody>
                  <a:tcPr marL="73152" marR="73152" marT="36576" marB="36576">
                    <a:solidFill>
                      <a:srgbClr val="FFFFFF"/>
                    </a:solidFill>
                  </a:tcPr>
                </a:tc>
                <a:tc>
                  <a:txBody>
                    <a:bodyPr/>
                    <a:lstStyle/>
                    <a:p>
                      <a:r>
                        <a:rPr sz="1200" b="0">
                          <a:solidFill>
                            <a:srgbClr val="1F2937"/>
                          </a:solidFill>
                        </a:rPr>
                        <a:t>Sinonim sifatida</a:t>
                      </a:r>
                    </a:p>
                  </a:txBody>
                  <a:tcPr marL="73152" marR="73152" marT="36576" marB="36576">
                    <a:solidFill>
                      <a:srgbClr val="FFFFFF"/>
                    </a:solidFill>
                  </a:tcPr>
                </a:tc>
                <a:tc>
                  <a:txBody>
                    <a:bodyPr/>
                    <a:lstStyle/>
                    <a:p>
                      <a:r>
                        <a:rPr sz="1200" b="0">
                          <a:solidFill>
                            <a:srgbClr val="1F2937"/>
                          </a:solidFill>
                        </a:rPr>
                        <a:t>Sinonim sifatida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Eski bo‘linish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Nogahon o‘limga xos beshta belgi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Birinchi belgi: o‘limning sababi doim kasallik bo‘ladi. Ko‘pincha o‘limdan oldin simptomlar umuman kuzatilmaydi yoki yaqqol bilinmaydi.</a:t>
            </a:r>
          </a:p>
          <a:p>
            <a:pPr>
              <a:spcAft>
                <a:spcPts val="1200"/>
              </a:spcAft>
            </a:pPr>
            <a:r>
              <a:rPr sz="2200">
                <a:solidFill>
                  <a:srgbClr val="1F2937"/>
                </a:solidFill>
                <a:latin typeface="Calibri"/>
              </a:rPr>
              <a:t>▸  Ikkinchi va uchinchi belgi: o‘lim tez, qisqa muddatda sodir bo‘ladi. Undan oldin sog‘liq holati to‘liq yoki nisbatan yaxshi bo‘ladi.</a:t>
            </a:r>
          </a:p>
          <a:p>
            <a:pPr>
              <a:spcAft>
                <a:spcPts val="1200"/>
              </a:spcAft>
            </a:pPr>
            <a:r>
              <a:rPr sz="2200">
                <a:solidFill>
                  <a:srgbClr val="1F2937"/>
                </a:solidFill>
                <a:latin typeface="Calibri"/>
              </a:rPr>
              <a:t>▸  To‘rtinchi belgi: o‘lim tafsilotlari har doim zo‘raki o‘limga shubha uyg‘otadi.</a:t>
            </a:r>
          </a:p>
          <a:p>
            <a:pPr>
              <a:spcAft>
                <a:spcPts val="1200"/>
              </a:spcAft>
            </a:pPr>
            <a:r>
              <a:rPr sz="2200">
                <a:solidFill>
                  <a:srgbClr val="1F2937"/>
                </a:solidFill>
                <a:latin typeface="Calibri"/>
              </a:rPr>
              <a:t>▸  Beshinchi belgi: murda tekshiruvida o‘limga sabab bo‘lgan hayotiy kasallik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Nogahon o‘limga olib keluvchi holatlar guruhlari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Simptomsiz kechgan, to‘liq yoki qisman kompensatsiya holatidagi surunkali kasalliklar, masalan yurak-qon tomir kasalliklari.</a:t>
            </a:r>
          </a:p>
          <a:p>
            <a:pPr>
              <a:spcAft>
                <a:spcPts val="1200"/>
              </a:spcAft>
            </a:pPr>
            <a:r>
              <a:rPr sz="2200">
                <a:solidFill>
                  <a:srgbClr val="1F2937"/>
                </a:solidFill>
                <a:latin typeface="Calibri"/>
              </a:rPr>
              <a:t>▸  Davriy ravishda hayot uchun xavfli xurujlar bilan kechadigan kasalliklar: tutqanoq, diabetik koma, bronxial astma.</a:t>
            </a:r>
          </a:p>
          <a:p>
            <a:pPr>
              <a:spcAft>
                <a:spcPts val="1200"/>
              </a:spcAft>
            </a:pPr>
            <a:r>
              <a:rPr sz="2200">
                <a:solidFill>
                  <a:srgbClr val="1F2937"/>
                </a:solidFill>
                <a:latin typeface="Calibri"/>
              </a:rPr>
              <a:t>▸  O‘tkir rivojlanadigan kasalliklar, xususan miya qon aylanishining buzilishi.</a:t>
            </a:r>
          </a:p>
          <a:p>
            <a:pPr>
              <a:spcAft>
                <a:spcPts val="1200"/>
              </a:spcAft>
            </a:pPr>
            <a:r>
              <a:rPr sz="2200">
                <a:solidFill>
                  <a:srgbClr val="1F2937"/>
                </a:solidFill>
                <a:latin typeface="Calibri"/>
              </a:rPr>
              <a:t>▸  Organizmda to‘satdan ro‘y beradigan funksional buzilishlar: angiospazm (tomir spazmi) va angionevrotik shishish.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Zo‘rakilikni istisno qilish zarurati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Nogahon o‘lim sodir bo‘lgan vaqt va joy zo‘rakilikni istisno qilish zaruratini tug‘diradi.</a:t>
            </a:r>
          </a:p>
          <a:p>
            <a:pPr>
              <a:spcAft>
                <a:spcPts val="800"/>
              </a:spcAft>
            </a:pPr>
            <a:r>
              <a:rPr sz="1800">
                <a:solidFill>
                  <a:srgbClr val="1F2937"/>
                </a:solidFill>
                <a:latin typeface="Calibri"/>
              </a:rPr>
              <a:t>▸  Zavod ishchisining sexdagi o‘limida mexanik travma va elektrotravmaga shubha qilinadi.</a:t>
            </a:r>
          </a:p>
          <a:p>
            <a:pPr>
              <a:spcAft>
                <a:spcPts val="800"/>
              </a:spcAft>
            </a:pPr>
            <a:r>
              <a:rPr sz="1800">
                <a:solidFill>
                  <a:srgbClr val="1F2937"/>
                </a:solidFill>
                <a:latin typeface="Calibri"/>
              </a:rPr>
              <a:t>▸  Homilador ayolda jinoiy abort, tibbiy muolajadan so‘ng anafilaktik shok va havo emboliyasi shubha qilinadi.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407806"/>
                <a:gridCol w="1880168"/>
              </a:tblGrid>
              <a:tr h="411480">
                <a:tc>
                  <a:txBody>
                    <a:bodyPr/>
                    <a:lstStyle/>
                    <a:p>
                      <a:r>
                        <a:rPr sz="1400" b="1">
                          <a:solidFill>
                            <a:srgbClr val="FFFFFF"/>
                          </a:solidFill>
                        </a:rPr>
                        <a:t>Vaziyat</a:t>
                      </a:r>
                    </a:p>
                  </a:txBody>
                  <a:tcPr marL="73152" marR="73152" marT="36576" marB="36576">
                    <a:solidFill>
                      <a:srgbClr val="0B1F3A"/>
                    </a:solidFill>
                  </a:tcPr>
                </a:tc>
                <a:tc>
                  <a:txBody>
                    <a:bodyPr/>
                    <a:lstStyle/>
                    <a:p>
                      <a:r>
                        <a:rPr sz="1400" b="1">
                          <a:solidFill>
                            <a:srgbClr val="FFFFFF"/>
                          </a:solidFill>
                        </a:rPr>
                        <a:t>Shubha</a:t>
                      </a:r>
                    </a:p>
                  </a:txBody>
                  <a:tcPr marL="73152" marR="73152" marT="36576" marB="36576">
                    <a:solidFill>
                      <a:srgbClr val="0B1F3A"/>
                    </a:solidFill>
                  </a:tcPr>
                </a:tc>
              </a:tr>
              <a:tr h="411480">
                <a:tc>
                  <a:txBody>
                    <a:bodyPr/>
                    <a:lstStyle/>
                    <a:p>
                      <a:r>
                        <a:rPr sz="1300" b="0">
                          <a:solidFill>
                            <a:srgbClr val="1F2937"/>
                          </a:solidFill>
                        </a:rPr>
                        <a:t>Mehmondorchilikdagi o‘lim</a:t>
                      </a:r>
                    </a:p>
                  </a:txBody>
                  <a:tcPr marL="73152" marR="73152" marT="36576" marB="36576">
                    <a:solidFill>
                      <a:srgbClr val="E8EEF6"/>
                    </a:solidFill>
                  </a:tcPr>
                </a:tc>
                <a:tc>
                  <a:txBody>
                    <a:bodyPr/>
                    <a:lstStyle/>
                    <a:p>
                      <a:r>
                        <a:rPr sz="1300" b="0">
                          <a:solidFill>
                            <a:srgbClr val="1F2937"/>
                          </a:solidFill>
                        </a:rPr>
                        <a:t>Zaharlanish</a:t>
                      </a:r>
                    </a:p>
                  </a:txBody>
                  <a:tcPr marL="73152" marR="73152" marT="36576" marB="36576">
                    <a:solidFill>
                      <a:srgbClr val="E8EEF6"/>
                    </a:solidFill>
                  </a:tcPr>
                </a:tc>
              </a:tr>
              <a:tr h="411480">
                <a:tc>
                  <a:txBody>
                    <a:bodyPr/>
                    <a:lstStyle/>
                    <a:p>
                      <a:r>
                        <a:rPr sz="1300" b="0">
                          <a:solidFill>
                            <a:srgbClr val="1F2937"/>
                          </a:solidFill>
                        </a:rPr>
                        <a:t>Elektromonterning ish vaqtida</a:t>
                      </a:r>
                    </a:p>
                  </a:txBody>
                  <a:tcPr marL="73152" marR="73152" marT="36576" marB="36576">
                    <a:solidFill>
                      <a:srgbClr val="FFFFFF"/>
                    </a:solidFill>
                  </a:tcPr>
                </a:tc>
                <a:tc>
                  <a:txBody>
                    <a:bodyPr/>
                    <a:lstStyle/>
                    <a:p>
                      <a:r>
                        <a:rPr sz="1300" b="0">
                          <a:solidFill>
                            <a:srgbClr val="1F2937"/>
                          </a:solidFill>
                        </a:rPr>
                        <a:t>Elektrotravma</a:t>
                      </a:r>
                    </a:p>
                  </a:txBody>
                  <a:tcPr marL="73152" marR="73152" marT="36576" marB="36576">
                    <a:solidFill>
                      <a:srgbClr val="FFFFFF"/>
                    </a:solidFill>
                  </a:tcPr>
                </a:tc>
              </a:tr>
              <a:tr h="411480">
                <a:tc>
                  <a:txBody>
                    <a:bodyPr/>
                    <a:lstStyle/>
                    <a:p>
                      <a:r>
                        <a:rPr sz="1300" b="0">
                          <a:solidFill>
                            <a:srgbClr val="1F2937"/>
                          </a:solidFill>
                        </a:rPr>
                        <a:t>G‘avvosning suv ostida</a:t>
                      </a:r>
                    </a:p>
                  </a:txBody>
                  <a:tcPr marL="73152" marR="73152" marT="36576" marB="36576">
                    <a:solidFill>
                      <a:srgbClr val="E8EEF6"/>
                    </a:solidFill>
                  </a:tcPr>
                </a:tc>
                <a:tc>
                  <a:txBody>
                    <a:bodyPr/>
                    <a:lstStyle/>
                    <a:p>
                      <a:r>
                        <a:rPr sz="1300" b="0">
                          <a:solidFill>
                            <a:srgbClr val="1F2937"/>
                          </a:solidFill>
                        </a:rPr>
                        <a:t>Gipoksiya</a:t>
                      </a:r>
                    </a:p>
                  </a:txBody>
                  <a:tcPr marL="73152" marR="73152" marT="36576" marB="36576">
                    <a:solidFill>
                      <a:srgbClr val="E8EEF6"/>
                    </a:solidFill>
                  </a:tcPr>
                </a:tc>
              </a:tr>
              <a:tr h="411480">
                <a:tc>
                  <a:txBody>
                    <a:bodyPr/>
                    <a:lstStyle/>
                    <a:p>
                      <a:r>
                        <a:rPr sz="1300" b="0">
                          <a:solidFill>
                            <a:srgbClr val="1F2937"/>
                          </a:solidFill>
                        </a:rPr>
                        <a:t>Dehqonning ochiq dalada</a:t>
                      </a:r>
                    </a:p>
                  </a:txBody>
                  <a:tcPr marL="73152" marR="73152" marT="36576" marB="36576">
                    <a:solidFill>
                      <a:srgbClr val="FFFFFF"/>
                    </a:solidFill>
                  </a:tcPr>
                </a:tc>
                <a:tc>
                  <a:txBody>
                    <a:bodyPr/>
                    <a:lstStyle/>
                    <a:p>
                      <a:r>
                        <a:rPr sz="1300" b="0">
                          <a:solidFill>
                            <a:srgbClr val="1F2937"/>
                          </a:solidFill>
                        </a:rPr>
                        <a:t>Issiq urishi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Vaziyat va shubha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248, 248-249, 249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Nogahon o‘limga turtki bo‘luvchi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Yashirin kechgan surunkali kasallikda ayrim holatlar kompensatsiyani buzadi (dekompensatsiya) va nogahon o‘limga olib keladi. Bunday omillar turtki (trigger) deyiladi.</a:t>
            </a:r>
          </a:p>
          <a:p>
            <a:pPr>
              <a:spcAft>
                <a:spcPts val="1200"/>
              </a:spcAft>
            </a:pPr>
            <a:r>
              <a:rPr sz="2200">
                <a:solidFill>
                  <a:srgbClr val="1F2937"/>
                </a:solidFill>
                <a:latin typeface="Calibri"/>
              </a:rPr>
              <a:t>▸  Jismoniy zo‘riqish: og‘ir ish, yuk ko‘tarish, chopish. Ruhiy zo‘riqish: asosan salbiy his-tuyg‘ular (emotsiyalar).</a:t>
            </a:r>
          </a:p>
          <a:p>
            <a:pPr>
              <a:spcAft>
                <a:spcPts val="1200"/>
              </a:spcAft>
            </a:pPr>
            <a:r>
              <a:rPr sz="2200">
                <a:solidFill>
                  <a:srgbClr val="1F2937"/>
                </a:solidFill>
                <a:latin typeface="Calibri"/>
              </a:rPr>
              <a:t>▸  Haddan tashqari isib ketish yoki sovuq qotish. Meteorologik omillar: havo harorati va bosimining keskin o‘zgarishi, magnit to‘fonlari, iqlimning keskin o‘zgarishi.</a:t>
            </a:r>
          </a:p>
          <a:p>
            <a:pPr>
              <a:spcAft>
                <a:spcPts val="1200"/>
              </a:spcAft>
            </a:pPr>
            <a:r>
              <a:rPr sz="2200">
                <a:solidFill>
                  <a:srgbClr val="1F2937"/>
                </a:solidFill>
                <a:latin typeface="Calibri"/>
              </a:rPr>
              <a:t>▸  Ovqat va suv rejimining buzilishi: uzoq och yurish, suv ichmaslik, birdaniga ko‘p ovqat yeyish. Yana spirtli ichimliklarni iste’mol qilish.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nogahon o‘limning ikkita belgisini ayting. Javob: sababi hamisha kasallik; o‘lim tez va qisqa muddatda yuz beradi; oldin sog‘liq yaxshi yoki nisbatan yaxshi bo‘ladi.</a:t>
            </a:r>
          </a:p>
          <a:p>
            <a:pPr>
              <a:spcAft>
                <a:spcPts val="1200"/>
              </a:spcAft>
            </a:pPr>
            <a:r>
              <a:rPr sz="2000">
                <a:solidFill>
                  <a:srgbClr val="1F2937"/>
                </a:solidFill>
                <a:latin typeface="Calibri"/>
              </a:rPr>
              <a:t>▸  Diqqat: xato qilish xavfi. Nogahon o‘lim (kasallik oldin aniqlanmagan, 24 soat ichida) ≠ to‘satdan o‘lim (kasallik ma’lum). Farq shartli, hozir ular sinonim sifatida qabul qilinadi.</a:t>
            </a:r>
          </a:p>
          <a:p>
            <a:pPr>
              <a:spcAft>
                <a:spcPts val="1200"/>
              </a:spcAft>
            </a:pPr>
            <a:r>
              <a:rPr sz="2000">
                <a:solidFill>
                  <a:srgbClr val="1F2937"/>
                </a:solidFill>
                <a:latin typeface="Calibri"/>
              </a:rPr>
              <a:t>▸  Savol: turtki omillardan uchtasini sanang. Javob: jismoniy yoki ruhiy zo‘riqish, isib ketish yoki sovuq qotish, spirtli ichimlik iste’moli (va boshqalar).</a:t>
            </a:r>
          </a:p>
          <a:p>
            <a:pPr>
              <a:spcAft>
                <a:spcPts val="1200"/>
              </a:spcAft>
            </a:pPr>
            <a:r>
              <a:rPr sz="2000">
                <a:solidFill>
                  <a:srgbClr val="1F2937"/>
                </a:solidFill>
                <a:latin typeface="Calibri"/>
              </a:rPr>
              <a:t>▸  Savol: katta yoshdagilarda nogahon o‘limning asosiy sababi nima? Javob: yurak-qon tomir kasalliklari (85-90%), birinchi o‘rinda ateroskleroz va gipertonik kasallik.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248, 249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ishda to‘satdan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ochiq dalada ishlayotgan dehqon to‘satdan vafot etdi, o‘limdan oldin jiddiy shikoyat bildirmagan. Manbada bunday holat issiq urishiga shubha tug‘dirishi aytilgan.</a:t>
            </a:r>
          </a:p>
          <a:p>
            <a:pPr>
              <a:spcAft>
                <a:spcPts val="1200"/>
              </a:spcAft>
            </a:pPr>
            <a:r>
              <a:rPr sz="2000">
                <a:solidFill>
                  <a:srgbClr val="1F2937"/>
                </a:solidFill>
                <a:latin typeface="Calibri"/>
              </a:rPr>
              <a:t>▸  Nima uchun zo‘rakilik istisno qilinadi: o‘limning vaqti va joyi zo‘raki o‘limga shubha uyg‘otadi. Ekspertizaning asosiy maqsadi ham zo‘rakilik alomatlarini istisno qilish.</a:t>
            </a:r>
          </a:p>
          <a:p>
            <a:pPr>
              <a:spcAft>
                <a:spcPts val="1200"/>
              </a:spcAft>
            </a:pPr>
            <a:r>
              <a:rPr sz="2000">
                <a:solidFill>
                  <a:srgbClr val="1F2937"/>
                </a:solidFill>
                <a:latin typeface="Calibri"/>
              </a:rPr>
              <a:t>▸  Kerakli ma’lumotlar: o‘lim tafsilotlari, murda tekshiruvida o‘limga sabab bo‘lgan hayotiy kasallikning topilishi, shuningdek turtki omillar (zo‘riqish, isib ketish).</a:t>
            </a:r>
          </a:p>
          <a:p>
            <a:pPr>
              <a:spcAft>
                <a:spcPts val="1200"/>
              </a:spcAft>
            </a:pPr>
            <a:r>
              <a:rPr sz="2000">
                <a:solidFill>
                  <a:srgbClr val="1F2937"/>
                </a:solidFill>
                <a:latin typeface="Calibri"/>
              </a:rPr>
              <a:t>▸  Talabaga savol: bu holatda issiq urishi va yurak-qon tomir kasalligidan nogahon o‘limni qaysi topilmalar bilan farqlaysiz? Fikringizni asoslang.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248-249, 248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Katta yoshdagilarda yurak-qon tomir kasalliklari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Katta yoshdagilarda nogahon o‘limning aksariyat holatlarida (85-90%) sababchi yurak-qon tomir kasalliklari bo‘ladi.</a:t>
            </a:r>
          </a:p>
          <a:p>
            <a:pPr>
              <a:spcAft>
                <a:spcPts val="1200"/>
              </a:spcAft>
            </a:pPr>
            <a:r>
              <a:rPr sz="2200">
                <a:solidFill>
                  <a:srgbClr val="1F2937"/>
                </a:solidFill>
                <a:latin typeface="Calibri"/>
              </a:rPr>
              <a:t>▸  Bu tizim kasalliklari orasida ateroskleroz va gipertonik kasallik yetakchi o‘rinni egallaydi.</a:t>
            </a:r>
          </a:p>
          <a:p>
            <a:pPr>
              <a:spcAft>
                <a:spcPts val="1200"/>
              </a:spcAft>
            </a:pPr>
            <a:r>
              <a:rPr sz="2200">
                <a:solidFill>
                  <a:srgbClr val="1F2937"/>
                </a:solidFill>
                <a:latin typeface="Calibri"/>
              </a:rPr>
              <a:t>▸  Nogahon o‘limga olib kelishda asosan yurak va miya qon tomirlarining aterosklerozi muhim ahamiyatga ega.</a:t>
            </a:r>
          </a:p>
          <a:p>
            <a:pPr>
              <a:spcAft>
                <a:spcPts val="1200"/>
              </a:spcAft>
            </a:pPr>
            <a:r>
              <a:rPr sz="2200">
                <a:solidFill>
                  <a:srgbClr val="1F2937"/>
                </a:solidFill>
                <a:latin typeface="Calibri"/>
              </a:rPr>
              <a:t>▸  Diqqat: xato qilish xavfi. 85-90% faqat katta yoshdagilarga tegishli. Bolalarda nogahon o‘limning 90%ga yaqini o‘tkir respirator kasalliklardan.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249, 250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Yurakning ishemik kasalligi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Yurak qon tomirlarining aterosklerozi yurakning ishemik kasalligi ko‘rinishida namoyon bo‘ladi.</a:t>
            </a:r>
          </a:p>
          <a:p>
            <a:pPr>
              <a:spcAft>
                <a:spcPts val="1200"/>
              </a:spcAft>
            </a:pPr>
            <a:r>
              <a:rPr sz="2200">
                <a:solidFill>
                  <a:srgbClr val="1F2937"/>
                </a:solidFill>
                <a:latin typeface="Calibri"/>
              </a:rPr>
              <a:t>▸  Bu kasallikda o‘tkir koronar etishmovchilik va miokard infarkti nogahon o‘limga sabab bo‘lishi mumkin.</a:t>
            </a:r>
          </a:p>
          <a:p>
            <a:pPr>
              <a:spcAft>
                <a:spcPts val="1200"/>
              </a:spcAft>
            </a:pPr>
            <a:r>
              <a:rPr sz="2200">
                <a:solidFill>
                  <a:srgbClr val="1F2937"/>
                </a:solidFill>
                <a:latin typeface="Calibri"/>
              </a:rPr>
              <a:t>▸  Infarkt rivojlanishi uchun koronar qon aylanishi buzilgach kamida 12-24 soat kerak. Nogahon o‘lim esa odatda tezroq sodir bo‘ladi.</a:t>
            </a:r>
          </a:p>
          <a:p>
            <a:pPr>
              <a:spcAft>
                <a:spcPts val="1200"/>
              </a:spcAft>
            </a:pPr>
            <a:r>
              <a:rPr sz="2200">
                <a:solidFill>
                  <a:srgbClr val="1F2937"/>
                </a:solidFill>
                <a:latin typeface="Calibri"/>
              </a:rPr>
              <a:t>▸  Diqqat: o‘tkir koronar etishmovchilik ≠ miokard infarkti. Infarkt uchun qon aylanishi uzoqroq buzilgan bo‘lishi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koronar etishmovchilik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rolni toj tomirlar spazmi o‘ynaydi. Ateroskleroz ahamiyati ikkilamchi.</a:t>
            </a:r>
          </a:p>
          <a:p>
            <a:pPr>
              <a:spcAft>
                <a:spcPts val="800"/>
              </a:spcAft>
            </a:pPr>
            <a:r>
              <a:rPr sz="1800">
                <a:solidFill>
                  <a:srgbClr val="1F2937"/>
                </a:solidFill>
                <a:latin typeface="Calibri"/>
              </a:rPr>
              <a:t>▸  Bunda toj tomirlardagi aterosklerotik o‘zgarishlar kuchli, yaqqol bo‘lmaydi.</a:t>
            </a:r>
          </a:p>
          <a:p>
            <a:pPr>
              <a:spcAft>
                <a:spcPts val="800"/>
              </a:spcAft>
            </a:pPr>
            <a:r>
              <a:rPr sz="1800">
                <a:solidFill>
                  <a:srgbClr val="1F2937"/>
                </a:solidFill>
                <a:latin typeface="Calibri"/>
              </a:rPr>
              <a:t>▸  Qorinchalar fibrillyasiyasi o‘limning bevosita yaqin sababi hisoblanadi.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Toj tomirlar spazmi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Kardiomiotsitlar ishemiyasi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Aritmogen substansiya ajraladi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Spazm yo‘qolib, qon tiklanadi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Qorinchalar fibrillyasiyasi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Koronar etishmovchilik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Miokard infarkti: rivojlanish uchun vaqt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Toj tomirlarda qon aylanishi uzoqroq buzilsa, miokard infarkti rivojlanadi. Bunda aterosklerotik o‘zgarishlar kuchli bo‘ladi, tomir ichida tromb ham topilishi mumkin.</a:t>
            </a:r>
          </a:p>
          <a:p>
            <a:pPr>
              <a:spcAft>
                <a:spcPts val="1200"/>
              </a:spcAft>
            </a:pPr>
            <a:r>
              <a:rPr sz="2200">
                <a:solidFill>
                  <a:srgbClr val="1F2937"/>
                </a:solidFill>
                <a:latin typeface="Calibri"/>
              </a:rPr>
              <a:t>▸  Yaqqol infarkt shakllanishi uchun koronar qon aylanishi buzilishi kamida 12–24 soat davom etishi kerak.</a:t>
            </a:r>
          </a:p>
          <a:p>
            <a:pPr>
              <a:spcAft>
                <a:spcPts val="1200"/>
              </a:spcAft>
            </a:pPr>
            <a:r>
              <a:rPr sz="2200">
                <a:solidFill>
                  <a:srgbClr val="1F2937"/>
                </a:solidFill>
                <a:latin typeface="Calibri"/>
              </a:rPr>
              <a:t>▸  Nogahon o‘lim odatda tezroq, qisqa vaqt ichida sodir bo‘ladi. Shu sababli ko‘zga yaqqol tashlanadigan infarkt kuzatilmaydi.</a:t>
            </a:r>
          </a:p>
          <a:p>
            <a:pPr>
              <a:spcAft>
                <a:spcPts val="1200"/>
              </a:spcAft>
            </a:pPr>
            <a:r>
              <a:rPr sz="2200">
                <a:solidFill>
                  <a:srgbClr val="1F2937"/>
                </a:solidFill>
                <a:latin typeface="Calibri"/>
              </a:rPr>
              <a:t>▸  Diqqat: xato qilish xavfi. O‘tkir koronar etishmovchilik (asosiy o‘rinda toj tomirlar spazmi) ≠ miokard infarkti.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Infarkt morfologiyasining vaqt chizig‘i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Infarkt o‘chog‘ining ko‘rinishi va rangi vaqt o‘tishi bilan o‘zgarib boradi.</a:t>
            </a:r>
          </a:p>
          <a:p>
            <a:pPr>
              <a:spcAft>
                <a:spcPts val="800"/>
              </a:spcAft>
            </a:pPr>
            <a:r>
              <a:rPr sz="1800">
                <a:solidFill>
                  <a:srgbClr val="1F2937"/>
                </a:solidFill>
                <a:latin typeface="Calibri"/>
              </a:rPr>
              <a:t>▸  O‘lim bir necha soatdan keyin yuz bersa, nekroz o‘chog‘ini aniq ajratib bo‘lmaydi.</a:t>
            </a:r>
          </a:p>
          <a:p>
            <a:pPr>
              <a:spcAft>
                <a:spcPts val="800"/>
              </a:spcAft>
            </a:pPr>
            <a:r>
              <a:rPr sz="1800">
                <a:solidFill>
                  <a:srgbClr val="1F2937"/>
                </a:solidFill>
                <a:latin typeface="Calibri"/>
              </a:rPr>
              <a:t>▸  Sarg‘ish-kul rang infarktning klassik ko‘rinishi uchun xos.</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76378"/>
                <a:gridCol w="3411596"/>
              </a:tblGrid>
              <a:tr h="411480">
                <a:tc>
                  <a:txBody>
                    <a:bodyPr/>
                    <a:lstStyle/>
                    <a:p>
                      <a:r>
                        <a:rPr sz="1400" b="1">
                          <a:solidFill>
                            <a:srgbClr val="FFFFFF"/>
                          </a:solidFill>
                        </a:rPr>
                        <a:t>Vaqt</a:t>
                      </a:r>
                    </a:p>
                  </a:txBody>
                  <a:tcPr marL="73152" marR="73152" marT="36576" marB="36576">
                    <a:solidFill>
                      <a:srgbClr val="0B1F3A"/>
                    </a:solidFill>
                  </a:tcPr>
                </a:tc>
                <a:tc>
                  <a:txBody>
                    <a:bodyPr/>
                    <a:lstStyle/>
                    <a:p>
                      <a:r>
                        <a:rPr sz="1400" b="1">
                          <a:solidFill>
                            <a:srgbClr val="FFFFFF"/>
                          </a:solidFill>
                        </a:rPr>
                        <a:t>Miokard ko‘rinishi</a:t>
                      </a:r>
                    </a:p>
                  </a:txBody>
                  <a:tcPr marL="73152" marR="73152" marT="36576" marB="36576">
                    <a:solidFill>
                      <a:srgbClr val="0B1F3A"/>
                    </a:solidFill>
                  </a:tcPr>
                </a:tc>
              </a:tr>
              <a:tr h="411480">
                <a:tc>
                  <a:txBody>
                    <a:bodyPr/>
                    <a:lstStyle/>
                    <a:p>
                      <a:r>
                        <a:rPr sz="1300" b="0">
                          <a:solidFill>
                            <a:srgbClr val="1F2937"/>
                          </a:solidFill>
                        </a:rPr>
                        <a:t>Bir necha soat</a:t>
                      </a:r>
                    </a:p>
                  </a:txBody>
                  <a:tcPr marL="73152" marR="73152" marT="36576" marB="36576">
                    <a:solidFill>
                      <a:srgbClr val="E8EEF6"/>
                    </a:solidFill>
                  </a:tcPr>
                </a:tc>
                <a:tc>
                  <a:txBody>
                    <a:bodyPr/>
                    <a:lstStyle/>
                    <a:p>
                      <a:r>
                        <a:rPr sz="1300" b="0">
                          <a:solidFill>
                            <a:srgbClr val="1F2937"/>
                          </a:solidFill>
                        </a:rPr>
                        <a:t>O‘choq noaniq, shalviragan, notekis to‘laqon</a:t>
                      </a:r>
                    </a:p>
                  </a:txBody>
                  <a:tcPr marL="73152" marR="73152" marT="36576" marB="36576">
                    <a:solidFill>
                      <a:srgbClr val="E8EEF6"/>
                    </a:solidFill>
                  </a:tcPr>
                </a:tc>
              </a:tr>
              <a:tr h="411480">
                <a:tc>
                  <a:txBody>
                    <a:bodyPr/>
                    <a:lstStyle/>
                    <a:p>
                      <a:r>
                        <a:rPr sz="1300" b="0">
                          <a:solidFill>
                            <a:srgbClr val="1F2937"/>
                          </a:solidFill>
                        </a:rPr>
                        <a:t>1-sutka ikkinchi yarmi</a:t>
                      </a:r>
                    </a:p>
                  </a:txBody>
                  <a:tcPr marL="73152" marR="73152" marT="36576" marB="36576">
                    <a:solidFill>
                      <a:srgbClr val="FFFFFF"/>
                    </a:solidFill>
                  </a:tcPr>
                </a:tc>
                <a:tc>
                  <a:txBody>
                    <a:bodyPr/>
                    <a:lstStyle/>
                    <a:p>
                      <a:r>
                        <a:rPr sz="1300" b="0">
                          <a:solidFill>
                            <a:srgbClr val="1F2937"/>
                          </a:solidFill>
                        </a:rPr>
                        <a:t>Er rangli o‘choq, qon quyilish hoshiyasi</a:t>
                      </a:r>
                    </a:p>
                  </a:txBody>
                  <a:tcPr marL="73152" marR="73152" marT="36576" marB="36576">
                    <a:solidFill>
                      <a:srgbClr val="FFFFFF"/>
                    </a:solidFill>
                  </a:tcPr>
                </a:tc>
              </a:tr>
              <a:tr h="411480">
                <a:tc>
                  <a:txBody>
                    <a:bodyPr/>
                    <a:lstStyle/>
                    <a:p>
                      <a:r>
                        <a:rPr sz="1300" b="0">
                          <a:solidFill>
                            <a:srgbClr val="1F2937"/>
                          </a:solidFill>
                        </a:rPr>
                        <a:t>Ayni o‘choqda</a:t>
                      </a:r>
                    </a:p>
                  </a:txBody>
                  <a:tcPr marL="73152" marR="73152" marT="36576" marB="36576">
                    <a:solidFill>
                      <a:srgbClr val="E8EEF6"/>
                    </a:solidFill>
                  </a:tcPr>
                </a:tc>
                <a:tc>
                  <a:txBody>
                    <a:bodyPr/>
                    <a:lstStyle/>
                    <a:p>
                      <a:r>
                        <a:rPr sz="1300" b="0">
                          <a:solidFill>
                            <a:srgbClr val="1F2937"/>
                          </a:solidFill>
                        </a:rPr>
                        <a:t>Shish hisobiga biroz ko‘tariladi</a:t>
                      </a:r>
                    </a:p>
                  </a:txBody>
                  <a:tcPr marL="73152" marR="73152" marT="36576" marB="36576">
                    <a:solidFill>
                      <a:srgbClr val="E8EEF6"/>
                    </a:solidFill>
                  </a:tcPr>
                </a:tc>
              </a:tr>
              <a:tr h="411480">
                <a:tc>
                  <a:txBody>
                    <a:bodyPr/>
                    <a:lstStyle/>
                    <a:p>
                      <a:r>
                        <a:rPr sz="1300" b="0">
                          <a:solidFill>
                            <a:srgbClr val="1F2937"/>
                          </a:solidFill>
                        </a:rPr>
                        <a:t>Keyinroq</a:t>
                      </a:r>
                    </a:p>
                  </a:txBody>
                  <a:tcPr marL="73152" marR="73152" marT="36576" marB="36576">
                    <a:solidFill>
                      <a:srgbClr val="FFFFFF"/>
                    </a:solidFill>
                  </a:tcPr>
                </a:tc>
                <a:tc>
                  <a:txBody>
                    <a:bodyPr/>
                    <a:lstStyle/>
                    <a:p>
                      <a:r>
                        <a:rPr sz="1300" b="0">
                          <a:solidFill>
                            <a:srgbClr val="1F2937"/>
                          </a:solidFill>
                        </a:rPr>
                        <a:t>Sarg‘ish-kul, sarg‘ish-yashil rang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Infarkt o‘zgarishlari ketma-ketligi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yaqqol miokard infarkti uchun koronar qon aylanishi buzilishi kamida necha soat davom etishi kerak?</a:t>
            </a:r>
          </a:p>
          <a:p>
            <a:pPr>
              <a:spcAft>
                <a:spcPts val="1200"/>
              </a:spcAft>
            </a:pPr>
            <a:r>
              <a:rPr sz="2200">
                <a:solidFill>
                  <a:srgbClr val="1F2937"/>
                </a:solidFill>
                <a:latin typeface="Calibri"/>
              </a:rPr>
              <a:t>▸  Savol: o‘tkir koronar etishmovchilikda asosiy o‘rinni nima egallaydi: toj tomirlar spazmimi yoki tromb?</a:t>
            </a:r>
          </a:p>
          <a:p>
            <a:pPr>
              <a:spcAft>
                <a:spcPts val="1200"/>
              </a:spcAft>
            </a:pPr>
            <a:r>
              <a:rPr sz="2200">
                <a:solidFill>
                  <a:srgbClr val="1F2937"/>
                </a:solidFill>
                <a:latin typeface="Calibri"/>
              </a:rPr>
              <a:t>▸  Savol: infarkt o‘chog‘i 1-sutkaning ikkinchi yarmida qanday rangda aniqlana boshlaydi?</a:t>
            </a:r>
          </a:p>
          <a:p>
            <a:pPr>
              <a:spcAft>
                <a:spcPts val="1200"/>
              </a:spcAft>
            </a:pPr>
            <a:r>
              <a:rPr sz="2200">
                <a:solidFill>
                  <a:srgbClr val="1F2937"/>
                </a:solidFill>
                <a:latin typeface="Calibri"/>
              </a:rPr>
              <a:t>▸  Savol: sarg‘ish-kul va sarg‘ish-yashil ranglar infarktning qaysi davriga xos, ertami yoki keyinmi?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249, 250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Miokard infarktidagi bevosita o‘lim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Miokard infarktida bevosita o‘limga kardiogen shok yoki asistoliya (yurak to‘xtashi) olib kelishi mumkin.</a:t>
            </a:r>
          </a:p>
          <a:p>
            <a:pPr>
              <a:spcAft>
                <a:spcPts val="800"/>
              </a:spcAft>
            </a:pPr>
            <a:r>
              <a:rPr sz="1800">
                <a:solidFill>
                  <a:srgbClr val="1F2937"/>
                </a:solidFill>
                <a:latin typeface="Calibri"/>
              </a:rPr>
              <a:t>▸  Yurak anevrizmasi va yurak devorining yorilishi ham bevosita o‘lim sababi bo‘lishi mumkin.</a:t>
            </a:r>
          </a:p>
          <a:p>
            <a:pPr>
              <a:spcAft>
                <a:spcPts val="800"/>
              </a:spcAft>
            </a:pPr>
            <a:r>
              <a:rPr sz="1800">
                <a:solidFill>
                  <a:srgbClr val="1F2937"/>
                </a:solidFill>
                <a:latin typeface="Calibri"/>
              </a:rPr>
              <a:t>▸  Katta qon aylanish doirasida tromboembolik asoratlar ham rivojlanishi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Miokard infarkti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Kardiogen shok, asistoliya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Yurak anevrizmasi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Yurak devori yorilishi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Tromboembolik asoratlar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Infarktning o‘limga olib boruvchi asoratlari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Gipertonik kasallik va nogahon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Katta yoshdagilarda nogahon o‘limning 85-90% holatida yurak-qon tomir kasalliklari sababchi bo‘ladi. Ular orasida ateroskleroz va gipertonik kasallik yetakchi.</a:t>
            </a:r>
          </a:p>
          <a:p>
            <a:pPr>
              <a:spcAft>
                <a:spcPts val="1200"/>
              </a:spcAft>
            </a:pPr>
            <a:r>
              <a:rPr sz="2200">
                <a:solidFill>
                  <a:srgbClr val="1F2937"/>
                </a:solidFill>
                <a:latin typeface="Calibri"/>
              </a:rPr>
              <a:t>▸  Gipertonik kasallik ko‘pincha yurakning ishemik kasalligi va serebro-vaskulyar kasallik bilan birga kuzatiladi.</a:t>
            </a:r>
          </a:p>
          <a:p>
            <a:pPr>
              <a:spcAft>
                <a:spcPts val="1200"/>
              </a:spcAft>
            </a:pPr>
            <a:r>
              <a:rPr sz="2200">
                <a:solidFill>
                  <a:srgbClr val="1F2937"/>
                </a:solidFill>
                <a:latin typeface="Calibri"/>
              </a:rPr>
              <a:t>▸  U nogahon o‘limga o‘tkir yurak yetishmovchiligi, miokard infarkti yoki miya qon aylanishining buzilishi orqali olib keladi.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249, 250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yurak-qon tomir kasalliklari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Miokarditlar, revmatizm va yurak nuqsonlari ham nogahon o‘limga olib kelishi mumkin.</a:t>
            </a:r>
          </a:p>
          <a:p>
            <a:pPr>
              <a:spcAft>
                <a:spcPts val="1200"/>
              </a:spcAft>
            </a:pPr>
            <a:r>
              <a:rPr sz="2200">
                <a:solidFill>
                  <a:srgbClr val="1F2937"/>
                </a:solidFill>
                <a:latin typeface="Calibri"/>
              </a:rPr>
              <a:t>▸  Turli kelib chiqishga ega anevrizmalar va tromboflebitlar ham nogahon o‘lim sababi bo‘lishi mumkin.</a:t>
            </a:r>
          </a:p>
          <a:p>
            <a:pPr>
              <a:spcAft>
                <a:spcPts val="1200"/>
              </a:spcAft>
            </a:pPr>
            <a:r>
              <a:rPr sz="2200">
                <a:solidFill>
                  <a:srgbClr val="1F2937"/>
                </a:solidFill>
                <a:latin typeface="Calibri"/>
              </a:rPr>
              <a:t>▸  Kattaroq yoshdagi bolalarda endokardit, miokarditlar, tug‘ma va ortirilgan yurak nuqsonlari nogahon o‘limga olib kelishi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250, 251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Mikroskopik tekshiruv: manbadagi o‘rni va cheklovlari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Manbada yurak uchun gistologik usullar (bo‘yash, infarkt bosqichlari) batafsil berilmagan. Mikroskopiya faqat umumiy tarzda eslatiladi. (?)</a:t>
            </a:r>
          </a:p>
          <a:p>
            <a:pPr>
              <a:spcAft>
                <a:spcPts val="1200"/>
              </a:spcAft>
            </a:pPr>
            <a:r>
              <a:rPr sz="2200">
                <a:solidFill>
                  <a:srgbClr val="1F2937"/>
                </a:solidFill>
                <a:latin typeface="Calibri"/>
              </a:rPr>
              <a:t>▸  Bolalarning nogahon o‘limida murda ichki va tashqi ko‘rikdan tashqari gistologik, virusologik va bakteriologik tekshiruvlar o‘tkaziladi.</a:t>
            </a:r>
          </a:p>
          <a:p>
            <a:pPr>
              <a:spcAft>
                <a:spcPts val="1200"/>
              </a:spcAft>
            </a:pPr>
            <a:r>
              <a:rPr sz="2200">
                <a:solidFill>
                  <a:srgbClr val="1F2937"/>
                </a:solidFill>
                <a:latin typeface="Calibri"/>
              </a:rPr>
              <a:t>▸  Respirator infeksiyadan nogahon o‘limda spetsifik mikroskopik o‘zgarish faqat pnevmotsistali pnevmoniya va sitomegaliyada topiladi.</a:t>
            </a:r>
          </a:p>
          <a:p>
            <a:pPr>
              <a:spcAft>
                <a:spcPts val="1200"/>
              </a:spcAft>
            </a:pPr>
            <a:r>
              <a:rPr sz="2200">
                <a:solidFill>
                  <a:srgbClr val="1F2937"/>
                </a:solidFill>
                <a:latin typeface="Calibri"/>
              </a:rPr>
              <a:t>▸  Go‘daklarning to‘satdan o‘limi sindromida (GTO‘S) o‘pkada emfizema va atelektaz o‘choqlari oralab keladi. Boshqa laboratoriya tekshiruvlari odatda manfiy.</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251, 253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farqlab oling – spazm va infarkt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spazm ≠ infarkt. O‘tkir koronar etishmovchilikda toj tomirlar spazmi asosiy o‘rin tutadi, ateroskleroz ahamiyati esa ikkilamchi.</a:t>
            </a:r>
          </a:p>
          <a:p>
            <a:pPr>
              <a:spcAft>
                <a:spcPts val="1200"/>
              </a:spcAft>
            </a:pPr>
            <a:r>
              <a:rPr sz="2200">
                <a:solidFill>
                  <a:srgbClr val="1F2937"/>
                </a:solidFill>
                <a:latin typeface="Calibri"/>
              </a:rPr>
              <a:t>▸  Infarkt rivojlanishi uchun koronar qon aylanishi buzilgach kamida 12–24 soat kerak. Nogahon o‘limda yaqqol infarkt ko‘rinmaydi.</a:t>
            </a:r>
          </a:p>
          <a:p>
            <a:pPr>
              <a:spcAft>
                <a:spcPts val="1200"/>
              </a:spcAft>
            </a:pPr>
            <a:r>
              <a:rPr sz="2200">
                <a:solidFill>
                  <a:srgbClr val="1F2937"/>
                </a:solidFill>
                <a:latin typeface="Calibri"/>
              </a:rPr>
              <a:t>▸  O‘lim bir necha soatdan keyin yuz bersa, nekroz o‘chog‘i aniq bilinmaydi. Miokard shalviragan va notekis qonga to‘lgan bo‘ladi.</a:t>
            </a:r>
          </a:p>
          <a:p>
            <a:pPr>
              <a:spcAft>
                <a:spcPts val="1200"/>
              </a:spcAft>
            </a:pPr>
            <a:r>
              <a:rPr sz="2200">
                <a:solidFill>
                  <a:srgbClr val="1F2937"/>
                </a:solidFill>
                <a:latin typeface="Calibri"/>
              </a:rPr>
              <a:t>▸  Boshqa tizimlardan nogahon o‘lim kamroq kuzatiladi: pnevmoniya, bronxial astma, tutqanoq, qandli diabet, oshqozon yarasi, Mellori-Veys sindromi.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249, 250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katta yoshli erkak 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(manba asosida tuzilgan): katta yoshli erkak og‘ir jismoniy ishdan keyin kutilmaganda vafot etdi. Murdada toj tomirlarda aterosklerotik o‘zgarishlar topildi.</a:t>
            </a:r>
          </a:p>
          <a:p>
            <a:pPr>
              <a:spcAft>
                <a:spcPts val="1200"/>
              </a:spcAft>
            </a:pPr>
            <a:r>
              <a:rPr sz="2000">
                <a:solidFill>
                  <a:srgbClr val="1F2937"/>
                </a:solidFill>
                <a:latin typeface="Calibri"/>
              </a:rPr>
              <a:t>▸  Jismoniy zo‘riqish turtki (trigger) bo‘lib, yashirin surunkali kasallikning dekompensatsiyasini keltirishi mumkin. Kattalarda nogahon o‘limning 85–90 foizi yurak-qon tomir kasalliklaridan.</a:t>
            </a:r>
          </a:p>
          <a:p>
            <a:pPr>
              <a:spcAft>
                <a:spcPts val="1200"/>
              </a:spcAft>
            </a:pPr>
            <a:r>
              <a:rPr sz="2000">
                <a:solidFill>
                  <a:srgbClr val="1F2937"/>
                </a:solidFill>
                <a:latin typeface="Calibri"/>
              </a:rPr>
              <a:t>▸  Ishemiyada kardiomiotsitlardan aritmogen substansiya ajraladi. Qon aylanishi tiklangach u qonga o‘tib, qorinchalar fibrillyasiyasiga olib kelishi mumkin.</a:t>
            </a:r>
          </a:p>
          <a:p>
            <a:pPr>
              <a:spcAft>
                <a:spcPts val="1200"/>
              </a:spcAft>
            </a:pPr>
            <a:r>
              <a:rPr sz="2000">
                <a:solidFill>
                  <a:srgbClr val="1F2937"/>
                </a:solidFill>
                <a:latin typeface="Calibri"/>
              </a:rPr>
              <a:t>▸  Xulosa: yaqqol infarkt bo‘lmasa, o‘tkir koronar etishmovchilik va fibrillyasiya o‘ylanadi. Avval zo‘raki o‘lim alomatlari istisno qilinadi.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249, 248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Bolalarda nogahon o‘lim: respirator kasalliklar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Bolalar nogahon o‘limining 90% ga yaqini o‘tkir respirator kasalliklar tufayli sodir bo‘ladi.</a:t>
            </a:r>
          </a:p>
          <a:p>
            <a:pPr>
              <a:spcAft>
                <a:spcPts val="1200"/>
              </a:spcAft>
            </a:pPr>
            <a:r>
              <a:rPr sz="2200">
                <a:solidFill>
                  <a:srgbClr val="1F2937"/>
                </a:solidFill>
                <a:latin typeface="Calibri"/>
              </a:rPr>
              <a:t>▸  Bu kasalliklar ko‘pincha virusli kelib chiqadi: gripp, respirator-sinsitial virus, adenovirus, paragripp.</a:t>
            </a:r>
          </a:p>
          <a:p>
            <a:pPr>
              <a:spcAft>
                <a:spcPts val="1200"/>
              </a:spcAft>
            </a:pPr>
            <a:r>
              <a:rPr sz="2200">
                <a:solidFill>
                  <a:srgbClr val="1F2937"/>
                </a:solidFill>
                <a:latin typeface="Calibri"/>
              </a:rPr>
              <a:t>▸  Kamroq hollarda ular bakterial yoki aralash (virus-bakterial) kelib chiqishga ega bo‘ladi.</a:t>
            </a:r>
          </a:p>
          <a:p>
            <a:pPr>
              <a:spcAft>
                <a:spcPts val="1200"/>
              </a:spcAft>
            </a:pPr>
            <a:r>
              <a:rPr sz="2200">
                <a:solidFill>
                  <a:srgbClr val="1F2937"/>
                </a:solidFill>
                <a:latin typeface="Calibri"/>
              </a:rPr>
              <a:t>▸  Kattaroq yoshdagi bolalarda endokardit, miokardit va yurak nuqsonlari ham nogahon o‘limga olib kelishi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250, 251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Go‘daklarda respirator kasallikning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Nogahon o‘limda kasallik yarim hollarda simptomsiz yoki minimal belgilar bilan kechadi.</a:t>
            </a:r>
          </a:p>
          <a:p>
            <a:pPr>
              <a:spcAft>
                <a:spcPts val="800"/>
              </a:spcAft>
            </a:pPr>
            <a:r>
              <a:rPr sz="1800">
                <a:solidFill>
                  <a:srgbClr val="1F2937"/>
                </a:solidFill>
                <a:latin typeface="Calibri"/>
              </a:rPr>
              <a:t>▸  Qisqa muddatda infeksiya generalizatsiyasiga xos o‘zgarishlar (intoksikatsiya) vujudga keladi.</a:t>
            </a:r>
          </a:p>
          <a:p>
            <a:pPr>
              <a:spcAft>
                <a:spcPts val="800"/>
              </a:spcAft>
            </a:pPr>
            <a:r>
              <a:rPr sz="1800">
                <a:solidFill>
                  <a:srgbClr val="1F2937"/>
                </a:solidFill>
                <a:latin typeface="Calibri"/>
              </a:rPr>
              <a:t>▸  Diqqat: spetsifik mikroskopik o‘zgarish faqat pnevmotsistali pnevmoniya va sitomegaliyada topiladi.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44538"/>
                <a:gridCol w="2219643"/>
                <a:gridCol w="2023792"/>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Nogahon o‘lim</a:t>
                      </a:r>
                    </a:p>
                  </a:txBody>
                  <a:tcPr marL="73152" marR="73152" marT="36576" marB="36576">
                    <a:solidFill>
                      <a:srgbClr val="0B1F3A"/>
                    </a:solidFill>
                  </a:tcPr>
                </a:tc>
                <a:tc>
                  <a:txBody>
                    <a:bodyPr/>
                    <a:lstStyle/>
                    <a:p>
                      <a:r>
                        <a:rPr sz="1300" b="1">
                          <a:solidFill>
                            <a:srgbClr val="FFFFFF"/>
                          </a:solidFill>
                        </a:rPr>
                        <a:t>Boshqa holat</a:t>
                      </a:r>
                    </a:p>
                  </a:txBody>
                  <a:tcPr marL="73152" marR="73152" marT="36576" marB="36576">
                    <a:solidFill>
                      <a:srgbClr val="0B1F3A"/>
                    </a:solidFill>
                  </a:tcPr>
                </a:tc>
              </a:tr>
              <a:tr h="411480">
                <a:tc>
                  <a:txBody>
                    <a:bodyPr/>
                    <a:lstStyle/>
                    <a:p>
                      <a:r>
                        <a:rPr sz="1200" b="0">
                          <a:solidFill>
                            <a:srgbClr val="1F2937"/>
                          </a:solidFill>
                        </a:rPr>
                        <a:t>Mavsum</a:t>
                      </a:r>
                    </a:p>
                  </a:txBody>
                  <a:tcPr marL="73152" marR="73152" marT="36576" marB="36576">
                    <a:solidFill>
                      <a:srgbClr val="E8EEF6"/>
                    </a:solidFill>
                  </a:tcPr>
                </a:tc>
                <a:tc>
                  <a:txBody>
                    <a:bodyPr/>
                    <a:lstStyle/>
                    <a:p>
                      <a:r>
                        <a:rPr sz="1200" b="0">
                          <a:solidFill>
                            <a:srgbClr val="1F2937"/>
                          </a:solidFill>
                        </a:rPr>
                        <a:t>Boshqa davrlarda ham bo‘ladi</a:t>
                      </a:r>
                    </a:p>
                  </a:txBody>
                  <a:tcPr marL="73152" marR="73152" marT="36576" marB="36576">
                    <a:solidFill>
                      <a:srgbClr val="E8EEF6"/>
                    </a:solidFill>
                  </a:tcPr>
                </a:tc>
                <a:tc>
                  <a:txBody>
                    <a:bodyPr/>
                    <a:lstStyle/>
                    <a:p>
                      <a:r>
                        <a:rPr sz="1200" b="0">
                          <a:solidFill>
                            <a:srgbClr val="1F2937"/>
                          </a:solidFill>
                        </a:rPr>
                        <a:t>Asosan bahor va kuz epidemiyasi</a:t>
                      </a:r>
                    </a:p>
                  </a:txBody>
                  <a:tcPr marL="73152" marR="73152" marT="36576" marB="36576">
                    <a:solidFill>
                      <a:srgbClr val="E8EEF6"/>
                    </a:solidFill>
                  </a:tcPr>
                </a:tc>
              </a:tr>
              <a:tr h="411480">
                <a:tc>
                  <a:txBody>
                    <a:bodyPr/>
                    <a:lstStyle/>
                    <a:p>
                      <a:r>
                        <a:rPr sz="1200" b="0">
                          <a:solidFill>
                            <a:srgbClr val="1F2937"/>
                          </a:solidFill>
                        </a:rPr>
                        <a:t>Qo‘zg‘atuvchi</a:t>
                      </a:r>
                    </a:p>
                  </a:txBody>
                  <a:tcPr marL="73152" marR="73152" marT="36576" marB="36576">
                    <a:solidFill>
                      <a:srgbClr val="FFFFFF"/>
                    </a:solidFill>
                  </a:tcPr>
                </a:tc>
                <a:tc>
                  <a:txBody>
                    <a:bodyPr/>
                    <a:lstStyle/>
                    <a:p>
                      <a:r>
                        <a:rPr sz="1200" b="0">
                          <a:solidFill>
                            <a:srgbClr val="1F2937"/>
                          </a:solidFill>
                        </a:rPr>
                        <a:t>Asosan viruslar</a:t>
                      </a:r>
                    </a:p>
                  </a:txBody>
                  <a:tcPr marL="73152" marR="73152" marT="36576" marB="36576">
                    <a:solidFill>
                      <a:srgbClr val="FFFFFF"/>
                    </a:solidFill>
                  </a:tcPr>
                </a:tc>
                <a:tc>
                  <a:txBody>
                    <a:bodyPr/>
                    <a:lstStyle/>
                    <a:p>
                      <a:r>
                        <a:rPr sz="1200" b="0">
                          <a:solidFill>
                            <a:srgbClr val="1F2937"/>
                          </a:solidFill>
                        </a:rPr>
                        <a:t>Ko‘proq aralash yoki bakterial</a:t>
                      </a:r>
                    </a:p>
                  </a:txBody>
                  <a:tcPr marL="73152" marR="73152" marT="36576" marB="36576">
                    <a:solidFill>
                      <a:srgbClr val="FFFFFF"/>
                    </a:solidFill>
                  </a:tcPr>
                </a:tc>
              </a:tr>
              <a:tr h="411480">
                <a:tc>
                  <a:txBody>
                    <a:bodyPr/>
                    <a:lstStyle/>
                    <a:p>
                      <a:r>
                        <a:rPr sz="1200" b="0">
                          <a:solidFill>
                            <a:srgbClr val="1F2937"/>
                          </a:solidFill>
                        </a:rPr>
                        <a:t>Simptomlar</a:t>
                      </a:r>
                    </a:p>
                  </a:txBody>
                  <a:tcPr marL="73152" marR="73152" marT="36576" marB="36576">
                    <a:solidFill>
                      <a:srgbClr val="E8EEF6"/>
                    </a:solidFill>
                  </a:tcPr>
                </a:tc>
                <a:tc>
                  <a:txBody>
                    <a:bodyPr/>
                    <a:lstStyle/>
                    <a:p>
                      <a:r>
                        <a:rPr sz="1200" b="0">
                          <a:solidFill>
                            <a:srgbClr val="1F2937"/>
                          </a:solidFill>
                        </a:rPr>
                        <a:t>Yarmiga yaqinida simptomsiz</a:t>
                      </a:r>
                    </a:p>
                  </a:txBody>
                  <a:tcPr marL="73152" marR="73152" marT="36576" marB="36576">
                    <a:solidFill>
                      <a:srgbClr val="E8EEF6"/>
                    </a:solidFill>
                  </a:tcPr>
                </a:tc>
                <a:tc>
                  <a:txBody>
                    <a:bodyPr/>
                    <a:lstStyle/>
                    <a:p>
                      <a:r>
                        <a:rPr sz="1200" b="0">
                          <a:solidFill>
                            <a:srgbClr val="1F2937"/>
                          </a:solidFill>
                        </a:rPr>
                        <a:t>Manbada solishtirilmagan</a:t>
                      </a:r>
                    </a:p>
                  </a:txBody>
                  <a:tcPr marL="73152" marR="73152" marT="36576" marB="36576">
                    <a:solidFill>
                      <a:srgbClr val="E8EEF6"/>
                    </a:solidFill>
                  </a:tcPr>
                </a:tc>
              </a:tr>
              <a:tr h="411480">
                <a:tc>
                  <a:txBody>
                    <a:bodyPr/>
                    <a:lstStyle/>
                    <a:p>
                      <a:r>
                        <a:rPr sz="1200" b="0">
                          <a:solidFill>
                            <a:srgbClr val="1F2937"/>
                          </a:solidFill>
                        </a:rPr>
                        <a:t>Mikroskopiya</a:t>
                      </a:r>
                    </a:p>
                  </a:txBody>
                  <a:tcPr marL="73152" marR="73152" marT="36576" marB="36576">
                    <a:solidFill>
                      <a:srgbClr val="FFFFFF"/>
                    </a:solidFill>
                  </a:tcPr>
                </a:tc>
                <a:tc>
                  <a:txBody>
                    <a:bodyPr/>
                    <a:lstStyle/>
                    <a:p>
                      <a:r>
                        <a:rPr sz="1200" b="0">
                          <a:solidFill>
                            <a:srgbClr val="1F2937"/>
                          </a:solidFill>
                        </a:rPr>
                        <a:t>Ko‘pincha spetsifik o‘zgarish yo‘q</a:t>
                      </a:r>
                    </a:p>
                  </a:txBody>
                  <a:tcPr marL="73152" marR="73152" marT="36576" marB="36576">
                    <a:solidFill>
                      <a:srgbClr val="FFFFFF"/>
                    </a:solidFill>
                  </a:tcPr>
                </a:tc>
                <a:tc>
                  <a:txBody>
                    <a:bodyPr/>
                    <a:lstStyle/>
                    <a:p>
                      <a:r>
                        <a:rPr sz="1200" b="0">
                          <a:solidFill>
                            <a:srgbClr val="1F2937"/>
                          </a:solidFill>
                        </a:rPr>
                        <a:t>Manbada solishtirilmagan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Respirator infeksiyani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250, 251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bolalar nogahon o‘limining qancha qismi o‘tkir respirator kasalliklardan? Javob: 90% ga yaqini.</a:t>
            </a:r>
          </a:p>
          <a:p>
            <a:pPr>
              <a:spcAft>
                <a:spcPts val="1200"/>
              </a:spcAft>
            </a:pPr>
            <a:r>
              <a:rPr sz="2200">
                <a:solidFill>
                  <a:srgbClr val="1F2937"/>
                </a:solidFill>
                <a:latin typeface="Calibri"/>
              </a:rPr>
              <a:t>▸  Savol: nogahon o‘limga olib keluvchi respirator kasalliklarni asosan qaysi qo‘zg‘atuvchilar chaqiradi? Javob: viruslar.</a:t>
            </a:r>
          </a:p>
          <a:p>
            <a:pPr>
              <a:spcAft>
                <a:spcPts val="1200"/>
              </a:spcAft>
            </a:pPr>
            <a:r>
              <a:rPr sz="2200">
                <a:solidFill>
                  <a:srgbClr val="1F2937"/>
                </a:solidFill>
                <a:latin typeface="Calibri"/>
              </a:rPr>
              <a:t>▸  Savol: qaysi ikki kasallikda mikroskopik o‘zgarish spetsifik bo‘ladi? Javob: pnevmotsistali pnevmoniya va sitomegaliya.</a:t>
            </a:r>
          </a:p>
          <a:p>
            <a:pPr>
              <a:spcAft>
                <a:spcPts val="1200"/>
              </a:spcAft>
            </a:pPr>
            <a:r>
              <a:rPr sz="2200">
                <a:solidFill>
                  <a:srgbClr val="1F2937"/>
                </a:solidFill>
                <a:latin typeface="Calibri"/>
              </a:rPr>
              <a:t>▸  Savol: timiko-limfatik holatda bola nimaga sezgir bo‘ladi? Javob: tashqi va ichki ta’sirlarga; kuchsiz ta’sirga ham o‘ta kuchli javob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250, 251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Timiko-limfatik holat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Bolalar nogahon o‘limida murdada ba’zan ayrisimon bez va limfa tugunlarining kattalashgani, buyrak usti bezining gipoplaziyasi (rivojlanmay qolishi) topiladi.</a:t>
            </a:r>
          </a:p>
          <a:p>
            <a:pPr>
              <a:spcAft>
                <a:spcPts val="1200"/>
              </a:spcAft>
            </a:pPr>
            <a:r>
              <a:rPr sz="2200">
                <a:solidFill>
                  <a:srgbClr val="1F2937"/>
                </a:solidFill>
                <a:latin typeface="Calibri"/>
              </a:rPr>
              <a:t>▸  Bu o‘zgarishlar timiko-limfatik holat (status thymico-lymphaticus) belgilari hisoblanadi.</a:t>
            </a:r>
          </a:p>
          <a:p>
            <a:pPr>
              <a:spcAft>
                <a:spcPts val="1200"/>
              </a:spcAft>
            </a:pPr>
            <a:r>
              <a:rPr sz="2200">
                <a:solidFill>
                  <a:srgbClr val="1F2937"/>
                </a:solidFill>
                <a:latin typeface="Calibri"/>
              </a:rPr>
              <a:t>▸  Bunday bolalar tashqi va ichki ta’sirlarga sezgir bo‘ladi: unchalik kuchli bo‘lmagan ta’sirot ham o‘ta kuchli javob reaksiyasini chaqiradi.</a:t>
            </a:r>
          </a:p>
          <a:p>
            <a:pPr>
              <a:spcAft>
                <a:spcPts val="1200"/>
              </a:spcAft>
            </a:pPr>
            <a:r>
              <a:rPr sz="2200">
                <a:solidFill>
                  <a:srgbClr val="1F2937"/>
                </a:solidFill>
                <a:latin typeface="Calibri"/>
              </a:rPr>
              <a:t>▸  Hayotlik davrida holat faqat bolaning maqsadli chuqur tekshiruvida aniqlanadi. Ko‘pincha u murda tekshiruvidagi tasodifiy topilma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Kattaroq bolalarda yurak sabablari va pnevmoniya giperdiagnostikasi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Kattaroq yoshdagi bolalarda nogahon o‘limga endokardit va turli kelib chiqishga ega miokarditlar sabab bo‘lishi mumkin.</a:t>
            </a:r>
          </a:p>
          <a:p>
            <a:pPr>
              <a:spcAft>
                <a:spcPts val="1200"/>
              </a:spcAft>
            </a:pPr>
            <a:r>
              <a:rPr sz="2200">
                <a:solidFill>
                  <a:srgbClr val="1F2937"/>
                </a:solidFill>
                <a:latin typeface="Calibri"/>
              </a:rPr>
              <a:t>▸  Yurakning tug‘ma va ortirilgan nuqsonlari ham shu yoshdagi bolalarda nogahon o‘limga olib kelishi mumkin.</a:t>
            </a:r>
          </a:p>
          <a:p>
            <a:pPr>
              <a:spcAft>
                <a:spcPts val="1200"/>
              </a:spcAft>
            </a:pPr>
            <a:r>
              <a:rPr sz="2200">
                <a:solidFill>
                  <a:srgbClr val="1F2937"/>
                </a:solidFill>
                <a:latin typeface="Calibri"/>
              </a:rPr>
              <a:t>▸  Bolalar o‘limi sabablari orasida pnevmoniya ulushi sun’iy oshirilgan. Bu holat pnevmoniyaning giperdiagnostikasi deyiladi.</a:t>
            </a:r>
          </a:p>
          <a:p>
            <a:pPr>
              <a:spcAft>
                <a:spcPts val="1200"/>
              </a:spcAft>
            </a:pPr>
            <a:r>
              <a:rPr sz="2200">
                <a:solidFill>
                  <a:srgbClr val="1F2937"/>
                </a:solidFill>
                <a:latin typeface="Calibri"/>
              </a:rPr>
              <a:t>▸  Asosiy sabab: shifokor bemor bolani sinchkovlik bilan tekshirmaydi, zarur laboratoriya va instrumental tekshiruvlar o‘tkazilmaydi.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Pnevmoniya – har doim ham asosiy sabab emas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Pnevmoniya ishonchli aniqlangan bo‘lsa ham, u doim o‘limning asosiy sababi (tanatogenez bo‘yicha uzoq sababi) bo‘lavermaydi.</a:t>
            </a:r>
          </a:p>
          <a:p>
            <a:pPr>
              <a:spcAft>
                <a:spcPts val="1200"/>
              </a:spcAft>
            </a:pPr>
            <a:r>
              <a:rPr sz="2200">
                <a:solidFill>
                  <a:srgbClr val="1F2937"/>
                </a:solidFill>
                <a:latin typeface="Calibri"/>
              </a:rPr>
              <a:t>▸  Ko‘pchilik holatda (60-75%) pnevmoniya asosiy sabab emas, balki raqobatchi sabab, asorat yoki hamroh kasallik bo‘ladi.</a:t>
            </a:r>
          </a:p>
          <a:p>
            <a:pPr>
              <a:spcAft>
                <a:spcPts val="1200"/>
              </a:spcAft>
            </a:pPr>
            <a:r>
              <a:rPr sz="2200">
                <a:solidFill>
                  <a:srgbClr val="1F2937"/>
                </a:solidFill>
                <a:latin typeface="Calibri"/>
              </a:rPr>
              <a:t>▸  Shifokorlar tibbiy hujjatlarda o‘lim sodir bo‘lish mexanizmi haqidagi ma’lumotni keltirishi lozim.</a:t>
            </a:r>
          </a:p>
          <a:p>
            <a:pPr>
              <a:spcAft>
                <a:spcPts val="1200"/>
              </a:spcAft>
            </a:pPr>
            <a:r>
              <a:rPr sz="2200">
                <a:solidFill>
                  <a:srgbClr val="1F2937"/>
                </a:solidFill>
                <a:latin typeface="Calibri"/>
              </a:rPr>
              <a:t>▸  Ekspertizada tashqi-ichki ko‘rikdan tashqari gistologik, virusologik, bakteriologik tekshiruv o‘tkaziladi va yaqinlardan katamnestik (kasallik tarixiga oid) ma’lumot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251, 251-252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go‘dak va pnevmoniya tashxisi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bolada pnevmoniya ishonchli aniqlangan, lekin o‘lim sababi noaniq. Savol: tanatogenez bo‘yicha asosiy sabab qanday topiladi?</a:t>
            </a:r>
          </a:p>
          <a:p>
            <a:pPr>
              <a:spcAft>
                <a:spcPts val="1200"/>
              </a:spcAft>
            </a:pPr>
            <a:r>
              <a:rPr sz="2200">
                <a:solidFill>
                  <a:srgbClr val="1F2937"/>
                </a:solidFill>
                <a:latin typeface="Calibri"/>
              </a:rPr>
              <a:t>▸  Diqqat: pnevmoniya aniqlangani o‘lim sababi degani emas. U hamma vaqt ham asosiy (uzoq) sabab bo‘lavermaydi.</a:t>
            </a:r>
          </a:p>
          <a:p>
            <a:pPr>
              <a:spcAft>
                <a:spcPts val="1200"/>
              </a:spcAft>
            </a:pPr>
            <a:r>
              <a:rPr sz="2200">
                <a:solidFill>
                  <a:srgbClr val="1F2937"/>
                </a:solidFill>
                <a:latin typeface="Calibri"/>
              </a:rPr>
              <a:t>▸  Ko‘pchilik holatda (60-75%) pnevmoniya asosiy sabab emas, balki raqobatchi sabab, asorat yoki hamroh kasallik bo‘ladi.</a:t>
            </a:r>
          </a:p>
          <a:p>
            <a:pPr>
              <a:spcAft>
                <a:spcPts val="1200"/>
              </a:spcAft>
            </a:pPr>
            <a:r>
              <a:rPr sz="2200">
                <a:solidFill>
                  <a:srgbClr val="1F2937"/>
                </a:solidFill>
                <a:latin typeface="Calibri"/>
              </a:rPr>
              <a:t>▸  Ekspertizada tashqi va ichki ko‘rikdan tashqari gistologik, virusologik, bakteriologik tekshiruv, hujjatlar va katamnestik ma’lumot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251, 251-252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Go‘daklarning to‘satdan o‘lim sindromi (GTO‘S) ta’rifi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GTO‘S (inglizcha SIDS, sudden infant death syndrome) atamasi va ta’rifi 1969 yilda II Xalqaro konferensiyada qabul qilingan.</a:t>
            </a:r>
          </a:p>
          <a:p>
            <a:pPr>
              <a:spcAft>
                <a:spcPts val="1200"/>
              </a:spcAft>
            </a:pPr>
            <a:r>
              <a:rPr sz="2200">
                <a:solidFill>
                  <a:srgbClr val="1F2937"/>
                </a:solidFill>
                <a:latin typeface="Calibri"/>
              </a:rPr>
              <a:t>▸  1979 yilda GTO‘S kasalliklar, travma va o‘lim sabablarining xalqaro tasnifiga kiritilgan.</a:t>
            </a:r>
          </a:p>
          <a:p>
            <a:pPr>
              <a:spcAft>
                <a:spcPts val="1200"/>
              </a:spcAft>
            </a:pPr>
            <a:r>
              <a:rPr sz="2200">
                <a:solidFill>
                  <a:srgbClr val="1F2937"/>
                </a:solidFill>
                <a:latin typeface="Calibri"/>
              </a:rPr>
              <a:t>▸  Bir yoshgacha bolaning uyqudagi to‘satdan o‘limi: barcha tekshiruvdan keyin ham sabab aniqlanmasa, GTO‘S deyiladi.</a:t>
            </a:r>
          </a:p>
          <a:p>
            <a:pPr>
              <a:spcAft>
                <a:spcPts val="1200"/>
              </a:spcAft>
            </a:pPr>
            <a:r>
              <a:rPr sz="2200">
                <a:solidFill>
                  <a:srgbClr val="1F2937"/>
                </a:solidFill>
                <a:latin typeface="Calibri"/>
              </a:rPr>
              <a:t>▸  Tashxis faqat o‘limga olib kelishi mumkin bo‘lgan boshqa holatlar (kasallik, travma) istisno qilingandan keyin qo‘yiladi.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252, 253-254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 gipotezalari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Hech bir gipoteza GTO‘Sning barcha holatlarini to‘liq tushuntirib bera olmaydi.</a:t>
            </a:r>
          </a:p>
          <a:p>
            <a:pPr>
              <a:spcAft>
                <a:spcPts val="800"/>
              </a:spcAft>
            </a:pPr>
            <a:r>
              <a:rPr sz="1800">
                <a:solidFill>
                  <a:srgbClr val="1F2937"/>
                </a:solidFill>
                <a:latin typeface="Calibri"/>
              </a:rPr>
              <a:t>▸  Respirator gipoteza: o‘lim markaziy, periferik yoki aralash apnoedan sodir bo‘ladi.</a:t>
            </a:r>
          </a:p>
          <a:p>
            <a:pPr>
              <a:spcAft>
                <a:spcPts val="800"/>
              </a:spcAft>
            </a:pPr>
            <a:r>
              <a:rPr sz="1800">
                <a:solidFill>
                  <a:srgbClr val="1F2937"/>
                </a:solidFill>
                <a:latin typeface="Calibri"/>
              </a:rPr>
              <a:t>▸  Kardiogen gipoteza: repolyarizatsiya buzilishidan asistoliya rivojlanib, o‘lim yuz beradi.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401631"/>
                <a:gridCol w="2548421"/>
                <a:gridCol w="1337921"/>
              </a:tblGrid>
              <a:tr h="411480">
                <a:tc>
                  <a:txBody>
                    <a:bodyPr/>
                    <a:lstStyle/>
                    <a:p>
                      <a:r>
                        <a:rPr sz="1300" b="1">
                          <a:solidFill>
                            <a:srgbClr val="FFFFFF"/>
                          </a:solidFill>
                        </a:rPr>
                        <a:t>Gipoteza</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Davr</a:t>
                      </a:r>
                    </a:p>
                  </a:txBody>
                  <a:tcPr marL="73152" marR="73152" marT="36576" marB="36576">
                    <a:solidFill>
                      <a:srgbClr val="0B1F3A"/>
                    </a:solidFill>
                  </a:tcPr>
                </a:tc>
              </a:tr>
              <a:tr h="411480">
                <a:tc>
                  <a:txBody>
                    <a:bodyPr/>
                    <a:lstStyle/>
                    <a:p>
                      <a:r>
                        <a:rPr sz="1200" b="0">
                          <a:solidFill>
                            <a:srgbClr val="1F2937"/>
                          </a:solidFill>
                        </a:rPr>
                        <a:t>Mexanik</a:t>
                      </a:r>
                    </a:p>
                  </a:txBody>
                  <a:tcPr marL="73152" marR="73152" marT="36576" marB="36576">
                    <a:solidFill>
                      <a:srgbClr val="E8EEF6"/>
                    </a:solidFill>
                  </a:tcPr>
                </a:tc>
                <a:tc>
                  <a:txBody>
                    <a:bodyPr/>
                    <a:lstStyle/>
                    <a:p>
                      <a:r>
                        <a:rPr sz="1200" b="0">
                          <a:solidFill>
                            <a:srgbClr val="1F2937"/>
                          </a:solidFill>
                        </a:rPr>
                        <a:t>Yostiq, ko‘rpa nafas teshiklarini yopadi</a:t>
                      </a:r>
                    </a:p>
                  </a:txBody>
                  <a:tcPr marL="73152" marR="73152" marT="36576" marB="36576">
                    <a:solidFill>
                      <a:srgbClr val="E8EEF6"/>
                    </a:solidFill>
                  </a:tcPr>
                </a:tc>
                <a:tc>
                  <a:txBody>
                    <a:bodyPr/>
                    <a:lstStyle/>
                    <a:p>
                      <a:r>
                        <a:rPr sz="1200" b="0">
                          <a:solidFill>
                            <a:srgbClr val="1F2937"/>
                          </a:solidFill>
                        </a:rPr>
                        <a:t>Ilgari surilgan</a:t>
                      </a:r>
                    </a:p>
                  </a:txBody>
                  <a:tcPr marL="73152" marR="73152" marT="36576" marB="36576">
                    <a:solidFill>
                      <a:srgbClr val="E8EEF6"/>
                    </a:solidFill>
                  </a:tcPr>
                </a:tc>
              </a:tr>
              <a:tr h="411480">
                <a:tc>
                  <a:txBody>
                    <a:bodyPr/>
                    <a:lstStyle/>
                    <a:p>
                      <a:r>
                        <a:rPr sz="1200" b="0">
                          <a:solidFill>
                            <a:srgbClr val="1F2937"/>
                          </a:solidFill>
                        </a:rPr>
                        <a:t>Allergik</a:t>
                      </a:r>
                    </a:p>
                  </a:txBody>
                  <a:tcPr marL="73152" marR="73152" marT="36576" marB="36576">
                    <a:solidFill>
                      <a:srgbClr val="FFFFFF"/>
                    </a:solidFill>
                  </a:tcPr>
                </a:tc>
                <a:tc>
                  <a:txBody>
                    <a:bodyPr/>
                    <a:lstStyle/>
                    <a:p>
                      <a:r>
                        <a:rPr sz="1200" b="0">
                          <a:solidFill>
                            <a:srgbClr val="1F2937"/>
                          </a:solidFill>
                        </a:rPr>
                        <a:t>Sigir suti oqsillariga reaksiya</a:t>
                      </a:r>
                    </a:p>
                  </a:txBody>
                  <a:tcPr marL="73152" marR="73152" marT="36576" marB="36576">
                    <a:solidFill>
                      <a:srgbClr val="FFFFFF"/>
                    </a:solidFill>
                  </a:tcPr>
                </a:tc>
                <a:tc>
                  <a:txBody>
                    <a:bodyPr/>
                    <a:lstStyle/>
                    <a:p>
                      <a:r>
                        <a:rPr sz="1200" b="0">
                          <a:solidFill>
                            <a:srgbClr val="1F2937"/>
                          </a:solidFill>
                        </a:rPr>
                        <a:t>Ilgari surilgan</a:t>
                      </a:r>
                    </a:p>
                  </a:txBody>
                  <a:tcPr marL="73152" marR="73152" marT="36576" marB="36576">
                    <a:solidFill>
                      <a:srgbClr val="FFFFFF"/>
                    </a:solidFill>
                  </a:tcPr>
                </a:tc>
              </a:tr>
              <a:tr h="411480">
                <a:tc>
                  <a:txBody>
                    <a:bodyPr/>
                    <a:lstStyle/>
                    <a:p>
                      <a:r>
                        <a:rPr sz="1200" b="0">
                          <a:solidFill>
                            <a:srgbClr val="1F2937"/>
                          </a:solidFill>
                        </a:rPr>
                        <a:t>Timik / infeksion</a:t>
                      </a:r>
                    </a:p>
                  </a:txBody>
                  <a:tcPr marL="73152" marR="73152" marT="36576" marB="36576">
                    <a:solidFill>
                      <a:srgbClr val="E8EEF6"/>
                    </a:solidFill>
                  </a:tcPr>
                </a:tc>
                <a:tc>
                  <a:txBody>
                    <a:bodyPr/>
                    <a:lstStyle/>
                    <a:p>
                      <a:r>
                        <a:rPr sz="1200" b="0">
                          <a:solidFill>
                            <a:srgbClr val="1F2937"/>
                          </a:solidFill>
                        </a:rPr>
                        <a:t>Bez nafas yo‘lini siqadi; og‘ir infeksiya</a:t>
                      </a:r>
                    </a:p>
                  </a:txBody>
                  <a:tcPr marL="73152" marR="73152" marT="36576" marB="36576">
                    <a:solidFill>
                      <a:srgbClr val="E8EEF6"/>
                    </a:solidFill>
                  </a:tcPr>
                </a:tc>
                <a:tc>
                  <a:txBody>
                    <a:bodyPr/>
                    <a:lstStyle/>
                    <a:p>
                      <a:r>
                        <a:rPr sz="1200" b="0">
                          <a:solidFill>
                            <a:srgbClr val="1F2937"/>
                          </a:solidFill>
                        </a:rPr>
                        <a:t>Ilgari surilgan</a:t>
                      </a:r>
                    </a:p>
                  </a:txBody>
                  <a:tcPr marL="73152" marR="73152" marT="36576" marB="36576">
                    <a:solidFill>
                      <a:srgbClr val="E8EEF6"/>
                    </a:solidFill>
                  </a:tcPr>
                </a:tc>
              </a:tr>
              <a:tr h="411480">
                <a:tc>
                  <a:txBody>
                    <a:bodyPr/>
                    <a:lstStyle/>
                    <a:p>
                      <a:r>
                        <a:rPr sz="1200" b="0">
                          <a:solidFill>
                            <a:srgbClr val="1F2937"/>
                          </a:solidFill>
                        </a:rPr>
                        <a:t>Respirator / kardiogen</a:t>
                      </a:r>
                    </a:p>
                  </a:txBody>
                  <a:tcPr marL="73152" marR="73152" marT="36576" marB="36576">
                    <a:solidFill>
                      <a:srgbClr val="FFFFFF"/>
                    </a:solidFill>
                  </a:tcPr>
                </a:tc>
                <a:tc>
                  <a:txBody>
                    <a:bodyPr/>
                    <a:lstStyle/>
                    <a:p>
                      <a:r>
                        <a:rPr sz="1200" b="0">
                          <a:solidFill>
                            <a:srgbClr val="1F2937"/>
                          </a:solidFill>
                        </a:rPr>
                        <a:t>Apnoe; repolyarizatsiya buzilishi</a:t>
                      </a:r>
                    </a:p>
                  </a:txBody>
                  <a:tcPr marL="73152" marR="73152" marT="36576" marB="36576">
                    <a:solidFill>
                      <a:srgbClr val="FFFFFF"/>
                    </a:solidFill>
                  </a:tcPr>
                </a:tc>
                <a:tc>
                  <a:txBody>
                    <a:bodyPr/>
                    <a:lstStyle/>
                    <a:p>
                      <a:r>
                        <a:rPr sz="1200" b="0">
                          <a:solidFill>
                            <a:srgbClr val="1F2937"/>
                          </a:solidFill>
                        </a:rPr>
                        <a:t>So‘nggi davrda asosiy</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GTO‘S gipotezalari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 epidemiologiyasi va xavf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Go‘daklarning to‘satdan o‘limi sindromi (GTO‘S) ko‘rsatkichi turli mamlakatlarda 1000 tirik tug‘ilganga 0,5-2,8 oralig‘ida.</a:t>
            </a:r>
          </a:p>
          <a:p>
            <a:pPr>
              <a:spcAft>
                <a:spcPts val="1200"/>
              </a:spcAft>
            </a:pPr>
            <a:r>
              <a:rPr sz="2200">
                <a:solidFill>
                  <a:srgbClr val="1F2937"/>
                </a:solidFill>
                <a:latin typeface="Calibri"/>
              </a:rPr>
              <a:t>▸  O‘zbekistonda masala yaxshi o‘rganilmagan. Tadqiqotlarda ko‘rsatkich 1,5 dan ortiq deb taxmin qilingan.</a:t>
            </a:r>
          </a:p>
          <a:p>
            <a:pPr>
              <a:spcAft>
                <a:spcPts val="1200"/>
              </a:spcAft>
            </a:pPr>
            <a:r>
              <a:rPr sz="2200">
                <a:solidFill>
                  <a:srgbClr val="1F2937"/>
                </a:solidFill>
                <a:latin typeface="Calibri"/>
              </a:rPr>
              <a:t>▸  Ko‘proq 2-6 oylik, nimjon tug‘ilgan go‘daklarda, kuz-qish mavsumida va ertalabki soatlarda uchraydi.</a:t>
            </a:r>
          </a:p>
          <a:p>
            <a:pPr>
              <a:spcAft>
                <a:spcPts val="1200"/>
              </a:spcAft>
            </a:pPr>
            <a:r>
              <a:rPr sz="2200">
                <a:solidFill>
                  <a:srgbClr val="1F2937"/>
                </a:solidFill>
                <a:latin typeface="Calibri"/>
              </a:rPr>
              <a:t>▸  Xavf omillari: qorni bilan yotqizish, isib ketish, zich yo‘rgaklash, yomon ijtimoiy sharoit. Ularni bartaraf etsa, xavf ancha kamayadi.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252, 252-253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4</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GTO‘S diagnozi qachon qo‘yiladi? Javob: bir yoshgacha bolaning uyqudagi o‘limi, barcha tekshiruvdan keyin ham sabab topilmasa.</a:t>
            </a:r>
          </a:p>
          <a:p>
            <a:pPr>
              <a:spcAft>
                <a:spcPts val="1200"/>
              </a:spcAft>
            </a:pPr>
            <a:r>
              <a:rPr sz="2000">
                <a:solidFill>
                  <a:srgbClr val="1F2937"/>
                </a:solidFill>
                <a:latin typeface="Calibri"/>
              </a:rPr>
              <a:t>▸  2-savol: Mexanik, allergik, timik, infeksion gipotezalar nimani nazarda tutadi? Javob: nafas teshiklari bekilishi, sigir suti allergiyasi, ayrisimon bez siqishi, og‘ir infeksiya.</a:t>
            </a:r>
          </a:p>
          <a:p>
            <a:pPr>
              <a:spcAft>
                <a:spcPts val="1200"/>
              </a:spcAft>
            </a:pPr>
            <a:r>
              <a:rPr sz="2000">
                <a:solidFill>
                  <a:srgbClr val="1F2937"/>
                </a:solidFill>
                <a:latin typeface="Calibri"/>
              </a:rPr>
              <a:t>▸  3-savol: Hozir qaysi gipotezalar asosiy? Javob: respirator (markaziy, periferik yoki aralash apnoe) va kardiogen (repolyarizatsiya buzilishi, asistoliya).</a:t>
            </a:r>
          </a:p>
          <a:p>
            <a:pPr>
              <a:spcAft>
                <a:spcPts val="1200"/>
              </a:spcAft>
            </a:pPr>
            <a:r>
              <a:rPr sz="2000">
                <a:solidFill>
                  <a:srgbClr val="1F2937"/>
                </a:solidFill>
                <a:latin typeface="Calibri"/>
              </a:rPr>
              <a:t>▸  4-savol: Xavf omillariga nimalar kiradi? Javob: qorni bilan yotqizish, isib ketish, zich yo‘rgaklash, ona chekishi, tibbiy kuzatuvning yo‘qligi, tug‘ruqlar orasidagi qisqa interval.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252, 252-253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 da murda va mikroskopik topilmalar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Tashqi ko‘rikda ko‘z va qovoq shilliq qavatida qon quyilishlar, murda dog‘lari ko‘p bo‘ladi.</a:t>
            </a:r>
          </a:p>
          <a:p>
            <a:pPr>
              <a:spcAft>
                <a:spcPts val="800"/>
              </a:spcAft>
            </a:pPr>
            <a:r>
              <a:rPr sz="1800">
                <a:solidFill>
                  <a:srgbClr val="1F2937"/>
                </a:solidFill>
                <a:latin typeface="Calibri"/>
              </a:rPr>
              <a:t>▸  Ichki a’zolar to‘laqon, qon suyuq; plevra va epikard ostida mayda to‘q qizil qon quyilishlar bor.</a:t>
            </a:r>
          </a:p>
          <a:p>
            <a:pPr>
              <a:spcAft>
                <a:spcPts val="800"/>
              </a:spcAft>
            </a:pPr>
            <a:r>
              <a:rPr sz="1800">
                <a:solidFill>
                  <a:srgbClr val="1F2937"/>
                </a:solidFill>
                <a:latin typeface="Calibri"/>
              </a:rPr>
              <a:t>▸  Mikroskopda o‘pkada emfizema o‘choqlari atelektaz o‘choqlari bilan oralashib keladi.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Tekshiruv</a:t>
                      </a:r>
                    </a:p>
                  </a:txBody>
                  <a:tcPr marL="73152" marR="73152" marT="36576" marB="36576">
                    <a:solidFill>
                      <a:srgbClr val="0B1F3A"/>
                    </a:solidFill>
                  </a:tcPr>
                </a:tc>
                <a:tc>
                  <a:txBody>
                    <a:bodyPr/>
                    <a:lstStyle/>
                    <a:p>
                      <a:r>
                        <a:rPr sz="1400" b="1">
                          <a:solidFill>
                            <a:srgbClr val="FFFFFF"/>
                          </a:solidFill>
                        </a:rPr>
                        <a:t>Topilma</a:t>
                      </a:r>
                    </a:p>
                  </a:txBody>
                  <a:tcPr marL="73152" marR="73152" marT="36576" marB="36576">
                    <a:solidFill>
                      <a:srgbClr val="0B1F3A"/>
                    </a:solidFill>
                  </a:tcPr>
                </a:tc>
              </a:tr>
              <a:tr h="411480">
                <a:tc>
                  <a:txBody>
                    <a:bodyPr/>
                    <a:lstStyle/>
                    <a:p>
                      <a:r>
                        <a:rPr sz="1300" b="0">
                          <a:solidFill>
                            <a:srgbClr val="1F2937"/>
                          </a:solidFill>
                        </a:rPr>
                        <a:t>Tashqi</a:t>
                      </a:r>
                    </a:p>
                  </a:txBody>
                  <a:tcPr marL="73152" marR="73152" marT="36576" marB="36576">
                    <a:solidFill>
                      <a:srgbClr val="E8EEF6"/>
                    </a:solidFill>
                  </a:tcPr>
                </a:tc>
                <a:tc>
                  <a:txBody>
                    <a:bodyPr/>
                    <a:lstStyle/>
                    <a:p>
                      <a:r>
                        <a:rPr sz="1300" b="0">
                          <a:solidFill>
                            <a:srgbClr val="1F2937"/>
                          </a:solidFill>
                        </a:rPr>
                        <a:t>Ko‘z, qovoq shilliq qavatida qon quyilish</a:t>
                      </a:r>
                    </a:p>
                  </a:txBody>
                  <a:tcPr marL="73152" marR="73152" marT="36576" marB="36576">
                    <a:solidFill>
                      <a:srgbClr val="E8EEF6"/>
                    </a:solidFill>
                  </a:tcPr>
                </a:tc>
              </a:tr>
              <a:tr h="411480">
                <a:tc>
                  <a:txBody>
                    <a:bodyPr/>
                    <a:lstStyle/>
                    <a:p>
                      <a:r>
                        <a:rPr sz="1300" b="0">
                          <a:solidFill>
                            <a:srgbClr val="1F2937"/>
                          </a:solidFill>
                        </a:rPr>
                        <a:t>Tashqi</a:t>
                      </a:r>
                    </a:p>
                  </a:txBody>
                  <a:tcPr marL="73152" marR="73152" marT="36576" marB="36576">
                    <a:solidFill>
                      <a:srgbClr val="FFFFFF"/>
                    </a:solidFill>
                  </a:tcPr>
                </a:tc>
                <a:tc>
                  <a:txBody>
                    <a:bodyPr/>
                    <a:lstStyle/>
                    <a:p>
                      <a:r>
                        <a:rPr sz="1300" b="0">
                          <a:solidFill>
                            <a:srgbClr val="1F2937"/>
                          </a:solidFill>
                        </a:rPr>
                        <a:t>Murda dog‘lari ko‘p va tez paydo bo‘ladi</a:t>
                      </a:r>
                    </a:p>
                  </a:txBody>
                  <a:tcPr marL="73152" marR="73152" marT="36576" marB="36576">
                    <a:solidFill>
                      <a:srgbClr val="FFFFFF"/>
                    </a:solidFill>
                  </a:tcPr>
                </a:tc>
              </a:tr>
              <a:tr h="411480">
                <a:tc>
                  <a:txBody>
                    <a:bodyPr/>
                    <a:lstStyle/>
                    <a:p>
                      <a:r>
                        <a:rPr sz="1300" b="0">
                          <a:solidFill>
                            <a:srgbClr val="1F2937"/>
                          </a:solidFill>
                        </a:rPr>
                        <a:t>Ichki</a:t>
                      </a:r>
                    </a:p>
                  </a:txBody>
                  <a:tcPr marL="73152" marR="73152" marT="36576" marB="36576">
                    <a:solidFill>
                      <a:srgbClr val="E8EEF6"/>
                    </a:solidFill>
                  </a:tcPr>
                </a:tc>
                <a:tc>
                  <a:txBody>
                    <a:bodyPr/>
                    <a:lstStyle/>
                    <a:p>
                      <a:r>
                        <a:rPr sz="1300" b="0">
                          <a:solidFill>
                            <a:srgbClr val="1F2937"/>
                          </a:solidFill>
                        </a:rPr>
                        <a:t>To‘laqonlik, suyuq qon, mayda qon quyilish</a:t>
                      </a:r>
                    </a:p>
                  </a:txBody>
                  <a:tcPr marL="73152" marR="73152" marT="36576" marB="36576">
                    <a:solidFill>
                      <a:srgbClr val="E8EEF6"/>
                    </a:solidFill>
                  </a:tcPr>
                </a:tc>
              </a:tr>
              <a:tr h="411480">
                <a:tc>
                  <a:txBody>
                    <a:bodyPr/>
                    <a:lstStyle/>
                    <a:p>
                      <a:r>
                        <a:rPr sz="1300" b="0">
                          <a:solidFill>
                            <a:srgbClr val="1F2937"/>
                          </a:solidFill>
                        </a:rPr>
                        <a:t>Mikroskop</a:t>
                      </a:r>
                    </a:p>
                  </a:txBody>
                  <a:tcPr marL="73152" marR="73152" marT="36576" marB="36576">
                    <a:solidFill>
                      <a:srgbClr val="FFFFFF"/>
                    </a:solidFill>
                  </a:tcPr>
                </a:tc>
                <a:tc>
                  <a:txBody>
                    <a:bodyPr/>
                    <a:lstStyle/>
                    <a:p>
                      <a:r>
                        <a:rPr sz="1300" b="0">
                          <a:solidFill>
                            <a:srgbClr val="1F2937"/>
                          </a:solidFill>
                        </a:rPr>
                        <a:t>O‘pkada emfizema va atelektaz o‘choqlari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GTO‘S topilmalari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 da diagnostik xatolar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GTO‘S (go‘daklarning to‘satdan o‘limi sindromi) tashxisi faqat o‘limga olib kelishi mumkin bo‘lgan boshqa holatlar, ya’ni kasallik va travma istisno qilingandan keyin qo‘yiladi.</a:t>
            </a:r>
          </a:p>
          <a:p>
            <a:pPr>
              <a:spcAft>
                <a:spcPts val="1200"/>
              </a:spcAft>
            </a:pPr>
            <a:r>
              <a:rPr sz="2000">
                <a:solidFill>
                  <a:srgbClr val="1F2937"/>
                </a:solidFill>
                <a:latin typeface="Calibri"/>
              </a:rPr>
              <a:t>▸  GTO‘S gipodiagnostikasi mavjud: sababi xato belgilanadi, ba’zan nafas a’zolari kasalligi yoki mexanik asfiksiya deb yanglish yoziladi.</a:t>
            </a:r>
          </a:p>
          <a:p>
            <a:pPr>
              <a:spcAft>
                <a:spcPts val="1200"/>
              </a:spcAft>
            </a:pPr>
            <a:r>
              <a:rPr sz="2000">
                <a:solidFill>
                  <a:srgbClr val="1F2937"/>
                </a:solidFill>
                <a:latin typeface="Calibri"/>
              </a:rPr>
              <a:t>▸  Yengil shamollashdan keyin o‘pkada o‘choqli kataral, seroz yallig‘lanish topiladi. U ko‘lami va og‘irligi bo‘yicha o‘limga yetarli emas, shuning uchun uni sabab deb yozish xato.</a:t>
            </a:r>
          </a:p>
          <a:p>
            <a:pPr>
              <a:spcAft>
                <a:spcPts val="1200"/>
              </a:spcAft>
            </a:pPr>
            <a:r>
              <a:rPr sz="2000">
                <a:solidFill>
                  <a:srgbClr val="1F2937"/>
                </a:solidFill>
                <a:latin typeface="Calibri"/>
              </a:rPr>
              <a:t>▸  Diqqat: xato qilish xavfi. Ichki a’zolar to‘laqonligi, suyuq qon va mayda qon quyilishlari tez o‘lim belgilari. Ular mexanik asfiksiyada ham uchraydi, ya’ni asfiksiya ≠ GTO‘S isboti.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go‘dak ona yonida topildi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emizayotgan ona uxlab qolgan, yonidagi go‘dak o‘lgan. Bunday tafsilot mexanik asfiksiyadan o‘limga shubha uyg‘otadi.</a:t>
            </a:r>
          </a:p>
          <a:p>
            <a:pPr>
              <a:spcAft>
                <a:spcPts val="1200"/>
              </a:spcAft>
            </a:pPr>
            <a:r>
              <a:rPr sz="2200">
                <a:solidFill>
                  <a:srgbClr val="1F2937"/>
                </a:solidFill>
                <a:latin typeface="Calibri"/>
              </a:rPr>
              <a:t>▸  Murda tekshiruvida ichki a’zolar to‘laqonligi, yurakda suyuq qon, visseral plevra va epikard ostida mayda qon quyilishlari aniqlangan.</a:t>
            </a:r>
          </a:p>
          <a:p>
            <a:pPr>
              <a:spcAft>
                <a:spcPts val="1200"/>
              </a:spcAft>
            </a:pPr>
            <a:r>
              <a:rPr sz="2200">
                <a:solidFill>
                  <a:srgbClr val="1F2937"/>
                </a:solidFill>
                <a:latin typeface="Calibri"/>
              </a:rPr>
              <a:t>▸  Bu belgilar tez o‘limning umumiy ko‘rinishlari. Mexanik asfiksiyada ham, GTO‘S da ham uchraydi, shuning uchun faqat ular bilan sabab belgilab bo‘lmaydi.</a:t>
            </a:r>
          </a:p>
          <a:p>
            <a:pPr>
              <a:spcAft>
                <a:spcPts val="1200"/>
              </a:spcAft>
            </a:pPr>
            <a:r>
              <a:rPr sz="2200">
                <a:solidFill>
                  <a:srgbClr val="1F2937"/>
                </a:solidFill>
                <a:latin typeface="Calibri"/>
              </a:rPr>
              <a:t>▸  Savol: voqea tafsilotiga ko‘r-ko‘rona ergashsak qanday xatoga yo‘l qo‘yamiz? Tibbiy hujjatlar va ota-onadan katamnestik ma’lumotlar nima uchun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254, 253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Nogahon o‘limda sud-tibbiy ekspertizaning asosiy maqsadi zo‘rakilik alomatlarini istisno qilish. Hodisa vaqti va joyi ham shubha uyg‘otadi.</a:t>
            </a:r>
          </a:p>
          <a:p>
            <a:pPr>
              <a:spcAft>
                <a:spcPts val="1200"/>
              </a:spcAft>
            </a:pPr>
            <a:r>
              <a:rPr sz="2000">
                <a:solidFill>
                  <a:srgbClr val="1F2937"/>
                </a:solidFill>
                <a:latin typeface="Calibri"/>
              </a:rPr>
              <a:t>▸  Katta yoshdagilarda nogahon o‘limning 85-90% holatida yurak-qon tomir kasalliklari yetakchi. Ular orasida ateroskleroz va gipertonik kasallik asosiy o‘rinda.</a:t>
            </a:r>
          </a:p>
          <a:p>
            <a:pPr>
              <a:spcAft>
                <a:spcPts val="1200"/>
              </a:spcAft>
            </a:pPr>
            <a:r>
              <a:rPr sz="2000">
                <a:solidFill>
                  <a:srgbClr val="1F2937"/>
                </a:solidFill>
                <a:latin typeface="Calibri"/>
              </a:rPr>
              <a:t>▸  Bolalarda nogahon o‘limning 90% ga yaqini o‘tkir respirator kasalliklardan. Ko‘pincha mikroskopiyada spetsifik o‘zgarish topilmaydi, faqat pnevmotsistali pnevmoniya va sitomegaliyada topiladi.</a:t>
            </a:r>
          </a:p>
          <a:p>
            <a:pPr>
              <a:spcAft>
                <a:spcPts val="1200"/>
              </a:spcAft>
            </a:pPr>
            <a:r>
              <a:rPr sz="2000">
                <a:solidFill>
                  <a:srgbClr val="1F2937"/>
                </a:solidFill>
                <a:latin typeface="Calibri"/>
              </a:rPr>
              <a:t>▸  GTO‘S da mikroskopiya va laboratoriya o‘limga sabab bo‘ladigan jarohat yoki kasallikni ko‘rsatmaydi. Tashxis faqat boshqa sabablar istisno qilingach qo‘yiladi.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248, 249, 250-251, 253-254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Fakt: nogahon va to‘satdan o‘lim o‘rtasidagi farq shartli. Avval aniqlanmagan kasallikdan sog‘liq yomonlashib, 24 soat ichida o‘lim bo‘lsa «nogahon», kasallik ma’lum bo‘lsa «to‘satdan» deyilgan. Hozir ko‘p tadqiqotchi ikkalasini sinonim deb oladi.</a:t>
            </a:r>
          </a:p>
          <a:p>
            <a:pPr>
              <a:spcAft>
                <a:spcPts val="1200"/>
              </a:spcAft>
            </a:pPr>
            <a:r>
              <a:rPr sz="1800">
                <a:solidFill>
                  <a:srgbClr val="1F2937"/>
                </a:solidFill>
                <a:latin typeface="Calibri"/>
              </a:rPr>
              <a:t>▸  Eslab qolish usuli (JRIMOS): nogahon o‘limga turtki bo‘luvchi omillar. J – jismoniy zo‘riqish, R – ruhiy zo‘riqish, I – isib ketish yoki sovuq qotish, M – meteorologik omillar, O – ovqat va suv rejimining buzilishi, S – spirtli ichimlik. Qisqartma o‘qitish uchun tuzilgan, ro‘yxat darslikdan olingan.</a:t>
            </a:r>
          </a:p>
          <a:p>
            <a:pPr>
              <a:spcAft>
                <a:spcPts val="1200"/>
              </a:spcAft>
            </a:pPr>
            <a:r>
              <a:rPr sz="1800">
                <a:solidFill>
                  <a:srgbClr val="1F2937"/>
                </a:solidFill>
                <a:latin typeface="Calibri"/>
              </a:rPr>
              <a:t>▸  Hodisa tahlili: yurak-qon tomir kasalligidan nogahon o‘lgan murdada yaqqol miokard infarkti ko‘rinmasligi mumkin. Infarkt rivojlanishi uchun koronar qon aylanishi buzilgach kamida 12-24 soat kerak, nogahon o‘lim esa tezroq sodir bo‘ladi. Shuning uchun o‘choq aniq bo‘lmaganda ham ishemiya ehtimoli istisno qilinmaydi.</a:t>
            </a:r>
          </a:p>
          <a:p>
            <a:pPr>
              <a:spcAft>
                <a:spcPts val="1200"/>
              </a:spcAft>
            </a:pPr>
            <a:r>
              <a:rPr sz="1800">
                <a:solidFill>
                  <a:srgbClr val="1F2937"/>
                </a:solidFill>
                <a:latin typeface="Calibri"/>
              </a:rPr>
              <a:t>▸  Hodisa tahlili: GTO‘S (go‘daklarning to‘satdan o‘lim sindromi) tez o‘lim belgilari bilan kechadi: ichki a’zolar to‘laqonligi, suyuq qon, epikard ostida mayda qon quyilishlar. Xuddi shu belgilar mexanik asfiksiyada ham topiladi. Shuning uchun faqat voqea tafsilotiga tayanib asfiksiya deyish xato.</a:t>
            </a:r>
          </a:p>
          <a:p>
            <a:pPr>
              <a:spcAft>
                <a:spcPts val="1200"/>
              </a:spcAft>
            </a:pPr>
            <a:r>
              <a:rPr sz="1800">
                <a:solidFill>
                  <a:srgbClr val="1F2937"/>
                </a:solidFill>
                <a:latin typeface="Calibri"/>
              </a:rPr>
              <a:t>▸  Fakt: bolalar o‘limida pnevmoniya aniqlangan bo‘lsa ham, u har doim asosiy sabab emas. Ko‘pchilik holatda (60-75%) u raqobatchi sabab, asorat yoki hamroh kasallik bo‘lishi mumkin. Shu sababli pnevmoniyaning giperdiagnostikasi uchraydi.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Avval aniqlanmagan kasallik tufayli sog‘liq yomonlashdi va 24 soat ichida odam vafot etdi. Darslikdagi eski tasnifga ko‘ra bu holat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To‘satdan o‘lim (sudden death)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Zo‘raki o‘lim (violent death)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Nogahon o‘lim (unexpected death)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Klinik o‘lim (clinical death)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Elektromonter ish vaqtida to‘satdan vafot etdi. Bu holatda ekspertda qaysi zo‘rakilik turiga shubha tug‘iladi?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Suv ostidagi gipoksiya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Issiq urishi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Elektrotravma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Yashirin yurak-qon tomir kasalligi bor erkak og‘ir yuk ko‘tarayotib to‘satdan vafot etdi. Jismoniy zo‘riqish bu o‘limda qanday rol o‘ynagan?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Dekompensatsiyani chaqirgan turtki (trigger)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O‘limning yagona asosiy kasalligi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Zo‘rakilik bo‘lganining isboti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Kasallikni yengillashtirgan omil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Nozo‘raki o‘lim hollarida o‘tkaziladigan sud-tibbiy ekspertizaning asosiy maqsadi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Jarohat hosil bo‘lish mexanizmini aniqlash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Zo‘rakilik alomatlarini istisno qilish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Jinoyat sodir etgan shaxsni topish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kasallik nomini hujjatga yozish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Quyidagi tavsiflardan qaysi biri nogahon o‘limga xos belgi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O‘limdan oldin kasallik simptomlari doim yaqqol namoyon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O‘lim sababi hamisha mexanik jarohat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O‘lim tez va qisqa muddat oralig‘ida sodir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O‘lim tafsilotlari zo‘rakilikka hech shubha uyg‘otmaydi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Katta yoshli erkak to‘satdan vafot etdi. Murda tekshiruvida koronar tomirlar aterosklerozi bor, lekin aniq miokard infarkti o‘chog‘i ko‘rinmaydi. Buning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Infarktning rivojlanishi uchun kamida 12–24 soat kerak, o‘lim esa undan tezroq bo‘lgan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Infarkt faqat yosh odamlarda rivojlanadi, shu sabab o‘choq topilmagan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Nekroz o‘chog‘i faqat o‘lim bir haftadan keyin sodir bo‘lganda shakllanadi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Toj tomirlardagi ateroskleroz hech qachon miokard infarktiga olib kelmaydi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Ishemik kasallikdan nogahon vafot etgan shaxsning toj tomirlarida aterosklerotik o‘zgarishlar kuchsiz. O‘tkir koronar etishmovchilikda qaysi mexanizm asosiy o‘rin tutadi?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Toj tomirlardagi aterosklerotik pilakchalarning kuchli o‘sishi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Yurak toj tomirlarining spazmi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Yurak qorinchalari devorining birdan yorilishi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Katta qon aylanish doirasidagi tromboemboliya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miokardda er rangidagi, qizg‘ish, atrofida qon quyilish hoshiyasi bor, shish hisobiga biroz ko‘tarilgan nekroz o‘chog‘i topildi. U qaysi bosqichga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Ishemiyadan keyingi dastlabki bir necha soat, nekroz hali aniq emas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Keyingi bosqich: sarg‘ish-yashil rang paydo bo‘lgan davr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Birinchi sutkaning ikkinchi yarmi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Klassik ko‘rinishdagi sarg‘ish-kul rang bosqichi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Miokard infarkti bilan og‘rigan bemor vafot etdi. Quyidagilardan qaysi biri bu kasallikda o‘limning bevosita sababi bo‘lishi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O‘n ikki barmoqli ichak yarasining kasalligi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Mellori-Veys sindromi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Bachadon nayining yorilishi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Yurak devorining yorilishi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Gipertonik kasallik bilan og‘rigan, yurak ishemik kasalligi ham bor bemor nogahon vafot etdi. Gipertonik kasallik o‘limga qaysi yo‘l orqali olib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yuqori nafas yo‘llarining mexanik bekilishi orqali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O‘tkir yurak yetishmovchiligi, miokard infarkti, miya qon aylanishi buzilishi orqali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oshqozon-ichak kasalliklarining asoratlari orqali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bolalarga xos timiko-limfatik holat orqali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Nogahon o‘lgan go‘dakning o‘pkasi mikroskopiyasida odatdagi yallig‘lanish belgilaridan boshqa aniq o‘zgarish ko‘rinmadi. Qaysi kasalliklarda spetsifik mikroskopik o‘zgarishlar topilishi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Pnevmotsistali pnevmoniya va sitomegaliyada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Bronxial astma va oddiy gripp holatlarida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Adenovirus va paragripp infeksiyalarining hammasida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Respirator-sinsitial virus keltirgan har qanday holatda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Katta yoshli erkak yurak kasalligi tufayli nogahon vafot etdi. Murdada yaqqol miokard infarkti o‘chog‘i topilmadi. Buning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Infarkt faqat yurak qon tomirlarida tromb bo‘lmaganda rivojlanadi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Infarkt rivojlanishi uchun koronar qon aylanishi buzilgach kamida 12-24 soat kerak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Infarkt o‘chog‘i murdada hech qachon makroskopik ko‘rinmaydi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Infarkt faqat o‘tkir koronar etishmovchilik bo‘lmaganda yuz beradi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Bola murdasida ayrisimon bez va limfa tugunlarining kattalashgani hamda buyrak usti bezining gipoplaziyasi aniqlandi. Bu o‘zgarishlar qaysi holatning belgisi?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Gastro-ezofagal reflyuks sindromining belgisi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Pnevmotsistali pnevmoniyaning o‘ziga xos belgisi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Timiko-limfatik holat (status thymico-lymphaticus) belgisi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Sitomegaliyaning yagona diagnostik belgisi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Go‘dak respirator infeksiyadan nogahon vafot etdi, o‘limdan oldin deyarli hech qanday belgi kuzatilmagan. Bu manbadagi qaysi xususiyatga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Bunday kasallik faqat epidemik davrlarda (bahor, kuz) kuzatiladi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Qo‘zg‘atuvchi bunday holatlarda doim sof bakterial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Mikroskopiyada har doim spetsifik o‘zgarishlar aniqlanadi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Hodisalarning yarmiga yaqinida kasallik simptomsiz kechadi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O‘lgan bolada pnevmoniya ishonchli aniqlangan. Manbaga ko‘ra, ko‘pchilik holatlarda (60-75%) pnevmoniya o‘limda qanday rol o‘ynaydi?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Har doim o‘limning asosiy sababi, ya’ni tanatogenez bo‘yicha uzoq sababi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Raqobatchi sabab, asorat yoki hamroh kasallik bo‘lishi mumkin, asosiy sabab emas</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o‘limning mexanizmi hisoblanadi, boshqa hech qanday rol o‘ynamaydi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Hamma holatda tasodifiy topilma bo‘lib, o‘limga aloqasi umuman bo‘lmaydi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Go‘dak uyqu paytida vafot etdi. Kuni oldin yengil shamollash belgilari bo‘lgan. Mikroskopda o‘pkada o‘choqli kataral yallig‘lanish topildi, boshqa sabab yo‘q. Qaysi xulosa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O‘lim sababi sifatida bronxopnevmoniya darhol qo‘yiladi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O‘pkadagi o‘zgarish yetarli emas, GTO‘S istisnodan keyin qo‘yiladi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O‘lim sababi sifatida mexanik asfiksiya ko‘rsatiladi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Tashxis qo‘yilmaydi, ekspertiza to‘xtatiladi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Go‘dak ona yonida uxlab qolgan holda o‘lik topildi. Murdada ichki a’zolar to‘laqonligi, suyuq qon va plevra hamda epikard ostida mayda qon quyilishlari bor. Bu topilmalar haqida nima deyish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Ular faqat mexanik asfiksiyaga xos bo‘lib, uni isbotlaydi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Ular faqat GTO‘Sga xos bo‘lib, asfiksiyani istisno qiladi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Ular o‘limning sababini bevosita aniq ko‘rsatib beradi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Ular tez o‘lim belgilari, mexanik asfiksiyada ham uchraydi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GTO‘S kelib chiqishining kardiogen gipotezasiga ko‘ra o‘limning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Repolyarizatsiya buzilishi natijasida asistoliya rivojlanishi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Kattalashgan ayrisimon bez nafas yo‘llarini siqib qo‘yishi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Sigir suti oqsillariga o‘tkir allergik reaksiya rivojlanishi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Markaziy yoki periferik apnoe tufayli nafas to‘xtashi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Pediatr go‘daklar o‘limining oldini olish bo‘yicha ota-onaga maslahat beryapti. Qaysi holat GTO‘S xavf omillariga kiradi va bartaraf etilishi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Go‘dakning tug‘ruqdan keyin alohida o‘rinda uxlashi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Homiladorlik davrida muntazam tibbiy kuzatuvdan o‘tish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Uyqu paytida go‘dakni qorni bilan yotqizish odati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Tug‘ruqlar orasida yetarlicha uzoq interval saqlanishi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Tezkor savol: GTO‘S qaysi guruhdagi go‘daklarda ko‘proq kuzatiladi?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Yilning sovuq mavsumida tug‘ilgan 7–11 oyli go‘daklarda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Muddatida tug‘ilgan, vazni katta 1–2 yoshli bolalarda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Yoz oylarida kuzatiladigan yangi tug‘ilgan chaqaloqlarda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2–6 oyli, noraso tug‘ilgan go‘daklarda, ko‘pincha ertalab</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Nogahon o‘lim (unexpected death)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Avval aniqlanmagan kasallik sababli sog‘liq yomonlashib, 24 soat ichida o‘lim bilan tugasa, eski tasnifda nogahon o‘lim deyilgan. To‘satdan o‘lim esa kasallik ma’lum bo‘lib, o‘lim xavfi bo‘lmagan vaziyatda sodir bo‘lgan holatga aytilgan. Hozir ko‘pchilik tadqiqotchilar bu ikki atamani sinonim deb qabul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248-bet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Elektrotravma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Nogahon o‘lim sodir bo‘lgan vaqt va joy zo‘rakilikni istisno qilish zaruratini tug‘diradi. Darslikda elektromonterning ish vaqtidagi o‘limi elektrotravmaga shubha uyg‘otishi aytilgan. Zaharlanish mehmondorchilikdagi o‘limda, gipoksiya g‘avvosda, issiq urishi dehqonda shubha tug‘diradi.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248-bet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Dekompensatsiyani chaqirgan turtki (trigger)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Yashirin kechgan surunkali kasallikda ma’lum holatlar ta’sirida dekompensatsiya sodir bo‘ladi va ular nogahon o‘limga turtki (trigger) bo‘ladi. Jismoniy zo‘riqish, jumladan yuk ko‘tarish, shu omillar qatoriga kiradi. O‘limning sababi esa asosiy kasallikning o‘zi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249-bet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Zo‘rakilik alomatlarini istisno qilish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Nozo‘raki o‘limning sababi turli kasalliklar bo‘lgani uchun ekspertizaning asosiy maqsadi zo‘rakilik alomatlarini istisno qilishdir. Qo‘shimcha maqsad: to‘plangan materiallarni tahlil qilib, bunday o‘limning oldini olish bo‘yicha tavsiyalar ishlab chiqish.</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248-bet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O‘lim tez va qisqa muddat oralig‘ida sodir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Nogahon o‘limga xos belgilardan biri: o‘lim tez, qisqa muddat oralig‘ida sodir bo‘ladi. Boshqa belgilar: sababi hamisha kasallik, o‘limdan oldin sog‘liq holati to‘liq yoki nisbatan yaxshi, tafsilotlar bo‘yicha zo‘rakilikka shubha uyg‘onishi, murda tekshiruvida hayotiy kasallik aniqlanishi.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248-bet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Infarktning rivojlanishi uchun kamida 12–24 soat kerak, o‘lim esa undan tezroq bo‘lgan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Ko‘zga yaqqol tashlanadigan infarkt uchun koronar qon aylanishi buzilgandan keyin kamida 12–24 soat kerak. Nogahon o‘lim odatda ancha tezroq sodir bo‘ladi, shuning uchun aniq infarkt o‘chog‘i kuzatilmaydi.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249-bet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Yurak toj tomirlarining spazmi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O‘tkir koronar etishmovchilikda toj tomirlar spazmi asosiy o‘rin tutadi. Aterosklerozning ahamiyati ikkilamchi bo‘lib, o‘zgarishlar kuchli va yaqqol bo‘lmasligi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249-bet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Birinchi sutkaning ikkinchi yarmi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Birinchi sutkaning ikkinchi yarmida er rangidagi, qizg‘ish, atrofida qon quyilish hoshiyasi bor nekroz o‘chog‘i aniqlana boshlaydi. Soha shish hisobiga biroz ko‘tarilib turadi. Sarg‘ish-kul rang va sarg‘ish-yashil rang keyinroq paydo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250-bet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Yurak devorining yorilishi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Miokard infarktida bevosita o‘limga kardiogen shok, asistoliya, yurak anevrizmasi yoki yurak devorining yorilishi olib kelishi mumkin. Boshqa variantlar boshqa tizim kasalliklariga xos nogahon o‘lim sabablaridir.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250-bet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O‘tkir yurak yetishmovchiligi, miokard infarkti, miya qon aylanishi buzilishi orqali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Gipertonik kasallik ko‘pincha yurak ishemik kasalligi va serebro-vaskulyar kasallik bilan birga kuzatiladi. U o‘tkir yurak yetishmovchiligi, miokard infarkti va miya qon aylanishining buzilishi orqali nogahon o‘limga sabab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250-bet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Pnevmotsistali pnevmoniya va sitomegaliyada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Respirator infeksiyadan nogahon o‘limda nafas a’zolarining mikroskopik tekshiruvida ko‘pincha spetsifik o‘zgarish aniqlanmaydi. Spetsifik o‘zgarishlar faqat pnevmotsistali pnevmoniya va sitomegaliyada topiladi.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251-bet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Infarkt rivojlanishi uchun koronar qon aylanishi buzilgach kamida 12-24 soat kerak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Nogahon o‘lim odatda qisqa vaqt ichida sodir bo‘ladi. Yaqqol infarkt o‘chog‘i esa koronar qon aylanishi buzilgach kamida 12-24 soatda shakllanadi. O‘tkir koronar etishmovchilikda esa asosiy o‘rinni toj tomirlar spazmi egallaydi.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249-bet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Timiko-limfatik holat (status thymico-lymphaticus) belgisi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Bu o‘zgarishlar timiko-limfatik holatga xos. Bunda bolalar tashqi va ichki ta’sirlarga sezgir bo‘ladi, kuchsiz ta’sirga ham o‘ta kuchli javob beradi. Ko‘pincha bu murda tekshiruvidagi tasodifiy topilma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251-bet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Hodisalarning yarmiga yaqinida kasallik simptomsiz kechadi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Go‘daklarda nogahon o‘limga olib keluvchi respirator kasalliklarning xususiyati shuki, hodisalarning yarmiga yaqinida kasallik simptomsiz kechadi. Ayrim hollarda belgilar minimal bo‘ladi. Boshqa variantlar manbadagi xususiyatlarga zid.</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250-bet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Raqobatchi sabab, asorat yoki hamroh kasallik bo‘lishi mumkin, asosiy sabab emas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Pnevmoniya ishonchli aniqlangan taqdirda ham u hamma vaqt o‘limning asosiy sababi bo‘lavermaydi. Ko‘pchilik holatda (60-75%) u raqobatchi sabab, asorat yoki hamroh kasallik bo‘lishi mumkin. Shu sababli pnevmoniya giperdiagnostikasi muammosi mavjud.</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251-bet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O‘pkadagi o‘zgarish yetarli emas, GTO‘S istisnodan keyin qo‘yiladi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O‘pkadagi o‘zgarishlar ko‘lami va og‘irligi bo‘yicha o‘limga olib kelish uchun yetarli emas. Boshqa kasallik yoki travma istisno qilingach GTO‘S (go‘daklarning to‘satdan o‘lim sindromi) tashxisi qo‘yiladi. Pnevmoniyani sabab deb ko‘rsatish diagnostik xatodir.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254-bet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Ular tez o‘lim belgilari, mexanik asfiksiyada ham uchraydi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Bu belgilar tez o‘limning umumiy ko‘rinishlari bo‘lib, GTO‘Sda ham, mexanik asfiksiyada ham topiladi. Shuning uchun voqea tafsilotlariga ko‘r-ko‘rona ergashib, natijalarni yanglish talqin qilish xato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254-bet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Repolyarizatsiya buzilishi natijasida asistoliya rivojlanishi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Kardiogen gipotezada asistoliya repolyarizatsiya jarayonining buzilishi oqibatida paydo bo‘ladi. Ayrisimon bez timik gipotezaga, allergiya allergik gipotezaga, apnoe respirator gipotezaga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252-bet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Uyqu paytida go‘dakni qorni bilan yotqizish odati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Uyqu paytida go‘dakni qorni bilan yotqizish xavf omillari qatorida sanalgan. Alohida o‘rinda yotish, tibbiy kuzatuv va uzoq interval xavfni oshirmaydi. Ular yo‘qligi xavfni oshiradi. Xavf omillarini bartaraf qilish o‘lim ehtimolini ancha kamaytiradi.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252-253-bet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2–6 oyli, noraso tug‘ilgan go‘daklarda, ko‘pincha ertalab</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GTO‘S ko‘proq 2–6 oyli, noraso (kichik massada) tug‘ilgan go‘daklarda, kuz va qish mavsumlarida, asosan ertalabki soatlarda uchraydi. Egizaklarda ko‘rsatkich bir necha marta katta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252-bet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Yurak-qon tomir kasalliklaridan to'satdan o'limni tekshirishning gistopatologik usullari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9. Nozo‘raki o‘lim hollarida murda ekspertizasi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