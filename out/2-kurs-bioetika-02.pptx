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bioetika ko‘p fanlar yutuqlarini jamlaydi? 2) Shifokor–bemor munosabatida axloqiy muammo qayerda paydo bo‘ladi? Doskada: markazda «Bioetika», atrofida unga kirgan fanlar. Tipik xato: bioetikani faqat shifokor axloq qoidalari deb tushunish. Eslatma: yatrogen kasalliklar va xodimlar huquqlari bu manbada yoritilmagan, ularni boshqa manbalardan to‘ldiring.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Ta’rifdagi «axloqiy, huquqiy, ijtimoiy» so‘zlari nimani bildiradi? 2) Nega bioetika «institut» ham, «metodologiya» ham deyiladi? Doskada: ta’rifning uch qismini (soha, institut, metodologiya) va maqsadni strelka bilan chizing. Tipik xato: bioetikani faqat «shifokor odobi» deb o‘ylash. Talabalar ta’rifni o‘z so‘zlari bilan aytib bersin.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bioetika qo‘mitasiga shifokordan tashqari kishilar kiradi? 2) Majburiyat va huquq o‘rtasidagi farqni misol bilan tushuntiring. Doskada: ikki ustunli solishtirish jadvalini talabalar bilan to‘ldiring. Tipik xato: bioetika qo‘mitasini faqat shifokorlardan iborat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bioetika haqida faqat 1970-yildan keyingi voqealar nuqtayi nazaridan gapiramiz? Har bosqich nimani yangi qo‘shdi? Doskada: 5 bosqichli zanjirni chizib, har biriga bittadan asar yoki voqeani yozdiring. Tipik xato: Jeneva deklaratsiyasi (1948) bilan Xalqaro tibbiy etika kodeksi (1949) sanalarini, shuningdek 1970-yildagi Potter atamasini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ahimsa va «zarar yetkazma» tamoyili o‘rtasida qanday yaqinlik bor? Nega qasamyodda ustoz oldidagi burch birinchi o‘rinda? Doskada: 1-bosqichning boshlanishi va tugashini ikki nuqta bilan belgilang. Tipik xato: «Zarar yetkazma» iborasini to‘g‘ridan-to‘g‘ri Gippokratga nisbat berish.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bu asarlar Yevropada tarjima qilindi? Dinlar tibbiyot axloqiga nimani qo‘shdi? Doskada: muallif–asar jadvalini daftarga ko‘chirtiring. Tipik xato: asarlar muallifini aralashtirish yoki ularni 3-bosqich (shifokor uyushmalari)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shifokorlar uyushmalari axloq qoidalarining shakllanishiga ta’sir qilgan bo‘lishi mumkin? 2) Salerno maktabining tarjimonlik roli nimada edi? Doskada: 2-bosqichdan 3-bosqichgacha qisqa vaqt chizig‘i chizdiring (X–XII asrlar, 1803). Tipik xato: Persivalni bosqich boshlovchisi deb o‘ylash yoki 3-bosqichni 4-bosqich (deontologiya)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Deontologiya so‘zini o‘z so‘zingiz bilan qanday tushuntirasiz? 2) Foyda keltirish va burch tamoyillari qachon bir-biriga zid kelishi mumkin? Doskada: jadvalni daftarga ko‘chirtiring. Tipik xato: Bentamni Persival bilan yoki 1834-yilni 1803-yil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xodimlarning axloqiy tartibga solinishi xalqaro bitimlar darajasiga ko‘tarildi? 2) Deklaratsiya nima uchun «XX asr Gippokrat qasamyodi» deyiladi? Doskada: zanjirni (1948 → 1949 → xalqaro bitimlar) chizdiring. Tipik xato: deklaratsiya (1948) va kodeks (1949) yillarini aralashtirish; moddalar mazmunini manbada yo‘q joydan to‘qish.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nega bioetikani 1970-yildan keyingi hodisalar bilan bog‘lash mumkin? Tibbiyot etikasi va bioetika nima bilan farq qiladi? Doskada chizish: 1948–1949 va 1970 sanalarini vaqt chizig‘ida belgilang. Tipik xato: Potterni tibbiyot etikasining asoschisi deb o‘ylash; u faqat atamani kiritgan.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 5-bosqich; unda vrach axloqini tartibga solish xalqaro bitimlar bilan mustahkamlandi. Muhokama: nega xalqaro hujjatlar vrachning ijtimoiy rolini oshirdi? Qasamyod va kodeks qanday farq qiladi? Doskada chizish: 5 bosqichni ketma-ket zanjir ko‘rinishida chizing. Tipik xato: deklaratsiya va kodeksni bir sana deb olish.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Tezkor so‘rov: kartochkada nomlarni, ikkinchi ustunda sana va bosqichlarni aralash bering. Muhokama: 1803, 1834, 1948–1949 va 1970 sanalarini eslab qolishning qulay usuli qanday? Doskada chizish: to‘rt sanani vaqt o‘qida joylashtiring. Tipik xato: Persival va Bentamning sanalarini yoki bosqichlarini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bioetika «institut» deb ataladi? 2) Bioetika nima uchun ko‘p fan yutug‘ini birlashtiradi? Doskaga chizish: markazda «Bioetika», atrofida unga kirgan fanlar (sotsiologiya, psixologiya, huquq va b.) strelkalar bilan. Tipik xato: bioetikani faqat shifokor axloq qoidalari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Tezkor savol: qo‘mitada nega faqat shifokorlar yetarli emas? Muhokama: jamoatchilik vakili qo‘mitada qanday rol o‘ynaydi? Doskaga chizish: qo‘mita a’zolarini doira shaklida chizing. Tipik xato: bioetika qo‘mitasini faqat tibbiy kengash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tahdid sizningcha eng xavfli va nega? 2) Tijoratlashuv bemor–shifokor munosabatiga qanday ta’sir qiladi? Doskaga chizish: tahdidlarni 3 guruhga ajrating (odamga, jamiyatga, tirik tabiatga). Tipik xato: tahdidlarni faqat texnologiyaga tegishli deb bilish, ijtimoiy jihatlarini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Tijorat tibbiyotga kirsa, bemor manfaatiga qanday xavf tug‘iladi? 2) Nega xalqaro qo‘mitalar zarur? Doskada: 5 ta shart-sharoitni zanjir shaklida chizdiring. Tipik xato: shart-sharoitlarni faqat qonunlar bilan cheklash; ruhoniylar, kodekslar va qo‘mitalar ham ro‘yxatda.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Shifokor siri va xabardor rozilik nimasi bilan farq qiladi? 2) Nega bioetika qo‘mitalariga shifokordan tashqari kishilar kiradi? Doskada: ikki ustunli solishtirma jadvalni talabalar bilan to‘ldiring. Tipik xato: bioetikani tibbiyot etikasining sinonimi deb hisoblash va bemor huquqini aytmaslik.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Shifokor foyda nimadan iboratligini yolg‘iz hal qilsa, qanday xavf bor? 2) Paternalizm va hamkorlik modelini qanday farqlaysiz? Doskada: ikki modelni (shifokor — bemor) strelkalar bilan chizing. Tipik xato: paternalizmni faqat «g‘amxo‘rlik» deb tushunish va bemorning qaror huquqi yo‘qligini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XX asr o‘rtalaridan paternalizmdan chekinish boshlandi? 2) Shifokor va bemor qadriyatlari mos kelmasa nima bo‘ladi? Doskada: ikki modelni o‘qlar bilan chizing (kim qaror qiladi, kim javob beradi). Tipik xato: hamkorlik modelida shifokor mas’uliyatdan butunlay ozod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Bemorga xavf haqida tushunarli axborot berilmasa, rozilik bo‘ladimi? 2) Sir va rozilik qaysi holatda bir-biriga zid ko‘rinadi? Doskada: ikki ustunli jadval chizib, har birining ma’nosini yozdiring. Tipik xato: sirni saqlashni xabardor rozilik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Og‘ir tashxis bemorga yoki yaqinlariga aytilishi kerakmi? 2) Bemor bilishni xohlamasa, uning erkinligi qanday hurmat qilinadi? Doskada: ‘aytish’ va ‘yashirish’ tomonlarining dalillarini ikki ustunda yozdiring. Tipik xato: Freyd misolini bemorlarning hammasi haqiqatni bilishni xohlamaydi degan umumiy xulosa deb talqin qilish.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Shifokor qaror qabul qilganda bemorning roziligi nega muhim? 2) Paternalizm qaysi holatda bemorga foyda keltirishi mumkin? Doskada chizish: ikki ustunli jadval (Paternalizm | Hamkorlik), «kim qaror qiladi» va «yetakchi tamoyil» qatorlari bilan. Tipik xato: talabalar hamkorlik modelida shifokor javobgarlikdan butunlay ozod bo‘ladi,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«Avvalo» so‘zini qanday izohlash mumkin? 2) Nega har qanday aralashuv ham zarar xavfini o‘z ichiga oladi? Doskada chizish: «Zarar yetkazma» iborasini va uning tarixiy kelib chiqishidagi tortishuvni ikki qatorda yozing. Tipik xato: bu ibora Gippokrat qasamyodidagi so‘zma-so‘z jumla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savollari: 1) Navbatchi shifokor o‘z vazifasini bajarmasa, qanday ikki xil javobgarlik yuzaga keladi? 2) Davolashdagi qaysi zararlar ob’ektiv zarur hisoblanadi? Doskada chizish: to‘rt shaklni to‘rtta kvadratga yozing va har biriga bittadan misol qo‘shing. Tipik xato: ob’ektiv zarur zararni shifokor aybi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Navbatchi shifokor bir bemorga yordam bermay, boshqa og‘irroq bemor bilan band bo‘lgan bo‘lsa, qaysi javobgarlik yengillashadi? 2) Poyezdda «shifokor bormi?» deb so‘ralganda yordam bermaslik nega huquqan emas, axloqan qoralanadi? Doskada chizish: ikki ustunli sxema — «bajarmaganlik (deontologik)» va «oqibat (utilitaristik)», yonida «muqarrar» va «yengillashishi mumkin» deb yozing. Tipik xato: ikkala javobgarlikni bir xil deb o‘ylash. Manbada AQSH misoli keltirilgan: xususiy amaliyotdagi shifokor huquqiy javobgar bo‘lmaydi, kasaba uyushmasi esa litsenziyadan mahrum qilishi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Bemorga haqiqatni aytish ham qachon zarar bo‘lishi mumkin? 2) Qonun sirni oshkor qilishni talab qilsa, bemorga qanday zarar yetadi? Doskada chizish: bemor markazda, atrofida to‘rt o‘q — vaqt/rejim, ma’lumot, sir, muolaja. Tipik xato: «zarar yetkazma» tamoyilini har qanday aralashuvdan voz kechish deb tushunish. Manbada bu tamoyilni shunday tushunib bo‘lmasligi aytilgan.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Muqarrar zarar nega «atayin» zararga kiradi? 2) Oqibatlarni o‘ylashni istamaslik bilan nazorat qilib bo‘lmas holat o‘rtasidagi farq nima? Doskada chizish: «zarar» → ikki shox (atayin / beixtiyor), har shoxda holatlarni yozing. Tipik xato: «yatrogen kasallik» atamasini manbada bor deb talqin qilish. Talabalarga ayting: bu atama bu manbada uchramaydi, ta’rifni boshqa manbadan tekshirish kerak.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Qonun jazolamasa, axloq baribir talab qilishi kerakmi? (2) Navbatchi vrach bilan yo‘lovchi-vrach holati nimasi bilan farq qiladi? Doskada chizish: «xizmat vazifasi — huquqiy javobgarlik» va «xizmatdan tashqari — axloqiy javobgarlik» ustunlarini chizdiring. Tipik xato: «qonun jazolamasa, ayb ham yo‘q»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Cho‘kayotgan odamga chambarak uzatish burchmi? (2) Ota-ona va begona odam uchun yaxshilik qilish majburiyati nega farq qiladi? Doskada chizish: ikki tamoyil jadvalini talabalar bilan birga to‘ldiring. Tipik xato: ikki tamoyilni bir narsa deb o‘ylash yoki «Yaxshilik qil»ni qat’iy majburiyat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Resurslar yetishmasa, tanlov qanday adolatli bo‘ladi? (2) Nega profilaktika dasturlari «Yaxshilik qil» tamoyilining ijtimoiy ko‘rinishi? Doskada chizish: «shaxsiy daraja» va «ijtimoiy daraja» ikki ustunini chizib, har biriga 2 ta masala yozing. Tipik xato: tibbiyot etikasini faqat «vrach–bemor» munosabati bilan cheklash.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majburiyatlar ro‘yxati xodim tomonidan yoziladi? 2) Hamkasbni fosh qilish qachon axloqiy burch bo‘ladi? Doskada: majburiyatlar zanjirini chizdiring va har tugunga bitta misol yozdiring. Tipik xato: majburiyatlarni bemor huquqlari bilan aralashtirish; majburiyat xodimga, huquq bemorga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Kasbiy erkinlik qayerda tugaydi? 2) Sug‘urta tibbiyoti xodim manfaatiga qanday aloqador? Doskada: ikki ustunli jadvalni (huquq — chegara) chizdiring. Tipik xato: kasbiy erkinlikni cheksiz hokimiyat deb tushunish; manbada u bemor axborot olish huquqi bilan chegaralanadi.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9 daq. Muhokama: 1) Xabardor rozilik nega bosh tamoyil hisoblanadi? 2) Bemor qarorini xodim qabul qilmasa nima bo‘ladi? Doskada: paternalizm → hamkorlik modeli o‘tishini strelka bilan chizdiring. Tipik xato (Diqqat): xabardor rozilik ≠ shifokor siri; birinchisi bemorning xabardorligini, ikkinchisi axborotni sir saqlashni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talabalarga og‘zaki bering, javobni avval ular aytsin. Muhokama: nega «Zarar yetkazma» taqiq, «Yaxshilik qil» esa ko‘proq ideal sifatida tushuniladi? Doskada: ikki ustunli jadval chizing: «Tibbiyot etikasi — xodim majburiyati» va «Bioetika — bemor huquqi». Tipik xato: vrach siri bilan xabardorlikka asoslangan rozilikni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To‘g‘ri javob: yo‘q, hech qanday asosda, favqulodda holatda ham chekinish mumkin emas. Muhokama: nega xodimning bilimi va hokimiyati mahbus bilan munosabatda alohida xavfli? Doskada: «Xodimning roli» sxemasini chizing — davolash, qiynoqqa qarshi turish va ishtirok etmaslik. Tipik xato: «favqulodda holatda istisno bor»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paternalizm XX asr o‘rtalaridan keyin zaiflashdi? Bemor huquqlari xodim majburiyatlaridan nimasi bilan farq qiladi? Doskada: paternalizm → hamkorlik o‘tishini o‘q bilan chizing va har modelga 2 ta belgi yozing. Tipik xato: Jeneva deklaratsiyasi (1948) bilan Xalqaro kodeksni (1949) sanalari bo‘yicha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Tibbiy bioetikaning oldingi modellardan farqi: bioetika ijtimoiy institut sifatida, tibbiyot xodimi va jamiyat, yatrogen kasalliklar, xodim–bemor munosabat qoidalari, xodimlar huquqlari, Jeneva deklaratsiyasi, Xalqaro tibbiy etika kodeksi (M2)</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Bioetika falsafa va tibbiyotning qo‘shilishidan paydo bo‘lgan. U hayot va mamot masalalarida shifokorga yordam beradigan amaliy falsafaga (amaliy etikaga) aylangan.</a:t>
            </a:r>
          </a:p>
          <a:p>
            <a:pPr>
              <a:spcAft>
                <a:spcPts val="1200"/>
              </a:spcAft>
            </a:pPr>
            <a:r>
              <a:rPr sz="2200">
                <a:solidFill>
                  <a:srgbClr val="1F2937"/>
                </a:solidFill>
                <a:latin typeface="Calibri"/>
              </a:rPr>
              <a:t>▸  Bioetika sotsiologiya, psixologiya, mantiq, huquqshunoslik, menejment, pedagogika va boshqa fanlar yutuqlarini o‘zida jamlagan.</a:t>
            </a:r>
          </a:p>
          <a:p>
            <a:pPr>
              <a:spcAft>
                <a:spcPts val="1200"/>
              </a:spcAft>
            </a:pPr>
            <a:r>
              <a:rPr sz="2200">
                <a:solidFill>
                  <a:srgbClr val="1F2937"/>
                </a:solidFill>
                <a:latin typeface="Calibri"/>
              </a:rPr>
              <a:t>▸  Uning ob’ekti — amaliy tibbiyotning axloqiy muammolari va shifokor–bemor munosabatlarining axloqiy jihatlari.</a:t>
            </a:r>
          </a:p>
          <a:p>
            <a:pPr>
              <a:spcAft>
                <a:spcPts val="1200"/>
              </a:spcAft>
            </a:pPr>
            <a:r>
              <a:rPr sz="2200">
                <a:solidFill>
                  <a:srgbClr val="1F2937"/>
                </a:solidFill>
                <a:latin typeface="Calibri"/>
              </a:rPr>
              <a:t>▸  Reja: tibbiyot etikasi va bioetika farqi, rivojlanish bosqichlari, Jeneva deklaratsiyasi va xalqaro kodeks, paternalizm va hamkorlik modeli.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nima? Strasburg ta’rifi (1990)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1990-yilda Strasburgdagi simpozium bioetikani ta’riflagan: tibbiyot va biologiya rivojidan kelib chiqadigan axloqiy, huquqiy va ijtimoiy muammolarni o‘rganuvchi bilim sohasi.</a:t>
            </a:r>
          </a:p>
          <a:p>
            <a:pPr>
              <a:spcAft>
                <a:spcPts val="1200"/>
              </a:spcAft>
            </a:pPr>
            <a:r>
              <a:rPr sz="2200">
                <a:solidFill>
                  <a:srgbClr val="1F2937"/>
                </a:solidFill>
                <a:latin typeface="Calibri"/>
              </a:rPr>
              <a:t>▸  Boshqacha aytganda, bu borliqqa axloqiy munosabat me’zonlari haqidagi fan va jamiyat manfaatlarini ilm-fan tajovuzidan himoya qiluvchi institut.</a:t>
            </a:r>
          </a:p>
          <a:p>
            <a:pPr>
              <a:spcAft>
                <a:spcPts val="1200"/>
              </a:spcAft>
            </a:pPr>
            <a:r>
              <a:rPr sz="2200">
                <a:solidFill>
                  <a:srgbClr val="1F2937"/>
                </a:solidFill>
                <a:latin typeface="Calibri"/>
              </a:rPr>
              <a:t>▸  Shuningdek, bioetika tibbiyot sohasidagi axloqiy muammolarni hal qilish metodologiyasidir.</a:t>
            </a:r>
          </a:p>
          <a:p>
            <a:pPr>
              <a:spcAft>
                <a:spcPts val="1200"/>
              </a:spcAft>
            </a:pPr>
            <a:r>
              <a:rPr sz="2200">
                <a:solidFill>
                  <a:srgbClr val="1F2937"/>
                </a:solidFill>
                <a:latin typeface="Calibri"/>
              </a:rPr>
              <a:t>▸  Asosiy maqsad — insonni uning hayoti va sog‘lig‘iga tibbiyot hamda biologiyaning salbiy ta’siridan himoya qilish.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etikasi va bioetika: asosiy farqlar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Tibbiyot etikasi faqat shifokorlarga tegishli, bioetika esa kengroq doirani qamraydi.</a:t>
            </a:r>
          </a:p>
          <a:p>
            <a:pPr>
              <a:spcAft>
                <a:spcPts val="800"/>
              </a:spcAft>
            </a:pPr>
            <a:r>
              <a:rPr sz="1800">
                <a:solidFill>
                  <a:srgbClr val="1F2937"/>
                </a:solidFill>
                <a:latin typeface="Calibri"/>
              </a:rPr>
              <a:t>▸  Diqqat: shifokor majburiyati ≠ bemor huquqi. Bu ikki yondashuvni aralashtirmang.</a:t>
            </a:r>
          </a:p>
          <a:p>
            <a:pPr>
              <a:spcAft>
                <a:spcPts val="800"/>
              </a:spcAft>
            </a:pPr>
            <a:r>
              <a:rPr sz="1800">
                <a:solidFill>
                  <a:srgbClr val="1F2937"/>
                </a:solidFill>
                <a:latin typeface="Calibri"/>
              </a:rPr>
              <a:t>▸  Bioetika haqida faqat tibbiyotda 1970-yildan keyin yuz bergan hodisalar nuqtai nazaridan so‘z yuritiladi.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46789"/>
                <a:gridCol w="1592763"/>
                <a:gridCol w="2548421"/>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Tibbiy etika</a:t>
                      </a:r>
                    </a:p>
                  </a:txBody>
                  <a:tcPr marL="73152" marR="73152" marT="36576" marB="36576">
                    <a:solidFill>
                      <a:srgbClr val="0B1F3A"/>
                    </a:solidFill>
                  </a:tcPr>
                </a:tc>
                <a:tc>
                  <a:txBody>
                    <a:bodyPr/>
                    <a:lstStyle/>
                    <a:p>
                      <a:r>
                        <a:rPr sz="1300" b="1">
                          <a:solidFill>
                            <a:srgbClr val="FFFFFF"/>
                          </a:solidFill>
                        </a:rPr>
                        <a:t>Bioetika</a:t>
                      </a:r>
                    </a:p>
                  </a:txBody>
                  <a:tcPr marL="73152" marR="73152" marT="36576" marB="36576">
                    <a:solidFill>
                      <a:srgbClr val="0B1F3A"/>
                    </a:solidFill>
                  </a:tcPr>
                </a:tc>
              </a:tr>
              <a:tr h="411480">
                <a:tc>
                  <a:txBody>
                    <a:bodyPr/>
                    <a:lstStyle/>
                    <a:p>
                      <a:r>
                        <a:rPr sz="1200" b="0">
                          <a:solidFill>
                            <a:srgbClr val="1F2937"/>
                          </a:solidFill>
                        </a:rPr>
                        <a:t>Tarkib</a:t>
                      </a:r>
                    </a:p>
                  </a:txBody>
                  <a:tcPr marL="73152" marR="73152" marT="36576" marB="36576">
                    <a:solidFill>
                      <a:srgbClr val="E8EEF6"/>
                    </a:solidFill>
                  </a:tcPr>
                </a:tc>
                <a:tc>
                  <a:txBody>
                    <a:bodyPr/>
                    <a:lstStyle/>
                    <a:p>
                      <a:r>
                        <a:rPr sz="1200" b="0">
                          <a:solidFill>
                            <a:srgbClr val="1F2937"/>
                          </a:solidFill>
                        </a:rPr>
                        <a:t>Faqat shifokorlar</a:t>
                      </a:r>
                    </a:p>
                  </a:txBody>
                  <a:tcPr marL="73152" marR="73152" marT="36576" marB="36576">
                    <a:solidFill>
                      <a:srgbClr val="E8EEF6"/>
                    </a:solidFill>
                  </a:tcPr>
                </a:tc>
                <a:tc>
                  <a:txBody>
                    <a:bodyPr/>
                    <a:lstStyle/>
                    <a:p>
                      <a:r>
                        <a:rPr sz="1200" b="0">
                          <a:solidFill>
                            <a:srgbClr val="1F2937"/>
                          </a:solidFill>
                        </a:rPr>
                        <a:t>Faylasuf, ekolog, huquqshunos, jamoatchilik</a:t>
                      </a:r>
                    </a:p>
                  </a:txBody>
                  <a:tcPr marL="73152" marR="73152" marT="36576" marB="36576">
                    <a:solidFill>
                      <a:srgbClr val="E8EEF6"/>
                    </a:solidFill>
                  </a:tcPr>
                </a:tc>
              </a:tr>
              <a:tr h="411480">
                <a:tc>
                  <a:txBody>
                    <a:bodyPr/>
                    <a:lstStyle/>
                    <a:p>
                      <a:r>
                        <a:rPr sz="1200" b="0">
                          <a:solidFill>
                            <a:srgbClr val="1F2937"/>
                          </a:solidFill>
                        </a:rPr>
                        <a:t>Nimani ko‘radi</a:t>
                      </a:r>
                    </a:p>
                  </a:txBody>
                  <a:tcPr marL="73152" marR="73152" marT="36576" marB="36576">
                    <a:solidFill>
                      <a:srgbClr val="FFFFFF"/>
                    </a:solidFill>
                  </a:tcPr>
                </a:tc>
                <a:tc>
                  <a:txBody>
                    <a:bodyPr/>
                    <a:lstStyle/>
                    <a:p>
                      <a:r>
                        <a:rPr sz="1200" b="0">
                          <a:solidFill>
                            <a:srgbClr val="1F2937"/>
                          </a:solidFill>
                        </a:rPr>
                        <a:t>Shifokor majburiyatlari</a:t>
                      </a:r>
                    </a:p>
                  </a:txBody>
                  <a:tcPr marL="73152" marR="73152" marT="36576" marB="36576">
                    <a:solidFill>
                      <a:srgbClr val="FFFFFF"/>
                    </a:solidFill>
                  </a:tcPr>
                </a:tc>
                <a:tc>
                  <a:txBody>
                    <a:bodyPr/>
                    <a:lstStyle/>
                    <a:p>
                      <a:r>
                        <a:rPr sz="1200" b="0">
                          <a:solidFill>
                            <a:srgbClr val="1F2937"/>
                          </a:solidFill>
                        </a:rPr>
                        <a:t>Bemor huquqlarini himoya qilish</a:t>
                      </a:r>
                    </a:p>
                  </a:txBody>
                  <a:tcPr marL="73152" marR="73152" marT="36576" marB="36576">
                    <a:solidFill>
                      <a:srgbClr val="FFFFFF"/>
                    </a:solidFill>
                  </a:tcPr>
                </a:tc>
              </a:tr>
              <a:tr h="411480">
                <a:tc>
                  <a:txBody>
                    <a:bodyPr/>
                    <a:lstStyle/>
                    <a:p>
                      <a:r>
                        <a:rPr sz="1200" b="0">
                          <a:solidFill>
                            <a:srgbClr val="1F2937"/>
                          </a:solidFill>
                        </a:rPr>
                        <a:t>Tamoyillar ifodasi</a:t>
                      </a:r>
                    </a:p>
                  </a:txBody>
                  <a:tcPr marL="73152" marR="73152" marT="36576" marB="36576">
                    <a:solidFill>
                      <a:srgbClr val="E8EEF6"/>
                    </a:solidFill>
                  </a:tcPr>
                </a:tc>
                <a:tc>
                  <a:txBody>
                    <a:bodyPr/>
                    <a:lstStyle/>
                    <a:p>
                      <a:r>
                        <a:rPr sz="1200" b="0">
                          <a:solidFill>
                            <a:srgbClr val="1F2937"/>
                          </a:solidFill>
                        </a:rPr>
                        <a:t>Shifokor majburiyatlarida</a:t>
                      </a:r>
                    </a:p>
                  </a:txBody>
                  <a:tcPr marL="73152" marR="73152" marT="36576" marB="36576">
                    <a:solidFill>
                      <a:srgbClr val="E8EEF6"/>
                    </a:solidFill>
                  </a:tcPr>
                </a:tc>
                <a:tc>
                  <a:txBody>
                    <a:bodyPr/>
                    <a:lstStyle/>
                    <a:p>
                      <a:r>
                        <a:rPr sz="1200" b="0">
                          <a:solidFill>
                            <a:srgbClr val="1F2937"/>
                          </a:solidFill>
                        </a:rPr>
                        <a:t>Bemor huquqlarini ta’riflashda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Tibbiyot etikasi va bioetika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etikasi rivojlanishining 5 bosqichi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Tibbiyot etikasi besh bosqichdan o‘tgan; bioetika 1970-yildan keyingi voqealar bilan bog‘lanadi.</a:t>
            </a:r>
          </a:p>
          <a:p>
            <a:pPr>
              <a:spcAft>
                <a:spcPts val="800"/>
              </a:spcAft>
            </a:pPr>
            <a:r>
              <a:rPr sz="1800">
                <a:solidFill>
                  <a:srgbClr val="1F2937"/>
                </a:solidFill>
                <a:latin typeface="Calibri"/>
              </a:rPr>
              <a:t>▸  3-bosqich X–XII asrlarda shifokorlar uyushmalari bilan boshlandi, Persival kitobi (1803) bilan yakunlandi.</a:t>
            </a:r>
          </a:p>
          <a:p>
            <a:pPr>
              <a:spcAft>
                <a:spcPts val="800"/>
              </a:spcAft>
            </a:pPr>
            <a:r>
              <a:rPr sz="1800">
                <a:solidFill>
                  <a:srgbClr val="1F2937"/>
                </a:solidFill>
                <a:latin typeface="Calibri"/>
              </a:rPr>
              <a:t>▸  4-bosqich — Bentamning «Deontologiya» kitobi (1834); 5-bosqich 1948-yilda Jenevada boshlandi.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Tibbiyot shakllanishi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Monoteistik dinlar</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Shifokorlar uyushmalari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Deontologiya bosqichi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5. Jeneva deklaratsiyasi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Etika bosqichlari zanjiri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1-bosqich: qadimgi qadriyatlar va Gippokrat korpusi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1-bosqich tibbiyotning shakllanishi bilan boshlandi. Dastlabki axloqiy qadriyatlarga tayanildi.</a:t>
            </a:r>
          </a:p>
          <a:p>
            <a:pPr>
              <a:spcAft>
                <a:spcPts val="1200"/>
              </a:spcAft>
            </a:pPr>
            <a:r>
              <a:rPr sz="2200">
                <a:solidFill>
                  <a:srgbClr val="1F2937"/>
                </a:solidFill>
                <a:latin typeface="Calibri"/>
              </a:rPr>
              <a:t>▸  Misol: Avestodagi Yaxshilik va Yovuzlik tushunchalari hamda ahimsa tamoyili.</a:t>
            </a:r>
          </a:p>
          <a:p>
            <a:pPr>
              <a:spcAft>
                <a:spcPts val="1200"/>
              </a:spcAft>
            </a:pPr>
            <a:r>
              <a:rPr sz="2200">
                <a:solidFill>
                  <a:srgbClr val="1F2937"/>
                </a:solidFill>
                <a:latin typeface="Calibri"/>
              </a:rPr>
              <a:t>▸  Bosqich yunon faylasuflari Suqrot, Platon, Aristotel asarlari va ayniqsa «Gippokrat korpusi» paydo bo‘lishi bilan yakunlandi.</a:t>
            </a:r>
          </a:p>
          <a:p>
            <a:pPr>
              <a:spcAft>
                <a:spcPts val="1200"/>
              </a:spcAft>
            </a:pPr>
            <a:r>
              <a:rPr sz="2200">
                <a:solidFill>
                  <a:srgbClr val="1F2937"/>
                </a:solidFill>
                <a:latin typeface="Calibri"/>
              </a:rPr>
              <a:t>▸  Diqqat: «Birinchi navbatda zarar yetkazma» iborasi Gippokrat asarlarida yo‘q; qasamyodda avval ustoz oldidagi burch turadi.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2-bosqich: monoteistik dinlar va Sharq tabiblari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2-bosqich monoteistik dinlar bilan boshlandi: iudaizm, buddizm, xristianlik va islomda shakllandi.</a:t>
            </a:r>
          </a:p>
          <a:p>
            <a:pPr>
              <a:spcAft>
                <a:spcPts val="800"/>
              </a:spcAft>
            </a:pPr>
            <a:r>
              <a:rPr sz="1800">
                <a:solidFill>
                  <a:srgbClr val="1F2937"/>
                </a:solidFill>
                <a:latin typeface="Calibri"/>
              </a:rPr>
              <a:t>▸  Uyg‘onish davrida Markaziy Osiyo tabib-olimlari asarlari tibbiyot etikasi tarixida sezilarli iz qoldirdi.</a:t>
            </a:r>
          </a:p>
          <a:p>
            <a:pPr>
              <a:spcAft>
                <a:spcPts val="800"/>
              </a:spcAft>
            </a:pPr>
            <a:r>
              <a:rPr sz="1800">
                <a:solidFill>
                  <a:srgbClr val="1F2937"/>
                </a:solidFill>
                <a:latin typeface="Calibri"/>
              </a:rPr>
              <a:t>▸  Arabcha asarlar islom dunyosidan tashqarida ham tan olinib, lotin va Yevropa tillariga tarjima qilindi.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922900"/>
                <a:gridCol w="3365075"/>
              </a:tblGrid>
              <a:tr h="411480">
                <a:tc>
                  <a:txBody>
                    <a:bodyPr/>
                    <a:lstStyle/>
                    <a:p>
                      <a:r>
                        <a:rPr sz="1400" b="1">
                          <a:solidFill>
                            <a:srgbClr val="FFFFFF"/>
                          </a:solidFill>
                        </a:rPr>
                        <a:t>Muallif</a:t>
                      </a:r>
                    </a:p>
                  </a:txBody>
                  <a:tcPr marL="73152" marR="73152" marT="36576" marB="36576">
                    <a:solidFill>
                      <a:srgbClr val="0B1F3A"/>
                    </a:solidFill>
                  </a:tcPr>
                </a:tc>
                <a:tc>
                  <a:txBody>
                    <a:bodyPr/>
                    <a:lstStyle/>
                    <a:p>
                      <a:r>
                        <a:rPr sz="1400" b="1">
                          <a:solidFill>
                            <a:srgbClr val="FFFFFF"/>
                          </a:solidFill>
                        </a:rPr>
                        <a:t>Asar</a:t>
                      </a:r>
                    </a:p>
                  </a:txBody>
                  <a:tcPr marL="73152" marR="73152" marT="36576" marB="36576">
                    <a:solidFill>
                      <a:srgbClr val="0B1F3A"/>
                    </a:solidFill>
                  </a:tcPr>
                </a:tc>
              </a:tr>
              <a:tr h="411480">
                <a:tc>
                  <a:txBody>
                    <a:bodyPr/>
                    <a:lstStyle/>
                    <a:p>
                      <a:r>
                        <a:rPr sz="1300" b="0">
                          <a:solidFill>
                            <a:srgbClr val="1F2937"/>
                          </a:solidFill>
                        </a:rPr>
                        <a:t>Ar-Ruhaviy</a:t>
                      </a:r>
                    </a:p>
                  </a:txBody>
                  <a:tcPr marL="73152" marR="73152" marT="36576" marB="36576">
                    <a:solidFill>
                      <a:srgbClr val="E8EEF6"/>
                    </a:solidFill>
                  </a:tcPr>
                </a:tc>
                <a:tc>
                  <a:txBody>
                    <a:bodyPr/>
                    <a:lstStyle/>
                    <a:p>
                      <a:r>
                        <a:rPr sz="1300" b="0">
                          <a:solidFill>
                            <a:srgbClr val="1F2937"/>
                          </a:solidFill>
                        </a:rPr>
                        <a:t>«Tabibning amaliy odobi»</a:t>
                      </a:r>
                    </a:p>
                  </a:txBody>
                  <a:tcPr marL="73152" marR="73152" marT="36576" marB="36576">
                    <a:solidFill>
                      <a:srgbClr val="E8EEF6"/>
                    </a:solidFill>
                  </a:tcPr>
                </a:tc>
              </a:tr>
              <a:tr h="411480">
                <a:tc>
                  <a:txBody>
                    <a:bodyPr/>
                    <a:lstStyle/>
                    <a:p>
                      <a:r>
                        <a:rPr sz="1300" b="0">
                          <a:solidFill>
                            <a:srgbClr val="1F2937"/>
                          </a:solidFill>
                        </a:rPr>
                        <a:t>Ibn Abu Usaybia</a:t>
                      </a:r>
                    </a:p>
                  </a:txBody>
                  <a:tcPr marL="73152" marR="73152" marT="36576" marB="36576">
                    <a:solidFill>
                      <a:srgbClr val="FFFFFF"/>
                    </a:solidFill>
                  </a:tcPr>
                </a:tc>
                <a:tc>
                  <a:txBody>
                    <a:bodyPr/>
                    <a:lstStyle/>
                    <a:p>
                      <a:r>
                        <a:rPr sz="1300" b="0">
                          <a:solidFill>
                            <a:srgbClr val="1F2937"/>
                          </a:solidFill>
                        </a:rPr>
                        <a:t>«Tibbiyot amri»</a:t>
                      </a:r>
                    </a:p>
                  </a:txBody>
                  <a:tcPr marL="73152" marR="73152" marT="36576" marB="36576">
                    <a:solidFill>
                      <a:srgbClr val="FFFFFF"/>
                    </a:solidFill>
                  </a:tcPr>
                </a:tc>
              </a:tr>
              <a:tr h="411480">
                <a:tc>
                  <a:txBody>
                    <a:bodyPr/>
                    <a:lstStyle/>
                    <a:p>
                      <a:r>
                        <a:rPr sz="1300" b="0">
                          <a:solidFill>
                            <a:srgbClr val="1F2937"/>
                          </a:solidFill>
                        </a:rPr>
                        <a:t>Ibn Sino</a:t>
                      </a:r>
                    </a:p>
                  </a:txBody>
                  <a:tcPr marL="73152" marR="73152" marT="36576" marB="36576">
                    <a:solidFill>
                      <a:srgbClr val="E8EEF6"/>
                    </a:solidFill>
                  </a:tcPr>
                </a:tc>
                <a:tc>
                  <a:txBody>
                    <a:bodyPr/>
                    <a:lstStyle/>
                    <a:p>
                      <a:r>
                        <a:rPr sz="1300" b="0">
                          <a:solidFill>
                            <a:srgbClr val="1F2937"/>
                          </a:solidFill>
                        </a:rPr>
                        <a:t>«Tib qonunlari», «Firuznoma»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Sharq tabiblari asarlari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3-bosqich: shifokorlar uyushmalari va Persival</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X–XII asrlarda va keyingi asrlarda shifokorlar uyushmalari tashkil topdi. Bu tibbiyot etikasi rivojining 3-bosqichidir.</a:t>
            </a:r>
          </a:p>
          <a:p>
            <a:pPr>
              <a:spcAft>
                <a:spcPts val="1200"/>
              </a:spcAft>
            </a:pPr>
            <a:r>
              <a:rPr sz="2200">
                <a:solidFill>
                  <a:srgbClr val="1F2937"/>
                </a:solidFill>
                <a:latin typeface="Calibri"/>
              </a:rPr>
              <a:t>▸  XII asrda gullab-yashnagan Salernodagi dunyoviy tibbiyot maktabi tibbiy asarlarni arabchadan lotinchaga tarjima qilgan.</a:t>
            </a:r>
          </a:p>
          <a:p>
            <a:pPr>
              <a:spcAft>
                <a:spcPts val="1200"/>
              </a:spcAft>
            </a:pPr>
            <a:r>
              <a:rPr sz="2200">
                <a:solidFill>
                  <a:srgbClr val="1F2937"/>
                </a:solidFill>
                <a:latin typeface="Calibri"/>
              </a:rPr>
              <a:t>▸  Bu bosqichga T. Persivalning «Tibbiyot etikasi» asari (1803-yil) yakun yasadi.</a:t>
            </a:r>
          </a:p>
          <a:p>
            <a:pPr>
              <a:spcAft>
                <a:spcPts val="1200"/>
              </a:spcAft>
            </a:pPr>
            <a:r>
              <a:rPr sz="2200">
                <a:solidFill>
                  <a:srgbClr val="1F2937"/>
                </a:solidFill>
                <a:latin typeface="Calibri"/>
              </a:rPr>
              <a:t>▸  Shu bosqichda «Yaxshilik qil» tamoyili muhokama qilindi. Diqqat: Persival bosqichni boshlamagan, yakunlagan.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4-bosqich: deontologiya (Bentam, 1834)</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Ingliz faylasufi va huquqshunosi Bentam 1834-yilda «Deontologiya yoki axloq haqidagi fan» kitobini yozdi.</a:t>
            </a:r>
          </a:p>
          <a:p>
            <a:pPr>
              <a:spcAft>
                <a:spcPts val="800"/>
              </a:spcAft>
            </a:pPr>
            <a:r>
              <a:rPr sz="1800">
                <a:solidFill>
                  <a:srgbClr val="1F2937"/>
                </a:solidFill>
                <a:latin typeface="Calibri"/>
              </a:rPr>
              <a:t>▸  U har qanday kasb uchun deontologiya zarurligini utilitarizm nuqtai nazaridan asosladi.</a:t>
            </a:r>
          </a:p>
          <a:p>
            <a:pPr>
              <a:spcAft>
                <a:spcPts val="800"/>
              </a:spcAft>
            </a:pPr>
            <a:r>
              <a:rPr sz="1800">
                <a:solidFill>
                  <a:srgbClr val="1F2937"/>
                </a:solidFill>
                <a:latin typeface="Calibri"/>
              </a:rPr>
              <a:t>▸  Bu bosqichda foyda keltirish va burch tamoyillari muhokama qilindi.</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Jihat</a:t>
                      </a:r>
                    </a:p>
                  </a:txBody>
                  <a:tcPr marL="73152" marR="73152" marT="36576" marB="36576">
                    <a:solidFill>
                      <a:srgbClr val="0B1F3A"/>
                    </a:solidFill>
                  </a:tcPr>
                </a:tc>
                <a:tc>
                  <a:txBody>
                    <a:bodyPr/>
                    <a:lstStyle/>
                    <a:p>
                      <a:r>
                        <a:rPr sz="1400" b="1">
                          <a:solidFill>
                            <a:srgbClr val="FFFFFF"/>
                          </a:solidFill>
                        </a:rPr>
                        <a:t>Mazmuni</a:t>
                      </a:r>
                    </a:p>
                  </a:txBody>
                  <a:tcPr marL="73152" marR="73152" marT="36576" marB="36576">
                    <a:solidFill>
                      <a:srgbClr val="0B1F3A"/>
                    </a:solidFill>
                  </a:tcPr>
                </a:tc>
              </a:tr>
              <a:tr h="411480">
                <a:tc>
                  <a:txBody>
                    <a:bodyPr/>
                    <a:lstStyle/>
                    <a:p>
                      <a:r>
                        <a:rPr sz="1300" b="0">
                          <a:solidFill>
                            <a:srgbClr val="1F2937"/>
                          </a:solidFill>
                        </a:rPr>
                        <a:t>Muallif</a:t>
                      </a:r>
                    </a:p>
                  </a:txBody>
                  <a:tcPr marL="73152" marR="73152" marT="36576" marB="36576">
                    <a:solidFill>
                      <a:srgbClr val="E8EEF6"/>
                    </a:solidFill>
                  </a:tcPr>
                </a:tc>
                <a:tc>
                  <a:txBody>
                    <a:bodyPr/>
                    <a:lstStyle/>
                    <a:p>
                      <a:r>
                        <a:rPr sz="1300" b="0">
                          <a:solidFill>
                            <a:srgbClr val="1F2937"/>
                          </a:solidFill>
                        </a:rPr>
                        <a:t>I. Bentam (ingliz faylasufi, huquqshunos)</a:t>
                      </a:r>
                    </a:p>
                  </a:txBody>
                  <a:tcPr marL="73152" marR="73152" marT="36576" marB="36576">
                    <a:solidFill>
                      <a:srgbClr val="E8EEF6"/>
                    </a:solidFill>
                  </a:tcPr>
                </a:tc>
              </a:tr>
              <a:tr h="411480">
                <a:tc>
                  <a:txBody>
                    <a:bodyPr/>
                    <a:lstStyle/>
                    <a:p>
                      <a:r>
                        <a:rPr sz="1300" b="0">
                          <a:solidFill>
                            <a:srgbClr val="1F2937"/>
                          </a:solidFill>
                        </a:rPr>
                        <a:t>Kitob yili</a:t>
                      </a:r>
                    </a:p>
                  </a:txBody>
                  <a:tcPr marL="73152" marR="73152" marT="36576" marB="36576">
                    <a:solidFill>
                      <a:srgbClr val="FFFFFF"/>
                    </a:solidFill>
                  </a:tcPr>
                </a:tc>
                <a:tc>
                  <a:txBody>
                    <a:bodyPr/>
                    <a:lstStyle/>
                    <a:p>
                      <a:r>
                        <a:rPr sz="1300" b="0">
                          <a:solidFill>
                            <a:srgbClr val="1F2937"/>
                          </a:solidFill>
                        </a:rPr>
                        <a:t>1834</a:t>
                      </a:r>
                    </a:p>
                  </a:txBody>
                  <a:tcPr marL="73152" marR="73152" marT="36576" marB="36576">
                    <a:solidFill>
                      <a:srgbClr val="FFFFFF"/>
                    </a:solidFill>
                  </a:tcPr>
                </a:tc>
              </a:tr>
              <a:tr h="411480">
                <a:tc>
                  <a:txBody>
                    <a:bodyPr/>
                    <a:lstStyle/>
                    <a:p>
                      <a:r>
                        <a:rPr sz="1300" b="0">
                          <a:solidFill>
                            <a:srgbClr val="1F2937"/>
                          </a:solidFill>
                        </a:rPr>
                        <a:t>Nuqtai nazar</a:t>
                      </a:r>
                    </a:p>
                  </a:txBody>
                  <a:tcPr marL="73152" marR="73152" marT="36576" marB="36576">
                    <a:solidFill>
                      <a:srgbClr val="E8EEF6"/>
                    </a:solidFill>
                  </a:tcPr>
                </a:tc>
                <a:tc>
                  <a:txBody>
                    <a:bodyPr/>
                    <a:lstStyle/>
                    <a:p>
                      <a:r>
                        <a:rPr sz="1300" b="0">
                          <a:solidFill>
                            <a:srgbClr val="1F2937"/>
                          </a:solidFill>
                        </a:rPr>
                        <a:t>Utilitarizm</a:t>
                      </a:r>
                    </a:p>
                  </a:txBody>
                  <a:tcPr marL="73152" marR="73152" marT="36576" marB="36576">
                    <a:solidFill>
                      <a:srgbClr val="E8EEF6"/>
                    </a:solidFill>
                  </a:tcPr>
                </a:tc>
              </a:tr>
              <a:tr h="411480">
                <a:tc>
                  <a:txBody>
                    <a:bodyPr/>
                    <a:lstStyle/>
                    <a:p>
                      <a:r>
                        <a:rPr sz="1300" b="0">
                          <a:solidFill>
                            <a:srgbClr val="1F2937"/>
                          </a:solidFill>
                        </a:rPr>
                        <a:t>Tamoyillar</a:t>
                      </a:r>
                    </a:p>
                  </a:txBody>
                  <a:tcPr marL="73152" marR="73152" marT="36576" marB="36576">
                    <a:solidFill>
                      <a:srgbClr val="FFFFFF"/>
                    </a:solidFill>
                  </a:tcPr>
                </a:tc>
                <a:tc>
                  <a:txBody>
                    <a:bodyPr/>
                    <a:lstStyle/>
                    <a:p>
                      <a:r>
                        <a:rPr sz="1300" b="0">
                          <a:solidFill>
                            <a:srgbClr val="1F2937"/>
                          </a:solidFill>
                        </a:rPr>
                        <a:t>Foyda keltirish, burch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Deontologiya bosqichi qisqacha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5-bosqich: Jeneva deklaratsiyasi va Xalqaro kodeks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1948-yilda Jahon tibbiyot uyushmasining Jenevadagi 2-sessiyasida deklaratsiya qabul qilindi.</a:t>
            </a:r>
          </a:p>
          <a:p>
            <a:pPr>
              <a:spcAft>
                <a:spcPts val="800"/>
              </a:spcAft>
            </a:pPr>
            <a:r>
              <a:rPr sz="1800">
                <a:solidFill>
                  <a:srgbClr val="1F2937"/>
                </a:solidFill>
                <a:latin typeface="Calibri"/>
              </a:rPr>
              <a:t>▸  Deklaratsiya — «XX asr Gippokrat qasamyodi»; Xalqaro tibbiy etika kodeksi 1949-yilda qabul qilindi.</a:t>
            </a:r>
          </a:p>
          <a:p>
            <a:pPr>
              <a:spcAft>
                <a:spcPts val="800"/>
              </a:spcAft>
            </a:pPr>
            <a:r>
              <a:rPr sz="1800">
                <a:solidFill>
                  <a:srgbClr val="1F2937"/>
                </a:solidFill>
                <a:latin typeface="Calibri"/>
              </a:rPr>
              <a:t>▸  Deklaratsiya va kodeks moddalarining to‘liq matni bu manbada berilmagan; boshqa manbadan tekshiring. (?)</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Jahon tibbiyot uyushmasi, 1948</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Deklaratsiya (XX asr qasamyodi)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Xalqaro etika kodeksi, 1949</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Xodimning ijtimoiy roli ortdi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Axloqiy tartib: xalqaro bitimlar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5-bosqich: qabul qilinishi va ta’siri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Potter va «bioetika» atamasi (1970)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1970-yilda V. Potter «bioetika» atamasini ilmiy muomalaga kiritdi. U buni «Bioetika, yashash haqidagi fan» maqolasida amalga oshirdi.</a:t>
            </a:r>
          </a:p>
          <a:p>
            <a:pPr>
              <a:spcAft>
                <a:spcPts val="1200"/>
              </a:spcAft>
            </a:pPr>
            <a:r>
              <a:rPr sz="2200">
                <a:solidFill>
                  <a:srgbClr val="1F2937"/>
                </a:solidFill>
                <a:latin typeface="Calibri"/>
              </a:rPr>
              <a:t>▸  Maqola «Perspectives in Biology and Medicine» jurnalida chop etilgan. Atama tibbiyot etikasining 5-bosqichi davomida paydo bo‘ldi.</a:t>
            </a:r>
          </a:p>
          <a:p>
            <a:pPr>
              <a:spcAft>
                <a:spcPts val="1200"/>
              </a:spcAft>
            </a:pPr>
            <a:r>
              <a:rPr sz="2200">
                <a:solidFill>
                  <a:srgbClr val="1F2937"/>
                </a:solidFill>
                <a:latin typeface="Calibri"/>
              </a:rPr>
              <a:t>▸  Muallif bioetika haqida faqat tibbiyotda 1970-yildan keyin yuz bergan hodisalar nuqtai nazaridan gapirishga haqli ekanimizni ta’kidlaydi.</a:t>
            </a:r>
          </a:p>
          <a:p>
            <a:pPr>
              <a:spcAft>
                <a:spcPts val="1200"/>
              </a:spcAft>
            </a:pPr>
            <a:r>
              <a:rPr sz="2200">
                <a:solidFill>
                  <a:srgbClr val="1F2937"/>
                </a:solidFill>
                <a:latin typeface="Calibri"/>
              </a:rPr>
              <a:t>▸  Strasburg simpoziumi (1990) bioetikani tibbiyot va biologiya rivojidan kelib chiqadigan axloqiy, huquqiy va ijtimoiy muammolarni o‘rganuvchi bilim sohasi deb ta’riflagan.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bosqichlar va hujjatlar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talaba Gippokrat qasamyodi, Jeneva deklaratsiyasi va Xalqaro kodeksni solishtirib, ularning ahamiyatini baholamoqda.</a:t>
            </a:r>
          </a:p>
          <a:p>
            <a:pPr>
              <a:spcAft>
                <a:spcPts val="1200"/>
              </a:spcAft>
            </a:pPr>
            <a:r>
              <a:rPr sz="2200">
                <a:solidFill>
                  <a:srgbClr val="1F2937"/>
                </a:solidFill>
                <a:latin typeface="Calibri"/>
              </a:rPr>
              <a:t>▸  Gippokrat korpusining paydo bo‘lishi 1-bosqichni yakunladi. 5-bosqich 1948-yilda Jahon tibbiyot uyushmasining Jenevadagi 2-sessiyasida deklaratsiya qabul qilinishi bilan boshlandi.</a:t>
            </a:r>
          </a:p>
          <a:p>
            <a:pPr>
              <a:spcAft>
                <a:spcPts val="1200"/>
              </a:spcAft>
            </a:pPr>
            <a:r>
              <a:rPr sz="2200">
                <a:solidFill>
                  <a:srgbClr val="1F2937"/>
                </a:solidFill>
                <a:latin typeface="Calibri"/>
              </a:rPr>
              <a:t>▸  Deklaratsiyani «XX asr Gippokrat qasamyodi» deb atashgan. Xalqaro tibbiyot etikasi kodeksi 1949-yilda qabul qilindi.</a:t>
            </a:r>
          </a:p>
          <a:p>
            <a:pPr>
              <a:spcAft>
                <a:spcPts val="1200"/>
              </a:spcAft>
            </a:pPr>
            <a:r>
              <a:rPr sz="2200">
                <a:solidFill>
                  <a:srgbClr val="1F2937"/>
                </a:solidFill>
                <a:latin typeface="Calibri"/>
              </a:rPr>
              <a:t>▸  Savol: qaysi bosqichda xalqaro bitimlar paydo bo‘ldi? Diqqat: 1948 (deklaratsiya) ≠ 1949 (kodeks), sanalarni aralashtirmang.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bosqichlar va sanalar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Persival: «Tibbiyot etikasi» asari, 1803-yil. U 3-bosqichni yakunladi; unda «Yaxshilik qil» tamoyili muhokama qilingan.</a:t>
            </a:r>
          </a:p>
          <a:p>
            <a:pPr>
              <a:spcAft>
                <a:spcPts val="1200"/>
              </a:spcAft>
            </a:pPr>
            <a:r>
              <a:rPr sz="2200">
                <a:solidFill>
                  <a:srgbClr val="1F2937"/>
                </a:solidFill>
                <a:latin typeface="Calibri"/>
              </a:rPr>
              <a:t>▸  Bentam: «Deontologiya yoki axloq haqidagi fan», 1834-yil. Bu «deontologiya bosqichi» (4-bosqich); foyda keltirish va burch tamoyillari ko‘rilgan.</a:t>
            </a:r>
          </a:p>
          <a:p>
            <a:pPr>
              <a:spcAft>
                <a:spcPts val="1200"/>
              </a:spcAft>
            </a:pPr>
            <a:r>
              <a:rPr sz="2200">
                <a:solidFill>
                  <a:srgbClr val="1F2937"/>
                </a:solidFill>
                <a:latin typeface="Calibri"/>
              </a:rPr>
              <a:t>▸  Jeneva: 1948-yil deklaratsiya, 1949-yil kodeks. Bu 5-bosqichning boshlanishi va xalqaro bitimlar davri.</a:t>
            </a:r>
          </a:p>
          <a:p>
            <a:pPr>
              <a:spcAft>
                <a:spcPts val="1200"/>
              </a:spcAft>
            </a:pPr>
            <a:r>
              <a:rPr sz="2200">
                <a:solidFill>
                  <a:srgbClr val="1F2937"/>
                </a:solidFill>
                <a:latin typeface="Calibri"/>
              </a:rPr>
              <a:t>▸  Potter: 1970-yil. Tezkor savol: talabalar to‘rt nomni (Persival, Bentam, Jeneva, Potter) ularning sanalari va asarlari bilan moslashtirsin.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1.4-band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 ijtimoiy institut sifatida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Bioetika — jamiyat manfaatlarini ilm-fan tajovuzidan himoya qiluvchi institut. Shu bilan u tibbiyotdagi axloqiy muammolarni hal qilish metodologiyasi hamdir.</a:t>
            </a:r>
          </a:p>
          <a:p>
            <a:pPr>
              <a:spcAft>
                <a:spcPts val="1200"/>
              </a:spcAft>
            </a:pPr>
            <a:r>
              <a:rPr sz="2200">
                <a:solidFill>
                  <a:srgbClr val="1F2937"/>
                </a:solidFill>
                <a:latin typeface="Calibri"/>
              </a:rPr>
              <a:t>▸  1990-yil Strasburg simpoziumi ta’rifi: tibbiyot va biologiya rivojidan kelib chiqadigan axloqiy, huquqiy va ijtimoiy muammolarni o‘rganuvchi bilim sohasi.</a:t>
            </a:r>
          </a:p>
          <a:p>
            <a:pPr>
              <a:spcAft>
                <a:spcPts val="1200"/>
              </a:spcAft>
            </a:pPr>
            <a:r>
              <a:rPr sz="2200">
                <a:solidFill>
                  <a:srgbClr val="1F2937"/>
                </a:solidFill>
                <a:latin typeface="Calibri"/>
              </a:rPr>
              <a:t>▸  Bioetika sotsiologiya, psixologiya, mantiq, huquqshunoslik, menejment, pedagogika va boshqa fanlar yutuqlarini o‘zida jamlagan.</a:t>
            </a:r>
          </a:p>
          <a:p>
            <a:pPr>
              <a:spcAft>
                <a:spcPts val="1200"/>
              </a:spcAft>
            </a:pPr>
            <a:r>
              <a:rPr sz="2200">
                <a:solidFill>
                  <a:srgbClr val="1F2937"/>
                </a:solidFill>
                <a:latin typeface="Calibri"/>
              </a:rPr>
              <a:t>▸  Asosiy maqsad — insonni tibbiyot va biologiyaning hayoti hamda sog‘lig‘iga salbiy ta’siridan himoya qilish.</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qo‘mitalari tarkibi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Tibbiyot etikasi faqat shifokorlarga taalluqli; bioetika qo‘mitalari esa keng tarkibda tuziladi.</a:t>
            </a:r>
          </a:p>
          <a:p>
            <a:pPr>
              <a:spcAft>
                <a:spcPts val="800"/>
              </a:spcAft>
            </a:pPr>
            <a:r>
              <a:rPr sz="1800">
                <a:solidFill>
                  <a:srgbClr val="1F2937"/>
                </a:solidFill>
                <a:latin typeface="Calibri"/>
              </a:rPr>
              <a:t>▸  Qo‘mitaga faylasuflar, ekologlar, huquqshunoslar, jamoatchilik va shahar ma’muriyati vakillari kiradi.</a:t>
            </a:r>
          </a:p>
          <a:p>
            <a:pPr>
              <a:spcAft>
                <a:spcPts val="800"/>
              </a:spcAft>
            </a:pPr>
            <a:r>
              <a:rPr sz="1800">
                <a:solidFill>
                  <a:srgbClr val="1F2937"/>
                </a:solidFill>
                <a:latin typeface="Calibri"/>
              </a:rPr>
              <a:t>▸  Diqqat: tibbiyot etikasi ≠ bioetika. Biri shifokor burchini, ikkinchisi bemor huquqlarini himoya qiladi.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175105"/>
                <a:gridCol w="1501523"/>
                <a:gridCol w="261134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Tib. etikasi</a:t>
                      </a:r>
                    </a:p>
                  </a:txBody>
                  <a:tcPr marL="73152" marR="73152" marT="36576" marB="36576">
                    <a:solidFill>
                      <a:srgbClr val="0B1F3A"/>
                    </a:solidFill>
                  </a:tcPr>
                </a:tc>
                <a:tc>
                  <a:txBody>
                    <a:bodyPr/>
                    <a:lstStyle/>
                    <a:p>
                      <a:r>
                        <a:rPr sz="1300" b="1">
                          <a:solidFill>
                            <a:srgbClr val="FFFFFF"/>
                          </a:solidFill>
                        </a:rPr>
                        <a:t>Bioetika</a:t>
                      </a:r>
                    </a:p>
                  </a:txBody>
                  <a:tcPr marL="73152" marR="73152" marT="36576" marB="36576">
                    <a:solidFill>
                      <a:srgbClr val="0B1F3A"/>
                    </a:solidFill>
                  </a:tcPr>
                </a:tc>
              </a:tr>
              <a:tr h="411480">
                <a:tc>
                  <a:txBody>
                    <a:bodyPr/>
                    <a:lstStyle/>
                    <a:p>
                      <a:r>
                        <a:rPr sz="1200" b="0">
                          <a:solidFill>
                            <a:srgbClr val="1F2937"/>
                          </a:solidFill>
                        </a:rPr>
                        <a:t>Kim ishtirok etadi</a:t>
                      </a:r>
                    </a:p>
                  </a:txBody>
                  <a:tcPr marL="73152" marR="73152" marT="36576" marB="36576">
                    <a:solidFill>
                      <a:srgbClr val="E8EEF6"/>
                    </a:solidFill>
                  </a:tcPr>
                </a:tc>
                <a:tc>
                  <a:txBody>
                    <a:bodyPr/>
                    <a:lstStyle/>
                    <a:p>
                      <a:r>
                        <a:rPr sz="1200" b="0">
                          <a:solidFill>
                            <a:srgbClr val="1F2937"/>
                          </a:solidFill>
                        </a:rPr>
                        <a:t>Faqat shifokorlar</a:t>
                      </a:r>
                    </a:p>
                  </a:txBody>
                  <a:tcPr marL="73152" marR="73152" marT="36576" marB="36576">
                    <a:solidFill>
                      <a:srgbClr val="E8EEF6"/>
                    </a:solidFill>
                  </a:tcPr>
                </a:tc>
                <a:tc>
                  <a:txBody>
                    <a:bodyPr/>
                    <a:lstStyle/>
                    <a:p>
                      <a:r>
                        <a:rPr sz="1200" b="0">
                          <a:solidFill>
                            <a:srgbClr val="1F2937"/>
                          </a:solidFill>
                        </a:rPr>
                        <a:t>Faylasuf, ekolog, huquqshunos, jamoatchilik</a:t>
                      </a:r>
                    </a:p>
                  </a:txBody>
                  <a:tcPr marL="73152" marR="73152" marT="36576" marB="36576">
                    <a:solidFill>
                      <a:srgbClr val="E8EEF6"/>
                    </a:solidFill>
                  </a:tcPr>
                </a:tc>
              </a:tr>
              <a:tr h="411480">
                <a:tc>
                  <a:txBody>
                    <a:bodyPr/>
                    <a:lstStyle/>
                    <a:p>
                      <a:r>
                        <a:rPr sz="1200" b="0">
                          <a:solidFill>
                            <a:srgbClr val="1F2937"/>
                          </a:solidFill>
                        </a:rPr>
                        <a:t>Asosiy urg‘u</a:t>
                      </a:r>
                    </a:p>
                  </a:txBody>
                  <a:tcPr marL="73152" marR="73152" marT="36576" marB="36576">
                    <a:solidFill>
                      <a:srgbClr val="FFFFFF"/>
                    </a:solidFill>
                  </a:tcPr>
                </a:tc>
                <a:tc>
                  <a:txBody>
                    <a:bodyPr/>
                    <a:lstStyle/>
                    <a:p>
                      <a:r>
                        <a:rPr sz="1200" b="0">
                          <a:solidFill>
                            <a:srgbClr val="1F2937"/>
                          </a:solidFill>
                        </a:rPr>
                        <a:t>Shifokor majburiyatlari</a:t>
                      </a:r>
                    </a:p>
                  </a:txBody>
                  <a:tcPr marL="73152" marR="73152" marT="36576" marB="36576">
                    <a:solidFill>
                      <a:srgbClr val="FFFFFF"/>
                    </a:solidFill>
                  </a:tcPr>
                </a:tc>
                <a:tc>
                  <a:txBody>
                    <a:bodyPr/>
                    <a:lstStyle/>
                    <a:p>
                      <a:r>
                        <a:rPr sz="1200" b="0">
                          <a:solidFill>
                            <a:srgbClr val="1F2937"/>
                          </a:solidFill>
                        </a:rPr>
                        <a:t>Bemor huquqlarini himoya qilish</a:t>
                      </a:r>
                    </a:p>
                  </a:txBody>
                  <a:tcPr marL="73152" marR="73152" marT="36576" marB="36576">
                    <a:solidFill>
                      <a:srgbClr val="FFFFFF"/>
                    </a:solidFill>
                  </a:tcPr>
                </a:tc>
              </a:tr>
              <a:tr h="411480">
                <a:tc>
                  <a:txBody>
                    <a:bodyPr/>
                    <a:lstStyle/>
                    <a:p>
                      <a:r>
                        <a:rPr sz="1200" b="0">
                          <a:solidFill>
                            <a:srgbClr val="1F2937"/>
                          </a:solidFill>
                        </a:rPr>
                        <a:t>Qo‘shimcha a’zolar</a:t>
                      </a:r>
                    </a:p>
                  </a:txBody>
                  <a:tcPr marL="73152" marR="73152" marT="36576" marB="36576">
                    <a:solidFill>
                      <a:srgbClr val="E8EEF6"/>
                    </a:solidFill>
                  </a:tcPr>
                </a:tc>
                <a:tc>
                  <a:txBody>
                    <a:bodyPr/>
                    <a:lstStyle/>
                    <a:p>
                      <a:r>
                        <a:rPr sz="1200" b="0">
                          <a:solidFill>
                            <a:srgbClr val="1F2937"/>
                          </a:solidFill>
                        </a:rPr>
                        <a:t>—</a:t>
                      </a:r>
                    </a:p>
                  </a:txBody>
                  <a:tcPr marL="73152" marR="73152" marT="36576" marB="36576">
                    <a:solidFill>
                      <a:srgbClr val="E8EEF6"/>
                    </a:solidFill>
                  </a:tcPr>
                </a:tc>
                <a:tc>
                  <a:txBody>
                    <a:bodyPr/>
                    <a:lstStyle/>
                    <a:p>
                      <a:r>
                        <a:rPr sz="1200" b="0">
                          <a:solidFill>
                            <a:srgbClr val="1F2937"/>
                          </a:solidFill>
                        </a:rPr>
                        <a:t>Shahar ma’muriyati vakillari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Etika va bioetika qo‘mitasi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 oldidagi zamonaviy tahdidlar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Totalitarizm va zo‘ravonlikning yangi shakllari: odamlar ustida tajriba o‘tkazish, inson a’zolarini manipulyatsiya qilish.</a:t>
            </a:r>
          </a:p>
          <a:p>
            <a:pPr>
              <a:spcAft>
                <a:spcPts val="1200"/>
              </a:spcAft>
            </a:pPr>
            <a:r>
              <a:rPr sz="2200">
                <a:solidFill>
                  <a:srgbClr val="1F2937"/>
                </a:solidFill>
                <a:latin typeface="Calibri"/>
              </a:rPr>
              <a:t>▸  Odamlar selektsiyasi, nasl qoldirish tabiiy qobiliyatining yo‘qolishi, oila inqirozi va erkak–ayol munosabatining buzilishi.</a:t>
            </a:r>
          </a:p>
          <a:p>
            <a:pPr>
              <a:spcAft>
                <a:spcPts val="1200"/>
              </a:spcAft>
            </a:pPr>
            <a:r>
              <a:rPr sz="2200">
                <a:solidFill>
                  <a:srgbClr val="1F2937"/>
                </a:solidFill>
                <a:latin typeface="Calibri"/>
              </a:rPr>
              <a:t>▸  Butun tirik borliqqa xavf soluvchi yangi biologik mavjudotlar (monstrlar) va mikroorganizmlar tajribasidan yangi kasalliklar paydo bo‘lishi.</a:t>
            </a:r>
          </a:p>
          <a:p>
            <a:pPr>
              <a:spcAft>
                <a:spcPts val="1200"/>
              </a:spcAft>
            </a:pPr>
            <a:r>
              <a:rPr sz="2200">
                <a:solidFill>
                  <a:srgbClr val="1F2937"/>
                </a:solidFill>
                <a:latin typeface="Calibri"/>
              </a:rPr>
              <a:t>▸  Tibbiyotga tijoratning kirib kelishi odamlar o‘rtasidagi munosabatlarni beqarorlashtiradi.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Bioetikaning paydo bo‘lish shart-sharoitlari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Tibbiyotga tijorat kirib kelishi odamlar munosabatini beqarorlashtirgan xavflardan biri sanalgan.</a:t>
            </a:r>
          </a:p>
          <a:p>
            <a:pPr>
              <a:spcAft>
                <a:spcPts val="800"/>
              </a:spcAft>
            </a:pPr>
            <a:r>
              <a:rPr sz="1800">
                <a:solidFill>
                  <a:srgbClr val="1F2937"/>
                </a:solidFill>
                <a:latin typeface="Calibri"/>
              </a:rPr>
              <a:t>▸  Bioetika bemor huquqlariga rioya va xodimlar manfaatini ta’minlash uchun kurash natijasida shakllandi.</a:t>
            </a:r>
          </a:p>
          <a:p>
            <a:pPr>
              <a:spcAft>
                <a:spcPts val="800"/>
              </a:spcAft>
            </a:pPr>
            <a:r>
              <a:rPr sz="1800">
                <a:solidFill>
                  <a:srgbClr val="1F2937"/>
                </a:solidFill>
                <a:latin typeface="Calibri"/>
              </a:rPr>
              <a:t>▸  Tibbiyot yutuqlarini noto‘g‘ri maqsadda, jumladan qurol sifatida ishlatishga to‘siq zarur edi.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Tijoratga qarshi kurash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va xodim manfaati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Sug‘urta tibbiyoti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Qonun, din, axloq kodekslari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Xalqaro bioetika qo‘mitalari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Bioetika shart-sharoitlari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Tamoyillar: shifokor majburiyati va bemor huquqi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Tibbiyot etikasida asosiy tamoyillar shifokor majburiyatlarida ifodalanadi.</a:t>
            </a:r>
          </a:p>
          <a:p>
            <a:pPr>
              <a:spcAft>
                <a:spcPts val="800"/>
              </a:spcAft>
            </a:pPr>
            <a:r>
              <a:rPr sz="1800">
                <a:solidFill>
                  <a:srgbClr val="1F2937"/>
                </a:solidFill>
                <a:latin typeface="Calibri"/>
              </a:rPr>
              <a:t>▸  Bioetikada tamoyillar shifokor burchida emas, bemor huquqlarini ta’riflashda ifodalanadi.</a:t>
            </a:r>
          </a:p>
          <a:p>
            <a:pPr>
              <a:spcAft>
                <a:spcPts val="800"/>
              </a:spcAft>
            </a:pPr>
            <a:r>
              <a:rPr sz="1800">
                <a:solidFill>
                  <a:srgbClr val="1F2937"/>
                </a:solidFill>
                <a:latin typeface="Calibri"/>
              </a:rPr>
              <a:t>▸  Diqqat: shifokor siri ≠ xabardor rozilik; ikkinchisi bemorning xabardorligini nazarda tutadi.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468881"/>
                <a:gridCol w="1689214"/>
                <a:gridCol w="2129878"/>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Tibb. etikasi</a:t>
                      </a:r>
                    </a:p>
                  </a:txBody>
                  <a:tcPr marL="73152" marR="73152" marT="36576" marB="36576">
                    <a:solidFill>
                      <a:srgbClr val="0B1F3A"/>
                    </a:solidFill>
                  </a:tcPr>
                </a:tc>
                <a:tc>
                  <a:txBody>
                    <a:bodyPr/>
                    <a:lstStyle/>
                    <a:p>
                      <a:r>
                        <a:rPr sz="1300" b="1">
                          <a:solidFill>
                            <a:srgbClr val="FFFFFF"/>
                          </a:solidFill>
                        </a:rPr>
                        <a:t>Bioetika</a:t>
                      </a:r>
                    </a:p>
                  </a:txBody>
                  <a:tcPr marL="73152" marR="73152" marT="36576" marB="36576">
                    <a:solidFill>
                      <a:srgbClr val="0B1F3A"/>
                    </a:solidFill>
                  </a:tcPr>
                </a:tc>
              </a:tr>
              <a:tr h="411480">
                <a:tc>
                  <a:txBody>
                    <a:bodyPr/>
                    <a:lstStyle/>
                    <a:p>
                      <a:r>
                        <a:rPr sz="1200" b="0">
                          <a:solidFill>
                            <a:srgbClr val="1F2937"/>
                          </a:solidFill>
                        </a:rPr>
                        <a:t>Tamoyil ifodasi</a:t>
                      </a:r>
                    </a:p>
                  </a:txBody>
                  <a:tcPr marL="73152" marR="73152" marT="36576" marB="36576">
                    <a:solidFill>
                      <a:srgbClr val="E8EEF6"/>
                    </a:solidFill>
                  </a:tcPr>
                </a:tc>
                <a:tc>
                  <a:txBody>
                    <a:bodyPr/>
                    <a:lstStyle/>
                    <a:p>
                      <a:r>
                        <a:rPr sz="1200" b="0">
                          <a:solidFill>
                            <a:srgbClr val="1F2937"/>
                          </a:solidFill>
                        </a:rPr>
                        <a:t>Shifokor majburiyatlari</a:t>
                      </a:r>
                    </a:p>
                  </a:txBody>
                  <a:tcPr marL="73152" marR="73152" marT="36576" marB="36576">
                    <a:solidFill>
                      <a:srgbClr val="E8EEF6"/>
                    </a:solidFill>
                  </a:tcPr>
                </a:tc>
                <a:tc>
                  <a:txBody>
                    <a:bodyPr/>
                    <a:lstStyle/>
                    <a:p>
                      <a:r>
                        <a:rPr sz="1200" b="0">
                          <a:solidFill>
                            <a:srgbClr val="1F2937"/>
                          </a:solidFill>
                        </a:rPr>
                        <a:t>Bemor huquqlari</a:t>
                      </a:r>
                    </a:p>
                  </a:txBody>
                  <a:tcPr marL="73152" marR="73152" marT="36576" marB="36576">
                    <a:solidFill>
                      <a:srgbClr val="E8EEF6"/>
                    </a:solidFill>
                  </a:tcPr>
                </a:tc>
              </a:tr>
              <a:tr h="411480">
                <a:tc>
                  <a:txBody>
                    <a:bodyPr/>
                    <a:lstStyle/>
                    <a:p>
                      <a:r>
                        <a:rPr sz="1200" b="0">
                          <a:solidFill>
                            <a:srgbClr val="1F2937"/>
                          </a:solidFill>
                        </a:rPr>
                        <a:t>Qo‘mita tarkibi</a:t>
                      </a:r>
                    </a:p>
                  </a:txBody>
                  <a:tcPr marL="73152" marR="73152" marT="36576" marB="36576">
                    <a:solidFill>
                      <a:srgbClr val="FFFFFF"/>
                    </a:solidFill>
                  </a:tcPr>
                </a:tc>
                <a:tc>
                  <a:txBody>
                    <a:bodyPr/>
                    <a:lstStyle/>
                    <a:p>
                      <a:r>
                        <a:rPr sz="1200" b="0">
                          <a:solidFill>
                            <a:srgbClr val="1F2937"/>
                          </a:solidFill>
                        </a:rPr>
                        <a:t>Faqat shifokorlar</a:t>
                      </a:r>
                    </a:p>
                  </a:txBody>
                  <a:tcPr marL="73152" marR="73152" marT="36576" marB="36576">
                    <a:solidFill>
                      <a:srgbClr val="FFFFFF"/>
                    </a:solidFill>
                  </a:tcPr>
                </a:tc>
                <a:tc>
                  <a:txBody>
                    <a:bodyPr/>
                    <a:lstStyle/>
                    <a:p>
                      <a:r>
                        <a:rPr sz="1200" b="0">
                          <a:solidFill>
                            <a:srgbClr val="1F2937"/>
                          </a:solidFill>
                        </a:rPr>
                        <a:t>Faylasuf, ekolog, huquqshunos</a:t>
                      </a:r>
                    </a:p>
                  </a:txBody>
                  <a:tcPr marL="73152" marR="73152" marT="36576" marB="36576">
                    <a:solidFill>
                      <a:srgbClr val="FFFFFF"/>
                    </a:solidFill>
                  </a:tcPr>
                </a:tc>
              </a:tr>
              <a:tr h="411480">
                <a:tc>
                  <a:txBody>
                    <a:bodyPr/>
                    <a:lstStyle/>
                    <a:p>
                      <a:r>
                        <a:rPr sz="1200" b="0">
                          <a:solidFill>
                            <a:srgbClr val="1F2937"/>
                          </a:solidFill>
                        </a:rPr>
                        <a:t>Asosiy tamoyil</a:t>
                      </a:r>
                    </a:p>
                  </a:txBody>
                  <a:tcPr marL="73152" marR="73152" marT="36576" marB="36576">
                    <a:solidFill>
                      <a:srgbClr val="E8EEF6"/>
                    </a:solidFill>
                  </a:tcPr>
                </a:tc>
                <a:tc>
                  <a:txBody>
                    <a:bodyPr/>
                    <a:lstStyle/>
                    <a:p>
                      <a:r>
                        <a:rPr sz="1200" b="0">
                          <a:solidFill>
                            <a:srgbClr val="1F2937"/>
                          </a:solidFill>
                        </a:rPr>
                        <a:t>Paternalizm</a:t>
                      </a:r>
                    </a:p>
                  </a:txBody>
                  <a:tcPr marL="73152" marR="73152" marT="36576" marB="36576">
                    <a:solidFill>
                      <a:srgbClr val="E8EEF6"/>
                    </a:solidFill>
                  </a:tcPr>
                </a:tc>
                <a:tc>
                  <a:txBody>
                    <a:bodyPr/>
                    <a:lstStyle/>
                    <a:p>
                      <a:r>
                        <a:rPr sz="1200" b="0">
                          <a:solidFill>
                            <a:srgbClr val="1F2937"/>
                          </a:solidFill>
                        </a:rPr>
                        <a:t>Xabardor rozilik</a:t>
                      </a:r>
                    </a:p>
                  </a:txBody>
                  <a:tcPr marL="73152" marR="73152" marT="36576" marB="36576">
                    <a:solidFill>
                      <a:srgbClr val="E8EEF6"/>
                    </a:solidFill>
                  </a:tcPr>
                </a:tc>
              </a:tr>
              <a:tr h="411480">
                <a:tc>
                  <a:txBody>
                    <a:bodyPr/>
                    <a:lstStyle/>
                    <a:p>
                      <a:r>
                        <a:rPr sz="1200" b="0">
                          <a:solidFill>
                            <a:srgbClr val="1F2937"/>
                          </a:solidFill>
                        </a:rPr>
                        <a:t>Nimani himoya qiladi</a:t>
                      </a:r>
                    </a:p>
                  </a:txBody>
                  <a:tcPr marL="73152" marR="73152" marT="36576" marB="36576">
                    <a:solidFill>
                      <a:srgbClr val="FFFFFF"/>
                    </a:solidFill>
                  </a:tcPr>
                </a:tc>
                <a:tc>
                  <a:txBody>
                    <a:bodyPr/>
                    <a:lstStyle/>
                    <a:p>
                      <a:r>
                        <a:rPr sz="1200" b="0">
                          <a:solidFill>
                            <a:srgbClr val="1F2937"/>
                          </a:solidFill>
                        </a:rPr>
                        <a:t>Shifokor burchi</a:t>
                      </a:r>
                    </a:p>
                  </a:txBody>
                  <a:tcPr marL="73152" marR="73152" marT="36576" marB="36576">
                    <a:solidFill>
                      <a:srgbClr val="FFFFFF"/>
                    </a:solidFill>
                  </a:tcPr>
                </a:tc>
                <a:tc>
                  <a:txBody>
                    <a:bodyPr/>
                    <a:lstStyle/>
                    <a:p>
                      <a:r>
                        <a:rPr sz="1200" b="0">
                          <a:solidFill>
                            <a:srgbClr val="1F2937"/>
                          </a:solidFill>
                        </a:rPr>
                        <a:t>Bemor huquqlari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Tibbiyot etikasi va bioetika</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Paternalistik model: «shifokor — ota»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Paternalizm lotincha «pater» — ota so‘zidan; shifokor ota vazifasini bajaradi.</a:t>
            </a:r>
          </a:p>
          <a:p>
            <a:pPr>
              <a:spcAft>
                <a:spcPts val="800"/>
              </a:spcAft>
            </a:pPr>
            <a:r>
              <a:rPr sz="1800">
                <a:solidFill>
                  <a:srgbClr val="1F2937"/>
                </a:solidFill>
                <a:latin typeface="Calibri"/>
              </a:rPr>
              <a:t>▸  Hippokrat etikasida munosabat «kuchli» va «kuchsiz» tomonlarga qurilgan; shu model paternalizmni keltirib chiqargan.</a:t>
            </a:r>
          </a:p>
          <a:p>
            <a:pPr>
              <a:spcAft>
                <a:spcPts val="800"/>
              </a:spcAft>
            </a:pPr>
            <a:r>
              <a:rPr sz="1800">
                <a:solidFill>
                  <a:srgbClr val="1F2937"/>
                </a:solidFill>
                <a:latin typeface="Calibri"/>
              </a:rPr>
              <a:t>▸  Diqqat: paternalizm ≠ hamkorlik; hamkorlikda bemor erkinligi va xabardor rozilik yetakchi.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Shifokor: bilim va hokimiyat</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Foydani o‘zi belgilaydi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Mas’uliyat unda to‘planadi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Bemor kuchsiz tomonda</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Paternalistik model mantig‘i</a:t>
            </a:r>
          </a:p>
        </p:txBody>
      </p:sp>
      <p:sp>
        <p:nvSpPr>
          <p:cNvPr id="17" name="TextBox 16"/>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Paternalizmdan hamkorlik modeliga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Paternalizmda klinik qarorlar uchun javobgarlikni deyarli to‘la shifokor o‘z zimmasiga oladi.</a:t>
            </a:r>
          </a:p>
          <a:p>
            <a:pPr>
              <a:spcAft>
                <a:spcPts val="800"/>
              </a:spcAft>
            </a:pPr>
            <a:r>
              <a:rPr sz="1800">
                <a:solidFill>
                  <a:srgbClr val="1F2937"/>
                </a:solidFill>
                <a:latin typeface="Calibri"/>
              </a:rPr>
              <a:t>▸  Nopaternalistik model bemorning ma’naviy erkinligi ustuvorligiga tayanadi.</a:t>
            </a:r>
          </a:p>
          <a:p>
            <a:pPr>
              <a:spcAft>
                <a:spcPts val="800"/>
              </a:spcAft>
            </a:pPr>
            <a:r>
              <a:rPr sz="1800">
                <a:solidFill>
                  <a:srgbClr val="1F2937"/>
                </a:solidFill>
                <a:latin typeface="Calibri"/>
              </a:rPr>
              <a:t>▸  Hamkorlik modelida shaxs erkinligi va xabardor rozilik tamoyillari yetakchilik qiladi.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1007233"/>
                <a:gridCol w="2203322"/>
                <a:gridCol w="2077418"/>
              </a:tblGrid>
              <a:tr h="411480">
                <a:tc>
                  <a:txBody>
                    <a:bodyPr/>
                    <a:lstStyle/>
                    <a:p>
                      <a:r>
                        <a:rPr sz="1300" b="1">
                          <a:solidFill>
                            <a:srgbClr val="FFFFFF"/>
                          </a:solidFill>
                        </a:rPr>
                        <a:t>Mezon</a:t>
                      </a:r>
                    </a:p>
                  </a:txBody>
                  <a:tcPr marL="73152" marR="73152" marT="36576" marB="36576">
                    <a:solidFill>
                      <a:srgbClr val="0B1F3A"/>
                    </a:solidFill>
                  </a:tcPr>
                </a:tc>
                <a:tc>
                  <a:txBody>
                    <a:bodyPr/>
                    <a:lstStyle/>
                    <a:p>
                      <a:r>
                        <a:rPr sz="1300" b="1">
                          <a:solidFill>
                            <a:srgbClr val="FFFFFF"/>
                          </a:solidFill>
                        </a:rPr>
                        <a:t>Paternalizm</a:t>
                      </a:r>
                    </a:p>
                  </a:txBody>
                  <a:tcPr marL="73152" marR="73152" marT="36576" marB="36576">
                    <a:solidFill>
                      <a:srgbClr val="0B1F3A"/>
                    </a:solidFill>
                  </a:tcPr>
                </a:tc>
                <a:tc>
                  <a:txBody>
                    <a:bodyPr/>
                    <a:lstStyle/>
                    <a:p>
                      <a:r>
                        <a:rPr sz="1300" b="1">
                          <a:solidFill>
                            <a:srgbClr val="FFFFFF"/>
                          </a:solidFill>
                        </a:rPr>
                        <a:t>Hamkorlik</a:t>
                      </a:r>
                    </a:p>
                  </a:txBody>
                  <a:tcPr marL="73152" marR="73152" marT="36576" marB="36576">
                    <a:solidFill>
                      <a:srgbClr val="0B1F3A"/>
                    </a:solidFill>
                  </a:tcPr>
                </a:tc>
              </a:tr>
              <a:tr h="411480">
                <a:tc>
                  <a:txBody>
                    <a:bodyPr/>
                    <a:lstStyle/>
                    <a:p>
                      <a:r>
                        <a:rPr sz="1200" b="0">
                          <a:solidFill>
                            <a:srgbClr val="1F2937"/>
                          </a:solidFill>
                        </a:rPr>
                        <a:t>Qaror qiluvchi</a:t>
                      </a:r>
                    </a:p>
                  </a:txBody>
                  <a:tcPr marL="73152" marR="73152" marT="36576" marB="36576">
                    <a:solidFill>
                      <a:srgbClr val="E8EEF6"/>
                    </a:solidFill>
                  </a:tcPr>
                </a:tc>
                <a:tc>
                  <a:txBody>
                    <a:bodyPr/>
                    <a:lstStyle/>
                    <a:p>
                      <a:r>
                        <a:rPr sz="1200" b="0">
                          <a:solidFill>
                            <a:srgbClr val="1F2937"/>
                          </a:solidFill>
                        </a:rPr>
                        <a:t>Asosan shifokor</a:t>
                      </a:r>
                    </a:p>
                  </a:txBody>
                  <a:tcPr marL="73152" marR="73152" marT="36576" marB="36576">
                    <a:solidFill>
                      <a:srgbClr val="E8EEF6"/>
                    </a:solidFill>
                  </a:tcPr>
                </a:tc>
                <a:tc>
                  <a:txBody>
                    <a:bodyPr/>
                    <a:lstStyle/>
                    <a:p>
                      <a:r>
                        <a:rPr sz="1200" b="0">
                          <a:solidFill>
                            <a:srgbClr val="1F2937"/>
                          </a:solidFill>
                        </a:rPr>
                        <a:t>Bemor shifokor bilan birga</a:t>
                      </a:r>
                    </a:p>
                  </a:txBody>
                  <a:tcPr marL="73152" marR="73152" marT="36576" marB="36576">
                    <a:solidFill>
                      <a:srgbClr val="E8EEF6"/>
                    </a:solidFill>
                  </a:tcPr>
                </a:tc>
              </a:tr>
              <a:tr h="411480">
                <a:tc>
                  <a:txBody>
                    <a:bodyPr/>
                    <a:lstStyle/>
                    <a:p>
                      <a:r>
                        <a:rPr sz="1200" b="0">
                          <a:solidFill>
                            <a:srgbClr val="1F2937"/>
                          </a:solidFill>
                        </a:rPr>
                        <a:t>Asosiy tushuncha</a:t>
                      </a:r>
                    </a:p>
                  </a:txBody>
                  <a:tcPr marL="73152" marR="73152" marT="36576" marB="36576">
                    <a:solidFill>
                      <a:srgbClr val="FFFFFF"/>
                    </a:solidFill>
                  </a:tcPr>
                </a:tc>
                <a:tc>
                  <a:txBody>
                    <a:bodyPr/>
                    <a:lstStyle/>
                    <a:p>
                      <a:r>
                        <a:rPr sz="1200" b="0">
                          <a:solidFill>
                            <a:srgbClr val="1F2937"/>
                          </a:solidFill>
                        </a:rPr>
                        <a:t>Shifokor javobgarligi</a:t>
                      </a:r>
                    </a:p>
                  </a:txBody>
                  <a:tcPr marL="73152" marR="73152" marT="36576" marB="36576">
                    <a:solidFill>
                      <a:srgbClr val="FFFFFF"/>
                    </a:solidFill>
                  </a:tcPr>
                </a:tc>
                <a:tc>
                  <a:txBody>
                    <a:bodyPr/>
                    <a:lstStyle/>
                    <a:p>
                      <a:r>
                        <a:rPr sz="1200" b="0">
                          <a:solidFill>
                            <a:srgbClr val="1F2937"/>
                          </a:solidFill>
                        </a:rPr>
                        <a:t>Bemor huquqlari</a:t>
                      </a:r>
                    </a:p>
                  </a:txBody>
                  <a:tcPr marL="73152" marR="73152" marT="36576" marB="36576">
                    <a:solidFill>
                      <a:srgbClr val="FFFFFF"/>
                    </a:solidFill>
                  </a:tcPr>
                </a:tc>
              </a:tr>
              <a:tr h="411480">
                <a:tc>
                  <a:txBody>
                    <a:bodyPr/>
                    <a:lstStyle/>
                    <a:p>
                      <a:r>
                        <a:rPr sz="1200" b="0">
                          <a:solidFill>
                            <a:srgbClr val="1F2937"/>
                          </a:solidFill>
                        </a:rPr>
                        <a:t>Yetakchi tamoyil</a:t>
                      </a:r>
                    </a:p>
                  </a:txBody>
                  <a:tcPr marL="73152" marR="73152" marT="36576" marB="36576">
                    <a:solidFill>
                      <a:srgbClr val="E8EEF6"/>
                    </a:solidFill>
                  </a:tcPr>
                </a:tc>
                <a:tc>
                  <a:txBody>
                    <a:bodyPr/>
                    <a:lstStyle/>
                    <a:p>
                      <a:r>
                        <a:rPr sz="1200" b="0">
                          <a:solidFill>
                            <a:srgbClr val="1F2937"/>
                          </a:solidFill>
                        </a:rPr>
                        <a:t>Bemor foydasini shifokor belgilaydi</a:t>
                      </a:r>
                    </a:p>
                  </a:txBody>
                  <a:tcPr marL="73152" marR="73152" marT="36576" marB="36576">
                    <a:solidFill>
                      <a:srgbClr val="E8EEF6"/>
                    </a:solidFill>
                  </a:tcPr>
                </a:tc>
                <a:tc>
                  <a:txBody>
                    <a:bodyPr/>
                    <a:lstStyle/>
                    <a:p>
                      <a:r>
                        <a:rPr sz="1200" b="0">
                          <a:solidFill>
                            <a:srgbClr val="1F2937"/>
                          </a:solidFill>
                        </a:rPr>
                        <a:t>Shaxs erkinligi, xabardor rozilik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model solishtirmasi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Xabardor rozilik va shifokor siri: farq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Xabardor rozilik bemor holatini unga tushunarli aytish va qarorda ishtirokini nazarda tutadi.</a:t>
            </a:r>
          </a:p>
          <a:p>
            <a:pPr>
              <a:spcAft>
                <a:spcPts val="800"/>
              </a:spcAft>
            </a:pPr>
            <a:r>
              <a:rPr sz="1800">
                <a:solidFill>
                  <a:srgbClr val="1F2937"/>
                </a:solidFill>
                <a:latin typeface="Calibri"/>
              </a:rPr>
              <a:t>▸  Bemor yozma va tushunarli axborot hamda xavf haqida ma’lumot olish huquqiga ega.</a:t>
            </a:r>
          </a:p>
          <a:p>
            <a:pPr>
              <a:spcAft>
                <a:spcPts val="800"/>
              </a:spcAft>
            </a:pPr>
            <a:r>
              <a:rPr sz="1800">
                <a:solidFill>
                  <a:srgbClr val="1F2937"/>
                </a:solidFill>
                <a:latin typeface="Calibri"/>
              </a:rPr>
              <a:t>▸  Diqqat: xabardor rozilik shifokor sirini saqlash tamoyili bilan bir narsa emas (≠).</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098800"/>
                <a:gridCol w="2197600"/>
                <a:gridCol w="1991575"/>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Shifokor siri</a:t>
                      </a:r>
                    </a:p>
                  </a:txBody>
                  <a:tcPr marL="73152" marR="73152" marT="36576" marB="36576">
                    <a:solidFill>
                      <a:srgbClr val="0B1F3A"/>
                    </a:solidFill>
                  </a:tcPr>
                </a:tc>
                <a:tc>
                  <a:txBody>
                    <a:bodyPr/>
                    <a:lstStyle/>
                    <a:p>
                      <a:r>
                        <a:rPr sz="1300" b="1">
                          <a:solidFill>
                            <a:srgbClr val="FFFFFF"/>
                          </a:solidFill>
                        </a:rPr>
                        <a:t>Rozilik</a:t>
                      </a:r>
                    </a:p>
                  </a:txBody>
                  <a:tcPr marL="73152" marR="73152" marT="36576" marB="36576">
                    <a:solidFill>
                      <a:srgbClr val="0B1F3A"/>
                    </a:solidFill>
                  </a:tcPr>
                </a:tc>
              </a:tr>
              <a:tr h="411480">
                <a:tc>
                  <a:txBody>
                    <a:bodyPr/>
                    <a:lstStyle/>
                    <a:p>
                      <a:r>
                        <a:rPr sz="1200" b="0">
                          <a:solidFill>
                            <a:srgbClr val="1F2937"/>
                          </a:solidFill>
                        </a:rPr>
                        <a:t>Mohiyati</a:t>
                      </a:r>
                    </a:p>
                  </a:txBody>
                  <a:tcPr marL="73152" marR="73152" marT="36576" marB="36576">
                    <a:solidFill>
                      <a:srgbClr val="E8EEF6"/>
                    </a:solidFill>
                  </a:tcPr>
                </a:tc>
                <a:tc>
                  <a:txBody>
                    <a:bodyPr/>
                    <a:lstStyle/>
                    <a:p>
                      <a:r>
                        <a:rPr sz="1200" b="0">
                          <a:solidFill>
                            <a:srgbClr val="1F2937"/>
                          </a:solidFill>
                        </a:rPr>
                        <a:t>Tibbiy etika tamoyili</a:t>
                      </a:r>
                    </a:p>
                  </a:txBody>
                  <a:tcPr marL="73152" marR="73152" marT="36576" marB="36576">
                    <a:solidFill>
                      <a:srgbClr val="E8EEF6"/>
                    </a:solidFill>
                  </a:tcPr>
                </a:tc>
                <a:tc>
                  <a:txBody>
                    <a:bodyPr/>
                    <a:lstStyle/>
                    <a:p>
                      <a:r>
                        <a:rPr sz="1200" b="0">
                          <a:solidFill>
                            <a:srgbClr val="1F2937"/>
                          </a:solidFill>
                        </a:rPr>
                        <a:t>Bioetikaning bosh tamoyili</a:t>
                      </a:r>
                    </a:p>
                  </a:txBody>
                  <a:tcPr marL="73152" marR="73152" marT="36576" marB="36576">
                    <a:solidFill>
                      <a:srgbClr val="E8EEF6"/>
                    </a:solidFill>
                  </a:tcPr>
                </a:tc>
              </a:tr>
              <a:tr h="411480">
                <a:tc>
                  <a:txBody>
                    <a:bodyPr/>
                    <a:lstStyle/>
                    <a:p>
                      <a:r>
                        <a:rPr sz="1200" b="0">
                          <a:solidFill>
                            <a:srgbClr val="1F2937"/>
                          </a:solidFill>
                        </a:rPr>
                        <a:t>Yo‘nalishi</a:t>
                      </a:r>
                    </a:p>
                  </a:txBody>
                  <a:tcPr marL="73152" marR="73152" marT="36576" marB="36576">
                    <a:solidFill>
                      <a:srgbClr val="FFFFFF"/>
                    </a:solidFill>
                  </a:tcPr>
                </a:tc>
                <a:tc>
                  <a:txBody>
                    <a:bodyPr/>
                    <a:lstStyle/>
                    <a:p>
                      <a:r>
                        <a:rPr sz="1200" b="0">
                          <a:solidFill>
                            <a:srgbClr val="1F2937"/>
                          </a:solidFill>
                        </a:rPr>
                        <a:t>Ma’lumotni boshqalarga bermaslik</a:t>
                      </a:r>
                    </a:p>
                  </a:txBody>
                  <a:tcPr marL="73152" marR="73152" marT="36576" marB="36576">
                    <a:solidFill>
                      <a:srgbClr val="FFFFFF"/>
                    </a:solidFill>
                  </a:tcPr>
                </a:tc>
                <a:tc>
                  <a:txBody>
                    <a:bodyPr/>
                    <a:lstStyle/>
                    <a:p>
                      <a:r>
                        <a:rPr sz="1200" b="0">
                          <a:solidFill>
                            <a:srgbClr val="1F2937"/>
                          </a:solidFill>
                        </a:rPr>
                        <a:t>Bemorning xabardorligi</a:t>
                      </a:r>
                    </a:p>
                  </a:txBody>
                  <a:tcPr marL="73152" marR="73152" marT="36576" marB="36576">
                    <a:solidFill>
                      <a:srgbClr val="FFFFFF"/>
                    </a:solidFill>
                  </a:tcPr>
                </a:tc>
              </a:tr>
              <a:tr h="411480">
                <a:tc>
                  <a:txBody>
                    <a:bodyPr/>
                    <a:lstStyle/>
                    <a:p>
                      <a:r>
                        <a:rPr sz="1200" b="0">
                          <a:solidFill>
                            <a:srgbClr val="1F2937"/>
                          </a:solidFill>
                        </a:rPr>
                        <a:t>Bemor roli</a:t>
                      </a:r>
                    </a:p>
                  </a:txBody>
                  <a:tcPr marL="73152" marR="73152" marT="36576" marB="36576">
                    <a:solidFill>
                      <a:srgbClr val="E8EEF6"/>
                    </a:solidFill>
                  </a:tcPr>
                </a:tc>
                <a:tc>
                  <a:txBody>
                    <a:bodyPr/>
                    <a:lstStyle/>
                    <a:p>
                      <a:r>
                        <a:rPr sz="1200" b="0">
                          <a:solidFill>
                            <a:srgbClr val="1F2937"/>
                          </a:solidFill>
                        </a:rPr>
                        <a:t>Ma’lumot sir tutiladi</a:t>
                      </a:r>
                    </a:p>
                  </a:txBody>
                  <a:tcPr marL="73152" marR="73152" marT="36576" marB="36576">
                    <a:solidFill>
                      <a:srgbClr val="E8EEF6"/>
                    </a:solidFill>
                  </a:tcPr>
                </a:tc>
                <a:tc>
                  <a:txBody>
                    <a:bodyPr/>
                    <a:lstStyle/>
                    <a:p>
                      <a:r>
                        <a:rPr sz="1200" b="0">
                          <a:solidFill>
                            <a:srgbClr val="1F2937"/>
                          </a:solidFill>
                        </a:rPr>
                        <a:t>Qaror qabul qilishda ishtirok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 va rozilik</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«halokatli» tashxis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Freyd shifokordan saraton kasalligini eshitganda: «Menga bu haqda gapirishga sizga kim huquq berdi?» degan ekan.</a:t>
            </a:r>
          </a:p>
          <a:p>
            <a:pPr>
              <a:spcAft>
                <a:spcPts val="1200"/>
              </a:spcAft>
            </a:pPr>
            <a:r>
              <a:rPr sz="2200">
                <a:solidFill>
                  <a:srgbClr val="1F2937"/>
                </a:solidFill>
                <a:latin typeface="Calibri"/>
              </a:rPr>
              <a:t>▸  Paternalizm bemorni aldash va ma’lumotni yashirishni oqlaydi; MDHda ko‘p shifokorlar «muqaddas yolg‘on»ga ishonadi.</a:t>
            </a:r>
          </a:p>
          <a:p>
            <a:pPr>
              <a:spcAft>
                <a:spcPts val="1200"/>
              </a:spcAft>
            </a:pPr>
            <a:r>
              <a:rPr sz="2200">
                <a:solidFill>
                  <a:srgbClr val="1F2937"/>
                </a:solidFill>
                <a:latin typeface="Calibri"/>
              </a:rPr>
              <a:t>▸  So‘rovlarda Rossiyada bemorlarning 60% gachasi bunday ma’lumotga qiziqmagan; Amerikada shifokor madaniy omilni hisobga oladi.</a:t>
            </a:r>
          </a:p>
          <a:p>
            <a:pPr>
              <a:spcAft>
                <a:spcPts val="1200"/>
              </a:spcAft>
            </a:pPr>
            <a:r>
              <a:rPr sz="2200">
                <a:solidFill>
                  <a:srgbClr val="1F2937"/>
                </a:solidFill>
                <a:latin typeface="Calibri"/>
              </a:rPr>
              <a:t>▸  Savol: paternalizm va bemorning o‘z holatini bilish huquqi qanday kelishishi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paternalizm va hamkorlik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qaysi modelda klinik qarorlar uchun javobgarlikni shifokor to‘liq yoki deyarli to‘liq o‘z zimmasiga oladi?</a:t>
            </a:r>
          </a:p>
          <a:p>
            <a:pPr>
              <a:spcAft>
                <a:spcPts val="1200"/>
              </a:spcAft>
            </a:pPr>
            <a:r>
              <a:rPr sz="2200">
                <a:solidFill>
                  <a:srgbClr val="1F2937"/>
                </a:solidFill>
                <a:latin typeface="Calibri"/>
              </a:rPr>
              <a:t>▸  Javob: paternalistik modelda. Unda bemorga nima foydali ekanini shifokorning o‘zi hal qiladi.</a:t>
            </a:r>
          </a:p>
          <a:p>
            <a:pPr>
              <a:spcAft>
                <a:spcPts val="1200"/>
              </a:spcAft>
            </a:pPr>
            <a:r>
              <a:rPr sz="2200">
                <a:solidFill>
                  <a:srgbClr val="1F2937"/>
                </a:solidFill>
                <a:latin typeface="Calibri"/>
              </a:rPr>
              <a:t>▸  Hamkorlik modeli bemorning ma’naviy erkinligidan kelib chiqadi. Unda shaxs erkinligi va xabardorlikka asoslangan rozilik yetakchi.</a:t>
            </a:r>
          </a:p>
          <a:p>
            <a:pPr>
              <a:spcAft>
                <a:spcPts val="1200"/>
              </a:spcAft>
            </a:pPr>
            <a:r>
              <a:rPr sz="2200">
                <a:solidFill>
                  <a:srgbClr val="1F2937"/>
                </a:solidFill>
                <a:latin typeface="Calibri"/>
              </a:rPr>
              <a:t>▸  Diqqat: xato qilish xavfi. Paternalizm ≠ hamkorlik: birida shifokor ustun, ikkinchisida bemor huquqlari asosiy tushuncha.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 yetkazma» tamoyili (primum non nocere)</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Bu tibbiyot etikasining eng qadimgi tamoyili. Lotincha primum non nocere — «avvalo zarar yetkazma».</a:t>
            </a:r>
          </a:p>
          <a:p>
            <a:pPr>
              <a:spcAft>
                <a:spcPts val="1200"/>
              </a:spcAft>
            </a:pPr>
            <a:r>
              <a:rPr sz="2200">
                <a:solidFill>
                  <a:srgbClr val="1F2937"/>
                </a:solidFill>
                <a:latin typeface="Calibri"/>
              </a:rPr>
              <a:t>▸  Ba’zan Gippokrat etikasining mohiyatini aynan shu tamoyilda ko‘rishadi. Ammo uning asarlarida bunday fikr yo‘q.</a:t>
            </a:r>
          </a:p>
          <a:p>
            <a:pPr>
              <a:spcAft>
                <a:spcPts val="1200"/>
              </a:spcAft>
            </a:pPr>
            <a:r>
              <a:rPr sz="2200">
                <a:solidFill>
                  <a:srgbClr val="1F2937"/>
                </a:solidFill>
                <a:latin typeface="Calibri"/>
              </a:rPr>
              <a:t>▸  Qasamyodda shifokor kuchi va bilimiga qarab foyda keltirishga, zarar va noholis munosabatdan tiyilishga va’da beradi. Butun matnda esa birinchi o‘rinda ustoz oldidagi burch turadi.</a:t>
            </a:r>
          </a:p>
          <a:p>
            <a:pPr>
              <a:spcAft>
                <a:spcPts val="1200"/>
              </a:spcAft>
            </a:pPr>
            <a:r>
              <a:rPr sz="2200">
                <a:solidFill>
                  <a:srgbClr val="1F2937"/>
                </a:solidFill>
                <a:latin typeface="Calibri"/>
              </a:rPr>
              <a:t>▸  Tamoyilni «har qanday zarardan qoch» deb tushunsak, shifokor aralashuvdan tiyilishi kerak bo‘lardi. Tamoyilning bunday ma’nosi yo‘q.</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Zararning to‘rt shakli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Zarar turlari har xil baholanadi. Dastlabki ikkitasi ko‘proq yuridik va ma’muriy javobgarlik mavzusi.</a:t>
            </a:r>
          </a:p>
          <a:p>
            <a:pPr>
              <a:spcAft>
                <a:spcPts val="800"/>
              </a:spcAft>
            </a:pPr>
            <a:r>
              <a:rPr sz="1800">
                <a:solidFill>
                  <a:srgbClr val="1F2937"/>
                </a:solidFill>
                <a:latin typeface="Calibri"/>
              </a:rPr>
              <a:t>▸  Yordam bermaslikni AQSh misolida: shifokor huquqiy javobgar bo‘lmasligi mumkin, ammo axloqan qoralanadi.</a:t>
            </a:r>
          </a:p>
          <a:p>
            <a:pPr>
              <a:spcAft>
                <a:spcPts val="800"/>
              </a:spcAft>
            </a:pPr>
            <a:r>
              <a:rPr sz="1800">
                <a:solidFill>
                  <a:srgbClr val="1F2937"/>
                </a:solidFill>
                <a:latin typeface="Calibri"/>
              </a:rPr>
              <a:t>▸  Shifokor faqat ob’ektiv muqarrar va imkon qadar kam zarar yetkazishga haqli.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59041"/>
                <a:gridCol w="2014466"/>
                <a:gridCol w="2014466"/>
              </a:tblGrid>
              <a:tr h="411480">
                <a:tc>
                  <a:txBody>
                    <a:bodyPr/>
                    <a:lstStyle/>
                    <a:p>
                      <a:r>
                        <a:rPr sz="1300" b="1">
                          <a:solidFill>
                            <a:srgbClr val="FFFFFF"/>
                          </a:solidFill>
                        </a:rPr>
                        <a:t>Zarar shakli</a:t>
                      </a:r>
                    </a:p>
                  </a:txBody>
                  <a:tcPr marL="73152" marR="73152" marT="36576" marB="36576">
                    <a:solidFill>
                      <a:srgbClr val="0B1F3A"/>
                    </a:solidFill>
                  </a:tcPr>
                </a:tc>
                <a:tc>
                  <a:txBody>
                    <a:bodyPr/>
                    <a:lstStyle/>
                    <a:p>
                      <a:r>
                        <a:rPr sz="1300" b="1">
                          <a:solidFill>
                            <a:srgbClr val="FFFFFF"/>
                          </a:solidFill>
                        </a:rPr>
                        <a:t>Mohiyati</a:t>
                      </a:r>
                    </a:p>
                  </a:txBody>
                  <a:tcPr marL="73152" marR="73152" marT="36576" marB="36576">
                    <a:solidFill>
                      <a:srgbClr val="0B1F3A"/>
                    </a:solidFill>
                  </a:tcPr>
                </a:tc>
                <a:tc>
                  <a:txBody>
                    <a:bodyPr/>
                    <a:lstStyle/>
                    <a:p>
                      <a:r>
                        <a:rPr sz="1300" b="1">
                          <a:solidFill>
                            <a:srgbClr val="FFFFFF"/>
                          </a:solidFill>
                        </a:rPr>
                        <a:t>Baholash</a:t>
                      </a:r>
                    </a:p>
                  </a:txBody>
                  <a:tcPr marL="73152" marR="73152" marT="36576" marB="36576">
                    <a:solidFill>
                      <a:srgbClr val="0B1F3A"/>
                    </a:solidFill>
                  </a:tcPr>
                </a:tc>
              </a:tr>
              <a:tr h="411480">
                <a:tc>
                  <a:txBody>
                    <a:bodyPr/>
                    <a:lstStyle/>
                    <a:p>
                      <a:r>
                        <a:rPr sz="1200" b="0">
                          <a:solidFill>
                            <a:srgbClr val="1F2937"/>
                          </a:solidFill>
                        </a:rPr>
                        <a:t>Harakatsizlik</a:t>
                      </a:r>
                    </a:p>
                  </a:txBody>
                  <a:tcPr marL="73152" marR="73152" marT="36576" marB="36576">
                    <a:solidFill>
                      <a:srgbClr val="E8EEF6"/>
                    </a:solidFill>
                  </a:tcPr>
                </a:tc>
                <a:tc>
                  <a:txBody>
                    <a:bodyPr/>
                    <a:lstStyle/>
                    <a:p>
                      <a:r>
                        <a:rPr sz="1200" b="0">
                          <a:solidFill>
                            <a:srgbClr val="1F2937"/>
                          </a:solidFill>
                        </a:rPr>
                        <a:t>Yordamga muhtojga yordam ko‘rsatmaslik</a:t>
                      </a:r>
                    </a:p>
                  </a:txBody>
                  <a:tcPr marL="73152" marR="73152" marT="36576" marB="36576">
                    <a:solidFill>
                      <a:srgbClr val="E8EEF6"/>
                    </a:solidFill>
                  </a:tcPr>
                </a:tc>
                <a:tc>
                  <a:txBody>
                    <a:bodyPr/>
                    <a:lstStyle/>
                    <a:p>
                      <a:r>
                        <a:rPr sz="1200" b="0">
                          <a:solidFill>
                            <a:srgbClr val="1F2937"/>
                          </a:solidFill>
                        </a:rPr>
                        <a:t>Ko‘pincha yuridik, axloqan ham qoralanadi</a:t>
                      </a:r>
                    </a:p>
                  </a:txBody>
                  <a:tcPr marL="73152" marR="73152" marT="36576" marB="36576">
                    <a:solidFill>
                      <a:srgbClr val="E8EEF6"/>
                    </a:solidFill>
                  </a:tcPr>
                </a:tc>
              </a:tr>
              <a:tr h="411480">
                <a:tc>
                  <a:txBody>
                    <a:bodyPr/>
                    <a:lstStyle/>
                    <a:p>
                      <a:r>
                        <a:rPr sz="1200" b="0">
                          <a:solidFill>
                            <a:srgbClr val="1F2937"/>
                          </a:solidFill>
                        </a:rPr>
                        <a:t>Vijdonsizlik, yomon niyat</a:t>
                      </a:r>
                    </a:p>
                  </a:txBody>
                  <a:tcPr marL="73152" marR="73152" marT="36576" marB="36576">
                    <a:solidFill>
                      <a:srgbClr val="FFFFFF"/>
                    </a:solidFill>
                  </a:tcPr>
                </a:tc>
                <a:tc>
                  <a:txBody>
                    <a:bodyPr/>
                    <a:lstStyle/>
                    <a:p>
                      <a:r>
                        <a:rPr sz="1200" b="0">
                          <a:solidFill>
                            <a:srgbClr val="1F2937"/>
                          </a:solidFill>
                        </a:rPr>
                        <a:t>Mas’uliyatsizlik yoki noholislik oqibati</a:t>
                      </a:r>
                    </a:p>
                  </a:txBody>
                  <a:tcPr marL="73152" marR="73152" marT="36576" marB="36576">
                    <a:solidFill>
                      <a:srgbClr val="FFFFFF"/>
                    </a:solidFill>
                  </a:tcPr>
                </a:tc>
                <a:tc>
                  <a:txBody>
                    <a:bodyPr/>
                    <a:lstStyle/>
                    <a:p>
                      <a:r>
                        <a:rPr sz="1200" b="0">
                          <a:solidFill>
                            <a:srgbClr val="1F2937"/>
                          </a:solidFill>
                        </a:rPr>
                        <a:t>Axloqan qoralanadi; ko‘proq yuridik javobgarlik</a:t>
                      </a:r>
                    </a:p>
                  </a:txBody>
                  <a:tcPr marL="73152" marR="73152" marT="36576" marB="36576">
                    <a:solidFill>
                      <a:srgbClr val="FFFFFF"/>
                    </a:solidFill>
                  </a:tcPr>
                </a:tc>
              </a:tr>
              <a:tr h="411480">
                <a:tc>
                  <a:txBody>
                    <a:bodyPr/>
                    <a:lstStyle/>
                    <a:p>
                      <a:r>
                        <a:rPr sz="1200" b="0">
                          <a:solidFill>
                            <a:srgbClr val="1F2937"/>
                          </a:solidFill>
                        </a:rPr>
                        <a:t>Malakasizlik</a:t>
                      </a:r>
                    </a:p>
                  </a:txBody>
                  <a:tcPr marL="73152" marR="73152" marT="36576" marB="36576">
                    <a:solidFill>
                      <a:srgbClr val="E8EEF6"/>
                    </a:solidFill>
                  </a:tcPr>
                </a:tc>
                <a:tc>
                  <a:txBody>
                    <a:bodyPr/>
                    <a:lstStyle/>
                    <a:p>
                      <a:r>
                        <a:rPr sz="1200" b="0">
                          <a:solidFill>
                            <a:srgbClr val="1F2937"/>
                          </a:solidFill>
                        </a:rPr>
                        <a:t>Noto‘g‘ri, o‘ylanmagan yoki malakasiz ish</a:t>
                      </a:r>
                    </a:p>
                  </a:txBody>
                  <a:tcPr marL="73152" marR="73152" marT="36576" marB="36576">
                    <a:solidFill>
                      <a:srgbClr val="E8EEF6"/>
                    </a:solidFill>
                  </a:tcPr>
                </a:tc>
                <a:tc>
                  <a:txBody>
                    <a:bodyPr/>
                    <a:lstStyle/>
                    <a:p>
                      <a:r>
                        <a:rPr sz="1200" b="0">
                          <a:solidFill>
                            <a:srgbClr val="1F2937"/>
                          </a:solidFill>
                        </a:rPr>
                        <a:t>Axloqan qoralanadi; talab malakaga qarab ortadi</a:t>
                      </a:r>
                    </a:p>
                  </a:txBody>
                  <a:tcPr marL="73152" marR="73152" marT="36576" marB="36576">
                    <a:solidFill>
                      <a:srgbClr val="E8EEF6"/>
                    </a:solidFill>
                  </a:tcPr>
                </a:tc>
              </a:tr>
              <a:tr h="411480">
                <a:tc>
                  <a:txBody>
                    <a:bodyPr/>
                    <a:lstStyle/>
                    <a:p>
                      <a:r>
                        <a:rPr sz="1200" b="0">
                          <a:solidFill>
                            <a:srgbClr val="1F2937"/>
                          </a:solidFill>
                        </a:rPr>
                        <a:t>Ob’ektiv zarur zarar</a:t>
                      </a:r>
                    </a:p>
                  </a:txBody>
                  <a:tcPr marL="73152" marR="73152" marT="36576" marB="36576">
                    <a:solidFill>
                      <a:srgbClr val="FFFFFF"/>
                    </a:solidFill>
                  </a:tcPr>
                </a:tc>
                <a:tc>
                  <a:txBody>
                    <a:bodyPr/>
                    <a:lstStyle/>
                    <a:p>
                      <a:r>
                        <a:rPr sz="1200" b="0">
                          <a:solidFill>
                            <a:srgbClr val="1F2937"/>
                          </a:solidFill>
                        </a:rPr>
                        <a:t>Davolash uchun muqarrar: og‘riq, cheklov</a:t>
                      </a:r>
                    </a:p>
                  </a:txBody>
                  <a:tcPr marL="73152" marR="73152" marT="36576" marB="36576">
                    <a:solidFill>
                      <a:srgbClr val="FFFFFF"/>
                    </a:solidFill>
                  </a:tcPr>
                </a:tc>
                <a:tc>
                  <a:txBody>
                    <a:bodyPr/>
                    <a:lstStyle/>
                    <a:p>
                      <a:r>
                        <a:rPr sz="1200" b="0">
                          <a:solidFill>
                            <a:srgbClr val="1F2937"/>
                          </a:solidFill>
                        </a:rPr>
                        <a:t>Minimal va zarur darajada joiz</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Zararning to‘rt shakli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Zarar uchun javobgarlik: deontologik va utilitaristik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Navbatchi shifokor kerakli harakatni bajarmasa, ikki xil javobgarlikka tortiladi.</a:t>
            </a:r>
          </a:p>
          <a:p>
            <a:pPr>
              <a:spcAft>
                <a:spcPts val="800"/>
              </a:spcAft>
            </a:pPr>
            <a:r>
              <a:rPr sz="1800">
                <a:solidFill>
                  <a:srgbClr val="1F2937"/>
                </a:solidFill>
                <a:latin typeface="Calibri"/>
              </a:rPr>
              <a:t>▸  Majburiyatni bajarmaganlik uchun javobgarlik deontologik, oqibat uchun javobgarlik utilitaristik xususiyatga ega.</a:t>
            </a:r>
          </a:p>
          <a:p>
            <a:pPr>
              <a:spcAft>
                <a:spcPts val="800"/>
              </a:spcAft>
            </a:pPr>
            <a:r>
              <a:rPr sz="1800">
                <a:solidFill>
                  <a:srgbClr val="1F2937"/>
                </a:solidFill>
                <a:latin typeface="Calibri"/>
              </a:rPr>
              <a:t>▸  Birinchisi muqarrar; ikkinchisi yengillashishi mumkin, masalan, og‘irroq bemorga vaqt ketgan bo‘lsa.</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2003864"/>
                <a:gridCol w="1502898"/>
                <a:gridCol w="1781212"/>
              </a:tblGrid>
              <a:tr h="411480">
                <a:tc>
                  <a:txBody>
                    <a:bodyPr/>
                    <a:lstStyle/>
                    <a:p>
                      <a:r>
                        <a:rPr sz="1300" b="1">
                          <a:solidFill>
                            <a:srgbClr val="FFFFFF"/>
                          </a:solidFill>
                        </a:rPr>
                        <a:t>Holat</a:t>
                      </a:r>
                    </a:p>
                  </a:txBody>
                  <a:tcPr marL="73152" marR="73152" marT="36576" marB="36576">
                    <a:solidFill>
                      <a:srgbClr val="0B1F3A"/>
                    </a:solidFill>
                  </a:tcPr>
                </a:tc>
                <a:tc>
                  <a:txBody>
                    <a:bodyPr/>
                    <a:lstStyle/>
                    <a:p>
                      <a:r>
                        <a:rPr sz="1300" b="1">
                          <a:solidFill>
                            <a:srgbClr val="FFFFFF"/>
                          </a:solidFill>
                        </a:rPr>
                        <a:t>Huquqiy baho</a:t>
                      </a:r>
                    </a:p>
                  </a:txBody>
                  <a:tcPr marL="73152" marR="73152" marT="36576" marB="36576">
                    <a:solidFill>
                      <a:srgbClr val="0B1F3A"/>
                    </a:solidFill>
                  </a:tcPr>
                </a:tc>
                <a:tc>
                  <a:txBody>
                    <a:bodyPr/>
                    <a:lstStyle/>
                    <a:p>
                      <a:r>
                        <a:rPr sz="1300" b="1">
                          <a:solidFill>
                            <a:srgbClr val="FFFFFF"/>
                          </a:solidFill>
                        </a:rPr>
                        <a:t>Axloqiy baho</a:t>
                      </a:r>
                    </a:p>
                  </a:txBody>
                  <a:tcPr marL="73152" marR="73152" marT="36576" marB="36576">
                    <a:solidFill>
                      <a:srgbClr val="0B1F3A"/>
                    </a:solidFill>
                  </a:tcPr>
                </a:tc>
              </a:tr>
              <a:tr h="411480">
                <a:tc>
                  <a:txBody>
                    <a:bodyPr/>
                    <a:lstStyle/>
                    <a:p>
                      <a:r>
                        <a:rPr sz="1200" b="0">
                          <a:solidFill>
                            <a:srgbClr val="1F2937"/>
                          </a:solidFill>
                        </a:rPr>
                        <a:t>Navbatchilikda yordam bermaslik</a:t>
                      </a:r>
                    </a:p>
                  </a:txBody>
                  <a:tcPr marL="73152" marR="73152" marT="36576" marB="36576">
                    <a:solidFill>
                      <a:srgbClr val="E8EEF6"/>
                    </a:solidFill>
                  </a:tcPr>
                </a:tc>
                <a:tc>
                  <a:txBody>
                    <a:bodyPr/>
                    <a:lstStyle/>
                    <a:p>
                      <a:r>
                        <a:rPr sz="1200" b="0">
                          <a:solidFill>
                            <a:srgbClr val="1F2937"/>
                          </a:solidFill>
                        </a:rPr>
                        <a:t>Huquqbuzarlik; da’vo mumkin</a:t>
                      </a:r>
                    </a:p>
                  </a:txBody>
                  <a:tcPr marL="73152" marR="73152" marT="36576" marB="36576">
                    <a:solidFill>
                      <a:srgbClr val="E8EEF6"/>
                    </a:solidFill>
                  </a:tcPr>
                </a:tc>
                <a:tc>
                  <a:txBody>
                    <a:bodyPr/>
                    <a:lstStyle/>
                    <a:p>
                      <a:r>
                        <a:rPr sz="1200" b="0">
                          <a:solidFill>
                            <a:srgbClr val="1F2937"/>
                          </a:solidFill>
                        </a:rPr>
                        <a:t>Birinchi navbatda yuridik masala</a:t>
                      </a:r>
                    </a:p>
                  </a:txBody>
                  <a:tcPr marL="73152" marR="73152" marT="36576" marB="36576">
                    <a:solidFill>
                      <a:srgbClr val="E8EEF6"/>
                    </a:solidFill>
                  </a:tcPr>
                </a:tc>
              </a:tr>
              <a:tr h="411480">
                <a:tc>
                  <a:txBody>
                    <a:bodyPr/>
                    <a:lstStyle/>
                    <a:p>
                      <a:r>
                        <a:rPr sz="1200" b="0">
                          <a:solidFill>
                            <a:srgbClr val="1F2937"/>
                          </a:solidFill>
                        </a:rPr>
                        <a:t>Xizmatdan tashqari, yordam bermaslik</a:t>
                      </a:r>
                    </a:p>
                  </a:txBody>
                  <a:tcPr marL="73152" marR="73152" marT="36576" marB="36576">
                    <a:solidFill>
                      <a:srgbClr val="FFFFFF"/>
                    </a:solidFill>
                  </a:tcPr>
                </a:tc>
                <a:tc>
                  <a:txBody>
                    <a:bodyPr/>
                    <a:lstStyle/>
                    <a:p>
                      <a:r>
                        <a:rPr sz="1200" b="0">
                          <a:solidFill>
                            <a:srgbClr val="1F2937"/>
                          </a:solidFill>
                        </a:rPr>
                        <a:t>Javobgarlikka tortish qiyin</a:t>
                      </a:r>
                    </a:p>
                  </a:txBody>
                  <a:tcPr marL="73152" marR="73152" marT="36576" marB="36576">
                    <a:solidFill>
                      <a:srgbClr val="FFFFFF"/>
                    </a:solidFill>
                  </a:tcPr>
                </a:tc>
                <a:tc>
                  <a:txBody>
                    <a:bodyPr/>
                    <a:lstStyle/>
                    <a:p>
                      <a:r>
                        <a:rPr sz="1200" b="0">
                          <a:solidFill>
                            <a:srgbClr val="1F2937"/>
                          </a:solidFill>
                        </a:rPr>
                        <a:t>Axloqan qoralanadi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Huquqiy va axloqiy baho</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 (bet ko‘rsatilmagan)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Ob’ektiv zarur zarar: bemor nuqtai nazari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Shifokorga har bir murojaat ma’lum darajada zarar ehtimolini o‘z ichiga oladi.</a:t>
            </a:r>
          </a:p>
          <a:p>
            <a:pPr>
              <a:spcAft>
                <a:spcPts val="800"/>
              </a:spcAft>
            </a:pPr>
            <a:r>
              <a:rPr sz="1800">
                <a:solidFill>
                  <a:srgbClr val="1F2937"/>
                </a:solidFill>
                <a:latin typeface="Calibri"/>
              </a:rPr>
              <a:t>▸  Shifokor faqat muqarrar va imkon qadar eng kam zararni yetkazishga haqli.</a:t>
            </a:r>
          </a:p>
          <a:p>
            <a:pPr>
              <a:spcAft>
                <a:spcPts val="800"/>
              </a:spcAft>
            </a:pPr>
            <a:r>
              <a:rPr sz="1800">
                <a:solidFill>
                  <a:srgbClr val="1F2937"/>
                </a:solidFill>
                <a:latin typeface="Calibri"/>
              </a:rPr>
              <a:t>▸  Diqqat: «zarar yetkazma» aralashmaslik degani emas; axloqiy tanlov kundalik ishning bir qismi.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366555"/>
                <a:gridCol w="2376617"/>
                <a:gridCol w="1544801"/>
              </a:tblGrid>
              <a:tr h="411480">
                <a:tc>
                  <a:txBody>
                    <a:bodyPr/>
                    <a:lstStyle/>
                    <a:p>
                      <a:r>
                        <a:rPr sz="1300" b="1">
                          <a:solidFill>
                            <a:srgbClr val="FFFFFF"/>
                          </a:solidFill>
                        </a:rPr>
                        <a:t>Zarar turi</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Tavsifi</a:t>
                      </a:r>
                    </a:p>
                  </a:txBody>
                  <a:tcPr marL="73152" marR="73152" marT="36576" marB="36576">
                    <a:solidFill>
                      <a:srgbClr val="0B1F3A"/>
                    </a:solidFill>
                  </a:tcPr>
                </a:tc>
              </a:tr>
              <a:tr h="411480">
                <a:tc>
                  <a:txBody>
                    <a:bodyPr/>
                    <a:lstStyle/>
                    <a:p>
                      <a:r>
                        <a:rPr sz="1200" b="0">
                          <a:solidFill>
                            <a:srgbClr val="1F2937"/>
                          </a:solidFill>
                        </a:rPr>
                        <a:t>Vaqt va rejim</a:t>
                      </a:r>
                    </a:p>
                  </a:txBody>
                  <a:tcPr marL="73152" marR="73152" marT="36576" marB="36576">
                    <a:solidFill>
                      <a:srgbClr val="E8EEF6"/>
                    </a:solidFill>
                  </a:tcPr>
                </a:tc>
                <a:tc>
                  <a:txBody>
                    <a:bodyPr/>
                    <a:lstStyle/>
                    <a:p>
                      <a:r>
                        <a:rPr sz="1200" b="0">
                          <a:solidFill>
                            <a:srgbClr val="1F2937"/>
                          </a:solidFill>
                        </a:rPr>
                        <a:t>Vaqt sarfi, erkinlikning cheklanishi</a:t>
                      </a:r>
                    </a:p>
                  </a:txBody>
                  <a:tcPr marL="73152" marR="73152" marT="36576" marB="36576">
                    <a:solidFill>
                      <a:srgbClr val="E8EEF6"/>
                    </a:solidFill>
                  </a:tcPr>
                </a:tc>
                <a:tc>
                  <a:txBody>
                    <a:bodyPr/>
                    <a:lstStyle/>
                    <a:p>
                      <a:r>
                        <a:rPr sz="1200" b="0">
                          <a:solidFill>
                            <a:srgbClr val="1F2937"/>
                          </a:solidFill>
                        </a:rPr>
                        <a:t>Kasalxonada ayniqsa jiddiy</a:t>
                      </a:r>
                    </a:p>
                  </a:txBody>
                  <a:tcPr marL="73152" marR="73152" marT="36576" marB="36576">
                    <a:solidFill>
                      <a:srgbClr val="E8EEF6"/>
                    </a:solidFill>
                  </a:tcPr>
                </a:tc>
              </a:tr>
              <a:tr h="411480">
                <a:tc>
                  <a:txBody>
                    <a:bodyPr/>
                    <a:lstStyle/>
                    <a:p>
                      <a:r>
                        <a:rPr sz="1200" b="0">
                          <a:solidFill>
                            <a:srgbClr val="1F2937"/>
                          </a:solidFill>
                        </a:rPr>
                        <a:t>Ma’lumot berish</a:t>
                      </a:r>
                    </a:p>
                  </a:txBody>
                  <a:tcPr marL="73152" marR="73152" marT="36576" marB="36576">
                    <a:solidFill>
                      <a:srgbClr val="FFFFFF"/>
                    </a:solidFill>
                  </a:tcPr>
                </a:tc>
                <a:tc>
                  <a:txBody>
                    <a:bodyPr/>
                    <a:lstStyle/>
                    <a:p>
                      <a:r>
                        <a:rPr sz="1200" b="0">
                          <a:solidFill>
                            <a:srgbClr val="1F2937"/>
                          </a:solidFill>
                        </a:rPr>
                        <a:t>Yashirish, aldash yoki qo‘rqituvchi haqiqat</a:t>
                      </a:r>
                    </a:p>
                  </a:txBody>
                  <a:tcPr marL="73152" marR="73152" marT="36576" marB="36576">
                    <a:solidFill>
                      <a:srgbClr val="FFFFFF"/>
                    </a:solidFill>
                  </a:tcPr>
                </a:tc>
                <a:tc>
                  <a:txBody>
                    <a:bodyPr/>
                    <a:lstStyle/>
                    <a:p>
                      <a:r>
                        <a:rPr sz="1200" b="0">
                          <a:solidFill>
                            <a:srgbClr val="1F2937"/>
                          </a:solidFill>
                        </a:rPr>
                        <a:t>Ma’naviy zarar</a:t>
                      </a:r>
                    </a:p>
                  </a:txBody>
                  <a:tcPr marL="73152" marR="73152" marT="36576" marB="36576">
                    <a:solidFill>
                      <a:srgbClr val="FFFFFF"/>
                    </a:solidFill>
                  </a:tcPr>
                </a:tc>
              </a:tr>
              <a:tr h="411480">
                <a:tc>
                  <a:txBody>
                    <a:bodyPr/>
                    <a:lstStyle/>
                    <a:p>
                      <a:r>
                        <a:rPr sz="1200" b="0">
                          <a:solidFill>
                            <a:srgbClr val="1F2937"/>
                          </a:solidFill>
                        </a:rPr>
                        <a:t>Sirning oshkor bo‘lishi</a:t>
                      </a:r>
                    </a:p>
                  </a:txBody>
                  <a:tcPr marL="73152" marR="73152" marT="36576" marB="36576">
                    <a:solidFill>
                      <a:srgbClr val="E8EEF6"/>
                    </a:solidFill>
                  </a:tcPr>
                </a:tc>
                <a:tc>
                  <a:txBody>
                    <a:bodyPr/>
                    <a:lstStyle/>
                    <a:p>
                      <a:r>
                        <a:rPr sz="1200" b="0">
                          <a:solidFill>
                            <a:srgbClr val="1F2937"/>
                          </a:solidFill>
                        </a:rPr>
                        <a:t>Qonun talab qilsa ham bemorga zarar tegadi</a:t>
                      </a:r>
                    </a:p>
                  </a:txBody>
                  <a:tcPr marL="73152" marR="73152" marT="36576" marB="36576">
                    <a:solidFill>
                      <a:srgbClr val="E8EEF6"/>
                    </a:solidFill>
                  </a:tcPr>
                </a:tc>
                <a:tc>
                  <a:txBody>
                    <a:bodyPr/>
                    <a:lstStyle/>
                    <a:p>
                      <a:r>
                        <a:rPr sz="1200" b="0">
                          <a:solidFill>
                            <a:srgbClr val="1F2937"/>
                          </a:solidFill>
                        </a:rPr>
                        <a:t>Ma’naviy zarar</a:t>
                      </a:r>
                    </a:p>
                  </a:txBody>
                  <a:tcPr marL="73152" marR="73152" marT="36576" marB="36576">
                    <a:solidFill>
                      <a:srgbClr val="E8EEF6"/>
                    </a:solidFill>
                  </a:tcPr>
                </a:tc>
              </a:tr>
              <a:tr h="411480">
                <a:tc>
                  <a:txBody>
                    <a:bodyPr/>
                    <a:lstStyle/>
                    <a:p>
                      <a:r>
                        <a:rPr sz="1200" b="0">
                          <a:solidFill>
                            <a:srgbClr val="1F2937"/>
                          </a:solidFill>
                        </a:rPr>
                        <a:t>Muolaja</a:t>
                      </a:r>
                    </a:p>
                  </a:txBody>
                  <a:tcPr marL="73152" marR="73152" marT="36576" marB="36576">
                    <a:solidFill>
                      <a:srgbClr val="FFFFFF"/>
                    </a:solidFill>
                  </a:tcPr>
                </a:tc>
                <a:tc>
                  <a:txBody>
                    <a:bodyPr/>
                    <a:lstStyle/>
                    <a:p>
                      <a:r>
                        <a:rPr sz="1200" b="0">
                          <a:solidFill>
                            <a:srgbClr val="1F2937"/>
                          </a:solidFill>
                        </a:rPr>
                        <a:t>Og‘riq, shikast, nogironlik xavfi</a:t>
                      </a:r>
                    </a:p>
                  </a:txBody>
                  <a:tcPr marL="73152" marR="73152" marT="36576" marB="36576">
                    <a:solidFill>
                      <a:srgbClr val="FFFFFF"/>
                    </a:solidFill>
                  </a:tcPr>
                </a:tc>
                <a:tc>
                  <a:txBody>
                    <a:bodyPr/>
                    <a:lstStyle/>
                    <a:p>
                      <a:r>
                        <a:rPr sz="1200" b="0">
                          <a:solidFill>
                            <a:srgbClr val="1F2937"/>
                          </a:solidFill>
                        </a:rPr>
                        <a:t>Jismoniy zarar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Bemorga tegadigan zarar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 (bet ko‘rsatilmagan)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Qasddan va beixtiyor zarar (yatrogen)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Qasddan zarar oldindan ko‘rilishi va hajmi baholanishi mumkin.</a:t>
            </a:r>
          </a:p>
          <a:p>
            <a:pPr>
              <a:spcAft>
                <a:spcPts val="800"/>
              </a:spcAft>
            </a:pPr>
            <a:r>
              <a:rPr sz="1800">
                <a:solidFill>
                  <a:srgbClr val="1F2937"/>
                </a:solidFill>
                <a:latin typeface="Calibri"/>
              </a:rPr>
              <a:t>▸  Odamlar, shu jumladan shifokorlar, ko‘pincha o‘z harakatlari bilan beixtiyor zarar yetkazadi.</a:t>
            </a:r>
          </a:p>
          <a:p>
            <a:pPr>
              <a:spcAft>
                <a:spcPts val="800"/>
              </a:spcAft>
            </a:pPr>
            <a:r>
              <a:rPr sz="1800">
                <a:solidFill>
                  <a:srgbClr val="1F2937"/>
                </a:solidFill>
                <a:latin typeface="Calibri"/>
              </a:rPr>
              <a:t>▸  Manbada «yatrogen kasallik» atamasi yo‘q; uni beixtiyor zarar bilan bog‘lash taxminiy. (?)</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596369"/>
                <a:gridCol w="3691605"/>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Qaysi holatlarda</a:t>
                      </a:r>
                    </a:p>
                  </a:txBody>
                  <a:tcPr marL="73152" marR="73152" marT="36576" marB="36576">
                    <a:solidFill>
                      <a:srgbClr val="0B1F3A"/>
                    </a:solidFill>
                  </a:tcPr>
                </a:tc>
              </a:tr>
              <a:tr h="411480">
                <a:tc>
                  <a:txBody>
                    <a:bodyPr/>
                    <a:lstStyle/>
                    <a:p>
                      <a:r>
                        <a:rPr sz="1300" b="0">
                          <a:solidFill>
                            <a:srgbClr val="1F2937"/>
                          </a:solidFill>
                        </a:rPr>
                        <a:t>Qasddan (atayin)</a:t>
                      </a:r>
                    </a:p>
                  </a:txBody>
                  <a:tcPr marL="73152" marR="73152" marT="36576" marB="36576">
                    <a:solidFill>
                      <a:srgbClr val="E8EEF6"/>
                    </a:solidFill>
                  </a:tcPr>
                </a:tc>
                <a:tc>
                  <a:txBody>
                    <a:bodyPr/>
                    <a:lstStyle/>
                    <a:p>
                      <a:r>
                        <a:rPr sz="1300" b="0">
                          <a:solidFill>
                            <a:srgbClr val="1F2937"/>
                          </a:solidFill>
                        </a:rPr>
                        <a:t>Harakatsizlik, qasd, muqarrar zarar</a:t>
                      </a:r>
                    </a:p>
                  </a:txBody>
                  <a:tcPr marL="73152" marR="73152" marT="36576" marB="36576">
                    <a:solidFill>
                      <a:srgbClr val="E8EEF6"/>
                    </a:solidFill>
                  </a:tcPr>
                </a:tc>
              </a:tr>
              <a:tr h="411480">
                <a:tc>
                  <a:txBody>
                    <a:bodyPr/>
                    <a:lstStyle/>
                    <a:p>
                      <a:r>
                        <a:rPr sz="1300" b="0">
                          <a:solidFill>
                            <a:srgbClr val="1F2937"/>
                          </a:solidFill>
                        </a:rPr>
                        <a:t>Beixtiyor (1)</a:t>
                      </a:r>
                    </a:p>
                  </a:txBody>
                  <a:tcPr marL="73152" marR="73152" marT="36576" marB="36576">
                    <a:solidFill>
                      <a:srgbClr val="FFFFFF"/>
                    </a:solidFill>
                  </a:tcPr>
                </a:tc>
                <a:tc>
                  <a:txBody>
                    <a:bodyPr/>
                    <a:lstStyle/>
                    <a:p>
                      <a:r>
                        <a:rPr sz="1300" b="0">
                          <a:solidFill>
                            <a:srgbClr val="1F2937"/>
                          </a:solidFill>
                        </a:rPr>
                        <a:t>Oqibatlarni o‘ylashni istamaslik</a:t>
                      </a:r>
                    </a:p>
                  </a:txBody>
                  <a:tcPr marL="73152" marR="73152" marT="36576" marB="36576">
                    <a:solidFill>
                      <a:srgbClr val="FFFFFF"/>
                    </a:solidFill>
                  </a:tcPr>
                </a:tc>
              </a:tr>
              <a:tr h="411480">
                <a:tc>
                  <a:txBody>
                    <a:bodyPr/>
                    <a:lstStyle/>
                    <a:p>
                      <a:r>
                        <a:rPr sz="1300" b="0">
                          <a:solidFill>
                            <a:srgbClr val="1F2937"/>
                          </a:solidFill>
                        </a:rPr>
                        <a:t>Beixtiyor (2)</a:t>
                      </a:r>
                    </a:p>
                  </a:txBody>
                  <a:tcPr marL="73152" marR="73152" marT="36576" marB="36576">
                    <a:solidFill>
                      <a:srgbClr val="E8EEF6"/>
                    </a:solidFill>
                  </a:tcPr>
                </a:tc>
                <a:tc>
                  <a:txBody>
                    <a:bodyPr/>
                    <a:lstStyle/>
                    <a:p>
                      <a:r>
                        <a:rPr sz="1300" b="0">
                          <a:solidFill>
                            <a:srgbClr val="1F2937"/>
                          </a:solidFill>
                        </a:rPr>
                        <a:t>Nazorat qilib bo‘lmas tashqi holatlar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Zarar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 (bet ko‘rsatilmagan)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zarar va javobgarlik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Poyezd yoki samolyotda favqulodda holat yuz beradi. Ekipaj «orangizda vrach bormi?» deb so‘raydi, yo‘lovchi-vrach esa yordam berishdan o‘zini tiyishi mumkin.</a:t>
            </a:r>
          </a:p>
          <a:p>
            <a:pPr>
              <a:spcAft>
                <a:spcPts val="1200"/>
              </a:spcAft>
            </a:pPr>
            <a:r>
              <a:rPr sz="2200">
                <a:solidFill>
                  <a:srgbClr val="1F2937"/>
                </a:solidFill>
                <a:latin typeface="Calibri"/>
              </a:rPr>
              <a:t>▸  Bunday holda vrachni jinoiy javobgarlikka tortish juda qiyin. AQSh qonunlariga ko‘ra, xususiy amaliyot bilan shug‘ullanuvchi vrach umuman javobgar bo‘lmaydi.</a:t>
            </a:r>
          </a:p>
          <a:p>
            <a:pPr>
              <a:spcAft>
                <a:spcPts val="1200"/>
              </a:spcAft>
            </a:pPr>
            <a:r>
              <a:rPr sz="2200">
                <a:solidFill>
                  <a:srgbClr val="1F2937"/>
                </a:solidFill>
                <a:latin typeface="Calibri"/>
              </a:rPr>
              <a:t>▸  Axloqiy jihatdan esa bunday harakatsizlik qoralanadi. AQSh vrachlar kasaba uyushmasi uni tibbiy amaliyot litsenziyasidan mahrum qilishi mumkin.</a:t>
            </a:r>
          </a:p>
          <a:p>
            <a:pPr>
              <a:spcAft>
                <a:spcPts val="1200"/>
              </a:spcAft>
            </a:pPr>
            <a:r>
              <a:rPr sz="2200">
                <a:solidFill>
                  <a:srgbClr val="1F2937"/>
                </a:solidFill>
                <a:latin typeface="Calibri"/>
              </a:rPr>
              <a:t>▸  Taqqoslang: navbatchi vrach majburiyatini bajarmasa, ham majburiyat, ham oqibat uchun javob beradi. Savol: sizningcha, bu farq adolatlimi?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«Yaxshilik qil» tamoyili va uning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«Zarar yetkazma» — taqiq. «Yaxshilik qil» esa faol ijobiy harakat talab qiladi.</a:t>
            </a:r>
          </a:p>
          <a:p>
            <a:pPr>
              <a:spcAft>
                <a:spcPts val="800"/>
              </a:spcAft>
            </a:pPr>
            <a:r>
              <a:rPr sz="1800">
                <a:solidFill>
                  <a:srgbClr val="1F2937"/>
                </a:solidFill>
                <a:latin typeface="Calibri"/>
              </a:rPr>
              <a:t>▸  Ikkala buyrakni berish kabi fidoyilik talab qilinmaydi; tamoyil ko‘proq axloqiy ideal sanaladi.</a:t>
            </a:r>
          </a:p>
          <a:p>
            <a:pPr>
              <a:spcAft>
                <a:spcPts val="800"/>
              </a:spcAft>
            </a:pPr>
            <a:r>
              <a:rPr sz="1800">
                <a:solidFill>
                  <a:srgbClr val="1F2937"/>
                </a:solidFill>
                <a:latin typeface="Calibri"/>
              </a:rPr>
              <a:t>▸  Diqqat: ikki tamoyil bir xil emas — ularni alohida ko‘rib chiqish asosli.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19368"/>
                <a:gridCol w="2102447"/>
                <a:gridCol w="2166158"/>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Zarar yetkazma</a:t>
                      </a:r>
                    </a:p>
                  </a:txBody>
                  <a:tcPr marL="73152" marR="73152" marT="36576" marB="36576">
                    <a:solidFill>
                      <a:srgbClr val="0B1F3A"/>
                    </a:solidFill>
                  </a:tcPr>
                </a:tc>
                <a:tc>
                  <a:txBody>
                    <a:bodyPr/>
                    <a:lstStyle/>
                    <a:p>
                      <a:r>
                        <a:rPr sz="1300" b="1">
                          <a:solidFill>
                            <a:srgbClr val="FFFFFF"/>
                          </a:solidFill>
                        </a:rPr>
                        <a:t>Yaxshilik qil</a:t>
                      </a:r>
                    </a:p>
                  </a:txBody>
                  <a:tcPr marL="73152" marR="73152" marT="36576" marB="36576">
                    <a:solidFill>
                      <a:srgbClr val="0B1F3A"/>
                    </a:solidFill>
                  </a:tcPr>
                </a:tc>
              </a:tr>
              <a:tr h="411480">
                <a:tc>
                  <a:txBody>
                    <a:bodyPr/>
                    <a:lstStyle/>
                    <a:p>
                      <a:r>
                        <a:rPr sz="1200" b="0">
                          <a:solidFill>
                            <a:srgbClr val="1F2937"/>
                          </a:solidFill>
                        </a:rPr>
                        <a:t>Xarakteri</a:t>
                      </a:r>
                    </a:p>
                  </a:txBody>
                  <a:tcPr marL="73152" marR="73152" marT="36576" marB="36576">
                    <a:solidFill>
                      <a:srgbClr val="E8EEF6"/>
                    </a:solidFill>
                  </a:tcPr>
                </a:tc>
                <a:tc>
                  <a:txBody>
                    <a:bodyPr/>
                    <a:lstStyle/>
                    <a:p>
                      <a:r>
                        <a:rPr sz="1200" b="0">
                          <a:solidFill>
                            <a:srgbClr val="1F2937"/>
                          </a:solidFill>
                        </a:rPr>
                        <a:t>Taqiq: zarar qilishdan tiyilish</a:t>
                      </a:r>
                    </a:p>
                  </a:txBody>
                  <a:tcPr marL="73152" marR="73152" marT="36576" marB="36576">
                    <a:solidFill>
                      <a:srgbClr val="E8EEF6"/>
                    </a:solidFill>
                  </a:tcPr>
                </a:tc>
                <a:tc>
                  <a:txBody>
                    <a:bodyPr/>
                    <a:lstStyle/>
                    <a:p>
                      <a:r>
                        <a:rPr sz="1200" b="0">
                          <a:solidFill>
                            <a:srgbClr val="1F2937"/>
                          </a:solidFill>
                        </a:rPr>
                        <a:t>Ijobiy harakat talab qiladi</a:t>
                      </a:r>
                    </a:p>
                  </a:txBody>
                  <a:tcPr marL="73152" marR="73152" marT="36576" marB="36576">
                    <a:solidFill>
                      <a:srgbClr val="E8EEF6"/>
                    </a:solidFill>
                  </a:tcPr>
                </a:tc>
              </a:tr>
              <a:tr h="411480">
                <a:tc>
                  <a:txBody>
                    <a:bodyPr/>
                    <a:lstStyle/>
                    <a:p>
                      <a:r>
                        <a:rPr sz="1200" b="0">
                          <a:solidFill>
                            <a:srgbClr val="1F2937"/>
                          </a:solidFill>
                        </a:rPr>
                        <a:t>Qamrovi</a:t>
                      </a:r>
                    </a:p>
                  </a:txBody>
                  <a:tcPr marL="73152" marR="73152" marT="36576" marB="36576">
                    <a:solidFill>
                      <a:srgbClr val="FFFFFF"/>
                    </a:solidFill>
                  </a:tcPr>
                </a:tc>
                <a:tc>
                  <a:txBody>
                    <a:bodyPr/>
                    <a:lstStyle/>
                    <a:p>
                      <a:r>
                        <a:rPr sz="1200" b="0">
                          <a:solidFill>
                            <a:srgbClr val="1F2937"/>
                          </a:solidFill>
                        </a:rPr>
                        <a:t>Tibbiyotdan tashqarida ham tanish</a:t>
                      </a:r>
                    </a:p>
                  </a:txBody>
                  <a:tcPr marL="73152" marR="73152" marT="36576" marB="36576">
                    <a:solidFill>
                      <a:srgbClr val="FFFFFF"/>
                    </a:solidFill>
                  </a:tcPr>
                </a:tc>
                <a:tc>
                  <a:txBody>
                    <a:bodyPr/>
                    <a:lstStyle/>
                    <a:p>
                      <a:r>
                        <a:rPr sz="1200" b="0">
                          <a:solidFill>
                            <a:srgbClr val="1F2937"/>
                          </a:solidFill>
                        </a:rPr>
                        <a:t>Mehr-shafqat, xayriya, rahmdillik</a:t>
                      </a:r>
                    </a:p>
                  </a:txBody>
                  <a:tcPr marL="73152" marR="73152" marT="36576" marB="36576">
                    <a:solidFill>
                      <a:srgbClr val="FFFFFF"/>
                    </a:solidFill>
                  </a:tcPr>
                </a:tc>
              </a:tr>
              <a:tr h="411480">
                <a:tc>
                  <a:txBody>
                    <a:bodyPr/>
                    <a:lstStyle/>
                    <a:p>
                      <a:r>
                        <a:rPr sz="1200" b="0">
                          <a:solidFill>
                            <a:srgbClr val="1F2937"/>
                          </a:solidFill>
                        </a:rPr>
                        <a:t>Asosi</a:t>
                      </a:r>
                    </a:p>
                  </a:txBody>
                  <a:tcPr marL="73152" marR="73152" marT="36576" marB="36576">
                    <a:solidFill>
                      <a:srgbClr val="E8EEF6"/>
                    </a:solidFill>
                  </a:tcPr>
                </a:tc>
                <a:tc>
                  <a:txBody>
                    <a:bodyPr/>
                    <a:lstStyle/>
                    <a:p>
                      <a:r>
                        <a:rPr sz="1200" b="0">
                          <a:solidFill>
                            <a:srgbClr val="1F2937"/>
                          </a:solidFill>
                        </a:rPr>
                        <a:t>Minimal, asosiy talab sifatida</a:t>
                      </a:r>
                    </a:p>
                  </a:txBody>
                  <a:tcPr marL="73152" marR="73152" marT="36576" marB="36576">
                    <a:solidFill>
                      <a:srgbClr val="E8EEF6"/>
                    </a:solidFill>
                  </a:tcPr>
                </a:tc>
                <a:tc>
                  <a:txBody>
                    <a:bodyPr/>
                    <a:lstStyle/>
                    <a:p>
                      <a:r>
                        <a:rPr sz="1200" b="0">
                          <a:solidFill>
                            <a:srgbClr val="1F2937"/>
                          </a:solidFill>
                        </a:rPr>
                        <a:t>Hamdardlik, his-tuyg‘u</a:t>
                      </a:r>
                    </a:p>
                  </a:txBody>
                  <a:tcPr marL="73152" marR="73152" marT="36576" marB="36576">
                    <a:solidFill>
                      <a:srgbClr val="E8EEF6"/>
                    </a:solidFill>
                  </a:tcPr>
                </a:tc>
              </a:tr>
              <a:tr h="411480">
                <a:tc>
                  <a:txBody>
                    <a:bodyPr/>
                    <a:lstStyle/>
                    <a:p>
                      <a:r>
                        <a:rPr sz="1200" b="0">
                          <a:solidFill>
                            <a:srgbClr val="1F2937"/>
                          </a:solidFill>
                        </a:rPr>
                        <a:t>Burchmi?</a:t>
                      </a:r>
                    </a:p>
                  </a:txBody>
                  <a:tcPr marL="73152" marR="73152" marT="36576" marB="36576">
                    <a:solidFill>
                      <a:srgbClr val="FFFFFF"/>
                    </a:solidFill>
                  </a:tcPr>
                </a:tc>
                <a:tc>
                  <a:txBody>
                    <a:bodyPr/>
                    <a:lstStyle/>
                    <a:p>
                      <a:r>
                        <a:rPr sz="1200" b="0">
                          <a:solidFill>
                            <a:srgbClr val="1F2937"/>
                          </a:solidFill>
                        </a:rPr>
                        <a:t>Majburiy minimum</a:t>
                      </a:r>
                    </a:p>
                  </a:txBody>
                  <a:tcPr marL="73152" marR="73152" marT="36576" marB="36576">
                    <a:solidFill>
                      <a:srgbClr val="FFFFFF"/>
                    </a:solidFill>
                  </a:tcPr>
                </a:tc>
                <a:tc>
                  <a:txBody>
                    <a:bodyPr/>
                    <a:lstStyle/>
                    <a:p>
                      <a:r>
                        <a:rPr sz="1200" b="0">
                          <a:solidFill>
                            <a:srgbClr val="1F2937"/>
                          </a:solidFill>
                        </a:rPr>
                        <a:t>Ko‘pincha ideal, qat’iy burch emas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tamoyilni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xodimi va jamiyat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Sog‘liqni saqlash tizimi faqat zarar yetkazmaslik bilan cheklanmaydi: u barcha bemorlar va butun jamiyat manfaatini ta’minlashi kerak.</a:t>
            </a:r>
          </a:p>
          <a:p>
            <a:pPr>
              <a:spcAft>
                <a:spcPts val="1200"/>
              </a:spcAft>
            </a:pPr>
            <a:r>
              <a:rPr sz="2200">
                <a:solidFill>
                  <a:srgbClr val="1F2937"/>
                </a:solidFill>
                <a:latin typeface="Calibri"/>
              </a:rPr>
              <a:t>▸  Sariq bezgak va vabo profilaktikasi usullari topilgach, umummilliy dasturlar tabiiy sanaldi. Ularni amalga oshirmaslik axloqan mas’uliyatsizlik bo‘lardi.</a:t>
            </a:r>
          </a:p>
          <a:p>
            <a:pPr>
              <a:spcAft>
                <a:spcPts val="1200"/>
              </a:spcAft>
            </a:pPr>
            <a:r>
              <a:rPr sz="2200">
                <a:solidFill>
                  <a:srgbClr val="1F2937"/>
                </a:solidFill>
                <a:latin typeface="Calibri"/>
              </a:rPr>
              <a:t>▸  Ijtimoiy darajada resurslarni taqsimlash, tibbiyotdan foydalanish imkoniyati va adolat ko‘riladi. Jamiyat yordam olish huquqini ta’minlashi lozim.</a:t>
            </a:r>
          </a:p>
          <a:p>
            <a:pPr>
              <a:spcAft>
                <a:spcPts val="1200"/>
              </a:spcAft>
            </a:pPr>
            <a:r>
              <a:rPr sz="2200">
                <a:solidFill>
                  <a:srgbClr val="1F2937"/>
                </a:solidFill>
                <a:latin typeface="Calibri"/>
              </a:rPr>
              <a:t>▸  Adolat — bemorning soxtalik va favoritchilikdan xoli yordam olish huquqi. Amalda xodimning sovuqqonligi va layoqatsizligi fojialarga olib keladi.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Xodim–bemor munosabat qoidalari: majburiyatlar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Deontologiyada xodimning bemor, hamkasblar va yaqinlar oldidagi majburiyatlari asosiy o‘rinda turadi.</a:t>
            </a:r>
          </a:p>
          <a:p>
            <a:pPr>
              <a:spcAft>
                <a:spcPts val="800"/>
              </a:spcAft>
            </a:pPr>
            <a:r>
              <a:rPr sz="1800">
                <a:solidFill>
                  <a:srgbClr val="1F2937"/>
                </a:solidFill>
                <a:latin typeface="Calibri"/>
              </a:rPr>
              <a:t>▸  Malakali yordam, inson qadrini hurmat qilish, hamdardlik va shifokor sirini saqlash shart.</a:t>
            </a:r>
          </a:p>
          <a:p>
            <a:pPr>
              <a:spcAft>
                <a:spcPts val="800"/>
              </a:spcAft>
            </a:pPr>
            <a:r>
              <a:rPr sz="1800">
                <a:solidFill>
                  <a:srgbClr val="1F2937"/>
                </a:solidFill>
                <a:latin typeface="Calibri"/>
              </a:rPr>
              <a:t>▸  Hamkasbga vijdonan munosabat, bilimni oshirish; mahbuslar ustida tajriba o‘tkazmaslik.</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Malakali yordam</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Hurmat va hamdardlik</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Shifokor sirini saqlash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Zarar yetkazmaslik</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Bilimni oshirish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Xodim majburiyatlari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Tibbiyot xodimlarining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Kasbiy erkinlik — davolash kursini boshqa shaxslar aralashuvisiz belgilash huquqi.</a:t>
            </a:r>
          </a:p>
          <a:p>
            <a:pPr>
              <a:spcAft>
                <a:spcPts val="800"/>
              </a:spcAft>
            </a:pPr>
            <a:r>
              <a:rPr sz="1800">
                <a:solidFill>
                  <a:srgbClr val="1F2937"/>
                </a:solidFill>
                <a:latin typeface="Calibri"/>
              </a:rPr>
              <a:t>▸  Bu huquq bemorning o‘z sog‘lig‘i haqida axborot olish huquqi bilan cheklanadi.</a:t>
            </a:r>
          </a:p>
          <a:p>
            <a:pPr>
              <a:spcAft>
                <a:spcPts val="800"/>
              </a:spcAft>
            </a:pPr>
            <a:r>
              <a:rPr sz="1800">
                <a:solidFill>
                  <a:srgbClr val="1F2937"/>
                </a:solidFill>
                <a:latin typeface="Calibri"/>
              </a:rPr>
              <a:t>▸  Bioetika vujudga kelishining shartlaridan biri — xodimlar manfaatlarini ta’minlash uchun kurash.</a:t>
            </a:r>
          </a:p>
        </p:txBody>
      </p:sp>
      <p:graphicFrame>
        <p:nvGraphicFramePr>
          <p:cNvPr id="9" name="Table 8"/>
          <p:cNvGraphicFramePr>
            <a:graphicFrameLocks noGrp="1"/>
          </p:cNvGraphicFramePr>
          <p:nvPr/>
        </p:nvGraphicFramePr>
        <p:xfrm>
          <a:off x="6263640" y="1463040"/>
          <a:ext cx="5287974" cy="1234440"/>
        </p:xfrm>
        <a:graphic>
          <a:graphicData uri="http://schemas.openxmlformats.org/drawingml/2006/table">
            <a:tbl>
              <a:tblPr firstRow="1" bandRow="1">
                <a:tableStyleId>{5C22544A-7EE6-4342-B048-85BDC9FD1C3A}</a:tableStyleId>
              </a:tblPr>
              <a:tblGrid>
                <a:gridCol w="1025219"/>
                <a:gridCol w="2104398"/>
                <a:gridCol w="2158357"/>
              </a:tblGrid>
              <a:tr h="411480">
                <a:tc>
                  <a:txBody>
                    <a:bodyPr/>
                    <a:lstStyle/>
                    <a:p>
                      <a:r>
                        <a:rPr sz="1300" b="1">
                          <a:solidFill>
                            <a:srgbClr val="FFFFFF"/>
                          </a:solidFill>
                        </a:rPr>
                        <a:t>Huquq</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Chegarasi</a:t>
                      </a:r>
                    </a:p>
                  </a:txBody>
                  <a:tcPr marL="73152" marR="73152" marT="36576" marB="36576">
                    <a:solidFill>
                      <a:srgbClr val="0B1F3A"/>
                    </a:solidFill>
                  </a:tcPr>
                </a:tc>
              </a:tr>
              <a:tr h="411480">
                <a:tc>
                  <a:txBody>
                    <a:bodyPr/>
                    <a:lstStyle/>
                    <a:p>
                      <a:r>
                        <a:rPr sz="1200" b="0">
                          <a:solidFill>
                            <a:srgbClr val="1F2937"/>
                          </a:solidFill>
                        </a:rPr>
                        <a:t>Kasbiy erkinlik</a:t>
                      </a:r>
                    </a:p>
                  </a:txBody>
                  <a:tcPr marL="73152" marR="73152" marT="36576" marB="36576">
                    <a:solidFill>
                      <a:srgbClr val="E8EEF6"/>
                    </a:solidFill>
                  </a:tcPr>
                </a:tc>
                <a:tc>
                  <a:txBody>
                    <a:bodyPr/>
                    <a:lstStyle/>
                    <a:p>
                      <a:r>
                        <a:rPr sz="1200" b="0">
                          <a:solidFill>
                            <a:srgbClr val="1F2937"/>
                          </a:solidFill>
                        </a:rPr>
                        <a:t>Davolash kursini aralashuvsiz belgilash</a:t>
                      </a:r>
                    </a:p>
                  </a:txBody>
                  <a:tcPr marL="73152" marR="73152" marT="36576" marB="36576">
                    <a:solidFill>
                      <a:srgbClr val="E8EEF6"/>
                    </a:solidFill>
                  </a:tcPr>
                </a:tc>
                <a:tc>
                  <a:txBody>
                    <a:bodyPr/>
                    <a:lstStyle/>
                    <a:p>
                      <a:r>
                        <a:rPr sz="1200" b="0">
                          <a:solidFill>
                            <a:srgbClr val="1F2937"/>
                          </a:solidFill>
                        </a:rPr>
                        <a:t>Bemorning axborot olish huquqi</a:t>
                      </a:r>
                    </a:p>
                  </a:txBody>
                  <a:tcPr marL="73152" marR="73152" marT="36576" marB="36576">
                    <a:solidFill>
                      <a:srgbClr val="E8EEF6"/>
                    </a:solidFill>
                  </a:tcPr>
                </a:tc>
              </a:tr>
              <a:tr h="411480">
                <a:tc>
                  <a:txBody>
                    <a:bodyPr/>
                    <a:lstStyle/>
                    <a:p>
                      <a:r>
                        <a:rPr sz="1200" b="0">
                          <a:solidFill>
                            <a:srgbClr val="1F2937"/>
                          </a:solidFill>
                        </a:rPr>
                        <a:t>Manfaatlar himoyasi</a:t>
                      </a:r>
                    </a:p>
                  </a:txBody>
                  <a:tcPr marL="73152" marR="73152" marT="36576" marB="36576">
                    <a:solidFill>
                      <a:srgbClr val="FFFFFF"/>
                    </a:solidFill>
                  </a:tcPr>
                </a:tc>
                <a:tc>
                  <a:txBody>
                    <a:bodyPr/>
                    <a:lstStyle/>
                    <a:p>
                      <a:r>
                        <a:rPr sz="1200" b="0">
                          <a:solidFill>
                            <a:srgbClr val="1F2937"/>
                          </a:solidFill>
                        </a:rPr>
                        <a:t>Xodim manfaatlari ham ta’minlanadi</a:t>
                      </a:r>
                    </a:p>
                  </a:txBody>
                  <a:tcPr marL="73152" marR="73152" marT="36576" marB="36576">
                    <a:solidFill>
                      <a:srgbClr val="FFFFFF"/>
                    </a:solidFill>
                  </a:tcPr>
                </a:tc>
                <a:tc>
                  <a:txBody>
                    <a:bodyPr/>
                    <a:lstStyle/>
                    <a:p>
                      <a:r>
                        <a:rPr sz="1200" b="0">
                          <a:solidFill>
                            <a:srgbClr val="1F2937"/>
                          </a:solidFill>
                        </a:rPr>
                        <a:t>Sug‘urta tibbiyoti, qonun, axloq kodekslari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Xodim huquqi va uning chegarasi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Bemor huquqlari va xodimning chegaralari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80</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Bioetikada asosiy tamoyillar shifokor majburiyatida emas, bemor huquqlarini ta’riflashda ifodalanadi.</a:t>
            </a:r>
          </a:p>
          <a:p>
            <a:pPr>
              <a:spcAft>
                <a:spcPts val="800"/>
              </a:spcAft>
            </a:pPr>
            <a:r>
              <a:rPr sz="1800">
                <a:solidFill>
                  <a:srgbClr val="1F2937"/>
                </a:solidFill>
                <a:latin typeface="Calibri"/>
              </a:rPr>
              <a:t>▸  Beshinchi tamoyil — rahmdillik; xabardor rozilik esa bioetikaning bosh tamoyilidir.</a:t>
            </a:r>
          </a:p>
          <a:p>
            <a:pPr>
              <a:spcAft>
                <a:spcPts val="800"/>
              </a:spcAft>
            </a:pPr>
            <a:r>
              <a:rPr sz="1800">
                <a:solidFill>
                  <a:srgbClr val="1F2937"/>
                </a:solidFill>
                <a:latin typeface="Calibri"/>
              </a:rPr>
              <a:t>▸  Axloq va huquq xodimga majburiyat yuklab, bemorni himoyalab, ular o‘rtasidagi tengsizlikni bartaraf etadi.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46789"/>
                <a:gridCol w="2166158"/>
                <a:gridCol w="1975026"/>
              </a:tblGrid>
              <a:tr h="411480">
                <a:tc>
                  <a:txBody>
                    <a:bodyPr/>
                    <a:lstStyle/>
                    <a:p>
                      <a:r>
                        <a:rPr sz="1300" b="1">
                          <a:solidFill>
                            <a:srgbClr val="FFFFFF"/>
                          </a:solidFill>
                        </a:rPr>
                        <a:t>Huquq</a:t>
                      </a:r>
                    </a:p>
                  </a:txBody>
                  <a:tcPr marL="73152" marR="73152" marT="36576" marB="36576">
                    <a:solidFill>
                      <a:srgbClr val="0B1F3A"/>
                    </a:solidFill>
                  </a:tcPr>
                </a:tc>
                <a:tc>
                  <a:txBody>
                    <a:bodyPr/>
                    <a:lstStyle/>
                    <a:p>
                      <a:r>
                        <a:rPr sz="1300" b="1">
                          <a:solidFill>
                            <a:srgbClr val="FFFFFF"/>
                          </a:solidFill>
                        </a:rPr>
                        <a:t>Mazmuni</a:t>
                      </a:r>
                    </a:p>
                  </a:txBody>
                  <a:tcPr marL="73152" marR="73152" marT="36576" marB="36576">
                    <a:solidFill>
                      <a:srgbClr val="0B1F3A"/>
                    </a:solidFill>
                  </a:tcPr>
                </a:tc>
                <a:tc>
                  <a:txBody>
                    <a:bodyPr/>
                    <a:lstStyle/>
                    <a:p>
                      <a:r>
                        <a:rPr sz="1300" b="1">
                          <a:solidFill>
                            <a:srgbClr val="FFFFFF"/>
                          </a:solidFill>
                        </a:rPr>
                        <a:t>Xodimga ta’siri</a:t>
                      </a:r>
                    </a:p>
                  </a:txBody>
                  <a:tcPr marL="73152" marR="73152" marT="36576" marB="36576">
                    <a:solidFill>
                      <a:srgbClr val="0B1F3A"/>
                    </a:solidFill>
                  </a:tcPr>
                </a:tc>
              </a:tr>
              <a:tr h="411480">
                <a:tc>
                  <a:txBody>
                    <a:bodyPr/>
                    <a:lstStyle/>
                    <a:p>
                      <a:r>
                        <a:rPr sz="1200" b="0">
                          <a:solidFill>
                            <a:srgbClr val="1F2937"/>
                          </a:solidFill>
                        </a:rPr>
                        <a:t>Axborot</a:t>
                      </a:r>
                    </a:p>
                  </a:txBody>
                  <a:tcPr marL="73152" marR="73152" marT="36576" marB="36576">
                    <a:solidFill>
                      <a:srgbClr val="E8EEF6"/>
                    </a:solidFill>
                  </a:tcPr>
                </a:tc>
                <a:tc>
                  <a:txBody>
                    <a:bodyPr/>
                    <a:lstStyle/>
                    <a:p>
                      <a:r>
                        <a:rPr sz="1200" b="0">
                          <a:solidFill>
                            <a:srgbClr val="1F2937"/>
                          </a:solidFill>
                        </a:rPr>
                        <a:t>Yozma, tushunarli; xavf haqida ham</a:t>
                      </a:r>
                    </a:p>
                  </a:txBody>
                  <a:tcPr marL="73152" marR="73152" marT="36576" marB="36576">
                    <a:solidFill>
                      <a:srgbClr val="E8EEF6"/>
                    </a:solidFill>
                  </a:tcPr>
                </a:tc>
                <a:tc>
                  <a:txBody>
                    <a:bodyPr/>
                    <a:lstStyle/>
                    <a:p>
                      <a:r>
                        <a:rPr sz="1200" b="0">
                          <a:solidFill>
                            <a:srgbClr val="1F2937"/>
                          </a:solidFill>
                        </a:rPr>
                        <a:t>Bemor xabardor bo‘lishi shart</a:t>
                      </a:r>
                    </a:p>
                  </a:txBody>
                  <a:tcPr marL="73152" marR="73152" marT="36576" marB="36576">
                    <a:solidFill>
                      <a:srgbClr val="E8EEF6"/>
                    </a:solidFill>
                  </a:tcPr>
                </a:tc>
              </a:tr>
              <a:tr h="411480">
                <a:tc>
                  <a:txBody>
                    <a:bodyPr/>
                    <a:lstStyle/>
                    <a:p>
                      <a:r>
                        <a:rPr sz="1200" b="0">
                          <a:solidFill>
                            <a:srgbClr val="1F2937"/>
                          </a:solidFill>
                        </a:rPr>
                        <a:t>Qaror qabul qilish</a:t>
                      </a:r>
                    </a:p>
                  </a:txBody>
                  <a:tcPr marL="73152" marR="73152" marT="36576" marB="36576">
                    <a:solidFill>
                      <a:srgbClr val="FFFFFF"/>
                    </a:solidFill>
                  </a:tcPr>
                </a:tc>
                <a:tc>
                  <a:txBody>
                    <a:bodyPr/>
                    <a:lstStyle/>
                    <a:p>
                      <a:r>
                        <a:rPr sz="1200" b="0">
                          <a:solidFill>
                            <a:srgbClr val="1F2937"/>
                          </a:solidFill>
                        </a:rPr>
                        <a:t>Taqdiri haqidagi qarorda ishtirok</a:t>
                      </a:r>
                    </a:p>
                  </a:txBody>
                  <a:tcPr marL="73152" marR="73152" marT="36576" marB="36576">
                    <a:solidFill>
                      <a:srgbClr val="FFFFFF"/>
                    </a:solidFill>
                  </a:tcPr>
                </a:tc>
                <a:tc>
                  <a:txBody>
                    <a:bodyPr/>
                    <a:lstStyle/>
                    <a:p>
                      <a:r>
                        <a:rPr sz="1200" b="0">
                          <a:solidFill>
                            <a:srgbClr val="1F2937"/>
                          </a:solidFill>
                        </a:rPr>
                        <a:t>Qarorni birgalikda qabul qilish</a:t>
                      </a:r>
                    </a:p>
                  </a:txBody>
                  <a:tcPr marL="73152" marR="73152" marT="36576" marB="36576">
                    <a:solidFill>
                      <a:srgbClr val="FFFFFF"/>
                    </a:solidFill>
                  </a:tcPr>
                </a:tc>
              </a:tr>
              <a:tr h="411480">
                <a:tc>
                  <a:txBody>
                    <a:bodyPr/>
                    <a:lstStyle/>
                    <a:p>
                      <a:r>
                        <a:rPr sz="1200" b="0">
                          <a:solidFill>
                            <a:srgbClr val="1F2937"/>
                          </a:solidFill>
                        </a:rPr>
                        <a:t>Erkin tanlov</a:t>
                      </a:r>
                    </a:p>
                  </a:txBody>
                  <a:tcPr marL="73152" marR="73152" marT="36576" marB="36576">
                    <a:solidFill>
                      <a:srgbClr val="E8EEF6"/>
                    </a:solidFill>
                  </a:tcPr>
                </a:tc>
                <a:tc>
                  <a:txBody>
                    <a:bodyPr/>
                    <a:lstStyle/>
                    <a:p>
                      <a:r>
                        <a:rPr sz="1200" b="0">
                          <a:solidFill>
                            <a:srgbClr val="1F2937"/>
                          </a:solidFill>
                        </a:rPr>
                        <a:t>Qadr-qimmat va tanlash huquqi</a:t>
                      </a:r>
                    </a:p>
                  </a:txBody>
                  <a:tcPr marL="73152" marR="73152" marT="36576" marB="36576">
                    <a:solidFill>
                      <a:srgbClr val="E8EEF6"/>
                    </a:solidFill>
                  </a:tcPr>
                </a:tc>
                <a:tc>
                  <a:txBody>
                    <a:bodyPr/>
                    <a:lstStyle/>
                    <a:p>
                      <a:r>
                        <a:rPr sz="1200" b="0">
                          <a:solidFill>
                            <a:srgbClr val="1F2937"/>
                          </a:solidFill>
                        </a:rPr>
                        <a:t>Paternalizm o‘rnini egallaydi</a:t>
                      </a:r>
                    </a:p>
                  </a:txBody>
                  <a:tcPr marL="73152" marR="73152" marT="36576" marB="36576">
                    <a:solidFill>
                      <a:srgbClr val="E8EEF6"/>
                    </a:solidFill>
                  </a:tcPr>
                </a:tc>
              </a:tr>
              <a:tr h="411480">
                <a:tc>
                  <a:txBody>
                    <a:bodyPr/>
                    <a:lstStyle/>
                    <a:p>
                      <a:r>
                        <a:rPr sz="1200" b="0">
                          <a:solidFill>
                            <a:srgbClr val="1F2937"/>
                          </a:solidFill>
                        </a:rPr>
                        <a:t>Xabardor rozilik</a:t>
                      </a:r>
                    </a:p>
                  </a:txBody>
                  <a:tcPr marL="73152" marR="73152" marT="36576" marB="36576">
                    <a:solidFill>
                      <a:srgbClr val="FFFFFF"/>
                    </a:solidFill>
                  </a:tcPr>
                </a:tc>
                <a:tc>
                  <a:txBody>
                    <a:bodyPr/>
                    <a:lstStyle/>
                    <a:p>
                      <a:r>
                        <a:rPr sz="1200" b="0">
                          <a:solidFill>
                            <a:srgbClr val="1F2937"/>
                          </a:solidFill>
                        </a:rPr>
                        <a:t>Bioetikaning bosh tamoyili</a:t>
                      </a:r>
                    </a:p>
                  </a:txBody>
                  <a:tcPr marL="73152" marR="73152" marT="36576" marB="36576">
                    <a:solidFill>
                      <a:srgbClr val="FFFFFF"/>
                    </a:solidFill>
                  </a:tcPr>
                </a:tc>
                <a:tc>
                  <a:txBody>
                    <a:bodyPr/>
                    <a:lstStyle/>
                    <a:p>
                      <a:r>
                        <a:rPr sz="1200" b="0">
                          <a:solidFill>
                            <a:srgbClr val="1F2937"/>
                          </a:solidFill>
                        </a:rPr>
                        <a:t>Holatni tushuntirish, ishtirok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Bemor huquqlari tamoyillari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1.4-bo‘lim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majburiyat, huquq, farqlar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tibbiyot etikasi nimani, bioetika esa nimani ta’riflaydi? Javob: birinchisi xodimning majburiyatlarini, ikkinchisi bemorning huquqlarini.</a:t>
            </a:r>
          </a:p>
          <a:p>
            <a:pPr>
              <a:spcAft>
                <a:spcPts val="1200"/>
              </a:spcAft>
            </a:pPr>
            <a:r>
              <a:rPr sz="2200">
                <a:solidFill>
                  <a:srgbClr val="1F2937"/>
                </a:solidFill>
                <a:latin typeface="Calibri"/>
              </a:rPr>
              <a:t>▸  2-savol: «Zarar yetkazma» va «Yaxshilik qil» nimasi bilan farq qiladi? Javob: birinchisi taqiq, ikkinchisi ijobiy harakatni talab qiladigan qoida.</a:t>
            </a:r>
          </a:p>
          <a:p>
            <a:pPr>
              <a:spcAft>
                <a:spcPts val="1200"/>
              </a:spcAft>
            </a:pPr>
            <a:r>
              <a:rPr sz="2200">
                <a:solidFill>
                  <a:srgbClr val="1F2937"/>
                </a:solidFill>
                <a:latin typeface="Calibri"/>
              </a:rPr>
              <a:t>▸  3-savol: bioetikaning bosh tamoyili qaysi? Javob: xabardorlikka asoslangan rozilik (informed consent).</a:t>
            </a:r>
          </a:p>
          <a:p>
            <a:pPr>
              <a:spcAft>
                <a:spcPts val="1200"/>
              </a:spcAft>
            </a:pPr>
            <a:r>
              <a:rPr sz="2200">
                <a:solidFill>
                  <a:srgbClr val="1F2937"/>
                </a:solidFill>
                <a:latin typeface="Calibri"/>
              </a:rPr>
              <a:t>▸  Diqqat: xato qilish xavfi! Vrach sirini saqlash ≠ xabardorlikka asoslangan rozilik. Birinchisi sirni saqlashga, ikkinchisi bemorni xabardor qilishga chaqiradi.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mahbus va tibbiyot xodimi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mahbus kasallangan. BMT deklaratsiyasiga (1982) ko‘ra, xodim uni mahbus bo‘lmagan odamdagidek sifatli davolashi shart.</a:t>
            </a:r>
          </a:p>
          <a:p>
            <a:pPr>
              <a:spcAft>
                <a:spcPts val="1200"/>
              </a:spcAft>
            </a:pPr>
            <a:r>
              <a:rPr sz="2200">
                <a:solidFill>
                  <a:srgbClr val="1F2937"/>
                </a:solidFill>
                <a:latin typeface="Calibri"/>
              </a:rPr>
              <a:t>▸  Xodim qiynoqda yoki shafqatsiz jazoda qatnashsa, ishtirokchilik qilsa, jinoyat sodir etadi. So‘roqqa ko‘maklashish ham jinoyat bo‘ladi.</a:t>
            </a:r>
          </a:p>
          <a:p>
            <a:pPr>
              <a:spcAft>
                <a:spcPts val="1200"/>
              </a:spcAft>
            </a:pPr>
            <a:r>
              <a:rPr sz="2200">
                <a:solidFill>
                  <a:srgbClr val="1F2937"/>
                </a:solidFill>
                <a:latin typeface="Calibri"/>
              </a:rPr>
              <a:t>▸  Tiyditish yo‘sinidagi harakatda qatnashish tibbiyot etikasiga zid. Faqat mahbusning salomatligi va xavfsizligi buni talab qilsa, bu mumkin.</a:t>
            </a:r>
          </a:p>
          <a:p>
            <a:pPr>
              <a:spcAft>
                <a:spcPts val="1200"/>
              </a:spcAft>
            </a:pPr>
            <a:r>
              <a:rPr sz="2200">
                <a:solidFill>
                  <a:srgbClr val="1F2937"/>
                </a:solidFill>
                <a:latin typeface="Calibri"/>
              </a:rPr>
              <a:t>▸  Savol: fors-major, ya’ni favqulodda holatda bu tamoyillardan chekinish mumkinmi? Fikringizni asoslang.</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bioetika modeli va asosiy tushunchalar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80</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Paternalistik model o‘rnini hamkorlik modeli egallaydi. Unda shaxs erkinligi va xabardorlikka asoslangan rozilik tamoyillari yetakchilik qiladi.</a:t>
            </a:r>
          </a:p>
          <a:p>
            <a:pPr>
              <a:spcAft>
                <a:spcPts val="1200"/>
              </a:spcAft>
            </a:pPr>
            <a:r>
              <a:rPr sz="2200">
                <a:solidFill>
                  <a:srgbClr val="1F2937"/>
                </a:solidFill>
                <a:latin typeface="Calibri"/>
              </a:rPr>
              <a:t>▸  Tibbiyot etikasi vrach majburiyatlarini, bioetika bemor huquqlarini himoya qiladi. Bioetika qo‘mitalariga faylasuf, ekolog, huquqshunos va jamoatchilik kiradi.</a:t>
            </a:r>
          </a:p>
          <a:p>
            <a:pPr>
              <a:spcAft>
                <a:spcPts val="1200"/>
              </a:spcAft>
            </a:pPr>
            <a:r>
              <a:rPr sz="2200">
                <a:solidFill>
                  <a:srgbClr val="1F2937"/>
                </a:solidFill>
                <a:latin typeface="Calibri"/>
              </a:rPr>
              <a:t>▸  Jeneva: 1948-yilda Jahon tibbiyot uyushmasining 2-sessiyasida deklaratsiya («XX asr Gippokrat qasamyodi»), 1949-yilda Xalqaro tibbiyot etikasi kodeksi qabul qilindi.</a:t>
            </a:r>
          </a:p>
          <a:p>
            <a:pPr>
              <a:spcAft>
                <a:spcPts val="1200"/>
              </a:spcAft>
            </a:pPr>
            <a:r>
              <a:rPr sz="2200">
                <a:solidFill>
                  <a:srgbClr val="1F2937"/>
                </a:solidFill>
                <a:latin typeface="Calibri"/>
              </a:rPr>
              <a:t>▸  O‘zingizni tekshiring: tibbiyot etikasi bioetikadan nimasi bilan farq qiladi? U qaysi bosqichlardan o‘tdi? Qaysi tamoyillar bor?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Muhamedova Z.M., Bioetika, betlar: I bob, 1.4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80</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Freyd shifokordan o‘zida saraton borligini eshitganda: «Menga bu haqda gapirishga sizga kim huquq berdi?» degan ekan. Bu «og‘ir tashxisni aytish kerakmi?» degan paternalizm muammosini yaxshi ko‘rsatadi. Ma’lumot olishni istamaydigan bemorlar Rossiyada 60% ga yetgan.</a:t>
            </a:r>
          </a:p>
          <a:p>
            <a:pPr>
              <a:spcAft>
                <a:spcPts val="1200"/>
              </a:spcAft>
            </a:pPr>
            <a:r>
              <a:rPr sz="1800">
                <a:solidFill>
                  <a:srgbClr val="1F2937"/>
                </a:solidFill>
                <a:latin typeface="Calibri"/>
              </a:rPr>
              <a:t>▸  Hodisa tahlili: samolyotda «Orangizda shifokor bormi?» deb so‘rashdi, shifokor yordam bermadi. AQSH qonunlariga ko‘ra xususiy amaliyot shifokori javobgarlikka tortilmaydi. Lekin axloqan bu qoralanadi, kasaba uyushmasi uni litsenziyadan mahrum qilishi mumkin.</a:t>
            </a:r>
          </a:p>
          <a:p>
            <a:pPr>
              <a:spcAft>
                <a:spcPts val="1200"/>
              </a:spcAft>
            </a:pPr>
            <a:r>
              <a:rPr sz="1800">
                <a:solidFill>
                  <a:srgbClr val="1F2937"/>
                </a:solidFill>
                <a:latin typeface="Calibri"/>
              </a:rPr>
              <a:t>▸  Qiziqarli fakt: «Avvalo, zиyon yetkazma» (primum non nocere) ko‘pincha Gippokrat bilan bog‘lanadi. Lekin muallif uning asarlarida bunday fikr yo‘qligini yozadi. Qasamyodda birinchi o‘rinda o‘qituvchi (ustoz) oldidagi burch turadi.</a:t>
            </a:r>
          </a:p>
          <a:p>
            <a:pPr>
              <a:spcAft>
                <a:spcPts val="1200"/>
              </a:spcAft>
            </a:pPr>
            <a:r>
              <a:rPr sz="1800">
                <a:solidFill>
                  <a:srgbClr val="1F2937"/>
                </a:solidFill>
                <a:latin typeface="Calibri"/>
              </a:rPr>
              <a:t>▸  Eslab qolish usuli: tibbiyot etikasi = shifokorning majburiyatlari (faqat shifokorlarga tegishli). Bioetika = bemorning huquqlari (qo‘mitada faylasuf, ekolog, huquqshunos, jamoatchilik, shahar ma’murlari ham bor). Bosh tamoyil: xabardorlikka asoslangan rozilik.</a:t>
            </a:r>
          </a:p>
          <a:p>
            <a:pPr>
              <a:spcAft>
                <a:spcPts val="1200"/>
              </a:spcAft>
            </a:pPr>
            <a:r>
              <a:rPr sz="1800">
                <a:solidFill>
                  <a:srgbClr val="1F2937"/>
                </a:solidFill>
                <a:latin typeface="Calibri"/>
              </a:rPr>
              <a:t>▸  Xronologiya mnemonikasi: 1948 — Jahon tibbiyot uyushmasi Jenevada deklaratsiya (XX asr Gippokrat qasamyodi) qabul qildi; 1949 — Tibbiyot etikasining xalqaro kodeksi; 1970 — V. Potter «bioetika» atamasini ilmiy muomalaga kiritdi.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1990-yilda Strasburgda o‘tgan simpoziumga ko‘ra, bioetika nimani o‘rganuvchi bilim sohasi?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Shifokorlarning kundalik kasbiy burchlari va xulq qoidalari majmuini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Tibbiyot va biologiya rivoji keltirgan axloqiy, huquqiy va ijtimoiy muammolarni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Dori vositalarining tarkibi va organizmga ta’sir mexanizmlarini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Kasalliklarning tarqalish qonuniyatlari va epidemiyalar tarixini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Kasalxona qoshidagi qo‘mita faylasuflar, ekologlar, huquqshunoslar, jamoatchilik vakillari va shahar ma’murlaridan tuzilgan. U qaysi yo‘nalishga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Tibbiyot etikasi sohasi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 deontologiya sohasi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Tibbiy paternalizm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Bioetika yo‘nalishi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Salernodagi dunyoviy tibbiyot maktabi asarlarni arabchadan lotinchaga o‘girmoqda, shifokorlar uyushmalari tashkil topmoqda. Bu tibbiyot etikasining qaysi bosqichi?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1-bosqich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2-bosqich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3-bosqich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4-bosqich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Ma’ruzachi 1834-yilda deontologiyaning har qanday kasb uchun zarurligini utilitarizm nuqtai nazaridan asoslagan olimni so‘radi. U kim?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 Bentam, ingliz faylasufi va huquqshunosi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 Persival, «Tibbiyot etikasi» kitobi muallifi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V. Potter, «bioetika» atamasini kiritgan olim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Ibn Sino, «Tib qonunlari» asari muallifi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Jahon tibbiyot uyushmasining Jenevadagi 2-sessiyasida (1948) qabul qilingan, «XX asr Gippokrat qasamyodi» deb ataladigan hujjat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Persivalning «Tibbiyot etikasi» kitobi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Jeneva deklaratsiyasi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BMTning 1982-yilgi Deklaratsiyasi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Gippokrat korpusi to‘plami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1970-yilda «Bioetika, yashash haqidagi fan» maqolasida «bioetika» atamasini ilmiy muomalaga kim kiritgan?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T.P. Persival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 Potter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 Bentam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Gippokrat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Shahar kasalxonasida murakkab axloqiy masalani ko‘rish uchun bioetika qo‘mitasi tuzilmoqda. Uning tarkibi qanday bo‘lishi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bosh shifokor va uning o‘rinbosarlaridan iborat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tibbiyot fanlari doktorlaridan tashkil topadi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sug‘urta kompaniyalari vakillaridan iborat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Faylasuf, ekolog, huquqshunos, jamoatchilik va shahar ma’muridan iborat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bemorga davolash xavfi haqida yozma va tushunarli ma’lumot beradi, so‘ng qarorni birga qabul qiladi. Bioetikaning qaysi bosh tamoyili qo‘llanmoqda?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Xabardorlikka asoslangan rozilik (informed consent)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Vrach sirini saqlash tamoyili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Paternalizm tamoyili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Primum non nocere («avvalo zarar yetkazma») tamoyili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bemorning fikrini so‘ramay, «uning foydasi uchun» davolashni o‘zi belgilaydi va ma’lumotni yashiradi. Bu qaysi modelga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Hamkorlik modeliga xos holat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Shaxs erkinligi modeliga xos holat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Paternalistik modelga xos holat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Bemor huquqlari modeliga xos holat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bioetika duch kelgan zamonaviy tahdidlar qatorida matnda sanab o‘tilgan?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Tibbiyotga tijoratning kirib kelishi tufayli odamlar munosabatlarining beqarorlashuvi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Tibbiyot xodimlari sonining haddan tashqari ko‘payib ketishi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Dori vositalari narxining doimiy ravishda pasayib borishi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Aholi savodxonligining keskin pasayishi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Shifokor bemorga og‘ir tashxisni aytmaslikka qaror qildi: «Sizga nima foydali ekanini o‘zim hal qilaman». Bu qaysi muносабат modeliga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Hamkorlik modeli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Paternalistik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Xabardor rozilik modeli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Shaxs erkinligi modeli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Jarrohlik oldidan bemorga xavf haqida yozma va tushunarli ma’lumot berildi, u davolash qaroriga o‘zi qo‘shildi. Qaysi tamoyil bajarilgan?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 sirini saqlash tamoyili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Paternalizm tamoyili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«Zarar yetkazma» tamoyili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Xabardorlikka asoslangan rozilik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Navbatchi shifokor bemorga zarur harakatni bajarmadi, chunki og‘irroq bemorga yordam berayotgan edi. Qaysi javobgarlik yengillashishi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Oqibatlar bo‘yicha, utilitaristik javobgarlik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Majburiyat bo‘yicha, deontologik javobgarlik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axloqiy javobgarlik, huquqiy emas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ma’muriy javobgarlik turi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kasalxonaga yotqizildi va uning erkinligi cheklandi. Bu zararning qaysi shakliga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Harakatsizlik tufayli yetkazilgan zarar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Vijdonsizlik tufayli yetkazilgan zarar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Ob’ektiv zarur bo‘lgan zarar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Malakasizlik tufayli yetkazilgan zarar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Quyidagilardan qaysi biri shifokorning beixtiyor yetkazgan zarari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Ob’ektiv muqarrar zarar yetkazish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Nazorat qilib bo‘lmaydigan tashqi holat ta’siridagi zarar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Yordam ko‘rsatmaslik orqali zarar yetkazish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Qasddan zarar yetkazish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Navbatchi shifokor bemorga lozim harakatlarni bajarmadi, chunki og‘irroq holatdagi boshqa bemorga vaqt sarfladi. Qaysi javobgarlik turi muayyan darajada yengillashishi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Majburiyat bajarilmagani uchun deontologik javobgarlik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Harakatsizlik oqibatiga qarab belgilanadigan javobgarlik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Qonunda belgilangan jinoiy javobgarlikning o‘zi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Hamkasblar oldidagi axloqiy javobgarlik turi</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«Yaxshilik qil» tamoyilini «Zarar yetkazma» tamoyilidan nima farqlaydi?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 faqat tibbiyot doirasida amal qiladigan tamoyildir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 har qanday zararni mutlaqo taqiqlovchi qoidadir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 taqiq emas, ijobiy harakatni talab qiluvchi qoidadir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 hamdardlikni emas, faqat aql-mulohazani talab qiladi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Sariq bezgak yoki vabo profilaktikasi usullari kashf etilgach, mamlakat umummilliy profilaktika dasturini qabul qilmadi. Manbaga ko‘ra bu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Sog‘liqni saqlashning faqat zarar yetkazmaslik vazifasiga mos qaror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Davlatning ixtiyoriy tanlovi bo‘lib, axloqiy baho talab qilmaydi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alohida shifokorning shaxsiy majburiyati doirasidagi masala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Ma’naviy jihatdan mas’uliyatsizlik deb baholanadigan holat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Tergovchi shifokordan mahbusni so‘roq qilishda bilim va tajribasidan foydalanishni so‘radi, vaziyat esa favqulodda. Shifokor qanday yo‘l tutishi kerak?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Rad etishi shart: favqulodda holatda ham tamoyildan chekinib bo‘lmaydi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Favqulodda holat bo‘lgani uchun cheklangan tarzda ko‘maklashishi mumkin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tergovchi yozma ruxsat bergan taqdirdagina ko‘maklashishi mumkin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Mahbusni davolashdan tiyilib, faqat kuzatuvchi rolini bajarishi kerak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80</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kasalligi haqida tushunarli axborot oladi va davolash qaroriga o‘zi ham qatnashadi. Bu holat qaysi modelga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Shifokor hokimiyatiga tayangan paternalistik modelga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Erkinlik va xabardor rozilikka asoslangan hamkorlik modeliga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Shifokor majburiyatlariga tayangan deontologik modelga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shifokor sirini saqlashga asoslangan modelga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Tibbiyot va biologiya rivoji keltirgan axloqiy, huquqiy va ijtimoiy muammolarni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Strasburg ta’rifiga ko‘ra, bioetika tibbiyot va biologiya rivojlanishiga qarab yuzaga keladigan axloqiy, huquqiy va ijtimoiy muammolarni o‘rganadi. A variant tibbiyot etikasining eski tushunchasiga mos keladi, C va D esa bioetikaga aloqador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Bioetika yo‘nalishi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Tibbiyot etikasi faqat shifokorlarga tegishli bo‘lsa, bioetika qo‘mitalari faylasuflar, ekologlar, huquqshunoslar, jamoatchilik vakillari va shahar ma’murlaridan tuziladi. Bu bioetikaning farqli belgisidir.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3-bosqich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3-bosqich X–XII asrlarda va keyingi asrlarda shifokorlar uyushmalarining tashkil topishi bilan bog‘liq. Salerno maktabi XII asrda gullab-yashnagan va asarlarni arabchadan lotinchaga o‘girgan. Bu bosqichga T. Persival asari (1803) yakun yasagan.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 Bentam, ingliz faylasufi va huquqshunosi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4-bosqich «deontologiya bosqichi» deb ataladi. Ingliz faylasufi va huquqshunosi I. Bentam 1834-yilda «Deontologiya yoki axloq to‘g‘risidagi fan» kitobida deontologiyaning zarurligini utilitarizm nuqtai nazaridan asosladi.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Jeneva deklaratsiyasi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5-bosqich 1948-yilda Jenevada deklaratsiyaning («XX asr Gippokrat qasamyodi») qabul qilinishi bilan boshlandi. Tibbiyot etikasi xalqaro kodeksi esa 1949-yilda qabul qilindi. Boshqa variantlar boshqa davr va hujjatlarga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V. Potter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Atamani 1970-yilda V. Potter ilmiy muomalaga kiritgan. Persival «Tibbiyot etikasi» asarini 1803-yilda, Bentam «Deontologiya» kitobini 1834-yilda yozgan. Gippokrat bu davrlardan ancha oldin yashagan.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Faylasuf, ekolog, huquqshunos, jamoatchilik va shahar ma’muridan iborat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Tibbiyot etikasi faqat shifokorlarga tegishli. Bioetika qo‘mitalari esa faylasuflar, ekologlar, huquqshunoslar, jamoatchilik vakillari va shahar ma’murlaridan tuziladi. Shu bilan bioetika ijtimoiy institut bo‘lib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Xabardorlikka asoslangan rozilik (informed consent)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Xabardorlikka asoslangan rozilik bemorning ahvolini unga tushunarli aytishni va davolash qaroriga uni jalb etishni nazarda tutadi. U vrach sirini saqlash tamoyilidan farq qiladi, chunki bemorning xabardorligini talab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Paternalistik modelga xos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Paternalistik modelda shifokor «ota» kabi bemorning foydasi nimada ekanini o‘zi hal qiladi va javobgarlikni to‘la o‘z zimmasiga oladi. Bunday yondashuv bemordan ma’lumotni yashirishni ham oqlaydi.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Tibbiyotga tijoratning kirib kelishi tufayli odamlar munosabatlarining beqarorlashuvi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Matnda tahdidlar sifatida odamlar ustida tajriba o‘tkazish, odamlar selektsiyasi, oila inqirozi, yangi biologik mavjudotlar va tibbiyotga tijoratning kirib kelishi sanalgan. Boshqa variantlar matnda yo‘q.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Paternalistik model</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Paternalistik modelda bemorga nima foydali ekanini shifokor o‘zi hal qiladi va klinik qarorlar uchun butun javobgarlikni o‘z zimmasiga oladi. Bunday yondashuv bemordan ma’lumotni yashirishni ham oqlaydi. Hamkorlik modelida esa bemorning erkinligi va xabardor roziligi yetakchilik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«Paternalizm» va «Bioetika modellari»-bet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Xabardorlikka asoslangan rozilik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Xabardorlikka asoslangan rozilik bemorga ahvolini tushunarli aytishni va qaror qabul qilishda uning ishtirokini nazarda tutadi. Shifokor siri esa axborotni yashirishga chaqiradi, shuning uchun u bu tamoyildan farq qiladi.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«Bioetikaning asosiy tamoyillari»-bet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Oqibatlar bo‘yicha, utilitaristik javobgarlik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Majburiyatni bajarmagani uchun javobgarlik muqarrar va deontologik xususiyatga ega. Harakatsizlik oqibatlari bo‘yicha javobgarlik utilitaristik bo‘lib, shifokor og‘irroq bemorga vaqt sarflagan bo‘lsa, u yengillashishi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«Zarar yetkazma» tamoyili-bet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Ob’ektiv zarur bo‘lgan zarar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Davolash uchun zarur rejim yoki yotqizish bemor imkoniyatlari va erkinligini cheklaydi. Bu ob’ektiv zarur zarar bo‘lib, uni bemor nuqtai nazaridan ko‘rish mumkin. Boshqa uch shakl yordam bermaslik, vijdonsizlik va malakasizlikdan kelib chiqadi.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«Zarar yetkazma» tamoyili-bet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Nazorat qilib bo‘lmaydigan tashqi holat ta’siridagi zarar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Harakatsizlik, qasddan va ob’ektiv muqarrar zarar atayin yetkazilgan zarar sanaladi. Beixtiyor zararning ikki varianti bor: oqibatlari haqida o‘ylashni istamaslik va nazorat qilib bo‘lmaydigan tashqi holatlar ta’siri.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«Zarar yetkazma» tamoyili-bet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Harakatsizlik oqibatiga qarab belgilanadigan javobgarlik</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Majburiyatni bajarmaganlik uchun javobgarlik (deontologik) muqarrar. Oqibatga qarab belgilanadigan javobgarlik (utilitaristik) esa yengillashishi mumkin. Masalan, shifokor og‘irroq bemorga vaqt va kuch sarflagan bo‘lsa.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(«Zarar yetkazma» tamoyili)-bet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U taqiq emas, ijobiy harakatni talab qiluvchi qoidadir</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«Zarar yetkazma» tiyilishni talab qiluvchi taqiq sifatida tibbiyotdan tashqarida ham mashhur. «Yaxshilik qil» esa zararning oldini olish yoki oqibatini bartaraf etish uchun faol ijobiy harakatni talab qiladi. Bu harakatlar hamdardlik va mehr-shafqatga tayanadi.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(«Yaxshilik qil» tamoyili)-bet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Ma’naviy jihatdan mas’uliyatsizlik deb baholanadigan holat</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Sog‘liqni saqlash tizimining vazifasi shunchaki zarar yetkazmaslik emas, balki butun jamiyat manfaatini ta’minlash, ya’ni yaxshilik qilishdir. Shuning uchun bunday choralarni amalga oshirmaslik ma’naviy mas’uliyatsizlik bo‘lar edi.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(«Yaxshilik qil» tamoyili)-bet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Rad etishi shart: favqulodda holatda ham tamoyildan chekinib bo‘lmaydi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Mahbuslarning sog‘lig‘iga ta’sir qilishi mumkin bo‘lgan tarzda so‘roqqa ko‘maklashish uchun bilimdan foydalanish jinoyat hisoblanadi. Bu tamoyillardan hech qanday asosda, favqulodda holatda ham chekinish mumkin emas. Shifokor mahbusni boshqalar kabi sifatli davolashi shart.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(Tibbiyot etikasi tamoyillari, mahbuslar haqidagi BMT Deklaratsiyasi)-bet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80</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Erkinlik va xabardor rozilikka asoslangan hamkorlik modeliga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Bioetikada paternalistik model o‘rnini hamkorlik modeli egallaydi. Unda shaxs erkinligi va xabardorlikka asoslangan rozilik (informed consent) tamoyillari yetakchilik qiladi. Bemor tushunarli axborot oladi va qarorda ishtirok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Muhamedova Z.M., Bioetika, I bob, 1.4-bo‘lim (Bioetika modellari)-bet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Tibbiy bioetikaning oldingi modellardan farqi: bioetika ijtimoiy institut sifatida, tibbiy</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80 / 80</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Muhamedova Z.M. Bioetika (o‘quv qo‘llanma, falsafa fakulteti), Toshkent, 2006. 2006. I bob 1.4 «Bioetikaning asosiy tamoyillari va modellari» (tibbiyot etikasi tamoyillari va modellari, paternalizm, bemor erkinligini hurmat qilish, bioetika modellari)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