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nozo‘raki o‘limda ham sud-tibbiy ekspertiza o‘tkaziladi? 2) Go‘dak o‘limi nega jamiyat uchun muhim? Doskada: Bob 9 reja sxemasi (9.1–9.4). Tipik xato: talabalar GTO‘Sni alohida kasallik deb o‘ylaydi, aslida u istisno diagnozi.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Ekspertiza natijalarini umumlashtirish profilaktikaga qanday yordam beradi? 2) Zo‘rakilikni istisno qilish nima uchun birinchi vazifa? Doskada: ‘Ekspertiza maqsadlari’ uch qadamli sxema. Tipik xato: nozo‘raki o‘limni ‘tekshirish shart emas’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bu farq shartli hisoblanadi? 2) Tibbiy yordam sifati atamani tanlashga qanday ta’sir qiladi? Doskada: jadvalni talabalar bilan birga chizing. Tipik xato: 24 soat qoidasini qat’iy chegara deb qabul qilish; diqqat: nogahon ≠ to‘satdan (eski ta’rifda), hozir esa sinonim.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o‘lim tafsilotlari doim zo‘raki o‘limga shubha uyg‘otadi? 2) Sog‘lom ko‘ringan odam o‘limida murdada kasallik topilishi nimani bildiradi? Doskada: 5 belgini ketma-ket zanjir ko‘rinishida chizdiring. Tipik xato: talabalar «sababi hamisha kasallik» o‘rniga «sababi noma’lum» deb yozadi. Diqqat: shubha uyg‘otishi ≠ zo‘raki o‘lim bo‘lganligi.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simptomsiz surunkali kasallik xavfli? 2) Xurujli kasalliklar o‘tkir kasalliklardan nimasi bilan farq qiladi? Doskada: 4 guruhli jadvalni talabalar bilan birga to‘ldiring. Tipik xato: tutqanoq va bronxial astmani «o‘tkir kasalliklar» guruhiga qo‘shish. Diqqat: xurujli kasallik ≠ o‘tkir kasallik.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Joy va vaqt nima uchun ekspert fikrini yo‘naltiradi? 2) Siz ro‘yxatga yana qanday vaziyat qo‘shgan bo‘lardingiz? Doskada: «holat → shubha» strelkali jadval chizdiring. Tipik xato: shubhani tasdiqlangan sabab deb qabul qilish. Diqqat: shubha ≠ aniqlangan sabab; avval zo‘raki o‘lim istisno qilinadi.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turtki omil kasallikning o‘zi emas, balki uni ‘qo‘zg‘atuvchi’ hisoblanadi? 2) Talabalar o‘z hayotidan qaysi turtki omillarni eslay oladi? Doskada: markazda ‘yashirin surunkali kasallik’, undan 6 ta strelka — turtki omillar guruhlarini chizdiring. Tipik xato: turtki omilni o‘limning asosiy sababi deb olish; sabab hamisha kasallik, turtki esa faqat uni qo‘zg‘atadi.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Blits tartibida: talabalar javobni yopiq daftarda yozadi, so‘ng tekshiriladi. Qo‘shimcha blits (249-bet): nogahon o‘limga turtki bo‘ladigan 3 ta omilni ayting (zo‘riqish, isib ketish yoki sovuq qotish, meteorologik omillar, ovqat-suv rejimi buzilishi, spirt). Muhokama: nima uchun ikki atama farqi shartli deyiladi? Doskada: ikki ustunli solishtirish (nogahon / to‘satdan) chizdiring. Tipik xato: ikki atamani qat’iy farqlanadigan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voqea joyi va vaqti ekspertiza yo‘nalishini belgilaydi? 2) Agar murdada zaharlanish alomati topilmasa, keyingi qadam qanday bo‘ladi? Doskada: ‘joy/vaqt → shubha qilinadigan zo‘raki sabab’ jadvalini (mehmondorchilik, elektromonter, g‘avvos) chizdiring. Tipik xato: shubhani isbotlangan zo‘rakilik deb hisoblash; shubha faqat istisno qilishni talab etadi.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Nima uchun har bir yosh guruhida nogahon o‘lim sababi har xil? 2) Nega ateroskleroz va gipertonik kasallik aynan yetakchi? Doskada: ‘Katta yoshdagilar → yurak-qon tomir 85–90%’ yozing, ostiga ikki yetakchi kasallikni chizing. Tipik xato: talaba kattalardagi ulushni (85–90%) go‘daklarga ham tatbiq qiladi. Eslab qolish usuli: ‘Yurak + Ateroskleroz + Gipertoniya’ (o‘qituvchining o‘z mnemonikasi, manbada yo‘q).</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aynan qon aylanishi tiklangach xavf paydo bo‘ladi? 2) Nima uchun toj tomirlarda aterosklerotik o‘zgarishlar kuchsiz bo‘lishi mumkin? Doskada: 5 bosqichli zanjirni strelkalar bilan chizib, har bosqichni o‘z so‘zingiz bilan izohlang. Tipik xato: aterosklerozni o‘tkir koronar etishmovchilikning asosiy sababi deb hisoblash; manbada u ikkilamchi.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Murdada infarkt o‘chog‘i ko‘rinmasa, o‘lim sababi yurak kasalligi bo‘lishi mumkinmi? 2) Vaqt omili sud-tibbiy xulosaga qanday ta’sir qiladi? Doskada: vaqt o‘qini chizib, 12–24 soat belgisini va nogahon o‘lim nuqtasini uning chap tomoniga qo‘ying. Tipik xato: ‘infarkt ko‘rinmaydi, demak yurak sababi emas’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nogahon o‘limda yaqqol infarkt ko‘rinmaydi? 2) Soatlar o‘tishi bilan miokard rangi qanday o‘zgaradi? Doskada vaqt chizig‘ini (soat – sutka – keyinroq) chizdiring va har bosqichga miokard ko‘rinishini yozdiring. Tipik xato: nogahon o‘limda klassik sarg‘ish-kul infarkt o‘chog‘i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Tezkor savol: infarktning bevosita o‘limga olib keladigan 4 ta asoratini ayting. Muhokama: gipertonik kasallik o‘limga qaysi yo‘llar bilan olib keladi? Doskada ikki ustun chizing: «infarkt asoratlari» va «gipertoniyadagi o‘lim yo‘llari». Tipik xato: gipertonik kasallikni yakka holda emas, ishemik va serebro-vaskulyar kasalliklar bilan birga kelishini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bu tizimlarning ulushi yurak-qon tomirdan kam? 2) Homilador ayol nogahon o‘lganda qaysi sabablar tekshiriladi? Doskada jadvalni tizimlar bo‘yicha o‘zlari to‘ldirishsin. Tipik xato: o‘smalarni faqat bitta tizimga bog‘lash (manbada nafas va nerv tizimida ham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bu holatda avval zo‘raki o‘lim istisno qilinadi? 2) Turtki omil o‘limning bevosita sababi bo‘ladimi? Doskaga chizing: turtki omil → dekompensatsiya → qorinchalar fibrillyasiyasi → o‘lim zanjiri. Tipik xato: turtki omilni o‘limning asosiy sababi deb yozish. Vaziyat o‘quv maqsadida tuzilgan, real hodisa emas.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4–5 daq. Savollarni og‘zaki, talabalarni navbat bilan so‘rab o‘tkazing. Muhokama: nega ateroskleroz o‘tkir koronar etishmovchilikda ikkilamchi hisoblanadi? Doskaga chizing: ikki ustunli solishtirish (koronar etishmovchilik | miokard infarkti) va ularga ketadigan vaqt. Tipik xato: 12–24 soatlik vaqtni nogahon o‘limga tatbiq etish.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bolalarda asosiy sabab respirator infeksiya? 2) Nima uchun birinchi yarim yilda o‘lim ko‘p uchraydi? Doskaga chizing: respirator kasallik qo‘zg‘atuvchilari (virus / bakteriya / aralash) daraxti. Tipik xato: 90 foiz va 80 foiz ko‘rsatkichlarini aralashtirish; birinchisi barcha bolalar nogahon o‘limiga, ikkinchisi go‘daklardagi birinchi yarim yilga tegishli.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nima uchun xavf aynan hayotning dastlabki oylarida yuqori bo‘lishi mumkin? Nafas kasalligidan nogahon o‘lim va GTO‘S qanday farqlanadi? Doskada: 3 qatorli jadvalni chizing va foizlarni to‘ldiring. Tipik xato: 80 va 12 foizni GTO‘Sga tegishli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nima uchun simptomsiz kechish ota-ona va shifokor e’tiborini chetlab o‘tadi? Nima uchun o‘pkada spetsifik o‘zgarish topilmasligi diagnostikani qiyinlashtiradi? Doskada: ikki ustunli solishtirish jadvalini chizing. Tipik xato: nogahon o‘limga olib keluvchi ORK ham faqat epidemik davrda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nima uchun bu holat murdada ko‘pincha tasodifiy topilma bo‘lib qoladi? Faqat shu topilma o‘lim sababini to‘liq tushuntiradimi? Doskada: 5 tugunli zanjirni chizing. Tipik xato: timiko-limfatik holatni o‘z-o‘zidan o‘lim sababi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Giperdiagnostika nega paydo bo‘ladi? 2) Raqobatchi sabab, asorat va hamroh kasallik bir-biridan nimasi bilan farq qiladi? Doskada: ‘pnevmoniya aniqlandi’ → ‘asosiy sabab?’ degan savol belgisi bilan uch shoxli sxema chizdiring (raqobatchi sabab / asorat / hamroh kasallik). Tipik xato: talaba pnevmoniya topilishi bilan uni o‘limning asosiy sababi deb yozadi.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faqat murda tashqi ko‘rigi bilan cheklanib bo‘lmaydi? 2) Hujjat va qarindoshlardan olingan ma’lumot xulosaga qanday ta’sir qiladi? Doskada: ekspertiza bosqichlarini zanjir shaklida chizdiring (tashqi/ichki ko‘rik → laboratoriya → hujjat va qarindosh ma’lumoti → xulosa). Tipik xato: faqat bitta usulga tayanib xulosa chiqarish.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Hujjatda mexanizm yozilmasa, nima yo‘qotiladi? 2) Pnevmoniya hamroh kasallik bo‘lsa, asosiy sabab nima bo‘lishi mumkin? Doskada: ‘pnevmoniya bor’ → qo‘shimcha tekshiruvlar → asosiy sabab degan qaror daraxtini chizdiring. Tipik xato: pnevmoniya topilganini darhol o‘limning asosiy sababi deb belgilash.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GTO‘S ta’rifida “barcha tekshiruvlardan keyin ham sabab aniqlanmaydi” sharti muhim? 2) “Cot death” atamasi nimani ko‘rsatadi? Doskada: 3 bosqichli vaqt chizig‘ini (asr o‘rtasi, 1969, 1979) chizdiring. Tipik xato: GTO‘Sni har qanday go‘dak o‘limi deb tushunish; ta’rifda yosh (bir yoshgacha), uyqu va sababning aniqlanmasligi shart.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mexanik gipoteza sud-tibbiy jihatdan alohida e’tibor talab qiladi? 2) Birorta gipoteza nega barcha holatlarni tushuntirmaydi? Doskada: to‘rt gipotezani “gipoteza → taxmin qilingan mexanizm” jadvali ko‘rinishida chizdiring. Tipik xato: gipotezani isbotlangan o‘lim sababi deb yozish.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Respirator va kardiogen gipotezalarning farqi nimada? 2) Nega ular so‘nggi davrda ko‘proq qo‘llanadi? Doskada: ikki ustunli taqqoslash sxemasi (nafas yo‘li va yurak yo‘li) chizdiring. Tipik xato: apnoe va asistoliyani aralashtirish; birinchisi nafas, ikkinchisi yurak to‘xtashi.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O‘zbekiston ko‘rsatkichi faqat taxminiy? 2) Egizaklarda xavf nega yuqori bo‘lishi mumkin? Doskada: GTO‘S uchun xavfli yosh (2–6 oy), mavsum va soatni bitta chiziqda chizdiring. Tipik xato: 0,5–2,8 ni foiz deb o‘qish; u 1000 tirik tug‘ilganga nisbatan beriladi.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Qaysi omillarni oila o‘zi o‘zgartira oladi? 2) Homiladorlikdagi tibbiy kuzatuv nega muhim? Doskada: to‘rt guruhli xavf omillari jadvalini talabalar bilan to‘ldiring. Tipik xato: xavf omilini sabab bilan aralashtirish; omil faqat ehtimolni oshiradi, o‘limning aniq sababi emas.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Ota-onaga qanday tushuntirish kerak: xavf bor, lekin mahkumlik yo‘q? 2) Nega eng xavfli davr dastlabki 6 oy? Doskada: ’xavf omili → bartaraf etish → ehtimol pasayishi’ zanjirini chizing. Tipik xato: xavf omili bor bolani albatta o‘ladi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Nima uchun hujjat va katamnez murda tekshiruvidan oldin yig‘iladi? 2) Yengil shamollash belgilari ota-onani nega xavotirga solmaydi? Doskada: 5 bosqichli zanjirni chizdiring. ALTE (apparent life threatening events) – nafas va yurak urishining to‘xtab qolishi, ko‘karib qolish kabi hodisalar. Tipik xato: yengil respirator belgilarni o‘limning sababi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Bu topilmalarning qaysi biri o‘limning aniq sababini ko‘rsatadi? 2) Timiko-limfatik holat nima uchun faqat qo‘shimcha belgi hisoblanadi? Doskada: jadvalni (tashqi, ichki, mikroskopiya) o‘zingiz chizing. Qo‘shimcha: buyrak usti bezi gipoplaziyasi ham uchrashi mumkin; boshqa laboratoriya tekshiruvlari odatda manfiy. Tipik xato: yagona o‘lim sababi topilmasa, topilmalarni sababga chiqarib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yostiqda topilgan go‘dak o‘limida voqea tafsilotiga ko‘r-ko‘rona ergashib bo‘lmaydi? 2) Pnevmoniya belgisi topilsa, uni qachon o‘lim sababi deb bo‘lmaydi? Doskada: ‘istisno qilish’ zanjirini chizdiring (kasallik yo‘q → travma yo‘q → GTO‘S). Tipik xato: o‘pkadagi yengil kataral yoki seroz yallig‘lanishni o‘limning sababi deb yozish.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to‘laqonlik va suyuq qon asfiksiyani isbotlamaydi? 2) Reflyuks massasini qanday izohlaysiz? Doskada: jadvalni chizib, ikki ustunda umumiy belgilarni belgilang. Tipik xato: tez o‘lim belgilarini topib, darhol asfiksiya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Qaysi ma’lumotlar asfiksiya xulosasini qo‘llab-quvvatlaydi? 2) Katamnestik ma’lumotda nimalarni so‘raysiz? Doskada: xulosaga olib boruvchi bosqichlar zanjirini chizing. Tipik xato: faqat voqea tafsilotiga tayanib, nafas teshiklari bekilganini taxmin qilish.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Nazorat savollari: 1) Nogahon o‘limga xos belgilar. 2) Turtki bo‘luvchi omillar. 3) Nogahon o‘limda nima uchun zo‘raki o‘limga shubha tug‘iladi? 4) Katta yoshdagilarda nogahon o‘lim xususiyatlari. 5) Bolalarda nogahon o‘lim sabablari. 6) GTO‘S nimani anglatadi? 7) GTO‘S gipotezalari. 8) GTO‘S xavf omillari. 9) GTO‘Sda murdadagi o‘zgarishlar. 10) GTO‘S gipodiagnostikasi sababi. Doskada: GTO‘S gipotezalarining sxemasini chizdiring. Tipik xato: nogahon o‘lim va GTO‘S tushunchalarini aralashtirish.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To'satdan chaqaloq o'limi sindromi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dars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Bob 9 nozo‘raki o‘lim hollarida murdaning sud-tibbiy ekspertizasiga bag‘ishlangan. Bunday o‘limning sababi turli kasalliklardir.</a:t>
            </a:r>
          </a:p>
          <a:p>
            <a:pPr>
              <a:spcAft>
                <a:spcPts val="1200"/>
              </a:spcAft>
            </a:pPr>
            <a:r>
              <a:rPr sz="2200">
                <a:solidFill>
                  <a:srgbClr val="1F2937"/>
                </a:solidFill>
                <a:latin typeface="Calibri"/>
              </a:rPr>
              <a:t>▸  Bob to‘rt qismdan iborat: nogahon o‘lim belgilari, katta yoshdagilar o‘limi, bolalar o‘limi va go‘daklarning to‘satdan o‘limi sindromi.</a:t>
            </a:r>
          </a:p>
          <a:p>
            <a:pPr>
              <a:spcAft>
                <a:spcPts val="1200"/>
              </a:spcAft>
            </a:pPr>
            <a:r>
              <a:rPr sz="2200">
                <a:solidFill>
                  <a:srgbClr val="1F2937"/>
                </a:solidFill>
                <a:latin typeface="Calibri"/>
              </a:rPr>
              <a:t>▸  Go‘daklarning to‘satdan o‘limi sindromi (GTO‘S; ingliz tilida SIDS) — bir yoshgacha bolaning uyqudagi tushuntirib bo‘lmaydigan o‘limi.</a:t>
            </a:r>
          </a:p>
          <a:p>
            <a:pPr>
              <a:spcAft>
                <a:spcPts val="1200"/>
              </a:spcAft>
            </a:pPr>
            <a:r>
              <a:rPr sz="2200">
                <a:solidFill>
                  <a:srgbClr val="1F2937"/>
                </a:solidFill>
                <a:latin typeface="Calibri"/>
              </a:rPr>
              <a:t>▸  Dars oxirida GTO‘S diagnozi faqat boshqa sabablar istisno qilingandan keyin qo‘yilishini tushunib olamiz.</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248, 248-254, 252, 253-254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Nozo‘raki o‘lim ekspertizasining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Nozo‘raki o‘lim kasallikdan bo‘lgani uchun ekspertizaning asosiy maqsadi zo‘rakilik alomatlarini istisno qilishdir.</a:t>
            </a:r>
          </a:p>
          <a:p>
            <a:pPr>
              <a:spcAft>
                <a:spcPts val="1200"/>
              </a:spcAft>
            </a:pPr>
            <a:r>
              <a:rPr sz="2200">
                <a:solidFill>
                  <a:srgbClr val="1F2937"/>
                </a:solidFill>
                <a:latin typeface="Calibri"/>
              </a:rPr>
              <a:t>▸  Bunday hollardagi ekspertiza materiallari umumlashtiriladi va tahlil qilinadi.</a:t>
            </a:r>
          </a:p>
          <a:p>
            <a:pPr>
              <a:spcAft>
                <a:spcPts val="1200"/>
              </a:spcAft>
            </a:pPr>
            <a:r>
              <a:rPr sz="2200">
                <a:solidFill>
                  <a:srgbClr val="1F2937"/>
                </a:solidFill>
                <a:latin typeface="Calibri"/>
              </a:rPr>
              <a:t>▸  Tahlil asosida shunday o‘lim holatlarining oldini olishga qaratilgan taklif va tavsiyalar ishlab chiqiladi.</a:t>
            </a:r>
          </a:p>
          <a:p>
            <a:pPr>
              <a:spcAft>
                <a:spcPts val="1200"/>
              </a:spcAft>
            </a:pPr>
            <a:r>
              <a:rPr sz="2200">
                <a:solidFill>
                  <a:srgbClr val="1F2937"/>
                </a:solidFill>
                <a:latin typeface="Calibri"/>
              </a:rPr>
              <a:t>▸  Diqqat: xato qilish xavfi — nozo‘raki o‘lim sababi kasallik, lekin zo‘rakilikka shubha tug‘ilsa, uni avval istisno qilish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To‘satdan va nogahon o‘lim: atamalar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Eski ta’rifda farq kasallik aniqlanganligi va 24 soatlik muddatga bog‘langan.</a:t>
            </a:r>
          </a:p>
          <a:p>
            <a:pPr>
              <a:spcAft>
                <a:spcPts val="800"/>
              </a:spcAft>
            </a:pPr>
            <a:r>
              <a:rPr sz="1800">
                <a:solidFill>
                  <a:srgbClr val="1F2937"/>
                </a:solidFill>
                <a:latin typeface="Calibri"/>
              </a:rPr>
              <a:t>▸  Farq shartli: shaxsning salomatlikka munosabati va tibbiy yordam sifati ham muhim rol o‘ynaydi.</a:t>
            </a:r>
          </a:p>
          <a:p>
            <a:pPr>
              <a:spcAft>
                <a:spcPts val="800"/>
              </a:spcAft>
            </a:pPr>
            <a:r>
              <a:rPr sz="1800">
                <a:solidFill>
                  <a:srgbClr val="1F2937"/>
                </a:solidFill>
                <a:latin typeface="Calibri"/>
              </a:rPr>
              <a:t>▸  Hozir aksariyat tadqiqotchilar ikki atamani sinonim deb qabul qiladi.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43345"/>
                <a:gridCol w="2072314"/>
                <a:gridCol w="2072314"/>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Nogahon</a:t>
                      </a:r>
                    </a:p>
                  </a:txBody>
                  <a:tcPr marL="73152" marR="73152" marT="36576" marB="36576">
                    <a:solidFill>
                      <a:srgbClr val="0B1F3A"/>
                    </a:solidFill>
                  </a:tcPr>
                </a:tc>
                <a:tc>
                  <a:txBody>
                    <a:bodyPr/>
                    <a:lstStyle/>
                    <a:p>
                      <a:r>
                        <a:rPr sz="1300" b="1">
                          <a:solidFill>
                            <a:srgbClr val="FFFFFF"/>
                          </a:solidFill>
                        </a:rPr>
                        <a:t>To‘satdan</a:t>
                      </a:r>
                    </a:p>
                  </a:txBody>
                  <a:tcPr marL="73152" marR="73152" marT="36576" marB="36576">
                    <a:solidFill>
                      <a:srgbClr val="0B1F3A"/>
                    </a:solidFill>
                  </a:tcPr>
                </a:tc>
              </a:tr>
              <a:tr h="411480">
                <a:tc>
                  <a:txBody>
                    <a:bodyPr/>
                    <a:lstStyle/>
                    <a:p>
                      <a:r>
                        <a:rPr sz="1200" b="0">
                          <a:solidFill>
                            <a:srgbClr val="1F2937"/>
                          </a:solidFill>
                        </a:rPr>
                        <a:t>Kasallik</a:t>
                      </a:r>
                    </a:p>
                  </a:txBody>
                  <a:tcPr marL="73152" marR="73152" marT="36576" marB="36576">
                    <a:solidFill>
                      <a:srgbClr val="E8EEF6"/>
                    </a:solidFill>
                  </a:tcPr>
                </a:tc>
                <a:tc>
                  <a:txBody>
                    <a:bodyPr/>
                    <a:lstStyle/>
                    <a:p>
                      <a:r>
                        <a:rPr sz="1200" b="0">
                          <a:solidFill>
                            <a:srgbClr val="1F2937"/>
                          </a:solidFill>
                        </a:rPr>
                        <a:t>Avval aniqlanmagan</a:t>
                      </a:r>
                    </a:p>
                  </a:txBody>
                  <a:tcPr marL="73152" marR="73152" marT="36576" marB="36576">
                    <a:solidFill>
                      <a:srgbClr val="E8EEF6"/>
                    </a:solidFill>
                  </a:tcPr>
                </a:tc>
                <a:tc>
                  <a:txBody>
                    <a:bodyPr/>
                    <a:lstStyle/>
                    <a:p>
                      <a:r>
                        <a:rPr sz="1200" b="0">
                          <a:solidFill>
                            <a:srgbClr val="1F2937"/>
                          </a:solidFill>
                        </a:rPr>
                        <a:t>Kasallik aniqlangan</a:t>
                      </a:r>
                    </a:p>
                  </a:txBody>
                  <a:tcPr marL="73152" marR="73152" marT="36576" marB="36576">
                    <a:solidFill>
                      <a:srgbClr val="E8EEF6"/>
                    </a:solidFill>
                  </a:tcPr>
                </a:tc>
              </a:tr>
              <a:tr h="411480">
                <a:tc>
                  <a:txBody>
                    <a:bodyPr/>
                    <a:lstStyle/>
                    <a:p>
                      <a:r>
                        <a:rPr sz="1200" b="0">
                          <a:solidFill>
                            <a:srgbClr val="1F2937"/>
                          </a:solidFill>
                        </a:rPr>
                        <a:t>Vaziyat</a:t>
                      </a:r>
                    </a:p>
                  </a:txBody>
                  <a:tcPr marL="73152" marR="73152" marT="36576" marB="36576">
                    <a:solidFill>
                      <a:srgbClr val="FFFFFF"/>
                    </a:solidFill>
                  </a:tcPr>
                </a:tc>
                <a:tc>
                  <a:txBody>
                    <a:bodyPr/>
                    <a:lstStyle/>
                    <a:p>
                      <a:r>
                        <a:rPr sz="1200" b="0">
                          <a:solidFill>
                            <a:srgbClr val="1F2937"/>
                          </a:solidFill>
                        </a:rPr>
                        <a:t>24 soatda o‘limga olib kelgan</a:t>
                      </a:r>
                    </a:p>
                  </a:txBody>
                  <a:tcPr marL="73152" marR="73152" marT="36576" marB="36576">
                    <a:solidFill>
                      <a:srgbClr val="FFFFFF"/>
                    </a:solidFill>
                  </a:tcPr>
                </a:tc>
                <a:tc>
                  <a:txBody>
                    <a:bodyPr/>
                    <a:lstStyle/>
                    <a:p>
                      <a:r>
                        <a:rPr sz="1200" b="0">
                          <a:solidFill>
                            <a:srgbClr val="1F2937"/>
                          </a:solidFill>
                        </a:rPr>
                        <a:t>O‘lim xavfi bo‘lmagan vaziyat</a:t>
                      </a:r>
                    </a:p>
                  </a:txBody>
                  <a:tcPr marL="73152" marR="73152" marT="36576" marB="36576">
                    <a:solidFill>
                      <a:srgbClr val="FFFFFF"/>
                    </a:solidFill>
                  </a:tcPr>
                </a:tc>
              </a:tr>
              <a:tr h="411480">
                <a:tc>
                  <a:txBody>
                    <a:bodyPr/>
                    <a:lstStyle/>
                    <a:p>
                      <a:r>
                        <a:rPr sz="1200" b="0">
                          <a:solidFill>
                            <a:srgbClr val="1F2937"/>
                          </a:solidFill>
                        </a:rPr>
                        <a:t>Ingliz atamasi</a:t>
                      </a:r>
                    </a:p>
                  </a:txBody>
                  <a:tcPr marL="73152" marR="73152" marT="36576" marB="36576">
                    <a:solidFill>
                      <a:srgbClr val="E8EEF6"/>
                    </a:solidFill>
                  </a:tcPr>
                </a:tc>
                <a:tc>
                  <a:txBody>
                    <a:bodyPr/>
                    <a:lstStyle/>
                    <a:p>
                      <a:r>
                        <a:rPr sz="1200" b="0">
                          <a:solidFill>
                            <a:srgbClr val="1F2937"/>
                          </a:solidFill>
                        </a:rPr>
                        <a:t>unexpected death</a:t>
                      </a:r>
                    </a:p>
                  </a:txBody>
                  <a:tcPr marL="73152" marR="73152" marT="36576" marB="36576">
                    <a:solidFill>
                      <a:srgbClr val="E8EEF6"/>
                    </a:solidFill>
                  </a:tcPr>
                </a:tc>
                <a:tc>
                  <a:txBody>
                    <a:bodyPr/>
                    <a:lstStyle/>
                    <a:p>
                      <a:r>
                        <a:rPr sz="1200" b="0">
                          <a:solidFill>
                            <a:srgbClr val="1F2937"/>
                          </a:solidFill>
                        </a:rPr>
                        <a:t>sudden death</a:t>
                      </a:r>
                    </a:p>
                  </a:txBody>
                  <a:tcPr marL="73152" marR="73152" marT="36576" marB="36576">
                    <a:solidFill>
                      <a:srgbClr val="E8EEF6"/>
                    </a:solidFill>
                  </a:tcPr>
                </a:tc>
              </a:tr>
              <a:tr h="411480">
                <a:tc>
                  <a:txBody>
                    <a:bodyPr/>
                    <a:lstStyle/>
                    <a:p>
                      <a:r>
                        <a:rPr sz="1200" b="0">
                          <a:solidFill>
                            <a:srgbClr val="1F2937"/>
                          </a:solidFill>
                        </a:rPr>
                        <a:t>Hozirgi qarash</a:t>
                      </a:r>
                    </a:p>
                  </a:txBody>
                  <a:tcPr marL="73152" marR="73152" marT="36576" marB="36576">
                    <a:solidFill>
                      <a:srgbClr val="FFFFFF"/>
                    </a:solidFill>
                  </a:tcPr>
                </a:tc>
                <a:tc>
                  <a:txBody>
                    <a:bodyPr/>
                    <a:lstStyle/>
                    <a:p>
                      <a:r>
                        <a:rPr sz="1200" b="0">
                          <a:solidFill>
                            <a:srgbClr val="1F2937"/>
                          </a:solidFill>
                        </a:rPr>
                        <a:t>Sinonim sifatida</a:t>
                      </a:r>
                    </a:p>
                  </a:txBody>
                  <a:tcPr marL="73152" marR="73152" marT="36576" marB="36576">
                    <a:solidFill>
                      <a:srgbClr val="FFFFFF"/>
                    </a:solidFill>
                  </a:tcPr>
                </a:tc>
                <a:tc>
                  <a:txBody>
                    <a:bodyPr/>
                    <a:lstStyle/>
                    <a:p>
                      <a:r>
                        <a:rPr sz="1200" b="0">
                          <a:solidFill>
                            <a:srgbClr val="1F2937"/>
                          </a:solidFill>
                        </a:rPr>
                        <a:t>Sinonim sifatida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Eski ta’rif bo‘yicha farq</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Nogahon o‘limga xos 5 ta belgi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O‘lim sababi doim kasallik bo‘ladi. Oldindan belgilar ko‘pincha umuman kuzatilmaydi yoki yaqqol bilinmaydi.</a:t>
            </a:r>
          </a:p>
          <a:p>
            <a:pPr>
              <a:spcAft>
                <a:spcPts val="800"/>
              </a:spcAft>
            </a:pPr>
            <a:r>
              <a:rPr sz="1800">
                <a:solidFill>
                  <a:srgbClr val="1F2937"/>
                </a:solidFill>
                <a:latin typeface="Calibri"/>
              </a:rPr>
              <a:t>▸  O‘lim tez, qisqa muddatda sodir bo‘ladi. Undan oldin salomatlik holati to‘liq yoki nisbatan yaxshi bo‘ladi.</a:t>
            </a:r>
          </a:p>
          <a:p>
            <a:pPr>
              <a:spcAft>
                <a:spcPts val="800"/>
              </a:spcAft>
            </a:pPr>
            <a:r>
              <a:rPr sz="1800">
                <a:solidFill>
                  <a:srgbClr val="1F2937"/>
                </a:solidFill>
                <a:latin typeface="Calibri"/>
              </a:rPr>
              <a:t>▸  Voqea tafsilotlari zo‘raki o‘limga shubha uyg‘otadi. Murda tekshiruvida o‘limga sabab bo‘lgan kasallik topiladi.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Sababi — kasallik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O‘lim tez sodir bo‘ladi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Oldin sog‘liq yaxshi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Zo‘raki o‘limga shubha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Murdada kasallik topiladi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Nogahon o‘lim belgilari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Nogahon o‘limga olib keluvchi kasalliklar guruhlari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Surunkali kasalliklar ko‘pincha simptomsiz kechadi va to‘liq yoki qisman kompensatsiya holatida bo‘ladi.</a:t>
            </a:r>
          </a:p>
          <a:p>
            <a:pPr>
              <a:spcAft>
                <a:spcPts val="800"/>
              </a:spcAft>
            </a:pPr>
            <a:r>
              <a:rPr sz="1800">
                <a:solidFill>
                  <a:srgbClr val="1F2937"/>
                </a:solidFill>
                <a:latin typeface="Calibri"/>
              </a:rPr>
              <a:t>▸  Ba’zi kasalliklar vaqti-vaqti bilan hayot uchun xavfli xurujlar bilan o‘tadi.</a:t>
            </a:r>
          </a:p>
          <a:p>
            <a:pPr>
              <a:spcAft>
                <a:spcPts val="800"/>
              </a:spcAft>
            </a:pPr>
            <a:r>
              <a:rPr sz="1800">
                <a:solidFill>
                  <a:srgbClr val="1F2937"/>
                </a:solidFill>
                <a:latin typeface="Calibri"/>
              </a:rPr>
              <a:t>▸  O‘tkir rivojlanadigan kasalliklar va organizmdagi to‘satdan funksional buzilishlar ham o‘limga olib keladi.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92533"/>
                <a:gridCol w="3495441"/>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Misollar</a:t>
                      </a:r>
                    </a:p>
                  </a:txBody>
                  <a:tcPr marL="73152" marR="73152" marT="36576" marB="36576">
                    <a:solidFill>
                      <a:srgbClr val="0B1F3A"/>
                    </a:solidFill>
                  </a:tcPr>
                </a:tc>
              </a:tr>
              <a:tr h="411480">
                <a:tc>
                  <a:txBody>
                    <a:bodyPr/>
                    <a:lstStyle/>
                    <a:p>
                      <a:r>
                        <a:rPr sz="1300" b="0">
                          <a:solidFill>
                            <a:srgbClr val="1F2937"/>
                          </a:solidFill>
                        </a:rPr>
                        <a:t>Simptomsiz surunkali</a:t>
                      </a:r>
                    </a:p>
                  </a:txBody>
                  <a:tcPr marL="73152" marR="73152" marT="36576" marB="36576">
                    <a:solidFill>
                      <a:srgbClr val="E8EEF6"/>
                    </a:solidFill>
                  </a:tcPr>
                </a:tc>
                <a:tc>
                  <a:txBody>
                    <a:bodyPr/>
                    <a:lstStyle/>
                    <a:p>
                      <a:r>
                        <a:rPr sz="1300" b="0">
                          <a:solidFill>
                            <a:srgbClr val="1F2937"/>
                          </a:solidFill>
                        </a:rPr>
                        <a:t>Yurak-qon tomir kasalliklari</a:t>
                      </a:r>
                    </a:p>
                  </a:txBody>
                  <a:tcPr marL="73152" marR="73152" marT="36576" marB="36576">
                    <a:solidFill>
                      <a:srgbClr val="E8EEF6"/>
                    </a:solidFill>
                  </a:tcPr>
                </a:tc>
              </a:tr>
              <a:tr h="411480">
                <a:tc>
                  <a:txBody>
                    <a:bodyPr/>
                    <a:lstStyle/>
                    <a:p>
                      <a:r>
                        <a:rPr sz="1300" b="0">
                          <a:solidFill>
                            <a:srgbClr val="1F2937"/>
                          </a:solidFill>
                        </a:rPr>
                        <a:t>Xurujli kasalliklar</a:t>
                      </a:r>
                    </a:p>
                  </a:txBody>
                  <a:tcPr marL="73152" marR="73152" marT="36576" marB="36576">
                    <a:solidFill>
                      <a:srgbClr val="FFFFFF"/>
                    </a:solidFill>
                  </a:tcPr>
                </a:tc>
                <a:tc>
                  <a:txBody>
                    <a:bodyPr/>
                    <a:lstStyle/>
                    <a:p>
                      <a:r>
                        <a:rPr sz="1300" b="0">
                          <a:solidFill>
                            <a:srgbClr val="1F2937"/>
                          </a:solidFill>
                        </a:rPr>
                        <a:t>Tutqanoq, diabetik koma, bronxial astma</a:t>
                      </a:r>
                    </a:p>
                  </a:txBody>
                  <a:tcPr marL="73152" marR="73152" marT="36576" marB="36576">
                    <a:solidFill>
                      <a:srgbClr val="FFFFFF"/>
                    </a:solidFill>
                  </a:tcPr>
                </a:tc>
              </a:tr>
              <a:tr h="411480">
                <a:tc>
                  <a:txBody>
                    <a:bodyPr/>
                    <a:lstStyle/>
                    <a:p>
                      <a:r>
                        <a:rPr sz="1300" b="0">
                          <a:solidFill>
                            <a:srgbClr val="1F2937"/>
                          </a:solidFill>
                        </a:rPr>
                        <a:t>O‘tkir kasalliklar</a:t>
                      </a:r>
                    </a:p>
                  </a:txBody>
                  <a:tcPr marL="73152" marR="73152" marT="36576" marB="36576">
                    <a:solidFill>
                      <a:srgbClr val="E8EEF6"/>
                    </a:solidFill>
                  </a:tcPr>
                </a:tc>
                <a:tc>
                  <a:txBody>
                    <a:bodyPr/>
                    <a:lstStyle/>
                    <a:p>
                      <a:r>
                        <a:rPr sz="1300" b="0">
                          <a:solidFill>
                            <a:srgbClr val="1F2937"/>
                          </a:solidFill>
                        </a:rPr>
                        <a:t>Miya qon aylanishining buzilishi</a:t>
                      </a:r>
                    </a:p>
                  </a:txBody>
                  <a:tcPr marL="73152" marR="73152" marT="36576" marB="36576">
                    <a:solidFill>
                      <a:srgbClr val="E8EEF6"/>
                    </a:solidFill>
                  </a:tcPr>
                </a:tc>
              </a:tr>
              <a:tr h="411480">
                <a:tc>
                  <a:txBody>
                    <a:bodyPr/>
                    <a:lstStyle/>
                    <a:p>
                      <a:r>
                        <a:rPr sz="1300" b="0">
                          <a:solidFill>
                            <a:srgbClr val="1F2937"/>
                          </a:solidFill>
                        </a:rPr>
                        <a:t>Funksional buzilish</a:t>
                      </a:r>
                    </a:p>
                  </a:txBody>
                  <a:tcPr marL="73152" marR="73152" marT="36576" marB="36576">
                    <a:solidFill>
                      <a:srgbClr val="FFFFFF"/>
                    </a:solidFill>
                  </a:tcPr>
                </a:tc>
                <a:tc>
                  <a:txBody>
                    <a:bodyPr/>
                    <a:lstStyle/>
                    <a:p>
                      <a:r>
                        <a:rPr sz="1300" b="0">
                          <a:solidFill>
                            <a:srgbClr val="1F2937"/>
                          </a:solidFill>
                        </a:rPr>
                        <a:t>Angiospazm, angionevrotik shishish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Kasallik guruhlari va misollar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Vaqt va joy: qaysi zo‘raki o‘limga shubha tug‘iladi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Nogahon o‘lim sodir bo‘lgan vaqt va joy zo‘raki o‘limni istisno qilish zaruratini tug‘diradi.</a:t>
            </a:r>
          </a:p>
          <a:p>
            <a:pPr>
              <a:spcAft>
                <a:spcPts val="800"/>
              </a:spcAft>
            </a:pPr>
            <a:r>
              <a:rPr sz="1800">
                <a:solidFill>
                  <a:srgbClr val="1F2937"/>
                </a:solidFill>
                <a:latin typeface="Calibri"/>
              </a:rPr>
              <a:t>▸  Har bir vaziyat o‘ziga mos zo‘raki sababni eslatadi, shuning uchun ekspertiza uni inkor etishi kerak.</a:t>
            </a:r>
          </a:p>
          <a:p>
            <a:pPr>
              <a:spcAft>
                <a:spcPts val="800"/>
              </a:spcAft>
            </a:pPr>
            <a:r>
              <a:rPr sz="1800">
                <a:solidFill>
                  <a:srgbClr val="1F2937"/>
                </a:solidFill>
                <a:latin typeface="Calibri"/>
              </a:rPr>
              <a:t>▸  Nozo‘raki o‘limda ekspertizaning asosiy maqsadi — zo‘rakilik alomatlarini istisno qilish.</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643987"/>
                <a:gridCol w="2643987"/>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Shubha</a:t>
                      </a:r>
                    </a:p>
                  </a:txBody>
                  <a:tcPr marL="73152" marR="73152" marT="36576" marB="36576">
                    <a:solidFill>
                      <a:srgbClr val="0B1F3A"/>
                    </a:solidFill>
                  </a:tcPr>
                </a:tc>
              </a:tr>
              <a:tr h="411480">
                <a:tc>
                  <a:txBody>
                    <a:bodyPr/>
                    <a:lstStyle/>
                    <a:p>
                      <a:r>
                        <a:rPr sz="1300" b="0">
                          <a:solidFill>
                            <a:srgbClr val="1F2937"/>
                          </a:solidFill>
                        </a:rPr>
                        <a:t>Mehmondorchilik; elektromonter</a:t>
                      </a:r>
                    </a:p>
                  </a:txBody>
                  <a:tcPr marL="73152" marR="73152" marT="36576" marB="36576">
                    <a:solidFill>
                      <a:srgbClr val="E8EEF6"/>
                    </a:solidFill>
                  </a:tcPr>
                </a:tc>
                <a:tc>
                  <a:txBody>
                    <a:bodyPr/>
                    <a:lstStyle/>
                    <a:p>
                      <a:r>
                        <a:rPr sz="1300" b="0">
                          <a:solidFill>
                            <a:srgbClr val="1F2937"/>
                          </a:solidFill>
                        </a:rPr>
                        <a:t>Zaharlanish; elektrotravma</a:t>
                      </a:r>
                    </a:p>
                  </a:txBody>
                  <a:tcPr marL="73152" marR="73152" marT="36576" marB="36576">
                    <a:solidFill>
                      <a:srgbClr val="E8EEF6"/>
                    </a:solidFill>
                  </a:tcPr>
                </a:tc>
              </a:tr>
              <a:tr h="411480">
                <a:tc>
                  <a:txBody>
                    <a:bodyPr/>
                    <a:lstStyle/>
                    <a:p>
                      <a:r>
                        <a:rPr sz="1300" b="0">
                          <a:solidFill>
                            <a:srgbClr val="1F2937"/>
                          </a:solidFill>
                        </a:rPr>
                        <a:t>G‘avvos suv ostida; zavod ishchisi</a:t>
                      </a:r>
                    </a:p>
                  </a:txBody>
                  <a:tcPr marL="73152" marR="73152" marT="36576" marB="36576">
                    <a:solidFill>
                      <a:srgbClr val="FFFFFF"/>
                    </a:solidFill>
                  </a:tcPr>
                </a:tc>
                <a:tc>
                  <a:txBody>
                    <a:bodyPr/>
                    <a:lstStyle/>
                    <a:p>
                      <a:r>
                        <a:rPr sz="1300" b="0">
                          <a:solidFill>
                            <a:srgbClr val="1F2937"/>
                          </a:solidFill>
                        </a:rPr>
                        <a:t>Gipoksiya; mexanik travma, elektrotravma</a:t>
                      </a:r>
                    </a:p>
                  </a:txBody>
                  <a:tcPr marL="73152" marR="73152" marT="36576" marB="36576">
                    <a:solidFill>
                      <a:srgbClr val="FFFFFF"/>
                    </a:solidFill>
                  </a:tcPr>
                </a:tc>
              </a:tr>
              <a:tr h="411480">
                <a:tc>
                  <a:txBody>
                    <a:bodyPr/>
                    <a:lstStyle/>
                    <a:p>
                      <a:r>
                        <a:rPr sz="1300" b="0">
                          <a:solidFill>
                            <a:srgbClr val="1F2937"/>
                          </a:solidFill>
                        </a:rPr>
                        <a:t>Ochiq dalada dehqon; homilador yosh ayol</a:t>
                      </a:r>
                    </a:p>
                  </a:txBody>
                  <a:tcPr marL="73152" marR="73152" marT="36576" marB="36576">
                    <a:solidFill>
                      <a:srgbClr val="E8EEF6"/>
                    </a:solidFill>
                  </a:tcPr>
                </a:tc>
                <a:tc>
                  <a:txBody>
                    <a:bodyPr/>
                    <a:lstStyle/>
                    <a:p>
                      <a:r>
                        <a:rPr sz="1300" b="0">
                          <a:solidFill>
                            <a:srgbClr val="1F2937"/>
                          </a:solidFill>
                        </a:rPr>
                        <a:t>Issiq urishi; jinoiy abort</a:t>
                      </a:r>
                    </a:p>
                  </a:txBody>
                  <a:tcPr marL="73152" marR="73152" marT="36576" marB="36576">
                    <a:solidFill>
                      <a:srgbClr val="E8EEF6"/>
                    </a:solidFill>
                  </a:tcPr>
                </a:tc>
              </a:tr>
              <a:tr h="411480">
                <a:tc>
                  <a:txBody>
                    <a:bodyPr/>
                    <a:lstStyle/>
                    <a:p>
                      <a:r>
                        <a:rPr sz="1300" b="0">
                          <a:solidFill>
                            <a:srgbClr val="1F2937"/>
                          </a:solidFill>
                        </a:rPr>
                        <a:t>Tibbiy muolajadan keyingi o‘lim</a:t>
                      </a:r>
                    </a:p>
                  </a:txBody>
                  <a:tcPr marL="73152" marR="73152" marT="36576" marB="36576">
                    <a:solidFill>
                      <a:srgbClr val="FFFFFF"/>
                    </a:solidFill>
                  </a:tcPr>
                </a:tc>
                <a:tc>
                  <a:txBody>
                    <a:bodyPr/>
                    <a:lstStyle/>
                    <a:p>
                      <a:r>
                        <a:rPr sz="1300" b="0">
                          <a:solidFill>
                            <a:srgbClr val="1F2937"/>
                          </a:solidFill>
                        </a:rPr>
                        <a:t>Anafilaktik shok, havo emboliyasi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Holat va mos shubha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248, 248–249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Nogahon o‘limni qo‘zg‘atuvchi turtki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Yashirin kechgan surunkali kasallikda ayrim holatlar ta’sirida dekompensatsiya yuz beradi. Bunday holatlar nogahon o‘limga turtki (trigger) bo‘lib xizmat qiladi.</a:t>
            </a:r>
          </a:p>
          <a:p>
            <a:pPr>
              <a:spcAft>
                <a:spcPts val="1200"/>
              </a:spcAft>
            </a:pPr>
            <a:r>
              <a:rPr sz="2000">
                <a:solidFill>
                  <a:srgbClr val="1F2937"/>
                </a:solidFill>
                <a:latin typeface="Calibri"/>
              </a:rPr>
              <a:t>▸  Jismoniy zo‘riqish (og‘ir ish, yuk ko‘tarish, chopish) va ruhiy zo‘riqish (asosan salbiy emotsiyalar) turtki bo‘lishi mumkin.</a:t>
            </a:r>
          </a:p>
          <a:p>
            <a:pPr>
              <a:spcAft>
                <a:spcPts val="1200"/>
              </a:spcAft>
            </a:pPr>
            <a:r>
              <a:rPr sz="2000">
                <a:solidFill>
                  <a:srgbClr val="1F2937"/>
                </a:solidFill>
                <a:latin typeface="Calibri"/>
              </a:rPr>
              <a:t>▸  Haddan tashqari isib ketish yoki sovuq qotish hamda meteorologik omillar: havo harorati va bosimining keskin o‘zgarishi, magnit to‘fonlari, iqlimning keskin o‘zgarishi.</a:t>
            </a:r>
          </a:p>
          <a:p>
            <a:pPr>
              <a:spcAft>
                <a:spcPts val="1200"/>
              </a:spcAft>
            </a:pPr>
            <a:r>
              <a:rPr sz="2000">
                <a:solidFill>
                  <a:srgbClr val="1F2937"/>
                </a:solidFill>
                <a:latin typeface="Calibri"/>
              </a:rPr>
              <a:t>▸  Ovqatlanish va suv ichish rejimining buzilishi (uzoq och yurish, suv ichmaslik, birdaniga ko‘p ovqat yeyish) va spirtli ichimliklarni iste’mol qilish.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nogahon o‘lim asoslari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nogahon o‘lim (unexpected death) nima? Javob: avval aniqlanmagan kasallik tufayli sog‘liq yomonlashib, 24 soat ichida o‘lim bilan tugashi.</a:t>
            </a:r>
          </a:p>
          <a:p>
            <a:pPr>
              <a:spcAft>
                <a:spcPts val="1200"/>
              </a:spcAft>
            </a:pPr>
            <a:r>
              <a:rPr sz="2200">
                <a:solidFill>
                  <a:srgbClr val="1F2937"/>
                </a:solidFill>
                <a:latin typeface="Calibri"/>
              </a:rPr>
              <a:t>▸  Savol: to‘satdan o‘lim (sudden death) nima? Javob: kasallik aniqlangan, lekin o‘lim xavfi bo‘lmagan vaziyatda sodir bo‘lgan o‘lim.</a:t>
            </a:r>
          </a:p>
          <a:p>
            <a:pPr>
              <a:spcAft>
                <a:spcPts val="1200"/>
              </a:spcAft>
            </a:pPr>
            <a:r>
              <a:rPr sz="2200">
                <a:solidFill>
                  <a:srgbClr val="1F2937"/>
                </a:solidFill>
                <a:latin typeface="Calibri"/>
              </a:rPr>
              <a:t>▸  Diqqat: xato qilish xavfi! ‘Nogahon’ ≠ ‘to‘satdan’ farqi shartli; hozir aksariyat tadqiqotchilar bu ikki atamani sinonim sifatida qabul qiladi.</a:t>
            </a:r>
          </a:p>
          <a:p>
            <a:pPr>
              <a:spcAft>
                <a:spcPts val="1200"/>
              </a:spcAft>
            </a:pPr>
            <a:r>
              <a:rPr sz="2200">
                <a:solidFill>
                  <a:srgbClr val="1F2937"/>
                </a:solidFill>
                <a:latin typeface="Calibri"/>
              </a:rPr>
              <a:t>▸  Savol: nogahon o‘limning belgilari? Javob: sababi kasallik, o‘lim tez va qisqa muddatda, oldin sog‘liq yaxshi, zo‘raki o‘limga shubha, murdada kasallik topiladi.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mehmondorchilikdagi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odam mehmondorchilik vaqtida to‘satdan vafot etdi. Nogahon o‘lim sodir bo‘lgan vaqt va joy zo‘raki o‘limni istisno qilish zarurligini keltirib chiqaradi.</a:t>
            </a:r>
          </a:p>
          <a:p>
            <a:pPr>
              <a:spcAft>
                <a:spcPts val="1200"/>
              </a:spcAft>
            </a:pPr>
            <a:r>
              <a:rPr sz="2200">
                <a:solidFill>
                  <a:srgbClr val="1F2937"/>
                </a:solidFill>
                <a:latin typeface="Calibri"/>
              </a:rPr>
              <a:t>▸  Mehmondorchilikdagi o‘lim zaharlanishga shubha tug‘diradi. Solishtiring: elektromonterning ish vaqtidagi o‘limi elektrotravmaga, g‘avvosning suv ostidagi o‘limi gipoksiyaga shubha uyg‘otadi.</a:t>
            </a:r>
          </a:p>
          <a:p>
            <a:pPr>
              <a:spcAft>
                <a:spcPts val="1200"/>
              </a:spcAft>
            </a:pPr>
            <a:r>
              <a:rPr sz="2200">
                <a:solidFill>
                  <a:srgbClr val="1F2937"/>
                </a:solidFill>
                <a:latin typeface="Calibri"/>
              </a:rPr>
              <a:t>▸  Savol 1: bunday holatda sud-tibbiy ekspertizaning asosiy maqsadi nima? Javob: zo‘rakilik alomatlarini istisno qilish.</a:t>
            </a:r>
          </a:p>
          <a:p>
            <a:pPr>
              <a:spcAft>
                <a:spcPts val="1200"/>
              </a:spcAft>
            </a:pPr>
            <a:r>
              <a:rPr sz="2200">
                <a:solidFill>
                  <a:srgbClr val="1F2937"/>
                </a:solidFill>
                <a:latin typeface="Calibri"/>
              </a:rPr>
              <a:t>▸  Savol 2: murdada o‘limga sabab bo‘lgan hayotiy kasallik topilsa, bu nogahon o‘lim belgilaridan qaysi biriga mos keladi?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Katta yoshdagilar: yurak-qon tomir kasalliklari ulushi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Katta yoshdagilarda nogahon o‘limning 85–90 foizida sabab yurak-qon tomir kasalliklari bo‘ladi.</a:t>
            </a:r>
          </a:p>
          <a:p>
            <a:pPr>
              <a:spcAft>
                <a:spcPts val="1200"/>
              </a:spcAft>
            </a:pPr>
            <a:r>
              <a:rPr sz="2200">
                <a:solidFill>
                  <a:srgbClr val="1F2937"/>
                </a:solidFill>
                <a:latin typeface="Calibri"/>
              </a:rPr>
              <a:t>▸  Bu tizim kasalliklari orasida yetakchi o‘rinni ateroskleroz va gipertonik kasallik egallaydi.</a:t>
            </a:r>
          </a:p>
          <a:p>
            <a:pPr>
              <a:spcAft>
                <a:spcPts val="1200"/>
              </a:spcAft>
            </a:pPr>
            <a:r>
              <a:rPr sz="2200">
                <a:solidFill>
                  <a:srgbClr val="1F2937"/>
                </a:solidFill>
                <a:latin typeface="Calibri"/>
              </a:rPr>
              <a:t>▸  Nogahon o‘limga olib kelishda asosan yurak va miya qon tomirlarining aterosklerozi muhim ahamiyatga ega.</a:t>
            </a:r>
          </a:p>
          <a:p>
            <a:pPr>
              <a:spcAft>
                <a:spcPts val="1200"/>
              </a:spcAft>
            </a:pPr>
            <a:r>
              <a:rPr sz="2200">
                <a:solidFill>
                  <a:srgbClr val="1F2937"/>
                </a:solidFill>
                <a:latin typeface="Calibri"/>
              </a:rPr>
              <a:t>▸  Diqqat: xato qilish xavfi. Bu ulush faqat katta yoshdagilarga tegishli, chunki har bir yosh guruhida nogahon o‘limga olib keluvchi kasallik o‘ziga xos.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O‘tkir koronar etishmovchilik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Asosiy o‘rinni yurak toj tomirlarining spazmi tutadi; aterosklerozning ahamiyati ikkilamchi.</a:t>
            </a:r>
          </a:p>
          <a:p>
            <a:pPr>
              <a:spcAft>
                <a:spcPts val="800"/>
              </a:spcAft>
            </a:pPr>
            <a:r>
              <a:rPr sz="1800">
                <a:solidFill>
                  <a:srgbClr val="1F2937"/>
                </a:solidFill>
                <a:latin typeface="Calibri"/>
              </a:rPr>
              <a:t>▸  Ishemiyada shikastlangan kardiomiotsitlardan ‘aritmogen substansiya’ ajraladi.</a:t>
            </a:r>
          </a:p>
          <a:p>
            <a:pPr>
              <a:spcAft>
                <a:spcPts val="800"/>
              </a:spcAft>
            </a:pPr>
            <a:r>
              <a:rPr sz="1800">
                <a:solidFill>
                  <a:srgbClr val="1F2937"/>
                </a:solidFill>
                <a:latin typeface="Calibri"/>
              </a:rPr>
              <a:t>▸  Qon aylanishi tiklangach u qonga o‘tadi; qorinchalar fibrillyasiyasi o‘limning bevosita sababi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Toj tomirlar spazmi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Ishemiya, hujayra shikasti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Aritmogen substansiya ajraladi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aylanishi tiklanadi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Qorinchalar fibrillyasiyasi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Mexanizm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Nogahon o‘lim va miokard infarkti: vaqt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Yaqqol miokard infarkti uchun koronar qon aylanishi buzilgach kamida 12–24 soat zarur.</a:t>
            </a:r>
          </a:p>
          <a:p>
            <a:pPr>
              <a:spcAft>
                <a:spcPts val="800"/>
              </a:spcAft>
            </a:pPr>
            <a:r>
              <a:rPr sz="1800">
                <a:solidFill>
                  <a:srgbClr val="1F2937"/>
                </a:solidFill>
                <a:latin typeface="Calibri"/>
              </a:rPr>
              <a:t>▸  Nogahon o‘lim odatda tezroq, kichikroq vaqt oralig‘ida sodir bo‘ladi.</a:t>
            </a:r>
          </a:p>
          <a:p>
            <a:pPr>
              <a:spcAft>
                <a:spcPts val="800"/>
              </a:spcAft>
            </a:pPr>
            <a:r>
              <a:rPr sz="1800">
                <a:solidFill>
                  <a:srgbClr val="1F2937"/>
                </a:solidFill>
                <a:latin typeface="Calibri"/>
              </a:rPr>
              <a:t>▸  Shu sababli nogahon o‘limda ko‘zga yaqqol tashlanadigan miokard infarkti kuzatilmaydi.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Vaqt</a:t>
                      </a:r>
                    </a:p>
                  </a:txBody>
                  <a:tcPr marL="73152" marR="73152" marT="36576" marB="36576">
                    <a:solidFill>
                      <a:srgbClr val="0B1F3A"/>
                    </a:solidFill>
                  </a:tcPr>
                </a:tc>
                <a:tc>
                  <a:txBody>
                    <a:bodyPr/>
                    <a:lstStyle/>
                    <a:p>
                      <a:r>
                        <a:rPr sz="1400" b="1">
                          <a:solidFill>
                            <a:srgbClr val="FFFFFF"/>
                          </a:solidFill>
                        </a:rPr>
                        <a:t>Topilma</a:t>
                      </a:r>
                    </a:p>
                  </a:txBody>
                  <a:tcPr marL="73152" marR="73152" marT="36576" marB="36576">
                    <a:solidFill>
                      <a:srgbClr val="0B1F3A"/>
                    </a:solidFill>
                  </a:tcPr>
                </a:tc>
              </a:tr>
              <a:tr h="411480">
                <a:tc>
                  <a:txBody>
                    <a:bodyPr/>
                    <a:lstStyle/>
                    <a:p>
                      <a:r>
                        <a:rPr sz="1300" b="0">
                          <a:solidFill>
                            <a:srgbClr val="1F2937"/>
                          </a:solidFill>
                        </a:rPr>
                        <a:t>Bir necha soat</a:t>
                      </a:r>
                    </a:p>
                  </a:txBody>
                  <a:tcPr marL="73152" marR="73152" marT="36576" marB="36576">
                    <a:solidFill>
                      <a:srgbClr val="E8EEF6"/>
                    </a:solidFill>
                  </a:tcPr>
                </a:tc>
                <a:tc>
                  <a:txBody>
                    <a:bodyPr/>
                    <a:lstStyle/>
                    <a:p>
                      <a:r>
                        <a:rPr sz="1300" b="0">
                          <a:solidFill>
                            <a:srgbClr val="1F2937"/>
                          </a:solidFill>
                        </a:rPr>
                        <a:t>Nekroz aniq bilinmaydi, miokard shalviragan</a:t>
                      </a:r>
                    </a:p>
                  </a:txBody>
                  <a:tcPr marL="73152" marR="73152" marT="36576" marB="36576">
                    <a:solidFill>
                      <a:srgbClr val="E8EEF6"/>
                    </a:solidFill>
                  </a:tcPr>
                </a:tc>
              </a:tr>
              <a:tr h="411480">
                <a:tc>
                  <a:txBody>
                    <a:bodyPr/>
                    <a:lstStyle/>
                    <a:p>
                      <a:r>
                        <a:rPr sz="1300" b="0">
                          <a:solidFill>
                            <a:srgbClr val="1F2937"/>
                          </a:solidFill>
                        </a:rPr>
                        <a:t>1-sutka 2-yarmi</a:t>
                      </a:r>
                    </a:p>
                  </a:txBody>
                  <a:tcPr marL="73152" marR="73152" marT="36576" marB="36576">
                    <a:solidFill>
                      <a:srgbClr val="FFFFFF"/>
                    </a:solidFill>
                  </a:tcPr>
                </a:tc>
                <a:tc>
                  <a:txBody>
                    <a:bodyPr/>
                    <a:lstStyle/>
                    <a:p>
                      <a:r>
                        <a:rPr sz="1300" b="0">
                          <a:solidFill>
                            <a:srgbClr val="1F2937"/>
                          </a:solidFill>
                        </a:rPr>
                        <a:t>Er rangli o‘choq, qon quyilish hoshiyasi</a:t>
                      </a:r>
                    </a:p>
                  </a:txBody>
                  <a:tcPr marL="73152" marR="73152" marT="36576" marB="36576">
                    <a:solidFill>
                      <a:srgbClr val="FFFFFF"/>
                    </a:solidFill>
                  </a:tcPr>
                </a:tc>
              </a:tr>
              <a:tr h="411480">
                <a:tc>
                  <a:txBody>
                    <a:bodyPr/>
                    <a:lstStyle/>
                    <a:p>
                      <a:r>
                        <a:rPr sz="1300" b="0">
                          <a:solidFill>
                            <a:srgbClr val="1F2937"/>
                          </a:solidFill>
                        </a:rPr>
                        <a:t>Keyinroq</a:t>
                      </a:r>
                    </a:p>
                  </a:txBody>
                  <a:tcPr marL="73152" marR="73152" marT="36576" marB="36576">
                    <a:solidFill>
                      <a:srgbClr val="E8EEF6"/>
                    </a:solidFill>
                  </a:tcPr>
                </a:tc>
                <a:tc>
                  <a:txBody>
                    <a:bodyPr/>
                    <a:lstStyle/>
                    <a:p>
                      <a:r>
                        <a:rPr sz="1300" b="0">
                          <a:solidFill>
                            <a:srgbClr val="1F2937"/>
                          </a:solidFill>
                        </a:rPr>
                        <a:t>Sargimtir-kul, sargimtir-yashil rang</a:t>
                      </a:r>
                    </a:p>
                  </a:txBody>
                  <a:tcPr marL="73152" marR="73152" marT="36576" marB="36576">
                    <a:solidFill>
                      <a:srgbClr val="E8EEF6"/>
                    </a:solidFill>
                  </a:tcPr>
                </a:tc>
              </a:tr>
              <a:tr h="411480">
                <a:tc>
                  <a:txBody>
                    <a:bodyPr/>
                    <a:lstStyle/>
                    <a:p>
                      <a:r>
                        <a:rPr sz="1300" b="0">
                          <a:solidFill>
                            <a:srgbClr val="1F2937"/>
                          </a:solidFill>
                        </a:rPr>
                        <a:t>Nogahon o‘lim</a:t>
                      </a:r>
                    </a:p>
                  </a:txBody>
                  <a:tcPr marL="73152" marR="73152" marT="36576" marB="36576">
                    <a:solidFill>
                      <a:srgbClr val="FFFFFF"/>
                    </a:solidFill>
                  </a:tcPr>
                </a:tc>
                <a:tc>
                  <a:txBody>
                    <a:bodyPr/>
                    <a:lstStyle/>
                    <a:p>
                      <a:r>
                        <a:rPr sz="1300" b="0">
                          <a:solidFill>
                            <a:srgbClr val="1F2937"/>
                          </a:solidFill>
                        </a:rPr>
                        <a:t>Odatda tezroq: yaqqol infarkt ulgurmaydi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Infarkt belgilari vaqt bo‘yicha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Miokard infarkti morfologiyasi: vaqt chizig‘i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Yaqqol infarkt rivojlanishi uchun koronar qon aylanishi buzilgach kamida 12–24 soat zarur.</a:t>
            </a:r>
          </a:p>
          <a:p>
            <a:pPr>
              <a:spcAft>
                <a:spcPts val="800"/>
              </a:spcAft>
            </a:pPr>
            <a:r>
              <a:rPr sz="1800">
                <a:solidFill>
                  <a:srgbClr val="1F2937"/>
                </a:solidFill>
                <a:latin typeface="Calibri"/>
              </a:rPr>
              <a:t>▸  Diqqat: nogahon o‘limda ko‘zga yaqqol tashlanadigan miokard infarkti odatda kuzatilmaydi.</a:t>
            </a:r>
          </a:p>
          <a:p>
            <a:pPr>
              <a:spcAft>
                <a:spcPts val="800"/>
              </a:spcAft>
            </a:pPr>
            <a:r>
              <a:rPr sz="1800">
                <a:solidFill>
                  <a:srgbClr val="1F2937"/>
                </a:solidFill>
                <a:latin typeface="Calibri"/>
              </a:rPr>
              <a:t>▸  Nekroz o‘chog‘i atrofida qon quyilish hoshiyasi bo‘ladi, shish hisobiga o‘choq biroz ko‘tarilib turadi.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993826"/>
                <a:gridCol w="3294148"/>
              </a:tblGrid>
              <a:tr h="411480">
                <a:tc>
                  <a:txBody>
                    <a:bodyPr/>
                    <a:lstStyle/>
                    <a:p>
                      <a:r>
                        <a:rPr sz="1400" b="1">
                          <a:solidFill>
                            <a:srgbClr val="FFFFFF"/>
                          </a:solidFill>
                        </a:rPr>
                        <a:t>Vaqt</a:t>
                      </a:r>
                    </a:p>
                  </a:txBody>
                  <a:tcPr marL="73152" marR="73152" marT="36576" marB="36576">
                    <a:solidFill>
                      <a:srgbClr val="0B1F3A"/>
                    </a:solidFill>
                  </a:tcPr>
                </a:tc>
                <a:tc>
                  <a:txBody>
                    <a:bodyPr/>
                    <a:lstStyle/>
                    <a:p>
                      <a:r>
                        <a:rPr sz="1400" b="1">
                          <a:solidFill>
                            <a:srgbClr val="FFFFFF"/>
                          </a:solidFill>
                        </a:rPr>
                        <a:t>Miokard holati</a:t>
                      </a:r>
                    </a:p>
                  </a:txBody>
                  <a:tcPr marL="73152" marR="73152" marT="36576" marB="36576">
                    <a:solidFill>
                      <a:srgbClr val="0B1F3A"/>
                    </a:solidFill>
                  </a:tcPr>
                </a:tc>
              </a:tr>
              <a:tr h="411480">
                <a:tc>
                  <a:txBody>
                    <a:bodyPr/>
                    <a:lstStyle/>
                    <a:p>
                      <a:r>
                        <a:rPr sz="1300" b="0">
                          <a:solidFill>
                            <a:srgbClr val="1F2937"/>
                          </a:solidFill>
                        </a:rPr>
                        <a:t>Bir necha soatdan keyin</a:t>
                      </a:r>
                    </a:p>
                  </a:txBody>
                  <a:tcPr marL="73152" marR="73152" marT="36576" marB="36576">
                    <a:solidFill>
                      <a:srgbClr val="E8EEF6"/>
                    </a:solidFill>
                  </a:tcPr>
                </a:tc>
                <a:tc>
                  <a:txBody>
                    <a:bodyPr/>
                    <a:lstStyle/>
                    <a:p>
                      <a:r>
                        <a:rPr sz="1300" b="0">
                          <a:solidFill>
                            <a:srgbClr val="1F2937"/>
                          </a:solidFill>
                        </a:rPr>
                        <a:t>Shalviragan, notekis qonga to‘lgan</a:t>
                      </a:r>
                    </a:p>
                  </a:txBody>
                  <a:tcPr marL="73152" marR="73152" marT="36576" marB="36576">
                    <a:solidFill>
                      <a:srgbClr val="E8EEF6"/>
                    </a:solidFill>
                  </a:tcPr>
                </a:tc>
              </a:tr>
              <a:tr h="411480">
                <a:tc>
                  <a:txBody>
                    <a:bodyPr/>
                    <a:lstStyle/>
                    <a:p>
                      <a:r>
                        <a:rPr sz="1300" b="0">
                          <a:solidFill>
                            <a:srgbClr val="1F2937"/>
                          </a:solidFill>
                        </a:rPr>
                        <a:t>1-sutka ikkinchi yarmi</a:t>
                      </a:r>
                    </a:p>
                  </a:txBody>
                  <a:tcPr marL="73152" marR="73152" marT="36576" marB="36576">
                    <a:solidFill>
                      <a:srgbClr val="FFFFFF"/>
                    </a:solidFill>
                  </a:tcPr>
                </a:tc>
                <a:tc>
                  <a:txBody>
                    <a:bodyPr/>
                    <a:lstStyle/>
                    <a:p>
                      <a:r>
                        <a:rPr sz="1300" b="0">
                          <a:solidFill>
                            <a:srgbClr val="1F2937"/>
                          </a:solidFill>
                        </a:rPr>
                        <a:t>Er rangidagi, qizg‘ish nekroz o‘chog‘i</a:t>
                      </a:r>
                    </a:p>
                  </a:txBody>
                  <a:tcPr marL="73152" marR="73152" marT="36576" marB="36576">
                    <a:solidFill>
                      <a:srgbClr val="FFFFFF"/>
                    </a:solidFill>
                  </a:tcPr>
                </a:tc>
              </a:tr>
              <a:tr h="411480">
                <a:tc>
                  <a:txBody>
                    <a:bodyPr/>
                    <a:lstStyle/>
                    <a:p>
                      <a:r>
                        <a:rPr sz="1300" b="0">
                          <a:solidFill>
                            <a:srgbClr val="1F2937"/>
                          </a:solidFill>
                        </a:rPr>
                        <a:t>Keyinroq</a:t>
                      </a:r>
                    </a:p>
                  </a:txBody>
                  <a:tcPr marL="73152" marR="73152" marT="36576" marB="36576">
                    <a:solidFill>
                      <a:srgbClr val="E8EEF6"/>
                    </a:solidFill>
                  </a:tcPr>
                </a:tc>
                <a:tc>
                  <a:txBody>
                    <a:bodyPr/>
                    <a:lstStyle/>
                    <a:p>
                      <a:r>
                        <a:rPr sz="1300" b="0">
                          <a:solidFill>
                            <a:srgbClr val="1F2937"/>
                          </a:solidFill>
                        </a:rPr>
                        <a:t>Sarg‘ish-kul, sarg‘ish-yashil rang</a:t>
                      </a:r>
                    </a:p>
                  </a:txBody>
                  <a:tcPr marL="73152" marR="73152" marT="36576" marB="36576">
                    <a:solidFill>
                      <a:srgbClr val="E8EEF6"/>
                    </a:solidFill>
                  </a:tcPr>
                </a:tc>
              </a:tr>
              <a:tr h="411480">
                <a:tc>
                  <a:txBody>
                    <a:bodyPr/>
                    <a:lstStyle/>
                    <a:p>
                      <a:r>
                        <a:rPr sz="1300" b="0">
                          <a:solidFill>
                            <a:srgbClr val="1F2937"/>
                          </a:solidFill>
                        </a:rPr>
                        <a:t>12–24 soat</a:t>
                      </a:r>
                    </a:p>
                  </a:txBody>
                  <a:tcPr marL="73152" marR="73152" marT="36576" marB="36576">
                    <a:solidFill>
                      <a:srgbClr val="FFFFFF"/>
                    </a:solidFill>
                  </a:tcPr>
                </a:tc>
                <a:tc>
                  <a:txBody>
                    <a:bodyPr/>
                    <a:lstStyle/>
                    <a:p>
                      <a:r>
                        <a:rPr sz="1300" b="0">
                          <a:solidFill>
                            <a:srgbClr val="1F2937"/>
                          </a:solidFill>
                        </a:rPr>
                        <a:t>Yaqqol infarkt uchun kerakli vaqt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Infarktda miokard o‘zgarishlari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Infarkt asoratlari va gipertonik kasallik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Miokard infarktida bevosita o‘limga kardiogen shok, asistoliya, yurak anevrizmasi yoki yurak devorining yorilishi olib kelishi mumkin.</a:t>
            </a:r>
          </a:p>
          <a:p>
            <a:pPr>
              <a:spcAft>
                <a:spcPts val="1200"/>
              </a:spcAft>
            </a:pPr>
            <a:r>
              <a:rPr sz="2200">
                <a:solidFill>
                  <a:srgbClr val="1F2937"/>
                </a:solidFill>
                <a:latin typeface="Calibri"/>
              </a:rPr>
              <a:t>▸  Bundan tashqari katta qon aylanish doirasida tromboembolik asoratlar ham rivojlanishi mumkin.</a:t>
            </a:r>
          </a:p>
          <a:p>
            <a:pPr>
              <a:spcAft>
                <a:spcPts val="1200"/>
              </a:spcAft>
            </a:pPr>
            <a:r>
              <a:rPr sz="2200">
                <a:solidFill>
                  <a:srgbClr val="1F2937"/>
                </a:solidFill>
                <a:latin typeface="Calibri"/>
              </a:rPr>
              <a:t>▸  Gipertonik kasallik ko‘pincha yurakning ishemik kasalligi va serebro-vaskulyar kasallik bilan birga kuzatiladi.</a:t>
            </a:r>
          </a:p>
          <a:p>
            <a:pPr>
              <a:spcAft>
                <a:spcPts val="1200"/>
              </a:spcAft>
            </a:pPr>
            <a:r>
              <a:rPr sz="2200">
                <a:solidFill>
                  <a:srgbClr val="1F2937"/>
                </a:solidFill>
                <a:latin typeface="Calibri"/>
              </a:rPr>
              <a:t>▸  Gipertonik kasallik o‘tkir yurak yetishmovchiligi, miokard infarkti yoki miya qon aylanishining buzilishi orqali nogahon o‘limga sabab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Katta yoshdagilarda boshqa tizim kasalliklari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Katta yoshdagilarda boshqa tizimlardan nogahon o‘lim yurak-qon tomir kasalliklariga nisbatan kamroq kuzatiladi.</a:t>
            </a:r>
          </a:p>
          <a:p>
            <a:pPr>
              <a:spcAft>
                <a:spcPts val="800"/>
              </a:spcAft>
            </a:pPr>
            <a:r>
              <a:rPr sz="1800">
                <a:solidFill>
                  <a:srgbClr val="1F2937"/>
                </a:solidFill>
                <a:latin typeface="Calibri"/>
              </a:rPr>
              <a:t>▸  Homiladorlikda toksikoz yoki bachadon nayining yorilishidan ichki qon ketish o‘limga olib kelishi mumkin.</a:t>
            </a:r>
          </a:p>
          <a:p>
            <a:pPr>
              <a:spcAft>
                <a:spcPts val="800"/>
              </a:spcAft>
            </a:pPr>
            <a:r>
              <a:rPr sz="1800">
                <a:solidFill>
                  <a:srgbClr val="1F2937"/>
                </a:solidFill>
                <a:latin typeface="Calibri"/>
              </a:rPr>
              <a:t>▸  Yurak-qon tomirdan miokardit, revmatizm, yurak nuqsonlari, anevrizma va tromboflebit ham sabab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27069"/>
                <a:gridCol w="3660905"/>
              </a:tblGrid>
              <a:tr h="411480">
                <a:tc>
                  <a:txBody>
                    <a:bodyPr/>
                    <a:lstStyle/>
                    <a:p>
                      <a:r>
                        <a:rPr sz="1400" b="1">
                          <a:solidFill>
                            <a:srgbClr val="FFFFFF"/>
                          </a:solidFill>
                        </a:rPr>
                        <a:t>Tizim</a:t>
                      </a:r>
                    </a:p>
                  </a:txBody>
                  <a:tcPr marL="73152" marR="73152" marT="36576" marB="36576">
                    <a:solidFill>
                      <a:srgbClr val="0B1F3A"/>
                    </a:solidFill>
                  </a:tcPr>
                </a:tc>
                <a:tc>
                  <a:txBody>
                    <a:bodyPr/>
                    <a:lstStyle/>
                    <a:p>
                      <a:r>
                        <a:rPr sz="1400" b="1">
                          <a:solidFill>
                            <a:srgbClr val="FFFFFF"/>
                          </a:solidFill>
                        </a:rPr>
                        <a:t>Kasallik</a:t>
                      </a:r>
                    </a:p>
                  </a:txBody>
                  <a:tcPr marL="73152" marR="73152" marT="36576" marB="36576">
                    <a:solidFill>
                      <a:srgbClr val="0B1F3A"/>
                    </a:solidFill>
                  </a:tcPr>
                </a:tc>
              </a:tr>
              <a:tr h="411480">
                <a:tc>
                  <a:txBody>
                    <a:bodyPr/>
                    <a:lstStyle/>
                    <a:p>
                      <a:r>
                        <a:rPr sz="1300" b="0">
                          <a:solidFill>
                            <a:srgbClr val="1F2937"/>
                          </a:solidFill>
                        </a:rPr>
                        <a:t>Nafas olish</a:t>
                      </a:r>
                    </a:p>
                  </a:txBody>
                  <a:tcPr marL="73152" marR="73152" marT="36576" marB="36576">
                    <a:solidFill>
                      <a:srgbClr val="E8EEF6"/>
                    </a:solidFill>
                  </a:tcPr>
                </a:tc>
                <a:tc>
                  <a:txBody>
                    <a:bodyPr/>
                    <a:lstStyle/>
                    <a:p>
                      <a:r>
                        <a:rPr sz="1300" b="0">
                          <a:solidFill>
                            <a:srgbClr val="1F2937"/>
                          </a:solidFill>
                        </a:rPr>
                        <a:t>Pnevmoniya, bronxial astma, o‘smalar</a:t>
                      </a:r>
                    </a:p>
                  </a:txBody>
                  <a:tcPr marL="73152" marR="73152" marT="36576" marB="36576">
                    <a:solidFill>
                      <a:srgbClr val="E8EEF6"/>
                    </a:solidFill>
                  </a:tcPr>
                </a:tc>
              </a:tr>
              <a:tr h="411480">
                <a:tc>
                  <a:txBody>
                    <a:bodyPr/>
                    <a:lstStyle/>
                    <a:p>
                      <a:r>
                        <a:rPr sz="1300" b="0">
                          <a:solidFill>
                            <a:srgbClr val="1F2937"/>
                          </a:solidFill>
                        </a:rPr>
                        <a:t>Nerv tizimi</a:t>
                      </a:r>
                    </a:p>
                  </a:txBody>
                  <a:tcPr marL="73152" marR="73152" marT="36576" marB="36576">
                    <a:solidFill>
                      <a:srgbClr val="FFFFFF"/>
                    </a:solidFill>
                  </a:tcPr>
                </a:tc>
                <a:tc>
                  <a:txBody>
                    <a:bodyPr/>
                    <a:lstStyle/>
                    <a:p>
                      <a:r>
                        <a:rPr sz="1300" b="0">
                          <a:solidFill>
                            <a:srgbClr val="1F2937"/>
                          </a:solidFill>
                        </a:rPr>
                        <a:t>O‘smalar, tutqanoq</a:t>
                      </a:r>
                    </a:p>
                  </a:txBody>
                  <a:tcPr marL="73152" marR="73152" marT="36576" marB="36576">
                    <a:solidFill>
                      <a:srgbClr val="FFFFFF"/>
                    </a:solidFill>
                  </a:tcPr>
                </a:tc>
              </a:tr>
              <a:tr h="411480">
                <a:tc>
                  <a:txBody>
                    <a:bodyPr/>
                    <a:lstStyle/>
                    <a:p>
                      <a:r>
                        <a:rPr sz="1300" b="0">
                          <a:solidFill>
                            <a:srgbClr val="1F2937"/>
                          </a:solidFill>
                        </a:rPr>
                        <a:t>Endokrin</a:t>
                      </a:r>
                    </a:p>
                  </a:txBody>
                  <a:tcPr marL="73152" marR="73152" marT="36576" marB="36576">
                    <a:solidFill>
                      <a:srgbClr val="E8EEF6"/>
                    </a:solidFill>
                  </a:tcPr>
                </a:tc>
                <a:tc>
                  <a:txBody>
                    <a:bodyPr/>
                    <a:lstStyle/>
                    <a:p>
                      <a:r>
                        <a:rPr sz="1300" b="0">
                          <a:solidFill>
                            <a:srgbClr val="1F2937"/>
                          </a:solidFill>
                        </a:rPr>
                        <a:t>Qandli diabet</a:t>
                      </a:r>
                    </a:p>
                  </a:txBody>
                  <a:tcPr marL="73152" marR="73152" marT="36576" marB="36576">
                    <a:solidFill>
                      <a:srgbClr val="E8EEF6"/>
                    </a:solidFill>
                  </a:tcPr>
                </a:tc>
              </a:tr>
              <a:tr h="411480">
                <a:tc>
                  <a:txBody>
                    <a:bodyPr/>
                    <a:lstStyle/>
                    <a:p>
                      <a:r>
                        <a:rPr sz="1300" b="0">
                          <a:solidFill>
                            <a:srgbClr val="1F2937"/>
                          </a:solidFill>
                        </a:rPr>
                        <a:t>Oshqozon-ichak</a:t>
                      </a:r>
                    </a:p>
                  </a:txBody>
                  <a:tcPr marL="73152" marR="73152" marT="36576" marB="36576">
                    <a:solidFill>
                      <a:srgbClr val="FFFFFF"/>
                    </a:solidFill>
                  </a:tcPr>
                </a:tc>
                <a:tc>
                  <a:txBody>
                    <a:bodyPr/>
                    <a:lstStyle/>
                    <a:p>
                      <a:r>
                        <a:rPr sz="1300" b="0">
                          <a:solidFill>
                            <a:srgbClr val="1F2937"/>
                          </a:solidFill>
                        </a:rPr>
                        <a:t>Yara, pankreonekroz, Mellori-Veys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Boshqa tizimlar va kasalliklar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katta yoshdagi shaxsning nogahon 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yashirin yurak kasalligi bor katta yoshli kishi og‘ir jismoniy ish yoki kuchli salbiy emotsiyadan so‘ng to‘satdan vafot etdi.</a:t>
            </a:r>
          </a:p>
          <a:p>
            <a:pPr>
              <a:spcAft>
                <a:spcPts val="1200"/>
              </a:spcAft>
            </a:pPr>
            <a:r>
              <a:rPr sz="2200">
                <a:solidFill>
                  <a:srgbClr val="1F2937"/>
                </a:solidFill>
                <a:latin typeface="Calibri"/>
              </a:rPr>
              <a:t>▸  Bunday turtki omillar yashirin kasallikda dekompensatsiyani keltiradi. Katta yoshdagilarda nogahon o‘limning 85–90 foizida yurak-qon tomir kasalligi sababchi.</a:t>
            </a:r>
          </a:p>
          <a:p>
            <a:pPr>
              <a:spcAft>
                <a:spcPts val="1200"/>
              </a:spcAft>
            </a:pPr>
            <a:r>
              <a:rPr sz="2200">
                <a:solidFill>
                  <a:srgbClr val="1F2937"/>
                </a:solidFill>
                <a:latin typeface="Calibri"/>
              </a:rPr>
              <a:t>▸  Murdada yaqqol infarkt ko‘rinmasligi mumkin: uni hosil qilish uchun koronar qon aylanishi buzilgach kamida 12–24 soat kerak, nogahon o‘lim esa tezroq bo‘ladi.</a:t>
            </a:r>
          </a:p>
          <a:p>
            <a:pPr>
              <a:spcAft>
                <a:spcPts val="1200"/>
              </a:spcAft>
            </a:pPr>
            <a:r>
              <a:rPr sz="2200">
                <a:solidFill>
                  <a:srgbClr val="1F2937"/>
                </a:solidFill>
                <a:latin typeface="Calibri"/>
              </a:rPr>
              <a:t>▸  Savol: o‘lim sababi infarktmi yoki o‘tkir koronar etishmovchilikmi? Toj tomirlar spazmi va aritmogen modda bunda qanday rol o‘ynaydi?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katta yoshdagilar bo‘limi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katta yoshdagilarda nogahon o‘limning qancha qismi yurak-qon tomir kasalliklaridan? Javob: 85–90 foiz.</a:t>
            </a:r>
          </a:p>
          <a:p>
            <a:pPr>
              <a:spcAft>
                <a:spcPts val="1200"/>
              </a:spcAft>
            </a:pPr>
            <a:r>
              <a:rPr sz="2200">
                <a:solidFill>
                  <a:srgbClr val="1F2937"/>
                </a:solidFill>
                <a:latin typeface="Calibri"/>
              </a:rPr>
              <a:t>▸  2-savol: o‘tkir koronar etishmovchilikda asosiy o‘rinni nima egallaydi? Javob: toj tomirlar spazmi; ateroskleroz ahamiyati ikkilamchi.</a:t>
            </a:r>
          </a:p>
          <a:p>
            <a:pPr>
              <a:spcAft>
                <a:spcPts val="1200"/>
              </a:spcAft>
            </a:pPr>
            <a:r>
              <a:rPr sz="2200">
                <a:solidFill>
                  <a:srgbClr val="1F2937"/>
                </a:solidFill>
                <a:latin typeface="Calibri"/>
              </a:rPr>
              <a:t>▸  3-savol: yaqqol miokard infarkti shakllanishiga qancha vaqt kerak? Javob: kamida 12–24 soat.</a:t>
            </a:r>
          </a:p>
          <a:p>
            <a:pPr>
              <a:spcAft>
                <a:spcPts val="1200"/>
              </a:spcAft>
            </a:pPr>
            <a:r>
              <a:rPr sz="2200">
                <a:solidFill>
                  <a:srgbClr val="1F2937"/>
                </a:solidFill>
                <a:latin typeface="Calibri"/>
              </a:rPr>
              <a:t>▸  Diqqat: xato qilish xavfi! Koronar etishmovchilik ≠ yaqqol infarkt. Tez nogahon o‘limda infarkt belgilari hali shakllanib ulgurmaydi.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Bolalarda nogahon o‘lim: o‘tkir respirator kasalliklar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Bolalar nogahon o‘limi holatlarining 90 foizga yaqini o‘tkir respirator kasalliklar tufayli sodir bo‘ladi.</a:t>
            </a:r>
          </a:p>
          <a:p>
            <a:pPr>
              <a:spcAft>
                <a:spcPts val="1200"/>
              </a:spcAft>
            </a:pPr>
            <a:r>
              <a:rPr sz="2200">
                <a:solidFill>
                  <a:srgbClr val="1F2937"/>
                </a:solidFill>
                <a:latin typeface="Calibri"/>
              </a:rPr>
              <a:t>▸  Bu kasalliklar ko‘pincha virusli: gripp, respirator-sinsitial virus (RSV), adenovirus va paragripp.</a:t>
            </a:r>
          </a:p>
          <a:p>
            <a:pPr>
              <a:spcAft>
                <a:spcPts val="1200"/>
              </a:spcAft>
            </a:pPr>
            <a:r>
              <a:rPr sz="2200">
                <a:solidFill>
                  <a:srgbClr val="1F2937"/>
                </a:solidFill>
                <a:latin typeface="Calibri"/>
              </a:rPr>
              <a:t>▸  Kamroq hollarda kelib chiqishi bakterial yoki aralash, ya’ni virus-bakterial bo‘ladi.</a:t>
            </a:r>
          </a:p>
          <a:p>
            <a:pPr>
              <a:spcAft>
                <a:spcPts val="1200"/>
              </a:spcAft>
            </a:pPr>
            <a:r>
              <a:rPr sz="2200">
                <a:solidFill>
                  <a:srgbClr val="1F2937"/>
                </a:solidFill>
                <a:latin typeface="Calibri"/>
              </a:rPr>
              <a:t>▸  Go‘daklardagi bunday o‘limlarning 80 foizi birinchi yilning birinchi yarmida, 12 foizi ikkinchi yarmida, qolganlari bir yoshdan keyin kuzatiladi.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Go‘daklarda o‘limning yosh bo‘yicha taqsimoti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Go‘daklarda nafas kasalliklaridan nogahon o‘limning 80 foizi hayotning birinchi yarim yilida sodir bo‘ladi.</a:t>
            </a:r>
          </a:p>
          <a:p>
            <a:pPr>
              <a:spcAft>
                <a:spcPts val="800"/>
              </a:spcAft>
            </a:pPr>
            <a:r>
              <a:rPr sz="1800">
                <a:solidFill>
                  <a:srgbClr val="1F2937"/>
                </a:solidFill>
                <a:latin typeface="Calibri"/>
              </a:rPr>
              <a:t>▸  Birinchi yilning ikkinchi yarmida bu holatlarning 12 foizi kuzatiladi, qolganlari bir yoshdan keyin uchraydi.</a:t>
            </a:r>
          </a:p>
          <a:p>
            <a:pPr>
              <a:spcAft>
                <a:spcPts val="800"/>
              </a:spcAft>
            </a:pPr>
            <a:r>
              <a:rPr sz="1800">
                <a:solidFill>
                  <a:srgbClr val="1F2937"/>
                </a:solidFill>
                <a:latin typeface="Calibri"/>
              </a:rPr>
              <a:t>▸  Diqqat: bu ulush nafas kasalliklariga oid, go‘daklarning to‘satdan o‘limi sindromiga (GTO‘S) emas.</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3365075"/>
                <a:gridCol w="1922900"/>
              </a:tblGrid>
              <a:tr h="411480">
                <a:tc>
                  <a:txBody>
                    <a:bodyPr/>
                    <a:lstStyle/>
                    <a:p>
                      <a:r>
                        <a:rPr sz="1400" b="1">
                          <a:solidFill>
                            <a:srgbClr val="FFFFFF"/>
                          </a:solidFill>
                        </a:rPr>
                        <a:t>Davr</a:t>
                      </a:r>
                    </a:p>
                  </a:txBody>
                  <a:tcPr marL="73152" marR="73152" marT="36576" marB="36576">
                    <a:solidFill>
                      <a:srgbClr val="0B1F3A"/>
                    </a:solidFill>
                  </a:tcPr>
                </a:tc>
                <a:tc>
                  <a:txBody>
                    <a:bodyPr/>
                    <a:lstStyle/>
                    <a:p>
                      <a:r>
                        <a:rPr sz="1400" b="1">
                          <a:solidFill>
                            <a:srgbClr val="FFFFFF"/>
                          </a:solidFill>
                        </a:rPr>
                        <a:t>Ulush</a:t>
                      </a:r>
                    </a:p>
                  </a:txBody>
                  <a:tcPr marL="73152" marR="73152" marT="36576" marB="36576">
                    <a:solidFill>
                      <a:srgbClr val="0B1F3A"/>
                    </a:solidFill>
                  </a:tcPr>
                </a:tc>
              </a:tr>
              <a:tr h="411480">
                <a:tc>
                  <a:txBody>
                    <a:bodyPr/>
                    <a:lstStyle/>
                    <a:p>
                      <a:r>
                        <a:rPr sz="1300" b="0">
                          <a:solidFill>
                            <a:srgbClr val="1F2937"/>
                          </a:solidFill>
                        </a:rPr>
                        <a:t>Birinchi yil, birinchi yarim</a:t>
                      </a:r>
                    </a:p>
                  </a:txBody>
                  <a:tcPr marL="73152" marR="73152" marT="36576" marB="36576">
                    <a:solidFill>
                      <a:srgbClr val="E8EEF6"/>
                    </a:solidFill>
                  </a:tcPr>
                </a:tc>
                <a:tc>
                  <a:txBody>
                    <a:bodyPr/>
                    <a:lstStyle/>
                    <a:p>
                      <a:r>
                        <a:rPr sz="1300" b="0">
                          <a:solidFill>
                            <a:srgbClr val="1F2937"/>
                          </a:solidFill>
                        </a:rPr>
                        <a:t>80 foiz</a:t>
                      </a:r>
                    </a:p>
                  </a:txBody>
                  <a:tcPr marL="73152" marR="73152" marT="36576" marB="36576">
                    <a:solidFill>
                      <a:srgbClr val="E8EEF6"/>
                    </a:solidFill>
                  </a:tcPr>
                </a:tc>
              </a:tr>
              <a:tr h="411480">
                <a:tc>
                  <a:txBody>
                    <a:bodyPr/>
                    <a:lstStyle/>
                    <a:p>
                      <a:r>
                        <a:rPr sz="1300" b="0">
                          <a:solidFill>
                            <a:srgbClr val="1F2937"/>
                          </a:solidFill>
                        </a:rPr>
                        <a:t>Birinchi yil, ikkinchi yarim</a:t>
                      </a:r>
                    </a:p>
                  </a:txBody>
                  <a:tcPr marL="73152" marR="73152" marT="36576" marB="36576">
                    <a:solidFill>
                      <a:srgbClr val="FFFFFF"/>
                    </a:solidFill>
                  </a:tcPr>
                </a:tc>
                <a:tc>
                  <a:txBody>
                    <a:bodyPr/>
                    <a:lstStyle/>
                    <a:p>
                      <a:r>
                        <a:rPr sz="1300" b="0">
                          <a:solidFill>
                            <a:srgbClr val="1F2937"/>
                          </a:solidFill>
                        </a:rPr>
                        <a:t>12 foiz</a:t>
                      </a:r>
                    </a:p>
                  </a:txBody>
                  <a:tcPr marL="73152" marR="73152" marT="36576" marB="36576">
                    <a:solidFill>
                      <a:srgbClr val="FFFFFF"/>
                    </a:solidFill>
                  </a:tcPr>
                </a:tc>
              </a:tr>
              <a:tr h="411480">
                <a:tc>
                  <a:txBody>
                    <a:bodyPr/>
                    <a:lstStyle/>
                    <a:p>
                      <a:r>
                        <a:rPr sz="1300" b="0">
                          <a:solidFill>
                            <a:srgbClr val="1F2937"/>
                          </a:solidFill>
                        </a:rPr>
                        <a:t>Bir yoshdan keyin</a:t>
                      </a:r>
                    </a:p>
                  </a:txBody>
                  <a:tcPr marL="73152" marR="73152" marT="36576" marB="36576">
                    <a:solidFill>
                      <a:srgbClr val="E8EEF6"/>
                    </a:solidFill>
                  </a:tcPr>
                </a:tc>
                <a:tc>
                  <a:txBody>
                    <a:bodyPr/>
                    <a:lstStyle/>
                    <a:p>
                      <a:r>
                        <a:rPr sz="1300" b="0">
                          <a:solidFill>
                            <a:srgbClr val="1F2937"/>
                          </a:solidFill>
                        </a:rPr>
                        <a:t>Qolgan holatlar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Yosh bo‘yicha taqsimot</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Nogahon o‘limga olib keluvchi ORK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O‘tkir respirator kasallik (ORK) yarim holatda simptomsiz yoki minimal belgilar bilan o‘tadi.</a:t>
            </a:r>
          </a:p>
          <a:p>
            <a:pPr>
              <a:spcAft>
                <a:spcPts val="800"/>
              </a:spcAft>
            </a:pPr>
            <a:r>
              <a:rPr sz="1800">
                <a:solidFill>
                  <a:srgbClr val="1F2937"/>
                </a:solidFill>
                <a:latin typeface="Calibri"/>
              </a:rPr>
              <a:t>▸  Qisqa vaqtda infeksiya umumlashadi va intoksikatsiya (zaharlanish) belgilari paydo bo‘ladi.</a:t>
            </a:r>
          </a:p>
          <a:p>
            <a:pPr>
              <a:spcAft>
                <a:spcPts val="800"/>
              </a:spcAft>
            </a:pPr>
            <a:r>
              <a:rPr sz="1800">
                <a:solidFill>
                  <a:srgbClr val="1F2937"/>
                </a:solidFill>
                <a:latin typeface="Calibri"/>
              </a:rPr>
              <a:t>▸  O‘pkada spetsifik o‘zgarish ko‘pincha yo‘q; faqat pnevmotsistali pnevmoniya va sitomegaliyada topiladi.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19368"/>
                <a:gridCol w="2166158"/>
                <a:gridCol w="2102447"/>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Nogahon o‘lim</a:t>
                      </a:r>
                    </a:p>
                  </a:txBody>
                  <a:tcPr marL="73152" marR="73152" marT="36576" marB="36576">
                    <a:solidFill>
                      <a:srgbClr val="0B1F3A"/>
                    </a:solidFill>
                  </a:tcPr>
                </a:tc>
                <a:tc>
                  <a:txBody>
                    <a:bodyPr/>
                    <a:lstStyle/>
                    <a:p>
                      <a:r>
                        <a:rPr sz="1300" b="1">
                          <a:solidFill>
                            <a:srgbClr val="FFFFFF"/>
                          </a:solidFill>
                        </a:rPr>
                        <a:t>Boshqa holat</a:t>
                      </a:r>
                    </a:p>
                  </a:txBody>
                  <a:tcPr marL="73152" marR="73152" marT="36576" marB="36576">
                    <a:solidFill>
                      <a:srgbClr val="0B1F3A"/>
                    </a:solidFill>
                  </a:tcPr>
                </a:tc>
              </a:tr>
              <a:tr h="411480">
                <a:tc>
                  <a:txBody>
                    <a:bodyPr/>
                    <a:lstStyle/>
                    <a:p>
                      <a:r>
                        <a:rPr sz="1200" b="0">
                          <a:solidFill>
                            <a:srgbClr val="1F2937"/>
                          </a:solidFill>
                        </a:rPr>
                        <a:t>Mavsum</a:t>
                      </a:r>
                    </a:p>
                  </a:txBody>
                  <a:tcPr marL="73152" marR="73152" marT="36576" marB="36576">
                    <a:solidFill>
                      <a:srgbClr val="E8EEF6"/>
                    </a:solidFill>
                  </a:tcPr>
                </a:tc>
                <a:tc>
                  <a:txBody>
                    <a:bodyPr/>
                    <a:lstStyle/>
                    <a:p>
                      <a:r>
                        <a:rPr sz="1200" b="0">
                          <a:solidFill>
                            <a:srgbClr val="1F2937"/>
                          </a:solidFill>
                        </a:rPr>
                        <a:t>Boshqa davrlarda ham bo‘ladi</a:t>
                      </a:r>
                    </a:p>
                  </a:txBody>
                  <a:tcPr marL="73152" marR="73152" marT="36576" marB="36576">
                    <a:solidFill>
                      <a:srgbClr val="E8EEF6"/>
                    </a:solidFill>
                  </a:tcPr>
                </a:tc>
                <a:tc>
                  <a:txBody>
                    <a:bodyPr/>
                    <a:lstStyle/>
                    <a:p>
                      <a:r>
                        <a:rPr sz="1200" b="0">
                          <a:solidFill>
                            <a:srgbClr val="1F2937"/>
                          </a:solidFill>
                        </a:rPr>
                        <a:t>Asosan epidemik davr (bahor, kuz)</a:t>
                      </a:r>
                    </a:p>
                  </a:txBody>
                  <a:tcPr marL="73152" marR="73152" marT="36576" marB="36576">
                    <a:solidFill>
                      <a:srgbClr val="E8EEF6"/>
                    </a:solidFill>
                  </a:tcPr>
                </a:tc>
              </a:tr>
              <a:tr h="411480">
                <a:tc>
                  <a:txBody>
                    <a:bodyPr/>
                    <a:lstStyle/>
                    <a:p>
                      <a:r>
                        <a:rPr sz="1200" b="0">
                          <a:solidFill>
                            <a:srgbClr val="1F2937"/>
                          </a:solidFill>
                        </a:rPr>
                        <a:t>Qo‘zg‘atuvchi</a:t>
                      </a:r>
                    </a:p>
                  </a:txBody>
                  <a:tcPr marL="73152" marR="73152" marT="36576" marB="36576">
                    <a:solidFill>
                      <a:srgbClr val="FFFFFF"/>
                    </a:solidFill>
                  </a:tcPr>
                </a:tc>
                <a:tc>
                  <a:txBody>
                    <a:bodyPr/>
                    <a:lstStyle/>
                    <a:p>
                      <a:r>
                        <a:rPr sz="1200" b="0">
                          <a:solidFill>
                            <a:srgbClr val="1F2937"/>
                          </a:solidFill>
                        </a:rPr>
                        <a:t>Asosan viruslar</a:t>
                      </a:r>
                    </a:p>
                  </a:txBody>
                  <a:tcPr marL="73152" marR="73152" marT="36576" marB="36576">
                    <a:solidFill>
                      <a:srgbClr val="FFFFFF"/>
                    </a:solidFill>
                  </a:tcPr>
                </a:tc>
                <a:tc>
                  <a:txBody>
                    <a:bodyPr/>
                    <a:lstStyle/>
                    <a:p>
                      <a:r>
                        <a:rPr sz="1200" b="0">
                          <a:solidFill>
                            <a:srgbClr val="1F2937"/>
                          </a:solidFill>
                        </a:rPr>
                        <a:t>Ko‘proq aralash yoki bakterial</a:t>
                      </a:r>
                    </a:p>
                  </a:txBody>
                  <a:tcPr marL="73152" marR="73152" marT="36576" marB="36576">
                    <a:solidFill>
                      <a:srgbClr val="FFFFFF"/>
                    </a:solidFill>
                  </a:tcPr>
                </a:tc>
              </a:tr>
              <a:tr h="411480">
                <a:tc>
                  <a:txBody>
                    <a:bodyPr/>
                    <a:lstStyle/>
                    <a:p>
                      <a:r>
                        <a:rPr sz="1200" b="0">
                          <a:solidFill>
                            <a:srgbClr val="1F2937"/>
                          </a:solidFill>
                        </a:rPr>
                        <a:t>Mikroskopiya</a:t>
                      </a:r>
                    </a:p>
                  </a:txBody>
                  <a:tcPr marL="73152" marR="73152" marT="36576" marB="36576">
                    <a:solidFill>
                      <a:srgbClr val="E8EEF6"/>
                    </a:solidFill>
                  </a:tcPr>
                </a:tc>
                <a:tc>
                  <a:txBody>
                    <a:bodyPr/>
                    <a:lstStyle/>
                    <a:p>
                      <a:r>
                        <a:rPr sz="1200" b="0">
                          <a:solidFill>
                            <a:srgbClr val="1F2937"/>
                          </a:solidFill>
                        </a:rPr>
                        <a:t>Spetsifik o‘zgarish ko‘pincha yo‘q</a:t>
                      </a:r>
                    </a:p>
                  </a:txBody>
                  <a:tcPr marL="73152" marR="73152" marT="36576" marB="36576">
                    <a:solidFill>
                      <a:srgbClr val="E8EEF6"/>
                    </a:solidFill>
                  </a:tcPr>
                </a:tc>
                <a:tc>
                  <a:txBody>
                    <a:bodyPr/>
                    <a:lstStyle/>
                    <a:p>
                      <a:r>
                        <a:rPr sz="1200" b="0">
                          <a:solidFill>
                            <a:srgbClr val="1F2937"/>
                          </a:solidFill>
                        </a:rPr>
                        <a:t>Manbada solishtirilmagan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ORK: ikki holatni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250, 251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Timiko-limfatik holat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Ayrisimon bez va limfa tugunlari kattalashadi, buyrak usti bezi yetarli rivojlanmagan (gipoplaziya).</a:t>
            </a:r>
          </a:p>
          <a:p>
            <a:pPr>
              <a:spcAft>
                <a:spcPts val="800"/>
              </a:spcAft>
            </a:pPr>
            <a:r>
              <a:rPr sz="1800">
                <a:solidFill>
                  <a:srgbClr val="1F2937"/>
                </a:solidFill>
                <a:latin typeface="Calibri"/>
              </a:rPr>
              <a:t>▸  Bunday bolalar ta’sirlarga sezgir: uncha kuchli bo‘lmagan ta’sir ham o‘ta kuchli javob chaqiradi.</a:t>
            </a:r>
          </a:p>
          <a:p>
            <a:pPr>
              <a:spcAft>
                <a:spcPts val="800"/>
              </a:spcAft>
            </a:pPr>
            <a:r>
              <a:rPr sz="1800">
                <a:solidFill>
                  <a:srgbClr val="1F2937"/>
                </a:solidFill>
                <a:latin typeface="Calibri"/>
              </a:rPr>
              <a:t>▸  Hayotlik davrida faqat maqsadli chuqur tekshiruvda aniqlanadi; ko‘pincha murdadagi tasodifiy topilma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Ayrisimon bez kattalashadi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Limfa tugunlari kattalashadi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Buyrak usti bezi gipoplaziyasi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Tashqi/ichki ta’sirga sezgirlik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Kuchsiz ta’sirga kuchli javob</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Timiko-limfatik holat belgilari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Pnevmoniya giperdiagnostikasi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Bolalar o‘limi sabablari orasida pnevmoniyaning ulushi hozirgacha sun’iy tarzda oshirib ko‘rsatiladi. Bu holat giperdiagnostika deyiladi.</a:t>
            </a:r>
          </a:p>
          <a:p>
            <a:pPr>
              <a:spcAft>
                <a:spcPts val="1200"/>
              </a:spcAft>
            </a:pPr>
            <a:r>
              <a:rPr sz="2200">
                <a:solidFill>
                  <a:srgbClr val="1F2937"/>
                </a:solidFill>
                <a:latin typeface="Calibri"/>
              </a:rPr>
              <a:t>▸  Asosiy sabab: shifokor bemor bolani sinchiklab tekshirmaydi, zarur laboratoriya va instrumental tekshiruvlar o‘tkazilmaydi.</a:t>
            </a:r>
          </a:p>
          <a:p>
            <a:pPr>
              <a:spcAft>
                <a:spcPts val="1200"/>
              </a:spcAft>
            </a:pPr>
            <a:r>
              <a:rPr sz="2200">
                <a:solidFill>
                  <a:srgbClr val="1F2937"/>
                </a:solidFill>
                <a:latin typeface="Calibri"/>
              </a:rPr>
              <a:t>▸  Pnevmoniya ishonchli aniqlangan bo‘lsa ham, u hamma vaqt o‘limning asosiy sababi (tanatogenez bo‘yicha uzoq sababi) bo‘lavermaydi.</a:t>
            </a:r>
          </a:p>
          <a:p>
            <a:pPr>
              <a:spcAft>
                <a:spcPts val="1200"/>
              </a:spcAft>
            </a:pPr>
            <a:r>
              <a:rPr sz="2200">
                <a:solidFill>
                  <a:srgbClr val="1F2937"/>
                </a:solidFill>
                <a:latin typeface="Calibri"/>
              </a:rPr>
              <a:t>▸  Diqqat: pnevmoniya ≠ o‘lim sababi. Ko‘pchilik holatda (60–75%) u raqobatchi sabab, asorat yoki hamroh kasallik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Kattaroq bolalar va ekspertiza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Kattaroq yoshdagi bolalarda nogahon o‘limga endokardit, turli kelib chiqishli miokarditlar, yurakning tug‘ma va ortirilgan nuqsonlari olib kelishi mumkin.</a:t>
            </a:r>
          </a:p>
          <a:p>
            <a:pPr>
              <a:spcAft>
                <a:spcPts val="1200"/>
              </a:spcAft>
            </a:pPr>
            <a:r>
              <a:rPr sz="2200">
                <a:solidFill>
                  <a:srgbClr val="1F2937"/>
                </a:solidFill>
                <a:latin typeface="Calibri"/>
              </a:rPr>
              <a:t>▸  Ekspertizada murdaning tashqi va ichki tekshiruvidan tashqari gistologik, virusologik va bakteriologik laboratoriya tekshiruvlari o‘tkaziladi.</a:t>
            </a:r>
          </a:p>
          <a:p>
            <a:pPr>
              <a:spcAft>
                <a:spcPts val="1200"/>
              </a:spcAft>
            </a:pPr>
            <a:r>
              <a:rPr sz="2200">
                <a:solidFill>
                  <a:srgbClr val="1F2937"/>
                </a:solidFill>
                <a:latin typeface="Calibri"/>
              </a:rPr>
              <a:t>▸  Mavjud tibbiy hujjatlar o‘rganiladi va marhumning yaqin qarindoshlari orqali katamnestik ma’lumotlar to‘planadi.</a:t>
            </a:r>
          </a:p>
          <a:p>
            <a:pPr>
              <a:spcAft>
                <a:spcPts val="1200"/>
              </a:spcAft>
            </a:pPr>
            <a:r>
              <a:rPr sz="2200">
                <a:solidFill>
                  <a:srgbClr val="1F2937"/>
                </a:solidFill>
                <a:latin typeface="Calibri"/>
              </a:rPr>
              <a:t>▸  Har bir holatda tekshiruv natijalari va to‘plangan ma’lumotlar tahliliga asoslanib, o‘lim sababi to‘g‘risida fikr bildiriladi.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251, 251–252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go‘dakda pnevmoniya tashxisi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vafot etgan go‘dakning tibbiy hujjatlarida pnevmoniya ishonchli aniqlangan. Savol: uni o‘limning asosiy sababi deb yozish mumkinmi?</a:t>
            </a:r>
          </a:p>
          <a:p>
            <a:pPr>
              <a:spcAft>
                <a:spcPts val="1200"/>
              </a:spcAft>
            </a:pPr>
            <a:r>
              <a:rPr sz="2200">
                <a:solidFill>
                  <a:srgbClr val="1F2937"/>
                </a:solidFill>
                <a:latin typeface="Calibri"/>
              </a:rPr>
              <a:t>▸  Javob: har doim emas. Pnevmoniya ko‘pchilik holatda (60–75%) asosiy sabab emas, balki raqobatchi sabab, asorat yoki hamroh kasallik bo‘ladi.</a:t>
            </a:r>
          </a:p>
          <a:p>
            <a:pPr>
              <a:spcAft>
                <a:spcPts val="1200"/>
              </a:spcAft>
            </a:pPr>
            <a:r>
              <a:rPr sz="2200">
                <a:solidFill>
                  <a:srgbClr val="1F2937"/>
                </a:solidFill>
                <a:latin typeface="Calibri"/>
              </a:rPr>
              <a:t>▸  Shifokor tibbiy hujjatlarda o‘limning sodir bo‘lish mexanizmi haqidagi ma’lumotlarni keltirishi lozim.</a:t>
            </a:r>
          </a:p>
          <a:p>
            <a:pPr>
              <a:spcAft>
                <a:spcPts val="1200"/>
              </a:spcAft>
            </a:pPr>
            <a:r>
              <a:rPr sz="2200">
                <a:solidFill>
                  <a:srgbClr val="1F2937"/>
                </a:solidFill>
                <a:latin typeface="Calibri"/>
              </a:rPr>
              <a:t>▸  Sinchkov tekshiruvsiz pnevmoniya deb xulosa qilish uning ulushini sun’iy oshiradi, ya’ni giperdiagnostikaga olib keladi.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GTO‘S: ta’rif va tarixiy bosqichlar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Go‘daklarning to‘satdan o‘lim sindromi (GTO‘S) atamasi 1969 yilda xalqaro konferensiyada qabul qilingan.</a:t>
            </a:r>
          </a:p>
          <a:p>
            <a:pPr>
              <a:spcAft>
                <a:spcPts val="800"/>
              </a:spcAft>
            </a:pPr>
            <a:r>
              <a:rPr sz="1800">
                <a:solidFill>
                  <a:srgbClr val="1F2937"/>
                </a:solidFill>
                <a:latin typeface="Calibri"/>
              </a:rPr>
              <a:t>▸  Eski nomlari: “cot death” va “crib death”; 1979 yilda kasalliklar xalqaro tasnifiga kiritilgan.</a:t>
            </a:r>
          </a:p>
          <a:p>
            <a:pPr>
              <a:spcAft>
                <a:spcPts val="800"/>
              </a:spcAft>
            </a:pPr>
            <a:r>
              <a:rPr sz="1800">
                <a:solidFill>
                  <a:srgbClr val="1F2937"/>
                </a:solidFill>
                <a:latin typeface="Calibri"/>
              </a:rPr>
              <a:t>▸  Bir yoshgacha bolaning uyquda to‘satdan o‘limi, to‘liq tekshiruvda ham sababi topilmasa — GTO‘S.</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O‘tgan asr o‘rtasi: cot death</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1969: II Xalqaro konferensiya</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1979: xalqaro tasnifga kiritildi</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GTO‘S tarixi</a:t>
            </a:r>
          </a:p>
        </p:txBody>
      </p:sp>
      <p:sp>
        <p:nvSpPr>
          <p:cNvPr id="15" name="TextBox 14"/>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GTO‘S gipotezalari: mexanik, allergik, timik, infeksion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Yagona yondashuv yo‘q: GTO‘Sda o‘limning vujudga kelish mexanizmi bo‘yicha fikr birlashmagan.</a:t>
            </a:r>
          </a:p>
          <a:p>
            <a:pPr>
              <a:spcAft>
                <a:spcPts val="800"/>
              </a:spcAft>
            </a:pPr>
            <a:r>
              <a:rPr sz="1800">
                <a:solidFill>
                  <a:srgbClr val="1F2937"/>
                </a:solidFill>
                <a:latin typeface="Calibri"/>
              </a:rPr>
              <a:t>▸  Ilgari surilgan gipotezalarning birontasi GTO‘S holatlarining hammasini to‘liq asoslab bera olmaydi.</a:t>
            </a:r>
          </a:p>
          <a:p>
            <a:pPr>
              <a:spcAft>
                <a:spcPts val="800"/>
              </a:spcAft>
            </a:pPr>
            <a:r>
              <a:rPr sz="1800">
                <a:solidFill>
                  <a:srgbClr val="1F2937"/>
                </a:solidFill>
                <a:latin typeface="Calibri"/>
              </a:rPr>
              <a:t>▸  Diqqat: gipoteza ≠ isbotlangan sabab; GTO‘Sning aniq sababi hozirgacha topilmagan.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Gipoteza</a:t>
                      </a:r>
                    </a:p>
                  </a:txBody>
                  <a:tcPr marL="73152" marR="73152" marT="36576" marB="36576">
                    <a:solidFill>
                      <a:srgbClr val="0B1F3A"/>
                    </a:solidFill>
                  </a:tcPr>
                </a:tc>
                <a:tc>
                  <a:txBody>
                    <a:bodyPr/>
                    <a:lstStyle/>
                    <a:p>
                      <a:r>
                        <a:rPr sz="1400" b="1">
                          <a:solidFill>
                            <a:srgbClr val="FFFFFF"/>
                          </a:solidFill>
                        </a:rPr>
                        <a:t>Mohiyati</a:t>
                      </a:r>
                    </a:p>
                  </a:txBody>
                  <a:tcPr marL="73152" marR="73152" marT="36576" marB="36576">
                    <a:solidFill>
                      <a:srgbClr val="0B1F3A"/>
                    </a:solidFill>
                  </a:tcPr>
                </a:tc>
              </a:tr>
              <a:tr h="411480">
                <a:tc>
                  <a:txBody>
                    <a:bodyPr/>
                    <a:lstStyle/>
                    <a:p>
                      <a:r>
                        <a:rPr sz="1300" b="0">
                          <a:solidFill>
                            <a:srgbClr val="1F2937"/>
                          </a:solidFill>
                        </a:rPr>
                        <a:t>Mexanik</a:t>
                      </a:r>
                    </a:p>
                  </a:txBody>
                  <a:tcPr marL="73152" marR="73152" marT="36576" marB="36576">
                    <a:solidFill>
                      <a:srgbClr val="E8EEF6"/>
                    </a:solidFill>
                  </a:tcPr>
                </a:tc>
                <a:tc>
                  <a:txBody>
                    <a:bodyPr/>
                    <a:lstStyle/>
                    <a:p>
                      <a:r>
                        <a:rPr sz="1300" b="0">
                          <a:solidFill>
                            <a:srgbClr val="1F2937"/>
                          </a:solidFill>
                        </a:rPr>
                        <a:t>Nafas teshiklarining choyshab, ko‘rpa, yostiq bilan bekilishi</a:t>
                      </a:r>
                    </a:p>
                  </a:txBody>
                  <a:tcPr marL="73152" marR="73152" marT="36576" marB="36576">
                    <a:solidFill>
                      <a:srgbClr val="E8EEF6"/>
                    </a:solidFill>
                  </a:tcPr>
                </a:tc>
              </a:tr>
              <a:tr h="411480">
                <a:tc>
                  <a:txBody>
                    <a:bodyPr/>
                    <a:lstStyle/>
                    <a:p>
                      <a:r>
                        <a:rPr sz="1300" b="0">
                          <a:solidFill>
                            <a:srgbClr val="1F2937"/>
                          </a:solidFill>
                        </a:rPr>
                        <a:t>Allergik</a:t>
                      </a:r>
                    </a:p>
                  </a:txBody>
                  <a:tcPr marL="73152" marR="73152" marT="36576" marB="36576">
                    <a:solidFill>
                      <a:srgbClr val="FFFFFF"/>
                    </a:solidFill>
                  </a:tcPr>
                </a:tc>
                <a:tc>
                  <a:txBody>
                    <a:bodyPr/>
                    <a:lstStyle/>
                    <a:p>
                      <a:r>
                        <a:rPr sz="1300" b="0">
                          <a:solidFill>
                            <a:srgbClr val="1F2937"/>
                          </a:solidFill>
                        </a:rPr>
                        <a:t>Sigir suti oqsillariga allergik reaksiya</a:t>
                      </a:r>
                    </a:p>
                  </a:txBody>
                  <a:tcPr marL="73152" marR="73152" marT="36576" marB="36576">
                    <a:solidFill>
                      <a:srgbClr val="FFFFFF"/>
                    </a:solidFill>
                  </a:tcPr>
                </a:tc>
              </a:tr>
              <a:tr h="411480">
                <a:tc>
                  <a:txBody>
                    <a:bodyPr/>
                    <a:lstStyle/>
                    <a:p>
                      <a:r>
                        <a:rPr sz="1300" b="0">
                          <a:solidFill>
                            <a:srgbClr val="1F2937"/>
                          </a:solidFill>
                        </a:rPr>
                        <a:t>Timik</a:t>
                      </a:r>
                    </a:p>
                  </a:txBody>
                  <a:tcPr marL="73152" marR="73152" marT="36576" marB="36576">
                    <a:solidFill>
                      <a:srgbClr val="E8EEF6"/>
                    </a:solidFill>
                  </a:tcPr>
                </a:tc>
                <a:tc>
                  <a:txBody>
                    <a:bodyPr/>
                    <a:lstStyle/>
                    <a:p>
                      <a:r>
                        <a:rPr sz="1300" b="0">
                          <a:solidFill>
                            <a:srgbClr val="1F2937"/>
                          </a:solidFill>
                        </a:rPr>
                        <a:t>Kattalashgan ayrisimon bez nafas yo‘llarini siqadi</a:t>
                      </a:r>
                    </a:p>
                  </a:txBody>
                  <a:tcPr marL="73152" marR="73152" marT="36576" marB="36576">
                    <a:solidFill>
                      <a:srgbClr val="E8EEF6"/>
                    </a:solidFill>
                  </a:tcPr>
                </a:tc>
              </a:tr>
              <a:tr h="411480">
                <a:tc>
                  <a:txBody>
                    <a:bodyPr/>
                    <a:lstStyle/>
                    <a:p>
                      <a:r>
                        <a:rPr sz="1300" b="0">
                          <a:solidFill>
                            <a:srgbClr val="1F2937"/>
                          </a:solidFill>
                        </a:rPr>
                        <a:t>Infeksion</a:t>
                      </a:r>
                    </a:p>
                  </a:txBody>
                  <a:tcPr marL="73152" marR="73152" marT="36576" marB="36576">
                    <a:solidFill>
                      <a:srgbClr val="FFFFFF"/>
                    </a:solidFill>
                  </a:tcPr>
                </a:tc>
                <a:tc>
                  <a:txBody>
                    <a:bodyPr/>
                    <a:lstStyle/>
                    <a:p>
                      <a:r>
                        <a:rPr sz="1300" b="0">
                          <a:solidFill>
                            <a:srgbClr val="1F2937"/>
                          </a:solidFill>
                        </a:rPr>
                        <a:t>Shiddatli virus yoki bakterial infeksiya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gipoteza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Respirator va kardiogen gipotezalar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So‘nggi davrda GTO‘S kelib chiqishi asosan respirator va kardiogen gipotezalar yordamida tushuntiriladi.</a:t>
            </a:r>
          </a:p>
          <a:p>
            <a:pPr>
              <a:spcAft>
                <a:spcPts val="800"/>
              </a:spcAft>
            </a:pPr>
            <a:r>
              <a:rPr sz="1800">
                <a:solidFill>
                  <a:srgbClr val="1F2937"/>
                </a:solidFill>
                <a:latin typeface="Calibri"/>
              </a:rPr>
              <a:t>▸  Respirator gipoteza o‘limni apnoe (nafas to‘xtashi), kardiogen gipoteza esa yurak faoliyati to‘xtashi bilan bog‘laydi.</a:t>
            </a:r>
          </a:p>
          <a:p>
            <a:pPr>
              <a:spcAft>
                <a:spcPts val="800"/>
              </a:spcAft>
            </a:pPr>
            <a:r>
              <a:rPr sz="1800">
                <a:solidFill>
                  <a:srgbClr val="1F2937"/>
                </a:solidFill>
                <a:latin typeface="Calibri"/>
              </a:rPr>
              <a:t>▸  Diqqat: apnoe (respirator) ≠ asistoliya (kardiogen); ikkalasi ham hozircha gipoteza, yagona mexanizm emas.</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070982"/>
                <a:gridCol w="2610519"/>
                <a:gridCol w="1606473"/>
              </a:tblGrid>
              <a:tr h="411480">
                <a:tc>
                  <a:txBody>
                    <a:bodyPr/>
                    <a:lstStyle/>
                    <a:p>
                      <a:r>
                        <a:rPr sz="1300" b="1">
                          <a:solidFill>
                            <a:srgbClr val="FFFFFF"/>
                          </a:solidFill>
                        </a:rPr>
                        <a:t>Gipoteza</a:t>
                      </a:r>
                    </a:p>
                  </a:txBody>
                  <a:tcPr marL="73152" marR="73152" marT="36576" marB="36576">
                    <a:solidFill>
                      <a:srgbClr val="0B1F3A"/>
                    </a:solidFill>
                  </a:tcPr>
                </a:tc>
                <a:tc>
                  <a:txBody>
                    <a:bodyPr/>
                    <a:lstStyle/>
                    <a:p>
                      <a:r>
                        <a:rPr sz="1300" b="1">
                          <a:solidFill>
                            <a:srgbClr val="FFFFFF"/>
                          </a:solidFill>
                        </a:rPr>
                        <a:t>Mexanizm</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Respirator</a:t>
                      </a:r>
                    </a:p>
                  </a:txBody>
                  <a:tcPr marL="73152" marR="73152" marT="36576" marB="36576">
                    <a:solidFill>
                      <a:srgbClr val="E8EEF6"/>
                    </a:solidFill>
                  </a:tcPr>
                </a:tc>
                <a:tc>
                  <a:txBody>
                    <a:bodyPr/>
                    <a:lstStyle/>
                    <a:p>
                      <a:r>
                        <a:rPr sz="1200" b="0">
                          <a:solidFill>
                            <a:srgbClr val="1F2937"/>
                          </a:solidFill>
                        </a:rPr>
                        <a:t>Markaziy, periferik yoki aralash apnoe</a:t>
                      </a:r>
                    </a:p>
                  </a:txBody>
                  <a:tcPr marL="73152" marR="73152" marT="36576" marB="36576">
                    <a:solidFill>
                      <a:srgbClr val="E8EEF6"/>
                    </a:solidFill>
                  </a:tcPr>
                </a:tc>
                <a:tc>
                  <a:txBody>
                    <a:bodyPr/>
                    <a:lstStyle/>
                    <a:p>
                      <a:r>
                        <a:rPr sz="1200" b="0">
                          <a:solidFill>
                            <a:srgbClr val="1F2937"/>
                          </a:solidFill>
                        </a:rPr>
                        <a:t>Nafas to‘xtashi va o‘lim</a:t>
                      </a:r>
                    </a:p>
                  </a:txBody>
                  <a:tcPr marL="73152" marR="73152" marT="36576" marB="36576">
                    <a:solidFill>
                      <a:srgbClr val="E8EEF6"/>
                    </a:solidFill>
                  </a:tcPr>
                </a:tc>
              </a:tr>
              <a:tr h="411480">
                <a:tc>
                  <a:txBody>
                    <a:bodyPr/>
                    <a:lstStyle/>
                    <a:p>
                      <a:r>
                        <a:rPr sz="1200" b="0">
                          <a:solidFill>
                            <a:srgbClr val="1F2937"/>
                          </a:solidFill>
                        </a:rPr>
                        <a:t>Kardiogen</a:t>
                      </a:r>
                    </a:p>
                  </a:txBody>
                  <a:tcPr marL="73152" marR="73152" marT="36576" marB="36576">
                    <a:solidFill>
                      <a:srgbClr val="FFFFFF"/>
                    </a:solidFill>
                  </a:tcPr>
                </a:tc>
                <a:tc>
                  <a:txBody>
                    <a:bodyPr/>
                    <a:lstStyle/>
                    <a:p>
                      <a:r>
                        <a:rPr sz="1200" b="0">
                          <a:solidFill>
                            <a:srgbClr val="1F2937"/>
                          </a:solidFill>
                        </a:rPr>
                        <a:t>Repolyarizatsiya jarayonining buzilishi</a:t>
                      </a:r>
                    </a:p>
                  </a:txBody>
                  <a:tcPr marL="73152" marR="73152" marT="36576" marB="36576">
                    <a:solidFill>
                      <a:srgbClr val="FFFFFF"/>
                    </a:solidFill>
                  </a:tcPr>
                </a:tc>
                <a:tc>
                  <a:txBody>
                    <a:bodyPr/>
                    <a:lstStyle/>
                    <a:p>
                      <a:r>
                        <a:rPr sz="1200" b="0">
                          <a:solidFill>
                            <a:srgbClr val="1F2937"/>
                          </a:solidFill>
                        </a:rPr>
                        <a:t>Asistoliya va o‘lim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zamonaviy gipoteza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GTO‘S epidemiologiyasi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Go‘daklarning to‘satdan o‘limi sindromi (GTO‘S) go‘daklar o‘limi sabablari tuzilmasida uchinchi o‘rinni egallaydi.</a:t>
            </a:r>
          </a:p>
          <a:p>
            <a:pPr>
              <a:spcAft>
                <a:spcPts val="1200"/>
              </a:spcAft>
            </a:pPr>
            <a:r>
              <a:rPr sz="2200">
                <a:solidFill>
                  <a:srgbClr val="1F2937"/>
                </a:solidFill>
                <a:latin typeface="Calibri"/>
              </a:rPr>
              <a:t>▸  Turli mamlakatlarda GTO‘S ko‘rsatkichi 1000 tirik tug‘ilganga nisbatan 0,5–2,8 oralig‘ida.</a:t>
            </a:r>
          </a:p>
          <a:p>
            <a:pPr>
              <a:spcAft>
                <a:spcPts val="1200"/>
              </a:spcAft>
            </a:pPr>
            <a:r>
              <a:rPr sz="2200">
                <a:solidFill>
                  <a:srgbClr val="1F2937"/>
                </a:solidFill>
                <a:latin typeface="Calibri"/>
              </a:rPr>
              <a:t>▸  O‘zbekistonda masala yaxshi o‘rganilmagan; tadqiqotlarga ko‘ra ko‘rsatkich 1,5 dan ortiq deb taxmin qilingan.</a:t>
            </a:r>
          </a:p>
          <a:p>
            <a:pPr>
              <a:spcAft>
                <a:spcPts val="1200"/>
              </a:spcAft>
            </a:pPr>
            <a:r>
              <a:rPr sz="2200">
                <a:solidFill>
                  <a:srgbClr val="1F2937"/>
                </a:solidFill>
                <a:latin typeface="Calibri"/>
              </a:rPr>
              <a:t>▸  Ko‘proq 2–6 oylik norasо go‘daklarda, kuz-qishda, ertalab uchraydi. Egizaklarda ko‘rsatkich bir necha marta yuqori.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GTO‘S xavf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Isib ketish va uyquda qorni bilan yotqizish ham xavfni oshiradi.</a:t>
            </a:r>
          </a:p>
          <a:p>
            <a:pPr>
              <a:spcAft>
                <a:spcPts val="800"/>
              </a:spcAft>
            </a:pPr>
            <a:r>
              <a:rPr sz="1800">
                <a:solidFill>
                  <a:srgbClr val="1F2937"/>
                </a:solidFill>
                <a:latin typeface="Calibri"/>
              </a:rPr>
              <a:t>▸  Onaning yoshligi, chekishi, spirtli ichimlik va narkotik iste’moli ham xavfni oshiradi.</a:t>
            </a:r>
          </a:p>
          <a:p>
            <a:pPr>
              <a:spcAft>
                <a:spcPts val="800"/>
              </a:spcAft>
            </a:pPr>
            <a:r>
              <a:rPr sz="1800">
                <a:solidFill>
                  <a:srgbClr val="1F2937"/>
                </a:solidFill>
                <a:latin typeface="Calibri"/>
              </a:rPr>
              <a:t>▸  Tug‘ruqlar orasidagi qisqa interval xavfni oshiradi; omillarni bartaraf etish o‘limni kamaytiradi.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27069"/>
                <a:gridCol w="3660905"/>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Omil</a:t>
                      </a:r>
                    </a:p>
                  </a:txBody>
                  <a:tcPr marL="73152" marR="73152" marT="36576" marB="36576">
                    <a:solidFill>
                      <a:srgbClr val="0B1F3A"/>
                    </a:solidFill>
                  </a:tcPr>
                </a:tc>
              </a:tr>
              <a:tr h="411480">
                <a:tc>
                  <a:txBody>
                    <a:bodyPr/>
                    <a:lstStyle/>
                    <a:p>
                      <a:r>
                        <a:rPr sz="1300" b="0">
                          <a:solidFill>
                            <a:srgbClr val="1F2937"/>
                          </a:solidFill>
                        </a:rPr>
                        <a:t>Uyqu joyi</a:t>
                      </a:r>
                    </a:p>
                  </a:txBody>
                  <a:tcPr marL="73152" marR="73152" marT="36576" marB="36576">
                    <a:solidFill>
                      <a:srgbClr val="E8EEF6"/>
                    </a:solidFill>
                  </a:tcPr>
                </a:tc>
                <a:tc>
                  <a:txBody>
                    <a:bodyPr/>
                    <a:lstStyle/>
                    <a:p>
                      <a:r>
                        <a:rPr sz="1300" b="0">
                          <a:solidFill>
                            <a:srgbClr val="1F2937"/>
                          </a:solidFill>
                        </a:rPr>
                        <a:t>Alohida o‘rin yo‘q, ona bilan yotish</a:t>
                      </a:r>
                    </a:p>
                  </a:txBody>
                  <a:tcPr marL="73152" marR="73152" marT="36576" marB="36576">
                    <a:solidFill>
                      <a:srgbClr val="E8EEF6"/>
                    </a:solidFill>
                  </a:tcPr>
                </a:tc>
              </a:tr>
              <a:tr h="411480">
                <a:tc>
                  <a:txBody>
                    <a:bodyPr/>
                    <a:lstStyle/>
                    <a:p>
                      <a:r>
                        <a:rPr sz="1300" b="0">
                          <a:solidFill>
                            <a:srgbClr val="1F2937"/>
                          </a:solidFill>
                        </a:rPr>
                        <a:t>Uyqu usuli</a:t>
                      </a:r>
                    </a:p>
                  </a:txBody>
                  <a:tcPr marL="73152" marR="73152" marT="36576" marB="36576">
                    <a:solidFill>
                      <a:srgbClr val="FFFFFF"/>
                    </a:solidFill>
                  </a:tcPr>
                </a:tc>
                <a:tc>
                  <a:txBody>
                    <a:bodyPr/>
                    <a:lstStyle/>
                    <a:p>
                      <a:r>
                        <a:rPr sz="1300" b="0">
                          <a:solidFill>
                            <a:srgbClr val="1F2937"/>
                          </a:solidFill>
                        </a:rPr>
                        <a:t>Zich yo‘rgak, qorni bilan yotqizish</a:t>
                      </a:r>
                    </a:p>
                  </a:txBody>
                  <a:tcPr marL="73152" marR="73152" marT="36576" marB="36576">
                    <a:solidFill>
                      <a:srgbClr val="FFFFFF"/>
                    </a:solidFill>
                  </a:tcPr>
                </a:tc>
              </a:tr>
              <a:tr h="411480">
                <a:tc>
                  <a:txBody>
                    <a:bodyPr/>
                    <a:lstStyle/>
                    <a:p>
                      <a:r>
                        <a:rPr sz="1300" b="0">
                          <a:solidFill>
                            <a:srgbClr val="1F2937"/>
                          </a:solidFill>
                        </a:rPr>
                        <a:t>Ijtimoiy-maishiy</a:t>
                      </a:r>
                    </a:p>
                  </a:txBody>
                  <a:tcPr marL="73152" marR="73152" marT="36576" marB="36576">
                    <a:solidFill>
                      <a:srgbClr val="E8EEF6"/>
                    </a:solidFill>
                  </a:tcPr>
                </a:tc>
                <a:tc>
                  <a:txBody>
                    <a:bodyPr/>
                    <a:lstStyle/>
                    <a:p>
                      <a:r>
                        <a:rPr sz="1300" b="0">
                          <a:solidFill>
                            <a:srgbClr val="1F2937"/>
                          </a:solidFill>
                        </a:rPr>
                        <a:t>Qoniqarsiz sharoit, past ma’lumot</a:t>
                      </a:r>
                    </a:p>
                  </a:txBody>
                  <a:tcPr marL="73152" marR="73152" marT="36576" marB="36576">
                    <a:solidFill>
                      <a:srgbClr val="E8EEF6"/>
                    </a:solidFill>
                  </a:tcPr>
                </a:tc>
              </a:tr>
              <a:tr h="411480">
                <a:tc>
                  <a:txBody>
                    <a:bodyPr/>
                    <a:lstStyle/>
                    <a:p>
                      <a:r>
                        <a:rPr sz="1300" b="0">
                          <a:solidFill>
                            <a:srgbClr val="1F2937"/>
                          </a:solidFill>
                        </a:rPr>
                        <a:t>Homiladorlik</a:t>
                      </a:r>
                    </a:p>
                  </a:txBody>
                  <a:tcPr marL="73152" marR="73152" marT="36576" marB="36576">
                    <a:solidFill>
                      <a:srgbClr val="FFFFFF"/>
                    </a:solidFill>
                  </a:tcPr>
                </a:tc>
                <a:tc>
                  <a:txBody>
                    <a:bodyPr/>
                    <a:lstStyle/>
                    <a:p>
                      <a:r>
                        <a:rPr sz="1300" b="0">
                          <a:solidFill>
                            <a:srgbClr val="1F2937"/>
                          </a:solidFill>
                        </a:rPr>
                        <a:t>Patologik kechish, kuzatuvsizlik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Xavf omillari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252, 253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Profilaktika: go‘daklar o‘limga mahkum emas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Xavf omillarini bartaraf qilish o‘lim sodir bo‘lish ehtimolini ancha pasaytiradi.</a:t>
            </a:r>
          </a:p>
          <a:p>
            <a:pPr>
              <a:spcAft>
                <a:spcPts val="1200"/>
              </a:spcAft>
            </a:pPr>
            <a:r>
              <a:rPr sz="2200">
                <a:solidFill>
                  <a:srgbClr val="1F2937"/>
                </a:solidFill>
                <a:latin typeface="Calibri"/>
              </a:rPr>
              <a:t>▸  Xavf omillari bo‘lgan go‘daklarni o‘limga mahkum deb hisoblab bo‘lmaydi.</a:t>
            </a:r>
          </a:p>
          <a:p>
            <a:pPr>
              <a:spcAft>
                <a:spcPts val="1200"/>
              </a:spcAft>
            </a:pPr>
            <a:r>
              <a:rPr sz="2200">
                <a:solidFill>
                  <a:srgbClr val="1F2937"/>
                </a:solidFill>
                <a:latin typeface="Calibri"/>
              </a:rPr>
              <a:t>▸  Lozim parvarish va tibbiy kuzatuv bo‘lsa, go‘dak xavfli davrdan sog‘-salomat o‘tib, sog‘lom o‘sadi.</a:t>
            </a:r>
          </a:p>
          <a:p>
            <a:pPr>
              <a:spcAft>
                <a:spcPts val="1200"/>
              </a:spcAft>
            </a:pPr>
            <a:r>
              <a:rPr sz="2200">
                <a:solidFill>
                  <a:srgbClr val="1F2937"/>
                </a:solidFill>
                <a:latin typeface="Calibri"/>
              </a:rPr>
              <a:t>▸  Xavfli davr — hayotning birinchi yili, ayniqsa dastlabki 6 oy.</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Ekspertizaga tayyorgarlik: hujjat va katamnez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Murda tekshiruvidan oldin barcha tibbiy hujjatlar sinchiklab o‘rganiladi.</a:t>
            </a:r>
          </a:p>
          <a:p>
            <a:pPr>
              <a:spcAft>
                <a:spcPts val="800"/>
              </a:spcAft>
            </a:pPr>
            <a:r>
              <a:rPr sz="1800">
                <a:solidFill>
                  <a:srgbClr val="1F2937"/>
                </a:solidFill>
                <a:latin typeface="Calibri"/>
              </a:rPr>
              <a:t>▸  Ota-onadan tug‘ilish, rivojlanish, oila sharoiti va ALTE holatlari haqida ma’lumot olinadi.</a:t>
            </a:r>
          </a:p>
          <a:p>
            <a:pPr>
              <a:spcAft>
                <a:spcPts val="800"/>
              </a:spcAft>
            </a:pPr>
            <a:r>
              <a:rPr sz="1800">
                <a:solidFill>
                  <a:srgbClr val="1F2937"/>
                </a:solidFill>
                <a:latin typeface="Calibri"/>
              </a:rPr>
              <a:t>▸  GTO‘S (go‘daklarning to‘satdan o‘limi sindromi) 15–20 foizida yengil respirator belgilar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Tibbiy hujjatlarni o‘rganish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Ota-onadan katamnez olish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Tug‘ilish, rivojlanish, sharoit</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ALTE holatlarini surishtirish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Murda tekshiruviga o‘tish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Ekspertizadan oldingi bosqichlar</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GTO‘Sda murda tekshiruvi topilmalari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Ichki tekshiruvda mayda qon quyilishlar visseral plevra va epikard ostida topiladi.</a:t>
            </a:r>
          </a:p>
          <a:p>
            <a:pPr>
              <a:spcAft>
                <a:spcPts val="800"/>
              </a:spcAft>
            </a:pPr>
            <a:r>
              <a:rPr sz="1800">
                <a:solidFill>
                  <a:srgbClr val="1F2937"/>
                </a:solidFill>
                <a:latin typeface="Calibri"/>
              </a:rPr>
              <a:t>▸  15–25 foizda timiko-limfatik holat: ayrisimon bez va limfa tugunlari kattalashgan.</a:t>
            </a:r>
          </a:p>
          <a:p>
            <a:pPr>
              <a:spcAft>
                <a:spcPts val="800"/>
              </a:spcAft>
            </a:pPr>
            <a:r>
              <a:rPr sz="1800">
                <a:solidFill>
                  <a:srgbClr val="1F2937"/>
                </a:solidFill>
                <a:latin typeface="Calibri"/>
              </a:rPr>
              <a:t>▸  Ba’zan traxeya va bronxlarda oqish suyuq massa topiladi; u gastro-ezofagal reflyuks bilan izohlanadi.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Tekshiruv</a:t>
                      </a:r>
                    </a:p>
                  </a:txBody>
                  <a:tcPr marL="73152" marR="73152" marT="36576" marB="36576">
                    <a:solidFill>
                      <a:srgbClr val="0B1F3A"/>
                    </a:solidFill>
                  </a:tcPr>
                </a:tc>
                <a:tc>
                  <a:txBody>
                    <a:bodyPr/>
                    <a:lstStyle/>
                    <a:p>
                      <a:r>
                        <a:rPr sz="1400" b="1">
                          <a:solidFill>
                            <a:srgbClr val="FFFFFF"/>
                          </a:solidFill>
                        </a:rPr>
                        <a:t>Topilma</a:t>
                      </a:r>
                    </a:p>
                  </a:txBody>
                  <a:tcPr marL="73152" marR="73152" marT="36576" marB="36576">
                    <a:solidFill>
                      <a:srgbClr val="0B1F3A"/>
                    </a:solidFill>
                  </a:tcPr>
                </a:tc>
              </a:tr>
              <a:tr h="411480">
                <a:tc>
                  <a:txBody>
                    <a:bodyPr/>
                    <a:lstStyle/>
                    <a:p>
                      <a:r>
                        <a:rPr sz="1300" b="0">
                          <a:solidFill>
                            <a:srgbClr val="1F2937"/>
                          </a:solidFill>
                        </a:rPr>
                        <a:t>Tashqi</a:t>
                      </a:r>
                    </a:p>
                  </a:txBody>
                  <a:tcPr marL="73152" marR="73152" marT="36576" marB="36576">
                    <a:solidFill>
                      <a:srgbClr val="E8EEF6"/>
                    </a:solidFill>
                  </a:tcPr>
                </a:tc>
                <a:tc>
                  <a:txBody>
                    <a:bodyPr/>
                    <a:lstStyle/>
                    <a:p>
                      <a:r>
                        <a:rPr sz="1300" b="0">
                          <a:solidFill>
                            <a:srgbClr val="1F2937"/>
                          </a:solidFill>
                        </a:rPr>
                        <a:t>Ko‘z va qovoq shilliq qavatida qon quyilish</a:t>
                      </a:r>
                    </a:p>
                  </a:txBody>
                  <a:tcPr marL="73152" marR="73152" marT="36576" marB="36576">
                    <a:solidFill>
                      <a:srgbClr val="E8EEF6"/>
                    </a:solidFill>
                  </a:tcPr>
                </a:tc>
              </a:tr>
              <a:tr h="411480">
                <a:tc>
                  <a:txBody>
                    <a:bodyPr/>
                    <a:lstStyle/>
                    <a:p>
                      <a:r>
                        <a:rPr sz="1300" b="0">
                          <a:solidFill>
                            <a:srgbClr val="1F2937"/>
                          </a:solidFill>
                        </a:rPr>
                        <a:t>Tashqi</a:t>
                      </a:r>
                    </a:p>
                  </a:txBody>
                  <a:tcPr marL="73152" marR="73152" marT="36576" marB="36576">
                    <a:solidFill>
                      <a:srgbClr val="FFFFFF"/>
                    </a:solidFill>
                  </a:tcPr>
                </a:tc>
                <a:tc>
                  <a:txBody>
                    <a:bodyPr/>
                    <a:lstStyle/>
                    <a:p>
                      <a:r>
                        <a:rPr sz="1300" b="0">
                          <a:solidFill>
                            <a:srgbClr val="1F2937"/>
                          </a:solidFill>
                        </a:rPr>
                        <a:t>Murda dog‘lari ko‘p, tez paydo bo‘ladi</a:t>
                      </a:r>
                    </a:p>
                  </a:txBody>
                  <a:tcPr marL="73152" marR="73152" marT="36576" marB="36576">
                    <a:solidFill>
                      <a:srgbClr val="FFFFFF"/>
                    </a:solidFill>
                  </a:tcPr>
                </a:tc>
              </a:tr>
              <a:tr h="411480">
                <a:tc>
                  <a:txBody>
                    <a:bodyPr/>
                    <a:lstStyle/>
                    <a:p>
                      <a:r>
                        <a:rPr sz="1300" b="0">
                          <a:solidFill>
                            <a:srgbClr val="1F2937"/>
                          </a:solidFill>
                        </a:rPr>
                        <a:t>Ichki a’zolar</a:t>
                      </a:r>
                    </a:p>
                  </a:txBody>
                  <a:tcPr marL="73152" marR="73152" marT="36576" marB="36576">
                    <a:solidFill>
                      <a:srgbClr val="E8EEF6"/>
                    </a:solidFill>
                  </a:tcPr>
                </a:tc>
                <a:tc>
                  <a:txBody>
                    <a:bodyPr/>
                    <a:lstStyle/>
                    <a:p>
                      <a:r>
                        <a:rPr sz="1300" b="0">
                          <a:solidFill>
                            <a:srgbClr val="1F2937"/>
                          </a:solidFill>
                        </a:rPr>
                        <a:t>To‘laqonlik, suyuq qon, mayda qon quyilish</a:t>
                      </a:r>
                    </a:p>
                  </a:txBody>
                  <a:tcPr marL="73152" marR="73152" marT="36576" marB="36576">
                    <a:solidFill>
                      <a:srgbClr val="E8EEF6"/>
                    </a:solidFill>
                  </a:tcPr>
                </a:tc>
              </a:tr>
              <a:tr h="411480">
                <a:tc>
                  <a:txBody>
                    <a:bodyPr/>
                    <a:lstStyle/>
                    <a:p>
                      <a:r>
                        <a:rPr sz="1300" b="0">
                          <a:solidFill>
                            <a:srgbClr val="1F2937"/>
                          </a:solidFill>
                        </a:rPr>
                        <a:t>Mikroskopiya</a:t>
                      </a:r>
                    </a:p>
                  </a:txBody>
                  <a:tcPr marL="73152" marR="73152" marT="36576" marB="36576">
                    <a:solidFill>
                      <a:srgbClr val="FFFFFF"/>
                    </a:solidFill>
                  </a:tcPr>
                </a:tc>
                <a:tc>
                  <a:txBody>
                    <a:bodyPr/>
                    <a:lstStyle/>
                    <a:p>
                      <a:r>
                        <a:rPr sz="1300" b="0">
                          <a:solidFill>
                            <a:srgbClr val="1F2937"/>
                          </a:solidFill>
                        </a:rPr>
                        <a:t>Emfizema va atelektaz o‘choqlari oralashadi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GTO‘Sda asosiy topilmalar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GTO‘S tashxisi va gipodiagnostika xatolari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GTO‘S tashxisi faqat o‘limga olib kelishi mumkin bo‘lgan boshqa holatlar istisno qilingach qo‘yiladi.</a:t>
            </a:r>
          </a:p>
          <a:p>
            <a:pPr>
              <a:spcAft>
                <a:spcPts val="800"/>
              </a:spcAft>
            </a:pPr>
            <a:r>
              <a:rPr sz="1800">
                <a:solidFill>
                  <a:srgbClr val="1F2937"/>
                </a:solidFill>
                <a:latin typeface="Calibri"/>
              </a:rPr>
              <a:t>▸  Diqqat: GTO‘S ≠ pnevmoniya yoki asfiksiya; ko‘pincha shunday xato belgilanadi (gipodiagnostika).</a:t>
            </a:r>
          </a:p>
          <a:p>
            <a:pPr>
              <a:spcAft>
                <a:spcPts val="800"/>
              </a:spcAft>
            </a:pPr>
            <a:r>
              <a:rPr sz="1800">
                <a:solidFill>
                  <a:srgbClr val="1F2937"/>
                </a:solidFill>
                <a:latin typeface="Calibri"/>
              </a:rPr>
              <a:t>▸  Bunday xato pediatrlarni asossiz, jumladan jinoiy javobgarlikka tortilishiga olib kelishi mumkin.</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982990"/>
                <a:gridCol w="3304984"/>
              </a:tblGrid>
              <a:tr h="411480">
                <a:tc>
                  <a:txBody>
                    <a:bodyPr/>
                    <a:lstStyle/>
                    <a:p>
                      <a:r>
                        <a:rPr sz="1400" b="1">
                          <a:solidFill>
                            <a:srgbClr val="FFFFFF"/>
                          </a:solidFill>
                        </a:rPr>
                        <a:t>Xato talqin</a:t>
                      </a:r>
                    </a:p>
                  </a:txBody>
                  <a:tcPr marL="73152" marR="73152" marT="36576" marB="36576">
                    <a:solidFill>
                      <a:srgbClr val="0B1F3A"/>
                    </a:solidFill>
                  </a:tcPr>
                </a:tc>
                <a:tc>
                  <a:txBody>
                    <a:bodyPr/>
                    <a:lstStyle/>
                    <a:p>
                      <a:r>
                        <a:rPr sz="1400" b="1">
                          <a:solidFill>
                            <a:srgbClr val="FFFFFF"/>
                          </a:solidFill>
                        </a:rPr>
                        <a:t>Sababi</a:t>
                      </a:r>
                    </a:p>
                  </a:txBody>
                  <a:tcPr marL="73152" marR="73152" marT="36576" marB="36576">
                    <a:solidFill>
                      <a:srgbClr val="0B1F3A"/>
                    </a:solidFill>
                  </a:tcPr>
                </a:tc>
              </a:tr>
              <a:tr h="411480">
                <a:tc>
                  <a:txBody>
                    <a:bodyPr/>
                    <a:lstStyle/>
                    <a:p>
                      <a:r>
                        <a:rPr sz="1300" b="0">
                          <a:solidFill>
                            <a:srgbClr val="1F2937"/>
                          </a:solidFill>
                        </a:rPr>
                        <a:t>Bronxopnevmoniya</a:t>
                      </a:r>
                    </a:p>
                  </a:txBody>
                  <a:tcPr marL="73152" marR="73152" marT="36576" marB="36576">
                    <a:solidFill>
                      <a:srgbClr val="E8EEF6"/>
                    </a:solidFill>
                  </a:tcPr>
                </a:tc>
                <a:tc>
                  <a:txBody>
                    <a:bodyPr/>
                    <a:lstStyle/>
                    <a:p>
                      <a:r>
                        <a:rPr sz="1300" b="0">
                          <a:solidFill>
                            <a:srgbClr val="1F2937"/>
                          </a:solidFill>
                        </a:rPr>
                        <a:t>O‘pkadagi o‘zgarish o‘limga yetarli emas</a:t>
                      </a:r>
                    </a:p>
                  </a:txBody>
                  <a:tcPr marL="73152" marR="73152" marT="36576" marB="36576">
                    <a:solidFill>
                      <a:srgbClr val="E8EEF6"/>
                    </a:solidFill>
                  </a:tcPr>
                </a:tc>
              </a:tr>
              <a:tr h="411480">
                <a:tc>
                  <a:txBody>
                    <a:bodyPr/>
                    <a:lstStyle/>
                    <a:p>
                      <a:r>
                        <a:rPr sz="1300" b="0">
                          <a:solidFill>
                            <a:srgbClr val="1F2937"/>
                          </a:solidFill>
                        </a:rPr>
                        <a:t>Mexanik asfiksiya</a:t>
                      </a:r>
                    </a:p>
                  </a:txBody>
                  <a:tcPr marL="73152" marR="73152" marT="36576" marB="36576">
                    <a:solidFill>
                      <a:srgbClr val="FFFFFF"/>
                    </a:solidFill>
                  </a:tcPr>
                </a:tc>
                <a:tc>
                  <a:txBody>
                    <a:bodyPr/>
                    <a:lstStyle/>
                    <a:p>
                      <a:r>
                        <a:rPr sz="1300" b="0">
                          <a:solidFill>
                            <a:srgbClr val="1F2937"/>
                          </a:solidFill>
                        </a:rPr>
                        <a:t>Tez o‘lim belgilari unda ham uchraydi</a:t>
                      </a:r>
                    </a:p>
                  </a:txBody>
                  <a:tcPr marL="73152" marR="73152" marT="36576" marB="36576">
                    <a:solidFill>
                      <a:srgbClr val="FFFFFF"/>
                    </a:solidFill>
                  </a:tcPr>
                </a:tc>
              </a:tr>
              <a:tr h="411480">
                <a:tc>
                  <a:txBody>
                    <a:bodyPr/>
                    <a:lstStyle/>
                    <a:p>
                      <a:r>
                        <a:rPr sz="1300" b="0">
                          <a:solidFill>
                            <a:srgbClr val="1F2937"/>
                          </a:solidFill>
                        </a:rPr>
                        <a:t>Nafas yo‘llari yopilishi</a:t>
                      </a:r>
                    </a:p>
                  </a:txBody>
                  <a:tcPr marL="73152" marR="73152" marT="36576" marB="36576">
                    <a:solidFill>
                      <a:srgbClr val="E8EEF6"/>
                    </a:solidFill>
                  </a:tcPr>
                </a:tc>
                <a:tc>
                  <a:txBody>
                    <a:bodyPr/>
                    <a:lstStyle/>
                    <a:p>
                      <a:r>
                        <a:rPr sz="1300" b="0">
                          <a:solidFill>
                            <a:srgbClr val="1F2937"/>
                          </a:solidFill>
                        </a:rPr>
                        <a:t>Oz massa reflyuks natijasi bo‘lishi mumkin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Xato talqinlar va sabablari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GTO‘S va mexanik asfiksiyani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GTO‘S ≠ asfiksiya: tez o‘lim belgilari ikkala holatda ham uchraydi.</a:t>
            </a:r>
          </a:p>
          <a:p>
            <a:pPr>
              <a:spcAft>
                <a:spcPts val="800"/>
              </a:spcAft>
            </a:pPr>
            <a:r>
              <a:rPr sz="1800">
                <a:solidFill>
                  <a:srgbClr val="1F2937"/>
                </a:solidFill>
                <a:latin typeface="Calibri"/>
              </a:rPr>
              <a:t>▸  Voqea tafsilotiga ko‘r-ko‘rona ergashilsa, murda topilmalari yanglish talqin qilinadi.</a:t>
            </a:r>
          </a:p>
          <a:p>
            <a:pPr>
              <a:spcAft>
                <a:spcPts val="800"/>
              </a:spcAft>
            </a:pPr>
            <a:r>
              <a:rPr sz="1800">
                <a:solidFill>
                  <a:srgbClr val="1F2937"/>
                </a:solidFill>
                <a:latin typeface="Calibri"/>
              </a:rPr>
              <a:t>▸  Traxeyadagi oz oshqozon massasi nafas yo‘llari yopilganini bildirmaydi.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415091"/>
                <a:gridCol w="1713005"/>
                <a:gridCol w="2159877"/>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GTO‘S</a:t>
                      </a:r>
                    </a:p>
                  </a:txBody>
                  <a:tcPr marL="73152" marR="73152" marT="36576" marB="36576">
                    <a:solidFill>
                      <a:srgbClr val="0B1F3A"/>
                    </a:solidFill>
                  </a:tcPr>
                </a:tc>
                <a:tc>
                  <a:txBody>
                    <a:bodyPr/>
                    <a:lstStyle/>
                    <a:p>
                      <a:r>
                        <a:rPr sz="1300" b="1">
                          <a:solidFill>
                            <a:srgbClr val="FFFFFF"/>
                          </a:solidFill>
                        </a:rPr>
                        <a:t>Xato talqin</a:t>
                      </a:r>
                    </a:p>
                  </a:txBody>
                  <a:tcPr marL="73152" marR="73152" marT="36576" marB="36576">
                    <a:solidFill>
                      <a:srgbClr val="0B1F3A"/>
                    </a:solidFill>
                  </a:tcPr>
                </a:tc>
              </a:tr>
              <a:tr h="411480">
                <a:tc>
                  <a:txBody>
                    <a:bodyPr/>
                    <a:lstStyle/>
                    <a:p>
                      <a:r>
                        <a:rPr sz="1200" b="0">
                          <a:solidFill>
                            <a:srgbClr val="1F2937"/>
                          </a:solidFill>
                        </a:rPr>
                        <a:t>Tez o‘lim belgilari</a:t>
                      </a:r>
                    </a:p>
                  </a:txBody>
                  <a:tcPr marL="73152" marR="73152" marT="36576" marB="36576">
                    <a:solidFill>
                      <a:srgbClr val="E8EEF6"/>
                    </a:solidFill>
                  </a:tcPr>
                </a:tc>
                <a:tc>
                  <a:txBody>
                    <a:bodyPr/>
                    <a:lstStyle/>
                    <a:p>
                      <a:r>
                        <a:rPr sz="1200" b="0">
                          <a:solidFill>
                            <a:srgbClr val="1F2937"/>
                          </a:solidFill>
                        </a:rPr>
                        <a:t>Bor</a:t>
                      </a:r>
                    </a:p>
                  </a:txBody>
                  <a:tcPr marL="73152" marR="73152" marT="36576" marB="36576">
                    <a:solidFill>
                      <a:srgbClr val="E8EEF6"/>
                    </a:solidFill>
                  </a:tcPr>
                </a:tc>
                <a:tc>
                  <a:txBody>
                    <a:bodyPr/>
                    <a:lstStyle/>
                    <a:p>
                      <a:r>
                        <a:rPr sz="1200" b="0">
                          <a:solidFill>
                            <a:srgbClr val="1F2937"/>
                          </a:solidFill>
                        </a:rPr>
                        <a:t>Asfiksiyada ham bor</a:t>
                      </a:r>
                    </a:p>
                  </a:txBody>
                  <a:tcPr marL="73152" marR="73152" marT="36576" marB="36576">
                    <a:solidFill>
                      <a:srgbClr val="E8EEF6"/>
                    </a:solidFill>
                  </a:tcPr>
                </a:tc>
              </a:tr>
              <a:tr h="411480">
                <a:tc>
                  <a:txBody>
                    <a:bodyPr/>
                    <a:lstStyle/>
                    <a:p>
                      <a:r>
                        <a:rPr sz="1200" b="0">
                          <a:solidFill>
                            <a:srgbClr val="1F2937"/>
                          </a:solidFill>
                        </a:rPr>
                        <a:t>Traxeyada oz massa</a:t>
                      </a:r>
                    </a:p>
                  </a:txBody>
                  <a:tcPr marL="73152" marR="73152" marT="36576" marB="36576">
                    <a:solidFill>
                      <a:srgbClr val="FFFFFF"/>
                    </a:solidFill>
                  </a:tcPr>
                </a:tc>
                <a:tc>
                  <a:txBody>
                    <a:bodyPr/>
                    <a:lstStyle/>
                    <a:p>
                      <a:r>
                        <a:rPr sz="1200" b="0">
                          <a:solidFill>
                            <a:srgbClr val="1F2937"/>
                          </a:solidFill>
                        </a:rPr>
                        <a:t>Reflyuks natijasi</a:t>
                      </a:r>
                    </a:p>
                  </a:txBody>
                  <a:tcPr marL="73152" marR="73152" marT="36576" marB="36576">
                    <a:solidFill>
                      <a:srgbClr val="FFFFFF"/>
                    </a:solidFill>
                  </a:tcPr>
                </a:tc>
                <a:tc>
                  <a:txBody>
                    <a:bodyPr/>
                    <a:lstStyle/>
                    <a:p>
                      <a:r>
                        <a:rPr sz="1200" b="0">
                          <a:solidFill>
                            <a:srgbClr val="1F2937"/>
                          </a:solidFill>
                        </a:rPr>
                        <a:t>Nafas yo‘li yopilgan deyiladi</a:t>
                      </a:r>
                    </a:p>
                  </a:txBody>
                  <a:tcPr marL="73152" marR="73152" marT="36576" marB="36576">
                    <a:solidFill>
                      <a:srgbClr val="FFFFFF"/>
                    </a:solidFill>
                  </a:tcPr>
                </a:tc>
              </a:tr>
              <a:tr h="411480">
                <a:tc>
                  <a:txBody>
                    <a:bodyPr/>
                    <a:lstStyle/>
                    <a:p>
                      <a:r>
                        <a:rPr sz="1200" b="0">
                          <a:solidFill>
                            <a:srgbClr val="1F2937"/>
                          </a:solidFill>
                        </a:rPr>
                        <a:t>Xulosa asosi</a:t>
                      </a:r>
                    </a:p>
                  </a:txBody>
                  <a:tcPr marL="73152" marR="73152" marT="36576" marB="36576">
                    <a:solidFill>
                      <a:srgbClr val="E8EEF6"/>
                    </a:solidFill>
                  </a:tcPr>
                </a:tc>
                <a:tc>
                  <a:txBody>
                    <a:bodyPr/>
                    <a:lstStyle/>
                    <a:p>
                      <a:r>
                        <a:rPr sz="1200" b="0">
                          <a:solidFill>
                            <a:srgbClr val="1F2937"/>
                          </a:solidFill>
                        </a:rPr>
                        <a:t>Boshqa sabablar istisno</a:t>
                      </a:r>
                    </a:p>
                  </a:txBody>
                  <a:tcPr marL="73152" marR="73152" marT="36576" marB="36576">
                    <a:solidFill>
                      <a:srgbClr val="E8EEF6"/>
                    </a:solidFill>
                  </a:tcPr>
                </a:tc>
                <a:tc>
                  <a:txBody>
                    <a:bodyPr/>
                    <a:lstStyle/>
                    <a:p>
                      <a:r>
                        <a:rPr sz="1200" b="0">
                          <a:solidFill>
                            <a:srgbClr val="1F2937"/>
                          </a:solidFill>
                        </a:rPr>
                        <a:t>Faqat voqea tafsiloti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GTO‘S va xato talqin</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yostiqdagi go‘dak 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emizayotgan ona uxlab qolgan, yonidagi go‘dak o‘lgan; yoki go‘dak yostiqda ag‘darilib qotgan.</a:t>
            </a:r>
          </a:p>
          <a:p>
            <a:pPr>
              <a:spcAft>
                <a:spcPts val="1200"/>
              </a:spcAft>
            </a:pPr>
            <a:r>
              <a:rPr sz="2200">
                <a:solidFill>
                  <a:srgbClr val="1F2937"/>
                </a:solidFill>
                <a:latin typeface="Calibri"/>
              </a:rPr>
              <a:t>▸  Murdada ichki a’zolar to‘laqonligi, suyuq qon va mayda qon quyilishlari topilgan; bular asfiksiyada ham uchraydi.</a:t>
            </a:r>
          </a:p>
          <a:p>
            <a:pPr>
              <a:spcAft>
                <a:spcPts val="1200"/>
              </a:spcAft>
            </a:pPr>
            <a:r>
              <a:rPr sz="2200">
                <a:solidFill>
                  <a:srgbClr val="1F2937"/>
                </a:solidFill>
                <a:latin typeface="Calibri"/>
              </a:rPr>
              <a:t>▸  Xulosa tibbiy hujjatlar, ota-onadan olingan katamnestik ma’lumot va laboratoriya natijalariga tayanishi kerak.</a:t>
            </a:r>
          </a:p>
          <a:p>
            <a:pPr>
              <a:spcAft>
                <a:spcPts val="1200"/>
              </a:spcAft>
            </a:pPr>
            <a:r>
              <a:rPr sz="2200">
                <a:solidFill>
                  <a:srgbClr val="1F2937"/>
                </a:solidFill>
                <a:latin typeface="Calibri"/>
              </a:rPr>
              <a:t>▸  Savol: boshqa kasallik va travma topilmasa, tashxisni qanday asoslaysiz? GTO‘S shunda istisno yo‘li bilan qo‘yiladi.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254, 253, 253-254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Nogahon o‘lim sababi kasallik bo‘ladi, tez kechadi va ko‘pincha simptomsiz bo‘ladi; zo‘raki o‘lim istisno qilinadi.</a:t>
            </a:r>
          </a:p>
          <a:p>
            <a:pPr>
              <a:spcAft>
                <a:spcPts val="1200"/>
              </a:spcAft>
            </a:pPr>
            <a:r>
              <a:rPr sz="2200">
                <a:solidFill>
                  <a:srgbClr val="1F2937"/>
                </a:solidFill>
                <a:latin typeface="Calibri"/>
              </a:rPr>
              <a:t>▸  Bolalarda nogahon o‘limning 90%ga yaqini o‘tkir respirator kasalliklardan; o‘zgarishlar ko‘pincha spetsifik bo‘lmaydi.</a:t>
            </a:r>
          </a:p>
          <a:p>
            <a:pPr>
              <a:spcAft>
                <a:spcPts val="1200"/>
              </a:spcAft>
            </a:pPr>
            <a:r>
              <a:rPr sz="2200">
                <a:solidFill>
                  <a:srgbClr val="1F2937"/>
                </a:solidFill>
                <a:latin typeface="Calibri"/>
              </a:rPr>
              <a:t>▸  GTO‘S – bir yoshgacha uyquda to‘satdan o‘lim; sabab topilmaydi. Xavf omillarini bartaraf qilish xavfni kamaytiradi.</a:t>
            </a:r>
          </a:p>
          <a:p>
            <a:pPr>
              <a:spcAft>
                <a:spcPts val="1200"/>
              </a:spcAft>
            </a:pPr>
            <a:r>
              <a:rPr sz="2200">
                <a:solidFill>
                  <a:srgbClr val="1F2937"/>
                </a:solidFill>
                <a:latin typeface="Calibri"/>
              </a:rPr>
              <a:t>▸  Nazorat savollari (10 ta): nogahon o‘lim belgilari, turtki omillar, bolalardagi sabablar, GTO‘S ta’rifi, gipotezalar, xavf omillari, topilmalar, gipodiagnostika.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248, 250-251, 252-253, 254-255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Atama tarixi: avval bu holat “krovatdagi o‘lim” (cot death) va “belanchakdagi o‘lim” (crib death) deb atalgan. GTO‘S atamasi va ta’rifi 1969 yilda xalqaro konferensiyada qabul qilingan, 1979 yilda esa kasalliklarning xalqaro tasnifiga kiritilgan.</a:t>
            </a:r>
          </a:p>
          <a:p>
            <a:pPr>
              <a:spcAft>
                <a:spcPts val="1200"/>
              </a:spcAft>
            </a:pPr>
            <a:r>
              <a:rPr sz="1800">
                <a:solidFill>
                  <a:srgbClr val="1F2937"/>
                </a:solidFill>
                <a:latin typeface="Calibri"/>
              </a:rPr>
              <a:t>▸  Statistika: turli mamlakatlarda GTO‘S ko‘rsatkichi 1000 tirik tug‘ilganga 0,5–2,8 oralig‘ida. U go‘daklar o‘limi sabablari orasida uchinchi o‘rinda turadi. O‘zbekistonda masala yaxshi o‘rganilmagan, ko‘rsatkich 1,5 dan yuqori deb taxmin qilingan.</a:t>
            </a:r>
          </a:p>
          <a:p>
            <a:pPr>
              <a:spcAft>
                <a:spcPts val="1200"/>
              </a:spcAft>
            </a:pPr>
            <a:r>
              <a:rPr sz="1800">
                <a:solidFill>
                  <a:srgbClr val="1F2937"/>
                </a:solidFill>
                <a:latin typeface="Calibri"/>
              </a:rPr>
              <a:t>▸  Hodisa tahlili: ona emizayotib uxlab qolgan va yonidagi go‘dak o‘lgan. Voqea tafsiloti mexanik asfiksiyani eslatadi. Lekin ichki a’zolarning to‘laqonligi, suyuq qon va mayda qon quyilishlari ikkala holatda ham uchraydi, shuning uchun faqat voqeaga qarab xulosa qilib bo‘lmaydi.</a:t>
            </a:r>
          </a:p>
          <a:p>
            <a:pPr>
              <a:spcAft>
                <a:spcPts val="1200"/>
              </a:spcAft>
            </a:pPr>
            <a:r>
              <a:rPr sz="1800">
                <a:solidFill>
                  <a:srgbClr val="1F2937"/>
                </a:solidFill>
                <a:latin typeface="Calibri"/>
              </a:rPr>
              <a:t>▸  Eslab qolish usuli: “Avval istisno, keyin tashxis”. GTO‘S diagnozi faqat o‘limga olib kelishi mumkin bo‘lgan kasallik va travma istisno qilingandan keyin qo‘yiladi. Shuning uchun u istisno diagnozi hisoblanadi.</a:t>
            </a:r>
          </a:p>
          <a:p>
            <a:pPr>
              <a:spcAft>
                <a:spcPts val="1200"/>
              </a:spcAft>
            </a:pPr>
            <a:r>
              <a:rPr sz="1800">
                <a:solidFill>
                  <a:srgbClr val="1F2937"/>
                </a:solidFill>
                <a:latin typeface="Calibri"/>
              </a:rPr>
              <a:t>▸  Tipik xato: o‘pkadagi yengil kataral yoki seroz yallig‘lanish alomatlari tanqidiy baholanmay, o‘lim sababi sifatida pnevmoniya deb ko‘rsatiladi. Bunday o‘zgarishlar o‘limga olib kelish uchun yetarli emas. Bu xato ba’zan pediatrlarning asossiz javobgarlikka tortilishiga sabab bo‘lgan.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nozo‘raki o‘lim holatidagi murdani tekshirmoqda. Bunday ekspertizaning asosiy maqsadi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turi va uni qoldirgan qurolni aniqlash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Zo‘rakilik alomatlarini istisno qilish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Jinoyatchining shaxsini aniqlab berish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O‘lim vaqtini soatigacha aniq belgilash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Bemorning avval aniqlanmagan kasalligi tufayli sog‘lig‘i yomonlashdi va 24 soat ichida vafot etdi. Ilgari bu holat qanday atalgan?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Zo‘raki o‘lim holati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To‘satdan o‘lim (sudden death)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Klinik o‘lim holati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Nogahon o‘lim (unexpected death)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Quyidagilardan qaysi biri nogahon o‘limga xos belgi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O‘lim tez, qisqa muddat oralig‘ida sodir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O‘limdan oldin sog‘liq holati doim og‘ir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O‘lim sababi har doim jarohat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Murdada o‘lim sababi bo‘lgan kasallik topilmaydi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Ochiq dalada ishlayotgan dehqon to‘satdan vafot etdi. Vaqt va joyga ko‘ra qaysi zo‘raki o‘limga shubha tug‘iladi?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Elektrotravmadan o‘lim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Anafilaktik shokdan o‘lim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Issiq urishidan o‘lim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Havo emboliyasidan o‘lim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Yashirin surunkali kasalligi bor kishi uzoq och yurib, so‘ng birdaniga ko‘p ovqat yedi va vafot etdi. Bu omil nogahon o‘limda qanday rol o‘ynaydi?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Kasallikning tug‘ma shakli sifatida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Dekompensatsiyani qo‘zg‘atuvchi turtki omil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Zo‘raki o‘limning bevosita sababi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Murdadagi tasodifiy topilma sifatida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Katta yoshdagilarda nogahon o‘lim holatlarining 85–90% qismiga qaysi tizim kasalliklari sabab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Nafas olish tizimi kasalliklari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Yurak-qon tomir tizimi kasalliklari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Oshqozon-ichak tizimi kasalliklari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Nerv tizimi kasalliklari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Murdada toj tomirlardagi aterosklerotik o‘zgarishlar kuchsiz, o‘lim esa o‘tkir koronar etishmovchilikdan yuz bergan. Qaysi mexanizm asosiy o‘rin tutadi?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 ivish tizimining keskin faollashuvi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Yurak qorinchalarining birlamchi yorilishi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Yurak klapanlarining o‘tkir yallig‘lanishi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Yurak toj tomirlari spazmining rivojlanishi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murda miokardida yaqqol infarkt o‘chog‘ini topmadi, o‘lim esa tez, qisqa vaqtda yuz bergan edi. Buning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Infarkt shakllanishi uchun kamida 12–24 soat kerak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Infarkt faqat keksa odamlarda shakllanishi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Infarkt o‘limdan keyin tezda butunlay so‘rilib ketadi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Infarkt nogahon o‘limda hech qachon shakllanmaydi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Miokard infarktidan o‘lim ishemiya boshlanganidan bir necha soat o‘tib yuz berdi. Murda tekshiruvida miokardda qanday manzara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Er rangidagi, qon quyilish hoshiyali nekroz o‘chog‘i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Sarg‘ish-yashil rangli aniq chegarali nekroz o‘chog‘i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Shalviragan, notekis qonga to‘lgan miokard zonasi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Sarg‘ish-kul rangli klassik infarkt o‘chog‘i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Bolalarning nogahon o‘limi holatlarining 90% ga yaqini qaysi kasalliklar tufayli sodir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O‘tkir ichak infeksiyalari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O‘tkir respirator kasalliklar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Yurakning tug‘ma nuqsonlari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Markaziy nerv tizimi o‘smalari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Go‘daklar o‘limi tahlilida nafas tizimi kasalliklaridan sodir bo‘lgan nogahon o‘lim holatlari qaysi davrda eng ko‘p uchraydi?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Hayotning birinchi yilining birinchi yarmida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Hayotning birinchi yilining ikkinchi yarmida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 yoshdan keyingi davrda, o‘sish paytida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hayotning birinchi oyidan keyin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Nogahon o‘lim sodir bo‘lgan bolalarda o‘tkir respirator kasallikning qaysi xususiyati nogahon o‘limga olib kelmaydigan holatlardan farq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Asosan epidemik davrlarda, bahor va kuzda uchraydi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Asosan viruslar tomonidan chaqirilgan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Ko‘proq aralash virus-bakterial kelib chiqishga ega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Doimo o‘pkada spetsifik mikroskopik o‘zgarish beradi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Sud-tibbiy ekspert go‘dak murdasida ayrisimon bez va limfa tugunlari kattalashganini hamda buyrak usti bezi gipoplaziyasini aniqladi. Bu o‘zgarishlar qaysi holatning belgisi?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Pnevmotsistali pnevmoniya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Gastro-ezofagal reflyuks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Klassik miokard infarkti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Timiko-limfatik holat belgisi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Bolada pnevmoniya ishonchli aniqlangan va u vafot etgan. Manbaga ko‘ra, ko‘pchilik holatlarda (60-75%) pnevmoniya o‘limda qanday rol o‘ynashi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Doimo o‘limning yagona asosiy sababi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tasodifiy morfologik topilma hisoblanadi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Raqobatchi sabab, asorat yoki hamroh kasallik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virusli kelib chiqishli kasallik hisoblanadi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go‘dak o‘limini repolyarizatsiya jarayoni buzilishi natijasidagi asistoliya bilan tushuntirmoqda. U qaysi gipotezadan foydalanmoqda?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Mexanik gipoteza bo‘yicha tushuntirmoqda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Allergik gipoteza bo‘yicha tushuntirmoqda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Kardiogen gipoteza bo‘yicha tushuntirmoqda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Timik gipoteza bo‘yicha tushuntirmoqda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Pediatr go‘daklar o‘limi tuzilmasini tahlil qilmoqda. J.B.Beckwith (2003) tadqiqotlariga ko‘ra, GTO‘S (go‘daklarning to‘satdan o‘limi sindromi) bu tuzilmada qaysi o‘rinni egallaydi?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Birinchi o‘rinni egallaydi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Ikkinchi o‘rinni egallaydi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Uchinchi o‘rinni egallaydi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To‘rtinchi o‘rinni egallaydi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Ona 3 oylik go‘dagini o‘z yonida bir o‘rinda uxlatadi, zich yo‘rgaklaydi va qorni bilan yotqizadi. Bu holatlar GTO‘S nuqtai nazaridan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GTO‘S xavf omillari qatoriga kiradi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GTO‘Sning isbotlangan yagona sababidir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GTO‘Sdan himoya qiluvchi omil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GTO‘Sga hech qanday aloqasi bo‘lmaydi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Oilada GTO‘S xavf omillari aniqlandi. Darslikdagi yondashuvga ko‘ra, bu go‘dak haqida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 albatta GTO‘Sdan o‘ladi, chora yo‘q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Lozim parvarish bilan sog‘lom o‘sishi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dori vositalari bilan himoyalanadi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Xavf omillarini bartaraf etish foyda bermaydi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uyquda o‘lgan go‘dak murdasini ichki tekshirmoqda. Quyidagilardan qaysi topilma GTO‘Sga xos tez o‘lim belgilariga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Yurak toj tomirida tromb va yaqqol infarkt o‘chog‘i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O‘pkada keng yiringli bronxopnevmoniya o‘choqlari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Bo‘yin yumshoq to‘qimalarida chuqur qon quyilishlar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Visseral plevra va epikard ostida mayda qon quyilishlar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Go‘dak yostiq ustida o‘lik topildi. Murdada ichki a’zolar to‘laqonligi, suyuq qon va mayda qon quyilishlari bor, boshqa kasallik yoki travma topilmadi. Qaysi yondashuv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Boshqa sabablar istisno qilinsa, GTO‘S tashxisi qo‘yiladi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Bu belgilar asosida mexanik asfiksiya deb belgilanadi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Yengil shamollash bo‘lsa, pnevmoniya sabab deb yoziladi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Voqea tafsilotiga ko‘ra tashxis darhol aniqlanadi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Zo‘rakilik alomatlarini istisno qilish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Nozo‘raki o‘limning sababi turli kasalliklar bo‘lgani uchun ekspertizaning asosiy maqsadi zo‘rakilik alomatlarini istisno qilishdir. Boshqa variantlar bu ekspertizaning asosiy maqsadi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248-bet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Nogahon o‘lim (unexpected death)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Avval aniqlanmagan kasallik sababli sog‘liq holati 24 soat davomida yomonlashib, o‘lim bilan tugasa, nogahon o‘lim deyilgan. To‘satdan o‘limda kasallik oldindan aniqlangan bo‘lgan. Hozir ko‘p tadqiqotchilar bu atamalarni sinonim deb 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248-bet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O‘lim tez, qisqa muddat oralig‘ida sodir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Nogahon o‘limda o‘lim tez va qisqa muddatda sodir bo‘ladi. Sababi doim kasallik, o‘limdan oldin sog‘liq holati to‘liq yoki nisbatan yaxshi bo‘ladi. Murdada esa o‘limga sabab bo‘lgan hayotiy kasallik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248-bet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Issiq urishidan o‘lim</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Nogahon o‘lim sodir bo‘lgan vaqt va joy zo‘raki o‘limni istisno qilish zaruratini tug‘diradi. Ochiq dalada dehqonning o‘limi issiq urishiga shubha uyg‘otadi.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248-bet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Dekompensatsiyani qo‘zg‘atuvchi turtki omil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Yashirin kechgan surunkali kasalliklarda ma’lum holatlar dekompensatsiyani qo‘zg‘atib, nogahon o‘limga olib keladi, ular turtki (trigger) deb ataladi. Ovqatlanish va suv ichish rejimining buzilishi, jumladan uzoq och yurish va birdaniga ko‘p ovqat yeyish bu omillarga kiradi.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249-bet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Yurak-qon tomir tizimi kasalliklari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Katta yoshdagilarda nogahon o‘limga aksariyat holatlarda (85–90%) yurak-qon tomir kasalliklari olib keladi. Bu tizimda yetakchi o‘rinni ateroskleroz va gipertonik kasallik egallaydi. Boshqa tizim kasalliklaridan o‘lim nisbatan kam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249-bet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Yurak toj tomirlari spazmining rivojlanishi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O‘tkir koronar etishmovchilikda toj tomirlar spazmi asosiy o‘rin tutadi. Aterosklerozning ahamiyati ikkilamchi bo‘lib, o‘zgarishlar kuchli va yaqqol bo‘lmasligi mumkin. Spazm yo‘qolib qon aylanishi tiklangach, qorinchalar fibrillyasiyasi yuz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249-bet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Infarkt shakllanishi uchun kamida 12–24 soat kerak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Ko‘zga yaqqol tashlanadigan miokard infarkti rivojlanishi uchun koronar qon aylanishi buzilgan sharoitda kamida 12–24 soat zarur. Nogahon o‘lim odatda tezroq, qisqa vaqt oralig‘ida sodir bo‘ladi. Shu sabab yaqqol infarkt kuzatilmaydi.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249-bet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Shalviragan, notekis qonga to‘lgan miokard zonasi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O‘lim bir necha soatdan keyin yuz berganda nekroz o‘chog‘i aniq bilinmaydi, qon aylanishi buzilgan zonada miokard shalviragan va notekis qonga to‘lgan bo‘ladi. Er rangidagi o‘choq birinchi sutkaning ikkinchi yarmida paydo bo‘la boshlaydi. Sarg‘ish-kul va sarg‘ish-yashil ranglar keyinroq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250-bet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O‘tkir respirator kasalliklar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Bolalar nogahon o‘limining 90% ga yaqini o‘tkir respirator kasalliklar tufayli yuz beradi. Ular ko‘pincha virusli (gripp, respirator-sinsitial virus, adenovirus, paragripp) kelib chiqishga ega. Bakterial yoki aralash sabab kamroq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250-bet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Hayotning birinchi yilining birinchi yarmida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go‘daklardagi nafas tizimi kasalliklaridan nogahon o‘limning 80%i birinchi yilning birinchi yarmida, 12%i ikkinchi yarmida kuzatilishi aytilgan. Qolgani bir yoshdan keyingi davrga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250-bet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Asosan viruslar tomonidan chaqirilgan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Nogahon o‘limga olib keluvchi respirator kasalliklar asosan viruslardan kelib chiqadi. Epidemik davrlarga bog‘liqlik va aralash infeksiya esa nogahon o‘limga olib kelmaydigan holatlarga xos. Spetsifik o‘zgarishlar odatda topilmaydi.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250-251-bet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Timiko-limfatik holat belgisi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Ayrisimon bez va limfa tugunlarining kattalashuvi hamda buyrak usti bezi gipoplaziyasi timiko-limfatik holatga xos. Bunda bola tashqi va ichki ta’sirlarga o‘ta sezgir bo‘ladi, ko‘pincha bu murda tekshiruvidagi tasodifiy topilma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251-bet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Raqobatchi sabab, asorat yoki hamroh kasallik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Pnevmoniya ishonchli aniqlangan taqdirda ham u hamisha o‘limning asosiy sababi bo‘lavermaydi. Ko‘pchilik holatda (60-75%) u raqobatchi sabab, asorat yoki hamroh kasallik bo‘lishi mumkin. Shu sababli pnevmoniya giperdiagnostikasi yuzaga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251-bet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Kardiogen gipoteza bo‘yicha tushuntirmoqda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Kardiogen gipotezaga ko‘ra, repolyarizatsiya jarayonining buzilishi asistoliyaga olib keladi va o‘lim shundan sodir bo‘ladi. Respirator gipotezada esa o‘lim markaziy, periferik yoki aralash apnoe bilan izohlanadi.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252-bet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Uchinchi o‘rinni egallaydi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keltirilgan epidemiologik tadqiqotlar natijalariga ko‘ra, GTO‘S go‘daklar o‘limi sabablari tuzilmasida uchinchi o‘rinni egallaydi.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252-bet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GTO‘S xavf omillari qatoriga kiradi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Alohida uyqu o‘rnining bo‘lmasligi, ona bilan bir o‘rinda yotish, zich yo‘rgaklash va qorni bilan yotqizish GTO‘S ehtimolini oshiruvchi xavf omillaridir.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252-253-bet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Lozim parvarish bilan sog‘lom o‘sishi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Xavf omillari bo‘lsa ham go‘dakni o‘limga mahkum deb hisoblab bo‘lmaydi. Parvarish va tibbiy kuzatuv ta’minlansa, bola xavfli davrdan sog‘-salomat o‘tadi.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253-bet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Visseral plevra va epikard ostida mayda qon quyilishlar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GTO‘Sda ichki a’zolar to‘laqonligi, yurak bo‘shliqlarida suyuq qon, visseral plevra va epikard ostida mayda to‘q qizil qon quyilishlari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253-bet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Boshqa sabablar istisno qilinsa, GTO‘S tashxisi qo‘yiladi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Tez o‘lim belgilari mexanik asfiksiyada ham uchraydi, shuning uchun voqea tafsilotiga ko‘r-ko‘rona ergashib bo‘lmaydi. GTO‘S tashxisi boshqa sabablar istisno qilingandan keyingina qo‘yiladi.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253-254-bet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To'satdan chaqaloq o'limi sindromi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9. Nozo‘raki o‘lim hollarida murda ekspertizasi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