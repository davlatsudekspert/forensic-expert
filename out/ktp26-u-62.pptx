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klinik va sud-tibbiy maqsad farq qiladi? 2) Jarohat vaqti jinoiy javobgarlikka qanday ta’sir qiladi? Doskaga chizing: ‘jarohat → tekshiruv → xulosa’ sodda zanjiri. Tipik xato: sinish yoshi va yara yoshini bir xil usul bilan aniqlanadi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avval vitallik, keyin yara yoshi aniqlanadi? 2) PTI nimani isbotlaydi? Doskaga flow sxemani o‘quvchilar bilan chizdiring. Diqqat: vitallik ≠ yara yoshi (birinchisi tirik/o‘lik savoli, ikkinchisi vaqt savoli). Tipik xato: ikkalasini bitta tushuncha deb olish.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manba suyakka, qaysi yumshoq to‘qimaga tegishli? 2) Nega bir nechta manba birga kerak? Doskaga jadvalni ko‘chirtiring. Tipik xato: CNKI va PubMed ni usul emas, ma’lumotlar bazasi ekanini unutish. CNKI — China National Knowledge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Nega sinish yoshini aniqlash klinik va sud-tibbiy ishda ham qiyin? 2) Davolanishning kechikishi bitish ko‘rinishini qanday o‘zgartiradi? Doskada chizish: ikki-uch bitish bosqichini bir-biriga qoplanuvchi gorizontal chiziqlar sifatida chizdiring. Tipik xato: talabalar bosqichlarni qat’iy, ketma-ket va bir-biridan ajralgan deb tushunadi.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Nega faqat inson ma’lumotiga asoslangan ishlar tanlangan? 2) Havolalardan qo‘shimcha ish topish nimani ko‘rsatadi? Doskada chizish: saralash voronkasini 1328 dan 21 gacha chizing. Tipik xato: 259 va 86 raqamlarini aralashtirish; 86 takrorlar chiqarilgandan keyingi 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savollari: 1) Pediatrik ishlarning ko‘pligi kattalar uchun xulosalarga qanday ta’sir qiladi? 2) Sinish yoshi noma’lum bo‘lsa, usulni tekshirish nega qiyin? Doskada chizish: jadvaldagi tirik va postmortem ishlar nisbatini ustunli diagramma qilib chizing. Tipik xato: 21 ta nashr bilan namunali 19 ta ishni aralashtirish; 14 va 5 raqamlari 19 ga tegishli.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Talabalardan uchta savolga javobni yopiq kitob bilan so‘rang. Muhokama: nega tadqiqotlarning aksariyati bolalarda va rentgen bilan o‘tkazilgan? Doskada: ’ko‘p qo‘llanadi’ va ’eng aniq’ degan ikki ustun chizib, rentgen va gistologiyani joylashtirishni topshiring. Tipik xato: eng ko‘p ishlatiladigan usulni eng ishonchli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radius eng ko‘p o‘rganilgan (manbaga ko‘ra bolalikda eng tez-tez tasodifiy sinadigan suyak), qovurg‘a esa kam? Doskada: skelet sxemasi chizib, ko‘p va kam o‘rganilgan suyaklarni ikki rangda belgilang. Tipik xato: ko‘p o‘rganilgan suyakni sud-tibbiyot uchun eng muhim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gistologiya aniq, lekin jonli odamlarda qo‘llanmaydi? Nega rentgen ko‘p ishlatiladi? Doskada: jadvalni ko‘chirib, 15+2+2+2=21 yig‘indisini tekshirishni topshiring. Tipik xato: rentgen+gistologiya+KT ishini alohida ’KT usuli’ deb sanash.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bosqichlar bir-birini qoplaydi va bu baholashga qanday ta’sir qiladi? 2) Nima uchun bitta jarohat bir vaqtda bir necha bosqichni ko‘rsatishi mumkin? Doskada: 5 ta qutidan iborat zanjirni chizing va 1-2 hamda 5-6 qutilarni ajratib yozing. Tipik xato: bosqichlarni qat‘iy kalendar muddatlari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Mezonlar kombinatsiyasi har xil bo‘lsa, usullarni solishtirish nega qiyin? 2) Nima uchun kallus hamma ishda uchraydi? Doskada: jadvalni 4 qatorli qilib ko‘chiring va chastotani ustun shaklida chizing. Tipik xato: bosqichlar soni 6 bo‘lsa, mezonlar ham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bosqichlar soni ishdan-ishga farq qiladi? 2) Nega namuna hajmi kichik bo‘lishi xavfli? Doskaga chizing: bosqichlar sonining taqsimoti. Tipik xato: jadvaldagi bosqichni qat’iy muddatga bog‘lash.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Oltin standart bo‘lsa ham, nega gistologiya tirik bolada qo‘llanmaydi? 2) Dastlabki kunlarda gistologiya rentgendan nimasi bilan ustun? Doskada: vaqt o‘qini chizing, unga Moirangthem (5 kun) va De Boer (1–2+ yil) oraliqlarini belgilang. Tipik xato: oltin standart degani cheksiz aniq degan fikr.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Gistologiya nega ‘oltin standart’, lekin tirik odamda yaroqsiz? 2) Rentgen dastlabki haftalarda nimani ko‘rsata olmaydi? Doskada: ikki ustunli jadval chizing (gistologiya va rentgen) va har biriga ‘tirik/o‘lik’, ‘hujayra/suyak’ belgilarini yozdiring. Tipik xato: talabalar SPNBF va kallusni bitta bosqich deb o‘ylaydi, gistologiyani esa tirik shaxs uchun mos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Bir sinishda ham erta, ham kech belgilar ko‘rinsa, ekspert nimaga tayanadi? 2) Yordamning kechikishi bitish tezligiga qanday ta’sir qiladi? Doskada: vaqt chizig‘ini chizib, unda bosqichlarning bir-biriga qoplanadigan oraliqlarini ko‘rsating. Tipik xato: eng ilg‘or belgiga qarab butun sinishni ‘eski’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Gipslangan klinik sinish asosida tuzilgan jadval zo‘ravonlik sinishiga nega to‘liq mos kelmasligi mumkin? 2) Observerlar kelishuvi past bo‘lsa, sud ekspertizasida qanday ehtiyot choralari kerak? Doskada: A va B ustunli jadvalni talabalar bilan birga to‘ldiring. Tipik xato: klinik jadvalni sud holatlariga o‘zgartirishsiz qo‘llash va rentgen bahosini aniq sana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tirik bolada mikro-KT qo‘llab bo‘lmaydi? 2) MRT qaysi muddatda foydali, nega keyinchalik emas? Doskada: 3 ustunli solishtirma jadvalni talabalar bilan to‘ldiring. Diqqat: MRT ≠ KT ≠ mikro-KT; tipik xato — mikro-KT ni klinik usul deb o‘ylash (u faqat postmortem). Gistologiya hamon oltin standart ekanini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o‘lchanadigan (miqdoriy) parametr sifat belgilaridan ob’ektivroq? 2) Nega Tsai modelini boshqa yoshlarga ko‘chirib bo‘lmaydi? Doskada: kallus kesimida 5 parametrni belgilab chizing. Tipik xato — sun’iy intellekt qo‘lda usuldan aniqroq deb o‘ylash; Kyllonen ishida qo‘lda Malone usuli aniqroq bo‘lgan.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aniqlik oshgani sari moslik pasayadi? 2) Immobilizatsiya jadvalga qanday ta’sir qiladi? Doskaga chizing: to‘rt omil daraxti. Tipik xato: bolalar jadvalini barcha yosh guruhlariga bir xil qo‘llash.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bir xil sinishga turli usullar turli yosh beradi? 2) Sudda bunday baho qanchalik ishonchli? Doskada: uch usul bergan vaqt oraliqlarini uchta chiziq bilan chizib, farqni ko‘rsating. Tipik xato — usul chop etilgan bo‘lsa, tekshirilgan deb o‘ylash; aslida validatsiya juda kam. Yodda tuting: Drury va Cunningham sinishlarning haqiqiy yoshi noma’lum bo‘lgan.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Uch usul turlicha muddat bersa, ekspert xulosani qanday yozadi? 2) Haqiqiy yoshi ma’lum sinishlarda sinash nima beradi? Doskada: uch usulning vaqt oralig‘ini uchta kesma sifatida chizib, ular qanchalik farq qilishini ko‘rsating. Tipik xato: talabalar eng yaqin ikki usulni ‘to‘g‘ri’ deb hisoblaydi, holbuki bu ularning aniqligini isbotlamaydi.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Yallig‘lanish hujayralarining paydo bo‘lishi va yo‘qolishi yara yoshini aniqlashda nega muhim? 2) Teri va mushak proliferatsiyasi nimasi bilan farq qiladi? Doskada: uch fazali zanjirni chizib, tagiga teri va mushak jarayonlarini yozing. Tipik xato: fazalarni aniq chegarali deb o‘ylash, aslida ular uzluksiz o‘tadi.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hayvon natijalarini odamga to‘g‘ridan-to‘g‘ri ko‘chirib bo‘lmaydi? 2) Tirik odam namunalari nega sog‘lom odamlarni aks ettirmaydi? Doskada: uch ustunli jadvalni talabalar bilan birga to‘ldiring. Tipik xato: autopsiya namunasini har doim eng yaxshi deb hisoblash, holbuki hujjatlari ko‘pincha yetarli bo‘lmaydi.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ko‘z bilan baholash sud-tibbiy xulosa uchun yetarli emas? 2) IHC va IF oddiy gistologiyadan nimasi bilan ustun? Doskada chizish: jarohat vaqti o‘qi (0 dan 6 soatgacha va undan keyin), unda HE ko‘rsatadigan davrni belgilang. Tipik xato: ko‘karish rangi aniq kun beradi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javob berishdan oldin 1 daqiqa o‘ylash vaqti bering. Muhokama: 1) Eritrotsitlar ekstravazatsiyasi nima uchun yagona dalil bo‘la olmaydi? 2) Morfologik va molekulyar parametrlarni birga ishlatish xatoni qanday kamaytiradi? Doskada chizish: ikki ustunli jadval ’vitallikni isbotlaydi’ va ’postmortem ham uchraydi’. Tipik xato: eritrotsitlar ekstravazatsiyasini mutlaq vitallik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mRNK oqsildan oldin o‘zgargani erta yoshni aniqlashda qulay? 2) Western blot va ELISA ning kamchiligi nima (laboratoriyalar o‘rtasida solishtirish qiyin)? Doskada chizish: namuna, mRNK, oqsil, gistomorfologiya ketma-ketligini vaqt o‘qida chizing. Tipik xato: referens gen barqaror deb faraz qilish.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postmortem barqaror marker tanlash kerak? Nazorat guruhi nima uchun zarur? Doskada chizish: marker nomlarini barqarorlik muddati bo‘yicha (3 soat – 4 kun) vaqt o‘qida joylashtiring. Tipik xato: barcha mRNKni bir xil barqaror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miya yallig‘lanishi teridan nimasi bilan farq qiladi? Nega diffuz aksonal shikastda erta tashxis qiyin? Doskada chizish: neyron tanasidan akson uzilish joyigacha β-amiloid prekursor harakatini sxemada ko‘rsating. Tipik xato: MNS reaksiyasini teri reaksiyasi bilan butunlay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bitta marker o‘rniga markerlar paneli ishonchliroq? Ob-havo bashorati bilan o‘xshashlik nimani anglatadi? Doskada chizish: bitta marker oralig‘i va uch marker kesishmasi orqali toraygan oralig‘ni ikki chiziq bilan ko‘rsating. Tipik xato: ko‘p markerli yondashuvni tayyor yagona standart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kasallik fonida yara bitishi o‘zgaradi? 2) Bunday holda ekspert qanday qo‘shimcha parametrlarni izlashi kerak? Doskada: ’sog‘lom yara’ va ’diabetik yara’ vaqt chizig‘ini ikki qatorda chizdiring, bitish kechikishini ko‘rsating. Tipik xato: talabalar barcha shaxslarda bitish tezligi bir xil deb o‘ylaydi. Manbada bu holat sichqon modelida o‘rganilgan; xulosani odamga to‘g‘ridan-to‘g‘ri ko‘chirmang.</a:t>
            </a:r>
          </a:p>
          <a:p/>
          <a:p>
            <a:r>
              <a:t>Tekshirish kerak (manbada noaniq):</a:t>
            </a:r>
          </a:p>
          <a:p>
            <a:r>
              <a:t>- Savol: oddiy parametrlar qo‘llansa xato qanday bo‘ladi? Kechikkan bitish tufayli yara yoshi noto‘g‘ri, ehtimol kichikroq baholanishi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aksariyat maqolalar tanlovdan chiqib ketgan (boshqa usul, boshqa to‘qima, dublikat)? 2) IHC ning lokalizatsiyani ko‘rsatishi nima uchun muhim? Doskada: tanlash voronkasini chizing. Tipik xato: 29 + 17 = 46 hisobini unutish; matnda havoladan olingan ishlar soni bir joyda 17 deb berilgan, shuni aniq ayting. Foizlar: 70% IHC, 10% IF, 20% ikkalasi.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yuqori sezgirlikdagi marker yara hayotiyligini isbotlay olmaydi? 2) IL-1α &gt;30% qoidasi ekspertga nimani beradi? Doskada: 0 dan 24 soatgacha o‘q chizib, markerlarni mos vaqt nuqtalariga joylang. Tipik xato: sezgirlik va o‘ziga xoslikni aralashtirish; FVIIIra jarrohlik va nazorat jarohatlarida ham oshgan (53%). PTI — jarohatdan keyingi interval.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belgi o‘rniga belgilar majmuasi afzal? 2) Mast hujayralar kamligi nimani anglatishi mumkin? Doskada: vaqt o‘qi (soat → 14 kun) chizib, belgilarni joylashtiring. Tipik xato: dendrit hujayralar &gt;50 va VEGF &gt;50% chegaralarini aralashtirish; birinchisi 4–14 kun, ikkinchisi 7–14 kun.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fermentlar uchun musbat ulush yoki hujayra soni chegarasi qo‘yiladi? 2) Nospetsifik esteraza 40% namunada topilsa, uning yolg‘iz o‘zi yetarlimi? Doskada: COX-2, MMP-2 va MMP-9 oraliqlarini uchta gorizontal kesma bilan chizing. Tipik xato: %li chegarani (COX-2) hujayra soni chegarasi (MMP)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kollagenning yo‘qligi ham sud-tibbiy ma’lumot beradi? 2) Bazal membrana parchalari va to‘liq tiklanishi qaysi muddatlarda kuzatiladi? Doskada: kollagen III → V → I/VI → VII ketma-ketligini vaqt o‘qida chizing. Tipik xato: kollagen turlarini (III, V, VII) raqamlari bo‘yicha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6–8 daq. Muhokama: (1) Qaysi markerlar yara yoshini 5 kun atrofida toraytiradi? (2) CD14 yuqori bo‘lishi 5 kunlik yaraga to‘liq mos keladimi? Doskada chizish: 0–14 kun o‘qi va unda α-SMA (≥5 kun), kollagen I/VI (6–7 kun), CD14 (1–3 va 2–5 kun) oraliqlarini belgilang. Kutilgan javob: taxminan 5 kundan 6–7 kungacha, lekin bu taxminiy. Tipik xato: yagona markerga tayanib aniq kun aytish; miofibroblastlar eski yaralarning yoshini aniq ko‘rsatmaydi.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suyakda vaqt shkalasi uzunroq? (2) Standartlashtirish muammosi ikkala sohada qanday ko‘rinadi? Doskada chizish: ikki ustunli jadvalni talabalar daftariga ko‘chirtiring va har qatorga bittadan misol qo‘shtiring. Tipik xato: suyak va teri vaqt shkalalarini aralashtirish yoki gistologiyani suyak uchun ham tirik odamda qo‘llash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bitta usul yoki bitta marker yetarli emas? (2) Gistologiya oltin standart bo‘lsa ham, tirik odamda nega qo‘llanmaydi? Doskada chizish: ikki ustun, ’Vitallik’ va ’Yara yoshi’, hamda ’SPNBF’ va ’Kallus’ juftliklarini farqlari bilan yozing. Tipik xato: vitallikni yara yoshi bilan, SPNBFni kallus bilan bir narsa deb hisoblash; baho aniq kun sifatida beriladi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Suyak kallusining tuzilishi va yumshoq to'qimalarning gistologik ko'rinishi asosida shikastlanish yoshini aniqlash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Mavzuning dolzarbligi va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Sinish yoshini aniqlash klinikada davolash yo‘lini tanlash va bitish jarayonini kuzatib, davoni o‘zgartirish uchun kerak.</a:t>
            </a:r>
          </a:p>
          <a:p>
            <a:pPr>
              <a:spcAft>
                <a:spcPts val="1200"/>
              </a:spcAft>
            </a:pPr>
            <a:r>
              <a:rPr sz="2200">
                <a:solidFill>
                  <a:srgbClr val="1F2937"/>
                </a:solidFill>
                <a:latin typeface="Calibri"/>
              </a:rPr>
              <a:t>▸  Sud-tibbiyotda suyak shikastlari voqea holatlari haqida ma’lumot beradi va kerak bo‘lsa o‘lim sababini aniqlashga yordam beradi.</a:t>
            </a:r>
          </a:p>
          <a:p>
            <a:pPr>
              <a:spcAft>
                <a:spcPts val="1200"/>
              </a:spcAft>
            </a:pPr>
            <a:r>
              <a:rPr sz="2200">
                <a:solidFill>
                  <a:srgbClr val="1F2937"/>
                </a:solidFill>
                <a:latin typeface="Calibri"/>
              </a:rPr>
              <a:t>▸  Bola zo‘ravonligi gumon qilinsa, bitish darajasi jarohatlar xronologiyasini va bola kim bilan bo‘lganini aniqlashga ko‘mak beradi.</a:t>
            </a:r>
          </a:p>
          <a:p>
            <a:pPr>
              <a:spcAft>
                <a:spcPts val="1200"/>
              </a:spcAft>
            </a:pPr>
            <a:r>
              <a:rPr sz="2200">
                <a:solidFill>
                  <a:srgbClr val="1F2937"/>
                </a:solidFill>
                <a:latin typeface="Calibri"/>
              </a:rPr>
              <a:t>▸  Yara yoshi jinoyat joyini tiklashga yordam beradi. Ko‘p jarohatda ularning vaqti va tartibi aniqlanadi, chunki jazo og‘irlikka qarab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(Introduction); Li N va boshq., Vitality and wound-age estimation in forensic pathology: review and future prospects, betlar: PMID 32490306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Vitallik va yara yoshi: ikki asosiy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savollar: jarohat tirik paytda, agoniyada yoki o‘limdan keyin berilganmi va jabrlanuvchi necha vaqt yashagan?</a:t>
            </a:r>
          </a:p>
          <a:p>
            <a:pPr>
              <a:spcAft>
                <a:spcPts val="800"/>
              </a:spcAft>
            </a:pPr>
            <a:r>
              <a:rPr sz="1800">
                <a:solidFill>
                  <a:srgbClr val="1F2937"/>
                </a:solidFill>
                <a:latin typeface="Calibri"/>
              </a:rPr>
              <a:t>▸  Vitallik — jarohatga tirik organizm reaksiyalari: qon quyilishi, yallig‘lanish hujayralari infiltratsiyasi, granulyatsiya to‘qimasi.</a:t>
            </a:r>
          </a:p>
          <a:p>
            <a:pPr>
              <a:spcAft>
                <a:spcPts val="800"/>
              </a:spcAft>
            </a:pPr>
            <a:r>
              <a:rPr sz="1800">
                <a:solidFill>
                  <a:srgbClr val="1F2937"/>
                </a:solidFill>
                <a:latin typeface="Calibri"/>
              </a:rPr>
              <a:t>▸  Vitallik tasdiqlansa, jarohatdan keyingi interval (PTI) jarohat va o‘lim orasidagi sababiy bog‘liqlikni asoslaydi.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yetkazildi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Vitallik reaksiyalari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quyilishi, yallig‘lanish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Granulyatsiya to‘qimasi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Vitallik va yara yoshi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Vitallikdan yara yoshigacha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 (Introduction); Luca Tomassini va boshq., Dating Skin Lesions of Forensic Interest by Immunohistochemistry and Immunofluorescence Techniques: A Scoping Literature Review, betlar: PMID 38248045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Uch manba: nimani o‘rganadi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Lawrence: 2025 yildagi sharh 21 ta nashrni solishtirib, sinish yoshini aniqlashda tasvir usullarini baholaydi.</a:t>
            </a:r>
          </a:p>
          <a:p>
            <a:pPr>
              <a:spcAft>
                <a:spcPts val="800"/>
              </a:spcAft>
            </a:pPr>
            <a:r>
              <a:rPr sz="1800">
                <a:solidFill>
                  <a:srgbClr val="1F2937"/>
                </a:solidFill>
                <a:latin typeface="Calibri"/>
              </a:rPr>
              <a:t>▸  Li: yara yoshi va vitallikni ko‘rib chiqadi; PubMed va Xitoy CNKI bazasidagi maqolalar tahlil qilingan.</a:t>
            </a:r>
          </a:p>
          <a:p>
            <a:pPr>
              <a:spcAft>
                <a:spcPts val="800"/>
              </a:spcAft>
            </a:pPr>
            <a:r>
              <a:rPr sz="1800">
                <a:solidFill>
                  <a:srgbClr val="1F2937"/>
                </a:solidFill>
                <a:latin typeface="Calibri"/>
              </a:rPr>
              <a:t>▸  Tomassini: teri jarohati yoshini immunogistokimyo (IHC) va immunofluoressensiya (IF) markerlari bilan o‘rganadi.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Uch manba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Lawrence</a:t>
            </a:r>
          </a:p>
          <a:p>
            <a:pPr algn="l">
              <a:spcAft>
                <a:spcPts val="0"/>
              </a:spcAft>
            </a:pPr>
            <a:r>
              <a:rPr sz="1200" b="0">
                <a:solidFill>
                  <a:srgbClr val="1F2937"/>
                </a:solidFill>
                <a:latin typeface="Calibri"/>
              </a:rPr>
              <a:t>Suyak sinishi yoshi  ·  21 nashr; asosan 2D rentgen</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Li</a:t>
            </a:r>
          </a:p>
          <a:p>
            <a:pPr algn="l">
              <a:spcAft>
                <a:spcPts val="0"/>
              </a:spcAft>
            </a:pPr>
            <a:r>
              <a:rPr sz="1200" b="0">
                <a:solidFill>
                  <a:srgbClr val="1F2937"/>
                </a:solidFill>
                <a:latin typeface="Calibri"/>
              </a:rPr>
              <a:t>Yara yoshi: teri, mushak, miya  ·  PubMed va Xitoy CNKI bazasi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Tomassini</a:t>
            </a:r>
          </a:p>
          <a:p>
            <a:pPr algn="l">
              <a:spcAft>
                <a:spcPts val="0"/>
              </a:spcAft>
            </a:pPr>
            <a:r>
              <a:rPr sz="1200" b="0">
                <a:solidFill>
                  <a:srgbClr val="1F2937"/>
                </a:solidFill>
                <a:latin typeface="Calibri"/>
              </a:rPr>
              <a:t>Teri jarohati yoshi  ·  IHC va immunoflyuoressensiya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manba solishtirmasi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(Abstract); Li N va boshq., Vitality and wound-age estimation in forensic pathology: review and future prospects, betlar: PMID 32490306 (Introduction); Luca Tomassini va boshq., Dating Skin Lesions of Forensic Interest by Immunohistochemistry and Immunofluorescence Techniques: A Scoping Literature Review, betlar: PMID 38248045 (Abstract)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 sinishi yoshini aniqlash: qiyinchiliklar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Bitishda bir nechta biologik belgi bor, lekin bosqichlar bir-biriga qoplanadi. Har kim ulardan o‘z tezligida o‘tadi.</a:t>
            </a:r>
          </a:p>
          <a:p>
            <a:pPr>
              <a:spcAft>
                <a:spcPts val="800"/>
              </a:spcAft>
            </a:pPr>
            <a:r>
              <a:rPr sz="1600">
                <a:solidFill>
                  <a:srgbClr val="1F2937"/>
                </a:solidFill>
                <a:latin typeface="Calibri"/>
              </a:rPr>
              <a:t>▸  Yosh va sog‘liq holati bitish tezligiga ta’sir qiladi, deb hisoblanadi. Ammo har guruh bo‘yicha ma’lumot kam, ta’sirni o‘lchash qiyin.</a:t>
            </a:r>
          </a:p>
          <a:p>
            <a:pPr>
              <a:spcAft>
                <a:spcPts val="800"/>
              </a:spcAft>
            </a:pPr>
            <a:r>
              <a:rPr sz="1600">
                <a:solidFill>
                  <a:srgbClr val="1F2937"/>
                </a:solidFill>
                <a:latin typeface="Calibri"/>
              </a:rPr>
              <a:t>▸  Zo‘ravonlik holatida davolanish kechikishi mumkin va sinish joyi harakatda qoladi. Natijada suyak noto‘g‘ri yoki sekin bitishi mumkin.</a:t>
            </a:r>
          </a:p>
          <a:p>
            <a:pPr>
              <a:spcAft>
                <a:spcPts val="800"/>
              </a:spcAft>
            </a:pPr>
            <a:r>
              <a:rPr sz="1600">
                <a:solidFill>
                  <a:srgbClr val="1F2937"/>
                </a:solidFill>
                <a:latin typeface="Calibri"/>
              </a:rPr>
              <a:t>▸  Diqqat: bitta sinishda bir vaqtning o‘zida bir nechta bitish bosqichi ko‘rinishi mumkin. ‘Bir bosqich = bir aniq muddat’ deb o‘ylamang.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Sinish yoshini aniqlash qiyin</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Bosqichlar qoplanadi</a:t>
            </a:r>
          </a:p>
          <a:p>
            <a:pPr algn="l">
              <a:spcAft>
                <a:spcPts val="0"/>
              </a:spcAft>
            </a:pPr>
            <a:r>
              <a:rPr sz="1200" b="0">
                <a:solidFill>
                  <a:srgbClr val="1F2937"/>
                </a:solidFill>
                <a:latin typeface="Calibri"/>
              </a:rPr>
              <a:t>Bitta sinishda bir necha bosqich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Individual tezlik</a:t>
            </a:r>
          </a:p>
          <a:p>
            <a:pPr algn="l">
              <a:spcAft>
                <a:spcPts val="0"/>
              </a:spcAft>
            </a:pPr>
            <a:r>
              <a:rPr sz="1200" b="0">
                <a:solidFill>
                  <a:srgbClr val="1F2937"/>
                </a:solidFill>
                <a:latin typeface="Calibri"/>
              </a:rPr>
              <a:t>Yosh va sog‘liq ta’sir qiladi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Ma’lumot kam</a:t>
            </a:r>
          </a:p>
          <a:p>
            <a:pPr algn="l">
              <a:spcAft>
                <a:spcPts val="0"/>
              </a:spcAft>
            </a:pPr>
            <a:r>
              <a:rPr sz="1200" b="0">
                <a:solidFill>
                  <a:srgbClr val="1F2937"/>
                </a:solidFill>
                <a:latin typeface="Calibri"/>
              </a:rPr>
              <a:t>Guruhlar bo‘yicha o‘lchash qiyin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Zo‘ravonlik holati</a:t>
            </a:r>
          </a:p>
          <a:p>
            <a:pPr algn="l">
              <a:spcAft>
                <a:spcPts val="0"/>
              </a:spcAft>
            </a:pPr>
            <a:r>
              <a:rPr sz="1200" b="0">
                <a:solidFill>
                  <a:srgbClr val="1F2937"/>
                </a:solidFill>
                <a:latin typeface="Calibri"/>
              </a:rPr>
              <a:t>Davolash kechikadi  ·  Sinish joyi harakatda qoladi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Asosiy qiyinchiliklar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Sharh: qidiruv va tanlov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 hakamlik qilingan, ingliz tilida va inson ma’lumotiga asoslangan bo‘lishi shart.</a:t>
            </a:r>
          </a:p>
          <a:p>
            <a:pPr>
              <a:spcAft>
                <a:spcPts val="800"/>
              </a:spcAft>
            </a:pPr>
            <a:r>
              <a:rPr sz="1800">
                <a:solidFill>
                  <a:srgbClr val="1F2937"/>
                </a:solidFill>
                <a:latin typeface="Calibri"/>
              </a:rPr>
              <a:t>▸  Ish metodikaga qaratilgan bo‘lsin, alohida holat bayoni emas; bosqichlar va ularning muddati aniq berilsin.</a:t>
            </a:r>
          </a:p>
          <a:p>
            <a:pPr>
              <a:spcAft>
                <a:spcPts val="800"/>
              </a:spcAft>
            </a:pPr>
            <a:r>
              <a:rPr sz="1800">
                <a:solidFill>
                  <a:srgbClr val="1F2937"/>
                </a:solidFill>
                <a:latin typeface="Calibri"/>
              </a:rPr>
              <a:t>▸  Qidiruv 2024-yil yozida o‘tkazilgan, 2024-yil iyulgacha bo‘lgan yozuvlar ko‘rilgan.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6 baza: 1328 natija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Sarlavha/annotatsiya: 259</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Takrorlar chiqarildi: 86</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To‘liq matn: 10 ta mos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+11 havoladan = 21 nashr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Maqolalarni saralash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 demografiyasi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1987–2010 yillarda atigi 4 ish chiqqan; 2011–2023 yillarda yana 16 ish nashr etilgan.</a:t>
            </a:r>
          </a:p>
          <a:p>
            <a:pPr>
              <a:spcAft>
                <a:spcPts val="800"/>
              </a:spcAft>
            </a:pPr>
            <a:r>
              <a:rPr sz="1800">
                <a:solidFill>
                  <a:srgbClr val="1F2937"/>
                </a:solidFill>
                <a:latin typeface="Calibri"/>
              </a:rPr>
              <a:t>▸  Sinish yoshi aniq bo‘lishi tug‘ruq jarohati yoki batafsil klinik yozuvlarga asoslangan.</a:t>
            </a:r>
          </a:p>
          <a:p>
            <a:pPr>
              <a:spcAft>
                <a:spcPts val="800"/>
              </a:spcAft>
            </a:pPr>
            <a:r>
              <a:rPr sz="1800">
                <a:solidFill>
                  <a:srgbClr val="1F2937"/>
                </a:solidFill>
                <a:latin typeface="Calibri"/>
              </a:rPr>
              <a:t>▸  Diqqat: tirik bemorlar ko‘p, postmortem kam; bu sud-tibbiy amaliyotga to‘liq mos kelmasligi mumkin.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Davr</a:t>
            </a:r>
          </a:p>
          <a:p>
            <a:pPr algn="l">
              <a:spcAft>
                <a:spcPts val="100"/>
              </a:spcAft>
            </a:pPr>
            <a:r>
              <a:rPr sz="3000" b="1">
                <a:solidFill>
                  <a:srgbClr val="0B1F3A"/>
                </a:solidFill>
                <a:latin typeface="Calibri"/>
              </a:rPr>
              <a:t>1987–2024</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Tirik / postmortem</a:t>
            </a:r>
          </a:p>
          <a:p>
            <a:pPr algn="l">
              <a:spcAft>
                <a:spcPts val="100"/>
              </a:spcAft>
            </a:pPr>
            <a:r>
              <a:rPr sz="3000" b="1">
                <a:solidFill>
                  <a:srgbClr val="0B1F3A"/>
                </a:solidFill>
                <a:latin typeface="Calibri"/>
              </a:rPr>
              <a:t>14 / 5</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Bolalar / kattalar</a:t>
            </a:r>
          </a:p>
          <a:p>
            <a:pPr algn="l">
              <a:spcAft>
                <a:spcPts val="100"/>
              </a:spcAft>
            </a:pPr>
            <a:r>
              <a:rPr sz="3000" b="1">
                <a:solidFill>
                  <a:srgbClr val="0B1F3A"/>
                </a:solidFill>
                <a:latin typeface="Calibri"/>
              </a:rPr>
              <a:t>15 / 5</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Sinish yoshi aniq</a:t>
            </a:r>
          </a:p>
          <a:p>
            <a:pPr algn="l">
              <a:spcAft>
                <a:spcPts val="100"/>
              </a:spcAft>
            </a:pPr>
            <a:r>
              <a:rPr sz="3000" b="1">
                <a:solidFill>
                  <a:srgbClr val="0B1F3A"/>
                </a:solidFill>
                <a:latin typeface="Calibri"/>
              </a:rPr>
              <a:t>14 ta ish</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1987–2010 yillarda</a:t>
            </a:r>
          </a:p>
          <a:p>
            <a:pPr algn="l">
              <a:spcAft>
                <a:spcPts val="100"/>
              </a:spcAft>
            </a:pPr>
            <a:r>
              <a:rPr sz="3000" b="1">
                <a:solidFill>
                  <a:srgbClr val="0B1F3A"/>
                </a:solidFill>
                <a:latin typeface="Calibri"/>
              </a:rPr>
              <a:t>4 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21 ta nashr tarkibi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sharh va namunalar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1: sharhga nechta nashr kiritildi? Javob: 21 ta nashr, ular 1987–2024 yillar oralig‘ini qamrab oladi.</a:t>
            </a:r>
          </a:p>
          <a:p>
            <a:pPr>
              <a:spcAft>
                <a:spcPts val="1200"/>
              </a:spcAft>
            </a:pPr>
            <a:r>
              <a:rPr sz="2200">
                <a:solidFill>
                  <a:srgbClr val="1F2937"/>
                </a:solidFill>
                <a:latin typeface="Calibri"/>
              </a:rPr>
              <a:t>▸  Tezkor savol 2: qaysi populyatsiya ustun? Javob: bolalar. 21 ta ishdan 15 tasi (71,43%) faqat pediatrik guruhni o‘rgangan.</a:t>
            </a:r>
          </a:p>
          <a:p>
            <a:pPr>
              <a:spcAft>
                <a:spcPts val="1200"/>
              </a:spcAft>
            </a:pPr>
            <a:r>
              <a:rPr sz="2200">
                <a:solidFill>
                  <a:srgbClr val="1F2937"/>
                </a:solidFill>
                <a:latin typeface="Calibri"/>
              </a:rPr>
              <a:t>▸  Tezkor savol 3: qaysi usul eng ko‘p qo‘llangan? Javob: oddiy 2D rentgen. 21 ta usuldan 15 tasi (71,43%) faqat shuni ishlatgan.</a:t>
            </a:r>
          </a:p>
          <a:p>
            <a:pPr>
              <a:spcAft>
                <a:spcPts val="1200"/>
              </a:spcAft>
            </a:pPr>
            <a:r>
              <a:rPr sz="2200">
                <a:solidFill>
                  <a:srgbClr val="1F2937"/>
                </a:solidFill>
                <a:latin typeface="Calibri"/>
              </a:rPr>
              <a:t>▸  Diqqat: xato qilish xavfi. Eng ko‘p qo‘llanadigan usul (2D rentgen) ≠ eng aniq usul; oltin standart — gistologiya.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Natijalar, PMID 41051499, Annotatsiya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Qaysi suyaklar o‘rganilgan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Namunalarning ko‘pchiligi (1289 tadan 851 tasi, 66,02%) uzun suyaklardan; eng ko‘pi radius (250 ta, 19,39%).</a:t>
            </a:r>
          </a:p>
          <a:p>
            <a:pPr>
              <a:spcAft>
                <a:spcPts val="800"/>
              </a:spcAft>
            </a:pPr>
            <a:r>
              <a:rPr sz="1600">
                <a:solidFill>
                  <a:srgbClr val="1F2937"/>
                </a:solidFill>
                <a:latin typeface="Calibri"/>
              </a:rPr>
              <a:t>▸  Bosh suyagidan 158 ta (12,26%), qovurg‘alardan atigi 32 ta (2,48%) namuna o‘rganilgan.</a:t>
            </a:r>
          </a:p>
          <a:p>
            <a:pPr>
              <a:spcAft>
                <a:spcPts val="800"/>
              </a:spcAft>
            </a:pPr>
            <a:r>
              <a:rPr sz="1600">
                <a:solidFill>
                  <a:srgbClr val="1F2937"/>
                </a:solidFill>
                <a:latin typeface="Calibri"/>
              </a:rPr>
              <a:t>▸  Sud-tibbiyot uchun muhim qovurg‘a va uzun suyak metafizi jarohatlari kam o‘rganilgan; qovurg‘a faqat 4 ta ishda bor.</a:t>
            </a:r>
          </a:p>
          <a:p>
            <a:pPr>
              <a:spcAft>
                <a:spcPts val="800"/>
              </a:spcAft>
            </a:pPr>
            <a:r>
              <a:rPr sz="1600">
                <a:solidFill>
                  <a:srgbClr val="1F2937"/>
                </a:solidFill>
                <a:latin typeface="Calibri"/>
              </a:rPr>
              <a:t>▸  Klavikula o‘ziga xos: u endoxondral va intramembranoz ossifikatsiyadan hosil bo‘ladi, uzun suyaklar esa faqat endoxondraldan. Natijani umumlashtirish qiyin.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Uzun suyaklar</a:t>
            </a:r>
          </a:p>
          <a:p>
            <a:pPr algn="l">
              <a:spcAft>
                <a:spcPts val="100"/>
              </a:spcAft>
            </a:pPr>
            <a:r>
              <a:rPr sz="3000" b="1">
                <a:solidFill>
                  <a:srgbClr val="0B1F3A"/>
                </a:solidFill>
                <a:latin typeface="Calibri"/>
              </a:rPr>
              <a:t>851 / 1289</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Radius</a:t>
            </a:r>
          </a:p>
          <a:p>
            <a:pPr algn="l">
              <a:spcAft>
                <a:spcPts val="100"/>
              </a:spcAft>
            </a:pPr>
            <a:r>
              <a:rPr sz="2900" b="1">
                <a:solidFill>
                  <a:srgbClr val="0B1F3A"/>
                </a:solidFill>
                <a:latin typeface="Calibri"/>
              </a:rPr>
              <a:t>250 (19,39 %)</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Bosh suyagi</a:t>
            </a:r>
          </a:p>
          <a:p>
            <a:pPr algn="l">
              <a:spcAft>
                <a:spcPts val="100"/>
              </a:spcAft>
            </a:pPr>
            <a:r>
              <a:rPr sz="2900" b="1">
                <a:solidFill>
                  <a:srgbClr val="0B1F3A"/>
                </a:solidFill>
                <a:latin typeface="Calibri"/>
              </a:rPr>
              <a:t>158 (12,26 %)</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Qovurg‘a</a:t>
            </a:r>
          </a:p>
          <a:p>
            <a:pPr algn="l">
              <a:spcAft>
                <a:spcPts val="100"/>
              </a:spcAft>
            </a:pPr>
            <a:r>
              <a:rPr sz="3000" b="1">
                <a:solidFill>
                  <a:srgbClr val="0B1F3A"/>
                </a:solidFill>
                <a:latin typeface="Calibri"/>
              </a:rPr>
              <a:t>32 (2,48 %)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O‘rganilgan suyaklar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Natijalar, PMID 41051499, Muhokama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Tasvirlash usullari taqsimoti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21 ta ishdan 15 tasi (71,43%) faqat oddiy 2D rentgen qo‘llagan.</a:t>
            </a:r>
          </a:p>
          <a:p>
            <a:pPr>
              <a:spcAft>
                <a:spcPts val="800"/>
              </a:spcAft>
            </a:pPr>
            <a:r>
              <a:rPr sz="1800">
                <a:solidFill>
                  <a:srgbClr val="1F2937"/>
                </a:solidFill>
                <a:latin typeface="Calibri"/>
              </a:rPr>
              <a:t>▸  Gistologiya — oltin standart, lekin buzuvchi va faqat o‘limdan keyin qo‘llanadi.</a:t>
            </a:r>
          </a:p>
          <a:p>
            <a:pPr>
              <a:spcAft>
                <a:spcPts val="800"/>
              </a:spcAft>
            </a:pPr>
            <a:r>
              <a:rPr sz="1800">
                <a:solidFill>
                  <a:srgbClr val="1F2937"/>
                </a:solidFill>
                <a:latin typeface="Calibri"/>
              </a:rPr>
              <a:t>▸  Bir ish kompyuter tomografiya (KT) qo‘shgan; bitta ish magnit-rezonans tomografiya (MRT) bilan cheklangan.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Faqat 2D rentgen</a:t>
            </a:r>
          </a:p>
          <a:p>
            <a:pPr algn="l">
              <a:spcAft>
                <a:spcPts val="100"/>
              </a:spcAft>
            </a:pPr>
            <a:r>
              <a:rPr sz="3000" b="1">
                <a:solidFill>
                  <a:srgbClr val="0B1F3A"/>
                </a:solidFill>
                <a:latin typeface="Calibri"/>
              </a:rPr>
              <a:t>15 (71,43 %)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Rentgen + gistologiya</a:t>
            </a:r>
          </a:p>
          <a:p>
            <a:pPr algn="l">
              <a:spcAft>
                <a:spcPts val="100"/>
              </a:spcAft>
            </a:pPr>
            <a:r>
              <a:rPr sz="2200" b="1">
                <a:solidFill>
                  <a:srgbClr val="0B1F3A"/>
                </a:solidFill>
                <a:latin typeface="Calibri"/>
              </a:rPr>
              <a:t>2 (biri KT bilan)</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Faqat gistologiya</a:t>
            </a:r>
          </a:p>
          <a:p>
            <a:pPr algn="l">
              <a:spcAft>
                <a:spcPts val="100"/>
              </a:spcAft>
            </a:pPr>
            <a:r>
              <a:rPr sz="3000" b="1">
                <a:solidFill>
                  <a:srgbClr val="0B1F3A"/>
                </a:solidFill>
                <a:latin typeface="Calibri"/>
              </a:rPr>
              <a:t>2</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Makroskopiya</a:t>
            </a:r>
          </a:p>
          <a:p>
            <a:pPr algn="l">
              <a:spcAft>
                <a:spcPts val="100"/>
              </a:spcAft>
            </a:pPr>
            <a:r>
              <a:rPr sz="3000" b="1">
                <a:solidFill>
                  <a:srgbClr val="0B1F3A"/>
                </a:solidFill>
                <a:latin typeface="Calibri"/>
              </a:rPr>
              <a:t>1</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Faqat MRT</a:t>
            </a:r>
          </a:p>
          <a:p>
            <a:pPr algn="l">
              <a:spcAft>
                <a:spcPts val="100"/>
              </a:spcAft>
            </a:pPr>
            <a:r>
              <a:rPr sz="3000" b="1">
                <a:solidFill>
                  <a:srgbClr val="0B1F3A"/>
                </a:solidFill>
                <a:latin typeface="Calibri"/>
              </a:rPr>
              <a:t>1</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Usullar bo‘yicha ishlar (jami 21)</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Natijalar, PMID 41051499, Annotatsiya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Radiografik bitish bosqichlari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SPNBF — suyak usti pardasi ostidagi yangi suyak hosil bo‘lishi (subperiosteal new bone formation).</a:t>
            </a:r>
          </a:p>
          <a:p>
            <a:pPr>
              <a:spcAft>
                <a:spcPts val="800"/>
              </a:spcAft>
            </a:pPr>
            <a:r>
              <a:rPr sz="1800">
                <a:solidFill>
                  <a:srgbClr val="1F2937"/>
                </a:solidFill>
                <a:latin typeface="Calibri"/>
              </a:rPr>
              <a:t>▸  2D rentgen bo‘yicha 17 ishning bosqichlari 7 ta o‘zaro qoplanuvchi, uzluksiz bosqichga umumlashtirilgan.</a:t>
            </a:r>
          </a:p>
          <a:p>
            <a:pPr>
              <a:spcAft>
                <a:spcPts val="800"/>
              </a:spcAft>
            </a:pPr>
            <a:r>
              <a:rPr sz="1800">
                <a:solidFill>
                  <a:srgbClr val="1F2937"/>
                </a:solidFill>
                <a:latin typeface="Calibri"/>
              </a:rPr>
              <a:t>▸  Diqqat: bosqichlar qat‘iy ketma-ket emas, bitish fazalari bir-birini ancha qoplaydi.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a:t>
            </a:r>
          </a:p>
          <a:p>
            <a:pPr algn="l">
              <a:spcAft>
                <a:spcPts val="200"/>
              </a:spcAft>
            </a:pPr>
            <a:r>
              <a:rPr sz="1400" b="0">
                <a:solidFill>
                  <a:srgbClr val="1F2937"/>
                </a:solidFill>
                <a:latin typeface="Calibri"/>
              </a:rPr>
              <a:t>Shish, tirqish kengayishi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a:t>
            </a:r>
          </a:p>
          <a:p>
            <a:pPr algn="l">
              <a:spcAft>
                <a:spcPts val="200"/>
              </a:spcAft>
            </a:pPr>
            <a:r>
              <a:rPr sz="1400" b="0">
                <a:solidFill>
                  <a:srgbClr val="1F2937"/>
                </a:solidFill>
                <a:latin typeface="Calibri"/>
              </a:rPr>
              <a:t>Periostal reaksiya (SPNBF)</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4</a:t>
            </a:r>
          </a:p>
          <a:p>
            <a:pPr algn="l">
              <a:spcAft>
                <a:spcPts val="200"/>
              </a:spcAft>
            </a:pPr>
            <a:r>
              <a:rPr sz="1400" b="0">
                <a:solidFill>
                  <a:srgbClr val="1F2937"/>
                </a:solidFill>
                <a:latin typeface="Calibri"/>
              </a:rPr>
              <a:t>Yumshoq, so‘ng qattiq kallus</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5–6</a:t>
            </a:r>
          </a:p>
          <a:p>
            <a:pPr algn="l">
              <a:spcAft>
                <a:spcPts val="200"/>
              </a:spcAft>
            </a:pPr>
            <a:r>
              <a:rPr sz="1400" b="0">
                <a:solidFill>
                  <a:srgbClr val="1F2937"/>
                </a:solidFill>
                <a:latin typeface="Calibri"/>
              </a:rPr>
              <a:t>Chiziq yo‘qolishi, ko‘prik</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7</a:t>
            </a:r>
          </a:p>
          <a:p>
            <a:pPr algn="l">
              <a:spcAft>
                <a:spcPts val="200"/>
              </a:spcAft>
            </a:pPr>
            <a:r>
              <a:rPr sz="1400" b="0">
                <a:solidFill>
                  <a:srgbClr val="1F2937"/>
                </a:solidFill>
                <a:latin typeface="Calibri"/>
              </a:rPr>
              <a:t>Remodellanish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7 bosqich (5 guruhda)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1-jadval, PMID 41051499, Natijalar (1-jadval), PMID 41051499, Kirish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Bosqichlar va mezonlar chastotasi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Rentgen usullarida bosqichlar soni 2 dan 8 gacha, o‘rtacha 5, mod (eng ko‘p uchraydigan) 6 ta.</a:t>
            </a:r>
          </a:p>
          <a:p>
            <a:pPr>
              <a:spcAft>
                <a:spcPts val="800"/>
              </a:spcAft>
            </a:pPr>
            <a:r>
              <a:rPr sz="1800">
                <a:solidFill>
                  <a:srgbClr val="1F2937"/>
                </a:solidFill>
                <a:latin typeface="Calibri"/>
              </a:rPr>
              <a:t>▸  Oltita bosqichli tizimlarning ikkitasi ham bir xil mezonlar kombinatsiyasini baholamaydi.</a:t>
            </a:r>
          </a:p>
          <a:p>
            <a:pPr>
              <a:spcAft>
                <a:spcPts val="800"/>
              </a:spcAft>
            </a:pPr>
            <a:r>
              <a:rPr sz="1800">
                <a:solidFill>
                  <a:srgbClr val="1F2937"/>
                </a:solidFill>
                <a:latin typeface="Calibri"/>
              </a:rPr>
              <a:t>▸  Diqqat: bir xil jarayon turli ishlarda turlicha nomlanadi — terminologiya standartlashmagan.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Kallus hosil bo‘lishi</a:t>
            </a:r>
          </a:p>
          <a:p>
            <a:pPr algn="l">
              <a:spcAft>
                <a:spcPts val="100"/>
              </a:spcAft>
            </a:pPr>
            <a:r>
              <a:rPr sz="3000" b="1">
                <a:solidFill>
                  <a:srgbClr val="0B1F3A"/>
                </a:solidFill>
                <a:latin typeface="Calibri"/>
              </a:rPr>
              <a:t>17 ta ish</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Periostal reaksiya</a:t>
            </a:r>
          </a:p>
          <a:p>
            <a:pPr algn="l">
              <a:spcAft>
                <a:spcPts val="100"/>
              </a:spcAft>
            </a:pPr>
            <a:r>
              <a:rPr sz="3000" b="1">
                <a:solidFill>
                  <a:srgbClr val="0B1F3A"/>
                </a:solidFill>
                <a:latin typeface="Calibri"/>
              </a:rPr>
              <a:t>13 ta ish</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Remodellanish</a:t>
            </a:r>
          </a:p>
          <a:p>
            <a:pPr algn="l">
              <a:spcAft>
                <a:spcPts val="100"/>
              </a:spcAft>
            </a:pPr>
            <a:r>
              <a:rPr sz="3000" b="1">
                <a:solidFill>
                  <a:srgbClr val="0B1F3A"/>
                </a:solidFill>
                <a:latin typeface="Calibri"/>
              </a:rPr>
              <a:t>12 ta ish</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Ko‘prik hosil bo‘lishi</a:t>
            </a:r>
          </a:p>
          <a:p>
            <a:pPr algn="l">
              <a:spcAft>
                <a:spcPts val="100"/>
              </a:spcAft>
            </a:pPr>
            <a:r>
              <a:rPr sz="3000" b="1">
                <a:solidFill>
                  <a:srgbClr val="0B1F3A"/>
                </a:solidFill>
                <a:latin typeface="Calibri"/>
              </a:rPr>
              <a:t>10 ta 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Mezonlar 17 ta rentgen ishida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Natijalar, PMID 41051499, Muhokama, PMID 41051499, Natijalar va Muhokama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Rentgen sharhi: namuna hajmi va bosqichlar soni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Bemorlar soni 19 ishda: 8–162 (o‘rtacha 63,21); sinishlar 13 ishda: 9–212 (o‘rtacha 87,54); tasvirlar 11 ishda: 31–707 (o‘rtacha 241,91).</a:t>
            </a:r>
          </a:p>
          <a:p>
            <a:pPr>
              <a:spcAft>
                <a:spcPts val="800"/>
              </a:spcAft>
            </a:pPr>
            <a:r>
              <a:rPr sz="1600">
                <a:solidFill>
                  <a:srgbClr val="1F2937"/>
                </a:solidFill>
                <a:latin typeface="Calibri"/>
              </a:rPr>
              <a:t>▸  2D rentgen 17 ishda bosqichlar soni 2 dan 8 gacha (o‘rtacha 5, mod 6); atigi ikki jadvalda «bitish yo‘q» bosqichi boshidan belgilangan.</a:t>
            </a:r>
          </a:p>
          <a:p>
            <a:pPr>
              <a:spcAft>
                <a:spcPts val="800"/>
              </a:spcAft>
            </a:pPr>
            <a:r>
              <a:rPr sz="1600">
                <a:solidFill>
                  <a:srgbClr val="1F2937"/>
                </a:solidFill>
                <a:latin typeface="Calibri"/>
              </a:rPr>
              <a:t>▸  Gistologiyada belgilar ko‘proq: Moirangthem 4 bosqich (5 kun), De Boer 13 belgi (1–2+ yil), Naqvi 14 belgi (≤1 yosh).</a:t>
            </a:r>
          </a:p>
          <a:p>
            <a:pPr>
              <a:spcAft>
                <a:spcPts val="800"/>
              </a:spcAft>
            </a:pPr>
            <a:r>
              <a:rPr sz="1600">
                <a:solidFill>
                  <a:srgbClr val="1F2937"/>
                </a:solidFill>
                <a:latin typeface="Calibri"/>
              </a:rPr>
              <a:t>▸  KT bilan Cappella De Boer ning 13 bosqichini qo‘llagan; MRT bilan Baron 6 bosqich va 3 kichik bosqichda 9 belgini aniqlagan.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Bemorlar soni</a:t>
            </a:r>
          </a:p>
          <a:p>
            <a:pPr algn="l">
              <a:spcAft>
                <a:spcPts val="100"/>
              </a:spcAft>
            </a:pPr>
            <a:r>
              <a:rPr sz="2200" b="1">
                <a:solidFill>
                  <a:srgbClr val="0B1F3A"/>
                </a:solidFill>
                <a:latin typeface="Calibri"/>
              </a:rPr>
              <a:t>8–162</a:t>
            </a:r>
            <a:r>
              <a:rPr sz="1100" b="0">
                <a:solidFill>
                  <a:srgbClr val="6B7280"/>
                </a:solidFill>
                <a:latin typeface="Calibri"/>
              </a:rPr>
              <a:t>  o‘rtacha 63</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Sinishlar soni</a:t>
            </a:r>
          </a:p>
          <a:p>
            <a:pPr algn="l">
              <a:spcAft>
                <a:spcPts val="100"/>
              </a:spcAft>
            </a:pPr>
            <a:r>
              <a:rPr sz="2200" b="1">
                <a:solidFill>
                  <a:srgbClr val="0B1F3A"/>
                </a:solidFill>
                <a:latin typeface="Calibri"/>
              </a:rPr>
              <a:t>9–212</a:t>
            </a:r>
            <a:r>
              <a:rPr sz="1100" b="0">
                <a:solidFill>
                  <a:srgbClr val="6B7280"/>
                </a:solidFill>
                <a:latin typeface="Calibri"/>
              </a:rPr>
              <a:t>  o‘rtacha 88</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Tasvirlar soni</a:t>
            </a:r>
          </a:p>
          <a:p>
            <a:pPr algn="l">
              <a:spcAft>
                <a:spcPts val="100"/>
              </a:spcAft>
            </a:pPr>
            <a:r>
              <a:rPr sz="1900" b="1">
                <a:solidFill>
                  <a:srgbClr val="0B1F3A"/>
                </a:solidFill>
                <a:latin typeface="Calibri"/>
              </a:rPr>
              <a:t>31–707</a:t>
            </a:r>
            <a:r>
              <a:rPr sz="1100" b="0">
                <a:solidFill>
                  <a:srgbClr val="6B7280"/>
                </a:solidFill>
                <a:latin typeface="Calibri"/>
              </a:rPr>
              <a:t>  o‘rtacha 242</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Rentgen bosqichlari</a:t>
            </a:r>
          </a:p>
          <a:p>
            <a:pPr algn="l">
              <a:spcAft>
                <a:spcPts val="100"/>
              </a:spcAft>
            </a:pPr>
            <a:r>
              <a:rPr sz="3000" b="1">
                <a:solidFill>
                  <a:srgbClr val="0B1F3A"/>
                </a:solidFill>
                <a:latin typeface="Calibri"/>
              </a:rPr>
              <a:t>2–8</a:t>
            </a:r>
            <a:r>
              <a:rPr sz="1500" b="0">
                <a:solidFill>
                  <a:srgbClr val="6B7280"/>
                </a:solidFill>
                <a:latin typeface="Calibri"/>
              </a:rPr>
              <a:t>  mod 6</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De Boer belgilari</a:t>
            </a:r>
          </a:p>
          <a:p>
            <a:pPr algn="l">
              <a:spcAft>
                <a:spcPts val="100"/>
              </a:spcAft>
            </a:pPr>
            <a:r>
              <a:rPr sz="3000" b="1">
                <a:solidFill>
                  <a:srgbClr val="0B1F3A"/>
                </a:solidFill>
                <a:latin typeface="Calibri"/>
              </a:rPr>
              <a:t>13</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Naqvi belgilari</a:t>
            </a:r>
          </a:p>
          <a:p>
            <a:pPr algn="l">
              <a:spcAft>
                <a:spcPts val="100"/>
              </a:spcAft>
            </a:pPr>
            <a:r>
              <a:rPr sz="3000" b="1">
                <a:solidFill>
                  <a:srgbClr val="0B1F3A"/>
                </a:solidFill>
                <a:latin typeface="Calibri"/>
              </a:rPr>
              <a:t>14</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Lawrence va boshq. (2025): hajmlar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Natijalar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Gistologik usul: oltin standart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Gistologiya hujayra darajasida ko‘rsatadi; dastlabki haftalardagi hujayra hodisalari kaskadini rentgen ko‘rsata olmaydi.</a:t>
            </a:r>
          </a:p>
          <a:p>
            <a:pPr>
              <a:spcAft>
                <a:spcPts val="800"/>
              </a:spcAft>
            </a:pPr>
            <a:r>
              <a:rPr sz="1600">
                <a:solidFill>
                  <a:srgbClr val="1F2937"/>
                </a:solidFill>
                <a:latin typeface="Calibri"/>
              </a:rPr>
              <a:t>▸  De Boer 13 ta belgini (1–2+ yilgacha), Naqvi 14 ta belgini (≤1 yosh), Moirangthem 4 bosqichni (dastlabki 5 kun) bergan.</a:t>
            </a:r>
          </a:p>
          <a:p>
            <a:pPr>
              <a:spcAft>
                <a:spcPts val="800"/>
              </a:spcAft>
            </a:pPr>
            <a:r>
              <a:rPr sz="1600">
                <a:solidFill>
                  <a:srgbClr val="1F2937"/>
                </a:solidFill>
                <a:latin typeface="Calibri"/>
              </a:rPr>
              <a:t>▸  Jarohatdan vaqt o‘tgan sari gistologik baho ham o‘zgaruvchan, noaniq va keng oraliqli bo‘lib boradi.</a:t>
            </a:r>
          </a:p>
          <a:p>
            <a:pPr>
              <a:spcAft>
                <a:spcPts val="800"/>
              </a:spcAft>
            </a:pPr>
            <a:r>
              <a:rPr sz="1600">
                <a:solidFill>
                  <a:srgbClr val="1F2937"/>
                </a:solidFill>
                <a:latin typeface="Calibri"/>
              </a:rPr>
              <a:t>▸  Diqqat: usul destruktiv va faqat postmortem; u faqat o‘lim paytidagi bitish holatini ko‘rsatadi, tirikda qo‘llanmaydi.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De Boer</a:t>
            </a:r>
          </a:p>
          <a:p>
            <a:pPr algn="l">
              <a:spcAft>
                <a:spcPts val="100"/>
              </a:spcAft>
            </a:pPr>
            <a:r>
              <a:rPr sz="2300" b="1">
                <a:solidFill>
                  <a:srgbClr val="0B1F3A"/>
                </a:solidFill>
                <a:latin typeface="Calibri"/>
              </a:rPr>
              <a:t>13 belgi</a:t>
            </a:r>
            <a:r>
              <a:rPr sz="1100" b="0">
                <a:solidFill>
                  <a:srgbClr val="6B7280"/>
                </a:solidFill>
                <a:latin typeface="Calibri"/>
              </a:rPr>
              <a:t>  &gt;1–2 yil</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Naqvi</a:t>
            </a:r>
          </a:p>
          <a:p>
            <a:pPr algn="l">
              <a:spcAft>
                <a:spcPts val="100"/>
              </a:spcAft>
            </a:pPr>
            <a:r>
              <a:rPr sz="2300" b="1">
                <a:solidFill>
                  <a:srgbClr val="0B1F3A"/>
                </a:solidFill>
                <a:latin typeface="Calibri"/>
              </a:rPr>
              <a:t>14 belgi</a:t>
            </a:r>
            <a:r>
              <a:rPr sz="1100" b="0">
                <a:solidFill>
                  <a:srgbClr val="6B7280"/>
                </a:solidFill>
                <a:latin typeface="Calibri"/>
              </a:rPr>
              <a:t>  ≤1 yosh</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Moirangthem</a:t>
            </a:r>
          </a:p>
          <a:p>
            <a:pPr algn="l">
              <a:spcAft>
                <a:spcPts val="100"/>
              </a:spcAft>
            </a:pPr>
            <a:r>
              <a:rPr sz="2100" b="1">
                <a:solidFill>
                  <a:srgbClr val="0B1F3A"/>
                </a:solidFill>
                <a:latin typeface="Calibri"/>
              </a:rPr>
              <a:t>4 bosqich</a:t>
            </a:r>
            <a:r>
              <a:rPr sz="1100" b="0">
                <a:solidFill>
                  <a:srgbClr val="6B7280"/>
                </a:solidFill>
                <a:latin typeface="Calibri"/>
              </a:rPr>
              <a:t>  5 kun ichida</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Gistologik tizimlar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Muhokama, PMID 41051499, Natijalar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gistologiya va rentgen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Gistologiya hujayra darajasini ko‘rsatadi. Dastlabki haftalarda rentgenda ko‘rinmaydigan hujayra hodisalari kaskadi faqat shu usulda aniqlanadi.</a:t>
            </a:r>
          </a:p>
          <a:p>
            <a:pPr>
              <a:spcAft>
                <a:spcPts val="1200"/>
              </a:spcAft>
            </a:pPr>
            <a:r>
              <a:rPr sz="2200">
                <a:solidFill>
                  <a:srgbClr val="1F2937"/>
                </a:solidFill>
                <a:latin typeface="Calibri"/>
              </a:rPr>
              <a:t>▸  Gistologiya suyakni buzadi, shuning uchun faqat postmortem qo‘llanadi. U o‘lim paytidagi bitish holatining ‘surati’ni beradi.</a:t>
            </a:r>
          </a:p>
          <a:p>
            <a:pPr>
              <a:spcAft>
                <a:spcPts val="1200"/>
              </a:spcAft>
            </a:pPr>
            <a:r>
              <a:rPr sz="2200">
                <a:solidFill>
                  <a:srgbClr val="1F2937"/>
                </a:solidFill>
                <a:latin typeface="Calibri"/>
              </a:rPr>
              <a:t>▸  Tezkor savol: nega gistologiyani tirik bemorda qo‘llab bo‘lmaydi? Qaysi usul dastlabki haftalarda hujayra kaskadini ko‘rsatadi?</a:t>
            </a:r>
          </a:p>
          <a:p>
            <a:pPr>
              <a:spcAft>
                <a:spcPts val="1200"/>
              </a:spcAft>
            </a:pPr>
            <a:r>
              <a:rPr sz="2200">
                <a:solidFill>
                  <a:srgbClr val="1F2937"/>
                </a:solidFill>
                <a:latin typeface="Calibri"/>
              </a:rPr>
              <a:t>▸  Diqqat: xato qilish xavfi! SPNBF (suyak usti pardasi ostida yangi suyak hosil bo‘lishi) ≠ kallus. Jadvalda bular alohida bosqichlar.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bir sinishda bir necha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zo‘ravonlik holatlarida tibbiy yordam kechikishi mumkin. Sinish uchlari harakatlanib qoladi va suyak ishlatilishda davom etadi.</a:t>
            </a:r>
          </a:p>
          <a:p>
            <a:pPr>
              <a:spcAft>
                <a:spcPts val="1200"/>
              </a:spcAft>
            </a:pPr>
            <a:r>
              <a:rPr sz="2200">
                <a:solidFill>
                  <a:srgbClr val="1F2937"/>
                </a:solidFill>
                <a:latin typeface="Calibri"/>
              </a:rPr>
              <a:t>▸  Oqibatda bo‘laklar noto‘g‘ri birikishi yoki bitish kechikishi mumkin. Shunda bitta shikastda bir vaqtning o‘zida bir necha bitish bosqichi ko‘rinadi.</a:t>
            </a:r>
          </a:p>
          <a:p>
            <a:pPr>
              <a:spcAft>
                <a:spcPts val="1200"/>
              </a:spcAft>
            </a:pPr>
            <a:r>
              <a:rPr sz="2200">
                <a:solidFill>
                  <a:srgbClr val="1F2937"/>
                </a:solidFill>
                <a:latin typeface="Calibri"/>
              </a:rPr>
              <a:t>▸  Bitish bosqichlari bir-biriga qisman qoplanadi va tezligi har kishida har xil. Shuning uchun sinish yoshi bir sana emas, oraliq sifatida baholanadi.</a:t>
            </a:r>
          </a:p>
          <a:p>
            <a:pPr>
              <a:spcAft>
                <a:spcPts val="1200"/>
              </a:spcAft>
            </a:pPr>
            <a:r>
              <a:rPr sz="2200">
                <a:solidFill>
                  <a:srgbClr val="1F2937"/>
                </a:solidFill>
                <a:latin typeface="Calibri"/>
              </a:rPr>
              <a:t>▸  Savol: bunday sinish yoshini baholashda qanday xato bo‘lishi mumkin? Bitta bosqichga qarab xulosa chiqarish nega xavfli?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Radiografiya cheklovlari: klinik va sud talqini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Klinik rentgen asosan moslashuvni baholash uchun olinadi; gips esa tasvir tafsilotini kamaytiradi.</a:t>
            </a:r>
          </a:p>
          <a:p>
            <a:pPr>
              <a:spcAft>
                <a:spcPts val="800"/>
              </a:spcAft>
            </a:pPr>
            <a:r>
              <a:rPr sz="1800">
                <a:solidFill>
                  <a:srgbClr val="1F2937"/>
                </a:solidFill>
                <a:latin typeface="Calibri"/>
              </a:rPr>
              <a:t>▸  Kech bosqichda kuzatuv kam: nur dozasi klinik foydani oqlamaydi.</a:t>
            </a:r>
          </a:p>
          <a:p>
            <a:pPr>
              <a:spcAft>
                <a:spcPts val="800"/>
              </a:spcAft>
            </a:pPr>
            <a:r>
              <a:rPr sz="1800">
                <a:solidFill>
                  <a:srgbClr val="1F2937"/>
                </a:solidFill>
                <a:latin typeface="Calibri"/>
              </a:rPr>
              <a:t>▸  Halliday: oltita belgidan faqat SPNBF observerlar o‘rtasida ishonchli aniqlangan.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 gipsli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Maqsad: moslashuvni baholash</a:t>
            </a:r>
          </a:p>
          <a:p>
            <a:pPr algn="l">
              <a:spcAft>
                <a:spcPts val="700"/>
              </a:spcAft>
            </a:pPr>
            <a:r>
              <a:rPr sz="1500" b="1">
                <a:solidFill>
                  <a:srgbClr val="C9A227"/>
                </a:solidFill>
                <a:latin typeface="Calibri"/>
              </a:rPr>
              <a:t>●  </a:t>
            </a:r>
            <a:r>
              <a:rPr sz="1500" b="0">
                <a:solidFill>
                  <a:srgbClr val="1F2937"/>
                </a:solidFill>
                <a:latin typeface="Calibri"/>
              </a:rPr>
              <a:t>Gips tafsilotni kamaytiradi</a:t>
            </a:r>
          </a:p>
          <a:p>
            <a:pPr algn="l">
              <a:spcAft>
                <a:spcPts val="700"/>
              </a:spcAft>
            </a:pPr>
            <a:r>
              <a:rPr sz="1500" b="1">
                <a:solidFill>
                  <a:srgbClr val="C9A227"/>
                </a:solidFill>
                <a:latin typeface="Calibri"/>
              </a:rPr>
              <a:t>●  </a:t>
            </a:r>
            <a:r>
              <a:rPr sz="1500" b="0">
                <a:solidFill>
                  <a:srgbClr val="1F2937"/>
                </a:solidFill>
                <a:latin typeface="Calibri"/>
              </a:rPr>
              <a:t>Immobilizatsiya bor</a:t>
            </a:r>
          </a:p>
          <a:p>
            <a:pPr algn="l">
              <a:spcAft>
                <a:spcPts val="700"/>
              </a:spcAft>
            </a:pPr>
            <a:r>
              <a:rPr sz="1500" b="1">
                <a:solidFill>
                  <a:srgbClr val="C9A227"/>
                </a:solidFill>
                <a:latin typeface="Calibri"/>
              </a:rPr>
              <a:t>●  </a:t>
            </a:r>
            <a:r>
              <a:rPr sz="1500" b="0">
                <a:solidFill>
                  <a:srgbClr val="1F2937"/>
                </a:solidFill>
                <a:latin typeface="Calibri"/>
              </a:rPr>
              <a:t>Kech bosqichda kuzatuv kam (doza)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 gipssiz</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Yordam kechikishi/to‘silishi mumkin</a:t>
            </a:r>
          </a:p>
          <a:p>
            <a:pPr algn="l">
              <a:spcAft>
                <a:spcPts val="700"/>
              </a:spcAft>
            </a:pPr>
            <a:r>
              <a:rPr sz="1500" b="1">
                <a:solidFill>
                  <a:srgbClr val="C9A227"/>
                </a:solidFill>
                <a:latin typeface="Calibri"/>
              </a:rPr>
              <a:t>●  </a:t>
            </a:r>
            <a:r>
              <a:rPr sz="1500" b="0">
                <a:solidFill>
                  <a:srgbClr val="1F2937"/>
                </a:solidFill>
                <a:latin typeface="Calibri"/>
              </a:rPr>
              <a:t>Gipsli jadval mos kelmasligi mumkin</a:t>
            </a:r>
          </a:p>
          <a:p>
            <a:pPr algn="l">
              <a:spcAft>
                <a:spcPts val="700"/>
              </a:spcAft>
            </a:pPr>
            <a:r>
              <a:rPr sz="1500" b="1">
                <a:solidFill>
                  <a:srgbClr val="C9A227"/>
                </a:solidFill>
                <a:latin typeface="Calibri"/>
              </a:rPr>
              <a:t>●  </a:t>
            </a:r>
            <a:r>
              <a:rPr sz="1500" b="0">
                <a:solidFill>
                  <a:srgbClr val="1F2937"/>
                </a:solidFill>
                <a:latin typeface="Calibri"/>
              </a:rPr>
              <a:t>Ikkilamchi mikrotravma mumkin</a:t>
            </a:r>
          </a:p>
          <a:p>
            <a:pPr algn="l">
              <a:spcAft>
                <a:spcPts val="700"/>
              </a:spcAft>
            </a:pPr>
            <a:r>
              <a:rPr sz="1500" b="1">
                <a:solidFill>
                  <a:srgbClr val="C9A227"/>
                </a:solidFill>
                <a:latin typeface="Calibri"/>
              </a:rPr>
              <a:t>●  </a:t>
            </a:r>
            <a:r>
              <a:rPr sz="1500" b="0">
                <a:solidFill>
                  <a:srgbClr val="1F2937"/>
                </a:solidFill>
                <a:latin typeface="Calibri"/>
              </a:rPr>
              <a:t>Yosh oralig‘i kengayadi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Gipsli va gipssiz sinish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KT, MRT va mikro-KT: taqqoslash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MRT nurlanishsiz usul sifatida taklif qilingan; u erta, o‘tkir fazadagi o‘zgarishlarni yaxshi ajratadi.</a:t>
            </a:r>
          </a:p>
          <a:p>
            <a:pPr>
              <a:spcAft>
                <a:spcPts val="800"/>
              </a:spcAft>
            </a:pPr>
            <a:r>
              <a:rPr sz="1800">
                <a:solidFill>
                  <a:srgbClr val="1F2937"/>
                </a:solidFill>
                <a:latin typeface="Calibri"/>
              </a:rPr>
              <a:t>▸  KT (kompyuter tomografiya) 2D rentgendan aniqroq, lekin 2D bosqichlarga tayansa, aniqligi cheklanadi.</a:t>
            </a:r>
          </a:p>
          <a:p>
            <a:pPr>
              <a:spcAft>
                <a:spcPts val="800"/>
              </a:spcAft>
            </a:pPr>
            <a:r>
              <a:rPr sz="1800">
                <a:solidFill>
                  <a:srgbClr val="1F2937"/>
                </a:solidFill>
                <a:latin typeface="Calibri"/>
              </a:rPr>
              <a:t>▸  Mikro-KT suyakni buzmay 3D ko‘rsatadi va 60 µm gacha tafsilotga yetadi, ammo faqat postmortem qo‘llanadi.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219200"/>
                <a:gridCol w="2045969"/>
                <a:gridCol w="2022806"/>
              </a:tblGrid>
              <a:tr h="76809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Afzalligi</a:t>
                      </a:r>
                    </a:p>
                  </a:txBody>
                  <a:tcPr marL="73152" marR="73152" marT="36576" marB="36576">
                    <a:solidFill>
                      <a:srgbClr val="0B1F3A"/>
                    </a:solidFill>
                  </a:tcPr>
                </a:tc>
                <a:tc>
                  <a:txBody>
                    <a:bodyPr/>
                    <a:lstStyle/>
                    <a:p>
                      <a:r>
                        <a:rPr sz="1600" b="1">
                          <a:solidFill>
                            <a:srgbClr val="FFFFFF"/>
                          </a:solidFill>
                        </a:rPr>
                        <a:t>Cheklovi</a:t>
                      </a:r>
                    </a:p>
                  </a:txBody>
                  <a:tcPr marL="73152" marR="73152" marT="36576" marB="36576">
                    <a:solidFill>
                      <a:srgbClr val="0B1F3A"/>
                    </a:solidFill>
                  </a:tcPr>
                </a:tc>
              </a:tr>
              <a:tr h="768096">
                <a:tc>
                  <a:txBody>
                    <a:bodyPr/>
                    <a:lstStyle/>
                    <a:p>
                      <a:r>
                        <a:rPr sz="1500" b="0">
                          <a:solidFill>
                            <a:srgbClr val="1F2937"/>
                          </a:solidFill>
                        </a:rPr>
                        <a:t>MRT</a:t>
                      </a:r>
                    </a:p>
                  </a:txBody>
                  <a:tcPr marL="73152" marR="73152" marT="36576" marB="36576">
                    <a:solidFill>
                      <a:srgbClr val="E8EEF6"/>
                    </a:solidFill>
                  </a:tcPr>
                </a:tc>
                <a:tc>
                  <a:txBody>
                    <a:bodyPr/>
                    <a:lstStyle/>
                    <a:p>
                      <a:r>
                        <a:rPr sz="1500" b="0">
                          <a:solidFill>
                            <a:srgbClr val="1F2937"/>
                          </a:solidFill>
                        </a:rPr>
                        <a:t>Ionlashtiruvchi nurlanishsiz</a:t>
                      </a:r>
                    </a:p>
                  </a:txBody>
                  <a:tcPr marL="73152" marR="73152" marT="36576" marB="36576">
                    <a:solidFill>
                      <a:srgbClr val="E8EEF6"/>
                    </a:solidFill>
                  </a:tcPr>
                </a:tc>
                <a:tc>
                  <a:txBody>
                    <a:bodyPr/>
                    <a:lstStyle/>
                    <a:p>
                      <a:r>
                        <a:rPr sz="1500" b="0">
                          <a:solidFill>
                            <a:srgbClr val="1F2937"/>
                          </a:solidFill>
                        </a:rPr>
                        <a:t>Nozik belgilar ko‘rinmaydi, o‘tkir faza</a:t>
                      </a:r>
                    </a:p>
                  </a:txBody>
                  <a:tcPr marL="73152" marR="73152" marT="36576" marB="36576">
                    <a:solidFill>
                      <a:srgbClr val="E8EEF6"/>
                    </a:solidFill>
                  </a:tcPr>
                </a:tc>
              </a:tr>
              <a:tr h="768096">
                <a:tc>
                  <a:txBody>
                    <a:bodyPr/>
                    <a:lstStyle/>
                    <a:p>
                      <a:r>
                        <a:rPr sz="1500" b="0">
                          <a:solidFill>
                            <a:srgbClr val="1F2937"/>
                          </a:solidFill>
                        </a:rPr>
                        <a:t>KT</a:t>
                      </a:r>
                    </a:p>
                  </a:txBody>
                  <a:tcPr marL="73152" marR="73152" marT="36576" marB="36576">
                    <a:solidFill>
                      <a:srgbClr val="FFFFFF"/>
                    </a:solidFill>
                  </a:tcPr>
                </a:tc>
                <a:tc>
                  <a:txBody>
                    <a:bodyPr/>
                    <a:lstStyle/>
                    <a:p>
                      <a:r>
                        <a:rPr sz="1500" b="0">
                          <a:solidFill>
                            <a:srgbClr val="1F2937"/>
                          </a:solidFill>
                        </a:rPr>
                        <a:t>2D rentgendan aniqroq (Cappella)</a:t>
                      </a:r>
                    </a:p>
                  </a:txBody>
                  <a:tcPr marL="73152" marR="73152" marT="36576" marB="36576">
                    <a:solidFill>
                      <a:srgbClr val="FFFFFF"/>
                    </a:solidFill>
                  </a:tcPr>
                </a:tc>
                <a:tc>
                  <a:txBody>
                    <a:bodyPr/>
                    <a:lstStyle/>
                    <a:p>
                      <a:r>
                        <a:rPr sz="1500" b="0">
                          <a:solidFill>
                            <a:srgbClr val="1F2937"/>
                          </a:solidFill>
                        </a:rPr>
                        <a:t>Gistologiyadan past aniqlik</a:t>
                      </a:r>
                    </a:p>
                  </a:txBody>
                  <a:tcPr marL="73152" marR="73152" marT="36576" marB="36576">
                    <a:solidFill>
                      <a:srgbClr val="FFFFFF"/>
                    </a:solidFill>
                  </a:tcPr>
                </a:tc>
              </a:tr>
              <a:tr h="768096">
                <a:tc>
                  <a:txBody>
                    <a:bodyPr/>
                    <a:lstStyle/>
                    <a:p>
                      <a:r>
                        <a:rPr sz="1500" b="0">
                          <a:solidFill>
                            <a:srgbClr val="1F2937"/>
                          </a:solidFill>
                        </a:rPr>
                        <a:t>Mikro-KT</a:t>
                      </a:r>
                    </a:p>
                  </a:txBody>
                  <a:tcPr marL="73152" marR="73152" marT="36576" marB="36576">
                    <a:solidFill>
                      <a:srgbClr val="E8EEF6"/>
                    </a:solidFill>
                  </a:tcPr>
                </a:tc>
                <a:tc>
                  <a:txBody>
                    <a:bodyPr/>
                    <a:lstStyle/>
                    <a:p>
                      <a:r>
                        <a:rPr sz="1500" b="0">
                          <a:solidFill>
                            <a:srgbClr val="1F2937"/>
                          </a:solidFill>
                        </a:rPr>
                        <a:t>60 µm gacha, 3D, nobud qilmaydi</a:t>
                      </a:r>
                    </a:p>
                  </a:txBody>
                  <a:tcPr marL="73152" marR="73152" marT="36576" marB="36576">
                    <a:solidFill>
                      <a:srgbClr val="E8EEF6"/>
                    </a:solidFill>
                  </a:tcPr>
                </a:tc>
                <a:tc>
                  <a:txBody>
                    <a:bodyPr/>
                    <a:lstStyle/>
                    <a:p>
                      <a:r>
                        <a:rPr sz="1500" b="0">
                          <a:solidFill>
                            <a:srgbClr val="1F2937"/>
                          </a:solidFill>
                        </a:rPr>
                        <a:t>Faqat postmortem; doza yuqori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Muhokama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Mikro-KT parametrlari va sun’iy intellekt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Viero kallusda beshta gistomorfometrik parametrni topdi: anizotropiya, bog‘lanish zichligi, mineral hajm, trabekula ajralishi va qalinligi.</a:t>
            </a:r>
          </a:p>
          <a:p>
            <a:pPr>
              <a:spcAft>
                <a:spcPts val="1200"/>
              </a:spcAft>
            </a:pPr>
            <a:r>
              <a:rPr sz="2200">
                <a:solidFill>
                  <a:srgbClr val="1F2937"/>
                </a:solidFill>
                <a:latin typeface="Calibri"/>
              </a:rPr>
              <a:t>▸  Bu parametrlar kallus yoshi va yetukligi bilan o‘lchanadigan farq berdi; keyingi tekshiruvdan so‘ng ob’ektiv baho bera olishi mumkin.</a:t>
            </a:r>
          </a:p>
          <a:p>
            <a:pPr>
              <a:spcAft>
                <a:spcPts val="1200"/>
              </a:spcAft>
            </a:pPr>
            <a:r>
              <a:rPr sz="2200">
                <a:solidFill>
                  <a:srgbClr val="1F2937"/>
                </a:solidFill>
                <a:latin typeface="Calibri"/>
              </a:rPr>
              <a:t>▸  Sanchez: 2D rentgenda ham kallus qalinligini o‘lchash an’anaviy sifat belgilaridan ishonchliroq baho berdi.</a:t>
            </a:r>
          </a:p>
          <a:p>
            <a:pPr>
              <a:spcAft>
                <a:spcPts val="1200"/>
              </a:spcAft>
            </a:pPr>
            <a:r>
              <a:rPr sz="2200">
                <a:solidFill>
                  <a:srgbClr val="1F2937"/>
                </a:solidFill>
                <a:latin typeface="Calibri"/>
              </a:rPr>
              <a:t>▸  Sun’iy intellekt (Hržić, Kyllonen, Tsai) sinaldi: Tsai modeli 83,7% hollarda 1 hafta aniqlikda baholadi, lekin faqat ≤3 oylik chaqaloqlarda.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Muhokama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Kuzatuvchilar, yosh va immobilizatsiya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Tritella AFHS shkalasi 5 kuzatuvchida yaxshi ishladi; eng yuqori moslik radiologlar va antropologda; keng belgilar (kallus bor/yo‘q) bilan moslik oshadi.</a:t>
            </a:r>
          </a:p>
          <a:p>
            <a:pPr>
              <a:spcAft>
                <a:spcPts val="800"/>
              </a:spcAft>
            </a:pPr>
            <a:r>
              <a:rPr sz="1600">
                <a:solidFill>
                  <a:srgbClr val="1F2937"/>
                </a:solidFill>
                <a:latin typeface="Calibri"/>
              </a:rPr>
              <a:t>▸  Chaqaloqlar tezroq bitadi; yosh oshgan sari bitish vaqti o‘zgaruvchan bo‘ladi, shu sabab birlashtirilgan bolalar jadvallari yoshga mos bo‘lmasligi mumkin.</a:t>
            </a:r>
          </a:p>
          <a:p>
            <a:pPr>
              <a:spcAft>
                <a:spcPts val="800"/>
              </a:spcAft>
            </a:pPr>
            <a:r>
              <a:rPr sz="1600">
                <a:solidFill>
                  <a:srgbClr val="1F2937"/>
                </a:solidFill>
                <a:latin typeface="Calibri"/>
              </a:rPr>
              <a:t>▸  Immobilizatsiyada SPNBF va kallus kam, yetuk lamellar suyak erta paydo bo‘ladi; bu ta’sir sinalmagan, etik sabab bilan tajriba qilib bo‘lmaydi.</a:t>
            </a:r>
          </a:p>
          <a:p>
            <a:pPr>
              <a:spcAft>
                <a:spcPts val="800"/>
              </a:spcAft>
            </a:pPr>
            <a:r>
              <a:rPr sz="1600">
                <a:solidFill>
                  <a:srgbClr val="1F2937"/>
                </a:solidFill>
                <a:latin typeface="Calibri"/>
              </a:rPr>
              <a:t>▸  Sun’iy intellekt: Hržić 7140 rentgen (3570 sinish) bilan 3 yosh guruhini ajratdi; Kyllonen sinovida Malone usuli bilan qo‘lda baholash aniqroq edi.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Bitish tezligiga ta’sir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Kuzatuvchi</a:t>
            </a:r>
          </a:p>
          <a:p>
            <a:pPr algn="l">
              <a:spcAft>
                <a:spcPts val="0"/>
              </a:spcAft>
            </a:pPr>
            <a:r>
              <a:rPr sz="1200" b="0">
                <a:solidFill>
                  <a:srgbClr val="1F2937"/>
                </a:solidFill>
                <a:latin typeface="Calibri"/>
              </a:rPr>
              <a:t>AFHS 5 kuzatuvchida sinalgan  ·  Radiolog, antropolog mosligi yuqori  ·  Keng belgilarda moslik oshadi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Yosh</a:t>
            </a:r>
          </a:p>
          <a:p>
            <a:pPr algn="l">
              <a:spcAft>
                <a:spcPts val="0"/>
              </a:spcAft>
            </a:pPr>
            <a:r>
              <a:rPr sz="1200" b="0">
                <a:solidFill>
                  <a:srgbClr val="1F2937"/>
                </a:solidFill>
                <a:latin typeface="Calibri"/>
              </a:rPr>
              <a:t>Chaqaloq tezroq bitadi  ·  Yosh oshgan sari o‘zgaruvchanlik ↑  ·  Birlashgan jadval buzilishi mumkin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Immobilizatsiya</a:t>
            </a:r>
          </a:p>
          <a:p>
            <a:pPr algn="l">
              <a:spcAft>
                <a:spcPts val="0"/>
              </a:spcAft>
            </a:pPr>
            <a:r>
              <a:rPr sz="1200" b="0">
                <a:solidFill>
                  <a:srgbClr val="1F2937"/>
                </a:solidFill>
                <a:latin typeface="Calibri"/>
              </a:rPr>
              <a:t>SPNBF va kallus kam  ·  Lamellar suyak erta  ·  Ta’siri sinalmagan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Sun’iy intellekt</a:t>
            </a:r>
          </a:p>
          <a:p>
            <a:pPr algn="l">
              <a:spcAft>
                <a:spcPts val="0"/>
              </a:spcAft>
            </a:pPr>
            <a:r>
              <a:rPr sz="1200" b="0">
                <a:solidFill>
                  <a:srgbClr val="1F2937"/>
                </a:solidFill>
                <a:latin typeface="Calibri"/>
              </a:rPr>
              <a:t>Hržić: 7140 rentgen, 3 guruh  ·  Kyllonen: qo‘lda baho aniqroq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Sinish yoshini baholashga ta’sir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Muhokama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Standartlashtirish va validatsiya muammosi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Terminologiya bir xil emas: eng ko‘p ishlatilgan olti bosqichli tizimlarning hech ikkitasi bir xil belgilar to‘plamini baholamagan.</a:t>
            </a:r>
          </a:p>
          <a:p>
            <a:pPr>
              <a:spcAft>
                <a:spcPts val="1200"/>
              </a:spcAft>
            </a:pPr>
            <a:r>
              <a:rPr sz="2200">
                <a:solidFill>
                  <a:srgbClr val="1F2937"/>
                </a:solidFill>
                <a:latin typeface="Calibri"/>
              </a:rPr>
              <a:t>▸  Hozirgacha faqat bitta ish (Cappella) avval chop etilgan usulni (De Boer) tekshirish maqsadida o‘tkazilgan.</a:t>
            </a:r>
          </a:p>
          <a:p>
            <a:pPr>
              <a:spcAft>
                <a:spcPts val="1200"/>
              </a:spcAft>
            </a:pPr>
            <a:r>
              <a:rPr sz="2200">
                <a:solidFill>
                  <a:srgbClr val="1F2937"/>
                </a:solidFill>
                <a:latin typeface="Calibri"/>
              </a:rPr>
              <a:t>▸  Drury va Cunningham uch usulni 96 bolada 112 uzun suyak sinishida solishtirdi; ba’zi baholar deyarli 2 oyga farq qildi.</a:t>
            </a:r>
          </a:p>
          <a:p>
            <a:pPr>
              <a:spcAft>
                <a:spcPts val="1200"/>
              </a:spcAft>
            </a:pPr>
            <a:r>
              <a:rPr sz="2200">
                <a:solidFill>
                  <a:srgbClr val="1F2937"/>
                </a:solidFill>
                <a:latin typeface="Calibri"/>
              </a:rPr>
              <a:t>▸  Kelajak: usullarni yoshi ma’lum sinishlarda sinash, ularning aniqligi, ketma-ketligi va barqarorligini baholash.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Muhokama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usullar mos kelmaganda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Drury va Cunningham 96 bolaning 112 ta uzun suyak sinishini uch xil usulda baholadi. Sinishlarning haqiqiy yoshi noma’lum edi.</a:t>
            </a:r>
          </a:p>
          <a:p>
            <a:pPr>
              <a:spcAft>
                <a:spcPts val="1200"/>
              </a:spcAft>
            </a:pPr>
            <a:r>
              <a:rPr sz="2200">
                <a:solidFill>
                  <a:srgbClr val="1F2937"/>
                </a:solidFill>
                <a:latin typeface="Calibri"/>
              </a:rPr>
              <a:t>▸  Natija: hech bir usul to‘liq mos kelmadi. Vaqt oralig‘ining uzunligi, boshlanish va tugash sanalari farq qildi, ba’zan deyarli 2 oygacha.</a:t>
            </a:r>
          </a:p>
          <a:p>
            <a:pPr>
              <a:spcAft>
                <a:spcPts val="1200"/>
              </a:spcAft>
            </a:pPr>
            <a:r>
              <a:rPr sz="2200">
                <a:solidFill>
                  <a:srgbClr val="1F2937"/>
                </a:solidFill>
                <a:latin typeface="Calibri"/>
              </a:rPr>
              <a:t>▸  Diqqat: xato qilish xavfi. Taxminiy yosh ≠ aniq yosh. Sinish yoshini baholash noaniq usul hisoblanadi, sud ishida ehtiyotkorlik kerak.</a:t>
            </a:r>
          </a:p>
          <a:p>
            <a:pPr>
              <a:spcAft>
                <a:spcPts val="1200"/>
              </a:spcAft>
            </a:pPr>
            <a:r>
              <a:rPr sz="2200">
                <a:solidFill>
                  <a:srgbClr val="1F2937"/>
                </a:solidFill>
                <a:latin typeface="Calibri"/>
              </a:rPr>
              <a:t>▸  Savol: xulosada nimadan ehtiyot bo‘lish kerak? Bitta usulga tayanib aniq muddat yozish nega xavfli? Usullarni yoshi ma’lum sinishlarda sinash nega zarur?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bitishi fazalari: yumshoq to‘qima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Uch faza: yallig‘lanish, proliferatsiya, yetilish; hujayra va eruvchi omillar o‘zaro ta’sirlashadi.</a:t>
            </a:r>
          </a:p>
          <a:p>
            <a:pPr>
              <a:spcAft>
                <a:spcPts val="800"/>
              </a:spcAft>
            </a:pPr>
            <a:r>
              <a:rPr sz="1800">
                <a:solidFill>
                  <a:srgbClr val="1F2937"/>
                </a:solidFill>
                <a:latin typeface="Calibri"/>
              </a:rPr>
              <a:t>▸  Teri: re-epitelizatsiya va yangi granulyatsiya to‘qimasi yara yuzasini yopadi.</a:t>
            </a:r>
          </a:p>
          <a:p>
            <a:pPr>
              <a:spcAft>
                <a:spcPts val="800"/>
              </a:spcAft>
            </a:pPr>
            <a:r>
              <a:rPr sz="1800">
                <a:solidFill>
                  <a:srgbClr val="1F2937"/>
                </a:solidFill>
                <a:latin typeface="Calibri"/>
              </a:rPr>
              <a:t>▸  Mushak: yo‘ldosh (satellit) hujayralar ko‘payib, miotsitga aylanadi va shikastni tiklaydi.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Yallig‘lanish</a:t>
            </a:r>
          </a:p>
          <a:p>
            <a:pPr algn="l">
              <a:spcAft>
                <a:spcPts val="200"/>
              </a:spcAft>
            </a:pPr>
            <a:r>
              <a:rPr sz="1400" b="0">
                <a:solidFill>
                  <a:srgbClr val="1F2937"/>
                </a:solidFill>
                <a:latin typeface="Calibri"/>
              </a:rPr>
              <a:t>Hujayra va eruvchi omillar ishtirokida</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Proliferatsiya</a:t>
            </a:r>
          </a:p>
          <a:p>
            <a:pPr algn="l">
              <a:spcAft>
                <a:spcPts val="200"/>
              </a:spcAft>
            </a:pPr>
            <a:r>
              <a:rPr sz="1400" b="0">
                <a:solidFill>
                  <a:srgbClr val="1F2937"/>
                </a:solidFill>
                <a:latin typeface="Calibri"/>
              </a:rPr>
              <a:t>Teri: re-epitelizatsiya, granulyatsiya; mushak: satellit hujayralar</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Yetilish</a:t>
            </a:r>
          </a:p>
          <a:p>
            <a:pPr algn="l">
              <a:spcAft>
                <a:spcPts val="200"/>
              </a:spcAft>
            </a:pPr>
            <a:r>
              <a:rPr sz="1400" b="0">
                <a:solidFill>
                  <a:srgbClr val="1F2937"/>
                </a:solidFill>
                <a:latin typeface="Calibri"/>
              </a:rPr>
              <a:t>To‘qima qayta qurilishi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Yara bitishining uch fazasi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Tadqiqot namunalari: hayvon, autopsiya, tirik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Tadqiqotlar asosan hayvon va autopsiya namunalariga, ba’zan tirik odamlarga tayangan.</a:t>
            </a:r>
          </a:p>
          <a:p>
            <a:pPr>
              <a:spcAft>
                <a:spcPts val="1200"/>
              </a:spcAft>
            </a:pPr>
            <a:r>
              <a:rPr sz="2200">
                <a:solidFill>
                  <a:srgbClr val="1F2937"/>
                </a:solidFill>
                <a:latin typeface="Calibri"/>
              </a:rPr>
              <a:t>▸  Tirik odamdan namuna olish uchun mahalliy etika qo‘mitasi ruxsati kerak.</a:t>
            </a:r>
          </a:p>
          <a:p>
            <a:pPr>
              <a:spcAft>
                <a:spcPts val="1200"/>
              </a:spcAft>
            </a:pPr>
            <a:r>
              <a:rPr sz="2200">
                <a:solidFill>
                  <a:srgbClr val="1F2937"/>
                </a:solidFill>
                <a:latin typeface="Calibri"/>
              </a:rPr>
              <a:t>▸  Diqqat: autopsiya namunasida chirish, parchalanish, qurish va yosh natijaga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Morfologik tahlil va ko‘karish rangi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Morfologik tahlil eng ko‘p qo‘llanadigan usul. U ko‘rish orqali baholanadi, obyektiv va markerning joylashuvini ko‘rsatadi.</a:t>
            </a:r>
          </a:p>
          <a:p>
            <a:pPr>
              <a:spcAft>
                <a:spcPts val="1200"/>
              </a:spcAft>
            </a:pPr>
            <a:r>
              <a:rPr sz="2200">
                <a:solidFill>
                  <a:srgbClr val="1F2937"/>
                </a:solidFill>
                <a:latin typeface="Calibri"/>
              </a:rPr>
              <a:t>▸  Ko‘karish rangiga qarab yoshni baholash juda o‘zgaruvchan. Rang chuqurlik, joylashuv va teri rangiga bog‘liq.</a:t>
            </a:r>
          </a:p>
          <a:p>
            <a:pPr>
              <a:spcAft>
                <a:spcPts val="1200"/>
              </a:spcAft>
            </a:pPr>
            <a:r>
              <a:rPr sz="2200">
                <a:solidFill>
                  <a:srgbClr val="1F2937"/>
                </a:solidFill>
                <a:latin typeface="Calibri"/>
              </a:rPr>
              <a:t>▸  Gematoksilin-eozin (HE) va Berlin ko‘k bo‘yog‘i jarohatdan 6 soat o‘tgach o‘zgarishni ko‘rsatadi, lekin amaliy qo‘llanishi cheklangan.</a:t>
            </a:r>
          </a:p>
          <a:p>
            <a:pPr>
              <a:spcAft>
                <a:spcPts val="1200"/>
              </a:spcAft>
            </a:pPr>
            <a:r>
              <a:rPr sz="2200">
                <a:solidFill>
                  <a:srgbClr val="1F2937"/>
                </a:solidFill>
                <a:latin typeface="Calibri"/>
              </a:rPr>
              <a:t>▸  Immunogistokimyo (IHC) va immunofluoresensiya (IF) erta bosqich uchun foydali. Raqamli skaner subyektiv omilni kamaytiradi.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 (Morphological analysis)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yumshoq to‘qima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1: nega ko‘karish rangi bo‘yicha jarohat yoshini aniqlash ishonchsiz hisoblanadi?</a:t>
            </a:r>
          </a:p>
          <a:p>
            <a:pPr>
              <a:spcAft>
                <a:spcPts val="1200"/>
              </a:spcAft>
            </a:pPr>
            <a:r>
              <a:rPr sz="2200">
                <a:solidFill>
                  <a:srgbClr val="1F2937"/>
                </a:solidFill>
                <a:latin typeface="Calibri"/>
              </a:rPr>
              <a:t>▸  Javob: rang va paydo bo‘lish vaqti chuqurlik, joylashuv va teri rangiga bog‘liq, shuning uchun juda o‘zgaruvchan.</a:t>
            </a:r>
          </a:p>
          <a:p>
            <a:pPr>
              <a:spcAft>
                <a:spcPts val="1200"/>
              </a:spcAft>
            </a:pPr>
            <a:r>
              <a:rPr sz="2200">
                <a:solidFill>
                  <a:srgbClr val="1F2937"/>
                </a:solidFill>
                <a:latin typeface="Calibri"/>
              </a:rPr>
              <a:t>▸  TEZKOR SAVOL 2: erta yaralar uchun qaysi usul mos? Javob: mRNK (matritsa RNK) asosidagi, chunki u oqsildan oldin o‘zgaradi.</a:t>
            </a:r>
          </a:p>
          <a:p>
            <a:pPr>
              <a:spcAft>
                <a:spcPts val="1200"/>
              </a:spcAft>
            </a:pPr>
            <a:r>
              <a:rPr sz="2200">
                <a:solidFill>
                  <a:srgbClr val="1F2937"/>
                </a:solidFill>
                <a:latin typeface="Calibri"/>
              </a:rPr>
              <a:t>▸  Diqqat: xato qilish xavfi! Eritrotsitlar ekstravazatsiyasi vitallik belgisi hisoblanadi, lekin postmortem ham paydo bo‘ladi, shuning uchun ishonchsiz.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 (Morphological analysis), PMID 32490306 (Molecular biological analysis), PMID 32490306 (Other methods)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Molekulyar usullar: mRNK, oqsil, yuqori o‘tkazuvchan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mRNK oqsildan va morfologiyadan oldin o‘zgaradi, shuning uchun erta yaralarga mos.</a:t>
            </a:r>
          </a:p>
          <a:p>
            <a:pPr>
              <a:spcAft>
                <a:spcPts val="800"/>
              </a:spcAft>
            </a:pPr>
            <a:r>
              <a:rPr sz="1800">
                <a:solidFill>
                  <a:srgbClr val="1F2937"/>
                </a:solidFill>
                <a:latin typeface="Calibri"/>
              </a:rPr>
              <a:t>▸  PCRda referens gen bilan normallashtirish shart; ba’zi genlar jarohatdan so‘ng o‘zgarib ketadi.</a:t>
            </a:r>
          </a:p>
          <a:p>
            <a:pPr>
              <a:spcAft>
                <a:spcPts val="800"/>
              </a:spcAft>
            </a:pPr>
            <a:r>
              <a:rPr sz="1800">
                <a:solidFill>
                  <a:srgbClr val="1F2937"/>
                </a:solidFill>
                <a:latin typeface="Calibri"/>
              </a:rPr>
              <a:t>▸  Yuqori o‘tkazuvchan usullar o‘nlab-yuzlab genni birdan tahlil qilib, xarajatni kamaytiradi.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8649"/>
                <a:gridCol w="1809750"/>
                <a:gridCol w="2019575"/>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Nimani ko‘radi</a:t>
                      </a:r>
                    </a:p>
                  </a:txBody>
                  <a:tcPr marL="73152" marR="73152" marT="36576" marB="36576">
                    <a:solidFill>
                      <a:srgbClr val="0B1F3A"/>
                    </a:solidFill>
                  </a:tcPr>
                </a:tc>
                <a:tc>
                  <a:txBody>
                    <a:bodyPr/>
                    <a:lstStyle/>
                    <a:p>
                      <a:r>
                        <a:rPr sz="1600" b="1">
                          <a:solidFill>
                            <a:srgbClr val="FFFFFF"/>
                          </a:solidFill>
                        </a:rPr>
                        <a:t>Xususiyati</a:t>
                      </a:r>
                    </a:p>
                  </a:txBody>
                  <a:tcPr marL="73152" marR="73152" marT="36576" marB="36576">
                    <a:solidFill>
                      <a:srgbClr val="0B1F3A"/>
                    </a:solidFill>
                  </a:tcPr>
                </a:tc>
              </a:tr>
              <a:tr h="614476">
                <a:tc>
                  <a:txBody>
                    <a:bodyPr/>
                    <a:lstStyle/>
                    <a:p>
                      <a:r>
                        <a:rPr sz="1500" b="0">
                          <a:solidFill>
                            <a:srgbClr val="1F2937"/>
                          </a:solidFill>
                        </a:rPr>
                        <a:t>Real-time PCR (zanjir reaksiyasi)</a:t>
                      </a:r>
                    </a:p>
                  </a:txBody>
                  <a:tcPr marL="73152" marR="73152" marT="36576" marB="36576">
                    <a:solidFill>
                      <a:srgbClr val="E8EEF6"/>
                    </a:solidFill>
                  </a:tcPr>
                </a:tc>
                <a:tc>
                  <a:txBody>
                    <a:bodyPr/>
                    <a:lstStyle/>
                    <a:p>
                      <a:r>
                        <a:rPr sz="1500" b="0">
                          <a:solidFill>
                            <a:srgbClr val="1F2937"/>
                          </a:solidFill>
                        </a:rPr>
                        <a:t>mRNK darajasi</a:t>
                      </a:r>
                    </a:p>
                  </a:txBody>
                  <a:tcPr marL="73152" marR="73152" marT="36576" marB="36576">
                    <a:solidFill>
                      <a:srgbClr val="E8EEF6"/>
                    </a:solidFill>
                  </a:tcPr>
                </a:tc>
                <a:tc>
                  <a:txBody>
                    <a:bodyPr/>
                    <a:lstStyle/>
                    <a:p>
                      <a:r>
                        <a:rPr sz="1500" b="0">
                          <a:solidFill>
                            <a:srgbClr val="1F2937"/>
                          </a:solidFill>
                        </a:rPr>
                        <a:t>Juda sezgir; mRNK birinchi o‘zgaradi</a:t>
                      </a:r>
                    </a:p>
                  </a:txBody>
                  <a:tcPr marL="73152" marR="73152" marT="36576" marB="36576">
                    <a:solidFill>
                      <a:srgbClr val="E8EEF6"/>
                    </a:solidFill>
                  </a:tcPr>
                </a:tc>
              </a:tr>
              <a:tr h="614476">
                <a:tc>
                  <a:txBody>
                    <a:bodyPr/>
                    <a:lstStyle/>
                    <a:p>
                      <a:r>
                        <a:rPr sz="1500" b="0">
                          <a:solidFill>
                            <a:srgbClr val="1F2937"/>
                          </a:solidFill>
                        </a:rPr>
                        <a:t>Western blot; ELISA</a:t>
                      </a:r>
                    </a:p>
                  </a:txBody>
                  <a:tcPr marL="73152" marR="73152" marT="36576" marB="36576">
                    <a:solidFill>
                      <a:srgbClr val="FFFFFF"/>
                    </a:solidFill>
                  </a:tcPr>
                </a:tc>
                <a:tc>
                  <a:txBody>
                    <a:bodyPr/>
                    <a:lstStyle/>
                    <a:p>
                      <a:r>
                        <a:rPr sz="1500" b="0">
                          <a:solidFill>
                            <a:srgbClr val="1F2937"/>
                          </a:solidFill>
                        </a:rPr>
                        <a:t>Oqsil miqdori</a:t>
                      </a:r>
                    </a:p>
                  </a:txBody>
                  <a:tcPr marL="73152" marR="73152" marT="36576" marB="36576">
                    <a:solidFill>
                      <a:srgbClr val="FFFFFF"/>
                    </a:solidFill>
                  </a:tcPr>
                </a:tc>
                <a:tc>
                  <a:txBody>
                    <a:bodyPr/>
                    <a:lstStyle/>
                    <a:p>
                      <a:r>
                        <a:rPr sz="1500" b="0">
                          <a:solidFill>
                            <a:srgbClr val="1F2937"/>
                          </a:solidFill>
                        </a:rPr>
                        <a:t>IHC dan sezgirroq</a:t>
                      </a:r>
                    </a:p>
                  </a:txBody>
                  <a:tcPr marL="73152" marR="73152" marT="36576" marB="36576">
                    <a:solidFill>
                      <a:srgbClr val="FFFFFF"/>
                    </a:solidFill>
                  </a:tcPr>
                </a:tc>
              </a:tr>
              <a:tr h="614476">
                <a:tc>
                  <a:txBody>
                    <a:bodyPr/>
                    <a:lstStyle/>
                    <a:p>
                      <a:r>
                        <a:rPr sz="1500" b="0">
                          <a:solidFill>
                            <a:srgbClr val="1F2937"/>
                          </a:solidFill>
                        </a:rPr>
                        <a:t>Oqsil mikromassivi</a:t>
                      </a:r>
                    </a:p>
                  </a:txBody>
                  <a:tcPr marL="73152" marR="73152" marT="36576" marB="36576">
                    <a:solidFill>
                      <a:srgbClr val="E8EEF6"/>
                    </a:solidFill>
                  </a:tcPr>
                </a:tc>
                <a:tc>
                  <a:txBody>
                    <a:bodyPr/>
                    <a:lstStyle/>
                    <a:p>
                      <a:r>
                        <a:rPr sz="1500" b="0">
                          <a:solidFill>
                            <a:srgbClr val="1F2937"/>
                          </a:solidFill>
                        </a:rPr>
                        <a:t>Ko‘p oqsil bir namunada</a:t>
                      </a:r>
                    </a:p>
                  </a:txBody>
                  <a:tcPr marL="73152" marR="73152" marT="36576" marB="36576">
                    <a:solidFill>
                      <a:srgbClr val="E8EEF6"/>
                    </a:solidFill>
                  </a:tcPr>
                </a:tc>
                <a:tc>
                  <a:txBody>
                    <a:bodyPr/>
                    <a:lstStyle/>
                    <a:p>
                      <a:r>
                        <a:rPr sz="1500" b="0">
                          <a:solidFill>
                            <a:srgbClr val="1F2937"/>
                          </a:solidFill>
                        </a:rPr>
                        <a:t>Yuqori o‘tkazuvchan, sezgir</a:t>
                      </a:r>
                    </a:p>
                  </a:txBody>
                  <a:tcPr marL="73152" marR="73152" marT="36576" marB="36576">
                    <a:solidFill>
                      <a:srgbClr val="E8EEF6"/>
                    </a:solidFill>
                  </a:tcPr>
                </a:tc>
              </a:tr>
              <a:tr h="614476">
                <a:tc>
                  <a:txBody>
                    <a:bodyPr/>
                    <a:lstStyle/>
                    <a:p>
                      <a:r>
                        <a:rPr sz="1500" b="0">
                          <a:solidFill>
                            <a:srgbClr val="1F2937"/>
                          </a:solidFill>
                        </a:rPr>
                        <a:t>Gen chiplari</a:t>
                      </a:r>
                    </a:p>
                  </a:txBody>
                  <a:tcPr marL="73152" marR="73152" marT="36576" marB="36576">
                    <a:solidFill>
                      <a:srgbClr val="FFFFFF"/>
                    </a:solidFill>
                  </a:tcPr>
                </a:tc>
                <a:tc>
                  <a:txBody>
                    <a:bodyPr/>
                    <a:lstStyle/>
                    <a:p>
                      <a:r>
                        <a:rPr sz="1500" b="0">
                          <a:solidFill>
                            <a:srgbClr val="1F2937"/>
                          </a:solidFill>
                        </a:rPr>
                        <a:t>O‘nlab-yuzlab gen</a:t>
                      </a:r>
                    </a:p>
                  </a:txBody>
                  <a:tcPr marL="73152" marR="73152" marT="36576" marB="36576">
                    <a:solidFill>
                      <a:srgbClr val="FFFFFF"/>
                    </a:solidFill>
                  </a:tcPr>
                </a:tc>
                <a:tc>
                  <a:txBody>
                    <a:bodyPr/>
                    <a:lstStyle/>
                    <a:p>
                      <a:r>
                        <a:rPr sz="1500" b="0">
                          <a:solidFill>
                            <a:srgbClr val="1F2937"/>
                          </a:solidFill>
                        </a:rPr>
                        <a:t>Arzon, takrorlanuvchan natija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Molekulyar usullar solishtiruvi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 (Molecular biological analysis)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barqarorlik: marker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Chirish va qurish mRNK (axborot RNK) hamda oqsilni buzadi; bu o‘limdan so‘ng muqarrar.</a:t>
            </a:r>
          </a:p>
          <a:p>
            <a:pPr>
              <a:spcAft>
                <a:spcPts val="800"/>
              </a:spcAft>
            </a:pPr>
            <a:r>
              <a:rPr sz="1800">
                <a:solidFill>
                  <a:srgbClr val="1F2937"/>
                </a:solidFill>
                <a:latin typeface="Calibri"/>
              </a:rPr>
              <a:t>▸  Marker tanlashda o‘limdan keyin ma’lum muddat barqaror qoladigan moddalar afzal ko‘riladi.</a:t>
            </a:r>
          </a:p>
          <a:p>
            <a:pPr>
              <a:spcAft>
                <a:spcPts val="800"/>
              </a:spcAft>
            </a:pPr>
            <a:r>
              <a:rPr sz="1800">
                <a:solidFill>
                  <a:srgbClr val="1F2937"/>
                </a:solidFill>
                <a:latin typeface="Calibri"/>
              </a:rPr>
              <a:t>▸  Diqqat: barqarorlik markerga bog‘liq; 3 soat bilan 4 kun orasida katta farq bor.</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Argininosuksinat liaza</a:t>
            </a:r>
          </a:p>
          <a:p>
            <a:pPr algn="l">
              <a:spcAft>
                <a:spcPts val="100"/>
              </a:spcAft>
            </a:pPr>
            <a:r>
              <a:rPr sz="3000" b="1">
                <a:solidFill>
                  <a:srgbClr val="0B1F3A"/>
                </a:solidFill>
                <a:latin typeface="Calibri"/>
              </a:rPr>
              <a:t>18 soat</a:t>
            </a:r>
            <a:r>
              <a:rPr sz="1500" b="0">
                <a:solidFill>
                  <a:srgbClr val="6B7280"/>
                </a:solidFill>
                <a:latin typeface="Calibri"/>
              </a:rPr>
              <a:t>  mRNK</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SNAT2</a:t>
            </a:r>
          </a:p>
          <a:p>
            <a:pPr algn="l">
              <a:spcAft>
                <a:spcPts val="100"/>
              </a:spcAft>
            </a:pPr>
            <a:r>
              <a:rPr sz="3000" b="1">
                <a:solidFill>
                  <a:srgbClr val="0B1F3A"/>
                </a:solidFill>
                <a:latin typeface="Calibri"/>
              </a:rPr>
              <a:t>48 soat</a:t>
            </a:r>
            <a:r>
              <a:rPr sz="1500" b="0">
                <a:solidFill>
                  <a:srgbClr val="6B7280"/>
                </a:solidFill>
                <a:latin typeface="Calibri"/>
              </a:rPr>
              <a:t>  mRNK</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LC3-II va p62</a:t>
            </a:r>
          </a:p>
          <a:p>
            <a:pPr algn="l">
              <a:spcAft>
                <a:spcPts val="100"/>
              </a:spcAft>
            </a:pPr>
            <a:r>
              <a:rPr sz="3000" b="1">
                <a:solidFill>
                  <a:srgbClr val="0B1F3A"/>
                </a:solidFill>
                <a:latin typeface="Calibri"/>
              </a:rPr>
              <a:t>4 kun</a:t>
            </a:r>
            <a:r>
              <a:rPr sz="1500" b="0">
                <a:solidFill>
                  <a:srgbClr val="6B7280"/>
                </a:solidFill>
                <a:latin typeface="Calibri"/>
              </a:rPr>
              <a:t>  oqsil</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Kannabinoid retseptor-2</a:t>
            </a:r>
          </a:p>
          <a:p>
            <a:pPr algn="l">
              <a:spcAft>
                <a:spcPts val="100"/>
              </a:spcAft>
            </a:pPr>
            <a:r>
              <a:rPr sz="3000" b="1">
                <a:solidFill>
                  <a:srgbClr val="0B1F3A"/>
                </a:solidFill>
                <a:latin typeface="Calibri"/>
              </a:rPr>
              <a:t>3 soat</a:t>
            </a:r>
            <a:r>
              <a:rPr sz="1500" b="0">
                <a:solidFill>
                  <a:srgbClr val="6B7280"/>
                </a:solidFill>
                <a:latin typeface="Calibri"/>
              </a:rPr>
              <a:t>  mRNK</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Postmortem barqarorlik</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jarohati biomarkerlari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MNS shikastdan keyingi yallig‘lanishi teri va skelet mushagiga o‘xshaydi, ammo glial hujayralar migratsiyasi kabi mahalliy reaksiya MNSga xos.</a:t>
            </a:r>
          </a:p>
          <a:p>
            <a:pPr>
              <a:spcAft>
                <a:spcPts val="1200"/>
              </a:spcAft>
            </a:pPr>
            <a:r>
              <a:rPr sz="2200">
                <a:solidFill>
                  <a:srgbClr val="1F2937"/>
                </a:solidFill>
                <a:latin typeface="Calibri"/>
              </a:rPr>
              <a:t>▸  Neyronlar yangilanmagani uchun miya shikasti qaytmas. Qon quyilishining yoshi gematoksilin-eozin va immunogistokimyoviy bo‘yash bilan baholanadi.</a:t>
            </a:r>
          </a:p>
          <a:p>
            <a:pPr>
              <a:spcAft>
                <a:spcPts val="1200"/>
              </a:spcAft>
            </a:pPr>
            <a:r>
              <a:rPr sz="2200">
                <a:solidFill>
                  <a:srgbClr val="1F2937"/>
                </a:solidFill>
                <a:latin typeface="Calibri"/>
              </a:rPr>
              <a:t>▸  Diffuz aksonal shikastda β-amiloid prekursor akson uzilganda shikast joyida aniqlanadi; u sezgir va o‘ziga xos marker hisoblanadi.</a:t>
            </a:r>
          </a:p>
          <a:p>
            <a:pPr>
              <a:spcAft>
                <a:spcPts val="1200"/>
              </a:spcAft>
            </a:pPr>
            <a:r>
              <a:rPr sz="2200">
                <a:solidFill>
                  <a:srgbClr val="1F2937"/>
                </a:solidFill>
                <a:latin typeface="Calibri"/>
              </a:rPr>
              <a:t>▸  Takamiya (2007) miya jarohatida 27 sitokinning vaqtga bog‘liq ifodasi jarohat yoshini baholashga yordam berishi mumkinligini ko‘rsatdi.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Ko‘p markerli yondashuv va matematik modellar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tiklanishiga ichki va tashqi omillar ta’sir qiladi, shuning uchun bitta parametr yetarli emas; bir necha parametrni birga qo‘llash xatoni kamaytiradi.</a:t>
            </a:r>
          </a:p>
          <a:p>
            <a:pPr>
              <a:spcAft>
                <a:spcPts val="1200"/>
              </a:spcAft>
            </a:pPr>
            <a:r>
              <a:rPr sz="2200">
                <a:solidFill>
                  <a:srgbClr val="1F2937"/>
                </a:solidFill>
                <a:latin typeface="Calibri"/>
              </a:rPr>
              <a:t>▸  Sun to‘rt mRNKdan iborat oshish/o‘zgarmaslik/pasayish modelini yaratdi; u jarohat yoshi oralig‘ini toraytirdi.</a:t>
            </a:r>
          </a:p>
          <a:p>
            <a:pPr>
              <a:spcAft>
                <a:spcPts val="1200"/>
              </a:spcAft>
            </a:pPr>
            <a:r>
              <a:rPr sz="2200">
                <a:solidFill>
                  <a:srgbClr val="1F2937"/>
                </a:solidFill>
                <a:latin typeface="Calibri"/>
              </a:rPr>
              <a:t>▸  Yagi CD14, CD32B va CD68 ni birga baholab, bitta markerdan aniqroq natija oldi. Van de Goot va Fronczek ehtimollik ballari tizimini tuzdi.</a:t>
            </a:r>
          </a:p>
          <a:p>
            <a:pPr>
              <a:spcAft>
                <a:spcPts val="1200"/>
              </a:spcAft>
            </a:pPr>
            <a:r>
              <a:rPr sz="2200">
                <a:solidFill>
                  <a:srgbClr val="1F2937"/>
                </a:solidFill>
                <a:latin typeface="Calibri"/>
              </a:rPr>
              <a:t>▸  Ko‘p markerlardan foydalanishning yagona tizimi yoki modeli hali taklif etilmagan; natijaga operator mahorati ham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diabetik shaxsda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marhumda qandli diabet bo‘lgan, yara yoshini aniqlash uchun sog‘lom odamga mo‘ljallangan belgilar qo‘llanmoqda.</a:t>
            </a:r>
          </a:p>
          <a:p>
            <a:pPr>
              <a:spcAft>
                <a:spcPts val="1200"/>
              </a:spcAft>
            </a:pPr>
            <a:r>
              <a:rPr sz="2200">
                <a:solidFill>
                  <a:srgbClr val="1F2937"/>
                </a:solidFill>
                <a:latin typeface="Calibri"/>
              </a:rPr>
              <a:t>▸  Sichqonlarda diabetik yara bitishi oddiy yaradan farq qiladi, shuning uchun me‘yoriy yara parametrlari unga mos kelmasligi mumkin.</a:t>
            </a:r>
          </a:p>
          <a:p>
            <a:pPr>
              <a:spcAft>
                <a:spcPts val="1200"/>
              </a:spcAft>
            </a:pPr>
            <a:r>
              <a:rPr sz="2200">
                <a:solidFill>
                  <a:srgbClr val="1F2937"/>
                </a:solidFill>
                <a:latin typeface="Calibri"/>
              </a:rPr>
              <a:t>▸  Periferik qon tomir kasalligida yara bitishi qiyin, immunosupressiyada (immunitet susayishi) esa kechikadi.</a:t>
            </a:r>
          </a:p>
          <a:p>
            <a:pPr>
              <a:spcAft>
                <a:spcPts val="1200"/>
              </a:spcAft>
            </a:pPr>
            <a:r>
              <a:rPr sz="2200">
                <a:solidFill>
                  <a:srgbClr val="1F2937"/>
                </a:solidFill>
                <a:latin typeface="Calibri"/>
              </a:rPr>
              <a:t>▸  Savol: oddiy parametrlar qo‘llansa xato qanday bo‘ladi? Kechikkan bitish tufayli yara yoshi noto‘g‘ri, ehtimol kichikroq baholanishi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Li N va boshq., Vitality and wound-age estimation in forensic pathology: review and future prospects, betlar: PMID 32490306, 'Biomarkers of wound aging' bo‘limi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IHC/IF sharhi: tanlov va natijalar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Qidiruv PubMed va Scopus’da o‘tkazildi; IHC — immunogistokimyo, IF — immunofluoressensiya.</a:t>
            </a:r>
          </a:p>
          <a:p>
            <a:pPr>
              <a:spcAft>
                <a:spcPts val="800"/>
              </a:spcAft>
            </a:pPr>
            <a:r>
              <a:rPr sz="1800">
                <a:solidFill>
                  <a:srgbClr val="1F2937"/>
                </a:solidFill>
                <a:latin typeface="Calibri"/>
              </a:rPr>
              <a:t>▸  IHC ishlatish oson, ishonchli va kerakli molekulalarning to‘qimadagi joylashuvini ko‘rsata oladi.</a:t>
            </a:r>
          </a:p>
          <a:p>
            <a:pPr>
              <a:spcAft>
                <a:spcPts val="800"/>
              </a:spcAft>
            </a:pPr>
            <a:r>
              <a:rPr sz="1800">
                <a:solidFill>
                  <a:srgbClr val="1F2937"/>
                </a:solidFill>
                <a:latin typeface="Calibri"/>
              </a:rPr>
              <a:t>▸  Diqqat: IHC ≠ IF; 46 ishning 32 tasida faqat IHC, 5 tasida faqat IF, 9 tasida ikkalasi birga qo‘llangan.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326 maqola topildi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29 ta mos maqola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+17 ta havoladan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Jami 46 ta maqola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IHC 32, IF 5, ikkalasi 9</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Maqolalarni tanlash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 2–3-bo‘limlar (Materiallar va Natijalar), PMID 38248045, 1-bo‘lim (Kirish), PMID 38248045, 3-bo‘lim (Natijalar)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markerlar: koagulyatsiya va sitokinlar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Koagulyatsiya markerlari 0–1 soatda musbat; FVIIIra sezgirligi 100%, o‘ziga xosligi esa 47%.</a:t>
            </a:r>
          </a:p>
          <a:p>
            <a:pPr>
              <a:spcAft>
                <a:spcPts val="800"/>
              </a:spcAft>
            </a:pPr>
            <a:r>
              <a:rPr sz="1800">
                <a:solidFill>
                  <a:srgbClr val="1F2937"/>
                </a:solidFill>
                <a:latin typeface="Calibri"/>
              </a:rPr>
              <a:t>▸  Sitokinlar: TNFα (o‘sma nekrozi omili) va IL-1β (interleykin-1β) 3 soatda, IL-6 12 soatda cho‘qqiga chiqadi.</a:t>
            </a:r>
          </a:p>
          <a:p>
            <a:pPr>
              <a:spcAft>
                <a:spcPts val="800"/>
              </a:spcAft>
            </a:pPr>
            <a:r>
              <a:rPr sz="1800">
                <a:solidFill>
                  <a:srgbClr val="1F2937"/>
                </a:solidFill>
                <a:latin typeface="Calibri"/>
              </a:rPr>
              <a:t>▸  Diqqat: sezgir ≠ o‘ziga xos; antemortem va postmortemni ajratishda CD15 va triptaza foydaliroq.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990849"/>
                <a:gridCol w="618821"/>
                <a:gridCol w="1678304"/>
              </a:tblGrid>
              <a:tr h="614476">
                <a:tc>
                  <a:txBody>
                    <a:bodyPr/>
                    <a:lstStyle/>
                    <a:p>
                      <a:r>
                        <a:rPr sz="1600" b="1">
                          <a:solidFill>
                            <a:srgbClr val="FFFFFF"/>
                          </a:solidFill>
                        </a:rPr>
                        <a:t>Marker</a:t>
                      </a:r>
                    </a:p>
                  </a:txBody>
                  <a:tcPr marL="73152" marR="73152" marT="36576" marB="36576">
                    <a:solidFill>
                      <a:srgbClr val="0B1F3A"/>
                    </a:solidFill>
                  </a:tcPr>
                </a:tc>
                <a:tc>
                  <a:txBody>
                    <a:bodyPr/>
                    <a:lstStyle/>
                    <a:p>
                      <a:r>
                        <a:rPr sz="1600" b="1">
                          <a:solidFill>
                            <a:srgbClr val="FFFFFF"/>
                          </a:solidFill>
                        </a:rPr>
                        <a:t>Vaqt</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Fibronektin/CD62p/FVIII</a:t>
                      </a:r>
                    </a:p>
                  </a:txBody>
                  <a:tcPr marL="73152" marR="73152" marT="36576" marB="36576">
                    <a:solidFill>
                      <a:srgbClr val="E8EEF6"/>
                    </a:solidFill>
                  </a:tcPr>
                </a:tc>
                <a:tc>
                  <a:txBody>
                    <a:bodyPr/>
                    <a:lstStyle/>
                    <a:p>
                      <a:r>
                        <a:rPr sz="1500" b="0">
                          <a:solidFill>
                            <a:srgbClr val="1F2937"/>
                          </a:solidFill>
                        </a:rPr>
                        <a:t>0–1 soat</a:t>
                      </a:r>
                    </a:p>
                  </a:txBody>
                  <a:tcPr marL="73152" marR="73152" marT="36576" marB="36576">
                    <a:solidFill>
                      <a:srgbClr val="E8EEF6"/>
                    </a:solidFill>
                  </a:tcPr>
                </a:tc>
                <a:tc>
                  <a:txBody>
                    <a:bodyPr/>
                    <a:lstStyle/>
                    <a:p>
                      <a:r>
                        <a:rPr sz="1500" b="0">
                          <a:solidFill>
                            <a:srgbClr val="1F2937"/>
                          </a:solidFill>
                        </a:rPr>
                        <a:t>Yangi jarohatda IHC bahosi oshgan</a:t>
                      </a:r>
                    </a:p>
                  </a:txBody>
                  <a:tcPr marL="73152" marR="73152" marT="36576" marB="36576">
                    <a:solidFill>
                      <a:srgbClr val="E8EEF6"/>
                    </a:solidFill>
                  </a:tcPr>
                </a:tc>
              </a:tr>
              <a:tr h="614476">
                <a:tc>
                  <a:txBody>
                    <a:bodyPr/>
                    <a:lstStyle/>
                    <a:p>
                      <a:r>
                        <a:rPr sz="1500" b="0">
                          <a:solidFill>
                            <a:srgbClr val="1F2937"/>
                          </a:solidFill>
                        </a:rPr>
                        <a:t>FVIIIra/CD15/triptaza</a:t>
                      </a:r>
                    </a:p>
                  </a:txBody>
                  <a:tcPr marL="73152" marR="73152" marT="36576" marB="36576">
                    <a:solidFill>
                      <a:srgbClr val="FFFFFF"/>
                    </a:solidFill>
                  </a:tcPr>
                </a:tc>
                <a:tc>
                  <a:txBody>
                    <a:bodyPr/>
                    <a:lstStyle/>
                    <a:p>
                      <a:r>
                        <a:rPr sz="1500" b="0">
                          <a:solidFill>
                            <a:srgbClr val="1F2937"/>
                          </a:solidFill>
                        </a:rPr>
                        <a:t>0–1 soat</a:t>
                      </a:r>
                    </a:p>
                  </a:txBody>
                  <a:tcPr marL="73152" marR="73152" marT="36576" marB="36576">
                    <a:solidFill>
                      <a:srgbClr val="FFFFFF"/>
                    </a:solidFill>
                  </a:tcPr>
                </a:tc>
                <a:tc>
                  <a:txBody>
                    <a:bodyPr/>
                    <a:lstStyle/>
                    <a:p>
                      <a:r>
                        <a:rPr sz="1500" b="0">
                          <a:solidFill>
                            <a:srgbClr val="1F2937"/>
                          </a:solidFill>
                        </a:rPr>
                        <a:t>FVIIIra: sezgir, o‘ziga xos emas</a:t>
                      </a:r>
                    </a:p>
                  </a:txBody>
                  <a:tcPr marL="73152" marR="73152" marT="36576" marB="36576">
                    <a:solidFill>
                      <a:srgbClr val="FFFFFF"/>
                    </a:solidFill>
                  </a:tcPr>
                </a:tc>
              </a:tr>
              <a:tr h="614476">
                <a:tc>
                  <a:txBody>
                    <a:bodyPr/>
                    <a:lstStyle/>
                    <a:p>
                      <a:r>
                        <a:rPr sz="1500" b="0">
                          <a:solidFill>
                            <a:srgbClr val="1F2937"/>
                          </a:solidFill>
                        </a:rPr>
                        <a:t>TNFα, IL-1β (IL-6)</a:t>
                      </a:r>
                    </a:p>
                  </a:txBody>
                  <a:tcPr marL="73152" marR="73152" marT="36576" marB="36576">
                    <a:solidFill>
                      <a:srgbClr val="E8EEF6"/>
                    </a:solidFill>
                  </a:tcPr>
                </a:tc>
                <a:tc>
                  <a:txBody>
                    <a:bodyPr/>
                    <a:lstStyle/>
                    <a:p>
                      <a:r>
                        <a:rPr sz="1500" b="0">
                          <a:solidFill>
                            <a:srgbClr val="1F2937"/>
                          </a:solidFill>
                        </a:rPr>
                        <a:t>3 soat (IL-6: 12 soat)</a:t>
                      </a:r>
                    </a:p>
                  </a:txBody>
                  <a:tcPr marL="73152" marR="73152" marT="36576" marB="36576">
                    <a:solidFill>
                      <a:srgbClr val="E8EEF6"/>
                    </a:solidFill>
                  </a:tcPr>
                </a:tc>
                <a:tc>
                  <a:txBody>
                    <a:bodyPr/>
                    <a:lstStyle/>
                    <a:p>
                      <a:r>
                        <a:rPr sz="1500" b="0">
                          <a:solidFill>
                            <a:srgbClr val="1F2937"/>
                          </a:solidFill>
                        </a:rPr>
                        <a:t>Proinflammator sitokinlar cho‘qqisi</a:t>
                      </a:r>
                    </a:p>
                  </a:txBody>
                  <a:tcPr marL="73152" marR="73152" marT="36576" marB="36576">
                    <a:solidFill>
                      <a:srgbClr val="E8EEF6"/>
                    </a:solidFill>
                  </a:tcPr>
                </a:tc>
              </a:tr>
              <a:tr h="614476">
                <a:tc>
                  <a:txBody>
                    <a:bodyPr/>
                    <a:lstStyle/>
                    <a:p>
                      <a:r>
                        <a:rPr sz="1500" b="0">
                          <a:solidFill>
                            <a:srgbClr val="1F2937"/>
                          </a:solidFill>
                        </a:rPr>
                        <a:t>IL-1α musbat hujayra &gt;30%</a:t>
                      </a:r>
                    </a:p>
                  </a:txBody>
                  <a:tcPr marL="73152" marR="73152" marT="36576" marB="36576">
                    <a:solidFill>
                      <a:srgbClr val="FFFFFF"/>
                    </a:solidFill>
                  </a:tcPr>
                </a:tc>
                <a:tc>
                  <a:txBody>
                    <a:bodyPr/>
                    <a:lstStyle/>
                    <a:p>
                      <a:r>
                        <a:rPr sz="1500" b="0">
                          <a:solidFill>
                            <a:srgbClr val="1F2937"/>
                          </a:solidFill>
                        </a:rPr>
                        <a:t>≤1 kun</a:t>
                      </a:r>
                    </a:p>
                  </a:txBody>
                  <a:tcPr marL="73152" marR="73152" marT="36576" marB="36576">
                    <a:solidFill>
                      <a:srgbClr val="FFFFFF"/>
                    </a:solidFill>
                  </a:tcPr>
                </a:tc>
                <a:tc>
                  <a:txBody>
                    <a:bodyPr/>
                    <a:lstStyle/>
                    <a:p>
                      <a:r>
                        <a:rPr sz="1500" b="0">
                          <a:solidFill>
                            <a:srgbClr val="1F2937"/>
                          </a:solidFill>
                        </a:rPr>
                        <a:t>Yara yoshi bir kun yoki kamroq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Erta markerlar va vaqt oralig‘i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 4.1-bo‘lim (Coagulation Factors), PMID 38248045, 4.2-bo‘lim (Proinflammatory Cytokines)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Immun hujayralar va o‘sish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Mast hujayralar vital jarohatda 1–3 soatda cho‘qqiga chiqadi; o‘limdan keyingi holatda ular sezilarli kam bo‘ladi.</a:t>
            </a:r>
          </a:p>
          <a:p>
            <a:pPr>
              <a:spcAft>
                <a:spcPts val="800"/>
              </a:spcAft>
            </a:pPr>
            <a:r>
              <a:rPr sz="1800">
                <a:solidFill>
                  <a:srgbClr val="1F2937"/>
                </a:solidFill>
                <a:latin typeface="Calibri"/>
              </a:rPr>
              <a:t>▸  TGF-α (transformatsiyalovchi o‘sish omili-α) dastlabki javobi 10 daqiqada, aniq javobi 30–60 daqiqada ko‘rinadi.</a:t>
            </a:r>
          </a:p>
          <a:p>
            <a:pPr>
              <a:spcAft>
                <a:spcPts val="800"/>
              </a:spcAft>
            </a:pPr>
            <a:r>
              <a:rPr sz="1800">
                <a:solidFill>
                  <a:srgbClr val="1F2937"/>
                </a:solidFill>
                <a:latin typeface="Calibri"/>
              </a:rPr>
              <a:t>▸  Diqqat: bitta belgi emas, CD14/CD32B/CD68 birikmasi 1–5 kunni aniqroq ko‘rsatadi.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CD14 (Yagi)</a:t>
            </a:r>
          </a:p>
          <a:p>
            <a:pPr algn="l">
              <a:spcAft>
                <a:spcPts val="100"/>
              </a:spcAft>
            </a:pPr>
            <a:r>
              <a:rPr sz="3000" b="1">
                <a:solidFill>
                  <a:srgbClr val="0B1F3A"/>
                </a:solidFill>
                <a:latin typeface="Calibri"/>
              </a:rPr>
              <a:t>1–5 kun</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Dendrit hujayralar &gt;50</a:t>
            </a:r>
          </a:p>
          <a:p>
            <a:pPr algn="l">
              <a:spcAft>
                <a:spcPts val="100"/>
              </a:spcAft>
            </a:pPr>
            <a:r>
              <a:rPr sz="3000" b="1">
                <a:solidFill>
                  <a:srgbClr val="0B1F3A"/>
                </a:solidFill>
                <a:latin typeface="Calibri"/>
              </a:rPr>
              <a:t>4–14 kun</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Mast hujayralar</a:t>
            </a:r>
          </a:p>
          <a:p>
            <a:pPr algn="l">
              <a:spcAft>
                <a:spcPts val="100"/>
              </a:spcAft>
            </a:pPr>
            <a:r>
              <a:rPr sz="3000" b="1">
                <a:solidFill>
                  <a:srgbClr val="0B1F3A"/>
                </a:solidFill>
                <a:latin typeface="Calibri"/>
              </a:rPr>
              <a:t>1–3 soat</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VEGF musbat &gt;50 %</a:t>
            </a:r>
          </a:p>
          <a:p>
            <a:pPr algn="l">
              <a:spcAft>
                <a:spcPts val="100"/>
              </a:spcAft>
            </a:pPr>
            <a:r>
              <a:rPr sz="3000" b="1">
                <a:solidFill>
                  <a:srgbClr val="0B1F3A"/>
                </a:solidFill>
                <a:latin typeface="Calibri"/>
              </a:rPr>
              <a:t>7–14 kun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Belgi va jarohat yoshi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 4.3-bo‘lim, PMID 38248045, 4.4-bo‘lim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Fermentlar va COX-2 chegaralari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COX-2 (siklooksigenaza-2) musbat ulushi &gt;40% bo‘lsa, jarohat yoshi 8 soatdan 3 kungacha bo‘lishi mumkin; &gt;50% sud-tibbiy ahamiyatga ega bo‘lishi mumkin.</a:t>
            </a:r>
          </a:p>
          <a:p>
            <a:pPr>
              <a:spcAft>
                <a:spcPts val="1200"/>
              </a:spcAft>
            </a:pPr>
            <a:r>
              <a:rPr sz="2200">
                <a:solidFill>
                  <a:srgbClr val="1F2937"/>
                </a:solidFill>
                <a:latin typeface="Calibri"/>
              </a:rPr>
              <a:t>▸  MMP-2 (matriks metalloproteinaza-2) musbat hujayralar &gt;25 bo‘lsa 9–12 kun; MMP-9 musbat hujayralar &gt;30 bo‘lsa 3–14 kun taxmin qilinadi.</a:t>
            </a:r>
          </a:p>
          <a:p>
            <a:pPr>
              <a:spcAft>
                <a:spcPts val="1200"/>
              </a:spcAft>
            </a:pPr>
            <a:r>
              <a:rPr sz="2200">
                <a:solidFill>
                  <a:srgbClr val="1F2937"/>
                </a:solidFill>
                <a:latin typeface="Calibri"/>
              </a:rPr>
              <a:t>▸  Nospetsifik esteraza 1 soatdan 5 kungacha bo‘lgan vital teri jarohatlarining 40% namunasida topilgan.</a:t>
            </a:r>
          </a:p>
          <a:p>
            <a:pPr>
              <a:spcAft>
                <a:spcPts val="1200"/>
              </a:spcAft>
            </a:pPr>
            <a:r>
              <a:rPr sz="2200">
                <a:solidFill>
                  <a:srgbClr val="1F2937"/>
                </a:solidFill>
                <a:latin typeface="Calibri"/>
              </a:rPr>
              <a:t>▸  Diqqat: COX-2 (8 soat–3 kun) va MMP-2 (9–12 kun) chegaralari bir xil emas; ularni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 4.5-bo‘lim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Kollagen, glikoproteinlar va bazal membrana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α-SMA (silliq mushak aktini) musbat miofibroblastlar taxminan 5 kunda paydo bo‘ladi: jarohat ~5 kun yoki undan eski.</a:t>
            </a:r>
          </a:p>
          <a:p>
            <a:pPr>
              <a:spcAft>
                <a:spcPts val="800"/>
              </a:spcAft>
            </a:pPr>
            <a:r>
              <a:rPr sz="1800">
                <a:solidFill>
                  <a:srgbClr val="1F2937"/>
                </a:solidFill>
                <a:latin typeface="Calibri"/>
              </a:rPr>
              <a:t>▸  I va VI kollagen yo‘qligi jarohat 6–7 kundan yosh ekanini ko‘rsatishi mumkin.</a:t>
            </a:r>
          </a:p>
          <a:p>
            <a:pPr>
              <a:spcAft>
                <a:spcPts val="800"/>
              </a:spcAft>
            </a:pPr>
            <a:r>
              <a:rPr sz="1800">
                <a:solidFill>
                  <a:srgbClr val="1F2937"/>
                </a:solidFill>
                <a:latin typeface="Calibri"/>
              </a:rPr>
              <a:t>▸  Diqqat: V kollagen (3 kun) III kollagendan (2,5 kun) kechroq chiqadi va kuchsizroq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38512"/>
                <a:gridCol w="2390454"/>
                <a:gridCol w="1159008"/>
              </a:tblGrid>
              <a:tr h="614476">
                <a:tc>
                  <a:txBody>
                    <a:bodyPr/>
                    <a:lstStyle/>
                    <a:p>
                      <a:r>
                        <a:rPr sz="1600" b="1">
                          <a:solidFill>
                            <a:srgbClr val="FFFFFF"/>
                          </a:solidFill>
                        </a:rPr>
                        <a:t>Kollagen</a:t>
                      </a:r>
                    </a:p>
                  </a:txBody>
                  <a:tcPr marL="73152" marR="73152" marT="36576" marB="36576">
                    <a:solidFill>
                      <a:srgbClr val="0B1F3A"/>
                    </a:solidFill>
                  </a:tcPr>
                </a:tc>
                <a:tc>
                  <a:txBody>
                    <a:bodyPr/>
                    <a:lstStyle/>
                    <a:p>
                      <a:r>
                        <a:rPr sz="1600" b="1">
                          <a:solidFill>
                            <a:srgbClr val="FFFFFF"/>
                          </a:solidFill>
                        </a:rPr>
                        <a:t>Belgisi</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r>
              <a:tr h="614476">
                <a:tc>
                  <a:txBody>
                    <a:bodyPr/>
                    <a:lstStyle/>
                    <a:p>
                      <a:r>
                        <a:rPr sz="1500" b="0">
                          <a:solidFill>
                            <a:srgbClr val="1F2937"/>
                          </a:solidFill>
                        </a:rPr>
                        <a:t>III tur</a:t>
                      </a:r>
                    </a:p>
                  </a:txBody>
                  <a:tcPr marL="73152" marR="73152" marT="36576" marB="36576">
                    <a:solidFill>
                      <a:srgbClr val="E8EEF6"/>
                    </a:solidFill>
                  </a:tcPr>
                </a:tc>
                <a:tc>
                  <a:txBody>
                    <a:bodyPr/>
                    <a:lstStyle/>
                    <a:p>
                      <a:r>
                        <a:rPr sz="1500" b="0">
                          <a:solidFill>
                            <a:srgbClr val="1F2937"/>
                          </a:solidFill>
                        </a:rPr>
                        <a:t>2,5 kungacha aniqlanmaydi</a:t>
                      </a:r>
                    </a:p>
                  </a:txBody>
                  <a:tcPr marL="73152" marR="73152" marT="36576" marB="36576">
                    <a:solidFill>
                      <a:srgbClr val="E8EEF6"/>
                    </a:solidFill>
                  </a:tcPr>
                </a:tc>
                <a:tc>
                  <a:txBody>
                    <a:bodyPr/>
                    <a:lstStyle/>
                    <a:p>
                      <a:r>
                        <a:rPr sz="1500" b="0">
                          <a:solidFill>
                            <a:srgbClr val="1F2937"/>
                          </a:solidFill>
                        </a:rPr>
                        <a:t>&gt; 2,5 kun</a:t>
                      </a:r>
                    </a:p>
                  </a:txBody>
                  <a:tcPr marL="73152" marR="73152" marT="36576" marB="36576">
                    <a:solidFill>
                      <a:srgbClr val="E8EEF6"/>
                    </a:solidFill>
                  </a:tcPr>
                </a:tc>
              </a:tr>
              <a:tr h="614476">
                <a:tc>
                  <a:txBody>
                    <a:bodyPr/>
                    <a:lstStyle/>
                    <a:p>
                      <a:r>
                        <a:rPr sz="1500" b="0">
                          <a:solidFill>
                            <a:srgbClr val="1F2937"/>
                          </a:solidFill>
                        </a:rPr>
                        <a:t>V tur</a:t>
                      </a:r>
                    </a:p>
                  </a:txBody>
                  <a:tcPr marL="73152" marR="73152" marT="36576" marB="36576">
                    <a:solidFill>
                      <a:srgbClr val="FFFFFF"/>
                    </a:solidFill>
                  </a:tcPr>
                </a:tc>
                <a:tc>
                  <a:txBody>
                    <a:bodyPr/>
                    <a:lstStyle/>
                    <a:p>
                      <a:r>
                        <a:rPr sz="1500" b="0">
                          <a:solidFill>
                            <a:srgbClr val="1F2937"/>
                          </a:solidFill>
                        </a:rPr>
                        <a:t>III turdan kuchsizroq</a:t>
                      </a:r>
                    </a:p>
                  </a:txBody>
                  <a:tcPr marL="73152" marR="73152" marT="36576" marB="36576">
                    <a:solidFill>
                      <a:srgbClr val="FFFFFF"/>
                    </a:solidFill>
                  </a:tcPr>
                </a:tc>
                <a:tc>
                  <a:txBody>
                    <a:bodyPr/>
                    <a:lstStyle/>
                    <a:p>
                      <a:r>
                        <a:rPr sz="1500" b="0">
                          <a:solidFill>
                            <a:srgbClr val="1F2937"/>
                          </a:solidFill>
                        </a:rPr>
                        <a:t>~3 kun</a:t>
                      </a:r>
                    </a:p>
                  </a:txBody>
                  <a:tcPr marL="73152" marR="73152" marT="36576" marB="36576">
                    <a:solidFill>
                      <a:srgbClr val="FFFFFF"/>
                    </a:solidFill>
                  </a:tcPr>
                </a:tc>
              </a:tr>
              <a:tr h="614476">
                <a:tc>
                  <a:txBody>
                    <a:bodyPr/>
                    <a:lstStyle/>
                    <a:p>
                      <a:r>
                        <a:rPr sz="1500" b="0">
                          <a:solidFill>
                            <a:srgbClr val="1F2937"/>
                          </a:solidFill>
                        </a:rPr>
                        <a:t>I va VI tur</a:t>
                      </a:r>
                    </a:p>
                  </a:txBody>
                  <a:tcPr marL="73152" marR="73152" marT="36576" marB="36576">
                    <a:solidFill>
                      <a:srgbClr val="E8EEF6"/>
                    </a:solidFill>
                  </a:tcPr>
                </a:tc>
                <a:tc>
                  <a:txBody>
                    <a:bodyPr/>
                    <a:lstStyle/>
                    <a:p>
                      <a:r>
                        <a:rPr sz="1500" b="0">
                          <a:solidFill>
                            <a:srgbClr val="1F2937"/>
                          </a:solidFill>
                        </a:rPr>
                        <a:t>Doimiy paydo bo‘ladi</a:t>
                      </a:r>
                    </a:p>
                  </a:txBody>
                  <a:tcPr marL="73152" marR="73152" marT="36576" marB="36576">
                    <a:solidFill>
                      <a:srgbClr val="E8EEF6"/>
                    </a:solidFill>
                  </a:tcPr>
                </a:tc>
                <a:tc>
                  <a:txBody>
                    <a:bodyPr/>
                    <a:lstStyle/>
                    <a:p>
                      <a:r>
                        <a:rPr sz="1500" b="0">
                          <a:solidFill>
                            <a:srgbClr val="1F2937"/>
                          </a:solidFill>
                        </a:rPr>
                        <a:t>6–7 kun</a:t>
                      </a:r>
                    </a:p>
                  </a:txBody>
                  <a:tcPr marL="73152" marR="73152" marT="36576" marB="36576">
                    <a:solidFill>
                      <a:srgbClr val="E8EEF6"/>
                    </a:solidFill>
                  </a:tcPr>
                </a:tc>
              </a:tr>
              <a:tr h="614476">
                <a:tc>
                  <a:txBody>
                    <a:bodyPr/>
                    <a:lstStyle/>
                    <a:p>
                      <a:r>
                        <a:rPr sz="1500" b="0">
                          <a:solidFill>
                            <a:srgbClr val="1F2937"/>
                          </a:solidFill>
                        </a:rPr>
                        <a:t>VII tur (bazal membrana)</a:t>
                      </a:r>
                    </a:p>
                  </a:txBody>
                  <a:tcPr marL="73152" marR="73152" marT="36576" marB="36576">
                    <a:solidFill>
                      <a:srgbClr val="FFFFFF"/>
                    </a:solidFill>
                  </a:tcPr>
                </a:tc>
                <a:tc>
                  <a:txBody>
                    <a:bodyPr/>
                    <a:lstStyle/>
                    <a:p>
                      <a:r>
                        <a:rPr sz="1500" b="0">
                          <a:solidFill>
                            <a:srgbClr val="1F2937"/>
                          </a:solidFill>
                        </a:rPr>
                        <a:t>Parchalar, so‘ng to‘liq tiklanish</a:t>
                      </a:r>
                    </a:p>
                  </a:txBody>
                  <a:tcPr marL="73152" marR="73152" marT="36576" marB="36576">
                    <a:solidFill>
                      <a:srgbClr val="FFFFFF"/>
                    </a:solidFill>
                  </a:tcPr>
                </a:tc>
                <a:tc>
                  <a:txBody>
                    <a:bodyPr/>
                    <a:lstStyle/>
                    <a:p>
                      <a:r>
                        <a:rPr sz="1500" b="0">
                          <a:solidFill>
                            <a:srgbClr val="1F2937"/>
                          </a:solidFill>
                        </a:rPr>
                        <a:t>4 va 8+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Kollagenlar paydo bo‘lish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 4.6-bo‘lim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kunlik yara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autopsiyada teri yarasida α-SMA (silliq mushak aktini) musbat miofibroblastlar topildi, kollagen I va VI aniqlanmadi, CD14 ifodasi yuqori.</a:t>
            </a:r>
          </a:p>
          <a:p>
            <a:pPr>
              <a:spcAft>
                <a:spcPts val="1200"/>
              </a:spcAft>
            </a:pPr>
            <a:r>
              <a:rPr sz="2200">
                <a:solidFill>
                  <a:srgbClr val="1F2937"/>
                </a:solidFill>
                <a:latin typeface="Calibri"/>
              </a:rPr>
              <a:t>▸  α-SMA-musbat miofibroblastlar ~5-kundan ko‘rinadi. Kollagen I va VI odatda 6–7-kunda paydo bo‘ladi; yo‘qligi yara 6–7 kundan yosh ekanini bildirishi mumkin.</a:t>
            </a:r>
          </a:p>
          <a:p>
            <a:pPr>
              <a:spcAft>
                <a:spcPts val="1200"/>
              </a:spcAft>
            </a:pPr>
            <a:r>
              <a:rPr sz="2200">
                <a:solidFill>
                  <a:srgbClr val="1F2937"/>
                </a:solidFill>
                <a:latin typeface="Calibri"/>
              </a:rPr>
              <a:t>▸  CD14 1–3 kunlik yaralarda eng yuqori bo‘lib, 3 kundan keyin keskin kamayadi. Boshqa ishda esa 2–5 kun oralig‘ida ortishi qayd etilgan.</a:t>
            </a:r>
          </a:p>
          <a:p>
            <a:pPr>
              <a:spcAft>
                <a:spcPts val="1200"/>
              </a:spcAft>
            </a:pPr>
            <a:r>
              <a:rPr sz="2200">
                <a:solidFill>
                  <a:srgbClr val="1F2937"/>
                </a:solidFill>
                <a:latin typeface="Calibri"/>
              </a:rPr>
              <a:t>▸  Savol: bu yara yoshi qanday oraliqda bo‘lishi mumkin va nega bitta markerga tayanib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 va yumshoq to‘qima: taqqoslash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Suyak kallusi bosqichlari kunlardan yillargacha cho‘ziladi; baholash radiografiya, gistologiya va mikro-KT (kompyuter tomografiya) bilan olib boriladi.</a:t>
            </a:r>
          </a:p>
          <a:p>
            <a:pPr>
              <a:spcAft>
                <a:spcPts val="1200"/>
              </a:spcAft>
            </a:pPr>
            <a:r>
              <a:rPr sz="2200">
                <a:solidFill>
                  <a:srgbClr val="1F2937"/>
                </a:solidFill>
                <a:latin typeface="Calibri"/>
              </a:rPr>
              <a:t>▸  Teri yarasi markerlari birinchi daqiqalardan taxminan 14 kungacha o‘zgaradi; asosiy usullar IHC (immunogistokimyo) va mRNK tahlili.</a:t>
            </a:r>
          </a:p>
          <a:p>
            <a:pPr>
              <a:spcAft>
                <a:spcPts val="1200"/>
              </a:spcAft>
            </a:pPr>
            <a:r>
              <a:rPr sz="2200">
                <a:solidFill>
                  <a:srgbClr val="1F2937"/>
                </a:solidFill>
                <a:latin typeface="Calibri"/>
              </a:rPr>
              <a:t>▸  Ikkala sohada ham usullar va markerlarni birga qo‘llash xatoni kamaytiradi, bitta ko‘rsatkich yetarli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Luca Tomassini va boshq., Dating Skin Lesions of Forensic Interest by Immunohistochemistry and Immunofluorescence Techniques: A Scoping Literature Review, betlar: PMID 38248045; Li N va boshq., Vitality and wound-age estimation in forensic pathology: review and future prospects, betlar: PMID 32490306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eslab qolish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Yosh bahosi hech qachon mutlaq emas. Suyakda gistologiya — oltin standart, mikro-KT esa istiqbolli: 3D va buzmaydigan usul sifatida gistologiyani to‘ldiradi.</a:t>
            </a:r>
          </a:p>
          <a:p>
            <a:pPr>
              <a:spcAft>
                <a:spcPts val="1200"/>
              </a:spcAft>
            </a:pPr>
            <a:r>
              <a:rPr sz="2200">
                <a:solidFill>
                  <a:srgbClr val="1F2937"/>
                </a:solidFill>
                <a:latin typeface="Calibri"/>
              </a:rPr>
              <a:t>▸  Yara yoshini baholashda ko‘p markerli yondashuv eng ishonchli hisoblanadi, ammo u murakkabroq va ko‘proq vaqt talab qiladi.</a:t>
            </a:r>
          </a:p>
          <a:p>
            <a:pPr>
              <a:spcAft>
                <a:spcPts val="1200"/>
              </a:spcAft>
            </a:pPr>
            <a:r>
              <a:rPr sz="2200">
                <a:solidFill>
                  <a:srgbClr val="1F2937"/>
                </a:solidFill>
                <a:latin typeface="Calibri"/>
              </a:rPr>
              <a:t>▸  Eslab qoling: vitallik ≠ yara yoshi. Vitallik jarohat tirikligida yetkazilganini bildiradi, yara yoshi esa undan keyin qancha vaqt o‘tganini ko‘rsatadi.</a:t>
            </a:r>
          </a:p>
          <a:p>
            <a:pPr>
              <a:spcAft>
                <a:spcPts val="1200"/>
              </a:spcAft>
            </a:pPr>
            <a:r>
              <a:rPr sz="2200">
                <a:solidFill>
                  <a:srgbClr val="1F2937"/>
                </a:solidFill>
                <a:latin typeface="Calibri"/>
              </a:rPr>
              <a:t>▸  Eslab qoling: SPNBF ≠ kallus. SPNBF (suyak usti pardasi ostida yangi suyak hosil bo‘lishi) va kallus hosil bo‘lishi alohida bosqichlardir.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Charlotte G. Lawrence va boshq., Comparing imaging modalities and healing criteria for the estimation of fracture age: a systematic review, betlar: PMID 41051499; Luca Tomassini va boshq., Dating Skin Lesions of Forensic Interest by Immunohistochemistry and Immunofluorescence Techniques: A Scoping Literature Review, betlar: PMID 38248045; Li N va boshq., Vitality and wound-age estimation in forensic pathology: review and future prospects, betlar: PMID 32490306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(o‘zimiz tuzgan): suyak sinishi rentgenida eng ko‘p uchraydigan bosqichlarni «K-P-R-B» deb yodlang: Kallus (hammasida bor), Periost reaksiyasi (13 ta usulda), Remodellanish (12 ta), Bridging, ya’ni ko‘prik hosil bo‘lishi (10 ta). Bu tartib 17 ta rentgen usuli solishtirilganda aniqlangan.</a:t>
            </a:r>
          </a:p>
          <a:p>
            <a:pPr>
              <a:spcAft>
                <a:spcPts val="1200"/>
              </a:spcAft>
            </a:pPr>
            <a:r>
              <a:rPr sz="1800">
                <a:solidFill>
                  <a:srgbClr val="1F2937"/>
                </a:solidFill>
                <a:latin typeface="Calibri"/>
              </a:rPr>
              <a:t>▸  Hodisa tahlili: oddiy tibbiy KT (kompyuter tomografiya) taxminan 600 μm ajrata oladi, mikro-KT esa 60 μm gacha, ya’ni taxminan 10 barobar aniqroq. Shuning uchun mikro-KT gistologiyaga yaqin 3D ko‘rinish beradi va namunani buzmaydi. Lekin u faqat o‘lgandan keyin qo‘llanadi.</a:t>
            </a:r>
          </a:p>
          <a:p>
            <a:pPr>
              <a:spcAft>
                <a:spcPts val="1200"/>
              </a:spcAft>
            </a:pPr>
            <a:r>
              <a:rPr sz="1800">
                <a:solidFill>
                  <a:srgbClr val="1F2937"/>
                </a:solidFill>
                <a:latin typeface="Calibri"/>
              </a:rPr>
              <a:t>▸  Qiziqarli fakt: Halliday guruhi rentgenda oltita bitish belgisidan faqat suyak usti pardasi ostidagi yangi suyak hosil bo‘lishini (SPNBF) kuzatuvchilar bir xil aniqlaganini topdi. Mualliflar natijani «ko‘ngilsiz va ajablanarli» deb atadi. Boshqa tadqiqotda esa belgi umumiyroq olinsa, kelishuv oshgan.</a:t>
            </a:r>
          </a:p>
          <a:p>
            <a:pPr>
              <a:spcAft>
                <a:spcPts val="1200"/>
              </a:spcAft>
            </a:pPr>
            <a:r>
              <a:rPr sz="1800">
                <a:solidFill>
                  <a:srgbClr val="1F2937"/>
                </a:solidFill>
                <a:latin typeface="Calibri"/>
              </a:rPr>
              <a:t>▸  Hodisa tahlili: jarohat yoshini aniqlashda mRNK o‘zgarishi oqsil va gistomorfologiyadan oldin boshlanadi. Jadvalga ko‘ra gistologik ko‘rsatkichlar odatda 24 soatdan keyin, mRNK va oqsil o‘zgarishlari esa 12 soatdan keyin seziladi. Muallif bu murakkab masalani ob-havo bashoratiga o‘xshatadi: bir nechta belgi birgalikda xatoni kamaytiradi.</a:t>
            </a:r>
          </a:p>
          <a:p>
            <a:pPr>
              <a:spcAft>
                <a:spcPts val="1200"/>
              </a:spcAft>
            </a:pPr>
            <a:r>
              <a:rPr sz="1800">
                <a:solidFill>
                  <a:srgbClr val="1F2937"/>
                </a:solidFill>
                <a:latin typeface="Calibri"/>
              </a:rPr>
              <a:t>▸  Diqqat: sezgirlik ≠ o‘ziga xoslik. FVIIIra teri jarohatida sezgirligi 100%, o‘ziga xosligi esa 47% bo‘lgan, ya’ni jarrohlik va nazorat jarohatlarida ham ortgan. Shuning uchun u hayotiylik uchun o‘ziga xos emas. CD15 va triptaza esa yangi tirik vaqtdagi jarohatni o‘limdan keyingisidan ajratishda foydaliroq deb baholangan.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kallusining tuzilishi va yumshoq to'qimalarning gistologik ko'rinishi asosida shikas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Charlotte G. Lawrence va boshq. Comparing imaging modalities and healing criteria for the estimation of fracture age: a systematic review, International Journal of Legal Medicine. 2025. PMID 41051499; DOI 10.1007/s00414-025-03589-w</a:t>
            </a:r>
          </a:p>
          <a:p>
            <a:pPr>
              <a:spcAft>
                <a:spcPts val="800"/>
              </a:spcAft>
            </a:pPr>
            <a:r>
              <a:rPr sz="2000">
                <a:solidFill>
                  <a:srgbClr val="1F2937"/>
                </a:solidFill>
                <a:latin typeface="Calibri"/>
              </a:rPr>
              <a:t>▸  Li N va boshq. Vitality and wound-age estimation in forensic pathology: review and future prospects, Forensic Sciences Research. 2018. PMID 32490306; DOI 10.1080/20961790.2018.1445441</a:t>
            </a:r>
          </a:p>
          <a:p>
            <a:pPr>
              <a:spcAft>
                <a:spcPts val="800"/>
              </a:spcAft>
            </a:pPr>
            <a:r>
              <a:rPr sz="2000">
                <a:solidFill>
                  <a:srgbClr val="1F2937"/>
                </a:solidFill>
                <a:latin typeface="Calibri"/>
              </a:rPr>
              <a:t>▸  Luca Tomassini va boshq. Dating Skin Lesions of Forensic Interest by Immunohistochemistry and Immunofluorescence Techniques: A Scoping Literature Review, Diagnostics. 2024. PMID 38248045; DOI 10.3390/diagnostics14020168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