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kislorodning deyarli hammasi nafas a’zolari orqali olinadi? 2) Jismoniy zo‘riqishda havo ehtiyoji nega keskin ortadi? Doskada: kislorod kirish yo‘llarini (nafas a’zolari – 98,5–99,0%, teri/oshqozon/ichak – qolgani) sxema qilib chizdiring. Tipik xato: talabalar tinch holatdagi 6–8 l/daq ko‘rsatkichini zo‘riqishdagi ehtiyoj bilan adashtiradi.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bosh miya kislorod tanqisligiga mushakdan sezgirroq? 2) Gipoksiya bilan asfiksiya farqi nimada? Doskada: ikki ustunli taqqoslash – gipoksiya (faqat O2 kam) va asfiksiya (O2 kam + CO2 ko‘p). Tipik xato: ikkala atamani sinonim deb yozish. Tezkor savol: markaziy nerv tizimida qaytmas o‘zgarishlar necha daqiqada boshlanadi?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Tog‘ kasalligi qaysi bosim sharoitiga to‘g‘ri keladi? 2) Giperkapnik gipoksiya qanday muhitda rivojlanadi? Doskada: ekzogen gipoksiyaning uch turini daraxt sxemasida chizdiring, gipoksik turga gipo-, normo-, giperbarik shoxchalarini qo‘shing. Tipik xato: giperoksik gipoksiyada kislorod kam deb o‘ylash – aslida u ko‘p, muammo uning qonga o‘tishida. Jadval 5.1 manbadagi matn asosida qayta tuzilgan.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Bo‘yin qisilganda qaysi gipoksiya turi rivojlanadi va nega? 2) Zaharlanishda gemik va sitotoksik turlar qanday farqlanadi? Doskada chizish: to‘rt qatorli jadvalni (tur, sabab, misol) talabalar bilan birga to‘ldiring. Tipik xato: gemik gipoksiyani (gemoglobin muammosi) sitotoksik gipoksiya (to‘qima nafasi muammosi)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aynan yashinsimon va o‘tkir turlar ekspertiza uchun muhim? 2) Qaysi tashqi ta’sirlar tez rivojlanadigan gipoksiya keltirib chiqaradi? Doskada chizish: soniyadan oygacha vaqt chizig‘ini chizib, to‘rt turni joylashtiring. Tipik xato: davomiylik birliklarini (soniya, daqiqa, soat, kun)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Savollarni talabalarga yopiq kitob bilan bering, javobni ovoz chiqarib asoslashni so‘rang. Muhokama: 1) Giperkapnik gipoksiya ekzogen turga kirishini qanday izohlaysiz? 2) Zaharlanishda ham gemik, ham sitotoksik gipoksiya bo‘lishi mumkinmi? Doskada chizish: ikki ustun, ’Havo tarkibi’ va ’Qon/to‘qima’, har biriga mos turni yozing. Tipik xato: giperkapnik gipoksiyani gemik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Nima uchun «puls yo‘q» degan ma’noli atama kislorod tanqisligiga nisbatan qo‘llanilgan? 2) Gipoksiya va asfiksiya farqi nimada? Doskada: «Gipoksiya + giperkapniya = asfiksiya; + mexanik omil = mexanik asfiksiya» zanjirini chizdiring. Tipik xato: talabalar gipoksiya va asfiksiyani bir xil tushuncha deb hisoblaydi, giperkapniyani unutadi.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7-8 daq. Muhokama: 1) Strangulyasion va kompression asfiksiyaning farqi nimada? 2) Cho‘kish nega yopilish guruhiga kiradi? Doskada: jadvalni daraxt ko‘rinishida (3 shox, ularning turchalari) chizdiring. Tipik xato: cho‘kishni qisilish guruhiga yoki cheklangan muhit turiga kiritish.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bunday o‘lim baxtsiz hodisa deb baholanadi? 2) Hodisa joyini sinchiklab ko‘zdan kechirish ekspert uchun nima uchun muhim? Doskada: hodisa joyida topiladigan ashyolar ro‘yxatini yozdiring. Tezkor savol: autoasfiksiofiliyaning xos belgisi nima? (asfiktik jarayonni o‘zi boshqarishi). Tipik xato: bunday holatni o‘z joniga qasd qilish yoki qotillik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Qaysi dalillar o‘z-o‘zini o‘ldirish va qotillikni inkor qilishga yordam beradi? 2) Hodisa joyidagi ashyolarni nega protokolga aniq yozish kerak? Doskada chizing: «hodisa joyi belgilari – murda belgilari – xulosa» uchta ustunli sxema. Tipik xato: seksual asfiksiyani avtomatik ravishda o‘z joniga qasd deb yozish, vaholanki manbada u baxtsiz hodisa sifatida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Preasfiktik davrda nega asfiksiya belgilari hali rivojlanmaydi? 2) Bosqichlar vaqti nega shartli hisoblanadi? Doskada chizing: davrlar zanjiri (preasfiktik → 5 bosqich), har biriga vaqt yozing. Tipik xato: preasfiktik davrni asfiktik davrning bosqichi deb hisoblash; ular alohida davrlardir.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bosimlar ikki bosqichda qarama-qarshi o‘zgaradi? 2) Talvasadagi jarohatni o‘zga shaxs jarohatidan qanday farqlash kerak? Doskada chizing: ikki ustunli jadval (inspirator – ekspirator) va strelkalar ↑↓. Tipik xato: pulsni ikkala bosqichda bir xil deb yozish; inspiratorda sekinlashadi, ekspiratorda tezlashadi.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yurak nafas to‘xtagandan keyin ham bir necha daqiqa uradi? 2) Reflektor to‘xtashda murdada asfiksiya belgilari nega ko‘rinmaydi? Doskada: terminal bosqichlar zanjirini vaqt ko‘rsatkichlari bilan chizdiring. Tipik xato: bosqich davomiyligini qat’iy me’yor deb o‘ylash; kitobda ular shartli va taxminiy deyilgan.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Talabalarga 1 daqiqa o‘ylash vaqti bering, so‘ng tartibni ovoz chiqarib aytkizing. Muhokama: qaysi bosqichda hush yo‘qoladi va qaysida kuchli talvasa bo‘ladi? Doskada: 5 bosqichni ketma-ket yozdiring. Tipik xato: inspirator va ekspirator hansirashni almashtirish, terminal nafasni hansirash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komadan chiqish sopor orqali boradi? 2) Qoldiq oqibatlar qaysi hollarda 1–2 haftada izsiz yo‘qoladi? Doskada: 4 davr jadvalini o‘zlari chizsin. Tipik xato: karaxtlik davrida ham talvasa bo‘ladi deb o‘ylash; kitobda talvasa asfiktik koma davriga xos.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o‘pka shishi dastlabki soatlarda noxush belgi hisoblanadi? 2) Qaysi a’zolarda gipoksiya asoratlari uchraydi? Doskada: o‘lim sabablarini vaqt o‘qi (soat – sutka – keyingi muddat) bo‘yicha chizdiring. Tipik xato: talabalar asfiktik koma va gipostatik pnevmoniya muddatlarini almashtirib yuboradi.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Qutqarilgan shaxsda qaysi davr birinchi kuzatiladi? 2) To‘laqonli tibbiy hujjat ekspert ishiga qanday yordam beradi? Doskada: to‘rt davrni ketma-ket strelkalar bilan chizdiring. Tipik xato: postasfiktik holatni asfiksiyadan o‘lim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murda chalqancha yotganda sianoz yo‘qolishi mumkin? 2) Qaysi belgi eng noturg‘un? Doskada: jadvalni daftarga ko‘chirib, har belgi uchun sababni yozdiring. Tipik xato: midriazni asfiksiyaning doimiy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bu belgilarning hech biri yolg‘iz o‘zi mexanik asfiksiya isboti bo‘lmaydi? Patognomik so‘zi nimani anglatadi (shu holatga xos belgi)? Doskada: jadvaldagi to‘rt belgini ‘belgi → sababi’ ko‘rinishida chizdiring. Tipik xato: Tarde dog‘lari va Sabinskiy belgisini aralashtirish (biri qon quyilish, ikkinchisi kamqonlik va qisqargan taloq).</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murda yuzi bilan pastga yotganda asfiksiyasiz ham ko‘kimtirlik paydo bo‘ladimi? Majmua va patognomik belgilar nima uchun muhim? Doskada: ‘bitta belgi → xulosa yo‘q; belgilar majmuasi + patognomik belgilar → asfiksiya’ sxemasini chizdiring. Tipik xato: talaba sianozni asfiksiyaning yagona va aniq belgisi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osilish asosan qanday hodisa sifatida uchraydi (aksariyat hollarda o‘z-o‘zini o‘ldirish usuli)? Tugun nima uchun kriminalistik ahamiyatga ega? Doskada: bo‘yin va sirtmoq tugunining tipik hamda atipik joylashuvini chizdiring. Misollar: yumshoq — sochiq, sharf; yarim qattiq — arqon, kamar; qattiq — sim, zanjir. Tipik xato: tipik osilish (tana erkin osilgan) bilan tugunning tipik joylashuvini (orqada)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osilishda havo yo‘li kamdan-kam butunlay yopiladi? 2) Yurak-qon tomir kasalligi bo‘lganda reflektor omil nega xavfliroq? Doskada: bo‘yin kesimi sxemasini chizib, havo yo‘li, vena va nerv tutamlarini belgilang. Tipik xato: osilishda o‘limni faqat havo yo‘lining yopilishi bilan izohlash. Qizilo‘ngach atipik tugunda to‘liq berkilmaydi, adashgan nerv ta’sirlanib qusish va aspiratsiya bo‘lishi mumkin (113-114-betlar).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Egat xususiyatlari sirtmoqni aniqlashda qanday yordam beradi? 2) Sirtmoqni olishda tugunni nega buzmaslik kerak? Doskada: bo‘yinda tipik va atipik egat joylashuvini ikki rasmda chizdiring. Tipik xato: yumshoq sirtmoqda egat yo‘q, demak osilish bo‘lmagan deb xulosa qilish. Aslida ichki tekshiruvda Kasper belgisi topiladi. Egat xususiyatlari tasnifi jadval 5.5 da (114-bet), sirtmoq tugunini saqlash haqida 112-betda.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Cho‘zilish belgilari nega sirtmoq bilan bo‘g‘ishda uchramaydi? 2) Hayotiylikni aniqlash nega bahsli holatlarda muhim? Doskada: belgi nomi va uning joyini bog‘lovchi mosliklar jadvalini tuzdiring. Tipik xato: Bruardel (halqum orti) va Amyuss (uyqu arteriyasi intimasi) belgilarini aralashtirish. Valxer belgisi to‘sh-o‘mrov-so‘rg‘ichsimon mushak pastki uchida. Bu jarohatlar asosan semiz odamlarda, tipik siltab osilishda uchraydi (116-bet). Til osti suyagi va qalqonsimon tog‘ay shikasti osilish uchun xos emas.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belgi nomini tavsifiga moslaydi. Muhokama: nega mis sim belgisi yumshoq sirtmoqda muhim? Cho‘zilish belgilari nima uchun sirtmoq bilan bo‘g‘ishda bo‘lmaydi? Doskada: chap ustunga belgi nomlarini, o‘ng ustunga ularning joyini yozib, strelka bilan bog‘lang. Tipik xato: Amyuss va Martin belgilarini, Valxer va Simon belgilarini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old tomondan ikki qo‘l bilan bo‘g‘ishda barmoq izlari bo‘yinda qanday joylashadi? Pozitsion asfiksiyani qaysi ma’lumotlar bilan tashxislaymiz? Doskada: jadvalni chizib, o‘tmas jism (tayoq, stul suyanchig‘i) uchun to‘rtinchi ustunni og‘zaki to‘ldiring: iz ta’sir yuzasi proyeksiyasida bo‘ladi. Tipik xato: pozitsion asfiksiyadagi burmani haqiqiy strangulyatsion egat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Talabalar guruhlarda xulosa chiqaradi. Muhokama: qaysi belgi eng ishonchli? Hodisa joyi ma’lumotlari xulosaga qanday ta’sir qiladi? Doskada: osilish va sirtmoq bilan bo‘g‘ish egatining yo‘nalishi va joylashuvini ikki sxemada chizing. Tipik xato: faqat bitta belgiga tayanib xulosa qilish; tashxisda belgilar majmuasi hisobga olinadi.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qarshiliksiz holatda nafas teshiklarining yopilishini murdada aniqlash qiyin? 2) Nafas yo‘lidagi qusuq massani reanimatsiya natijasidan qanday farqlaymiz (kichik bronx, alveolalarda bormi)? Doskada chizing: nafas yo‘llarining yopilish turlari (yot jism, sochiluvchan, suyuq) sxemasi. Tipik xato: qusuq topilgan har bir murdani obturatsion asfiksiya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asfiktik cho‘kishda oshqozonda suv ko‘proq bo‘ladi? 2) Sho‘r suvda qon nima uchun quyuqlashadi? Doskada chizing: chin cho‘kishda suvning alveoladan qonga o‘tish sxemasi. Tipik xato: Tarde dog‘larini suv bilan gemolizga uchragan yirik dog‘lar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suv namunasini ham olish shart? 2) O‘pka to‘qimasida diatom topilishi nega ishonchli emas? Doskada chizing: diatomning o‘pkadan qonga, katta qon aylanish doirasi orqali ichki a’zolarga tarqalish yo‘li. Tipik xato: faqat o‘pkada diatom topilganini hayotiy cho‘kish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Suvdagi to‘satdan o‘lim nega cho‘kishning reflektor (sinkopal) turi deb emas, to‘satdan o‘lim deb baholanadi? 2) Suvdagi o‘lim murdasida ichki a’zolarda nimani qidirish kerak? Manbaga ko‘ra yurakda to‘satdan o‘limga moyillik beruvchi o‘zgarishlar topiladi; issiq urish, o‘ta charchash, to‘la oshqozon va mastlik moyillik omillari (124-bet). Doskada: muddat bo‘yicha teri o‘zgarishlari vaqt chizig‘ini chizing. Qo‘shimcha: kiyim, qo‘lqop, poyafzal o‘zgarishlarni sekinlashtiradi; kattalarda epidermis qalin va teri bujmaygan bo‘lgani uchun matseratsiyaga moyilroq, chaqaloqlarda mo‘msimon qoplama himoya qiladi (128–129-betlar). Tipik xato: murdaning suvda bo‘lganlik belgilarini cho‘kish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3–4 kishilik guruhda ishlaydi. Muhokama: 1) Bu belgilar chin cho‘kishga mosmi? Krushevskiy belgisi (ko‘pik), Kasper belgisi (chap yurak qoni ochroq), Fegerlund belgisi (oshqozonda suv) bo‘yicha asoslang. 2) Jarohatlar hayotiy yoki o‘limdan keyin yetkazilganmi? Suvga tushishdan oldin, tananing havza tubiga urilishi, baliq va suv hayvonlari, yurakning bilvosita massaji va sun’iy nafas oldirish manbalarini sanang (126-bet). Doskada: belgilar jadvalini ‘belgi – nimani ko‘rsatadi’ ustunlari bilan chizing. Tipik xato: o‘pka to‘qimasida diatom topilishini hayotiylik dalili deb hisoblash; manbaga ko‘ra u o‘limdan keyin suvga tushganda ham bo‘lishi mumkin (125-bet).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Kompression asfiksiya qanday hodisalarda uchraydi? Yer qimirlashi, ko‘chki, bino qulashi, olomon qisilishi (129-bet). 2) Nega bolalar uchun CO₂ chegarasi pastroq? Doskada: ko‘krak/qorin qisilishi va ekximotik niqob hosil bo‘lish zanjirini chizing: yuqori kovak vena tizimidan qon o‘tishining buzilishi, yuz shishishi, qon quyilishlar. Qo‘shimcha: autoasfiksiofiliyada ham boshga plastik qopcha kiyish usuli bor va u baxtsiz hodisaga kiradi; yopiq muhit asfiksiyasida murdada faqat umumasfiktik va tez o‘lim belgilari bo‘ladi (130-bet). Tipik xato: kompression asfiksiyada mexanik jarohatlar sababini e’tiborsiz qoldirish; o‘lim sabablari raqobatida differensial diagnostika kerak (129–130-betlar).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Nega bitta belgi asfiksiya tashxisi uchun yetarli emas? 2) Suvdan chiqarilgan murdada cho‘kishning hayotiyligi qaysi usullar bilan aniqlanadi? Doskada: mexanik asfiksiya turlari daraxtini (qisilish – yopilish – cheklangan muhit) chizdiring. Tipik xato: gipoksiya va asfiksiyani bir xil deb o‘ylash yoki o‘pkadagi diatomni cho‘kish hayotiyligining isboti deb hisoblash.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№4. Ma’ruza: Kislorod tanqisligi natijasida organizmning jarohatlanishi va o‘lim.</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kislorod va organizm ehtiyoji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 uchun muhitda kislorod bo‘lishi va organizm uni o‘zlashtirishi asosiy shartlardan biridir.</a:t>
            </a:r>
          </a:p>
          <a:p>
            <a:pPr>
              <a:spcAft>
                <a:spcPts val="1200"/>
              </a:spcAft>
            </a:pPr>
            <a:r>
              <a:rPr sz="2200">
                <a:solidFill>
                  <a:srgbClr val="1F2937"/>
                </a:solidFill>
                <a:latin typeface="Calibri"/>
              </a:rPr>
              <a:t>▸  Kislorodning 98,5–99,0% nafas a’zolari orqali olinadi. Qolgan qismi teri, oshqozon va ichaklar orqali o‘tadi.</a:t>
            </a:r>
          </a:p>
          <a:p>
            <a:pPr>
              <a:spcAft>
                <a:spcPts val="1200"/>
              </a:spcAft>
            </a:pPr>
            <a:r>
              <a:rPr sz="2200">
                <a:solidFill>
                  <a:srgbClr val="1F2937"/>
                </a:solidFill>
                <a:latin typeface="Calibri"/>
              </a:rPr>
              <a:t>▸  Tinch holatda organizmga bir daqiqada 6–8 l havo kerak. Jismoniy zo‘riqishda bu ehtiyoj ba’zan 10–20 barobargacha ortadi.</a:t>
            </a:r>
          </a:p>
          <a:p>
            <a:pPr>
              <a:spcAft>
                <a:spcPts val="1200"/>
              </a:spcAft>
            </a:pPr>
            <a:r>
              <a:rPr sz="2200">
                <a:solidFill>
                  <a:srgbClr val="1F2937"/>
                </a:solidFill>
                <a:latin typeface="Calibri"/>
              </a:rPr>
              <a:t>▸  Ma’ruza rejasi: gipoksiya va asfiksiya, mexanik asfiksiya turlari, kechishi, postasfiktik holat, umumiy belgilar, cho‘kish.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 103-130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 tushunchasi va to‘qimalar sezgirligi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Gipoksiya – kislorod tanqisligi. U to‘qimalarda modda almashinuvini buzadi va turli oqibatlarga olib keladi.</a:t>
            </a:r>
          </a:p>
          <a:p>
            <a:pPr>
              <a:spcAft>
                <a:spcPts val="1200"/>
              </a:spcAft>
            </a:pPr>
            <a:r>
              <a:rPr sz="2200">
                <a:solidFill>
                  <a:srgbClr val="1F2937"/>
                </a:solidFill>
                <a:latin typeface="Calibri"/>
              </a:rPr>
              <a:t>▸  Turli to‘qimalarning kislorod yetishmovchiligiga sezgirligi har xil. Bu ularning filogenetik yoshi bilan bog‘liq.</a:t>
            </a:r>
          </a:p>
          <a:p>
            <a:pPr>
              <a:spcAft>
                <a:spcPts val="1200"/>
              </a:spcAft>
            </a:pPr>
            <a:r>
              <a:rPr sz="2200">
                <a:solidFill>
                  <a:srgbClr val="1F2937"/>
                </a:solidFill>
                <a:latin typeface="Calibri"/>
              </a:rPr>
              <a:t>▸  Markaziy nerv tizimida to‘qima nafasi to‘xtasa, 5–10 daqiqada tiklab bo‘lmaydigan o‘zgarishlar yuz beradi. Mushak va biriktiruvchi to‘qimada bu vaqt ancha uzoq.</a:t>
            </a:r>
          </a:p>
          <a:p>
            <a:pPr>
              <a:spcAft>
                <a:spcPts val="1200"/>
              </a:spcAft>
            </a:pPr>
            <a:r>
              <a:rPr sz="2200">
                <a:solidFill>
                  <a:srgbClr val="1F2937"/>
                </a:solidFill>
                <a:latin typeface="Calibri"/>
              </a:rPr>
              <a:t>▸  Diqqat: gipoksiya ≠ asfiksiya. Asfiksiyada gipoksiya giperkapniya (karbonat angidrid ko‘payishi) bilan birga rivojlanadi.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 tasnifi: ekzogen va endogen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Gipoksik holatlar ekzogen va endogen bo‘ladi. Ekzogen gipoksiyaning uchta turi bor (jadval 5.1).</a:t>
            </a:r>
          </a:p>
          <a:p>
            <a:pPr>
              <a:spcAft>
                <a:spcPts val="800"/>
              </a:spcAft>
            </a:pPr>
            <a:r>
              <a:rPr sz="1800">
                <a:solidFill>
                  <a:srgbClr val="1F2937"/>
                </a:solidFill>
                <a:latin typeface="Calibri"/>
              </a:rPr>
              <a:t>▸  Odatda havoda kislorod 20,93% bo‘ladi. Gipoksik turda nafas olinadigan havoda u kamroq.</a:t>
            </a:r>
          </a:p>
          <a:p>
            <a:pPr>
              <a:spcAft>
                <a:spcPts val="800"/>
              </a:spcAft>
            </a:pPr>
            <a:r>
              <a:rPr sz="1800">
                <a:solidFill>
                  <a:srgbClr val="1F2937"/>
                </a:solidFill>
                <a:latin typeface="Calibri"/>
              </a:rPr>
              <a:t>▸  Diqqat: giperoksik turda kislorod ko‘p, lekin uning qonga o‘tishi buziladi.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573530"/>
                <a:gridCol w="2164080"/>
                <a:gridCol w="1550365"/>
              </a:tblGrid>
              <a:tr h="76809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Havo tarkibi</a:t>
                      </a:r>
                    </a:p>
                  </a:txBody>
                  <a:tcPr marL="73152" marR="73152" marT="36576" marB="36576">
                    <a:solidFill>
                      <a:srgbClr val="0B1F3A"/>
                    </a:solidFill>
                  </a:tcPr>
                </a:tc>
                <a:tc>
                  <a:txBody>
                    <a:bodyPr/>
                    <a:lstStyle/>
                    <a:p>
                      <a:r>
                        <a:rPr sz="1600" b="1">
                          <a:solidFill>
                            <a:srgbClr val="FFFFFF"/>
                          </a:solidFill>
                        </a:rPr>
                        <a:t>Oqibat/sharoit</a:t>
                      </a:r>
                    </a:p>
                  </a:txBody>
                  <a:tcPr marL="73152" marR="73152" marT="36576" marB="36576">
                    <a:solidFill>
                      <a:srgbClr val="0B1F3A"/>
                    </a:solidFill>
                  </a:tcPr>
                </a:tc>
              </a:tr>
              <a:tr h="768096">
                <a:tc>
                  <a:txBody>
                    <a:bodyPr/>
                    <a:lstStyle/>
                    <a:p>
                      <a:r>
                        <a:rPr sz="1500" b="0">
                          <a:solidFill>
                            <a:srgbClr val="1F2937"/>
                          </a:solidFill>
                        </a:rPr>
                        <a:t>Gipoksik</a:t>
                      </a:r>
                    </a:p>
                  </a:txBody>
                  <a:tcPr marL="73152" marR="73152" marT="36576" marB="36576">
                    <a:solidFill>
                      <a:srgbClr val="E8EEF6"/>
                    </a:solidFill>
                  </a:tcPr>
                </a:tc>
                <a:tc>
                  <a:txBody>
                    <a:bodyPr/>
                    <a:lstStyle/>
                    <a:p>
                      <a:r>
                        <a:rPr sz="1500" b="0">
                          <a:solidFill>
                            <a:srgbClr val="1F2937"/>
                          </a:solidFill>
                        </a:rPr>
                        <a:t>Kislorod miqdori ozroq</a:t>
                      </a:r>
                    </a:p>
                  </a:txBody>
                  <a:tcPr marL="73152" marR="73152" marT="36576" marB="36576">
                    <a:solidFill>
                      <a:srgbClr val="E8EEF6"/>
                    </a:solidFill>
                  </a:tcPr>
                </a:tc>
                <a:tc>
                  <a:txBody>
                    <a:bodyPr/>
                    <a:lstStyle/>
                    <a:p>
                      <a:r>
                        <a:rPr sz="1500" b="0">
                          <a:solidFill>
                            <a:srgbClr val="1F2937"/>
                          </a:solidFill>
                        </a:rPr>
                        <a:t>Gipobarik, normobarik, giperbarik</a:t>
                      </a:r>
                    </a:p>
                  </a:txBody>
                  <a:tcPr marL="73152" marR="73152" marT="36576" marB="36576">
                    <a:solidFill>
                      <a:srgbClr val="E8EEF6"/>
                    </a:solidFill>
                  </a:tcPr>
                </a:tc>
              </a:tr>
              <a:tr h="768096">
                <a:tc>
                  <a:txBody>
                    <a:bodyPr/>
                    <a:lstStyle/>
                    <a:p>
                      <a:r>
                        <a:rPr sz="1500" b="0">
                          <a:solidFill>
                            <a:srgbClr val="1F2937"/>
                          </a:solidFill>
                        </a:rPr>
                        <a:t>Giperoksik</a:t>
                      </a:r>
                    </a:p>
                  </a:txBody>
                  <a:tcPr marL="73152" marR="73152" marT="36576" marB="36576">
                    <a:solidFill>
                      <a:srgbClr val="FFFFFF"/>
                    </a:solidFill>
                  </a:tcPr>
                </a:tc>
                <a:tc>
                  <a:txBody>
                    <a:bodyPr/>
                    <a:lstStyle/>
                    <a:p>
                      <a:r>
                        <a:rPr sz="1500" b="0">
                          <a:solidFill>
                            <a:srgbClr val="1F2937"/>
                          </a:solidFill>
                        </a:rPr>
                        <a:t>Kislorod konsentratsiyasi katta</a:t>
                      </a:r>
                    </a:p>
                  </a:txBody>
                  <a:tcPr marL="73152" marR="73152" marT="36576" marB="36576">
                    <a:solidFill>
                      <a:srgbClr val="FFFFFF"/>
                    </a:solidFill>
                  </a:tcPr>
                </a:tc>
                <a:tc>
                  <a:txBody>
                    <a:bodyPr/>
                    <a:lstStyle/>
                    <a:p>
                      <a:r>
                        <a:rPr sz="1500" b="0">
                          <a:solidFill>
                            <a:srgbClr val="1F2937"/>
                          </a:solidFill>
                        </a:rPr>
                        <a:t>O‘pkada o‘zgarish</a:t>
                      </a:r>
                    </a:p>
                  </a:txBody>
                  <a:tcPr marL="73152" marR="73152" marT="36576" marB="36576">
                    <a:solidFill>
                      <a:srgbClr val="FFFFFF"/>
                    </a:solidFill>
                  </a:tcPr>
                </a:tc>
              </a:tr>
              <a:tr h="768096">
                <a:tc>
                  <a:txBody>
                    <a:bodyPr/>
                    <a:lstStyle/>
                    <a:p>
                      <a:r>
                        <a:rPr sz="1500" b="0">
                          <a:solidFill>
                            <a:srgbClr val="1F2937"/>
                          </a:solidFill>
                        </a:rPr>
                        <a:t>Giperkapnik</a:t>
                      </a:r>
                    </a:p>
                  </a:txBody>
                  <a:tcPr marL="73152" marR="73152" marT="36576" marB="36576">
                    <a:solidFill>
                      <a:srgbClr val="E8EEF6"/>
                    </a:solidFill>
                  </a:tcPr>
                </a:tc>
                <a:tc>
                  <a:txBody>
                    <a:bodyPr/>
                    <a:lstStyle/>
                    <a:p>
                      <a:r>
                        <a:rPr sz="1500" b="0">
                          <a:solidFill>
                            <a:srgbClr val="1F2937"/>
                          </a:solidFill>
                        </a:rPr>
                        <a:t>Kislorod kam, CO2 ko‘p</a:t>
                      </a:r>
                    </a:p>
                  </a:txBody>
                  <a:tcPr marL="73152" marR="73152" marT="36576" marB="36576">
                    <a:solidFill>
                      <a:srgbClr val="E8EEF6"/>
                    </a:solidFill>
                  </a:tcPr>
                </a:tc>
                <a:tc>
                  <a:txBody>
                    <a:bodyPr/>
                    <a:lstStyle/>
                    <a:p>
                      <a:r>
                        <a:rPr sz="1500" b="0">
                          <a:solidFill>
                            <a:srgbClr val="1F2937"/>
                          </a:solidFill>
                        </a:rPr>
                        <a:t>Cheklangan muhitda nafas olish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Ekzogen gipoksiya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Endogen gipoksiya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Endogen gipoksiya besh turga bo‘linadi: respirator, sirkulyator, gemik, sitotoksik va fiziologik.</a:t>
            </a:r>
          </a:p>
          <a:p>
            <a:pPr>
              <a:spcAft>
                <a:spcPts val="800"/>
              </a:spcAft>
            </a:pPr>
            <a:r>
              <a:rPr sz="1800">
                <a:solidFill>
                  <a:srgbClr val="1F2937"/>
                </a:solidFill>
                <a:latin typeface="Calibri"/>
              </a:rPr>
              <a:t>▸  Respirator gipoksiyaning bilvosita shakli shok va sepsis kabi holatlarda ham kuzatiladi.</a:t>
            </a:r>
          </a:p>
          <a:p>
            <a:pPr>
              <a:spcAft>
                <a:spcPts val="800"/>
              </a:spcAft>
            </a:pPr>
            <a:r>
              <a:rPr sz="1800">
                <a:solidFill>
                  <a:srgbClr val="1F2937"/>
                </a:solidFill>
                <a:latin typeface="Calibri"/>
              </a:rPr>
              <a:t>▸  Fiziologik gipoksiya vaqtincha bo‘ladi: jismoniy zo‘riqishda yoki birdaniga ko‘p ovqat yeyilganda.</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651895"/>
                <a:gridCol w="2062549"/>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Sababi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614476">
                <a:tc>
                  <a:txBody>
                    <a:bodyPr/>
                    <a:lstStyle/>
                    <a:p>
                      <a:r>
                        <a:rPr sz="1500" b="0">
                          <a:solidFill>
                            <a:srgbClr val="1F2937"/>
                          </a:solidFill>
                        </a:rPr>
                        <a:t>Respirator</a:t>
                      </a:r>
                    </a:p>
                  </a:txBody>
                  <a:tcPr marL="73152" marR="73152" marT="36576" marB="36576">
                    <a:solidFill>
                      <a:srgbClr val="E8EEF6"/>
                    </a:solidFill>
                  </a:tcPr>
                </a:tc>
                <a:tc>
                  <a:txBody>
                    <a:bodyPr/>
                    <a:lstStyle/>
                    <a:p>
                      <a:r>
                        <a:rPr sz="1500" b="0">
                          <a:solidFill>
                            <a:srgbClr val="1F2937"/>
                          </a:solidFill>
                        </a:rPr>
                        <a:t>O‘pka faoliyati buzilishi</a:t>
                      </a:r>
                    </a:p>
                  </a:txBody>
                  <a:tcPr marL="73152" marR="73152" marT="36576" marB="36576">
                    <a:solidFill>
                      <a:srgbClr val="E8EEF6"/>
                    </a:solidFill>
                  </a:tcPr>
                </a:tc>
                <a:tc>
                  <a:txBody>
                    <a:bodyPr/>
                    <a:lstStyle/>
                    <a:p>
                      <a:r>
                        <a:rPr sz="1500" b="0">
                          <a:solidFill>
                            <a:srgbClr val="1F2937"/>
                          </a:solidFill>
                        </a:rPr>
                        <a:t>Bo‘yin qisilishi, nafas yo‘llari yopilishi</a:t>
                      </a:r>
                    </a:p>
                  </a:txBody>
                  <a:tcPr marL="73152" marR="73152" marT="36576" marB="36576">
                    <a:solidFill>
                      <a:srgbClr val="E8EEF6"/>
                    </a:solidFill>
                  </a:tcPr>
                </a:tc>
              </a:tr>
              <a:tr h="614476">
                <a:tc>
                  <a:txBody>
                    <a:bodyPr/>
                    <a:lstStyle/>
                    <a:p>
                      <a:r>
                        <a:rPr sz="1500" b="0">
                          <a:solidFill>
                            <a:srgbClr val="1F2937"/>
                          </a:solidFill>
                        </a:rPr>
                        <a:t>Sirkulyator</a:t>
                      </a:r>
                    </a:p>
                  </a:txBody>
                  <a:tcPr marL="73152" marR="73152" marT="36576" marB="36576">
                    <a:solidFill>
                      <a:srgbClr val="FFFFFF"/>
                    </a:solidFill>
                  </a:tcPr>
                </a:tc>
                <a:tc>
                  <a:txBody>
                    <a:bodyPr/>
                    <a:lstStyle/>
                    <a:p>
                      <a:r>
                        <a:rPr sz="1500" b="0">
                          <a:solidFill>
                            <a:srgbClr val="1F2937"/>
                          </a:solidFill>
                        </a:rPr>
                        <a:t>Qon aylanishi buzilishi</a:t>
                      </a:r>
                    </a:p>
                  </a:txBody>
                  <a:tcPr marL="73152" marR="73152" marT="36576" marB="36576">
                    <a:solidFill>
                      <a:srgbClr val="FFFFFF"/>
                    </a:solidFill>
                  </a:tcPr>
                </a:tc>
                <a:tc>
                  <a:txBody>
                    <a:bodyPr/>
                    <a:lstStyle/>
                    <a:p>
                      <a:r>
                        <a:rPr sz="1500" b="0">
                          <a:solidFill>
                            <a:srgbClr val="1F2937"/>
                          </a:solidFill>
                        </a:rPr>
                        <a:t>Yurak-qon tomir kasalligi, terminal holat</a:t>
                      </a:r>
                    </a:p>
                  </a:txBody>
                  <a:tcPr marL="73152" marR="73152" marT="36576" marB="36576">
                    <a:solidFill>
                      <a:srgbClr val="FFFFFF"/>
                    </a:solidFill>
                  </a:tcPr>
                </a:tc>
              </a:tr>
              <a:tr h="614476">
                <a:tc>
                  <a:txBody>
                    <a:bodyPr/>
                    <a:lstStyle/>
                    <a:p>
                      <a:r>
                        <a:rPr sz="1500" b="0">
                          <a:solidFill>
                            <a:srgbClr val="1F2937"/>
                          </a:solidFill>
                        </a:rPr>
                        <a:t>Gemik</a:t>
                      </a:r>
                    </a:p>
                  </a:txBody>
                  <a:tcPr marL="73152" marR="73152" marT="36576" marB="36576">
                    <a:solidFill>
                      <a:srgbClr val="E8EEF6"/>
                    </a:solidFill>
                  </a:tcPr>
                </a:tc>
                <a:tc>
                  <a:txBody>
                    <a:bodyPr/>
                    <a:lstStyle/>
                    <a:p>
                      <a:r>
                        <a:rPr sz="1500" b="0">
                          <a:solidFill>
                            <a:srgbClr val="1F2937"/>
                          </a:solidFill>
                        </a:rPr>
                        <a:t>Gemoglobin kamayishi yoki buzilishi</a:t>
                      </a:r>
                    </a:p>
                  </a:txBody>
                  <a:tcPr marL="73152" marR="73152" marT="36576" marB="36576">
                    <a:solidFill>
                      <a:srgbClr val="E8EEF6"/>
                    </a:solidFill>
                  </a:tcPr>
                </a:tc>
                <a:tc>
                  <a:txBody>
                    <a:bodyPr/>
                    <a:lstStyle/>
                    <a:p>
                      <a:r>
                        <a:rPr sz="1500" b="0">
                          <a:solidFill>
                            <a:srgbClr val="1F2937"/>
                          </a:solidFill>
                        </a:rPr>
                        <a:t>Qon yo‘qotish, anemiya, zaharlanish</a:t>
                      </a:r>
                    </a:p>
                  </a:txBody>
                  <a:tcPr marL="73152" marR="73152" marT="36576" marB="36576">
                    <a:solidFill>
                      <a:srgbClr val="E8EEF6"/>
                    </a:solidFill>
                  </a:tcPr>
                </a:tc>
              </a:tr>
              <a:tr h="614476">
                <a:tc>
                  <a:txBody>
                    <a:bodyPr/>
                    <a:lstStyle/>
                    <a:p>
                      <a:r>
                        <a:rPr sz="1500" b="0">
                          <a:solidFill>
                            <a:srgbClr val="1F2937"/>
                          </a:solidFill>
                        </a:rPr>
                        <a:t>Sitotoksik</a:t>
                      </a:r>
                    </a:p>
                  </a:txBody>
                  <a:tcPr marL="73152" marR="73152" marT="36576" marB="36576">
                    <a:solidFill>
                      <a:srgbClr val="FFFFFF"/>
                    </a:solidFill>
                  </a:tcPr>
                </a:tc>
                <a:tc>
                  <a:txBody>
                    <a:bodyPr/>
                    <a:lstStyle/>
                    <a:p>
                      <a:r>
                        <a:rPr sz="1500" b="0">
                          <a:solidFill>
                            <a:srgbClr val="1F2937"/>
                          </a:solidFill>
                        </a:rPr>
                        <a:t>To‘qima nafasi buzilishi</a:t>
                      </a:r>
                    </a:p>
                  </a:txBody>
                  <a:tcPr marL="73152" marR="73152" marT="36576" marB="36576">
                    <a:solidFill>
                      <a:srgbClr val="FFFFFF"/>
                    </a:solidFill>
                  </a:tcPr>
                </a:tc>
                <a:tc>
                  <a:txBody>
                    <a:bodyPr/>
                    <a:lstStyle/>
                    <a:p>
                      <a:r>
                        <a:rPr sz="1500" b="0">
                          <a:solidFill>
                            <a:srgbClr val="1F2937"/>
                          </a:solidFill>
                        </a:rPr>
                        <a:t>Zaharlanishlar (to‘qima gipoksiyasi)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Endogen gipoksiya: sabab va misol</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Gipoksiyaning rivojlanish jadalligi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Jadalligi bo‘yicha to‘rt tur bor: yashinsimon, o‘tkir, biroz o‘tkir va surunkali gipoksiya.</a:t>
            </a:r>
          </a:p>
          <a:p>
            <a:pPr>
              <a:spcAft>
                <a:spcPts val="800"/>
              </a:spcAft>
            </a:pPr>
            <a:r>
              <a:rPr sz="1800">
                <a:solidFill>
                  <a:srgbClr val="1F2937"/>
                </a:solidFill>
                <a:latin typeface="Calibri"/>
              </a:rPr>
              <a:t>▸  Sud tibbiyoti uchun yashinsimon va o‘tkir turlar muhim ahamiyatga ega.</a:t>
            </a:r>
          </a:p>
          <a:p>
            <a:pPr>
              <a:spcAft>
                <a:spcPts val="800"/>
              </a:spcAft>
            </a:pPr>
            <a:r>
              <a:rPr sz="1800">
                <a:solidFill>
                  <a:srgbClr val="1F2937"/>
                </a:solidFill>
                <a:latin typeface="Calibri"/>
              </a:rPr>
              <a:t>▸  Tashqi ta’sirdan kelib chiqqan bunday holatlarda sog‘liq buzilishi va o‘lim ekspertiza obyekti bo‘lib ko‘p uchraydi.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612744"/>
                <a:gridCol w="2101700"/>
              </a:tblGrid>
              <a:tr h="614476">
                <a:tc>
                  <a:txBody>
                    <a:bodyPr/>
                    <a:lstStyle/>
                    <a:p>
                      <a:r>
                        <a:rPr sz="1600" b="1">
                          <a:solidFill>
                            <a:srgbClr val="FFFFFF"/>
                          </a:solidFill>
                        </a:rPr>
                        <a:t>Tur</a:t>
                      </a:r>
                    </a:p>
                  </a:txBody>
                  <a:tcPr marL="73152" marR="73152" marT="36576" marB="36576">
                    <a:solidFill>
                      <a:srgbClr val="0B1F3A"/>
                    </a:solidFill>
                  </a:tcPr>
                </a:tc>
                <a:tc>
                  <a:txBody>
                    <a:bodyPr/>
                    <a:lstStyle/>
                    <a:p>
                      <a:r>
                        <a:rPr sz="1600" b="1">
                          <a:solidFill>
                            <a:srgbClr val="FFFFFF"/>
                          </a:solidFill>
                        </a:rPr>
                        <a:t>Davomiyligi</a:t>
                      </a:r>
                    </a:p>
                  </a:txBody>
                  <a:tcPr marL="73152" marR="73152" marT="36576" marB="36576">
                    <a:solidFill>
                      <a:srgbClr val="0B1F3A"/>
                    </a:solidFill>
                  </a:tcPr>
                </a:tc>
                <a:tc>
                  <a:txBody>
                    <a:bodyPr/>
                    <a:lstStyle/>
                    <a:p>
                      <a:r>
                        <a:rPr sz="1600" b="1">
                          <a:solidFill>
                            <a:srgbClr val="FFFFFF"/>
                          </a:solidFill>
                        </a:rPr>
                        <a:t>Sud-tibbiy ahamiyati</a:t>
                      </a:r>
                    </a:p>
                  </a:txBody>
                  <a:tcPr marL="73152" marR="73152" marT="36576" marB="36576">
                    <a:solidFill>
                      <a:srgbClr val="0B1F3A"/>
                    </a:solidFill>
                  </a:tcPr>
                </a:tc>
              </a:tr>
              <a:tr h="614476">
                <a:tc>
                  <a:txBody>
                    <a:bodyPr/>
                    <a:lstStyle/>
                    <a:p>
                      <a:r>
                        <a:rPr sz="1500" b="0">
                          <a:solidFill>
                            <a:srgbClr val="1F2937"/>
                          </a:solidFill>
                        </a:rPr>
                        <a:t>Yashinsimon</a:t>
                      </a:r>
                    </a:p>
                  </a:txBody>
                  <a:tcPr marL="73152" marR="73152" marT="36576" marB="36576">
                    <a:solidFill>
                      <a:srgbClr val="E8EEF6"/>
                    </a:solidFill>
                  </a:tcPr>
                </a:tc>
                <a:tc>
                  <a:txBody>
                    <a:bodyPr/>
                    <a:lstStyle/>
                    <a:p>
                      <a:r>
                        <a:rPr sz="1500" b="0">
                          <a:solidFill>
                            <a:srgbClr val="1F2937"/>
                          </a:solidFill>
                        </a:rPr>
                        <a:t>Soniyalarda</a:t>
                      </a:r>
                    </a:p>
                  </a:txBody>
                  <a:tcPr marL="73152" marR="73152" marT="36576" marB="36576">
                    <a:solidFill>
                      <a:srgbClr val="E8EEF6"/>
                    </a:solidFill>
                  </a:tcPr>
                </a:tc>
                <a:tc>
                  <a:txBody>
                    <a:bodyPr/>
                    <a:lstStyle/>
                    <a:p>
                      <a:r>
                        <a:rPr sz="1500" b="0">
                          <a:solidFill>
                            <a:srgbClr val="1F2937"/>
                          </a:solidFill>
                        </a:rPr>
                        <a:t>Muhim</a:t>
                      </a:r>
                    </a:p>
                  </a:txBody>
                  <a:tcPr marL="73152" marR="73152" marT="36576" marB="36576">
                    <a:solidFill>
                      <a:srgbClr val="E8EEF6"/>
                    </a:solidFill>
                  </a:tcPr>
                </a:tc>
              </a:tr>
              <a:tr h="614476">
                <a:tc>
                  <a:txBody>
                    <a:bodyPr/>
                    <a:lstStyle/>
                    <a:p>
                      <a:r>
                        <a:rPr sz="1500" b="0">
                          <a:solidFill>
                            <a:srgbClr val="1F2937"/>
                          </a:solidFill>
                        </a:rPr>
                        <a:t>O‘tkir</a:t>
                      </a:r>
                    </a:p>
                  </a:txBody>
                  <a:tcPr marL="73152" marR="73152" marT="36576" marB="36576">
                    <a:solidFill>
                      <a:srgbClr val="FFFFFF"/>
                    </a:solidFill>
                  </a:tcPr>
                </a:tc>
                <a:tc>
                  <a:txBody>
                    <a:bodyPr/>
                    <a:lstStyle/>
                    <a:p>
                      <a:r>
                        <a:rPr sz="1500" b="0">
                          <a:solidFill>
                            <a:srgbClr val="1F2937"/>
                          </a:solidFill>
                        </a:rPr>
                        <a:t>Daqiqalarda</a:t>
                      </a:r>
                    </a:p>
                  </a:txBody>
                  <a:tcPr marL="73152" marR="73152" marT="36576" marB="36576">
                    <a:solidFill>
                      <a:srgbClr val="FFFFFF"/>
                    </a:solidFill>
                  </a:tcPr>
                </a:tc>
                <a:tc>
                  <a:txBody>
                    <a:bodyPr/>
                    <a:lstStyle/>
                    <a:p>
                      <a:r>
                        <a:rPr sz="1500" b="0">
                          <a:solidFill>
                            <a:srgbClr val="1F2937"/>
                          </a:solidFill>
                        </a:rPr>
                        <a:t>Muhim</a:t>
                      </a:r>
                    </a:p>
                  </a:txBody>
                  <a:tcPr marL="73152" marR="73152" marT="36576" marB="36576">
                    <a:solidFill>
                      <a:srgbClr val="FFFFFF"/>
                    </a:solidFill>
                  </a:tcPr>
                </a:tc>
              </a:tr>
              <a:tr h="614476">
                <a:tc>
                  <a:txBody>
                    <a:bodyPr/>
                    <a:lstStyle/>
                    <a:p>
                      <a:r>
                        <a:rPr sz="1500" b="0">
                          <a:solidFill>
                            <a:srgbClr val="1F2937"/>
                          </a:solidFill>
                        </a:rPr>
                        <a:t>Biroz o‘tkir</a:t>
                      </a:r>
                    </a:p>
                  </a:txBody>
                  <a:tcPr marL="73152" marR="73152" marT="36576" marB="36576">
                    <a:solidFill>
                      <a:srgbClr val="E8EEF6"/>
                    </a:solidFill>
                  </a:tcPr>
                </a:tc>
                <a:tc>
                  <a:txBody>
                    <a:bodyPr/>
                    <a:lstStyle/>
                    <a:p>
                      <a:r>
                        <a:rPr sz="1500" b="0">
                          <a:solidFill>
                            <a:srgbClr val="1F2937"/>
                          </a:solidFill>
                        </a:rPr>
                        <a:t>Soatlarda</a:t>
                      </a:r>
                    </a:p>
                  </a:txBody>
                  <a:tcPr marL="73152" marR="73152" marT="36576" marB="36576">
                    <a:solidFill>
                      <a:srgbClr val="E8EEF6"/>
                    </a:solidFill>
                  </a:tcPr>
                </a:tc>
                <a:tc>
                  <a:txBody>
                    <a:bodyPr/>
                    <a:lstStyle/>
                    <a:p>
                      <a:r>
                        <a:rPr sz="1500" b="0">
                          <a:solidFill>
                            <a:srgbClr val="1F2937"/>
                          </a:solidFill>
                        </a:rPr>
                        <a:t>Alohida ta’kidlanmagan</a:t>
                      </a:r>
                    </a:p>
                  </a:txBody>
                  <a:tcPr marL="73152" marR="73152" marT="36576" marB="36576">
                    <a:solidFill>
                      <a:srgbClr val="E8EEF6"/>
                    </a:solidFill>
                  </a:tcPr>
                </a:tc>
              </a:tr>
              <a:tr h="614476">
                <a:tc>
                  <a:txBody>
                    <a:bodyPr/>
                    <a:lstStyle/>
                    <a:p>
                      <a:r>
                        <a:rPr sz="1500" b="0">
                          <a:solidFill>
                            <a:srgbClr val="1F2937"/>
                          </a:solidFill>
                        </a:rPr>
                        <a:t>Surunkali</a:t>
                      </a:r>
                    </a:p>
                  </a:txBody>
                  <a:tcPr marL="73152" marR="73152" marT="36576" marB="36576">
                    <a:solidFill>
                      <a:srgbClr val="FFFFFF"/>
                    </a:solidFill>
                  </a:tcPr>
                </a:tc>
                <a:tc>
                  <a:txBody>
                    <a:bodyPr/>
                    <a:lstStyle/>
                    <a:p>
                      <a:r>
                        <a:rPr sz="1500" b="0">
                          <a:solidFill>
                            <a:srgbClr val="1F2937"/>
                          </a:solidFill>
                        </a:rPr>
                        <a:t>Kun, hafta, oylarda</a:t>
                      </a:r>
                    </a:p>
                  </a:txBody>
                  <a:tcPr marL="73152" marR="73152" marT="36576" marB="36576">
                    <a:solidFill>
                      <a:srgbClr val="FFFFFF"/>
                    </a:solidFill>
                  </a:tcPr>
                </a:tc>
                <a:tc>
                  <a:txBody>
                    <a:bodyPr/>
                    <a:lstStyle/>
                    <a:p>
                      <a:r>
                        <a:rPr sz="1500" b="0">
                          <a:solidFill>
                            <a:srgbClr val="1F2937"/>
                          </a:solidFill>
                        </a:rPr>
                        <a:t>Alohida ta’kidlanmagan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Jadallik bo‘yicha turlar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gipoksiya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qon yo‘qotish yoki gipoxrom anemiyada qaysi gipoksiya rivojlanadi? Javob: gemik, chunki gemoglobin kamayadi.</a:t>
            </a:r>
          </a:p>
          <a:p>
            <a:pPr>
              <a:spcAft>
                <a:spcPts val="1200"/>
              </a:spcAft>
            </a:pPr>
            <a:r>
              <a:rPr sz="2200">
                <a:solidFill>
                  <a:srgbClr val="1F2937"/>
                </a:solidFill>
                <a:latin typeface="Calibri"/>
              </a:rPr>
              <a:t>▸  2-savol: zaharlanishda to‘qima nafasi buzilsa, qaysi tur? Javob: sitotoksik, ya’ni to‘qima gipoksiyasi.</a:t>
            </a:r>
          </a:p>
          <a:p>
            <a:pPr>
              <a:spcAft>
                <a:spcPts val="1200"/>
              </a:spcAft>
            </a:pPr>
            <a:r>
              <a:rPr sz="2200">
                <a:solidFill>
                  <a:srgbClr val="1F2937"/>
                </a:solidFill>
                <a:latin typeface="Calibri"/>
              </a:rPr>
              <a:t>▸  3-savol: yopiq muhitda kislorod kamayib, karbonat angidrid ko‘payadi. Qaysi tur? Javob: ekzogen giperkapnik gipoksiya.</a:t>
            </a:r>
          </a:p>
          <a:p>
            <a:pPr>
              <a:spcAft>
                <a:spcPts val="1200"/>
              </a:spcAft>
            </a:pPr>
            <a:r>
              <a:rPr sz="2200">
                <a:solidFill>
                  <a:srgbClr val="1F2937"/>
                </a:solidFill>
                <a:latin typeface="Calibri"/>
              </a:rPr>
              <a:t>▸  Diqqat: xato qilish xavfi — giperkapnik ≠ gemik. Giperkapnikda havo tarkibi o‘zgaradi, gemikda qondagi gemoglobin.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kislorod tanqisligi avvaldan asfiksiya atamasi bilan belgilanib kelinadi.</a:t>
            </a:r>
          </a:p>
          <a:p>
            <a:pPr>
              <a:spcAft>
                <a:spcPts val="1200"/>
              </a:spcAft>
            </a:pPr>
            <a:r>
              <a:rPr sz="2200">
                <a:solidFill>
                  <a:srgbClr val="1F2937"/>
                </a:solidFill>
                <a:latin typeface="Calibri"/>
              </a:rPr>
              <a:t>▸  Asfiksiya grek tilidan olingan: a – inkor, sphygmos – puls. Tub ma’nosi – pulsning yo‘qligi.</a:t>
            </a:r>
          </a:p>
          <a:p>
            <a:pPr>
              <a:spcAft>
                <a:spcPts val="1200"/>
              </a:spcAft>
            </a:pPr>
            <a:r>
              <a:rPr sz="2200">
                <a:solidFill>
                  <a:srgbClr val="1F2937"/>
                </a:solidFill>
                <a:latin typeface="Calibri"/>
              </a:rPr>
              <a:t>▸  Asfiksiya – tashqi nafas buzilishidan kislorod tanqisligi va karbonat angidrid ko‘payishi, bunda hayotiy tizimlar faoliyati o‘tkir buziladi.</a:t>
            </a:r>
          </a:p>
          <a:p>
            <a:pPr>
              <a:spcAft>
                <a:spcPts val="1200"/>
              </a:spcAft>
            </a:pPr>
            <a:r>
              <a:rPr sz="2200">
                <a:solidFill>
                  <a:srgbClr val="1F2937"/>
                </a:solidFill>
                <a:latin typeface="Calibri"/>
              </a:rPr>
              <a:t>▸  Diqqat: asfiksiyada gipoksiya giperkapniya bilan birga rivojlanadi. Mexanik omil sabab bo‘lsa, holat mexanik asfiksiya deyiladi.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104, 104-105, 105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asfiksiyaning sud-tibbiy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tasnifda mexanik asfiksiyaning uchta turi farqlanadi.</a:t>
            </a:r>
          </a:p>
          <a:p>
            <a:pPr>
              <a:spcAft>
                <a:spcPts val="800"/>
              </a:spcAft>
            </a:pPr>
            <a:r>
              <a:rPr sz="1800">
                <a:solidFill>
                  <a:srgbClr val="1F2937"/>
                </a:solidFill>
                <a:latin typeface="Calibri"/>
              </a:rPr>
              <a:t>▸  Qisilishda bo‘yin a’zolari yoki ko‘krak va qorin bo‘shliqlari a’zolari qisiladi.</a:t>
            </a:r>
          </a:p>
          <a:p>
            <a:pPr>
              <a:spcAft>
                <a:spcPts val="800"/>
              </a:spcAft>
            </a:pPr>
            <a:r>
              <a:rPr sz="1800">
                <a:solidFill>
                  <a:srgbClr val="1F2937"/>
                </a:solidFill>
                <a:latin typeface="Calibri"/>
              </a:rPr>
              <a:t>▸  Yopilishda nafas teshiklari yoki nafas yo‘llari yopiladi; cho‘kish ham shu guruhga kiradi.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746758"/>
                <a:gridCol w="3541217"/>
              </a:tblGrid>
              <a:tr h="768096">
                <a:tc>
                  <a:txBody>
                    <a:bodyPr/>
                    <a:lstStyle/>
                    <a:p>
                      <a:r>
                        <a:rPr sz="1800" b="1">
                          <a:solidFill>
                            <a:srgbClr val="FFFFFF"/>
                          </a:solidFill>
                        </a:rPr>
                        <a:t>Asosiy tur</a:t>
                      </a:r>
                    </a:p>
                  </a:txBody>
                  <a:tcPr marL="73152" marR="73152" marT="36576" marB="36576">
                    <a:solidFill>
                      <a:srgbClr val="0B1F3A"/>
                    </a:solidFill>
                  </a:tcPr>
                </a:tc>
                <a:tc>
                  <a:txBody>
                    <a:bodyPr/>
                    <a:lstStyle/>
                    <a:p>
                      <a:r>
                        <a:rPr sz="1800" b="1">
                          <a:solidFill>
                            <a:srgbClr val="FFFFFF"/>
                          </a:solidFill>
                        </a:rPr>
                        <a:t>Turchalari</a:t>
                      </a:r>
                    </a:p>
                  </a:txBody>
                  <a:tcPr marL="73152" marR="73152" marT="36576" marB="36576">
                    <a:solidFill>
                      <a:srgbClr val="0B1F3A"/>
                    </a:solidFill>
                  </a:tcPr>
                </a:tc>
              </a:tr>
              <a:tr h="768096">
                <a:tc>
                  <a:txBody>
                    <a:bodyPr/>
                    <a:lstStyle/>
                    <a:p>
                      <a:r>
                        <a:rPr sz="1700" b="0">
                          <a:solidFill>
                            <a:srgbClr val="1F2937"/>
                          </a:solidFill>
                        </a:rPr>
                        <a:t>Qisilishdan</a:t>
                      </a:r>
                    </a:p>
                  </a:txBody>
                  <a:tcPr marL="73152" marR="73152" marT="36576" marB="36576">
                    <a:solidFill>
                      <a:srgbClr val="E8EEF6"/>
                    </a:solidFill>
                  </a:tcPr>
                </a:tc>
                <a:tc>
                  <a:txBody>
                    <a:bodyPr/>
                    <a:lstStyle/>
                    <a:p>
                      <a:r>
                        <a:rPr sz="1700" b="0">
                          <a:solidFill>
                            <a:srgbClr val="1F2937"/>
                          </a:solidFill>
                        </a:rPr>
                        <a:t>Strangulyasion va kompression</a:t>
                      </a:r>
                    </a:p>
                  </a:txBody>
                  <a:tcPr marL="73152" marR="73152" marT="36576" marB="36576">
                    <a:solidFill>
                      <a:srgbClr val="E8EEF6"/>
                    </a:solidFill>
                  </a:tcPr>
                </a:tc>
              </a:tr>
              <a:tr h="768096">
                <a:tc>
                  <a:txBody>
                    <a:bodyPr/>
                    <a:lstStyle/>
                    <a:p>
                      <a:r>
                        <a:rPr sz="1700" b="0">
                          <a:solidFill>
                            <a:srgbClr val="1F2937"/>
                          </a:solidFill>
                        </a:rPr>
                        <a:t>Yopilishdan</a:t>
                      </a:r>
                    </a:p>
                  </a:txBody>
                  <a:tcPr marL="73152" marR="73152" marT="36576" marB="36576">
                    <a:solidFill>
                      <a:srgbClr val="FFFFFF"/>
                    </a:solidFill>
                  </a:tcPr>
                </a:tc>
                <a:tc>
                  <a:txBody>
                    <a:bodyPr/>
                    <a:lstStyle/>
                    <a:p>
                      <a:r>
                        <a:rPr sz="1700" b="0">
                          <a:solidFill>
                            <a:srgbClr val="1F2937"/>
                          </a:solidFill>
                        </a:rPr>
                        <a:t>Nafas teshiklari, yo‘llari, cho‘kish</a:t>
                      </a:r>
                    </a:p>
                  </a:txBody>
                  <a:tcPr marL="73152" marR="73152" marT="36576" marB="36576">
                    <a:solidFill>
                      <a:srgbClr val="FFFFFF"/>
                    </a:solidFill>
                  </a:tcPr>
                </a:tc>
              </a:tr>
              <a:tr h="768096">
                <a:tc>
                  <a:txBody>
                    <a:bodyPr/>
                    <a:lstStyle/>
                    <a:p>
                      <a:r>
                        <a:rPr sz="1700" b="0">
                          <a:solidFill>
                            <a:srgbClr val="1F2937"/>
                          </a:solidFill>
                        </a:rPr>
                        <a:t>Cheklangan muhit</a:t>
                      </a:r>
                    </a:p>
                  </a:txBody>
                  <a:tcPr marL="73152" marR="73152" marT="36576" marB="36576">
                    <a:solidFill>
                      <a:srgbClr val="E8EEF6"/>
                    </a:solidFill>
                  </a:tcPr>
                </a:tc>
                <a:tc>
                  <a:txBody>
                    <a:bodyPr/>
                    <a:lstStyle/>
                    <a:p>
                      <a:r>
                        <a:rPr sz="1700" b="0">
                          <a:solidFill>
                            <a:srgbClr val="1F2937"/>
                          </a:solidFill>
                        </a:rPr>
                        <a:t>Yopiq muhitdagi asfiksiya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Mexanik asfiksiya tasnifi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Autoasfiksiofiliya (seksual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Autoasfiksiofiliya ko‘pincha jinsiy chetlanishga moyil o‘rta yoshdagi yolg‘iz erkaklarda, ba’zan yosh erkaklarda kuzatiladi.</a:t>
            </a:r>
          </a:p>
          <a:p>
            <a:pPr>
              <a:spcAft>
                <a:spcPts val="1200"/>
              </a:spcAft>
            </a:pPr>
            <a:r>
              <a:rPr sz="2200">
                <a:solidFill>
                  <a:srgbClr val="1F2937"/>
                </a:solidFill>
                <a:latin typeface="Calibri"/>
              </a:rPr>
              <a:t>▸  Jinsiy qo‘zg‘alish gipoksiya va giperkapniya sharoitida sodir bo‘ladi; orgazm spontan yoki onanizm natijasida yuzaga keladi.</a:t>
            </a:r>
          </a:p>
          <a:p>
            <a:pPr>
              <a:spcAft>
                <a:spcPts val="1200"/>
              </a:spcAft>
            </a:pPr>
            <a:r>
              <a:rPr sz="2200">
                <a:solidFill>
                  <a:srgbClr val="1F2937"/>
                </a:solidFill>
                <a:latin typeface="Calibri"/>
              </a:rPr>
              <a:t>▸  Asfiktik jarayon qo‘l, oyoq va turli moslamalar bilan boshqariladi: ko‘pincha bo‘yin sirtmoq bilan qisiladi yoki polietilen qopcha ishlatiladi.</a:t>
            </a:r>
          </a:p>
          <a:p>
            <a:pPr>
              <a:spcAft>
                <a:spcPts val="1200"/>
              </a:spcAft>
            </a:pPr>
            <a:r>
              <a:rPr sz="2200">
                <a:solidFill>
                  <a:srgbClr val="1F2937"/>
                </a:solidFill>
                <a:latin typeface="Calibri"/>
              </a:rPr>
              <a:t>▸  O‘lim bilan tugasa, baxtsiz hodisa deb baholanadi. Joyda pornografik rasmlar, jinsiy a’zo imitatorlari, boshqa jins kiyimi topilishi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105, 105-106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seksual asfiksiyadan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yolg‘iz o‘rta yoshdagi erkak murdasi topildi. Bo‘yinda sirtmoq yoki boshida polietilen qopcha bor.</a:t>
            </a:r>
          </a:p>
          <a:p>
            <a:pPr>
              <a:spcAft>
                <a:spcPts val="1200"/>
              </a:spcAft>
            </a:pPr>
            <a:r>
              <a:rPr sz="2200">
                <a:solidFill>
                  <a:srgbClr val="1F2937"/>
                </a:solidFill>
                <a:latin typeface="Calibri"/>
              </a:rPr>
              <a:t>▸  Hodisa joyida pornografik rasmlar, jinsiy a’zo imitatorlari, boshqa jinsga tegishli kiyim topildi. Murda yalang‘och.</a:t>
            </a:r>
          </a:p>
          <a:p>
            <a:pPr>
              <a:spcAft>
                <a:spcPts val="1200"/>
              </a:spcAft>
            </a:pPr>
            <a:r>
              <a:rPr sz="2200">
                <a:solidFill>
                  <a:srgbClr val="1F2937"/>
                </a:solidFill>
                <a:latin typeface="Calibri"/>
              </a:rPr>
              <a:t>▸  Asfiktik jarayonni qo‘l, oyoq yoki moslamalar bilan boshqarish seksual asfiksiyaga xos. O‘lim baxtsiz hodisa deb baholanadi.</a:t>
            </a:r>
          </a:p>
          <a:p>
            <a:pPr>
              <a:spcAft>
                <a:spcPts val="1200"/>
              </a:spcAft>
            </a:pPr>
            <a:r>
              <a:rPr sz="2200">
                <a:solidFill>
                  <a:srgbClr val="1F2937"/>
                </a:solidFill>
                <a:latin typeface="Calibri"/>
              </a:rPr>
              <a:t>▸  Savol: o‘lim turini baholashda qaysi belgilar hal qiluvchi? Hodisa joyini sinchiklab ko‘zdan kechirish nega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105, 106, 105–106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Asfiksiyaning kechishi: preasfiktik va asfiktik davr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Preasfiktik davr o‘rtacha 20–30 sek.: nafas qisqa to‘xtaydi, keyin maromi sekinlashadi.</a:t>
            </a:r>
          </a:p>
          <a:p>
            <a:pPr>
              <a:spcAft>
                <a:spcPts val="800"/>
              </a:spcAft>
            </a:pPr>
            <a:r>
              <a:rPr sz="1800">
                <a:solidFill>
                  <a:srgbClr val="1F2937"/>
                </a:solidFill>
                <a:latin typeface="Calibri"/>
              </a:rPr>
              <a:t>▸  Organizm moslashadi: qon ko‘payadi, suyuqlashadi, hayotiy a’zolarga qayta taqsimlanadi.</a:t>
            </a:r>
          </a:p>
          <a:p>
            <a:pPr>
              <a:spcAft>
                <a:spcPts val="800"/>
              </a:spcAft>
            </a:pPr>
            <a:r>
              <a:rPr sz="1800">
                <a:solidFill>
                  <a:srgbClr val="1F2937"/>
                </a:solidFill>
                <a:latin typeface="Calibri"/>
              </a:rPr>
              <a:t>▸  Diqqat: davr va bosqich vaqtlari shartli, taxminiy ma’lumot.</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Inspirator hansirash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Ekspirator hansirash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Nafasning qisqa to‘xtashi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nafas olish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Nafasning to‘liq to‘xtashi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Asfiktik davr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106, 107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Inspirator va ekspirator hansirash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Inspirator bosqichda hush odatda 40–60 sek. o‘tganda yo‘qoladi; bosqich taxminan bir minut davom etadi.</a:t>
            </a:r>
          </a:p>
          <a:p>
            <a:pPr>
              <a:spcAft>
                <a:spcPts val="800"/>
              </a:spcAft>
            </a:pPr>
            <a:r>
              <a:rPr sz="1800">
                <a:solidFill>
                  <a:srgbClr val="1F2937"/>
                </a:solidFill>
                <a:latin typeface="Calibri"/>
              </a:rPr>
              <a:t>▸  Ekspirator bosqichda siydik, maniy, axlat ajralishi bilan klonik talvasalar bo‘lishi mumkin.</a:t>
            </a:r>
          </a:p>
          <a:p>
            <a:pPr>
              <a:spcAft>
                <a:spcPts val="800"/>
              </a:spcAft>
            </a:pPr>
            <a:r>
              <a:rPr sz="1800">
                <a:solidFill>
                  <a:srgbClr val="1F2937"/>
                </a:solidFill>
                <a:latin typeface="Calibri"/>
              </a:rPr>
              <a:t>▸  Diqqat: talvasada urilishdan jarohat paydo bo‘ladi; uni o‘zga shaxs jarohatidan farqlang.</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27859"/>
                <a:gridCol w="1800440"/>
                <a:gridCol w="1559675"/>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Inspirator</a:t>
                      </a:r>
                    </a:p>
                  </a:txBody>
                  <a:tcPr marL="73152" marR="73152" marT="36576" marB="36576">
                    <a:solidFill>
                      <a:srgbClr val="0B1F3A"/>
                    </a:solidFill>
                  </a:tcPr>
                </a:tc>
                <a:tc>
                  <a:txBody>
                    <a:bodyPr/>
                    <a:lstStyle/>
                    <a:p>
                      <a:r>
                        <a:rPr sz="1600" b="1">
                          <a:solidFill>
                            <a:srgbClr val="FFFFFF"/>
                          </a:solidFill>
                        </a:rPr>
                        <a:t>Ekspirator</a:t>
                      </a:r>
                    </a:p>
                  </a:txBody>
                  <a:tcPr marL="73152" marR="73152" marT="36576" marB="36576">
                    <a:solidFill>
                      <a:srgbClr val="0B1F3A"/>
                    </a:solidFill>
                  </a:tcPr>
                </a:tc>
              </a:tr>
              <a:tr h="614476">
                <a:tc>
                  <a:txBody>
                    <a:bodyPr/>
                    <a:lstStyle/>
                    <a:p>
                      <a:r>
                        <a:rPr sz="1500" b="0">
                          <a:solidFill>
                            <a:srgbClr val="1F2937"/>
                          </a:solidFill>
                        </a:rPr>
                        <a:t>Nafas</a:t>
                      </a:r>
                    </a:p>
                  </a:txBody>
                  <a:tcPr marL="73152" marR="73152" marT="36576" marB="36576">
                    <a:solidFill>
                      <a:srgbClr val="E8EEF6"/>
                    </a:solidFill>
                  </a:tcPr>
                </a:tc>
                <a:tc>
                  <a:txBody>
                    <a:bodyPr/>
                    <a:lstStyle/>
                    <a:p>
                      <a:r>
                        <a:rPr sz="1500" b="0">
                          <a:solidFill>
                            <a:srgbClr val="1F2937"/>
                          </a:solidFill>
                        </a:rPr>
                        <a:t>Olish tezlashadi, uzayadi</a:t>
                      </a:r>
                    </a:p>
                  </a:txBody>
                  <a:tcPr marL="73152" marR="73152" marT="36576" marB="36576">
                    <a:solidFill>
                      <a:srgbClr val="E8EEF6"/>
                    </a:solidFill>
                  </a:tcPr>
                </a:tc>
                <a:tc>
                  <a:txBody>
                    <a:bodyPr/>
                    <a:lstStyle/>
                    <a:p>
                      <a:r>
                        <a:rPr sz="1500" b="0">
                          <a:solidFill>
                            <a:srgbClr val="1F2937"/>
                          </a:solidFill>
                        </a:rPr>
                        <a:t>Chiqarish kuchli, uzoq</a:t>
                      </a:r>
                    </a:p>
                  </a:txBody>
                  <a:tcPr marL="73152" marR="73152" marT="36576" marB="36576">
                    <a:solidFill>
                      <a:srgbClr val="E8EEF6"/>
                    </a:solidFill>
                  </a:tcPr>
                </a:tc>
              </a:tr>
              <a:tr h="614476">
                <a:tc>
                  <a:txBody>
                    <a:bodyPr/>
                    <a:lstStyle/>
                    <a:p>
                      <a:r>
                        <a:rPr sz="1500" b="0">
                          <a:solidFill>
                            <a:srgbClr val="1F2937"/>
                          </a:solidFill>
                        </a:rPr>
                        <a:t>Plevral bosim</a:t>
                      </a:r>
                    </a:p>
                  </a:txBody>
                  <a:tcPr marL="73152" marR="73152" marT="36576" marB="36576">
                    <a:solidFill>
                      <a:srgbClr val="FFFFFF"/>
                    </a:solidFill>
                  </a:tcPr>
                </a:tc>
                <a:tc>
                  <a:txBody>
                    <a:bodyPr/>
                    <a:lstStyle/>
                    <a:p>
                      <a:r>
                        <a:rPr sz="1500" b="0">
                          <a:solidFill>
                            <a:srgbClr val="1F2937"/>
                          </a:solidFill>
                        </a:rPr>
                        <a:t>Keskin pasayadi</a:t>
                      </a:r>
                    </a:p>
                  </a:txBody>
                  <a:tcPr marL="73152" marR="73152" marT="36576" marB="36576">
                    <a:solidFill>
                      <a:srgbClr val="FFFFFF"/>
                    </a:solidFill>
                  </a:tcPr>
                </a:tc>
                <a:tc>
                  <a:txBody>
                    <a:bodyPr/>
                    <a:lstStyle/>
                    <a:p>
                      <a:r>
                        <a:rPr sz="1500" b="0">
                          <a:solidFill>
                            <a:srgbClr val="1F2937"/>
                          </a:solidFill>
                        </a:rPr>
                        <a:t>Ortadi</a:t>
                      </a:r>
                    </a:p>
                  </a:txBody>
                  <a:tcPr marL="73152" marR="73152" marT="36576" marB="36576">
                    <a:solidFill>
                      <a:srgbClr val="FFFFFF"/>
                    </a:solidFill>
                  </a:tcPr>
                </a:tc>
              </a:tr>
              <a:tr h="614476">
                <a:tc>
                  <a:txBody>
                    <a:bodyPr/>
                    <a:lstStyle/>
                    <a:p>
                      <a:r>
                        <a:rPr sz="1500" b="0">
                          <a:solidFill>
                            <a:srgbClr val="1F2937"/>
                          </a:solidFill>
                        </a:rPr>
                        <a:t>Arterial/venoz bosim</a:t>
                      </a:r>
                    </a:p>
                  </a:txBody>
                  <a:tcPr marL="73152" marR="73152" marT="36576" marB="36576">
                    <a:solidFill>
                      <a:srgbClr val="E8EEF6"/>
                    </a:solidFill>
                  </a:tcPr>
                </a:tc>
                <a:tc>
                  <a:txBody>
                    <a:bodyPr/>
                    <a:lstStyle/>
                    <a:p>
                      <a:r>
                        <a:rPr sz="1500" b="0">
                          <a:solidFill>
                            <a:srgbClr val="1F2937"/>
                          </a:solidFill>
                        </a:rPr>
                        <a:t>Arterial ↓, venoz ↑</a:t>
                      </a:r>
                    </a:p>
                  </a:txBody>
                  <a:tcPr marL="73152" marR="73152" marT="36576" marB="36576">
                    <a:solidFill>
                      <a:srgbClr val="E8EEF6"/>
                    </a:solidFill>
                  </a:tcPr>
                </a:tc>
                <a:tc>
                  <a:txBody>
                    <a:bodyPr/>
                    <a:lstStyle/>
                    <a:p>
                      <a:r>
                        <a:rPr sz="1500" b="0">
                          <a:solidFill>
                            <a:srgbClr val="1F2937"/>
                          </a:solidFill>
                        </a:rPr>
                        <a:t>Arterial ↑, venoz ↓</a:t>
                      </a:r>
                    </a:p>
                  </a:txBody>
                  <a:tcPr marL="73152" marR="73152" marT="36576" marB="36576">
                    <a:solidFill>
                      <a:srgbClr val="E8EEF6"/>
                    </a:solidFill>
                  </a:tcPr>
                </a:tc>
              </a:tr>
              <a:tr h="614476">
                <a:tc>
                  <a:txBody>
                    <a:bodyPr/>
                    <a:lstStyle/>
                    <a:p>
                      <a:r>
                        <a:rPr sz="1500" b="0">
                          <a:solidFill>
                            <a:srgbClr val="1F2937"/>
                          </a:solidFill>
                        </a:rPr>
                        <a:t>Puls, hush, harakat</a:t>
                      </a:r>
                    </a:p>
                  </a:txBody>
                  <a:tcPr marL="73152" marR="73152" marT="36576" marB="36576">
                    <a:solidFill>
                      <a:srgbClr val="FFFFFF"/>
                    </a:solidFill>
                  </a:tcPr>
                </a:tc>
                <a:tc>
                  <a:txBody>
                    <a:bodyPr/>
                    <a:lstStyle/>
                    <a:p>
                      <a:r>
                        <a:rPr sz="1500" b="0">
                          <a:solidFill>
                            <a:srgbClr val="1F2937"/>
                          </a:solidFill>
                        </a:rPr>
                        <a:t>Sekinlashadi; hush yo‘qoladi</a:t>
                      </a:r>
                    </a:p>
                  </a:txBody>
                  <a:tcPr marL="73152" marR="73152" marT="36576" marB="36576">
                    <a:solidFill>
                      <a:srgbClr val="FFFFFF"/>
                    </a:solidFill>
                  </a:tcPr>
                </a:tc>
                <a:tc>
                  <a:txBody>
                    <a:bodyPr/>
                    <a:lstStyle/>
                    <a:p>
                      <a:r>
                        <a:rPr sz="1500" b="0">
                          <a:solidFill>
                            <a:srgbClr val="1F2937"/>
                          </a:solidFill>
                        </a:rPr>
                        <a:t>Tezlashadi; klonik talvasa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bosqichni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Terminal bosqichlar va yurakning reflektor to‘xtashi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Nafas qisqa to‘xtaydigan bosqich 30–40 s davom etadi. Karbonat angidrid ko‘payadi, nafas markazi sustlashadi. Mushaklar bo‘shashadi, reflekslar so‘na boshlaydi.</a:t>
            </a:r>
          </a:p>
          <a:p>
            <a:pPr>
              <a:spcAft>
                <a:spcPts val="1200"/>
              </a:spcAft>
            </a:pPr>
            <a:r>
              <a:rPr sz="2000">
                <a:solidFill>
                  <a:srgbClr val="1F2937"/>
                </a:solidFill>
                <a:latin typeface="Calibri"/>
              </a:rPr>
              <a:t>▸  Terminal nafas 5 minutgacha davom etadi: onda-sonda, noritmik nafas, ko‘pincha og‘iz ochilishi bilan. Oxirida arterial bosim o‘ta pasayadi, reflekslar yo‘qoladi.</a:t>
            </a:r>
          </a:p>
          <a:p>
            <a:pPr>
              <a:spcAft>
                <a:spcPts val="1200"/>
              </a:spcAft>
            </a:pPr>
            <a:r>
              <a:rPr sz="2000">
                <a:solidFill>
                  <a:srgbClr val="1F2937"/>
                </a:solidFill>
                <a:latin typeface="Calibri"/>
              </a:rPr>
              <a:t>▸  To‘liq to‘xtashda nafas markazi falajlanadi. Yurak yana 3–10 minut urishi mumkin, puls susayadi, so‘ng yurak to‘xtab klinik o‘lim boshlanadi.</a:t>
            </a:r>
          </a:p>
          <a:p>
            <a:pPr>
              <a:spcAft>
                <a:spcPts val="1200"/>
              </a:spcAft>
            </a:pPr>
            <a:r>
              <a:rPr sz="2000">
                <a:solidFill>
                  <a:srgbClr val="1F2937"/>
                </a:solidFill>
                <a:latin typeface="Calibri"/>
              </a:rPr>
              <a:t>▸  Yurak 30 s ichida reflektor to‘xtasa, asfiksiya belgilari ulgurmaydi va murdada topilmasligi mumkin. Asfiksiya kechuvi bo‘yicha yagona tajribani N. Minovichi 1905-yilda o‘tkazgan.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106, 106–107, 107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asfiksiya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preasfiktik davr (20–30 s) dan keyin asfiktik davr qaysi 5 bosqich bilan, qanday tartibda kechadi?</a:t>
            </a:r>
          </a:p>
          <a:p>
            <a:pPr>
              <a:spcAft>
                <a:spcPts val="1200"/>
              </a:spcAft>
            </a:pPr>
            <a:r>
              <a:rPr sz="2200">
                <a:solidFill>
                  <a:srgbClr val="1F2937"/>
                </a:solidFill>
                <a:latin typeface="Calibri"/>
              </a:rPr>
              <a:t>▸  Javob: inspirator hansirash, ekspirator hansirash, nafasning qisqa to‘xtashi, terminal nafas, nafasning to‘liq to‘xtashi.</a:t>
            </a:r>
          </a:p>
          <a:p>
            <a:pPr>
              <a:spcAft>
                <a:spcPts val="1200"/>
              </a:spcAft>
            </a:pPr>
            <a:r>
              <a:rPr sz="2200">
                <a:solidFill>
                  <a:srgbClr val="1F2937"/>
                </a:solidFill>
                <a:latin typeface="Calibri"/>
              </a:rPr>
              <a:t>▸  Davomiylik: har bir hansirash bosqichi taxminan 1 daqiqa, nafas pauzasi 30–40 s, terminal nafas 5 daqiqagacha.</a:t>
            </a:r>
          </a:p>
          <a:p>
            <a:pPr>
              <a:spcAft>
                <a:spcPts val="1200"/>
              </a:spcAft>
            </a:pPr>
            <a:r>
              <a:rPr sz="2200">
                <a:solidFill>
                  <a:srgbClr val="1F2937"/>
                </a:solidFill>
                <a:latin typeface="Calibri"/>
              </a:rPr>
              <a:t>▸  Diqqat: xato qilish xavfi! Hansirash karbonat angidrid ta’sirida kuchaygan nafas; terminal nafas esa onda-sonda, noritmik harakatlar.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106, 106–107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Postasfiktik holat davrlari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Postasfiktik holat — asfiksiyadan tirik qolgan odamdagi o‘zgarishlar majmuyi. U to‘rt davrga bo‘linadi.</a:t>
            </a:r>
          </a:p>
          <a:p>
            <a:pPr>
              <a:spcAft>
                <a:spcPts val="800"/>
              </a:spcAft>
            </a:pPr>
            <a:r>
              <a:rPr sz="1800">
                <a:solidFill>
                  <a:srgbClr val="1F2937"/>
                </a:solidFill>
                <a:latin typeface="Calibri"/>
              </a:rPr>
              <a:t>▸  Belgilar asfiktik ta’sir turiga, davomiyligiga va salomatlik holatiga bog‘liq.</a:t>
            </a:r>
          </a:p>
          <a:p>
            <a:pPr>
              <a:spcAft>
                <a:spcPts val="800"/>
              </a:spcAft>
            </a:pPr>
            <a:r>
              <a:rPr sz="1800">
                <a:solidFill>
                  <a:srgbClr val="1F2937"/>
                </a:solidFill>
                <a:latin typeface="Calibri"/>
              </a:rPr>
              <a:t>▸  Dastlabki soatlarda o‘pka shishishi rivojlansa, bu noxush prognostik belgi hisoblanadi.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164080"/>
                <a:gridCol w="-1048054"/>
                <a:gridCol w="4171949"/>
              </a:tblGrid>
              <a:tr h="614476">
                <a:tc>
                  <a:txBody>
                    <a:bodyPr/>
                    <a:lstStyle/>
                    <a:p>
                      <a:r>
                        <a:rPr sz="1600" b="1">
                          <a:solidFill>
                            <a:srgbClr val="FFFFFF"/>
                          </a:solidFill>
                        </a:rPr>
                        <a:t>Davr</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Bosqichlari</a:t>
                      </a:r>
                    </a:p>
                  </a:txBody>
                  <a:tcPr marL="73152" marR="73152" marT="36576" marB="36576">
                    <a:solidFill>
                      <a:srgbClr val="0B1F3A"/>
                    </a:solidFill>
                  </a:tcPr>
                </a:tc>
              </a:tr>
              <a:tr h="614476">
                <a:tc>
                  <a:txBody>
                    <a:bodyPr/>
                    <a:lstStyle/>
                    <a:p>
                      <a:r>
                        <a:rPr sz="1500" b="0">
                          <a:solidFill>
                            <a:srgbClr val="1F2937"/>
                          </a:solidFill>
                        </a:rPr>
                        <a:t>1. Asfiktik koma</a:t>
                      </a:r>
                    </a:p>
                  </a:txBody>
                  <a:tcPr marL="73152" marR="73152" marT="36576" marB="36576">
                    <a:solidFill>
                      <a:srgbClr val="E8EEF6"/>
                    </a:solidFill>
                  </a:tcPr>
                </a:tc>
                <a:tc>
                  <a:txBody>
                    <a:bodyPr/>
                    <a:lstStyle/>
                    <a:p>
                      <a:r>
                        <a:rPr sz="1500" b="0">
                          <a:solidFill>
                            <a:srgbClr val="1F2937"/>
                          </a:solidFill>
                        </a:rPr>
                        <a:t>Mushak atoniyasi, reflekslar yo‘q</a:t>
                      </a:r>
                    </a:p>
                  </a:txBody>
                  <a:tcPr marL="73152" marR="73152" marT="36576" marB="36576">
                    <a:solidFill>
                      <a:srgbClr val="E8EEF6"/>
                    </a:solidFill>
                  </a:tcPr>
                </a:tc>
                <a:tc>
                  <a:txBody>
                    <a:bodyPr/>
                    <a:lstStyle/>
                    <a:p>
                      <a:r>
                        <a:rPr sz="1500" b="0">
                          <a:solidFill>
                            <a:srgbClr val="1F2937"/>
                          </a:solidFill>
                        </a:rPr>
                        <a:t>Arefleksiya→rigidlik→tonik-klonik</a:t>
                      </a:r>
                    </a:p>
                  </a:txBody>
                  <a:tcPr marL="73152" marR="73152" marT="36576" marB="36576">
                    <a:solidFill>
                      <a:srgbClr val="E8EEF6"/>
                    </a:solidFill>
                  </a:tcPr>
                </a:tc>
              </a:tr>
              <a:tr h="614476">
                <a:tc>
                  <a:txBody>
                    <a:bodyPr/>
                    <a:lstStyle/>
                    <a:p>
                      <a:r>
                        <a:rPr sz="1500" b="0">
                          <a:solidFill>
                            <a:srgbClr val="1F2937"/>
                          </a:solidFill>
                        </a:rPr>
                        <a:t>2. Karaxtlik</a:t>
                      </a:r>
                    </a:p>
                  </a:txBody>
                  <a:tcPr marL="73152" marR="73152" marT="36576" marB="36576">
                    <a:solidFill>
                      <a:srgbClr val="FFFFFF"/>
                    </a:solidFill>
                  </a:tcPr>
                </a:tc>
                <a:tc>
                  <a:txBody>
                    <a:bodyPr/>
                    <a:lstStyle/>
                    <a:p>
                      <a:r>
                        <a:rPr sz="1500" b="0">
                          <a:solidFill>
                            <a:srgbClr val="1F2937"/>
                          </a:solidFill>
                        </a:rPr>
                        <a:t>Hush asta tiklanadi, talvasa yo‘q</a:t>
                      </a:r>
                    </a:p>
                  </a:txBody>
                  <a:tcPr marL="73152" marR="73152" marT="36576" marB="36576">
                    <a:solidFill>
                      <a:srgbClr val="FFFFFF"/>
                    </a:solidFill>
                  </a:tcPr>
                </a:tc>
                <a:tc>
                  <a:txBody>
                    <a:bodyPr/>
                    <a:lstStyle/>
                    <a:p>
                      <a:r>
                        <a:rPr sz="1500" b="0">
                          <a:solidFill>
                            <a:srgbClr val="1F2937"/>
                          </a:solidFill>
                        </a:rPr>
                        <a:t>Sopor→chuqur→yengil→uyquchanlik</a:t>
                      </a:r>
                    </a:p>
                  </a:txBody>
                  <a:tcPr marL="73152" marR="73152" marT="36576" marB="36576">
                    <a:solidFill>
                      <a:srgbClr val="FFFFFF"/>
                    </a:solidFill>
                  </a:tcPr>
                </a:tc>
              </a:tr>
              <a:tr h="614476">
                <a:tc>
                  <a:txBody>
                    <a:bodyPr/>
                    <a:lstStyle/>
                    <a:p>
                      <a:r>
                        <a:rPr sz="1500" b="0">
                          <a:solidFill>
                            <a:srgbClr val="1F2937"/>
                          </a:solidFill>
                        </a:rPr>
                        <a:t>3. Dezorientatsiya, amneziya</a:t>
                      </a:r>
                    </a:p>
                  </a:txBody>
                  <a:tcPr marL="73152" marR="73152" marT="36576" marB="36576">
                    <a:solidFill>
                      <a:srgbClr val="E8EEF6"/>
                    </a:solidFill>
                  </a:tcPr>
                </a:tc>
                <a:tc>
                  <a:txBody>
                    <a:bodyPr/>
                    <a:lstStyle/>
                    <a:p>
                      <a:r>
                        <a:rPr sz="1500" b="0">
                          <a:solidFill>
                            <a:srgbClr val="1F2937"/>
                          </a:solidFill>
                        </a:rPr>
                        <a:t>Zamon va makonda adashish</a:t>
                      </a:r>
                    </a:p>
                  </a:txBody>
                  <a:tcPr marL="73152" marR="73152" marT="36576" marB="36576">
                    <a:solidFill>
                      <a:srgbClr val="E8EEF6"/>
                    </a:solidFill>
                  </a:tcPr>
                </a:tc>
                <a:tc>
                  <a:txBody>
                    <a:bodyPr/>
                    <a:lstStyle/>
                    <a:p>
                      <a:r>
                        <a:rPr sz="1500" b="0">
                          <a:solidFill>
                            <a:srgbClr val="1F2937"/>
                          </a:solidFill>
                        </a:rPr>
                        <a:t>Konfabulyasiya, retrograd amneziya</a:t>
                      </a:r>
                    </a:p>
                  </a:txBody>
                  <a:tcPr marL="73152" marR="73152" marT="36576" marB="36576">
                    <a:solidFill>
                      <a:srgbClr val="E8EEF6"/>
                    </a:solidFill>
                  </a:tcPr>
                </a:tc>
              </a:tr>
              <a:tr h="614476">
                <a:tc>
                  <a:txBody>
                    <a:bodyPr/>
                    <a:lstStyle/>
                    <a:p>
                      <a:r>
                        <a:rPr sz="1500" b="0">
                          <a:solidFill>
                            <a:srgbClr val="1F2937"/>
                          </a:solidFill>
                        </a:rPr>
                        <a:t>4. Qoldiq oqibatlar</a:t>
                      </a:r>
                    </a:p>
                  </a:txBody>
                  <a:tcPr marL="73152" marR="73152" marT="36576" marB="36576">
                    <a:solidFill>
                      <a:srgbClr val="FFFFFF"/>
                    </a:solidFill>
                  </a:tcPr>
                </a:tc>
                <a:tc>
                  <a:txBody>
                    <a:bodyPr/>
                    <a:lstStyle/>
                    <a:p>
                      <a:r>
                        <a:rPr sz="1500" b="0">
                          <a:solidFill>
                            <a:srgbClr val="1F2937"/>
                          </a:solidFill>
                        </a:rPr>
                        <a:t>1–2 haftada yo‘qolishi yoki saqlanishi</a:t>
                      </a:r>
                    </a:p>
                  </a:txBody>
                  <a:tcPr marL="73152" marR="73152" marT="36576" marB="36576">
                    <a:solidFill>
                      <a:srgbClr val="FFFFFF"/>
                    </a:solidFill>
                  </a:tcPr>
                </a:tc>
                <a:tc>
                  <a:txBody>
                    <a:bodyPr/>
                    <a:lstStyle/>
                    <a:p>
                      <a:r>
                        <a:rPr sz="1500" b="0">
                          <a:solidFill>
                            <a:srgbClr val="1F2937"/>
                          </a:solidFill>
                        </a:rPr>
                        <a:t>Xotira, diqqat buzilishi; paralichlar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Postasfiktik holat davrlari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107, 109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Postasfiktik asoratlar va o‘lim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Vegetativ buzilishlar: teri giperesteziyasi, gipergidroz, “qorachiqlar o‘yini”, qusish, ixtiyorsiz siydik va axlat ajralishi kuzatiladi.</a:t>
            </a:r>
          </a:p>
          <a:p>
            <a:pPr>
              <a:spcAft>
                <a:spcPts val="1200"/>
              </a:spcAft>
            </a:pPr>
            <a:r>
              <a:rPr sz="2000">
                <a:solidFill>
                  <a:srgbClr val="1F2937"/>
                </a:solidFill>
                <a:latin typeface="Calibri"/>
              </a:rPr>
              <a:t>▸  Asfiksiya 3 minut va undan uzoq davom etsa, turg‘un gipotoniya, ichki a’zolar ishemiyasi, ba’zan miokard infarkti rivojlanadi. Dastlabki soatlardagi o‘pka shishi noxush belgi.</a:t>
            </a:r>
          </a:p>
          <a:p>
            <a:pPr>
              <a:spcAft>
                <a:spcPts val="1200"/>
              </a:spcAft>
            </a:pPr>
            <a:r>
              <a:rPr sz="2000">
                <a:solidFill>
                  <a:srgbClr val="1F2937"/>
                </a:solidFill>
                <a:latin typeface="Calibri"/>
              </a:rPr>
              <a:t>▸  Jigarda gepatotsitlar distrofiyasi va o‘choqli nekrobioz, buyrakda shokka xos o‘zgarishlar, oshqozon-ichakda eroziya va yaralar (gastroenteropatiya) topiladi.</a:t>
            </a:r>
          </a:p>
          <a:p>
            <a:pPr>
              <a:spcAft>
                <a:spcPts val="1200"/>
              </a:spcAft>
            </a:pPr>
            <a:r>
              <a:rPr sz="2000">
                <a:solidFill>
                  <a:srgbClr val="1F2937"/>
                </a:solidFill>
                <a:latin typeface="Calibri"/>
              </a:rPr>
              <a:t>▸  O‘lim sabablari: dastlabki minut va soatlarda asfiktik koma; birinchi sutkada o‘pka va miya shishi; keyinroq gipostatik pnevmoniya.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qutqarilgan osilgan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osilgan shaxs o‘z vaqtida sirtmoqdan olindi va o‘lmadi. Bunda asfiksiya izlari yig‘indisi postasfiktik holat deb ataladi.</a:t>
            </a:r>
          </a:p>
          <a:p>
            <a:pPr>
              <a:spcAft>
                <a:spcPts val="1200"/>
              </a:spcAft>
            </a:pPr>
            <a:r>
              <a:rPr sz="2200">
                <a:solidFill>
                  <a:srgbClr val="1F2937"/>
                </a:solidFill>
                <a:latin typeface="Calibri"/>
              </a:rPr>
              <a:t>▸  Holat to‘rt davrda kechadi: asfiktik koma, karaxtlik, dezorientatsiya va xotira buzilishi, qoldiq oqibatlar.</a:t>
            </a:r>
          </a:p>
          <a:p>
            <a:pPr>
              <a:spcAft>
                <a:spcPts val="1200"/>
              </a:spcAft>
            </a:pPr>
            <a:r>
              <a:rPr sz="2200">
                <a:solidFill>
                  <a:srgbClr val="1F2937"/>
                </a:solidFill>
                <a:latin typeface="Calibri"/>
              </a:rPr>
              <a:t>▸  Strangulyatsion asfiksiyada til osti suyagi, qalqonsimon tog‘ay yoki uyqu arteriyasi shikastlanishi aniqlanishi mumkin.</a:t>
            </a:r>
          </a:p>
          <a:p>
            <a:pPr>
              <a:spcAft>
                <a:spcPts val="1200"/>
              </a:spcAft>
            </a:pPr>
            <a:r>
              <a:rPr sz="2200">
                <a:solidFill>
                  <a:srgbClr val="1F2937"/>
                </a:solidFill>
                <a:latin typeface="Calibri"/>
              </a:rPr>
              <a:t>▸  Savol: tibbiy hujjatlar ekspertizada nega muhim? Javob: ular jarohat og‘irligini va o‘lim sababini aniqlashda asos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107, 108, 109, 109-110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asfiksiyaning umumiy tashqi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Yuz va bo‘yin sianozi hansirashdagi talvasalarda hosil bo‘ladi, lekin turg‘un emas.</a:t>
            </a:r>
          </a:p>
          <a:p>
            <a:pPr>
              <a:spcAft>
                <a:spcPts val="800"/>
              </a:spcAft>
            </a:pPr>
            <a:r>
              <a:rPr sz="1800">
                <a:solidFill>
                  <a:srgbClr val="1F2937"/>
                </a:solidFill>
                <a:latin typeface="Calibri"/>
              </a:rPr>
              <a:t>▸  Murda dog‘lari ko‘lamli, ko‘kimtir-binafsha bo‘lib, o‘limdan so‘ng bir soatgacha paydo bo‘lishi mumkin.</a:t>
            </a:r>
          </a:p>
          <a:p>
            <a:pPr>
              <a:spcAft>
                <a:spcPts val="800"/>
              </a:spcAft>
            </a:pPr>
            <a:r>
              <a:rPr sz="1800">
                <a:solidFill>
                  <a:srgbClr val="1F2937"/>
                </a:solidFill>
                <a:latin typeface="Calibri"/>
              </a:rPr>
              <a:t>▸  Diqqat: yuzi bilan yotgan murdada asfiksiyasiz ham yuz va bo‘yin ko‘kimtir bo‘lishi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045969"/>
                <a:gridCol w="1867663"/>
                <a:gridCol w="1374342"/>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Sababi</a:t>
                      </a:r>
                    </a:p>
                  </a:txBody>
                  <a:tcPr marL="73152" marR="73152" marT="36576" marB="36576">
                    <a:solidFill>
                      <a:srgbClr val="0B1F3A"/>
                    </a:solidFill>
                  </a:tcPr>
                </a:tc>
                <a:tc>
                  <a:txBody>
                    <a:bodyPr/>
                    <a:lstStyle/>
                    <a:p>
                      <a:r>
                        <a:rPr sz="1600" b="1">
                          <a:solidFill>
                            <a:srgbClr val="FFFFFF"/>
                          </a:solidFill>
                        </a:rPr>
                        <a:t>Barqarorlik</a:t>
                      </a:r>
                    </a:p>
                  </a:txBody>
                  <a:tcPr marL="73152" marR="73152" marT="36576" marB="36576">
                    <a:solidFill>
                      <a:srgbClr val="0B1F3A"/>
                    </a:solidFill>
                  </a:tcPr>
                </a:tc>
              </a:tr>
              <a:tr h="614476">
                <a:tc>
                  <a:txBody>
                    <a:bodyPr/>
                    <a:lstStyle/>
                    <a:p>
                      <a:r>
                        <a:rPr sz="1500" b="0">
                          <a:solidFill>
                            <a:srgbClr val="1F2937"/>
                          </a:solidFill>
                        </a:rPr>
                        <a:t>Yuz-bo‘yin sianozi</a:t>
                      </a:r>
                    </a:p>
                  </a:txBody>
                  <a:tcPr marL="73152" marR="73152" marT="36576" marB="36576">
                    <a:solidFill>
                      <a:srgbClr val="E8EEF6"/>
                    </a:solidFill>
                  </a:tcPr>
                </a:tc>
                <a:tc>
                  <a:txBody>
                    <a:bodyPr/>
                    <a:lstStyle/>
                    <a:p>
                      <a:r>
                        <a:rPr sz="1500" b="0">
                          <a:solidFill>
                            <a:srgbClr val="1F2937"/>
                          </a:solidFill>
                        </a:rPr>
                        <a:t>Hansirashdagi talvasalar</a:t>
                      </a:r>
                    </a:p>
                  </a:txBody>
                  <a:tcPr marL="73152" marR="73152" marT="36576" marB="36576">
                    <a:solidFill>
                      <a:srgbClr val="E8EEF6"/>
                    </a:solidFill>
                  </a:tcPr>
                </a:tc>
                <a:tc>
                  <a:txBody>
                    <a:bodyPr/>
                    <a:lstStyle/>
                    <a:p>
                      <a:r>
                        <a:rPr sz="1500" b="0">
                          <a:solidFill>
                            <a:srgbClr val="1F2937"/>
                          </a:solidFill>
                        </a:rPr>
                        <a:t>Turg‘un emas</a:t>
                      </a:r>
                    </a:p>
                  </a:txBody>
                  <a:tcPr marL="73152" marR="73152" marT="36576" marB="36576">
                    <a:solidFill>
                      <a:srgbClr val="E8EEF6"/>
                    </a:solidFill>
                  </a:tcPr>
                </a:tc>
              </a:tr>
              <a:tr h="614476">
                <a:tc>
                  <a:txBody>
                    <a:bodyPr/>
                    <a:lstStyle/>
                    <a:p>
                      <a:r>
                        <a:rPr sz="1500" b="0">
                          <a:solidFill>
                            <a:srgbClr val="1F2937"/>
                          </a:solidFill>
                        </a:rPr>
                        <a:t>Subkonyunktival ekximoz</a:t>
                      </a:r>
                    </a:p>
                  </a:txBody>
                  <a:tcPr marL="73152" marR="73152" marT="36576" marB="36576">
                    <a:solidFill>
                      <a:srgbClr val="FFFFFF"/>
                    </a:solidFill>
                  </a:tcPr>
                </a:tc>
                <a:tc>
                  <a:txBody>
                    <a:bodyPr/>
                    <a:lstStyle/>
                    <a:p>
                      <a:r>
                        <a:rPr sz="1500" b="0">
                          <a:solidFill>
                            <a:srgbClr val="1F2937"/>
                          </a:solidFill>
                        </a:rPr>
                        <a:t>Bosimning keskin o‘zgarishi</a:t>
                      </a:r>
                    </a:p>
                  </a:txBody>
                  <a:tcPr marL="73152" marR="73152" marT="36576" marB="36576">
                    <a:solidFill>
                      <a:srgbClr val="FFFFFF"/>
                    </a:solidFill>
                  </a:tcPr>
                </a:tc>
                <a:tc>
                  <a:txBody>
                    <a:bodyPr/>
                    <a:lstStyle/>
                    <a:p>
                      <a:r>
                        <a:rPr sz="1500" b="0">
                          <a:solidFill>
                            <a:srgbClr val="1F2937"/>
                          </a:solidFill>
                        </a:rPr>
                        <a:t>O‘tish burmasida yaqqol</a:t>
                      </a:r>
                    </a:p>
                  </a:txBody>
                  <a:tcPr marL="73152" marR="73152" marT="36576" marB="36576">
                    <a:solidFill>
                      <a:srgbClr val="FFFFFF"/>
                    </a:solidFill>
                  </a:tcPr>
                </a:tc>
              </a:tr>
              <a:tr h="614476">
                <a:tc>
                  <a:txBody>
                    <a:bodyPr/>
                    <a:lstStyle/>
                    <a:p>
                      <a:r>
                        <a:rPr sz="1500" b="0">
                          <a:solidFill>
                            <a:srgbClr val="1F2937"/>
                          </a:solidFill>
                        </a:rPr>
                        <a:t>Midriaz</a:t>
                      </a:r>
                    </a:p>
                  </a:txBody>
                  <a:tcPr marL="73152" marR="73152" marT="36576" marB="36576">
                    <a:solidFill>
                      <a:srgbClr val="E8EEF6"/>
                    </a:solidFill>
                  </a:tcPr>
                </a:tc>
                <a:tc>
                  <a:txBody>
                    <a:bodyPr/>
                    <a:lstStyle/>
                    <a:p>
                      <a:r>
                        <a:rPr sz="1500" b="0">
                          <a:solidFill>
                            <a:srgbClr val="1F2937"/>
                          </a:solidFill>
                        </a:rPr>
                        <a:t>Katexolaminlar ta’siri</a:t>
                      </a:r>
                    </a:p>
                  </a:txBody>
                  <a:tcPr marL="73152" marR="73152" marT="36576" marB="36576">
                    <a:solidFill>
                      <a:srgbClr val="E8EEF6"/>
                    </a:solidFill>
                  </a:tcPr>
                </a:tc>
                <a:tc>
                  <a:txBody>
                    <a:bodyPr/>
                    <a:lstStyle/>
                    <a:p>
                      <a:r>
                        <a:rPr sz="1500" b="0">
                          <a:solidFill>
                            <a:srgbClr val="1F2937"/>
                          </a:solidFill>
                        </a:rPr>
                        <a:t>Nisbatan noturg‘un</a:t>
                      </a:r>
                    </a:p>
                  </a:txBody>
                  <a:tcPr marL="73152" marR="73152" marT="36576" marB="36576">
                    <a:solidFill>
                      <a:srgbClr val="E8EEF6"/>
                    </a:solidFill>
                  </a:tcPr>
                </a:tc>
              </a:tr>
              <a:tr h="614476">
                <a:tc>
                  <a:txBody>
                    <a:bodyPr/>
                    <a:lstStyle/>
                    <a:p>
                      <a:r>
                        <a:rPr sz="1500" b="0">
                          <a:solidFill>
                            <a:srgbClr val="1F2937"/>
                          </a:solidFill>
                        </a:rPr>
                        <a:t>Ixtiyorsiz ajralmalar</a:t>
                      </a:r>
                    </a:p>
                  </a:txBody>
                  <a:tcPr marL="73152" marR="73152" marT="36576" marB="36576">
                    <a:solidFill>
                      <a:srgbClr val="FFFFFF"/>
                    </a:solidFill>
                  </a:tcPr>
                </a:tc>
                <a:tc>
                  <a:txBody>
                    <a:bodyPr/>
                    <a:lstStyle/>
                    <a:p>
                      <a:r>
                        <a:rPr sz="1500" b="0">
                          <a:solidFill>
                            <a:srgbClr val="1F2937"/>
                          </a:solidFill>
                        </a:rPr>
                        <a:t>Silliq mushaklar qisqarishi</a:t>
                      </a:r>
                    </a:p>
                  </a:txBody>
                  <a:tcPr marL="73152" marR="73152" marT="36576" marB="36576">
                    <a:solidFill>
                      <a:srgbClr val="FFFFFF"/>
                    </a:solidFill>
                  </a:tcPr>
                </a:tc>
                <a:tc>
                  <a:txBody>
                    <a:bodyPr/>
                    <a:lstStyle/>
                    <a:p>
                      <a:r>
                        <a:rPr sz="1500" b="0">
                          <a:solidFill>
                            <a:srgbClr val="1F2937"/>
                          </a:solidFill>
                        </a:rPr>
                        <a:t>Talvasa vaqtida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Tashqi belgilar: sabab va barqarorlik</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Umumiy ichki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Yurak va yirik venalarda qon to‘q qizil, suyuq; bu giperkapniya va fibrinogenaza faolligi bilan bog‘liq.</a:t>
            </a:r>
          </a:p>
          <a:p>
            <a:pPr>
              <a:spcAft>
                <a:spcPts val="800"/>
              </a:spcAft>
            </a:pPr>
            <a:r>
              <a:rPr sz="1800">
                <a:solidFill>
                  <a:srgbClr val="1F2937"/>
                </a:solidFill>
                <a:latin typeface="Calibri"/>
              </a:rPr>
              <a:t>▸  Tarde dog‘lari — epikard va visseral plevra ostidagi mayda (2-3 mm) to‘q qizil qon quyilishlar.</a:t>
            </a:r>
          </a:p>
          <a:p>
            <a:pPr>
              <a:spcAft>
                <a:spcPts val="800"/>
              </a:spcAft>
            </a:pPr>
            <a:r>
              <a:rPr sz="1800">
                <a:solidFill>
                  <a:srgbClr val="1F2937"/>
                </a:solidFill>
                <a:latin typeface="Calibri"/>
              </a:rPr>
              <a:t>▸  Alohida belgi spetsifik emas, majmua baholanadi; asfiktik yurak va Sabinskiy belgisi nisbatan patognomik.</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746758"/>
                <a:gridCol w="3541217"/>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Sababi</a:t>
                      </a:r>
                    </a:p>
                  </a:txBody>
                  <a:tcPr marL="73152" marR="73152" marT="36576" marB="36576">
                    <a:solidFill>
                      <a:srgbClr val="0B1F3A"/>
                    </a:solidFill>
                  </a:tcPr>
                </a:tc>
              </a:tr>
              <a:tr h="614476">
                <a:tc>
                  <a:txBody>
                    <a:bodyPr/>
                    <a:lstStyle/>
                    <a:p>
                      <a:r>
                        <a:rPr sz="1700" b="0">
                          <a:solidFill>
                            <a:srgbClr val="1F2937"/>
                          </a:solidFill>
                        </a:rPr>
                        <a:t>Asfiktik yurak</a:t>
                      </a:r>
                    </a:p>
                  </a:txBody>
                  <a:tcPr marL="73152" marR="73152" marT="36576" marB="36576">
                    <a:solidFill>
                      <a:srgbClr val="E8EEF6"/>
                    </a:solidFill>
                  </a:tcPr>
                </a:tc>
                <a:tc>
                  <a:txBody>
                    <a:bodyPr/>
                    <a:lstStyle/>
                    <a:p>
                      <a:r>
                        <a:rPr sz="1700" b="0">
                          <a:solidFill>
                            <a:srgbClr val="1F2937"/>
                          </a:solidFill>
                        </a:rPr>
                        <a:t>Kichik doira bosimi ↑; nafas oldin to‘xtaydi</a:t>
                      </a:r>
                    </a:p>
                  </a:txBody>
                  <a:tcPr marL="73152" marR="73152" marT="36576" marB="36576">
                    <a:solidFill>
                      <a:srgbClr val="E8EEF6"/>
                    </a:solidFill>
                  </a:tcPr>
                </a:tc>
              </a:tr>
              <a:tr h="614476">
                <a:tc>
                  <a:txBody>
                    <a:bodyPr/>
                    <a:lstStyle/>
                    <a:p>
                      <a:r>
                        <a:rPr sz="1700" b="0">
                          <a:solidFill>
                            <a:srgbClr val="1F2937"/>
                          </a:solidFill>
                        </a:rPr>
                        <a:t>Venoz to‘laqonlik</a:t>
                      </a:r>
                    </a:p>
                  </a:txBody>
                  <a:tcPr marL="73152" marR="73152" marT="36576" marB="36576">
                    <a:solidFill>
                      <a:srgbClr val="FFFFFF"/>
                    </a:solidFill>
                  </a:tcPr>
                </a:tc>
                <a:tc>
                  <a:txBody>
                    <a:bodyPr/>
                    <a:lstStyle/>
                    <a:p>
                      <a:r>
                        <a:rPr sz="1700" b="0">
                          <a:solidFill>
                            <a:srgbClr val="1F2937"/>
                          </a:solidFill>
                        </a:rPr>
                        <a:t>Kichik doira gipertenziyasi</a:t>
                      </a:r>
                    </a:p>
                  </a:txBody>
                  <a:tcPr marL="73152" marR="73152" marT="36576" marB="36576">
                    <a:solidFill>
                      <a:srgbClr val="FFFFFF"/>
                    </a:solidFill>
                  </a:tcPr>
                </a:tc>
              </a:tr>
              <a:tr h="614476">
                <a:tc>
                  <a:txBody>
                    <a:bodyPr/>
                    <a:lstStyle/>
                    <a:p>
                      <a:r>
                        <a:rPr sz="1700" b="0">
                          <a:solidFill>
                            <a:srgbClr val="1F2937"/>
                          </a:solidFill>
                        </a:rPr>
                        <a:t>Tarde dog‘lari</a:t>
                      </a:r>
                    </a:p>
                  </a:txBody>
                  <a:tcPr marL="73152" marR="73152" marT="36576" marB="36576">
                    <a:solidFill>
                      <a:srgbClr val="E8EEF6"/>
                    </a:solidFill>
                  </a:tcPr>
                </a:tc>
                <a:tc>
                  <a:txBody>
                    <a:bodyPr/>
                    <a:lstStyle/>
                    <a:p>
                      <a:r>
                        <a:rPr sz="1700" b="0">
                          <a:solidFill>
                            <a:srgbClr val="1F2937"/>
                          </a:solidFill>
                        </a:rPr>
                        <a:t>Tomir bosimi keskin ↑, o‘tkazuvchanlik ↑</a:t>
                      </a:r>
                    </a:p>
                  </a:txBody>
                  <a:tcPr marL="73152" marR="73152" marT="36576" marB="36576">
                    <a:solidFill>
                      <a:srgbClr val="E8EEF6"/>
                    </a:solidFill>
                  </a:tcPr>
                </a:tc>
              </a:tr>
              <a:tr h="614476">
                <a:tc>
                  <a:txBody>
                    <a:bodyPr/>
                    <a:lstStyle/>
                    <a:p>
                      <a:r>
                        <a:rPr sz="1700" b="0">
                          <a:solidFill>
                            <a:srgbClr val="1F2937"/>
                          </a:solidFill>
                        </a:rPr>
                        <a:t>Sabinskiy belgisi</a:t>
                      </a:r>
                    </a:p>
                  </a:txBody>
                  <a:tcPr marL="73152" marR="73152" marT="36576" marB="36576">
                    <a:solidFill>
                      <a:srgbClr val="FFFFFF"/>
                    </a:solidFill>
                  </a:tcPr>
                </a:tc>
                <a:tc>
                  <a:txBody>
                    <a:bodyPr/>
                    <a:lstStyle/>
                    <a:p>
                      <a:r>
                        <a:rPr sz="1700" b="0">
                          <a:solidFill>
                            <a:srgbClr val="1F2937"/>
                          </a:solidFill>
                        </a:rPr>
                        <a:t>Preasfiktik davrda depodan qon chiqishi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belgilar sababi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110, 111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tez o‘limning nospetsifik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yuzi bilan pastga qarab yotgan holda topildi; yuz va bo‘yni ko‘kimtir, ichki a’zolarda qon suyuq va to‘q qizil.</a:t>
            </a:r>
          </a:p>
          <a:p>
            <a:pPr>
              <a:spcAft>
                <a:spcPts val="1200"/>
              </a:spcAft>
            </a:pPr>
            <a:r>
              <a:rPr sz="2200">
                <a:solidFill>
                  <a:srgbClr val="1F2937"/>
                </a:solidFill>
                <a:latin typeface="Calibri"/>
              </a:rPr>
              <a:t>▸  Yuz va bo‘yin sianozi turg‘un emas: murda chalqancha yotsa qon pastga oqib, belgi yo‘qolishi mumkin.</a:t>
            </a:r>
          </a:p>
          <a:p>
            <a:pPr>
              <a:spcAft>
                <a:spcPts val="1200"/>
              </a:spcAft>
            </a:pPr>
            <a:r>
              <a:rPr sz="2200">
                <a:solidFill>
                  <a:srgbClr val="1F2937"/>
                </a:solidFill>
                <a:latin typeface="Calibri"/>
              </a:rPr>
              <a:t>▸  Diqqat: xato qilish xavfi — umumasfiktik belgi ≠ mexanik asfiksiya isboti. Yurak kasalligidan to‘satdan o‘lim, elektrotravma, anafilaktik shokda ham uchraydi.</a:t>
            </a:r>
          </a:p>
          <a:p>
            <a:pPr>
              <a:spcAft>
                <a:spcPts val="1200"/>
              </a:spcAft>
            </a:pPr>
            <a:r>
              <a:rPr sz="2200">
                <a:solidFill>
                  <a:srgbClr val="1F2937"/>
                </a:solidFill>
                <a:latin typeface="Calibri"/>
              </a:rPr>
              <a:t>▸  Savol: faqat yuzning ko‘kimtirligiga tayanib asfiksiya deyish to‘g‘rimi? Diagnoz uchun qanday belgilar majmuasi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110, 110-111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Osilish: tushuncha, turlari va sirtmoq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Osilish mexanik asfiksiyaning eng ko‘p turi: asfiksiyadan o‘limning 65-70% ini tashkil etadi.</a:t>
            </a:r>
          </a:p>
          <a:p>
            <a:pPr>
              <a:spcAft>
                <a:spcPts val="800"/>
              </a:spcAft>
            </a:pPr>
            <a:r>
              <a:rPr sz="1800">
                <a:solidFill>
                  <a:srgbClr val="1F2937"/>
                </a:solidFill>
                <a:latin typeface="Calibri"/>
              </a:rPr>
              <a:t>▸  Tipik osilishda tana sirtmoqda erkin osilib turadi; notipikda tananing bir qismi tayanchga ega bo‘ladi.</a:t>
            </a:r>
          </a:p>
          <a:p>
            <a:pPr>
              <a:spcAft>
                <a:spcPts val="800"/>
              </a:spcAft>
            </a:pPr>
            <a:r>
              <a:rPr sz="1800">
                <a:solidFill>
                  <a:srgbClr val="1F2937"/>
                </a:solidFill>
                <a:latin typeface="Calibri"/>
              </a:rPr>
              <a:t>▸  Sirtmoq tuguni tipik (orqa sohada) yoki atipik (old va yon sohalarda) joylashadi.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26685"/>
                <a:gridCol w="3561289"/>
              </a:tblGrid>
              <a:tr h="614476">
                <a:tc>
                  <a:txBody>
                    <a:bodyPr/>
                    <a:lstStyle/>
                    <a:p>
                      <a:r>
                        <a:rPr sz="1800" b="1">
                          <a:solidFill>
                            <a:srgbClr val="FFFFFF"/>
                          </a:solidFill>
                        </a:rPr>
                        <a:t>Xususiyat</a:t>
                      </a:r>
                    </a:p>
                  </a:txBody>
                  <a:tcPr marL="73152" marR="73152" marT="36576" marB="36576">
                    <a:solidFill>
                      <a:srgbClr val="0B1F3A"/>
                    </a:solidFill>
                  </a:tcPr>
                </a:tc>
                <a:tc>
                  <a:txBody>
                    <a:bodyPr/>
                    <a:lstStyle/>
                    <a:p>
                      <a:r>
                        <a:rPr sz="1800" b="1">
                          <a:solidFill>
                            <a:srgbClr val="FFFFFF"/>
                          </a:solidFill>
                        </a:rPr>
                        <a:t>Variantlar</a:t>
                      </a:r>
                    </a:p>
                  </a:txBody>
                  <a:tcPr marL="73152" marR="73152" marT="36576" marB="36576">
                    <a:solidFill>
                      <a:srgbClr val="0B1F3A"/>
                    </a:solidFill>
                  </a:tcPr>
                </a:tc>
              </a:tr>
              <a:tr h="614476">
                <a:tc>
                  <a:txBody>
                    <a:bodyPr/>
                    <a:lstStyle/>
                    <a:p>
                      <a:r>
                        <a:rPr sz="1700" b="0">
                          <a:solidFill>
                            <a:srgbClr val="1F2937"/>
                          </a:solidFill>
                        </a:rPr>
                        <a:t>Material</a:t>
                      </a:r>
                    </a:p>
                  </a:txBody>
                  <a:tcPr marL="73152" marR="73152" marT="36576" marB="36576">
                    <a:solidFill>
                      <a:srgbClr val="E8EEF6"/>
                    </a:solidFill>
                  </a:tcPr>
                </a:tc>
                <a:tc>
                  <a:txBody>
                    <a:bodyPr/>
                    <a:lstStyle/>
                    <a:p>
                      <a:r>
                        <a:rPr sz="1700" b="0">
                          <a:solidFill>
                            <a:srgbClr val="1F2937"/>
                          </a:solidFill>
                        </a:rPr>
                        <a:t>Yumshoq, yarim qattiq, qattiq</a:t>
                      </a:r>
                    </a:p>
                  </a:txBody>
                  <a:tcPr marL="73152" marR="73152" marT="36576" marB="36576">
                    <a:solidFill>
                      <a:srgbClr val="E8EEF6"/>
                    </a:solidFill>
                  </a:tcPr>
                </a:tc>
              </a:tr>
              <a:tr h="614476">
                <a:tc>
                  <a:txBody>
                    <a:bodyPr/>
                    <a:lstStyle/>
                    <a:p>
                      <a:r>
                        <a:rPr sz="1700" b="0">
                          <a:solidFill>
                            <a:srgbClr val="1F2937"/>
                          </a:solidFill>
                        </a:rPr>
                        <a:t>O‘ramlar soni</a:t>
                      </a:r>
                    </a:p>
                  </a:txBody>
                  <a:tcPr marL="73152" marR="73152" marT="36576" marB="36576">
                    <a:solidFill>
                      <a:srgbClr val="FFFFFF"/>
                    </a:solidFill>
                  </a:tcPr>
                </a:tc>
                <a:tc>
                  <a:txBody>
                    <a:bodyPr/>
                    <a:lstStyle/>
                    <a:p>
                      <a:r>
                        <a:rPr sz="1700" b="0">
                          <a:solidFill>
                            <a:srgbClr val="1F2937"/>
                          </a:solidFill>
                        </a:rPr>
                        <a:t>Bir, ikki yoki ko‘p o‘ramli</a:t>
                      </a:r>
                    </a:p>
                  </a:txBody>
                  <a:tcPr marL="73152" marR="73152" marT="36576" marB="36576">
                    <a:solidFill>
                      <a:srgbClr val="FFFFFF"/>
                    </a:solidFill>
                  </a:tcPr>
                </a:tc>
              </a:tr>
              <a:tr h="614476">
                <a:tc>
                  <a:txBody>
                    <a:bodyPr/>
                    <a:lstStyle/>
                    <a:p>
                      <a:r>
                        <a:rPr sz="1700" b="0">
                          <a:solidFill>
                            <a:srgbClr val="1F2937"/>
                          </a:solidFill>
                        </a:rPr>
                        <a:t>Halqa</a:t>
                      </a:r>
                    </a:p>
                  </a:txBody>
                  <a:tcPr marL="73152" marR="73152" marT="36576" marB="36576">
                    <a:solidFill>
                      <a:srgbClr val="E8EEF6"/>
                    </a:solidFill>
                  </a:tcPr>
                </a:tc>
                <a:tc>
                  <a:txBody>
                    <a:bodyPr/>
                    <a:lstStyle/>
                    <a:p>
                      <a:r>
                        <a:rPr sz="1700" b="0">
                          <a:solidFill>
                            <a:srgbClr val="1F2937"/>
                          </a:solidFill>
                        </a:rPr>
                        <a:t>Sirpanuvchan yoki sirpanmas</a:t>
                      </a:r>
                    </a:p>
                  </a:txBody>
                  <a:tcPr marL="73152" marR="73152" marT="36576" marB="36576">
                    <a:solidFill>
                      <a:srgbClr val="E8EEF6"/>
                    </a:solidFill>
                  </a:tcPr>
                </a:tc>
              </a:tr>
              <a:tr h="614476">
                <a:tc>
                  <a:txBody>
                    <a:bodyPr/>
                    <a:lstStyle/>
                    <a:p>
                      <a:r>
                        <a:rPr sz="1700" b="0">
                          <a:solidFill>
                            <a:srgbClr val="1F2937"/>
                          </a:solidFill>
                        </a:rPr>
                        <a:t>Tugun joyi</a:t>
                      </a:r>
                    </a:p>
                  </a:txBody>
                  <a:tcPr marL="73152" marR="73152" marT="36576" marB="36576">
                    <a:solidFill>
                      <a:srgbClr val="FFFFFF"/>
                    </a:solidFill>
                  </a:tcPr>
                </a:tc>
                <a:tc>
                  <a:txBody>
                    <a:bodyPr/>
                    <a:lstStyle/>
                    <a:p>
                      <a:r>
                        <a:rPr sz="1700" b="0">
                          <a:solidFill>
                            <a:srgbClr val="1F2937"/>
                          </a:solidFill>
                        </a:rPr>
                        <a:t>Tipik — orqada; atipik — old, yon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Sirtmoq xususiyatlari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111, 111-112, 112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Osilishda o‘limning vujudga kelish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Til asosi halqum devoriga siljib, havo yo‘li torayadi; butunlay yopilish faqat ayrim holatlarda bo‘ladi.</a:t>
            </a:r>
          </a:p>
          <a:p>
            <a:pPr>
              <a:spcAft>
                <a:spcPts val="800"/>
              </a:spcAft>
            </a:pPr>
            <a:r>
              <a:rPr sz="1800">
                <a:solidFill>
                  <a:srgbClr val="1F2937"/>
                </a:solidFill>
                <a:latin typeface="Calibri"/>
              </a:rPr>
              <a:t>▸  Bo‘yinturuq venalar qisilib, qon oqishi qiyinlashadi; kalla ichi bosimi oshib, miya faoliyati buziladi.</a:t>
            </a:r>
          </a:p>
          <a:p>
            <a:pPr>
              <a:spcAft>
                <a:spcPts val="800"/>
              </a:spcAft>
            </a:pPr>
            <a:r>
              <a:rPr sz="1800">
                <a:solidFill>
                  <a:srgbClr val="1F2937"/>
                </a:solidFill>
                <a:latin typeface="Calibri"/>
              </a:rPr>
              <a:t>▸  Keskin tipik osilishda orqa miya va umurtqalararo disklar yorilishi o‘limda hal qiluvchi bo‘lishi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774019"/>
                <a:gridCol w="2513955"/>
              </a:tblGrid>
              <a:tr h="614476">
                <a:tc>
                  <a:txBody>
                    <a:bodyPr/>
                    <a:lstStyle/>
                    <a:p>
                      <a:r>
                        <a:rPr sz="1800" b="1">
                          <a:solidFill>
                            <a:srgbClr val="FFFFFF"/>
                          </a:solidFill>
                        </a:rPr>
                        <a:t>Omil</a:t>
                      </a:r>
                    </a:p>
                  </a:txBody>
                  <a:tcPr marL="73152" marR="73152" marT="36576" marB="36576">
                    <a:solidFill>
                      <a:srgbClr val="0B1F3A"/>
                    </a:solidFill>
                  </a:tcPr>
                </a:tc>
                <a:tc>
                  <a:txBody>
                    <a:bodyPr/>
                    <a:lstStyle/>
                    <a:p>
                      <a:r>
                        <a:rPr sz="1800" b="1">
                          <a:solidFill>
                            <a:srgbClr val="FFFFFF"/>
                          </a:solidFill>
                        </a:rPr>
                        <a:t>Oqibat</a:t>
                      </a:r>
                    </a:p>
                  </a:txBody>
                  <a:tcPr marL="73152" marR="73152" marT="36576" marB="36576">
                    <a:solidFill>
                      <a:srgbClr val="0B1F3A"/>
                    </a:solidFill>
                  </a:tcPr>
                </a:tc>
              </a:tr>
              <a:tr h="614476">
                <a:tc>
                  <a:txBody>
                    <a:bodyPr/>
                    <a:lstStyle/>
                    <a:p>
                      <a:r>
                        <a:rPr sz="1700" b="0">
                          <a:solidFill>
                            <a:srgbClr val="1F2937"/>
                          </a:solidFill>
                        </a:rPr>
                        <a:t>Havo yo‘li</a:t>
                      </a:r>
                    </a:p>
                  </a:txBody>
                  <a:tcPr marL="73152" marR="73152" marT="36576" marB="36576">
                    <a:solidFill>
                      <a:srgbClr val="E8EEF6"/>
                    </a:solidFill>
                  </a:tcPr>
                </a:tc>
                <a:tc>
                  <a:txBody>
                    <a:bodyPr/>
                    <a:lstStyle/>
                    <a:p>
                      <a:r>
                        <a:rPr sz="1700" b="0">
                          <a:solidFill>
                            <a:srgbClr val="1F2937"/>
                          </a:solidFill>
                        </a:rPr>
                        <a:t>Til asosi siljib, torayadi</a:t>
                      </a:r>
                    </a:p>
                  </a:txBody>
                  <a:tcPr marL="73152" marR="73152" marT="36576" marB="36576">
                    <a:solidFill>
                      <a:srgbClr val="E8EEF6"/>
                    </a:solidFill>
                  </a:tcPr>
                </a:tc>
              </a:tr>
              <a:tr h="614476">
                <a:tc>
                  <a:txBody>
                    <a:bodyPr/>
                    <a:lstStyle/>
                    <a:p>
                      <a:r>
                        <a:rPr sz="1700" b="0">
                          <a:solidFill>
                            <a:srgbClr val="1F2937"/>
                          </a:solidFill>
                        </a:rPr>
                        <a:t>Bo‘yinturuq venalar</a:t>
                      </a:r>
                    </a:p>
                  </a:txBody>
                  <a:tcPr marL="73152" marR="73152" marT="36576" marB="36576">
                    <a:solidFill>
                      <a:srgbClr val="FFFFFF"/>
                    </a:solidFill>
                  </a:tcPr>
                </a:tc>
                <a:tc>
                  <a:txBody>
                    <a:bodyPr/>
                    <a:lstStyle/>
                    <a:p>
                      <a:r>
                        <a:rPr sz="1700" b="0">
                          <a:solidFill>
                            <a:srgbClr val="1F2937"/>
                          </a:solidFill>
                        </a:rPr>
                        <a:t>Qon oqishi qiyinlashadi</a:t>
                      </a:r>
                    </a:p>
                  </a:txBody>
                  <a:tcPr marL="73152" marR="73152" marT="36576" marB="36576">
                    <a:solidFill>
                      <a:srgbClr val="FFFFFF"/>
                    </a:solidFill>
                  </a:tcPr>
                </a:tc>
              </a:tr>
              <a:tr h="614476">
                <a:tc>
                  <a:txBody>
                    <a:bodyPr/>
                    <a:lstStyle/>
                    <a:p>
                      <a:r>
                        <a:rPr sz="1700" b="0">
                          <a:solidFill>
                            <a:srgbClr val="1F2937"/>
                          </a:solidFill>
                        </a:rPr>
                        <a:t>Adashgan nerv, sinokarotid tugun</a:t>
                      </a:r>
                    </a:p>
                  </a:txBody>
                  <a:tcPr marL="73152" marR="73152" marT="36576" marB="36576">
                    <a:solidFill>
                      <a:srgbClr val="E8EEF6"/>
                    </a:solidFill>
                  </a:tcPr>
                </a:tc>
                <a:tc>
                  <a:txBody>
                    <a:bodyPr/>
                    <a:lstStyle/>
                    <a:p>
                      <a:r>
                        <a:rPr sz="1700" b="0">
                          <a:solidFill>
                            <a:srgbClr val="1F2937"/>
                          </a:solidFill>
                        </a:rPr>
                        <a:t>Yurakning reflektor to‘xtashi</a:t>
                      </a:r>
                    </a:p>
                  </a:txBody>
                  <a:tcPr marL="73152" marR="73152" marT="36576" marB="36576">
                    <a:solidFill>
                      <a:srgbClr val="E8EEF6"/>
                    </a:solidFill>
                  </a:tcPr>
                </a:tc>
              </a:tr>
              <a:tr h="614476">
                <a:tc>
                  <a:txBody>
                    <a:bodyPr/>
                    <a:lstStyle/>
                    <a:p>
                      <a:r>
                        <a:rPr sz="1700" b="0">
                          <a:solidFill>
                            <a:srgbClr val="1F2937"/>
                          </a:solidFill>
                        </a:rPr>
                        <a:t>Atipik tugun</a:t>
                      </a:r>
                    </a:p>
                  </a:txBody>
                  <a:tcPr marL="73152" marR="73152" marT="36576" marB="36576">
                    <a:solidFill>
                      <a:srgbClr val="FFFFFF"/>
                    </a:solidFill>
                  </a:tcPr>
                </a:tc>
                <a:tc>
                  <a:txBody>
                    <a:bodyPr/>
                    <a:lstStyle/>
                    <a:p>
                      <a:r>
                        <a:rPr sz="1700" b="0">
                          <a:solidFill>
                            <a:srgbClr val="1F2937"/>
                          </a:solidFill>
                        </a:rPr>
                        <a:t>Qusish va aspiratsiya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O‘lim omillari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113, 114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Strangulyatsion egat va uning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Egat shilinma ko‘rinishida bo‘lib, joyi, yo‘nalishi, kengligi va chuqurligi sirtmoq xususiyatiga bog‘liq.</a:t>
            </a:r>
          </a:p>
          <a:p>
            <a:pPr>
              <a:spcAft>
                <a:spcPts val="800"/>
              </a:spcAft>
            </a:pPr>
            <a:r>
              <a:rPr sz="1800">
                <a:solidFill>
                  <a:srgbClr val="1F2937"/>
                </a:solidFill>
                <a:latin typeface="Calibri"/>
              </a:rPr>
              <a:t>▸  Qattiq sirtmoq zichroq, chuqurroq egat qoldiradi; tugunga qarama-qarshi tomonda egat yaqqolroq bo‘ladi.</a:t>
            </a:r>
          </a:p>
          <a:p>
            <a:pPr>
              <a:spcAft>
                <a:spcPts val="800"/>
              </a:spcAft>
            </a:pPr>
            <a:r>
              <a:rPr sz="1800">
                <a:solidFill>
                  <a:srgbClr val="1F2937"/>
                </a:solidFill>
                <a:latin typeface="Calibri"/>
              </a:rPr>
              <a:t>▸  Yumshoq sirtmoqda egat terida ko‘rinmaydi; ichkarida oqimtir yo‘lka — “mis sim” (Kasper) belgisi topiladi.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337310"/>
                <a:gridCol w="2164080"/>
                <a:gridCol w="1786585"/>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Tipik osilish</a:t>
                      </a:r>
                    </a:p>
                  </a:txBody>
                  <a:tcPr marL="73152" marR="73152" marT="36576" marB="36576">
                    <a:solidFill>
                      <a:srgbClr val="0B1F3A"/>
                    </a:solidFill>
                  </a:tcPr>
                </a:tc>
                <a:tc>
                  <a:txBody>
                    <a:bodyPr/>
                    <a:lstStyle/>
                    <a:p>
                      <a:r>
                        <a:rPr sz="1600" b="1">
                          <a:solidFill>
                            <a:srgbClr val="FFFFFF"/>
                          </a:solidFill>
                        </a:rPr>
                        <a:t>Atipik osilish</a:t>
                      </a:r>
                    </a:p>
                  </a:txBody>
                  <a:tcPr marL="73152" marR="73152" marT="36576" marB="36576">
                    <a:solidFill>
                      <a:srgbClr val="0B1F3A"/>
                    </a:solidFill>
                  </a:tcPr>
                </a:tc>
              </a:tr>
              <a:tr h="768096">
                <a:tc>
                  <a:txBody>
                    <a:bodyPr/>
                    <a:lstStyle/>
                    <a:p>
                      <a:r>
                        <a:rPr sz="1500" b="0">
                          <a:solidFill>
                            <a:srgbClr val="1F2937"/>
                          </a:solidFill>
                        </a:rPr>
                        <a:t>Tugun</a:t>
                      </a:r>
                    </a:p>
                  </a:txBody>
                  <a:tcPr marL="73152" marR="73152" marT="36576" marB="36576">
                    <a:solidFill>
                      <a:srgbClr val="E8EEF6"/>
                    </a:solidFill>
                  </a:tcPr>
                </a:tc>
                <a:tc>
                  <a:txBody>
                    <a:bodyPr/>
                    <a:lstStyle/>
                    <a:p>
                      <a:r>
                        <a:rPr sz="1500" b="0">
                          <a:solidFill>
                            <a:srgbClr val="1F2937"/>
                          </a:solidFill>
                        </a:rPr>
                        <a:t>Bo‘yinning orqasida</a:t>
                      </a:r>
                    </a:p>
                  </a:txBody>
                  <a:tcPr marL="73152" marR="73152" marT="36576" marB="36576">
                    <a:solidFill>
                      <a:srgbClr val="E8EEF6"/>
                    </a:solidFill>
                  </a:tcPr>
                </a:tc>
                <a:tc>
                  <a:txBody>
                    <a:bodyPr/>
                    <a:lstStyle/>
                    <a:p>
                      <a:r>
                        <a:rPr sz="1500" b="0">
                          <a:solidFill>
                            <a:srgbClr val="1F2937"/>
                          </a:solidFill>
                        </a:rPr>
                        <a:t>Old yoki yon sohada</a:t>
                      </a:r>
                    </a:p>
                  </a:txBody>
                  <a:tcPr marL="73152" marR="73152" marT="36576" marB="36576">
                    <a:solidFill>
                      <a:srgbClr val="E8EEF6"/>
                    </a:solidFill>
                  </a:tcPr>
                </a:tc>
              </a:tr>
              <a:tr h="768096">
                <a:tc>
                  <a:txBody>
                    <a:bodyPr/>
                    <a:lstStyle/>
                    <a:p>
                      <a:r>
                        <a:rPr sz="1500" b="0">
                          <a:solidFill>
                            <a:srgbClr val="1F2937"/>
                          </a:solidFill>
                        </a:rPr>
                        <a:t>Egat joyi</a:t>
                      </a:r>
                    </a:p>
                  </a:txBody>
                  <a:tcPr marL="73152" marR="73152" marT="36576" marB="36576">
                    <a:solidFill>
                      <a:srgbClr val="FFFFFF"/>
                    </a:solidFill>
                  </a:tcPr>
                </a:tc>
                <a:tc>
                  <a:txBody>
                    <a:bodyPr/>
                    <a:lstStyle/>
                    <a:p>
                      <a:r>
                        <a:rPr sz="1500" b="0">
                          <a:solidFill>
                            <a:srgbClr val="1F2937"/>
                          </a:solidFill>
                        </a:rPr>
                        <a:t>Til osti suyagidan yuqori</a:t>
                      </a:r>
                    </a:p>
                  </a:txBody>
                  <a:tcPr marL="73152" marR="73152" marT="36576" marB="36576">
                    <a:solidFill>
                      <a:srgbClr val="FFFFFF"/>
                    </a:solidFill>
                  </a:tcPr>
                </a:tc>
                <a:tc>
                  <a:txBody>
                    <a:bodyPr/>
                    <a:lstStyle/>
                    <a:p>
                      <a:r>
                        <a:rPr sz="1500" b="0">
                          <a:solidFill>
                            <a:srgbClr val="1F2937"/>
                          </a:solidFill>
                        </a:rPr>
                        <a:t>Bo‘yinning pastroq qismida</a:t>
                      </a:r>
                    </a:p>
                  </a:txBody>
                  <a:tcPr marL="73152" marR="73152" marT="36576" marB="36576">
                    <a:solidFill>
                      <a:srgbClr val="FFFFFF"/>
                    </a:solidFill>
                  </a:tcPr>
                </a:tc>
              </a:tr>
              <a:tr h="768096">
                <a:tc>
                  <a:txBody>
                    <a:bodyPr/>
                    <a:lstStyle/>
                    <a:p>
                      <a:r>
                        <a:rPr sz="1500" b="0">
                          <a:solidFill>
                            <a:srgbClr val="1F2937"/>
                          </a:solidFill>
                        </a:rPr>
                        <a:t>Yo‘nalish</a:t>
                      </a:r>
                    </a:p>
                  </a:txBody>
                  <a:tcPr marL="73152" marR="73152" marT="36576" marB="36576">
                    <a:solidFill>
                      <a:srgbClr val="E8EEF6"/>
                    </a:solidFill>
                  </a:tcPr>
                </a:tc>
                <a:tc>
                  <a:txBody>
                    <a:bodyPr/>
                    <a:lstStyle/>
                    <a:p>
                      <a:r>
                        <a:rPr sz="1500" b="0">
                          <a:solidFill>
                            <a:srgbClr val="1F2937"/>
                          </a:solidFill>
                        </a:rPr>
                        <a:t>Qiyshiq-vertikal</a:t>
                      </a:r>
                    </a:p>
                  </a:txBody>
                  <a:tcPr marL="73152" marR="73152" marT="36576" marB="36576">
                    <a:solidFill>
                      <a:srgbClr val="E8EEF6"/>
                    </a:solidFill>
                  </a:tcPr>
                </a:tc>
                <a:tc>
                  <a:txBody>
                    <a:bodyPr/>
                    <a:lstStyle/>
                    <a:p>
                      <a:r>
                        <a:rPr sz="1500" b="0">
                          <a:solidFill>
                            <a:srgbClr val="1F2937"/>
                          </a:solidFill>
                        </a:rPr>
                        <a:t>Vertikallik kamayadi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Tipik va atipik osilish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114, 115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Cho‘zilish belgilari va egat hayotiyligi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Bruardel belgisi: halqum orti sohasi va halqumning orqa devorida ko‘lamli qon quyilishlar.</a:t>
            </a:r>
          </a:p>
          <a:p>
            <a:pPr>
              <a:spcAft>
                <a:spcPts val="800"/>
              </a:spcAft>
            </a:pPr>
            <a:r>
              <a:rPr sz="1800">
                <a:solidFill>
                  <a:srgbClr val="1F2937"/>
                </a:solidFill>
                <a:latin typeface="Calibri"/>
              </a:rPr>
              <a:t>▸  Bokarius sinamasi: egat burmachasidagi to‘laqonlik va qon quyilish egat hayotiy yetkazilganini bildiradi.</a:t>
            </a:r>
          </a:p>
          <a:p>
            <a:pPr>
              <a:spcAft>
                <a:spcPts val="800"/>
              </a:spcAft>
            </a:pPr>
            <a:r>
              <a:rPr sz="1800">
                <a:solidFill>
                  <a:srgbClr val="1F2937"/>
                </a:solidFill>
                <a:latin typeface="Calibri"/>
              </a:rPr>
              <a:t>▸  Neyding (qon aylanishi buzilishi) va Kasyanov (reaktiv yallig‘lanish) belgilari hayotiylikni tasdiqlaydi.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66807"/>
                <a:gridCol w="3721167"/>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Ma’nosi</a:t>
                      </a:r>
                    </a:p>
                  </a:txBody>
                  <a:tcPr marL="73152" marR="73152" marT="36576" marB="36576">
                    <a:solidFill>
                      <a:srgbClr val="0B1F3A"/>
                    </a:solidFill>
                  </a:tcPr>
                </a:tc>
              </a:tr>
              <a:tr h="614476">
                <a:tc>
                  <a:txBody>
                    <a:bodyPr/>
                    <a:lstStyle/>
                    <a:p>
                      <a:r>
                        <a:rPr sz="1700" b="0">
                          <a:solidFill>
                            <a:srgbClr val="1F2937"/>
                          </a:solidFill>
                        </a:rPr>
                        <a:t>Amyuss</a:t>
                      </a:r>
                    </a:p>
                  </a:txBody>
                  <a:tcPr marL="73152" marR="73152" marT="36576" marB="36576">
                    <a:solidFill>
                      <a:srgbClr val="E8EEF6"/>
                    </a:solidFill>
                  </a:tcPr>
                </a:tc>
                <a:tc>
                  <a:txBody>
                    <a:bodyPr/>
                    <a:lstStyle/>
                    <a:p>
                      <a:r>
                        <a:rPr sz="1700" b="0">
                          <a:solidFill>
                            <a:srgbClr val="1F2937"/>
                          </a:solidFill>
                        </a:rPr>
                        <a:t>Uyqu arteriyasi intimasi yorilishi</a:t>
                      </a:r>
                    </a:p>
                  </a:txBody>
                  <a:tcPr marL="73152" marR="73152" marT="36576" marB="36576">
                    <a:solidFill>
                      <a:srgbClr val="E8EEF6"/>
                    </a:solidFill>
                  </a:tcPr>
                </a:tc>
              </a:tr>
              <a:tr h="614476">
                <a:tc>
                  <a:txBody>
                    <a:bodyPr/>
                    <a:lstStyle/>
                    <a:p>
                      <a:r>
                        <a:rPr sz="1700" b="0">
                          <a:solidFill>
                            <a:srgbClr val="1F2937"/>
                          </a:solidFill>
                        </a:rPr>
                        <a:t>Martin</a:t>
                      </a:r>
                    </a:p>
                  </a:txBody>
                  <a:tcPr marL="73152" marR="73152" marT="36576" marB="36576">
                    <a:solidFill>
                      <a:srgbClr val="FFFFFF"/>
                    </a:solidFill>
                  </a:tcPr>
                </a:tc>
                <a:tc>
                  <a:txBody>
                    <a:bodyPr/>
                    <a:lstStyle/>
                    <a:p>
                      <a:r>
                        <a:rPr sz="1700" b="0">
                          <a:solidFill>
                            <a:srgbClr val="1F2937"/>
                          </a:solidFill>
                        </a:rPr>
                        <a:t>Arteriya tashqi qavatida qon quyilishi</a:t>
                      </a:r>
                    </a:p>
                  </a:txBody>
                  <a:tcPr marL="73152" marR="73152" marT="36576" marB="36576">
                    <a:solidFill>
                      <a:srgbClr val="FFFFFF"/>
                    </a:solidFill>
                  </a:tcPr>
                </a:tc>
              </a:tr>
              <a:tr h="614476">
                <a:tc>
                  <a:txBody>
                    <a:bodyPr/>
                    <a:lstStyle/>
                    <a:p>
                      <a:r>
                        <a:rPr sz="1700" b="0">
                          <a:solidFill>
                            <a:srgbClr val="1F2937"/>
                          </a:solidFill>
                        </a:rPr>
                        <a:t>Valxer</a:t>
                      </a:r>
                    </a:p>
                  </a:txBody>
                  <a:tcPr marL="73152" marR="73152" marT="36576" marB="36576">
                    <a:solidFill>
                      <a:srgbClr val="E8EEF6"/>
                    </a:solidFill>
                  </a:tcPr>
                </a:tc>
                <a:tc>
                  <a:txBody>
                    <a:bodyPr/>
                    <a:lstStyle/>
                    <a:p>
                      <a:r>
                        <a:rPr sz="1700" b="0">
                          <a:solidFill>
                            <a:srgbClr val="1F2937"/>
                          </a:solidFill>
                        </a:rPr>
                        <a:t>Mushak pastki uchida qon quyilishi</a:t>
                      </a:r>
                    </a:p>
                  </a:txBody>
                  <a:tcPr marL="73152" marR="73152" marT="36576" marB="36576">
                    <a:solidFill>
                      <a:srgbClr val="E8EEF6"/>
                    </a:solidFill>
                  </a:tcPr>
                </a:tc>
              </a:tr>
              <a:tr h="614476">
                <a:tc>
                  <a:txBody>
                    <a:bodyPr/>
                    <a:lstStyle/>
                    <a:p>
                      <a:r>
                        <a:rPr sz="1700" b="0">
                          <a:solidFill>
                            <a:srgbClr val="1F2937"/>
                          </a:solidFill>
                        </a:rPr>
                        <a:t>Simon</a:t>
                      </a:r>
                    </a:p>
                  </a:txBody>
                  <a:tcPr marL="73152" marR="73152" marT="36576" marB="36576">
                    <a:solidFill>
                      <a:srgbClr val="FFFFFF"/>
                    </a:solidFill>
                  </a:tcPr>
                </a:tc>
                <a:tc>
                  <a:txBody>
                    <a:bodyPr/>
                    <a:lstStyle/>
                    <a:p>
                      <a:r>
                        <a:rPr sz="1700" b="0">
                          <a:solidFill>
                            <a:srgbClr val="1F2937"/>
                          </a:solidFill>
                        </a:rPr>
                        <a:t>Bo‘yin disklariga qon quyilishi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Cho‘zilish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116, 117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osilish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1: terida egat yaqqol emas, ichki tekshiruvda bo‘yin yumshoq to‘qimasida oqimtir yo‘lka bor. Bu qaysi belgi? Javob: “mis sim” (Kasper) belgisi.</a:t>
            </a:r>
          </a:p>
          <a:p>
            <a:pPr>
              <a:spcAft>
                <a:spcPts val="1200"/>
              </a:spcAft>
            </a:pPr>
            <a:r>
              <a:rPr sz="2000">
                <a:solidFill>
                  <a:srgbClr val="1F2937"/>
                </a:solidFill>
                <a:latin typeface="Calibri"/>
              </a:rPr>
              <a:t>▸  Savol 2: Amyuss, Martin va Simon belgilari nimani bildiradi? Javob: uyqu arteriyasi intimasining yorilishi; arteriya tashqi qavatiga qon quyilishi; bo‘yin disklariga qon quyilishi.</a:t>
            </a:r>
          </a:p>
          <a:p>
            <a:pPr>
              <a:spcAft>
                <a:spcPts val="1200"/>
              </a:spcAft>
            </a:pPr>
            <a:r>
              <a:rPr sz="2000">
                <a:solidFill>
                  <a:srgbClr val="1F2937"/>
                </a:solidFill>
                <a:latin typeface="Calibri"/>
              </a:rPr>
              <a:t>▸  Savol 3: Valxer va Brouardel belgilari nima? Javob: to‘sh-o‘mrov-so‘rg‘ichsimon mushak pastki uchida qon quyilish; halqum orti va halqum orqa devoridagi qon quyilish.</a:t>
            </a:r>
          </a:p>
          <a:p>
            <a:pPr>
              <a:spcAft>
                <a:spcPts val="1200"/>
              </a:spcAft>
            </a:pPr>
            <a:r>
              <a:rPr sz="2000">
                <a:solidFill>
                  <a:srgbClr val="1F2937"/>
                </a:solidFill>
                <a:latin typeface="Calibri"/>
              </a:rPr>
              <a:t>▸  Diqqat: xato qilish xavfi! Amyuss, Valxer, Simon kabi cho‘zilish belgilari osilishga xos; sirtmoq bilan bo‘g‘ishda bu belgilar vujudga kelmaydi.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115, 116, 117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Sirtmoq, qo‘l, o‘tmas jism va pozitsion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Sirtmoq bilan qisishda egat odatda qalqonsimon tog‘ay sathida yoki undan pastda, gorizontal joylashadi.</a:t>
            </a:r>
          </a:p>
          <a:p>
            <a:pPr>
              <a:spcAft>
                <a:spcPts val="800"/>
              </a:spcAft>
            </a:pPr>
            <a:r>
              <a:rPr sz="1800">
                <a:solidFill>
                  <a:srgbClr val="1F2937"/>
                </a:solidFill>
                <a:latin typeface="Calibri"/>
              </a:rPr>
              <a:t>▸  Qo‘l bilan bo‘g‘ishda ichki jarohat tashqidan yaqqolroq: til osti suyagi shoxchalari va tog‘aylar sinishi mumkin.</a:t>
            </a:r>
          </a:p>
          <a:p>
            <a:pPr>
              <a:spcAft>
                <a:spcPts val="800"/>
              </a:spcAft>
            </a:pPr>
            <a:r>
              <a:rPr sz="1800">
                <a:solidFill>
                  <a:srgbClr val="1F2937"/>
                </a:solidFill>
                <a:latin typeface="Calibri"/>
              </a:rPr>
              <a:t>▸  Pozitsion asfiksiyada egat yo‘q; burma egatga o‘xshashi mumkin, ammo til osti suyagi shikastlanmaydi.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101090"/>
                <a:gridCol w="2126416"/>
                <a:gridCol w="2060468"/>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Sirtmoq bilan</a:t>
                      </a:r>
                    </a:p>
                  </a:txBody>
                  <a:tcPr marL="73152" marR="73152" marT="36576" marB="36576">
                    <a:solidFill>
                      <a:srgbClr val="0B1F3A"/>
                    </a:solidFill>
                  </a:tcPr>
                </a:tc>
                <a:tc>
                  <a:txBody>
                    <a:bodyPr/>
                    <a:lstStyle/>
                    <a:p>
                      <a:r>
                        <a:rPr sz="1600" b="1">
                          <a:solidFill>
                            <a:srgbClr val="FFFFFF"/>
                          </a:solidFill>
                        </a:rPr>
                        <a:t>Qo‘l bilan</a:t>
                      </a:r>
                    </a:p>
                  </a:txBody>
                  <a:tcPr marL="73152" marR="73152" marT="36576" marB="36576">
                    <a:solidFill>
                      <a:srgbClr val="0B1F3A"/>
                    </a:solidFill>
                  </a:tcPr>
                </a:tc>
              </a:tr>
              <a:tr h="614476">
                <a:tc>
                  <a:txBody>
                    <a:bodyPr/>
                    <a:lstStyle/>
                    <a:p>
                      <a:r>
                        <a:rPr sz="1500" b="0">
                          <a:solidFill>
                            <a:srgbClr val="1F2937"/>
                          </a:solidFill>
                        </a:rPr>
                        <a:t>Tashqi iz</a:t>
                      </a:r>
                    </a:p>
                  </a:txBody>
                  <a:tcPr marL="73152" marR="73152" marT="36576" marB="36576">
                    <a:solidFill>
                      <a:srgbClr val="E8EEF6"/>
                    </a:solidFill>
                  </a:tcPr>
                </a:tc>
                <a:tc>
                  <a:txBody>
                    <a:bodyPr/>
                    <a:lstStyle/>
                    <a:p>
                      <a:r>
                        <a:rPr sz="1500" b="0">
                          <a:solidFill>
                            <a:srgbClr val="1F2937"/>
                          </a:solidFill>
                        </a:rPr>
                        <a:t>Gorizontal, ko‘pincha tutashgan egat</a:t>
                      </a:r>
                    </a:p>
                  </a:txBody>
                  <a:tcPr marL="73152" marR="73152" marT="36576" marB="36576">
                    <a:solidFill>
                      <a:srgbClr val="E8EEF6"/>
                    </a:solidFill>
                  </a:tcPr>
                </a:tc>
                <a:tc>
                  <a:txBody>
                    <a:bodyPr/>
                    <a:lstStyle/>
                    <a:p>
                      <a:r>
                        <a:rPr sz="1500" b="0">
                          <a:solidFill>
                            <a:srgbClr val="1F2937"/>
                          </a:solidFill>
                        </a:rPr>
                        <a:t>Dumaloq/oval qontalash, yoysimon shilinma</a:t>
                      </a:r>
                    </a:p>
                  </a:txBody>
                  <a:tcPr marL="73152" marR="73152" marT="36576" marB="36576">
                    <a:solidFill>
                      <a:srgbClr val="E8EEF6"/>
                    </a:solidFill>
                  </a:tcPr>
                </a:tc>
              </a:tr>
              <a:tr h="614476">
                <a:tc>
                  <a:txBody>
                    <a:bodyPr/>
                    <a:lstStyle/>
                    <a:p>
                      <a:r>
                        <a:rPr sz="1500" b="0">
                          <a:solidFill>
                            <a:srgbClr val="1F2937"/>
                          </a:solidFill>
                        </a:rPr>
                        <a:t>Til osti suyagi</a:t>
                      </a:r>
                    </a:p>
                  </a:txBody>
                  <a:tcPr marL="73152" marR="73152" marT="36576" marB="36576">
                    <a:solidFill>
                      <a:srgbClr val="FFFFFF"/>
                    </a:solidFill>
                  </a:tcPr>
                </a:tc>
                <a:tc>
                  <a:txBody>
                    <a:bodyPr/>
                    <a:lstStyle/>
                    <a:p>
                      <a:r>
                        <a:rPr sz="1500" b="0">
                          <a:solidFill>
                            <a:srgbClr val="1F2937"/>
                          </a:solidFill>
                        </a:rPr>
                        <a:t>Shikastlanishi xos emas</a:t>
                      </a:r>
                    </a:p>
                  </a:txBody>
                  <a:tcPr marL="73152" marR="73152" marT="36576" marB="36576">
                    <a:solidFill>
                      <a:srgbClr val="FFFFFF"/>
                    </a:solidFill>
                  </a:tcPr>
                </a:tc>
                <a:tc>
                  <a:txBody>
                    <a:bodyPr/>
                    <a:lstStyle/>
                    <a:p>
                      <a:r>
                        <a:rPr sz="1500" b="0">
                          <a:solidFill>
                            <a:srgbClr val="1F2937"/>
                          </a:solidFill>
                        </a:rPr>
                        <a:t>Shoxchalari sinishi mumkin</a:t>
                      </a:r>
                    </a:p>
                  </a:txBody>
                  <a:tcPr marL="73152" marR="73152" marT="36576" marB="36576">
                    <a:solidFill>
                      <a:srgbClr val="FFFFFF"/>
                    </a:solidFill>
                  </a:tcPr>
                </a:tc>
              </a:tr>
              <a:tr h="614476">
                <a:tc>
                  <a:txBody>
                    <a:bodyPr/>
                    <a:lstStyle/>
                    <a:p>
                      <a:r>
                        <a:rPr sz="1500" b="0">
                          <a:solidFill>
                            <a:srgbClr val="1F2937"/>
                          </a:solidFill>
                        </a:rPr>
                        <a:t>Ichki jarohat</a:t>
                      </a:r>
                    </a:p>
                  </a:txBody>
                  <a:tcPr marL="73152" marR="73152" marT="36576" marB="36576">
                    <a:solidFill>
                      <a:srgbClr val="E8EEF6"/>
                    </a:solidFill>
                  </a:tcPr>
                </a:tc>
                <a:tc>
                  <a:txBody>
                    <a:bodyPr/>
                    <a:lstStyle/>
                    <a:p>
                      <a:r>
                        <a:rPr sz="1500" b="0">
                          <a:solidFill>
                            <a:srgbClr val="1F2937"/>
                          </a:solidFill>
                        </a:rPr>
                        <a:t>Qalqonsimon tog‘ay shoxchasi sinishi mumkin</a:t>
                      </a:r>
                    </a:p>
                  </a:txBody>
                  <a:tcPr marL="73152" marR="73152" marT="36576" marB="36576">
                    <a:solidFill>
                      <a:srgbClr val="E8EEF6"/>
                    </a:solidFill>
                  </a:tcPr>
                </a:tc>
                <a:tc>
                  <a:txBody>
                    <a:bodyPr/>
                    <a:lstStyle/>
                    <a:p>
                      <a:r>
                        <a:rPr sz="1500" b="0">
                          <a:solidFill>
                            <a:srgbClr val="1F2937"/>
                          </a:solidFill>
                        </a:rPr>
                        <a:t>Tashqidan yaqqolroq, ko‘lamliroq</a:t>
                      </a:r>
                    </a:p>
                  </a:txBody>
                  <a:tcPr marL="73152" marR="73152" marT="36576" marB="36576">
                    <a:solidFill>
                      <a:srgbClr val="E8EEF6"/>
                    </a:solidFill>
                  </a:tcPr>
                </a:tc>
              </a:tr>
              <a:tr h="614476">
                <a:tc>
                  <a:txBody>
                    <a:bodyPr/>
                    <a:lstStyle/>
                    <a:p>
                      <a:r>
                        <a:rPr sz="1500" b="0">
                          <a:solidFill>
                            <a:srgbClr val="1F2937"/>
                          </a:solidFill>
                        </a:rPr>
                        <a:t>Hodisa turi</a:t>
                      </a:r>
                    </a:p>
                  </a:txBody>
                  <a:tcPr marL="73152" marR="73152" marT="36576" marB="36576">
                    <a:solidFill>
                      <a:srgbClr val="FFFFFF"/>
                    </a:solidFill>
                  </a:tcPr>
                </a:tc>
                <a:tc>
                  <a:txBody>
                    <a:bodyPr/>
                    <a:lstStyle/>
                    <a:p>
                      <a:r>
                        <a:rPr sz="1500" b="0">
                          <a:solidFill>
                            <a:srgbClr val="1F2937"/>
                          </a:solidFill>
                        </a:rPr>
                        <a:t>Aksariyat holatda qotillik</a:t>
                      </a:r>
                    </a:p>
                  </a:txBody>
                  <a:tcPr marL="73152" marR="73152" marT="36576" marB="36576">
                    <a:solidFill>
                      <a:srgbClr val="FFFFFF"/>
                    </a:solidFill>
                  </a:tcPr>
                </a:tc>
                <a:tc>
                  <a:txBody>
                    <a:bodyPr/>
                    <a:lstStyle/>
                    <a:p>
                      <a:r>
                        <a:rPr sz="1500" b="0">
                          <a:solidFill>
                            <a:srgbClr val="1F2937"/>
                          </a:solidFill>
                        </a:rPr>
                        <a:t>Odatda qotillik alomati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Sirtmoq va qo‘l bilan bo‘g‘ish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117, 118, 119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bo‘yin qisilgan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bo‘yinida gorizontal, tutashgan, bir xil kenglikdagi egat qalqonsimon tog‘ay sathida; tog‘ay shoxchalari singan.</a:t>
            </a:r>
          </a:p>
          <a:p>
            <a:pPr>
              <a:spcAft>
                <a:spcPts val="1200"/>
              </a:spcAft>
            </a:pPr>
            <a:r>
              <a:rPr sz="2200">
                <a:solidFill>
                  <a:srgbClr val="1F2937"/>
                </a:solidFill>
                <a:latin typeface="Calibri"/>
              </a:rPr>
              <a:t>▸  Qo‘shimcha: qo‘llarda va tanada kurash, o‘zini himoya qilish jarohatlari aniqlangan; yuz sianozi va murda dog‘lari yaqqol.</a:t>
            </a:r>
          </a:p>
          <a:p>
            <a:pPr>
              <a:spcAft>
                <a:spcPts val="1200"/>
              </a:spcAft>
            </a:pPr>
            <a:r>
              <a:rPr sz="2200">
                <a:solidFill>
                  <a:srgbClr val="1F2937"/>
                </a:solidFill>
                <a:latin typeface="Calibri"/>
              </a:rPr>
              <a:t>▸  Taqqoslang: tipik osilishda egat odatda bo‘yinning yuqori qismida, til osti suyagidan baland, qiyshiq-vertikal bo‘ladi.</a:t>
            </a:r>
          </a:p>
          <a:p>
            <a:pPr>
              <a:spcAft>
                <a:spcPts val="1200"/>
              </a:spcAft>
            </a:pPr>
            <a:r>
              <a:rPr sz="2200">
                <a:solidFill>
                  <a:srgbClr val="1F2937"/>
                </a:solidFill>
                <a:latin typeface="Calibri"/>
              </a:rPr>
              <a:t>▸  Savol: osilishmi yoki sirtmoq bilan bo‘g‘ishmi? Javob: sirtmoq bilan bo‘g‘ish ehtimoli yuqori; Amyuss, Valxer, Simon belgilari bunda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117, 114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Obturatsion asfiksiya: nafas teshiklari va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Og‘iz-burunni qo‘l yoki yumshoq jism bilan yopish qotillik bo‘lishi mumkin; tasodifan yopilish ko‘pincha hushsiz shaxslarda uchraydi.</a:t>
            </a:r>
          </a:p>
          <a:p>
            <a:pPr>
              <a:spcAft>
                <a:spcPts val="1200"/>
              </a:spcAft>
            </a:pPr>
            <a:r>
              <a:rPr sz="2200">
                <a:solidFill>
                  <a:srgbClr val="1F2937"/>
                </a:solidFill>
                <a:latin typeface="Calibri"/>
              </a:rPr>
              <a:t>▸  Qarshilik bo‘lmasa, murdada umumasfiktik belgilardan boshqa xos belgi topilmaydi. Qarshilikda og‘iz-burun atrofida qontalash, shilinma bo‘ladi.</a:t>
            </a:r>
          </a:p>
          <a:p>
            <a:pPr>
              <a:spcAft>
                <a:spcPts val="1200"/>
              </a:spcAft>
            </a:pPr>
            <a:r>
              <a:rPr sz="2200">
                <a:solidFill>
                  <a:srgbClr val="1F2937"/>
                </a:solidFill>
                <a:latin typeface="Calibri"/>
              </a:rPr>
              <a:t>▸  Nafas yo‘llari yot jism (danak, tugma), sochiluvchan modda (qum, un), qon yoki qusuq bilan yopiladi. Ko‘pincha bu baxtsiz hodisa bo‘ladi.</a:t>
            </a:r>
          </a:p>
          <a:p>
            <a:pPr>
              <a:spcAft>
                <a:spcPts val="1200"/>
              </a:spcAft>
            </a:pPr>
            <a:r>
              <a:rPr sz="2200">
                <a:solidFill>
                  <a:srgbClr val="1F2937"/>
                </a:solidFill>
                <a:latin typeface="Calibri"/>
              </a:rPr>
              <a:t>▸  Diqqat: qusuq nordon bo‘lib, shilliq qavatni kuchli shikastlaydi. Ammo qusuq topilishi doim obturatsiya emas: reanimatsiya, chirishda ham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119, 119-120, 120, 120-121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 chin va asfiktik turlar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Chin cho‘kishda suv alveolalargacha yetadi; asfiktikda laringospazm suvni traxeya, bronxlarga o‘tkazmaydi.</a:t>
            </a:r>
          </a:p>
          <a:p>
            <a:pPr>
              <a:spcAft>
                <a:spcPts val="800"/>
              </a:spcAft>
            </a:pPr>
            <a:r>
              <a:rPr sz="1800">
                <a:solidFill>
                  <a:srgbClr val="1F2937"/>
                </a:solidFill>
                <a:latin typeface="Calibri"/>
              </a:rPr>
              <a:t>▸  Sho‘r suvda qon quyuqlashadi (gipovolemiya), plevra ostidagi yirik dog‘lar vujudga kelmaydi.</a:t>
            </a:r>
          </a:p>
          <a:p>
            <a:pPr>
              <a:spcAft>
                <a:spcPts val="800"/>
              </a:spcAft>
            </a:pPr>
            <a:r>
              <a:rPr sz="1800">
                <a:solidFill>
                  <a:srgbClr val="1F2937"/>
                </a:solidFill>
                <a:latin typeface="Calibri"/>
              </a:rPr>
              <a:t>▸  Diqqat: Tarde dog‘i ≠ Rasskazov-Lukomskiy-Paltauf dog‘i: ikkinchisi kattaroq, epikard ostida yo‘q.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3463289"/>
                <a:gridCol w="133047"/>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Chin</a:t>
                      </a:r>
                    </a:p>
                  </a:txBody>
                  <a:tcPr marL="73152" marR="73152" marT="36576" marB="36576">
                    <a:solidFill>
                      <a:srgbClr val="0B1F3A"/>
                    </a:solidFill>
                  </a:tcPr>
                </a:tc>
                <a:tc>
                  <a:txBody>
                    <a:bodyPr/>
                    <a:lstStyle/>
                    <a:p>
                      <a:r>
                        <a:rPr sz="1600" b="1">
                          <a:solidFill>
                            <a:srgbClr val="FFFFFF"/>
                          </a:solidFill>
                        </a:rPr>
                        <a:t>Asfiktik</a:t>
                      </a:r>
                    </a:p>
                  </a:txBody>
                  <a:tcPr marL="73152" marR="73152" marT="36576" marB="36576">
                    <a:solidFill>
                      <a:srgbClr val="0B1F3A"/>
                    </a:solidFill>
                  </a:tcPr>
                </a:tc>
              </a:tr>
              <a:tr h="614476">
                <a:tc>
                  <a:txBody>
                    <a:bodyPr/>
                    <a:lstStyle/>
                    <a:p>
                      <a:r>
                        <a:rPr sz="1500" b="0">
                          <a:solidFill>
                            <a:srgbClr val="1F2937"/>
                          </a:solidFill>
                        </a:rPr>
                        <a:t>Ko‘pik</a:t>
                      </a:r>
                    </a:p>
                  </a:txBody>
                  <a:tcPr marL="73152" marR="73152" marT="36576" marB="36576">
                    <a:solidFill>
                      <a:srgbClr val="E8EEF6"/>
                    </a:solidFill>
                  </a:tcPr>
                </a:tc>
                <a:tc>
                  <a:txBody>
                    <a:bodyPr/>
                    <a:lstStyle/>
                    <a:p>
                      <a:r>
                        <a:rPr sz="1500" b="0">
                          <a:solidFill>
                            <a:srgbClr val="1F2937"/>
                          </a:solidFill>
                        </a:rPr>
                        <a:t>Turg‘un, mayda pufakli oq, keyin pushti</a:t>
                      </a:r>
                    </a:p>
                  </a:txBody>
                  <a:tcPr marL="73152" marR="73152" marT="36576" marB="36576">
                    <a:solidFill>
                      <a:srgbClr val="E8EEF6"/>
                    </a:solidFill>
                  </a:tcPr>
                </a:tc>
                <a:tc>
                  <a:txBody>
                    <a:bodyPr/>
                    <a:lstStyle/>
                    <a:p>
                      <a:r>
                        <a:rPr sz="1500" b="0">
                          <a:solidFill>
                            <a:srgbClr val="1F2937"/>
                          </a:solidFill>
                        </a:rPr>
                        <a:t>Oz, noturg‘un oq ko‘pik</a:t>
                      </a:r>
                    </a:p>
                  </a:txBody>
                  <a:tcPr marL="73152" marR="73152" marT="36576" marB="36576">
                    <a:solidFill>
                      <a:srgbClr val="E8EEF6"/>
                    </a:solidFill>
                  </a:tcPr>
                </a:tc>
              </a:tr>
              <a:tr h="614476">
                <a:tc>
                  <a:txBody>
                    <a:bodyPr/>
                    <a:lstStyle/>
                    <a:p>
                      <a:r>
                        <a:rPr sz="1500" b="0">
                          <a:solidFill>
                            <a:srgbClr val="1F2937"/>
                          </a:solidFill>
                        </a:rPr>
                        <a:t>O‘pka</a:t>
                      </a:r>
                    </a:p>
                  </a:txBody>
                  <a:tcPr marL="73152" marR="73152" marT="36576" marB="36576">
                    <a:solidFill>
                      <a:srgbClr val="FFFFFF"/>
                    </a:solidFill>
                  </a:tcPr>
                </a:tc>
                <a:tc>
                  <a:txBody>
                    <a:bodyPr/>
                    <a:lstStyle/>
                    <a:p>
                      <a:r>
                        <a:rPr sz="1500" b="0">
                          <a:solidFill>
                            <a:srgbClr val="1F2937"/>
                          </a:solidFill>
                        </a:rPr>
                        <a:t>Gipergidriya, xamirsimon, marmarsimon</a:t>
                      </a:r>
                    </a:p>
                  </a:txBody>
                  <a:tcPr marL="73152" marR="73152" marT="36576" marB="36576">
                    <a:solidFill>
                      <a:srgbClr val="FFFFFF"/>
                    </a:solidFill>
                  </a:tcPr>
                </a:tc>
                <a:tc>
                  <a:txBody>
                    <a:bodyPr/>
                    <a:lstStyle/>
                    <a:p>
                      <a:r>
                        <a:rPr sz="1500" b="0">
                          <a:solidFill>
                            <a:srgbClr val="1F2937"/>
                          </a:solidFill>
                        </a:rPr>
                        <a:t>Emfizema, giperaeriya, quruq kesma</a:t>
                      </a:r>
                    </a:p>
                  </a:txBody>
                  <a:tcPr marL="73152" marR="73152" marT="36576" marB="36576">
                    <a:solidFill>
                      <a:srgbClr val="FFFFFF"/>
                    </a:solidFill>
                  </a:tcPr>
                </a:tc>
              </a:tr>
              <a:tr h="614476">
                <a:tc>
                  <a:txBody>
                    <a:bodyPr/>
                    <a:lstStyle/>
                    <a:p>
                      <a:r>
                        <a:rPr sz="1500" b="0">
                          <a:solidFill>
                            <a:srgbClr val="1F2937"/>
                          </a:solidFill>
                        </a:rPr>
                        <a:t>Plevra ostida</a:t>
                      </a:r>
                    </a:p>
                  </a:txBody>
                  <a:tcPr marL="73152" marR="73152" marT="36576" marB="36576">
                    <a:solidFill>
                      <a:srgbClr val="E8EEF6"/>
                    </a:solidFill>
                  </a:tcPr>
                </a:tc>
                <a:tc>
                  <a:txBody>
                    <a:bodyPr/>
                    <a:lstStyle/>
                    <a:p>
                      <a:r>
                        <a:rPr sz="1500" b="0">
                          <a:solidFill>
                            <a:srgbClr val="1F2937"/>
                          </a:solidFill>
                        </a:rPr>
                        <a:t>Tarde va Rasskazov-Lukomskiy-Paltauf</a:t>
                      </a:r>
                    </a:p>
                  </a:txBody>
                  <a:tcPr marL="73152" marR="73152" marT="36576" marB="36576">
                    <a:solidFill>
                      <a:srgbClr val="E8EEF6"/>
                    </a:solidFill>
                  </a:tcPr>
                </a:tc>
                <a:tc>
                  <a:txBody>
                    <a:bodyPr/>
                    <a:lstStyle/>
                    <a:p>
                      <a:r>
                        <a:rPr sz="1500" b="0">
                          <a:solidFill>
                            <a:srgbClr val="1F2937"/>
                          </a:solidFill>
                        </a:rPr>
                        <a:t>Faqat Tarde dog‘lari</a:t>
                      </a:r>
                    </a:p>
                  </a:txBody>
                  <a:tcPr marL="73152" marR="73152" marT="36576" marB="36576">
                    <a:solidFill>
                      <a:srgbClr val="E8EEF6"/>
                    </a:solidFill>
                  </a:tcPr>
                </a:tc>
              </a:tr>
              <a:tr h="614476">
                <a:tc>
                  <a:txBody>
                    <a:bodyPr/>
                    <a:lstStyle/>
                    <a:p>
                      <a:r>
                        <a:rPr sz="1500" b="0">
                          <a:solidFill>
                            <a:srgbClr val="1F2937"/>
                          </a:solidFill>
                        </a:rPr>
                        <a:t>Oshqozondagi suv</a:t>
                      </a:r>
                    </a:p>
                  </a:txBody>
                  <a:tcPr marL="73152" marR="73152" marT="36576" marB="36576">
                    <a:solidFill>
                      <a:srgbClr val="FFFFFF"/>
                    </a:solidFill>
                  </a:tcPr>
                </a:tc>
                <a:tc>
                  <a:txBody>
                    <a:bodyPr/>
                    <a:lstStyle/>
                    <a:p>
                      <a:r>
                        <a:rPr sz="1500" b="0">
                          <a:solidFill>
                            <a:srgbClr val="1F2937"/>
                          </a:solidFill>
                        </a:rPr>
                        <a:t>300 ml gacha</a:t>
                      </a:r>
                    </a:p>
                  </a:txBody>
                  <a:tcPr marL="73152" marR="73152" marT="36576" marB="36576">
                    <a:solidFill>
                      <a:srgbClr val="FFFFFF"/>
                    </a:solidFill>
                  </a:tcPr>
                </a:tc>
                <a:tc>
                  <a:txBody>
                    <a:bodyPr/>
                    <a:lstStyle/>
                    <a:p>
                      <a:r>
                        <a:rPr sz="1500" b="0">
                          <a:solidFill>
                            <a:srgbClr val="1F2937"/>
                          </a:solidFill>
                        </a:rPr>
                        <a:t>1 l 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Chin va asfiktik cho‘kish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121, 123, 122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Cho‘kishning hayotiyligini laboratoriya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Diatom plankton: parenximatoz a’zolar, suyak miyada topilishi hayotiy cho‘kishni bildiradi.</a:t>
            </a:r>
          </a:p>
          <a:p>
            <a:pPr>
              <a:spcAft>
                <a:spcPts val="800"/>
              </a:spcAft>
            </a:pPr>
            <a:r>
              <a:rPr sz="1800">
                <a:solidFill>
                  <a:srgbClr val="1F2937"/>
                </a:solidFill>
                <a:latin typeface="Calibri"/>
              </a:rPr>
              <a:t>▸  Asfiktik cho‘kishda a’zolarda plankton bo‘lmasligi mumkin; kalla asosi suyuqligi tekshiriladi.</a:t>
            </a:r>
          </a:p>
          <a:p>
            <a:pPr>
              <a:spcAft>
                <a:spcPts val="800"/>
              </a:spcAft>
            </a:pPr>
            <a:r>
              <a:rPr sz="1800">
                <a:solidFill>
                  <a:srgbClr val="1F2937"/>
                </a:solidFill>
                <a:latin typeface="Calibri"/>
              </a:rPr>
              <a:t>▸  Psevdoplankton, bakteriya, krioskopik usullar ham bor; o‘pkadagi diatom diagnostik emas.</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Havzadan suv namunasi (1 l)</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A’zo, suyak miya tekshiruvi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Diatom planktoni topiladi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Havza suvidagi plankton bilan mos</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Suvga hayotiy tushish tasdig‘i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Diatom tekshiruvi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125, 125-126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Suvdagi o‘lim va murdaning suvda bo‘lganligi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Tana suvga tushishi bilan yurak va nafas reflektor to‘xtasa, asfiksiya belgilari rivojlanib ulgurmaydi.</a:t>
            </a:r>
          </a:p>
          <a:p>
            <a:pPr>
              <a:spcAft>
                <a:spcPts val="800"/>
              </a:spcAft>
            </a:pPr>
            <a:r>
              <a:rPr sz="1800">
                <a:solidFill>
                  <a:srgbClr val="1F2937"/>
                </a:solidFill>
                <a:latin typeface="Calibri"/>
              </a:rPr>
              <a:t>▸  Diqqat: suvda bo‘lganlik belgilari o‘lim sababi bilan bog‘liq emas, faqat suvda turgan muddatni ko‘rsatadi.</a:t>
            </a:r>
          </a:p>
          <a:p>
            <a:pPr>
              <a:spcAft>
                <a:spcPts val="800"/>
              </a:spcAft>
            </a:pPr>
            <a:r>
              <a:rPr sz="1800">
                <a:solidFill>
                  <a:srgbClr val="1F2937"/>
                </a:solidFill>
                <a:latin typeface="Calibri"/>
              </a:rPr>
              <a:t>▸  Sochlar 10–15 kunda oson sug‘uriladi, keyin o‘zi tushadi; suv iliq bo‘lsa o‘zgarishlar tezroq rivojlanadi.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Muddat</a:t>
                      </a:r>
                    </a:p>
                  </a:txBody>
                  <a:tcPr marL="73152" marR="73152" marT="36576" marB="36576">
                    <a:solidFill>
                      <a:srgbClr val="0B1F3A"/>
                    </a:solidFill>
                  </a:tcPr>
                </a:tc>
                <a:tc>
                  <a:txBody>
                    <a:bodyPr/>
                    <a:lstStyle/>
                    <a:p>
                      <a:r>
                        <a:rPr sz="1800" b="1">
                          <a:solidFill>
                            <a:srgbClr val="FFFFFF"/>
                          </a:solidFill>
                        </a:rPr>
                        <a:t>O‘zgarish</a:t>
                      </a:r>
                    </a:p>
                  </a:txBody>
                  <a:tcPr marL="73152" marR="73152" marT="36576" marB="36576">
                    <a:solidFill>
                      <a:srgbClr val="0B1F3A"/>
                    </a:solidFill>
                  </a:tcPr>
                </a:tc>
              </a:tr>
              <a:tr h="614476">
                <a:tc>
                  <a:txBody>
                    <a:bodyPr/>
                    <a:lstStyle/>
                    <a:p>
                      <a:r>
                        <a:rPr sz="1700" b="0">
                          <a:solidFill>
                            <a:srgbClr val="1F2937"/>
                          </a:solidFill>
                        </a:rPr>
                        <a:t>Bir necha soat</a:t>
                      </a:r>
                    </a:p>
                  </a:txBody>
                  <a:tcPr marL="73152" marR="73152" marT="36576" marB="36576">
                    <a:solidFill>
                      <a:srgbClr val="E8EEF6"/>
                    </a:solidFill>
                  </a:tcPr>
                </a:tc>
                <a:tc>
                  <a:txBody>
                    <a:bodyPr/>
                    <a:lstStyle/>
                    <a:p>
                      <a:r>
                        <a:rPr sz="1700" b="0">
                          <a:solidFill>
                            <a:srgbClr val="1F2937"/>
                          </a:solidFill>
                        </a:rPr>
                        <a:t>Qo‘l, oyoq barmoqlari oqarib bujmayadi</a:t>
                      </a:r>
                    </a:p>
                  </a:txBody>
                  <a:tcPr marL="73152" marR="73152" marT="36576" marB="36576">
                    <a:solidFill>
                      <a:srgbClr val="E8EEF6"/>
                    </a:solidFill>
                  </a:tcPr>
                </a:tc>
              </a:tr>
              <a:tr h="614476">
                <a:tc>
                  <a:txBody>
                    <a:bodyPr/>
                    <a:lstStyle/>
                    <a:p>
                      <a:r>
                        <a:rPr sz="1700" b="0">
                          <a:solidFill>
                            <a:srgbClr val="1F2937"/>
                          </a:solidFill>
                        </a:rPr>
                        <a:t>2–5 kun</a:t>
                      </a:r>
                    </a:p>
                  </a:txBody>
                  <a:tcPr marL="73152" marR="73152" marT="36576" marB="36576">
                    <a:solidFill>
                      <a:srgbClr val="FFFFFF"/>
                    </a:solidFill>
                  </a:tcPr>
                </a:tc>
                <a:tc>
                  <a:txBody>
                    <a:bodyPr/>
                    <a:lstStyle/>
                    <a:p>
                      <a:r>
                        <a:rPr sz="1700" b="0">
                          <a:solidFill>
                            <a:srgbClr val="1F2937"/>
                          </a:solidFill>
                        </a:rPr>
                        <a:t>Kaft yuzasi: “kir yuvuvchi qo‘li”</a:t>
                      </a:r>
                    </a:p>
                  </a:txBody>
                  <a:tcPr marL="73152" marR="73152" marT="36576" marB="36576">
                    <a:solidFill>
                      <a:srgbClr val="FFFFFF"/>
                    </a:solidFill>
                  </a:tcPr>
                </a:tc>
              </a:tr>
              <a:tr h="614476">
                <a:tc>
                  <a:txBody>
                    <a:bodyPr/>
                    <a:lstStyle/>
                    <a:p>
                      <a:r>
                        <a:rPr sz="1700" b="0">
                          <a:solidFill>
                            <a:srgbClr val="1F2937"/>
                          </a:solidFill>
                        </a:rPr>
                        <a:t>5–8 kun</a:t>
                      </a:r>
                    </a:p>
                  </a:txBody>
                  <a:tcPr marL="73152" marR="73152" marT="36576" marB="36576">
                    <a:solidFill>
                      <a:srgbClr val="E8EEF6"/>
                    </a:solidFill>
                  </a:tcPr>
                </a:tc>
                <a:tc>
                  <a:txBody>
                    <a:bodyPr/>
                    <a:lstStyle/>
                    <a:p>
                      <a:r>
                        <a:rPr sz="1700" b="0">
                          <a:solidFill>
                            <a:srgbClr val="1F2937"/>
                          </a:solidFill>
                        </a:rPr>
                        <a:t>Tovon yuzasi to‘liq qamraladi</a:t>
                      </a:r>
                    </a:p>
                  </a:txBody>
                  <a:tcPr marL="73152" marR="73152" marT="36576" marB="36576">
                    <a:solidFill>
                      <a:srgbClr val="E8EEF6"/>
                    </a:solidFill>
                  </a:tcPr>
                </a:tc>
              </a:tr>
              <a:tr h="614476">
                <a:tc>
                  <a:txBody>
                    <a:bodyPr/>
                    <a:lstStyle/>
                    <a:p>
                      <a:r>
                        <a:rPr sz="1700" b="0">
                          <a:solidFill>
                            <a:srgbClr val="1F2937"/>
                          </a:solidFill>
                        </a:rPr>
                        <a:t>2–3 hafta</a:t>
                      </a:r>
                    </a:p>
                  </a:txBody>
                  <a:tcPr marL="73152" marR="73152" marT="36576" marB="36576">
                    <a:solidFill>
                      <a:srgbClr val="FFFFFF"/>
                    </a:solidFill>
                  </a:tcPr>
                </a:tc>
                <a:tc>
                  <a:txBody>
                    <a:bodyPr/>
                    <a:lstStyle/>
                    <a:p>
                      <a:r>
                        <a:rPr sz="1700" b="0">
                          <a:solidFill>
                            <a:srgbClr val="1F2937"/>
                          </a:solidFill>
                        </a:rPr>
                        <a:t>Kaft terisi timoq bilan: “o‘lim qo‘lqopi”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Suvda bo‘lish muddati va teri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124, 127, 129, 128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suv havzasidan chiqarilgan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havzadan murda chiqarildi. Og‘iz va burun atrofida turg‘un mayda pufakli oq ko‘pik, kiyim loy va suv o‘tlari bilan ifloslangan.</a:t>
            </a:r>
          </a:p>
          <a:p>
            <a:pPr>
              <a:spcAft>
                <a:spcPts val="1200"/>
              </a:spcAft>
            </a:pPr>
            <a:r>
              <a:rPr sz="2200">
                <a:solidFill>
                  <a:srgbClr val="1F2937"/>
                </a:solidFill>
                <a:latin typeface="Calibri"/>
              </a:rPr>
              <a:t>▸  O‘pkalar xamirsimon, hajmi ortgan; oshqozonda suv topildi. Yurak chap kameralaridagi qon o‘ng tomondagidan ochroq.</a:t>
            </a:r>
          </a:p>
          <a:p>
            <a:pPr>
              <a:spcAft>
                <a:spcPts val="1200"/>
              </a:spcAft>
            </a:pPr>
            <a:r>
              <a:rPr sz="2200">
                <a:solidFill>
                  <a:srgbClr val="1F2937"/>
                </a:solidFill>
                <a:latin typeface="Calibri"/>
              </a:rPr>
              <a:t>▸  Parenximatoz a’zolar va suyak miyada diatom plankton topildi; u murda topilgan havza suvidagi planktonga mos keladi.</a:t>
            </a:r>
          </a:p>
          <a:p>
            <a:pPr>
              <a:spcAft>
                <a:spcPts val="1200"/>
              </a:spcAft>
            </a:pPr>
            <a:r>
              <a:rPr sz="2200">
                <a:solidFill>
                  <a:srgbClr val="1F2937"/>
                </a:solidFill>
                <a:latin typeface="Calibri"/>
              </a:rPr>
              <a:t>▸  Savol: bu belgilar qaysi cho‘kish turi va suvga hayotiy tushganlikni qanday ko‘rsatadi? Jarohatlar suvdan oldin yetkazilgan bo‘lishi mumkinmi?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122, 127, 122, 123, 125, 125,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Kompression va cheklangan muhitdagi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37</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Faqat qorin qisilishiga organizm chidamliroq; tananing frontal qisilishi yonlama qisilishdan xavfliroq.</a:t>
            </a:r>
          </a:p>
          <a:p>
            <a:pPr>
              <a:spcAft>
                <a:spcPts val="800"/>
              </a:spcAft>
            </a:pPr>
            <a:r>
              <a:rPr sz="1800">
                <a:solidFill>
                  <a:srgbClr val="1F2937"/>
                </a:solidFill>
                <a:latin typeface="Calibri"/>
              </a:rPr>
              <a:t>▸  Yuz-bo‘yin-ko‘krakda qon quyilishlar – “ekximotik niqob”; o‘pkada “karmin shishishi” (Lakkasan belgisi).</a:t>
            </a:r>
          </a:p>
          <a:p>
            <a:pPr>
              <a:spcAft>
                <a:spcPts val="800"/>
              </a:spcAft>
            </a:pPr>
            <a:r>
              <a:rPr sz="1800">
                <a:solidFill>
                  <a:srgbClr val="1F2937"/>
                </a:solidFill>
                <a:latin typeface="Calibri"/>
              </a:rPr>
              <a:t>▸  Yopiq muhitda karbonat angidrid (CO₂) ortishi yetakchi; boshga plastik qopcha qotillikda ham uchraydi.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219200"/>
                <a:gridCol w="1230775"/>
                <a:gridCol w="2837999"/>
              </a:tblGrid>
              <a:tr h="768096">
                <a:tc>
                  <a:txBody>
                    <a:bodyPr/>
                    <a:lstStyle/>
                    <a:p>
                      <a:r>
                        <a:rPr sz="1600" b="1">
                          <a:solidFill>
                            <a:srgbClr val="FFFFFF"/>
                          </a:solidFill>
                        </a:rPr>
                        <a:t>Kimga</a:t>
                      </a:r>
                    </a:p>
                  </a:txBody>
                  <a:tcPr marL="73152" marR="73152" marT="36576" marB="36576">
                    <a:solidFill>
                      <a:srgbClr val="0B1F3A"/>
                    </a:solidFill>
                  </a:tcPr>
                </a:tc>
                <a:tc>
                  <a:txBody>
                    <a:bodyPr/>
                    <a:lstStyle/>
                    <a:p>
                      <a:r>
                        <a:rPr sz="1600" b="1">
                          <a:solidFill>
                            <a:srgbClr val="FFFFFF"/>
                          </a:solidFill>
                        </a:rPr>
                        <a:t>Havoda CO₂</a:t>
                      </a:r>
                    </a:p>
                  </a:txBody>
                  <a:tcPr marL="73152" marR="73152" marT="36576" marB="36576">
                    <a:solidFill>
                      <a:srgbClr val="0B1F3A"/>
                    </a:solidFill>
                  </a:tcPr>
                </a:tc>
                <a:tc>
                  <a:txBody>
                    <a:bodyPr/>
                    <a:lstStyle/>
                    <a:p>
                      <a:r>
                        <a:rPr sz="1600" b="1">
                          <a:solidFill>
                            <a:srgbClr val="FFFFFF"/>
                          </a:solidFill>
                        </a:rPr>
                        <a:t>Oqibat</a:t>
                      </a:r>
                    </a:p>
                  </a:txBody>
                  <a:tcPr marL="73152" marR="73152" marT="36576" marB="36576">
                    <a:solidFill>
                      <a:srgbClr val="0B1F3A"/>
                    </a:solidFill>
                  </a:tcPr>
                </a:tc>
              </a:tr>
              <a:tr h="768096">
                <a:tc>
                  <a:txBody>
                    <a:bodyPr/>
                    <a:lstStyle/>
                    <a:p>
                      <a:r>
                        <a:rPr sz="1500" b="0">
                          <a:solidFill>
                            <a:srgbClr val="1F2937"/>
                          </a:solidFill>
                        </a:rPr>
                        <a:t>Hamma odam</a:t>
                      </a:r>
                    </a:p>
                  </a:txBody>
                  <a:tcPr marL="73152" marR="73152" marT="36576" marB="36576">
                    <a:solidFill>
                      <a:srgbClr val="E8EEF6"/>
                    </a:solidFill>
                  </a:tcPr>
                </a:tc>
                <a:tc>
                  <a:txBody>
                    <a:bodyPr/>
                    <a:lstStyle/>
                    <a:p>
                      <a:r>
                        <a:rPr sz="1500" b="0">
                          <a:solidFill>
                            <a:srgbClr val="1F2937"/>
                          </a:solidFill>
                        </a:rPr>
                        <a:t>0,5% ga yetsa</a:t>
                      </a:r>
                    </a:p>
                  </a:txBody>
                  <a:tcPr marL="73152" marR="73152" marT="36576" marB="36576">
                    <a:solidFill>
                      <a:srgbClr val="E8EEF6"/>
                    </a:solidFill>
                  </a:tcPr>
                </a:tc>
                <a:tc>
                  <a:txBody>
                    <a:bodyPr/>
                    <a:lstStyle/>
                    <a:p>
                      <a:r>
                        <a:rPr sz="1500" b="0">
                          <a:solidFill>
                            <a:srgbClr val="1F2937"/>
                          </a:solidFill>
                        </a:rPr>
                        <a:t>Nafas tezlashadi, ventilyatsiya kuchayadi</a:t>
                      </a:r>
                    </a:p>
                  </a:txBody>
                  <a:tcPr marL="73152" marR="73152" marT="36576" marB="36576">
                    <a:solidFill>
                      <a:srgbClr val="E8EEF6"/>
                    </a:solidFill>
                  </a:tcPr>
                </a:tc>
              </a:tr>
              <a:tr h="768096">
                <a:tc>
                  <a:txBody>
                    <a:bodyPr/>
                    <a:lstStyle/>
                    <a:p>
                      <a:r>
                        <a:rPr sz="1500" b="0">
                          <a:solidFill>
                            <a:srgbClr val="1F2937"/>
                          </a:solidFill>
                        </a:rPr>
                        <a:t>Kattalar</a:t>
                      </a:r>
                    </a:p>
                  </a:txBody>
                  <a:tcPr marL="73152" marR="73152" marT="36576" marB="36576">
                    <a:solidFill>
                      <a:srgbClr val="FFFFFF"/>
                    </a:solidFill>
                  </a:tcPr>
                </a:tc>
                <a:tc>
                  <a:txBody>
                    <a:bodyPr/>
                    <a:lstStyle/>
                    <a:p>
                      <a:r>
                        <a:rPr sz="1500" b="0">
                          <a:solidFill>
                            <a:srgbClr val="1F2937"/>
                          </a:solidFill>
                        </a:rPr>
                        <a:t>8–10% ga yetsa</a:t>
                      </a:r>
                    </a:p>
                  </a:txBody>
                  <a:tcPr marL="73152" marR="73152" marT="36576" marB="36576">
                    <a:solidFill>
                      <a:srgbClr val="FFFFFF"/>
                    </a:solidFill>
                  </a:tcPr>
                </a:tc>
                <a:tc>
                  <a:txBody>
                    <a:bodyPr/>
                    <a:lstStyle/>
                    <a:p>
                      <a:r>
                        <a:rPr sz="1500" b="0">
                          <a:solidFill>
                            <a:srgbClr val="1F2937"/>
                          </a:solidFill>
                        </a:rPr>
                        <a:t>O‘lim sodir bo‘ladi</a:t>
                      </a:r>
                    </a:p>
                  </a:txBody>
                  <a:tcPr marL="73152" marR="73152" marT="36576" marB="36576">
                    <a:solidFill>
                      <a:srgbClr val="FFFFFF"/>
                    </a:solidFill>
                  </a:tcPr>
                </a:tc>
              </a:tr>
              <a:tr h="768096">
                <a:tc>
                  <a:txBody>
                    <a:bodyPr/>
                    <a:lstStyle/>
                    <a:p>
                      <a:r>
                        <a:rPr sz="1500" b="0">
                          <a:solidFill>
                            <a:srgbClr val="1F2937"/>
                          </a:solidFill>
                        </a:rPr>
                        <a:t>Bolalar</a:t>
                      </a:r>
                    </a:p>
                  </a:txBody>
                  <a:tcPr marL="73152" marR="73152" marT="36576" marB="36576">
                    <a:solidFill>
                      <a:srgbClr val="E8EEF6"/>
                    </a:solidFill>
                  </a:tcPr>
                </a:tc>
                <a:tc>
                  <a:txBody>
                    <a:bodyPr/>
                    <a:lstStyle/>
                    <a:p>
                      <a:r>
                        <a:rPr sz="1500" b="0">
                          <a:solidFill>
                            <a:srgbClr val="1F2937"/>
                          </a:solidFill>
                        </a:rPr>
                        <a:t>2,0–2,5% ga yetsa</a:t>
                      </a:r>
                    </a:p>
                  </a:txBody>
                  <a:tcPr marL="73152" marR="73152" marT="36576" marB="36576">
                    <a:solidFill>
                      <a:srgbClr val="E8EEF6"/>
                    </a:solidFill>
                  </a:tcPr>
                </a:tc>
                <a:tc>
                  <a:txBody>
                    <a:bodyPr/>
                    <a:lstStyle/>
                    <a:p>
                      <a:r>
                        <a:rPr sz="1500" b="0">
                          <a:solidFill>
                            <a:srgbClr val="1F2937"/>
                          </a:solidFill>
                        </a:rPr>
                        <a:t>Hayot uchun xavf tug‘iladi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Karbonat angidrid chegaralari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129, 130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yakuniy tezkor savol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37</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Gipoksiya – to‘qimalarda kislorod tanqisligi. Asfiksiyada esa tashqi nafas buzilgani uchun gipoksiya giperkapniya (karbonat angidrid ko‘payishi) bilan birga rivojlanadi.</a:t>
            </a:r>
          </a:p>
          <a:p>
            <a:pPr>
              <a:spcAft>
                <a:spcPts val="1200"/>
              </a:spcAft>
            </a:pPr>
            <a:r>
              <a:rPr sz="2000">
                <a:solidFill>
                  <a:srgbClr val="1F2937"/>
                </a:solidFill>
                <a:latin typeface="Calibri"/>
              </a:rPr>
              <a:t>▸  Mexanik asfiksiyaning uch turi bor: qisilishdan (strangulyatsion va kompression), yopilishdan (nafas teshiklari, nafas yo‘llari, cho‘kish) va cheklangan muhitdagi asfiksiya.</a:t>
            </a:r>
          </a:p>
          <a:p>
            <a:pPr>
              <a:spcAft>
                <a:spcPts val="1200"/>
              </a:spcAft>
            </a:pPr>
            <a:r>
              <a:rPr sz="2000">
                <a:solidFill>
                  <a:srgbClr val="1F2937"/>
                </a:solidFill>
                <a:latin typeface="Calibri"/>
              </a:rPr>
              <a:t>▸  Sianoz, Tarde dog‘lari, suyuq qon kabi umumasfiktik belgilar spetsifik emas, shuning uchun majmua bo‘yicha baholanadi. Hayotiylikni Bokarius sinamasi va diatom plankton ko‘rsatadi.</a:t>
            </a:r>
          </a:p>
          <a:p>
            <a:pPr>
              <a:spcAft>
                <a:spcPts val="1200"/>
              </a:spcAft>
            </a:pPr>
            <a:r>
              <a:rPr sz="2000">
                <a:solidFill>
                  <a:srgbClr val="1F2937"/>
                </a:solidFill>
                <a:latin typeface="Calibri"/>
              </a:rPr>
              <a:t>▸  Tezkor savol: chin va asfiktik cho‘kish suvning nafas yo‘llarida qayergacha yetishi bo‘yicha qanday farqlanadi? Laringospazm bunda qanday rol o‘ynaydi?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103-105, 105, 110-111, 116, 124-125, 121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37</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qoling: “asfiksiya” so‘zi yunoncha bo‘lib, “a” – inkor, “sphygmos” – puls, ya’ni tub ma’nosi “pulsning yo‘qligi”. Bugungi ma’nosi esa tashqi nafas buzilishidan kelib chiqqan kislorod tanqisligi va karbonat angidridning ko‘payishidir.</a:t>
            </a:r>
          </a:p>
          <a:p>
            <a:pPr>
              <a:spcAft>
                <a:spcPts val="1200"/>
              </a:spcAft>
            </a:pPr>
            <a:r>
              <a:rPr sz="1800">
                <a:solidFill>
                  <a:srgbClr val="1F2937"/>
                </a:solidFill>
                <a:latin typeface="Calibri"/>
              </a:rPr>
              <a:t>▸  Qiziqarli fakt: asfiksiyaning kechishiga doir tibbiyot tarixida faqat bitta tajriba qayd etilgan. N. Minovici 1905-yilda o‘zida, assistentlari yordamida osilish tajribalarini o‘tkazgan. Shu sababli bosqichlar va vaqtlar shartli, taxminiy hisoblanadi.</a:t>
            </a:r>
          </a:p>
          <a:p>
            <a:pPr>
              <a:spcAft>
                <a:spcPts val="1200"/>
              </a:spcAft>
            </a:pPr>
            <a:r>
              <a:rPr sz="1800">
                <a:solidFill>
                  <a:srgbClr val="1F2937"/>
                </a:solidFill>
                <a:latin typeface="Calibri"/>
              </a:rPr>
              <a:t>▸  Eslab qolish usuli: Tarde dog‘lari mayda (2-3 mm) bo‘lib, plevra va epikard ostida bo‘ladi. Rasskazov-Lukomskiy-Paltauf dog‘lari kattaroq, chetlari yoyilgan, faqat visseral plevra ostida bo‘ladi, epikard ostida bo‘lmaydi. Ular chin cho‘kishda Tarde dog‘lari gemolizga uchrashidan hosil bo‘ladi.</a:t>
            </a:r>
          </a:p>
          <a:p>
            <a:pPr>
              <a:spcAft>
                <a:spcPts val="1200"/>
              </a:spcAft>
            </a:pPr>
            <a:r>
              <a:rPr sz="1800">
                <a:solidFill>
                  <a:srgbClr val="1F2937"/>
                </a:solidFill>
                <a:latin typeface="Calibri"/>
              </a:rPr>
              <a:t>▸  Hodisa tahlili: oshqozonda 300 ml gacha suv chin cho‘kishda, 1 l gacha suv esa asfiktik cho‘kishda topilishi mumkin (Fegerlund belgisi). Sababi: asfiktik turda laringospazm suvni nafas yo‘liga o‘tkazmaydi va u qizilo‘ngach orqali oshqozonga o‘tadi.</a:t>
            </a:r>
          </a:p>
          <a:p>
            <a:pPr>
              <a:spcAft>
                <a:spcPts val="1200"/>
              </a:spcAft>
            </a:pPr>
            <a:r>
              <a:rPr sz="1800">
                <a:solidFill>
                  <a:srgbClr val="1F2937"/>
                </a:solidFill>
                <a:latin typeface="Calibri"/>
              </a:rPr>
              <a:t>▸  Fakt: yopiq muhitda karbonat angidrid 0,5% ga yetganda nafas tezlashadi. Kattalarda o‘lim odatda 8-10% da, bolalarda esa 2,0-2,5% konsentratsiyada xavf tug‘iladi. Shuning uchun bolalar yopiq joyda ayniqsa xavf ostida.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№4. Ma’ruza: Kislorod tanqisligi natijasida organizmning jarohatlanishi va o‘lim.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37</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5. Kislorod tanqisligi (asfiksiya)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