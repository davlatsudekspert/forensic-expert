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Muhokama: 1) Nega murda dog‘i bilan qontalashni adashtirish xavfli? 2) Fuqarolar bunday xatoga qanday oqibatlarga olib kelishi mumkin? Doskada: ikki ustunli ‘Hayotiy | O‘limdan keyingi’ bo‘sh jadval chizing, dars davomida to‘ldiring. Tipik xato: murdadagi har bir o‘zgarishni jarohat deb o‘ylash.</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Muhokama: 1) Umumiy va xususiy tanatologiya farqi nimada? 2) Sud-tibbiy tanatologiyaning amaliy maqsadi nima? Doskada: ‘tanatologiya’ so‘zini thanatos + logos qismlariga ajrating. Tipik xato: sud-tibbiy tanatologiyani faqat murdani ochish deb tushunish.</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Agoniyani nega ‘hayotga qaytish uchun so‘nggi urinish’ deyishadi? 2) Klinik o‘limda hayotga qaytarish nega mumkin? Doskada: 5 bosqichli zanjirni chizib, har biriga bittadan asosiy belgi yozing. Tipik xato: klinik o‘lim bilan biologik o‘limni aralashtirish (klinik o‘lim qaytar, biologik o‘lim qaytmas).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6-7 daq. Muhokama: 1) Nega klinik o‘lim sovuqda uzayadi? 2) Qaysi tipda o‘lim sababi tez sodir bo‘ladi? Doskada: jadvalni chizing va har tipga o‘z misolingizni qo‘shing. Tipik xato: klinik o‘limni biologik o‘lim bilan aralashtirish yoki agoniyani bevosita o‘lim deb hisoblash.</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6-7 daq. Muhokama: 1) Bevosita va bilvosita aktiv evtanaziya farqi nimada? 2) Passiv evtanaziya nega huquqiy javobgarlikka olib kelishi mumkin? Doskada: to‘rt turning o‘zaro farqini 2x2 sxema ko‘rinishida chizing. Tipik xato: medikotanaziya va distanaziyani o‘limni tezlashtiruvchi usul deb o‘ylash.</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Javob: preagoniya, terminal pauza, agoniya (facies hippocratica), keyin klinik o‘lim, bunda tiklash imkoniyati bor. Muhokama: 1) Agoniyada nafas va bosim nega vaqtincha tiklanadi? 2) Qaysi belgi terminal pauzani preagoniyadan ajratadi? Doskada: to‘rt bosqichni vaqt chizig‘i ko‘rinishida belgilang. Tipik xato: agoniyani tuzalish boshlanishi deb talqin qilish.</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daqiqa. Muhokama: 1) Nega darhol aniqlangan belgilar o‘lim uchun ishonchli emas? 2) Beloglazov simptomi nega 1,5-2 soatdan keyin bilinmay qolishi mumkin? Doskada: ehtimoliy va ishonchli belgilar ikki ustunini chizdiring. Diqqat: dastlabki belgi ≠ ishonchli belgi. Tipik xato: tana sovushini darhol ishonchli belgi deb hisoblash; ishonchli belgi bo‘lib 23 °S va undan past harorat sanaladi. Miya o‘limi kasalxonada reanimatolog va nevrolog tomonidan belgilangan tartibda aniqlanadi (220-bet).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daqiqa. Muhokama: 1) Nega xilni aniqlash ekspertga emas, huquqni muhofaza idoralariga tegishli? 2) Nozo‘raki o‘limda nega xil emas, tur kasallik bo‘yicha ajratiladi? Doskada: toifa-xil-tur shajarasini chizdiring. Diqqat: toifa ≠ xil (toifa: zo‘raki/nozo‘raki; xil: qotillik va h.k.). Tipik xato: talabalar xilni ham ekspert aniqlaydi deb o‘ylaydi; asosi qasd mavjudligini aniqlashdir (221-bet).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daqiqa. Muhokama: 1) Nega mushak javobi vaqt o‘tgan sari qisqarishdan shishga o‘tadi? 2) Bu reaksiyalar o‘lim muddatini aniqlashda nimaga yordam beradi? Doskada: mexanik va elektr reaksiyalar vaqt chizig‘ini chizdiring. Tipik xato: supravital reaksiyani hayot belgisi deb o‘ylash; bu miya o‘limidan keyingi to‘qima javobidir. Ko‘pincha tekshiruv yelka mushaklarida, nevrologik bolg‘acha bandi yoki metall chizg‘ich bilan o‘tkaziladi (222-bet).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daqiqa. Muhokama: 1) Nega dastlabki belgilar ishonchli emas? 2) 1,5-2 soatdan keyin Beloglazov simptomi nega aniqlanmasligi mumkin (qorachiq mushaklarining qotishi)? Doskada ikki ustunli jadval chizdiring: «ehtimoliy» va «ishonchli» belgilar. Ishonchli belgilarga murda dog‘lari, qotishi, qurishi hamda tana haroratining 23 gradusgacha va undan pastroq sovushi ham kiradi. Tipik xato: sovigan va harakatsiz tanani darhol «ishonchli o‘lim» deb baholash. Qo‘shimcha: supravital reaksiya (o‘limdan keyingi 1-2 soatda mexanik ta’sirga mushak qisqarishi) o‘lim muddatini aniqlashda ishlatiladi.</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daqiqa, savollar og‘zaki so‘raladi. Javoblar: 1) preagoniya, terminal pauza, agoniya, klinik o‘lim, biologik o‘lim. 2) Odatda 5-6 daqiqa; keyin bosh miya po‘stlog‘ida tiklab bo‘lmaydigan o‘zgarishlar rivojlanadi. 3) Aktiv evtanaziya harakat bilan o‘limni tezlashtiradi, passiv (ortotanaziya) tibbiy yordamni cheklash yoki to‘xtatish bilan. 4) Toifa va turni ekspert, xilni (qasd borligi asosida) huquqni muhofaza idoralari aniqlaydi. Muhokama: nega o‘lim xilini ekspert emas, tergov aniqlaydi? Doskada: toifa → xil → tur sxemasi. Tipik xato: toifa bilan xilni aralashtirish, masalan «qotillik» ni toifa deb yozish. Diqqat: zo‘raki ≠ nozo‘raki; nozo‘raki o‘lim xilga bo‘linmaydi.</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daqiqa. Muhokama: 1) Autoliz nega ilk o‘zgarishlar qatoriga kiradi, chirishdan nimasi bilan farq qiladi? 2) Sun’iy o‘zgarishlar nega o‘lim muddatini aniqlashda ishonchli emas? Doskada tasnif daraxtini chizdiring: tabiiy/sun’iy → ilk/kech → yemiruvchi/saqlovchi. Diqqat: autoliz (o‘z-o‘zini hazm qilish, hujayra fermentlari) ≠ chirish (mikroorganizmlar ta’siri). Tipik xato: mumifikatsiya va yog‘-mo‘mni yemiruvchi o‘zgarishlar deb hisoblash, aslida ular saqlovchi hisoblanadi. Sun’iy o‘zgarishlar ham yemiruvchi (qismlash, yoqish, eritish) va saqlovchi (balzamlash, muzlatish) bo‘ladi.</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nima uchun jigar va to‘g‘ri ichak qo‘ltiq ostiga qaraganda kech tenglashadi? Dastlabki soatlarda harorat ba’zan bir necha gradusga ko‘tarilishi mumkin (ayrim yuqumli kasalliklar, kalla-miya jarohati, agonal davrda termoregulyatsiya buzilishi) — buni talabalarga aytib o‘ting. Doskada: tana harorati va vaqt bo‘yicha sovush egri chizig‘ini chizdiring. Tipik xato: 1°S/soat qoidasini aniq qonun deb qabul qilish; u faqat xona sharoiti uchun taxminiy qiymat.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nima uchun qurish alomatlari avval ko‘z shox pardasi va lablarda ko‘rinadi? Qurish sovush bilan qanday bog‘liq? Doskada: ko‘z va kon’yunktivaning sxematik chizmasini chizib, Lyarshe dog‘ining joyini belgilang. Tipik xato: qurish natijasida teri tortilishini soch-timoq o‘sishi deb talqin qilish; shuningdek Lyarshe dog‘ini hayotiy jarohat deb adashtirish.</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nima uchun hayotiy shilinma ho‘llangan dokadan keyin o‘zgarmaydi, pergament dog‘i esa yumshaydi? Pergament dog‘i shikastlanmagan, shox qavati yupqa joylarda (lab qizil hoshiyasi, moyak terisi, jinsiy olat boshchasi) ham paydo bo‘lishi mumkin. Doskada: sinama bosqichlarini (doka — 5-10 daq — natija) zanjir shaklida chizdiring. Tipik xato: sinamani yagona va yakuniy dalil deb hisoblash; manbada jarohat hayotiyligini aniqlashning boshqa usullari ham qo‘llanishi aytilgan.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daqiqa. Muhokama: nega AUF kamayganda mushak qotadi, AUF resintezida esa bo‘shashadi? Doskada: vaqt chizig‘ini (1-3 soat – 24 soat – 3-7 kun) va qotishning yuqoridan pastga yo‘nalishini chizdiring. Tipik xato: murda qotishi ‘o‘limdan darhol paydo bo‘ladi’ deb o‘ylash; aslida rivojlanadi, lekin 1-3 soatdan keyin aniqlanadi.</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daqiqa. Muhokama: nega sportchilarda qotish tez va kuchli, keksalarda sust? Buzilgan qotish tiklanmasligi ekspertizada nimaga xizmat qiladi? Doskada: ‘tez’ va ‘sust’ ustunli ikki ustunli ro‘yxat tuzdiring. Tipik xato: kataleptik qotishni oddiy qotish bilan adashtirish; kataleptikda qotish darhol va barcha mushaklarda bo‘ladi.</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daqiqa. Savollarni avval javobsiz o‘qing, talabalar yozma javob bersin, so‘ng tekshiring. Muhokama: pergament dog‘ini shilinmadan farqlash nega muhim? Doskada: namlangan doka sinovining natijasini ikki ustunda (pergament / shilinma) yozdiring. Tipik xato: Lyarshe dog‘ini qontalash deb baholash; u ko‘z qurishi belgisi.</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Nega gipostazda dog‘ bosilganda yo‘qoladi? 2) Imbibitsiyada gemoglobin qayerga singadi? Doskada: tananing orqa yuzasida dog‘lar chizilib, bosqichlar ketma-ketligi strelka bilan ko‘rsatilsin. Tipik xato: bosqich vaqtlarini qat’iy chegara deb o‘ylash. Diqqat: gipostaz (dog‘ ko‘chadi) ≠ imbibitsiya (dog‘ ko‘chmaydi). Qo‘shimcha: staz boshida dog‘ butkul yo‘qolmaydi, yangi sohada qisman paydo bo‘ladi.</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Fuqaro ‘qontalash’ deb shikoyat qilsa, shifokor qanday tekshiradi? 2) Nega xochsimon kesma hal qiluvchi? Doskada: ikki ustunli solishtirish jadvalini talabalar bilan to‘ldiring. Tipik xato: bosilganda rang o‘zgarishini imbibitsiya bosqichida ham kutish. Diqqat: murda dog‘i ≠ qontalash. Imbibitsiyada dog‘ bosilganda o‘zgarmaydi, shuning uchun kesma kerak. Tezkor savol: qaysi belgi dog‘ni qontalashdan ishonchli ajratadi?</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Nega oshqozon shilliq qavati autolizi o‘yuvchi zaharga o‘xshab ketadi? 2) Nega pankreonekrozni faqat makroskopiyaga qarab aytib bo‘lmaydi? Doskada: autoliz zanjirini chizing: ferment faolligi saqlanadi, o‘z-o‘zini hazm qilish, shilliq qavat o‘zgarishi, xato xulosa xavfi. Tipik xato: murdadagi har bir shilliq qavat o‘zgarishini hayotiy kuyish deb baholash. Diqqat: autolitik o‘zgarish ≠ hayotiy o‘zgarish. Autoliz o‘limdan keyin birinchi kunda boshlanadi.</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Nega ayrim fuqarolar murda dog‘ini qontalash deb xato baholaydi? 2) Doka usuli nima uchun shifokorga qulay? Doskada chizish: ikki ustunli solishtirish (murda dog‘i va qontalash: chegarasi, bosilganda, kesmada). Tipik xato: talabalar pergament dog‘ini hayotiy shilinma deb o‘ylaydi; bunda dokali sinov farqlashga yordam berishini eslatib o‘ting.</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Nega murda suvda 2, yerda 8 barobar sekin chiriydi? 2) Murda yashili nega aynan o‘ng yonbosh sohada boshlanadi deb o‘ylaysiz? Doskada chizish: 1:2:8 nisbatini havo, suv, yer ustunlari ko‘rinishida. Tipik xato: murda yashili va venoz to‘rni bir belgi deb aralashtirish; birinchisi 2-kunda yashil tus, ikkinchisi 3-4-kunda venalar proeksiyasidagi to‘r.</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Nega kaxeksiyada emfizema va pufakchalar bo‘lmaydi? 2) Skeletlanish muddati dafn sharoitiga qanday bog‘liq? Doskada chizish: vaqt chizig‘i (2-hafta, 3-oy, 6-oy). Tipik xato: gazli va nam tipni almashtirib yuborish; gazli tip infeksiyada, nam tip suyuqlik to‘planadigan kasalliklarda uchraydi.</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Nega hasharotlar o‘lim muddatini aniqlashga yordam beradi, hayvonlar esa yordam bermaydi? 2) Murda topilgan joyda hasharotlarni qanday yig‘ib saqlash kerak (etil efiri yoki formalin, p.238)? Doskada chizing: pashsha tuxumi → lichinka → qo‘g‘irchoq → etuk pashsha zanjiri. Tipik xato: hayvon yemirgan jarohatni hayotiy jarohat deb baholash.</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Nega bir xil murdada qisman mumifikatsiya bo‘lishi mumkin (dafn etilgan murdaning qabrdan chiqib qolgan qo‘li)? 2) Defenziv va offenziv qismlashni qanday farqlaysiz? Doskada chizing: uchta saqlovchi o‘zgarishning sharoit-natija jadvalini. Tipik xato: yog‘-mo‘mni mumifikatsiya bilan aralashtirish; birida muhit quruq, ikkinchisida nam.</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Muhokama: 1) Xuddi shu murda issiq, quruq, shamollatiladigan joyda topilganda qanday o‘zgarish kutilardi? 2) Nega suvda chirish sekin kechadi (kislorod kam, harorat past)? Doskada chizing: sharoit (issiq-quruq / nam-sovuq / torfli botqoq) → o‘zgarish turi strelkalari. Tipik xato: muhit sharoitini hisobga olmay, faqat tashqi ko‘rinishga qarab xulosa qilish.</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Savollarni talabalarga bittadan bering, javobni slayddan ochishdan oldin so‘rang. Muhokama: nega suvda chirish sekinroq, yog‘-mo‘m va mumifikatsiya sharoitlari qanday farqlanadi? Doskada jadval chizdiring: mumifikatsiya va yog‘-mo‘m uchun harorat, namlik, havo. Tipik xato: mumifikatsiyani yog‘-mo‘m bilan aralashtirish (quruq muhit va nam muhit) hamda autolizni chirish bilan bir deb o‘ylash (autoliz fermentlar ta’sirida, chirish mikroblar ta’sirida).</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10 daq. Muhokama: nega ikki marta o‘lchash kerak? Nega rektal haroratni aniqroq usul deymiz? Doskada: misoldagi ikki o‘lchovdan sovush tezligini (°S/soat) hisoblang va jadval bilan solishtiring. Formulalarning mualliflari (Fiddes–Patten, Burmann) matnda sxema ostida berilgan; kitobda tartib aniq ko‘rinmaydi, shuning uchun ehtiyot bo‘ling. Tipik xato: formuladagi t va T belgilarini almashtirish; bitta usul natijasini yakuniy deb qabul qilish.</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nega vaqt o‘tgan sari aniqlik pasayadi? Hasharotlarni to‘plab, etil efiri yoki formalinda konservatsiya qilishning ahamiyati nimada? Doskada: aniqlik oralig‘i bo‘yicha vaqt chizig‘i chizing (1–2 kun, kech o‘zgarishlar, skelet). Tipik xato: bitta belgi (masalan, faqat dog‘ rangi) asosida muddatni aniq deb xulosa qilish.</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Nega diagnozda uzoq sabab birinchi yoziladi? 2) Kalla-miya jarohati olgan shaxs suvga tashlansa, qaysi sabablar raqobatlashadi? Doskada: ko‘krakning sanchma-kesma jarohati – gemoperikard – yurakning siqilishi zanjirini chizdiring. Tipik xato: oraliq sabab bilan yaqin sababni aralashtirish; masalan, sepsis yaqin sabab, peritonit esa oraliq. Diqqat: uzoq sabablar raqobati ≠ oraliq/yaqin sabablar raqobati.</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Qo‘shimcha laboratoriya natijalari nega tanqidiy baholanadi? 2) Chirish ekspertizaga monelik qiladimi? Doskada: olti bosqichni zanjir qilib chizdiring. Tipik xato: laboratoriya natijalarini asosiy tekshiruvdan ustun qo‘yish; darslikda ular qo‘shimcha va qat’iy kuchga ega emas deyiladi.</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Qismlangan murdada ekspertiza oldiga qanday savollar qo‘yiladi? 2) Skelet tekshiruvida nima aniqlanadi, nima aniqlanmaydi? Doskada: shaxsni aniqlash bosqichlarini (tashqi belgilar, qon, suyak) ro‘yxat qilib yozdiring. Tipik xato: defenziv va offenziv qismlashni aralashtirish; defenziv — jinoyatni yashirish, offenziv — haqorat va oshkor qilish maqsadida.</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Nega sud-tibbiy ekspertizada kiyim va jarohatlar sinchiklab o‘rganiladi, patologo-anatomik tekshiruvda esa yo‘q? 2) Verbal autopsiya qachon qo‘llanadi? Doskada: jadvalni talabalar bilan birga chizing, ustunlarni ranglar bilan ajrating. Tipik xato: patologo-anatomik tekshiruvni ham tergovchi qarori bilan o‘tkaziladi deb o‘ylash. Aslida uni davolash muassasasi rahbari yoki muovini buyuradi.</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Nima uchun uzoq sabablar raqobatida ekspert asosiy nozologik shaklni aniqlashga maksimal harakat qiladi? 2) Bir xil kasallikdan turli oraliq va yaqin sabablar bo‘lishi mumkinmi? Doskada: ikkala vaziyat uchun zanjirni strelkalar bilan chizing. Tipik xato: sepsisni uzoq sabab deb ko‘rsatish. Zanjir birinchi bo‘g‘indan, ya’ni jarohat yoki kasallikdan boshlanadi.</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Qaysi usul oddiy tashqi ko‘zdan kechirishda shifokorga ham qo‘l keladi? 2) Nega bitta belgiga tayanib xulosa qilish xavfli? Doskada: ’belgi — hayotiy — o‘limdan keyingi’ uch ustunli solishtirma jadval chizing. Eslab qolish (o‘qituvchi tavsiyasi): bos, kes, namla, mikroskopga qara. Tipik xato: murda dog‘ini qontalash deb baholash va asossiz ekspertiza talab qilish.</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4069080"/>
            <a:ext cx="2743200" cy="73152"/>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737360"/>
            <a:ext cx="10911535" cy="2194560"/>
          </a:xfrm>
          <a:prstGeom prst="rect">
            <a:avLst/>
          </a:prstGeom>
          <a:noFill/>
        </p:spPr>
        <p:txBody>
          <a:bodyPr wrap="square" anchor="b">
            <a:spAutoFit/>
          </a:bodyPr>
          <a:lstStyle/>
          <a:p>
            <a:r>
              <a:rPr sz="4000" b="1">
                <a:solidFill>
                  <a:srgbClr val="FFFFFF"/>
                </a:solidFill>
                <a:latin typeface="Georgia"/>
              </a:rPr>
              <a:t>Intravital va o'limdan keyingi o'zgarishlarning differentsial diagnostikasi</a:t>
            </a:r>
          </a:p>
        </p:txBody>
      </p:sp>
      <p:sp>
        <p:nvSpPr>
          <p:cNvPr id="5" name="TextBox 4"/>
          <p:cNvSpPr txBox="1"/>
          <p:nvPr/>
        </p:nvSpPr>
        <p:spPr>
          <a:xfrm>
            <a:off x="640080" y="4343400"/>
            <a:ext cx="10911535" cy="548640"/>
          </a:xfrm>
          <a:prstGeom prst="rect">
            <a:avLst/>
          </a:prstGeom>
          <a:noFill/>
        </p:spPr>
        <p:txBody>
          <a:bodyPr wrap="square">
            <a:spAutoFit/>
          </a:bodyPr>
          <a:lstStyle/>
          <a:p>
            <a:r>
              <a:rPr sz="2000" b="0">
                <a:solidFill>
                  <a:srgbClr val="C9A227"/>
                </a:solidFill>
                <a:latin typeface="Calibri"/>
              </a:rPr>
              <a:t>Sud tibbiyoti · ma’ruza taqdimoti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Kirish: mavzu va o‘quv maqsadlari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Intravital va o'limdan keyingi o'zgarishlarning differentsial diagnostikasi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Murdadagi ayrim o‘zgarishlar hayotiy jarohatga o‘xshab ketadi. Ularni to‘g‘ri farqlash sud-tibbiy ekspert uchun muhim.</a:t>
            </a:r>
          </a:p>
          <a:p>
            <a:pPr>
              <a:spcAft>
                <a:spcPts val="1200"/>
              </a:spcAft>
            </a:pPr>
            <a:r>
              <a:rPr sz="2200">
                <a:solidFill>
                  <a:srgbClr val="1F2937"/>
                </a:solidFill>
                <a:latin typeface="Calibri"/>
              </a:rPr>
              <a:t>▸  Murda dog‘lari qontalashdan, pergament dog‘lari hayotiy shilinmadan farqlanishi kerak. Bu shifokorlar uchun ham muhim.</a:t>
            </a:r>
          </a:p>
          <a:p>
            <a:pPr>
              <a:spcAft>
                <a:spcPts val="1200"/>
              </a:spcAft>
            </a:pPr>
            <a:r>
              <a:rPr sz="2200">
                <a:solidFill>
                  <a:srgbClr val="1F2937"/>
                </a:solidFill>
                <a:latin typeface="Calibri"/>
              </a:rPr>
              <a:t>▸  Oshqozon shilliq qavatidagi autoliz o‘yuvchi zahar ta’siri deb yanglish baholanishi mumkin. Hayvon izlari ham hayotiy jarohatga o‘xshaydi.</a:t>
            </a:r>
          </a:p>
          <a:p>
            <a:pPr>
              <a:spcAft>
                <a:spcPts val="1200"/>
              </a:spcAft>
            </a:pPr>
            <a:r>
              <a:rPr sz="2200">
                <a:solidFill>
                  <a:srgbClr val="1F2937"/>
                </a:solidFill>
                <a:latin typeface="Calibri"/>
              </a:rPr>
              <a:t>▸  Dars rejasi: o‘lish bosqichlari, o‘lim belgilari, murdaning ilk va kech o‘zgarishlari va ularni hayotiy o‘zgarishlardan farqlash.</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betlar: 228-229, 225, 228, 229, 233, 217-229</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Tanatologiya: tushuncha va vazifalari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Intravital va o'limdan keyingi o'zgarishlarning differentsial diagnostikasi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Tanatologiya atamasini tibbiyotga I.I.Mechnikov kiritgan. Grekcha thanatos — o‘lim xudosi, logos — ta’limot: o‘lim haqidagi ta’limot.</a:t>
            </a:r>
          </a:p>
          <a:p>
            <a:pPr>
              <a:spcAft>
                <a:spcPts val="1200"/>
              </a:spcAft>
            </a:pPr>
            <a:r>
              <a:rPr sz="2200">
                <a:solidFill>
                  <a:srgbClr val="1F2937"/>
                </a:solidFill>
                <a:latin typeface="Calibri"/>
              </a:rPr>
              <a:t>▸  U o‘lish jarayonini, o‘lim faktini aniqlashni, o‘lim sabablarini va murdadagi o‘zgarishlarni, dafn va konservatsiyani o‘rganadi.</a:t>
            </a:r>
          </a:p>
          <a:p>
            <a:pPr>
              <a:spcAft>
                <a:spcPts val="1200"/>
              </a:spcAft>
            </a:pPr>
            <a:r>
              <a:rPr sz="2200">
                <a:solidFill>
                  <a:srgbClr val="1F2937"/>
                </a:solidFill>
                <a:latin typeface="Calibri"/>
              </a:rPr>
              <a:t>▸  Umumiy tanatologiya masalalarning umumiy jihatlarini, xususiy tanatologiya esa ularni o‘limning muayyan turlari bo‘yicha o‘rganadi.</a:t>
            </a:r>
          </a:p>
          <a:p>
            <a:pPr>
              <a:spcAft>
                <a:spcPts val="1200"/>
              </a:spcAft>
            </a:pPr>
            <a:r>
              <a:rPr sz="2200">
                <a:solidFill>
                  <a:srgbClr val="1F2937"/>
                </a:solidFill>
                <a:latin typeface="Calibri"/>
              </a:rPr>
              <a:t>▸  Sud-tibbiy tanatologiya bu masalalarni surishtiruv, tergov va sud idoralari faoliyatida chiqadigan savollarni hal qilish uchun o‘rganadi.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betlar: 217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O‘lish jarayoni: terminal holatlar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Intravital va o'limdan keyingi o'zgarishlarning differentsial diagnostikasi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Preagoniya va terminal pauza: bosim tushadi, hush xiralashadi, so‘ng nafas to‘satdan to‘xtaydi.</a:t>
            </a:r>
          </a:p>
          <a:p>
            <a:pPr>
              <a:spcAft>
                <a:spcPts val="800"/>
              </a:spcAft>
            </a:pPr>
            <a:r>
              <a:rPr sz="1800">
                <a:solidFill>
                  <a:srgbClr val="1F2937"/>
                </a:solidFill>
                <a:latin typeface="Calibri"/>
              </a:rPr>
              <a:t>▸  Agoniya: nafas va puls qisman tiklanadi; oxirida avval nafas, keyin yurak to‘xtaydi.</a:t>
            </a:r>
          </a:p>
          <a:p>
            <a:pPr>
              <a:spcAft>
                <a:spcPts val="800"/>
              </a:spcAft>
            </a:pPr>
            <a:r>
              <a:rPr sz="1800">
                <a:solidFill>
                  <a:srgbClr val="1F2937"/>
                </a:solidFill>
                <a:latin typeface="Calibri"/>
              </a:rPr>
              <a:t>▸  Klinik o‘lim odatda 5-6 daqiqa; undan keyin miyada qaytmas o‘zgarishlar — biologik o‘lim.</a:t>
            </a:r>
          </a:p>
        </p:txBody>
      </p:sp>
      <p:sp>
        <p:nvSpPr>
          <p:cNvPr id="9" name="Rounded Rectangle 8"/>
          <p:cNvSpPr/>
          <p:nvPr/>
        </p:nvSpPr>
        <p:spPr>
          <a:xfrm>
            <a:off x="6263640" y="146304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Preagoniya</a:t>
            </a:r>
          </a:p>
        </p:txBody>
      </p:sp>
      <p:sp>
        <p:nvSpPr>
          <p:cNvPr id="10" name="Down Arrow 9"/>
          <p:cNvSpPr/>
          <p:nvPr/>
        </p:nvSpPr>
        <p:spPr>
          <a:xfrm>
            <a:off x="8770467" y="2015337"/>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289657"/>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Terminal pauza</a:t>
            </a:r>
          </a:p>
        </p:txBody>
      </p:sp>
      <p:sp>
        <p:nvSpPr>
          <p:cNvPr id="12" name="Down Arrow 11"/>
          <p:cNvSpPr/>
          <p:nvPr/>
        </p:nvSpPr>
        <p:spPr>
          <a:xfrm>
            <a:off x="8770467" y="2841955"/>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116275"/>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Agoniya</a:t>
            </a:r>
          </a:p>
        </p:txBody>
      </p:sp>
      <p:sp>
        <p:nvSpPr>
          <p:cNvPr id="14" name="Down Arrow 13"/>
          <p:cNvSpPr/>
          <p:nvPr/>
        </p:nvSpPr>
        <p:spPr>
          <a:xfrm>
            <a:off x="8770467" y="366857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3942892"/>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Klinik o‘lim</a:t>
            </a:r>
          </a:p>
        </p:txBody>
      </p:sp>
      <p:sp>
        <p:nvSpPr>
          <p:cNvPr id="16" name="Down Arrow 15"/>
          <p:cNvSpPr/>
          <p:nvPr/>
        </p:nvSpPr>
        <p:spPr>
          <a:xfrm>
            <a:off x="8770467" y="4495190"/>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63640" y="476951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Biologik o‘lim</a:t>
            </a:r>
          </a:p>
        </p:txBody>
      </p:sp>
      <p:sp>
        <p:nvSpPr>
          <p:cNvPr id="18" name="TextBox 17"/>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Terminal holatlar ketma-ketligi</a:t>
            </a:r>
          </a:p>
        </p:txBody>
      </p:sp>
      <p:sp>
        <p:nvSpPr>
          <p:cNvPr id="19" name="TextBox 1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betlar: 217, 218</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Agoniya tiplari va klinik o‘lim</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Intravital va o'limdan keyingi o'zgarishlarning differentsial diagnostikasi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Klinik o‘lim yurak to‘xtagach boshlanadi, odatda 5-6 daqiqa davom etadi; sovuqda 30 daqiqagacha cho‘ziladi.</a:t>
            </a:r>
          </a:p>
          <a:p>
            <a:pPr>
              <a:spcAft>
                <a:spcPts val="800"/>
              </a:spcAft>
            </a:pPr>
            <a:r>
              <a:rPr sz="1800">
                <a:solidFill>
                  <a:srgbClr val="1F2937"/>
                </a:solidFill>
                <a:latin typeface="Calibri"/>
              </a:rPr>
              <a:t>▸  Tez o‘lim: elektrotravma, mexanik asfiksiya, anafilaktik shok. Sekin o‘lim kasalliklar bilan bog‘liq.</a:t>
            </a:r>
          </a:p>
          <a:p>
            <a:pPr>
              <a:spcAft>
                <a:spcPts val="800"/>
              </a:spcAft>
            </a:pPr>
            <a:r>
              <a:rPr sz="1800">
                <a:solidFill>
                  <a:srgbClr val="1F2937"/>
                </a:solidFill>
                <a:latin typeface="Calibri"/>
              </a:rPr>
              <a:t>▸  Diqqat: klinik o‘limda faoliyatni tiklash mumkin, biologik o‘limda esa tiklab bo‘lmaydi.</a:t>
            </a:r>
          </a:p>
        </p:txBody>
      </p:sp>
      <p:graphicFrame>
        <p:nvGraphicFramePr>
          <p:cNvPr id="9" name="Table 8"/>
          <p:cNvGraphicFramePr>
            <a:graphicFrameLocks noGrp="1"/>
          </p:cNvGraphicFramePr>
          <p:nvPr/>
        </p:nvGraphicFramePr>
        <p:xfrm>
          <a:off x="6263640" y="1463040"/>
          <a:ext cx="5287974" cy="2057400"/>
        </p:xfrm>
        <a:graphic>
          <a:graphicData uri="http://schemas.openxmlformats.org/drawingml/2006/table">
            <a:tbl>
              <a:tblPr firstRow="1" bandRow="1">
                <a:tableStyleId>{5C22544A-7EE6-4342-B048-85BDC9FD1C3A}</a:tableStyleId>
              </a:tblPr>
              <a:tblGrid>
                <a:gridCol w="1674525"/>
                <a:gridCol w="1498259"/>
                <a:gridCol w="2115190"/>
              </a:tblGrid>
              <a:tr h="411480">
                <a:tc>
                  <a:txBody>
                    <a:bodyPr/>
                    <a:lstStyle/>
                    <a:p>
                      <a:r>
                        <a:rPr sz="1300" b="1">
                          <a:solidFill>
                            <a:srgbClr val="FFFFFF"/>
                          </a:solidFill>
                        </a:rPr>
                        <a:t>Tip</a:t>
                      </a:r>
                    </a:p>
                  </a:txBody>
                  <a:tcPr marL="73152" marR="73152" marT="36576" marB="36576">
                    <a:solidFill>
                      <a:srgbClr val="0B1F3A"/>
                    </a:solidFill>
                  </a:tcPr>
                </a:tc>
                <a:tc>
                  <a:txBody>
                    <a:bodyPr/>
                    <a:lstStyle/>
                    <a:p>
                      <a:r>
                        <a:rPr sz="1300" b="1">
                          <a:solidFill>
                            <a:srgbClr val="FFFFFF"/>
                          </a:solidFill>
                        </a:rPr>
                        <a:t>Davomiyligi</a:t>
                      </a:r>
                    </a:p>
                  </a:txBody>
                  <a:tcPr marL="73152" marR="73152" marT="36576" marB="36576">
                    <a:solidFill>
                      <a:srgbClr val="0B1F3A"/>
                    </a:solidFill>
                  </a:tcPr>
                </a:tc>
                <a:tc>
                  <a:txBody>
                    <a:bodyPr/>
                    <a:lstStyle/>
                    <a:p>
                      <a:r>
                        <a:rPr sz="1300" b="1">
                          <a:solidFill>
                            <a:srgbClr val="FFFFFF"/>
                          </a:solidFill>
                        </a:rPr>
                        <a:t>Misol</a:t>
                      </a:r>
                    </a:p>
                  </a:txBody>
                  <a:tcPr marL="73152" marR="73152" marT="36576" marB="36576">
                    <a:solidFill>
                      <a:srgbClr val="0B1F3A"/>
                    </a:solidFill>
                  </a:tcPr>
                </a:tc>
              </a:tr>
              <a:tr h="411480">
                <a:tc>
                  <a:txBody>
                    <a:bodyPr/>
                    <a:lstStyle/>
                    <a:p>
                      <a:r>
                        <a:rPr sz="1200" b="0">
                          <a:solidFill>
                            <a:srgbClr val="1F2937"/>
                          </a:solidFill>
                        </a:rPr>
                        <a:t>Agoniyasiz</a:t>
                      </a:r>
                    </a:p>
                  </a:txBody>
                  <a:tcPr marL="73152" marR="73152" marT="36576" marB="36576">
                    <a:solidFill>
                      <a:srgbClr val="E8EEF6"/>
                    </a:solidFill>
                  </a:tcPr>
                </a:tc>
                <a:tc>
                  <a:txBody>
                    <a:bodyPr/>
                    <a:lstStyle/>
                    <a:p>
                      <a:r>
                        <a:rPr sz="1200" b="0">
                          <a:solidFill>
                            <a:srgbClr val="1F2937"/>
                          </a:solidFill>
                        </a:rPr>
                        <a:t>Bir zumda</a:t>
                      </a:r>
                    </a:p>
                  </a:txBody>
                  <a:tcPr marL="73152" marR="73152" marT="36576" marB="36576">
                    <a:solidFill>
                      <a:srgbClr val="E8EEF6"/>
                    </a:solidFill>
                  </a:tcPr>
                </a:tc>
                <a:tc>
                  <a:txBody>
                    <a:bodyPr/>
                    <a:lstStyle/>
                    <a:p>
                      <a:r>
                        <a:rPr sz="1200" b="0">
                          <a:solidFill>
                            <a:srgbClr val="1F2937"/>
                          </a:solidFill>
                        </a:rPr>
                        <a:t>Tananing parchalanishi</a:t>
                      </a:r>
                    </a:p>
                  </a:txBody>
                  <a:tcPr marL="73152" marR="73152" marT="36576" marB="36576">
                    <a:solidFill>
                      <a:srgbClr val="E8EEF6"/>
                    </a:solidFill>
                  </a:tcPr>
                </a:tc>
              </a:tr>
              <a:tr h="411480">
                <a:tc>
                  <a:txBody>
                    <a:bodyPr/>
                    <a:lstStyle/>
                    <a:p>
                      <a:r>
                        <a:rPr sz="1200" b="0">
                          <a:solidFill>
                            <a:srgbClr val="1F2937"/>
                          </a:solidFill>
                        </a:rPr>
                        <a:t>Qisqa agoniyali</a:t>
                      </a:r>
                    </a:p>
                  </a:txBody>
                  <a:tcPr marL="73152" marR="73152" marT="36576" marB="36576">
                    <a:solidFill>
                      <a:srgbClr val="FFFFFF"/>
                    </a:solidFill>
                  </a:tcPr>
                </a:tc>
                <a:tc>
                  <a:txBody>
                    <a:bodyPr/>
                    <a:lstStyle/>
                    <a:p>
                      <a:r>
                        <a:rPr sz="1200" b="0">
                          <a:solidFill>
                            <a:srgbClr val="1F2937"/>
                          </a:solidFill>
                        </a:rPr>
                        <a:t>4-5 daqiqa</a:t>
                      </a:r>
                    </a:p>
                  </a:txBody>
                  <a:tcPr marL="73152" marR="73152" marT="36576" marB="36576">
                    <a:solidFill>
                      <a:srgbClr val="FFFFFF"/>
                    </a:solidFill>
                  </a:tcPr>
                </a:tc>
                <a:tc>
                  <a:txBody>
                    <a:bodyPr/>
                    <a:lstStyle/>
                    <a:p>
                      <a:r>
                        <a:rPr sz="1200" b="0">
                          <a:solidFill>
                            <a:srgbClr val="1F2937"/>
                          </a:solidFill>
                        </a:rPr>
                        <a:t>Asfiksiya, elektrotravma</a:t>
                      </a:r>
                    </a:p>
                  </a:txBody>
                  <a:tcPr marL="73152" marR="73152" marT="36576" marB="36576">
                    <a:solidFill>
                      <a:srgbClr val="FFFFFF"/>
                    </a:solidFill>
                  </a:tcPr>
                </a:tc>
              </a:tr>
              <a:tr h="411480">
                <a:tc>
                  <a:txBody>
                    <a:bodyPr/>
                    <a:lstStyle/>
                    <a:p>
                      <a:r>
                        <a:rPr sz="1200" b="0">
                          <a:solidFill>
                            <a:srgbClr val="1F2937"/>
                          </a:solidFill>
                        </a:rPr>
                        <a:t>Uzoq agoniyali</a:t>
                      </a:r>
                    </a:p>
                  </a:txBody>
                  <a:tcPr marL="73152" marR="73152" marT="36576" marB="36576">
                    <a:solidFill>
                      <a:srgbClr val="E8EEF6"/>
                    </a:solidFill>
                  </a:tcPr>
                </a:tc>
                <a:tc>
                  <a:txBody>
                    <a:bodyPr/>
                    <a:lstStyle/>
                    <a:p>
                      <a:r>
                        <a:rPr sz="1200" b="0">
                          <a:solidFill>
                            <a:srgbClr val="1F2937"/>
                          </a:solidFill>
                        </a:rPr>
                        <a:t>Soatlar, kunlar</a:t>
                      </a:r>
                    </a:p>
                  </a:txBody>
                  <a:tcPr marL="73152" marR="73152" marT="36576" marB="36576">
                    <a:solidFill>
                      <a:srgbClr val="E8EEF6"/>
                    </a:solidFill>
                  </a:tcPr>
                </a:tc>
                <a:tc>
                  <a:txBody>
                    <a:bodyPr/>
                    <a:lstStyle/>
                    <a:p>
                      <a:r>
                        <a:rPr sz="1200" b="0">
                          <a:solidFill>
                            <a:srgbClr val="1F2937"/>
                          </a:solidFill>
                        </a:rPr>
                        <a:t>Kasallik, shikastlanish</a:t>
                      </a:r>
                    </a:p>
                  </a:txBody>
                  <a:tcPr marL="73152" marR="73152" marT="36576" marB="36576">
                    <a:solidFill>
                      <a:srgbClr val="E8EEF6"/>
                    </a:solidFill>
                  </a:tcPr>
                </a:tc>
              </a:tr>
              <a:tr h="411480">
                <a:tc>
                  <a:txBody>
                    <a:bodyPr/>
                    <a:lstStyle/>
                    <a:p>
                      <a:r>
                        <a:rPr sz="1200" b="0">
                          <a:solidFill>
                            <a:srgbClr val="1F2937"/>
                          </a:solidFill>
                        </a:rPr>
                        <a:t>Sun’iy uzaytirilgan</a:t>
                      </a:r>
                    </a:p>
                  </a:txBody>
                  <a:tcPr marL="73152" marR="73152" marT="36576" marB="36576">
                    <a:solidFill>
                      <a:srgbClr val="FFFFFF"/>
                    </a:solidFill>
                  </a:tcPr>
                </a:tc>
                <a:tc>
                  <a:txBody>
                    <a:bodyPr/>
                    <a:lstStyle/>
                    <a:p>
                      <a:r>
                        <a:rPr sz="1200" b="0">
                          <a:solidFill>
                            <a:srgbClr val="1F2937"/>
                          </a:solidFill>
                        </a:rPr>
                        <a:t>Hafta, oy, yillar</a:t>
                      </a:r>
                    </a:p>
                  </a:txBody>
                  <a:tcPr marL="73152" marR="73152" marT="36576" marB="36576">
                    <a:solidFill>
                      <a:srgbClr val="FFFFFF"/>
                    </a:solidFill>
                  </a:tcPr>
                </a:tc>
                <a:tc>
                  <a:txBody>
                    <a:bodyPr/>
                    <a:lstStyle/>
                    <a:p>
                      <a:r>
                        <a:rPr sz="1200" b="0">
                          <a:solidFill>
                            <a:srgbClr val="1F2937"/>
                          </a:solidFill>
                        </a:rPr>
                        <a:t>Tibbiy muolajalar bilan</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Lawes va Berg bo‘yicha agoniya tiplari</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betlar: 218</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Evtanaziya turlari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Intravital va o'limdan keyingi o'zgarishlarning differentsial diagnostikasi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Evtanaziya «yaxshi o‘lim» demak; mohiyati o‘limga mahkum bemorning azobini yengillashtirish.</a:t>
            </a:r>
          </a:p>
          <a:p>
            <a:pPr>
              <a:spcAft>
                <a:spcPts val="800"/>
              </a:spcAft>
            </a:pPr>
            <a:r>
              <a:rPr sz="1800">
                <a:solidFill>
                  <a:srgbClr val="1F2937"/>
                </a:solidFill>
                <a:latin typeface="Calibri"/>
              </a:rPr>
              <a:t>▸  Bilvosita aktivda o‘lim maqsad emas: masalan, og‘riq qoldiruvchining katta dozasi yuborilishi.</a:t>
            </a:r>
          </a:p>
          <a:p>
            <a:pPr>
              <a:spcAft>
                <a:spcPts val="800"/>
              </a:spcAft>
            </a:pPr>
            <a:r>
              <a:rPr sz="1800">
                <a:solidFill>
                  <a:srgbClr val="1F2937"/>
                </a:solidFill>
                <a:latin typeface="Calibri"/>
              </a:rPr>
              <a:t>▸  Tor ma’noda evtanaziyaga faqat aktiv va passiv turlari kiritiladi.</a:t>
            </a:r>
          </a:p>
        </p:txBody>
      </p:sp>
      <p:graphicFrame>
        <p:nvGraphicFramePr>
          <p:cNvPr id="9" name="Table 8"/>
          <p:cNvGraphicFramePr>
            <a:graphicFrameLocks noGrp="1"/>
          </p:cNvGraphicFramePr>
          <p:nvPr/>
        </p:nvGraphicFramePr>
        <p:xfrm>
          <a:off x="6263640" y="1463040"/>
          <a:ext cx="5287973" cy="2057400"/>
        </p:xfrm>
        <a:graphic>
          <a:graphicData uri="http://schemas.openxmlformats.org/drawingml/2006/table">
            <a:tbl>
              <a:tblPr firstRow="1" bandRow="1">
                <a:tableStyleId>{5C22544A-7EE6-4342-B048-85BDC9FD1C3A}</a:tableStyleId>
              </a:tblPr>
              <a:tblGrid>
                <a:gridCol w="919647"/>
                <a:gridCol w="2069207"/>
                <a:gridCol w="2299119"/>
              </a:tblGrid>
              <a:tr h="411480">
                <a:tc>
                  <a:txBody>
                    <a:bodyPr/>
                    <a:lstStyle/>
                    <a:p>
                      <a:r>
                        <a:rPr sz="1300" b="1">
                          <a:solidFill>
                            <a:srgbClr val="FFFFFF"/>
                          </a:solidFill>
                        </a:rPr>
                        <a:t>Tur</a:t>
                      </a:r>
                    </a:p>
                  </a:txBody>
                  <a:tcPr marL="73152" marR="73152" marT="36576" marB="36576">
                    <a:solidFill>
                      <a:srgbClr val="0B1F3A"/>
                    </a:solidFill>
                  </a:tcPr>
                </a:tc>
                <a:tc>
                  <a:txBody>
                    <a:bodyPr/>
                    <a:lstStyle/>
                    <a:p>
                      <a:r>
                        <a:rPr sz="1300" b="1">
                          <a:solidFill>
                            <a:srgbClr val="FFFFFF"/>
                          </a:solidFill>
                        </a:rPr>
                        <a:t>Mohiyati</a:t>
                      </a:r>
                    </a:p>
                  </a:txBody>
                  <a:tcPr marL="73152" marR="73152" marT="36576" marB="36576">
                    <a:solidFill>
                      <a:srgbClr val="0B1F3A"/>
                    </a:solidFill>
                  </a:tcPr>
                </a:tc>
                <a:tc>
                  <a:txBody>
                    <a:bodyPr/>
                    <a:lstStyle/>
                    <a:p>
                      <a:r>
                        <a:rPr sz="1300" b="1">
                          <a:solidFill>
                            <a:srgbClr val="FFFFFF"/>
                          </a:solidFill>
                        </a:rPr>
                        <a:t>Baho/maqsad</a:t>
                      </a:r>
                    </a:p>
                  </a:txBody>
                  <a:tcPr marL="73152" marR="73152" marT="36576" marB="36576">
                    <a:solidFill>
                      <a:srgbClr val="0B1F3A"/>
                    </a:solidFill>
                  </a:tcPr>
                </a:tc>
              </a:tr>
              <a:tr h="411480">
                <a:tc>
                  <a:txBody>
                    <a:bodyPr/>
                    <a:lstStyle/>
                    <a:p>
                      <a:r>
                        <a:rPr sz="1200" b="0">
                          <a:solidFill>
                            <a:srgbClr val="1F2937"/>
                          </a:solidFill>
                        </a:rPr>
                        <a:t>Aktiv</a:t>
                      </a:r>
                    </a:p>
                  </a:txBody>
                  <a:tcPr marL="73152" marR="73152" marT="36576" marB="36576">
                    <a:solidFill>
                      <a:srgbClr val="E8EEF6"/>
                    </a:solidFill>
                  </a:tcPr>
                </a:tc>
                <a:tc>
                  <a:txBody>
                    <a:bodyPr/>
                    <a:lstStyle/>
                    <a:p>
                      <a:r>
                        <a:rPr sz="1200" b="0">
                          <a:solidFill>
                            <a:srgbClr val="1F2937"/>
                          </a:solidFill>
                        </a:rPr>
                        <a:t>Harakat orqali o‘limni tezlashtirish</a:t>
                      </a:r>
                    </a:p>
                  </a:txBody>
                  <a:tcPr marL="73152" marR="73152" marT="36576" marB="36576">
                    <a:solidFill>
                      <a:srgbClr val="E8EEF6"/>
                    </a:solidFill>
                  </a:tcPr>
                </a:tc>
                <a:tc>
                  <a:txBody>
                    <a:bodyPr/>
                    <a:lstStyle/>
                    <a:p>
                      <a:r>
                        <a:rPr sz="1200" b="0">
                          <a:solidFill>
                            <a:srgbClr val="1F2937"/>
                          </a:solidFill>
                        </a:rPr>
                        <a:t>Bevosita: qotillik; bilvosita: ehtiyotsizlik</a:t>
                      </a:r>
                    </a:p>
                  </a:txBody>
                  <a:tcPr marL="73152" marR="73152" marT="36576" marB="36576">
                    <a:solidFill>
                      <a:srgbClr val="E8EEF6"/>
                    </a:solidFill>
                  </a:tcPr>
                </a:tc>
              </a:tr>
              <a:tr h="411480">
                <a:tc>
                  <a:txBody>
                    <a:bodyPr/>
                    <a:lstStyle/>
                    <a:p>
                      <a:r>
                        <a:rPr sz="1200" b="0">
                          <a:solidFill>
                            <a:srgbClr val="1F2937"/>
                          </a:solidFill>
                        </a:rPr>
                        <a:t>Passiv</a:t>
                      </a:r>
                    </a:p>
                  </a:txBody>
                  <a:tcPr marL="73152" marR="73152" marT="36576" marB="36576">
                    <a:solidFill>
                      <a:srgbClr val="FFFFFF"/>
                    </a:solidFill>
                  </a:tcPr>
                </a:tc>
                <a:tc>
                  <a:txBody>
                    <a:bodyPr/>
                    <a:lstStyle/>
                    <a:p>
                      <a:r>
                        <a:rPr sz="1200" b="0">
                          <a:solidFill>
                            <a:srgbClr val="1F2937"/>
                          </a:solidFill>
                        </a:rPr>
                        <a:t>Tibbiy yordamni cheklash/to‘xtatish</a:t>
                      </a:r>
                    </a:p>
                  </a:txBody>
                  <a:tcPr marL="73152" marR="73152" marT="36576" marB="36576">
                    <a:solidFill>
                      <a:srgbClr val="FFFFFF"/>
                    </a:solidFill>
                  </a:tcPr>
                </a:tc>
                <a:tc>
                  <a:txBody>
                    <a:bodyPr/>
                    <a:lstStyle/>
                    <a:p>
                      <a:r>
                        <a:rPr sz="1200" b="0">
                          <a:solidFill>
                            <a:srgbClr val="1F2937"/>
                          </a:solidFill>
                        </a:rPr>
                        <a:t>Xizmat vazifasini bajarmaslik</a:t>
                      </a:r>
                    </a:p>
                  </a:txBody>
                  <a:tcPr marL="73152" marR="73152" marT="36576" marB="36576">
                    <a:solidFill>
                      <a:srgbClr val="FFFFFF"/>
                    </a:solidFill>
                  </a:tcPr>
                </a:tc>
              </a:tr>
              <a:tr h="411480">
                <a:tc>
                  <a:txBody>
                    <a:bodyPr/>
                    <a:lstStyle/>
                    <a:p>
                      <a:r>
                        <a:rPr sz="1200" b="0">
                          <a:solidFill>
                            <a:srgbClr val="1F2937"/>
                          </a:solidFill>
                        </a:rPr>
                        <a:t>Medikotanaziya</a:t>
                      </a:r>
                    </a:p>
                  </a:txBody>
                  <a:tcPr marL="73152" marR="73152" marT="36576" marB="36576">
                    <a:solidFill>
                      <a:srgbClr val="E8EEF6"/>
                    </a:solidFill>
                  </a:tcPr>
                </a:tc>
                <a:tc>
                  <a:txBody>
                    <a:bodyPr/>
                    <a:lstStyle/>
                    <a:p>
                      <a:r>
                        <a:rPr sz="1200" b="0">
                          <a:solidFill>
                            <a:srgbClr val="1F2937"/>
                          </a:solidFill>
                        </a:rPr>
                        <a:t>Dori bilan azobni yengillashtirish</a:t>
                      </a:r>
                    </a:p>
                  </a:txBody>
                  <a:tcPr marL="73152" marR="73152" marT="36576" marB="36576">
                    <a:solidFill>
                      <a:srgbClr val="E8EEF6"/>
                    </a:solidFill>
                  </a:tcPr>
                </a:tc>
                <a:tc>
                  <a:txBody>
                    <a:bodyPr/>
                    <a:lstStyle/>
                    <a:p>
                      <a:r>
                        <a:rPr sz="1200" b="0">
                          <a:solidFill>
                            <a:srgbClr val="1F2937"/>
                          </a:solidFill>
                        </a:rPr>
                        <a:t>Hayot sifatini yaxshilash</a:t>
                      </a:r>
                    </a:p>
                  </a:txBody>
                  <a:tcPr marL="73152" marR="73152" marT="36576" marB="36576">
                    <a:solidFill>
                      <a:srgbClr val="E8EEF6"/>
                    </a:solidFill>
                  </a:tcPr>
                </a:tc>
              </a:tr>
              <a:tr h="411480">
                <a:tc>
                  <a:txBody>
                    <a:bodyPr/>
                    <a:lstStyle/>
                    <a:p>
                      <a:r>
                        <a:rPr sz="1200" b="0">
                          <a:solidFill>
                            <a:srgbClr val="1F2937"/>
                          </a:solidFill>
                        </a:rPr>
                        <a:t>Distanaziya</a:t>
                      </a:r>
                    </a:p>
                  </a:txBody>
                  <a:tcPr marL="73152" marR="73152" marT="36576" marB="36576">
                    <a:solidFill>
                      <a:srgbClr val="FFFFFF"/>
                    </a:solidFill>
                  </a:tcPr>
                </a:tc>
                <a:tc>
                  <a:txBody>
                    <a:bodyPr/>
                    <a:lstStyle/>
                    <a:p>
                      <a:r>
                        <a:rPr sz="1200" b="0">
                          <a:solidFill>
                            <a:srgbClr val="1F2937"/>
                          </a:solidFill>
                        </a:rPr>
                        <a:t>Radikal muolaja bilan uzaytirish</a:t>
                      </a:r>
                    </a:p>
                  </a:txBody>
                  <a:tcPr marL="73152" marR="73152" marT="36576" marB="36576">
                    <a:solidFill>
                      <a:srgbClr val="FFFFFF"/>
                    </a:solidFill>
                  </a:tcPr>
                </a:tc>
                <a:tc>
                  <a:txBody>
                    <a:bodyPr/>
                    <a:lstStyle/>
                    <a:p>
                      <a:r>
                        <a:rPr sz="1200" b="0">
                          <a:solidFill>
                            <a:srgbClr val="1F2937"/>
                          </a:solidFill>
                        </a:rPr>
                        <a:t>Hayotni maksimal cho‘zish</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Evtanaziya tasnifi (jadval 8.1 asosida)</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betlar: 218, 218-219, 219</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1: terminal holatlar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Intravital va o'limdan keyingi o'zgarishlarning differentsial diagnostikasi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Vaziyat: og‘ir bemorda hush xiralashgan, bosim tushgan, puls faqat uyqu arteriyasida, teri oqargan, hansirash bor.</a:t>
            </a:r>
          </a:p>
          <a:p>
            <a:pPr>
              <a:spcAft>
                <a:spcPts val="1200"/>
              </a:spcAft>
            </a:pPr>
            <a:r>
              <a:rPr sz="2200">
                <a:solidFill>
                  <a:srgbClr val="1F2937"/>
                </a:solidFill>
                <a:latin typeface="Calibri"/>
              </a:rPr>
              <a:t>▸  So‘ng nafas to‘satdan to‘xtab, qorachiqlar kengaygan va nurga javob bermagan. Keyin nafas tiklanib, bosim biroz ko‘tarilgan.</a:t>
            </a:r>
          </a:p>
          <a:p>
            <a:pPr>
              <a:spcAft>
                <a:spcPts val="1200"/>
              </a:spcAft>
            </a:pPr>
            <a:r>
              <a:rPr sz="2200">
                <a:solidFill>
                  <a:srgbClr val="1F2937"/>
                </a:solidFill>
                <a:latin typeface="Calibri"/>
              </a:rPr>
              <a:t>▸  Oxirida avval nafas, so‘ng yurak to‘xtagan; yuz tuproqsimon rangda, ko‘z olmalari chuqurlashgan, og‘iz ochilib qolgan.</a:t>
            </a:r>
          </a:p>
          <a:p>
            <a:pPr>
              <a:spcAft>
                <a:spcPts val="1200"/>
              </a:spcAft>
            </a:pPr>
            <a:r>
              <a:rPr sz="2200">
                <a:solidFill>
                  <a:srgbClr val="1F2937"/>
                </a:solidFill>
                <a:latin typeface="Calibri"/>
              </a:rPr>
              <a:t>▸  Savol: bosqichlarni ketma-ket nomlang. Yurak to‘xtaganiga qisqa vaqt bo‘lsa, bu qaysi holat va tiklash mumkinmi?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betlar: 217, 217-218, 218</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O‘lim faktini aniqlash: belgilar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Intravital va o'limdan keyingi o'zgarishlarning differentsial diagnostikasi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8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Bosh miya po‘stlog‘ining o‘limi biologik o‘limning boshlanishi, ya’ni miya o‘limi deb qabul qilinadi.</a:t>
            </a:r>
          </a:p>
          <a:p>
            <a:pPr>
              <a:spcAft>
                <a:spcPts val="800"/>
              </a:spcAft>
            </a:pPr>
            <a:r>
              <a:rPr sz="1800">
                <a:solidFill>
                  <a:srgbClr val="1F2937"/>
                </a:solidFill>
                <a:latin typeface="Calibri"/>
              </a:rPr>
              <a:t>▸  Dastlabki belgilar (hush, nafas, yurak urishi yo‘q) darhol bilinadi, ammo faqat ehtimoliy hisoblanadi.</a:t>
            </a:r>
          </a:p>
          <a:p>
            <a:pPr>
              <a:spcAft>
                <a:spcPts val="800"/>
              </a:spcAft>
            </a:pPr>
            <a:r>
              <a:rPr sz="1800">
                <a:solidFill>
                  <a:srgbClr val="1F2937"/>
                </a:solidFill>
                <a:latin typeface="Calibri"/>
              </a:rPr>
              <a:t>▸  Beloglazov simptomi 15-20 daqiqada paydo bo‘ladi; 1,5-2 soatdan so‘ng qorachiq qotib, bilinmasligi mumkin.</a:t>
            </a:r>
          </a:p>
        </p:txBody>
      </p:sp>
      <p:graphicFrame>
        <p:nvGraphicFramePr>
          <p:cNvPr id="9" name="Table 8"/>
          <p:cNvGraphicFramePr>
            <a:graphicFrameLocks noGrp="1"/>
          </p:cNvGraphicFramePr>
          <p:nvPr/>
        </p:nvGraphicFramePr>
        <p:xfrm>
          <a:off x="6263640" y="1463040"/>
          <a:ext cx="5287974" cy="2057400"/>
        </p:xfrm>
        <a:graphic>
          <a:graphicData uri="http://schemas.openxmlformats.org/drawingml/2006/table">
            <a:tbl>
              <a:tblPr firstRow="1" bandRow="1">
                <a:tableStyleId>{5C22544A-7EE6-4342-B048-85BDC9FD1C3A}</a:tableStyleId>
              </a:tblPr>
              <a:tblGrid>
                <a:gridCol w="1448760"/>
                <a:gridCol w="2173140"/>
                <a:gridCol w="1666074"/>
              </a:tblGrid>
              <a:tr h="411480">
                <a:tc>
                  <a:txBody>
                    <a:bodyPr/>
                    <a:lstStyle/>
                    <a:p>
                      <a:r>
                        <a:rPr sz="1300" b="1">
                          <a:solidFill>
                            <a:srgbClr val="FFFFFF"/>
                          </a:solidFill>
                        </a:rPr>
                        <a:t>Guruh</a:t>
                      </a:r>
                    </a:p>
                  </a:txBody>
                  <a:tcPr marL="73152" marR="73152" marT="36576" marB="36576">
                    <a:solidFill>
                      <a:srgbClr val="0B1F3A"/>
                    </a:solidFill>
                  </a:tcPr>
                </a:tc>
                <a:tc>
                  <a:txBody>
                    <a:bodyPr/>
                    <a:lstStyle/>
                    <a:p>
                      <a:r>
                        <a:rPr sz="1300" b="1">
                          <a:solidFill>
                            <a:srgbClr val="FFFFFF"/>
                          </a:solidFill>
                        </a:rPr>
                        <a:t>Belgi</a:t>
                      </a:r>
                    </a:p>
                  </a:txBody>
                  <a:tcPr marL="73152" marR="73152" marT="36576" marB="36576">
                    <a:solidFill>
                      <a:srgbClr val="0B1F3A"/>
                    </a:solidFill>
                  </a:tcPr>
                </a:tc>
                <a:tc>
                  <a:txBody>
                    <a:bodyPr/>
                    <a:lstStyle/>
                    <a:p>
                      <a:r>
                        <a:rPr sz="1300" b="1">
                          <a:solidFill>
                            <a:srgbClr val="FFFFFF"/>
                          </a:solidFill>
                        </a:rPr>
                        <a:t>Izoh</a:t>
                      </a:r>
                    </a:p>
                  </a:txBody>
                  <a:tcPr marL="73152" marR="73152" marT="36576" marB="36576">
                    <a:solidFill>
                      <a:srgbClr val="0B1F3A"/>
                    </a:solidFill>
                  </a:tcPr>
                </a:tc>
              </a:tr>
              <a:tr h="411480">
                <a:tc>
                  <a:txBody>
                    <a:bodyPr/>
                    <a:lstStyle/>
                    <a:p>
                      <a:r>
                        <a:rPr sz="1200" b="0">
                          <a:solidFill>
                            <a:srgbClr val="1F2937"/>
                          </a:solidFill>
                        </a:rPr>
                        <a:t>Ehtimoliy</a:t>
                      </a:r>
                    </a:p>
                  </a:txBody>
                  <a:tcPr marL="73152" marR="73152" marT="36576" marB="36576">
                    <a:solidFill>
                      <a:srgbClr val="E8EEF6"/>
                    </a:solidFill>
                  </a:tcPr>
                </a:tc>
                <a:tc>
                  <a:txBody>
                    <a:bodyPr/>
                    <a:lstStyle/>
                    <a:p>
                      <a:r>
                        <a:rPr sz="1200" b="0">
                          <a:solidFill>
                            <a:srgbClr val="1F2937"/>
                          </a:solidFill>
                        </a:rPr>
                        <a:t>Hush, nafas, yurak urishi yo‘q</a:t>
                      </a:r>
                    </a:p>
                  </a:txBody>
                  <a:tcPr marL="73152" marR="73152" marT="36576" marB="36576">
                    <a:solidFill>
                      <a:srgbClr val="E8EEF6"/>
                    </a:solidFill>
                  </a:tcPr>
                </a:tc>
                <a:tc>
                  <a:txBody>
                    <a:bodyPr/>
                    <a:lstStyle/>
                    <a:p>
                      <a:r>
                        <a:rPr sz="1200" b="0">
                          <a:solidFill>
                            <a:srgbClr val="1F2937"/>
                          </a:solidFill>
                        </a:rPr>
                        <a:t>Darhol aniqlanadi</a:t>
                      </a:r>
                    </a:p>
                  </a:txBody>
                  <a:tcPr marL="73152" marR="73152" marT="36576" marB="36576">
                    <a:solidFill>
                      <a:srgbClr val="E8EEF6"/>
                    </a:solidFill>
                  </a:tcPr>
                </a:tc>
              </a:tr>
              <a:tr h="411480">
                <a:tc>
                  <a:txBody>
                    <a:bodyPr/>
                    <a:lstStyle/>
                    <a:p>
                      <a:r>
                        <a:rPr sz="1200" b="0">
                          <a:solidFill>
                            <a:srgbClr val="1F2937"/>
                          </a:solidFill>
                        </a:rPr>
                        <a:t>Ishonchli (eng erta)</a:t>
                      </a:r>
                    </a:p>
                  </a:txBody>
                  <a:tcPr marL="73152" marR="73152" marT="36576" marB="36576">
                    <a:solidFill>
                      <a:srgbClr val="FFFFFF"/>
                    </a:solidFill>
                  </a:tcPr>
                </a:tc>
                <a:tc>
                  <a:txBody>
                    <a:bodyPr/>
                    <a:lstStyle/>
                    <a:p>
                      <a:r>
                        <a:rPr sz="1200" b="0">
                          <a:solidFill>
                            <a:srgbClr val="1F2937"/>
                          </a:solidFill>
                        </a:rPr>
                        <a:t>Beloglazov simptomi</a:t>
                      </a:r>
                    </a:p>
                  </a:txBody>
                  <a:tcPr marL="73152" marR="73152" marT="36576" marB="36576">
                    <a:solidFill>
                      <a:srgbClr val="FFFFFF"/>
                    </a:solidFill>
                  </a:tcPr>
                </a:tc>
                <a:tc>
                  <a:txBody>
                    <a:bodyPr/>
                    <a:lstStyle/>
                    <a:p>
                      <a:r>
                        <a:rPr sz="1200" b="0">
                          <a:solidFill>
                            <a:srgbClr val="1F2937"/>
                          </a:solidFill>
                        </a:rPr>
                        <a:t>15-20 daqiqadan so‘ng</a:t>
                      </a:r>
                    </a:p>
                  </a:txBody>
                  <a:tcPr marL="73152" marR="73152" marT="36576" marB="36576">
                    <a:solidFill>
                      <a:srgbClr val="FFFFFF"/>
                    </a:solidFill>
                  </a:tcPr>
                </a:tc>
              </a:tr>
              <a:tr h="411480">
                <a:tc>
                  <a:txBody>
                    <a:bodyPr/>
                    <a:lstStyle/>
                    <a:p>
                      <a:r>
                        <a:rPr sz="1200" b="0">
                          <a:solidFill>
                            <a:srgbClr val="1F2937"/>
                          </a:solidFill>
                        </a:rPr>
                        <a:t>Ishonchli</a:t>
                      </a:r>
                    </a:p>
                  </a:txBody>
                  <a:tcPr marL="73152" marR="73152" marT="36576" marB="36576">
                    <a:solidFill>
                      <a:srgbClr val="E8EEF6"/>
                    </a:solidFill>
                  </a:tcPr>
                </a:tc>
                <a:tc>
                  <a:txBody>
                    <a:bodyPr/>
                    <a:lstStyle/>
                    <a:p>
                      <a:r>
                        <a:rPr sz="1200" b="0">
                          <a:solidFill>
                            <a:srgbClr val="1F2937"/>
                          </a:solidFill>
                        </a:rPr>
                        <a:t>Harorat 23 °S va undan past</a:t>
                      </a:r>
                    </a:p>
                  </a:txBody>
                  <a:tcPr marL="73152" marR="73152" marT="36576" marB="36576">
                    <a:solidFill>
                      <a:srgbClr val="E8EEF6"/>
                    </a:solidFill>
                  </a:tcPr>
                </a:tc>
                <a:tc>
                  <a:txBody>
                    <a:bodyPr/>
                    <a:lstStyle/>
                    <a:p>
                      <a:r>
                        <a:rPr sz="1200" b="0">
                          <a:solidFill>
                            <a:srgbClr val="1F2937"/>
                          </a:solidFill>
                        </a:rPr>
                        <a:t>Biroz muddatdan so‘ng</a:t>
                      </a:r>
                    </a:p>
                  </a:txBody>
                  <a:tcPr marL="73152" marR="73152" marT="36576" marB="36576">
                    <a:solidFill>
                      <a:srgbClr val="E8EEF6"/>
                    </a:solidFill>
                  </a:tcPr>
                </a:tc>
              </a:tr>
              <a:tr h="411480">
                <a:tc>
                  <a:txBody>
                    <a:bodyPr/>
                    <a:lstStyle/>
                    <a:p>
                      <a:r>
                        <a:rPr sz="1200" b="0">
                          <a:solidFill>
                            <a:srgbClr val="1F2937"/>
                          </a:solidFill>
                        </a:rPr>
                        <a:t>Ishonchli</a:t>
                      </a:r>
                    </a:p>
                  </a:txBody>
                  <a:tcPr marL="73152" marR="73152" marT="36576" marB="36576">
                    <a:solidFill>
                      <a:srgbClr val="FFFFFF"/>
                    </a:solidFill>
                  </a:tcPr>
                </a:tc>
                <a:tc>
                  <a:txBody>
                    <a:bodyPr/>
                    <a:lstStyle/>
                    <a:p>
                      <a:r>
                        <a:rPr sz="1200" b="0">
                          <a:solidFill>
                            <a:srgbClr val="1F2937"/>
                          </a:solidFill>
                        </a:rPr>
                        <a:t>Murda dog‘lari, qotish, qurish</a:t>
                      </a:r>
                    </a:p>
                  </a:txBody>
                  <a:tcPr marL="73152" marR="73152" marT="36576" marB="36576">
                    <a:solidFill>
                      <a:srgbClr val="FFFFFF"/>
                    </a:solidFill>
                  </a:tcPr>
                </a:tc>
                <a:tc>
                  <a:txBody>
                    <a:bodyPr/>
                    <a:lstStyle/>
                    <a:p>
                      <a:r>
                        <a:rPr sz="1200" b="0">
                          <a:solidFill>
                            <a:srgbClr val="1F2937"/>
                          </a:solidFill>
                        </a:rPr>
                        <a:t>Ilk murda o‘zgarishlari</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Ehtimoliy va ishonchli belgilar</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betlar: 220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O‘limning sud-tibbiy tasnifi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Intravital va o'limdan keyingi o'zgarishlarning differentsial diagnostikasi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9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Toifa bo‘yicha o‘lim zo‘raki (tashqi ta’sirdan) yoki nozo‘raki (kasallikdan) bo‘ladi.</a:t>
            </a:r>
          </a:p>
          <a:p>
            <a:pPr>
              <a:spcAft>
                <a:spcPts val="800"/>
              </a:spcAft>
            </a:pPr>
            <a:r>
              <a:rPr sz="1800">
                <a:solidFill>
                  <a:srgbClr val="1F2937"/>
                </a:solidFill>
                <a:latin typeface="Calibri"/>
              </a:rPr>
              <a:t>▸  Zo‘raki o‘lim xili: qotillik, o‘z-o‘zini o‘ldirish, baxtsiz hodisa. Nozo‘raki o‘lim xillarga bo‘linmaydi.</a:t>
            </a:r>
          </a:p>
          <a:p>
            <a:pPr>
              <a:spcAft>
                <a:spcPts val="800"/>
              </a:spcAft>
            </a:pPr>
            <a:r>
              <a:rPr sz="1800">
                <a:solidFill>
                  <a:srgbClr val="1F2937"/>
                </a:solidFill>
                <a:latin typeface="Calibri"/>
              </a:rPr>
              <a:t>▸  Toifa va turni sud-tibbiy ekspert, xilni (qasd borligini) huquqni muhofaza etuvchi idora aniqlaydi.</a:t>
            </a:r>
          </a:p>
        </p:txBody>
      </p:sp>
      <p:graphicFrame>
        <p:nvGraphicFramePr>
          <p:cNvPr id="9" name="Table 8"/>
          <p:cNvGraphicFramePr>
            <a:graphicFrameLocks noGrp="1"/>
          </p:cNvGraphicFramePr>
          <p:nvPr/>
        </p:nvGraphicFramePr>
        <p:xfrm>
          <a:off x="6263640" y="1463040"/>
          <a:ext cx="5287974" cy="1645920"/>
        </p:xfrm>
        <a:graphic>
          <a:graphicData uri="http://schemas.openxmlformats.org/drawingml/2006/table">
            <a:tbl>
              <a:tblPr firstRow="1" bandRow="1">
                <a:tableStyleId>{5C22544A-7EE6-4342-B048-85BDC9FD1C3A}</a:tableStyleId>
              </a:tblPr>
              <a:tblGrid>
                <a:gridCol w="983809"/>
                <a:gridCol w="2459523"/>
                <a:gridCol w="1844642"/>
              </a:tblGrid>
              <a:tr h="411480">
                <a:tc>
                  <a:txBody>
                    <a:bodyPr/>
                    <a:lstStyle/>
                    <a:p>
                      <a:r>
                        <a:rPr sz="1300" b="1">
                          <a:solidFill>
                            <a:srgbClr val="FFFFFF"/>
                          </a:solidFill>
                        </a:rPr>
                        <a:t>Daraja</a:t>
                      </a:r>
                    </a:p>
                  </a:txBody>
                  <a:tcPr marL="73152" marR="73152" marT="36576" marB="36576">
                    <a:solidFill>
                      <a:srgbClr val="0B1F3A"/>
                    </a:solidFill>
                  </a:tcPr>
                </a:tc>
                <a:tc>
                  <a:txBody>
                    <a:bodyPr/>
                    <a:lstStyle/>
                    <a:p>
                      <a:r>
                        <a:rPr sz="1300" b="1">
                          <a:solidFill>
                            <a:srgbClr val="FFFFFF"/>
                          </a:solidFill>
                        </a:rPr>
                        <a:t>Mazmuni</a:t>
                      </a:r>
                    </a:p>
                  </a:txBody>
                  <a:tcPr marL="73152" marR="73152" marT="36576" marB="36576">
                    <a:solidFill>
                      <a:srgbClr val="0B1F3A"/>
                    </a:solidFill>
                  </a:tcPr>
                </a:tc>
                <a:tc>
                  <a:txBody>
                    <a:bodyPr/>
                    <a:lstStyle/>
                    <a:p>
                      <a:r>
                        <a:rPr sz="1300" b="1">
                          <a:solidFill>
                            <a:srgbClr val="FFFFFF"/>
                          </a:solidFill>
                        </a:rPr>
                        <a:t>Aniqlaydi</a:t>
                      </a:r>
                    </a:p>
                  </a:txBody>
                  <a:tcPr marL="73152" marR="73152" marT="36576" marB="36576">
                    <a:solidFill>
                      <a:srgbClr val="0B1F3A"/>
                    </a:solidFill>
                  </a:tcPr>
                </a:tc>
              </a:tr>
              <a:tr h="411480">
                <a:tc>
                  <a:txBody>
                    <a:bodyPr/>
                    <a:lstStyle/>
                    <a:p>
                      <a:r>
                        <a:rPr sz="1200" b="0">
                          <a:solidFill>
                            <a:srgbClr val="1F2937"/>
                          </a:solidFill>
                        </a:rPr>
                        <a:t>Toifa</a:t>
                      </a:r>
                    </a:p>
                  </a:txBody>
                  <a:tcPr marL="73152" marR="73152" marT="36576" marB="36576">
                    <a:solidFill>
                      <a:srgbClr val="E8EEF6"/>
                    </a:solidFill>
                  </a:tcPr>
                </a:tc>
                <a:tc>
                  <a:txBody>
                    <a:bodyPr/>
                    <a:lstStyle/>
                    <a:p>
                      <a:r>
                        <a:rPr sz="1200" b="0">
                          <a:solidFill>
                            <a:srgbClr val="1F2937"/>
                          </a:solidFill>
                        </a:rPr>
                        <a:t>Zo‘raki yoki nozo‘raki</a:t>
                      </a:r>
                    </a:p>
                  </a:txBody>
                  <a:tcPr marL="73152" marR="73152" marT="36576" marB="36576">
                    <a:solidFill>
                      <a:srgbClr val="E8EEF6"/>
                    </a:solidFill>
                  </a:tcPr>
                </a:tc>
                <a:tc>
                  <a:txBody>
                    <a:bodyPr/>
                    <a:lstStyle/>
                    <a:p>
                      <a:r>
                        <a:rPr sz="1200" b="0">
                          <a:solidFill>
                            <a:srgbClr val="1F2937"/>
                          </a:solidFill>
                        </a:rPr>
                        <a:t>Sud-tibbiy ekspert</a:t>
                      </a:r>
                    </a:p>
                  </a:txBody>
                  <a:tcPr marL="73152" marR="73152" marT="36576" marB="36576">
                    <a:solidFill>
                      <a:srgbClr val="E8EEF6"/>
                    </a:solidFill>
                  </a:tcPr>
                </a:tc>
              </a:tr>
              <a:tr h="411480">
                <a:tc>
                  <a:txBody>
                    <a:bodyPr/>
                    <a:lstStyle/>
                    <a:p>
                      <a:r>
                        <a:rPr sz="1200" b="0">
                          <a:solidFill>
                            <a:srgbClr val="1F2937"/>
                          </a:solidFill>
                        </a:rPr>
                        <a:t>Xil</a:t>
                      </a:r>
                    </a:p>
                  </a:txBody>
                  <a:tcPr marL="73152" marR="73152" marT="36576" marB="36576">
                    <a:solidFill>
                      <a:srgbClr val="FFFFFF"/>
                    </a:solidFill>
                  </a:tcPr>
                </a:tc>
                <a:tc>
                  <a:txBody>
                    <a:bodyPr/>
                    <a:lstStyle/>
                    <a:p>
                      <a:r>
                        <a:rPr sz="1200" b="0">
                          <a:solidFill>
                            <a:srgbClr val="1F2937"/>
                          </a:solidFill>
                        </a:rPr>
                        <a:t>Qotillik, o‘z-o‘zini o‘ldirish, baxtsiz hodisa</a:t>
                      </a:r>
                    </a:p>
                  </a:txBody>
                  <a:tcPr marL="73152" marR="73152" marT="36576" marB="36576">
                    <a:solidFill>
                      <a:srgbClr val="FFFFFF"/>
                    </a:solidFill>
                  </a:tcPr>
                </a:tc>
                <a:tc>
                  <a:txBody>
                    <a:bodyPr/>
                    <a:lstStyle/>
                    <a:p>
                      <a:r>
                        <a:rPr sz="1200" b="0">
                          <a:solidFill>
                            <a:srgbClr val="1F2937"/>
                          </a:solidFill>
                        </a:rPr>
                        <a:t>Huquqni muhofaza etuvchi idora</a:t>
                      </a:r>
                    </a:p>
                  </a:txBody>
                  <a:tcPr marL="73152" marR="73152" marT="36576" marB="36576">
                    <a:solidFill>
                      <a:srgbClr val="FFFFFF"/>
                    </a:solidFill>
                  </a:tcPr>
                </a:tc>
              </a:tr>
              <a:tr h="411480">
                <a:tc>
                  <a:txBody>
                    <a:bodyPr/>
                    <a:lstStyle/>
                    <a:p>
                      <a:r>
                        <a:rPr sz="1200" b="0">
                          <a:solidFill>
                            <a:srgbClr val="1F2937"/>
                          </a:solidFill>
                        </a:rPr>
                        <a:t>Tur</a:t>
                      </a:r>
                    </a:p>
                  </a:txBody>
                  <a:tcPr marL="73152" marR="73152" marT="36576" marB="36576">
                    <a:solidFill>
                      <a:srgbClr val="E8EEF6"/>
                    </a:solidFill>
                  </a:tcPr>
                </a:tc>
                <a:tc>
                  <a:txBody>
                    <a:bodyPr/>
                    <a:lstStyle/>
                    <a:p>
                      <a:r>
                        <a:rPr sz="1200" b="0">
                          <a:solidFill>
                            <a:srgbClr val="1F2937"/>
                          </a:solidFill>
                        </a:rPr>
                        <a:t>Jarohat, asfiksiya, zahar, tok; kasallik</a:t>
                      </a:r>
                    </a:p>
                  </a:txBody>
                  <a:tcPr marL="73152" marR="73152" marT="36576" marB="36576">
                    <a:solidFill>
                      <a:srgbClr val="E8EEF6"/>
                    </a:solidFill>
                  </a:tcPr>
                </a:tc>
                <a:tc>
                  <a:txBody>
                    <a:bodyPr/>
                    <a:lstStyle/>
                    <a:p>
                      <a:r>
                        <a:rPr sz="1200" b="0">
                          <a:solidFill>
                            <a:srgbClr val="1F2937"/>
                          </a:solidFill>
                        </a:rPr>
                        <a:t>Sud-tibbiy ekspert</a:t>
                      </a:r>
                    </a:p>
                  </a:txBody>
                  <a:tcPr marL="73152" marR="73152" marT="36576" marB="36576">
                    <a:solidFill>
                      <a:srgbClr val="E8EEF6"/>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Toifa, xil, tur va vakolat</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betlar: 221</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Supravital reaksiyalar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Intravital va o'limdan keyingi o'zgarishlarning differentsial diagnostikasi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10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Miya o‘limidan keyin ayrim to‘qimalar tashqi ta’sirga javob beradi; bu o‘lim muddatini aniqlashda qo‘llanadi.</a:t>
            </a:r>
          </a:p>
          <a:p>
            <a:pPr>
              <a:spcAft>
                <a:spcPts val="800"/>
              </a:spcAft>
            </a:pPr>
            <a:r>
              <a:rPr sz="1800">
                <a:solidFill>
                  <a:srgbClr val="1F2937"/>
                </a:solidFill>
                <a:latin typeface="Calibri"/>
              </a:rPr>
              <a:t>▸  Mexanik ta’sirda 1-2 soatda mushak qisqaradi, 10 soatgacha burma shish (idiomuskulyar o‘sma) paydo bo‘ladi.</a:t>
            </a:r>
          </a:p>
          <a:p>
            <a:pPr>
              <a:spcAft>
                <a:spcPts val="800"/>
              </a:spcAft>
            </a:pPr>
            <a:r>
              <a:rPr sz="1800">
                <a:solidFill>
                  <a:srgbClr val="1F2937"/>
                </a:solidFill>
                <a:latin typeface="Calibri"/>
              </a:rPr>
              <a:t>▸  Elektr tokida 2-3 soatda yuz, bo‘yin, qo‘l-oyoq mushaklari, 11-12 soatgacha faqat ko‘z mushaklari qisqaradi.</a:t>
            </a:r>
          </a:p>
        </p:txBody>
      </p:sp>
      <p:graphicFrame>
        <p:nvGraphicFramePr>
          <p:cNvPr id="9" name="Table 8"/>
          <p:cNvGraphicFramePr>
            <a:graphicFrameLocks noGrp="1"/>
          </p:cNvGraphicFramePr>
          <p:nvPr/>
        </p:nvGraphicFramePr>
        <p:xfrm>
          <a:off x="6263640" y="1463040"/>
          <a:ext cx="5287973" cy="2057400"/>
        </p:xfrm>
        <a:graphic>
          <a:graphicData uri="http://schemas.openxmlformats.org/drawingml/2006/table">
            <a:tbl>
              <a:tblPr firstRow="1" bandRow="1">
                <a:tableStyleId>{5C22544A-7EE6-4342-B048-85BDC9FD1C3A}</a:tableStyleId>
              </a:tblPr>
              <a:tblGrid>
                <a:gridCol w="1146789"/>
                <a:gridCol w="2548421"/>
                <a:gridCol w="1592763"/>
              </a:tblGrid>
              <a:tr h="411480">
                <a:tc>
                  <a:txBody>
                    <a:bodyPr/>
                    <a:lstStyle/>
                    <a:p>
                      <a:r>
                        <a:rPr sz="1300" b="1">
                          <a:solidFill>
                            <a:srgbClr val="FFFFFF"/>
                          </a:solidFill>
                        </a:rPr>
                        <a:t>Ta’sir</a:t>
                      </a:r>
                    </a:p>
                  </a:txBody>
                  <a:tcPr marL="73152" marR="73152" marT="36576" marB="36576">
                    <a:solidFill>
                      <a:srgbClr val="0B1F3A"/>
                    </a:solidFill>
                  </a:tcPr>
                </a:tc>
                <a:tc>
                  <a:txBody>
                    <a:bodyPr/>
                    <a:lstStyle/>
                    <a:p>
                      <a:r>
                        <a:rPr sz="1300" b="1">
                          <a:solidFill>
                            <a:srgbClr val="FFFFFF"/>
                          </a:solidFill>
                        </a:rPr>
                        <a:t>Reaksiya</a:t>
                      </a:r>
                    </a:p>
                  </a:txBody>
                  <a:tcPr marL="73152" marR="73152" marT="36576" marB="36576">
                    <a:solidFill>
                      <a:srgbClr val="0B1F3A"/>
                    </a:solidFill>
                  </a:tcPr>
                </a:tc>
                <a:tc>
                  <a:txBody>
                    <a:bodyPr/>
                    <a:lstStyle/>
                    <a:p>
                      <a:r>
                        <a:rPr sz="1300" b="1">
                          <a:solidFill>
                            <a:srgbClr val="FFFFFF"/>
                          </a:solidFill>
                        </a:rPr>
                        <a:t>Muddat</a:t>
                      </a:r>
                    </a:p>
                  </a:txBody>
                  <a:tcPr marL="73152" marR="73152" marT="36576" marB="36576">
                    <a:solidFill>
                      <a:srgbClr val="0B1F3A"/>
                    </a:solidFill>
                  </a:tcPr>
                </a:tc>
              </a:tr>
              <a:tr h="411480">
                <a:tc>
                  <a:txBody>
                    <a:bodyPr/>
                    <a:lstStyle/>
                    <a:p>
                      <a:r>
                        <a:rPr sz="1200" b="0">
                          <a:solidFill>
                            <a:srgbClr val="1F2937"/>
                          </a:solidFill>
                        </a:rPr>
                        <a:t>Mexanik</a:t>
                      </a:r>
                    </a:p>
                  </a:txBody>
                  <a:tcPr marL="73152" marR="73152" marT="36576" marB="36576">
                    <a:solidFill>
                      <a:srgbClr val="E8EEF6"/>
                    </a:solidFill>
                  </a:tcPr>
                </a:tc>
                <a:tc>
                  <a:txBody>
                    <a:bodyPr/>
                    <a:lstStyle/>
                    <a:p>
                      <a:r>
                        <a:rPr sz="1200" b="0">
                          <a:solidFill>
                            <a:srgbClr val="1F2937"/>
                          </a:solidFill>
                        </a:rPr>
                        <a:t>Mushak qisqarishi, so‘ng burma shish</a:t>
                      </a:r>
                    </a:p>
                  </a:txBody>
                  <a:tcPr marL="73152" marR="73152" marT="36576" marB="36576">
                    <a:solidFill>
                      <a:srgbClr val="E8EEF6"/>
                    </a:solidFill>
                  </a:tcPr>
                </a:tc>
                <a:tc>
                  <a:txBody>
                    <a:bodyPr/>
                    <a:lstStyle/>
                    <a:p>
                      <a:r>
                        <a:rPr sz="1200" b="0">
                          <a:solidFill>
                            <a:srgbClr val="1F2937"/>
                          </a:solidFill>
                        </a:rPr>
                        <a:t>1-2 soat; 10 soatgacha</a:t>
                      </a:r>
                    </a:p>
                  </a:txBody>
                  <a:tcPr marL="73152" marR="73152" marT="36576" marB="36576">
                    <a:solidFill>
                      <a:srgbClr val="E8EEF6"/>
                    </a:solidFill>
                  </a:tcPr>
                </a:tc>
              </a:tr>
              <a:tr h="411480">
                <a:tc>
                  <a:txBody>
                    <a:bodyPr/>
                    <a:lstStyle/>
                    <a:p>
                      <a:r>
                        <a:rPr sz="1200" b="0">
                          <a:solidFill>
                            <a:srgbClr val="1F2937"/>
                          </a:solidFill>
                        </a:rPr>
                        <a:t>Elektr</a:t>
                      </a:r>
                    </a:p>
                  </a:txBody>
                  <a:tcPr marL="73152" marR="73152" marT="36576" marB="36576">
                    <a:solidFill>
                      <a:srgbClr val="FFFFFF"/>
                    </a:solidFill>
                  </a:tcPr>
                </a:tc>
                <a:tc>
                  <a:txBody>
                    <a:bodyPr/>
                    <a:lstStyle/>
                    <a:p>
                      <a:r>
                        <a:rPr sz="1200" b="0">
                          <a:solidFill>
                            <a:srgbClr val="1F2937"/>
                          </a:solidFill>
                        </a:rPr>
                        <a:t>Yuz, bo‘yin, qo‘l-oyoq; so‘ng ko‘z</a:t>
                      </a:r>
                    </a:p>
                  </a:txBody>
                  <a:tcPr marL="73152" marR="73152" marT="36576" marB="36576">
                    <a:solidFill>
                      <a:srgbClr val="FFFFFF"/>
                    </a:solidFill>
                  </a:tcPr>
                </a:tc>
                <a:tc>
                  <a:txBody>
                    <a:bodyPr/>
                    <a:lstStyle/>
                    <a:p>
                      <a:r>
                        <a:rPr sz="1200" b="0">
                          <a:solidFill>
                            <a:srgbClr val="1F2937"/>
                          </a:solidFill>
                        </a:rPr>
                        <a:t>2-3 soat; 11-12 soatgacha</a:t>
                      </a:r>
                    </a:p>
                  </a:txBody>
                  <a:tcPr marL="73152" marR="73152" marT="36576" marB="36576">
                    <a:solidFill>
                      <a:srgbClr val="FFFFFF"/>
                    </a:solidFill>
                  </a:tcPr>
                </a:tc>
              </a:tr>
              <a:tr h="411480">
                <a:tc>
                  <a:txBody>
                    <a:bodyPr/>
                    <a:lstStyle/>
                    <a:p>
                      <a:r>
                        <a:rPr sz="1200" b="0">
                          <a:solidFill>
                            <a:srgbClr val="1F2937"/>
                          </a:solidFill>
                        </a:rPr>
                        <a:t>Kimyoviy: qorachiq</a:t>
                      </a:r>
                    </a:p>
                  </a:txBody>
                  <a:tcPr marL="73152" marR="73152" marT="36576" marB="36576">
                    <a:solidFill>
                      <a:srgbClr val="E8EEF6"/>
                    </a:solidFill>
                  </a:tcPr>
                </a:tc>
                <a:tc>
                  <a:txBody>
                    <a:bodyPr/>
                    <a:lstStyle/>
                    <a:p>
                      <a:r>
                        <a:rPr sz="1200" b="0">
                          <a:solidFill>
                            <a:srgbClr val="1F2937"/>
                          </a:solidFill>
                        </a:rPr>
                        <a:t>Atropin kengaytiradi, pilokarpin toraytiradi</a:t>
                      </a:r>
                    </a:p>
                  </a:txBody>
                  <a:tcPr marL="73152" marR="73152" marT="36576" marB="36576">
                    <a:solidFill>
                      <a:srgbClr val="E8EEF6"/>
                    </a:solidFill>
                  </a:tcPr>
                </a:tc>
                <a:tc>
                  <a:txBody>
                    <a:bodyPr/>
                    <a:lstStyle/>
                    <a:p>
                      <a:r>
                        <a:rPr sz="1200" b="0">
                          <a:solidFill>
                            <a:srgbClr val="1F2937"/>
                          </a:solidFill>
                        </a:rPr>
                        <a:t>Dastlabki 5-6 soat</a:t>
                      </a:r>
                    </a:p>
                  </a:txBody>
                  <a:tcPr marL="73152" marR="73152" marT="36576" marB="36576">
                    <a:solidFill>
                      <a:srgbClr val="E8EEF6"/>
                    </a:solidFill>
                  </a:tcPr>
                </a:tc>
              </a:tr>
              <a:tr h="411480">
                <a:tc>
                  <a:txBody>
                    <a:bodyPr/>
                    <a:lstStyle/>
                    <a:p>
                      <a:r>
                        <a:rPr sz="1200" b="0">
                          <a:solidFill>
                            <a:srgbClr val="1F2937"/>
                          </a:solidFill>
                        </a:rPr>
                        <a:t>Kimyoviy: ter bezi</a:t>
                      </a:r>
                    </a:p>
                  </a:txBody>
                  <a:tcPr marL="73152" marR="73152" marT="36576" marB="36576">
                    <a:solidFill>
                      <a:srgbClr val="FFFFFF"/>
                    </a:solidFill>
                  </a:tcPr>
                </a:tc>
                <a:tc>
                  <a:txBody>
                    <a:bodyPr/>
                    <a:lstStyle/>
                    <a:p>
                      <a:r>
                        <a:rPr sz="1200" b="0">
                          <a:solidFill>
                            <a:srgbClr val="1F2937"/>
                          </a:solidFill>
                        </a:rPr>
                        <a:t>Ko‘k rangli dog‘ paydo bo‘ladi</a:t>
                      </a:r>
                    </a:p>
                  </a:txBody>
                  <a:tcPr marL="73152" marR="73152" marT="36576" marB="36576">
                    <a:solidFill>
                      <a:srgbClr val="FFFFFF"/>
                    </a:solidFill>
                  </a:tcPr>
                </a:tc>
                <a:tc>
                  <a:txBody>
                    <a:bodyPr/>
                    <a:lstStyle/>
                    <a:p>
                      <a:r>
                        <a:rPr sz="1200" b="0">
                          <a:solidFill>
                            <a:srgbClr val="1F2937"/>
                          </a:solidFill>
                        </a:rPr>
                        <a:t>30 soatgacha</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Supravital reaksiyalar muddatlari</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betlar: 221, 222</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2: o‘lim faktini aniqlash</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Intravital va o'limdan keyingi o'zgarishlarning differentsial diagnostikasi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11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Vaziyat: hodisa joyida shaxs harakatsiz yotibdi. Hush, nafas va yurak urishi yo‘q, teri oqargan, tana biroz sovigan.</a:t>
            </a:r>
          </a:p>
          <a:p>
            <a:pPr>
              <a:spcAft>
                <a:spcPts val="1200"/>
              </a:spcAft>
            </a:pPr>
            <a:r>
              <a:rPr sz="2200">
                <a:solidFill>
                  <a:srgbClr val="1F2937"/>
                </a:solidFill>
                <a:latin typeface="Calibri"/>
              </a:rPr>
              <a:t>▸  Bu dastlabki belgilar o‘limdan so‘ng darhol aniqlansa ham, faqat ehtimoliy hisoblanadi.</a:t>
            </a:r>
          </a:p>
          <a:p>
            <a:pPr>
              <a:spcAft>
                <a:spcPts val="1200"/>
              </a:spcAft>
            </a:pPr>
            <a:r>
              <a:rPr sz="2200">
                <a:solidFill>
                  <a:srgbClr val="1F2937"/>
                </a:solidFill>
                <a:latin typeface="Calibri"/>
              </a:rPr>
              <a:t>▸  Eng erta ishonchli belgi — Beloglazov simptomi. Ko‘z olmasi yon tomondan siqilganda qorachiq ovalsimon bo‘ladi (15-20 daqiqadan so‘ng).</a:t>
            </a:r>
          </a:p>
          <a:p>
            <a:pPr>
              <a:spcAft>
                <a:spcPts val="1200"/>
              </a:spcAft>
            </a:pPr>
            <a:r>
              <a:rPr sz="2200">
                <a:solidFill>
                  <a:srgbClr val="1F2937"/>
                </a:solidFill>
                <a:latin typeface="Calibri"/>
              </a:rPr>
              <a:t>▸  Savol: 1,5-2 soatdan keyin Beloglazov simptomi aniqlanmasa, o‘lim yo‘q deb hisoblash mumkinmi? Nima uchun?</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betlar: 220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Tezkor savol 1</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Intravital va o'limdan keyingi o'zgarishlarning differentsial diagnostikasi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12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Terminal holatlar ketma-ketligini ayting: preagoniya, terminal pauza, agoniya, undan keyin qaysi bosqichlar keladi?</a:t>
            </a:r>
          </a:p>
          <a:p>
            <a:pPr>
              <a:spcAft>
                <a:spcPts val="1200"/>
              </a:spcAft>
            </a:pPr>
            <a:r>
              <a:rPr sz="2200">
                <a:solidFill>
                  <a:srgbClr val="1F2937"/>
                </a:solidFill>
                <a:latin typeface="Calibri"/>
              </a:rPr>
              <a:t>▸  Klinik o‘lim odatda necha daqiqa davom etadi va nega shu muddatdan keyin hayotga qaytarib bo‘lmaydi?</a:t>
            </a:r>
          </a:p>
          <a:p>
            <a:pPr>
              <a:spcAft>
                <a:spcPts val="1200"/>
              </a:spcAft>
            </a:pPr>
            <a:r>
              <a:rPr sz="2200">
                <a:solidFill>
                  <a:srgbClr val="1F2937"/>
                </a:solidFill>
                <a:latin typeface="Calibri"/>
              </a:rPr>
              <a:t>▸  Aktiv va passiv evtanaziya nimasi bilan farqlanadi? Ortotanaziya qaysi biriga to‘g‘ri keladi?</a:t>
            </a:r>
          </a:p>
          <a:p>
            <a:pPr>
              <a:spcAft>
                <a:spcPts val="1200"/>
              </a:spcAft>
            </a:pPr>
            <a:r>
              <a:rPr sz="2200">
                <a:solidFill>
                  <a:srgbClr val="1F2937"/>
                </a:solidFill>
                <a:latin typeface="Calibri"/>
              </a:rPr>
              <a:t>▸  O‘limning toifasi, xili va turini farqlang: qaysi birini sud-tibbiy ekspert, qaysi birini huquqni muhofaza idorasi aniqlaydi?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betlar: 217-218, 218, 218-219, 221</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Murda o‘zgarishlarining tasnifi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Intravital va o'limdan keyingi o'zgarishlarning differentsial diagnostikasi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13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Ilk o‘zgarishlar birinchi kunda, kech o‘zgarishlar ikkinchi kundan boshlanadi.</a:t>
            </a:r>
          </a:p>
          <a:p>
            <a:pPr>
              <a:spcAft>
                <a:spcPts val="800"/>
              </a:spcAft>
            </a:pPr>
            <a:r>
              <a:rPr sz="1800">
                <a:solidFill>
                  <a:srgbClr val="1F2937"/>
                </a:solidFill>
                <a:latin typeface="Calibri"/>
              </a:rPr>
              <a:t>▸  Kech o‘zgarishlar yemiruvchi (destruktiv) va saqlovchi (konservatsiyalovchi) guruhlarga bo‘linadi.</a:t>
            </a:r>
          </a:p>
          <a:p>
            <a:pPr>
              <a:spcAft>
                <a:spcPts val="800"/>
              </a:spcAft>
            </a:pPr>
            <a:r>
              <a:rPr sz="1800">
                <a:solidFill>
                  <a:srgbClr val="1F2937"/>
                </a:solidFill>
                <a:latin typeface="Calibri"/>
              </a:rPr>
              <a:t>▸  Sun’iy o‘zgarishlar o‘lim muddati bilan bog‘liq emas, turli vaqtda ro‘y berishi mumkin.</a:t>
            </a:r>
          </a:p>
        </p:txBody>
      </p:sp>
      <p:graphicFrame>
        <p:nvGraphicFramePr>
          <p:cNvPr id="9" name="Table 8"/>
          <p:cNvGraphicFramePr>
            <a:graphicFrameLocks noGrp="1"/>
          </p:cNvGraphicFramePr>
          <p:nvPr/>
        </p:nvGraphicFramePr>
        <p:xfrm>
          <a:off x="6263640" y="1463040"/>
          <a:ext cx="5287973" cy="2057400"/>
        </p:xfrm>
        <a:graphic>
          <a:graphicData uri="http://schemas.openxmlformats.org/drawingml/2006/table">
            <a:tbl>
              <a:tblPr firstRow="1" bandRow="1">
                <a:tableStyleId>{5C22544A-7EE6-4342-B048-85BDC9FD1C3A}</a:tableStyleId>
              </a:tblPr>
              <a:tblGrid>
                <a:gridCol w="1113257"/>
                <a:gridCol w="1391572"/>
                <a:gridCol w="2783144"/>
              </a:tblGrid>
              <a:tr h="411480">
                <a:tc>
                  <a:txBody>
                    <a:bodyPr/>
                    <a:lstStyle/>
                    <a:p>
                      <a:r>
                        <a:rPr sz="1300" b="1">
                          <a:solidFill>
                            <a:srgbClr val="FFFFFF"/>
                          </a:solidFill>
                        </a:rPr>
                        <a:t>Guruh</a:t>
                      </a:r>
                    </a:p>
                  </a:txBody>
                  <a:tcPr marL="73152" marR="73152" marT="36576" marB="36576">
                    <a:solidFill>
                      <a:srgbClr val="0B1F3A"/>
                    </a:solidFill>
                  </a:tcPr>
                </a:tc>
                <a:tc>
                  <a:txBody>
                    <a:bodyPr/>
                    <a:lstStyle/>
                    <a:p>
                      <a:r>
                        <a:rPr sz="1300" b="1">
                          <a:solidFill>
                            <a:srgbClr val="FFFFFF"/>
                          </a:solidFill>
                        </a:rPr>
                        <a:t>Muddat</a:t>
                      </a:r>
                    </a:p>
                  </a:txBody>
                  <a:tcPr marL="73152" marR="73152" marT="36576" marB="36576">
                    <a:solidFill>
                      <a:srgbClr val="0B1F3A"/>
                    </a:solidFill>
                  </a:tcPr>
                </a:tc>
                <a:tc>
                  <a:txBody>
                    <a:bodyPr/>
                    <a:lstStyle/>
                    <a:p>
                      <a:r>
                        <a:rPr sz="1300" b="1">
                          <a:solidFill>
                            <a:srgbClr val="FFFFFF"/>
                          </a:solidFill>
                        </a:rPr>
                        <a:t>Misollar</a:t>
                      </a:r>
                    </a:p>
                  </a:txBody>
                  <a:tcPr marL="73152" marR="73152" marT="36576" marB="36576">
                    <a:solidFill>
                      <a:srgbClr val="0B1F3A"/>
                    </a:solidFill>
                  </a:tcPr>
                </a:tc>
              </a:tr>
              <a:tr h="411480">
                <a:tc>
                  <a:txBody>
                    <a:bodyPr/>
                    <a:lstStyle/>
                    <a:p>
                      <a:r>
                        <a:rPr sz="1200" b="0">
                          <a:solidFill>
                            <a:srgbClr val="1F2937"/>
                          </a:solidFill>
                        </a:rPr>
                        <a:t>Ilk</a:t>
                      </a:r>
                    </a:p>
                  </a:txBody>
                  <a:tcPr marL="73152" marR="73152" marT="36576" marB="36576">
                    <a:solidFill>
                      <a:srgbClr val="E8EEF6"/>
                    </a:solidFill>
                  </a:tcPr>
                </a:tc>
                <a:tc>
                  <a:txBody>
                    <a:bodyPr/>
                    <a:lstStyle/>
                    <a:p>
                      <a:r>
                        <a:rPr sz="1200" b="0">
                          <a:solidFill>
                            <a:srgbClr val="1F2937"/>
                          </a:solidFill>
                        </a:rPr>
                        <a:t>O‘limdan so‘ng 1-kun</a:t>
                      </a:r>
                    </a:p>
                  </a:txBody>
                  <a:tcPr marL="73152" marR="73152" marT="36576" marB="36576">
                    <a:solidFill>
                      <a:srgbClr val="E8EEF6"/>
                    </a:solidFill>
                  </a:tcPr>
                </a:tc>
                <a:tc>
                  <a:txBody>
                    <a:bodyPr/>
                    <a:lstStyle/>
                    <a:p>
                      <a:r>
                        <a:rPr sz="1200" b="0">
                          <a:solidFill>
                            <a:srgbClr val="1F2937"/>
                          </a:solidFill>
                        </a:rPr>
                        <a:t>Sovush, qurish, dog‘lar, qotish, autoliz</a:t>
                      </a:r>
                    </a:p>
                  </a:txBody>
                  <a:tcPr marL="73152" marR="73152" marT="36576" marB="36576">
                    <a:solidFill>
                      <a:srgbClr val="E8EEF6"/>
                    </a:solidFill>
                  </a:tcPr>
                </a:tc>
              </a:tr>
              <a:tr h="411480">
                <a:tc>
                  <a:txBody>
                    <a:bodyPr/>
                    <a:lstStyle/>
                    <a:p>
                      <a:r>
                        <a:rPr sz="1200" b="0">
                          <a:solidFill>
                            <a:srgbClr val="1F2937"/>
                          </a:solidFill>
                        </a:rPr>
                        <a:t>Kech yemiruvchi</a:t>
                      </a:r>
                    </a:p>
                  </a:txBody>
                  <a:tcPr marL="73152" marR="73152" marT="36576" marB="36576">
                    <a:solidFill>
                      <a:srgbClr val="FFFFFF"/>
                    </a:solidFill>
                  </a:tcPr>
                </a:tc>
                <a:tc>
                  <a:txBody>
                    <a:bodyPr/>
                    <a:lstStyle/>
                    <a:p>
                      <a:r>
                        <a:rPr sz="1200" b="0">
                          <a:solidFill>
                            <a:srgbClr val="1F2937"/>
                          </a:solidFill>
                        </a:rPr>
                        <a:t>2-kundan boshlab</a:t>
                      </a:r>
                    </a:p>
                  </a:txBody>
                  <a:tcPr marL="73152" marR="73152" marT="36576" marB="36576">
                    <a:solidFill>
                      <a:srgbClr val="FFFFFF"/>
                    </a:solidFill>
                  </a:tcPr>
                </a:tc>
                <a:tc>
                  <a:txBody>
                    <a:bodyPr/>
                    <a:lstStyle/>
                    <a:p>
                      <a:r>
                        <a:rPr sz="1200" b="0">
                          <a:solidFill>
                            <a:srgbClr val="1F2937"/>
                          </a:solidFill>
                        </a:rPr>
                        <a:t>Chirish; hasharot, hayvon, qush, baliq</a:t>
                      </a:r>
                    </a:p>
                  </a:txBody>
                  <a:tcPr marL="73152" marR="73152" marT="36576" marB="36576">
                    <a:solidFill>
                      <a:srgbClr val="FFFFFF"/>
                    </a:solidFill>
                  </a:tcPr>
                </a:tc>
              </a:tr>
              <a:tr h="411480">
                <a:tc>
                  <a:txBody>
                    <a:bodyPr/>
                    <a:lstStyle/>
                    <a:p>
                      <a:r>
                        <a:rPr sz="1200" b="0">
                          <a:solidFill>
                            <a:srgbClr val="1F2937"/>
                          </a:solidFill>
                        </a:rPr>
                        <a:t>Kech saqlovchi</a:t>
                      </a:r>
                    </a:p>
                  </a:txBody>
                  <a:tcPr marL="73152" marR="73152" marT="36576" marB="36576">
                    <a:solidFill>
                      <a:srgbClr val="E8EEF6"/>
                    </a:solidFill>
                  </a:tcPr>
                </a:tc>
                <a:tc>
                  <a:txBody>
                    <a:bodyPr/>
                    <a:lstStyle/>
                    <a:p>
                      <a:r>
                        <a:rPr sz="1200" b="0">
                          <a:solidFill>
                            <a:srgbClr val="1F2937"/>
                          </a:solidFill>
                        </a:rPr>
                        <a:t>2-kundan boshlab</a:t>
                      </a:r>
                    </a:p>
                  </a:txBody>
                  <a:tcPr marL="73152" marR="73152" marT="36576" marB="36576">
                    <a:solidFill>
                      <a:srgbClr val="E8EEF6"/>
                    </a:solidFill>
                  </a:tcPr>
                </a:tc>
                <a:tc>
                  <a:txBody>
                    <a:bodyPr/>
                    <a:lstStyle/>
                    <a:p>
                      <a:r>
                        <a:rPr sz="1200" b="0">
                          <a:solidFill>
                            <a:srgbClr val="1F2937"/>
                          </a:solidFill>
                        </a:rPr>
                        <a:t>Mumifikatsiya, yog‘-mo‘m, torfli oshlash</a:t>
                      </a:r>
                    </a:p>
                  </a:txBody>
                  <a:tcPr marL="73152" marR="73152" marT="36576" marB="36576">
                    <a:solidFill>
                      <a:srgbClr val="E8EEF6"/>
                    </a:solidFill>
                  </a:tcPr>
                </a:tc>
              </a:tr>
              <a:tr h="411480">
                <a:tc>
                  <a:txBody>
                    <a:bodyPr/>
                    <a:lstStyle/>
                    <a:p>
                      <a:r>
                        <a:rPr sz="1200" b="0">
                          <a:solidFill>
                            <a:srgbClr val="1F2937"/>
                          </a:solidFill>
                        </a:rPr>
                        <a:t>Sun’iy</a:t>
                      </a:r>
                    </a:p>
                  </a:txBody>
                  <a:tcPr marL="73152" marR="73152" marT="36576" marB="36576">
                    <a:solidFill>
                      <a:srgbClr val="FFFFFF"/>
                    </a:solidFill>
                  </a:tcPr>
                </a:tc>
                <a:tc>
                  <a:txBody>
                    <a:bodyPr/>
                    <a:lstStyle/>
                    <a:p>
                      <a:r>
                        <a:rPr sz="1200" b="0">
                          <a:solidFill>
                            <a:srgbClr val="1F2937"/>
                          </a:solidFill>
                        </a:rPr>
                        <a:t>Vaqtga bog‘liq emas</a:t>
                      </a:r>
                    </a:p>
                  </a:txBody>
                  <a:tcPr marL="73152" marR="73152" marT="36576" marB="36576">
                    <a:solidFill>
                      <a:srgbClr val="FFFFFF"/>
                    </a:solidFill>
                  </a:tcPr>
                </a:tc>
                <a:tc>
                  <a:txBody>
                    <a:bodyPr/>
                    <a:lstStyle/>
                    <a:p>
                      <a:r>
                        <a:rPr sz="1200" b="0">
                          <a:solidFill>
                            <a:srgbClr val="1F2937"/>
                          </a:solidFill>
                        </a:rPr>
                        <a:t>Qismlash, yoqish, eritish; balzam, muzlatish</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Murda o‘zgarishlari sxemasi</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betlar: 222-223, 223, 224</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Murdaning sovushi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Intravital va o'limdan keyingi o'zgarishlarning differentsial diagnostikasi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14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Issiqlik ishlab chiqarilmaydi, ajralishi davom etadi; tana muhit haroratigacha soviydi.</a:t>
            </a:r>
          </a:p>
          <a:p>
            <a:pPr>
              <a:spcAft>
                <a:spcPts val="800"/>
              </a:spcAft>
            </a:pPr>
            <a:r>
              <a:rPr sz="1800">
                <a:solidFill>
                  <a:srgbClr val="1F2937"/>
                </a:solidFill>
                <a:latin typeface="Calibri"/>
              </a:rPr>
              <a:t>▸  Havo harorati, shamol, kiyim, yosh, o‘lim sababi sovush tezligiga ta’sir qiladi.</a:t>
            </a:r>
          </a:p>
          <a:p>
            <a:pPr>
              <a:spcAft>
                <a:spcPts val="800"/>
              </a:spcAft>
            </a:pPr>
            <a:r>
              <a:rPr sz="1800">
                <a:solidFill>
                  <a:srgbClr val="1F2937"/>
                </a:solidFill>
                <a:latin typeface="Calibri"/>
              </a:rPr>
              <a:t>▸  Termometriya aniqroq (to‘g‘ri ichak, jigar va b.); xonada taxminan 1°S/soat.</a:t>
            </a:r>
          </a:p>
        </p:txBody>
      </p:sp>
      <p:graphicFrame>
        <p:nvGraphicFramePr>
          <p:cNvPr id="9" name="Table 8"/>
          <p:cNvGraphicFramePr>
            <a:graphicFrameLocks noGrp="1"/>
          </p:cNvGraphicFramePr>
          <p:nvPr/>
        </p:nvGraphicFramePr>
        <p:xfrm>
          <a:off x="6263640" y="1463040"/>
          <a:ext cx="5287974" cy="1645920"/>
        </p:xfrm>
        <a:graphic>
          <a:graphicData uri="http://schemas.openxmlformats.org/drawingml/2006/table">
            <a:tbl>
              <a:tblPr firstRow="1" bandRow="1">
                <a:tableStyleId>{5C22544A-7EE6-4342-B048-85BDC9FD1C3A}</a:tableStyleId>
              </a:tblPr>
              <a:tblGrid>
                <a:gridCol w="2563866"/>
                <a:gridCol w="2724108"/>
              </a:tblGrid>
              <a:tr h="411480">
                <a:tc>
                  <a:txBody>
                    <a:bodyPr/>
                    <a:lstStyle/>
                    <a:p>
                      <a:r>
                        <a:rPr sz="1400" b="1">
                          <a:solidFill>
                            <a:srgbClr val="FFFFFF"/>
                          </a:solidFill>
                        </a:rPr>
                        <a:t>Soha</a:t>
                      </a:r>
                    </a:p>
                  </a:txBody>
                  <a:tcPr marL="73152" marR="73152" marT="36576" marB="36576">
                    <a:solidFill>
                      <a:srgbClr val="0B1F3A"/>
                    </a:solidFill>
                  </a:tcPr>
                </a:tc>
                <a:tc>
                  <a:txBody>
                    <a:bodyPr/>
                    <a:lstStyle/>
                    <a:p>
                      <a:r>
                        <a:rPr sz="1400" b="1">
                          <a:solidFill>
                            <a:srgbClr val="FFFFFF"/>
                          </a:solidFill>
                        </a:rPr>
                        <a:t>Tenglashish</a:t>
                      </a:r>
                    </a:p>
                  </a:txBody>
                  <a:tcPr marL="73152" marR="73152" marT="36576" marB="36576">
                    <a:solidFill>
                      <a:srgbClr val="0B1F3A"/>
                    </a:solidFill>
                  </a:tcPr>
                </a:tc>
              </a:tr>
              <a:tr h="411480">
                <a:tc>
                  <a:txBody>
                    <a:bodyPr/>
                    <a:lstStyle/>
                    <a:p>
                      <a:r>
                        <a:rPr sz="1300" b="0">
                          <a:solidFill>
                            <a:srgbClr val="1F2937"/>
                          </a:solidFill>
                        </a:rPr>
                        <a:t>Qo‘ltiq osti</a:t>
                      </a:r>
                    </a:p>
                  </a:txBody>
                  <a:tcPr marL="73152" marR="73152" marT="36576" marB="36576">
                    <a:solidFill>
                      <a:srgbClr val="E8EEF6"/>
                    </a:solidFill>
                  </a:tcPr>
                </a:tc>
                <a:tc>
                  <a:txBody>
                    <a:bodyPr/>
                    <a:lstStyle/>
                    <a:p>
                      <a:r>
                        <a:rPr sz="1300" b="0">
                          <a:solidFill>
                            <a:srgbClr val="1F2937"/>
                          </a:solidFill>
                        </a:rPr>
                        <a:t>16 soatdan keyin</a:t>
                      </a:r>
                    </a:p>
                  </a:txBody>
                  <a:tcPr marL="73152" marR="73152" marT="36576" marB="36576">
                    <a:solidFill>
                      <a:srgbClr val="E8EEF6"/>
                    </a:solidFill>
                  </a:tcPr>
                </a:tc>
              </a:tr>
              <a:tr h="411480">
                <a:tc>
                  <a:txBody>
                    <a:bodyPr/>
                    <a:lstStyle/>
                    <a:p>
                      <a:r>
                        <a:rPr sz="1300" b="0">
                          <a:solidFill>
                            <a:srgbClr val="1F2937"/>
                          </a:solidFill>
                        </a:rPr>
                        <a:t>To‘g‘ri ichak</a:t>
                      </a:r>
                    </a:p>
                  </a:txBody>
                  <a:tcPr marL="73152" marR="73152" marT="36576" marB="36576">
                    <a:solidFill>
                      <a:srgbClr val="FFFFFF"/>
                    </a:solidFill>
                  </a:tcPr>
                </a:tc>
                <a:tc>
                  <a:txBody>
                    <a:bodyPr/>
                    <a:lstStyle/>
                    <a:p>
                      <a:r>
                        <a:rPr sz="1300" b="0">
                          <a:solidFill>
                            <a:srgbClr val="1F2937"/>
                          </a:solidFill>
                        </a:rPr>
                        <a:t>19 soatdan keyin</a:t>
                      </a:r>
                    </a:p>
                  </a:txBody>
                  <a:tcPr marL="73152" marR="73152" marT="36576" marB="36576">
                    <a:solidFill>
                      <a:srgbClr val="FFFFFF"/>
                    </a:solidFill>
                  </a:tcPr>
                </a:tc>
              </a:tr>
              <a:tr h="411480">
                <a:tc>
                  <a:txBody>
                    <a:bodyPr/>
                    <a:lstStyle/>
                    <a:p>
                      <a:r>
                        <a:rPr sz="1300" b="0">
                          <a:solidFill>
                            <a:srgbClr val="1F2937"/>
                          </a:solidFill>
                        </a:rPr>
                        <a:t>Jigar</a:t>
                      </a:r>
                    </a:p>
                  </a:txBody>
                  <a:tcPr marL="73152" marR="73152" marT="36576" marB="36576">
                    <a:solidFill>
                      <a:srgbClr val="E8EEF6"/>
                    </a:solidFill>
                  </a:tcPr>
                </a:tc>
                <a:tc>
                  <a:txBody>
                    <a:bodyPr/>
                    <a:lstStyle/>
                    <a:p>
                      <a:r>
                        <a:rPr sz="1300" b="0">
                          <a:solidFill>
                            <a:srgbClr val="1F2937"/>
                          </a:solidFill>
                        </a:rPr>
                        <a:t>25 soatdan keyin</a:t>
                      </a:r>
                    </a:p>
                  </a:txBody>
                  <a:tcPr marL="73152" marR="73152" marT="36576" marB="36576">
                    <a:solidFill>
                      <a:srgbClr val="E8EEF6"/>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Muhit harorati bilan tenglashish</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betlar: 224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Murdaning qurishi va Lyarshe dog‘i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Intravital va o'limdan keyingi o'zgarishlarning differentsial diagnostikasi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15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Qurish ter va boshqa bezlar ajratishining to‘xtashi hamda namlikning bug‘lanishi bilan bog‘liq. Epidermis namlik yo‘qotishdan himoya qiladi.</a:t>
            </a:r>
          </a:p>
          <a:p>
            <a:pPr>
              <a:spcAft>
                <a:spcPts val="1200"/>
              </a:spcAft>
            </a:pPr>
            <a:r>
              <a:rPr sz="2200">
                <a:solidFill>
                  <a:srgbClr val="1F2937"/>
                </a:solidFill>
                <a:latin typeface="Calibri"/>
              </a:rPr>
              <a:t>▸  Alomatlar avval hayotda nam turadigan joylarda: lab qizil hoshiyasi, shilliq qavatlar, shox parda, moyak terisi; shilinma va yara chetlarida ham.</a:t>
            </a:r>
          </a:p>
          <a:p>
            <a:pPr>
              <a:spcAft>
                <a:spcPts val="1200"/>
              </a:spcAft>
            </a:pPr>
            <a:r>
              <a:rPr sz="2200">
                <a:solidFill>
                  <a:srgbClr val="1F2937"/>
                </a:solidFill>
                <a:latin typeface="Calibri"/>
              </a:rPr>
              <a:t>▸  Ko‘z ochiq bo‘lsa: 1-3 soatda shox parda xiralashadi, 4-5 soatda kon’yunktivada uchburchak yoki yo‘lkasimon qo‘ng‘ir-jigar Lyarshe dog‘i paydo bo‘ladi.</a:t>
            </a:r>
          </a:p>
          <a:p>
            <a:pPr>
              <a:spcAft>
                <a:spcPts val="1200"/>
              </a:spcAft>
            </a:pPr>
            <a:r>
              <a:rPr sz="2200">
                <a:solidFill>
                  <a:srgbClr val="1F2937"/>
                </a:solidFill>
                <a:latin typeface="Calibri"/>
              </a:rPr>
              <a:t>▸  Diqqat: terining tortilishi soch, soqol, timoqlar o‘sgandek tuyuladi — bu soxta tasavvur, haqiqiy o‘sish emas.</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betlar: 224, 225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Pergament dog‘i va hayotiy shilinma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Intravital va o'limdan keyingi o'zgarishlarning differentsial diagnostikasi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16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Pergament dog‘i — shikastlangan teri qurib, atrofdan qattiqroq, sarg‘imtir-qo‘ng‘ir tusga kiradi.</a:t>
            </a:r>
          </a:p>
          <a:p>
            <a:pPr>
              <a:spcAft>
                <a:spcPts val="800"/>
              </a:spcAft>
            </a:pPr>
            <a:r>
              <a:rPr sz="1800">
                <a:solidFill>
                  <a:srgbClr val="1F2937"/>
                </a:solidFill>
                <a:latin typeface="Calibri"/>
              </a:rPr>
              <a:t>▸  Sinama: shubhali joyga iliq fiziologik eritma yoki suvli doka/paxta 5-10 daqiqa qo‘yiladi.</a:t>
            </a:r>
          </a:p>
          <a:p>
            <a:pPr>
              <a:spcAft>
                <a:spcPts val="800"/>
              </a:spcAft>
            </a:pPr>
            <a:r>
              <a:rPr sz="1800">
                <a:solidFill>
                  <a:srgbClr val="1F2937"/>
                </a:solidFill>
                <a:latin typeface="Calibri"/>
              </a:rPr>
              <a:t>▸  Natija: pergament yumshab oqaradi, hayotiy shilinma o‘zgarmaydi; ekspertizada boshqa usullar ham bor.</a:t>
            </a:r>
          </a:p>
        </p:txBody>
      </p:sp>
      <p:graphicFrame>
        <p:nvGraphicFramePr>
          <p:cNvPr id="9" name="Table 8"/>
          <p:cNvGraphicFramePr>
            <a:graphicFrameLocks noGrp="1"/>
          </p:cNvGraphicFramePr>
          <p:nvPr/>
        </p:nvGraphicFramePr>
        <p:xfrm>
          <a:off x="6263640" y="1463040"/>
          <a:ext cx="5287975" cy="1234440"/>
        </p:xfrm>
        <a:graphic>
          <a:graphicData uri="http://schemas.openxmlformats.org/drawingml/2006/table">
            <a:tbl>
              <a:tblPr firstRow="1" bandRow="1">
                <a:tableStyleId>{5C22544A-7EE6-4342-B048-85BDC9FD1C3A}</a:tableStyleId>
              </a:tblPr>
              <a:tblGrid>
                <a:gridCol w="1538320"/>
                <a:gridCol w="2211335"/>
                <a:gridCol w="1538320"/>
              </a:tblGrid>
              <a:tr h="411480">
                <a:tc>
                  <a:txBody>
                    <a:bodyPr/>
                    <a:lstStyle/>
                    <a:p>
                      <a:r>
                        <a:rPr sz="1300" b="1">
                          <a:solidFill>
                            <a:srgbClr val="FFFFFF"/>
                          </a:solidFill>
                        </a:rPr>
                        <a:t>Belgi</a:t>
                      </a:r>
                    </a:p>
                  </a:txBody>
                  <a:tcPr marL="73152" marR="73152" marT="36576" marB="36576">
                    <a:solidFill>
                      <a:srgbClr val="0B1F3A"/>
                    </a:solidFill>
                  </a:tcPr>
                </a:tc>
                <a:tc>
                  <a:txBody>
                    <a:bodyPr/>
                    <a:lstStyle/>
                    <a:p>
                      <a:r>
                        <a:rPr sz="1300" b="1">
                          <a:solidFill>
                            <a:srgbClr val="FFFFFF"/>
                          </a:solidFill>
                        </a:rPr>
                        <a:t>Pergament</a:t>
                      </a:r>
                    </a:p>
                  </a:txBody>
                  <a:tcPr marL="73152" marR="73152" marT="36576" marB="36576">
                    <a:solidFill>
                      <a:srgbClr val="0B1F3A"/>
                    </a:solidFill>
                  </a:tcPr>
                </a:tc>
                <a:tc>
                  <a:txBody>
                    <a:bodyPr/>
                    <a:lstStyle/>
                    <a:p>
                      <a:r>
                        <a:rPr sz="1300" b="1">
                          <a:solidFill>
                            <a:srgbClr val="FFFFFF"/>
                          </a:solidFill>
                        </a:rPr>
                        <a:t>Shilinma</a:t>
                      </a:r>
                    </a:p>
                  </a:txBody>
                  <a:tcPr marL="73152" marR="73152" marT="36576" marB="36576">
                    <a:solidFill>
                      <a:srgbClr val="0B1F3A"/>
                    </a:solidFill>
                  </a:tcPr>
                </a:tc>
              </a:tr>
              <a:tr h="411480">
                <a:tc>
                  <a:txBody>
                    <a:bodyPr/>
                    <a:lstStyle/>
                    <a:p>
                      <a:r>
                        <a:rPr sz="1200" b="0">
                          <a:solidFill>
                            <a:srgbClr val="1F2937"/>
                          </a:solidFill>
                        </a:rPr>
                        <a:t>Sinamada</a:t>
                      </a:r>
                    </a:p>
                  </a:txBody>
                  <a:tcPr marL="73152" marR="73152" marT="36576" marB="36576">
                    <a:solidFill>
                      <a:srgbClr val="E8EEF6"/>
                    </a:solidFill>
                  </a:tcPr>
                </a:tc>
                <a:tc>
                  <a:txBody>
                    <a:bodyPr/>
                    <a:lstStyle/>
                    <a:p>
                      <a:r>
                        <a:rPr sz="1200" b="0">
                          <a:solidFill>
                            <a:srgbClr val="1F2937"/>
                          </a:solidFill>
                        </a:rPr>
                        <a:t>Yumshaydi va oqaradi</a:t>
                      </a:r>
                    </a:p>
                  </a:txBody>
                  <a:tcPr marL="73152" marR="73152" marT="36576" marB="36576">
                    <a:solidFill>
                      <a:srgbClr val="E8EEF6"/>
                    </a:solidFill>
                  </a:tcPr>
                </a:tc>
                <a:tc>
                  <a:txBody>
                    <a:bodyPr/>
                    <a:lstStyle/>
                    <a:p>
                      <a:r>
                        <a:rPr sz="1200" b="0">
                          <a:solidFill>
                            <a:srgbClr val="1F2937"/>
                          </a:solidFill>
                        </a:rPr>
                        <a:t>O‘zgarmaydi</a:t>
                      </a:r>
                    </a:p>
                  </a:txBody>
                  <a:tcPr marL="73152" marR="73152" marT="36576" marB="36576">
                    <a:solidFill>
                      <a:srgbClr val="E8EEF6"/>
                    </a:solidFill>
                  </a:tcPr>
                </a:tc>
              </a:tr>
              <a:tr h="411480">
                <a:tc>
                  <a:txBody>
                    <a:bodyPr/>
                    <a:lstStyle/>
                    <a:p>
                      <a:r>
                        <a:rPr sz="1200" b="0">
                          <a:solidFill>
                            <a:srgbClr val="1F2937"/>
                          </a:solidFill>
                        </a:rPr>
                        <a:t>Kelib chiqishi</a:t>
                      </a:r>
                    </a:p>
                  </a:txBody>
                  <a:tcPr marL="73152" marR="73152" marT="36576" marB="36576">
                    <a:solidFill>
                      <a:srgbClr val="FFFFFF"/>
                    </a:solidFill>
                  </a:tcPr>
                </a:tc>
                <a:tc>
                  <a:txBody>
                    <a:bodyPr/>
                    <a:lstStyle/>
                    <a:p>
                      <a:r>
                        <a:rPr sz="1200" b="0">
                          <a:solidFill>
                            <a:srgbClr val="1F2937"/>
                          </a:solidFill>
                        </a:rPr>
                        <a:t>O‘limdan keyingi qurish</a:t>
                      </a:r>
                    </a:p>
                  </a:txBody>
                  <a:tcPr marL="73152" marR="73152" marT="36576" marB="36576">
                    <a:solidFill>
                      <a:srgbClr val="FFFFFF"/>
                    </a:solidFill>
                  </a:tcPr>
                </a:tc>
                <a:tc>
                  <a:txBody>
                    <a:bodyPr/>
                    <a:lstStyle/>
                    <a:p>
                      <a:r>
                        <a:rPr sz="1200" b="0">
                          <a:solidFill>
                            <a:srgbClr val="1F2937"/>
                          </a:solidFill>
                        </a:rPr>
                        <a:t>Hayotiy jarohat</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Ho‘llangan doka sinamasi natijasi</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betlar: 225</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Murda qotishi: mexanizm va dinamika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Intravital va o'limdan keyingi o'zgarishlarning differentsial diagnostikasi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17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Mexanizm to‘liq ochilmagan; ko‘pchilik uni AUF (adenozinuchfosfat kislota) kamayishi bilan bog‘laydi.</a:t>
            </a:r>
          </a:p>
          <a:p>
            <a:pPr>
              <a:spcAft>
                <a:spcPts val="800"/>
              </a:spcAft>
            </a:pPr>
            <a:r>
              <a:rPr sz="1800">
                <a:solidFill>
                  <a:srgbClr val="1F2937"/>
                </a:solidFill>
                <a:latin typeface="Calibri"/>
              </a:rPr>
              <a:t>▸  AUF mushaklarda o‘limdan 10-12 soat keyin to‘liq yo‘qoladi; kalsiy ortishi ham rol o‘ynaydi.</a:t>
            </a:r>
          </a:p>
          <a:p>
            <a:pPr>
              <a:spcAft>
                <a:spcPts val="800"/>
              </a:spcAft>
            </a:pPr>
            <a:r>
              <a:rPr sz="1800">
                <a:solidFill>
                  <a:srgbClr val="1F2937"/>
                </a:solidFill>
                <a:latin typeface="Calibri"/>
              </a:rPr>
              <a:t>▸  Nisten tipi: qotish chaynash mushaklaridan boshlanib, bo‘yin, tana, qo‘l-oyoqqa pastga tarqaladi.</a:t>
            </a:r>
          </a:p>
        </p:txBody>
      </p:sp>
      <p:graphicFrame>
        <p:nvGraphicFramePr>
          <p:cNvPr id="9" name="Table 8"/>
          <p:cNvGraphicFramePr>
            <a:graphicFrameLocks noGrp="1"/>
          </p:cNvGraphicFramePr>
          <p:nvPr/>
        </p:nvGraphicFramePr>
        <p:xfrm>
          <a:off x="6263640" y="1463040"/>
          <a:ext cx="5287974" cy="2057400"/>
        </p:xfrm>
        <a:graphic>
          <a:graphicData uri="http://schemas.openxmlformats.org/drawingml/2006/table">
            <a:tbl>
              <a:tblPr firstRow="1" bandRow="1">
                <a:tableStyleId>{5C22544A-7EE6-4342-B048-85BDC9FD1C3A}</a:tableStyleId>
              </a:tblPr>
              <a:tblGrid>
                <a:gridCol w="1702907"/>
                <a:gridCol w="3585067"/>
              </a:tblGrid>
              <a:tr h="411480">
                <a:tc>
                  <a:txBody>
                    <a:bodyPr/>
                    <a:lstStyle/>
                    <a:p>
                      <a:r>
                        <a:rPr sz="1400" b="1">
                          <a:solidFill>
                            <a:srgbClr val="FFFFFF"/>
                          </a:solidFill>
                        </a:rPr>
                        <a:t>Muddat</a:t>
                      </a:r>
                    </a:p>
                  </a:txBody>
                  <a:tcPr marL="73152" marR="73152" marT="36576" marB="36576">
                    <a:solidFill>
                      <a:srgbClr val="0B1F3A"/>
                    </a:solidFill>
                  </a:tcPr>
                </a:tc>
                <a:tc>
                  <a:txBody>
                    <a:bodyPr/>
                    <a:lstStyle/>
                    <a:p>
                      <a:r>
                        <a:rPr sz="1400" b="1">
                          <a:solidFill>
                            <a:srgbClr val="FFFFFF"/>
                          </a:solidFill>
                        </a:rPr>
                        <a:t>Qotish holati</a:t>
                      </a:r>
                    </a:p>
                  </a:txBody>
                  <a:tcPr marL="73152" marR="73152" marT="36576" marB="36576">
                    <a:solidFill>
                      <a:srgbClr val="0B1F3A"/>
                    </a:solidFill>
                  </a:tcPr>
                </a:tc>
              </a:tr>
              <a:tr h="411480">
                <a:tc>
                  <a:txBody>
                    <a:bodyPr/>
                    <a:lstStyle/>
                    <a:p>
                      <a:r>
                        <a:rPr sz="1300" b="0">
                          <a:solidFill>
                            <a:srgbClr val="1F2937"/>
                          </a:solidFill>
                        </a:rPr>
                        <a:t>1-3 soatdan keyin</a:t>
                      </a:r>
                    </a:p>
                  </a:txBody>
                  <a:tcPr marL="73152" marR="73152" marT="36576" marB="36576">
                    <a:solidFill>
                      <a:srgbClr val="E8EEF6"/>
                    </a:solidFill>
                  </a:tcPr>
                </a:tc>
                <a:tc>
                  <a:txBody>
                    <a:bodyPr/>
                    <a:lstStyle/>
                    <a:p>
                      <a:r>
                        <a:rPr sz="1300" b="0">
                          <a:solidFill>
                            <a:srgbClr val="1F2937"/>
                          </a:solidFill>
                        </a:rPr>
                        <a:t>Chaynash mushaklarida aniqlana boshlaydi</a:t>
                      </a:r>
                    </a:p>
                  </a:txBody>
                  <a:tcPr marL="73152" marR="73152" marT="36576" marB="36576">
                    <a:solidFill>
                      <a:srgbClr val="E8EEF6"/>
                    </a:solidFill>
                  </a:tcPr>
                </a:tc>
              </a:tr>
              <a:tr h="411480">
                <a:tc>
                  <a:txBody>
                    <a:bodyPr/>
                    <a:lstStyle/>
                    <a:p>
                      <a:r>
                        <a:rPr sz="1300" b="0">
                          <a:solidFill>
                            <a:srgbClr val="1F2937"/>
                          </a:solidFill>
                        </a:rPr>
                        <a:t>12-16 soatdan keyin</a:t>
                      </a:r>
                    </a:p>
                  </a:txBody>
                  <a:tcPr marL="73152" marR="73152" marT="36576" marB="36576">
                    <a:solidFill>
                      <a:srgbClr val="FFFFFF"/>
                    </a:solidFill>
                  </a:tcPr>
                </a:tc>
                <a:tc>
                  <a:txBody>
                    <a:bodyPr/>
                    <a:lstStyle/>
                    <a:p>
                      <a:r>
                        <a:rPr sz="1300" b="0">
                          <a:solidFill>
                            <a:srgbClr val="1F2937"/>
                          </a:solidFill>
                        </a:rPr>
                        <a:t>Barcha mushaklarda qotish kuzatiladi</a:t>
                      </a:r>
                    </a:p>
                  </a:txBody>
                  <a:tcPr marL="73152" marR="73152" marT="36576" marB="36576">
                    <a:solidFill>
                      <a:srgbClr val="FFFFFF"/>
                    </a:solidFill>
                  </a:tcPr>
                </a:tc>
              </a:tr>
              <a:tr h="411480">
                <a:tc>
                  <a:txBody>
                    <a:bodyPr/>
                    <a:lstStyle/>
                    <a:p>
                      <a:r>
                        <a:rPr sz="1300" b="0">
                          <a:solidFill>
                            <a:srgbClr val="1F2937"/>
                          </a:solidFill>
                        </a:rPr>
                        <a:t>24 soatdan keyin</a:t>
                      </a:r>
                    </a:p>
                  </a:txBody>
                  <a:tcPr marL="73152" marR="73152" marT="36576" marB="36576">
                    <a:solidFill>
                      <a:srgbClr val="E8EEF6"/>
                    </a:solidFill>
                  </a:tcPr>
                </a:tc>
                <a:tc>
                  <a:txBody>
                    <a:bodyPr/>
                    <a:lstStyle/>
                    <a:p>
                      <a:r>
                        <a:rPr sz="1300" b="0">
                          <a:solidFill>
                            <a:srgbClr val="1F2937"/>
                          </a:solidFill>
                        </a:rPr>
                        <a:t>Maksimal darajaga etadi</a:t>
                      </a:r>
                    </a:p>
                  </a:txBody>
                  <a:tcPr marL="73152" marR="73152" marT="36576" marB="36576">
                    <a:solidFill>
                      <a:srgbClr val="E8EEF6"/>
                    </a:solidFill>
                  </a:tcPr>
                </a:tc>
              </a:tr>
              <a:tr h="411480">
                <a:tc>
                  <a:txBody>
                    <a:bodyPr/>
                    <a:lstStyle/>
                    <a:p>
                      <a:r>
                        <a:rPr sz="1300" b="0">
                          <a:solidFill>
                            <a:srgbClr val="1F2937"/>
                          </a:solidFill>
                        </a:rPr>
                        <a:t>3-7 kundan keyin</a:t>
                      </a:r>
                    </a:p>
                  </a:txBody>
                  <a:tcPr marL="73152" marR="73152" marT="36576" marB="36576">
                    <a:solidFill>
                      <a:srgbClr val="FFFFFF"/>
                    </a:solidFill>
                  </a:tcPr>
                </a:tc>
                <a:tc>
                  <a:txBody>
                    <a:bodyPr/>
                    <a:lstStyle/>
                    <a:p>
                      <a:r>
                        <a:rPr sz="1300" b="0">
                          <a:solidFill>
                            <a:srgbClr val="1F2937"/>
                          </a:solidFill>
                        </a:rPr>
                        <a:t>To‘liq yo‘qoladi</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Qotish dinamikasi</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betlar: 225, 225-226, 226</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Qotishga ta’sir etuvchi omillar va buzilishi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Intravital va o'limdan keyingi o'zgarishlarning differentsial diagnostikasi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18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Sust qotish: past harorat, bolalar va keksalar, holsizlanish, kaxeksiya, xloralgidrat va motor-paralitik moddalar bilan zaharlanish.</a:t>
            </a:r>
          </a:p>
          <a:p>
            <a:pPr>
              <a:spcAft>
                <a:spcPts val="1200"/>
              </a:spcAft>
            </a:pPr>
            <a:r>
              <a:rPr sz="2200">
                <a:solidFill>
                  <a:srgbClr val="1F2937"/>
                </a:solidFill>
                <a:latin typeface="Calibri"/>
              </a:rPr>
              <a:t>▸  Tez va kuchli qotish: yuqori harorat, sportchilar va og‘ir jismoniy mehnat kishilari, talvasali kasalliklar, strixnin, sikuta bilan zaharlanish.</a:t>
            </a:r>
          </a:p>
          <a:p>
            <a:pPr>
              <a:spcAft>
                <a:spcPts val="1200"/>
              </a:spcAft>
            </a:pPr>
            <a:r>
              <a:rPr sz="2200">
                <a:solidFill>
                  <a:srgbClr val="1F2937"/>
                </a:solidFill>
                <a:latin typeface="Calibri"/>
              </a:rPr>
              <a:t>▸  Kataleptik qotish o‘limdan darhol barcha mushaklarda: uzunchoq miya, bo‘yin orqa miyasi, quyosh chigali shikastlanishida, talvasada.</a:t>
            </a:r>
          </a:p>
          <a:p>
            <a:pPr>
              <a:spcAft>
                <a:spcPts val="1200"/>
              </a:spcAft>
            </a:pPr>
            <a:r>
              <a:rPr sz="2200">
                <a:solidFill>
                  <a:srgbClr val="1F2937"/>
                </a:solidFill>
                <a:latin typeface="Calibri"/>
              </a:rPr>
              <a:t>▸  Diqqat: dastlabki soatlarda buzilgan qotish tiklanadi (kuchsizroq), keyin tiklanmaydi; bu murdaga tegilganini ko‘rsatadi.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betlar: 226, 226-227</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Tezkor savol 2</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Intravital va o'limdan keyingi o'zgarishlarning differentsial diagnostikasi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19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Savol: xona sharoitida murda harorati taxminan qanchaga tushadi? Javob: taxminan bir soatda bir gradusga tushadi.</a:t>
            </a:r>
          </a:p>
          <a:p>
            <a:pPr>
              <a:spcAft>
                <a:spcPts val="1200"/>
              </a:spcAft>
            </a:pPr>
            <a:r>
              <a:rPr sz="2200">
                <a:solidFill>
                  <a:srgbClr val="1F2937"/>
                </a:solidFill>
                <a:latin typeface="Calibri"/>
              </a:rPr>
              <a:t>▸  Savol: pergament dog‘i hayotiy shilinmadan qanday farqlanadi? Javob: 5-10 daqiqa iliq namlangan doka qo‘yiladi; pergament yumshab oqaradi, shilinma o‘zgarmaydi.</a:t>
            </a:r>
          </a:p>
          <a:p>
            <a:pPr>
              <a:spcAft>
                <a:spcPts val="1200"/>
              </a:spcAft>
            </a:pPr>
            <a:r>
              <a:rPr sz="2200">
                <a:solidFill>
                  <a:srgbClr val="1F2937"/>
                </a:solidFill>
                <a:latin typeface="Calibri"/>
              </a:rPr>
              <a:t>▸  Savol: Lyarshe dog‘i qachon va qayerda paydo bo‘ladi? Javob: 4-5 soatda, shox parda yonidagi konyunktivada uchburchak qo‘ng‘ir-jigar dog‘ bo‘ladi.</a:t>
            </a:r>
          </a:p>
          <a:p>
            <a:pPr>
              <a:spcAft>
                <a:spcPts val="1200"/>
              </a:spcAft>
            </a:pPr>
            <a:r>
              <a:rPr sz="2200">
                <a:solidFill>
                  <a:srgbClr val="1F2937"/>
                </a:solidFill>
                <a:latin typeface="Calibri"/>
              </a:rPr>
              <a:t>▸  Savol: yurak mushagi qotishi qachon rivojlanadi? Javob: 2 soatdan so‘ng (“o‘limdan keyingi sistola”), 5-6 soatdan so‘ng yo‘qoladi.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betlar: 224, 225, 226</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Murda dog‘lari: gipostaz, staz, imbibitsiya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Intravital va o'limdan keyingi o'zgarishlarning differentsial diagnostikasi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20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Qon og‘irlik kuchi bilan tananing past sohalariga oqadi. Ichki a’zolarda shu jarayon gipostaz deyiladi.</a:t>
            </a:r>
          </a:p>
          <a:p>
            <a:pPr>
              <a:spcAft>
                <a:spcPts val="800"/>
              </a:spcAft>
            </a:pPr>
            <a:r>
              <a:rPr sz="1800">
                <a:solidFill>
                  <a:srgbClr val="1F2937"/>
                </a:solidFill>
                <a:latin typeface="Calibri"/>
              </a:rPr>
              <a:t>▸  Bosqichlar orasida aniq vaqt chegarasi yo‘q, ular bir-biriga astalik bilan o‘tadi.</a:t>
            </a:r>
          </a:p>
          <a:p>
            <a:pPr>
              <a:spcAft>
                <a:spcPts val="800"/>
              </a:spcAft>
            </a:pPr>
            <a:r>
              <a:rPr sz="1800">
                <a:solidFill>
                  <a:srgbClr val="1F2937"/>
                </a:solidFill>
                <a:latin typeface="Calibri"/>
              </a:rPr>
              <a:t>▸  Gipostazda holat o‘zgarsa, dog‘ yangi past joyda paydo bo‘ladi. Imbibitsiyada esa yangi joyda paydo bo‘lmaydi.</a:t>
            </a:r>
          </a:p>
        </p:txBody>
      </p:sp>
      <p:graphicFrame>
        <p:nvGraphicFramePr>
          <p:cNvPr id="9" name="Table 8"/>
          <p:cNvGraphicFramePr>
            <a:graphicFrameLocks noGrp="1"/>
          </p:cNvGraphicFramePr>
          <p:nvPr/>
        </p:nvGraphicFramePr>
        <p:xfrm>
          <a:off x="6263640" y="1463040"/>
          <a:ext cx="5287973" cy="1645920"/>
        </p:xfrm>
        <a:graphic>
          <a:graphicData uri="http://schemas.openxmlformats.org/drawingml/2006/table">
            <a:tbl>
              <a:tblPr firstRow="1" bandRow="1">
                <a:tableStyleId>{5C22544A-7EE6-4342-B048-85BDC9FD1C3A}</a:tableStyleId>
              </a:tblPr>
              <a:tblGrid>
                <a:gridCol w="1143345"/>
                <a:gridCol w="2000855"/>
                <a:gridCol w="2143773"/>
              </a:tblGrid>
              <a:tr h="411480">
                <a:tc>
                  <a:txBody>
                    <a:bodyPr/>
                    <a:lstStyle/>
                    <a:p>
                      <a:r>
                        <a:rPr sz="1300" b="1">
                          <a:solidFill>
                            <a:srgbClr val="FFFFFF"/>
                          </a:solidFill>
                        </a:rPr>
                        <a:t>Bosqich</a:t>
                      </a:r>
                    </a:p>
                  </a:txBody>
                  <a:tcPr marL="73152" marR="73152" marT="36576" marB="36576">
                    <a:solidFill>
                      <a:srgbClr val="0B1F3A"/>
                    </a:solidFill>
                  </a:tcPr>
                </a:tc>
                <a:tc>
                  <a:txBody>
                    <a:bodyPr/>
                    <a:lstStyle/>
                    <a:p>
                      <a:r>
                        <a:rPr sz="1300" b="1">
                          <a:solidFill>
                            <a:srgbClr val="FFFFFF"/>
                          </a:solidFill>
                        </a:rPr>
                        <a:t>Vaqt</a:t>
                      </a:r>
                    </a:p>
                  </a:txBody>
                  <a:tcPr marL="73152" marR="73152" marT="36576" marB="36576">
                    <a:solidFill>
                      <a:srgbClr val="0B1F3A"/>
                    </a:solidFill>
                  </a:tcPr>
                </a:tc>
                <a:tc>
                  <a:txBody>
                    <a:bodyPr/>
                    <a:lstStyle/>
                    <a:p>
                      <a:r>
                        <a:rPr sz="1300" b="1">
                          <a:solidFill>
                            <a:srgbClr val="FFFFFF"/>
                          </a:solidFill>
                        </a:rPr>
                        <a:t>Bosilganda</a:t>
                      </a:r>
                    </a:p>
                  </a:txBody>
                  <a:tcPr marL="73152" marR="73152" marT="36576" marB="36576">
                    <a:solidFill>
                      <a:srgbClr val="0B1F3A"/>
                    </a:solidFill>
                  </a:tcPr>
                </a:tc>
              </a:tr>
              <a:tr h="411480">
                <a:tc>
                  <a:txBody>
                    <a:bodyPr/>
                    <a:lstStyle/>
                    <a:p>
                      <a:r>
                        <a:rPr sz="1200" b="0">
                          <a:solidFill>
                            <a:srgbClr val="1F2937"/>
                          </a:solidFill>
                        </a:rPr>
                        <a:t>Gipostaz</a:t>
                      </a:r>
                    </a:p>
                  </a:txBody>
                  <a:tcPr marL="73152" marR="73152" marT="36576" marB="36576">
                    <a:solidFill>
                      <a:srgbClr val="E8EEF6"/>
                    </a:solidFill>
                  </a:tcPr>
                </a:tc>
                <a:tc>
                  <a:txBody>
                    <a:bodyPr/>
                    <a:lstStyle/>
                    <a:p>
                      <a:r>
                        <a:rPr sz="1200" b="0">
                          <a:solidFill>
                            <a:srgbClr val="1F2937"/>
                          </a:solidFill>
                        </a:rPr>
                        <a:t>1,5-2 soatdan 8-12 soatgacha</a:t>
                      </a:r>
                    </a:p>
                  </a:txBody>
                  <a:tcPr marL="73152" marR="73152" marT="36576" marB="36576">
                    <a:solidFill>
                      <a:srgbClr val="E8EEF6"/>
                    </a:solidFill>
                  </a:tcPr>
                </a:tc>
                <a:tc>
                  <a:txBody>
                    <a:bodyPr/>
                    <a:lstStyle/>
                    <a:p>
                      <a:r>
                        <a:rPr sz="1200" b="0">
                          <a:solidFill>
                            <a:srgbClr val="1F2937"/>
                          </a:solidFill>
                        </a:rPr>
                        <a:t>Yo‘qoladi, tez tiklanadi</a:t>
                      </a:r>
                    </a:p>
                  </a:txBody>
                  <a:tcPr marL="73152" marR="73152" marT="36576" marB="36576">
                    <a:solidFill>
                      <a:srgbClr val="E8EEF6"/>
                    </a:solidFill>
                  </a:tcPr>
                </a:tc>
              </a:tr>
              <a:tr h="411480">
                <a:tc>
                  <a:txBody>
                    <a:bodyPr/>
                    <a:lstStyle/>
                    <a:p>
                      <a:r>
                        <a:rPr sz="1200" b="0">
                          <a:solidFill>
                            <a:srgbClr val="1F2937"/>
                          </a:solidFill>
                        </a:rPr>
                        <a:t>Staz</a:t>
                      </a:r>
                    </a:p>
                  </a:txBody>
                  <a:tcPr marL="73152" marR="73152" marT="36576" marB="36576">
                    <a:solidFill>
                      <a:srgbClr val="FFFFFF"/>
                    </a:solidFill>
                  </a:tcPr>
                </a:tc>
                <a:tc>
                  <a:txBody>
                    <a:bodyPr/>
                    <a:lstStyle/>
                    <a:p>
                      <a:r>
                        <a:rPr sz="1200" b="0">
                          <a:solidFill>
                            <a:srgbClr val="1F2937"/>
                          </a:solidFill>
                        </a:rPr>
                        <a:t>12 soatdan 24 soatgacha</a:t>
                      </a:r>
                    </a:p>
                  </a:txBody>
                  <a:tcPr marL="73152" marR="73152" marT="36576" marB="36576">
                    <a:solidFill>
                      <a:srgbClr val="FFFFFF"/>
                    </a:solidFill>
                  </a:tcPr>
                </a:tc>
                <a:tc>
                  <a:txBody>
                    <a:bodyPr/>
                    <a:lstStyle/>
                    <a:p>
                      <a:r>
                        <a:rPr sz="1200" b="0">
                          <a:solidFill>
                            <a:srgbClr val="1F2937"/>
                          </a:solidFill>
                        </a:rPr>
                        <a:t>Oqaradi, sekin rangi tiklanadi</a:t>
                      </a:r>
                    </a:p>
                  </a:txBody>
                  <a:tcPr marL="73152" marR="73152" marT="36576" marB="36576">
                    <a:solidFill>
                      <a:srgbClr val="FFFFFF"/>
                    </a:solidFill>
                  </a:tcPr>
                </a:tc>
              </a:tr>
              <a:tr h="411480">
                <a:tc>
                  <a:txBody>
                    <a:bodyPr/>
                    <a:lstStyle/>
                    <a:p>
                      <a:r>
                        <a:rPr sz="1200" b="0">
                          <a:solidFill>
                            <a:srgbClr val="1F2937"/>
                          </a:solidFill>
                        </a:rPr>
                        <a:t>Imbibitsiya</a:t>
                      </a:r>
                    </a:p>
                  </a:txBody>
                  <a:tcPr marL="73152" marR="73152" marT="36576" marB="36576">
                    <a:solidFill>
                      <a:srgbClr val="E8EEF6"/>
                    </a:solidFill>
                  </a:tcPr>
                </a:tc>
                <a:tc>
                  <a:txBody>
                    <a:bodyPr/>
                    <a:lstStyle/>
                    <a:p>
                      <a:r>
                        <a:rPr sz="1200" b="0">
                          <a:solidFill>
                            <a:srgbClr val="1F2937"/>
                          </a:solidFill>
                        </a:rPr>
                        <a:t>Chirish va gemoliz davri</a:t>
                      </a:r>
                    </a:p>
                  </a:txBody>
                  <a:tcPr marL="73152" marR="73152" marT="36576" marB="36576">
                    <a:solidFill>
                      <a:srgbClr val="E8EEF6"/>
                    </a:solidFill>
                  </a:tcPr>
                </a:tc>
                <a:tc>
                  <a:txBody>
                    <a:bodyPr/>
                    <a:lstStyle/>
                    <a:p>
                      <a:r>
                        <a:rPr sz="1200" b="0">
                          <a:solidFill>
                            <a:srgbClr val="1F2937"/>
                          </a:solidFill>
                        </a:rPr>
                        <a:t>Rangi o‘zgarmaydi</a:t>
                      </a:r>
                    </a:p>
                  </a:txBody>
                  <a:tcPr marL="73152" marR="73152" marT="36576" marB="36576">
                    <a:solidFill>
                      <a:srgbClr val="E8EEF6"/>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Murda dog‘i bosqichlari</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betlar: 227, 227-228</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Murda dog‘i va qontalash: differensiatsiya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Intravital va o'limdan keyingi o'zgarishlarning differentsial diagnostikasi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21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Oddiy fuqaro dog‘ni qontalash deb xato qilib, asossiz ekspertiza va hatto eksgumatsiya talab qilishi mumkin.</a:t>
            </a:r>
          </a:p>
          <a:p>
            <a:pPr>
              <a:spcAft>
                <a:spcPts val="800"/>
              </a:spcAft>
            </a:pPr>
            <a:r>
              <a:rPr sz="1800">
                <a:solidFill>
                  <a:srgbClr val="1F2937"/>
                </a:solidFill>
                <a:latin typeface="Calibri"/>
              </a:rPr>
              <a:t>▸  O‘limdan ancha oldin yetkazilgan qontalashlar yashil yoki sarg‘imtir rangda bo‘ladi.</a:t>
            </a:r>
          </a:p>
          <a:p>
            <a:pPr>
              <a:spcAft>
                <a:spcPts val="800"/>
              </a:spcAft>
            </a:pPr>
            <a:r>
              <a:rPr sz="1800">
                <a:solidFill>
                  <a:srgbClr val="1F2937"/>
                </a:solidFill>
                <a:latin typeface="Calibri"/>
              </a:rPr>
              <a:t>▸  Shifokorlar ham bu farqni o‘z vaqtida aniqlab, vaziyatga oydinlik kiritishi mumkin.</a:t>
            </a:r>
          </a:p>
        </p:txBody>
      </p:sp>
      <p:graphicFrame>
        <p:nvGraphicFramePr>
          <p:cNvPr id="9" name="Table 8"/>
          <p:cNvGraphicFramePr>
            <a:graphicFrameLocks noGrp="1"/>
          </p:cNvGraphicFramePr>
          <p:nvPr/>
        </p:nvGraphicFramePr>
        <p:xfrm>
          <a:off x="6263640" y="1463040"/>
          <a:ext cx="5287974" cy="2057400"/>
        </p:xfrm>
        <a:graphic>
          <a:graphicData uri="http://schemas.openxmlformats.org/drawingml/2006/table">
            <a:tbl>
              <a:tblPr firstRow="1" bandRow="1">
                <a:tableStyleId>{5C22544A-7EE6-4342-B048-85BDC9FD1C3A}</a:tableStyleId>
              </a:tblPr>
              <a:tblGrid>
                <a:gridCol w="1162192"/>
                <a:gridCol w="2091946"/>
                <a:gridCol w="2033836"/>
              </a:tblGrid>
              <a:tr h="411480">
                <a:tc>
                  <a:txBody>
                    <a:bodyPr/>
                    <a:lstStyle/>
                    <a:p>
                      <a:r>
                        <a:rPr sz="1300" b="1">
                          <a:solidFill>
                            <a:srgbClr val="FFFFFF"/>
                          </a:solidFill>
                        </a:rPr>
                        <a:t>Belgi</a:t>
                      </a:r>
                    </a:p>
                  </a:txBody>
                  <a:tcPr marL="73152" marR="73152" marT="36576" marB="36576">
                    <a:solidFill>
                      <a:srgbClr val="0B1F3A"/>
                    </a:solidFill>
                  </a:tcPr>
                </a:tc>
                <a:tc>
                  <a:txBody>
                    <a:bodyPr/>
                    <a:lstStyle/>
                    <a:p>
                      <a:r>
                        <a:rPr sz="1300" b="1">
                          <a:solidFill>
                            <a:srgbClr val="FFFFFF"/>
                          </a:solidFill>
                        </a:rPr>
                        <a:t>Murda dog‘i</a:t>
                      </a:r>
                    </a:p>
                  </a:txBody>
                  <a:tcPr marL="73152" marR="73152" marT="36576" marB="36576">
                    <a:solidFill>
                      <a:srgbClr val="0B1F3A"/>
                    </a:solidFill>
                  </a:tcPr>
                </a:tc>
                <a:tc>
                  <a:txBody>
                    <a:bodyPr/>
                    <a:lstStyle/>
                    <a:p>
                      <a:r>
                        <a:rPr sz="1300" b="1">
                          <a:solidFill>
                            <a:srgbClr val="FFFFFF"/>
                          </a:solidFill>
                        </a:rPr>
                        <a:t>Qontalash</a:t>
                      </a:r>
                    </a:p>
                  </a:txBody>
                  <a:tcPr marL="73152" marR="73152" marT="36576" marB="36576">
                    <a:solidFill>
                      <a:srgbClr val="0B1F3A"/>
                    </a:solidFill>
                  </a:tcPr>
                </a:tc>
              </a:tr>
              <a:tr h="411480">
                <a:tc>
                  <a:txBody>
                    <a:bodyPr/>
                    <a:lstStyle/>
                    <a:p>
                      <a:r>
                        <a:rPr sz="1200" b="0">
                          <a:solidFill>
                            <a:srgbClr val="1F2937"/>
                          </a:solidFill>
                        </a:rPr>
                        <a:t>Shakl va chegara</a:t>
                      </a:r>
                    </a:p>
                  </a:txBody>
                  <a:tcPr marL="73152" marR="73152" marT="36576" marB="36576">
                    <a:solidFill>
                      <a:srgbClr val="E8EEF6"/>
                    </a:solidFill>
                  </a:tcPr>
                </a:tc>
                <a:tc>
                  <a:txBody>
                    <a:bodyPr/>
                    <a:lstStyle/>
                    <a:p>
                      <a:r>
                        <a:rPr sz="1200" b="0">
                          <a:solidFill>
                            <a:srgbClr val="1F2937"/>
                          </a:solidFill>
                        </a:rPr>
                        <a:t>Chegarasi noaniq, qo‘shilib ketadi</a:t>
                      </a:r>
                    </a:p>
                  </a:txBody>
                  <a:tcPr marL="73152" marR="73152" marT="36576" marB="36576">
                    <a:solidFill>
                      <a:srgbClr val="E8EEF6"/>
                    </a:solidFill>
                  </a:tcPr>
                </a:tc>
                <a:tc>
                  <a:txBody>
                    <a:bodyPr/>
                    <a:lstStyle/>
                    <a:p>
                      <a:r>
                        <a:rPr sz="1200" b="0">
                          <a:solidFill>
                            <a:srgbClr val="1F2937"/>
                          </a:solidFill>
                        </a:rPr>
                        <a:t>Aniq shakl va chegara, qo‘shilmaydi</a:t>
                      </a:r>
                    </a:p>
                  </a:txBody>
                  <a:tcPr marL="73152" marR="73152" marT="36576" marB="36576">
                    <a:solidFill>
                      <a:srgbClr val="E8EEF6"/>
                    </a:solidFill>
                  </a:tcPr>
                </a:tc>
              </a:tr>
              <a:tr h="411480">
                <a:tc>
                  <a:txBody>
                    <a:bodyPr/>
                    <a:lstStyle/>
                    <a:p>
                      <a:r>
                        <a:rPr sz="1200" b="0">
                          <a:solidFill>
                            <a:srgbClr val="1F2937"/>
                          </a:solidFill>
                        </a:rPr>
                        <a:t>Joylashuvi</a:t>
                      </a:r>
                    </a:p>
                  </a:txBody>
                  <a:tcPr marL="73152" marR="73152" marT="36576" marB="36576">
                    <a:solidFill>
                      <a:srgbClr val="FFFFFF"/>
                    </a:solidFill>
                  </a:tcPr>
                </a:tc>
                <a:tc>
                  <a:txBody>
                    <a:bodyPr/>
                    <a:lstStyle/>
                    <a:p>
                      <a:r>
                        <a:rPr sz="1200" b="0">
                          <a:solidFill>
                            <a:srgbClr val="1F2937"/>
                          </a:solidFill>
                        </a:rPr>
                        <a:t>Tananing past joylashgan sohalari</a:t>
                      </a:r>
                    </a:p>
                  </a:txBody>
                  <a:tcPr marL="73152" marR="73152" marT="36576" marB="36576">
                    <a:solidFill>
                      <a:srgbClr val="FFFFFF"/>
                    </a:solidFill>
                  </a:tcPr>
                </a:tc>
                <a:tc>
                  <a:txBody>
                    <a:bodyPr/>
                    <a:lstStyle/>
                    <a:p>
                      <a:r>
                        <a:rPr sz="1200" b="0">
                          <a:solidFill>
                            <a:srgbClr val="1F2937"/>
                          </a:solidFill>
                        </a:rPr>
                        <a:t>Tananing turli sohalarida</a:t>
                      </a:r>
                    </a:p>
                  </a:txBody>
                  <a:tcPr marL="73152" marR="73152" marT="36576" marB="36576">
                    <a:solidFill>
                      <a:srgbClr val="FFFFFF"/>
                    </a:solidFill>
                  </a:tcPr>
                </a:tc>
              </a:tr>
              <a:tr h="411480">
                <a:tc>
                  <a:txBody>
                    <a:bodyPr/>
                    <a:lstStyle/>
                    <a:p>
                      <a:r>
                        <a:rPr sz="1200" b="0">
                          <a:solidFill>
                            <a:srgbClr val="1F2937"/>
                          </a:solidFill>
                        </a:rPr>
                        <a:t>Barmoq bilan bosilsa</a:t>
                      </a:r>
                    </a:p>
                  </a:txBody>
                  <a:tcPr marL="73152" marR="73152" marT="36576" marB="36576">
                    <a:solidFill>
                      <a:srgbClr val="E8EEF6"/>
                    </a:solidFill>
                  </a:tcPr>
                </a:tc>
                <a:tc>
                  <a:txBody>
                    <a:bodyPr/>
                    <a:lstStyle/>
                    <a:p>
                      <a:r>
                        <a:rPr sz="1200" b="0">
                          <a:solidFill>
                            <a:srgbClr val="1F2937"/>
                          </a:solidFill>
                        </a:rPr>
                        <a:t>Yo‘qoladi yoki oqaradi</a:t>
                      </a:r>
                    </a:p>
                  </a:txBody>
                  <a:tcPr marL="73152" marR="73152" marT="36576" marB="36576">
                    <a:solidFill>
                      <a:srgbClr val="E8EEF6"/>
                    </a:solidFill>
                  </a:tcPr>
                </a:tc>
                <a:tc>
                  <a:txBody>
                    <a:bodyPr/>
                    <a:lstStyle/>
                    <a:p>
                      <a:r>
                        <a:rPr sz="1200" b="0">
                          <a:solidFill>
                            <a:srgbClr val="1F2937"/>
                          </a:solidFill>
                        </a:rPr>
                        <a:t>Rangi o‘zgarmaydi</a:t>
                      </a:r>
                    </a:p>
                  </a:txBody>
                  <a:tcPr marL="73152" marR="73152" marT="36576" marB="36576">
                    <a:solidFill>
                      <a:srgbClr val="E8EEF6"/>
                    </a:solidFill>
                  </a:tcPr>
                </a:tc>
              </a:tr>
              <a:tr h="411480">
                <a:tc>
                  <a:txBody>
                    <a:bodyPr/>
                    <a:lstStyle/>
                    <a:p>
                      <a:r>
                        <a:rPr sz="1200" b="0">
                          <a:solidFill>
                            <a:srgbClr val="1F2937"/>
                          </a:solidFill>
                        </a:rPr>
                        <a:t>Xochsimon kesma</a:t>
                      </a:r>
                    </a:p>
                  </a:txBody>
                  <a:tcPr marL="73152" marR="73152" marT="36576" marB="36576">
                    <a:solidFill>
                      <a:srgbClr val="FFFFFF"/>
                    </a:solidFill>
                  </a:tcPr>
                </a:tc>
                <a:tc>
                  <a:txBody>
                    <a:bodyPr/>
                    <a:lstStyle/>
                    <a:p>
                      <a:r>
                        <a:rPr sz="1200" b="0">
                          <a:solidFill>
                            <a:srgbClr val="1F2937"/>
                          </a:solidFill>
                        </a:rPr>
                        <a:t>Qon tomchilari yoki qon singgan yog‘</a:t>
                      </a:r>
                    </a:p>
                  </a:txBody>
                  <a:tcPr marL="73152" marR="73152" marT="36576" marB="36576">
                    <a:solidFill>
                      <a:srgbClr val="FFFFFF"/>
                    </a:solidFill>
                  </a:tcPr>
                </a:tc>
                <a:tc>
                  <a:txBody>
                    <a:bodyPr/>
                    <a:lstStyle/>
                    <a:p>
                      <a:r>
                        <a:rPr sz="1200" b="0">
                          <a:solidFill>
                            <a:srgbClr val="1F2937"/>
                          </a:solidFill>
                        </a:rPr>
                        <a:t>To‘qimaga quyilgan, ivigan qon</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Dog‘ va qontalash farqi</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betlar: 228</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Autoliz va uni xato baholash xavfi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Intravital va o'limdan keyingi o'zgarishlarning differentsial diagnostikasi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22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000">
                <a:solidFill>
                  <a:srgbClr val="1F2937"/>
                </a:solidFill>
                <a:latin typeface="Calibri"/>
              </a:rPr>
              <a:t>▸  O‘limdan keyin lizosomal va boshqa proteolitik fermentlar darhol o‘chmaydi. Hujayra va to‘qimalar o‘z-o‘zini hazm qiladi (autoliz).</a:t>
            </a:r>
          </a:p>
          <a:p>
            <a:pPr>
              <a:spcAft>
                <a:spcPts val="1200"/>
              </a:spcAft>
            </a:pPr>
            <a:r>
              <a:rPr sz="2000">
                <a:solidFill>
                  <a:srgbClr val="1F2937"/>
                </a:solidFill>
                <a:latin typeface="Calibri"/>
              </a:rPr>
              <a:t>▸  Autoliz fermentga boy to‘qimalarda (oshqozon va ichak shilliq qavati, oshqozon osti bezi, buyrak usti bezi mag‘izi, ayrisimon bez, buyrak) tezroq va kuchli kechadi.</a:t>
            </a:r>
          </a:p>
          <a:p>
            <a:pPr>
              <a:spcAft>
                <a:spcPts val="1200"/>
              </a:spcAft>
            </a:pPr>
            <a:r>
              <a:rPr sz="2000">
                <a:solidFill>
                  <a:srgbClr val="1F2937"/>
                </a:solidFill>
                <a:latin typeface="Calibri"/>
              </a:rPr>
              <a:t>▸  Oshqozon shilliq qavati autolizi yanglish o‘yuvchi zahar ta’siri deb baholanishi mumkin. Oshqozon massasi qizilo‘ngach, halqum, kekirdakka o‘tganda ham shunday xato bo‘ladi.</a:t>
            </a:r>
          </a:p>
          <a:p>
            <a:pPr>
              <a:spcAft>
                <a:spcPts val="1200"/>
              </a:spcAft>
            </a:pPr>
            <a:r>
              <a:rPr sz="2000">
                <a:solidFill>
                  <a:srgbClr val="1F2937"/>
                </a:solidFill>
                <a:latin typeface="Calibri"/>
              </a:rPr>
              <a:t>▸  Oshqozon osti bezi autolizi gemorragik pankreonekrozga o‘xshaydi. Autolitik va hayotiy o‘zgarishlarni asosan mikroskopik tekshiruv ajratadi.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betlar: 229</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3: ilk o‘zgarishlar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Intravital va o'limdan keyingi o'zgarishlarning differentsial diagnostikasi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23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Vaziyat: murda chalqancha yotibdi, orqa va yon sohalarda ko‘kimtir dog‘lar bor. Yaqinlari ularni qontalash deb o‘yladi. Savol: qanday farqlaysiz?</a:t>
            </a:r>
          </a:p>
          <a:p>
            <a:pPr>
              <a:spcAft>
                <a:spcPts val="1200"/>
              </a:spcAft>
            </a:pPr>
            <a:r>
              <a:rPr sz="2200">
                <a:solidFill>
                  <a:srgbClr val="1F2937"/>
                </a:solidFill>
                <a:latin typeface="Calibri"/>
              </a:rPr>
              <a:t>▸  Diqqat: murda dog‘i ≠ qontalash. Dog‘ bosilganda yo‘qoladi yoki oqaradi, chegarasi noaniq; qontalash aniq chegarali, rangi o‘zgarmaydi.</a:t>
            </a:r>
          </a:p>
          <a:p>
            <a:pPr>
              <a:spcAft>
                <a:spcPts val="1200"/>
              </a:spcAft>
            </a:pPr>
            <a:r>
              <a:rPr sz="2200">
                <a:solidFill>
                  <a:srgbClr val="1F2937"/>
                </a:solidFill>
                <a:latin typeface="Calibri"/>
              </a:rPr>
              <a:t>▸  Aniq farq uchun xochsimon kesma qilinadi: dog‘da qon tomchilari yoki singgan yog‘, qontalashda to‘qimaga quyilgan, ivigan qon topiladi.</a:t>
            </a:r>
          </a:p>
          <a:p>
            <a:pPr>
              <a:spcAft>
                <a:spcPts val="1200"/>
              </a:spcAft>
            </a:pPr>
            <a:r>
              <a:rPr sz="2200">
                <a:solidFill>
                  <a:srgbClr val="1F2937"/>
                </a:solidFill>
                <a:latin typeface="Calibri"/>
              </a:rPr>
              <a:t>▸  Pergament dog‘i yoki shilinma? Shubhali joyga iliq fiziologik eritmali doka 5-10 daqiqa qo‘yiladi: pergament dog‘i yumshab oqaradi, hayotiy shilinma o‘zgarmaydi.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betlar: 228, 228-229, 225</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Chirish: omillar va belgilar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Intravital va o'limdan keyingi o'zgarishlarning differentsial diagnostikasi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24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Chirish asosan aerob bakteriyalardan jadal kechadi; anaerob chirish sust, lekin o‘ta yoqimsiz hid beradi.</a:t>
            </a:r>
          </a:p>
          <a:p>
            <a:pPr>
              <a:spcAft>
                <a:spcPts val="800"/>
              </a:spcAft>
            </a:pPr>
            <a:r>
              <a:rPr sz="1800">
                <a:solidFill>
                  <a:srgbClr val="1F2937"/>
                </a:solidFill>
                <a:latin typeface="Calibri"/>
              </a:rPr>
              <a:t>▸  +20…+40°S da yaxshi chiriydi, minusda to‘xtaydi. Kasper indeksi 1:2:8 (havo : suv : yer).</a:t>
            </a:r>
          </a:p>
          <a:p>
            <a:pPr>
              <a:spcAft>
                <a:spcPts val="800"/>
              </a:spcAft>
            </a:pPr>
            <a:r>
              <a:rPr sz="1800">
                <a:solidFill>
                  <a:srgbClr val="1F2937"/>
                </a:solidFill>
                <a:latin typeface="Calibri"/>
              </a:rPr>
              <a:t>▸  Gazlar teri osti yog‘ida to‘planib emfizema beradi; ushlab ko‘rilganda krepitatsiya seziladi.</a:t>
            </a:r>
          </a:p>
        </p:txBody>
      </p:sp>
      <p:graphicFrame>
        <p:nvGraphicFramePr>
          <p:cNvPr id="9" name="Table 8"/>
          <p:cNvGraphicFramePr>
            <a:graphicFrameLocks noGrp="1"/>
          </p:cNvGraphicFramePr>
          <p:nvPr/>
        </p:nvGraphicFramePr>
        <p:xfrm>
          <a:off x="6263640" y="1463040"/>
          <a:ext cx="5287973" cy="2057400"/>
        </p:xfrm>
        <a:graphic>
          <a:graphicData uri="http://schemas.openxmlformats.org/drawingml/2006/table">
            <a:tbl>
              <a:tblPr firstRow="1" bandRow="1">
                <a:tableStyleId>{5C22544A-7EE6-4342-B048-85BDC9FD1C3A}</a:tableStyleId>
              </a:tblPr>
              <a:tblGrid>
                <a:gridCol w="1137918"/>
                <a:gridCol w="1606473"/>
                <a:gridCol w="2543582"/>
              </a:tblGrid>
              <a:tr h="411480">
                <a:tc>
                  <a:txBody>
                    <a:bodyPr/>
                    <a:lstStyle/>
                    <a:p>
                      <a:r>
                        <a:rPr sz="1300" b="1">
                          <a:solidFill>
                            <a:srgbClr val="FFFFFF"/>
                          </a:solidFill>
                        </a:rPr>
                        <a:t>Belgi</a:t>
                      </a:r>
                    </a:p>
                  </a:txBody>
                  <a:tcPr marL="73152" marR="73152" marT="36576" marB="36576">
                    <a:solidFill>
                      <a:srgbClr val="0B1F3A"/>
                    </a:solidFill>
                  </a:tcPr>
                </a:tc>
                <a:tc>
                  <a:txBody>
                    <a:bodyPr/>
                    <a:lstStyle/>
                    <a:p>
                      <a:r>
                        <a:rPr sz="1300" b="1">
                          <a:solidFill>
                            <a:srgbClr val="FFFFFF"/>
                          </a:solidFill>
                        </a:rPr>
                        <a:t>Muddat</a:t>
                      </a:r>
                    </a:p>
                  </a:txBody>
                  <a:tcPr marL="73152" marR="73152" marT="36576" marB="36576">
                    <a:solidFill>
                      <a:srgbClr val="0B1F3A"/>
                    </a:solidFill>
                  </a:tcPr>
                </a:tc>
                <a:tc>
                  <a:txBody>
                    <a:bodyPr/>
                    <a:lstStyle/>
                    <a:p>
                      <a:r>
                        <a:rPr sz="1300" b="1">
                          <a:solidFill>
                            <a:srgbClr val="FFFFFF"/>
                          </a:solidFill>
                        </a:rPr>
                        <a:t>Mohiyati</a:t>
                      </a:r>
                    </a:p>
                  </a:txBody>
                  <a:tcPr marL="73152" marR="73152" marT="36576" marB="36576">
                    <a:solidFill>
                      <a:srgbClr val="0B1F3A"/>
                    </a:solidFill>
                  </a:tcPr>
                </a:tc>
              </a:tr>
              <a:tr h="411480">
                <a:tc>
                  <a:txBody>
                    <a:bodyPr/>
                    <a:lstStyle/>
                    <a:p>
                      <a:r>
                        <a:rPr sz="1200" b="0">
                          <a:solidFill>
                            <a:srgbClr val="1F2937"/>
                          </a:solidFill>
                        </a:rPr>
                        <a:t>Chirish hidi</a:t>
                      </a:r>
                    </a:p>
                  </a:txBody>
                  <a:tcPr marL="73152" marR="73152" marT="36576" marB="36576">
                    <a:solidFill>
                      <a:srgbClr val="E8EEF6"/>
                    </a:solidFill>
                  </a:tcPr>
                </a:tc>
                <a:tc>
                  <a:txBody>
                    <a:bodyPr/>
                    <a:lstStyle/>
                    <a:p>
                      <a:r>
                        <a:rPr sz="1200" b="0">
                          <a:solidFill>
                            <a:srgbClr val="1F2937"/>
                          </a:solidFill>
                        </a:rPr>
                        <a:t>1-kun, tabiiy teshiklar</a:t>
                      </a:r>
                    </a:p>
                  </a:txBody>
                  <a:tcPr marL="73152" marR="73152" marT="36576" marB="36576">
                    <a:solidFill>
                      <a:srgbClr val="E8EEF6"/>
                    </a:solidFill>
                  </a:tcPr>
                </a:tc>
                <a:tc>
                  <a:txBody>
                    <a:bodyPr/>
                    <a:lstStyle/>
                    <a:p>
                      <a:r>
                        <a:rPr sz="1200" b="0">
                          <a:solidFill>
                            <a:srgbClr val="1F2937"/>
                          </a:solidFill>
                        </a:rPr>
                        <a:t>Vodorod sulfid, merkaptanlar</a:t>
                      </a:r>
                    </a:p>
                  </a:txBody>
                  <a:tcPr marL="73152" marR="73152" marT="36576" marB="36576">
                    <a:solidFill>
                      <a:srgbClr val="E8EEF6"/>
                    </a:solidFill>
                  </a:tcPr>
                </a:tc>
              </a:tr>
              <a:tr h="411480">
                <a:tc>
                  <a:txBody>
                    <a:bodyPr/>
                    <a:lstStyle/>
                    <a:p>
                      <a:r>
                        <a:rPr sz="1200" b="0">
                          <a:solidFill>
                            <a:srgbClr val="1F2937"/>
                          </a:solidFill>
                        </a:rPr>
                        <a:t>Murda yashili</a:t>
                      </a:r>
                    </a:p>
                  </a:txBody>
                  <a:tcPr marL="73152" marR="73152" marT="36576" marB="36576">
                    <a:solidFill>
                      <a:srgbClr val="FFFFFF"/>
                    </a:solidFill>
                  </a:tcPr>
                </a:tc>
                <a:tc>
                  <a:txBody>
                    <a:bodyPr/>
                    <a:lstStyle/>
                    <a:p>
                      <a:r>
                        <a:rPr sz="1200" b="0">
                          <a:solidFill>
                            <a:srgbClr val="1F2937"/>
                          </a:solidFill>
                        </a:rPr>
                        <a:t>2-kun, o‘ng yonbosh</a:t>
                      </a:r>
                    </a:p>
                  </a:txBody>
                  <a:tcPr marL="73152" marR="73152" marT="36576" marB="36576">
                    <a:solidFill>
                      <a:srgbClr val="FFFFFF"/>
                    </a:solidFill>
                  </a:tcPr>
                </a:tc>
                <a:tc>
                  <a:txBody>
                    <a:bodyPr/>
                    <a:lstStyle/>
                    <a:p>
                      <a:r>
                        <a:rPr sz="1200" b="0">
                          <a:solidFill>
                            <a:srgbClr val="1F2937"/>
                          </a:solidFill>
                        </a:rPr>
                        <a:t>Sulfgemoglobin hosil bo‘lishi</a:t>
                      </a:r>
                    </a:p>
                  </a:txBody>
                  <a:tcPr marL="73152" marR="73152" marT="36576" marB="36576">
                    <a:solidFill>
                      <a:srgbClr val="FFFFFF"/>
                    </a:solidFill>
                  </a:tcPr>
                </a:tc>
              </a:tr>
              <a:tr h="411480">
                <a:tc>
                  <a:txBody>
                    <a:bodyPr/>
                    <a:lstStyle/>
                    <a:p>
                      <a:r>
                        <a:rPr sz="1200" b="0">
                          <a:solidFill>
                            <a:srgbClr val="1F2937"/>
                          </a:solidFill>
                        </a:rPr>
                        <a:t>Venoz to‘r</a:t>
                      </a:r>
                    </a:p>
                  </a:txBody>
                  <a:tcPr marL="73152" marR="73152" marT="36576" marB="36576">
                    <a:solidFill>
                      <a:srgbClr val="E8EEF6"/>
                    </a:solidFill>
                  </a:tcPr>
                </a:tc>
                <a:tc>
                  <a:txBody>
                    <a:bodyPr/>
                    <a:lstStyle/>
                    <a:p>
                      <a:r>
                        <a:rPr sz="1200" b="0">
                          <a:solidFill>
                            <a:srgbClr val="1F2937"/>
                          </a:solidFill>
                        </a:rPr>
                        <a:t>3-4-kun, venalar bo‘ylab</a:t>
                      </a:r>
                    </a:p>
                  </a:txBody>
                  <a:tcPr marL="73152" marR="73152" marT="36576" marB="36576">
                    <a:solidFill>
                      <a:srgbClr val="E8EEF6"/>
                    </a:solidFill>
                  </a:tcPr>
                </a:tc>
                <a:tc>
                  <a:txBody>
                    <a:bodyPr/>
                    <a:lstStyle/>
                    <a:p>
                      <a:r>
                        <a:rPr sz="1200" b="0">
                          <a:solidFill>
                            <a:srgbClr val="1F2937"/>
                          </a:solidFill>
                        </a:rPr>
                        <a:t>Gemolizga uchragan qon, sulfgemoglobin</a:t>
                      </a:r>
                    </a:p>
                  </a:txBody>
                  <a:tcPr marL="73152" marR="73152" marT="36576" marB="36576">
                    <a:solidFill>
                      <a:srgbClr val="E8EEF6"/>
                    </a:solidFill>
                  </a:tcPr>
                </a:tc>
              </a:tr>
              <a:tr h="411480">
                <a:tc>
                  <a:txBody>
                    <a:bodyPr/>
                    <a:lstStyle/>
                    <a:p>
                      <a:r>
                        <a:rPr sz="1200" b="0">
                          <a:solidFill>
                            <a:srgbClr val="1F2937"/>
                          </a:solidFill>
                        </a:rPr>
                        <a:t>Chirish pufaklari</a:t>
                      </a:r>
                    </a:p>
                  </a:txBody>
                  <a:tcPr marL="73152" marR="73152" marT="36576" marB="36576">
                    <a:solidFill>
                      <a:srgbClr val="FFFFFF"/>
                    </a:solidFill>
                  </a:tcPr>
                </a:tc>
                <a:tc>
                  <a:txBody>
                    <a:bodyPr/>
                    <a:lstStyle/>
                    <a:p>
                      <a:r>
                        <a:rPr sz="1200" b="0">
                          <a:solidFill>
                            <a:srgbClr val="1F2937"/>
                          </a:solidFill>
                        </a:rPr>
                        <a:t>4-6-kundan</a:t>
                      </a:r>
                    </a:p>
                  </a:txBody>
                  <a:tcPr marL="73152" marR="73152" marT="36576" marB="36576">
                    <a:solidFill>
                      <a:srgbClr val="FFFFFF"/>
                    </a:solidFill>
                  </a:tcPr>
                </a:tc>
                <a:tc>
                  <a:txBody>
                    <a:bodyPr/>
                    <a:lstStyle/>
                    <a:p>
                      <a:r>
                        <a:rPr sz="1200" b="0">
                          <a:solidFill>
                            <a:srgbClr val="1F2937"/>
                          </a:solidFill>
                        </a:rPr>
                        <a:t>Epidermis ostida suyuqlik</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Chirish belgilari</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betlar: 229, 230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Chirish tiplari va muddatlari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Intravital va o'limdan keyingi o'zgarishlarning differentsial diagnostikasi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25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Xona haroratida chirish 2-haftada avjiga chiqadi; 3-oyda yumshoq to‘qimalar yarim suyuq massa bo‘ladi.</a:t>
            </a:r>
          </a:p>
          <a:p>
            <a:pPr>
              <a:spcAft>
                <a:spcPts val="800"/>
              </a:spcAft>
            </a:pPr>
            <a:r>
              <a:rPr sz="1800">
                <a:solidFill>
                  <a:srgbClr val="1F2937"/>
                </a:solidFill>
                <a:latin typeface="Calibri"/>
              </a:rPr>
              <a:t>▸  6-oyda yumshoq to‘qimalar emirilib, murda skeletlanadi; ko‘milgan murdada bu kechroq bo‘ladi.</a:t>
            </a:r>
          </a:p>
          <a:p>
            <a:pPr>
              <a:spcAft>
                <a:spcPts val="800"/>
              </a:spcAft>
            </a:pPr>
            <a:r>
              <a:rPr sz="1800">
                <a:solidFill>
                  <a:srgbClr val="1F2937"/>
                </a:solidFill>
                <a:latin typeface="Calibri"/>
              </a:rPr>
              <a:t>▸  Tez chiriydi: oshqozon, ichak, jigar, taloq, qon, miya. Chidamli: soch, suyak, tish, tog‘ay, boylam.</a:t>
            </a:r>
          </a:p>
        </p:txBody>
      </p:sp>
      <p:graphicFrame>
        <p:nvGraphicFramePr>
          <p:cNvPr id="9" name="Table 8"/>
          <p:cNvGraphicFramePr>
            <a:graphicFrameLocks noGrp="1"/>
          </p:cNvGraphicFramePr>
          <p:nvPr/>
        </p:nvGraphicFramePr>
        <p:xfrm>
          <a:off x="6263640" y="1463040"/>
          <a:ext cx="5287973" cy="1645920"/>
        </p:xfrm>
        <a:graphic>
          <a:graphicData uri="http://schemas.openxmlformats.org/drawingml/2006/table">
            <a:tbl>
              <a:tblPr firstRow="1" bandRow="1">
                <a:tableStyleId>{5C22544A-7EE6-4342-B048-85BDC9FD1C3A}</a:tableStyleId>
              </a:tblPr>
              <a:tblGrid>
                <a:gridCol w="1019368"/>
                <a:gridCol w="2166158"/>
                <a:gridCol w="2102447"/>
              </a:tblGrid>
              <a:tr h="411480">
                <a:tc>
                  <a:txBody>
                    <a:bodyPr/>
                    <a:lstStyle/>
                    <a:p>
                      <a:r>
                        <a:rPr sz="1300" b="1">
                          <a:solidFill>
                            <a:srgbClr val="FFFFFF"/>
                          </a:solidFill>
                        </a:rPr>
                        <a:t>Tip</a:t>
                      </a:r>
                    </a:p>
                  </a:txBody>
                  <a:tcPr marL="73152" marR="73152" marT="36576" marB="36576">
                    <a:solidFill>
                      <a:srgbClr val="0B1F3A"/>
                    </a:solidFill>
                  </a:tcPr>
                </a:tc>
                <a:tc>
                  <a:txBody>
                    <a:bodyPr/>
                    <a:lstStyle/>
                    <a:p>
                      <a:r>
                        <a:rPr sz="1300" b="1">
                          <a:solidFill>
                            <a:srgbClr val="FFFFFF"/>
                          </a:solidFill>
                        </a:rPr>
                        <a:t>Qaysi holatda</a:t>
                      </a:r>
                    </a:p>
                  </a:txBody>
                  <a:tcPr marL="73152" marR="73152" marT="36576" marB="36576">
                    <a:solidFill>
                      <a:srgbClr val="0B1F3A"/>
                    </a:solidFill>
                  </a:tcPr>
                </a:tc>
                <a:tc>
                  <a:txBody>
                    <a:bodyPr/>
                    <a:lstStyle/>
                    <a:p>
                      <a:r>
                        <a:rPr sz="1300" b="1">
                          <a:solidFill>
                            <a:srgbClr val="FFFFFF"/>
                          </a:solidFill>
                        </a:rPr>
                        <a:t>Xususiyati</a:t>
                      </a:r>
                    </a:p>
                  </a:txBody>
                  <a:tcPr marL="73152" marR="73152" marT="36576" marB="36576">
                    <a:solidFill>
                      <a:srgbClr val="0B1F3A"/>
                    </a:solidFill>
                  </a:tcPr>
                </a:tc>
              </a:tr>
              <a:tr h="411480">
                <a:tc>
                  <a:txBody>
                    <a:bodyPr/>
                    <a:lstStyle/>
                    <a:p>
                      <a:r>
                        <a:rPr sz="1200" b="0">
                          <a:solidFill>
                            <a:srgbClr val="1F2937"/>
                          </a:solidFill>
                        </a:rPr>
                        <a:t>Gazli</a:t>
                      </a:r>
                    </a:p>
                  </a:txBody>
                  <a:tcPr marL="73152" marR="73152" marT="36576" marB="36576">
                    <a:solidFill>
                      <a:srgbClr val="E8EEF6"/>
                    </a:solidFill>
                  </a:tcPr>
                </a:tc>
                <a:tc>
                  <a:txBody>
                    <a:bodyPr/>
                    <a:lstStyle/>
                    <a:p>
                      <a:r>
                        <a:rPr sz="1200" b="0">
                          <a:solidFill>
                            <a:srgbClr val="1F2937"/>
                          </a:solidFill>
                        </a:rPr>
                        <a:t>Infeksiya, septik asoratdan o‘lim</a:t>
                      </a:r>
                    </a:p>
                  </a:txBody>
                  <a:tcPr marL="73152" marR="73152" marT="36576" marB="36576">
                    <a:solidFill>
                      <a:srgbClr val="E8EEF6"/>
                    </a:solidFill>
                  </a:tcPr>
                </a:tc>
                <a:tc>
                  <a:txBody>
                    <a:bodyPr/>
                    <a:lstStyle/>
                    <a:p>
                      <a:r>
                        <a:rPr sz="1200" b="0">
                          <a:solidFill>
                            <a:srgbClr val="1F2937"/>
                          </a:solidFill>
                        </a:rPr>
                        <a:t>Emfizema kuchli rivojlanadi</a:t>
                      </a:r>
                    </a:p>
                  </a:txBody>
                  <a:tcPr marL="73152" marR="73152" marT="36576" marB="36576">
                    <a:solidFill>
                      <a:srgbClr val="E8EEF6"/>
                    </a:solidFill>
                  </a:tcPr>
                </a:tc>
              </a:tr>
              <a:tr h="411480">
                <a:tc>
                  <a:txBody>
                    <a:bodyPr/>
                    <a:lstStyle/>
                    <a:p>
                      <a:r>
                        <a:rPr sz="1200" b="0">
                          <a:solidFill>
                            <a:srgbClr val="1F2937"/>
                          </a:solidFill>
                        </a:rPr>
                        <a:t>Nam</a:t>
                      </a:r>
                    </a:p>
                  </a:txBody>
                  <a:tcPr marL="73152" marR="73152" marT="36576" marB="36576">
                    <a:solidFill>
                      <a:srgbClr val="FFFFFF"/>
                    </a:solidFill>
                  </a:tcPr>
                </a:tc>
                <a:tc>
                  <a:txBody>
                    <a:bodyPr/>
                    <a:lstStyle/>
                    <a:p>
                      <a:r>
                        <a:rPr sz="1200" b="0">
                          <a:solidFill>
                            <a:srgbClr val="1F2937"/>
                          </a:solidFill>
                        </a:rPr>
                        <a:t>Suyuqlik to‘planadigan kasalliklar</a:t>
                      </a:r>
                    </a:p>
                  </a:txBody>
                  <a:tcPr marL="73152" marR="73152" marT="36576" marB="36576">
                    <a:solidFill>
                      <a:srgbClr val="FFFFFF"/>
                    </a:solidFill>
                  </a:tcPr>
                </a:tc>
                <a:tc>
                  <a:txBody>
                    <a:bodyPr/>
                    <a:lstStyle/>
                    <a:p>
                      <a:r>
                        <a:rPr sz="1200" b="0">
                          <a:solidFill>
                            <a:srgbClr val="1F2937"/>
                          </a:solidFill>
                        </a:rPr>
                        <a:t>Chirish pufaklari yaqqol</a:t>
                      </a:r>
                    </a:p>
                  </a:txBody>
                  <a:tcPr marL="73152" marR="73152" marT="36576" marB="36576">
                    <a:solidFill>
                      <a:srgbClr val="FFFFFF"/>
                    </a:solidFill>
                  </a:tcPr>
                </a:tc>
              </a:tr>
              <a:tr h="411480">
                <a:tc>
                  <a:txBody>
                    <a:bodyPr/>
                    <a:lstStyle/>
                    <a:p>
                      <a:r>
                        <a:rPr sz="1200" b="0">
                          <a:solidFill>
                            <a:srgbClr val="1F2937"/>
                          </a:solidFill>
                        </a:rPr>
                        <a:t>Quruq</a:t>
                      </a:r>
                    </a:p>
                  </a:txBody>
                  <a:tcPr marL="73152" marR="73152" marT="36576" marB="36576">
                    <a:solidFill>
                      <a:srgbClr val="E8EEF6"/>
                    </a:solidFill>
                  </a:tcPr>
                </a:tc>
                <a:tc>
                  <a:txBody>
                    <a:bodyPr/>
                    <a:lstStyle/>
                    <a:p>
                      <a:r>
                        <a:rPr sz="1200" b="0">
                          <a:solidFill>
                            <a:srgbClr val="1F2937"/>
                          </a:solidFill>
                        </a:rPr>
                        <a:t>Kaxeksiya (rak, tuberkulez)</a:t>
                      </a:r>
                    </a:p>
                  </a:txBody>
                  <a:tcPr marL="73152" marR="73152" marT="36576" marB="36576">
                    <a:solidFill>
                      <a:srgbClr val="E8EEF6"/>
                    </a:solidFill>
                  </a:tcPr>
                </a:tc>
                <a:tc>
                  <a:txBody>
                    <a:bodyPr/>
                    <a:lstStyle/>
                    <a:p>
                      <a:r>
                        <a:rPr sz="1200" b="0">
                          <a:solidFill>
                            <a:srgbClr val="1F2937"/>
                          </a:solidFill>
                        </a:rPr>
                        <a:t>Emfizema va pufakchalar bo‘lmaydi</a:t>
                      </a:r>
                    </a:p>
                  </a:txBody>
                  <a:tcPr marL="73152" marR="73152" marT="36576" marB="36576">
                    <a:solidFill>
                      <a:srgbClr val="E8EEF6"/>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Chirish tiplari</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betlar: 231, 231-232</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Hasharot va hayvonlar bilan yemirilish</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Intravital va o'limdan keyingi o'zgarishlarning differentsial diagnostikasi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26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000">
                <a:solidFill>
                  <a:srgbClr val="1F2937"/>
                </a:solidFill>
                <a:latin typeface="Calibri"/>
              </a:rPr>
              <a:t>▸  Xona pashshasi o‘limdan so‘ng tez orada ko‘z, burun, og‘iz va yara atrofiga tuxum qo‘yadi. Xona haroratida 24–30 soatdan keyin lichinkalar chiqadi.</a:t>
            </a:r>
          </a:p>
          <a:p>
            <a:pPr>
              <a:spcAft>
                <a:spcPts val="1200"/>
              </a:spcAft>
            </a:pPr>
            <a:r>
              <a:rPr sz="2000">
                <a:solidFill>
                  <a:srgbClr val="1F2937"/>
                </a:solidFill>
                <a:latin typeface="Calibri"/>
              </a:rPr>
              <a:t>▸  Lichinkalar proteolitik ferment ajratib, yumshoq to‘qimani eritadi. Katta yoshlida 4–6 haftada skeletgacha, kichik bolada 1–2 haftada yemiriladi.</a:t>
            </a:r>
          </a:p>
          <a:p>
            <a:pPr>
              <a:spcAft>
                <a:spcPts val="1200"/>
              </a:spcAft>
            </a:pPr>
            <a:r>
              <a:rPr sz="2000">
                <a:solidFill>
                  <a:srgbClr val="1F2937"/>
                </a:solidFill>
                <a:latin typeface="Calibri"/>
              </a:rPr>
              <a:t>▸  Keyin nekrofag qo‘ng‘iz lichinkalari (30–45 kun) va yirtqich qo‘ng‘izlar (45–60 kun) yemiradi. Hasharotlar o‘lim muddatini aniqlashda qo‘llanadi.</a:t>
            </a:r>
          </a:p>
          <a:p>
            <a:pPr>
              <a:spcAft>
                <a:spcPts val="1200"/>
              </a:spcAft>
            </a:pPr>
            <a:r>
              <a:rPr sz="2000">
                <a:solidFill>
                  <a:srgbClr val="1F2937"/>
                </a:solidFill>
                <a:latin typeface="Calibri"/>
              </a:rPr>
              <a:t>▸  Diqqat: hayvon, qush, baliq yemirishi muddatni aniqlashga yaramaydi. Ularning jarohati tish-tirnoq izi, tuk, par va ajratmalar topilishi bilan hayotiydan farqlanadi.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betlar: 232, 232-233, 233</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Saqlovchi va sun’iy o‘zgarishlar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Intravital va o'limdan keyingi o'zgarishlarning differentsial diagnostikasi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27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Saqlovchi o‘zgarishlarda chirish to‘xtaydi, jarohat izlari va tashqi qiyofa saqlanib qolishi mumkin.</a:t>
            </a:r>
          </a:p>
          <a:p>
            <a:pPr>
              <a:spcAft>
                <a:spcPts val="800"/>
              </a:spcAft>
            </a:pPr>
            <a:r>
              <a:rPr sz="1800">
                <a:solidFill>
                  <a:srgbClr val="1F2937"/>
                </a:solidFill>
                <a:latin typeface="Calibri"/>
              </a:rPr>
              <a:t>▸  Balzamlash: son arteriyasi va bo‘shliqlarga etil spirti va formalin teng ulushda yuboriladi.</a:t>
            </a:r>
          </a:p>
          <a:p>
            <a:pPr>
              <a:spcAft>
                <a:spcPts val="800"/>
              </a:spcAft>
            </a:pPr>
            <a:r>
              <a:rPr sz="1800">
                <a:solidFill>
                  <a:srgbClr val="1F2937"/>
                </a:solidFill>
                <a:latin typeface="Calibri"/>
              </a:rPr>
              <a:t>▸  Qismlash ikki xil: defenziv (jinoyatni yashirish) va offenziv (qasos, haqorat). Yoqish va eritish ham yemiruvchi usul.</a:t>
            </a:r>
          </a:p>
        </p:txBody>
      </p:sp>
      <p:graphicFrame>
        <p:nvGraphicFramePr>
          <p:cNvPr id="9" name="Table 8"/>
          <p:cNvGraphicFramePr>
            <a:graphicFrameLocks noGrp="1"/>
          </p:cNvGraphicFramePr>
          <p:nvPr/>
        </p:nvGraphicFramePr>
        <p:xfrm>
          <a:off x="6263640" y="1463040"/>
          <a:ext cx="5287973" cy="1645920"/>
        </p:xfrm>
        <a:graphic>
          <a:graphicData uri="http://schemas.openxmlformats.org/drawingml/2006/table">
            <a:tbl>
              <a:tblPr firstRow="1" bandRow="1">
                <a:tableStyleId>{5C22544A-7EE6-4342-B048-85BDC9FD1C3A}</a:tableStyleId>
              </a:tblPr>
              <a:tblGrid>
                <a:gridCol w="929753"/>
                <a:gridCol w="2324384"/>
                <a:gridCol w="2033836"/>
              </a:tblGrid>
              <a:tr h="411480">
                <a:tc>
                  <a:txBody>
                    <a:bodyPr/>
                    <a:lstStyle/>
                    <a:p>
                      <a:r>
                        <a:rPr sz="1300" b="1">
                          <a:solidFill>
                            <a:srgbClr val="FFFFFF"/>
                          </a:solidFill>
                        </a:rPr>
                        <a:t>Turi</a:t>
                      </a:r>
                    </a:p>
                  </a:txBody>
                  <a:tcPr marL="73152" marR="73152" marT="36576" marB="36576">
                    <a:solidFill>
                      <a:srgbClr val="0B1F3A"/>
                    </a:solidFill>
                  </a:tcPr>
                </a:tc>
                <a:tc>
                  <a:txBody>
                    <a:bodyPr/>
                    <a:lstStyle/>
                    <a:p>
                      <a:r>
                        <a:rPr sz="1300" b="1">
                          <a:solidFill>
                            <a:srgbClr val="FFFFFF"/>
                          </a:solidFill>
                        </a:rPr>
                        <a:t>Sharoit</a:t>
                      </a:r>
                    </a:p>
                  </a:txBody>
                  <a:tcPr marL="73152" marR="73152" marT="36576" marB="36576">
                    <a:solidFill>
                      <a:srgbClr val="0B1F3A"/>
                    </a:solidFill>
                  </a:tcPr>
                </a:tc>
                <a:tc>
                  <a:txBody>
                    <a:bodyPr/>
                    <a:lstStyle/>
                    <a:p>
                      <a:r>
                        <a:rPr sz="1300" b="1">
                          <a:solidFill>
                            <a:srgbClr val="FFFFFF"/>
                          </a:solidFill>
                        </a:rPr>
                        <a:t>Muddat</a:t>
                      </a:r>
                    </a:p>
                  </a:txBody>
                  <a:tcPr marL="73152" marR="73152" marT="36576" marB="36576">
                    <a:solidFill>
                      <a:srgbClr val="0B1F3A"/>
                    </a:solidFill>
                  </a:tcPr>
                </a:tc>
              </a:tr>
              <a:tr h="411480">
                <a:tc>
                  <a:txBody>
                    <a:bodyPr/>
                    <a:lstStyle/>
                    <a:p>
                      <a:r>
                        <a:rPr sz="1200" b="0">
                          <a:solidFill>
                            <a:srgbClr val="1F2937"/>
                          </a:solidFill>
                        </a:rPr>
                        <a:t>Mumifikatsiya</a:t>
                      </a:r>
                    </a:p>
                  </a:txBody>
                  <a:tcPr marL="73152" marR="73152" marT="36576" marB="36576">
                    <a:solidFill>
                      <a:srgbClr val="E8EEF6"/>
                    </a:solidFill>
                  </a:tcPr>
                </a:tc>
                <a:tc>
                  <a:txBody>
                    <a:bodyPr/>
                    <a:lstStyle/>
                    <a:p>
                      <a:r>
                        <a:rPr sz="1200" b="0">
                          <a:solidFill>
                            <a:srgbClr val="1F2937"/>
                          </a:solidFill>
                        </a:rPr>
                        <a:t>Issiq, quruq, yaxshi shamollatiladigan havo</a:t>
                      </a:r>
                    </a:p>
                  </a:txBody>
                  <a:tcPr marL="73152" marR="73152" marT="36576" marB="36576">
                    <a:solidFill>
                      <a:srgbClr val="E8EEF6"/>
                    </a:solidFill>
                  </a:tcPr>
                </a:tc>
                <a:tc>
                  <a:txBody>
                    <a:bodyPr/>
                    <a:lstStyle/>
                    <a:p>
                      <a:r>
                        <a:rPr sz="1200" b="0">
                          <a:solidFill>
                            <a:srgbClr val="1F2937"/>
                          </a:solidFill>
                        </a:rPr>
                        <a:t>Katta yoshli 6–12 oy; bola 4–6 oy</a:t>
                      </a:r>
                    </a:p>
                  </a:txBody>
                  <a:tcPr marL="73152" marR="73152" marT="36576" marB="36576">
                    <a:solidFill>
                      <a:srgbClr val="E8EEF6"/>
                    </a:solidFill>
                  </a:tcPr>
                </a:tc>
              </a:tr>
              <a:tr h="411480">
                <a:tc>
                  <a:txBody>
                    <a:bodyPr/>
                    <a:lstStyle/>
                    <a:p>
                      <a:r>
                        <a:rPr sz="1200" b="0">
                          <a:solidFill>
                            <a:srgbClr val="1F2937"/>
                          </a:solidFill>
                        </a:rPr>
                        <a:t>Yog‘-mo‘m</a:t>
                      </a:r>
                    </a:p>
                  </a:txBody>
                  <a:tcPr marL="73152" marR="73152" marT="36576" marB="36576">
                    <a:solidFill>
                      <a:srgbClr val="FFFFFF"/>
                    </a:solidFill>
                  </a:tcPr>
                </a:tc>
                <a:tc>
                  <a:txBody>
                    <a:bodyPr/>
                    <a:lstStyle/>
                    <a:p>
                      <a:r>
                        <a:rPr sz="1200" b="0">
                          <a:solidFill>
                            <a:srgbClr val="1F2937"/>
                          </a:solidFill>
                        </a:rPr>
                        <a:t>Nam yoki suvli, havo kam, nisbatan sovuq</a:t>
                      </a:r>
                    </a:p>
                  </a:txBody>
                  <a:tcPr marL="73152" marR="73152" marT="36576" marB="36576">
                    <a:solidFill>
                      <a:srgbClr val="FFFFFF"/>
                    </a:solidFill>
                  </a:tcPr>
                </a:tc>
                <a:tc>
                  <a:txBody>
                    <a:bodyPr/>
                    <a:lstStyle/>
                    <a:p>
                      <a:r>
                        <a:rPr sz="1200" b="0">
                          <a:solidFill>
                            <a:srgbClr val="1F2937"/>
                          </a:solidFill>
                        </a:rPr>
                        <a:t>Boshlanishi 2–3 oy; to‘liq 10–12 oy</a:t>
                      </a:r>
                    </a:p>
                  </a:txBody>
                  <a:tcPr marL="73152" marR="73152" marT="36576" marB="36576">
                    <a:solidFill>
                      <a:srgbClr val="FFFFFF"/>
                    </a:solidFill>
                  </a:tcPr>
                </a:tc>
              </a:tr>
              <a:tr h="411480">
                <a:tc>
                  <a:txBody>
                    <a:bodyPr/>
                    <a:lstStyle/>
                    <a:p>
                      <a:r>
                        <a:rPr sz="1200" b="0">
                          <a:solidFill>
                            <a:srgbClr val="1F2937"/>
                          </a:solidFill>
                        </a:rPr>
                        <a:t>Torfli oshlash</a:t>
                      </a:r>
                    </a:p>
                  </a:txBody>
                  <a:tcPr marL="73152" marR="73152" marT="36576" marB="36576">
                    <a:solidFill>
                      <a:srgbClr val="E8EEF6"/>
                    </a:solidFill>
                  </a:tcPr>
                </a:tc>
                <a:tc>
                  <a:txBody>
                    <a:bodyPr/>
                    <a:lstStyle/>
                    <a:p>
                      <a:r>
                        <a:rPr sz="1200" b="0">
                          <a:solidFill>
                            <a:srgbClr val="1F2937"/>
                          </a:solidFill>
                        </a:rPr>
                        <a:t>Torfli botqoq, gumus kislotalari</a:t>
                      </a:r>
                    </a:p>
                  </a:txBody>
                  <a:tcPr marL="73152" marR="73152" marT="36576" marB="36576">
                    <a:solidFill>
                      <a:srgbClr val="E8EEF6"/>
                    </a:solidFill>
                  </a:tcPr>
                </a:tc>
                <a:tc>
                  <a:txBody>
                    <a:bodyPr/>
                    <a:lstStyle/>
                    <a:p>
                      <a:r>
                        <a:rPr sz="1200" b="0">
                          <a:solidFill>
                            <a:srgbClr val="1F2937"/>
                          </a:solidFill>
                        </a:rPr>
                        <a:t>Ko‘p yillar saqlanadi</a:t>
                      </a:r>
                    </a:p>
                  </a:txBody>
                  <a:tcPr marL="73152" marR="73152" marT="36576" marB="36576">
                    <a:solidFill>
                      <a:srgbClr val="E8EEF6"/>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Saqlovchi o‘zgarishlar</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betlar: 233-234, 235</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4: kech o‘zgarishlar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Intravital va o'limdan keyingi o'zgarishlarning differentsial diagnostikasi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28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Vaziyat: suvli, havosi kam, sovuq joydan murda topildi. To‘qimalari bir tekis, kul rang, yoqimsiz hidli amorf massa.</a:t>
            </a:r>
          </a:p>
          <a:p>
            <a:pPr>
              <a:spcAft>
                <a:spcPts val="1200"/>
              </a:spcAft>
            </a:pPr>
            <a:r>
              <a:rPr sz="2200">
                <a:solidFill>
                  <a:srgbClr val="1F2937"/>
                </a:solidFill>
                <a:latin typeface="Calibri"/>
              </a:rPr>
              <a:t>▸  Savol 1: bu qaysi o‘zgarish? Yog‘ gidrolizlanib, yog‘ kislotalari ishqoriy metallar bilan sovunga aylanadi (yog‘-mo‘m).</a:t>
            </a:r>
          </a:p>
          <a:p>
            <a:pPr>
              <a:spcAft>
                <a:spcPts val="1200"/>
              </a:spcAft>
            </a:pPr>
            <a:r>
              <a:rPr sz="2200">
                <a:solidFill>
                  <a:srgbClr val="1F2937"/>
                </a:solidFill>
                <a:latin typeface="Calibri"/>
              </a:rPr>
              <a:t>▸  Savol 2: o‘lim qachon bo‘lgan bo‘lishi mumkin? Yog‘-mo‘m 2–3 oydan boshlanadi, katta yoshlida to‘liq 10–12 oyda vujudga keladi.</a:t>
            </a:r>
          </a:p>
          <a:p>
            <a:pPr>
              <a:spcAft>
                <a:spcPts val="1200"/>
              </a:spcAft>
            </a:pPr>
            <a:r>
              <a:rPr sz="2200">
                <a:solidFill>
                  <a:srgbClr val="1F2937"/>
                </a:solidFill>
                <a:latin typeface="Calibri"/>
              </a:rPr>
              <a:t>▸  Diqqat: chirish ochiq havoda +20…+40°S da yaxshi kechadi. Murda suvda havoga nisbatan ikki, yerda sakkiz barobar sekin chiriydi.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betlar: 234, 229</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Tezkor savol 3: autoliz, chirish, konservatsiya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Intravital va o'limdan keyingi o'zgarishlarning differentsial diagnostikasi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29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Savol: murda qaysi sharoitda mumifikatsiyalanadi? Javob: issiq, quruq havo va yaxshi ventilyatsiyada; chirish odatda to‘xtaydi.</a:t>
            </a:r>
          </a:p>
          <a:p>
            <a:pPr>
              <a:spcAft>
                <a:spcPts val="1200"/>
              </a:spcAft>
            </a:pPr>
            <a:r>
              <a:rPr sz="2200">
                <a:solidFill>
                  <a:srgbClr val="1F2937"/>
                </a:solidFill>
                <a:latin typeface="Calibri"/>
              </a:rPr>
              <a:t>▸  Savol: yog‘-mo‘m (sovunlanish) qaerda rivojlanadi? Javob: suvli yoki nam, havosiz (yoki havo juda kam) va nisbatan sovuq muhitda.</a:t>
            </a:r>
          </a:p>
          <a:p>
            <a:pPr>
              <a:spcAft>
                <a:spcPts val="1200"/>
              </a:spcAft>
            </a:pPr>
            <a:r>
              <a:rPr sz="2200">
                <a:solidFill>
                  <a:srgbClr val="1F2937"/>
                </a:solidFill>
                <a:latin typeface="Calibri"/>
              </a:rPr>
              <a:t>▸  Savol: Kasper indeksi 1:2:8 nimani bildiradi? Javob: murda havoga nisbatan suvda 2 barobar, yerda 8 barobar sekin chiriydi.</a:t>
            </a:r>
          </a:p>
          <a:p>
            <a:pPr>
              <a:spcAft>
                <a:spcPts val="1200"/>
              </a:spcAft>
            </a:pPr>
            <a:r>
              <a:rPr sz="2200">
                <a:solidFill>
                  <a:srgbClr val="1F2937"/>
                </a:solidFill>
                <a:latin typeface="Calibri"/>
              </a:rPr>
              <a:t>▸  Diqqat: xato qilish xavfi. Oshqozon shilliq qavati autolizini o‘yuvchi zahar ta’siri deb adashish mumkin; farqlash asosan mikroskopiya bilan.</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betlar: 233, 234, 229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O‘lim muddati: rektal termometriya hisobi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Intravital va o'limdan keyingi o'zgarishlarning differentsial diagnostikasi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30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Rektal harorat kamida ikki marta o‘lchanadi. Formulalar: t = 2/3·(36,8 − T) va t = (36,9 − T)/0,889 (t — soat, T — harorat). (?)</a:t>
            </a:r>
          </a:p>
          <a:p>
            <a:pPr>
              <a:spcAft>
                <a:spcPts val="800"/>
              </a:spcAft>
            </a:pPr>
            <a:r>
              <a:rPr sz="1800">
                <a:solidFill>
                  <a:srgbClr val="1F2937"/>
                </a:solidFill>
                <a:latin typeface="Calibri"/>
              </a:rPr>
              <a:t>▸  Misol: soat 10 da +30°S, soat 12 da +28,2°S. Ikki soatda 1,8°S sovugan, ya’ni taxminan 0,9°S/soat.</a:t>
            </a:r>
          </a:p>
          <a:p>
            <a:pPr>
              <a:spcAft>
                <a:spcPts val="800"/>
              </a:spcAft>
            </a:pPr>
            <a:r>
              <a:rPr sz="1800">
                <a:solidFill>
                  <a:srgbClr val="1F2937"/>
                </a:solidFill>
                <a:latin typeface="Calibri"/>
              </a:rPr>
              <a:t>▸  Kitob xulosasi: o‘lim soat 10 dan 7–7,5 soat oldin sodir bo‘lgan. Hisob tafsiloti matnda aniq emas. (?)</a:t>
            </a:r>
          </a:p>
        </p:txBody>
      </p:sp>
      <p:graphicFrame>
        <p:nvGraphicFramePr>
          <p:cNvPr id="9" name="Table 8"/>
          <p:cNvGraphicFramePr>
            <a:graphicFrameLocks noGrp="1"/>
          </p:cNvGraphicFramePr>
          <p:nvPr/>
        </p:nvGraphicFramePr>
        <p:xfrm>
          <a:off x="6263640" y="1463040"/>
          <a:ext cx="5287974" cy="2057400"/>
        </p:xfrm>
        <a:graphic>
          <a:graphicData uri="http://schemas.openxmlformats.org/drawingml/2006/table">
            <a:tbl>
              <a:tblPr firstRow="1" bandRow="1">
                <a:tableStyleId>{5C22544A-7EE6-4342-B048-85BDC9FD1C3A}</a:tableStyleId>
              </a:tblPr>
              <a:tblGrid>
                <a:gridCol w="2790875"/>
                <a:gridCol w="2497099"/>
              </a:tblGrid>
              <a:tr h="411480">
                <a:tc>
                  <a:txBody>
                    <a:bodyPr/>
                    <a:lstStyle/>
                    <a:p>
                      <a:r>
                        <a:rPr sz="1400" b="1">
                          <a:solidFill>
                            <a:srgbClr val="FFFFFF"/>
                          </a:solidFill>
                        </a:rPr>
                        <a:t>Muddat (soat)</a:t>
                      </a:r>
                    </a:p>
                  </a:txBody>
                  <a:tcPr marL="73152" marR="73152" marT="36576" marB="36576">
                    <a:solidFill>
                      <a:srgbClr val="0B1F3A"/>
                    </a:solidFill>
                  </a:tcPr>
                </a:tc>
                <a:tc>
                  <a:txBody>
                    <a:bodyPr/>
                    <a:lstStyle/>
                    <a:p>
                      <a:r>
                        <a:rPr sz="1400" b="1">
                          <a:solidFill>
                            <a:srgbClr val="FFFFFF"/>
                          </a:solidFill>
                        </a:rPr>
                        <a:t>Rektal (°S)</a:t>
                      </a:r>
                    </a:p>
                  </a:txBody>
                  <a:tcPr marL="73152" marR="73152" marT="36576" marB="36576">
                    <a:solidFill>
                      <a:srgbClr val="0B1F3A"/>
                    </a:solidFill>
                  </a:tcPr>
                </a:tc>
              </a:tr>
              <a:tr h="411480">
                <a:tc>
                  <a:txBody>
                    <a:bodyPr/>
                    <a:lstStyle/>
                    <a:p>
                      <a:r>
                        <a:rPr sz="1300" b="0">
                          <a:solidFill>
                            <a:srgbClr val="1F2937"/>
                          </a:solidFill>
                        </a:rPr>
                        <a:t>2</a:t>
                      </a:r>
                    </a:p>
                  </a:txBody>
                  <a:tcPr marL="73152" marR="73152" marT="36576" marB="36576">
                    <a:solidFill>
                      <a:srgbClr val="E8EEF6"/>
                    </a:solidFill>
                  </a:tcPr>
                </a:tc>
                <a:tc>
                  <a:txBody>
                    <a:bodyPr/>
                    <a:lstStyle/>
                    <a:p>
                      <a:r>
                        <a:rPr sz="1300" b="0">
                          <a:solidFill>
                            <a:srgbClr val="1F2937"/>
                          </a:solidFill>
                        </a:rPr>
                        <a:t>38,5</a:t>
                      </a:r>
                    </a:p>
                  </a:txBody>
                  <a:tcPr marL="73152" marR="73152" marT="36576" marB="36576">
                    <a:solidFill>
                      <a:srgbClr val="E8EEF6"/>
                    </a:solidFill>
                  </a:tcPr>
                </a:tc>
              </a:tr>
              <a:tr h="411480">
                <a:tc>
                  <a:txBody>
                    <a:bodyPr/>
                    <a:lstStyle/>
                    <a:p>
                      <a:r>
                        <a:rPr sz="1300" b="0">
                          <a:solidFill>
                            <a:srgbClr val="1F2937"/>
                          </a:solidFill>
                        </a:rPr>
                        <a:t>6</a:t>
                      </a:r>
                    </a:p>
                  </a:txBody>
                  <a:tcPr marL="73152" marR="73152" marT="36576" marB="36576">
                    <a:solidFill>
                      <a:srgbClr val="FFFFFF"/>
                    </a:solidFill>
                  </a:tcPr>
                </a:tc>
                <a:tc>
                  <a:txBody>
                    <a:bodyPr/>
                    <a:lstStyle/>
                    <a:p>
                      <a:r>
                        <a:rPr sz="1300" b="0">
                          <a:solidFill>
                            <a:srgbClr val="1F2937"/>
                          </a:solidFill>
                        </a:rPr>
                        <a:t>32,8</a:t>
                      </a:r>
                    </a:p>
                  </a:txBody>
                  <a:tcPr marL="73152" marR="73152" marT="36576" marB="36576">
                    <a:solidFill>
                      <a:srgbClr val="FFFFFF"/>
                    </a:solidFill>
                  </a:tcPr>
                </a:tc>
              </a:tr>
              <a:tr h="411480">
                <a:tc>
                  <a:txBody>
                    <a:bodyPr/>
                    <a:lstStyle/>
                    <a:p>
                      <a:r>
                        <a:rPr sz="1300" b="0">
                          <a:solidFill>
                            <a:srgbClr val="1F2937"/>
                          </a:solidFill>
                        </a:rPr>
                        <a:t>12</a:t>
                      </a:r>
                    </a:p>
                  </a:txBody>
                  <a:tcPr marL="73152" marR="73152" marT="36576" marB="36576">
                    <a:solidFill>
                      <a:srgbClr val="E8EEF6"/>
                    </a:solidFill>
                  </a:tcPr>
                </a:tc>
                <a:tc>
                  <a:txBody>
                    <a:bodyPr/>
                    <a:lstStyle/>
                    <a:p>
                      <a:r>
                        <a:rPr sz="1300" b="0">
                          <a:solidFill>
                            <a:srgbClr val="1F2937"/>
                          </a:solidFill>
                        </a:rPr>
                        <a:t>29,2</a:t>
                      </a:r>
                    </a:p>
                  </a:txBody>
                  <a:tcPr marL="73152" marR="73152" marT="36576" marB="36576">
                    <a:solidFill>
                      <a:srgbClr val="E8EEF6"/>
                    </a:solidFill>
                  </a:tcPr>
                </a:tc>
              </a:tr>
              <a:tr h="411480">
                <a:tc>
                  <a:txBody>
                    <a:bodyPr/>
                    <a:lstStyle/>
                    <a:p>
                      <a:r>
                        <a:rPr sz="1300" b="0">
                          <a:solidFill>
                            <a:srgbClr val="1F2937"/>
                          </a:solidFill>
                        </a:rPr>
                        <a:t>24</a:t>
                      </a:r>
                    </a:p>
                  </a:txBody>
                  <a:tcPr marL="73152" marR="73152" marT="36576" marB="36576">
                    <a:solidFill>
                      <a:srgbClr val="FFFFFF"/>
                    </a:solidFill>
                  </a:tcPr>
                </a:tc>
                <a:tc>
                  <a:txBody>
                    <a:bodyPr/>
                    <a:lstStyle/>
                    <a:p>
                      <a:r>
                        <a:rPr sz="1300" b="0">
                          <a:solidFill>
                            <a:srgbClr val="1F2937"/>
                          </a:solidFill>
                        </a:rPr>
                        <a:t>23,2</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Rektal harorat va muddat (Bilkun, 1985)</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betlar: 236-237, 236</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Muddatni murda dog‘i va laboratoriya bo‘yicha aniqlash</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Intravital va o'limdan keyingi o'zgarishlarning differentsial diagnostikasi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31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Dog‘ 196 kPa kuch bilan 3 soniya bosiladi, rangi tiklanish vaqti o‘lchanadi. Tez o‘limda 2 soatda 9–10 s, 24 soatda 113–175 s.</a:t>
            </a:r>
          </a:p>
          <a:p>
            <a:pPr>
              <a:spcAft>
                <a:spcPts val="1200"/>
              </a:spcAft>
            </a:pPr>
            <a:r>
              <a:rPr sz="2200">
                <a:solidFill>
                  <a:srgbClr val="1F2937"/>
                </a:solidFill>
                <a:latin typeface="Calibri"/>
              </a:rPr>
              <a:t>▸  Orqa miya suyuqligi va ko‘z shishasimon tanasida kaliy ortadi, natriy kamayadi. O‘limdan 12 soatdan so‘ng to‘qimalarda AUF faolligi yo‘qoladi.</a:t>
            </a:r>
          </a:p>
          <a:p>
            <a:pPr>
              <a:spcAft>
                <a:spcPts val="1200"/>
              </a:spcAft>
            </a:pPr>
            <a:r>
              <a:rPr sz="2200">
                <a:solidFill>
                  <a:srgbClr val="1F2937"/>
                </a:solidFill>
                <a:latin typeface="Calibri"/>
              </a:rPr>
              <a:t>▸  Ichki a’zolarda autoliz 12–18 soatdan keyin boshlanadi, 36–48 soatdan so‘ng o‘ta yaqqol. Hasharot turi va rivojlanish bosqichi ham muddatni ko‘rsatadi.</a:t>
            </a:r>
          </a:p>
          <a:p>
            <a:pPr>
              <a:spcAft>
                <a:spcPts val="1200"/>
              </a:spcAft>
            </a:pPr>
            <a:r>
              <a:rPr sz="2200">
                <a:solidFill>
                  <a:srgbClr val="1F2937"/>
                </a:solidFill>
                <a:latin typeface="Calibri"/>
              </a:rPr>
              <a:t>▸  Bitta ishonchli usul yo‘q, ko‘p usul qo‘llanadi. Dastlabki 1–2 kunda aniqlik bir necha soat, kech o‘zgarishlarda kunlar, skeletda oy-yillar.</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betlar: 237, 237-238, 238</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Tanatogenez va o‘lim sabablari raqobati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Intravital va o'limdan keyingi o'zgarishlarning differentsial diagnostikasi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32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Tanatogenez — o‘limning vujudga kelish mexanizmi; u sabab-oqibat bog‘langan zanjir ko‘rinishida kechadi.</a:t>
            </a:r>
          </a:p>
          <a:p>
            <a:pPr>
              <a:spcAft>
                <a:spcPts val="800"/>
              </a:spcAft>
            </a:pPr>
            <a:r>
              <a:rPr sz="1800">
                <a:solidFill>
                  <a:srgbClr val="1F2937"/>
                </a:solidFill>
                <a:latin typeface="Calibri"/>
              </a:rPr>
              <a:t>▸  Zanjirning birinchi bo‘g‘ini — uzoq sabab, oxirgisi — yaqin sabab, o‘rtadagilari — oraliq sabablar.</a:t>
            </a:r>
          </a:p>
          <a:p>
            <a:pPr>
              <a:spcAft>
                <a:spcPts val="800"/>
              </a:spcAft>
            </a:pPr>
            <a:r>
              <a:rPr sz="1800">
                <a:solidFill>
                  <a:srgbClr val="1F2937"/>
                </a:solidFill>
                <a:latin typeface="Calibri"/>
              </a:rPr>
              <a:t>▸  Raqobatda ikki shakl har biri o‘limga olib kelishi mumkin; ekspert asosiysini aniqlashga harakat qiladi.</a:t>
            </a:r>
          </a:p>
        </p:txBody>
      </p:sp>
      <p:sp>
        <p:nvSpPr>
          <p:cNvPr id="9" name="Rounded Rectangle 8"/>
          <p:cNvSpPr/>
          <p:nvPr/>
        </p:nvSpPr>
        <p:spPr>
          <a:xfrm>
            <a:off x="6263640" y="1463040"/>
            <a:ext cx="5287975" cy="740664"/>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Oshqozon yarasi (uzoq sabab)</a:t>
            </a:r>
          </a:p>
        </p:txBody>
      </p:sp>
      <p:sp>
        <p:nvSpPr>
          <p:cNvPr id="10" name="Down Arrow 9"/>
          <p:cNvSpPr/>
          <p:nvPr/>
        </p:nvSpPr>
        <p:spPr>
          <a:xfrm>
            <a:off x="8770467" y="222199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496312"/>
            <a:ext cx="5287975" cy="740664"/>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Perforatsiya (oraliq sabab)</a:t>
            </a:r>
          </a:p>
        </p:txBody>
      </p:sp>
      <p:sp>
        <p:nvSpPr>
          <p:cNvPr id="12" name="Down Arrow 11"/>
          <p:cNvSpPr/>
          <p:nvPr/>
        </p:nvSpPr>
        <p:spPr>
          <a:xfrm>
            <a:off x="8770467" y="3255264"/>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529584"/>
            <a:ext cx="5287975" cy="740664"/>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Peritonit (oraliq sabab)</a:t>
            </a:r>
          </a:p>
        </p:txBody>
      </p:sp>
      <p:sp>
        <p:nvSpPr>
          <p:cNvPr id="14" name="Down Arrow 13"/>
          <p:cNvSpPr/>
          <p:nvPr/>
        </p:nvSpPr>
        <p:spPr>
          <a:xfrm>
            <a:off x="8770467" y="4288536"/>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4562856"/>
            <a:ext cx="5287975" cy="740664"/>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Sepsis (yaqin sabab)</a:t>
            </a:r>
          </a:p>
        </p:txBody>
      </p:sp>
      <p:sp>
        <p:nvSpPr>
          <p:cNvPr id="16" name="TextBox 15"/>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Yara kasalligi misoli</a:t>
            </a:r>
          </a:p>
        </p:txBody>
      </p:sp>
      <p:sp>
        <p:nvSpPr>
          <p:cNvPr id="17" name="TextBox 16"/>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betlar: 241, 242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Murda ekspertizasi bosqichlari va hujjati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Intravital va o'limdan keyingi o'zgarishlarning differentsial diagnostikasi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33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Ekspertiza zo‘raki yoki shubhali o‘lim, noma’lum shaxs va tibbiy yordamga e’tiroz holatlarida tayinlanadi.</a:t>
            </a:r>
          </a:p>
          <a:p>
            <a:pPr>
              <a:spcAft>
                <a:spcPts val="800"/>
              </a:spcAft>
            </a:pPr>
            <a:r>
              <a:rPr sz="1800">
                <a:solidFill>
                  <a:srgbClr val="1F2937"/>
                </a:solidFill>
                <a:latin typeface="Calibri"/>
              </a:rPr>
              <a:t>▸  Ichki tekshiruvda kalla, ko‘krak va qorin bo‘shliqlari albatta ochiladi.</a:t>
            </a:r>
          </a:p>
          <a:p>
            <a:pPr>
              <a:spcAft>
                <a:spcPts val="800"/>
              </a:spcAft>
            </a:pPr>
            <a:r>
              <a:rPr sz="1800">
                <a:solidFill>
                  <a:srgbClr val="1F2937"/>
                </a:solidFill>
                <a:latin typeface="Calibri"/>
              </a:rPr>
              <a:t>▸  Ekspert xulosasi kirish, tekshiruv va to‘xtam qismlaridan iborat; diagnoz va to‘xtamni faqat ekspert imzolaydi.</a:t>
            </a:r>
          </a:p>
        </p:txBody>
      </p:sp>
      <p:sp>
        <p:nvSpPr>
          <p:cNvPr id="9" name="Rounded Rectangle 8"/>
          <p:cNvSpPr/>
          <p:nvPr/>
        </p:nvSpPr>
        <p:spPr>
          <a:xfrm>
            <a:off x="6263640" y="146304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1. Materiallar bilan tanishish</a:t>
            </a:r>
          </a:p>
        </p:txBody>
      </p:sp>
      <p:sp>
        <p:nvSpPr>
          <p:cNvPr id="10" name="Down Arrow 9"/>
          <p:cNvSpPr/>
          <p:nvPr/>
        </p:nvSpPr>
        <p:spPr>
          <a:xfrm>
            <a:off x="8770467" y="2015337"/>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289657"/>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2. Tashqi tekshiruv</a:t>
            </a:r>
          </a:p>
        </p:txBody>
      </p:sp>
      <p:sp>
        <p:nvSpPr>
          <p:cNvPr id="12" name="Down Arrow 11"/>
          <p:cNvSpPr/>
          <p:nvPr/>
        </p:nvSpPr>
        <p:spPr>
          <a:xfrm>
            <a:off x="8770467" y="2841955"/>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116275"/>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3. Ichki tekshiruv</a:t>
            </a:r>
          </a:p>
        </p:txBody>
      </p:sp>
      <p:sp>
        <p:nvSpPr>
          <p:cNvPr id="14" name="Down Arrow 13"/>
          <p:cNvSpPr/>
          <p:nvPr/>
        </p:nvSpPr>
        <p:spPr>
          <a:xfrm>
            <a:off x="8770467" y="366857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3942892"/>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4. Diagnoz va guvohnoma</a:t>
            </a:r>
          </a:p>
        </p:txBody>
      </p:sp>
      <p:sp>
        <p:nvSpPr>
          <p:cNvPr id="16" name="Down Arrow 15"/>
          <p:cNvSpPr/>
          <p:nvPr/>
        </p:nvSpPr>
        <p:spPr>
          <a:xfrm>
            <a:off x="8770467" y="4495190"/>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63640" y="476951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5-6. Laboratoriya va to‘xtam</a:t>
            </a:r>
          </a:p>
        </p:txBody>
      </p:sp>
      <p:sp>
        <p:nvSpPr>
          <p:cNvPr id="18" name="TextBox 17"/>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Ekspertiza bosqichlari</a:t>
            </a:r>
          </a:p>
        </p:txBody>
      </p:sp>
      <p:sp>
        <p:nvSpPr>
          <p:cNvPr id="19" name="TextBox 1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betlar: 238, 239, 240-241</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Noma’lum, qismlangan, skeletlangan va eksgumatsiya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Intravital va o'limdan keyingi o'zgarishlarning differentsial diagnostikasi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34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Noma’lum shaxs murdasida kiyim-bosh, “so‘z portreti” va tana belgilari (hol, tatuirovka, chandiq) tavsiflanadi; guruhiy mansublik uchun qon olinadi.</a:t>
            </a:r>
          </a:p>
          <a:p>
            <a:pPr>
              <a:spcAft>
                <a:spcPts val="1200"/>
              </a:spcAft>
            </a:pPr>
            <a:r>
              <a:rPr sz="2200">
                <a:solidFill>
                  <a:srgbClr val="1F2937"/>
                </a:solidFill>
                <a:latin typeface="Calibri"/>
              </a:rPr>
              <a:t>▸  Qismlash tasodifiy (portlash, rels, aviatsion travma) yoki jinoiy bo‘ladi; jinoiy qismlash defenziv (yashirish) va offenziv (oshkor etish) turlarga bo‘linadi.</a:t>
            </a:r>
          </a:p>
          <a:p>
            <a:pPr>
              <a:spcAft>
                <a:spcPts val="1200"/>
              </a:spcAft>
            </a:pPr>
            <a:r>
              <a:rPr sz="2200">
                <a:solidFill>
                  <a:srgbClr val="1F2937"/>
                </a:solidFill>
                <a:latin typeface="Calibri"/>
              </a:rPr>
              <a:t>▸  Skelet suyaklaridan jins, yosh va bo‘y aniqlanadi; o‘lim sababi odatda aniqlanmaydi, ammo jarohat turi, diatom plankton va ayrim zaharlar topilishi mumkin.</a:t>
            </a:r>
          </a:p>
          <a:p>
            <a:pPr>
              <a:spcAft>
                <a:spcPts val="1200"/>
              </a:spcAft>
            </a:pPr>
            <a:r>
              <a:rPr sz="2200">
                <a:solidFill>
                  <a:srgbClr val="1F2937"/>
                </a:solidFill>
                <a:latin typeface="Calibri"/>
              </a:rPr>
              <a:t>▸  Eksgumatsiya — qabrdan murdani chiqarish; u qaror yoki ajrim asosida, xolislar va mutaxassis ishtirokida o‘tkaziladi, bayonnoma tuziladi.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betlar: 243, 235; 243, 244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Sud-tibbiy va patologo-anatomik tekshiruv</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Intravital va o'limdan keyingi o'zgarishlarning differentsial diagnostikasi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35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Sud-tibbiy ekspertiza protsessual tusga ega: ekspert huquq-majburiyatlari tushuntirilgani va javobgarlik haqida tilxat beradi.</a:t>
            </a:r>
          </a:p>
          <a:p>
            <a:pPr>
              <a:spcAft>
                <a:spcPts val="800"/>
              </a:spcAft>
            </a:pPr>
            <a:r>
              <a:rPr sz="1800">
                <a:solidFill>
                  <a:srgbClr val="1F2937"/>
                </a:solidFill>
                <a:latin typeface="Calibri"/>
              </a:rPr>
              <a:t>▸  Sud-tibbiy ekspertiza o‘lim joyidan qat’i nazar o‘tkaziladi, patologo-anatomik tekshiruv asosan davolash muassasalarida.</a:t>
            </a:r>
          </a:p>
          <a:p>
            <a:pPr>
              <a:spcAft>
                <a:spcPts val="800"/>
              </a:spcAft>
            </a:pPr>
            <a:r>
              <a:rPr sz="1800">
                <a:solidFill>
                  <a:srgbClr val="1F2937"/>
                </a:solidFill>
                <a:latin typeface="Calibri"/>
              </a:rPr>
              <a:t>▸  Autopsiya turlari: real (sud-tibbiy va patologo-anatomik), verbal va virtual. Virtual autopsiya hozircha faqat ilmiy muassasalarda.</a:t>
            </a:r>
          </a:p>
        </p:txBody>
      </p:sp>
      <p:graphicFrame>
        <p:nvGraphicFramePr>
          <p:cNvPr id="9" name="Table 8"/>
          <p:cNvGraphicFramePr>
            <a:graphicFrameLocks noGrp="1"/>
          </p:cNvGraphicFramePr>
          <p:nvPr/>
        </p:nvGraphicFramePr>
        <p:xfrm>
          <a:off x="6263640" y="1463040"/>
          <a:ext cx="5287973" cy="2057400"/>
        </p:xfrm>
        <a:graphic>
          <a:graphicData uri="http://schemas.openxmlformats.org/drawingml/2006/table">
            <a:tbl>
              <a:tblPr firstRow="1" bandRow="1">
                <a:tableStyleId>{5C22544A-7EE6-4342-B048-85BDC9FD1C3A}</a:tableStyleId>
              </a:tblPr>
              <a:tblGrid>
                <a:gridCol w="881329"/>
                <a:gridCol w="2203322"/>
                <a:gridCol w="2203322"/>
              </a:tblGrid>
              <a:tr h="411480">
                <a:tc>
                  <a:txBody>
                    <a:bodyPr/>
                    <a:lstStyle/>
                    <a:p>
                      <a:r>
                        <a:rPr sz="1300" b="1">
                          <a:solidFill>
                            <a:srgbClr val="FFFFFF"/>
                          </a:solidFill>
                        </a:rPr>
                        <a:t>Mezon</a:t>
                      </a:r>
                    </a:p>
                  </a:txBody>
                  <a:tcPr marL="73152" marR="73152" marT="36576" marB="36576">
                    <a:solidFill>
                      <a:srgbClr val="0B1F3A"/>
                    </a:solidFill>
                  </a:tcPr>
                </a:tc>
                <a:tc>
                  <a:txBody>
                    <a:bodyPr/>
                    <a:lstStyle/>
                    <a:p>
                      <a:r>
                        <a:rPr sz="1300" b="1">
                          <a:solidFill>
                            <a:srgbClr val="FFFFFF"/>
                          </a:solidFill>
                        </a:rPr>
                        <a:t>Sud-tibbiy</a:t>
                      </a:r>
                    </a:p>
                  </a:txBody>
                  <a:tcPr marL="73152" marR="73152" marT="36576" marB="36576">
                    <a:solidFill>
                      <a:srgbClr val="0B1F3A"/>
                    </a:solidFill>
                  </a:tcPr>
                </a:tc>
                <a:tc>
                  <a:txBody>
                    <a:bodyPr/>
                    <a:lstStyle/>
                    <a:p>
                      <a:r>
                        <a:rPr sz="1300" b="1">
                          <a:solidFill>
                            <a:srgbClr val="FFFFFF"/>
                          </a:solidFill>
                        </a:rPr>
                        <a:t>Patolog-anat.</a:t>
                      </a:r>
                    </a:p>
                  </a:txBody>
                  <a:tcPr marL="73152" marR="73152" marT="36576" marB="36576">
                    <a:solidFill>
                      <a:srgbClr val="0B1F3A"/>
                    </a:solidFill>
                  </a:tcPr>
                </a:tc>
              </a:tr>
              <a:tr h="411480">
                <a:tc>
                  <a:txBody>
                    <a:bodyPr/>
                    <a:lstStyle/>
                    <a:p>
                      <a:r>
                        <a:rPr sz="1200" b="0">
                          <a:solidFill>
                            <a:srgbClr val="1F2937"/>
                          </a:solidFill>
                        </a:rPr>
                        <a:t>Maqsad</a:t>
                      </a:r>
                    </a:p>
                  </a:txBody>
                  <a:tcPr marL="73152" marR="73152" marT="36576" marB="36576">
                    <a:solidFill>
                      <a:srgbClr val="E8EEF6"/>
                    </a:solidFill>
                  </a:tcPr>
                </a:tc>
                <a:tc>
                  <a:txBody>
                    <a:bodyPr/>
                    <a:lstStyle/>
                    <a:p>
                      <a:r>
                        <a:rPr sz="1200" b="0">
                          <a:solidFill>
                            <a:srgbClr val="1F2937"/>
                          </a:solidFill>
                        </a:rPr>
                        <a:t>Zo‘rakilikni tasdiqlash yoki inkor etish</a:t>
                      </a:r>
                    </a:p>
                  </a:txBody>
                  <a:tcPr marL="73152" marR="73152" marT="36576" marB="36576">
                    <a:solidFill>
                      <a:srgbClr val="E8EEF6"/>
                    </a:solidFill>
                  </a:tcPr>
                </a:tc>
                <a:tc>
                  <a:txBody>
                    <a:bodyPr/>
                    <a:lstStyle/>
                    <a:p>
                      <a:r>
                        <a:rPr sz="1200" b="0">
                          <a:solidFill>
                            <a:srgbClr val="1F2937"/>
                          </a:solidFill>
                        </a:rPr>
                        <a:t>Davolash to‘g‘riligini nazorat qilish</a:t>
                      </a:r>
                    </a:p>
                  </a:txBody>
                  <a:tcPr marL="73152" marR="73152" marT="36576" marB="36576">
                    <a:solidFill>
                      <a:srgbClr val="E8EEF6"/>
                    </a:solidFill>
                  </a:tcPr>
                </a:tc>
              </a:tr>
              <a:tr h="411480">
                <a:tc>
                  <a:txBody>
                    <a:bodyPr/>
                    <a:lstStyle/>
                    <a:p>
                      <a:r>
                        <a:rPr sz="1200" b="0">
                          <a:solidFill>
                            <a:srgbClr val="1F2937"/>
                          </a:solidFill>
                        </a:rPr>
                        <a:t>Asos</a:t>
                      </a:r>
                    </a:p>
                  </a:txBody>
                  <a:tcPr marL="73152" marR="73152" marT="36576" marB="36576">
                    <a:solidFill>
                      <a:srgbClr val="FFFFFF"/>
                    </a:solidFill>
                  </a:tcPr>
                </a:tc>
                <a:tc>
                  <a:txBody>
                    <a:bodyPr/>
                    <a:lstStyle/>
                    <a:p>
                      <a:r>
                        <a:rPr sz="1200" b="0">
                          <a:solidFill>
                            <a:srgbClr val="1F2937"/>
                          </a:solidFill>
                        </a:rPr>
                        <a:t>Tergovchi qarori yoki sud ajrimi</a:t>
                      </a:r>
                    </a:p>
                  </a:txBody>
                  <a:tcPr marL="73152" marR="73152" marT="36576" marB="36576">
                    <a:solidFill>
                      <a:srgbClr val="FFFFFF"/>
                    </a:solidFill>
                  </a:tcPr>
                </a:tc>
                <a:tc>
                  <a:txBody>
                    <a:bodyPr/>
                    <a:lstStyle/>
                    <a:p>
                      <a:r>
                        <a:rPr sz="1200" b="0">
                          <a:solidFill>
                            <a:srgbClr val="1F2937"/>
                          </a:solidFill>
                        </a:rPr>
                        <a:t>Muassasa rahbari yoki muovini ko‘rsatmasi</a:t>
                      </a:r>
                    </a:p>
                  </a:txBody>
                  <a:tcPr marL="73152" marR="73152" marT="36576" marB="36576">
                    <a:solidFill>
                      <a:srgbClr val="FFFFFF"/>
                    </a:solidFill>
                  </a:tcPr>
                </a:tc>
              </a:tr>
              <a:tr h="411480">
                <a:tc>
                  <a:txBody>
                    <a:bodyPr/>
                    <a:lstStyle/>
                    <a:p>
                      <a:r>
                        <a:rPr sz="1200" b="0">
                          <a:solidFill>
                            <a:srgbClr val="1F2937"/>
                          </a:solidFill>
                        </a:rPr>
                        <a:t>Hujjat</a:t>
                      </a:r>
                    </a:p>
                  </a:txBody>
                  <a:tcPr marL="73152" marR="73152" marT="36576" marB="36576">
                    <a:solidFill>
                      <a:srgbClr val="E8EEF6"/>
                    </a:solidFill>
                  </a:tcPr>
                </a:tc>
                <a:tc>
                  <a:txBody>
                    <a:bodyPr/>
                    <a:lstStyle/>
                    <a:p>
                      <a:r>
                        <a:rPr sz="1200" b="0">
                          <a:solidFill>
                            <a:srgbClr val="1F2937"/>
                          </a:solidFill>
                        </a:rPr>
                        <a:t>Ekspert xulosasi</a:t>
                      </a:r>
                    </a:p>
                  </a:txBody>
                  <a:tcPr marL="73152" marR="73152" marT="36576" marB="36576">
                    <a:solidFill>
                      <a:srgbClr val="E8EEF6"/>
                    </a:solidFill>
                  </a:tcPr>
                </a:tc>
                <a:tc>
                  <a:txBody>
                    <a:bodyPr/>
                    <a:lstStyle/>
                    <a:p>
                      <a:r>
                        <a:rPr sz="1200" b="0">
                          <a:solidFill>
                            <a:srgbClr val="1F2937"/>
                          </a:solidFill>
                        </a:rPr>
                        <a:t>Bayonnoma, kasallik tarixiga ilova</a:t>
                      </a:r>
                    </a:p>
                  </a:txBody>
                  <a:tcPr marL="73152" marR="73152" marT="36576" marB="36576">
                    <a:solidFill>
                      <a:srgbClr val="E8EEF6"/>
                    </a:solidFill>
                  </a:tcPr>
                </a:tc>
              </a:tr>
              <a:tr h="411480">
                <a:tc>
                  <a:txBody>
                    <a:bodyPr/>
                    <a:lstStyle/>
                    <a:p>
                      <a:r>
                        <a:rPr sz="1200" b="0">
                          <a:solidFill>
                            <a:srgbClr val="1F2937"/>
                          </a:solidFill>
                        </a:rPr>
                        <a:t>O‘lim muddati</a:t>
                      </a:r>
                    </a:p>
                  </a:txBody>
                  <a:tcPr marL="73152" marR="73152" marT="36576" marB="36576">
                    <a:solidFill>
                      <a:srgbClr val="FFFFFF"/>
                    </a:solidFill>
                  </a:tcPr>
                </a:tc>
                <a:tc>
                  <a:txBody>
                    <a:bodyPr/>
                    <a:lstStyle/>
                    <a:p>
                      <a:r>
                        <a:rPr sz="1200" b="0">
                          <a:solidFill>
                            <a:srgbClr val="1F2937"/>
                          </a:solidFill>
                        </a:rPr>
                        <a:t>Aniqlash muhim vazifa</a:t>
                      </a:r>
                    </a:p>
                  </a:txBody>
                  <a:tcPr marL="73152" marR="73152" marT="36576" marB="36576">
                    <a:solidFill>
                      <a:srgbClr val="FFFFFF"/>
                    </a:solidFill>
                  </a:tcPr>
                </a:tc>
                <a:tc>
                  <a:txBody>
                    <a:bodyPr/>
                    <a:lstStyle/>
                    <a:p>
                      <a:r>
                        <a:rPr sz="1200" b="0">
                          <a:solidFill>
                            <a:srgbClr val="1F2937"/>
                          </a:solidFill>
                        </a:rPr>
                        <a:t>Kasallik tarixida ko‘rsatilgan</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Ikki turdagi autopsiya farqi</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betlar: 245, 245-246</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5: tanatogenez va ekspertiza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Intravital va o'limdan keyingi o'zgarishlarning differentsial diagnostikasi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36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Vaziyat 1: oshqozon yara kasalligi devor teshilishi (perforatsiya) bilan asoratlandi, peritonit rivojlandi va bemor sepsisdan vafot etdi.</a:t>
            </a:r>
          </a:p>
          <a:p>
            <a:pPr>
              <a:spcAft>
                <a:spcPts val="1200"/>
              </a:spcAft>
            </a:pPr>
            <a:r>
              <a:rPr sz="2200">
                <a:solidFill>
                  <a:srgbClr val="1F2937"/>
                </a:solidFill>
                <a:latin typeface="Calibri"/>
              </a:rPr>
              <a:t>▸  Savol 1: zanjirni tuzing. Javob: yara kasalligi — uzoq sabab; perforatsiya va peritonit — oraliq sabab; sepsis — yaqin sabab.</a:t>
            </a:r>
          </a:p>
          <a:p>
            <a:pPr>
              <a:spcAft>
                <a:spcPts val="1200"/>
              </a:spcAft>
            </a:pPr>
            <a:r>
              <a:rPr sz="2200">
                <a:solidFill>
                  <a:srgbClr val="1F2937"/>
                </a:solidFill>
                <a:latin typeface="Calibri"/>
              </a:rPr>
              <a:t>▸  Vaziyat 2: yo‘l-transport hodisasida og‘ir kalla-miya jarohati olgan jabrlanuvchi jinoyatni yashirish uchun suvga tashlandi.</a:t>
            </a:r>
          </a:p>
          <a:p>
            <a:pPr>
              <a:spcAft>
                <a:spcPts val="1200"/>
              </a:spcAft>
            </a:pPr>
            <a:r>
              <a:rPr sz="2200">
                <a:solidFill>
                  <a:srgbClr val="1F2937"/>
                </a:solidFill>
                <a:latin typeface="Calibri"/>
              </a:rPr>
              <a:t>▸  Savol 2: sabablar raqobatini va ekspertiza turini aniqlang. Kalla-miya jarohati va suv bilan bo‘g‘ilish uzoq sabablar raqobatidir; zo‘raki o‘lim uchun sud-tibbiy ekspertiza tayinlanadi.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betlar: 241, 242, 238, 242</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Xulosa: asosiy farqlar va eslab qolish</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Intravital va o'limdan keyingi o'zgarishlarning differentsial diagnostikasi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37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000">
                <a:solidFill>
                  <a:srgbClr val="1F2937"/>
                </a:solidFill>
                <a:latin typeface="Calibri"/>
              </a:rPr>
              <a:t>▸  Murda dog‘i bosilganda yo‘qoladi yoki oqaradi, qontalash o‘zgarmaydi. Xochsimon kesmada dog‘da qon tomchilari, qontalashda ivigan qon bo‘ladi. Diqqat: murda dog‘i ≠ qontalash.</a:t>
            </a:r>
          </a:p>
          <a:p>
            <a:pPr>
              <a:spcAft>
                <a:spcPts val="1200"/>
              </a:spcAft>
            </a:pPr>
            <a:r>
              <a:rPr sz="2000">
                <a:solidFill>
                  <a:srgbClr val="1F2937"/>
                </a:solidFill>
                <a:latin typeface="Calibri"/>
              </a:rPr>
              <a:t>▸  Pergament dog‘ini hayotiy shilinmadan farqlash: 5-10 daqiqa iliq namlangan doka qo‘yiladi. Pergament dog‘i yumshab oqaradi, shilinma o‘zgarmaydi.</a:t>
            </a:r>
          </a:p>
          <a:p>
            <a:pPr>
              <a:spcAft>
                <a:spcPts val="1200"/>
              </a:spcAft>
            </a:pPr>
            <a:r>
              <a:rPr sz="2000">
                <a:solidFill>
                  <a:srgbClr val="1F2937"/>
                </a:solidFill>
                <a:latin typeface="Calibri"/>
              </a:rPr>
              <a:t>▸  Oshqozon shilliq qavati autolizi o‘yuvchi zahar ta’siri, oshqozon osti bezi autolizi esa pankreonekroz deb adashtirilishi mumkin. Farqlash asosan mikroskopik.</a:t>
            </a:r>
          </a:p>
          <a:p>
            <a:pPr>
              <a:spcAft>
                <a:spcPts val="1200"/>
              </a:spcAft>
            </a:pPr>
            <a:r>
              <a:rPr sz="2000">
                <a:solidFill>
                  <a:srgbClr val="1F2937"/>
                </a:solidFill>
                <a:latin typeface="Calibri"/>
              </a:rPr>
              <a:t>▸  Hayvon, qush yetkazgan jarohatni hayotiydan farqlash uchun joy, tish-timoq izlari, tuk, pat va ajratmalar hisobga olinadi.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betlar: 228-229, 225, 229, 233</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Qiziqarli ma’lumotlar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Intravital va o'limdan keyingi o'zgarishlarning differentsial diagnostikasi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38 / 80</a:t>
            </a:r>
          </a:p>
        </p:txBody>
      </p:sp>
      <p:sp>
        <p:nvSpPr>
          <p:cNvPr id="8" name="TextBox 7"/>
          <p:cNvSpPr txBox="1"/>
          <p:nvPr/>
        </p:nvSpPr>
        <p:spPr>
          <a:xfrm>
            <a:off x="640080" y="1463040"/>
            <a:ext cx="10911535" cy="4754880"/>
          </a:xfrm>
          <a:prstGeom prst="rect">
            <a:avLst/>
          </a:prstGeom>
          <a:noFill/>
        </p:spPr>
        <p:txBody>
          <a:bodyPr wrap="square">
            <a:spAutoFit/>
          </a:bodyPr>
          <a:lstStyle/>
          <a:p>
            <a:pPr>
              <a:spcAft>
                <a:spcPts val="1200"/>
              </a:spcAft>
            </a:pPr>
            <a:r>
              <a:rPr sz="1800">
                <a:solidFill>
                  <a:srgbClr val="1F2937"/>
                </a:solidFill>
                <a:latin typeface="Calibri"/>
              </a:rPr>
              <a:t>▸  Eslab qolish: Kasper indeksi 1:2:8 chirish tezligini solishtiradi. Murda havoga nisbatan suvda 2 barobar, yerda 8 barobar sekin chiriydi. Sababi: kislorod kam va harorat past. Tartib: havo, suv, yer.</a:t>
            </a:r>
          </a:p>
          <a:p>
            <a:pPr>
              <a:spcAft>
                <a:spcPts val="1200"/>
              </a:spcAft>
            </a:pPr>
            <a:r>
              <a:rPr sz="1800">
                <a:solidFill>
                  <a:srgbClr val="1F2937"/>
                </a:solidFill>
                <a:latin typeface="Calibri"/>
              </a:rPr>
              <a:t>▸  Amaliy usul: pergament dog‘i hayotiy shilinmadan farqlanadi. Shubhali joyga iliq fiziologik eritmali doka 5-10 daqiqa qo‘yiladi. Pergament dog‘i yumshab oqaradi, hayotiy shilinma o‘zgarmaydi.</a:t>
            </a:r>
          </a:p>
          <a:p>
            <a:pPr>
              <a:spcAft>
                <a:spcPts val="1200"/>
              </a:spcAft>
            </a:pPr>
            <a:r>
              <a:rPr sz="1800">
                <a:solidFill>
                  <a:srgbClr val="1F2937"/>
                </a:solidFill>
                <a:latin typeface="Calibri"/>
              </a:rPr>
              <a:t>▸  Eslab qolish: murda dog‘i bosqichlari bosilganda farqlanadi. Gipostazda dog‘ yo‘qolib tez tiklanadi, stazda oqarib sekin tiklanadi, imbibitsiyada rangi o‘zgarmaydi. Imbibitsiyada yangi joyda dog‘ ham paydo bo‘lmaydi.</a:t>
            </a:r>
          </a:p>
          <a:p>
            <a:pPr>
              <a:spcAft>
                <a:spcPts val="1200"/>
              </a:spcAft>
            </a:pPr>
            <a:r>
              <a:rPr sz="1800">
                <a:solidFill>
                  <a:srgbClr val="1F2937"/>
                </a:solidFill>
                <a:latin typeface="Calibri"/>
              </a:rPr>
              <a:t>▸  Diqqat, xato xavfi: murda dog‘i qontalashdan farq qiladi. Dog‘ning chegarasi noaniq, dog‘lar qo‘shilib ketadi, bosilganda oqaradi. Qontalash aniq chegarali, rangi o‘zgarmaydi. Shubhada xochsimon kesma qilinadi.</a:t>
            </a:r>
          </a:p>
          <a:p>
            <a:pPr>
              <a:spcAft>
                <a:spcPts val="1200"/>
              </a:spcAft>
            </a:pPr>
            <a:r>
              <a:rPr sz="1800">
                <a:solidFill>
                  <a:srgbClr val="1F2937"/>
                </a:solidFill>
                <a:latin typeface="Calibri"/>
              </a:rPr>
              <a:t>▸  Hodisa tahlili: oshqozon shilliq qavatidagi autolitik o‘zgarishlar yanglish tarzda o‘yuvchi zahar ta’siri deb baholanishi mumkin. Autolitik va hayotiy o‘zgarishlar asosan mikroskopik tekshiruvda farqlanadi.</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377440"/>
            <a:ext cx="10911535" cy="1280160"/>
          </a:xfrm>
          <a:prstGeom prst="rect">
            <a:avLst/>
          </a:prstGeom>
          <a:noFill/>
        </p:spPr>
        <p:txBody>
          <a:bodyPr wrap="square" anchor="ctr">
            <a:spAutoFit/>
          </a:bodyPr>
          <a:lstStyle/>
          <a:p>
            <a:r>
              <a:rPr sz="4400" b="1">
                <a:solidFill>
                  <a:srgbClr val="FFFFFF"/>
                </a:solidFill>
                <a:latin typeface="Georgia"/>
              </a:rPr>
              <a:t>Bilimingizni sinang</a:t>
            </a:r>
          </a:p>
        </p:txBody>
      </p:sp>
      <p:sp>
        <p:nvSpPr>
          <p:cNvPr id="4" name="TextBox 3"/>
          <p:cNvSpPr txBox="1"/>
          <p:nvPr/>
        </p:nvSpPr>
        <p:spPr>
          <a:xfrm>
            <a:off x="640080" y="3749039"/>
            <a:ext cx="10911535" cy="548640"/>
          </a:xfrm>
          <a:prstGeom prst="rect">
            <a:avLst/>
          </a:prstGeom>
          <a:noFill/>
        </p:spPr>
        <p:txBody>
          <a:bodyPr wrap="square">
            <a:spAutoFit/>
          </a:bodyPr>
          <a:lstStyle/>
          <a:p>
            <a:r>
              <a:rPr sz="2200" b="0">
                <a:solidFill>
                  <a:srgbClr val="C9A227"/>
                </a:solidFill>
                <a:latin typeface="Calibri"/>
              </a:rPr>
              <a:t>20 ta test savoli</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Intravital va o'limdan keyingi o'zgarishlarning differentsial diagnostikasi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40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Bemorda nafas to‘satdan to‘xtadi, yurak faoliyati keskin buzildi, qorachiqlar kengayib nurga reaksiya bermayapti. Holat taxminan 3 daqiqa davom etdi. Bu qaysi bosqich?</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Preagoniya bosqichi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Terminal pauza bosqichi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Agoniya bosqichi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Klinik o‘lim bosqichi</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2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Intravital va o'limdan keyingi o'zgarishlarning differentsial diagnostikasi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41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Reanimatologga yurak urishi to‘xtaganiga 4 daqiqa bo‘lgan, tana harorati odatdagidek bemor keltirildi. Bu holat qaysi bosqichga mos keladi?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Klinik o‘lim bosqichi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Biologik o‘lim bosqichi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Terminal pauza bosqichi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Agoniya bosqichi</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3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Intravital va o'limdan keyingi o'zgarishlarning differentsial diagnostikasi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42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Vrach og‘riqni kamaytirish maqsadida og‘riq qoldiruvchi preparatni katta dozada yubordi. O‘limni tezlashtirish niyati bo‘lmagan, ammo bemor vafot etdi. Bu qaysi evtanaziya turiga mos?</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Bevosita aktiv evtanaziya</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Passiv evtanaziya turi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Distanaziya muolajasi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Bilvosita aktiv evtanaziya</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4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Intravital va o'limdan keyingi o'zgarishlarning differentsial diagnostikasi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43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O‘limning xili (qotillik, o‘z-o‘zini o‘ldirish, baxtsiz hodisa)ni aniqlash kimning vakolatiga kiradi?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Sud-tibbiy ekspert</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Davolovchi shifokor</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Huquqni muhofaza idoralari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Sog‘liqni saqlash vazirligi</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5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Intravital va o'limdan keyingi o'zgarishlarning differentsial diagnostikasi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44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Murda ko‘zi tekshirilganda, ko‘z olmasi yon tomonlardan siqilganda qorachiq ovalsimon shaklga kirdi. Bu qaysi o‘lim belgisi?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Beloglazov simptomi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Lyarshe dog‘i belgisi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Facies hippocratica</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Idiomuskulyar o‘sma</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6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Intravital va o'limdan keyingi o'zgarishlarning differentsial diagnostikasi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45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Xonada topilgan murdada qo‘ltiq osti harorati tashqi muhit harorati bilan tenglashgan. O‘limdan taxminan qancha vaqt o‘tgan?</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Taxminan 8 soat o‘tgan</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Taxminan 16 soat o‘tgan</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Taxminan 19 soat o‘tgan</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Taxminan 25 soat o‘tgan</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7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Intravital va o'limdan keyingi o'zgarishlarning differentsial diagnostikasi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46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Ko‘zi ochiq, yuzi tepaga qarab yotgan murdada shox pardaning ikki yonida uchburchak shaklli qo‘ng‘ir-jigar rang dog‘ topildi. Bu qaysi o‘zgarishga xos?</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Gipostaz bosqichidagi murda dog‘iga</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Chirish venoz to‘riga</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Murdaning qurishiga (Lyarshe dog‘i)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Oshqozon shilliq qavati autolizi</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8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Intravital va o'limdan keyingi o'zgarishlarning differentsial diagnostikasi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47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Murdaning tashqi ko‘zdan kechirishida shubhali sohaga iliq fiziologik eritmali doka 5-10 daqiqa qo‘yildi. Soha yumshab, oqardi. Bu nimani bildiradi?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Hayotiy shilinma ekanini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Chirish pufagi ekanini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Qontalashga xos ekanini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Pergament dog‘i ekanini</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9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Intravital va o'limdan keyingi o'zgarishlarning differentsial diagnostikasi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48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Hozirgi davrda ko‘pchilik mutaxassislar murda qotishining asosiy mexanizmini nima bilan bog‘laydi?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Adenozinuchfosfat kislotasining (AUF) kamayishi bilan</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Mushak oqsilining koagulyasiyasi bilan</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Nerv tizimining o‘limi bilan</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Mushaklarning degidratatsiyasi bilan</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10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Intravital va o'limdan keyingi o'zgarishlarning differentsial diagnostikasi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49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Murdada yuz va oyoqlarda qotish aniq, qo‘llarda esa sust yoki umuman yo‘q. Ekspert bundan qanday xulosa chiqaradi?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Kataleptik qotish rivojlangan</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O‘limdan keyin murdaga tegilgan, holati o‘zgartirilgan</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Murda qotishi me’yorida rivojlangan</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O‘lim ko‘p qon yo‘qotishdan bo‘lgan</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11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Intravital va o'limdan keyingi o'zgarishlarning differentsial diagnostikasi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50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Murdada dog‘lar bosilganda to‘liq yo‘qolmay, faqat oqarib, sekin rangini tiklamoqda. Bu qaysi bosqich?</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Gipostaz bosqichi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Staz bosqichi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Imbibitsiya bosqichi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Autoliz bosqichi</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12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Intravital va o'limdan keyingi o'zgarishlarning differentsial diagnostikasi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51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Shubhali sohada xochsimon kesma qilinganda to‘qimalarga quyilgan va ivigan qon topildi. Bu nimani bildiradi?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Qontalash, ya’ni hayotiy shikast</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Gipostaz bosqichidagi murda dog‘i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Imbibitsiya bosqichidagi murda dog‘i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Terining pergament dog‘i</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13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Intravital va o'limdan keyingi o'zgarishlarning differentsial diagnostikasi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52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O‘limdan bir sutka o‘tgan murdada oshqozon shilliq qavati yemirilgan. Ekspert qanday xatoga yo‘l qo‘yishi mumkin?</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Uni yurak mushaklarining qotishi deb baholash</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Uni chirish venoz to‘ri belgisi deb baholash</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Uni o‘yuvchi zaharlar ta’siri deb baholash</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Uni terining pergament dog‘i deb baholash</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14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Intravital va o'limdan keyingi o'zgarishlarning differentsial diagnostikasi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53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Rak bilan kaxeksiyaga uchragan bemor murdasida emfizema va chirish pufakchalari yo‘q. Chirishning qaysi tipi rivojlangan?</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Gazli tip</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Nam tip</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Aralash tip</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Quruq tip</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15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Intravital va o'limdan keyingi o'zgarishlarning differentsial diagnostikasi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54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Murda suvli, havosi kam, nisbatan sovuq muhitda yotgan. Chirish to‘xtagan, to‘qimalar kul rangli amorf massaga aylangan. Bu qaysi o‘zgarish?</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Mumifikatsiya</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Yog‘-mo‘m (sovunlanish)</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Torfli oshlash</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Murda emfizemasi</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16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Intravital va o'limdan keyingi o'zgarishlarning differentsial diagnostikasi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55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Qidiruvda murda tuproqqa ko‘milgan holda topildi. Kasper indeksiga ko‘ra chirish havodagiga nisbatan qanday kechadi?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Taxminan ikki barobar sekin kechadi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Taxminan to‘rt barobar sekin kechadi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Taxminan sakkiz barobar sekin kechadi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Taxminan bir xil tezlikda kechadi</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17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Intravital va o'limdan keyingi o'zgarishlarning differentsial diagnostikasi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56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Ekspert hodisa joyida murdaning rektal haroratini o‘lchadi. O‘lim muddatini sovush darajasi bo‘yicha aniqlash uchun u qanday ish tutishi kerak?</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Haroratni kamida ikki marta, vaqt oralig‘ida o‘lchaydi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Haroratni bir marta o‘lchab, jadvaldan foydalanadi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Haroratni faqat teri sathini ushlab ko‘rib baholaydi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Haroratni faqat og‘iz bo‘shlig‘ida o‘lchab hisoblaydi</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18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Intravital va o'limdan keyingi o'zgarishlarning differentsial diagnostikasi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57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Murda dog‘lari barmoq bilan bosilganda to‘liq yo‘qolmaydi, faqat oqaradi va sekin rangini tiklaydi. Bu qaysi bosqichga xos?</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Gipostaz bosqichiga xos</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Staz bosqichiga xos</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Imbibitsiya bosqichiga xos</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Kech chirish bosqichiga xos</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19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Intravital va o'limdan keyingi o'zgarishlarning differentsial diagnostikasi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58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Oshqozon yara kasalligi perforatsiya bilan asoratlandi, peritonit rivojlandi va sepsisdan o‘lim sodir bo‘ldi. Qaysi biri o‘limning yaqin sababi hisoblanadi?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Oshqozon yara kasalligining o‘zi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Oshqozon devorining perforatsiyasi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Peritonitning rivojlanishi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Sepsisdan o‘limning kelishi</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20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Intravital va o'limdan keyingi o'zgarishlarning differentsial diagnostikasi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59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Davolash muassasasida bemor vafot etdi, zo‘rakilik shubhasi yo‘q. Patologo-anatomik tekshiruv kimning ko‘rsatmasi bo‘yicha o‘tkaziladi?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Marhumning yaqin qarindoshi yozgan ariza bo‘yicha</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Davolash muassasasi rahbari yoki uning muovinining ko‘rsatmasi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Surishtiruvchi yoki tergovchining chiqargan qarori bo‘yicha</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Sud chiqargan ajrim yoki qaror asosida</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Intravital va o'limdan keyingi o'zgarishlarning differentsial diagnostikasi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60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B. Terminal pauza bosqichi</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Terminal pauzada nafas to‘satdan to‘xtaydi, yurak faoliyati keskin buziladi, qorachiqlar kengayadi va refleksler so‘nadi. Bu bosqich bir necha soniyadan 3-4 daqiqagacha davom etadi. Preagoniyada nafas hali to‘xtamaydi. Agoniyada nafas tiklanadi. Klinik o‘lim esa yurak urishi to‘xtagandan keyin boshlanadi.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217-bet</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2: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Intravital va o'limdan keyingi o'zgarishlarning differentsial diagnostikasi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61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A. Klinik o‘lim bosqichi</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Klinik o‘lim yurak urishi to‘xtagandan keyin boshlanadi. Odatdagi sharoitda u 5-6 daqiqagacha davom etadi va funksiyalarni tiklash imkoniyati saqlanadi. Biologik o‘limda tiklab bo‘lmaydigan o‘zgarishlar allaqachon sodir bo‘lgan. Terminal pauza va agoniya yurak to‘xtashidan oldingi bosqichlardir.</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218-bet</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3: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Intravital va o'limdan keyingi o'zgarishlarning differentsial diagnostikasi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62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D. Bilvosita aktiv evtanaziya</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Bilvosita aktiv evtanaziyada o‘limni tezlashtirish maqsadi bo‘lmaydi. O‘lim ehtiyotsizlik orqasida odam o‘ldirish yoki baxtsiz hodisa sifatida baholanadi. Bevosita aktiv evtanaziyada esa harakat aynan o‘limni tezlashtirishga qaratilgan bo‘ladi. Passiv turda tibbiy yordam cheklanadi. Distanaziya hayotni maksimal uzaytirishni bildiradi.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218-219-bet</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4: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Intravital va o'limdan keyingi o'zgarishlarning differentsial diagnostikasi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63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C. Huquqni muhofaza idoralari</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O‘limning xilini aniqlash huquqni muhofaza etuvchi idoralar xodimlarining vakolatiga kiradi, chunki bunda asosiy masala qasd mavjudligini aniqlashdir. Sud-tibbiy ekspertlar o‘limning toifasi va turini aniqlaydi.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221-bet</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5: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Intravital va o'limdan keyingi o'zgarishlarning differentsial diagnostikasi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64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A. Beloglazov simptomi</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Beloglazov simptomi (“mushuk ko‘zi”) o‘limning eng erta ishonchli belgisidir. U 15-20 daqiqadan so‘ng aniqlanadi. Qorachiq ovalsimon shaklni oladi. Lyarshe dog‘i qurish belgisidir. Facies hippocratica o‘layotgan odam yuzining o‘zgarishidir. Idiomuskulyar o‘sma esa supravital reaksiyadir.</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220-bet</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6: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Intravital va o'limdan keyingi o'zgarishlarning differentsial diagnostikasi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65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B. Taxminan 16 soat o‘tgan</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Xona sharoitida qo‘ltiq ostidagi harorat tashqi muhit bilan 16 soatdan keyin tenglashadi. To‘g‘ri ichakda bu 19 soatdan, jigarda 25 soatdan keyin bo‘ladi. Shuning uchun 19 va 25 soat variantlari boshqa sohalarga tegishli.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224-bet</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7: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Intravital va o'limdan keyingi o'zgarishlarning differentsial diagnostikasi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66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C. Murdaning qurishiga (Lyarshe dog‘i)</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Murda qurishining ilk belgilari ko‘z shox pardasi va kon’yunktivasida paydo bo‘ladi. O‘limdan 4-5 soatda shox pardaning ikki yonida uchburchak yoki yo‘lkasimon qo‘ng‘ir-jigar rang Lyarshe dog‘i aniqlanadi.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225-bet</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8: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Intravital va o'limdan keyingi o'zgarishlarning differentsial diagnostikasi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67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D. Pergament dog‘i ekanini</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Iliq eritma yoki suvli doka qo‘yilganda pergament dog‘lari biroz yumshaydi va oqaradi. Hayotiy shilinmalar esa o‘zgarmaydi.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225-bet</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9: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Intravital va o'limdan keyingi o'zgarishlarning differentsial diagnostikasi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68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A. Adenozinuchfosfat kislotasining (AUF) kamayishi bilan</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Ko‘pchilik murda qotishini AUF parchalanishi va miqdorining kamayishi bilan bog‘laydi. Oqsil koagulyasiyasi, gidratatsiya yoki degidratatsiya, nerv tizimining o‘limi va parabioz esa ilgari ilgari surilgan tushuntirishlardir.</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225-bet</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10: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Intravital va o'limdan keyingi o'zgarishlarning differentsial diagnostikasi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69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B. O‘limdan keyin murdaga tegilgan, holati o‘zgartirilgan</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Dastlabki soatlarda buzilgan qotish kuchsizroq tiklanadi, keyinroq esa tiklanmaydi. Yuz va oyoqlarda qotish bor-u, qo‘llarda sust yoki yo‘q bo‘lishi murdaga o‘limdan so‘ng tegilganini yoki holati o‘zgartirilganini ko‘rsatadi.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226-bet</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11: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Intravital va o'limdan keyingi o'zgarishlarning differentsial diagnostikasi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70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B. Staz bosqichi</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Staz bosqichi o‘limdan 12–24 soat o‘tgach kuzatiladi. Qon quyuqlashgani uchun dog‘lar bosilganda to‘liq yo‘qolmaydi, faqat oqaradi va sekin tiklanadi. Gipostazda dog‘ bosilganda yo‘qolib, tezda tiklanadi. Imbibitsiyada esa bosilganda rang o‘zgarmaydi.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227-228-bet</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12: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Intravital va o'limdan keyingi o'zgarishlarning differentsial diagnostikasi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71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A. Qontalash, ya’ni hayotiy shikast</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Qontalashda to‘qimalarga quyilgan va ivigan qon topiladi. Murda dog‘ida qon tomchilari yoki imbibitsiyada qon singgan teri osti yog‘ to‘qimasi aniqlanadi.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228-229-bet</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13: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Intravital va o'limdan keyingi o'zgarishlarning differentsial diagnostikasi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72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C. Uni o‘yuvchi zaharlar ta’siri deb baholash</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Autoliz fermentlar ta’sirida to‘qimalarning o‘z-o‘zini hazm qilishidir. Oshqozon shilliq qavatidagi autolitik o‘zgarishlar xato ravishda o‘yuvchi zaharlar ta’siri deb baholanishi mumkin. Autolitik va hayotiy o‘zgarishlar asosan mikroskopik tekshiruv bilan farqlanadi.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229-bet</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14: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Intravital va o'limdan keyingi o'zgarishlarning differentsial diagnostikasi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73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D. Quruq tip</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O‘ta holsizlanish va kaxeksiya bilan kechadigan kasalliklarda (rak, tuberkulez) chirishning quruq tipi rivojlanadi. Bunda murda emfizemasi ham, chirish pufakchalari ham bo‘lmaydi. Gazli tip septik asoratlarda, nam tip suyuqlik to‘planadigan kasalliklarda uchraydi.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231-bet</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15: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Intravital va o'limdan keyingi o'zgarishlarning differentsial diagnostikasi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74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B. Yog‘-mo‘m (sovunlanish)</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Yog‘-mo‘m suvli yoki nam, havosiz yoki havosi juda kam, nisbatan sovuq sharoitda rivojlanadi. Yog‘ gidrolizlanib sovunga aylanadi, chirish esa to‘xtaydi. Mumifikatsiya issiq, quruq, shamollatiladigan joyda hosil bo‘ladi.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234-bet</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16: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Intravital va o'limdan keyingi o'zgarishlarning differentsial diagnostikasi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75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C. Taxminan sakkiz barobar sekin kechadi</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Kasper indeksi 1:2:8 bo‘lib, murda havoga nisbatan suvda 2 barobar, yerda 8 barobar sekin chiriydi. Sababi: yerda kislorod kam va harorat past. ‘Ikki barobar’ varianti suvga tegishli, shuning uchun u chalg‘ituvchi.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229-bet</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17: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Intravital va o'limdan keyingi o'zgarishlarning differentsial diagnostikasi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76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A. Haroratni kamida ikki marta, vaqt oralig‘ida o‘lchaydi</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Rektal termometriya vaqt oralig‘ida kamida ikki marta o‘tkaziladi. Muddat vaqt birligidagi sovush darajasiga qarab aniqlanadi. Bir martalik o‘lchov sovush tezligini ko‘rsatmaydi.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236-bet</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18: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Intravital va o'limdan keyingi o'zgarishlarning differentsial diagnostikasi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77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B. Staz bosqichiga xos</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Staz bosqichi o‘limdan 12–24 soat oralig‘ida bo‘ladi. Dog‘lar bosilganda oqaradi va sekin tiklanadi. Gipostazda dog‘lar yo‘qolib tezda tiklanadi, imbibitsiyada esa bosilganda rangi o‘zgarmaydi.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227-228-bet</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19: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Intravital va o'limdan keyingi o'zgarishlarning differentsial diagnostikasi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78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D. Sepsisdan o‘limning kelishi</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Tanatogenez zanjirida oxirgi bo‘g‘in yaqin sabab bo‘ladi, bu holda sepsis. Yara kasalligi uzoq sabab, perforatsiya va peritonit esa oraliq sabablardir.</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241-bet</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20: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Intravital va o'limdan keyingi o'zgarishlarning differentsial diagnostikasi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79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B. Davolash muassasasi rahbari yoki uning muovinining ko‘rsatmasi</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Patologo-anatomik tekshiruv muassasa rahbari yoki uning muovinining ko‘rsatmasi bilan o‘tkaziladi. Sud-tibbiy ekspertiza esa surishtiruvchi, tergovchi qarori yoki sud ajrimi asosida o‘tkaziladi.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245-bet</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Foydalanilgan manbalar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Intravital va o'limdan keyingi o'zgarishlarning differentsial diagnostikasi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80 / 80</a:t>
            </a:r>
          </a:p>
        </p:txBody>
      </p:sp>
      <p:sp>
        <p:nvSpPr>
          <p:cNvPr id="8" name="TextBox 7"/>
          <p:cNvSpPr txBox="1"/>
          <p:nvPr/>
        </p:nvSpPr>
        <p:spPr>
          <a:xfrm>
            <a:off x="640080" y="1463040"/>
            <a:ext cx="10911535" cy="4572000"/>
          </a:xfrm>
          <a:prstGeom prst="rect">
            <a:avLst/>
          </a:prstGeom>
          <a:noFill/>
        </p:spPr>
        <p:txBody>
          <a:bodyPr wrap="square">
            <a:spAutoFit/>
          </a:bodyPr>
          <a:lstStyle/>
          <a:p>
            <a:pPr>
              <a:spcAft>
                <a:spcPts val="1200"/>
              </a:spcAft>
            </a:pPr>
            <a:r>
              <a:rPr sz="2000">
                <a:solidFill>
                  <a:srgbClr val="1F2937"/>
                </a:solidFill>
                <a:latin typeface="Calibri"/>
              </a:rPr>
              <a:t>▸  G‘iyosov Z.A. Sud tibbiyoti (Tibbiyot oliy o‘quv yurtlari talabalari uchun darslik), Toshkent: Global Books nashriyoti. 2018. Bob 8 «Sud-tibbiy tanatologiya», 8.1-8.13-bo‘limlar, kitob beti 217-246 (3-qism, PDF-bet 55-84) (qisman mos)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