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murda dog‘i bilan qontalashni adashtirish xavfli? 2) Fuqarolar bunday xatoga qanday oqibatlarga olib kelishi mumkin? Doskada: ikki ustunli ‘Hayotiy | O‘limdan keyingi’ bo‘sh jadval chizing, dars davomida to‘ldiring. Tipik xato: murdadagi har bir o‘zgarishni jarohat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Umumiy va xususiy tanatologiya farqi nimada? 2) Sud-tibbiy tanatologiyaning amaliy maqsadi nima? Doskada: ‘tanatologiya’ so‘zini thanatos + logos qismlariga ajrating. Tipik xato: sud-tibbiy tanatologiyani faqat murdani ochish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Agoniyani nega ‘hayotga qaytish uchun so‘nggi urinish’ deyishadi? 2) Klinik o‘limda hayotga qaytarish nega mumkin? Doskada: 5 bosqichli zanjirni chizib, har biriga bittadan asosiy belgi yozing. Tipik xato: klinik o‘lim bilan biologik o‘limni aralashtirish (klinik o‘lim qaytar, biologik o‘lim qaytmas).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klinik o‘lim sovuqda uzayadi? 2) Qaysi tipda o‘lim sababi tez sodir bo‘ladi? Doskada: jadvalni chizing va har tipga o‘z misolingizni qo‘shing. Tipik xato: klinik o‘limni biologik o‘lim bilan aralashtirish yoki agoniyani bevosita o‘lim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Bevosita va bilvosita aktiv evtanaziya farqi nimada? 2) Passiv evtanaziya nega huquqiy javobgarlikka olib kelishi mumkin? Doskada: to‘rt turning o‘zaro farqini 2x2 sxema ko‘rinishida chizing. Tipik xato: medikotanaziya va distanaziyani o‘limni tezlashtiruvchi usul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preagoniya, terminal pauza, agoniya (facies hippocratica), keyin klinik o‘lim, bunda tiklash imkoniyati bor. Muhokama: 1) Agoniyada nafas va bosim nega vaqtincha tiklanadi? 2) Qaysi belgi terminal pauzani preagoniyadan ajratadi? Doskada: to‘rt bosqichni vaqt chizig‘i ko‘rinishida belgilang. Tipik xato: agoniyani tuzalish boshlanishi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darhol aniqlangan belgilar o‘lim uchun ishonchli emas? 2) Beloglazov simptomi nega 1,5-2 soatdan keyin bilinmay qolishi mumkin? Doskada: ehtimoliy va ishonchli belgilar ikki ustunini chizdiring. Diqqat: dastlabki belgi ≠ ishonchli belgi. Tipik xato: tana sovushini darhol ishonchli belgi deb hisoblash; ishonchli belgi bo‘lib 23 °S va undan past harorat sanaladi. Miya o‘limi kasalxonada reanimatolog va nevrolog tomonidan belgilangan tartibda aniqlanadi (220-bet).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xilni aniqlash ekspertga emas, huquqni muhofaza idoralariga tegishli? 2) Nozo‘raki o‘limda nega xil emas, tur kasallik bo‘yicha ajratiladi? Doskada: toifa-xil-tur shajarasini chizdiring. Diqqat: toifa ≠ xil (toifa: zo‘raki/nozo‘raki; xil: qotillik va h.k.). Tipik xato: talabalar xilni ham ekspert aniqlaydi deb o‘ylaydi; asosi qasd mavjudligini aniqlashdir (221-bet).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mushak javobi vaqt o‘tgan sari qisqarishdan shishga o‘tadi? 2) Bu reaksiyalar o‘lim muddatini aniqlashda nimaga yordam beradi? Doskada: mexanik va elektr reaksiyalar vaqt chizig‘ini chizdiring. Tipik xato: supravital reaksiyani hayot belgisi deb o‘ylash; bu miya o‘limidan keyingi to‘qima javobidir. Ko‘pincha tekshiruv yelka mushaklarida, nevrologik bolg‘acha bandi yoki metall chizg‘ich bilan o‘tkaziladi (222-bet).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dastlabki belgilar ishonchli emas? 2) 1,5-2 soatdan keyin Beloglazov simptomi nega aniqlanmasligi mumkin (qorachiq mushaklarining qotishi)? Doskada ikki ustunli jadval chizdiring: «ehtimoliy» va «ishonchli» belgilar. Ishonchli belgilarga murda dog‘lari, qotishi, qurishi hamda tana haroratining 23 gradusgacha va undan pastroq sovushi ham kiradi. Tipik xato: sovigan va harakatsiz tanani darhol «ishonchli o‘lim» deb baholash. Qo‘shimcha: supravital reaksiya (o‘limdan keyingi 1-2 soatda mexanik ta’sirga mushak qisqarishi) o‘lim muddatini aniqlashda ishlatiladi.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 og‘zaki so‘raladi. Javoblar: 1) preagoniya, terminal pauza, agoniya, klinik o‘lim, biologik o‘lim. 2) Odatda 5-6 daqiqa; keyin bosh miya po‘stlog‘ida tiklab bo‘lmaydigan o‘zgarishlar rivojlanadi. 3) Aktiv evtanaziya harakat bilan o‘limni tezlashtiradi, passiv (ortotanaziya) tibbiy yordamni cheklash yoki to‘xtatish bilan. 4) Toifa va turni ekspert, xilni (qasd borligi asosida) huquqni muhofaza idoralari aniqlaydi. Muhokama: nega o‘lim xilini ekspert emas, tergov aniqlaydi? Doskada: toifa → xil → tur sxemasi. Tipik xato: toifa bilan xilni aralashtirish, masalan «qotillik» ni toifa deb yozish. Diqqat: zo‘raki ≠ nozo‘raki; nozo‘raki o‘lim xilga bo‘linmaydi.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Autoliz nega ilk o‘zgarishlar qatoriga kiradi, chirishdan nimasi bilan farq qiladi? 2) Sun’iy o‘zgarishlar nega o‘lim muddatini aniqlashda ishonchli emas? Doskada tasnif daraxtini chizdiring: tabiiy/sun’iy → ilk/kech → yemiruvchi/saqlovchi. Diqqat: autoliz (o‘z-o‘zini hazm qilish, hujayra fermentlari) ≠ chirish (mikroorganizmlar ta’siri). Tipik xato: mumifikatsiya va yog‘-mo‘mni yemiruvchi o‘zgarishlar deb hisoblash, aslida ular saqlovchi hisoblanadi. Sun’iy o‘zgarishlar ham yemiruvchi (qismlash, yoqish, eritish) va saqlovchi (balzamlash, muzlatish) bo‘ladi.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jigar va to‘g‘ri ichak qo‘ltiq ostiga qaraganda kech tenglashadi? Dastlabki soatlarda harorat ba’zan bir necha gradusga ko‘tarilishi mumkin (ayrim yuqumli kasalliklar, kalla-miya jarohati, agonal davrda termoregulyatsiya buzilishi) — buni talabalarga aytib o‘ting. Doskada: tana harorati va vaqt bo‘yicha sovush egri chizig‘ini chizdiring. Tipik xato: 1°S/soat qoidasini aniq qonun deb qabul qilish; u faqat xona sharoiti uchun taxminiy qiymat.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qurish alomatlari avval ko‘z shox pardasi va lablarda ko‘rinadi? Qurish sovush bilan qanday bog‘liq? Doskada: ko‘z va kon’yunktivaning sxematik chizmasini chizib, Lyarshe dog‘ining joyini belgilang. Tipik xato: qurish natijasida teri tortilishini soch-timoq o‘sishi deb talqin qilish; shuningdek Lyarshe dog‘ini hayotiy jarohat deb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hayotiy shilinma ho‘llangan dokadan keyin o‘zgarmaydi, pergament dog‘i esa yumshaydi? Pergament dog‘i shikastlanmagan, shox qavati yupqa joylarda (lab qizil hoshiyasi, moyak terisi, jinsiy olat boshchasi) ham paydo bo‘lishi mumkin. Doskada: sinama bosqichlarini (doka — 5-10 daq — natija) zanjir shaklida chizdiring. Tipik xato: sinamani yagona va yakuniy dalil deb hisoblash; manbada jarohat hayotiyligini aniqlashning boshqa usullari ham qo‘llanishi aytilgan.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nega AUF kamayganda mushak qotadi, AUF resintezida esa bo‘shashadi? Doskada: vaqt chizig‘ini (1-3 soat – 24 soat – 3-7 kun) va qotishning yuqoridan pastga yo‘nalishini chizdiring. Tipik xato: murda qotishi ‘o‘limdan darhol paydo bo‘ladi’ deb o‘ylash; aslida rivojlanadi, lekin 1-3 soatdan keyin aniqlanadi.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nega sportchilarda qotish tez va kuchli, keksalarda sust? Buzilgan qotish tiklanmasligi ekspertizada nimaga xizmat qiladi? Doskada: ‘tez’ va ‘sust’ ustunli ikki ustunli ro‘yxat tuzdiring. Tipik xato: kataleptik qotishni oddiy qotish bilan adashtirish; kataleptikda qotish darhol va barcha mushaklarda bo‘ladi.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avval javobsiz o‘qing, talabalar yozma javob bersin, so‘ng tekshiring. Muhokama: pergament dog‘ini shilinmadan farqlash nega muhim? Doskada: namlangan doka sinovining natijasini ikki ustunda (pergament / shilinma) yozdiring. Tipik xato: Lyarshe dog‘ini qontalash deb baholash; u ko‘z qurishi belgisi.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gipostazda dog‘ bosilganda yo‘qoladi? 2) Imbibitsiyada gemoglobin qayerga singadi? Doskada: tananing orqa yuzasida dog‘lar chizilib, bosqichlar ketma-ketligi strelka bilan ko‘rsatilsin. Tipik xato: bosqich vaqtlarini qat’iy chegara deb o‘ylash. Diqqat: gipostaz (dog‘ ko‘chadi) ≠ imbibitsiya (dog‘ ko‘chmaydi). Qo‘shimcha: staz boshida dog‘ butkul yo‘qolmaydi, yangi sohada qisman paydo bo‘ladi.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Fuqaro ‘qontalash’ deb shikoyat qilsa, shifokor qanday tekshiradi? 2) Nega xochsimon kesma hal qiluvchi? Doskada: ikki ustunli solishtirish jadvalini talabalar bilan to‘ldiring. Tipik xato: bosilganda rang o‘zgarishini imbibitsiya bosqichida ham kutish. Diqqat: murda dog‘i ≠ qontalash. Imbibitsiyada dog‘ bosilganda o‘zgarmaydi, shuning uchun kesma kerak. Tezkor savol: qaysi belgi dog‘ni qontalashdan ishonchli ajratadi?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oshqozon shilliq qavati autolizi o‘yuvchi zaharga o‘xshab ketadi? 2) Nega pankreonekrozni faqat makroskopiyaga qarab aytib bo‘lmaydi? Doskada: autoliz zanjirini chizing: ferment faolligi saqlanadi, o‘z-o‘zini hazm qilish, shilliq qavat o‘zgarishi, xato xulosa xavfi. Tipik xato: murdadagi har bir shilliq qavat o‘zgarishini hayotiy kuyish deb baholash. Diqqat: autolitik o‘zgarish ≠ hayotiy o‘zgarish. Autoliz o‘limdan keyin birinchi kunda boshlanadi.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ayrim fuqarolar murda dog‘ini qontalash deb xato baholaydi? 2) Doka usuli nima uchun shifokorga qulay? Doskada chizish: ikki ustunli solishtirish (murda dog‘i va qontalash: chegarasi, bosilganda, kesmada). Tipik xato: talabalar pergament dog‘ini hayotiy shilinma deb o‘ylaydi; bunda dokali sinov farqlashga yordam berishini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murda suvda 2, yerda 8 barobar sekin chiriydi? 2) Murda yashili nega aynan o‘ng yonbosh sohada boshlanadi deb o‘ylaysiz? Doskada chizish: 1:2:8 nisbatini havo, suv, yer ustunlari ko‘rinishida. Tipik xato: murda yashili va venoz to‘rni bir belgi deb aralashtirish; birinchisi 2-kunda yashil tus, ikkinchisi 3-4-kunda venalar proeksiyasidagi to‘r.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kaxeksiyada emfizema va pufakchalar bo‘lmaydi? 2) Skeletlanish muddati dafn sharoitiga qanday bog‘liq? Doskada chizish: vaqt chizig‘i (2-hafta, 3-oy, 6-oy). Tipik xato: gazli va nam tipni almashtirib yuborish; gazli tip infeksiyada, nam tip suyuqlik to‘planadigan kasalliklarda uchraydi.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hasharotlar o‘lim muddatini aniqlashga yordam beradi, hayvonlar esa yordam bermaydi? 2) Murda topilgan joyda hasharotlarni qanday yig‘ib saqlash kerak (etil efiri yoki formalin, p.238)? Doskada chizing: pashsha tuxumi → lichinka → qo‘g‘irchoq → etuk pashsha zanjiri. Tipik xato: hayvon yemirgan jarohatni hayotiy jarohat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Tanqidiy muhokama: hayotning oxirgi daqiqalaridagi va o‘limdan keyingi jarohat ko‘rinishi bir xil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bir xil murdada qisman mumifikatsiya bo‘lishi mumkin (dafn etilgan murdaning qabrdan chiqib qolgan qo‘li)? 2) Defenziv va offenziv qismlashni qanday farqlaysiz? Doskada chizing: uchta saqlovchi o‘zgarishning sharoit-natija jadvalini. Tipik xato: yog‘-mo‘mni mumifikatsiya bilan aralashtirish; birida muhit quruq, ikkinchisida nam.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Xuddi shu murda issiq, quruq, shamollatiladigan joyda topilganda qanday o‘zgarish kutilardi? 2) Nega suvda chirish sekin kechadi (kislorod kam, harorat past)? Doskada chizing: sharoit (issiq-quruq / nam-sovuq / torfli botqoq) → o‘zgarish turi strelkalari. Tipik xato: muhit sharoitini hisobga olmay, faqat tashqi ko‘rinishga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bittadan bering, javobni slayddan ochishdan oldin so‘rang. Muhokama: nega suvda chirish sekinroq, yog‘-mo‘m va mumifikatsiya sharoitlari qanday farqlanadi? Doskada jadval chizdiring: mumifikatsiya va yog‘-mo‘m uchun harorat, namlik, havo. Tipik xato: mumifikatsiyani yog‘-mo‘m bilan aralashtirish (quruq muhit va nam muhit) hamda autolizni chirish bilan bir deb o‘ylash (autoliz fermentlar ta’sirida, chirish mikroblar ta’sirida).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nega ikki marta o‘lchash kerak? Nega rektal haroratni aniqroq usul deymiz? Doskada: misoldagi ikki o‘lchovdan sovush tezligini (°S/soat) hisoblang va jadval bilan solishtiring. Formulalarning mualliflari (Fiddes–Patten, Burmann) matnda sxema ostida berilgan; kitobda tartib aniq ko‘rinmaydi, shuning uchun ehtiyot bo‘ling. Tipik xato: formuladagi t va T belgilarini almashtirish; bitta usul natijasini yakuniy deb qabul qilish.</a:t>
            </a:r>
          </a:p>
          <a:p/>
          <a:p>
            <a:r>
              <a:t>Tekshirish kerak (manbada noaniq):</a:t>
            </a:r>
          </a:p>
          <a:p>
            <a:r>
              <a:t>- Rektal harorat kamida ikki marta o‘lchanadi. Formulalar: t = 2/3·(36,8 − T) va t = (36,9 − T)/0,889 (t — soat, T — harorat).</a:t>
            </a:r>
          </a:p>
          <a:p>
            <a:r>
              <a:t>- Kitob xulosasi: o‘lim soat 10 dan 7–7,5 soat oldin sodir bo‘lgan. Hisob tafsiloti matnda aniq emas.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Namuna: 13,2–18,8 soat oldin (95%).</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Simpson: bu tasvir haqiqiy ishlarda ishlatilmasligi kerak (o‘quv maqsadida).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vaqt o‘tgan sari aniqlik pasayadi? Hasharotlarni to‘plab, etil efiri yoki formalinda konservatsiya qilishning ahamiyati nimada? Doskada: aniqlik oralig‘i bo‘yicha vaqt chizig‘i chizing (1–2 kun, kech o‘zgarishlar, skelet). Tipik xato: bitta belgi (masalan, faqat dog‘ rangi) asosida muddatni aniq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Manba: Simpson, 5-bob, 50 va 53-betlar.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diagnozda uzoq sabab birinchi yoziladi? 2) Kalla-miya jarohati olgan shaxs suvga tashlansa, qaysi sabablar raqobatlashadi? Doskada: ko‘krakning sanchma-kesma jarohati – gemoperikard – yurakning siqilishi zanjirini chizdiring. Tipik xato: oraliq sabab bilan yaqin sababni aralashtirish; masalan, sepsis yaqin sabab, peritonit esa oraliq. Diqqat: uzoq sabablar raqobati ≠ oraliq/yaqin sabablar raqobati.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Qo‘shimcha laboratoriya natijalari nega tanqidiy baholanadi? 2) Chirish ekspertizaga monelik qiladimi? Doskada: olti bosqichni zanjir qilib chizdiring. Tipik xato: laboratoriya natijalarini asosiy tekshiruvdan ustun qo‘yish; darslikda ular qo‘shimcha va qat’iy kuchga ega emas deyiladi.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Qismlangan murdada ekspertiza oldiga qanday savollar qo‘yiladi? 2) Skelet tekshiruvida nima aniqlanadi, nima aniqlanmaydi? Doskada: shaxsni aniqlash bosqichlarini (tashqi belgilar, qon, suyak) ro‘yxat qilib yozdiring. Tipik xato: defenziv va offenziv qismlashni aralashtirish; defenziv — jinoyatni yashirish, offenziv — haqorat va oshkor qilish maqsadida.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sud-tibbiy ekspertizada kiyim va jarohatlar sinchiklab o‘rganiladi, patologo-anatomik tekshiruvda esa yo‘q? 2) Verbal autopsiya qachon qo‘llanadi? Doskada: jadvalni talabalar bilan birga chizing, ustunlarni ranglar bilan ajrating. Tipik xato: patologo-anatomik tekshiruvni ham tergovchi qarori bilan o‘tkaziladi deb o‘ylash. Aslida uni davolash muassasasi rahbari yoki muovini buyuradi.</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uzoq sabablar raqobatida ekspert asosiy nozologik shaklni aniqlashga maksimal harakat qiladi? 2) Bir xil kasallikdan turli oraliq va yaqin sabablar bo‘lishi mumkinmi? Doskada: ikkala vaziyat uchun zanjirni strelkalar bilan chizing. Tipik xato: sepsisni uzoq sabab deb ko‘rsatish. Zanjir birinchi bo‘g‘indan, ya’ni jarohat yoki kasallikdan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usul oddiy tashqi ko‘zdan kechirishda shifokorga ham qo‘l keladi? 2) Nega bitta belgiga tayanib xulosa qilish xavfli? Doskada: ’belgi — hayotiy — o‘limdan keyingi’ uch ustunli solishtirma jadval chizing. Eslab qolish (o‘qituvchi tavsiyasi): bos, kes, namla, mikroskopga qara. Tipik xato: murda dog‘ini qontalash deb baholash va asossiz ekspertiza talab qilish.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Intravital va o'limdan keyingi o'zgarishlarning differentsial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o‘quv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Murdadagi ayrim o‘zgarishlar hayotiy jarohatga o‘xshab ketadi. Ularni to‘g‘ri farqlash sud-tibbiy ekspert uchun muhim.</a:t>
            </a:r>
          </a:p>
          <a:p>
            <a:pPr>
              <a:spcAft>
                <a:spcPts val="1200"/>
              </a:spcAft>
            </a:pPr>
            <a:r>
              <a:rPr sz="2200">
                <a:solidFill>
                  <a:srgbClr val="1F2937"/>
                </a:solidFill>
                <a:latin typeface="Calibri"/>
              </a:rPr>
              <a:t>▸  Murda dog‘lari qontalashdan, pergament dog‘lari hayotiy shilinmadan farqlanishi kerak. Bu shifokorlar uchun ham muhim.</a:t>
            </a:r>
          </a:p>
          <a:p>
            <a:pPr>
              <a:spcAft>
                <a:spcPts val="1200"/>
              </a:spcAft>
            </a:pPr>
            <a:r>
              <a:rPr sz="2200">
                <a:solidFill>
                  <a:srgbClr val="1F2937"/>
                </a:solidFill>
                <a:latin typeface="Calibri"/>
              </a:rPr>
              <a:t>▸  Oshqozon shilliq qavatidagi autoliz o‘yuvchi zahar ta’siri deb yanglish baholanishi mumkin. Hayvon izlari ham hayotiy jarohatga o‘xshaydi.</a:t>
            </a:r>
          </a:p>
          <a:p>
            <a:pPr>
              <a:spcAft>
                <a:spcPts val="1200"/>
              </a:spcAft>
            </a:pPr>
            <a:r>
              <a:rPr sz="2200">
                <a:solidFill>
                  <a:srgbClr val="1F2937"/>
                </a:solidFill>
                <a:latin typeface="Calibri"/>
              </a:rPr>
              <a:t>▸  Dars rejasi: o‘lish bosqichlari, o‘lim belgilari, murdaning ilk va kech o‘zgarishlari va ularni hayotiy o‘zgarishlardan farqlash.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228-229, 225, 228, 229, 233, 217-229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Tanatologiya: tushuncha va vazifalari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Tanatologiya atamasini tibbiyotga I.I.Mechnikov kiritgan. Grekcha thanatos — o‘lim xudosi, logos — ta’limot: o‘lim haqidagi ta’limot.</a:t>
            </a:r>
          </a:p>
          <a:p>
            <a:pPr>
              <a:spcAft>
                <a:spcPts val="1200"/>
              </a:spcAft>
            </a:pPr>
            <a:r>
              <a:rPr sz="2200">
                <a:solidFill>
                  <a:srgbClr val="1F2937"/>
                </a:solidFill>
                <a:latin typeface="Calibri"/>
              </a:rPr>
              <a:t>▸  U o‘lish jarayonini, o‘lim faktini aniqlashni, o‘lim sabablarini va murdadagi o‘zgarishlarni, dafn va konservatsiyani o‘rganadi.</a:t>
            </a:r>
          </a:p>
          <a:p>
            <a:pPr>
              <a:spcAft>
                <a:spcPts val="1200"/>
              </a:spcAft>
            </a:pPr>
            <a:r>
              <a:rPr sz="2200">
                <a:solidFill>
                  <a:srgbClr val="1F2937"/>
                </a:solidFill>
                <a:latin typeface="Calibri"/>
              </a:rPr>
              <a:t>▸  Umumiy tanatologiya masalalarning umumiy jihatlarini, xususiy tanatologiya esa ularni o‘limning muayyan turlari bo‘yicha o‘rganadi.</a:t>
            </a:r>
          </a:p>
          <a:p>
            <a:pPr>
              <a:spcAft>
                <a:spcPts val="1200"/>
              </a:spcAft>
            </a:pPr>
            <a:r>
              <a:rPr sz="2200">
                <a:solidFill>
                  <a:srgbClr val="1F2937"/>
                </a:solidFill>
                <a:latin typeface="Calibri"/>
              </a:rPr>
              <a:t>▸  Sud-tibbiy tanatologiya bu masalalarni surishtiruv, tergov va sud idoralari faoliyatida chiqadigan savollarni hal qilish uchun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O‘lish jarayoni: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Preagoniya va terminal pauza: bosim tushadi, hush xiralashadi, so‘ng nafas to‘satdan to‘xtaydi.</a:t>
            </a:r>
          </a:p>
          <a:p>
            <a:pPr>
              <a:spcAft>
                <a:spcPts val="800"/>
              </a:spcAft>
            </a:pPr>
            <a:r>
              <a:rPr sz="1800">
                <a:solidFill>
                  <a:srgbClr val="1F2937"/>
                </a:solidFill>
                <a:latin typeface="Calibri"/>
              </a:rPr>
              <a:t>▸  Agoniya: nafas va puls qisman tiklanadi; oxirida avval nafas, keyin yurak to‘xtaydi.</a:t>
            </a:r>
          </a:p>
          <a:p>
            <a:pPr>
              <a:spcAft>
                <a:spcPts val="800"/>
              </a:spcAft>
            </a:pPr>
            <a:r>
              <a:rPr sz="1800">
                <a:solidFill>
                  <a:srgbClr val="1F2937"/>
                </a:solidFill>
                <a:latin typeface="Calibri"/>
              </a:rPr>
              <a:t>▸  Klinik o‘lim odatda 5-6 daqiqa; undan keyin miyada qaytmas o‘zgarishlar — biologik o‘lim.</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Preagoniya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Terminal pauza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Agoniya</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Klinik o‘lim</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Biologik o‘lim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Terminal holatlar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Agoniya tiplari va klinik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Klinik o‘lim yurak to‘xtagach boshlanadi, odatda 5-6 daqiqa davom etadi; sovuqda 30 daqiqagacha cho‘ziladi.</a:t>
            </a:r>
          </a:p>
          <a:p>
            <a:pPr>
              <a:spcAft>
                <a:spcPts val="800"/>
              </a:spcAft>
            </a:pPr>
            <a:r>
              <a:rPr sz="1800">
                <a:solidFill>
                  <a:srgbClr val="1F2937"/>
                </a:solidFill>
                <a:latin typeface="Calibri"/>
              </a:rPr>
              <a:t>▸  Tez o‘lim: elektrotravma, mexanik asfiksiya, anafilaktik shok. Sekin o‘lim kasalliklar bilan bog‘liq.</a:t>
            </a:r>
          </a:p>
          <a:p>
            <a:pPr>
              <a:spcAft>
                <a:spcPts val="800"/>
              </a:spcAft>
            </a:pPr>
            <a:r>
              <a:rPr sz="1800">
                <a:solidFill>
                  <a:srgbClr val="1F2937"/>
                </a:solidFill>
                <a:latin typeface="Calibri"/>
              </a:rPr>
              <a:t>▸  Diqqat: klinik o‘limda faoliyatni tiklash mumkin, biologik o‘limda esa tiklab bo‘lmaydi.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Agoniya tiplari (Lawes, Berg)</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Agoniyasiz</a:t>
            </a:r>
          </a:p>
          <a:p>
            <a:pPr algn="l">
              <a:spcAft>
                <a:spcPts val="0"/>
              </a:spcAft>
            </a:pPr>
            <a:r>
              <a:rPr sz="1200" b="0">
                <a:solidFill>
                  <a:srgbClr val="1F2937"/>
                </a:solidFill>
                <a:latin typeface="Calibri"/>
              </a:rPr>
              <a:t>Bir zumda  ·  Tananing parchalanishi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Qisqa agoniyali</a:t>
            </a:r>
          </a:p>
          <a:p>
            <a:pPr algn="l">
              <a:spcAft>
                <a:spcPts val="0"/>
              </a:spcAft>
            </a:pPr>
            <a:r>
              <a:rPr sz="1200" b="0">
                <a:solidFill>
                  <a:srgbClr val="1F2937"/>
                </a:solidFill>
                <a:latin typeface="Calibri"/>
              </a:rPr>
              <a:t>4–5 daqiqa  ·  Asfiksiya, elektrotravma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Uzoq agoniyali</a:t>
            </a:r>
          </a:p>
          <a:p>
            <a:pPr algn="l">
              <a:spcAft>
                <a:spcPts val="0"/>
              </a:spcAft>
            </a:pPr>
            <a:r>
              <a:rPr sz="1200" b="0">
                <a:solidFill>
                  <a:srgbClr val="1F2937"/>
                </a:solidFill>
                <a:latin typeface="Calibri"/>
              </a:rPr>
              <a:t>Soatlar, kunlar  ·  Kasallik, shikastlanish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Sun’iy uzaytirilgan</a:t>
            </a:r>
          </a:p>
          <a:p>
            <a:pPr algn="l">
              <a:spcAft>
                <a:spcPts val="0"/>
              </a:spcAft>
            </a:pPr>
            <a:r>
              <a:rPr sz="1200" b="0">
                <a:solidFill>
                  <a:srgbClr val="1F2937"/>
                </a:solidFill>
                <a:latin typeface="Calibri"/>
              </a:rPr>
              <a:t>Hafta, oy, yillar  ·  Tibbiy muolajalar bilan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Agoniya tiplari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Evtanaziya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Evtanaziya «yaxshi o‘lim» demak; mohiyati o‘limga mahkum bemorning azobini yengillashtirish.</a:t>
            </a:r>
          </a:p>
          <a:p>
            <a:pPr>
              <a:spcAft>
                <a:spcPts val="800"/>
              </a:spcAft>
            </a:pPr>
            <a:r>
              <a:rPr sz="1800">
                <a:solidFill>
                  <a:srgbClr val="1F2937"/>
                </a:solidFill>
                <a:latin typeface="Calibri"/>
              </a:rPr>
              <a:t>▸  Bilvosita aktivda o‘lim maqsad emas: masalan, og‘riq qoldiruvchining katta dozasi yuborilishi.</a:t>
            </a:r>
          </a:p>
          <a:p>
            <a:pPr>
              <a:spcAft>
                <a:spcPts val="800"/>
              </a:spcAft>
            </a:pPr>
            <a:r>
              <a:rPr sz="1800">
                <a:solidFill>
                  <a:srgbClr val="1F2937"/>
                </a:solidFill>
                <a:latin typeface="Calibri"/>
              </a:rPr>
              <a:t>▸  Tor ma’noda evtanaziyaga faqat aktiv va passiv turlari kiritiladi.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927859"/>
                <a:gridCol w="2518410"/>
                <a:gridCol w="841706"/>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Baho/maqsad</a:t>
                      </a:r>
                    </a:p>
                  </a:txBody>
                  <a:tcPr marL="73152" marR="73152" marT="36576" marB="36576">
                    <a:solidFill>
                      <a:srgbClr val="0B1F3A"/>
                    </a:solidFill>
                  </a:tcPr>
                </a:tc>
              </a:tr>
              <a:tr h="614476">
                <a:tc>
                  <a:txBody>
                    <a:bodyPr/>
                    <a:lstStyle/>
                    <a:p>
                      <a:r>
                        <a:rPr sz="1500" b="0">
                          <a:solidFill>
                            <a:srgbClr val="1F2937"/>
                          </a:solidFill>
                        </a:rPr>
                        <a:t>Aktiv</a:t>
                      </a:r>
                    </a:p>
                  </a:txBody>
                  <a:tcPr marL="73152" marR="73152" marT="36576" marB="36576">
                    <a:solidFill>
                      <a:srgbClr val="E8EEF6"/>
                    </a:solidFill>
                  </a:tcPr>
                </a:tc>
                <a:tc>
                  <a:txBody>
                    <a:bodyPr/>
                    <a:lstStyle/>
                    <a:p>
                      <a:r>
                        <a:rPr sz="1500" b="0">
                          <a:solidFill>
                            <a:srgbClr val="1F2937"/>
                          </a:solidFill>
                        </a:rPr>
                        <a:t>Harakat orqali o‘limni tezlashtirish</a:t>
                      </a:r>
                    </a:p>
                  </a:txBody>
                  <a:tcPr marL="73152" marR="73152" marT="36576" marB="36576">
                    <a:solidFill>
                      <a:srgbClr val="E8EEF6"/>
                    </a:solidFill>
                  </a:tcPr>
                </a:tc>
                <a:tc>
                  <a:txBody>
                    <a:bodyPr/>
                    <a:lstStyle/>
                    <a:p>
                      <a:r>
                        <a:rPr sz="1500" b="0">
                          <a:solidFill>
                            <a:srgbClr val="1F2937"/>
                          </a:solidFill>
                        </a:rPr>
                        <a:t>Bevosita: qotillik; bil.: ehtiyotsizlik</a:t>
                      </a:r>
                    </a:p>
                  </a:txBody>
                  <a:tcPr marL="73152" marR="73152" marT="36576" marB="36576">
                    <a:solidFill>
                      <a:srgbClr val="E8EEF6"/>
                    </a:solidFill>
                  </a:tcPr>
                </a:tc>
              </a:tr>
              <a:tr h="614476">
                <a:tc>
                  <a:txBody>
                    <a:bodyPr/>
                    <a:lstStyle/>
                    <a:p>
                      <a:r>
                        <a:rPr sz="1500" b="0">
                          <a:solidFill>
                            <a:srgbClr val="1F2937"/>
                          </a:solidFill>
                        </a:rPr>
                        <a:t>Passiv</a:t>
                      </a:r>
                    </a:p>
                  </a:txBody>
                  <a:tcPr marL="73152" marR="73152" marT="36576" marB="36576">
                    <a:solidFill>
                      <a:srgbClr val="FFFFFF"/>
                    </a:solidFill>
                  </a:tcPr>
                </a:tc>
                <a:tc>
                  <a:txBody>
                    <a:bodyPr/>
                    <a:lstStyle/>
                    <a:p>
                      <a:r>
                        <a:rPr sz="1500" b="0">
                          <a:solidFill>
                            <a:srgbClr val="1F2937"/>
                          </a:solidFill>
                        </a:rPr>
                        <a:t>Tibbiy yordamni cheklash/to‘xtatish</a:t>
                      </a:r>
                    </a:p>
                  </a:txBody>
                  <a:tcPr marL="73152" marR="73152" marT="36576" marB="36576">
                    <a:solidFill>
                      <a:srgbClr val="FFFFFF"/>
                    </a:solidFill>
                  </a:tcPr>
                </a:tc>
                <a:tc>
                  <a:txBody>
                    <a:bodyPr/>
                    <a:lstStyle/>
                    <a:p>
                      <a:r>
                        <a:rPr sz="1500" b="0">
                          <a:solidFill>
                            <a:srgbClr val="1F2937"/>
                          </a:solidFill>
                        </a:rPr>
                        <a:t>Xizmat vazifasini bajarmaslik</a:t>
                      </a:r>
                    </a:p>
                  </a:txBody>
                  <a:tcPr marL="73152" marR="73152" marT="36576" marB="36576">
                    <a:solidFill>
                      <a:srgbClr val="FFFFFF"/>
                    </a:solidFill>
                  </a:tcPr>
                </a:tc>
              </a:tr>
              <a:tr h="614476">
                <a:tc>
                  <a:txBody>
                    <a:bodyPr/>
                    <a:lstStyle/>
                    <a:p>
                      <a:r>
                        <a:rPr sz="1500" b="0">
                          <a:solidFill>
                            <a:srgbClr val="1F2937"/>
                          </a:solidFill>
                        </a:rPr>
                        <a:t>Medikotanaziya</a:t>
                      </a:r>
                    </a:p>
                  </a:txBody>
                  <a:tcPr marL="73152" marR="73152" marT="36576" marB="36576">
                    <a:solidFill>
                      <a:srgbClr val="E8EEF6"/>
                    </a:solidFill>
                  </a:tcPr>
                </a:tc>
                <a:tc>
                  <a:txBody>
                    <a:bodyPr/>
                    <a:lstStyle/>
                    <a:p>
                      <a:r>
                        <a:rPr sz="1500" b="0">
                          <a:solidFill>
                            <a:srgbClr val="1F2937"/>
                          </a:solidFill>
                        </a:rPr>
                        <a:t>Dori bilan azobni yengillashtirish</a:t>
                      </a:r>
                    </a:p>
                  </a:txBody>
                  <a:tcPr marL="73152" marR="73152" marT="36576" marB="36576">
                    <a:solidFill>
                      <a:srgbClr val="E8EEF6"/>
                    </a:solidFill>
                  </a:tcPr>
                </a:tc>
                <a:tc>
                  <a:txBody>
                    <a:bodyPr/>
                    <a:lstStyle/>
                    <a:p>
                      <a:r>
                        <a:rPr sz="1500" b="0">
                          <a:solidFill>
                            <a:srgbClr val="1F2937"/>
                          </a:solidFill>
                        </a:rPr>
                        <a:t>Hayot sifatini yaxshilash</a:t>
                      </a:r>
                    </a:p>
                  </a:txBody>
                  <a:tcPr marL="73152" marR="73152" marT="36576" marB="36576">
                    <a:solidFill>
                      <a:srgbClr val="E8EEF6"/>
                    </a:solidFill>
                  </a:tcPr>
                </a:tc>
              </a:tr>
              <a:tr h="614476">
                <a:tc>
                  <a:txBody>
                    <a:bodyPr/>
                    <a:lstStyle/>
                    <a:p>
                      <a:r>
                        <a:rPr sz="1500" b="0">
                          <a:solidFill>
                            <a:srgbClr val="1F2937"/>
                          </a:solidFill>
                        </a:rPr>
                        <a:t>Distanaziya</a:t>
                      </a:r>
                    </a:p>
                  </a:txBody>
                  <a:tcPr marL="73152" marR="73152" marT="36576" marB="36576">
                    <a:solidFill>
                      <a:srgbClr val="FFFFFF"/>
                    </a:solidFill>
                  </a:tcPr>
                </a:tc>
                <a:tc>
                  <a:txBody>
                    <a:bodyPr/>
                    <a:lstStyle/>
                    <a:p>
                      <a:r>
                        <a:rPr sz="1500" b="0">
                          <a:solidFill>
                            <a:srgbClr val="1F2937"/>
                          </a:solidFill>
                        </a:rPr>
                        <a:t>Radikal muolaja bilan uzaytirish</a:t>
                      </a:r>
                    </a:p>
                  </a:txBody>
                  <a:tcPr marL="73152" marR="73152" marT="36576" marB="36576">
                    <a:solidFill>
                      <a:srgbClr val="FFFFFF"/>
                    </a:solidFill>
                  </a:tcPr>
                </a:tc>
                <a:tc>
                  <a:txBody>
                    <a:bodyPr/>
                    <a:lstStyle/>
                    <a:p>
                      <a:r>
                        <a:rPr sz="1500" b="0">
                          <a:solidFill>
                            <a:srgbClr val="1F2937"/>
                          </a:solidFill>
                        </a:rPr>
                        <a:t>Hayotni maksimal cho‘zish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Evtanaziya tasnifi (jadval 8.1 asosida)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218, 218-219, 219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terminal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bemorda hush xiralashgan, bosim tushgan, puls faqat uyqu arteriyasida, teri oqargan, hansirash bor.</a:t>
            </a:r>
          </a:p>
          <a:p>
            <a:pPr>
              <a:spcAft>
                <a:spcPts val="1200"/>
              </a:spcAft>
            </a:pPr>
            <a:r>
              <a:rPr sz="2200">
                <a:solidFill>
                  <a:srgbClr val="1F2937"/>
                </a:solidFill>
                <a:latin typeface="Calibri"/>
              </a:rPr>
              <a:t>▸  So‘ng nafas to‘satdan to‘xtab, qorachiqlar kengaygan va nurga javob bermagan. Keyin nafas tiklanib, bosim biroz ko‘tarilgan.</a:t>
            </a:r>
          </a:p>
          <a:p>
            <a:pPr>
              <a:spcAft>
                <a:spcPts val="1200"/>
              </a:spcAft>
            </a:pPr>
            <a:r>
              <a:rPr sz="2200">
                <a:solidFill>
                  <a:srgbClr val="1F2937"/>
                </a:solidFill>
                <a:latin typeface="Calibri"/>
              </a:rPr>
              <a:t>▸  Oxirida avval nafas, so‘ng yurak to‘xtagan; yuz tuproqsimon rangda, ko‘z olmalari chuqurlashgan, og‘iz ochilib qolgan.</a:t>
            </a:r>
          </a:p>
          <a:p>
            <a:pPr>
              <a:spcAft>
                <a:spcPts val="1200"/>
              </a:spcAft>
            </a:pPr>
            <a:r>
              <a:rPr sz="2200">
                <a:solidFill>
                  <a:srgbClr val="1F2937"/>
                </a:solidFill>
                <a:latin typeface="Calibri"/>
              </a:rPr>
              <a:t>▸  Savol: bosqichlarni ketma-ket nomlang. Yurak to‘xtaganiga qisqa vaqt bo‘lsa, bu qaysi holat va tiklash mumkinmi?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 217-218, 218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faktini aniqlash: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Bosh miya po‘stlog‘ining o‘limi biologik o‘limning boshlanishi, ya’ni miya o‘limi deb qabul qilinadi.</a:t>
            </a:r>
          </a:p>
          <a:p>
            <a:pPr>
              <a:spcAft>
                <a:spcPts val="800"/>
              </a:spcAft>
            </a:pPr>
            <a:r>
              <a:rPr sz="1800">
                <a:solidFill>
                  <a:srgbClr val="1F2937"/>
                </a:solidFill>
                <a:latin typeface="Calibri"/>
              </a:rPr>
              <a:t>▸  Dastlabki belgilar (hush, nafas, yurak urishi yo‘q) darhol bilinadi, ammo faqat ehtimoliy hisoblanadi.</a:t>
            </a:r>
          </a:p>
          <a:p>
            <a:pPr>
              <a:spcAft>
                <a:spcPts val="800"/>
              </a:spcAft>
            </a:pPr>
            <a:r>
              <a:rPr sz="1800">
                <a:solidFill>
                  <a:srgbClr val="1F2937"/>
                </a:solidFill>
                <a:latin typeface="Calibri"/>
              </a:rPr>
              <a:t>▸  Beloglazov simptomi 15-20 daqiqada paydo bo‘ladi; 1,5-2 soatdan so‘ng qorachiq qotib, bilinmasligi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Ehtimoliy belgilar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Hush, nafas, yurak urishi yo‘q</a:t>
            </a:r>
          </a:p>
          <a:p>
            <a:pPr algn="l">
              <a:spcAft>
                <a:spcPts val="700"/>
              </a:spcAft>
            </a:pPr>
            <a:r>
              <a:rPr sz="1500" b="1">
                <a:solidFill>
                  <a:srgbClr val="C9A227"/>
                </a:solidFill>
                <a:latin typeface="Calibri"/>
              </a:rPr>
              <a:t>●  </a:t>
            </a:r>
            <a:r>
              <a:rPr sz="1500" b="0">
                <a:solidFill>
                  <a:srgbClr val="1F2937"/>
                </a:solidFill>
                <a:latin typeface="Calibri"/>
              </a:rPr>
              <a:t>Darhol aniqlanadi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Ishonchli belgilar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Beloglazov simptomi, eng erta (15–20 daq.)</a:t>
            </a:r>
          </a:p>
          <a:p>
            <a:pPr algn="l">
              <a:spcAft>
                <a:spcPts val="700"/>
              </a:spcAft>
            </a:pPr>
            <a:r>
              <a:rPr sz="1500" b="1">
                <a:solidFill>
                  <a:srgbClr val="C9A227"/>
                </a:solidFill>
                <a:latin typeface="Calibri"/>
              </a:rPr>
              <a:t>●  </a:t>
            </a:r>
            <a:r>
              <a:rPr sz="1500" b="0">
                <a:solidFill>
                  <a:srgbClr val="1F2937"/>
                </a:solidFill>
                <a:latin typeface="Calibri"/>
              </a:rPr>
              <a:t>Harorat 23 °S va undan past</a:t>
            </a:r>
          </a:p>
          <a:p>
            <a:pPr algn="l">
              <a:spcAft>
                <a:spcPts val="700"/>
              </a:spcAft>
            </a:pPr>
            <a:r>
              <a:rPr sz="1500" b="1">
                <a:solidFill>
                  <a:srgbClr val="C9A227"/>
                </a:solidFill>
                <a:latin typeface="Calibri"/>
              </a:rPr>
              <a:t>●  </a:t>
            </a:r>
            <a:r>
              <a:rPr sz="1500" b="0">
                <a:solidFill>
                  <a:srgbClr val="1F2937"/>
                </a:solidFill>
                <a:latin typeface="Calibri"/>
              </a:rPr>
              <a:t>Murda dog‘lari, qotish, qurish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O‘lim faktini aniqlash belgilari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Toifa bo‘yicha o‘lim zo‘raki (tashqi ta’sirdan) yoki nozo‘raki (kasallikdan) bo‘ladi.</a:t>
            </a:r>
          </a:p>
          <a:p>
            <a:pPr>
              <a:spcAft>
                <a:spcPts val="800"/>
              </a:spcAft>
            </a:pPr>
            <a:r>
              <a:rPr sz="1800">
                <a:solidFill>
                  <a:srgbClr val="1F2937"/>
                </a:solidFill>
                <a:latin typeface="Calibri"/>
              </a:rPr>
              <a:t>▸  Zo‘raki o‘lim xili: qotillik, o‘z-o‘zini o‘ldirish, baxtsiz hodisa. Nozo‘raki o‘lim xillarga bo‘linmaydi.</a:t>
            </a:r>
          </a:p>
          <a:p>
            <a:pPr>
              <a:spcAft>
                <a:spcPts val="800"/>
              </a:spcAft>
            </a:pPr>
            <a:r>
              <a:rPr sz="1800">
                <a:solidFill>
                  <a:srgbClr val="1F2937"/>
                </a:solidFill>
                <a:latin typeface="Calibri"/>
              </a:rPr>
              <a:t>▸  Toifa va turni sud-tibbiy ekspert, xilni (qasd borligini) huquqni muhofaza etuvchi idora aniqlaydi.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O‘limning sud-tibbiy tasnifi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Toifa</a:t>
            </a:r>
          </a:p>
          <a:p>
            <a:pPr algn="l">
              <a:spcAft>
                <a:spcPts val="0"/>
              </a:spcAft>
            </a:pPr>
            <a:r>
              <a:rPr sz="1200" b="0">
                <a:solidFill>
                  <a:srgbClr val="1F2937"/>
                </a:solidFill>
                <a:latin typeface="Calibri"/>
              </a:rPr>
              <a:t>Zo‘raki yoki nozo‘raki  ·  Aniqlaydi: sud-tibbiy ekspert</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Xil</a:t>
            </a:r>
          </a:p>
          <a:p>
            <a:pPr algn="l">
              <a:spcAft>
                <a:spcPts val="0"/>
              </a:spcAft>
            </a:pPr>
            <a:r>
              <a:rPr sz="1200" b="0">
                <a:solidFill>
                  <a:srgbClr val="1F2937"/>
                </a:solidFill>
                <a:latin typeface="Calibri"/>
              </a:rPr>
              <a:t>Qotillik, o‘z-o‘zini o‘ldirish  ·  Baxtsiz hodisa  ·  Aniqlaydi: huquqni muhofaza idorasi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Tur</a:t>
            </a:r>
          </a:p>
          <a:p>
            <a:pPr algn="l">
              <a:spcAft>
                <a:spcPts val="0"/>
              </a:spcAft>
            </a:pPr>
            <a:r>
              <a:rPr sz="1200" b="0">
                <a:solidFill>
                  <a:srgbClr val="1F2937"/>
                </a:solidFill>
                <a:latin typeface="Calibri"/>
              </a:rPr>
              <a:t>Jarohat, asfiksiya, zahar, tok  ·  Kasallik  ·  Aniqlaydi: sud-tibbiy ekspert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Toifa, xil, tur va vakolat</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Supravital reaksiyalar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Miya o‘limidan keyin ayrim to‘qimalar tashqi ta’sirga javob beradi; bu o‘lim muddatini aniqlashda qo‘llanadi.</a:t>
            </a:r>
          </a:p>
          <a:p>
            <a:pPr>
              <a:spcAft>
                <a:spcPts val="800"/>
              </a:spcAft>
            </a:pPr>
            <a:r>
              <a:rPr sz="1800">
                <a:solidFill>
                  <a:srgbClr val="1F2937"/>
                </a:solidFill>
                <a:latin typeface="Calibri"/>
              </a:rPr>
              <a:t>▸  Mexanik ta’sirda 1-2 soatda mushak qisqaradi, 10 soatgacha burma shish (idiomuskulyar o‘sma) paydo bo‘ladi.</a:t>
            </a:r>
          </a:p>
          <a:p>
            <a:pPr>
              <a:spcAft>
                <a:spcPts val="800"/>
              </a:spcAft>
            </a:pPr>
            <a:r>
              <a:rPr sz="1800">
                <a:solidFill>
                  <a:srgbClr val="1F2937"/>
                </a:solidFill>
                <a:latin typeface="Calibri"/>
              </a:rPr>
              <a:t>▸  Elektr tokida 2-3 soatda yuz, bo‘yin, qo‘l-oyoq mushaklari, 11-12 soatgacha faqat ko‘z mushaklari qisqaradi.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2337331"/>
                <a:gridCol w="1613333"/>
              </a:tblGrid>
              <a:tr h="614476">
                <a:tc>
                  <a:txBody>
                    <a:bodyPr/>
                    <a:lstStyle/>
                    <a:p>
                      <a:r>
                        <a:rPr sz="1600" b="1">
                          <a:solidFill>
                            <a:srgbClr val="FFFFFF"/>
                          </a:solidFill>
                        </a:rPr>
                        <a:t>Ta’sir</a:t>
                      </a:r>
                    </a:p>
                  </a:txBody>
                  <a:tcPr marL="73152" marR="73152" marT="36576" marB="36576">
                    <a:solidFill>
                      <a:srgbClr val="0B1F3A"/>
                    </a:solidFill>
                  </a:tcPr>
                </a:tc>
                <a:tc>
                  <a:txBody>
                    <a:bodyPr/>
                    <a:lstStyle/>
                    <a:p>
                      <a:r>
                        <a:rPr sz="1600" b="1">
                          <a:solidFill>
                            <a:srgbClr val="FFFFFF"/>
                          </a:solidFill>
                        </a:rPr>
                        <a:t>Reaksiya</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614476">
                <a:tc>
                  <a:txBody>
                    <a:bodyPr/>
                    <a:lstStyle/>
                    <a:p>
                      <a:r>
                        <a:rPr sz="1500" b="0">
                          <a:solidFill>
                            <a:srgbClr val="1F2937"/>
                          </a:solidFill>
                        </a:rPr>
                        <a:t>Mexanik</a:t>
                      </a:r>
                    </a:p>
                  </a:txBody>
                  <a:tcPr marL="73152" marR="73152" marT="36576" marB="36576">
                    <a:solidFill>
                      <a:srgbClr val="E8EEF6"/>
                    </a:solidFill>
                  </a:tcPr>
                </a:tc>
                <a:tc>
                  <a:txBody>
                    <a:bodyPr/>
                    <a:lstStyle/>
                    <a:p>
                      <a:r>
                        <a:rPr sz="1500" b="0">
                          <a:solidFill>
                            <a:srgbClr val="1F2937"/>
                          </a:solidFill>
                        </a:rPr>
                        <a:t>Mushak qisqarishi, so‘ng burma shish</a:t>
                      </a:r>
                    </a:p>
                  </a:txBody>
                  <a:tcPr marL="73152" marR="73152" marT="36576" marB="36576">
                    <a:solidFill>
                      <a:srgbClr val="E8EEF6"/>
                    </a:solidFill>
                  </a:tcPr>
                </a:tc>
                <a:tc>
                  <a:txBody>
                    <a:bodyPr/>
                    <a:lstStyle/>
                    <a:p>
                      <a:r>
                        <a:rPr sz="1500" b="0">
                          <a:solidFill>
                            <a:srgbClr val="1F2937"/>
                          </a:solidFill>
                        </a:rPr>
                        <a:t>1-2 soat; 10 soatgacha</a:t>
                      </a:r>
                    </a:p>
                  </a:txBody>
                  <a:tcPr marL="73152" marR="73152" marT="36576" marB="36576">
                    <a:solidFill>
                      <a:srgbClr val="E8EEF6"/>
                    </a:solidFill>
                  </a:tcPr>
                </a:tc>
              </a:tr>
              <a:tr h="614476">
                <a:tc>
                  <a:txBody>
                    <a:bodyPr/>
                    <a:lstStyle/>
                    <a:p>
                      <a:r>
                        <a:rPr sz="1500" b="0">
                          <a:solidFill>
                            <a:srgbClr val="1F2937"/>
                          </a:solidFill>
                        </a:rPr>
                        <a:t>Elektr</a:t>
                      </a:r>
                    </a:p>
                  </a:txBody>
                  <a:tcPr marL="73152" marR="73152" marT="36576" marB="36576">
                    <a:solidFill>
                      <a:srgbClr val="FFFFFF"/>
                    </a:solidFill>
                  </a:tcPr>
                </a:tc>
                <a:tc>
                  <a:txBody>
                    <a:bodyPr/>
                    <a:lstStyle/>
                    <a:p>
                      <a:r>
                        <a:rPr sz="1500" b="0">
                          <a:solidFill>
                            <a:srgbClr val="1F2937"/>
                          </a:solidFill>
                        </a:rPr>
                        <a:t>Yuz, bo‘yin, qo‘l-oyoq; so‘ng ko‘z</a:t>
                      </a:r>
                    </a:p>
                  </a:txBody>
                  <a:tcPr marL="73152" marR="73152" marT="36576" marB="36576">
                    <a:solidFill>
                      <a:srgbClr val="FFFFFF"/>
                    </a:solidFill>
                  </a:tcPr>
                </a:tc>
                <a:tc>
                  <a:txBody>
                    <a:bodyPr/>
                    <a:lstStyle/>
                    <a:p>
                      <a:r>
                        <a:rPr sz="1500" b="0">
                          <a:solidFill>
                            <a:srgbClr val="1F2937"/>
                          </a:solidFill>
                        </a:rPr>
                        <a:t>2-3 soat; 11-12 soatgacha</a:t>
                      </a:r>
                    </a:p>
                  </a:txBody>
                  <a:tcPr marL="73152" marR="73152" marT="36576" marB="36576">
                    <a:solidFill>
                      <a:srgbClr val="FFFFFF"/>
                    </a:solidFill>
                  </a:tcPr>
                </a:tc>
              </a:tr>
              <a:tr h="614476">
                <a:tc>
                  <a:txBody>
                    <a:bodyPr/>
                    <a:lstStyle/>
                    <a:p>
                      <a:r>
                        <a:rPr sz="1500" b="0">
                          <a:solidFill>
                            <a:srgbClr val="1F2937"/>
                          </a:solidFill>
                        </a:rPr>
                        <a:t>Kimyoviy: qorachiq</a:t>
                      </a:r>
                    </a:p>
                  </a:txBody>
                  <a:tcPr marL="73152" marR="73152" marT="36576" marB="36576">
                    <a:solidFill>
                      <a:srgbClr val="E8EEF6"/>
                    </a:solidFill>
                  </a:tcPr>
                </a:tc>
                <a:tc>
                  <a:txBody>
                    <a:bodyPr/>
                    <a:lstStyle/>
                    <a:p>
                      <a:r>
                        <a:rPr sz="1500" b="0">
                          <a:solidFill>
                            <a:srgbClr val="1F2937"/>
                          </a:solidFill>
                        </a:rPr>
                        <a:t>Atropin — midriaz, pilokarpin — miyoz</a:t>
                      </a:r>
                    </a:p>
                  </a:txBody>
                  <a:tcPr marL="73152" marR="73152" marT="36576" marB="36576">
                    <a:solidFill>
                      <a:srgbClr val="E8EEF6"/>
                    </a:solidFill>
                  </a:tcPr>
                </a:tc>
                <a:tc>
                  <a:txBody>
                    <a:bodyPr/>
                    <a:lstStyle/>
                    <a:p>
                      <a:r>
                        <a:rPr sz="1500" b="0">
                          <a:solidFill>
                            <a:srgbClr val="1F2937"/>
                          </a:solidFill>
                        </a:rPr>
                        <a:t>Dastlabki 5-6 soat</a:t>
                      </a:r>
                    </a:p>
                  </a:txBody>
                  <a:tcPr marL="73152" marR="73152" marT="36576" marB="36576">
                    <a:solidFill>
                      <a:srgbClr val="E8EEF6"/>
                    </a:solidFill>
                  </a:tcPr>
                </a:tc>
              </a:tr>
              <a:tr h="614476">
                <a:tc>
                  <a:txBody>
                    <a:bodyPr/>
                    <a:lstStyle/>
                    <a:p>
                      <a:r>
                        <a:rPr sz="1500" b="0">
                          <a:solidFill>
                            <a:srgbClr val="1F2937"/>
                          </a:solidFill>
                        </a:rPr>
                        <a:t>Kimyoviy: ter bezi</a:t>
                      </a:r>
                    </a:p>
                  </a:txBody>
                  <a:tcPr marL="73152" marR="73152" marT="36576" marB="36576">
                    <a:solidFill>
                      <a:srgbClr val="FFFFFF"/>
                    </a:solidFill>
                  </a:tcPr>
                </a:tc>
                <a:tc>
                  <a:txBody>
                    <a:bodyPr/>
                    <a:lstStyle/>
                    <a:p>
                      <a:r>
                        <a:rPr sz="1500" b="0">
                          <a:solidFill>
                            <a:srgbClr val="1F2937"/>
                          </a:solidFill>
                        </a:rPr>
                        <a:t>Ko‘k rangli dog‘ paydo bo‘ladi</a:t>
                      </a:r>
                    </a:p>
                  </a:txBody>
                  <a:tcPr marL="73152" marR="73152" marT="36576" marB="36576">
                    <a:solidFill>
                      <a:srgbClr val="FFFFFF"/>
                    </a:solidFill>
                  </a:tcPr>
                </a:tc>
                <a:tc>
                  <a:txBody>
                    <a:bodyPr/>
                    <a:lstStyle/>
                    <a:p>
                      <a:r>
                        <a:rPr sz="1500" b="0">
                          <a:solidFill>
                            <a:srgbClr val="1F2937"/>
                          </a:solidFill>
                        </a:rPr>
                        <a:t>30 soatgacha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Supravital reaksiyalar muddatlari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221, 222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o‘lim faktini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hodisa joyida shaxs harakatsiz yotibdi. Hush, nafas va yurak urishi yo‘q, teri oqargan, tana biroz sovigan.</a:t>
            </a:r>
          </a:p>
          <a:p>
            <a:pPr>
              <a:spcAft>
                <a:spcPts val="1200"/>
              </a:spcAft>
            </a:pPr>
            <a:r>
              <a:rPr sz="2200">
                <a:solidFill>
                  <a:srgbClr val="1F2937"/>
                </a:solidFill>
                <a:latin typeface="Calibri"/>
              </a:rPr>
              <a:t>▸  Bu dastlabki belgilar o‘limdan so‘ng darhol aniqlansa ham, faqat ehtimoliy hisoblanadi.</a:t>
            </a:r>
          </a:p>
          <a:p>
            <a:pPr>
              <a:spcAft>
                <a:spcPts val="1200"/>
              </a:spcAft>
            </a:pPr>
            <a:r>
              <a:rPr sz="2200">
                <a:solidFill>
                  <a:srgbClr val="1F2937"/>
                </a:solidFill>
                <a:latin typeface="Calibri"/>
              </a:rPr>
              <a:t>▸  Eng erta ishonchli belgi — Beloglazov simptomi. Ko‘z olmasi yon tomondan siqilganda qorachiq ovalsimon bo‘ladi (15-20 daqiqadan so‘ng).</a:t>
            </a:r>
          </a:p>
          <a:p>
            <a:pPr>
              <a:spcAft>
                <a:spcPts val="1200"/>
              </a:spcAft>
            </a:pPr>
            <a:r>
              <a:rPr sz="2200">
                <a:solidFill>
                  <a:srgbClr val="1F2937"/>
                </a:solidFill>
                <a:latin typeface="Calibri"/>
              </a:rPr>
              <a:t>▸  Savol: 1,5-2 soatdan keyin Beloglazov simptomi aniqlanmasa, o‘lim yo‘q deb hisoblash mumkinmi? Nima uchun?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Terminal holatlar ketma-ketligini ayting: preagoniya, terminal pauza, agoniya, undan keyin qaysi bosqichlar keladi?</a:t>
            </a:r>
          </a:p>
          <a:p>
            <a:pPr>
              <a:spcAft>
                <a:spcPts val="1200"/>
              </a:spcAft>
            </a:pPr>
            <a:r>
              <a:rPr sz="2200">
                <a:solidFill>
                  <a:srgbClr val="1F2937"/>
                </a:solidFill>
                <a:latin typeface="Calibri"/>
              </a:rPr>
              <a:t>▸  Klinik o‘lim odatda necha daqiqa davom etadi va nega shu muddatdan keyin hayotga qaytarib bo‘lmaydi?</a:t>
            </a:r>
          </a:p>
          <a:p>
            <a:pPr>
              <a:spcAft>
                <a:spcPts val="1200"/>
              </a:spcAft>
            </a:pPr>
            <a:r>
              <a:rPr sz="2200">
                <a:solidFill>
                  <a:srgbClr val="1F2937"/>
                </a:solidFill>
                <a:latin typeface="Calibri"/>
              </a:rPr>
              <a:t>▸  Aktiv va passiv evtanaziya nimasi bilan farqlanadi? Ortotanaziya qaysi biriga to‘g‘ri keladi?</a:t>
            </a:r>
          </a:p>
          <a:p>
            <a:pPr>
              <a:spcAft>
                <a:spcPts val="1200"/>
              </a:spcAft>
            </a:pPr>
            <a:r>
              <a:rPr sz="2200">
                <a:solidFill>
                  <a:srgbClr val="1F2937"/>
                </a:solidFill>
                <a:latin typeface="Calibri"/>
              </a:rPr>
              <a:t>▸  O‘limning toifasi, xili va turini farqlang: qaysi birini sud-tibbiy ekspert, qaysi birini huquqni muhofaza idorasi aniqlaydi?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217-218, 218, 218-219, 221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o‘zgarishlarining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Ilk o‘zgarishlar birinchi kunda, kech o‘zgarishlar ikkinchi kundan boshlanadi.</a:t>
            </a:r>
          </a:p>
          <a:p>
            <a:pPr>
              <a:spcAft>
                <a:spcPts val="800"/>
              </a:spcAft>
            </a:pPr>
            <a:r>
              <a:rPr sz="1800">
                <a:solidFill>
                  <a:srgbClr val="1F2937"/>
                </a:solidFill>
                <a:latin typeface="Calibri"/>
              </a:rPr>
              <a:t>▸  Kech o‘zgarishlar yemiruvchi (destruktiv) va saqlovchi (konservatsiyalovchi) guruhlarga bo‘linadi.</a:t>
            </a:r>
          </a:p>
          <a:p>
            <a:pPr>
              <a:spcAft>
                <a:spcPts val="800"/>
              </a:spcAft>
            </a:pPr>
            <a:r>
              <a:rPr sz="1800">
                <a:solidFill>
                  <a:srgbClr val="1F2937"/>
                </a:solidFill>
                <a:latin typeface="Calibri"/>
              </a:rPr>
              <a:t>▸  Sun’iy o‘zgarishlar o‘lim muddati bilan bog‘liq emas, turli vaqtda ro‘y berishi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Murda o‘zgarishlari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Ilk (1-kun)</a:t>
            </a:r>
          </a:p>
          <a:p>
            <a:pPr algn="l">
              <a:spcAft>
                <a:spcPts val="0"/>
              </a:spcAft>
            </a:pPr>
            <a:r>
              <a:rPr sz="1200" b="0">
                <a:solidFill>
                  <a:srgbClr val="1F2937"/>
                </a:solidFill>
                <a:latin typeface="Calibri"/>
              </a:rPr>
              <a:t>Sovush, qurish, dog‘lar  ·  Qotish, autoliz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Kech yemiruvchi</a:t>
            </a:r>
          </a:p>
          <a:p>
            <a:pPr algn="l">
              <a:spcAft>
                <a:spcPts val="0"/>
              </a:spcAft>
            </a:pPr>
            <a:r>
              <a:rPr sz="1200" b="0">
                <a:solidFill>
                  <a:srgbClr val="1F2937"/>
                </a:solidFill>
                <a:latin typeface="Calibri"/>
              </a:rPr>
              <a:t>2-kundan boshlab  ·  Chirish; hasharot, hayvon, qush, baliq</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Kech saqlovchi</a:t>
            </a:r>
          </a:p>
          <a:p>
            <a:pPr algn="l">
              <a:spcAft>
                <a:spcPts val="0"/>
              </a:spcAft>
            </a:pPr>
            <a:r>
              <a:rPr sz="1200" b="0">
                <a:solidFill>
                  <a:srgbClr val="1F2937"/>
                </a:solidFill>
                <a:latin typeface="Calibri"/>
              </a:rPr>
              <a:t>2-kundan boshlab  ·  Mumifikatsiya, yog‘-mo‘m, torfli oshlash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Sun’iy</a:t>
            </a:r>
          </a:p>
          <a:p>
            <a:pPr algn="l">
              <a:spcAft>
                <a:spcPts val="0"/>
              </a:spcAft>
            </a:pPr>
            <a:r>
              <a:rPr sz="1200" b="0">
                <a:solidFill>
                  <a:srgbClr val="1F2937"/>
                </a:solidFill>
                <a:latin typeface="Calibri"/>
              </a:rPr>
              <a:t>Vaqtga bog‘liq emas  ·  Qismlash, yoqish, eritish  ·  Balzam, muzlatish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o‘zgarishlari sxemasi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222-223, 223, 224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sovushi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Issiqlik ishlab chiqarilmaydi, ajralishi davom etadi; tana muhit haroratigacha soviydi.</a:t>
            </a:r>
          </a:p>
          <a:p>
            <a:pPr>
              <a:spcAft>
                <a:spcPts val="800"/>
              </a:spcAft>
            </a:pPr>
            <a:r>
              <a:rPr sz="1800">
                <a:solidFill>
                  <a:srgbClr val="1F2937"/>
                </a:solidFill>
                <a:latin typeface="Calibri"/>
              </a:rPr>
              <a:t>▸  Havo harorati, shamol, kiyim, yosh, o‘lim sababi sovush tezligiga ta’sir qiladi.</a:t>
            </a:r>
          </a:p>
          <a:p>
            <a:pPr>
              <a:spcAft>
                <a:spcPts val="800"/>
              </a:spcAft>
            </a:pPr>
            <a:r>
              <a:rPr sz="1800">
                <a:solidFill>
                  <a:srgbClr val="1F2937"/>
                </a:solidFill>
                <a:latin typeface="Calibri"/>
              </a:rPr>
              <a:t>▸  Termometriya aniqroq (to‘g‘ri ichak, jigar va b.); xonada taxminan 1°S/soat.</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Qo‘ltiq osti</a:t>
            </a:r>
          </a:p>
          <a:p>
            <a:pPr algn="l">
              <a:spcAft>
                <a:spcPts val="100"/>
              </a:spcAft>
            </a:pPr>
            <a:r>
              <a:rPr sz="2300" b="1">
                <a:solidFill>
                  <a:srgbClr val="0B1F3A"/>
                </a:solidFill>
                <a:latin typeface="Calibri"/>
              </a:rPr>
              <a:t>16</a:t>
            </a:r>
            <a:r>
              <a:rPr sz="1100" b="0">
                <a:solidFill>
                  <a:srgbClr val="6B7280"/>
                </a:solidFill>
                <a:latin typeface="Calibri"/>
              </a:rPr>
              <a:t>  soat keyin</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To‘g‘ri ichak</a:t>
            </a:r>
          </a:p>
          <a:p>
            <a:pPr algn="l">
              <a:spcAft>
                <a:spcPts val="100"/>
              </a:spcAft>
            </a:pPr>
            <a:r>
              <a:rPr sz="2300" b="1">
                <a:solidFill>
                  <a:srgbClr val="0B1F3A"/>
                </a:solidFill>
                <a:latin typeface="Calibri"/>
              </a:rPr>
              <a:t>19</a:t>
            </a:r>
            <a:r>
              <a:rPr sz="1100" b="0">
                <a:solidFill>
                  <a:srgbClr val="6B7280"/>
                </a:solidFill>
                <a:latin typeface="Calibri"/>
              </a:rPr>
              <a:t>  soat keyin</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Jigar</a:t>
            </a:r>
          </a:p>
          <a:p>
            <a:pPr algn="l">
              <a:spcAft>
                <a:spcPts val="100"/>
              </a:spcAft>
            </a:pPr>
            <a:r>
              <a:rPr sz="2300" b="1">
                <a:solidFill>
                  <a:srgbClr val="0B1F3A"/>
                </a:solidFill>
                <a:latin typeface="Calibri"/>
              </a:rPr>
              <a:t>25</a:t>
            </a:r>
            <a:r>
              <a:rPr sz="1100" b="0">
                <a:solidFill>
                  <a:srgbClr val="6B7280"/>
                </a:solidFill>
                <a:latin typeface="Calibri"/>
              </a:rPr>
              <a:t>  soat keyin</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Muhit harorati bilan tenglashish</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Murdaning qurishi va Lyarshe dog‘i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Qurish ter va boshqa bezlar ajratishining to‘xtashi hamda namlikning bug‘lanishi bilan bog‘liq. Epidermis namlik yo‘qotishdan himoya qiladi.</a:t>
            </a:r>
          </a:p>
          <a:p>
            <a:pPr>
              <a:spcAft>
                <a:spcPts val="1200"/>
              </a:spcAft>
            </a:pPr>
            <a:r>
              <a:rPr sz="2200">
                <a:solidFill>
                  <a:srgbClr val="1F2937"/>
                </a:solidFill>
                <a:latin typeface="Calibri"/>
              </a:rPr>
              <a:t>▸  Alomatlar avval hayotda nam turadigan joylarda: lab qizil hoshiyasi, shilliq qavatlar, shox parda, moyak terisi; shilinma va yara chetlarida ham.</a:t>
            </a:r>
          </a:p>
          <a:p>
            <a:pPr>
              <a:spcAft>
                <a:spcPts val="1200"/>
              </a:spcAft>
            </a:pPr>
            <a:r>
              <a:rPr sz="2200">
                <a:solidFill>
                  <a:srgbClr val="1F2937"/>
                </a:solidFill>
                <a:latin typeface="Calibri"/>
              </a:rPr>
              <a:t>▸  Ko‘z ochiq bo‘lsa: 1-3 soatda shox parda xiralashadi, 4-5 soatda kon’yunktivada uchburchak yoki yo‘lkasimon qo‘ng‘ir-jigar Lyarshe dog‘i paydo bo‘ladi.</a:t>
            </a:r>
          </a:p>
          <a:p>
            <a:pPr>
              <a:spcAft>
                <a:spcPts val="1200"/>
              </a:spcAft>
            </a:pPr>
            <a:r>
              <a:rPr sz="2200">
                <a:solidFill>
                  <a:srgbClr val="1F2937"/>
                </a:solidFill>
                <a:latin typeface="Calibri"/>
              </a:rPr>
              <a:t>▸  Diqqat: terining tortilishi soch, soqol, timoqlar o‘sgandek tuyuladi — bu soxta tasavvur, haqiqiy o‘sish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Pergament dog‘i va hayotiy shilinma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Pergament dog‘i — shikastlangan teri qurib, atrofdan qattiqroq, sarg‘imtir-qo‘ng‘ir tusga kiradi.</a:t>
            </a:r>
          </a:p>
          <a:p>
            <a:pPr>
              <a:spcAft>
                <a:spcPts val="800"/>
              </a:spcAft>
            </a:pPr>
            <a:r>
              <a:rPr sz="1800">
                <a:solidFill>
                  <a:srgbClr val="1F2937"/>
                </a:solidFill>
                <a:latin typeface="Calibri"/>
              </a:rPr>
              <a:t>▸  Sinama: shubhali joyga iliq fiziologik eritma yoki suvli doka/paxta 5-10 daqiqa qo‘yiladi.</a:t>
            </a:r>
          </a:p>
          <a:p>
            <a:pPr>
              <a:spcAft>
                <a:spcPts val="800"/>
              </a:spcAft>
            </a:pPr>
            <a:r>
              <a:rPr sz="1800">
                <a:solidFill>
                  <a:srgbClr val="1F2937"/>
                </a:solidFill>
                <a:latin typeface="Calibri"/>
              </a:rPr>
              <a:t>▸  Natija: pergament yumshab oqaradi, hayotiy shilinma o‘zgarmaydi; ekspertizada boshqa usullar ham bor.</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Pergament dog‘i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Sinamada yumshaydi va oqaradi</a:t>
            </a:r>
          </a:p>
          <a:p>
            <a:pPr algn="l">
              <a:spcAft>
                <a:spcPts val="700"/>
              </a:spcAft>
            </a:pPr>
            <a:r>
              <a:rPr sz="1500" b="1">
                <a:solidFill>
                  <a:srgbClr val="C9A227"/>
                </a:solidFill>
                <a:latin typeface="Calibri"/>
              </a:rPr>
              <a:t>●  </a:t>
            </a:r>
            <a:r>
              <a:rPr sz="1500" b="0">
                <a:solidFill>
                  <a:srgbClr val="1F2937"/>
                </a:solidFill>
                <a:latin typeface="Calibri"/>
              </a:rPr>
              <a:t>O‘limdan keyingi qurish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Hayotiy shilinma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Sinamada o‘zgarmaydi</a:t>
            </a:r>
          </a:p>
          <a:p>
            <a:pPr algn="l">
              <a:spcAft>
                <a:spcPts val="700"/>
              </a:spcAft>
            </a:pPr>
            <a:r>
              <a:rPr sz="1500" b="1">
                <a:solidFill>
                  <a:srgbClr val="C9A227"/>
                </a:solidFill>
                <a:latin typeface="Calibri"/>
              </a:rPr>
              <a:t>●  </a:t>
            </a:r>
            <a:r>
              <a:rPr sz="1500" b="0">
                <a:solidFill>
                  <a:srgbClr val="1F2937"/>
                </a:solidFill>
                <a:latin typeface="Calibri"/>
              </a:rPr>
              <a:t>Hayotiy jarohat</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Ho‘llangan doka sinamasi (5–10 daqiqa)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qotishi: mexanizm va 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Mexanizm to‘liq ochilmagan; ko‘pchilik uni AUF (adenozinuchfosfat kislota) kamayishi bilan bog‘laydi.</a:t>
            </a:r>
          </a:p>
          <a:p>
            <a:pPr>
              <a:spcAft>
                <a:spcPts val="800"/>
              </a:spcAft>
            </a:pPr>
            <a:r>
              <a:rPr sz="1800">
                <a:solidFill>
                  <a:srgbClr val="1F2937"/>
                </a:solidFill>
                <a:latin typeface="Calibri"/>
              </a:rPr>
              <a:t>▸  AUF mushaklarda o‘limdan 10-12 soat keyin to‘liq yo‘qoladi; kalsiy ortishi ham rol o‘ynaydi.</a:t>
            </a:r>
          </a:p>
          <a:p>
            <a:pPr>
              <a:spcAft>
                <a:spcPts val="800"/>
              </a:spcAft>
            </a:pPr>
            <a:r>
              <a:rPr sz="1800">
                <a:solidFill>
                  <a:srgbClr val="1F2937"/>
                </a:solidFill>
                <a:latin typeface="Calibri"/>
              </a:rPr>
              <a:t>▸  Nisten tipi: qotish chaynash mushaklaridan boshlanib, bo‘yin, tana, qo‘l-oyoqqa pastga tarqaladi.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1–3 soatdan keyin</a:t>
            </a:r>
          </a:p>
          <a:p>
            <a:pPr algn="l">
              <a:spcAft>
                <a:spcPts val="200"/>
              </a:spcAft>
            </a:pPr>
            <a:r>
              <a:rPr sz="1400" b="0">
                <a:solidFill>
                  <a:srgbClr val="1F2937"/>
                </a:solidFill>
                <a:latin typeface="Calibri"/>
              </a:rPr>
              <a:t>Chaynash mushaklarida aniqlana boshlaydi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12–16 soatdan keyin</a:t>
            </a:r>
          </a:p>
          <a:p>
            <a:pPr algn="l">
              <a:spcAft>
                <a:spcPts val="200"/>
              </a:spcAft>
            </a:pPr>
            <a:r>
              <a:rPr sz="1400" b="0">
                <a:solidFill>
                  <a:srgbClr val="1F2937"/>
                </a:solidFill>
                <a:latin typeface="Calibri"/>
              </a:rPr>
              <a:t>Barcha mushaklarda qotish</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24 soatdan keyin</a:t>
            </a:r>
          </a:p>
          <a:p>
            <a:pPr algn="l">
              <a:spcAft>
                <a:spcPts val="200"/>
              </a:spcAft>
            </a:pPr>
            <a:r>
              <a:rPr sz="1400" b="0">
                <a:solidFill>
                  <a:srgbClr val="1F2937"/>
                </a:solidFill>
                <a:latin typeface="Calibri"/>
              </a:rPr>
              <a:t>Maksimal darajaga yetadi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3–7 kundan keyin</a:t>
            </a:r>
          </a:p>
          <a:p>
            <a:pPr algn="l">
              <a:spcAft>
                <a:spcPts val="200"/>
              </a:spcAft>
            </a:pPr>
            <a:r>
              <a:rPr sz="1400" b="0">
                <a:solidFill>
                  <a:srgbClr val="1F2937"/>
                </a:solidFill>
                <a:latin typeface="Calibri"/>
              </a:rPr>
              <a:t>To‘liq yo‘qoladi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Qotish dinamikasi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225, 225-226, 226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Qotishga ta’sir etuvchi omillar va buzilishi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Sust qotish: past harorat, bolalar va keksalar, holsizlanish, kaxeksiya, xloralgidrat va motor-paralitik moddalar bilan zaharlanish.</a:t>
            </a:r>
          </a:p>
          <a:p>
            <a:pPr>
              <a:spcAft>
                <a:spcPts val="1200"/>
              </a:spcAft>
            </a:pPr>
            <a:r>
              <a:rPr sz="2200">
                <a:solidFill>
                  <a:srgbClr val="1F2937"/>
                </a:solidFill>
                <a:latin typeface="Calibri"/>
              </a:rPr>
              <a:t>▸  Tez va kuchli qotish: yuqori harorat, sportchilar va og‘ir jismoniy mehnat kishilari, talvasali kasalliklar, strixnin, sikuta bilan zaharlanish.</a:t>
            </a:r>
          </a:p>
          <a:p>
            <a:pPr>
              <a:spcAft>
                <a:spcPts val="1200"/>
              </a:spcAft>
            </a:pPr>
            <a:r>
              <a:rPr sz="2200">
                <a:solidFill>
                  <a:srgbClr val="1F2937"/>
                </a:solidFill>
                <a:latin typeface="Calibri"/>
              </a:rPr>
              <a:t>▸  Kataleptik qotish o‘limdan darhol barcha mushaklarda: uzunchoq miya, bo‘yin orqa miyasi, quyosh chigali shikastlanishida, talvasada.</a:t>
            </a:r>
          </a:p>
          <a:p>
            <a:pPr>
              <a:spcAft>
                <a:spcPts val="1200"/>
              </a:spcAft>
            </a:pPr>
            <a:r>
              <a:rPr sz="2200">
                <a:solidFill>
                  <a:srgbClr val="1F2937"/>
                </a:solidFill>
                <a:latin typeface="Calibri"/>
              </a:rPr>
              <a:t>▸  Diqqat: dastlabki soatlarda buzilgan qotish tiklanadi (kuchsizroq), keyin tiklanmaydi; bu murdaga tegilganini ko‘rsatadi.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226, 226-227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xona sharoitida murda harorati taxminan qanchaga tushadi? Javob: taxminan bir soatda bir gradusga tushadi.</a:t>
            </a:r>
          </a:p>
          <a:p>
            <a:pPr>
              <a:spcAft>
                <a:spcPts val="1200"/>
              </a:spcAft>
            </a:pPr>
            <a:r>
              <a:rPr sz="2200">
                <a:solidFill>
                  <a:srgbClr val="1F2937"/>
                </a:solidFill>
                <a:latin typeface="Calibri"/>
              </a:rPr>
              <a:t>▸  Savol: pergament dog‘i hayotiy shilinmadan qanday farqlanadi? Javob: 5-10 daqiqa iliq namlangan doka qo‘yiladi; pergament yumshab oqaradi, shilinma o‘zgarmaydi.</a:t>
            </a:r>
          </a:p>
          <a:p>
            <a:pPr>
              <a:spcAft>
                <a:spcPts val="1200"/>
              </a:spcAft>
            </a:pPr>
            <a:r>
              <a:rPr sz="2200">
                <a:solidFill>
                  <a:srgbClr val="1F2937"/>
                </a:solidFill>
                <a:latin typeface="Calibri"/>
              </a:rPr>
              <a:t>▸  Savol: Lyarshe dog‘i qachon va qayerda paydo bo‘ladi? Javob: 4-5 soatda, shox parda yonidagi konyunktivada uchburchak qo‘ng‘ir-jigar dog‘ bo‘ladi.</a:t>
            </a:r>
          </a:p>
          <a:p>
            <a:pPr>
              <a:spcAft>
                <a:spcPts val="1200"/>
              </a:spcAft>
            </a:pPr>
            <a:r>
              <a:rPr sz="2200">
                <a:solidFill>
                  <a:srgbClr val="1F2937"/>
                </a:solidFill>
                <a:latin typeface="Calibri"/>
              </a:rPr>
              <a:t>▸  Savol: yurak mushagi qotishi qachon rivojlanadi? Javob: 2 soatdan so‘ng (“o‘limdan keyingi sistola”), 5-6 soatdan so‘ng yo‘qoladi.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224, 225, 226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gipostaz, staz, imbibitsiya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Qon og‘irlik kuchi bilan tananing past sohalariga oqadi. Ichki a’zolarda shu jarayon gipostaz deyiladi.</a:t>
            </a:r>
          </a:p>
          <a:p>
            <a:pPr>
              <a:spcAft>
                <a:spcPts val="800"/>
              </a:spcAft>
            </a:pPr>
            <a:r>
              <a:rPr sz="1800">
                <a:solidFill>
                  <a:srgbClr val="1F2937"/>
                </a:solidFill>
                <a:latin typeface="Calibri"/>
              </a:rPr>
              <a:t>▸  Bosqichlar orasida aniq vaqt chegarasi yo‘q, ular bir-biriga astalik bilan o‘tadi.</a:t>
            </a:r>
          </a:p>
          <a:p>
            <a:pPr>
              <a:spcAft>
                <a:spcPts val="800"/>
              </a:spcAft>
            </a:pPr>
            <a:r>
              <a:rPr sz="1800">
                <a:solidFill>
                  <a:srgbClr val="1F2937"/>
                </a:solidFill>
                <a:latin typeface="Calibri"/>
              </a:rPr>
              <a:t>▸  Gipostazda holat o‘zgarsa, dog‘ yangi past joyda paydo bo‘ladi. Imbibitsiyada esa yangi joyda paydo bo‘lmaydi.</a:t>
            </a:r>
          </a:p>
        </p:txBody>
      </p:sp>
      <p:sp>
        <p:nvSpPr>
          <p:cNvPr id="9" name="Rounded Rectangle 8"/>
          <p:cNvSpPr/>
          <p:nvPr/>
        </p:nvSpPr>
        <p:spPr>
          <a:xfrm>
            <a:off x="5440680" y="1417320"/>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Gipostaz</a:t>
            </a:r>
          </a:p>
          <a:p>
            <a:pPr algn="l">
              <a:spcAft>
                <a:spcPts val="200"/>
              </a:spcAft>
            </a:pPr>
            <a:r>
              <a:rPr sz="1400" b="0">
                <a:solidFill>
                  <a:srgbClr val="1F2937"/>
                </a:solidFill>
                <a:latin typeface="Calibri"/>
              </a:rPr>
              <a:t>1,5–2 dan 8–12 soatgacha; bosilganda yo‘qoladi, tez tiklanadi</a:t>
            </a:r>
          </a:p>
        </p:txBody>
      </p:sp>
      <p:sp>
        <p:nvSpPr>
          <p:cNvPr id="12" name="Rounded Rectangle 11"/>
          <p:cNvSpPr/>
          <p:nvPr/>
        </p:nvSpPr>
        <p:spPr>
          <a:xfrm>
            <a:off x="5440680" y="2801112"/>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6080760" y="2801112"/>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Staz</a:t>
            </a:r>
          </a:p>
          <a:p>
            <a:pPr algn="l">
              <a:spcAft>
                <a:spcPts val="200"/>
              </a:spcAft>
            </a:pPr>
            <a:r>
              <a:rPr sz="1400" b="0">
                <a:solidFill>
                  <a:srgbClr val="1F2937"/>
                </a:solidFill>
                <a:latin typeface="Calibri"/>
              </a:rPr>
              <a:t>12 dan 24 soatgacha; bosilganda oqaradi, sekin tiklanadi</a:t>
            </a:r>
          </a:p>
        </p:txBody>
      </p:sp>
      <p:sp>
        <p:nvSpPr>
          <p:cNvPr id="15" name="Rounded Rectangle 14"/>
          <p:cNvSpPr/>
          <p:nvPr/>
        </p:nvSpPr>
        <p:spPr>
          <a:xfrm>
            <a:off x="5440680" y="4184904"/>
            <a:ext cx="6110935"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4184904"/>
            <a:ext cx="5397703"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Imbibitsiya</a:t>
            </a:r>
          </a:p>
          <a:p>
            <a:pPr algn="l">
              <a:spcAft>
                <a:spcPts val="200"/>
              </a:spcAft>
            </a:pPr>
            <a:r>
              <a:rPr sz="1400" b="0">
                <a:solidFill>
                  <a:srgbClr val="1F2937"/>
                </a:solidFill>
                <a:latin typeface="Calibri"/>
              </a:rPr>
              <a:t>Chirish, gemoliz davri; rangi o‘zgarmaydi</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Murda dog‘i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227, 227-228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dog‘i va qontalash: differensiatsiya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Oddiy fuqaro dog‘ni qontalash deb xato qilib, asossiz ekspertiza va hatto eksgumatsiya talab qilishi mumkin.</a:t>
            </a:r>
          </a:p>
          <a:p>
            <a:pPr>
              <a:spcAft>
                <a:spcPts val="800"/>
              </a:spcAft>
            </a:pPr>
            <a:r>
              <a:rPr sz="1800">
                <a:solidFill>
                  <a:srgbClr val="1F2937"/>
                </a:solidFill>
                <a:latin typeface="Calibri"/>
              </a:rPr>
              <a:t>▸  O‘limdan ancha oldin yetkazilgan qontalashlar yashil yoki sarg‘imtir rangda bo‘ladi.</a:t>
            </a:r>
          </a:p>
          <a:p>
            <a:pPr>
              <a:spcAft>
                <a:spcPts val="800"/>
              </a:spcAft>
            </a:pPr>
            <a:r>
              <a:rPr sz="1800">
                <a:solidFill>
                  <a:srgbClr val="1F2937"/>
                </a:solidFill>
                <a:latin typeface="Calibri"/>
              </a:rPr>
              <a:t>▸  Shifokorlar ham bu farqni o‘z vaqtida aniqlab, vaziyatga oydinlik kiritishi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Murda dog‘i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Chegarasi noaniq, qo‘shilib ketadi</a:t>
            </a:r>
          </a:p>
          <a:p>
            <a:pPr algn="l">
              <a:spcAft>
                <a:spcPts val="700"/>
              </a:spcAft>
            </a:pPr>
            <a:r>
              <a:rPr sz="1500" b="1">
                <a:solidFill>
                  <a:srgbClr val="C9A227"/>
                </a:solidFill>
                <a:latin typeface="Calibri"/>
              </a:rPr>
              <a:t>●  </a:t>
            </a:r>
            <a:r>
              <a:rPr sz="1500" b="0">
                <a:solidFill>
                  <a:srgbClr val="1F2937"/>
                </a:solidFill>
                <a:latin typeface="Calibri"/>
              </a:rPr>
              <a:t>Tananing past sohalarida</a:t>
            </a:r>
          </a:p>
          <a:p>
            <a:pPr algn="l">
              <a:spcAft>
                <a:spcPts val="700"/>
              </a:spcAft>
            </a:pPr>
            <a:r>
              <a:rPr sz="1500" b="1">
                <a:solidFill>
                  <a:srgbClr val="C9A227"/>
                </a:solidFill>
                <a:latin typeface="Calibri"/>
              </a:rPr>
              <a:t>●  </a:t>
            </a:r>
            <a:r>
              <a:rPr sz="1500" b="0">
                <a:solidFill>
                  <a:srgbClr val="1F2937"/>
                </a:solidFill>
                <a:latin typeface="Calibri"/>
              </a:rPr>
              <a:t>Bosilsa yo‘qoladi yoki oqaradi</a:t>
            </a:r>
          </a:p>
          <a:p>
            <a:pPr algn="l">
              <a:spcAft>
                <a:spcPts val="700"/>
              </a:spcAft>
            </a:pPr>
            <a:r>
              <a:rPr sz="1500" b="1">
                <a:solidFill>
                  <a:srgbClr val="C9A227"/>
                </a:solidFill>
                <a:latin typeface="Calibri"/>
              </a:rPr>
              <a:t>●  </a:t>
            </a:r>
            <a:r>
              <a:rPr sz="1500" b="0">
                <a:solidFill>
                  <a:srgbClr val="1F2937"/>
                </a:solidFill>
                <a:latin typeface="Calibri"/>
              </a:rPr>
              <a:t>Kesmada qon tomchilari yoki singgan yog‘</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Qontalash</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Aniq shakl va chegara, qo‘shilmaydi</a:t>
            </a:r>
          </a:p>
          <a:p>
            <a:pPr algn="l">
              <a:spcAft>
                <a:spcPts val="700"/>
              </a:spcAft>
            </a:pPr>
            <a:r>
              <a:rPr sz="1500" b="1">
                <a:solidFill>
                  <a:srgbClr val="C9A227"/>
                </a:solidFill>
                <a:latin typeface="Calibri"/>
              </a:rPr>
              <a:t>●  </a:t>
            </a:r>
            <a:r>
              <a:rPr sz="1500" b="0">
                <a:solidFill>
                  <a:srgbClr val="1F2937"/>
                </a:solidFill>
                <a:latin typeface="Calibri"/>
              </a:rPr>
              <a:t>Tananing turli sohalarida</a:t>
            </a:r>
          </a:p>
          <a:p>
            <a:pPr algn="l">
              <a:spcAft>
                <a:spcPts val="700"/>
              </a:spcAft>
            </a:pPr>
            <a:r>
              <a:rPr sz="1500" b="1">
                <a:solidFill>
                  <a:srgbClr val="C9A227"/>
                </a:solidFill>
                <a:latin typeface="Calibri"/>
              </a:rPr>
              <a:t>●  </a:t>
            </a:r>
            <a:r>
              <a:rPr sz="1500" b="0">
                <a:solidFill>
                  <a:srgbClr val="1F2937"/>
                </a:solidFill>
                <a:latin typeface="Calibri"/>
              </a:rPr>
              <a:t>Bosilsa rangi o‘zgarmaydi</a:t>
            </a:r>
          </a:p>
          <a:p>
            <a:pPr algn="l">
              <a:spcAft>
                <a:spcPts val="700"/>
              </a:spcAft>
            </a:pPr>
            <a:r>
              <a:rPr sz="1500" b="1">
                <a:solidFill>
                  <a:srgbClr val="C9A227"/>
                </a:solidFill>
                <a:latin typeface="Calibri"/>
              </a:rPr>
              <a:t>●  </a:t>
            </a:r>
            <a:r>
              <a:rPr sz="1500" b="0">
                <a:solidFill>
                  <a:srgbClr val="1F2937"/>
                </a:solidFill>
                <a:latin typeface="Calibri"/>
              </a:rPr>
              <a:t>Kesmada to‘qimaga ivigan qon</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Dog‘ va qontalash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Autoliz va uni xato baholash xavfi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O‘limdan keyin lizosomal va boshqa proteolitik fermentlar darhol o‘chmaydi. Hujayra va to‘qimalar o‘z-o‘zini hazm qiladi (autoliz).</a:t>
            </a:r>
          </a:p>
          <a:p>
            <a:pPr>
              <a:spcAft>
                <a:spcPts val="1200"/>
              </a:spcAft>
            </a:pPr>
            <a:r>
              <a:rPr sz="2200">
                <a:solidFill>
                  <a:srgbClr val="1F2937"/>
                </a:solidFill>
                <a:latin typeface="Calibri"/>
              </a:rPr>
              <a:t>▸  Autoliz fermentga boy to‘qimalarda (oshqozon va ichak shilliq qavati, oshqozon osti bezi, buyrak usti bezi mag‘izi, ayrisimon bez, buyrak) tezroq kechadi.</a:t>
            </a:r>
          </a:p>
          <a:p>
            <a:pPr>
              <a:spcAft>
                <a:spcPts val="1200"/>
              </a:spcAft>
            </a:pPr>
            <a:r>
              <a:rPr sz="2200">
                <a:solidFill>
                  <a:srgbClr val="1F2937"/>
                </a:solidFill>
                <a:latin typeface="Calibri"/>
              </a:rPr>
              <a:t>▸  Oshqozon shilliq qavati autolizi yanglish o‘yuvchi zahar ta’siri deb baholanishi mumkin.</a:t>
            </a:r>
          </a:p>
          <a:p>
            <a:pPr>
              <a:spcAft>
                <a:spcPts val="1200"/>
              </a:spcAft>
            </a:pPr>
            <a:r>
              <a:rPr sz="2200">
                <a:solidFill>
                  <a:srgbClr val="1F2937"/>
                </a:solidFill>
                <a:latin typeface="Calibri"/>
              </a:rPr>
              <a:t>▸  Oshqozon massasi qizilo‘ngach, halqum, kekirdakka o‘tganda ham shunday xato bo‘ladi.</a:t>
            </a:r>
          </a:p>
          <a:p>
            <a:pPr>
              <a:spcAft>
                <a:spcPts val="1200"/>
              </a:spcAft>
            </a:pPr>
            <a:r>
              <a:rPr sz="2200">
                <a:solidFill>
                  <a:srgbClr val="1F2937"/>
                </a:solidFill>
                <a:latin typeface="Calibri"/>
              </a:rPr>
              <a:t>▸  Oshqozon osti bezi autolizi gemorragik pankreonekrozga o‘xshaydi. Autolitik va hayotiy o‘zgarishlarni asosan mikroskopik tekshiruv ajratadi.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ilk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 chalqancha yotibdi, orqa va yon sohalarda ko‘kimtir dog‘lar bor. Yaqinlari ularni qontalash deb o‘yladi. Savol: qanday farqlaysiz?</a:t>
            </a:r>
          </a:p>
          <a:p>
            <a:pPr>
              <a:spcAft>
                <a:spcPts val="1200"/>
              </a:spcAft>
            </a:pPr>
            <a:r>
              <a:rPr sz="2200">
                <a:solidFill>
                  <a:srgbClr val="1F2937"/>
                </a:solidFill>
                <a:latin typeface="Calibri"/>
              </a:rPr>
              <a:t>▸  Diqqat: murda dog‘i ≠ qontalash. Dog‘ bosilganda yo‘qoladi yoki oqaradi, chegarasi noaniq; qontalash aniq chegarali, rangi o‘zgarmaydi.</a:t>
            </a:r>
          </a:p>
          <a:p>
            <a:pPr>
              <a:spcAft>
                <a:spcPts val="1200"/>
              </a:spcAft>
            </a:pPr>
            <a:r>
              <a:rPr sz="2200">
                <a:solidFill>
                  <a:srgbClr val="1F2937"/>
                </a:solidFill>
                <a:latin typeface="Calibri"/>
              </a:rPr>
              <a:t>▸  Aniq farq uchun xochsimon kesma qilinadi: dog‘da qon tomchilari yoki singgan yog‘, qontalashda to‘qimaga quyilgan, ivigan qon topiladi.</a:t>
            </a:r>
          </a:p>
          <a:p>
            <a:pPr>
              <a:spcAft>
                <a:spcPts val="1200"/>
              </a:spcAft>
            </a:pPr>
            <a:r>
              <a:rPr sz="2200">
                <a:solidFill>
                  <a:srgbClr val="1F2937"/>
                </a:solidFill>
                <a:latin typeface="Calibri"/>
              </a:rPr>
              <a:t>▸  Pergament dog‘i yoki shilinma?</a:t>
            </a:r>
          </a:p>
          <a:p>
            <a:pPr>
              <a:spcAft>
                <a:spcPts val="1200"/>
              </a:spcAft>
            </a:pPr>
            <a:r>
              <a:rPr sz="2200">
                <a:solidFill>
                  <a:srgbClr val="1F2937"/>
                </a:solidFill>
                <a:latin typeface="Calibri"/>
              </a:rPr>
              <a:t>▸  Shubhali joyga iliq fiziologik eritmali doka 5-10 daqiqa qo‘yiladi: pergament dog‘i yumshab oqaradi, hayotiy shilinma o‘zgarmaydi.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 228-229, 225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omillar va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Chirish asosan aerob bakteriyalardan jadal kechadi; anaerob chirish sust, lekin o‘ta yoqimsiz hid beradi.</a:t>
            </a:r>
          </a:p>
          <a:p>
            <a:pPr>
              <a:spcAft>
                <a:spcPts val="800"/>
              </a:spcAft>
            </a:pPr>
            <a:r>
              <a:rPr sz="1800">
                <a:solidFill>
                  <a:srgbClr val="1F2937"/>
                </a:solidFill>
                <a:latin typeface="Calibri"/>
              </a:rPr>
              <a:t>▸  +20…+40°S da yaxshi chiriydi, minusda to‘xtaydi. Kasper indeksi 1:2:8 (havo : suv : yer).</a:t>
            </a:r>
          </a:p>
          <a:p>
            <a:pPr>
              <a:spcAft>
                <a:spcPts val="800"/>
              </a:spcAft>
            </a:pPr>
            <a:r>
              <a:rPr sz="1800">
                <a:solidFill>
                  <a:srgbClr val="1F2937"/>
                </a:solidFill>
                <a:latin typeface="Calibri"/>
              </a:rPr>
              <a:t>▸  Gazlar teri osti yog‘ida to‘planib emfizema beradi; ushlab ko‘rilganda krepitatsiya seziladi.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Chirish hidi</a:t>
            </a:r>
          </a:p>
          <a:p>
            <a:pPr algn="l">
              <a:spcAft>
                <a:spcPts val="200"/>
              </a:spcAft>
            </a:pPr>
            <a:r>
              <a:rPr sz="1400" b="0">
                <a:solidFill>
                  <a:srgbClr val="1F2937"/>
                </a:solidFill>
                <a:latin typeface="Calibri"/>
              </a:rPr>
              <a:t>1-kun, tabiiy teshiklar: H₂S, merkaptanlar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Murda yashili</a:t>
            </a:r>
          </a:p>
          <a:p>
            <a:pPr algn="l">
              <a:spcAft>
                <a:spcPts val="200"/>
              </a:spcAft>
            </a:pPr>
            <a:r>
              <a:rPr sz="1400" b="0">
                <a:solidFill>
                  <a:srgbClr val="1F2937"/>
                </a:solidFill>
                <a:latin typeface="Calibri"/>
              </a:rPr>
              <a:t>2-kun, o‘ng yonbosh: sulfgemoglobin</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Venoz to‘r</a:t>
            </a:r>
          </a:p>
          <a:p>
            <a:pPr algn="l">
              <a:spcAft>
                <a:spcPts val="200"/>
              </a:spcAft>
            </a:pPr>
            <a:r>
              <a:rPr sz="1400" b="0">
                <a:solidFill>
                  <a:srgbClr val="1F2937"/>
                </a:solidFill>
                <a:latin typeface="Calibri"/>
              </a:rPr>
              <a:t>3–4-kun, venalar bo‘ylab</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Chirish pufaklari</a:t>
            </a:r>
          </a:p>
          <a:p>
            <a:pPr algn="l">
              <a:spcAft>
                <a:spcPts val="200"/>
              </a:spcAft>
            </a:pPr>
            <a:r>
              <a:rPr sz="1400" b="0">
                <a:solidFill>
                  <a:srgbClr val="1F2937"/>
                </a:solidFill>
                <a:latin typeface="Calibri"/>
              </a:rPr>
              <a:t>4–6-kundan, epidermis ostida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Chirish belgilari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229, 230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Chirish tiplari va muddatlari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Xona haroratida chirish 2-haftada avjiga chiqadi; 3-oyda yumshoq to‘qimalar yarim suyuq massa bo‘ladi.</a:t>
            </a:r>
          </a:p>
          <a:p>
            <a:pPr>
              <a:spcAft>
                <a:spcPts val="800"/>
              </a:spcAft>
            </a:pPr>
            <a:r>
              <a:rPr sz="1800">
                <a:solidFill>
                  <a:srgbClr val="1F2937"/>
                </a:solidFill>
                <a:latin typeface="Calibri"/>
              </a:rPr>
              <a:t>▸  6-oyda yumshoq to‘qimalar emirilib, murda skeletlanadi; ko‘milgan murdada bu kechroq bo‘ladi.</a:t>
            </a:r>
          </a:p>
          <a:p>
            <a:pPr>
              <a:spcAft>
                <a:spcPts val="800"/>
              </a:spcAft>
            </a:pPr>
            <a:r>
              <a:rPr sz="1800">
                <a:solidFill>
                  <a:srgbClr val="1F2937"/>
                </a:solidFill>
                <a:latin typeface="Calibri"/>
              </a:rPr>
              <a:t>▸  Tez chiriydi: oshqozon, ichak, jigar, taloq, qon, miya. Chidamli: soch, suyak, tish, tog‘ay, boylam.</a:t>
            </a:r>
          </a:p>
        </p:txBody>
      </p:sp>
      <p:graphicFrame>
        <p:nvGraphicFramePr>
          <p:cNvPr id="9" name="Table 8"/>
          <p:cNvGraphicFramePr>
            <a:graphicFrameLocks noGrp="1"/>
          </p:cNvGraphicFramePr>
          <p:nvPr/>
        </p:nvGraphicFramePr>
        <p:xfrm>
          <a:off x="6263640" y="1463040"/>
          <a:ext cx="5287973" cy="3072384"/>
        </p:xfrm>
        <a:graphic>
          <a:graphicData uri="http://schemas.openxmlformats.org/drawingml/2006/table">
            <a:tbl>
              <a:tblPr firstRow="1" bandRow="1">
                <a:tableStyleId>{5C22544A-7EE6-4342-B048-85BDC9FD1C3A}</a:tableStyleId>
              </a:tblPr>
              <a:tblGrid>
                <a:gridCol w="1019368"/>
                <a:gridCol w="2166158"/>
                <a:gridCol w="2102447"/>
              </a:tblGrid>
              <a:tr h="768096">
                <a:tc>
                  <a:txBody>
                    <a:bodyPr/>
                    <a:lstStyle/>
                    <a:p>
                      <a:r>
                        <a:rPr sz="1600" b="1">
                          <a:solidFill>
                            <a:srgbClr val="FFFFFF"/>
                          </a:solidFill>
                        </a:rPr>
                        <a:t>Tip</a:t>
                      </a:r>
                    </a:p>
                  </a:txBody>
                  <a:tcPr marL="73152" marR="73152" marT="36576" marB="36576">
                    <a:solidFill>
                      <a:srgbClr val="0B1F3A"/>
                    </a:solidFill>
                  </a:tcPr>
                </a:tc>
                <a:tc>
                  <a:txBody>
                    <a:bodyPr/>
                    <a:lstStyle/>
                    <a:p>
                      <a:r>
                        <a:rPr sz="1600" b="1">
                          <a:solidFill>
                            <a:srgbClr val="FFFFFF"/>
                          </a:solidFill>
                        </a:rPr>
                        <a:t>Qaysi holatda</a:t>
                      </a:r>
                    </a:p>
                  </a:txBody>
                  <a:tcPr marL="73152" marR="73152" marT="36576" marB="36576">
                    <a:solidFill>
                      <a:srgbClr val="0B1F3A"/>
                    </a:solidFill>
                  </a:tcPr>
                </a:tc>
                <a:tc>
                  <a:txBody>
                    <a:bodyPr/>
                    <a:lstStyle/>
                    <a:p>
                      <a:r>
                        <a:rPr sz="1600" b="1">
                          <a:solidFill>
                            <a:srgbClr val="FFFFFF"/>
                          </a:solidFill>
                        </a:rPr>
                        <a:t>Xususiyati</a:t>
                      </a:r>
                    </a:p>
                  </a:txBody>
                  <a:tcPr marL="73152" marR="73152" marT="36576" marB="36576">
                    <a:solidFill>
                      <a:srgbClr val="0B1F3A"/>
                    </a:solidFill>
                  </a:tcPr>
                </a:tc>
              </a:tr>
              <a:tr h="768096">
                <a:tc>
                  <a:txBody>
                    <a:bodyPr/>
                    <a:lstStyle/>
                    <a:p>
                      <a:r>
                        <a:rPr sz="1500" b="0">
                          <a:solidFill>
                            <a:srgbClr val="1F2937"/>
                          </a:solidFill>
                        </a:rPr>
                        <a:t>Gazli</a:t>
                      </a:r>
                    </a:p>
                  </a:txBody>
                  <a:tcPr marL="73152" marR="73152" marT="36576" marB="36576">
                    <a:solidFill>
                      <a:srgbClr val="E8EEF6"/>
                    </a:solidFill>
                  </a:tcPr>
                </a:tc>
                <a:tc>
                  <a:txBody>
                    <a:bodyPr/>
                    <a:lstStyle/>
                    <a:p>
                      <a:r>
                        <a:rPr sz="1500" b="0">
                          <a:solidFill>
                            <a:srgbClr val="1F2937"/>
                          </a:solidFill>
                        </a:rPr>
                        <a:t>Infeksiya, septik asoratdan o‘lim</a:t>
                      </a:r>
                    </a:p>
                  </a:txBody>
                  <a:tcPr marL="73152" marR="73152" marT="36576" marB="36576">
                    <a:solidFill>
                      <a:srgbClr val="E8EEF6"/>
                    </a:solidFill>
                  </a:tcPr>
                </a:tc>
                <a:tc>
                  <a:txBody>
                    <a:bodyPr/>
                    <a:lstStyle/>
                    <a:p>
                      <a:r>
                        <a:rPr sz="1500" b="0">
                          <a:solidFill>
                            <a:srgbClr val="1F2937"/>
                          </a:solidFill>
                        </a:rPr>
                        <a:t>Emfizema kuchli rivojlanadi</a:t>
                      </a:r>
                    </a:p>
                  </a:txBody>
                  <a:tcPr marL="73152" marR="73152" marT="36576" marB="36576">
                    <a:solidFill>
                      <a:srgbClr val="E8EEF6"/>
                    </a:solidFill>
                  </a:tcPr>
                </a:tc>
              </a:tr>
              <a:tr h="768096">
                <a:tc>
                  <a:txBody>
                    <a:bodyPr/>
                    <a:lstStyle/>
                    <a:p>
                      <a:r>
                        <a:rPr sz="1500" b="0">
                          <a:solidFill>
                            <a:srgbClr val="1F2937"/>
                          </a:solidFill>
                        </a:rPr>
                        <a:t>Nam</a:t>
                      </a:r>
                    </a:p>
                  </a:txBody>
                  <a:tcPr marL="73152" marR="73152" marT="36576" marB="36576">
                    <a:solidFill>
                      <a:srgbClr val="FFFFFF"/>
                    </a:solidFill>
                  </a:tcPr>
                </a:tc>
                <a:tc>
                  <a:txBody>
                    <a:bodyPr/>
                    <a:lstStyle/>
                    <a:p>
                      <a:r>
                        <a:rPr sz="1500" b="0">
                          <a:solidFill>
                            <a:srgbClr val="1F2937"/>
                          </a:solidFill>
                        </a:rPr>
                        <a:t>Suyuqlik to‘planadigan kasalliklar</a:t>
                      </a:r>
                    </a:p>
                  </a:txBody>
                  <a:tcPr marL="73152" marR="73152" marT="36576" marB="36576">
                    <a:solidFill>
                      <a:srgbClr val="FFFFFF"/>
                    </a:solidFill>
                  </a:tcPr>
                </a:tc>
                <a:tc>
                  <a:txBody>
                    <a:bodyPr/>
                    <a:lstStyle/>
                    <a:p>
                      <a:r>
                        <a:rPr sz="1500" b="0">
                          <a:solidFill>
                            <a:srgbClr val="1F2937"/>
                          </a:solidFill>
                        </a:rPr>
                        <a:t>Chirish pufaklari yaqqol</a:t>
                      </a:r>
                    </a:p>
                  </a:txBody>
                  <a:tcPr marL="73152" marR="73152" marT="36576" marB="36576">
                    <a:solidFill>
                      <a:srgbClr val="FFFFFF"/>
                    </a:solidFill>
                  </a:tcPr>
                </a:tc>
              </a:tr>
              <a:tr h="768096">
                <a:tc>
                  <a:txBody>
                    <a:bodyPr/>
                    <a:lstStyle/>
                    <a:p>
                      <a:r>
                        <a:rPr sz="1500" b="0">
                          <a:solidFill>
                            <a:srgbClr val="1F2937"/>
                          </a:solidFill>
                        </a:rPr>
                        <a:t>Quruq</a:t>
                      </a:r>
                    </a:p>
                  </a:txBody>
                  <a:tcPr marL="73152" marR="73152" marT="36576" marB="36576">
                    <a:solidFill>
                      <a:srgbClr val="E8EEF6"/>
                    </a:solidFill>
                  </a:tcPr>
                </a:tc>
                <a:tc>
                  <a:txBody>
                    <a:bodyPr/>
                    <a:lstStyle/>
                    <a:p>
                      <a:r>
                        <a:rPr sz="1500" b="0">
                          <a:solidFill>
                            <a:srgbClr val="1F2937"/>
                          </a:solidFill>
                        </a:rPr>
                        <a:t>Kaxeksiya (rak, tuberkulez)</a:t>
                      </a:r>
                    </a:p>
                  </a:txBody>
                  <a:tcPr marL="73152" marR="73152" marT="36576" marB="36576">
                    <a:solidFill>
                      <a:srgbClr val="E8EEF6"/>
                    </a:solidFill>
                  </a:tcPr>
                </a:tc>
                <a:tc>
                  <a:txBody>
                    <a:bodyPr/>
                    <a:lstStyle/>
                    <a:p>
                      <a:r>
                        <a:rPr sz="1500" b="0">
                          <a:solidFill>
                            <a:srgbClr val="1F2937"/>
                          </a:solidFill>
                        </a:rPr>
                        <a:t>Emfizema va pufakchalar bo‘lmaydi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Chirish tiplari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231, 231-232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Hasharot va hayvonlar bilan yemirilish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Xona pashshasi o‘limdan so‘ng tez orada ko‘z, burun, og‘iz va yara atrofiga tuxum qo‘yadi. Xona haroratida 24–30 soatdan keyin lichinkalar chiqadi.</a:t>
            </a:r>
          </a:p>
          <a:p>
            <a:pPr>
              <a:spcAft>
                <a:spcPts val="1200"/>
              </a:spcAft>
            </a:pPr>
            <a:r>
              <a:rPr sz="2000">
                <a:solidFill>
                  <a:srgbClr val="1F2937"/>
                </a:solidFill>
                <a:latin typeface="Calibri"/>
              </a:rPr>
              <a:t>▸  Lichinkalar proteolitik ferment ajratib, yumshoq to‘qimani eritadi. Katta yoshlida 4–6 haftada skeletgacha, kichik bolada 1–2 haftada yemiriladi.</a:t>
            </a:r>
          </a:p>
          <a:p>
            <a:pPr>
              <a:spcAft>
                <a:spcPts val="1200"/>
              </a:spcAft>
            </a:pPr>
            <a:r>
              <a:rPr sz="2000">
                <a:solidFill>
                  <a:srgbClr val="1F2937"/>
                </a:solidFill>
                <a:latin typeface="Calibri"/>
              </a:rPr>
              <a:t>▸  Keyin nekrofag qo‘ng‘iz lichinkalari (30–45 kun) va yirtqich qo‘ng‘izlar (45–60 kun) yemiradi. Hasharotlar o‘lim muddatini aniqlashda qo‘llanadi.</a:t>
            </a:r>
          </a:p>
          <a:p>
            <a:pPr>
              <a:spcAft>
                <a:spcPts val="1200"/>
              </a:spcAft>
            </a:pPr>
            <a:r>
              <a:rPr sz="2000">
                <a:solidFill>
                  <a:srgbClr val="1F2937"/>
                </a:solidFill>
                <a:latin typeface="Calibri"/>
              </a:rPr>
              <a:t>▸  Diqqat: hayvon, qush, baliq yemirishi muddatni aniqlashga yaramaydi.</a:t>
            </a:r>
          </a:p>
          <a:p>
            <a:pPr>
              <a:spcAft>
                <a:spcPts val="1200"/>
              </a:spcAft>
            </a:pPr>
            <a:r>
              <a:rPr sz="2000">
                <a:solidFill>
                  <a:srgbClr val="1F2937"/>
                </a:solidFill>
                <a:latin typeface="Calibri"/>
              </a:rPr>
              <a:t>▸  Ularning jarohati tish-tirnoq izi, tuk, par va ajratmalar topilishi bilan hayotiydan farqlanadi.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232, 232-233, 233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O‘limdan keyingi jarohatlar: Simpson bo‘yicha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Murda ham jarohatlanishi mumkin: quruqlikdagi hayvonlar, hasharotlar, suvda baliq va qisqichbaqasimonlar, kema parraklari.</a:t>
            </a:r>
          </a:p>
          <a:p>
            <a:pPr>
              <a:spcAft>
                <a:spcPts val="800"/>
              </a:spcAft>
            </a:pPr>
            <a:r>
              <a:rPr sz="1600">
                <a:solidFill>
                  <a:srgbClr val="1F2937"/>
                </a:solidFill>
                <a:latin typeface="Calibri"/>
              </a:rPr>
              <a:t>▸  Tishlangan joy shubhali bo‘lsa, odontolog chaqiriladi.</a:t>
            </a:r>
          </a:p>
          <a:p>
            <a:pPr>
              <a:spcAft>
                <a:spcPts val="800"/>
              </a:spcAft>
            </a:pPr>
            <a:r>
              <a:rPr sz="1600">
                <a:solidFill>
                  <a:srgbClr val="1F2937"/>
                </a:solidFill>
                <a:latin typeface="Calibri"/>
              </a:rPr>
              <a:t>▸  “O‘limdan keyingi jarohatdan qon chiqmaydi” degan fikr noto‘g‘ri: ko‘pi qon sizadi, ayniqsa bosh terisi va suvdan topilgan jasadlarda.</a:t>
            </a:r>
          </a:p>
          <a:p>
            <a:pPr>
              <a:spcAft>
                <a:spcPts val="800"/>
              </a:spcAft>
            </a:pPr>
            <a:r>
              <a:rPr sz="1600">
                <a:solidFill>
                  <a:srgbClr val="1F2937"/>
                </a:solidFill>
                <a:latin typeface="Calibri"/>
              </a:rPr>
              <a:t>▸  Odatda o‘limdan keyingi yara chetlarida erta yallig‘lanish halqasi bo‘lmaydi, ammo uning yo‘qligi hayotning so‘nggi daqiqalaridagi jarohatni inkor etmaydi.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Noto‘g‘ri fikr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O‘limdan keyingi jarohatdan qon chiqmaydi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Simpson bo‘yicha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Ko‘pi qon sizadi (bosh terisi, suvdan topilgan)</a:t>
            </a:r>
          </a:p>
          <a:p>
            <a:pPr algn="l">
              <a:spcAft>
                <a:spcPts val="700"/>
              </a:spcAft>
            </a:pPr>
            <a:r>
              <a:rPr sz="1500" b="1">
                <a:solidFill>
                  <a:srgbClr val="C9A227"/>
                </a:solidFill>
                <a:latin typeface="Calibri"/>
              </a:rPr>
              <a:t>●  </a:t>
            </a:r>
            <a:r>
              <a:rPr sz="1500" b="0">
                <a:solidFill>
                  <a:srgbClr val="1F2937"/>
                </a:solidFill>
                <a:latin typeface="Calibri"/>
              </a:rPr>
              <a:t>Erta yallig‘lanish halqasi odatda yo‘q</a:t>
            </a:r>
          </a:p>
          <a:p>
            <a:pPr algn="l">
              <a:spcAft>
                <a:spcPts val="700"/>
              </a:spcAft>
            </a:pPr>
            <a:r>
              <a:rPr sz="1500" b="1">
                <a:solidFill>
                  <a:srgbClr val="C9A227"/>
                </a:solidFill>
                <a:latin typeface="Calibri"/>
              </a:rPr>
              <a:t>●  </a:t>
            </a:r>
            <a:r>
              <a:rPr sz="1500" b="0">
                <a:solidFill>
                  <a:srgbClr val="1F2937"/>
                </a:solidFill>
                <a:latin typeface="Calibri"/>
              </a:rPr>
              <a:t>Halqa yo‘qligi hayot oxiridagi jarohatni inkor etmaydi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Jarohatning hayotiy yoki o‘limdan keyingiligi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49, 49–50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Saqlovchi va sun’iy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Saqlovchi o‘zgarishlarda chirish to‘xtaydi, jarohat izlari va tashqi qiyofa saqlanib qolishi mumkin.</a:t>
            </a:r>
          </a:p>
          <a:p>
            <a:pPr>
              <a:spcAft>
                <a:spcPts val="800"/>
              </a:spcAft>
            </a:pPr>
            <a:r>
              <a:rPr sz="1800">
                <a:solidFill>
                  <a:srgbClr val="1F2937"/>
                </a:solidFill>
                <a:latin typeface="Calibri"/>
              </a:rPr>
              <a:t>▸  Balzamlash: son arteriyasi va bo‘shliqlarga etil spirti va formalin teng ulushda yuboriladi.</a:t>
            </a:r>
          </a:p>
          <a:p>
            <a:pPr>
              <a:spcAft>
                <a:spcPts val="800"/>
              </a:spcAft>
            </a:pPr>
            <a:r>
              <a:rPr sz="1800">
                <a:solidFill>
                  <a:srgbClr val="1F2937"/>
                </a:solidFill>
                <a:latin typeface="Calibri"/>
              </a:rPr>
              <a:t>▸  Qismlash ikki xil: defenziv (jinoyatni yashirish) va offenziv (qasos, haqorat). Yoqish va eritish ham yemiruvchi usul.</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809750"/>
                <a:gridCol w="2268148"/>
                <a:gridCol w="1210076"/>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Sharoit</a:t>
                      </a:r>
                    </a:p>
                  </a:txBody>
                  <a:tcPr marL="73152" marR="73152" marT="36576" marB="36576">
                    <a:solidFill>
                      <a:srgbClr val="0B1F3A"/>
                    </a:solidFill>
                  </a:tcPr>
                </a:tc>
                <a:tc>
                  <a:txBody>
                    <a:bodyPr/>
                    <a:lstStyle/>
                    <a:p>
                      <a:r>
                        <a:rPr sz="1600" b="1">
                          <a:solidFill>
                            <a:srgbClr val="FFFFFF"/>
                          </a:solidFill>
                        </a:rPr>
                        <a:t>Muddat</a:t>
                      </a:r>
                    </a:p>
                  </a:txBody>
                  <a:tcPr marL="73152" marR="73152" marT="36576" marB="36576">
                    <a:solidFill>
                      <a:srgbClr val="0B1F3A"/>
                    </a:solidFill>
                  </a:tcPr>
                </a:tc>
              </a:tr>
              <a:tr h="768096">
                <a:tc>
                  <a:txBody>
                    <a:bodyPr/>
                    <a:lstStyle/>
                    <a:p>
                      <a:r>
                        <a:rPr sz="1500" b="0">
                          <a:solidFill>
                            <a:srgbClr val="1F2937"/>
                          </a:solidFill>
                        </a:rPr>
                        <a:t>Mumifikatsiya</a:t>
                      </a:r>
                    </a:p>
                  </a:txBody>
                  <a:tcPr marL="73152" marR="73152" marT="36576" marB="36576">
                    <a:solidFill>
                      <a:srgbClr val="E8EEF6"/>
                    </a:solidFill>
                  </a:tcPr>
                </a:tc>
                <a:tc>
                  <a:txBody>
                    <a:bodyPr/>
                    <a:lstStyle/>
                    <a:p>
                      <a:r>
                        <a:rPr sz="1500" b="0">
                          <a:solidFill>
                            <a:srgbClr val="1F2937"/>
                          </a:solidFill>
                        </a:rPr>
                        <a:t>Issiq, quruq, shamollatiladigan havo</a:t>
                      </a:r>
                    </a:p>
                  </a:txBody>
                  <a:tcPr marL="73152" marR="73152" marT="36576" marB="36576">
                    <a:solidFill>
                      <a:srgbClr val="E8EEF6"/>
                    </a:solidFill>
                  </a:tcPr>
                </a:tc>
                <a:tc>
                  <a:txBody>
                    <a:bodyPr/>
                    <a:lstStyle/>
                    <a:p>
                      <a:r>
                        <a:rPr sz="1500" b="0">
                          <a:solidFill>
                            <a:srgbClr val="1F2937"/>
                          </a:solidFill>
                        </a:rPr>
                        <a:t>Katta yoshli 6–12 oy; bola 4–6 oy</a:t>
                      </a:r>
                    </a:p>
                  </a:txBody>
                  <a:tcPr marL="73152" marR="73152" marT="36576" marB="36576">
                    <a:solidFill>
                      <a:srgbClr val="E8EEF6"/>
                    </a:solidFill>
                  </a:tcPr>
                </a:tc>
              </a:tr>
              <a:tr h="768096">
                <a:tc>
                  <a:txBody>
                    <a:bodyPr/>
                    <a:lstStyle/>
                    <a:p>
                      <a:r>
                        <a:rPr sz="1500" b="0">
                          <a:solidFill>
                            <a:srgbClr val="1F2937"/>
                          </a:solidFill>
                        </a:rPr>
                        <a:t>Yog‘-mo‘m</a:t>
                      </a:r>
                    </a:p>
                  </a:txBody>
                  <a:tcPr marL="73152" marR="73152" marT="36576" marB="36576">
                    <a:solidFill>
                      <a:srgbClr val="FFFFFF"/>
                    </a:solidFill>
                  </a:tcPr>
                </a:tc>
                <a:tc>
                  <a:txBody>
                    <a:bodyPr/>
                    <a:lstStyle/>
                    <a:p>
                      <a:r>
                        <a:rPr sz="1500" b="0">
                          <a:solidFill>
                            <a:srgbClr val="1F2937"/>
                          </a:solidFill>
                        </a:rPr>
                        <a:t>Nam yoki suvli, havo kam, nisbatan sovuq</a:t>
                      </a:r>
                    </a:p>
                  </a:txBody>
                  <a:tcPr marL="73152" marR="73152" marT="36576" marB="36576">
                    <a:solidFill>
                      <a:srgbClr val="FFFFFF"/>
                    </a:solidFill>
                  </a:tcPr>
                </a:tc>
                <a:tc>
                  <a:txBody>
                    <a:bodyPr/>
                    <a:lstStyle/>
                    <a:p>
                      <a:r>
                        <a:rPr sz="1500" b="0">
                          <a:solidFill>
                            <a:srgbClr val="1F2937"/>
                          </a:solidFill>
                        </a:rPr>
                        <a:t>Boshlanishi 2–3 oy; to‘liq 10–12 oy</a:t>
                      </a:r>
                    </a:p>
                  </a:txBody>
                  <a:tcPr marL="73152" marR="73152" marT="36576" marB="36576">
                    <a:solidFill>
                      <a:srgbClr val="FFFFFF"/>
                    </a:solidFill>
                  </a:tcPr>
                </a:tc>
              </a:tr>
              <a:tr h="768096">
                <a:tc>
                  <a:txBody>
                    <a:bodyPr/>
                    <a:lstStyle/>
                    <a:p>
                      <a:r>
                        <a:rPr sz="1500" b="0">
                          <a:solidFill>
                            <a:srgbClr val="1F2937"/>
                          </a:solidFill>
                        </a:rPr>
                        <a:t>Torfli oshlash</a:t>
                      </a:r>
                    </a:p>
                  </a:txBody>
                  <a:tcPr marL="73152" marR="73152" marT="36576" marB="36576">
                    <a:solidFill>
                      <a:srgbClr val="E8EEF6"/>
                    </a:solidFill>
                  </a:tcPr>
                </a:tc>
                <a:tc>
                  <a:txBody>
                    <a:bodyPr/>
                    <a:lstStyle/>
                    <a:p>
                      <a:r>
                        <a:rPr sz="1500" b="0">
                          <a:solidFill>
                            <a:srgbClr val="1F2937"/>
                          </a:solidFill>
                        </a:rPr>
                        <a:t>Torfli botqoq, gumus kislotalari</a:t>
                      </a:r>
                    </a:p>
                  </a:txBody>
                  <a:tcPr marL="73152" marR="73152" marT="36576" marB="36576">
                    <a:solidFill>
                      <a:srgbClr val="E8EEF6"/>
                    </a:solidFill>
                  </a:tcPr>
                </a:tc>
                <a:tc>
                  <a:txBody>
                    <a:bodyPr/>
                    <a:lstStyle/>
                    <a:p>
                      <a:r>
                        <a:rPr sz="1500" b="0">
                          <a:solidFill>
                            <a:srgbClr val="1F2937"/>
                          </a:solidFill>
                        </a:rPr>
                        <a:t>Ko‘p yillar saqlanadi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Saqlovchi o‘zgarishlar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233-234, 235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kech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suvli, havosi kam, sovuq joydan murda topildi. To‘qimalari bir tekis, kul rang, yoqimsiz hidli amorf massa.</a:t>
            </a:r>
          </a:p>
          <a:p>
            <a:pPr>
              <a:spcAft>
                <a:spcPts val="1200"/>
              </a:spcAft>
            </a:pPr>
            <a:r>
              <a:rPr sz="2200">
                <a:solidFill>
                  <a:srgbClr val="1F2937"/>
                </a:solidFill>
                <a:latin typeface="Calibri"/>
              </a:rPr>
              <a:t>▸  Savol 1: bu qaysi o‘zgarish? Yog‘ gidrolizlanib, yog‘ kislotalari ishqoriy metallar bilan sovunga aylanadi (yog‘-mo‘m).</a:t>
            </a:r>
          </a:p>
          <a:p>
            <a:pPr>
              <a:spcAft>
                <a:spcPts val="1200"/>
              </a:spcAft>
            </a:pPr>
            <a:r>
              <a:rPr sz="2200">
                <a:solidFill>
                  <a:srgbClr val="1F2937"/>
                </a:solidFill>
                <a:latin typeface="Calibri"/>
              </a:rPr>
              <a:t>▸  Savol 2: o‘lim qachon bo‘lgan bo‘lishi mumkin? Yog‘-mo‘m 2–3 oydan boshlanadi, katta yoshlida to‘liq 10–12 oyda vujudga keladi.</a:t>
            </a:r>
          </a:p>
          <a:p>
            <a:pPr>
              <a:spcAft>
                <a:spcPts val="1200"/>
              </a:spcAft>
            </a:pPr>
            <a:r>
              <a:rPr sz="2200">
                <a:solidFill>
                  <a:srgbClr val="1F2937"/>
                </a:solidFill>
                <a:latin typeface="Calibri"/>
              </a:rPr>
              <a:t>▸  Diqqat: chirish ochiq havoda +20…+40°S da yaxshi kechadi. Murda suvda havoga nisbatan ikki, yerda sakkiz barobar sekin chiriydi.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234, 229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autoliz, chirish, konservatsiya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murda qaysi sharoitda mumifikatsiyalanadi? Javob: issiq, quruq havo va yaxshi ventilyatsiyada; chirish odatda to‘xtaydi.</a:t>
            </a:r>
          </a:p>
          <a:p>
            <a:pPr>
              <a:spcAft>
                <a:spcPts val="1200"/>
              </a:spcAft>
            </a:pPr>
            <a:r>
              <a:rPr sz="2200">
                <a:solidFill>
                  <a:srgbClr val="1F2937"/>
                </a:solidFill>
                <a:latin typeface="Calibri"/>
              </a:rPr>
              <a:t>▸  Savol: yog‘-mo‘m (sovunlanish) qaerda rivojlanadi? Javob: suvli yoki nam, havosiz (yoki havo juda kam) va nisbatan sovuq muhitda.</a:t>
            </a:r>
          </a:p>
          <a:p>
            <a:pPr>
              <a:spcAft>
                <a:spcPts val="1200"/>
              </a:spcAft>
            </a:pPr>
            <a:r>
              <a:rPr sz="2200">
                <a:solidFill>
                  <a:srgbClr val="1F2937"/>
                </a:solidFill>
                <a:latin typeface="Calibri"/>
              </a:rPr>
              <a:t>▸  Savol: Kasper indeksi 1:2:8 nimani bildiradi? Javob: murda havoga nisbatan suvda 2 barobar, yerda 8 barobar sekin chiriydi.</a:t>
            </a:r>
          </a:p>
          <a:p>
            <a:pPr>
              <a:spcAft>
                <a:spcPts val="1200"/>
              </a:spcAft>
            </a:pPr>
            <a:r>
              <a:rPr sz="2200">
                <a:solidFill>
                  <a:srgbClr val="1F2937"/>
                </a:solidFill>
                <a:latin typeface="Calibri"/>
              </a:rPr>
              <a:t>▸  Diqqat: xato qilish xavfi. Oshqozon shilliq qavati autolizini o‘yuvchi zahar ta’siri deb adashish mumkin; farqlash asosan mikroskopiya bilan.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233, 234, 229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 rektal termometriya hisobi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Rektal harorat kamida ikki marta o‘lchanadi. Formulalar: t = 2/3·(36,8 − T) va t = (36,9 − T)/0,889 (t — soat, T — harorat).</a:t>
            </a:r>
          </a:p>
          <a:p>
            <a:pPr>
              <a:spcAft>
                <a:spcPts val="800"/>
              </a:spcAft>
            </a:pPr>
            <a:r>
              <a:rPr sz="1800">
                <a:solidFill>
                  <a:srgbClr val="1F2937"/>
                </a:solidFill>
                <a:latin typeface="Calibri"/>
              </a:rPr>
              <a:t>▸  Misol: soat 10 da +30°S, soat 12 da +28,2°S. Ikki soatda 1,8°S sovugan, ya’ni taxminan 0,9°S/soat.</a:t>
            </a:r>
          </a:p>
          <a:p>
            <a:pPr>
              <a:spcAft>
                <a:spcPts val="800"/>
              </a:spcAft>
            </a:pPr>
            <a:r>
              <a:rPr sz="1800">
                <a:solidFill>
                  <a:srgbClr val="1F2937"/>
                </a:solidFill>
                <a:latin typeface="Calibri"/>
              </a:rPr>
              <a:t>▸  Kitob xulosasi: o‘lim soat 10 dan 7–7,5 soat oldin sodir bo‘lgan. Hisob tafsiloti matnda aniq emas.</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2 soat</a:t>
            </a:r>
          </a:p>
          <a:p>
            <a:pPr algn="l">
              <a:spcAft>
                <a:spcPts val="100"/>
              </a:spcAft>
            </a:pPr>
            <a:r>
              <a:rPr sz="3000" b="1">
                <a:solidFill>
                  <a:srgbClr val="0B1F3A"/>
                </a:solidFill>
                <a:latin typeface="Calibri"/>
              </a:rPr>
              <a:t>38,5</a:t>
            </a:r>
            <a:r>
              <a:rPr sz="1500" b="0">
                <a:solidFill>
                  <a:srgbClr val="6B7280"/>
                </a:solidFill>
                <a:latin typeface="Calibri"/>
              </a:rPr>
              <a:t>  °S</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6 soat</a:t>
            </a:r>
          </a:p>
          <a:p>
            <a:pPr algn="l">
              <a:spcAft>
                <a:spcPts val="100"/>
              </a:spcAft>
            </a:pPr>
            <a:r>
              <a:rPr sz="3000" b="1">
                <a:solidFill>
                  <a:srgbClr val="0B1F3A"/>
                </a:solidFill>
                <a:latin typeface="Calibri"/>
              </a:rPr>
              <a:t>32,8</a:t>
            </a:r>
            <a:r>
              <a:rPr sz="1500" b="0">
                <a:solidFill>
                  <a:srgbClr val="6B7280"/>
                </a:solidFill>
                <a:latin typeface="Calibri"/>
              </a:rPr>
              <a:t>  °S</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12 soat</a:t>
            </a:r>
          </a:p>
          <a:p>
            <a:pPr algn="l">
              <a:spcAft>
                <a:spcPts val="100"/>
              </a:spcAft>
            </a:pPr>
            <a:r>
              <a:rPr sz="3000" b="1">
                <a:solidFill>
                  <a:srgbClr val="0B1F3A"/>
                </a:solidFill>
                <a:latin typeface="Calibri"/>
              </a:rPr>
              <a:t>29,2</a:t>
            </a:r>
            <a:r>
              <a:rPr sz="1500" b="0">
                <a:solidFill>
                  <a:srgbClr val="6B7280"/>
                </a:solidFill>
                <a:latin typeface="Calibri"/>
              </a:rPr>
              <a:t>  °S</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24 soat</a:t>
            </a:r>
          </a:p>
          <a:p>
            <a:pPr algn="l">
              <a:spcAft>
                <a:spcPts val="100"/>
              </a:spcAft>
            </a:pPr>
            <a:r>
              <a:rPr sz="3000" b="1">
                <a:solidFill>
                  <a:srgbClr val="0B1F3A"/>
                </a:solidFill>
                <a:latin typeface="Calibri"/>
              </a:rPr>
              <a:t>23,2</a:t>
            </a:r>
            <a:r>
              <a:rPr sz="1500" b="0">
                <a:solidFill>
                  <a:srgbClr val="6B7280"/>
                </a:solidFill>
                <a:latin typeface="Calibri"/>
              </a:rPr>
              <a:t>  °S</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Rektal harorat va muddat (Bilkun, 1985)</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236-237, 236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Henssge nomogrammasi: harorat bo‘yicha muddat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Hozirda o‘lim muddatini baholashning eng foydali usuli — Henssge nomogrammasi (tana sovishiga asoslangan).</a:t>
            </a:r>
          </a:p>
          <a:p>
            <a:pPr>
              <a:spcAft>
                <a:spcPts val="800"/>
              </a:spcAft>
            </a:pPr>
            <a:r>
              <a:rPr sz="1600">
                <a:solidFill>
                  <a:srgbClr val="1F2937"/>
                </a:solidFill>
                <a:latin typeface="Calibri"/>
              </a:rPr>
              <a:t>▸  U uch o‘lchamga tayanadi: tana harorati, muhit harorati va tana vazni; birortasidagi xato natijani buzadi.</a:t>
            </a:r>
          </a:p>
          <a:p>
            <a:pPr>
              <a:spcAft>
                <a:spcPts val="800"/>
              </a:spcAft>
            </a:pPr>
            <a:r>
              <a:rPr sz="1600">
                <a:solidFill>
                  <a:srgbClr val="1F2937"/>
                </a:solidFill>
                <a:latin typeface="Calibri"/>
              </a:rPr>
              <a:t>▸  95% ishonchlilikda aniqlik eng yaxshi holatda ham eng ehtimoliy vaqtdan ±2,8 soat (jami 5,5 soatdan ortiq oraliq).</a:t>
            </a:r>
          </a:p>
          <a:p>
            <a:pPr>
              <a:spcAft>
                <a:spcPts val="800"/>
              </a:spcAft>
            </a:pPr>
            <a:r>
              <a:rPr sz="1600">
                <a:solidFill>
                  <a:srgbClr val="1F2937"/>
                </a:solidFill>
                <a:latin typeface="Calibri"/>
              </a:rPr>
              <a:t>▸  Muhit haroratining 5 °C ga o‘zgarishi eng ehtimoliy o‘lim vaqtini kamida 1 soatga siljitadi.</a:t>
            </a:r>
          </a:p>
          <a:p>
            <a:pPr>
              <a:spcAft>
                <a:spcPts val="800"/>
              </a:spcAft>
            </a:pPr>
            <a:r>
              <a:rPr sz="1600">
                <a:solidFill>
                  <a:srgbClr val="1F2937"/>
                </a:solidFill>
                <a:latin typeface="Calibri"/>
              </a:rPr>
              <a:t>▸  Tana harorati, muhit harorati va vazn qiymatlari o‘lchangach, to‘g‘ri chiziqlar yordamida o‘lim muddati o‘qiladi.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Aniqlik (95%)</a:t>
            </a:r>
          </a:p>
          <a:p>
            <a:pPr algn="l">
              <a:spcAft>
                <a:spcPts val="100"/>
              </a:spcAft>
            </a:pPr>
            <a:r>
              <a:rPr sz="3000" b="1">
                <a:solidFill>
                  <a:srgbClr val="0B1F3A"/>
                </a:solidFill>
                <a:latin typeface="Calibri"/>
              </a:rPr>
              <a:t>± 2,8</a:t>
            </a:r>
            <a:r>
              <a:rPr sz="1500" b="0">
                <a:solidFill>
                  <a:srgbClr val="6B7280"/>
                </a:solidFill>
                <a:latin typeface="Calibri"/>
              </a:rPr>
              <a:t>  soat</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Muhit ± 5 °C</a:t>
            </a:r>
          </a:p>
          <a:p>
            <a:pPr algn="l">
              <a:spcAft>
                <a:spcPts val="100"/>
              </a:spcAft>
            </a:pPr>
            <a:r>
              <a:rPr sz="2300" b="1">
                <a:solidFill>
                  <a:srgbClr val="0B1F3A"/>
                </a:solidFill>
                <a:latin typeface="Calibri"/>
              </a:rPr>
              <a:t>≥ 1</a:t>
            </a:r>
            <a:r>
              <a:rPr sz="1100" b="0">
                <a:solidFill>
                  <a:srgbClr val="6B7280"/>
                </a:solidFill>
                <a:latin typeface="Calibri"/>
              </a:rPr>
              <a:t>  soat siljish</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Namuna: rektal</a:t>
            </a:r>
          </a:p>
          <a:p>
            <a:pPr algn="l">
              <a:spcAft>
                <a:spcPts val="100"/>
              </a:spcAft>
            </a:pPr>
            <a:r>
              <a:rPr sz="3000" b="1">
                <a:solidFill>
                  <a:srgbClr val="0B1F3A"/>
                </a:solidFill>
                <a:latin typeface="Calibri"/>
              </a:rPr>
              <a:t>26,4</a:t>
            </a:r>
            <a:r>
              <a:rPr sz="1500" b="0">
                <a:solidFill>
                  <a:srgbClr val="6B7280"/>
                </a:solidFill>
                <a:latin typeface="Calibri"/>
              </a:rPr>
              <a:t>  °S</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Namuna: muhit</a:t>
            </a:r>
          </a:p>
          <a:p>
            <a:pPr algn="l">
              <a:spcAft>
                <a:spcPts val="100"/>
              </a:spcAft>
            </a:pPr>
            <a:r>
              <a:rPr sz="3000" b="1">
                <a:solidFill>
                  <a:srgbClr val="0B1F3A"/>
                </a:solidFill>
                <a:latin typeface="Calibri"/>
              </a:rPr>
              <a:t>12</a:t>
            </a:r>
            <a:r>
              <a:rPr sz="1500" b="0">
                <a:solidFill>
                  <a:srgbClr val="6B7280"/>
                </a:solidFill>
                <a:latin typeface="Calibri"/>
              </a:rPr>
              <a:t>  °S</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Namuna: vazn</a:t>
            </a:r>
          </a:p>
          <a:p>
            <a:pPr algn="l">
              <a:spcAft>
                <a:spcPts val="100"/>
              </a:spcAft>
            </a:pPr>
            <a:r>
              <a:rPr sz="3000" b="1">
                <a:solidFill>
                  <a:srgbClr val="0B1F3A"/>
                </a:solidFill>
                <a:latin typeface="Calibri"/>
              </a:rPr>
              <a:t>90</a:t>
            </a:r>
            <a:r>
              <a:rPr sz="1500" b="0">
                <a:solidFill>
                  <a:srgbClr val="6B7280"/>
                </a:solidFill>
                <a:latin typeface="Calibri"/>
              </a:rPr>
              <a:t>  kg</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Namuna: natija</a:t>
            </a:r>
          </a:p>
          <a:p>
            <a:pPr algn="l">
              <a:spcAft>
                <a:spcPts val="100"/>
              </a:spcAft>
            </a:pPr>
            <a:r>
              <a:rPr sz="2900" b="1">
                <a:solidFill>
                  <a:srgbClr val="0B1F3A"/>
                </a:solidFill>
                <a:latin typeface="Calibri"/>
              </a:rPr>
              <a:t>16 ± 1,8</a:t>
            </a:r>
            <a:r>
              <a:rPr sz="1400" b="0">
                <a:solidFill>
                  <a:srgbClr val="6B7280"/>
                </a:solidFill>
                <a:latin typeface="Calibri"/>
              </a:rPr>
              <a:t>  soat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Simpson: nomogramma ko‘rsatkichlari va namunasi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50,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Nomogramma qo‘llanish shartlari va tuzatishlar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Nomogramma kuchli nurlanish (quyosh, isitkich, sovitgich), kuchli isitma yoki umumiy gipotermiyada qo‘llanilmaydi.</a:t>
            </a:r>
          </a:p>
          <a:p>
            <a:pPr>
              <a:spcAft>
                <a:spcPts val="800"/>
              </a:spcAft>
            </a:pPr>
            <a:r>
              <a:rPr sz="1600">
                <a:solidFill>
                  <a:srgbClr val="1F2937"/>
                </a:solidFill>
                <a:latin typeface="Calibri"/>
              </a:rPr>
              <a:t>▸  O‘lim va topilgan joy bir xil bo‘lishi, sovish sharoiti o‘lim bilan ko‘rik oralig‘ida keskin o‘zgarmagan bo‘lishi kerak.</a:t>
            </a:r>
          </a:p>
          <a:p>
            <a:pPr>
              <a:spcAft>
                <a:spcPts val="800"/>
              </a:spcAft>
            </a:pPr>
            <a:r>
              <a:rPr sz="1600">
                <a:solidFill>
                  <a:srgbClr val="1F2937"/>
                </a:solidFill>
                <a:latin typeface="Calibri"/>
              </a:rPr>
              <a:t>▸  Tana ostidagi sirt issiqlikni yaxshi o‘tkazmasligi kerak; sirt va havo harorati farq qilsa, o‘rtachasi olinadi.</a:t>
            </a:r>
          </a:p>
          <a:p>
            <a:pPr>
              <a:spcAft>
                <a:spcPts val="800"/>
              </a:spcAft>
            </a:pPr>
            <a:r>
              <a:rPr sz="1600">
                <a:solidFill>
                  <a:srgbClr val="1F2937"/>
                </a:solidFill>
                <a:latin typeface="Calibri"/>
              </a:rPr>
              <a:t>▸  Kiyim-yopinchiqqa qarab vazn tuzatiladi: izolyatsiyada koeffitsient &gt;1,0, tez sovishda &lt;1,0; faqat tananing pastki qismidagi kiyim hisobga olinadi.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Nomogramma shartlari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Nurlanish</a:t>
            </a:r>
          </a:p>
          <a:p>
            <a:pPr algn="l">
              <a:spcAft>
                <a:spcPts val="0"/>
              </a:spcAft>
            </a:pPr>
            <a:r>
              <a:rPr sz="1200" b="0">
                <a:solidFill>
                  <a:srgbClr val="1F2937"/>
                </a:solidFill>
                <a:latin typeface="Calibri"/>
              </a:rPr>
              <a:t>Quyosh, isitkich, sovitgich yo‘q</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 holati</a:t>
            </a:r>
          </a:p>
          <a:p>
            <a:pPr algn="l">
              <a:spcAft>
                <a:spcPts val="0"/>
              </a:spcAft>
            </a:pPr>
            <a:r>
              <a:rPr sz="1200" b="0">
                <a:solidFill>
                  <a:srgbClr val="1F2937"/>
                </a:solidFill>
                <a:latin typeface="Calibri"/>
              </a:rPr>
              <a:t>Kuchli isitma, gipotermiya yo‘q</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Sharoit</a:t>
            </a:r>
          </a:p>
          <a:p>
            <a:pPr algn="l">
              <a:spcAft>
                <a:spcPts val="0"/>
              </a:spcAft>
            </a:pPr>
            <a:r>
              <a:rPr sz="1200" b="0">
                <a:solidFill>
                  <a:srgbClr val="1F2937"/>
                </a:solidFill>
                <a:latin typeface="Calibri"/>
              </a:rPr>
              <a:t>O‘lim va topilgan joy bir xil</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Tag sirt</a:t>
            </a:r>
          </a:p>
          <a:p>
            <a:pPr algn="l">
              <a:spcAft>
                <a:spcPts val="0"/>
              </a:spcAft>
            </a:pPr>
            <a:r>
              <a:rPr sz="1200" b="0">
                <a:solidFill>
                  <a:srgbClr val="1F2937"/>
                </a:solidFill>
                <a:latin typeface="Calibri"/>
              </a:rPr>
              <a:t>Issiqlik o‘tkazuvchanligi past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Henssge nomogrammasini qo‘llash shartlari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52, 51–52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Muddatni murda dog‘i va laboratoriya bo‘yicha aniqlash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Dog‘ 196 kPa kuch bilan 3 soniya bosiladi, rangi tiklanish vaqti o‘lchanadi. Tez o‘limda 2 soatda 9–10 s, 24 soatda 113–175 s.</a:t>
            </a:r>
          </a:p>
          <a:p>
            <a:pPr>
              <a:spcAft>
                <a:spcPts val="1200"/>
              </a:spcAft>
            </a:pPr>
            <a:r>
              <a:rPr sz="2200">
                <a:solidFill>
                  <a:srgbClr val="1F2937"/>
                </a:solidFill>
                <a:latin typeface="Calibri"/>
              </a:rPr>
              <a:t>▸  Orqa miya suyuqligi va ko‘z shishasimon tanasida kaliy ortadi, natriy kamayadi. O‘limdan 12 soatdan so‘ng to‘qimalarda AUF faolligi yo‘qoladi.</a:t>
            </a:r>
          </a:p>
          <a:p>
            <a:pPr>
              <a:spcAft>
                <a:spcPts val="1200"/>
              </a:spcAft>
            </a:pPr>
            <a:r>
              <a:rPr sz="2200">
                <a:solidFill>
                  <a:srgbClr val="1F2937"/>
                </a:solidFill>
                <a:latin typeface="Calibri"/>
              </a:rPr>
              <a:t>▸  Ichki a’zolarda autoliz 12–18 soatdan keyin boshlanadi, 36–48 soatdan so‘ng o‘ta yaqqol. Hasharot turi va rivojlanish bosqichi ham muddatni ko‘rsatadi.</a:t>
            </a:r>
          </a:p>
          <a:p>
            <a:pPr>
              <a:spcAft>
                <a:spcPts val="1200"/>
              </a:spcAft>
            </a:pPr>
            <a:r>
              <a:rPr sz="2200">
                <a:solidFill>
                  <a:srgbClr val="1F2937"/>
                </a:solidFill>
                <a:latin typeface="Calibri"/>
              </a:rPr>
              <a:t>▸  Bitta ishonchli usul yo‘q, ko‘p usul qo‘llanadi. Dastlabki 1–2 kunda aniqlik bir necha soat, kech o‘zgarishlarda kunlar, skeletda oy-yillar.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237, 237-238, 238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O‘lim muddatini baholashning boshqa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Sud entomologi lichinkalar populyatsiyasi va rivojlanish bosqichiga qarab o‘lim muddatini kunlar–oylar aniqligida baholaydi.</a:t>
            </a:r>
          </a:p>
          <a:p>
            <a:pPr>
              <a:spcAft>
                <a:spcPts val="800"/>
              </a:spcAft>
            </a:pPr>
            <a:r>
              <a:rPr sz="1600">
                <a:solidFill>
                  <a:srgbClr val="1F2937"/>
                </a:solidFill>
                <a:latin typeface="Calibri"/>
              </a:rPr>
              <a:t>▸  Tuxum–lichinka–g‘umbak sikli turga va haroratga bog‘liq; odatda taxminan 21–24 kun.</a:t>
            </a:r>
          </a:p>
          <a:p>
            <a:pPr>
              <a:spcAft>
                <a:spcPts val="800"/>
              </a:spcAft>
            </a:pPr>
            <a:r>
              <a:rPr sz="1600">
                <a:solidFill>
                  <a:srgbClr val="1F2937"/>
                </a:solidFill>
                <a:latin typeface="Calibri"/>
              </a:rPr>
              <a:t>▸  Oshqozon mazmuni taom vaqtini tasdiqlashi yoki inkor etishi mumkin, lekin o‘lim vaqtini ishonchli aniqlamaydi; hammasi saqlanadi.</a:t>
            </a:r>
          </a:p>
          <a:p>
            <a:pPr>
              <a:spcAft>
                <a:spcPts val="800"/>
              </a:spcAft>
            </a:pPr>
            <a:r>
              <a:rPr sz="1600">
                <a:solidFill>
                  <a:srgbClr val="1F2937"/>
                </a:solidFill>
                <a:latin typeface="Calibri"/>
              </a:rPr>
              <a:t>▸  Shishasimon tanada kaliy kabi biokimyoviy usullar tadqiqotda qoldi, kundalik ishda muvaffaqiyat bermagan.</a:t>
            </a:r>
          </a:p>
          <a:p>
            <a:pPr>
              <a:spcAft>
                <a:spcPts val="800"/>
              </a:spcAft>
            </a:pPr>
            <a:r>
              <a:rPr sz="1600">
                <a:solidFill>
                  <a:srgbClr val="1F2937"/>
                </a:solidFill>
                <a:latin typeface="Calibri"/>
              </a:rPr>
              <a:t>▸  Tana “iliqligini” qo‘l bilan baholash sudda ishlatilsa-da, ishonchsiz.</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Qo‘shimcha usullar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Entomologiya</a:t>
            </a:r>
          </a:p>
          <a:p>
            <a:pPr algn="l">
              <a:spcAft>
                <a:spcPts val="0"/>
              </a:spcAft>
            </a:pPr>
            <a:r>
              <a:rPr sz="1200" b="0">
                <a:solidFill>
                  <a:srgbClr val="1F2937"/>
                </a:solidFill>
                <a:latin typeface="Calibri"/>
              </a:rPr>
              <a:t>Kunlar–oylar aniqligi  ·  Hayot sikli ≈ 21–24 kun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Oshqozon mazmuni</a:t>
            </a:r>
          </a:p>
          <a:p>
            <a:pPr algn="l">
              <a:spcAft>
                <a:spcPts val="0"/>
              </a:spcAft>
            </a:pPr>
            <a:r>
              <a:rPr sz="1200" b="0">
                <a:solidFill>
                  <a:srgbClr val="1F2937"/>
                </a:solidFill>
                <a:latin typeface="Calibri"/>
              </a:rPr>
              <a:t>Taom vaqtini tasdiqlaydi  ·  O‘lim vaqtini aniqlamaydi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Mikologiya</a:t>
            </a:r>
          </a:p>
          <a:p>
            <a:pPr algn="l">
              <a:spcAft>
                <a:spcPts val="0"/>
              </a:spcAft>
            </a:pPr>
            <a:r>
              <a:rPr sz="1200" b="0">
                <a:solidFill>
                  <a:srgbClr val="1F2937"/>
                </a:solidFill>
                <a:latin typeface="Calibri"/>
              </a:rPr>
              <a:t>Ba’zi holatlarda yordam beradi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Biokimyo</a:t>
            </a:r>
          </a:p>
          <a:p>
            <a:pPr algn="l">
              <a:spcAft>
                <a:spcPts val="0"/>
              </a:spcAft>
            </a:pPr>
            <a:r>
              <a:rPr sz="1200" b="0">
                <a:solidFill>
                  <a:srgbClr val="1F2937"/>
                </a:solidFill>
                <a:latin typeface="Calibri"/>
              </a:rPr>
              <a:t>Shishasimon tana: kaliy  ·  Kundalik ishda ishlamagan</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Simpson: PMI ni baholashga qo‘shimcha usullar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53, 50, 53, 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Tanatogenez va o‘lim sabablari raqobati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Tanatogenez — o‘limning vujudga kelish mexanizmi; u sabab-oqibat bog‘langan zanjir ko‘rinishida kechadi.</a:t>
            </a:r>
          </a:p>
          <a:p>
            <a:pPr>
              <a:spcAft>
                <a:spcPts val="800"/>
              </a:spcAft>
            </a:pPr>
            <a:r>
              <a:rPr sz="1800">
                <a:solidFill>
                  <a:srgbClr val="1F2937"/>
                </a:solidFill>
                <a:latin typeface="Calibri"/>
              </a:rPr>
              <a:t>▸  Zanjirning birinchi bo‘g‘ini — uzoq sabab, oxirgisi — yaqin sabab, o‘rtadagilari — oraliq sabablar.</a:t>
            </a:r>
          </a:p>
          <a:p>
            <a:pPr>
              <a:spcAft>
                <a:spcPts val="800"/>
              </a:spcAft>
            </a:pPr>
            <a:r>
              <a:rPr sz="1800">
                <a:solidFill>
                  <a:srgbClr val="1F2937"/>
                </a:solidFill>
                <a:latin typeface="Calibri"/>
              </a:rPr>
              <a:t>▸  Raqobatda ikki shakl har biri o‘limga olib kelishi mumkin; ekspert asosiysini aniqlashga harakat qiladi.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Oshqozon yarasi (uzoq sabab)</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Perforatsiya (oraliq sabab)</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Peritonit (oraliq sabab)</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Sepsis (yaqin sabab)</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Yara kasalligi misoli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241, 242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ekspertizasi bosqichlari va hujjati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zo‘raki yoki shubhali o‘lim, noma’lum shaxs va tibbiy yordamga e’tiroz holatlarida tayinlanadi.</a:t>
            </a:r>
          </a:p>
          <a:p>
            <a:pPr>
              <a:spcAft>
                <a:spcPts val="800"/>
              </a:spcAft>
            </a:pPr>
            <a:r>
              <a:rPr sz="1800">
                <a:solidFill>
                  <a:srgbClr val="1F2937"/>
                </a:solidFill>
                <a:latin typeface="Calibri"/>
              </a:rPr>
              <a:t>▸  Ichki tekshiruvda kalla, ko‘krak va qorin bo‘shliqlari albatta ochiladi.</a:t>
            </a:r>
          </a:p>
          <a:p>
            <a:pPr>
              <a:spcAft>
                <a:spcPts val="800"/>
              </a:spcAft>
            </a:pPr>
            <a:r>
              <a:rPr sz="1800">
                <a:solidFill>
                  <a:srgbClr val="1F2937"/>
                </a:solidFill>
                <a:latin typeface="Calibri"/>
              </a:rPr>
              <a:t>▸  Ekspert xulosasi kirish, tekshiruv va to‘xtam qismlaridan iborat; diagnoz va to‘xtamni faqat ekspert imzolaydi.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Materiallar bilan tanishish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Tashqi tekshiruv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Ichki tekshiruv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Diagnoz va guvohnoma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5-6. Laboratoriya va to‘xtam</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238, 239, 240-241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Noma’lum, qismlangan, skeletlangan va eksgumatsiya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Noma’lum shaxs murdasida kiyim-bosh, “so‘z portreti” va tana belgilari (hol, tatuirovka, chandiq) tavsiflanadi; guruhiy mansublik uchun qon olinadi.</a:t>
            </a:r>
          </a:p>
          <a:p>
            <a:pPr>
              <a:spcAft>
                <a:spcPts val="1200"/>
              </a:spcAft>
            </a:pPr>
            <a:r>
              <a:rPr sz="2200">
                <a:solidFill>
                  <a:srgbClr val="1F2937"/>
                </a:solidFill>
                <a:latin typeface="Calibri"/>
              </a:rPr>
              <a:t>▸  Qismlash tasodifiy (portlash, rels, aviatsion travma) yoki jinoiy bo‘ladi; jinoiy qismlash defenziv (yashirish) va offenziv (oshkor etish) turlarga bo‘linadi.</a:t>
            </a:r>
          </a:p>
          <a:p>
            <a:pPr>
              <a:spcAft>
                <a:spcPts val="1200"/>
              </a:spcAft>
            </a:pPr>
            <a:r>
              <a:rPr sz="2200">
                <a:solidFill>
                  <a:srgbClr val="1F2937"/>
                </a:solidFill>
                <a:latin typeface="Calibri"/>
              </a:rPr>
              <a:t>▸  Skelet suyaklaridan jins, yosh va bo‘y aniqlanadi; o‘lim sababi odatda aniqlanmaydi, ammo jarohat turi, diatom plankton va ayrim zaharlar topilishi mumkin.</a:t>
            </a:r>
          </a:p>
          <a:p>
            <a:pPr>
              <a:spcAft>
                <a:spcPts val="1200"/>
              </a:spcAft>
            </a:pPr>
            <a:r>
              <a:rPr sz="2200">
                <a:solidFill>
                  <a:srgbClr val="1F2937"/>
                </a:solidFill>
                <a:latin typeface="Calibri"/>
              </a:rPr>
              <a:t>▸  Eksgumatsiya — qabrdan murdani chiqarish; u qaror yoki ajrim asosida, xolislar va mutaxassis ishtirokida o‘tkaziladi, bayonnoma tuziladi.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243, 235; 243, 244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Sud-tibbiy va patologo-anatomik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Sud-tibbiy ekspertiza protsessual tusga ega: ekspert huquq-majburiyatlari tushuntirilgani va javobgarlik haqida tilxat beradi.</a:t>
            </a:r>
          </a:p>
          <a:p>
            <a:pPr>
              <a:spcAft>
                <a:spcPts val="800"/>
              </a:spcAft>
            </a:pPr>
            <a:r>
              <a:rPr sz="1800">
                <a:solidFill>
                  <a:srgbClr val="1F2937"/>
                </a:solidFill>
                <a:latin typeface="Calibri"/>
              </a:rPr>
              <a:t>▸  Sud-tibbiy ekspertiza o‘lim joyidan qat’i nazar o‘tkaziladi, patologo-anatomik tekshiruv asosan davolash muassasalarida.</a:t>
            </a:r>
          </a:p>
          <a:p>
            <a:pPr>
              <a:spcAft>
                <a:spcPts val="800"/>
              </a:spcAft>
            </a:pPr>
            <a:r>
              <a:rPr sz="1800">
                <a:solidFill>
                  <a:srgbClr val="1F2937"/>
                </a:solidFill>
                <a:latin typeface="Calibri"/>
              </a:rPr>
              <a:t>▸  Autopsiya turlari: real (sud-tibbiy va patologo-anatomik), verbal va virtual. Virtual autopsiya hozircha faqat ilmiy muassasalarda.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Sud-tibbiy</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zo‘rakilikni tasdiqlash yoki inkor etish</a:t>
            </a:r>
          </a:p>
          <a:p>
            <a:pPr algn="l">
              <a:spcAft>
                <a:spcPts val="700"/>
              </a:spcAft>
            </a:pPr>
            <a:r>
              <a:rPr sz="1500" b="1">
                <a:solidFill>
                  <a:srgbClr val="C9A227"/>
                </a:solidFill>
                <a:latin typeface="Calibri"/>
              </a:rPr>
              <a:t>●  </a:t>
            </a:r>
            <a:r>
              <a:rPr sz="1500" b="0">
                <a:solidFill>
                  <a:srgbClr val="1F2937"/>
                </a:solidFill>
                <a:latin typeface="Calibri"/>
              </a:rPr>
              <a:t>Asos: tergovchi qarori yoki sud ajrimi</a:t>
            </a:r>
          </a:p>
          <a:p>
            <a:pPr algn="l">
              <a:spcAft>
                <a:spcPts val="700"/>
              </a:spcAft>
            </a:pPr>
            <a:r>
              <a:rPr sz="1500" b="1">
                <a:solidFill>
                  <a:srgbClr val="C9A227"/>
                </a:solidFill>
                <a:latin typeface="Calibri"/>
              </a:rPr>
              <a:t>●  </a:t>
            </a:r>
            <a:r>
              <a:rPr sz="1500" b="0">
                <a:solidFill>
                  <a:srgbClr val="1F2937"/>
                </a:solidFill>
                <a:latin typeface="Calibri"/>
              </a:rPr>
              <a:t>Hujjat: ekspert xulosasi</a:t>
            </a:r>
          </a:p>
          <a:p>
            <a:pPr algn="l">
              <a:spcAft>
                <a:spcPts val="700"/>
              </a:spcAft>
            </a:pPr>
            <a:r>
              <a:rPr sz="1500" b="1">
                <a:solidFill>
                  <a:srgbClr val="C9A227"/>
                </a:solidFill>
                <a:latin typeface="Calibri"/>
              </a:rPr>
              <a:t>●  </a:t>
            </a:r>
            <a:r>
              <a:rPr sz="1500" b="0">
                <a:solidFill>
                  <a:srgbClr val="1F2937"/>
                </a:solidFill>
                <a:latin typeface="Calibri"/>
              </a:rPr>
              <a:t>O‘lim muddatini aniqlash — muhim vazifa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Patologo-anatomik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Maqsad: davolash to‘g‘riligini nazorat qilish</a:t>
            </a:r>
          </a:p>
          <a:p>
            <a:pPr algn="l">
              <a:spcAft>
                <a:spcPts val="700"/>
              </a:spcAft>
            </a:pPr>
            <a:r>
              <a:rPr sz="1500" b="1">
                <a:solidFill>
                  <a:srgbClr val="C9A227"/>
                </a:solidFill>
                <a:latin typeface="Calibri"/>
              </a:rPr>
              <a:t>●  </a:t>
            </a:r>
            <a:r>
              <a:rPr sz="1500" b="0">
                <a:solidFill>
                  <a:srgbClr val="1F2937"/>
                </a:solidFill>
                <a:latin typeface="Calibri"/>
              </a:rPr>
              <a:t>Asos: muassasa rahbari ko‘rsatmasi</a:t>
            </a:r>
          </a:p>
          <a:p>
            <a:pPr algn="l">
              <a:spcAft>
                <a:spcPts val="700"/>
              </a:spcAft>
            </a:pPr>
            <a:r>
              <a:rPr sz="1500" b="1">
                <a:solidFill>
                  <a:srgbClr val="C9A227"/>
                </a:solidFill>
                <a:latin typeface="Calibri"/>
              </a:rPr>
              <a:t>●  </a:t>
            </a:r>
            <a:r>
              <a:rPr sz="1500" b="0">
                <a:solidFill>
                  <a:srgbClr val="1F2937"/>
                </a:solidFill>
                <a:latin typeface="Calibri"/>
              </a:rPr>
              <a:t>Hujjat: bayonnoma, kasallik tarixiga ilova</a:t>
            </a:r>
          </a:p>
          <a:p>
            <a:pPr algn="l">
              <a:spcAft>
                <a:spcPts val="700"/>
              </a:spcAft>
            </a:pPr>
            <a:r>
              <a:rPr sz="1500" b="1">
                <a:solidFill>
                  <a:srgbClr val="C9A227"/>
                </a:solidFill>
                <a:latin typeface="Calibri"/>
              </a:rPr>
              <a:t>●  </a:t>
            </a:r>
            <a:r>
              <a:rPr sz="1500" b="0">
                <a:solidFill>
                  <a:srgbClr val="1F2937"/>
                </a:solidFill>
                <a:latin typeface="Calibri"/>
              </a:rPr>
              <a:t>O‘lim muddati kasallik tarixida</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turdagi autopsiya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245, 245-246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tanatogenez va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 oshqozon yara kasalligi devor teshilishi (perforatsiya) bilan asoratlandi, peritonit rivojlandi va bemor sepsisdan vafot etdi.</a:t>
            </a:r>
          </a:p>
          <a:p>
            <a:pPr>
              <a:spcAft>
                <a:spcPts val="1200"/>
              </a:spcAft>
            </a:pPr>
            <a:r>
              <a:rPr sz="2200">
                <a:solidFill>
                  <a:srgbClr val="1F2937"/>
                </a:solidFill>
                <a:latin typeface="Calibri"/>
              </a:rPr>
              <a:t>▸  Savol 1: zanjirni tuzing. Javob: yara kasalligi — uzoq sabab; perforatsiya va peritonit — oraliq sabab; sepsis — yaqin sabab.</a:t>
            </a:r>
          </a:p>
          <a:p>
            <a:pPr>
              <a:spcAft>
                <a:spcPts val="1200"/>
              </a:spcAft>
            </a:pPr>
            <a:r>
              <a:rPr sz="2200">
                <a:solidFill>
                  <a:srgbClr val="1F2937"/>
                </a:solidFill>
                <a:latin typeface="Calibri"/>
              </a:rPr>
              <a:t>▸  Vaziyat 2: yo‘l-transport hodisasida og‘ir kalla-miya jarohati olgan jabrlanuvchi jinoyatni yashirish uchun suvga tashlandi.</a:t>
            </a:r>
          </a:p>
          <a:p>
            <a:pPr>
              <a:spcAft>
                <a:spcPts val="1200"/>
              </a:spcAft>
            </a:pPr>
            <a:r>
              <a:rPr sz="2200">
                <a:solidFill>
                  <a:srgbClr val="1F2937"/>
                </a:solidFill>
                <a:latin typeface="Calibri"/>
              </a:rPr>
              <a:t>▸  Savol 2: sabablar raqobatini va ekspertiza turini aniqlang.</a:t>
            </a:r>
          </a:p>
          <a:p>
            <a:pPr>
              <a:spcAft>
                <a:spcPts val="1200"/>
              </a:spcAft>
            </a:pPr>
            <a:r>
              <a:rPr sz="2200">
                <a:solidFill>
                  <a:srgbClr val="1F2937"/>
                </a:solidFill>
                <a:latin typeface="Calibri"/>
              </a:rPr>
              <a:t>▸  Kalla-miya jarohati va suv bilan bo‘g‘ilish uzoq sabablar raqobatidir; zo‘raki o‘lim uchun sud-tibbiy ekspertiza tayinlanadi.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241, 242, 238, 242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asosiy farqlar va eslab qolish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Murda dog‘i bosilganda yo‘qoladi yoki oqaradi, qontalash o‘zgarmaydi. Xochsimon kesmada dog‘da qon tomchilari, qontalashda ivigan qon bo‘ladi.</a:t>
            </a:r>
          </a:p>
          <a:p>
            <a:pPr>
              <a:spcAft>
                <a:spcPts val="1200"/>
              </a:spcAft>
            </a:pPr>
            <a:r>
              <a:rPr sz="2200">
                <a:solidFill>
                  <a:srgbClr val="1F2937"/>
                </a:solidFill>
                <a:latin typeface="Calibri"/>
              </a:rPr>
              <a:t>▸  Diqqat: murda dog‘i ≠ qontalash.</a:t>
            </a:r>
          </a:p>
          <a:p>
            <a:pPr>
              <a:spcAft>
                <a:spcPts val="1200"/>
              </a:spcAft>
            </a:pPr>
            <a:r>
              <a:rPr sz="2200">
                <a:solidFill>
                  <a:srgbClr val="1F2937"/>
                </a:solidFill>
                <a:latin typeface="Calibri"/>
              </a:rPr>
              <a:t>▸  Pergament dog‘ini hayotiy shilinmadan farqlash: 5-10 daqiqa iliq namlangan doka qo‘yiladi. Pergament dog‘i yumshab oqaradi, shilinma o‘zgarmaydi.</a:t>
            </a:r>
          </a:p>
          <a:p>
            <a:pPr>
              <a:spcAft>
                <a:spcPts val="1200"/>
              </a:spcAft>
            </a:pPr>
            <a:r>
              <a:rPr sz="2200">
                <a:solidFill>
                  <a:srgbClr val="1F2937"/>
                </a:solidFill>
                <a:latin typeface="Calibri"/>
              </a:rPr>
              <a:t>▸  Oshqozon shilliq qavati autolizi o‘yuvchi zahar ta’siri, oshqozon osti bezi autolizi esa pankreonekroz deb adashtirilishi mumkin. Farqlash asosan mikroskopik.</a:t>
            </a:r>
          </a:p>
          <a:p>
            <a:pPr>
              <a:spcAft>
                <a:spcPts val="1200"/>
              </a:spcAft>
            </a:pPr>
            <a:r>
              <a:rPr sz="2200">
                <a:solidFill>
                  <a:srgbClr val="1F2937"/>
                </a:solidFill>
                <a:latin typeface="Calibri"/>
              </a:rPr>
              <a:t>▸  Hayvon, qush yetkazgan jarohatni hayotiydan farqlash uchun joy, tish-timoq izlari, tuk, pat va ajratmalar hisobga olinadi.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betlar: 228-229, 225, 229, 233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Kasper indeksi 1:2:8 chirish tezligini solishtiradi. Murda havoga nisbatan suvda 2 barobar, yerda 8 barobar sekin chiriydi. Sababi: kislorod kam va harorat past. Tartib: havo, suv, yer.</a:t>
            </a:r>
          </a:p>
          <a:p>
            <a:pPr>
              <a:spcAft>
                <a:spcPts val="1200"/>
              </a:spcAft>
            </a:pPr>
            <a:r>
              <a:rPr sz="1800">
                <a:solidFill>
                  <a:srgbClr val="1F2937"/>
                </a:solidFill>
                <a:latin typeface="Calibri"/>
              </a:rPr>
              <a:t>▸  Amaliy usul: pergament dog‘i hayotiy shilinmadan farqlanadi. Shubhali joyga iliq fiziologik eritmali doka 5-10 daqiqa qo‘yiladi. Pergament dog‘i yumshab oqaradi, hayotiy shilinma o‘zgarmaydi.</a:t>
            </a:r>
          </a:p>
          <a:p>
            <a:pPr>
              <a:spcAft>
                <a:spcPts val="1200"/>
              </a:spcAft>
            </a:pPr>
            <a:r>
              <a:rPr sz="1800">
                <a:solidFill>
                  <a:srgbClr val="1F2937"/>
                </a:solidFill>
                <a:latin typeface="Calibri"/>
              </a:rPr>
              <a:t>▸  Eslab qolish: murda dog‘i bosqichlari bosilganda farqlanadi. Gipostazda dog‘ yo‘qolib tez tiklanadi, stazda oqarib sekin tiklanadi, imbibitsiyada rangi o‘zgarmaydi. Imbibitsiyada yangi joyda dog‘ ham paydo bo‘lmaydi.</a:t>
            </a:r>
          </a:p>
          <a:p>
            <a:pPr>
              <a:spcAft>
                <a:spcPts val="1200"/>
              </a:spcAft>
            </a:pPr>
            <a:r>
              <a:rPr sz="1800">
                <a:solidFill>
                  <a:srgbClr val="1F2937"/>
                </a:solidFill>
                <a:latin typeface="Calibri"/>
              </a:rPr>
              <a:t>▸  Diqqat, xato xavfi: murda dog‘i qontalashdan farq qiladi. Dog‘ning chegarasi noaniq, dog‘lar qo‘shilib ketadi, bosilganda oqaradi. Qontalash aniq chegarali, rangi o‘zgarmaydi. Shubhada xochsimon kesma qilinadi.</a:t>
            </a:r>
          </a:p>
          <a:p>
            <a:pPr>
              <a:spcAft>
                <a:spcPts val="1200"/>
              </a:spcAft>
            </a:pPr>
            <a:r>
              <a:rPr sz="1800">
                <a:solidFill>
                  <a:srgbClr val="1F2937"/>
                </a:solidFill>
                <a:latin typeface="Calibri"/>
              </a:rPr>
              <a:t>▸  Hodisa tahlili: oshqozon shilliq qavatidagi autolitik o‘zgarishlar yanglish tarzda o‘yuvchi zahar ta’siri deb baholanishi mumkin. Autolitik va hayotiy o‘zgarishlar asosan mikroskopik tekshiruvda farqlanadi.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Intravital va o'limdan keyingi o'zgarishlarning differentsial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(Tibbiyot oliy o‘quv yurtlari talabalari uchun darslik), Toshkent: Global Books nashriyoti. 2018. Bob 8 «Sud-tibbiy tanatologiya», 8.1-8.13-bo‘limlar, kitob beti 217-246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