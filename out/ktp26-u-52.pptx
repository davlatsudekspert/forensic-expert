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kollagen yoki fibrillin genlari yurak va qon tomirga ta’sir qiladi? Boshqa a’zolar ham zararlanishi mumkinmi? Doskada: mavzuning uch yo‘nalishini (soxta tolalar, MFS, vEDS) uchta ustun qilib chizing. Tipik xato: uchala holatni bir xil kasallik deb o‘ylash. Ularning genlari va xavflari har xil.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BTD sog‘lom odamlarda ham uchraydi? Hududiy tarqalish nimaga bog‘liq bo‘lishi mumkin? Doskada: ‘Kollagen — gen — to‘qima’ qisqa sxemasini chizing. Tipik xato: soxta tola borligini darhol kasallik deb baholash. Yuklama ostida yurak zaxirasi har xil bo‘lishi mumkinligini eslatib o‘ting.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ko‘prik o‘xshatishi mexanizmni qanday tushuntiradi? Soxta tolalar yurak zaxirasiga qanday ta’sir qilishi mumkin? Doskada: besh bosqichli zanjirni o‘zingiz chizing, so‘ng talabalar o‘zlari qaytaradi. Tipik xato: zanjirning oxirgi bo‘g‘inini isbotlangan sabab deb olish. Muallif faqat farazni ilgari suradi.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LVFT ni BTD ning kuchli belgisi deb hisoblash mumkin? 2) Dam olishda funksiya normal bo‘lsa, yuklamada nima o‘zgaradi? Doskada: chap qorincha kesimini chizib, ko‘ndalang tolani to‘siq va erkin devor orasiga tortilgan holda ko‘rsating, qalinlik &gt;2 mm deb belgilang. Tipik xato: talaba LVFT ni avtomatik patologiya yoki o‘tkir kasallik deb hisoblaydi; maqolada u patologik topilma deb sanalmaydi. Manbadagi o‘xshatish: ko‘prik konstruksiyasini ko‘ndalang to‘sinlar mustahkamlaydi.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guruhlar soni teng emas va bu natijani qanday cheklaydi? 2) Nega 6 yoshdan 60 yoshgacha bo‘lgan keng yosh oralig‘i taqqoslashni qiyinlashtiradi? Doskada: 4 ustunli emas, 3 ustunli jadvalni o‘zingiz chizib, yig‘indini tekshiring (47 + 86 + 110 + 367 = 610). Tipik xato: HI, IDD, VI, MPI qisqartmalarini aralashtirish; ularni ochib yozing: eshitish, intellektual va rivojlanish, ko‘rish, tayanch-harakat nuqsonlari.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aralash (to‘g‘ridan va hisoblab) VO2max o‘lchovi cheklov hisoblanadi? 2) Nega g‘ildirakli kresloda o‘tirgan ishtirokchilarda ortotest o‘tkazilmadi? Manbaga ko‘ra, ularda (n = 60) gemodinamika faqat yotgan holatda o‘lchandi. Doskada: besh bosqichli zanjirni chizing va har biriga bittadan o‘lchanadigan ko‘rsatkich yozing (EKG: QTc; TTE: EF; yuklama: VO2max). Tipik xato: EKG ni yuklama sinovi bilan aralashtirish; manbada dam olishdagi EKG alohida, yuklama sinovi esa EKG nazoratida o‘tadi.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QTc uzayishi sportchi uchun xavfli? 2) Belgisiz ishtirokchiga nima tavsiya etilgan? Doskaga chizing: EKG intervallari. Tipik xato: QTc ni formulani tanlamasdan baholash.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Savolni talabalarga oldin bering, javobni 1 daqiqadan keyin oching. Muhokama: (1) LVFT bor bo‘lsa, nega yurak tinch holatda me’yorda ishlaydi? (2) Nima uchun faqat qalin tortmalar sanaldi? Doskada: LQ ning sodda kesimini chizib, ko‘ndalang tortmani septum va erkin devor orasiga qo‘ying. Tipik xato: LVFT ni har doim kasallik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avtomatik o‘lchashdan keyin qo‘lda qayta o‘lchash kerak? (2) YUUT 55 urish/daq bo‘lsa qaysi formula tanlanadi? Doskada: YUUT o‘qi bo‘yicha ikki zonali sxema chizing (&lt;60, 60–100, &gt;100). Tipik xato: Bazettni hamma YUUT uchun qo‘llash. Qo‘shimcha: QTc o‘rtacha 417,3 ± 26,8 ms; 3 nafar (&lt;1%) da aniq uzayish bo‘lgan va chuqur tekshiruv tavsiya etilgan.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barcha ko‘rsatkichlarning diapazoni keng? (2) Ortotestda EDI ning kamayishi nimani bildiradi? Doskada: EDV − ESV = SV munosabatini chizing va EF ni hisoblang. Tipik xato: yotgan va tik holat ma’lumotlarini aralashtirish; g‘ildirakli kresloda 60 nafar ishtirokchida ortotest o‘tkazilmagan, faqat yotgan holatda o‘lchangan.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aravachadagilarda faqat yotgan holat o‘lchandi? 2) EDI tik holatda nega kamayadi? Doskaga chizing: ikki holat taqqoslash. Tipik xato: ortotestsiz o‘lchovni tik holat ko‘rsatkichi bilan solishtirish.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barcha ishtirokchilarda bir xil ergometr ishlatib bo‘lmadi? (2) To‘g‘ridan-to‘g‘ri va bilvosita o‘lchashni aralashtirish natijaga qanday xavf tug‘diradi (muallifler buni cheklov deb ko‘rsatgan)? Doskada chizish: ergometr tanlash zanjiri — yosh/nogironlik turi → ergometr → VO2max. Tipik xato: bilvosita hisoblangan VO2max ni to‘g‘ridan-to‘g‘ri o‘lchangan qiymat bilan bir xil deb o‘ylash. Eslatma: past maksimal yurak urishi yurak zaxirasi har xil safarbar bo‘lishini ko‘rsatadi.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chang‘i poygasida VO2max eng yuqori bo‘lishi kutiladi (chidamlilikka yo‘naltirilgan sport)? (2) Para-futbolda katta ichki tarqoqlik nimani anglatadi? Doskada chizish: jadvaldagi to‘rt sportni VO2max bo‘yicha pastdan yuqoriga tartiblang. Tipik xato: QTc ni faqat mashg‘ulot hajmi belgilaydi deb o‘ylash — muallif sabablarini (yuklama, simpatik faollik, yurak qayta qurilishi) faqat taxmin sifatida keltiradi. Diqqat: jadvaldagi qiymatlar grafikdan taxminiy o‘qilgan medianalar.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statistik ahamiyatli (p &lt; 0,05) natija har doim klinik ahamiyatli emas? (2) Mashg‘ulot yuklamasini belgilashda bu xulosa nimani anglatadi (VO2max va QTc bo‘yicha individual kardiologik skrining)? Doskada chizish: to‘rt ustunli effekt hajmi diagrammasi, balandligi bo‘yicha tartiblangan. Izoh: η² (eta-kvadrat) ANOVA uchun, ε² (epsilon-kvadrat) Kruskal-Wallis uchun effekt hajmi. Tipik xato: p qiymati kichik bo‘lsa, effekt ham katta deb o‘ylash. Diqqat: nosologiya → QTc ta’siri juda kichik, ya’ni p &lt; 0,05 ≠ katta effekt.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savoli: 1) Past VO2max faqat nogironlik turi bilan bog‘liqmi yoki sport turi ham muhimmi? 2) Trener-kardiolog yuklamani belgilashdan oldin qaysi tekshiruvlarni o‘tkazadi? Doskada chizish topshirig‘i: «o‘yinchi → skrining (VO2max, QTc) → qaror» zanjirini chizing. Tipik xato: past VO2max ni avtomatik «kasallik» deb baholash. Manbada u sport turi va individual farqlar bilan bog‘liq, ko‘rsatkich esa individual skrining uchun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savoli: 1) Nazorat guruhining yo‘qligi xulosalarga qanday ta’sir qiladi? 2) Bevosita va hisoblangan VO2max ni aralashtirish nimaga olib keladi? Doskada chizish topshirig‘i: cheklovlar ro‘yxatini «dizayn – guruh – o‘lchov» ustunlariga ajratib yozing. Tipik xato: topilmalarni sababiy deb talqin qilish; ko‘ndalang tadqiqot faqat bog‘liqlikni ko‘rsatadi, sababni isbotlamaydi.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savoli: 1) Yoshga bog‘liq penetrantlik bola oilasi bilan maslahatda nimani o‘zgartiradi? 2) Nega genotipi musbat, fenotipi manfiy bolada ham kuzatuv kerak? Doskada chizish topshirig‘i: Marfan triadasini uchta doira (yurak-qon tomir, ko‘z, skelet) ko‘rinishida chizing. Tipik xato: Marfan (FBN1 geni) bilan qon tomir Ehlers-Danlos sindromini (COL3A1 geni) adashtirish; bular turli genlar bilan bog‘liq turli kasalliklar.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bitta gen yurak, ko‘z va skeletni birga zararlaydi? Fibrillin-1 qaysi a‘zolarda uchraydi? Doskada: FBN1 → fibrillin-1 → mikrofibrilla → TGFβ → a‘zo belgilari zanjirini chizing. Tipik xato: fibrillin-1 ni kollagen deb aytish. Fibrillin-1 elastik tolalarning tarkibiy oqsili, kollagen emas. Manbada mutatsiya TGFβ nazoratini qanday buzishi bosqichma-bosqich yozilmagan; zanjirdagi oxirgi bosqichlar sxematik tushuntirishdir.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Z-ball nimani bildiradi (o‘rtacha qiymatdan necha standart og‘ish)? Nega bolalarda chegara 3 qilingan? Doskada: jadvalni 3 qator qilib ko‘chiring va har qatorga misol bemor yozing. Tipik xato: Z ≥ 2 ni barcha yoshga bir xil qo‘llash. Manbada bolalarda 2 va 3 chegaralari haqida ko‘p markazli dalil yo‘qligi ham qayd etilgan.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eoMFS da o‘lim sababi nima uchun aorta emas? Nega ekzon 24–32 varianti ham ball bilan tasdiqlanishi kerak? Doskada: eoMFS da klapan regurgitatsiyasi → yurak yetishmovchiligi zanjirini chizing. Tipik xato: eoMFS ni ham aorta yorilishidan o‘ladi deb o‘ylash. Eslatma: eoMFS ilgari neonatal MFS (nMFS) deb atalgan.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bolada mutlaq diametr yetarli emas? 2) Nega nomogrammani almashtirmaslik kerak? Doskada chizish: Z-ball shkalasi (0, 2, 3) va unda aholining 2,3 % hamda 0,13 % ulushlarini belgilang. Tipik xato: Z-ballni millimetrdagi diametr bilan adashtirish; bir bemorda turli nomogramma ishlatish.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o‘sish tezligini yil sayin kuzatish muhim? 2) BAV MFS bilan birga kelsa, qaysi qismga e’tibor beriladi? Doskada chizish: aorta ildizi, ko‘tariluvchi aorta va yoyni chizib, MFS va BAV kengayish joylarini turli rangda belgilang. Tipik xato: MFS va BAV aortopatiyasida kengayish joyini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Talabalarga avval savolni berib, 1 daqiqa o‘ylashga vaqt bering. Muhokama: 1) Z-ball 2,5 bo‘lgan belgisiz 8 yoshli bolada nima qilinadi? 2) Qanday holatda chegara 2 ga tushadi? Doskada chizish: Z-ball 0–2–3 shkalasida ’kulrang zona’ni (2–3) belgilang. Tipik xato: kulrang zonadagi bolani darhol davolash yoki umuman kuzatmaslik.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Aorta kengaymagan, lekin oilaviy anamnezi bor bolani umr bo‘yi oldindan davolash to‘g‘rimi? (manbada: bu eng yaxshi tanlov bo‘lmasligi mumkin, asosiysi exokardiografik kuzatuv.) 2) Yagona dori yoki kombinatsiya — nega bahs bor? Doskada chizing: aorta ildizi Z-score o‘sishi bo‘yicha uch ustunli taqqoslash (nazorat, ARB, kombinatsiya). Tipik xato: davo faqat jarrohlikkacha, deb o‘ylash — aslida operatsiyadan keyin ham davom etadi.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yengil toshlar mumkin-u, og‘ir mashq mumkin emas (zo‘riqmasdan ko‘p takror vs izometrik)? 2) Marfan sindromli bolaga futbol yoki karate o‘rniga qanday sport maslahat berasiz? Doskada chizing: ‘yashil — tavsiya, qizil — qochish’ ikki ustunli ro‘yxat. Diqqat: manbada MFS uchun rasmiy sport tavsiyalari hozircha yo‘q, bilimda bo‘shliq bor. Tipik xato: ‘sport umuman taqiqlanadi’ deb aytish — aslida sport tibbiyoti nazoratida mashq foydali.</a:t>
            </a:r>
          </a:p>
          <a:p/>
          <a:p>
            <a:r>
              <a:t>Tekshirish kerak (manbada noaniq):</a:t>
            </a:r>
          </a:p>
          <a:p>
            <a:r>
              <a:t>- Puflab chalinadigan cholg‘ular professional darajada Valsalva orqali aorta kengayishiga ta’sir qilishi mumkin; bu shaxsiy kuzatuv, tadqiqot kerak.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bolalar uchun kattalar chegarasini to‘g‘ridan-to‘g‘ri qo‘llab bo‘lmaydi? 2) Qaysi xavf omillari chegarani 45 mm gacha tushiradi (homilador bo‘lishi mumkin ayollar, gipertoniya, og‘ir regurgitatsiya va h.k.)? Doskada chizing: 50 mm va 45 mm chegaralarni ko‘rsatuvchi sodda qaror daraxti. Tipik xato: 50 mm chegarani bolalarga ham qo‘llash — manbada bolalar uchun yagona qo‘llanma yo‘q, ayrim ekspertlar kattalar ildizini moslashtirishni taklif qiladi.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TVPni echokardiografiyada muntazam baholash kerak? MVP yosh bilan qanday o‘zgaradi? Doskada: TVPning yosh bo‘yicha o‘sish chizig‘ini chizdiring. Tipik xato: TVPni Marfanga xos belgi deb o‘ylash; manbada u tashxis mezoni emas, balki ehtimoliy og‘irlik belgisi.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Marfan kardiomiopatiyasini faqat klapan regurgitatsiyasi bilan tushuntirib bo‘lmaydi? QTc uzayishi bolada qanday amaliy ehtiyotkorlik talab qiladi? Doskada: aritmiya xavfini baholash parametrlari ro‘yxatini yozdiring. Tipik xato: bolalarda ham aritmiya tarqalishi aniq deb o‘ylash; manbada bolalar bo‘yicha ko‘p markazli ma’lumot kam.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bolalarda belgilar yosh bilan paydo bo‘ladi (yoshga bog‘liq penetrantlik)? Nega miopiya mezoni bolada yashirin qolishi mumkin? Doskada: ko‘z, skelet va yurak uchun kuzatuv jadvalini chizdiring. Tipik xato: gavhar siljishini Marfanning patognomonik belgisi deb hisoblash; u boshqa kasalliklarda ham uchraydi.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Genotipi musbat, fenotipi manfiy bolada nega kuzatuv shart? 2) Kulrang zonada (Z-ball 2–3) qaysi omillar qarorni o‘zgartiradi (tizimli belgilar, aorta kengayishining progressiyasi)? Doskada: Z-ball o‘qini chizib, 2 va 3 chegaralarini belgilang, har zonaga tavsiyani yozing. Tipik xato: Z-ball 2 dan yuqori bo‘lsa darhol Marfan tashxisi qo‘yish; yoshga bog‘liq penetrantlikni unutish.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vEDS yurak-qon tomir patologiyasi nuqtai nazaridan eng xavfli EDS turlaridan biri? 2) Homilador ayolda qanday xavf bor va u kimga maslahat berishni talab qiladi? Doskada: yorilish xavfi bo‘lgan a’zolar (arteriya, ichak, bachadon, jigar, taloq) sxemasini chizing. Tipik xato: vEDS ni faqat teri va bo‘g‘im giperharakatchanligi kasalligi deb o‘ylash; asosiy xavf — qon tomir va ichki a’zolar yorilishi.</a:t>
            </a:r>
          </a:p>
          <a:p/>
          <a:p>
            <a:r>
              <a:t>Tekshirish kerak (manbada noaniq):</a:t>
            </a:r>
          </a:p>
          <a:p>
            <a:r>
              <a:t>- Tarqalishi taxminan 1:20 000–50 000 (manbada yozuv noaniq). Umr ko‘rish davomiyligi bir necha o‘n yilga qisqarib, taxminan 50 yoshni tashkil qiladi.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glitsin o‘rnini boshqa aminokislota egallasa, uch spiral buziladi? 2) Kollagen III kamayishi qon tomir devoriga qanday ta’sir qilishi mumkin? Doskada: besh bosqichli zanjirni chizib, har bosqichda mutatsiya buzishi mumkin bo‘lgan joyni belgilang. Tipik xato: III tip kollagenni I tip bilan aralashtirish; III tip alohida emas, I tip bilan birga fibrilla hosil qiladi.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glitsin uch spiral hosil bo‘lishida muhim? Nega nol-mutatsiya yengilroq kechadi? Doskada chizish: Gly-Xaa-Yaa takrori va mutatsiya turlarini og‘irlik bo‘yicha shkalaga joylashtiring. Tipik xato: barcha glitsin almashinuvlarini bir xil og‘ir deb o‘ylash; radikal hajmi muhim. Genotip-fenotip bog‘liqligining molekulyar asosi hali yaxshi aniqlanmagan.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Col3a1+/− sichqon kasallik darajasi odamnikidan yengil? 2) Tsk2/+ modeli nimani ko‘rsatadi? Doskaga chizing: model-fenotip jadvali. Tipik xato: barcha modellarni vEDS ning to‘liq nusxasi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nega yagona universal davo ehtimoli past? Selioprolol sichqonlarning turli modellarida nega qarama-qarshi natija berdi? Doskada chizish: zanjirning ustiga dori nishonlarini yozing (selioprolol, doksisiklin, ruboxistaurin, kobimetinib, gidralazin). Tipik xato: β-blokerlarni bir-birining o‘rniga ishlatish mumkin deb o‘ylash (selioprolol ≠ bisoprolol). PLC/IP3/PKC/ERK yo‘li ma’lumotlari sichqonlardan olingan, odamda tasdiqlanishi kerak.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faqat qon bosimini tushirish yetarli emas? 2) Allelga xos natija nimani anglatadi? Doskaga chizing: davo nishonlari daraxti. Tipik xato: sichqon natijasini bemorlar uchun tasdiqlangan davo deb taqdim etish.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3-4 kishilik guruhda ishlaydi. Muhokama: homiladorlik va laktatsiyada qaysi signal yo‘li kuchayadi? Kuzatuvni qanday rejalashtirish kerak? Doskada chizish: oksitotsin → PLC/IP3/PKC/ERK → aorta yorilishi sxemasi. Tipik xato: sichqon natijalarini to‘g‘ridan-to‘g‘ri odamga ko‘chirish; manbada bu ma’lumotlar hayvon modellaridan, klinik tavsiya sifatida tasdiqlanmagan.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Mustahkamlash savollari: 1) LVFT dam olishda patologiya hisoblanadimi, yuklamada nima ko‘rinadi? 2) Nega vEDSda faqat qon bosimini tushirish yetarli emas? 3) Nega Marfan bolasida aortani yillab ehokardiografiya bilan kuzatish kerak? Muhokama: uchta holatni (LVFT, vEDS, Marfan) bitta jadvalda solishtiring. Doskada chizish: uch ustunli sxema ’kasallik – gen/belgi – asosiy chora’. Tipik xato: FBN1 (Marfan) ≠ COL3A1 (vEDS) ni aralashtirish; LVFTni o‘z-o‘zidan kasallik deb hisoblash. Diqqat: gen nomlarini aniq farqlang.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Biriktiruvchi to'qima displaziyasida yurak va qon tomir patologiyasi -</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Mavzuga kirish va dars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Biriktiruvchi to‘qima displaziyasi (BTD) kollagen sintezi buzilishi bilan bog‘liq. Yurakda u chap qorincha soxta tolalari ko‘rinishida namoyon bo‘ladi.</a:t>
            </a:r>
          </a:p>
          <a:p>
            <a:pPr>
              <a:spcAft>
                <a:spcPts val="1200"/>
              </a:spcAft>
            </a:pPr>
            <a:r>
              <a:rPr sz="2200">
                <a:solidFill>
                  <a:srgbClr val="1F2937"/>
                </a:solidFill>
                <a:latin typeface="Calibri"/>
              </a:rPr>
              <a:t>▸  Marfan sindromi (MFS) FBN1 geni o‘zgarishidan kelib chiqadi. Uning asosiy yurak-qon tomir belgisi aorta ildizining kengayishidir.</a:t>
            </a:r>
          </a:p>
          <a:p>
            <a:pPr>
              <a:spcAft>
                <a:spcPts val="1200"/>
              </a:spcAft>
            </a:pPr>
            <a:r>
              <a:rPr sz="2200">
                <a:solidFill>
                  <a:srgbClr val="1F2937"/>
                </a:solidFill>
                <a:latin typeface="Calibri"/>
              </a:rPr>
              <a:t>▸  Vaskulyar Ehlers-Danlos sindromi (vEDS) COL3A1 geni mutatsiyasidan kelib chiqadi. Bunda arteriyalar yorilish xavfi yuqori bo‘ladi.</a:t>
            </a:r>
          </a:p>
          <a:p>
            <a:pPr>
              <a:spcAft>
                <a:spcPts val="1200"/>
              </a:spcAft>
            </a:pPr>
            <a:r>
              <a:rPr sz="2200">
                <a:solidFill>
                  <a:srgbClr val="1F2937"/>
                </a:solidFill>
                <a:latin typeface="Calibri"/>
              </a:rPr>
              <a:t>▸  Dars rejasi: BTD tushunchasi, soxta tolalar, Marfan sindromi, vEDS, davolash yondashuvlari va sportdagi ehtiyot choralari.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 Anwar Baban va boshq., Unique Features of Cardiovascular Involvement and Progression in Children with Marfan Syndrome Justify Dedicated Multidisciplinary Care, betlar: PMID 38667733; Omar R va boshq., Four decades in the making: Collagen III and mechanisms of vascular Ehlers Danlos Syndrome, betlar: PMID 34849481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BTD nima? Asosiy tushuncha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BTD kollagen sintezi buzilishi bilan bog‘liq. U sog‘lom aholi orasida ham, nogironligi bor shaxslar orasida ham keng tarqalgan.</a:t>
            </a:r>
          </a:p>
          <a:p>
            <a:pPr>
              <a:spcAft>
                <a:spcPts val="1200"/>
              </a:spcAft>
            </a:pPr>
            <a:r>
              <a:rPr sz="2200">
                <a:solidFill>
                  <a:srgbClr val="1F2937"/>
                </a:solidFill>
                <a:latin typeface="Calibri"/>
              </a:rPr>
              <a:t>▸  Tug‘ma nogironliklar asosan genetik kelib chiqadi. Ular odatda kollagen sintezini boshqaruvchi gen mutatsiyalari bilan bog‘liq.</a:t>
            </a:r>
          </a:p>
          <a:p>
            <a:pPr>
              <a:spcAft>
                <a:spcPts val="1200"/>
              </a:spcAft>
            </a:pPr>
            <a:r>
              <a:rPr sz="2200">
                <a:solidFill>
                  <a:srgbClr val="1F2937"/>
                </a:solidFill>
                <a:latin typeface="Calibri"/>
              </a:rPr>
              <a:t>▸  Ayrim hududlarda BTD uchrashi 70–90% gacha yetishi mumkin. Ural mintaqasida u ayniqsa yuqori.</a:t>
            </a:r>
          </a:p>
          <a:p>
            <a:pPr>
              <a:spcAft>
                <a:spcPts val="1200"/>
              </a:spcAft>
            </a:pPr>
            <a:r>
              <a:rPr sz="2200">
                <a:solidFill>
                  <a:srgbClr val="1F2937"/>
                </a:solidFill>
                <a:latin typeface="Calibri"/>
              </a:rPr>
              <a:t>▸  Diqqat: xato qilish xavfi. Soxta tolalar o‘zi patologik topilma hisoblanmaydi, chunki dam olishda yurak funksiyasi normada qoladi.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BTD mexanizmi: kollagendan yurakkacha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Kollagen sintezi buzilishi biriktiruvchi to‘qima qattiqligini pasaytiradi.</a:t>
            </a:r>
          </a:p>
          <a:p>
            <a:pPr>
              <a:spcAft>
                <a:spcPts val="800"/>
              </a:spcAft>
            </a:pPr>
            <a:r>
              <a:rPr sz="1800">
                <a:solidFill>
                  <a:srgbClr val="1F2937"/>
                </a:solidFill>
                <a:latin typeface="Calibri"/>
              </a:rPr>
              <a:t>▸  Ichi bo‘sh a’zolarda qo‘shimcha tolalar paydo bo‘ladi. Ular ko‘prikdagi qo‘shimcha to‘sinlar kabi mustahkamlaydi.</a:t>
            </a:r>
          </a:p>
          <a:p>
            <a:pPr>
              <a:spcAft>
                <a:spcPts val="800"/>
              </a:spcAft>
            </a:pPr>
            <a:r>
              <a:rPr sz="1800">
                <a:solidFill>
                  <a:srgbClr val="1F2937"/>
                </a:solidFill>
                <a:latin typeface="Calibri"/>
              </a:rPr>
              <a:t>▸  Tadqiqotda chap qorinchada 2–5 ta qalin (&gt;2 mm) soxta tola aniqlangan.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Kollagen sintezi buzilishi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To‘qima qattiqligi pasayadi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Qo‘shimcha tolali tuzilmalar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Chap qorinchada soxta tolalar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Yurak zaxirasiga ta’sir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BTD mexanizmi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Chap qorincha soxta tolalari (LVFT)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BTD kollagen sintezi buzilishi bilan bog‘liq. Yurakda, asosan chap qorinchada, soxta tolalar (LVFT) paydo bo‘lib, nasos funksiyasini normaga yaqin tutadi.</a:t>
            </a:r>
          </a:p>
          <a:p>
            <a:pPr>
              <a:spcAft>
                <a:spcPts val="800"/>
              </a:spcAft>
            </a:pPr>
            <a:r>
              <a:rPr sz="1600">
                <a:solidFill>
                  <a:srgbClr val="1F2937"/>
                </a:solidFill>
                <a:latin typeface="Calibri"/>
              </a:rPr>
              <a:t>▸  Faqat muhim LVFT hisoblandi: qalinligi &gt;2 mm, ko‘ndalang va/yoki qiya, qorinchalararo to‘siq bilan erkin devorni bog‘laydi, asosan bazal yoki o‘rta qismda.</a:t>
            </a:r>
          </a:p>
          <a:p>
            <a:pPr>
              <a:spcAft>
                <a:spcPts val="800"/>
              </a:spcAft>
            </a:pPr>
            <a:r>
              <a:rPr sz="1600">
                <a:solidFill>
                  <a:srgbClr val="1F2937"/>
                </a:solidFill>
                <a:latin typeface="Calibri"/>
              </a:rPr>
              <a:t>▸  Tekshirilgan 100% ishtirokchida 2 dan 5 gacha (o‘rtacha 3,4 ± 1) LVFT topildi. Nogironlik turi, sport, jins va yoshga bog‘liq bo‘lmadi.</a:t>
            </a:r>
          </a:p>
          <a:p>
            <a:pPr>
              <a:spcAft>
                <a:spcPts val="800"/>
              </a:spcAft>
            </a:pPr>
            <a:r>
              <a:rPr sz="1600">
                <a:solidFill>
                  <a:srgbClr val="1F2937"/>
                </a:solidFill>
                <a:latin typeface="Calibri"/>
              </a:rPr>
              <a:t>▸  Diqqat: LVFT ≠ kasallik. Dam olishda yurak funksiyasi normada, shuning uchun LVFT patologik topilma emas; lekin mexanik asinxroniya ortishi bilan bog‘liq.</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LVFT soni</a:t>
            </a:r>
          </a:p>
          <a:p>
            <a:pPr algn="l">
              <a:spcAft>
                <a:spcPts val="100"/>
              </a:spcAft>
            </a:pPr>
            <a:r>
              <a:rPr sz="3000" b="1">
                <a:solidFill>
                  <a:srgbClr val="0B1F3A"/>
                </a:solidFill>
                <a:latin typeface="Calibri"/>
              </a:rPr>
              <a:t>2–5</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O‘rtacha</a:t>
            </a:r>
          </a:p>
          <a:p>
            <a:pPr algn="l">
              <a:spcAft>
                <a:spcPts val="100"/>
              </a:spcAft>
            </a:pPr>
            <a:r>
              <a:rPr sz="3000" b="1">
                <a:solidFill>
                  <a:srgbClr val="0B1F3A"/>
                </a:solidFill>
                <a:latin typeface="Calibri"/>
              </a:rPr>
              <a:t>3,4 ± 1</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Qalinligi</a:t>
            </a:r>
          </a:p>
          <a:p>
            <a:pPr algn="l">
              <a:spcAft>
                <a:spcPts val="100"/>
              </a:spcAft>
            </a:pPr>
            <a:r>
              <a:rPr sz="3000" b="1">
                <a:solidFill>
                  <a:srgbClr val="0B1F3A"/>
                </a:solidFill>
                <a:latin typeface="Calibri"/>
              </a:rPr>
              <a:t>&gt;2 mm</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Topilish</a:t>
            </a:r>
          </a:p>
          <a:p>
            <a:pPr algn="l">
              <a:spcAft>
                <a:spcPts val="100"/>
              </a:spcAft>
            </a:pPr>
            <a:r>
              <a:rPr sz="3000" b="1">
                <a:solidFill>
                  <a:srgbClr val="0B1F3A"/>
                </a:solidFill>
                <a:latin typeface="Calibri"/>
              </a:rPr>
              <a:t>100 %</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Chap qorincha soxta tolalari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Tadqiqot guruhi: 610 nafar ishtirokchi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610 nafar ishtirokchi 6–60 yoshda edi; har birida kamida 2 ta ko‘ndalang yoki qiya LVFT bor.</a:t>
            </a:r>
          </a:p>
          <a:p>
            <a:pPr>
              <a:spcAft>
                <a:spcPts val="800"/>
              </a:spcAft>
            </a:pPr>
            <a:r>
              <a:rPr sz="1800">
                <a:solidFill>
                  <a:srgbClr val="1F2937"/>
                </a:solidFill>
                <a:latin typeface="Calibri"/>
              </a:rPr>
              <a:t>▸  Guruhlash nogironlik turi va sport ixtisosligi bo‘yicha qilindi; bu guruhlarni taqqoslash imkonini berdi.</a:t>
            </a:r>
          </a:p>
          <a:p>
            <a:pPr>
              <a:spcAft>
                <a:spcPts val="800"/>
              </a:spcAft>
            </a:pPr>
            <a:r>
              <a:rPr sz="1800">
                <a:solidFill>
                  <a:srgbClr val="1F2937"/>
                </a:solidFill>
                <a:latin typeface="Calibri"/>
              </a:rPr>
              <a:t>▸  Ish 2023–2025 yillarda Ural federal universiteti laboratoriyasida (Yekaterinburg) o‘tkazildi.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045969"/>
                <a:gridCol w="1007999"/>
                <a:gridCol w="2234006"/>
              </a:tblGrid>
              <a:tr h="614476">
                <a:tc>
                  <a:txBody>
                    <a:bodyPr/>
                    <a:lstStyle/>
                    <a:p>
                      <a:r>
                        <a:rPr sz="1600" b="1">
                          <a:solidFill>
                            <a:srgbClr val="FFFFFF"/>
                          </a:solidFill>
                        </a:rPr>
                        <a:t>Nogironlik</a:t>
                      </a:r>
                    </a:p>
                  </a:txBody>
                  <a:tcPr marL="73152" marR="73152" marT="36576" marB="36576">
                    <a:solidFill>
                      <a:srgbClr val="0B1F3A"/>
                    </a:solidFill>
                  </a:tcPr>
                </a:tc>
                <a:tc>
                  <a:txBody>
                    <a:bodyPr/>
                    <a:lstStyle/>
                    <a:p>
                      <a:r>
                        <a:rPr sz="1600" b="1">
                          <a:solidFill>
                            <a:srgbClr val="FFFFFF"/>
                          </a:solidFill>
                        </a:rPr>
                        <a:t>Soni</a:t>
                      </a:r>
                    </a:p>
                  </a:txBody>
                  <a:tcPr marL="73152" marR="73152" marT="36576" marB="36576">
                    <a:solidFill>
                      <a:srgbClr val="0B1F3A"/>
                    </a:solidFill>
                  </a:tcPr>
                </a:tc>
                <a:tc>
                  <a:txBody>
                    <a:bodyPr/>
                    <a:lstStyle/>
                    <a:p>
                      <a:r>
                        <a:rPr sz="1600" b="1">
                          <a:solidFill>
                            <a:srgbClr val="FFFFFF"/>
                          </a:solidFill>
                        </a:rPr>
                        <a:t>Sport turlari</a:t>
                      </a:r>
                    </a:p>
                  </a:txBody>
                  <a:tcPr marL="73152" marR="73152" marT="36576" marB="36576">
                    <a:solidFill>
                      <a:srgbClr val="0B1F3A"/>
                    </a:solidFill>
                  </a:tcPr>
                </a:tc>
              </a:tr>
              <a:tr h="614476">
                <a:tc>
                  <a:txBody>
                    <a:bodyPr/>
                    <a:lstStyle/>
                    <a:p>
                      <a:r>
                        <a:rPr sz="1500" b="0">
                          <a:solidFill>
                            <a:srgbClr val="1F2937"/>
                          </a:solidFill>
                        </a:rPr>
                        <a:t>Eshitish (HI)</a:t>
                      </a:r>
                    </a:p>
                  </a:txBody>
                  <a:tcPr marL="73152" marR="73152" marT="36576" marB="36576">
                    <a:solidFill>
                      <a:srgbClr val="E8EEF6"/>
                    </a:solidFill>
                  </a:tcPr>
                </a:tc>
                <a:tc>
                  <a:txBody>
                    <a:bodyPr/>
                    <a:lstStyle/>
                    <a:p>
                      <a:r>
                        <a:rPr sz="1500" b="0">
                          <a:solidFill>
                            <a:srgbClr val="1F2937"/>
                          </a:solidFill>
                        </a:rPr>
                        <a:t>47</a:t>
                      </a:r>
                    </a:p>
                  </a:txBody>
                  <a:tcPr marL="73152" marR="73152" marT="36576" marB="36576">
                    <a:solidFill>
                      <a:srgbClr val="E8EEF6"/>
                    </a:solidFill>
                  </a:tcPr>
                </a:tc>
                <a:tc>
                  <a:txBody>
                    <a:bodyPr/>
                    <a:lstStyle/>
                    <a:p>
                      <a:r>
                        <a:rPr sz="1500" b="0">
                          <a:solidFill>
                            <a:srgbClr val="1F2937"/>
                          </a:solidFill>
                        </a:rPr>
                        <a:t>Chang‘i, suzish, orientirlash</a:t>
                      </a:r>
                    </a:p>
                  </a:txBody>
                  <a:tcPr marL="73152" marR="73152" marT="36576" marB="36576">
                    <a:solidFill>
                      <a:srgbClr val="E8EEF6"/>
                    </a:solidFill>
                  </a:tcPr>
                </a:tc>
              </a:tr>
              <a:tr h="614476">
                <a:tc>
                  <a:txBody>
                    <a:bodyPr/>
                    <a:lstStyle/>
                    <a:p>
                      <a:r>
                        <a:rPr sz="1500" b="0">
                          <a:solidFill>
                            <a:srgbClr val="1F2937"/>
                          </a:solidFill>
                        </a:rPr>
                        <a:t>Intellektual (IDD)</a:t>
                      </a:r>
                    </a:p>
                  </a:txBody>
                  <a:tcPr marL="73152" marR="73152" marT="36576" marB="36576">
                    <a:solidFill>
                      <a:srgbClr val="FFFFFF"/>
                    </a:solidFill>
                  </a:tcPr>
                </a:tc>
                <a:tc>
                  <a:txBody>
                    <a:bodyPr/>
                    <a:lstStyle/>
                    <a:p>
                      <a:r>
                        <a:rPr sz="1500" b="0">
                          <a:solidFill>
                            <a:srgbClr val="1F2937"/>
                          </a:solidFill>
                        </a:rPr>
                        <a:t>86</a:t>
                      </a:r>
                    </a:p>
                  </a:txBody>
                  <a:tcPr marL="73152" marR="73152" marT="36576" marB="36576">
                    <a:solidFill>
                      <a:srgbClr val="FFFFFF"/>
                    </a:solidFill>
                  </a:tcPr>
                </a:tc>
                <a:tc>
                  <a:txBody>
                    <a:bodyPr/>
                    <a:lstStyle/>
                    <a:p>
                      <a:r>
                        <a:rPr sz="1500" b="0">
                          <a:solidFill>
                            <a:srgbClr val="1F2937"/>
                          </a:solidFill>
                        </a:rPr>
                        <a:t>Ot sporti, futbol</a:t>
                      </a:r>
                    </a:p>
                  </a:txBody>
                  <a:tcPr marL="73152" marR="73152" marT="36576" marB="36576">
                    <a:solidFill>
                      <a:srgbClr val="FFFFFF"/>
                    </a:solidFill>
                  </a:tcPr>
                </a:tc>
              </a:tr>
              <a:tr h="614476">
                <a:tc>
                  <a:txBody>
                    <a:bodyPr/>
                    <a:lstStyle/>
                    <a:p>
                      <a:r>
                        <a:rPr sz="1500" b="0">
                          <a:solidFill>
                            <a:srgbClr val="1F2937"/>
                          </a:solidFill>
                        </a:rPr>
                        <a:t>Ko‘rish (VI)</a:t>
                      </a:r>
                    </a:p>
                  </a:txBody>
                  <a:tcPr marL="73152" marR="73152" marT="36576" marB="36576">
                    <a:solidFill>
                      <a:srgbClr val="E8EEF6"/>
                    </a:solidFill>
                  </a:tcPr>
                </a:tc>
                <a:tc>
                  <a:txBody>
                    <a:bodyPr/>
                    <a:lstStyle/>
                    <a:p>
                      <a:r>
                        <a:rPr sz="1500" b="0">
                          <a:solidFill>
                            <a:srgbClr val="1F2937"/>
                          </a:solidFill>
                        </a:rPr>
                        <a:t>110</a:t>
                      </a:r>
                    </a:p>
                  </a:txBody>
                  <a:tcPr marL="73152" marR="73152" marT="36576" marB="36576">
                    <a:solidFill>
                      <a:srgbClr val="E8EEF6"/>
                    </a:solidFill>
                  </a:tcPr>
                </a:tc>
                <a:tc>
                  <a:txBody>
                    <a:bodyPr/>
                    <a:lstStyle/>
                    <a:p>
                      <a:r>
                        <a:rPr sz="1500" b="0">
                          <a:solidFill>
                            <a:srgbClr val="1F2937"/>
                          </a:solidFill>
                        </a:rPr>
                        <a:t>Marafon, suzish, chang‘i</a:t>
                      </a:r>
                    </a:p>
                  </a:txBody>
                  <a:tcPr marL="73152" marR="73152" marT="36576" marB="36576">
                    <a:solidFill>
                      <a:srgbClr val="E8EEF6"/>
                    </a:solidFill>
                  </a:tcPr>
                </a:tc>
              </a:tr>
              <a:tr h="614476">
                <a:tc>
                  <a:txBody>
                    <a:bodyPr/>
                    <a:lstStyle/>
                    <a:p>
                      <a:r>
                        <a:rPr sz="1500" b="0">
                          <a:solidFill>
                            <a:srgbClr val="1F2937"/>
                          </a:solidFill>
                        </a:rPr>
                        <a:t>Tayanch-harakat (MPI)</a:t>
                      </a:r>
                    </a:p>
                  </a:txBody>
                  <a:tcPr marL="73152" marR="73152" marT="36576" marB="36576">
                    <a:solidFill>
                      <a:srgbClr val="FFFFFF"/>
                    </a:solidFill>
                  </a:tcPr>
                </a:tc>
                <a:tc>
                  <a:txBody>
                    <a:bodyPr/>
                    <a:lstStyle/>
                    <a:p>
                      <a:r>
                        <a:rPr sz="1500" b="0">
                          <a:solidFill>
                            <a:srgbClr val="1F2937"/>
                          </a:solidFill>
                        </a:rPr>
                        <a:t>367</a:t>
                      </a:r>
                    </a:p>
                  </a:txBody>
                  <a:tcPr marL="73152" marR="73152" marT="36576" marB="36576">
                    <a:solidFill>
                      <a:srgbClr val="FFFFFF"/>
                    </a:solidFill>
                  </a:tcPr>
                </a:tc>
                <a:tc>
                  <a:txBody>
                    <a:bodyPr/>
                    <a:lstStyle/>
                    <a:p>
                      <a:r>
                        <a:rPr sz="1500" b="0">
                          <a:solidFill>
                            <a:srgbClr val="1F2937"/>
                          </a:solidFill>
                        </a:rPr>
                        <a:t>7 sport turi + boshlovchilar (146)</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Nogironlik turi bo‘yicha guruhlar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Kardiologik skrining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Tekshiruvlar xalqaro tavsiyalarga mos, bir xil operatorlar bilan, sport kardiologi nazoratida o‘tkazildi.</a:t>
            </a:r>
          </a:p>
          <a:p>
            <a:pPr>
              <a:spcAft>
                <a:spcPts val="800"/>
              </a:spcAft>
            </a:pPr>
            <a:r>
              <a:rPr sz="1800">
                <a:solidFill>
                  <a:srgbClr val="1F2937"/>
                </a:solidFill>
                <a:latin typeface="Calibri"/>
              </a:rPr>
              <a:t>▸  TTE da hajmlar va haydash fraksiyasi (EF) o‘lchandi; tana yuzasiga indekslash xato berishi mumkin edi.</a:t>
            </a:r>
          </a:p>
          <a:p>
            <a:pPr>
              <a:spcAft>
                <a:spcPts val="800"/>
              </a:spcAft>
            </a:pPr>
            <a:r>
              <a:rPr sz="1800">
                <a:solidFill>
                  <a:srgbClr val="1F2937"/>
                </a:solidFill>
                <a:latin typeface="Calibri"/>
              </a:rPr>
              <a:t>▸  Maksimal kislorod iste’moli (VO2max) 466 nafarda gaz analizatori bilan, 144 nafarda ACSM formulasi bilan hisoblandi.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Anketa, antropometriya</a:t>
            </a:r>
          </a:p>
          <a:p>
            <a:pPr algn="l">
              <a:spcAft>
                <a:spcPts val="200"/>
              </a:spcAft>
            </a:pPr>
            <a:r>
              <a:rPr sz="1400" b="0">
                <a:solidFill>
                  <a:srgbClr val="1F2937"/>
                </a:solidFill>
                <a:latin typeface="Calibri"/>
              </a:rPr>
              <a:t>Kasallik tarixi anketasi, tana tarkibi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12 yo‘nalishli EKG</a:t>
            </a:r>
          </a:p>
          <a:p>
            <a:pPr algn="l">
              <a:spcAft>
                <a:spcPts val="200"/>
              </a:spcAft>
            </a:pPr>
            <a:r>
              <a:rPr sz="1400" b="0">
                <a:solidFill>
                  <a:srgbClr val="1F2937"/>
                </a:solidFill>
                <a:latin typeface="Calibri"/>
              </a:rPr>
              <a:t>Dam holatida, QTc o‘lchanadi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Exokardiografiya</a:t>
            </a:r>
          </a:p>
          <a:p>
            <a:pPr algn="l">
              <a:spcAft>
                <a:spcPts val="200"/>
              </a:spcAft>
            </a:pPr>
            <a:r>
              <a:rPr sz="1400" b="0">
                <a:solidFill>
                  <a:srgbClr val="1F2937"/>
                </a:solidFill>
                <a:latin typeface="Calibri"/>
              </a:rPr>
              <a:t>TTE: hajmlar, EF, soxta tolalar</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Impedans kardiografiya</a:t>
            </a:r>
          </a:p>
          <a:p>
            <a:pPr algn="l">
              <a:spcAft>
                <a:spcPts val="200"/>
              </a:spcAft>
            </a:pPr>
            <a:r>
              <a:rPr sz="1400" b="0">
                <a:solidFill>
                  <a:srgbClr val="1F2937"/>
                </a:solidFill>
                <a:latin typeface="Calibri"/>
              </a:rPr>
              <a:t>Yotgan va tik holatda gemodinamika</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Yuklama sinovi</a:t>
            </a:r>
          </a:p>
          <a:p>
            <a:pPr algn="l">
              <a:spcAft>
                <a:spcPts val="200"/>
              </a:spcAft>
            </a:pPr>
            <a:r>
              <a:rPr sz="1400" b="0">
                <a:solidFill>
                  <a:srgbClr val="1F2937"/>
                </a:solidFill>
                <a:latin typeface="Calibri"/>
              </a:rPr>
              <a:t>VO2max, ergometr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Skrining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EKG topilmalari va QTc xavfi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Butun guruhda QTc 417,3 ± 26,8 (334–524) ms, PQ 142,1 ± 20 (90–230) ms, QRS 93,3 ± 10,8 (68–136) ms.</a:t>
            </a:r>
          </a:p>
          <a:p>
            <a:pPr>
              <a:spcAft>
                <a:spcPts val="800"/>
              </a:spcAft>
            </a:pPr>
            <a:r>
              <a:rPr sz="1800">
                <a:solidFill>
                  <a:srgbClr val="1F2937"/>
                </a:solidFill>
                <a:latin typeface="Calibri"/>
              </a:rPr>
              <a:t>▸  QTc qorincha elektr faolligini aks ettiradi va umumiy aholidagidan yuqori qiymatlari e’tiborni tortgan.</a:t>
            </a:r>
          </a:p>
          <a:p>
            <a:pPr>
              <a:spcAft>
                <a:spcPts val="800"/>
              </a:spcAft>
            </a:pPr>
            <a:r>
              <a:rPr sz="1800">
                <a:solidFill>
                  <a:srgbClr val="1F2937"/>
                </a:solidFill>
                <a:latin typeface="Calibri"/>
              </a:rPr>
              <a:t>▸  QTc aniq uzayishi mashq paytida hayot uchun xavfli aritmiya va to‘satdan yurak to‘xtashi xavfi omili.</a:t>
            </a:r>
          </a:p>
          <a:p>
            <a:pPr>
              <a:spcAft>
                <a:spcPts val="800"/>
              </a:spcAft>
            </a:pPr>
            <a:r>
              <a:rPr sz="1800">
                <a:solidFill>
                  <a:srgbClr val="1F2937"/>
                </a:solidFill>
                <a:latin typeface="Calibri"/>
              </a:rPr>
              <a:t>▸  Ishtirokchilarning 1 foizdan kami (n = 3) da QTc aniq uzaygan; belgi va oilaviy anamnez bo‘lmasa-da, chuqur tekshiruv tavsiya etilgan.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QTc (o‘rtacha)</a:t>
            </a:r>
          </a:p>
          <a:p>
            <a:pPr algn="l">
              <a:spcAft>
                <a:spcPts val="100"/>
              </a:spcAft>
            </a:pPr>
            <a:r>
              <a:rPr sz="2500" b="1">
                <a:solidFill>
                  <a:srgbClr val="0B1F3A"/>
                </a:solidFill>
                <a:latin typeface="Calibri"/>
              </a:rPr>
              <a:t>417,3 ± 26,8</a:t>
            </a:r>
            <a:r>
              <a:rPr sz="1200" b="0">
                <a:solidFill>
                  <a:srgbClr val="6B7280"/>
                </a:solidFill>
                <a:latin typeface="Calibri"/>
              </a:rPr>
              <a:t>  ms</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QTc oraliq</a:t>
            </a:r>
          </a:p>
          <a:p>
            <a:pPr algn="l">
              <a:spcAft>
                <a:spcPts val="100"/>
              </a:spcAft>
            </a:pPr>
            <a:r>
              <a:rPr sz="3000" b="1">
                <a:solidFill>
                  <a:srgbClr val="0B1F3A"/>
                </a:solidFill>
                <a:latin typeface="Calibri"/>
              </a:rPr>
              <a:t>334–524</a:t>
            </a:r>
            <a:r>
              <a:rPr sz="1500" b="0">
                <a:solidFill>
                  <a:srgbClr val="6B7280"/>
                </a:solidFill>
                <a:latin typeface="Calibri"/>
              </a:rPr>
              <a:t>  ms</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PQ interval</a:t>
            </a:r>
          </a:p>
          <a:p>
            <a:pPr algn="l">
              <a:spcAft>
                <a:spcPts val="100"/>
              </a:spcAft>
            </a:pPr>
            <a:r>
              <a:rPr sz="2900" b="1">
                <a:solidFill>
                  <a:srgbClr val="0B1F3A"/>
                </a:solidFill>
                <a:latin typeface="Calibri"/>
              </a:rPr>
              <a:t>142,1 ± 20</a:t>
            </a:r>
            <a:r>
              <a:rPr sz="1400" b="0">
                <a:solidFill>
                  <a:srgbClr val="6B7280"/>
                </a:solidFill>
                <a:latin typeface="Calibri"/>
              </a:rPr>
              <a:t>  ms</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QRS davomiyligi</a:t>
            </a:r>
          </a:p>
          <a:p>
            <a:pPr algn="l">
              <a:spcAft>
                <a:spcPts val="100"/>
              </a:spcAft>
            </a:pPr>
            <a:r>
              <a:rPr sz="2700" b="1">
                <a:solidFill>
                  <a:srgbClr val="0B1F3A"/>
                </a:solidFill>
                <a:latin typeface="Calibri"/>
              </a:rPr>
              <a:t>93,3 ± 10,8</a:t>
            </a:r>
            <a:r>
              <a:rPr sz="1300" b="0">
                <a:solidFill>
                  <a:srgbClr val="6B7280"/>
                </a:solidFill>
                <a:latin typeface="Calibri"/>
              </a:rPr>
              <a:t>  ms</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Aniq QTc uzayishi</a:t>
            </a:r>
          </a:p>
          <a:p>
            <a:pPr algn="l">
              <a:spcAft>
                <a:spcPts val="100"/>
              </a:spcAft>
            </a:pPr>
            <a:r>
              <a:rPr sz="3000" b="1">
                <a:solidFill>
                  <a:srgbClr val="0B1F3A"/>
                </a:solidFill>
                <a:latin typeface="Calibri"/>
              </a:rPr>
              <a:t>&lt;1 % (n=3)</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12 yo‘nalishli EKG natijalari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 3.2-bo‘lim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BTD va LVFT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biriktiruvchi to‘qima displaziyasi (BTD)da yurak chap qorinchasida (LQ) qanday qo‘shimcha tuzilmalar paydo bo‘ladi?</a:t>
            </a:r>
          </a:p>
          <a:p>
            <a:pPr>
              <a:spcAft>
                <a:spcPts val="1200"/>
              </a:spcAft>
            </a:pPr>
            <a:r>
              <a:rPr sz="2200">
                <a:solidFill>
                  <a:srgbClr val="1F2937"/>
                </a:solidFill>
                <a:latin typeface="Calibri"/>
              </a:rPr>
              <a:t>▸  Javob: yolg‘on tortmalar (LVFT, left ventricular false tendons). Ular BTD ning kuchli markeri deb hisoblandi.</a:t>
            </a:r>
          </a:p>
          <a:p>
            <a:pPr>
              <a:spcAft>
                <a:spcPts val="1200"/>
              </a:spcAft>
            </a:pPr>
            <a:r>
              <a:rPr sz="2200">
                <a:solidFill>
                  <a:srgbClr val="1F2937"/>
                </a:solidFill>
                <a:latin typeface="Calibri"/>
              </a:rPr>
              <a:t>▸  Tadqiqotda faqat qalin (&gt;2 mm), ko‘ndalang va/yoki qiyshiq tortmalar hisobga olindi. Ular LQ ning qarama-qarshi devorlarini bog‘laydi.</a:t>
            </a:r>
          </a:p>
          <a:p>
            <a:pPr>
              <a:spcAft>
                <a:spcPts val="1200"/>
              </a:spcAft>
            </a:pPr>
            <a:r>
              <a:rPr sz="2200">
                <a:solidFill>
                  <a:srgbClr val="1F2937"/>
                </a:solidFill>
                <a:latin typeface="Calibri"/>
              </a:rPr>
              <a:t>▸  Zamonaviy kardiologiya LVFT ni patologik topilma demaydi: tinch holatda yurak funksiyasi me’yor chegarasida qoladi.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EKG va QTc interval: qanday o‘lchandi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QTc qorinchalar elektr faolligini (depolyarizatsiya va repolyarizatsiya) aks ettiradi.</a:t>
            </a:r>
          </a:p>
          <a:p>
            <a:pPr>
              <a:spcAft>
                <a:spcPts val="800"/>
              </a:spcAft>
            </a:pPr>
            <a:r>
              <a:rPr sz="1800">
                <a:solidFill>
                  <a:srgbClr val="1F2937"/>
                </a:solidFill>
                <a:latin typeface="Calibri"/>
              </a:rPr>
              <a:t>▸  QTc ning aniq cho‘zilishi mashq paytida xavfli aritmiya va to‘satdan yurak to‘xtashi xavfi omilidir.</a:t>
            </a:r>
          </a:p>
          <a:p>
            <a:pPr>
              <a:spcAft>
                <a:spcPts val="800"/>
              </a:spcAft>
            </a:pPr>
            <a:r>
              <a:rPr sz="1800">
                <a:solidFill>
                  <a:srgbClr val="1F2937"/>
                </a:solidFill>
                <a:latin typeface="Calibri"/>
              </a:rPr>
              <a:t>▸  Diqqat: Bazett ≠ Framingham — formula yurak urish tezligiga (YUUT) qarab tanlanadi.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Bazett</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YUUT 60–100 urish/daq</a:t>
            </a:r>
          </a:p>
          <a:p>
            <a:pPr algn="l">
              <a:spcAft>
                <a:spcPts val="700"/>
              </a:spcAft>
            </a:pPr>
            <a:r>
              <a:rPr sz="1500" b="1">
                <a:solidFill>
                  <a:srgbClr val="C9A227"/>
                </a:solidFill>
                <a:latin typeface="Calibri"/>
              </a:rPr>
              <a:t>●  </a:t>
            </a:r>
            <a:r>
              <a:rPr sz="1500" b="0">
                <a:solidFill>
                  <a:srgbClr val="1F2937"/>
                </a:solidFill>
                <a:latin typeface="Calibri"/>
              </a:rPr>
              <a:t>QTc = QT/√(RR)</a:t>
            </a:r>
          </a:p>
          <a:p>
            <a:pPr algn="l">
              <a:spcAft>
                <a:spcPts val="700"/>
              </a:spcAft>
            </a:pPr>
            <a:r>
              <a:rPr sz="1500" b="1">
                <a:solidFill>
                  <a:srgbClr val="C9A227"/>
                </a:solidFill>
                <a:latin typeface="Calibri"/>
              </a:rPr>
              <a:t>●  </a:t>
            </a:r>
            <a:r>
              <a:rPr sz="1500" b="0">
                <a:solidFill>
                  <a:srgbClr val="1F2937"/>
                </a:solidFill>
                <a:latin typeface="Calibri"/>
              </a:rPr>
              <a:t>Eng ko‘p qo‘llanadi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Framingham</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YUUT &lt;60 yoki &gt;100</a:t>
            </a:r>
          </a:p>
          <a:p>
            <a:pPr algn="l">
              <a:spcAft>
                <a:spcPts val="700"/>
              </a:spcAft>
            </a:pPr>
            <a:r>
              <a:rPr sz="1500" b="1">
                <a:solidFill>
                  <a:srgbClr val="C9A227"/>
                </a:solidFill>
                <a:latin typeface="Calibri"/>
              </a:rPr>
              <a:t>●  </a:t>
            </a:r>
            <a:r>
              <a:rPr sz="1500" b="0">
                <a:solidFill>
                  <a:srgbClr val="1F2937"/>
                </a:solidFill>
                <a:latin typeface="Calibri"/>
              </a:rPr>
              <a:t>QTc = QT + 0,154 × (1 − RR)</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O‘lchash</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II yoki V5 ulanishda, qo‘lda</a:t>
            </a:r>
          </a:p>
          <a:p>
            <a:pPr algn="l">
              <a:spcAft>
                <a:spcPts val="700"/>
              </a:spcAft>
            </a:pPr>
            <a:r>
              <a:rPr sz="1500" b="1">
                <a:solidFill>
                  <a:srgbClr val="C9A227"/>
                </a:solidFill>
                <a:latin typeface="Calibri"/>
              </a:rPr>
              <a:t>●  </a:t>
            </a:r>
            <a:r>
              <a:rPr sz="1500" b="0">
                <a:solidFill>
                  <a:srgbClr val="1F2937"/>
                </a:solidFill>
                <a:latin typeface="Calibri"/>
              </a:rPr>
              <a:t>T to‘lqin oxiri: chegara usuli</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QTc formulalari va o‘lchash</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Exokardiografiya va gemodinamika natijalari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Transtorakal exokardiografiyada (TTE) barcha ishtirokchida 2–5 ta (3,4 ± 1) qalin LVFT topildi.</a:t>
            </a:r>
          </a:p>
          <a:p>
            <a:pPr>
              <a:spcAft>
                <a:spcPts val="800"/>
              </a:spcAft>
            </a:pPr>
            <a:r>
              <a:rPr sz="1800">
                <a:solidFill>
                  <a:srgbClr val="1F2937"/>
                </a:solidFill>
                <a:latin typeface="Calibri"/>
              </a:rPr>
              <a:t>▸  Yotgan holatda gemodinamik ko‘rsatkichlarning ko‘pi keng tarqalgan va kutilganidan past edi.</a:t>
            </a:r>
          </a:p>
          <a:p>
            <a:pPr>
              <a:spcAft>
                <a:spcPts val="800"/>
              </a:spcAft>
            </a:pPr>
            <a:r>
              <a:rPr sz="1800">
                <a:solidFill>
                  <a:srgbClr val="1F2937"/>
                </a:solidFill>
                <a:latin typeface="Calibri"/>
              </a:rPr>
              <a:t>▸  Ortotestda tik turganda diastola oxiri indeksi (EDI) o‘rtacha 16,2 ± 10,4 ga kamaydi.</a:t>
            </a:r>
          </a:p>
        </p:txBody>
      </p:sp>
      <p:graphicFrame>
        <p:nvGraphicFramePr>
          <p:cNvPr id="9" name="Table 8"/>
          <p:cNvGraphicFramePr>
            <a:graphicFrameLocks noGrp="1"/>
          </p:cNvGraphicFramePr>
          <p:nvPr/>
        </p:nvGraphicFramePr>
        <p:xfrm>
          <a:off x="6263640" y="1463040"/>
          <a:ext cx="5287973" cy="3072380"/>
        </p:xfrm>
        <a:graphic>
          <a:graphicData uri="http://schemas.openxmlformats.org/drawingml/2006/table">
            <a:tbl>
              <a:tblPr firstRow="1" bandRow="1">
                <a:tableStyleId>{5C22544A-7EE6-4342-B048-85BDC9FD1C3A}</a:tableStyleId>
              </a:tblPr>
              <a:tblGrid>
                <a:gridCol w="2558697"/>
                <a:gridCol w="1364638"/>
                <a:gridCol w="1364638"/>
              </a:tblGrid>
              <a:tr h="614476">
                <a:tc>
                  <a:txBody>
                    <a:bodyPr/>
                    <a:lstStyle/>
                    <a:p>
                      <a:r>
                        <a:rPr sz="1600" b="1">
                          <a:solidFill>
                            <a:srgbClr val="FFFFFF"/>
                          </a:solidFill>
                        </a:rPr>
                        <a:t>Ko‘rsatkich</a:t>
                      </a:r>
                    </a:p>
                  </a:txBody>
                  <a:tcPr marL="73152" marR="73152" marT="36576" marB="36576">
                    <a:solidFill>
                      <a:srgbClr val="0B1F3A"/>
                    </a:solidFill>
                  </a:tcPr>
                </a:tc>
                <a:tc>
                  <a:txBody>
                    <a:bodyPr/>
                    <a:lstStyle/>
                    <a:p>
                      <a:r>
                        <a:rPr sz="1600" b="1">
                          <a:solidFill>
                            <a:srgbClr val="FFFFFF"/>
                          </a:solidFill>
                        </a:rPr>
                        <a:t>M ± SD</a:t>
                      </a:r>
                    </a:p>
                  </a:txBody>
                  <a:tcPr marL="73152" marR="73152" marT="36576" marB="36576">
                    <a:solidFill>
                      <a:srgbClr val="0B1F3A"/>
                    </a:solidFill>
                  </a:tcPr>
                </a:tc>
                <a:tc>
                  <a:txBody>
                    <a:bodyPr/>
                    <a:lstStyle/>
                    <a:p>
                      <a:r>
                        <a:rPr sz="1600" b="1">
                          <a:solidFill>
                            <a:srgbClr val="FFFFFF"/>
                          </a:solidFill>
                        </a:rPr>
                        <a:t>Min–maks</a:t>
                      </a:r>
                    </a:p>
                  </a:txBody>
                  <a:tcPr marL="73152" marR="73152" marT="36576" marB="36576">
                    <a:solidFill>
                      <a:srgbClr val="0B1F3A"/>
                    </a:solidFill>
                  </a:tcPr>
                </a:tc>
              </a:tr>
              <a:tr h="614476">
                <a:tc>
                  <a:txBody>
                    <a:bodyPr/>
                    <a:lstStyle/>
                    <a:p>
                      <a:r>
                        <a:rPr sz="1500" b="0">
                          <a:solidFill>
                            <a:srgbClr val="1F2937"/>
                          </a:solidFill>
                        </a:rPr>
                        <a:t>EDV (diastola oxiri hajmi), mL</a:t>
                      </a:r>
                    </a:p>
                  </a:txBody>
                  <a:tcPr marL="73152" marR="73152" marT="36576" marB="36576">
                    <a:solidFill>
                      <a:srgbClr val="E8EEF6"/>
                    </a:solidFill>
                  </a:tcPr>
                </a:tc>
                <a:tc>
                  <a:txBody>
                    <a:bodyPr/>
                    <a:lstStyle/>
                    <a:p>
                      <a:r>
                        <a:rPr sz="1500" b="0">
                          <a:solidFill>
                            <a:srgbClr val="1F2937"/>
                          </a:solidFill>
                        </a:rPr>
                        <a:t>76,62 ± 23,17</a:t>
                      </a:r>
                    </a:p>
                  </a:txBody>
                  <a:tcPr marL="73152" marR="73152" marT="36576" marB="36576">
                    <a:solidFill>
                      <a:srgbClr val="E8EEF6"/>
                    </a:solidFill>
                  </a:tcPr>
                </a:tc>
                <a:tc>
                  <a:txBody>
                    <a:bodyPr/>
                    <a:lstStyle/>
                    <a:p>
                      <a:r>
                        <a:rPr sz="1500" b="0">
                          <a:solidFill>
                            <a:srgbClr val="1F2937"/>
                          </a:solidFill>
                        </a:rPr>
                        <a:t>40–133</a:t>
                      </a:r>
                    </a:p>
                  </a:txBody>
                  <a:tcPr marL="73152" marR="73152" marT="36576" marB="36576">
                    <a:solidFill>
                      <a:srgbClr val="E8EEF6"/>
                    </a:solidFill>
                  </a:tcPr>
                </a:tc>
              </a:tr>
              <a:tr h="614476">
                <a:tc>
                  <a:txBody>
                    <a:bodyPr/>
                    <a:lstStyle/>
                    <a:p>
                      <a:r>
                        <a:rPr sz="1500" b="0">
                          <a:solidFill>
                            <a:srgbClr val="1F2937"/>
                          </a:solidFill>
                        </a:rPr>
                        <a:t>ESV (sistola oxiri hajmi), mL</a:t>
                      </a:r>
                    </a:p>
                  </a:txBody>
                  <a:tcPr marL="73152" marR="73152" marT="36576" marB="36576">
                    <a:solidFill>
                      <a:srgbClr val="FFFFFF"/>
                    </a:solidFill>
                  </a:tcPr>
                </a:tc>
                <a:tc>
                  <a:txBody>
                    <a:bodyPr/>
                    <a:lstStyle/>
                    <a:p>
                      <a:r>
                        <a:rPr sz="1500" b="0">
                          <a:solidFill>
                            <a:srgbClr val="1F2937"/>
                          </a:solidFill>
                        </a:rPr>
                        <a:t>30,32 ± 11,83</a:t>
                      </a:r>
                    </a:p>
                  </a:txBody>
                  <a:tcPr marL="73152" marR="73152" marT="36576" marB="36576">
                    <a:solidFill>
                      <a:srgbClr val="FFFFFF"/>
                    </a:solidFill>
                  </a:tcPr>
                </a:tc>
                <a:tc>
                  <a:txBody>
                    <a:bodyPr/>
                    <a:lstStyle/>
                    <a:p>
                      <a:r>
                        <a:rPr sz="1500" b="0">
                          <a:solidFill>
                            <a:srgbClr val="1F2937"/>
                          </a:solidFill>
                        </a:rPr>
                        <a:t>15–66</a:t>
                      </a:r>
                    </a:p>
                  </a:txBody>
                  <a:tcPr marL="73152" marR="73152" marT="36576" marB="36576">
                    <a:solidFill>
                      <a:srgbClr val="FFFFFF"/>
                    </a:solidFill>
                  </a:tcPr>
                </a:tc>
              </a:tr>
              <a:tr h="614476">
                <a:tc>
                  <a:txBody>
                    <a:bodyPr/>
                    <a:lstStyle/>
                    <a:p>
                      <a:r>
                        <a:rPr sz="1500" b="0">
                          <a:solidFill>
                            <a:srgbClr val="1F2937"/>
                          </a:solidFill>
                        </a:rPr>
                        <a:t>SV (zarba hajmi), mL</a:t>
                      </a:r>
                    </a:p>
                  </a:txBody>
                  <a:tcPr marL="73152" marR="73152" marT="36576" marB="36576">
                    <a:solidFill>
                      <a:srgbClr val="E8EEF6"/>
                    </a:solidFill>
                  </a:tcPr>
                </a:tc>
                <a:tc>
                  <a:txBody>
                    <a:bodyPr/>
                    <a:lstStyle/>
                    <a:p>
                      <a:r>
                        <a:rPr sz="1500" b="0">
                          <a:solidFill>
                            <a:srgbClr val="1F2937"/>
                          </a:solidFill>
                        </a:rPr>
                        <a:t>43 ± 15,33</a:t>
                      </a:r>
                    </a:p>
                  </a:txBody>
                  <a:tcPr marL="73152" marR="73152" marT="36576" marB="36576">
                    <a:solidFill>
                      <a:srgbClr val="E8EEF6"/>
                    </a:solidFill>
                  </a:tcPr>
                </a:tc>
                <a:tc>
                  <a:txBody>
                    <a:bodyPr/>
                    <a:lstStyle/>
                    <a:p>
                      <a:r>
                        <a:rPr sz="1500" b="0">
                          <a:solidFill>
                            <a:srgbClr val="1F2937"/>
                          </a:solidFill>
                        </a:rPr>
                        <a:t>19–77</a:t>
                      </a:r>
                    </a:p>
                  </a:txBody>
                  <a:tcPr marL="73152" marR="73152" marT="36576" marB="36576">
                    <a:solidFill>
                      <a:srgbClr val="E8EEF6"/>
                    </a:solidFill>
                  </a:tcPr>
                </a:tc>
              </a:tr>
              <a:tr h="614476">
                <a:tc>
                  <a:txBody>
                    <a:bodyPr/>
                    <a:lstStyle/>
                    <a:p>
                      <a:r>
                        <a:rPr sz="1500" b="0">
                          <a:solidFill>
                            <a:srgbClr val="1F2937"/>
                          </a:solidFill>
                        </a:rPr>
                        <a:t>EF (otilma fraksiyasi), %</a:t>
                      </a:r>
                    </a:p>
                  </a:txBody>
                  <a:tcPr marL="73152" marR="73152" marT="36576" marB="36576">
                    <a:solidFill>
                      <a:srgbClr val="FFFFFF"/>
                    </a:solidFill>
                  </a:tcPr>
                </a:tc>
                <a:tc>
                  <a:txBody>
                    <a:bodyPr/>
                    <a:lstStyle/>
                    <a:p>
                      <a:r>
                        <a:rPr sz="1500" b="0">
                          <a:solidFill>
                            <a:srgbClr val="1F2937"/>
                          </a:solidFill>
                        </a:rPr>
                        <a:t>57,17 ± 7,4</a:t>
                      </a:r>
                    </a:p>
                  </a:txBody>
                  <a:tcPr marL="73152" marR="73152" marT="36576" marB="36576">
                    <a:solidFill>
                      <a:srgbClr val="FFFFFF"/>
                    </a:solidFill>
                  </a:tcPr>
                </a:tc>
                <a:tc>
                  <a:txBody>
                    <a:bodyPr/>
                    <a:lstStyle/>
                    <a:p>
                      <a:r>
                        <a:rPr sz="1500" b="0">
                          <a:solidFill>
                            <a:srgbClr val="1F2937"/>
                          </a:solidFill>
                        </a:rPr>
                        <a:t>40–67</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TTE: chap qorincha ko‘rsatkichlari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Gemodinamik monitoring: yotgan va tik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Impedans kardiografiya (MARG 10-01) faol ortotestda o‘tkazildi; ko‘rsatkichlar yotgan va tik holatda yozildi.</a:t>
            </a:r>
          </a:p>
          <a:p>
            <a:pPr>
              <a:spcAft>
                <a:spcPts val="800"/>
              </a:spcAft>
            </a:pPr>
            <a:r>
              <a:rPr sz="1800">
                <a:solidFill>
                  <a:srgbClr val="1F2937"/>
                </a:solidFill>
                <a:latin typeface="Calibri"/>
              </a:rPr>
              <a:t>▸  Aravachadagi 60 ishtirokchida ortotest bajarilmadi, o‘lchovlar faqat yotgan holatda olindi.</a:t>
            </a:r>
          </a:p>
          <a:p>
            <a:pPr>
              <a:spcAft>
                <a:spcPts val="800"/>
              </a:spcAft>
            </a:pPr>
            <a:r>
              <a:rPr sz="1800">
                <a:solidFill>
                  <a:srgbClr val="1F2937"/>
                </a:solidFill>
                <a:latin typeface="Calibri"/>
              </a:rPr>
              <a:t>▸  Yotgan holatda EDI 80,6 ± 14,6 (42–118) mL/m², EF 62,03 ± 3,6 %, SV 80,8 ± 23,3 mL — ko‘pi kutilganidan past.</a:t>
            </a:r>
          </a:p>
          <a:p>
            <a:pPr>
              <a:spcAft>
                <a:spcPts val="800"/>
              </a:spcAft>
            </a:pPr>
            <a:r>
              <a:rPr sz="1800">
                <a:solidFill>
                  <a:srgbClr val="1F2937"/>
                </a:solidFill>
                <a:latin typeface="Calibri"/>
              </a:rPr>
              <a:t>▸  Tik holatda EDI o‘rtacha 16,2 ± 10,4 ga kamaydi (1,1–63,0 %), tik holatdagi EDI 67,8 ± 14,3 mL/m².</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Yotgan holat</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EDI 80,6 ± 14,6 mL/m²</a:t>
            </a:r>
          </a:p>
          <a:p>
            <a:pPr algn="l">
              <a:spcAft>
                <a:spcPts val="700"/>
              </a:spcAft>
            </a:pPr>
            <a:r>
              <a:rPr sz="1500" b="1">
                <a:solidFill>
                  <a:srgbClr val="C9A227"/>
                </a:solidFill>
                <a:latin typeface="Calibri"/>
              </a:rPr>
              <a:t>●  </a:t>
            </a:r>
            <a:r>
              <a:rPr sz="1500" b="0">
                <a:solidFill>
                  <a:srgbClr val="1F2937"/>
                </a:solidFill>
                <a:latin typeface="Calibri"/>
              </a:rPr>
              <a:t>EF 62,03 ± 3,6 %</a:t>
            </a:r>
          </a:p>
          <a:p>
            <a:pPr algn="l">
              <a:spcAft>
                <a:spcPts val="700"/>
              </a:spcAft>
            </a:pPr>
            <a:r>
              <a:rPr sz="1500" b="1">
                <a:solidFill>
                  <a:srgbClr val="C9A227"/>
                </a:solidFill>
                <a:latin typeface="Calibri"/>
              </a:rPr>
              <a:t>●  </a:t>
            </a:r>
            <a:r>
              <a:rPr sz="1500" b="0">
                <a:solidFill>
                  <a:srgbClr val="1F2937"/>
                </a:solidFill>
                <a:latin typeface="Calibri"/>
              </a:rPr>
              <a:t>SV 80,8 ± 23,3 mL</a:t>
            </a:r>
          </a:p>
          <a:p>
            <a:pPr algn="l">
              <a:spcAft>
                <a:spcPts val="700"/>
              </a:spcAft>
            </a:pPr>
            <a:r>
              <a:rPr sz="1500" b="1">
                <a:solidFill>
                  <a:srgbClr val="C9A227"/>
                </a:solidFill>
                <a:latin typeface="Calibri"/>
              </a:rPr>
              <a:t>●  </a:t>
            </a:r>
            <a:r>
              <a:rPr sz="1500" b="0">
                <a:solidFill>
                  <a:srgbClr val="1F2937"/>
                </a:solidFill>
                <a:latin typeface="Calibri"/>
              </a:rPr>
              <a:t>Kutilganidan past ko‘rsatkichlar</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Tik holat (ortotest)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EDI 67,8 ± 14,3 mL/m²</a:t>
            </a:r>
          </a:p>
          <a:p>
            <a:pPr algn="l">
              <a:spcAft>
                <a:spcPts val="700"/>
              </a:spcAft>
            </a:pPr>
            <a:r>
              <a:rPr sz="1500" b="1">
                <a:solidFill>
                  <a:srgbClr val="C9A227"/>
                </a:solidFill>
                <a:latin typeface="Calibri"/>
              </a:rPr>
              <a:t>●  </a:t>
            </a:r>
            <a:r>
              <a:rPr sz="1500" b="0">
                <a:solidFill>
                  <a:srgbClr val="1F2937"/>
                </a:solidFill>
                <a:latin typeface="Calibri"/>
              </a:rPr>
              <a:t>EDI o‘rtacha 16,2 ± 10,4 ga kamaydi</a:t>
            </a:r>
          </a:p>
          <a:p>
            <a:pPr algn="l">
              <a:spcAft>
                <a:spcPts val="700"/>
              </a:spcAft>
            </a:pPr>
            <a:r>
              <a:rPr sz="1500" b="1">
                <a:solidFill>
                  <a:srgbClr val="C9A227"/>
                </a:solidFill>
                <a:latin typeface="Calibri"/>
              </a:rPr>
              <a:t>●  </a:t>
            </a:r>
            <a:r>
              <a:rPr sz="1500" b="0">
                <a:solidFill>
                  <a:srgbClr val="1F2937"/>
                </a:solidFill>
                <a:latin typeface="Calibri"/>
              </a:rPr>
              <a:t>O‘zgaruvchanlik 1,1–63,0 %</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Impedans kardiografiya natijalari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 2.6-bo‘lim, PMID 41745671, 3.3-bo‘lim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Yuklama sinovi va VO2max</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VO2max (maksimal nisbiy kislorod iste’moli) yurak funksional zaxirasi va aerob imkoniyatning ishonchli ko‘rsatkichi.</a:t>
            </a:r>
          </a:p>
          <a:p>
            <a:pPr>
              <a:spcAft>
                <a:spcPts val="800"/>
              </a:spcAft>
            </a:pPr>
            <a:r>
              <a:rPr sz="1800">
                <a:solidFill>
                  <a:srgbClr val="1F2937"/>
                </a:solidFill>
                <a:latin typeface="Calibri"/>
              </a:rPr>
              <a:t>▸  466 kishida VO2max gaz analizatori bilan o‘lchandi, 144 kishida ACSM tenglamasi orqali bilvosita hisoblandi.</a:t>
            </a:r>
          </a:p>
          <a:p>
            <a:pPr>
              <a:spcAft>
                <a:spcPts val="800"/>
              </a:spcAft>
            </a:pPr>
            <a:r>
              <a:rPr sz="1800">
                <a:solidFill>
                  <a:srgbClr val="1F2937"/>
                </a:solidFill>
                <a:latin typeface="Calibri"/>
              </a:rPr>
              <a:t>▸  VO2max 17,9–75,5 oralig‘ida (o‘rtacha 46,5 mL·kg−1·min−1); maksimal yurak urishi kutilganidan past — 168,2.</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Ergometr turlari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Step-test (zinapoya)</a:t>
            </a:r>
          </a:p>
          <a:p>
            <a:pPr algn="l">
              <a:spcAft>
                <a:spcPts val="0"/>
              </a:spcAft>
            </a:pPr>
            <a:r>
              <a:rPr sz="1200" b="0">
                <a:solidFill>
                  <a:srgbClr val="1F2937"/>
                </a:solidFill>
                <a:latin typeface="Calibri"/>
              </a:rPr>
              <a:t>12 yoshgacha bolalar (n = 183)</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Velosiped, RAMP</a:t>
            </a:r>
          </a:p>
          <a:p>
            <a:pPr algn="l">
              <a:spcAft>
                <a:spcPts val="0"/>
              </a:spcAft>
            </a:pPr>
            <a:r>
              <a:rPr sz="1200" b="0">
                <a:solidFill>
                  <a:srgbClr val="1F2937"/>
                </a:solidFill>
                <a:latin typeface="Calibri"/>
              </a:rPr>
              <a:t>Yuk ½ tana vazni/daq  ·  80 ayl/daq</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Qo‘l ergometri</a:t>
            </a:r>
          </a:p>
          <a:p>
            <a:pPr algn="l">
              <a:spcAft>
                <a:spcPts val="0"/>
              </a:spcAft>
            </a:pPr>
            <a:r>
              <a:rPr sz="1200" b="0">
                <a:solidFill>
                  <a:srgbClr val="1F2937"/>
                </a:solidFill>
                <a:latin typeface="Calibri"/>
              </a:rPr>
              <a:t>Aravachadagilar (n = 37)  ·  Oyog‘i cheklanganlar</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Yuklama sinovi vositalari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Sport turlari bo‘yicha VO2max va QTc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Chang‘i poygasida VO2max eng yuqori (mediana ~50), para-xokkeyda eng past (31–32 mL·kg−1·min−1).</a:t>
            </a:r>
          </a:p>
          <a:p>
            <a:pPr>
              <a:spcAft>
                <a:spcPts val="800"/>
              </a:spcAft>
            </a:pPr>
            <a:r>
              <a:rPr sz="1800">
                <a:solidFill>
                  <a:srgbClr val="1F2937"/>
                </a:solidFill>
                <a:latin typeface="Calibri"/>
              </a:rPr>
              <a:t>▸  Sport turi ta’siri: VO2max uchun p = 0,00063, η² = 0,158; QTc uchun p &lt; 0,00001, ε² = 0,146 (o‘rta effekt).</a:t>
            </a:r>
          </a:p>
          <a:p>
            <a:pPr>
              <a:spcAft>
                <a:spcPts val="800"/>
              </a:spcAft>
            </a:pPr>
            <a:r>
              <a:rPr sz="1800">
                <a:solidFill>
                  <a:srgbClr val="1F2937"/>
                </a:solidFill>
                <a:latin typeface="Calibri"/>
              </a:rPr>
              <a:t>▸  QTc (tuzatilgan QT intervali): para-suzishda tarqoqlik eng keng (≈335–485 ms), para-futbolda mediana past.</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762658"/>
                <a:gridCol w="1762658"/>
                <a:gridCol w="1762658"/>
              </a:tblGrid>
              <a:tr h="614476">
                <a:tc>
                  <a:txBody>
                    <a:bodyPr/>
                    <a:lstStyle/>
                    <a:p>
                      <a:r>
                        <a:rPr sz="1600" b="1">
                          <a:solidFill>
                            <a:srgbClr val="FFFFFF"/>
                          </a:solidFill>
                        </a:rPr>
                        <a:t>Sport</a:t>
                      </a:r>
                    </a:p>
                  </a:txBody>
                  <a:tcPr marL="73152" marR="73152" marT="36576" marB="36576">
                    <a:solidFill>
                      <a:srgbClr val="0B1F3A"/>
                    </a:solidFill>
                  </a:tcPr>
                </a:tc>
                <a:tc>
                  <a:txBody>
                    <a:bodyPr/>
                    <a:lstStyle/>
                    <a:p>
                      <a:r>
                        <a:rPr sz="1600" b="1">
                          <a:solidFill>
                            <a:srgbClr val="FFFFFF"/>
                          </a:solidFill>
                        </a:rPr>
                        <a:t>VO2max</a:t>
                      </a:r>
                    </a:p>
                  </a:txBody>
                  <a:tcPr marL="73152" marR="73152" marT="36576" marB="36576">
                    <a:solidFill>
                      <a:srgbClr val="0B1F3A"/>
                    </a:solidFill>
                  </a:tcPr>
                </a:tc>
                <a:tc>
                  <a:txBody>
                    <a:bodyPr/>
                    <a:lstStyle/>
                    <a:p>
                      <a:r>
                        <a:rPr sz="1600" b="1">
                          <a:solidFill>
                            <a:srgbClr val="FFFFFF"/>
                          </a:solidFill>
                        </a:rPr>
                        <a:t>QTc (ms)</a:t>
                      </a:r>
                    </a:p>
                  </a:txBody>
                  <a:tcPr marL="73152" marR="73152" marT="36576" marB="36576">
                    <a:solidFill>
                      <a:srgbClr val="0B1F3A"/>
                    </a:solidFill>
                  </a:tcPr>
                </a:tc>
              </a:tr>
              <a:tr h="614476">
                <a:tc>
                  <a:txBody>
                    <a:bodyPr/>
                    <a:lstStyle/>
                    <a:p>
                      <a:r>
                        <a:rPr sz="1500" b="0">
                          <a:solidFill>
                            <a:srgbClr val="1F2937"/>
                          </a:solidFill>
                        </a:rPr>
                        <a:t>Chang‘i poygasi</a:t>
                      </a:r>
                    </a:p>
                  </a:txBody>
                  <a:tcPr marL="73152" marR="73152" marT="36576" marB="36576">
                    <a:solidFill>
                      <a:srgbClr val="E8EEF6"/>
                    </a:solidFill>
                  </a:tcPr>
                </a:tc>
                <a:tc>
                  <a:txBody>
                    <a:bodyPr/>
                    <a:lstStyle/>
                    <a:p>
                      <a:r>
                        <a:rPr sz="1500" b="0">
                          <a:solidFill>
                            <a:srgbClr val="1F2937"/>
                          </a:solidFill>
                        </a:rPr>
                        <a:t>~50</a:t>
                      </a:r>
                    </a:p>
                  </a:txBody>
                  <a:tcPr marL="73152" marR="73152" marT="36576" marB="36576">
                    <a:solidFill>
                      <a:srgbClr val="E8EEF6"/>
                    </a:solidFill>
                  </a:tcPr>
                </a:tc>
                <a:tc>
                  <a:txBody>
                    <a:bodyPr/>
                    <a:lstStyle/>
                    <a:p>
                      <a:r>
                        <a:rPr sz="1500" b="0">
                          <a:solidFill>
                            <a:srgbClr val="1F2937"/>
                          </a:solidFill>
                        </a:rPr>
                        <a:t>~405–410</a:t>
                      </a:r>
                    </a:p>
                  </a:txBody>
                  <a:tcPr marL="73152" marR="73152" marT="36576" marB="36576">
                    <a:solidFill>
                      <a:srgbClr val="E8EEF6"/>
                    </a:solidFill>
                  </a:tcPr>
                </a:tc>
              </a:tr>
              <a:tr h="614476">
                <a:tc>
                  <a:txBody>
                    <a:bodyPr/>
                    <a:lstStyle/>
                    <a:p>
                      <a:r>
                        <a:rPr sz="1500" b="0">
                          <a:solidFill>
                            <a:srgbClr val="1F2937"/>
                          </a:solidFill>
                        </a:rPr>
                        <a:t>Para-futbol</a:t>
                      </a:r>
                    </a:p>
                  </a:txBody>
                  <a:tcPr marL="73152" marR="73152" marT="36576" marB="36576">
                    <a:solidFill>
                      <a:srgbClr val="FFFFFF"/>
                    </a:solidFill>
                  </a:tcPr>
                </a:tc>
                <a:tc>
                  <a:txBody>
                    <a:bodyPr/>
                    <a:lstStyle/>
                    <a:p>
                      <a:r>
                        <a:rPr sz="1500" b="0">
                          <a:solidFill>
                            <a:srgbClr val="1F2937"/>
                          </a:solidFill>
                        </a:rPr>
                        <a:t>~44–45</a:t>
                      </a:r>
                    </a:p>
                  </a:txBody>
                  <a:tcPr marL="73152" marR="73152" marT="36576" marB="36576">
                    <a:solidFill>
                      <a:srgbClr val="FFFFFF"/>
                    </a:solidFill>
                  </a:tcPr>
                </a:tc>
                <a:tc>
                  <a:txBody>
                    <a:bodyPr/>
                    <a:lstStyle/>
                    <a:p>
                      <a:r>
                        <a:rPr sz="1500" b="0">
                          <a:solidFill>
                            <a:srgbClr val="1F2937"/>
                          </a:solidFill>
                        </a:rPr>
                        <a:t>~390–395</a:t>
                      </a:r>
                    </a:p>
                  </a:txBody>
                  <a:tcPr marL="73152" marR="73152" marT="36576" marB="36576">
                    <a:solidFill>
                      <a:srgbClr val="FFFFFF"/>
                    </a:solidFill>
                  </a:tcPr>
                </a:tc>
              </a:tr>
              <a:tr h="614476">
                <a:tc>
                  <a:txBody>
                    <a:bodyPr/>
                    <a:lstStyle/>
                    <a:p>
                      <a:r>
                        <a:rPr sz="1500" b="0">
                          <a:solidFill>
                            <a:srgbClr val="1F2937"/>
                          </a:solidFill>
                        </a:rPr>
                        <a:t>Para-suzish</a:t>
                      </a:r>
                    </a:p>
                  </a:txBody>
                  <a:tcPr marL="73152" marR="73152" marT="36576" marB="36576">
                    <a:solidFill>
                      <a:srgbClr val="E8EEF6"/>
                    </a:solidFill>
                  </a:tcPr>
                </a:tc>
                <a:tc>
                  <a:txBody>
                    <a:bodyPr/>
                    <a:lstStyle/>
                    <a:p>
                      <a:r>
                        <a:rPr sz="1500" b="0">
                          <a:solidFill>
                            <a:srgbClr val="1F2937"/>
                          </a:solidFill>
                        </a:rPr>
                        <a:t>~42–43</a:t>
                      </a:r>
                    </a:p>
                  </a:txBody>
                  <a:tcPr marL="73152" marR="73152" marT="36576" marB="36576">
                    <a:solidFill>
                      <a:srgbClr val="E8EEF6"/>
                    </a:solidFill>
                  </a:tcPr>
                </a:tc>
                <a:tc>
                  <a:txBody>
                    <a:bodyPr/>
                    <a:lstStyle/>
                    <a:p>
                      <a:r>
                        <a:rPr sz="1500" b="0">
                          <a:solidFill>
                            <a:srgbClr val="1F2937"/>
                          </a:solidFill>
                        </a:rPr>
                        <a:t>~420–425</a:t>
                      </a:r>
                    </a:p>
                  </a:txBody>
                  <a:tcPr marL="73152" marR="73152" marT="36576" marB="36576">
                    <a:solidFill>
                      <a:srgbClr val="E8EEF6"/>
                    </a:solidFill>
                  </a:tcPr>
                </a:tc>
              </a:tr>
              <a:tr h="614476">
                <a:tc>
                  <a:txBody>
                    <a:bodyPr/>
                    <a:lstStyle/>
                    <a:p>
                      <a:r>
                        <a:rPr sz="1500" b="0">
                          <a:solidFill>
                            <a:srgbClr val="1F2937"/>
                          </a:solidFill>
                        </a:rPr>
                        <a:t>Para-xokkey</a:t>
                      </a:r>
                    </a:p>
                  </a:txBody>
                  <a:tcPr marL="73152" marR="73152" marT="36576" marB="36576">
                    <a:solidFill>
                      <a:srgbClr val="FFFFFF"/>
                    </a:solidFill>
                  </a:tcPr>
                </a:tc>
                <a:tc>
                  <a:txBody>
                    <a:bodyPr/>
                    <a:lstStyle/>
                    <a:p>
                      <a:r>
                        <a:rPr sz="1500" b="0">
                          <a:solidFill>
                            <a:srgbClr val="1F2937"/>
                          </a:solidFill>
                        </a:rPr>
                        <a:t>~31–32</a:t>
                      </a:r>
                    </a:p>
                  </a:txBody>
                  <a:tcPr marL="73152" marR="73152" marT="36576" marB="36576">
                    <a:solidFill>
                      <a:srgbClr val="FFFFFF"/>
                    </a:solidFill>
                  </a:tcPr>
                </a:tc>
                <a:tc>
                  <a:txBody>
                    <a:bodyPr/>
                    <a:lstStyle/>
                    <a:p>
                      <a:r>
                        <a:rPr sz="1500" b="0">
                          <a:solidFill>
                            <a:srgbClr val="1F2937"/>
                          </a:solidFill>
                        </a:rPr>
                        <a:t>~405</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Sport turlari mediana qiymatlari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Nosologiya bo‘yicha farqlar va effekt hajmi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VO2max mediana: eshitish ~49–50, tayanch-harakat ~46, ko‘rish ~43 mL·kg−1·min−1 (p = 0,01028).</a:t>
            </a:r>
          </a:p>
          <a:p>
            <a:pPr>
              <a:spcAft>
                <a:spcPts val="800"/>
              </a:spcAft>
            </a:pPr>
            <a:r>
              <a:rPr sz="1800">
                <a:solidFill>
                  <a:srgbClr val="1F2937"/>
                </a:solidFill>
                <a:latin typeface="Calibri"/>
              </a:rPr>
              <a:t>▸  QTc nosologiya bo‘yicha: p = 0,02185, ε² = 0,0175; guruhlar taqsimoti katta qismi ustma-ust tushadi.</a:t>
            </a:r>
          </a:p>
          <a:p>
            <a:pPr>
              <a:spcAft>
                <a:spcPts val="800"/>
              </a:spcAft>
            </a:pPr>
            <a:r>
              <a:rPr sz="1800">
                <a:solidFill>
                  <a:srgbClr val="1F2937"/>
                </a:solidFill>
                <a:latin typeface="Calibri"/>
              </a:rPr>
              <a:t>▸  Xulosa: sport turi nogironlik turiga qaraganda yurak funksional zaxirasiga kuchliroq ta’sir qiladi.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Sport → VO2max</a:t>
            </a:r>
          </a:p>
          <a:p>
            <a:pPr algn="l">
              <a:spcAft>
                <a:spcPts val="100"/>
              </a:spcAft>
            </a:pPr>
            <a:r>
              <a:rPr sz="3000" b="1">
                <a:solidFill>
                  <a:srgbClr val="0B1F3A"/>
                </a:solidFill>
                <a:latin typeface="Calibri"/>
              </a:rPr>
              <a:t>0,158</a:t>
            </a:r>
            <a:r>
              <a:rPr sz="1500" b="0">
                <a:solidFill>
                  <a:srgbClr val="6B7280"/>
                </a:solidFill>
                <a:latin typeface="Calibri"/>
              </a:rPr>
              <a:t>  o‘rta</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Sport → QTc</a:t>
            </a:r>
          </a:p>
          <a:p>
            <a:pPr algn="l">
              <a:spcAft>
                <a:spcPts val="100"/>
              </a:spcAft>
            </a:pPr>
            <a:r>
              <a:rPr sz="3000" b="1">
                <a:solidFill>
                  <a:srgbClr val="0B1F3A"/>
                </a:solidFill>
                <a:latin typeface="Calibri"/>
              </a:rPr>
              <a:t>0,146</a:t>
            </a:r>
            <a:r>
              <a:rPr sz="1500" b="0">
                <a:solidFill>
                  <a:srgbClr val="6B7280"/>
                </a:solidFill>
                <a:latin typeface="Calibri"/>
              </a:rPr>
              <a:t>  o‘rta</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Nosologiya → VO2max</a:t>
            </a:r>
          </a:p>
          <a:p>
            <a:pPr algn="l">
              <a:spcAft>
                <a:spcPts val="100"/>
              </a:spcAft>
            </a:pPr>
            <a:r>
              <a:rPr sz="3000" b="1">
                <a:solidFill>
                  <a:srgbClr val="0B1F3A"/>
                </a:solidFill>
                <a:latin typeface="Calibri"/>
              </a:rPr>
              <a:t>0,072</a:t>
            </a:r>
            <a:r>
              <a:rPr sz="1500" b="0">
                <a:solidFill>
                  <a:srgbClr val="6B7280"/>
                </a:solidFill>
                <a:latin typeface="Calibri"/>
              </a:rPr>
              <a:t>  kichik</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Nosologiya → QTc</a:t>
            </a:r>
          </a:p>
          <a:p>
            <a:pPr algn="l">
              <a:spcAft>
                <a:spcPts val="100"/>
              </a:spcAft>
            </a:pPr>
            <a:r>
              <a:rPr sz="2300" b="1">
                <a:solidFill>
                  <a:srgbClr val="0B1F3A"/>
                </a:solidFill>
                <a:latin typeface="Calibri"/>
              </a:rPr>
              <a:t>0,018</a:t>
            </a:r>
            <a:r>
              <a:rPr sz="1100" b="0">
                <a:solidFill>
                  <a:srgbClr val="6B7280"/>
                </a:solidFill>
                <a:latin typeface="Calibri"/>
              </a:rPr>
              <a:t>  juda kichik</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Effekt hajmi (η²/ε²)</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para-xokkey o‘yinchisi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para-xokkey o‘yinchisida VO2max (maksimal nisbiy kislorod iste’moli) 31 mL·kg−1·min−1, QTc (tuzatilgan QT intervali) 405 ms.</a:t>
            </a:r>
          </a:p>
          <a:p>
            <a:pPr>
              <a:spcAft>
                <a:spcPts val="1200"/>
              </a:spcAft>
            </a:pPr>
            <a:r>
              <a:rPr sz="2200">
                <a:solidFill>
                  <a:srgbClr val="1F2937"/>
                </a:solidFill>
                <a:latin typeface="Calibri"/>
              </a:rPr>
              <a:t>▸  Manbada para-xokkeychilarning VO2max mediani 31–32 bo‘lgan. Bu sport turlari orasida eng past ko‘rsatkich; butun guruh o‘rtachasi esa 46,5.</a:t>
            </a:r>
          </a:p>
          <a:p>
            <a:pPr>
              <a:spcAft>
                <a:spcPts val="1200"/>
              </a:spcAft>
            </a:pPr>
            <a:r>
              <a:rPr sz="2200">
                <a:solidFill>
                  <a:srgbClr val="1F2937"/>
                </a:solidFill>
                <a:latin typeface="Calibri"/>
              </a:rPr>
              <a:t>▸  Shu guruhda QTc mediani taxminan 405 ms, tarqoqlik o‘rtacha. Butun guruhning QTc o‘rtachasi 417,3 ms edi.</a:t>
            </a:r>
          </a:p>
          <a:p>
            <a:pPr>
              <a:spcAft>
                <a:spcPts val="1200"/>
              </a:spcAft>
            </a:pPr>
            <a:r>
              <a:rPr sz="2200">
                <a:solidFill>
                  <a:srgbClr val="1F2937"/>
                </a:solidFill>
                <a:latin typeface="Calibri"/>
              </a:rPr>
              <a:t>▸  Qaror: yuklamani belgilashdan oldin VO2max va QTc bo‘yicha individual kardiologik skrining. QTc sezilarli uzaysa, chuqur tekshiruv tavsiya etilgan.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Cheklovlar va mashq tavsiyalari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Dizayn ko‘ndalang; yosh, mashg‘ulot tajribasi va sinov protokollari xilma-xil, uzoq muddatli tasdiqlash yo‘q.</a:t>
            </a:r>
          </a:p>
          <a:p>
            <a:pPr>
              <a:spcAft>
                <a:spcPts val="1200"/>
              </a:spcAft>
            </a:pPr>
            <a:r>
              <a:rPr sz="2200">
                <a:solidFill>
                  <a:srgbClr val="1F2937"/>
                </a:solidFill>
                <a:latin typeface="Calibri"/>
              </a:rPr>
              <a:t>▸  Hududda biriktiruvchi to‘qima displaziyasi juda ko‘p uchragani uchun displaziyasiz nazorat guruhi tuzilmagan.</a:t>
            </a:r>
          </a:p>
          <a:p>
            <a:pPr>
              <a:spcAft>
                <a:spcPts val="1200"/>
              </a:spcAft>
            </a:pPr>
            <a:r>
              <a:rPr sz="2200">
                <a:solidFill>
                  <a:srgbClr val="1F2937"/>
                </a:solidFill>
                <a:latin typeface="Calibri"/>
              </a:rPr>
              <a:t>▸  VO2max ikki usulda o‘lchangan: bevosita (466 kishi) va hisoblash orqali (144 kishi). Aralash usul o‘lchov xatosini oshirishi mumkin.</a:t>
            </a:r>
          </a:p>
          <a:p>
            <a:pPr>
              <a:spcAft>
                <a:spcPts val="1200"/>
              </a:spcAft>
            </a:pPr>
            <a:r>
              <a:rPr sz="2200">
                <a:solidFill>
                  <a:srgbClr val="1F2937"/>
                </a:solidFill>
                <a:latin typeface="Calibri"/>
              </a:rPr>
              <a:t>▸  Tavsiya: yuklamadan oldin individual skrining (VO2max, QTc), exokardiografiya va 12 tarmoqli elektrokardiogramma (EKG) bilan yuklama sinovi.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Marfan sindromi: umumiy tavsif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Marfan sindromi autosom dominant bo‘lib, irsiy biriktiruvchi to‘qima kasalliklarining eng ko‘p uchraydigan shakli hisoblanadi.</a:t>
            </a:r>
          </a:p>
          <a:p>
            <a:pPr>
              <a:spcAft>
                <a:spcPts val="800"/>
              </a:spcAft>
            </a:pPr>
            <a:r>
              <a:rPr sz="1600">
                <a:solidFill>
                  <a:srgbClr val="1F2937"/>
                </a:solidFill>
                <a:latin typeface="Calibri"/>
              </a:rPr>
              <a:t>▸  Klassik triada: yurak-qon tomir, ko‘z va tayanch-harakat tizimi zararlanishi. Biriktiruvchi komponenti bor har qanday a’zo jalb bo‘lishi mumkin.</a:t>
            </a:r>
          </a:p>
          <a:p>
            <a:pPr>
              <a:spcAft>
                <a:spcPts val="800"/>
              </a:spcAft>
            </a:pPr>
            <a:r>
              <a:rPr sz="1600">
                <a:solidFill>
                  <a:srgbClr val="1F2937"/>
                </a:solidFill>
                <a:latin typeface="Calibri"/>
              </a:rPr>
              <a:t>▸  Tarqalishi taxminan 5000–10 000 kishidan bittasi; bosh a’zolar zararlanmasa, tashxis qiyinlashib, ko‘rsatkich kam baholanishi mumkin.</a:t>
            </a:r>
          </a:p>
          <a:p>
            <a:pPr>
              <a:spcAft>
                <a:spcPts val="800"/>
              </a:spcAft>
            </a:pPr>
            <a:r>
              <a:rPr sz="1600">
                <a:solidFill>
                  <a:srgbClr val="1F2937"/>
                </a:solidFill>
                <a:latin typeface="Calibri"/>
              </a:rPr>
              <a:t>▸  Yoshga bog‘liq penetrantlik bor: belgilar keyin, ko‘pincha 20 yoshdan so‘ng ham namoyon bo‘ladi. Shuning uchun bolalarda tashxis qiyin.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Marfan sindromi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Genetika</a:t>
            </a:r>
          </a:p>
          <a:p>
            <a:pPr algn="l">
              <a:spcAft>
                <a:spcPts val="0"/>
              </a:spcAft>
            </a:pPr>
            <a:r>
              <a:rPr sz="1200" b="0">
                <a:solidFill>
                  <a:srgbClr val="1F2937"/>
                </a:solidFill>
                <a:latin typeface="Calibri"/>
              </a:rPr>
              <a:t>Autosom dominant  ·  FBN1 geni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Klassik triada</a:t>
            </a:r>
          </a:p>
          <a:p>
            <a:pPr algn="l">
              <a:spcAft>
                <a:spcPts val="0"/>
              </a:spcAft>
            </a:pPr>
            <a:r>
              <a:rPr sz="1200" b="0">
                <a:solidFill>
                  <a:srgbClr val="1F2937"/>
                </a:solidFill>
                <a:latin typeface="Calibri"/>
              </a:rPr>
              <a:t>Yurak-qon tomir  ·  Ko‘z  ·  Tayanch-harakat</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Tarqalishi</a:t>
            </a:r>
          </a:p>
          <a:p>
            <a:pPr algn="l">
              <a:spcAft>
                <a:spcPts val="0"/>
              </a:spcAft>
            </a:pPr>
            <a:r>
              <a:rPr sz="1200" b="0">
                <a:solidFill>
                  <a:srgbClr val="1F2937"/>
                </a:solidFill>
                <a:latin typeface="Calibri"/>
              </a:rPr>
              <a:t>Taxminan 1:5000–10 000</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Penetrantlik</a:t>
            </a:r>
          </a:p>
          <a:p>
            <a:pPr algn="l">
              <a:spcAft>
                <a:spcPts val="0"/>
              </a:spcAft>
            </a:pPr>
            <a:r>
              <a:rPr sz="1200" b="0">
                <a:solidFill>
                  <a:srgbClr val="1F2937"/>
                </a:solidFill>
                <a:latin typeface="Calibri"/>
              </a:rPr>
              <a:t>Yoshga bog‘liq; 20 yoshdan keyin ham</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Marfan sindromi: tavsif</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FBN1 gen va fibrillin-1 funksiyasi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FBN1 (15q21) variantlari Marfan sindromi (MFS) sababi; gen 65 ekzondan iborat.</a:t>
            </a:r>
          </a:p>
          <a:p>
            <a:pPr>
              <a:spcAft>
                <a:spcPts val="800"/>
              </a:spcAft>
            </a:pPr>
            <a:r>
              <a:rPr sz="1800">
                <a:solidFill>
                  <a:srgbClr val="1F2937"/>
                </a:solidFill>
                <a:latin typeface="Calibri"/>
              </a:rPr>
              <a:t>▸  Fibrillin-1 mikrofibrillalari TGFβ (o‘sish omili β) ajralishi va saqlanishini boshqaradi.</a:t>
            </a:r>
          </a:p>
          <a:p>
            <a:pPr>
              <a:spcAft>
                <a:spcPts val="800"/>
              </a:spcAft>
            </a:pPr>
            <a:r>
              <a:rPr sz="1800">
                <a:solidFill>
                  <a:srgbClr val="1F2937"/>
                </a:solidFill>
                <a:latin typeface="Calibri"/>
              </a:rPr>
              <a:t>▸  Oqsil yurak, qon tomir, ko‘z, teri, tog‘ay, o‘pkada bor — shu sababli belgilar xilma-xil.</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FBN1 varianti (15q21)</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Fibrillin-1 (2871 a.k.)</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Mikrofibrilla → elastik tola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TGFβ miqdorini boshqarish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Ko‘p a‘zoli belgilar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FBN1 dan klinikagacha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Ghent mezonlari (2010)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Ikki asosiy belgi: aorta ildizi kengayishi va linza ektopiyasi (linzaning o‘z o‘rnidan siljishi).</a:t>
            </a:r>
          </a:p>
          <a:p>
            <a:pPr>
              <a:spcAft>
                <a:spcPts val="800"/>
              </a:spcAft>
            </a:pPr>
            <a:r>
              <a:rPr sz="1800">
                <a:solidFill>
                  <a:srgbClr val="1F2937"/>
                </a:solidFill>
                <a:latin typeface="Calibri"/>
              </a:rPr>
              <a:t>▸  Tizimli ball: skelet va yuz belgilari, miopiya, mitral klapan prolapsi (MVP), pnevmotoraks, dural ektaziya.</a:t>
            </a:r>
          </a:p>
          <a:p>
            <a:pPr>
              <a:spcAft>
                <a:spcPts val="800"/>
              </a:spcAft>
            </a:pPr>
            <a:r>
              <a:rPr sz="1800">
                <a:solidFill>
                  <a:srgbClr val="1F2937"/>
                </a:solidFill>
                <a:latin typeface="Calibri"/>
              </a:rPr>
              <a:t>▸  Diqqat: oilada Marfan bo‘lsa, 20 yoshgacha Z ≥ 3 (kattalarda ≥ 2); 2–3 oralig‘ida kuzatuv.</a:t>
            </a:r>
          </a:p>
        </p:txBody>
      </p:sp>
      <p:graphicFrame>
        <p:nvGraphicFramePr>
          <p:cNvPr id="9" name="Table 8"/>
          <p:cNvGraphicFramePr>
            <a:graphicFrameLocks noGrp="1"/>
          </p:cNvGraphicFramePr>
          <p:nvPr/>
        </p:nvGraphicFramePr>
        <p:xfrm>
          <a:off x="6263640" y="1463040"/>
          <a:ext cx="5287973" cy="3072384"/>
        </p:xfrm>
        <a:graphic>
          <a:graphicData uri="http://schemas.openxmlformats.org/drawingml/2006/table">
            <a:tbl>
              <a:tblPr firstRow="1" bandRow="1">
                <a:tableStyleId>{5C22544A-7EE6-4342-B048-85BDC9FD1C3A}</a:tableStyleId>
              </a:tblPr>
              <a:tblGrid>
                <a:gridCol w="1606473"/>
                <a:gridCol w="1338727"/>
                <a:gridCol w="2342773"/>
              </a:tblGrid>
              <a:tr h="768096">
                <a:tc>
                  <a:txBody>
                    <a:bodyPr/>
                    <a:lstStyle/>
                    <a:p>
                      <a:r>
                        <a:rPr sz="1600" b="1">
                          <a:solidFill>
                            <a:srgbClr val="FFFFFF"/>
                          </a:solidFill>
                        </a:rPr>
                        <a:t>Anamnez</a:t>
                      </a:r>
                    </a:p>
                  </a:txBody>
                  <a:tcPr marL="73152" marR="73152" marT="36576" marB="36576">
                    <a:solidFill>
                      <a:srgbClr val="0B1F3A"/>
                    </a:solidFill>
                  </a:tcPr>
                </a:tc>
                <a:tc>
                  <a:txBody>
                    <a:bodyPr/>
                    <a:lstStyle/>
                    <a:p>
                      <a:r>
                        <a:rPr sz="1600" b="1">
                          <a:solidFill>
                            <a:srgbClr val="FFFFFF"/>
                          </a:solidFill>
                        </a:rPr>
                        <a:t>Aorta ildizi Z</a:t>
                      </a:r>
                    </a:p>
                  </a:txBody>
                  <a:tcPr marL="73152" marR="73152" marT="36576" marB="36576">
                    <a:solidFill>
                      <a:srgbClr val="0B1F3A"/>
                    </a:solidFill>
                  </a:tcPr>
                </a:tc>
                <a:tc>
                  <a:txBody>
                    <a:bodyPr/>
                    <a:lstStyle/>
                    <a:p>
                      <a:r>
                        <a:rPr sz="1600" b="1">
                          <a:solidFill>
                            <a:srgbClr val="FFFFFF"/>
                          </a:solidFill>
                        </a:rPr>
                        <a:t>Qo‘shimcha</a:t>
                      </a:r>
                    </a:p>
                  </a:txBody>
                  <a:tcPr marL="73152" marR="73152" marT="36576" marB="36576">
                    <a:solidFill>
                      <a:srgbClr val="0B1F3A"/>
                    </a:solidFill>
                  </a:tcPr>
                </a:tc>
              </a:tr>
              <a:tr h="768096">
                <a:tc>
                  <a:txBody>
                    <a:bodyPr/>
                    <a:lstStyle/>
                    <a:p>
                      <a:r>
                        <a:rPr sz="1500" b="0">
                          <a:solidFill>
                            <a:srgbClr val="1F2937"/>
                          </a:solidFill>
                        </a:rPr>
                        <a:t>Manfiy</a:t>
                      </a:r>
                    </a:p>
                  </a:txBody>
                  <a:tcPr marL="73152" marR="73152" marT="36576" marB="36576">
                    <a:solidFill>
                      <a:srgbClr val="E8EEF6"/>
                    </a:solidFill>
                  </a:tcPr>
                </a:tc>
                <a:tc>
                  <a:txBody>
                    <a:bodyPr/>
                    <a:lstStyle/>
                    <a:p>
                      <a:r>
                        <a:rPr sz="1500" b="0">
                          <a:solidFill>
                            <a:srgbClr val="1F2937"/>
                          </a:solidFill>
                        </a:rPr>
                        <a:t>Z ≥ 2</a:t>
                      </a:r>
                    </a:p>
                  </a:txBody>
                  <a:tcPr marL="73152" marR="73152" marT="36576" marB="36576">
                    <a:solidFill>
                      <a:srgbClr val="E8EEF6"/>
                    </a:solidFill>
                  </a:tcPr>
                </a:tc>
                <a:tc>
                  <a:txBody>
                    <a:bodyPr/>
                    <a:lstStyle/>
                    <a:p>
                      <a:r>
                        <a:rPr sz="1500" b="0">
                          <a:solidFill>
                            <a:srgbClr val="1F2937"/>
                          </a:solidFill>
                        </a:rPr>
                        <a:t>Linza ektopiyasi, FBN1 yoki ball ≥7</a:t>
                      </a:r>
                    </a:p>
                  </a:txBody>
                  <a:tcPr marL="73152" marR="73152" marT="36576" marB="36576">
                    <a:solidFill>
                      <a:srgbClr val="E8EEF6"/>
                    </a:solidFill>
                  </a:tcPr>
                </a:tc>
              </a:tr>
              <a:tr h="768096">
                <a:tc>
                  <a:txBody>
                    <a:bodyPr/>
                    <a:lstStyle/>
                    <a:p>
                      <a:r>
                        <a:rPr sz="1500" b="0">
                          <a:solidFill>
                            <a:srgbClr val="1F2937"/>
                          </a:solidFill>
                        </a:rPr>
                        <a:t>Musbat, 20 yoshdan katta</a:t>
                      </a:r>
                    </a:p>
                  </a:txBody>
                  <a:tcPr marL="73152" marR="73152" marT="36576" marB="36576">
                    <a:solidFill>
                      <a:srgbClr val="FFFFFF"/>
                    </a:solidFill>
                  </a:tcPr>
                </a:tc>
                <a:tc>
                  <a:txBody>
                    <a:bodyPr/>
                    <a:lstStyle/>
                    <a:p>
                      <a:r>
                        <a:rPr sz="1500" b="0">
                          <a:solidFill>
                            <a:srgbClr val="1F2937"/>
                          </a:solidFill>
                        </a:rPr>
                        <a:t>Z ≥ 2</a:t>
                      </a:r>
                    </a:p>
                  </a:txBody>
                  <a:tcPr marL="73152" marR="73152" marT="36576" marB="36576">
                    <a:solidFill>
                      <a:srgbClr val="FFFFFF"/>
                    </a:solidFill>
                  </a:tcPr>
                </a:tc>
                <a:tc>
                  <a:txBody>
                    <a:bodyPr/>
                    <a:lstStyle/>
                    <a:p>
                      <a:r>
                        <a:rPr sz="1500" b="0">
                          <a:solidFill>
                            <a:srgbClr val="1F2937"/>
                          </a:solidFill>
                        </a:rPr>
                        <a:t>Oilada Marfan bor</a:t>
                      </a:r>
                    </a:p>
                  </a:txBody>
                  <a:tcPr marL="73152" marR="73152" marT="36576" marB="36576">
                    <a:solidFill>
                      <a:srgbClr val="FFFFFF"/>
                    </a:solidFill>
                  </a:tcPr>
                </a:tc>
              </a:tr>
              <a:tr h="768096">
                <a:tc>
                  <a:txBody>
                    <a:bodyPr/>
                    <a:lstStyle/>
                    <a:p>
                      <a:r>
                        <a:rPr sz="1500" b="0">
                          <a:solidFill>
                            <a:srgbClr val="1F2937"/>
                          </a:solidFill>
                        </a:rPr>
                        <a:t>Musbat, 20 yoshgacha</a:t>
                      </a:r>
                    </a:p>
                  </a:txBody>
                  <a:tcPr marL="73152" marR="73152" marT="36576" marB="36576">
                    <a:solidFill>
                      <a:srgbClr val="E8EEF6"/>
                    </a:solidFill>
                  </a:tcPr>
                </a:tc>
                <a:tc>
                  <a:txBody>
                    <a:bodyPr/>
                    <a:lstStyle/>
                    <a:p>
                      <a:r>
                        <a:rPr sz="1500" b="0">
                          <a:solidFill>
                            <a:srgbClr val="1F2937"/>
                          </a:solidFill>
                        </a:rPr>
                        <a:t>Z ≥ 3</a:t>
                      </a:r>
                    </a:p>
                  </a:txBody>
                  <a:tcPr marL="73152" marR="73152" marT="36576" marB="36576">
                    <a:solidFill>
                      <a:srgbClr val="E8EEF6"/>
                    </a:solidFill>
                  </a:tcPr>
                </a:tc>
                <a:tc>
                  <a:txBody>
                    <a:bodyPr/>
                    <a:lstStyle/>
                    <a:p>
                      <a:r>
                        <a:rPr sz="1500" b="0">
                          <a:solidFill>
                            <a:srgbClr val="1F2937"/>
                          </a:solidFill>
                        </a:rPr>
                        <a:t>Oilada Marfan bor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Ghent 2010: tashxis variantlari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Erta boshlanuvchi MFS va klassik shakl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eoMFS (erta boshlanuvchi shakl) og‘irroq: mitral regurgitatsiya 89%, trikuspid 62%, aorta kengayishi 96%.</a:t>
            </a:r>
          </a:p>
          <a:p>
            <a:pPr>
              <a:spcAft>
                <a:spcPts val="800"/>
              </a:spcAft>
            </a:pPr>
            <a:r>
              <a:rPr sz="1800">
                <a:solidFill>
                  <a:srgbClr val="1F2937"/>
                </a:solidFill>
                <a:latin typeface="Calibri"/>
              </a:rPr>
              <a:t>▸  Zarate balli: 9 klinik belgi + FBN1 (24–32-ekzon); ≥14 ball — sezgirlik 100%, o‘ziga xoslik 92%.</a:t>
            </a:r>
          </a:p>
          <a:p>
            <a:pPr>
              <a:spcAft>
                <a:spcPts val="800"/>
              </a:spcAft>
            </a:pPr>
            <a:r>
              <a:rPr sz="1800">
                <a:solidFill>
                  <a:srgbClr val="1F2937"/>
                </a:solidFill>
                <a:latin typeface="Calibri"/>
              </a:rPr>
              <a:t>▸  Diqqat: ekzon 24–32 varianti o‘zi eoMFS tashxisi uchun yetarli emas; ball hisoblash shart.</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eoMFS (erta shakl)</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Boshlanishi: perinatal–dastlabki yillar</a:t>
            </a:r>
          </a:p>
          <a:p>
            <a:pPr algn="l">
              <a:spcAft>
                <a:spcPts val="700"/>
              </a:spcAft>
            </a:pPr>
            <a:r>
              <a:rPr sz="1500" b="1">
                <a:solidFill>
                  <a:srgbClr val="C9A227"/>
                </a:solidFill>
                <a:latin typeface="Calibri"/>
              </a:rPr>
              <a:t>●  </a:t>
            </a:r>
            <a:r>
              <a:rPr sz="1500" b="0">
                <a:solidFill>
                  <a:srgbClr val="1F2937"/>
                </a:solidFill>
                <a:latin typeface="Calibri"/>
              </a:rPr>
              <a:t>Sabab: regurgitatsiya → yurak yetishmovchiligi</a:t>
            </a:r>
          </a:p>
          <a:p>
            <a:pPr algn="l">
              <a:spcAft>
                <a:spcPts val="700"/>
              </a:spcAft>
            </a:pPr>
            <a:r>
              <a:rPr sz="1500" b="1">
                <a:solidFill>
                  <a:srgbClr val="C9A227"/>
                </a:solidFill>
                <a:latin typeface="Calibri"/>
              </a:rPr>
              <a:t>●  </a:t>
            </a:r>
            <a:r>
              <a:rPr sz="1500" b="0">
                <a:solidFill>
                  <a:srgbClr val="1F2937"/>
                </a:solidFill>
                <a:latin typeface="Calibri"/>
              </a:rPr>
              <a:t>Oilaviy anamnez ko‘pincha manfiy (62–78%)</a:t>
            </a:r>
          </a:p>
          <a:p>
            <a:pPr algn="l">
              <a:spcAft>
                <a:spcPts val="700"/>
              </a:spcAft>
            </a:pPr>
            <a:r>
              <a:rPr sz="1500" b="1">
                <a:solidFill>
                  <a:srgbClr val="C9A227"/>
                </a:solidFill>
                <a:latin typeface="Calibri"/>
              </a:rPr>
              <a:t>●  </a:t>
            </a:r>
            <a:r>
              <a:rPr sz="1500" b="0">
                <a:solidFill>
                  <a:srgbClr val="1F2937"/>
                </a:solidFill>
                <a:latin typeface="Calibri"/>
              </a:rPr>
              <a:t>Prognoz yomon; o‘rtacha 16,3 oy</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Klassik MFS</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Boshlanishi: bolalik, yoshga bog‘liq</a:t>
            </a:r>
          </a:p>
          <a:p>
            <a:pPr algn="l">
              <a:spcAft>
                <a:spcPts val="700"/>
              </a:spcAft>
            </a:pPr>
            <a:r>
              <a:rPr sz="1500" b="1">
                <a:solidFill>
                  <a:srgbClr val="C9A227"/>
                </a:solidFill>
                <a:latin typeface="Calibri"/>
              </a:rPr>
              <a:t>●  </a:t>
            </a:r>
            <a:r>
              <a:rPr sz="1500" b="0">
                <a:solidFill>
                  <a:srgbClr val="1F2937"/>
                </a:solidFill>
                <a:latin typeface="Calibri"/>
              </a:rPr>
              <a:t>Aorta dissektsiyasi/yorilishi muhim</a:t>
            </a:r>
          </a:p>
          <a:p>
            <a:pPr algn="l">
              <a:spcAft>
                <a:spcPts val="700"/>
              </a:spcAft>
            </a:pPr>
            <a:r>
              <a:rPr sz="1500" b="1">
                <a:solidFill>
                  <a:srgbClr val="C9A227"/>
                </a:solidFill>
                <a:latin typeface="Calibri"/>
              </a:rPr>
              <a:t>●  </a:t>
            </a:r>
            <a:r>
              <a:rPr sz="1500" b="0">
                <a:solidFill>
                  <a:srgbClr val="1F2937"/>
                </a:solidFill>
                <a:latin typeface="Calibri"/>
              </a:rPr>
              <a:t>Oilaviy skrining orqali ham aniqlanadi</a:t>
            </a:r>
          </a:p>
          <a:p>
            <a:pPr algn="l">
              <a:spcAft>
                <a:spcPts val="700"/>
              </a:spcAft>
            </a:pPr>
            <a:r>
              <a:rPr sz="1500" b="1">
                <a:solidFill>
                  <a:srgbClr val="C9A227"/>
                </a:solidFill>
                <a:latin typeface="Calibri"/>
              </a:rPr>
              <a:t>●  </a:t>
            </a:r>
            <a:r>
              <a:rPr sz="1500" b="0">
                <a:solidFill>
                  <a:srgbClr val="1F2937"/>
                </a:solidFill>
                <a:latin typeface="Calibri"/>
              </a:rPr>
              <a:t>Dori va kuzatuv umrga ta’sir qiladi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eoMFS va klassik MFS</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Aorta ildizi: Z-ball va o‘lchash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Kattalarda mutlaq diametr ishlatiladi. Bolalarda o‘sish tufayli bu to‘g‘ri kelmaydi, shuning uchun Z-ball qo‘llanadi.</a:t>
            </a:r>
          </a:p>
          <a:p>
            <a:pPr>
              <a:spcAft>
                <a:spcPts val="800"/>
              </a:spcAft>
            </a:pPr>
            <a:r>
              <a:rPr sz="1800">
                <a:solidFill>
                  <a:srgbClr val="1F2937"/>
                </a:solidFill>
                <a:latin typeface="Calibri"/>
              </a:rPr>
              <a:t>▸  Z-ball o‘rtachadan necha standart og‘ishni ko‘rsatadi; yosh, jins, bo‘y, vazn hisobga olinadi.</a:t>
            </a:r>
          </a:p>
          <a:p>
            <a:pPr>
              <a:spcAft>
                <a:spcPts val="800"/>
              </a:spcAft>
            </a:pPr>
            <a:r>
              <a:rPr sz="1800">
                <a:solidFill>
                  <a:srgbClr val="1F2937"/>
                </a:solidFill>
                <a:latin typeface="Calibri"/>
              </a:rPr>
              <a:t>▸  Nomogrammalar turlicha Z-ball beradi; bitta bemorda har safar bir xil usul va nomogrammadan foydalaning.</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Aholida Z-ball &gt;2</a:t>
            </a:r>
          </a:p>
          <a:p>
            <a:pPr algn="l">
              <a:spcAft>
                <a:spcPts val="100"/>
              </a:spcAft>
            </a:pPr>
            <a:r>
              <a:rPr sz="3000" b="1">
                <a:solidFill>
                  <a:srgbClr val="0B1F3A"/>
                </a:solidFill>
                <a:latin typeface="Calibri"/>
              </a:rPr>
              <a:t>2,3 %</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Aholida Z-ball &gt;3</a:t>
            </a:r>
          </a:p>
          <a:p>
            <a:pPr algn="l">
              <a:spcAft>
                <a:spcPts val="100"/>
              </a:spcAft>
            </a:pPr>
            <a:r>
              <a:rPr sz="3000" b="1">
                <a:solidFill>
                  <a:srgbClr val="0B1F3A"/>
                </a:solidFill>
                <a:latin typeface="Calibri"/>
              </a:rPr>
              <a:t>0,13 %</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Ghent 2010, bolalar</a:t>
            </a:r>
          </a:p>
          <a:p>
            <a:pPr algn="l">
              <a:spcAft>
                <a:spcPts val="100"/>
              </a:spcAft>
            </a:pPr>
            <a:r>
              <a:rPr sz="3000" b="1">
                <a:solidFill>
                  <a:srgbClr val="0B1F3A"/>
                </a:solidFill>
                <a:latin typeface="Calibri"/>
              </a:rPr>
              <a:t>Z ≥ 3</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Z-ball chegaralari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Aorta kengayish tezligi va BAV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Sog‘lom odamlarda aorta ildizi yiliga taxminan 0,1 mm o‘sadi. Davolanayotgan MFS bolalarida bu 0,5–0,8 mm/yil, ba‘zan 3 mm/yilgacha yetadi.</a:t>
            </a:r>
          </a:p>
          <a:p>
            <a:pPr>
              <a:spcAft>
                <a:spcPts val="800"/>
              </a:spcAft>
            </a:pPr>
            <a:r>
              <a:rPr sz="1600">
                <a:solidFill>
                  <a:srgbClr val="1F2937"/>
                </a:solidFill>
                <a:latin typeface="Calibri"/>
              </a:rPr>
              <a:t>▸  Kattalarda tezlik sekinroq (0,3–0,7 mm/yil). Eng tez o‘sish erkaklarda va tashxis paytida ildizi kattaroq bemorlarda kuzatiladi.</a:t>
            </a:r>
          </a:p>
          <a:p>
            <a:pPr>
              <a:spcAft>
                <a:spcPts val="800"/>
              </a:spcAft>
            </a:pPr>
            <a:r>
              <a:rPr sz="1600">
                <a:solidFill>
                  <a:srgbClr val="1F2937"/>
                </a:solidFill>
                <a:latin typeface="Calibri"/>
              </a:rPr>
              <a:t>▸  Ikki tavaqali aorta klapani (BAV) umumiy aholida 1–2 %, Marfan sindromida (MFS) taxminan 1,8 %. BAV bor MFS bemorlarida aorta ildizi kengayishi ko‘proq.</a:t>
            </a:r>
          </a:p>
          <a:p>
            <a:pPr>
              <a:spcAft>
                <a:spcPts val="800"/>
              </a:spcAft>
            </a:pPr>
            <a:r>
              <a:rPr sz="1600">
                <a:solidFill>
                  <a:srgbClr val="1F2937"/>
                </a:solidFill>
                <a:latin typeface="Calibri"/>
              </a:rPr>
              <a:t>▸  BAV aortopatiyasida ko‘tariluvchi aorta ko‘proq zararlanadi. Profilaktik jarrohlik uchun ildiz yoki ko‘tariluvchi aortaning eng katta diametri olinadi.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Sog‘lom aorta ildizi</a:t>
            </a:r>
          </a:p>
          <a:p>
            <a:pPr algn="l">
              <a:spcAft>
                <a:spcPts val="100"/>
              </a:spcAft>
            </a:pPr>
            <a:r>
              <a:rPr sz="3000" b="1">
                <a:solidFill>
                  <a:srgbClr val="0B1F3A"/>
                </a:solidFill>
                <a:latin typeface="Calibri"/>
              </a:rPr>
              <a:t>0,1</a:t>
            </a:r>
            <a:r>
              <a:rPr sz="1500" b="0">
                <a:solidFill>
                  <a:srgbClr val="6B7280"/>
                </a:solidFill>
                <a:latin typeface="Calibri"/>
              </a:rPr>
              <a:t>  mm/yil</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MFS bolalar</a:t>
            </a:r>
          </a:p>
          <a:p>
            <a:pPr algn="l">
              <a:spcAft>
                <a:spcPts val="100"/>
              </a:spcAft>
            </a:pPr>
            <a:r>
              <a:rPr sz="2700" b="1">
                <a:solidFill>
                  <a:srgbClr val="0B1F3A"/>
                </a:solidFill>
                <a:latin typeface="Calibri"/>
              </a:rPr>
              <a:t>0,5–0,8</a:t>
            </a:r>
            <a:r>
              <a:rPr sz="1300" b="0">
                <a:solidFill>
                  <a:srgbClr val="6B7280"/>
                </a:solidFill>
                <a:latin typeface="Calibri"/>
              </a:rPr>
              <a:t>  mm/yil</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MFS kattalar</a:t>
            </a:r>
          </a:p>
          <a:p>
            <a:pPr algn="l">
              <a:spcAft>
                <a:spcPts val="100"/>
              </a:spcAft>
            </a:pPr>
            <a:r>
              <a:rPr sz="2700" b="1">
                <a:solidFill>
                  <a:srgbClr val="0B1F3A"/>
                </a:solidFill>
                <a:latin typeface="Calibri"/>
              </a:rPr>
              <a:t>0,3–0,7</a:t>
            </a:r>
            <a:r>
              <a:rPr sz="1300" b="0">
                <a:solidFill>
                  <a:srgbClr val="6B7280"/>
                </a:solidFill>
                <a:latin typeface="Calibri"/>
              </a:rPr>
              <a:t>  mm/yil</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BAV umumiy aholida</a:t>
            </a:r>
          </a:p>
          <a:p>
            <a:pPr algn="l">
              <a:spcAft>
                <a:spcPts val="100"/>
              </a:spcAft>
            </a:pPr>
            <a:r>
              <a:rPr sz="3000" b="1">
                <a:solidFill>
                  <a:srgbClr val="0B1F3A"/>
                </a:solidFill>
                <a:latin typeface="Calibri"/>
              </a:rPr>
              <a:t>1–2 %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BAV MFS da</a:t>
            </a:r>
          </a:p>
          <a:p>
            <a:pPr algn="l">
              <a:spcAft>
                <a:spcPts val="100"/>
              </a:spcAft>
            </a:pPr>
            <a:r>
              <a:rPr sz="3000" b="1">
                <a:solidFill>
                  <a:srgbClr val="0B1F3A"/>
                </a:solidFill>
                <a:latin typeface="Calibri"/>
              </a:rPr>
              <a:t>≈1,8 %</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Aorta o‘sishi va BAV</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Z-ball va Ghent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bolalarda Z-ball chegarasi nega 3 deb olingan? Javob: bolada o‘lchovdagi kichik farq Z-ballni keskin o‘zgartiradi.</a:t>
            </a:r>
          </a:p>
          <a:p>
            <a:pPr>
              <a:spcAft>
                <a:spcPts val="1200"/>
              </a:spcAft>
            </a:pPr>
            <a:r>
              <a:rPr sz="2200">
                <a:solidFill>
                  <a:srgbClr val="1F2937"/>
                </a:solidFill>
                <a:latin typeface="Calibri"/>
              </a:rPr>
              <a:t>▸  Erta bolalikdagi o‘rtacha kengayish keyinroq yo‘qolib ketishi mumkin. Bolalar uchun &gt;2 va &gt;3 chegaralarini taqqoslovchi ko‘p markazli tadqiqot hozircha yo‘q.</a:t>
            </a:r>
          </a:p>
          <a:p>
            <a:pPr>
              <a:spcAft>
                <a:spcPts val="1200"/>
              </a:spcAft>
            </a:pPr>
            <a:r>
              <a:rPr sz="2200">
                <a:solidFill>
                  <a:srgbClr val="1F2937"/>
                </a:solidFill>
                <a:latin typeface="Calibri"/>
              </a:rPr>
              <a:t>▸  Z-ball 2–3 oralig‘ida, klinik belgisiz bolalarga har 1–2 yilda exokardiografiya kerak. Yirik tizimli belgi yoki o‘sish bo‘lsa, chegara &gt;2 ga tushadi.</a:t>
            </a:r>
          </a:p>
          <a:p>
            <a:pPr>
              <a:spcAft>
                <a:spcPts val="1200"/>
              </a:spcAft>
            </a:pPr>
            <a:r>
              <a:rPr sz="2200">
                <a:solidFill>
                  <a:srgbClr val="1F2937"/>
                </a:solidFill>
                <a:latin typeface="Calibri"/>
              </a:rPr>
              <a:t>▸  Diqqat: xato qilish xavfi: &gt;2 ≠ &gt;3. Ghent 2010 (oilaviy anamnez bor bo‘lsa): 20 yoshdan kichiklarda Z-ball ≥3, kattalarda ≥2.</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Konservativ davo: β-blokator va ARB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Davo tashxis qo‘yilganda yoki aorta ildizi kengayishi kuzatilganda boshlanadi.</a:t>
            </a:r>
          </a:p>
          <a:p>
            <a:pPr>
              <a:spcAft>
                <a:spcPts val="800"/>
              </a:spcAft>
            </a:pPr>
            <a:r>
              <a:rPr sz="1800">
                <a:solidFill>
                  <a:srgbClr val="1F2937"/>
                </a:solidFill>
                <a:latin typeface="Calibri"/>
              </a:rPr>
              <a:t>▸  β-blokator va angiotenzin retseptor blokatori (ARB) aorta ildizi kengayishini sekinlatadi.</a:t>
            </a:r>
          </a:p>
          <a:p>
            <a:pPr>
              <a:spcAft>
                <a:spcPts val="800"/>
              </a:spcAft>
            </a:pPr>
            <a:r>
              <a:rPr sz="1800">
                <a:solidFill>
                  <a:srgbClr val="1F2937"/>
                </a:solidFill>
                <a:latin typeface="Calibri"/>
              </a:rPr>
              <a:t>▸  Operatsiyadan keyin ham dori davom ettiriladi: distal aorta dissektsiyasi xavfi saqlanadi.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612900"/>
                <a:gridCol w="3675075"/>
              </a:tblGrid>
              <a:tr h="768096">
                <a:tc>
                  <a:txBody>
                    <a:bodyPr/>
                    <a:lstStyle/>
                    <a:p>
                      <a:r>
                        <a:rPr sz="1800" b="1">
                          <a:solidFill>
                            <a:srgbClr val="FFFFFF"/>
                          </a:solidFill>
                        </a:rPr>
                        <a:t>Davo</a:t>
                      </a:r>
                    </a:p>
                  </a:txBody>
                  <a:tcPr marL="73152" marR="73152" marT="36576" marB="36576">
                    <a:solidFill>
                      <a:srgbClr val="0B1F3A"/>
                    </a:solidFill>
                  </a:tcPr>
                </a:tc>
                <a:tc>
                  <a:txBody>
                    <a:bodyPr/>
                    <a:lstStyle/>
                    <a:p>
                      <a:r>
                        <a:rPr sz="1800" b="1">
                          <a:solidFill>
                            <a:srgbClr val="FFFFFF"/>
                          </a:solidFill>
                        </a:rPr>
                        <a:t>Natija</a:t>
                      </a:r>
                    </a:p>
                  </a:txBody>
                  <a:tcPr marL="73152" marR="73152" marT="36576" marB="36576">
                    <a:solidFill>
                      <a:srgbClr val="0B1F3A"/>
                    </a:solidFill>
                  </a:tcPr>
                </a:tc>
              </a:tr>
              <a:tr h="768096">
                <a:tc>
                  <a:txBody>
                    <a:bodyPr/>
                    <a:lstStyle/>
                    <a:p>
                      <a:r>
                        <a:rPr sz="1700" b="0">
                          <a:solidFill>
                            <a:srgbClr val="1F2937"/>
                          </a:solidFill>
                        </a:rPr>
                        <a:t>ARB</a:t>
                      </a:r>
                    </a:p>
                  </a:txBody>
                  <a:tcPr marL="73152" marR="73152" marT="36576" marB="36576">
                    <a:solidFill>
                      <a:srgbClr val="E8EEF6"/>
                    </a:solidFill>
                  </a:tcPr>
                </a:tc>
                <a:tc>
                  <a:txBody>
                    <a:bodyPr/>
                    <a:lstStyle/>
                    <a:p>
                      <a:r>
                        <a:rPr sz="1700" b="0">
                          <a:solidFill>
                            <a:srgbClr val="1F2937"/>
                          </a:solidFill>
                        </a:rPr>
                        <a:t>Z-score o‘sishi taxminan yarmiga kamaydi</a:t>
                      </a:r>
                    </a:p>
                  </a:txBody>
                  <a:tcPr marL="73152" marR="73152" marT="36576" marB="36576">
                    <a:solidFill>
                      <a:srgbClr val="E8EEF6"/>
                    </a:solidFill>
                  </a:tcPr>
                </a:tc>
              </a:tr>
              <a:tr h="768096">
                <a:tc>
                  <a:txBody>
                    <a:bodyPr/>
                    <a:lstStyle/>
                    <a:p>
                      <a:r>
                        <a:rPr sz="1700" b="0">
                          <a:solidFill>
                            <a:srgbClr val="1F2937"/>
                          </a:solidFill>
                        </a:rPr>
                        <a:t>β-blokator</a:t>
                      </a:r>
                    </a:p>
                  </a:txBody>
                  <a:tcPr marL="73152" marR="73152" marT="36576" marB="36576">
                    <a:solidFill>
                      <a:srgbClr val="FFFFFF"/>
                    </a:solidFill>
                  </a:tcPr>
                </a:tc>
                <a:tc>
                  <a:txBody>
                    <a:bodyPr/>
                    <a:lstStyle/>
                    <a:p>
                      <a:r>
                        <a:rPr sz="1700" b="0">
                          <a:solidFill>
                            <a:srgbClr val="1F2937"/>
                          </a:solidFill>
                        </a:rPr>
                        <a:t>Ta’siri ARBga o‘xshash</a:t>
                      </a:r>
                    </a:p>
                  </a:txBody>
                  <a:tcPr marL="73152" marR="73152" marT="36576" marB="36576">
                    <a:solidFill>
                      <a:srgbClr val="FFFFFF"/>
                    </a:solidFill>
                  </a:tcPr>
                </a:tc>
              </a:tr>
              <a:tr h="768096">
                <a:tc>
                  <a:txBody>
                    <a:bodyPr/>
                    <a:lstStyle/>
                    <a:p>
                      <a:r>
                        <a:rPr sz="1700" b="0">
                          <a:solidFill>
                            <a:srgbClr val="1F2937"/>
                          </a:solidFill>
                        </a:rPr>
                        <a:t>ARB + β-blokator</a:t>
                      </a:r>
                    </a:p>
                  </a:txBody>
                  <a:tcPr marL="73152" marR="73152" marT="36576" marB="36576">
                    <a:solidFill>
                      <a:srgbClr val="E8EEF6"/>
                    </a:solidFill>
                  </a:tcPr>
                </a:tc>
                <a:tc>
                  <a:txBody>
                    <a:bodyPr/>
                    <a:lstStyle/>
                    <a:p>
                      <a:r>
                        <a:rPr sz="1700" b="0">
                          <a:solidFill>
                            <a:srgbClr val="1F2937"/>
                          </a:solidFill>
                        </a:rPr>
                        <a:t>Kamida yarmiga; operatsiya kechikdi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Pitcher meta-tahlili natijasi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 (3.2.1-bo‘lim, Conservative management)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Jismoniy faollik va turmush tarzi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Zo‘riqish yoki Valsalva talab qiladigan izometrik mashqlar, kontakt sportlar va og‘ir mashqlardan qochiladi; aorta kengayishi tezlashishi mumkin.</a:t>
            </a:r>
          </a:p>
          <a:p>
            <a:pPr>
              <a:spcAft>
                <a:spcPts val="1200"/>
              </a:spcAft>
            </a:pPr>
            <a:r>
              <a:rPr sz="2200">
                <a:solidFill>
                  <a:srgbClr val="1F2937"/>
                </a:solidFill>
                <a:latin typeface="Calibri"/>
              </a:rPr>
              <a:t>▸  Tez-tez ‘portlovchi’ mashqlar va to‘qnashuvli sportlar xavfli: ular aorta kengayishini kuchaytirib, o‘tkir dissektsiyani qo‘zg‘atishi mumkin.</a:t>
            </a:r>
          </a:p>
          <a:p>
            <a:pPr>
              <a:spcAft>
                <a:spcPts val="1200"/>
              </a:spcAft>
            </a:pPr>
            <a:r>
              <a:rPr sz="2200">
                <a:solidFill>
                  <a:srgbClr val="1F2937"/>
                </a:solidFill>
                <a:latin typeface="Calibri"/>
              </a:rPr>
              <a:t>▸  Imkoni borlarga yengil-o‘rtacha aerob mashqlar, yengil dam olish sportlari va yengil toshlar (zo‘riqmasdan ko‘p takror) tavsiya; ko‘pchilik ~50% quvvatda.</a:t>
            </a:r>
          </a:p>
          <a:p>
            <a:pPr>
              <a:spcAft>
                <a:spcPts val="1200"/>
              </a:spcAft>
            </a:pPr>
            <a:r>
              <a:rPr sz="2200">
                <a:solidFill>
                  <a:srgbClr val="1F2937"/>
                </a:solidFill>
                <a:latin typeface="Calibri"/>
              </a:rPr>
              <a:t>▸  Puflab chalinadigan cholg‘ular professional darajada Valsalva orqali aorta kengayishiga ta’sir qilishi mumkin; bu shaxsiy kuzatuv, tadqiqot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 (3.2.1-bo‘lim, Conservative management)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Aorta jarrohligi ko‘rsatmalari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Tana yuzasi kattalarniki bo‘lgach (10–12 yosh) aorta ildizi va mitral klapan ta’miri xavfsizroq deb hisoblanadi.</a:t>
            </a:r>
          </a:p>
          <a:p>
            <a:pPr>
              <a:spcAft>
                <a:spcPts val="800"/>
              </a:spcAft>
            </a:pPr>
            <a:r>
              <a:rPr sz="1800">
                <a:solidFill>
                  <a:srgbClr val="1F2937"/>
                </a:solidFill>
                <a:latin typeface="Calibri"/>
              </a:rPr>
              <a:t>▸  Klapanni saqlovchi operatsiyada reimplantatsiya remodellashdan yaxshi, ayniqsa 10 yoshdan oshganlarda.</a:t>
            </a:r>
          </a:p>
          <a:p>
            <a:pPr>
              <a:spcAft>
                <a:spcPts val="800"/>
              </a:spcAft>
            </a:pPr>
            <a:r>
              <a:rPr sz="1800">
                <a:solidFill>
                  <a:srgbClr val="1F2937"/>
                </a:solidFill>
                <a:latin typeface="Calibri"/>
              </a:rPr>
              <a:t>▸  Jarrohlik ixtisoslashgan markazda o‘tkaziladi: asoratlar tez-tez uchraydi va ko‘p tizimli bo‘lishi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Aorta operatsiyasi ko‘rsatmasi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Kattalar, xavf omilisiz</a:t>
            </a:r>
          </a:p>
          <a:p>
            <a:pPr algn="l">
              <a:spcAft>
                <a:spcPts val="0"/>
              </a:spcAft>
            </a:pPr>
            <a:r>
              <a:rPr sz="1200" b="0">
                <a:solidFill>
                  <a:srgbClr val="1F2937"/>
                </a:solidFill>
                <a:latin typeface="Calibri"/>
              </a:rPr>
              <a:t>Diametr ≥50 mm</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Kattalar, xavf omili bor</a:t>
            </a:r>
          </a:p>
          <a:p>
            <a:pPr algn="l">
              <a:spcAft>
                <a:spcPts val="0"/>
              </a:spcAft>
            </a:pPr>
            <a:r>
              <a:rPr sz="1200" b="0">
                <a:solidFill>
                  <a:srgbClr val="1F2937"/>
                </a:solidFill>
                <a:latin typeface="Calibri"/>
              </a:rPr>
              <a:t>Pastroq chegara: ≥45 mm</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Xavf omili misollari</a:t>
            </a:r>
          </a:p>
          <a:p>
            <a:pPr algn="l">
              <a:spcAft>
                <a:spcPts val="0"/>
              </a:spcAft>
            </a:pPr>
            <a:r>
              <a:rPr sz="1200" b="0">
                <a:solidFill>
                  <a:srgbClr val="1F2937"/>
                </a:solidFill>
                <a:latin typeface="Calibri"/>
              </a:rPr>
              <a:t>Oilada dissektsiya  ·  O‘sish &gt;3 mm/yil</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Bolalar</a:t>
            </a:r>
          </a:p>
          <a:p>
            <a:pPr algn="l">
              <a:spcAft>
                <a:spcPts val="0"/>
              </a:spcAft>
            </a:pPr>
            <a:r>
              <a:rPr sz="1200" b="0">
                <a:solidFill>
                  <a:srgbClr val="1F2937"/>
                </a:solidFill>
                <a:latin typeface="Calibri"/>
              </a:rPr>
              <a:t>Yagona qo‘llanma yo‘q</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Operatsiya chegaralari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 (3.2.1-bo‘lim, Surgical management)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Klapanlar: mitral va trikuspid prolaps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Mitral qopqoq prolapsi (MVP) Marfan bolalarida 32–38%, kattalarda 40–68%, umumiy aholida 1–2% uchraydi.</a:t>
            </a:r>
          </a:p>
          <a:p>
            <a:pPr>
              <a:spcAft>
                <a:spcPts val="800"/>
              </a:spcAft>
            </a:pPr>
            <a:r>
              <a:rPr sz="1800">
                <a:solidFill>
                  <a:srgbClr val="1F2937"/>
                </a:solidFill>
                <a:latin typeface="Calibri"/>
              </a:rPr>
              <a:t>▸  Marfanda MVP bilan asorat xavfi 28%, idiopatik MVPda 13% (operatsiya, endokardit, yurak yetishmovchiligi).</a:t>
            </a:r>
          </a:p>
          <a:p>
            <a:pPr>
              <a:spcAft>
                <a:spcPts val="800"/>
              </a:spcAft>
            </a:pPr>
            <a:r>
              <a:rPr sz="1800">
                <a:solidFill>
                  <a:srgbClr val="1F2937"/>
                </a:solidFill>
                <a:latin typeface="Calibri"/>
              </a:rPr>
              <a:t>▸  Trikuspid qopqoq prolapsi (TVP) bolalarda 68,5% (89/130); og‘irroq fenotip belgisi bo‘lishi mumkin.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TVP: 0–10 yosh</a:t>
            </a:r>
          </a:p>
          <a:p>
            <a:pPr algn="l">
              <a:spcAft>
                <a:spcPts val="100"/>
              </a:spcAft>
            </a:pPr>
            <a:r>
              <a:rPr sz="3000" b="1">
                <a:solidFill>
                  <a:srgbClr val="0B1F3A"/>
                </a:solidFill>
                <a:latin typeface="Calibri"/>
              </a:rPr>
              <a:t>4 %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TVP: 10–20 yosh</a:t>
            </a:r>
          </a:p>
          <a:p>
            <a:pPr algn="l">
              <a:spcAft>
                <a:spcPts val="100"/>
              </a:spcAft>
            </a:pPr>
            <a:r>
              <a:rPr sz="3000" b="1">
                <a:solidFill>
                  <a:srgbClr val="0B1F3A"/>
                </a:solidFill>
                <a:latin typeface="Calibri"/>
              </a:rPr>
              <a:t>17 %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TVP: 20–30 yosh</a:t>
            </a:r>
          </a:p>
          <a:p>
            <a:pPr algn="l">
              <a:spcAft>
                <a:spcPts val="100"/>
              </a:spcAft>
            </a:pPr>
            <a:r>
              <a:rPr sz="3000" b="1">
                <a:solidFill>
                  <a:srgbClr val="0B1F3A"/>
                </a:solidFill>
                <a:latin typeface="Calibri"/>
              </a:rPr>
              <a:t>29 %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TVP: 30–40 yosh</a:t>
            </a:r>
          </a:p>
          <a:p>
            <a:pPr algn="l">
              <a:spcAft>
                <a:spcPts val="100"/>
              </a:spcAft>
            </a:pPr>
            <a:r>
              <a:rPr sz="3000" b="1">
                <a:solidFill>
                  <a:srgbClr val="0B1F3A"/>
                </a:solidFill>
                <a:latin typeface="Calibri"/>
              </a:rPr>
              <a:t>32 %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MVP bolalarda</a:t>
            </a:r>
          </a:p>
          <a:p>
            <a:pPr algn="l">
              <a:spcAft>
                <a:spcPts val="100"/>
              </a:spcAft>
            </a:pPr>
            <a:r>
              <a:rPr sz="3000" b="1">
                <a:solidFill>
                  <a:srgbClr val="0B1F3A"/>
                </a:solidFill>
                <a:latin typeface="Calibri"/>
              </a:rPr>
              <a:t>32–38 %</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Klapan prolapsi chastotasi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Kardiomiopatiya va aritmiyalar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“Marfan kardiomiopatiyasi” tarqalishi 3–68%; ikki qorinchani qamrab, sistolik va diastolik buzilish beradi. Sababi fibrillin-1 anomaliyasi bo‘lishi mumkin.</a:t>
            </a:r>
          </a:p>
          <a:p>
            <a:pPr>
              <a:spcAft>
                <a:spcPts val="800"/>
              </a:spcAft>
            </a:pPr>
            <a:r>
              <a:rPr sz="1600">
                <a:solidFill>
                  <a:srgbClr val="1F2937"/>
                </a:solidFill>
                <a:latin typeface="Calibri"/>
              </a:rPr>
              <a:t>▸  Qorinchalar va qorinchadan yuqori aritmiyalar klapan o‘zgarishisiz ham uchraydi; xavfli aritmiya 7–9%, to‘satdan yurak o‘limi 4% gacha.</a:t>
            </a:r>
          </a:p>
          <a:p>
            <a:pPr>
              <a:spcAft>
                <a:spcPts val="800"/>
              </a:spcAft>
            </a:pPr>
            <a:r>
              <a:rPr sz="1600">
                <a:solidFill>
                  <a:srgbClr val="1F2937"/>
                </a:solidFill>
                <a:latin typeface="Calibri"/>
              </a:rPr>
              <a:t>▸  Tuzatilgan QT (QTc) &gt;440 ms bolalarning 9–20%ida, kattalarning 16–20%ida; aorta kengayishiga bog‘liq emas. QT uzaytiruvchi dorilarda ehtiyot bo‘ling.</a:t>
            </a:r>
          </a:p>
          <a:p>
            <a:pPr>
              <a:spcAft>
                <a:spcPts val="800"/>
              </a:spcAft>
            </a:pPr>
            <a:r>
              <a:rPr sz="1600">
                <a:solidFill>
                  <a:srgbClr val="1F2937"/>
                </a:solidFill>
                <a:latin typeface="Calibri"/>
              </a:rPr>
              <a:t>▸  Xavfni baholashda qorincha ektopiyasi, qorinchalar taxikardiyasi, sistolik disfunksiya va NT-proBNP hisobga olinadi; NT-proBNP eng kuchli.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Kardiomiopatiya</a:t>
            </a:r>
          </a:p>
          <a:p>
            <a:pPr algn="l">
              <a:spcAft>
                <a:spcPts val="100"/>
              </a:spcAft>
            </a:pPr>
            <a:r>
              <a:rPr sz="3000" b="1">
                <a:solidFill>
                  <a:srgbClr val="0B1F3A"/>
                </a:solidFill>
                <a:latin typeface="Calibri"/>
              </a:rPr>
              <a:t>3–68 %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Xavfli aritmiya</a:t>
            </a:r>
          </a:p>
          <a:p>
            <a:pPr algn="l">
              <a:spcAft>
                <a:spcPts val="100"/>
              </a:spcAft>
            </a:pPr>
            <a:r>
              <a:rPr sz="3000" b="1">
                <a:solidFill>
                  <a:srgbClr val="0B1F3A"/>
                </a:solidFill>
                <a:latin typeface="Calibri"/>
              </a:rPr>
              <a:t>7–9 %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To‘satdan yurak o‘limi</a:t>
            </a:r>
          </a:p>
          <a:p>
            <a:pPr algn="l">
              <a:spcAft>
                <a:spcPts val="100"/>
              </a:spcAft>
            </a:pPr>
            <a:r>
              <a:rPr sz="3000" b="1">
                <a:solidFill>
                  <a:srgbClr val="0B1F3A"/>
                </a:solidFill>
                <a:latin typeface="Calibri"/>
              </a:rPr>
              <a:t>≤4 %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QTc &gt;440: bolalar</a:t>
            </a:r>
          </a:p>
          <a:p>
            <a:pPr algn="l">
              <a:spcAft>
                <a:spcPts val="100"/>
              </a:spcAft>
            </a:pPr>
            <a:r>
              <a:rPr sz="3000" b="1">
                <a:solidFill>
                  <a:srgbClr val="0B1F3A"/>
                </a:solidFill>
                <a:latin typeface="Calibri"/>
              </a:rPr>
              <a:t>9–20 %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QTc &gt;440: kattalar</a:t>
            </a:r>
          </a:p>
          <a:p>
            <a:pPr algn="l">
              <a:spcAft>
                <a:spcPts val="100"/>
              </a:spcAft>
            </a:pPr>
            <a:r>
              <a:rPr sz="3000" b="1">
                <a:solidFill>
                  <a:srgbClr val="0B1F3A"/>
                </a:solidFill>
                <a:latin typeface="Calibri"/>
              </a:rPr>
              <a:t>16–20 %</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Marfan: yurak ritmi va miokard</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Ko‘z va skelet ko‘rinishlari bolalarda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Gavhar siljishi (ektopiya linzy, EL) bolalarda 49% (25/52), 68%i ikki tomonlama; kattalarda taxminan 60%. EL faqat Marfanga xos emas.</a:t>
            </a:r>
          </a:p>
          <a:p>
            <a:pPr>
              <a:spcAft>
                <a:spcPts val="800"/>
              </a:spcAft>
            </a:pPr>
            <a:r>
              <a:rPr sz="1600">
                <a:solidFill>
                  <a:srgbClr val="1F2937"/>
                </a:solidFill>
                <a:latin typeface="Calibri"/>
              </a:rPr>
              <a:t>▸  Miopiya &gt;3 dioptriya bolalarning 34,9%ida (nazoratda 12,9%); shox parda yassilashgan. Og‘ir miopiya gavhar siljishi uchun xavf belgisi.</a:t>
            </a:r>
          </a:p>
          <a:p>
            <a:pPr>
              <a:spcAft>
                <a:spcPts val="800"/>
              </a:spcAft>
            </a:pPr>
            <a:r>
              <a:rPr sz="1600">
                <a:solidFill>
                  <a:srgbClr val="1F2937"/>
                </a:solidFill>
                <a:latin typeface="Calibri"/>
              </a:rPr>
              <a:t>▸  Ko‘krak deformatsiyasi 43% dan 62% gacha, skolioz 16% dan 59% gacha ortadi (0–6 dan 15–17 yoshgacha); bo‘y nazoratdan baland, ammo mezon emas.</a:t>
            </a:r>
          </a:p>
          <a:p>
            <a:pPr>
              <a:spcAft>
                <a:spcPts val="800"/>
              </a:spcAft>
            </a:pPr>
            <a:r>
              <a:rPr sz="1600">
                <a:solidFill>
                  <a:srgbClr val="1F2937"/>
                </a:solidFill>
                <a:latin typeface="Calibri"/>
              </a:rPr>
              <a:t>▸  Ko‘z ko‘rigi tashxis paytida va kamida yiliga bir marta o‘tkaziladi; ko‘z o‘qi uzunligi va shox parda egriligini o‘lchash tavsiya etiladi.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Linza siljishi, bolalar</a:t>
            </a:r>
          </a:p>
          <a:p>
            <a:pPr algn="l">
              <a:spcAft>
                <a:spcPts val="100"/>
              </a:spcAft>
            </a:pPr>
            <a:r>
              <a:rPr sz="3000" b="1">
                <a:solidFill>
                  <a:srgbClr val="0B1F3A"/>
                </a:solidFill>
                <a:latin typeface="Calibri"/>
              </a:rPr>
              <a:t>49 %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Linza siljishi, kattalar</a:t>
            </a:r>
          </a:p>
          <a:p>
            <a:pPr algn="l">
              <a:spcAft>
                <a:spcPts val="100"/>
              </a:spcAft>
            </a:pPr>
            <a:r>
              <a:rPr sz="3000" b="1">
                <a:solidFill>
                  <a:srgbClr val="0B1F3A"/>
                </a:solidFill>
                <a:latin typeface="Calibri"/>
              </a:rPr>
              <a:t>≈60 %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Miopiya &gt;3 D, bolalar</a:t>
            </a:r>
          </a:p>
          <a:p>
            <a:pPr algn="l">
              <a:spcAft>
                <a:spcPts val="100"/>
              </a:spcAft>
            </a:pPr>
            <a:r>
              <a:rPr sz="3000" b="1">
                <a:solidFill>
                  <a:srgbClr val="0B1F3A"/>
                </a:solidFill>
                <a:latin typeface="Calibri"/>
              </a:rPr>
              <a:t>34,9 %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Ko‘krak deformatsiyasi</a:t>
            </a:r>
          </a:p>
          <a:p>
            <a:pPr algn="l">
              <a:spcAft>
                <a:spcPts val="100"/>
              </a:spcAft>
            </a:pPr>
            <a:r>
              <a:rPr sz="3000" b="1">
                <a:solidFill>
                  <a:srgbClr val="0B1F3A"/>
                </a:solidFill>
                <a:latin typeface="Calibri"/>
              </a:rPr>
              <a:t>43 → 62 %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Skolioz</a:t>
            </a:r>
          </a:p>
          <a:p>
            <a:pPr algn="l">
              <a:spcAft>
                <a:spcPts val="100"/>
              </a:spcAft>
            </a:pPr>
            <a:r>
              <a:rPr sz="3000" b="1">
                <a:solidFill>
                  <a:srgbClr val="0B1F3A"/>
                </a:solidFill>
                <a:latin typeface="Calibri"/>
              </a:rPr>
              <a:t>16 → 59 %</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Marfan: ko‘z va skelet</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Marfan oilasidagi bola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ota-onasida FBN1 patogen variant topilgani uchun tekshirilgan bola. Genotipi musbat, fenotipi hozircha manfiy.</a:t>
            </a:r>
          </a:p>
          <a:p>
            <a:pPr>
              <a:spcAft>
                <a:spcPts val="1200"/>
              </a:spcAft>
            </a:pPr>
            <a:r>
              <a:rPr sz="2200">
                <a:solidFill>
                  <a:srgbClr val="1F2937"/>
                </a:solidFill>
                <a:latin typeface="Calibri"/>
              </a:rPr>
              <a:t>▸  Aorta ildizi Z-bali 2 va 3 orasida (kulrang zona). Belgisiz bolalarga exokardiografiya har 1–2 yilda tavsiya etiladi.</a:t>
            </a:r>
          </a:p>
          <a:p>
            <a:pPr>
              <a:spcAft>
                <a:spcPts val="1200"/>
              </a:spcAft>
            </a:pPr>
            <a:r>
              <a:rPr sz="2200">
                <a:solidFill>
                  <a:srgbClr val="1F2937"/>
                </a:solidFill>
                <a:latin typeface="Calibri"/>
              </a:rPr>
              <a:t>▸  Diqqat: Z-ball &gt;2 ≠ &gt;3. Bolalarda diagnostik chegara 3: o‘lchovdagi kichik farq Z-ballga katta ta’sir qiladi, yengil kengayish keyin yo‘qolishi mumkin.</a:t>
            </a:r>
          </a:p>
          <a:p>
            <a:pPr>
              <a:spcAft>
                <a:spcPts val="1200"/>
              </a:spcAft>
            </a:pPr>
            <a:r>
              <a:rPr sz="2200">
                <a:solidFill>
                  <a:srgbClr val="1F2937"/>
                </a:solidFill>
                <a:latin typeface="Calibri"/>
              </a:rPr>
              <a:t>▸  Savol: umrbod davo hozir boshlansinmi? Manbada normal aortali bolani oldindan umrbod davolash eng yaxshi variant bo‘lmasligi aytilgan; asosiy qoida — kuzatuv.</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Vaskulyar Ehlers-Danlos sindromi (vEDS)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vEDS — COL3A1 genidagi mutatsiya (III tip kollagenning α1 zanjiri) sabab bo‘ladigan og‘ir, ko‘p tizimli biriktiruvchi to‘qima kasalligi; autosomal dominant.</a:t>
            </a:r>
          </a:p>
          <a:p>
            <a:pPr>
              <a:spcAft>
                <a:spcPts val="800"/>
              </a:spcAft>
            </a:pPr>
            <a:r>
              <a:rPr sz="1600">
                <a:solidFill>
                  <a:srgbClr val="1F2937"/>
                </a:solidFill>
                <a:latin typeface="Calibri"/>
              </a:rPr>
              <a:t>▸  Xavf: o‘rta va yirik arteriyalar, ichak, homilador bachadon, jigar va taloq yorilishi mumkin. Homiladorlikda aorta yorilishi ayollar o‘limining eng ko‘p sababi.</a:t>
            </a:r>
          </a:p>
          <a:p>
            <a:pPr>
              <a:spcAft>
                <a:spcPts val="800"/>
              </a:spcAft>
            </a:pPr>
            <a:r>
              <a:rPr sz="1600">
                <a:solidFill>
                  <a:srgbClr val="1F2937"/>
                </a:solidFill>
                <a:latin typeface="Calibri"/>
              </a:rPr>
              <a:t>▸  Tarqalishi taxminan 1:20 000–50 000 (manbada yozuv noaniq). Umr ko‘rish davomiyligi bir necha o‘n yilga qisqarib, taxminan 50 yoshni tashkil qiladi.</a:t>
            </a:r>
          </a:p>
          <a:p>
            <a:pPr>
              <a:spcAft>
                <a:spcPts val="800"/>
              </a:spcAft>
            </a:pPr>
            <a:r>
              <a:rPr sz="1600">
                <a:solidFill>
                  <a:srgbClr val="1F2937"/>
                </a:solidFill>
                <a:latin typeface="Calibri"/>
              </a:rPr>
              <a:t>▸  Belgilar: oson ko‘karish, yupqa shaffof teri, ko‘rinib turuvchi venalar, o‘ziga xos yuz, spontan pnevmotoraks, erta varikoz, kichik bo‘g‘imlar giperharakati.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vEDS asoratlari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Yorilish xavfi</a:t>
            </a:r>
          </a:p>
          <a:p>
            <a:pPr algn="l">
              <a:spcAft>
                <a:spcPts val="0"/>
              </a:spcAft>
            </a:pPr>
            <a:r>
              <a:rPr sz="1200" b="0">
                <a:solidFill>
                  <a:srgbClr val="1F2937"/>
                </a:solidFill>
                <a:latin typeface="Calibri"/>
              </a:rPr>
              <a:t>O‘rta, yirik arteriyalar  ·  Ichak, homilador bachadon  ·  Jigar, taloq</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Teri va tomir</a:t>
            </a:r>
          </a:p>
          <a:p>
            <a:pPr algn="l">
              <a:spcAft>
                <a:spcPts val="0"/>
              </a:spcAft>
            </a:pPr>
            <a:r>
              <a:rPr sz="1200" b="0">
                <a:solidFill>
                  <a:srgbClr val="1F2937"/>
                </a:solidFill>
                <a:latin typeface="Calibri"/>
              </a:rPr>
              <a:t>Oson ko‘karish  ·  Yupqa shaffof teri  ·  Erta varikoz</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Boshqa belgilar</a:t>
            </a:r>
          </a:p>
          <a:p>
            <a:pPr algn="l">
              <a:spcAft>
                <a:spcPts val="0"/>
              </a:spcAft>
            </a:pPr>
            <a:r>
              <a:rPr sz="1200" b="0">
                <a:solidFill>
                  <a:srgbClr val="1F2937"/>
                </a:solidFill>
                <a:latin typeface="Calibri"/>
              </a:rPr>
              <a:t>Spontan pnevmotoraks  ·  Kichik bo‘g‘im giperharakati  ·  Milk mo‘rtligi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vEDS: xavf va belgilar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Omar R va boshq., Four decades in the making: Collagen III and mechanisms of vascular Ehlers Danlos Syndrome, betlar: PMID 34849481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III tip kollagen: sintez va yig‘ilish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Uchta α1(III) zanjir COL3A1 geni bilan kodlanadi va gomotrimer hosil qiladi.</a:t>
            </a:r>
          </a:p>
          <a:p>
            <a:pPr>
              <a:spcAft>
                <a:spcPts val="800"/>
              </a:spcAft>
            </a:pPr>
            <a:r>
              <a:rPr sz="1800">
                <a:solidFill>
                  <a:srgbClr val="1F2937"/>
                </a:solidFill>
                <a:latin typeface="Calibri"/>
              </a:rPr>
              <a:t>▸  Har uchinchi qoldiq glitsin (Gly-Xaa-Yaa); mutatsiyalar ko‘pincha aynan glitsinga tegadi.</a:t>
            </a:r>
          </a:p>
          <a:p>
            <a:pPr>
              <a:spcAft>
                <a:spcPts val="800"/>
              </a:spcAft>
            </a:pPr>
            <a:r>
              <a:rPr sz="1800">
                <a:solidFill>
                  <a:srgbClr val="1F2937"/>
                </a:solidFill>
                <a:latin typeface="Calibri"/>
              </a:rPr>
              <a:t>▸  Propeptidlar kesilgach, III tip kollagen I tip bilan heterotipik fibrilla hosil qiladi.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Sintez</a:t>
            </a:r>
          </a:p>
          <a:p>
            <a:pPr algn="l">
              <a:spcAft>
                <a:spcPts val="200"/>
              </a:spcAft>
            </a:pPr>
            <a:r>
              <a:rPr sz="1400" b="0">
                <a:solidFill>
                  <a:srgbClr val="1F2937"/>
                </a:solidFill>
                <a:latin typeface="Calibri"/>
              </a:rPr>
              <a:t>Uchta proα1(III) zanjir sintezlanadi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ER</a:t>
            </a:r>
          </a:p>
          <a:p>
            <a:pPr algn="l">
              <a:spcAft>
                <a:spcPts val="200"/>
              </a:spcAft>
            </a:pPr>
            <a:r>
              <a:rPr sz="1400" b="0">
                <a:solidFill>
                  <a:srgbClr val="1F2937"/>
                </a:solidFill>
                <a:latin typeface="Calibri"/>
              </a:rPr>
              <a:t>Gidroksillanish va buklanish</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Uch spiral</a:t>
            </a:r>
          </a:p>
          <a:p>
            <a:pPr algn="l">
              <a:spcAft>
                <a:spcPts val="200"/>
              </a:spcAft>
            </a:pPr>
            <a:r>
              <a:rPr sz="1400" b="0">
                <a:solidFill>
                  <a:srgbClr val="1F2937"/>
                </a:solidFill>
                <a:latin typeface="Calibri"/>
              </a:rPr>
              <a:t>C→N yo‘nalishda yig‘iladi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Golji/ECM</a:t>
            </a:r>
          </a:p>
          <a:p>
            <a:pPr algn="l">
              <a:spcAft>
                <a:spcPts val="200"/>
              </a:spcAft>
            </a:pPr>
            <a:r>
              <a:rPr sz="1400" b="0">
                <a:solidFill>
                  <a:srgbClr val="1F2937"/>
                </a:solidFill>
                <a:latin typeface="Calibri"/>
              </a:rPr>
              <a:t>Propeptid kesiladi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Fibrilla</a:t>
            </a:r>
          </a:p>
          <a:p>
            <a:pPr algn="l">
              <a:spcAft>
                <a:spcPts val="200"/>
              </a:spcAft>
            </a:pPr>
            <a:r>
              <a:rPr sz="1400" b="0">
                <a:solidFill>
                  <a:srgbClr val="1F2937"/>
                </a:solidFill>
                <a:latin typeface="Calibri"/>
              </a:rPr>
              <a:t>I:III heterotipik fibrilla hosil bo‘ladi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III tip kollagen yo‘li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Omar R va boshq., Four decades in the making: Collagen III and mechanisms of vascular Ehlers Danlos Syndrome, betlar: PMID 34849481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COL3A1 mutatsiyalari va genotip-fenotip</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Glitsin almashinuvi (~65%) va splays-sayt variantlari (~25%) COL3A1 mutatsiyalarining asosini tashkil etadi.</a:t>
            </a:r>
          </a:p>
          <a:p>
            <a:pPr>
              <a:spcAft>
                <a:spcPts val="800"/>
              </a:spcAft>
            </a:pPr>
            <a:r>
              <a:rPr sz="1800">
                <a:solidFill>
                  <a:srgbClr val="1F2937"/>
                </a:solidFill>
                <a:latin typeface="Calibri"/>
              </a:rPr>
              <a:t>▸  Nol-mutatsiyalarda asoratlar ikki o‘n yilga kech boshlanadi, penetrantlik past, asosan qon tomir hodisalari.</a:t>
            </a:r>
          </a:p>
          <a:p>
            <a:pPr>
              <a:spcAft>
                <a:spcPts val="800"/>
              </a:spcAft>
            </a:pPr>
            <a:r>
              <a:rPr sz="1800">
                <a:solidFill>
                  <a:srgbClr val="1F2937"/>
                </a:solidFill>
                <a:latin typeface="Calibri"/>
              </a:rPr>
              <a:t>▸  Diqqat: glitsinni yirik radikal bilan almashtirish og‘irroq, kichik radikal (alanin, serin, sistein) yengilroq kechadi.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291455"/>
                <a:gridCol w="2996519"/>
              </a:tblGrid>
              <a:tr h="614476">
                <a:tc>
                  <a:txBody>
                    <a:bodyPr/>
                    <a:lstStyle/>
                    <a:p>
                      <a:r>
                        <a:rPr sz="1800" b="1">
                          <a:solidFill>
                            <a:srgbClr val="FFFFFF"/>
                          </a:solidFill>
                        </a:rPr>
                        <a:t>Variant turi</a:t>
                      </a:r>
                    </a:p>
                  </a:txBody>
                  <a:tcPr marL="73152" marR="73152" marT="36576" marB="36576">
                    <a:solidFill>
                      <a:srgbClr val="0B1F3A"/>
                    </a:solidFill>
                  </a:tcPr>
                </a:tc>
                <a:tc>
                  <a:txBody>
                    <a:bodyPr/>
                    <a:lstStyle/>
                    <a:p>
                      <a:r>
                        <a:rPr sz="1800" b="1">
                          <a:solidFill>
                            <a:srgbClr val="FFFFFF"/>
                          </a:solidFill>
                        </a:rPr>
                        <a:t>Kechishi</a:t>
                      </a:r>
                    </a:p>
                  </a:txBody>
                  <a:tcPr marL="73152" marR="73152" marT="36576" marB="36576">
                    <a:solidFill>
                      <a:srgbClr val="0B1F3A"/>
                    </a:solidFill>
                  </a:tcPr>
                </a:tc>
              </a:tr>
              <a:tr h="614476">
                <a:tc>
                  <a:txBody>
                    <a:bodyPr/>
                    <a:lstStyle/>
                    <a:p>
                      <a:r>
                        <a:rPr sz="1700" b="0">
                          <a:solidFill>
                            <a:srgbClr val="1F2937"/>
                          </a:solidFill>
                        </a:rPr>
                        <a:t>Ekzon-skipping splays-sayt</a:t>
                      </a:r>
                    </a:p>
                  </a:txBody>
                  <a:tcPr marL="73152" marR="73152" marT="36576" marB="36576">
                    <a:solidFill>
                      <a:srgbClr val="E8EEF6"/>
                    </a:solidFill>
                  </a:tcPr>
                </a:tc>
                <a:tc>
                  <a:txBody>
                    <a:bodyPr/>
                    <a:lstStyle/>
                    <a:p>
                      <a:r>
                        <a:rPr sz="1700" b="0">
                          <a:solidFill>
                            <a:srgbClr val="1F2937"/>
                          </a:solidFill>
                        </a:rPr>
                        <a:t>Omon qolish medianasi eng past</a:t>
                      </a:r>
                    </a:p>
                  </a:txBody>
                  <a:tcPr marL="73152" marR="73152" marT="36576" marB="36576">
                    <a:solidFill>
                      <a:srgbClr val="E8EEF6"/>
                    </a:solidFill>
                  </a:tcPr>
                </a:tc>
              </a:tr>
              <a:tr h="614476">
                <a:tc>
                  <a:txBody>
                    <a:bodyPr/>
                    <a:lstStyle/>
                    <a:p>
                      <a:r>
                        <a:rPr sz="1700" b="0">
                          <a:solidFill>
                            <a:srgbClr val="1F2937"/>
                          </a:solidFill>
                        </a:rPr>
                        <a:t>Glitsin → yirik radikal</a:t>
                      </a:r>
                    </a:p>
                  </a:txBody>
                  <a:tcPr marL="73152" marR="73152" marT="36576" marB="36576">
                    <a:solidFill>
                      <a:srgbClr val="FFFFFF"/>
                    </a:solidFill>
                  </a:tcPr>
                </a:tc>
                <a:tc>
                  <a:txBody>
                    <a:bodyPr/>
                    <a:lstStyle/>
                    <a:p>
                      <a:r>
                        <a:rPr sz="1700" b="0">
                          <a:solidFill>
                            <a:srgbClr val="1F2937"/>
                          </a:solidFill>
                        </a:rPr>
                        <a:t>Og‘ir (arginin, valin va b.)</a:t>
                      </a:r>
                    </a:p>
                  </a:txBody>
                  <a:tcPr marL="73152" marR="73152" marT="36576" marB="36576">
                    <a:solidFill>
                      <a:srgbClr val="FFFFFF"/>
                    </a:solidFill>
                  </a:tcPr>
                </a:tc>
              </a:tr>
              <a:tr h="614476">
                <a:tc>
                  <a:txBody>
                    <a:bodyPr/>
                    <a:lstStyle/>
                    <a:p>
                      <a:r>
                        <a:rPr sz="1700" b="0">
                          <a:solidFill>
                            <a:srgbClr val="1F2937"/>
                          </a:solidFill>
                        </a:rPr>
                        <a:t>Glitsin → kichik radikal</a:t>
                      </a:r>
                    </a:p>
                  </a:txBody>
                  <a:tcPr marL="73152" marR="73152" marT="36576" marB="36576">
                    <a:solidFill>
                      <a:srgbClr val="E8EEF6"/>
                    </a:solidFill>
                  </a:tcPr>
                </a:tc>
                <a:tc>
                  <a:txBody>
                    <a:bodyPr/>
                    <a:lstStyle/>
                    <a:p>
                      <a:r>
                        <a:rPr sz="1700" b="0">
                          <a:solidFill>
                            <a:srgbClr val="1F2937"/>
                          </a:solidFill>
                        </a:rPr>
                        <a:t>Yengilroq (alanin, serin, sistein)</a:t>
                      </a:r>
                    </a:p>
                  </a:txBody>
                  <a:tcPr marL="73152" marR="73152" marT="36576" marB="36576">
                    <a:solidFill>
                      <a:srgbClr val="E8EEF6"/>
                    </a:solidFill>
                  </a:tcPr>
                </a:tc>
              </a:tr>
              <a:tr h="614476">
                <a:tc>
                  <a:txBody>
                    <a:bodyPr/>
                    <a:lstStyle/>
                    <a:p>
                      <a:r>
                        <a:rPr sz="1700" b="0">
                          <a:solidFill>
                            <a:srgbClr val="1F2937"/>
                          </a:solidFill>
                        </a:rPr>
                        <a:t>Nol-mutatsiya</a:t>
                      </a:r>
                    </a:p>
                  </a:txBody>
                  <a:tcPr marL="73152" marR="73152" marT="36576" marB="36576">
                    <a:solidFill>
                      <a:srgbClr val="FFFFFF"/>
                    </a:solidFill>
                  </a:tcPr>
                </a:tc>
                <a:tc>
                  <a:txBody>
                    <a:bodyPr/>
                    <a:lstStyle/>
                    <a:p>
                      <a:r>
                        <a:rPr sz="1700" b="0">
                          <a:solidFill>
                            <a:srgbClr val="1F2937"/>
                          </a:solidFill>
                        </a:rPr>
                        <a:t>Kech boshlanish, past penetrantlik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Variant turi va kechishi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Omar R va boshq., Four decades in the making: Collagen III and mechanisms of vascular Ehlers Danlos Syndrome, betlar: PMID 34849481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vEDS: sichqon modellari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Col3a1−/− sichqonda teri yaralari bor, aorta mediasida kollagen fibrillalari kamaygan yoki yo‘q.</a:t>
            </a:r>
          </a:p>
          <a:p>
            <a:pPr>
              <a:spcAft>
                <a:spcPts val="800"/>
              </a:spcAft>
            </a:pPr>
            <a:r>
              <a:rPr sz="1800">
                <a:solidFill>
                  <a:srgbClr val="1F2937"/>
                </a:solidFill>
                <a:latin typeface="Calibri"/>
              </a:rPr>
              <a:t>▸  Col3a1+/− sichqonlar normal yashaydi, lekin aorta va ichakda kollagen III kam, devor mustahkamligi pasaygan.</a:t>
            </a:r>
          </a:p>
          <a:p>
            <a:pPr>
              <a:spcAft>
                <a:spcPts val="800"/>
              </a:spcAft>
            </a:pPr>
            <a:r>
              <a:rPr sz="1800">
                <a:solidFill>
                  <a:srgbClr val="1F2937"/>
                </a:solidFill>
                <a:latin typeface="Calibri"/>
              </a:rPr>
              <a:t>▸  Glitsin mutatsiyali modellarda (G209S, G938D) to‘satdan o‘limga olib keluvchi aorta yorilishi bor; C-uchga yaqin mutatsiya og‘irroq.</a:t>
            </a:r>
          </a:p>
          <a:p>
            <a:pPr>
              <a:spcAft>
                <a:spcPts val="800"/>
              </a:spcAft>
            </a:pPr>
            <a:r>
              <a:rPr sz="1800">
                <a:solidFill>
                  <a:srgbClr val="1F2937"/>
                </a:solidFill>
                <a:latin typeface="Calibri"/>
              </a:rPr>
              <a:t>▸  Tsk2/+ (Cys33Ser) sichqonda teri qalinlashgan, kollagen III ko‘p — vEDS dan keskin farq qiladi.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612900"/>
                <a:gridCol w="3675075"/>
              </a:tblGrid>
              <a:tr h="512064">
                <a:tc>
                  <a:txBody>
                    <a:bodyPr/>
                    <a:lstStyle/>
                    <a:p>
                      <a:r>
                        <a:rPr sz="1800" b="1">
                          <a:solidFill>
                            <a:srgbClr val="FFFFFF"/>
                          </a:solidFill>
                        </a:rPr>
                        <a:t>Model</a:t>
                      </a:r>
                    </a:p>
                  </a:txBody>
                  <a:tcPr marL="73152" marR="73152" marT="36576" marB="36576">
                    <a:solidFill>
                      <a:srgbClr val="0B1F3A"/>
                    </a:solidFill>
                  </a:tcPr>
                </a:tc>
                <a:tc>
                  <a:txBody>
                    <a:bodyPr/>
                    <a:lstStyle/>
                    <a:p>
                      <a:r>
                        <a:rPr sz="1800" b="1">
                          <a:solidFill>
                            <a:srgbClr val="FFFFFF"/>
                          </a:solidFill>
                        </a:rPr>
                        <a:t>Asosiy topilma</a:t>
                      </a:r>
                    </a:p>
                  </a:txBody>
                  <a:tcPr marL="73152" marR="73152" marT="36576" marB="36576">
                    <a:solidFill>
                      <a:srgbClr val="0B1F3A"/>
                    </a:solidFill>
                  </a:tcPr>
                </a:tc>
              </a:tr>
              <a:tr h="512064">
                <a:tc>
                  <a:txBody>
                    <a:bodyPr/>
                    <a:lstStyle/>
                    <a:p>
                      <a:r>
                        <a:rPr sz="1700" b="0">
                          <a:solidFill>
                            <a:srgbClr val="1F2937"/>
                          </a:solidFill>
                        </a:rPr>
                        <a:t>Col3a1−/−</a:t>
                      </a:r>
                    </a:p>
                  </a:txBody>
                  <a:tcPr marL="73152" marR="73152" marT="36576" marB="36576">
                    <a:solidFill>
                      <a:srgbClr val="E8EEF6"/>
                    </a:solidFill>
                  </a:tcPr>
                </a:tc>
                <a:tc>
                  <a:txBody>
                    <a:bodyPr/>
                    <a:lstStyle/>
                    <a:p>
                      <a:r>
                        <a:rPr sz="1700" b="0">
                          <a:solidFill>
                            <a:srgbClr val="1F2937"/>
                          </a:solidFill>
                        </a:rPr>
                        <a:t>Teri yarasi, aorta mediada kollagen yo‘q</a:t>
                      </a:r>
                    </a:p>
                  </a:txBody>
                  <a:tcPr marL="73152" marR="73152" marT="36576" marB="36576">
                    <a:solidFill>
                      <a:srgbClr val="E8EEF6"/>
                    </a:solidFill>
                  </a:tcPr>
                </a:tc>
              </a:tr>
              <a:tr h="512064">
                <a:tc>
                  <a:txBody>
                    <a:bodyPr/>
                    <a:lstStyle/>
                    <a:p>
                      <a:r>
                        <a:rPr sz="1700" b="0">
                          <a:solidFill>
                            <a:srgbClr val="1F2937"/>
                          </a:solidFill>
                        </a:rPr>
                        <a:t>Col3a1+/−</a:t>
                      </a:r>
                    </a:p>
                  </a:txBody>
                  <a:tcPr marL="73152" marR="73152" marT="36576" marB="36576">
                    <a:solidFill>
                      <a:srgbClr val="FFFFFF"/>
                    </a:solidFill>
                  </a:tcPr>
                </a:tc>
                <a:tc>
                  <a:txBody>
                    <a:bodyPr/>
                    <a:lstStyle/>
                    <a:p>
                      <a:r>
                        <a:rPr sz="1700" b="0">
                          <a:solidFill>
                            <a:srgbClr val="1F2937"/>
                          </a:solidFill>
                        </a:rPr>
                        <a:t>Normal umr; devor mustahkamligi past</a:t>
                      </a:r>
                    </a:p>
                  </a:txBody>
                  <a:tcPr marL="73152" marR="73152" marT="36576" marB="36576">
                    <a:solidFill>
                      <a:srgbClr val="FFFFFF"/>
                    </a:solidFill>
                  </a:tcPr>
                </a:tc>
              </a:tr>
              <a:tr h="512064">
                <a:tc>
                  <a:txBody>
                    <a:bodyPr/>
                    <a:lstStyle/>
                    <a:p>
                      <a:r>
                        <a:rPr sz="1700" b="0">
                          <a:solidFill>
                            <a:srgbClr val="1F2937"/>
                          </a:solidFill>
                        </a:rPr>
                        <a:t>Tg-G182S</a:t>
                      </a:r>
                    </a:p>
                  </a:txBody>
                  <a:tcPr marL="73152" marR="73152" marT="36576" marB="36576">
                    <a:solidFill>
                      <a:srgbClr val="E8EEF6"/>
                    </a:solidFill>
                  </a:tcPr>
                </a:tc>
                <a:tc>
                  <a:txBody>
                    <a:bodyPr/>
                    <a:lstStyle/>
                    <a:p>
                      <a:r>
                        <a:rPr sz="1700" b="0">
                          <a:solidFill>
                            <a:srgbClr val="1F2937"/>
                          </a:solidFill>
                        </a:rPr>
                        <a:t>Yupqa teri, mo‘rt aorta; yorilish yo‘q</a:t>
                      </a:r>
                    </a:p>
                  </a:txBody>
                  <a:tcPr marL="73152" marR="73152" marT="36576" marB="36576">
                    <a:solidFill>
                      <a:srgbClr val="E8EEF6"/>
                    </a:solidFill>
                  </a:tcPr>
                </a:tc>
              </a:tr>
              <a:tr h="512064">
                <a:tc>
                  <a:txBody>
                    <a:bodyPr/>
                    <a:lstStyle/>
                    <a:p>
                      <a:r>
                        <a:rPr sz="1700" b="0">
                          <a:solidFill>
                            <a:srgbClr val="1F2937"/>
                          </a:solidFill>
                        </a:rPr>
                        <a:t>G209S/+, G938D/+</a:t>
                      </a:r>
                    </a:p>
                  </a:txBody>
                  <a:tcPr marL="73152" marR="73152" marT="36576" marB="36576">
                    <a:solidFill>
                      <a:srgbClr val="FFFFFF"/>
                    </a:solidFill>
                  </a:tcPr>
                </a:tc>
                <a:tc>
                  <a:txBody>
                    <a:bodyPr/>
                    <a:lstStyle/>
                    <a:p>
                      <a:r>
                        <a:rPr sz="1700" b="0">
                          <a:solidFill>
                            <a:srgbClr val="1F2937"/>
                          </a:solidFill>
                        </a:rPr>
                        <a:t>Aorta yorilishi; G938D og‘irroq</a:t>
                      </a:r>
                    </a:p>
                  </a:txBody>
                  <a:tcPr marL="73152" marR="73152" marT="36576" marB="36576">
                    <a:solidFill>
                      <a:srgbClr val="FFFFFF"/>
                    </a:solidFill>
                  </a:tcPr>
                </a:tc>
              </a:tr>
              <a:tr h="512064">
                <a:tc>
                  <a:txBody>
                    <a:bodyPr/>
                    <a:lstStyle/>
                    <a:p>
                      <a:r>
                        <a:rPr sz="1700" b="0">
                          <a:solidFill>
                            <a:srgbClr val="1F2937"/>
                          </a:solidFill>
                        </a:rPr>
                        <a:t>Tsk2/+ (Cys33Ser)</a:t>
                      </a:r>
                    </a:p>
                  </a:txBody>
                  <a:tcPr marL="73152" marR="73152" marT="36576" marB="36576">
                    <a:solidFill>
                      <a:srgbClr val="E8EEF6"/>
                    </a:solidFill>
                  </a:tcPr>
                </a:tc>
                <a:tc>
                  <a:txBody>
                    <a:bodyPr/>
                    <a:lstStyle/>
                    <a:p>
                      <a:r>
                        <a:rPr sz="1700" b="0">
                          <a:solidFill>
                            <a:srgbClr val="1F2937"/>
                          </a:solidFill>
                        </a:rPr>
                        <a:t>Qalin teri, kollagen III ko‘p</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vEDS sichqon modellari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Omar R va boshq., Four decades in the making: Collagen III and mechanisms of vascular Ehlers Danlos Syndrome, betlar: PMID 34849481, Animal models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vEDS patogenezi va davo yondashuvlari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Hujayradan tashqari kollagen III kamayishi aniq; ER stress roli esa noaniq, sabab yoki oqibatligi bahsli.</a:t>
            </a:r>
          </a:p>
          <a:p>
            <a:pPr>
              <a:spcAft>
                <a:spcPts val="800"/>
              </a:spcAft>
            </a:pPr>
            <a:r>
              <a:rPr sz="1800">
                <a:solidFill>
                  <a:srgbClr val="1F2937"/>
                </a:solidFill>
                <a:latin typeface="Calibri"/>
              </a:rPr>
              <a:t>▸  Sichqonlarda PLC/IP3/PKC/ERK yo‘lini to‘sish o‘limni kamaytirdi; homiladorlikda oksitotsin signali ahamiyatli.</a:t>
            </a:r>
          </a:p>
          <a:p>
            <a:pPr>
              <a:spcAft>
                <a:spcPts val="800"/>
              </a:spcAft>
            </a:pPr>
            <a:r>
              <a:rPr sz="1800">
                <a:solidFill>
                  <a:srgbClr val="1F2937"/>
                </a:solidFill>
                <a:latin typeface="Calibri"/>
              </a:rPr>
              <a:t>▸  Selioprolol FDA tasdig‘ini olmadi; MMP-inhibitor va gen terapiyasi hali tadqiqot bosqichida.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COL3A1 mutatsiyasi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Kollagen III kamayishi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ECM nuqsoni, MMP ortishi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PLC/IP3/PKC/ERK faollashishi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Aorta yorilishi xavfi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Patogenez zanjiri (soddalashtirilgan)</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Omar R va boshq., Four decades in the making: Collagen III and mechanisms of vascular Ehlers Danlos Syndrome, betlar: PMID 34849481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vEDS: tajriba bosqichidagi davo nishonlari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PLC/IP3/PKC/ERK yo‘li glitsin mutatsiyali ikki modelda aniqlangan; ruboxistaurin (PKCβ), kobimetinib (MEK) va gidralazin ta’siri sinalgan.</a:t>
            </a:r>
          </a:p>
          <a:p>
            <a:pPr>
              <a:spcAft>
                <a:spcPts val="800"/>
              </a:spcAft>
            </a:pPr>
            <a:r>
              <a:rPr sz="1600">
                <a:solidFill>
                  <a:srgbClr val="1F2937"/>
                </a:solidFill>
                <a:latin typeface="Calibri"/>
              </a:rPr>
              <a:t>▸  Gidralazin himoyasi balog‘atda, ayniqsa erkaklarda yo‘qolgan; spironolakton bilan birga bu o‘lim bartaraf etilgan.</a:t>
            </a:r>
          </a:p>
          <a:p>
            <a:pPr>
              <a:spcAft>
                <a:spcPts val="800"/>
              </a:spcAft>
            </a:pPr>
            <a:r>
              <a:rPr sz="1600">
                <a:solidFill>
                  <a:srgbClr val="1F2937"/>
                </a:solidFill>
                <a:latin typeface="Calibri"/>
              </a:rPr>
              <a:t>▸  Keng spektrli MMP ingibitori doksisiklin Col3a1+/− sichqonda aorta o‘zgarishlarini kamaytirgan.</a:t>
            </a:r>
          </a:p>
          <a:p>
            <a:pPr>
              <a:spcAft>
                <a:spcPts val="800"/>
              </a:spcAft>
            </a:pPr>
            <a:r>
              <a:rPr sz="1600">
                <a:solidFill>
                  <a:srgbClr val="1F2937"/>
                </a:solidFill>
                <a:latin typeface="Calibri"/>
              </a:rPr>
              <a:t>▸  RNK interferensiyasi bemor fibroblastlarida mutant COL3A1 mRNK ni nishonga olib, kollagen fibrilla hosil bo‘lishini yaxshilagan.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vEDS: tajribaviy nishonlar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PLC/IP3/PKC/ERK yo‘li</a:t>
            </a:r>
          </a:p>
          <a:p>
            <a:pPr algn="l">
              <a:spcAft>
                <a:spcPts val="0"/>
              </a:spcAft>
            </a:pPr>
            <a:r>
              <a:rPr sz="1200" b="0">
                <a:solidFill>
                  <a:srgbClr val="1F2937"/>
                </a:solidFill>
                <a:latin typeface="Calibri"/>
              </a:rPr>
              <a:t>Ruboxistaurin (PKCβ)  ·  Kobimetinib (MEK)  ·  Gidralazin (IP3, PKCβ)</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Androgen signali</a:t>
            </a:r>
          </a:p>
          <a:p>
            <a:pPr algn="l">
              <a:spcAft>
                <a:spcPts val="0"/>
              </a:spcAft>
            </a:pPr>
            <a:r>
              <a:rPr sz="1200" b="0">
                <a:solidFill>
                  <a:srgbClr val="1F2937"/>
                </a:solidFill>
                <a:latin typeface="Calibri"/>
              </a:rPr>
              <a:t>Spironolakton himoyani tikladi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MMP ingibitori</a:t>
            </a:r>
          </a:p>
          <a:p>
            <a:pPr algn="l">
              <a:spcAft>
                <a:spcPts val="0"/>
              </a:spcAft>
            </a:pPr>
            <a:r>
              <a:rPr sz="1200" b="0">
                <a:solidFill>
                  <a:srgbClr val="1F2937"/>
                </a:solidFill>
                <a:latin typeface="Calibri"/>
              </a:rPr>
              <a:t>Doksisiklin aorta lezyasini kamaytirdi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Gen terapiyasi</a:t>
            </a:r>
          </a:p>
          <a:p>
            <a:pPr algn="l">
              <a:spcAft>
                <a:spcPts val="0"/>
              </a:spcAft>
            </a:pPr>
            <a:r>
              <a:rPr sz="1200" b="0">
                <a:solidFill>
                  <a:srgbClr val="1F2937"/>
                </a:solidFill>
                <a:latin typeface="Calibri"/>
              </a:rPr>
              <a:t>RNKi: mutant COL3A1 mRNK nishonda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Hozircha faqat tadqiqot bosqichi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Omar R va boshq., Four decades in the making: Collagen III and mechanisms of vascular Ehlers Danlos Syndrome, betlar: PMID 34849481, Therapeutic approaches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vEDS va homiladorlik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vEDS tashxisli homilador ayol. Homiladorlik bilan bog‘liq aorta yorilishi bu yoshdagi vEDS ayollarida o‘limning eng ko‘p sababi.</a:t>
            </a:r>
          </a:p>
          <a:p>
            <a:pPr>
              <a:spcAft>
                <a:spcPts val="1200"/>
              </a:spcAft>
            </a:pPr>
            <a:r>
              <a:rPr sz="2200">
                <a:solidFill>
                  <a:srgbClr val="1F2937"/>
                </a:solidFill>
                <a:latin typeface="Calibri"/>
              </a:rPr>
              <a:t>▸  Sichqonlarda PLC/IP3/PKC/ERK yo‘li homiladorlik va laktatsiyada kuchaydi; oksitotsin retseptori antagonisti va bolalarni olib qo‘yish 95% tirik qolishni berdi.</a:t>
            </a:r>
          </a:p>
          <a:p>
            <a:pPr>
              <a:spcAft>
                <a:spcPts val="1200"/>
              </a:spcAft>
            </a:pPr>
            <a:r>
              <a:rPr sz="2200">
                <a:solidFill>
                  <a:srgbClr val="1F2937"/>
                </a:solidFill>
                <a:latin typeface="Calibri"/>
              </a:rPr>
              <a:t>▸  Hozirgi davo simptomatik: qon bosimini normada tutish (ARB, β-blokerlar). Sichqonlarda losartan va propranolol bosimni tushirdi, ammo yorilishni kamaytirmadi.</a:t>
            </a:r>
          </a:p>
          <a:p>
            <a:pPr>
              <a:spcAft>
                <a:spcPts val="1200"/>
              </a:spcAft>
            </a:pPr>
            <a:r>
              <a:rPr sz="2200">
                <a:solidFill>
                  <a:srgbClr val="1F2937"/>
                </a:solidFill>
                <a:latin typeface="Calibri"/>
              </a:rPr>
              <a:t>▸  Savol: nega faqat bosimni tushirish yetarli bo‘lmasligi mumkin va laktatsiya davri nima uchun xavfli deb hisoblanadi?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Omar R va boshq., Four decades in the making: Collagen III and mechanisms of vascular Ehlers Danlos Syndrome, betlar: PMID 34849481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xabarlar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BTDda chap qorincha yolg‘on iplari (LVFT) uchraydi. Yuklamani belgilashdan oldin VO2max va QTc ga urg‘u bilan individual skrining zarur.</a:t>
            </a:r>
          </a:p>
          <a:p>
            <a:pPr>
              <a:spcAft>
                <a:spcPts val="1200"/>
              </a:spcAft>
            </a:pPr>
            <a:r>
              <a:rPr sz="2200">
                <a:solidFill>
                  <a:srgbClr val="1F2937"/>
                </a:solidFill>
                <a:latin typeface="Calibri"/>
              </a:rPr>
              <a:t>▸  Qon tomir Ehlers-Danlos sindromida (vEDS) COL3A1 mutatsiyasi arteriyalar yorilishiga olib keladi. Hozirgi davo asosan simptomatik: qon bosimini nazorat qilish.</a:t>
            </a:r>
          </a:p>
          <a:p>
            <a:pPr>
              <a:spcAft>
                <a:spcPts val="1200"/>
              </a:spcAft>
            </a:pPr>
            <a:r>
              <a:rPr sz="2200">
                <a:solidFill>
                  <a:srgbClr val="1F2937"/>
                </a:solidFill>
                <a:latin typeface="Calibri"/>
              </a:rPr>
              <a:t>▸  Marfanda (FBN1) aorta ildizi kengayadi, mitral prolaps va aritmiya uchraydi. β-blokator va ARB kengayishni sekinlashtiradi.</a:t>
            </a:r>
          </a:p>
          <a:p>
            <a:pPr>
              <a:spcAft>
                <a:spcPts val="1200"/>
              </a:spcAft>
            </a:pPr>
            <a:r>
              <a:rPr sz="2200">
                <a:solidFill>
                  <a:srgbClr val="1F2937"/>
                </a:solidFill>
                <a:latin typeface="Calibri"/>
              </a:rPr>
              <a:t>▸  Marfan bolalarida belgilar yosh bilan paydo bo‘ladi. Shu sabab yurak, ko‘z va suyak-mushak tizimini qamragan ko‘p tarmoqli, muntazam kuzatuv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Vinokurova K va boshq., Cardiovascular Functioning Features in Individuals with Connective Tissue Dysplasia Engaged in Sports for the Disabled, betlar: PMID 41745671; Omar R va boshq., Four decades in the making: Collagen III and mechanisms of vascular Ehlers Danlos Syndrome, betlar: PMID 34849481; Anwar Baban va boshq., Unique Features of Cardiovascular Involvement and Progression in Children with Marfan Syndrome Justify Dedicated Multidisciplinary Care, betlar: PMID 38667733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biriktiruvchi to‘qima displaziyasi (BTD) ko‘prikdagi qo‘shimcha to‘sinlarga o‘xshaydi. Kollagen sintezi buzilganda to‘qima qattiqligi pasayadi, organ ichida qo‘shimcha biriktiruvchi tuzilmalar paydo bo‘lib mustahkamlikni oshiradi. Yurakda bular chap qorinchadagi soxta tendinlardir. Tekshirilgan 610 nafar sportchining barchasida 2 tadan 5 tagacha soxta tendin topilgan.</a:t>
            </a:r>
          </a:p>
          <a:p>
            <a:pPr>
              <a:spcAft>
                <a:spcPts val="1200"/>
              </a:spcAft>
            </a:pPr>
            <a:r>
              <a:rPr sz="1800">
                <a:solidFill>
                  <a:srgbClr val="1F2937"/>
                </a:solidFill>
                <a:latin typeface="Calibri"/>
              </a:rPr>
              <a:t>▸  Hodisa tahlili: III tur prokollagen gomotrimer, ya’ni uch bir xil zanjirdan iborat. Normal va mutant α1(III) zanjirlar teng miqdorda sintezlansa, gomotrimerlarning sakkizdan yettisi nuqsonli bo‘ladi. Bu mantiq nega bitta mutant gen vaskulyar Elers–Danlos sindromida arteriya yorilishiga olib kelishini tushuntiradi. Eslab qolish: 2×2×2 = 8 kombinatsiya, faqat bittasi toza (uchala zanjir normal).</a:t>
            </a:r>
          </a:p>
          <a:p>
            <a:pPr>
              <a:spcAft>
                <a:spcPts val="1200"/>
              </a:spcAft>
            </a:pPr>
            <a:r>
              <a:rPr sz="1800">
                <a:solidFill>
                  <a:srgbClr val="1F2937"/>
                </a:solidFill>
                <a:latin typeface="Calibri"/>
              </a:rPr>
              <a:t>▸  Diqqat, xato qilish xavfi: Z-ball 2 va Z-ball 3 bir narsa emas. Umumiy aholining 2,3 foizida aorta ildizi Z-balli 2 dan yuqori, 0,13 foizida 3 dan yuqori. Bolalarda Marfan sindromi tashxisi uchun chegara 3 etib belgilangan, chunki o‘lchashdagi kichik farq bolada Z-ballni kattaroq o‘zgartiradi. 2 bilan 3 oralig‘idagi bolalar har 1–2 yilda exokardiografiya bilan kuzatiladi.</a:t>
            </a:r>
          </a:p>
          <a:p>
            <a:pPr>
              <a:spcAft>
                <a:spcPts val="1200"/>
              </a:spcAft>
            </a:pPr>
            <a:r>
              <a:rPr sz="1800">
                <a:solidFill>
                  <a:srgbClr val="1F2937"/>
                </a:solidFill>
                <a:latin typeface="Calibri"/>
              </a:rPr>
              <a:t>▸  Eslab qolish: Marfan sindromining uch asosiy nuqtasi — yurak-qon tomir, ko‘z va skelet (Y–K–S). Yurak-qon tomirda aorta ildizining kengayishi, ko‘zda linza ektopiyasi, skeletda tizimli ball belgilari yetakchi. Bolalarda belgilar yoshga qarab keyinroq namoyon bo‘lishi mumkin (yoshga bog‘liq penetrantlik), shuning uchun kuzatuv muntazam bo‘lishi kerak.</a:t>
            </a:r>
          </a:p>
          <a:p>
            <a:pPr>
              <a:spcAft>
                <a:spcPts val="1200"/>
              </a:spcAft>
            </a:pPr>
            <a:r>
              <a:rPr sz="1800">
                <a:solidFill>
                  <a:srgbClr val="1F2937"/>
                </a:solidFill>
                <a:latin typeface="Calibri"/>
              </a:rPr>
              <a:t>▸  Hodisa tahlili: nogiron sportchilarda yurak zaxirasiga nogironlik turidan ko‘ra sport turi kuchliroq ta’sir qilgan. VO2max (maksimal kislorod iste’moli) uchun effekt hajmi sport turida η² = 0,158, nozologiyada 0,072. QTc uchun sport turida ε² = 0,146, nozologiyada 0,018. Amaliy xulosa: mashq yuklamasini belgilashdan oldin har bir sportchiga individual kardiologik skrining kerak, unda VO2max va QTc ko‘rsatkichlariga e’tibor beriladi.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Biriktiruvchi to'qima displaziyasida yurak va qon tomir patologiyasi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Vinokurova K va boshq. Cardiovascular Functioning Features in Individuals with Connective Tissue Dysplasia Engaged in Sports for the Disabled, Sports. 2026. PMID 41745671; DOI 10.3390/sports14020069</a:t>
            </a:r>
          </a:p>
          <a:p>
            <a:pPr>
              <a:spcAft>
                <a:spcPts val="800"/>
              </a:spcAft>
            </a:pPr>
            <a:r>
              <a:rPr sz="2000">
                <a:solidFill>
                  <a:srgbClr val="1F2937"/>
                </a:solidFill>
                <a:latin typeface="Calibri"/>
              </a:rPr>
              <a:t>▸  Omar R va boshq. Four decades in the making: Collagen III and mechanisms of vascular Ehlers Danlos Syndrome, Matrix Biology Plus. 2021. PMID 34849481; DOI 10.1016/j.mbplus.2021.100090</a:t>
            </a:r>
          </a:p>
          <a:p>
            <a:pPr>
              <a:spcAft>
                <a:spcPts val="800"/>
              </a:spcAft>
            </a:pPr>
            <a:r>
              <a:rPr sz="2000">
                <a:solidFill>
                  <a:srgbClr val="1F2937"/>
                </a:solidFill>
                <a:latin typeface="Calibri"/>
              </a:rPr>
              <a:t>▸  Anwar Baban va boshq. Unique Features of Cardiovascular Involvement and Progression in Children with Marfan Syndrome Justify Dedicated Multidisciplinary Care, Journal of Cardiovascular Development and Disease. 2024. PMID 38667733; DOI 10.3390/jcdd11040114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