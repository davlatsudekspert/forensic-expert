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kollagen yoki fibrillin genlari yurak va qon tomirga ta’sir qiladi? Boshqa a’zolar ham zararlanishi mumkinmi? Doskada: mavzuning uch yo‘nalishini (soxta tolalar, MFS, vEDS) uchta ustun qilib chizing. Tipik xato: uchala holatni bir xil kasallik deb o‘ylash. Ularning genlari va xavflari har xil.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BTD sog‘lom odamlarda ham uchraydi? Hududiy tarqalish nimaga bog‘liq bo‘lishi mumkin? Doskada: ‘Kollagen — gen — to‘qima’ qisqa sxemasini chizing. Tipik xato: soxta tola borligini darhol kasallik deb baholash. Yuklama ostida yurak zaxirasi har xil bo‘lishi mumkinligini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ko‘prik o‘xshatishi mexanizmni qanday tushuntiradi? Soxta tolalar yurak zaxirasiga qanday ta’sir qilishi mumkin? Doskada: besh bosqichli zanjirni o‘zingiz chizing, so‘ng talabalar o‘zlari qaytaradi. Tipik xato: zanjirning oxirgi bo‘g‘inini isbotlangan sabab deb olish. Muallif faqat farazni ilgari suradi.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LVFT ni BTD ning kuchli belgisi deb hisoblash mumkin? 2) Dam olishda funksiya normal bo‘lsa, yuklamada nima o‘zgaradi? Doskada: chap qorincha kesimini chizib, ko‘ndalang tolani to‘siq va erkin devor orasiga tortilgan holda ko‘rsating, qalinlik &gt;2 mm deb belgilang. Tipik xato: talaba LVFT ni avtomatik patologiya yoki o‘tkir kasallik deb hisoblaydi; maqolada u patologik topilma deb sanalmaydi. Manbadagi o‘xshatish: ko‘prik konstruksiyasini ko‘ndalang to‘sinlar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guruhlar soni teng emas va bu natijani qanday cheklaydi? 2) Nega 6 yoshdan 60 yoshgacha bo‘lgan keng yosh oralig‘i taqqoslashni qiyinlashtiradi? Doskada: 4 ustunli emas, 3 ustunli jadvalni o‘zingiz chizib, yig‘indini tekshiring (47 + 86 + 110 + 367 = 610). Tipik xato: HI, IDD, VI, MPI qisqartmalarini aralashtirish; ularni ochib yozing: eshitish, intellektual va rivojlanish, ko‘rish, tayanch-harakat nuqsonlari.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aralash (to‘g‘ridan va hisoblab) VO2max o‘lchovi cheklov hisoblanadi? 2) Nega g‘ildirakli kresloda o‘tirgan ishtirokchilarda ortotest o‘tkazilmadi? Manbaga ko‘ra, ularda (n = 60) gemodinamika faqat yotgan holatda o‘lchandi. Doskada: besh bosqichli zanjirni chizing va har biriga bittadan o‘lchanadigan ko‘rsatkich yozing (EKG: QTc; TTE: EF; yuklama: VO2max). Tipik xato: EKG ni yuklama sinovi bilan aralashtirish; manbada dam olishdagi EKG alohida, yuklama sinovi esa EKG nazoratida o‘tadi.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Savolni talabalarga oldin bering, javobni 1 daqiqadan keyin oching. Muhokama: (1) LVFT bor bo‘lsa, nega yurak tinch holatda me’yorda ishlaydi? (2) Nima uchun faqat qalin tortmalar sanaldi? Doskada: LQ ning sodda kesimini chizib, ko‘ndalang tortmani septum va erkin devor orasiga qo‘ying. Tipik xato: LVFT ni har doim kasallik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avtomatik o‘lchashdan keyin qo‘lda qayta o‘lchash kerak? (2) YUUT 55 urish/daq bo‘lsa qaysi formula tanlanadi? Doskada: YUUT o‘qi bo‘yicha ikki zonali sxema chizing (&lt;60, 60–100, &gt;100). Tipik xato: Bazettni hamma YUUT uchun qo‘llash. Qo‘shimcha: QTc o‘rtacha 417,3 ± 26,8 ms; 3 nafar (&lt;1%) da aniq uzayish bo‘lgan va chuqur tekshiruv tavsiya etilgan.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barcha ko‘rsatkichlarning diapazoni keng? (2) Ortotestda EDI ning kamayishi nimani bildiradi? Doskada: EDV − ESV = SV munosabatini chizing va EF ni hisoblang. Tipik xato: yotgan va tik holat ma’lumotlarini aralashtirish; g‘ildirakli kresloda 60 nafar ishtirokchida ortotest o‘tkazilmagan, faqat yotgan holatda o‘lchangan.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barcha ishtirokchilarda bir xil ergometr ishlatib bo‘lmadi? (2) To‘g‘ridan-to‘g‘ri va bilvosita o‘lchashni aralashtirish natijaga qanday xavf tug‘diradi (muallifler buni cheklov deb ko‘rsatgan)? Doskada chizish: ergometr tanlash zanjiri — yosh/nogironlik turi → ergometr → VO2max. Tipik xato: bilvosita hisoblangan VO2max ni to‘g‘ridan-to‘g‘ri o‘lchangan qiymat bilan bir xil deb o‘ylash. Eslatma: past maksimal yurak urishi yurak zaxirasi har xil safarbar bo‘lishini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chang‘i poygasida VO2max eng yuqori bo‘lishi kutiladi (chidamlilikka yo‘naltirilgan sport)? (2) Para-futbolda katta ichki tarqoqlik nimani anglatadi? Doskada chizish: jadvaldagi to‘rt sportni VO2max bo‘yicha pastdan yuqoriga tartiblang. Tipik xato: QTc ni faqat mashg‘ulot hajmi belgilaydi deb o‘ylash — muallif sabablarini (yuklama, simpatik faollik, yurak qayta qurilishi) faqat taxmin sifatida keltiradi. Diqqat: jadvaldagi qiymatlar grafikdan taxminiy o‘qilgan medianalar.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statistik ahamiyatli (p &lt; 0,05) natija har doim klinik ahamiyatli emas? (2) Mashg‘ulot yuklamasini belgilashda bu xulosa nimani anglatadi (VO2max va QTc bo‘yicha individual kardiologik skrining)? Doskada chizish: to‘rt ustunli effekt hajmi diagrammasi, balandligi bo‘yicha tartiblangan. Izoh: η² (eta-kvadrat) ANOVA uchun, ε² (epsilon-kvadrat) Kruskal-Wallis uchun effekt hajmi. Tipik xato: p qiymati kichik bo‘lsa, effekt ham katta deb o‘ylash. Diqqat: nosologiya → QTc ta’siri juda kichik, ya’ni p &lt; 0,05 ≠ katta effekt.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savoli: 1) Past VO2max faqat nogironlik turi bilan bog‘liqmi yoki sport turi ham muhimmi? 2) Trener-kardiolog yuklamani belgilashdan oldin qaysi tekshiruvlarni o‘tkazadi? Doskada chizish topshirig‘i: «o‘yinchi → skrining (VO2max, QTc) → qaror» zanjirini chizing. Tipik xato: past VO2max ni avtomatik «kasallik» deb baholash. Manbada u sport turi va individual farqlar bilan bog‘liq, ko‘rsatkich esa individual skrining uchun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savoli: 1) Nazorat guruhining yo‘qligi xulosalarga qanday ta’sir qiladi? 2) Bevosita va hisoblangan VO2max ni aralashtirish nimaga olib keladi? Doskada chizish topshirig‘i: cheklovlar ro‘yxatini «dizayn – guruh – o‘lchov» ustunlariga ajratib yozing. Tipik xato: topilmalarni sababiy deb talqin qilish; ko‘ndalang tadqiqot faqat bog‘liqlikni ko‘rsatadi, sababni isbotlamaydi.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savoli: 1) Yoshga bog‘liq penetrantlik bola oilasi bilan maslahatda nimani o‘zgartiradi? 2) Nega genotipi musbat, fenotipi manfiy bolada ham kuzatuv kerak? Doskada chizish topshirig‘i: Marfan triadasini uchta doira (yurak-qon tomir, ko‘z, skelet) ko‘rinishida chizing. Tipik xato: Marfan (FBN1 geni) bilan qon tomir Ehlers-Danlos sindromini (COL3A1 geni) adashtirish; bular turli genlar bilan bog‘liq turli kasalliklar.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bitta gen yurak, ko‘z va skeletni birga zararlaydi? Fibrillin-1 qaysi a‘zolarda uchraydi? Doskada: FBN1 → fibrillin-1 → mikrofibrilla → TGFβ → a‘zo belgilari zanjirini chizing. Tipik xato: fibrillin-1 ni kollagen deb aytish. Fibrillin-1 elastik tolalarning tarkibiy oqsili, kollagen emas. Manbada mutatsiya TGFβ nazoratini qanday buzishi bosqichma-bosqich yozilmagan; zanjirdagi oxirgi bosqichlar sxematik tushuntirishdir.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Z-ball nimani bildiradi (o‘rtacha qiymatdan necha standart og‘ish)? Nega bolalarda chegara 3 qilingan? Doskada: jadvalni 3 qator qilib ko‘chiring va har qatorga misol bemor yozing. Tipik xato: Z ≥ 2 ni barcha yoshga bir xil qo‘llash. Manbada bolalarda 2 va 3 chegaralari haqida ko‘p markazli dalil yo‘qligi ham qayd etilgan.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eoMFS da o‘lim sababi nima uchun aorta emas? Nega ekzon 24–32 varianti ham ball bilan tasdiqlanishi kerak? Doskada: eoMFS da klapan regurgitatsiyasi → yurak yetishmovchiligi zanjirini chizing. Tipik xato: eoMFS ni ham aorta yorilishidan o‘ladi deb o‘ylash. Eslatma: eoMFS ilgari neonatal MFS (nMFS) deb atalgan.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bolada mutlaq diametr yetarli emas? 2) Nega nomogrammani almashtirmaslik kerak? Doskada chizish: Z-ball shkalasi (0, 2, 3) va unda aholining 2,3 % hamda 0,13 % ulushlarini belgilang. Tipik xato: Z-ballni millimetrdagi diametr bilan adashtirish; bir bemorda turli nomogramma ishlatish.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o‘sish tezligini yil sayin kuzatish muhim? 2) BAV MFS bilan birga kelsa, qaysi qismga e’tibor beriladi? Doskada chizish: aorta ildizi, ko‘tariluvchi aorta va yoyni chizib, MFS va BAV kengayish joylarini turli rangda belgilang. Tipik xato: MFS va BAV aortopatiyasida kengayish joyini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Talabalarga avval savolni berib, 1 daqiqa o‘ylashga vaqt bering. Muhokama: 1) Z-ball 2,5 bo‘lgan belgisiz 8 yoshli bolada nima qilinadi? 2) Qanday holatda chegara 2 ga tushadi? Doskada chizish: Z-ball 0–2–3 shkalasida ’kulrang zona’ni (2–3) belgilang. Tipik xato: kulrang zonadagi bolani darhol davolash yoki umuman kuzatmaslik.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Aorta kengaymagan, lekin oilaviy anamnezi bor bolani umr bo‘yi oldindan davolash to‘g‘rimi? (manbada: bu eng yaxshi tanlov bo‘lmasligi mumkin, asosiysi exokardiografik kuzatuv.) 2) Yagona dori yoki kombinatsiya — nega bahs bor? Doskada chizing: aorta ildizi Z-score o‘sishi bo‘yicha uch ustunli taqqoslash (nazorat, ARB, kombinatsiya). Tipik xato: davo faqat jarrohlikkacha, deb o‘ylash — aslida operatsiyadan keyin ham davom etadi.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yengil toshlar mumkin-u, og‘ir mashq mumkin emas (zo‘riqmasdan ko‘p takror vs izometrik)? 2) Marfan sindromli bolaga futbol yoki karate o‘rniga qanday sport maslahat berasiz? Doskada chizing: ‘yashil — tavsiya, qizil — qochish’ ikki ustunli ro‘yxat. Diqqat: manbada MFS uchun rasmiy sport tavsiyalari hozircha yo‘q, bilimda bo‘shliq bor. Tipik xato: ‘sport umuman taqiqlanadi’ deb aytish — aslida sport tibbiyoti nazoratida mashq foydali.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bolalar uchun kattalar chegarasini to‘g‘ridan-to‘g‘ri qo‘llab bo‘lmaydi? 2) Qaysi xavf omillari chegarani 45 mm gacha tushiradi (homilador bo‘lishi mumkin ayollar, gipertoniya, og‘ir regurgitatsiya va h.k.)? Doskada chizing: 50 mm va 45 mm chegaralarni ko‘rsatuvchi sodda qaror daraxti. Tipik xato: 50 mm chegarani bolalarga ham qo‘llash — manbada bolalar uchun yagona qo‘llanma yo‘q, ayrim ekspertlar kattalar ildizini moslashtirishni taklif qiladi.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TVPni echokardiografiyada muntazam baholash kerak? MVP yosh bilan qanday o‘zgaradi? Doskada: TVPning yosh bo‘yicha o‘sish chizig‘ini chizdiring. Tipik xato: TVPni Marfanga xos belgi deb o‘ylash; manbada u tashxis mezoni emas, balki ehtimoliy og‘irlik belgisi.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Marfan kardiomiopatiyasini faqat klapan regurgitatsiyasi bilan tushuntirib bo‘lmaydi? QTc uzayishi bolada qanday amaliy ehtiyotkorlik talab qiladi? Doskada: aritmiya xavfini baholash parametrlari ro‘yxatini yozdiring. Tipik xato: bolalarda ham aritmiya tarqalishi aniq deb o‘ylash; manbada bolalar bo‘yicha ko‘p markazli ma’lumot kam.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bolalarda belgilar yosh bilan paydo bo‘ladi (yoshga bog‘liq penetrantlik)? Nega miopiya mezoni bolada yashirin qolishi mumkin? Doskada: ko‘z, skelet va yurak uchun kuzatuv jadvalini chizdiring. Tipik xato: gavhar siljishini Marfanning patognomonik belgisi deb hisoblash; u boshqa kasalliklarda ham uchraydi.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Genotipi musbat, fenotipi manfiy bolada nega kuzatuv shart? 2) Kulrang zonada (Z-ball 2–3) qaysi omillar qarorni o‘zgartiradi (tizimli belgilar, aorta kengayishining progressiyasi)? Doskada: Z-ball o‘qini chizib, 2 va 3 chegaralarini belgilang, har zonaga tavsiyani yozing. Tipik xato: Z-ball 2 dan yuqori bo‘lsa darhol Marfan tashxisi qo‘yish; yoshga bog‘liq penetrantlikni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vEDS yurak-qon tomir patologiyasi nuqtai nazaridan eng xavfli EDS turlaridan biri? 2) Homilador ayolda qanday xavf bor va u kimga maslahat berishni talab qiladi? Doskada: yorilish xavfi bo‘lgan a’zolar (arteriya, ichak, bachadon, jigar, taloq) sxemasini chizing. Tipik xato: vEDS ni faqat teri va bo‘g‘im giperharakatchanligi kasalligi deb o‘ylash; asosiy xavf — qon tomir va ichki a’zolar yorilishi.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glitsin o‘rnini boshqa aminokislota egallasa, uch spiral buziladi? 2) Kollagen III kamayishi qon tomir devoriga qanday ta’sir qilishi mumkin? Doskada: besh bosqichli zanjirni chizib, har bosqichda mutatsiya buzishi mumkin bo‘lgan joyni belgilang. Tipik xato: III tip kollagenni I tip bilan aralashtirish; III tip alohida emas, I tip bilan birga fibrilla hosil qiladi.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glitsin uch spiral hosil bo‘lishida muhim? Nega nol-mutatsiya yengilroq kechadi? Doskada chizish: Gly-Xaa-Yaa takrori va mutatsiya turlarini og‘irlik bo‘yicha shkalaga joylashtiring. Tipik xato: barcha glitsin almashinuvlarini bir xil og‘ir deb o‘ylash; radikal hajmi muhim. Genotip-fenotip bog‘liqligining molekulyar asosi hali yaxshi aniqlanmagan.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yagona universal davo ehtimoli past? Selioprolol sichqonlarning turli modellarida nega qarama-qarshi natija berdi? Doskada chizish: zanjirning ustiga dori nishonlarini yozing (selioprolol, doksisiklin, ruboxistaurin, kobimetinib, gidralazin). Tipik xato: β-blokerlarni bir-birining o‘rniga ishlatish mumkin deb o‘ylash (selioprolol ≠ bisoprolol). PLC/IP3/PKC/ERK yo‘li ma’lumotlari sichqonlardan olingan, odamda tasdiqlanishi kerak.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3-4 kishilik guruhda ishlaydi. Muhokama: homiladorlik va laktatsiyada qaysi signal yo‘li kuchayadi? Kuzatuvni qanday rejalashtirish kerak? Doskada chizish: oksitotsin → PLC/IP3/PKC/ERK → aorta yorilishi sxemasi. Tipik xato: sichqon natijalarini to‘g‘ridan-to‘g‘ri odamga ko‘chirish; manbada bu ma’lumotlar hayvon modellaridan, klinik tavsiya sifatida tasdiqlanmagan.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Mustahkamlash savollari: 1) LVFT dam olishda patologiya hisoblanadimi, yuklamada nima ko‘rinadi? 2) Nega vEDSda faqat qon bosimini tushirish yetarli emas? 3) Nega Marfan bolasida aortani yillab ehokardiografiya bilan kuzatish kerak? Muhokama: uchta holatni (LVFT, vEDS, Marfan) bitta jadvalda solishtiring. Doskada chizish: uch ustunli sxema ’kasallik – gen/belgi – asosiy chora’. Tipik xato: FBN1 (Marfan) ≠ COL3A1 (vEDS) ni aralashtirish; LVFTni o‘z-o‘zidan kasallik deb hisoblash. Diqqat: gen nomlarini aniq farqlang.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Biriktiruvchi to'qima displaziyasida yurak va qon tomir patologiyasi -</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va dars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Biriktiruvchi to‘qima displaziyasi (BTD) kollagen sintezi buzilishi bilan bog‘liq. Yurakda u chap qorincha soxta tolalari ko‘rinishida namoyon bo‘ladi.</a:t>
            </a:r>
          </a:p>
          <a:p>
            <a:pPr>
              <a:spcAft>
                <a:spcPts val="1200"/>
              </a:spcAft>
            </a:pPr>
            <a:r>
              <a:rPr sz="2200">
                <a:solidFill>
                  <a:srgbClr val="1F2937"/>
                </a:solidFill>
                <a:latin typeface="Calibri"/>
              </a:rPr>
              <a:t>▸  Marfan sindromi (MFS) FBN1 geni o‘zgarishidan kelib chiqadi. Uning asosiy yurak-qon tomir belgisi aorta ildizining kengayishidir.</a:t>
            </a:r>
          </a:p>
          <a:p>
            <a:pPr>
              <a:spcAft>
                <a:spcPts val="1200"/>
              </a:spcAft>
            </a:pPr>
            <a:r>
              <a:rPr sz="2200">
                <a:solidFill>
                  <a:srgbClr val="1F2937"/>
                </a:solidFill>
                <a:latin typeface="Calibri"/>
              </a:rPr>
              <a:t>▸  Vaskulyar Ehlers-Danlos sindromi (vEDS) COL3A1 geni mutatsiyasidan kelib chiqadi. Bunda arteriyalar yorilish xavfi yuqori bo‘ladi.</a:t>
            </a:r>
          </a:p>
          <a:p>
            <a:pPr>
              <a:spcAft>
                <a:spcPts val="1200"/>
              </a:spcAft>
            </a:pPr>
            <a:r>
              <a:rPr sz="2200">
                <a:solidFill>
                  <a:srgbClr val="1F2937"/>
                </a:solidFill>
                <a:latin typeface="Calibri"/>
              </a:rPr>
              <a:t>▸  Dars rejasi: BTD tushunchasi, soxta tolalar, Marfan sindromi, vEDS, davolash yondashuvlari va sportdagi ehtiyot choralari.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 Anwar Baban va boshq., Unique Features of Cardiovascular Involvement and Progression in Children with Marfan Syndrome Justify Dedicated Multidisciplinary Care, betlar: PMID 38667733; Omar R va boshq., Four decades in the making: Collagen III and mechanisms of vascular Ehlers Danlos Syndrome, betlar: PMID 34849481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BTD nima? Asosiy tushuncha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BTD kollagen sintezi buzilishi bilan bog‘liq. U sog‘lom aholi orasida ham, nogironligi bor shaxslar orasida ham keng tarqalgan.</a:t>
            </a:r>
          </a:p>
          <a:p>
            <a:pPr>
              <a:spcAft>
                <a:spcPts val="1200"/>
              </a:spcAft>
            </a:pPr>
            <a:r>
              <a:rPr sz="2200">
                <a:solidFill>
                  <a:srgbClr val="1F2937"/>
                </a:solidFill>
                <a:latin typeface="Calibri"/>
              </a:rPr>
              <a:t>▸  Tug‘ma nogironliklar asosan genetik kelib chiqadi. Ular odatda kollagen sintezini boshqaruvchi gen mutatsiyalari bilan bog‘liq.</a:t>
            </a:r>
          </a:p>
          <a:p>
            <a:pPr>
              <a:spcAft>
                <a:spcPts val="1200"/>
              </a:spcAft>
            </a:pPr>
            <a:r>
              <a:rPr sz="2200">
                <a:solidFill>
                  <a:srgbClr val="1F2937"/>
                </a:solidFill>
                <a:latin typeface="Calibri"/>
              </a:rPr>
              <a:t>▸  Ayrim hududlarda BTD uchrashi 70–90% gacha yetishi mumkin. Ural mintaqasida u ayniqsa yuqori.</a:t>
            </a:r>
          </a:p>
          <a:p>
            <a:pPr>
              <a:spcAft>
                <a:spcPts val="1200"/>
              </a:spcAft>
            </a:pPr>
            <a:r>
              <a:rPr sz="2200">
                <a:solidFill>
                  <a:srgbClr val="1F2937"/>
                </a:solidFill>
                <a:latin typeface="Calibri"/>
              </a:rPr>
              <a:t>▸  Diqqat: xato qilish xavfi. Soxta tolalar o‘zi patologik topilma hisoblanmaydi, chunki dam olishda yurak funksiyasi normada qoladi.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BTD mexanizmi: kollagendan yurakkacha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Kollagen sintezi buzilishi biriktiruvchi to‘qima qattiqligini pasaytiradi.</a:t>
            </a:r>
          </a:p>
          <a:p>
            <a:pPr>
              <a:spcAft>
                <a:spcPts val="800"/>
              </a:spcAft>
            </a:pPr>
            <a:r>
              <a:rPr sz="1800">
                <a:solidFill>
                  <a:srgbClr val="1F2937"/>
                </a:solidFill>
                <a:latin typeface="Calibri"/>
              </a:rPr>
              <a:t>▸  Ichi bo‘sh a’zolarda qo‘shimcha tolalar paydo bo‘ladi. Ular ko‘prikdagi qo‘shimcha to‘sinlar kabi mustahkamlaydi.</a:t>
            </a:r>
          </a:p>
          <a:p>
            <a:pPr>
              <a:spcAft>
                <a:spcPts val="800"/>
              </a:spcAft>
            </a:pPr>
            <a:r>
              <a:rPr sz="1800">
                <a:solidFill>
                  <a:srgbClr val="1F2937"/>
                </a:solidFill>
                <a:latin typeface="Calibri"/>
              </a:rPr>
              <a:t>▸  Tadqiqotda chap qorinchada 2–5 ta qalin (&gt;2 mm) soxta tola aniqlangan.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Kollagen sintezi buzilishi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qattiqligi pasayadi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Qo‘shimcha tolali tuzilmalar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Chap qorinchada soxta tolalar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Yurak zaxirasiga ta’sir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BTD mexanizmi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Chap qorincha soxta tolalari (LVFT)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Biriktiruvchi to‘qima displaziyasi (BTD) kollagen sintezi buzilishi bilan bog‘liq. Yurakda, asosan chap qorinchada soxta tolalar (LVFT) paydo bo‘lib, nasos funksiyasini normaga yaqin tutadi.</a:t>
            </a:r>
          </a:p>
          <a:p>
            <a:pPr>
              <a:spcAft>
                <a:spcPts val="1200"/>
              </a:spcAft>
            </a:pPr>
            <a:r>
              <a:rPr sz="2000">
                <a:solidFill>
                  <a:srgbClr val="1F2937"/>
                </a:solidFill>
                <a:latin typeface="Calibri"/>
              </a:rPr>
              <a:t>▸  Faqat muhim LVFT hisoblandi: qalinligi &gt;2 mm, ko‘ndalang va/yoki qiya, qorinchalararo to‘siq bilan erkin devorni bog‘laydi, asosan bazal yoki o‘rta qismda.</a:t>
            </a:r>
          </a:p>
          <a:p>
            <a:pPr>
              <a:spcAft>
                <a:spcPts val="1200"/>
              </a:spcAft>
            </a:pPr>
            <a:r>
              <a:rPr sz="2000">
                <a:solidFill>
                  <a:srgbClr val="1F2937"/>
                </a:solidFill>
                <a:latin typeface="Calibri"/>
              </a:rPr>
              <a:t>▸  Tekshirilgan 100% ishtirokchida 2 dan 5 gacha (o‘rtacha 3,4 ± 1) LVFT topildi. Nogironlik turi, sport, jins va yoshga bog‘liq bo‘lmadi.</a:t>
            </a:r>
          </a:p>
          <a:p>
            <a:pPr>
              <a:spcAft>
                <a:spcPts val="1200"/>
              </a:spcAft>
            </a:pPr>
            <a:r>
              <a:rPr sz="2000">
                <a:solidFill>
                  <a:srgbClr val="1F2937"/>
                </a:solidFill>
                <a:latin typeface="Calibri"/>
              </a:rPr>
              <a:t>▸  Diqqat: LVFT ≠ kasallik. Dam olishda yurak funksiyasi normada, shuning uchun LVFT patologik topilma deb hisoblanmaydi. Lekin u mexanik asinxroniya ortishi bilan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guruhi: 610 nafar ishtirokchi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610 nafar ishtirokchi 6–60 yoshda edi; har birida kamida 2 ta ko‘ndalang yoki qiya LVFT bor.</a:t>
            </a:r>
          </a:p>
          <a:p>
            <a:pPr>
              <a:spcAft>
                <a:spcPts val="800"/>
              </a:spcAft>
            </a:pPr>
            <a:r>
              <a:rPr sz="1800">
                <a:solidFill>
                  <a:srgbClr val="1F2937"/>
                </a:solidFill>
                <a:latin typeface="Calibri"/>
              </a:rPr>
              <a:t>▸  Guruhlash nogironlik turi va sport ixtisosligi bo‘yicha qilindi; bu guruhlarni taqqoslash imkonini berdi.</a:t>
            </a:r>
          </a:p>
          <a:p>
            <a:pPr>
              <a:spcAft>
                <a:spcPts val="800"/>
              </a:spcAft>
            </a:pPr>
            <a:r>
              <a:rPr sz="1800">
                <a:solidFill>
                  <a:srgbClr val="1F2937"/>
                </a:solidFill>
                <a:latin typeface="Calibri"/>
              </a:rPr>
              <a:t>▸  Ish 2023–2025 yillarda Ural federal universiteti laboratoriyasida (Yekaterinburg) o‘tkazildi.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564048"/>
                <a:gridCol w="1191656"/>
                <a:gridCol w="2532269"/>
              </a:tblGrid>
              <a:tr h="411480">
                <a:tc>
                  <a:txBody>
                    <a:bodyPr/>
                    <a:lstStyle/>
                    <a:p>
                      <a:r>
                        <a:rPr sz="1300" b="1">
                          <a:solidFill>
                            <a:srgbClr val="FFFFFF"/>
                          </a:solidFill>
                        </a:rPr>
                        <a:t>Nogironlik</a:t>
                      </a:r>
                    </a:p>
                  </a:txBody>
                  <a:tcPr marL="73152" marR="73152" marT="36576" marB="36576">
                    <a:solidFill>
                      <a:srgbClr val="0B1F3A"/>
                    </a:solidFill>
                  </a:tcPr>
                </a:tc>
                <a:tc>
                  <a:txBody>
                    <a:bodyPr/>
                    <a:lstStyle/>
                    <a:p>
                      <a:r>
                        <a:rPr sz="1300" b="1">
                          <a:solidFill>
                            <a:srgbClr val="FFFFFF"/>
                          </a:solidFill>
                        </a:rPr>
                        <a:t>Soni</a:t>
                      </a:r>
                    </a:p>
                  </a:txBody>
                  <a:tcPr marL="73152" marR="73152" marT="36576" marB="36576">
                    <a:solidFill>
                      <a:srgbClr val="0B1F3A"/>
                    </a:solidFill>
                  </a:tcPr>
                </a:tc>
                <a:tc>
                  <a:txBody>
                    <a:bodyPr/>
                    <a:lstStyle/>
                    <a:p>
                      <a:r>
                        <a:rPr sz="1300" b="1">
                          <a:solidFill>
                            <a:srgbClr val="FFFFFF"/>
                          </a:solidFill>
                        </a:rPr>
                        <a:t>Sport turlari</a:t>
                      </a:r>
                    </a:p>
                  </a:txBody>
                  <a:tcPr marL="73152" marR="73152" marT="36576" marB="36576">
                    <a:solidFill>
                      <a:srgbClr val="0B1F3A"/>
                    </a:solidFill>
                  </a:tcPr>
                </a:tc>
              </a:tr>
              <a:tr h="411480">
                <a:tc>
                  <a:txBody>
                    <a:bodyPr/>
                    <a:lstStyle/>
                    <a:p>
                      <a:r>
                        <a:rPr sz="1200" b="0">
                          <a:solidFill>
                            <a:srgbClr val="1F2937"/>
                          </a:solidFill>
                        </a:rPr>
                        <a:t>Eshitish (HI)</a:t>
                      </a:r>
                    </a:p>
                  </a:txBody>
                  <a:tcPr marL="73152" marR="73152" marT="36576" marB="36576">
                    <a:solidFill>
                      <a:srgbClr val="E8EEF6"/>
                    </a:solidFill>
                  </a:tcPr>
                </a:tc>
                <a:tc>
                  <a:txBody>
                    <a:bodyPr/>
                    <a:lstStyle/>
                    <a:p>
                      <a:r>
                        <a:rPr sz="1200" b="0">
                          <a:solidFill>
                            <a:srgbClr val="1F2937"/>
                          </a:solidFill>
                        </a:rPr>
                        <a:t>47</a:t>
                      </a:r>
                    </a:p>
                  </a:txBody>
                  <a:tcPr marL="73152" marR="73152" marT="36576" marB="36576">
                    <a:solidFill>
                      <a:srgbClr val="E8EEF6"/>
                    </a:solidFill>
                  </a:tcPr>
                </a:tc>
                <a:tc>
                  <a:txBody>
                    <a:bodyPr/>
                    <a:lstStyle/>
                    <a:p>
                      <a:r>
                        <a:rPr sz="1200" b="0">
                          <a:solidFill>
                            <a:srgbClr val="1F2937"/>
                          </a:solidFill>
                        </a:rPr>
                        <a:t>Chang‘i, suzish, orientirlash</a:t>
                      </a:r>
                    </a:p>
                  </a:txBody>
                  <a:tcPr marL="73152" marR="73152" marT="36576" marB="36576">
                    <a:solidFill>
                      <a:srgbClr val="E8EEF6"/>
                    </a:solidFill>
                  </a:tcPr>
                </a:tc>
              </a:tr>
              <a:tr h="411480">
                <a:tc>
                  <a:txBody>
                    <a:bodyPr/>
                    <a:lstStyle/>
                    <a:p>
                      <a:r>
                        <a:rPr sz="1200" b="0">
                          <a:solidFill>
                            <a:srgbClr val="1F2937"/>
                          </a:solidFill>
                        </a:rPr>
                        <a:t>Intellektual (IDD)</a:t>
                      </a:r>
                    </a:p>
                  </a:txBody>
                  <a:tcPr marL="73152" marR="73152" marT="36576" marB="36576">
                    <a:solidFill>
                      <a:srgbClr val="FFFFFF"/>
                    </a:solidFill>
                  </a:tcPr>
                </a:tc>
                <a:tc>
                  <a:txBody>
                    <a:bodyPr/>
                    <a:lstStyle/>
                    <a:p>
                      <a:r>
                        <a:rPr sz="1200" b="0">
                          <a:solidFill>
                            <a:srgbClr val="1F2937"/>
                          </a:solidFill>
                        </a:rPr>
                        <a:t>86</a:t>
                      </a:r>
                    </a:p>
                  </a:txBody>
                  <a:tcPr marL="73152" marR="73152" marT="36576" marB="36576">
                    <a:solidFill>
                      <a:srgbClr val="FFFFFF"/>
                    </a:solidFill>
                  </a:tcPr>
                </a:tc>
                <a:tc>
                  <a:txBody>
                    <a:bodyPr/>
                    <a:lstStyle/>
                    <a:p>
                      <a:r>
                        <a:rPr sz="1200" b="0">
                          <a:solidFill>
                            <a:srgbClr val="1F2937"/>
                          </a:solidFill>
                        </a:rPr>
                        <a:t>Ot sporti, futbol</a:t>
                      </a:r>
                    </a:p>
                  </a:txBody>
                  <a:tcPr marL="73152" marR="73152" marT="36576" marB="36576">
                    <a:solidFill>
                      <a:srgbClr val="FFFFFF"/>
                    </a:solidFill>
                  </a:tcPr>
                </a:tc>
              </a:tr>
              <a:tr h="411480">
                <a:tc>
                  <a:txBody>
                    <a:bodyPr/>
                    <a:lstStyle/>
                    <a:p>
                      <a:r>
                        <a:rPr sz="1200" b="0">
                          <a:solidFill>
                            <a:srgbClr val="1F2937"/>
                          </a:solidFill>
                        </a:rPr>
                        <a:t>Ko‘rish (VI)</a:t>
                      </a:r>
                    </a:p>
                  </a:txBody>
                  <a:tcPr marL="73152" marR="73152" marT="36576" marB="36576">
                    <a:solidFill>
                      <a:srgbClr val="E8EEF6"/>
                    </a:solidFill>
                  </a:tcPr>
                </a:tc>
                <a:tc>
                  <a:txBody>
                    <a:bodyPr/>
                    <a:lstStyle/>
                    <a:p>
                      <a:r>
                        <a:rPr sz="1200" b="0">
                          <a:solidFill>
                            <a:srgbClr val="1F2937"/>
                          </a:solidFill>
                        </a:rPr>
                        <a:t>110</a:t>
                      </a:r>
                    </a:p>
                  </a:txBody>
                  <a:tcPr marL="73152" marR="73152" marT="36576" marB="36576">
                    <a:solidFill>
                      <a:srgbClr val="E8EEF6"/>
                    </a:solidFill>
                  </a:tcPr>
                </a:tc>
                <a:tc>
                  <a:txBody>
                    <a:bodyPr/>
                    <a:lstStyle/>
                    <a:p>
                      <a:r>
                        <a:rPr sz="1200" b="0">
                          <a:solidFill>
                            <a:srgbClr val="1F2937"/>
                          </a:solidFill>
                        </a:rPr>
                        <a:t>Marafon, suzish, chang‘i</a:t>
                      </a:r>
                    </a:p>
                  </a:txBody>
                  <a:tcPr marL="73152" marR="73152" marT="36576" marB="36576">
                    <a:solidFill>
                      <a:srgbClr val="E8EEF6"/>
                    </a:solidFill>
                  </a:tcPr>
                </a:tc>
              </a:tr>
              <a:tr h="411480">
                <a:tc>
                  <a:txBody>
                    <a:bodyPr/>
                    <a:lstStyle/>
                    <a:p>
                      <a:r>
                        <a:rPr sz="1200" b="0">
                          <a:solidFill>
                            <a:srgbClr val="1F2937"/>
                          </a:solidFill>
                        </a:rPr>
                        <a:t>Tayanch-harakat (MPI)</a:t>
                      </a:r>
                    </a:p>
                  </a:txBody>
                  <a:tcPr marL="73152" marR="73152" marT="36576" marB="36576">
                    <a:solidFill>
                      <a:srgbClr val="FFFFFF"/>
                    </a:solidFill>
                  </a:tcPr>
                </a:tc>
                <a:tc>
                  <a:txBody>
                    <a:bodyPr/>
                    <a:lstStyle/>
                    <a:p>
                      <a:r>
                        <a:rPr sz="1200" b="0">
                          <a:solidFill>
                            <a:srgbClr val="1F2937"/>
                          </a:solidFill>
                        </a:rPr>
                        <a:t>367</a:t>
                      </a:r>
                    </a:p>
                  </a:txBody>
                  <a:tcPr marL="73152" marR="73152" marT="36576" marB="36576">
                    <a:solidFill>
                      <a:srgbClr val="FFFFFF"/>
                    </a:solidFill>
                  </a:tcPr>
                </a:tc>
                <a:tc>
                  <a:txBody>
                    <a:bodyPr/>
                    <a:lstStyle/>
                    <a:p>
                      <a:r>
                        <a:rPr sz="1200" b="0">
                          <a:solidFill>
                            <a:srgbClr val="1F2937"/>
                          </a:solidFill>
                        </a:rPr>
                        <a:t>7 sport turi + boshlovchilar (146)</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Nogironlik turi bo‘yicha guruhlar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Kardiologik skrining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Tekshiruvlar xalqaro tavsiyalarga mos, bir xil operatorlar bilan, sport kardiologi nazoratida o‘tkazildi.</a:t>
            </a:r>
          </a:p>
          <a:p>
            <a:pPr>
              <a:spcAft>
                <a:spcPts val="800"/>
              </a:spcAft>
            </a:pPr>
            <a:r>
              <a:rPr sz="1800">
                <a:solidFill>
                  <a:srgbClr val="1F2937"/>
                </a:solidFill>
                <a:latin typeface="Calibri"/>
              </a:rPr>
              <a:t>▸  TTE da hajmlar va haydash fraksiyasi (EF) o‘lchandi; tana yuzasiga indekslash xato berishi mumkin edi.</a:t>
            </a:r>
          </a:p>
          <a:p>
            <a:pPr>
              <a:spcAft>
                <a:spcPts val="800"/>
              </a:spcAft>
            </a:pPr>
            <a:r>
              <a:rPr sz="1800">
                <a:solidFill>
                  <a:srgbClr val="1F2937"/>
                </a:solidFill>
                <a:latin typeface="Calibri"/>
              </a:rPr>
              <a:t>▸  Maksimal kislorod iste’moli (VO2max) 466 nafarda gaz analizatori bilan, 144 nafarda ACSM formulasi bilan hisoblandi.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Anketa va antropometriya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yo‘nalishli EKG (dam)</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Exokardiografiya (TTE)</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Impedans kardiografiya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Yuklama sinovi (VO2max)</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Skrining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BTD va LVFT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biriktiruvchi to‘qima displaziyasi (BTD)da yurak chap qorinchasida (LQ) qanday qo‘shimcha tuzilmalar paydo bo‘ladi?</a:t>
            </a:r>
          </a:p>
          <a:p>
            <a:pPr>
              <a:spcAft>
                <a:spcPts val="1200"/>
              </a:spcAft>
            </a:pPr>
            <a:r>
              <a:rPr sz="2200">
                <a:solidFill>
                  <a:srgbClr val="1F2937"/>
                </a:solidFill>
                <a:latin typeface="Calibri"/>
              </a:rPr>
              <a:t>▸  Javob: yolg‘on tortmalar (LVFT, left ventricular false tendons). Ular BTD ning kuchli markeri deb hisoblandi.</a:t>
            </a:r>
          </a:p>
          <a:p>
            <a:pPr>
              <a:spcAft>
                <a:spcPts val="1200"/>
              </a:spcAft>
            </a:pPr>
            <a:r>
              <a:rPr sz="2200">
                <a:solidFill>
                  <a:srgbClr val="1F2937"/>
                </a:solidFill>
                <a:latin typeface="Calibri"/>
              </a:rPr>
              <a:t>▸  Tadqiqotda faqat qalin (&gt;2 mm), ko‘ndalang va/yoki qiyshiq tortmalar hisobga olindi. Ular LQ ning qarama-qarshi devorlarini bog‘laydi.</a:t>
            </a:r>
          </a:p>
          <a:p>
            <a:pPr>
              <a:spcAft>
                <a:spcPts val="1200"/>
              </a:spcAft>
            </a:pPr>
            <a:r>
              <a:rPr sz="2200">
                <a:solidFill>
                  <a:srgbClr val="1F2937"/>
                </a:solidFill>
                <a:latin typeface="Calibri"/>
              </a:rPr>
              <a:t>▸  Zamonaviy kardiologiya LVFT ni patologik topilma demaydi: tinch holatda yurak funksiyasi me’yor chegarasida qoladi.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EKG va QTc interval: qanday o‘lchandi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QTc qorinchalar elektr faolligini (depolyarizatsiya va repolyarizatsiya) aks ettiradi.</a:t>
            </a:r>
          </a:p>
          <a:p>
            <a:pPr>
              <a:spcAft>
                <a:spcPts val="800"/>
              </a:spcAft>
            </a:pPr>
            <a:r>
              <a:rPr sz="1800">
                <a:solidFill>
                  <a:srgbClr val="1F2937"/>
                </a:solidFill>
                <a:latin typeface="Calibri"/>
              </a:rPr>
              <a:t>▸  QTc ning aniq cho‘zilishi mashq paytida xavfli aritmiya va to‘satdan yurak to‘xtashi xavfi omilidir.</a:t>
            </a:r>
          </a:p>
          <a:p>
            <a:pPr>
              <a:spcAft>
                <a:spcPts val="800"/>
              </a:spcAft>
            </a:pPr>
            <a:r>
              <a:rPr sz="1800">
                <a:solidFill>
                  <a:srgbClr val="1F2937"/>
                </a:solidFill>
                <a:latin typeface="Calibri"/>
              </a:rPr>
              <a:t>▸  Diqqat: Bazett ≠ Framingham — formula yurak urish tezligiga (YUUT) qarab tanlanadi.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28101"/>
                <a:gridCol w="1974177"/>
                <a:gridCol w="2185696"/>
              </a:tblGrid>
              <a:tr h="411480">
                <a:tc>
                  <a:txBody>
                    <a:bodyPr/>
                    <a:lstStyle/>
                    <a:p>
                      <a:r>
                        <a:rPr sz="1300" b="1">
                          <a:solidFill>
                            <a:srgbClr val="FFFFFF"/>
                          </a:solidFill>
                        </a:rPr>
                        <a:t>Formula</a:t>
                      </a:r>
                    </a:p>
                  </a:txBody>
                  <a:tcPr marL="73152" marR="73152" marT="36576" marB="36576">
                    <a:solidFill>
                      <a:srgbClr val="0B1F3A"/>
                    </a:solidFill>
                  </a:tcPr>
                </a:tc>
                <a:tc>
                  <a:txBody>
                    <a:bodyPr/>
                    <a:lstStyle/>
                    <a:p>
                      <a:r>
                        <a:rPr sz="1300" b="1">
                          <a:solidFill>
                            <a:srgbClr val="FFFFFF"/>
                          </a:solidFill>
                        </a:rPr>
                        <a:t>YUUT</a:t>
                      </a:r>
                    </a:p>
                  </a:txBody>
                  <a:tcPr marL="73152" marR="73152" marT="36576" marB="36576">
                    <a:solidFill>
                      <a:srgbClr val="0B1F3A"/>
                    </a:solidFill>
                  </a:tcPr>
                </a:tc>
                <a:tc>
                  <a:txBody>
                    <a:bodyPr/>
                    <a:lstStyle/>
                    <a:p>
                      <a:r>
                        <a:rPr sz="1300" b="1">
                          <a:solidFill>
                            <a:srgbClr val="FFFFFF"/>
                          </a:solidFill>
                        </a:rPr>
                        <a:t>Ifoda</a:t>
                      </a:r>
                    </a:p>
                  </a:txBody>
                  <a:tcPr marL="73152" marR="73152" marT="36576" marB="36576">
                    <a:solidFill>
                      <a:srgbClr val="0B1F3A"/>
                    </a:solidFill>
                  </a:tcPr>
                </a:tc>
              </a:tr>
              <a:tr h="411480">
                <a:tc>
                  <a:txBody>
                    <a:bodyPr/>
                    <a:lstStyle/>
                    <a:p>
                      <a:r>
                        <a:rPr sz="1200" b="0">
                          <a:solidFill>
                            <a:srgbClr val="1F2937"/>
                          </a:solidFill>
                        </a:rPr>
                        <a:t>Bazett</a:t>
                      </a:r>
                    </a:p>
                  </a:txBody>
                  <a:tcPr marL="73152" marR="73152" marT="36576" marB="36576">
                    <a:solidFill>
                      <a:srgbClr val="E8EEF6"/>
                    </a:solidFill>
                  </a:tcPr>
                </a:tc>
                <a:tc>
                  <a:txBody>
                    <a:bodyPr/>
                    <a:lstStyle/>
                    <a:p>
                      <a:r>
                        <a:rPr sz="1200" b="0">
                          <a:solidFill>
                            <a:srgbClr val="1F2937"/>
                          </a:solidFill>
                        </a:rPr>
                        <a:t>60–100 urish/daq</a:t>
                      </a:r>
                    </a:p>
                  </a:txBody>
                  <a:tcPr marL="73152" marR="73152" marT="36576" marB="36576">
                    <a:solidFill>
                      <a:srgbClr val="E8EEF6"/>
                    </a:solidFill>
                  </a:tcPr>
                </a:tc>
                <a:tc>
                  <a:txBody>
                    <a:bodyPr/>
                    <a:lstStyle/>
                    <a:p>
                      <a:r>
                        <a:rPr sz="1200" b="0">
                          <a:solidFill>
                            <a:srgbClr val="1F2937"/>
                          </a:solidFill>
                        </a:rPr>
                        <a:t>QTc = QT/√(RR)</a:t>
                      </a:r>
                    </a:p>
                  </a:txBody>
                  <a:tcPr marL="73152" marR="73152" marT="36576" marB="36576">
                    <a:solidFill>
                      <a:srgbClr val="E8EEF6"/>
                    </a:solidFill>
                  </a:tcPr>
                </a:tc>
              </a:tr>
              <a:tr h="411480">
                <a:tc>
                  <a:txBody>
                    <a:bodyPr/>
                    <a:lstStyle/>
                    <a:p>
                      <a:r>
                        <a:rPr sz="1200" b="0">
                          <a:solidFill>
                            <a:srgbClr val="1F2937"/>
                          </a:solidFill>
                        </a:rPr>
                        <a:t>Framingham</a:t>
                      </a:r>
                    </a:p>
                  </a:txBody>
                  <a:tcPr marL="73152" marR="73152" marT="36576" marB="36576">
                    <a:solidFill>
                      <a:srgbClr val="FFFFFF"/>
                    </a:solidFill>
                  </a:tcPr>
                </a:tc>
                <a:tc>
                  <a:txBody>
                    <a:bodyPr/>
                    <a:lstStyle/>
                    <a:p>
                      <a:r>
                        <a:rPr sz="1200" b="0">
                          <a:solidFill>
                            <a:srgbClr val="1F2937"/>
                          </a:solidFill>
                        </a:rPr>
                        <a:t>&lt;60 yoki &gt;100 urish/daq</a:t>
                      </a:r>
                    </a:p>
                  </a:txBody>
                  <a:tcPr marL="73152" marR="73152" marT="36576" marB="36576">
                    <a:solidFill>
                      <a:srgbClr val="FFFFFF"/>
                    </a:solidFill>
                  </a:tcPr>
                </a:tc>
                <a:tc>
                  <a:txBody>
                    <a:bodyPr/>
                    <a:lstStyle/>
                    <a:p>
                      <a:r>
                        <a:rPr sz="1200" b="0">
                          <a:solidFill>
                            <a:srgbClr val="1F2937"/>
                          </a:solidFill>
                        </a:rPr>
                        <a:t>QTc = QT + 0,154 × (1 − RR)</a:t>
                      </a:r>
                    </a:p>
                  </a:txBody>
                  <a:tcPr marL="73152" marR="73152" marT="36576" marB="36576">
                    <a:solidFill>
                      <a:srgbClr val="FFFFFF"/>
                    </a:solidFill>
                  </a:tcPr>
                </a:tc>
              </a:tr>
              <a:tr h="411480">
                <a:tc>
                  <a:txBody>
                    <a:bodyPr/>
                    <a:lstStyle/>
                    <a:p>
                      <a:r>
                        <a:rPr sz="1200" b="0">
                          <a:solidFill>
                            <a:srgbClr val="1F2937"/>
                          </a:solidFill>
                        </a:rPr>
                        <a:t>O‘lchash</a:t>
                      </a:r>
                    </a:p>
                  </a:txBody>
                  <a:tcPr marL="73152" marR="73152" marT="36576" marB="36576">
                    <a:solidFill>
                      <a:srgbClr val="E8EEF6"/>
                    </a:solidFill>
                  </a:tcPr>
                </a:tc>
                <a:tc>
                  <a:txBody>
                    <a:bodyPr/>
                    <a:lstStyle/>
                    <a:p>
                      <a:r>
                        <a:rPr sz="1200" b="0">
                          <a:solidFill>
                            <a:srgbClr val="1F2937"/>
                          </a:solidFill>
                        </a:rPr>
                        <a:t>II yoki V5 ulanishda, qo‘lda</a:t>
                      </a:r>
                    </a:p>
                  </a:txBody>
                  <a:tcPr marL="73152" marR="73152" marT="36576" marB="36576">
                    <a:solidFill>
                      <a:srgbClr val="E8EEF6"/>
                    </a:solidFill>
                  </a:tcPr>
                </a:tc>
                <a:tc>
                  <a:txBody>
                    <a:bodyPr/>
                    <a:lstStyle/>
                    <a:p>
                      <a:r>
                        <a:rPr sz="1200" b="0">
                          <a:solidFill>
                            <a:srgbClr val="1F2937"/>
                          </a:solidFill>
                        </a:rPr>
                        <a:t>T to‘lqin oxiri — chegara usuli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QTc formulalari va o‘lchash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Exokardiografiya va gemodinamika natijalari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Transtorakal exokardiografiyada (TTE) barcha ishtirokchida 2–5 ta (3,4 ± 1) qalin LVFT topildi.</a:t>
            </a:r>
          </a:p>
          <a:p>
            <a:pPr>
              <a:spcAft>
                <a:spcPts val="800"/>
              </a:spcAft>
            </a:pPr>
            <a:r>
              <a:rPr sz="1800">
                <a:solidFill>
                  <a:srgbClr val="1F2937"/>
                </a:solidFill>
                <a:latin typeface="Calibri"/>
              </a:rPr>
              <a:t>▸  Yotgan holatda gemodinamik ko‘rsatkichlarning ko‘pi keng tarqalgan va kutilganidan past edi.</a:t>
            </a:r>
          </a:p>
          <a:p>
            <a:pPr>
              <a:spcAft>
                <a:spcPts val="800"/>
              </a:spcAft>
            </a:pPr>
            <a:r>
              <a:rPr sz="1800">
                <a:solidFill>
                  <a:srgbClr val="1F2937"/>
                </a:solidFill>
                <a:latin typeface="Calibri"/>
              </a:rPr>
              <a:t>▸  Ortotestda tik turganda diastola oxiri indeksi (EDI) o‘rtacha 16,2 ± 10,4 ga kamaydi.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2558697"/>
                <a:gridCol w="1364638"/>
                <a:gridCol w="1364638"/>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M ± SD</a:t>
                      </a:r>
                    </a:p>
                  </a:txBody>
                  <a:tcPr marL="73152" marR="73152" marT="36576" marB="36576">
                    <a:solidFill>
                      <a:srgbClr val="0B1F3A"/>
                    </a:solidFill>
                  </a:tcPr>
                </a:tc>
                <a:tc>
                  <a:txBody>
                    <a:bodyPr/>
                    <a:lstStyle/>
                    <a:p>
                      <a:r>
                        <a:rPr sz="1300" b="1">
                          <a:solidFill>
                            <a:srgbClr val="FFFFFF"/>
                          </a:solidFill>
                        </a:rPr>
                        <a:t>Min–maks</a:t>
                      </a:r>
                    </a:p>
                  </a:txBody>
                  <a:tcPr marL="73152" marR="73152" marT="36576" marB="36576">
                    <a:solidFill>
                      <a:srgbClr val="0B1F3A"/>
                    </a:solidFill>
                  </a:tcPr>
                </a:tc>
              </a:tr>
              <a:tr h="411480">
                <a:tc>
                  <a:txBody>
                    <a:bodyPr/>
                    <a:lstStyle/>
                    <a:p>
                      <a:r>
                        <a:rPr sz="1200" b="0">
                          <a:solidFill>
                            <a:srgbClr val="1F2937"/>
                          </a:solidFill>
                        </a:rPr>
                        <a:t>EDV (diastola oxiri hajmi), mL</a:t>
                      </a:r>
                    </a:p>
                  </a:txBody>
                  <a:tcPr marL="73152" marR="73152" marT="36576" marB="36576">
                    <a:solidFill>
                      <a:srgbClr val="E8EEF6"/>
                    </a:solidFill>
                  </a:tcPr>
                </a:tc>
                <a:tc>
                  <a:txBody>
                    <a:bodyPr/>
                    <a:lstStyle/>
                    <a:p>
                      <a:r>
                        <a:rPr sz="1200" b="0">
                          <a:solidFill>
                            <a:srgbClr val="1F2937"/>
                          </a:solidFill>
                        </a:rPr>
                        <a:t>76,62 ± 23,17</a:t>
                      </a:r>
                    </a:p>
                  </a:txBody>
                  <a:tcPr marL="73152" marR="73152" marT="36576" marB="36576">
                    <a:solidFill>
                      <a:srgbClr val="E8EEF6"/>
                    </a:solidFill>
                  </a:tcPr>
                </a:tc>
                <a:tc>
                  <a:txBody>
                    <a:bodyPr/>
                    <a:lstStyle/>
                    <a:p>
                      <a:r>
                        <a:rPr sz="1200" b="0">
                          <a:solidFill>
                            <a:srgbClr val="1F2937"/>
                          </a:solidFill>
                        </a:rPr>
                        <a:t>40–133</a:t>
                      </a:r>
                    </a:p>
                  </a:txBody>
                  <a:tcPr marL="73152" marR="73152" marT="36576" marB="36576">
                    <a:solidFill>
                      <a:srgbClr val="E8EEF6"/>
                    </a:solidFill>
                  </a:tcPr>
                </a:tc>
              </a:tr>
              <a:tr h="411480">
                <a:tc>
                  <a:txBody>
                    <a:bodyPr/>
                    <a:lstStyle/>
                    <a:p>
                      <a:r>
                        <a:rPr sz="1200" b="0">
                          <a:solidFill>
                            <a:srgbClr val="1F2937"/>
                          </a:solidFill>
                        </a:rPr>
                        <a:t>ESV (sistola oxiri hajmi), mL</a:t>
                      </a:r>
                    </a:p>
                  </a:txBody>
                  <a:tcPr marL="73152" marR="73152" marT="36576" marB="36576">
                    <a:solidFill>
                      <a:srgbClr val="FFFFFF"/>
                    </a:solidFill>
                  </a:tcPr>
                </a:tc>
                <a:tc>
                  <a:txBody>
                    <a:bodyPr/>
                    <a:lstStyle/>
                    <a:p>
                      <a:r>
                        <a:rPr sz="1200" b="0">
                          <a:solidFill>
                            <a:srgbClr val="1F2937"/>
                          </a:solidFill>
                        </a:rPr>
                        <a:t>30,32 ± 11,83</a:t>
                      </a:r>
                    </a:p>
                  </a:txBody>
                  <a:tcPr marL="73152" marR="73152" marT="36576" marB="36576">
                    <a:solidFill>
                      <a:srgbClr val="FFFFFF"/>
                    </a:solidFill>
                  </a:tcPr>
                </a:tc>
                <a:tc>
                  <a:txBody>
                    <a:bodyPr/>
                    <a:lstStyle/>
                    <a:p>
                      <a:r>
                        <a:rPr sz="1200" b="0">
                          <a:solidFill>
                            <a:srgbClr val="1F2937"/>
                          </a:solidFill>
                        </a:rPr>
                        <a:t>15–66</a:t>
                      </a:r>
                    </a:p>
                  </a:txBody>
                  <a:tcPr marL="73152" marR="73152" marT="36576" marB="36576">
                    <a:solidFill>
                      <a:srgbClr val="FFFFFF"/>
                    </a:solidFill>
                  </a:tcPr>
                </a:tc>
              </a:tr>
              <a:tr h="411480">
                <a:tc>
                  <a:txBody>
                    <a:bodyPr/>
                    <a:lstStyle/>
                    <a:p>
                      <a:r>
                        <a:rPr sz="1200" b="0">
                          <a:solidFill>
                            <a:srgbClr val="1F2937"/>
                          </a:solidFill>
                        </a:rPr>
                        <a:t>SV (zarba hajmi), mL</a:t>
                      </a:r>
                    </a:p>
                  </a:txBody>
                  <a:tcPr marL="73152" marR="73152" marT="36576" marB="36576">
                    <a:solidFill>
                      <a:srgbClr val="E8EEF6"/>
                    </a:solidFill>
                  </a:tcPr>
                </a:tc>
                <a:tc>
                  <a:txBody>
                    <a:bodyPr/>
                    <a:lstStyle/>
                    <a:p>
                      <a:r>
                        <a:rPr sz="1200" b="0">
                          <a:solidFill>
                            <a:srgbClr val="1F2937"/>
                          </a:solidFill>
                        </a:rPr>
                        <a:t>43 ± 15,33</a:t>
                      </a:r>
                    </a:p>
                  </a:txBody>
                  <a:tcPr marL="73152" marR="73152" marT="36576" marB="36576">
                    <a:solidFill>
                      <a:srgbClr val="E8EEF6"/>
                    </a:solidFill>
                  </a:tcPr>
                </a:tc>
                <a:tc>
                  <a:txBody>
                    <a:bodyPr/>
                    <a:lstStyle/>
                    <a:p>
                      <a:r>
                        <a:rPr sz="1200" b="0">
                          <a:solidFill>
                            <a:srgbClr val="1F2937"/>
                          </a:solidFill>
                        </a:rPr>
                        <a:t>19–77</a:t>
                      </a:r>
                    </a:p>
                  </a:txBody>
                  <a:tcPr marL="73152" marR="73152" marT="36576" marB="36576">
                    <a:solidFill>
                      <a:srgbClr val="E8EEF6"/>
                    </a:solidFill>
                  </a:tcPr>
                </a:tc>
              </a:tr>
              <a:tr h="411480">
                <a:tc>
                  <a:txBody>
                    <a:bodyPr/>
                    <a:lstStyle/>
                    <a:p>
                      <a:r>
                        <a:rPr sz="1200" b="0">
                          <a:solidFill>
                            <a:srgbClr val="1F2937"/>
                          </a:solidFill>
                        </a:rPr>
                        <a:t>EF (otilma fraksiyasi), %</a:t>
                      </a:r>
                    </a:p>
                  </a:txBody>
                  <a:tcPr marL="73152" marR="73152" marT="36576" marB="36576">
                    <a:solidFill>
                      <a:srgbClr val="FFFFFF"/>
                    </a:solidFill>
                  </a:tcPr>
                </a:tc>
                <a:tc>
                  <a:txBody>
                    <a:bodyPr/>
                    <a:lstStyle/>
                    <a:p>
                      <a:r>
                        <a:rPr sz="1200" b="0">
                          <a:solidFill>
                            <a:srgbClr val="1F2937"/>
                          </a:solidFill>
                        </a:rPr>
                        <a:t>57,17 ± 7,4</a:t>
                      </a:r>
                    </a:p>
                  </a:txBody>
                  <a:tcPr marL="73152" marR="73152" marT="36576" marB="36576">
                    <a:solidFill>
                      <a:srgbClr val="FFFFFF"/>
                    </a:solidFill>
                  </a:tcPr>
                </a:tc>
                <a:tc>
                  <a:txBody>
                    <a:bodyPr/>
                    <a:lstStyle/>
                    <a:p>
                      <a:r>
                        <a:rPr sz="1200" b="0">
                          <a:solidFill>
                            <a:srgbClr val="1F2937"/>
                          </a:solidFill>
                        </a:rPr>
                        <a:t>40–67</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TTE: chap qorincha ko‘rsatkichlari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Yuklama sinovi va VO2max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VO2max (maksimal nisbiy kislorod iste’moli) yurak funksional zaxirasi va aerob imkoniyatning ishonchli ko‘rsatkichi.</a:t>
            </a:r>
          </a:p>
          <a:p>
            <a:pPr>
              <a:spcAft>
                <a:spcPts val="800"/>
              </a:spcAft>
            </a:pPr>
            <a:r>
              <a:rPr sz="1800">
                <a:solidFill>
                  <a:srgbClr val="1F2937"/>
                </a:solidFill>
                <a:latin typeface="Calibri"/>
              </a:rPr>
              <a:t>▸  466 kishida VO2max gaz analizatori bilan o‘lchandi, 144 kishida ACSM tenglamasi orqali bilvosita hisoblandi.</a:t>
            </a:r>
          </a:p>
          <a:p>
            <a:pPr>
              <a:spcAft>
                <a:spcPts val="800"/>
              </a:spcAft>
            </a:pPr>
            <a:r>
              <a:rPr sz="1800">
                <a:solidFill>
                  <a:srgbClr val="1F2937"/>
                </a:solidFill>
                <a:latin typeface="Calibri"/>
              </a:rPr>
              <a:t>▸  VO2max 17,9–75,5 oralig‘ida (o‘rtacha 46,5 mL·kg−1·min−1); maksimal yurak urishi kutilganidan past — 168,2.</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033836"/>
                <a:gridCol w="3254138"/>
              </a:tblGrid>
              <a:tr h="411480">
                <a:tc>
                  <a:txBody>
                    <a:bodyPr/>
                    <a:lstStyle/>
                    <a:p>
                      <a:r>
                        <a:rPr sz="1400" b="1">
                          <a:solidFill>
                            <a:srgbClr val="FFFFFF"/>
                          </a:solidFill>
                        </a:rPr>
                        <a:t>Ergometr</a:t>
                      </a:r>
                    </a:p>
                  </a:txBody>
                  <a:tcPr marL="73152" marR="73152" marT="36576" marB="36576">
                    <a:solidFill>
                      <a:srgbClr val="0B1F3A"/>
                    </a:solidFill>
                  </a:tcPr>
                </a:tc>
                <a:tc>
                  <a:txBody>
                    <a:bodyPr/>
                    <a:lstStyle/>
                    <a:p>
                      <a:r>
                        <a:rPr sz="1400" b="1">
                          <a:solidFill>
                            <a:srgbClr val="FFFFFF"/>
                          </a:solidFill>
                        </a:rPr>
                        <a:t>Qo‘llanilishi</a:t>
                      </a:r>
                    </a:p>
                  </a:txBody>
                  <a:tcPr marL="73152" marR="73152" marT="36576" marB="36576">
                    <a:solidFill>
                      <a:srgbClr val="0B1F3A"/>
                    </a:solidFill>
                  </a:tcPr>
                </a:tc>
              </a:tr>
              <a:tr h="411480">
                <a:tc>
                  <a:txBody>
                    <a:bodyPr/>
                    <a:lstStyle/>
                    <a:p>
                      <a:r>
                        <a:rPr sz="1300" b="0">
                          <a:solidFill>
                            <a:srgbClr val="1F2937"/>
                          </a:solidFill>
                        </a:rPr>
                        <a:t>Step-test (zinapoya)</a:t>
                      </a:r>
                    </a:p>
                  </a:txBody>
                  <a:tcPr marL="73152" marR="73152" marT="36576" marB="36576">
                    <a:solidFill>
                      <a:srgbClr val="E8EEF6"/>
                    </a:solidFill>
                  </a:tcPr>
                </a:tc>
                <a:tc>
                  <a:txBody>
                    <a:bodyPr/>
                    <a:lstStyle/>
                    <a:p>
                      <a:r>
                        <a:rPr sz="1300" b="0">
                          <a:solidFill>
                            <a:srgbClr val="1F2937"/>
                          </a:solidFill>
                        </a:rPr>
                        <a:t>12 yoshgacha bolalar (n = 183)</a:t>
                      </a:r>
                    </a:p>
                  </a:txBody>
                  <a:tcPr marL="73152" marR="73152" marT="36576" marB="36576">
                    <a:solidFill>
                      <a:srgbClr val="E8EEF6"/>
                    </a:solidFill>
                  </a:tcPr>
                </a:tc>
              </a:tr>
              <a:tr h="411480">
                <a:tc>
                  <a:txBody>
                    <a:bodyPr/>
                    <a:lstStyle/>
                    <a:p>
                      <a:r>
                        <a:rPr sz="1300" b="0">
                          <a:solidFill>
                            <a:srgbClr val="1F2937"/>
                          </a:solidFill>
                        </a:rPr>
                        <a:t>Velosiped, RAMP protokoli</a:t>
                      </a:r>
                    </a:p>
                  </a:txBody>
                  <a:tcPr marL="73152" marR="73152" marT="36576" marB="36576">
                    <a:solidFill>
                      <a:srgbClr val="FFFFFF"/>
                    </a:solidFill>
                  </a:tcPr>
                </a:tc>
                <a:tc>
                  <a:txBody>
                    <a:bodyPr/>
                    <a:lstStyle/>
                    <a:p>
                      <a:r>
                        <a:rPr sz="1300" b="0">
                          <a:solidFill>
                            <a:srgbClr val="1F2937"/>
                          </a:solidFill>
                        </a:rPr>
                        <a:t>Yuk ½ tana vazni Vt/daq, 80 ayl/daq</a:t>
                      </a:r>
                    </a:p>
                  </a:txBody>
                  <a:tcPr marL="73152" marR="73152" marT="36576" marB="36576">
                    <a:solidFill>
                      <a:srgbClr val="FFFFFF"/>
                    </a:solidFill>
                  </a:tcPr>
                </a:tc>
              </a:tr>
              <a:tr h="411480">
                <a:tc>
                  <a:txBody>
                    <a:bodyPr/>
                    <a:lstStyle/>
                    <a:p>
                      <a:r>
                        <a:rPr sz="1300" b="0">
                          <a:solidFill>
                            <a:srgbClr val="1F2937"/>
                          </a:solidFill>
                        </a:rPr>
                        <a:t>Qo‘l ergometri</a:t>
                      </a:r>
                    </a:p>
                  </a:txBody>
                  <a:tcPr marL="73152" marR="73152" marT="36576" marB="36576">
                    <a:solidFill>
                      <a:srgbClr val="E8EEF6"/>
                    </a:solidFill>
                  </a:tcPr>
                </a:tc>
                <a:tc>
                  <a:txBody>
                    <a:bodyPr/>
                    <a:lstStyle/>
                    <a:p>
                      <a:r>
                        <a:rPr sz="1300" b="0">
                          <a:solidFill>
                            <a:srgbClr val="1F2937"/>
                          </a:solidFill>
                        </a:rPr>
                        <a:t>Aravachadagilar va oyog‘i cheklanganlar (n = 37)</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Ergometr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Sport turlari bo‘yicha VO2max va QTc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Chang‘i poygasida VO2max eng yuqori (mediana ~50), para-xokkeyda eng past (31–32 mL·kg−1·min−1).</a:t>
            </a:r>
          </a:p>
          <a:p>
            <a:pPr>
              <a:spcAft>
                <a:spcPts val="800"/>
              </a:spcAft>
            </a:pPr>
            <a:r>
              <a:rPr sz="1800">
                <a:solidFill>
                  <a:srgbClr val="1F2937"/>
                </a:solidFill>
                <a:latin typeface="Calibri"/>
              </a:rPr>
              <a:t>▸  Sport turi ta’siri: VO2max uchun p = 0,00063, η² = 0,158; QTc uchun p &lt; 0,00001, ε² = 0,146 (o‘rta effekt).</a:t>
            </a:r>
          </a:p>
          <a:p>
            <a:pPr>
              <a:spcAft>
                <a:spcPts val="800"/>
              </a:spcAft>
            </a:pPr>
            <a:r>
              <a:rPr sz="1800">
                <a:solidFill>
                  <a:srgbClr val="1F2937"/>
                </a:solidFill>
                <a:latin typeface="Calibri"/>
              </a:rPr>
              <a:t>▸  QTc (tuzatilgan QT intervali): para-suzishda tarqoqlik eng keng (≈335–485 ms), para-futbolda mediana past.</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62658"/>
                <a:gridCol w="1762658"/>
                <a:gridCol w="1762658"/>
              </a:tblGrid>
              <a:tr h="411480">
                <a:tc>
                  <a:txBody>
                    <a:bodyPr/>
                    <a:lstStyle/>
                    <a:p>
                      <a:r>
                        <a:rPr sz="1300" b="1">
                          <a:solidFill>
                            <a:srgbClr val="FFFFFF"/>
                          </a:solidFill>
                        </a:rPr>
                        <a:t>Sport</a:t>
                      </a:r>
                    </a:p>
                  </a:txBody>
                  <a:tcPr marL="73152" marR="73152" marT="36576" marB="36576">
                    <a:solidFill>
                      <a:srgbClr val="0B1F3A"/>
                    </a:solidFill>
                  </a:tcPr>
                </a:tc>
                <a:tc>
                  <a:txBody>
                    <a:bodyPr/>
                    <a:lstStyle/>
                    <a:p>
                      <a:r>
                        <a:rPr sz="1300" b="1">
                          <a:solidFill>
                            <a:srgbClr val="FFFFFF"/>
                          </a:solidFill>
                        </a:rPr>
                        <a:t>VO2max</a:t>
                      </a:r>
                    </a:p>
                  </a:txBody>
                  <a:tcPr marL="73152" marR="73152" marT="36576" marB="36576">
                    <a:solidFill>
                      <a:srgbClr val="0B1F3A"/>
                    </a:solidFill>
                  </a:tcPr>
                </a:tc>
                <a:tc>
                  <a:txBody>
                    <a:bodyPr/>
                    <a:lstStyle/>
                    <a:p>
                      <a:r>
                        <a:rPr sz="1300" b="1">
                          <a:solidFill>
                            <a:srgbClr val="FFFFFF"/>
                          </a:solidFill>
                        </a:rPr>
                        <a:t>QTc (ms)</a:t>
                      </a:r>
                    </a:p>
                  </a:txBody>
                  <a:tcPr marL="73152" marR="73152" marT="36576" marB="36576">
                    <a:solidFill>
                      <a:srgbClr val="0B1F3A"/>
                    </a:solidFill>
                  </a:tcPr>
                </a:tc>
              </a:tr>
              <a:tr h="411480">
                <a:tc>
                  <a:txBody>
                    <a:bodyPr/>
                    <a:lstStyle/>
                    <a:p>
                      <a:r>
                        <a:rPr sz="1200" b="0">
                          <a:solidFill>
                            <a:srgbClr val="1F2937"/>
                          </a:solidFill>
                        </a:rPr>
                        <a:t>Chang‘i poygasi</a:t>
                      </a:r>
                    </a:p>
                  </a:txBody>
                  <a:tcPr marL="73152" marR="73152" marT="36576" marB="36576">
                    <a:solidFill>
                      <a:srgbClr val="E8EEF6"/>
                    </a:solidFill>
                  </a:tcPr>
                </a:tc>
                <a:tc>
                  <a:txBody>
                    <a:bodyPr/>
                    <a:lstStyle/>
                    <a:p>
                      <a:r>
                        <a:rPr sz="1200" b="0">
                          <a:solidFill>
                            <a:srgbClr val="1F2937"/>
                          </a:solidFill>
                        </a:rPr>
                        <a:t>~50</a:t>
                      </a:r>
                    </a:p>
                  </a:txBody>
                  <a:tcPr marL="73152" marR="73152" marT="36576" marB="36576">
                    <a:solidFill>
                      <a:srgbClr val="E8EEF6"/>
                    </a:solidFill>
                  </a:tcPr>
                </a:tc>
                <a:tc>
                  <a:txBody>
                    <a:bodyPr/>
                    <a:lstStyle/>
                    <a:p>
                      <a:r>
                        <a:rPr sz="1200" b="0">
                          <a:solidFill>
                            <a:srgbClr val="1F2937"/>
                          </a:solidFill>
                        </a:rPr>
                        <a:t>~405–410</a:t>
                      </a:r>
                    </a:p>
                  </a:txBody>
                  <a:tcPr marL="73152" marR="73152" marT="36576" marB="36576">
                    <a:solidFill>
                      <a:srgbClr val="E8EEF6"/>
                    </a:solidFill>
                  </a:tcPr>
                </a:tc>
              </a:tr>
              <a:tr h="411480">
                <a:tc>
                  <a:txBody>
                    <a:bodyPr/>
                    <a:lstStyle/>
                    <a:p>
                      <a:r>
                        <a:rPr sz="1200" b="0">
                          <a:solidFill>
                            <a:srgbClr val="1F2937"/>
                          </a:solidFill>
                        </a:rPr>
                        <a:t>Para-futbol</a:t>
                      </a:r>
                    </a:p>
                  </a:txBody>
                  <a:tcPr marL="73152" marR="73152" marT="36576" marB="36576">
                    <a:solidFill>
                      <a:srgbClr val="FFFFFF"/>
                    </a:solidFill>
                  </a:tcPr>
                </a:tc>
                <a:tc>
                  <a:txBody>
                    <a:bodyPr/>
                    <a:lstStyle/>
                    <a:p>
                      <a:r>
                        <a:rPr sz="1200" b="0">
                          <a:solidFill>
                            <a:srgbClr val="1F2937"/>
                          </a:solidFill>
                        </a:rPr>
                        <a:t>~44–45</a:t>
                      </a:r>
                    </a:p>
                  </a:txBody>
                  <a:tcPr marL="73152" marR="73152" marT="36576" marB="36576">
                    <a:solidFill>
                      <a:srgbClr val="FFFFFF"/>
                    </a:solidFill>
                  </a:tcPr>
                </a:tc>
                <a:tc>
                  <a:txBody>
                    <a:bodyPr/>
                    <a:lstStyle/>
                    <a:p>
                      <a:r>
                        <a:rPr sz="1200" b="0">
                          <a:solidFill>
                            <a:srgbClr val="1F2937"/>
                          </a:solidFill>
                        </a:rPr>
                        <a:t>~390–395</a:t>
                      </a:r>
                    </a:p>
                  </a:txBody>
                  <a:tcPr marL="73152" marR="73152" marT="36576" marB="36576">
                    <a:solidFill>
                      <a:srgbClr val="FFFFFF"/>
                    </a:solidFill>
                  </a:tcPr>
                </a:tc>
              </a:tr>
              <a:tr h="411480">
                <a:tc>
                  <a:txBody>
                    <a:bodyPr/>
                    <a:lstStyle/>
                    <a:p>
                      <a:r>
                        <a:rPr sz="1200" b="0">
                          <a:solidFill>
                            <a:srgbClr val="1F2937"/>
                          </a:solidFill>
                        </a:rPr>
                        <a:t>Para-suzish</a:t>
                      </a:r>
                    </a:p>
                  </a:txBody>
                  <a:tcPr marL="73152" marR="73152" marT="36576" marB="36576">
                    <a:solidFill>
                      <a:srgbClr val="E8EEF6"/>
                    </a:solidFill>
                  </a:tcPr>
                </a:tc>
                <a:tc>
                  <a:txBody>
                    <a:bodyPr/>
                    <a:lstStyle/>
                    <a:p>
                      <a:r>
                        <a:rPr sz="1200" b="0">
                          <a:solidFill>
                            <a:srgbClr val="1F2937"/>
                          </a:solidFill>
                        </a:rPr>
                        <a:t>~42–43</a:t>
                      </a:r>
                    </a:p>
                  </a:txBody>
                  <a:tcPr marL="73152" marR="73152" marT="36576" marB="36576">
                    <a:solidFill>
                      <a:srgbClr val="E8EEF6"/>
                    </a:solidFill>
                  </a:tcPr>
                </a:tc>
                <a:tc>
                  <a:txBody>
                    <a:bodyPr/>
                    <a:lstStyle/>
                    <a:p>
                      <a:r>
                        <a:rPr sz="1200" b="0">
                          <a:solidFill>
                            <a:srgbClr val="1F2937"/>
                          </a:solidFill>
                        </a:rPr>
                        <a:t>~420–425</a:t>
                      </a:r>
                    </a:p>
                  </a:txBody>
                  <a:tcPr marL="73152" marR="73152" marT="36576" marB="36576">
                    <a:solidFill>
                      <a:srgbClr val="E8EEF6"/>
                    </a:solidFill>
                  </a:tcPr>
                </a:tc>
              </a:tr>
              <a:tr h="411480">
                <a:tc>
                  <a:txBody>
                    <a:bodyPr/>
                    <a:lstStyle/>
                    <a:p>
                      <a:r>
                        <a:rPr sz="1200" b="0">
                          <a:solidFill>
                            <a:srgbClr val="1F2937"/>
                          </a:solidFill>
                        </a:rPr>
                        <a:t>Para-xokkey</a:t>
                      </a:r>
                    </a:p>
                  </a:txBody>
                  <a:tcPr marL="73152" marR="73152" marT="36576" marB="36576">
                    <a:solidFill>
                      <a:srgbClr val="FFFFFF"/>
                    </a:solidFill>
                  </a:tcPr>
                </a:tc>
                <a:tc>
                  <a:txBody>
                    <a:bodyPr/>
                    <a:lstStyle/>
                    <a:p>
                      <a:r>
                        <a:rPr sz="1200" b="0">
                          <a:solidFill>
                            <a:srgbClr val="1F2937"/>
                          </a:solidFill>
                        </a:rPr>
                        <a:t>~31–32</a:t>
                      </a:r>
                    </a:p>
                  </a:txBody>
                  <a:tcPr marL="73152" marR="73152" marT="36576" marB="36576">
                    <a:solidFill>
                      <a:srgbClr val="FFFFFF"/>
                    </a:solidFill>
                  </a:tcPr>
                </a:tc>
                <a:tc>
                  <a:txBody>
                    <a:bodyPr/>
                    <a:lstStyle/>
                    <a:p>
                      <a:r>
                        <a:rPr sz="1200" b="0">
                          <a:solidFill>
                            <a:srgbClr val="1F2937"/>
                          </a:solidFill>
                        </a:rPr>
                        <a:t>~405</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Sport turlari mediana qiymatlari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Nosologiya bo‘yicha farqlar va effekt hajmi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VO2max mediana: eshitish ~49–50, tayanch-harakat ~46, ko‘rish ~43 mL·kg−1·min−1 (p = 0,01028).</a:t>
            </a:r>
          </a:p>
          <a:p>
            <a:pPr>
              <a:spcAft>
                <a:spcPts val="800"/>
              </a:spcAft>
            </a:pPr>
            <a:r>
              <a:rPr sz="1800">
                <a:solidFill>
                  <a:srgbClr val="1F2937"/>
                </a:solidFill>
                <a:latin typeface="Calibri"/>
              </a:rPr>
              <a:t>▸  QTc nosologiya bo‘yicha: p = 0,02185, ε² = 0,0175; guruhlar taqsimoti katta qismi ustma-ust tushadi.</a:t>
            </a:r>
          </a:p>
          <a:p>
            <a:pPr>
              <a:spcAft>
                <a:spcPts val="800"/>
              </a:spcAft>
            </a:pPr>
            <a:r>
              <a:rPr sz="1800">
                <a:solidFill>
                  <a:srgbClr val="1F2937"/>
                </a:solidFill>
                <a:latin typeface="Calibri"/>
              </a:rPr>
              <a:t>▸  Xulosa: sport turi nogironlik turiga qaraganda yurak funksional zaxirasiga kuchliroq ta’sir qiladi.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826755"/>
                <a:gridCol w="1922900"/>
                <a:gridCol w="1538320"/>
              </a:tblGrid>
              <a:tr h="411480">
                <a:tc>
                  <a:txBody>
                    <a:bodyPr/>
                    <a:lstStyle/>
                    <a:p>
                      <a:r>
                        <a:rPr sz="1300" b="1">
                          <a:solidFill>
                            <a:srgbClr val="FFFFFF"/>
                          </a:solidFill>
                        </a:rPr>
                        <a:t>Bog‘liqlik</a:t>
                      </a:r>
                    </a:p>
                  </a:txBody>
                  <a:tcPr marL="73152" marR="73152" marT="36576" marB="36576">
                    <a:solidFill>
                      <a:srgbClr val="0B1F3A"/>
                    </a:solidFill>
                  </a:tcPr>
                </a:tc>
                <a:tc>
                  <a:txBody>
                    <a:bodyPr/>
                    <a:lstStyle/>
                    <a:p>
                      <a:r>
                        <a:rPr sz="1300" b="1">
                          <a:solidFill>
                            <a:srgbClr val="FFFFFF"/>
                          </a:solidFill>
                        </a:rPr>
                        <a:t>Effekt (η²/ε²)</a:t>
                      </a:r>
                    </a:p>
                  </a:txBody>
                  <a:tcPr marL="73152" marR="73152" marT="36576" marB="36576">
                    <a:solidFill>
                      <a:srgbClr val="0B1F3A"/>
                    </a:solidFill>
                  </a:tcPr>
                </a:tc>
                <a:tc>
                  <a:txBody>
                    <a:bodyPr/>
                    <a:lstStyle/>
                    <a:p>
                      <a:r>
                        <a:rPr sz="1300" b="1">
                          <a:solidFill>
                            <a:srgbClr val="FFFFFF"/>
                          </a:solidFill>
                        </a:rPr>
                        <a:t>Talqin</a:t>
                      </a:r>
                    </a:p>
                  </a:txBody>
                  <a:tcPr marL="73152" marR="73152" marT="36576" marB="36576">
                    <a:solidFill>
                      <a:srgbClr val="0B1F3A"/>
                    </a:solidFill>
                  </a:tcPr>
                </a:tc>
              </a:tr>
              <a:tr h="411480">
                <a:tc>
                  <a:txBody>
                    <a:bodyPr/>
                    <a:lstStyle/>
                    <a:p>
                      <a:r>
                        <a:rPr sz="1200" b="0">
                          <a:solidFill>
                            <a:srgbClr val="1F2937"/>
                          </a:solidFill>
                        </a:rPr>
                        <a:t>Sport turi → VO2max</a:t>
                      </a:r>
                    </a:p>
                  </a:txBody>
                  <a:tcPr marL="73152" marR="73152" marT="36576" marB="36576">
                    <a:solidFill>
                      <a:srgbClr val="E8EEF6"/>
                    </a:solidFill>
                  </a:tcPr>
                </a:tc>
                <a:tc>
                  <a:txBody>
                    <a:bodyPr/>
                    <a:lstStyle/>
                    <a:p>
                      <a:r>
                        <a:rPr sz="1200" b="0">
                          <a:solidFill>
                            <a:srgbClr val="1F2937"/>
                          </a:solidFill>
                        </a:rPr>
                        <a:t>0,158</a:t>
                      </a:r>
                    </a:p>
                  </a:txBody>
                  <a:tcPr marL="73152" marR="73152" marT="36576" marB="36576">
                    <a:solidFill>
                      <a:srgbClr val="E8EEF6"/>
                    </a:solidFill>
                  </a:tcPr>
                </a:tc>
                <a:tc>
                  <a:txBody>
                    <a:bodyPr/>
                    <a:lstStyle/>
                    <a:p>
                      <a:r>
                        <a:rPr sz="1200" b="0">
                          <a:solidFill>
                            <a:srgbClr val="1F2937"/>
                          </a:solidFill>
                        </a:rPr>
                        <a:t>O‘rta</a:t>
                      </a:r>
                    </a:p>
                  </a:txBody>
                  <a:tcPr marL="73152" marR="73152" marT="36576" marB="36576">
                    <a:solidFill>
                      <a:srgbClr val="E8EEF6"/>
                    </a:solidFill>
                  </a:tcPr>
                </a:tc>
              </a:tr>
              <a:tr h="411480">
                <a:tc>
                  <a:txBody>
                    <a:bodyPr/>
                    <a:lstStyle/>
                    <a:p>
                      <a:r>
                        <a:rPr sz="1200" b="0">
                          <a:solidFill>
                            <a:srgbClr val="1F2937"/>
                          </a:solidFill>
                        </a:rPr>
                        <a:t>Sport turi → QTc</a:t>
                      </a:r>
                    </a:p>
                  </a:txBody>
                  <a:tcPr marL="73152" marR="73152" marT="36576" marB="36576">
                    <a:solidFill>
                      <a:srgbClr val="FFFFFF"/>
                    </a:solidFill>
                  </a:tcPr>
                </a:tc>
                <a:tc>
                  <a:txBody>
                    <a:bodyPr/>
                    <a:lstStyle/>
                    <a:p>
                      <a:r>
                        <a:rPr sz="1200" b="0">
                          <a:solidFill>
                            <a:srgbClr val="1F2937"/>
                          </a:solidFill>
                        </a:rPr>
                        <a:t>0,146</a:t>
                      </a:r>
                    </a:p>
                  </a:txBody>
                  <a:tcPr marL="73152" marR="73152" marT="36576" marB="36576">
                    <a:solidFill>
                      <a:srgbClr val="FFFFFF"/>
                    </a:solidFill>
                  </a:tcPr>
                </a:tc>
                <a:tc>
                  <a:txBody>
                    <a:bodyPr/>
                    <a:lstStyle/>
                    <a:p>
                      <a:r>
                        <a:rPr sz="1200" b="0">
                          <a:solidFill>
                            <a:srgbClr val="1F2937"/>
                          </a:solidFill>
                        </a:rPr>
                        <a:t>O‘rta</a:t>
                      </a:r>
                    </a:p>
                  </a:txBody>
                  <a:tcPr marL="73152" marR="73152" marT="36576" marB="36576">
                    <a:solidFill>
                      <a:srgbClr val="FFFFFF"/>
                    </a:solidFill>
                  </a:tcPr>
                </a:tc>
              </a:tr>
              <a:tr h="411480">
                <a:tc>
                  <a:txBody>
                    <a:bodyPr/>
                    <a:lstStyle/>
                    <a:p>
                      <a:r>
                        <a:rPr sz="1200" b="0">
                          <a:solidFill>
                            <a:srgbClr val="1F2937"/>
                          </a:solidFill>
                        </a:rPr>
                        <a:t>Nosologiya → VO2max</a:t>
                      </a:r>
                    </a:p>
                  </a:txBody>
                  <a:tcPr marL="73152" marR="73152" marT="36576" marB="36576">
                    <a:solidFill>
                      <a:srgbClr val="E8EEF6"/>
                    </a:solidFill>
                  </a:tcPr>
                </a:tc>
                <a:tc>
                  <a:txBody>
                    <a:bodyPr/>
                    <a:lstStyle/>
                    <a:p>
                      <a:r>
                        <a:rPr sz="1200" b="0">
                          <a:solidFill>
                            <a:srgbClr val="1F2937"/>
                          </a:solidFill>
                        </a:rPr>
                        <a:t>0,072</a:t>
                      </a:r>
                    </a:p>
                  </a:txBody>
                  <a:tcPr marL="73152" marR="73152" marT="36576" marB="36576">
                    <a:solidFill>
                      <a:srgbClr val="E8EEF6"/>
                    </a:solidFill>
                  </a:tcPr>
                </a:tc>
                <a:tc>
                  <a:txBody>
                    <a:bodyPr/>
                    <a:lstStyle/>
                    <a:p>
                      <a:r>
                        <a:rPr sz="1200" b="0">
                          <a:solidFill>
                            <a:srgbClr val="1F2937"/>
                          </a:solidFill>
                        </a:rPr>
                        <a:t>Kichik</a:t>
                      </a:r>
                    </a:p>
                  </a:txBody>
                  <a:tcPr marL="73152" marR="73152" marT="36576" marB="36576">
                    <a:solidFill>
                      <a:srgbClr val="E8EEF6"/>
                    </a:solidFill>
                  </a:tcPr>
                </a:tc>
              </a:tr>
              <a:tr h="411480">
                <a:tc>
                  <a:txBody>
                    <a:bodyPr/>
                    <a:lstStyle/>
                    <a:p>
                      <a:r>
                        <a:rPr sz="1200" b="0">
                          <a:solidFill>
                            <a:srgbClr val="1F2937"/>
                          </a:solidFill>
                        </a:rPr>
                        <a:t>Nosologiya → QTc</a:t>
                      </a:r>
                    </a:p>
                  </a:txBody>
                  <a:tcPr marL="73152" marR="73152" marT="36576" marB="36576">
                    <a:solidFill>
                      <a:srgbClr val="FFFFFF"/>
                    </a:solidFill>
                  </a:tcPr>
                </a:tc>
                <a:tc>
                  <a:txBody>
                    <a:bodyPr/>
                    <a:lstStyle/>
                    <a:p>
                      <a:r>
                        <a:rPr sz="1200" b="0">
                          <a:solidFill>
                            <a:srgbClr val="1F2937"/>
                          </a:solidFill>
                        </a:rPr>
                        <a:t>0,018</a:t>
                      </a:r>
                    </a:p>
                  </a:txBody>
                  <a:tcPr marL="73152" marR="73152" marT="36576" marB="36576">
                    <a:solidFill>
                      <a:srgbClr val="FFFFFF"/>
                    </a:solidFill>
                  </a:tcPr>
                </a:tc>
                <a:tc>
                  <a:txBody>
                    <a:bodyPr/>
                    <a:lstStyle/>
                    <a:p>
                      <a:r>
                        <a:rPr sz="1200" b="0">
                          <a:solidFill>
                            <a:srgbClr val="1F2937"/>
                          </a:solidFill>
                        </a:rPr>
                        <a:t>Juda kichik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Effekt hajmi: omillar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para-xokkey o‘yinchisi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para-xokkey o‘yinchisida VO2max (maksimal nisbiy kislorod iste’moli) 31 mL·kg−1·min−1, QTc (tuzatilgan QT intervali) 405 ms.</a:t>
            </a:r>
          </a:p>
          <a:p>
            <a:pPr>
              <a:spcAft>
                <a:spcPts val="1200"/>
              </a:spcAft>
            </a:pPr>
            <a:r>
              <a:rPr sz="2200">
                <a:solidFill>
                  <a:srgbClr val="1F2937"/>
                </a:solidFill>
                <a:latin typeface="Calibri"/>
              </a:rPr>
              <a:t>▸  Manbada para-xokkeychilarning VO2max mediani 31–32 bo‘lgan. Bu sport turlari orasida eng past ko‘rsatkich; butun guruh o‘rtachasi esa 46,5.</a:t>
            </a:r>
          </a:p>
          <a:p>
            <a:pPr>
              <a:spcAft>
                <a:spcPts val="1200"/>
              </a:spcAft>
            </a:pPr>
            <a:r>
              <a:rPr sz="2200">
                <a:solidFill>
                  <a:srgbClr val="1F2937"/>
                </a:solidFill>
                <a:latin typeface="Calibri"/>
              </a:rPr>
              <a:t>▸  Shu guruhda QTc mediani taxminan 405 ms, tarqoqlik o‘rtacha. Butun guruhning QTc o‘rtachasi 417,3 ms edi.</a:t>
            </a:r>
          </a:p>
          <a:p>
            <a:pPr>
              <a:spcAft>
                <a:spcPts val="1200"/>
              </a:spcAft>
            </a:pPr>
            <a:r>
              <a:rPr sz="2200">
                <a:solidFill>
                  <a:srgbClr val="1F2937"/>
                </a:solidFill>
                <a:latin typeface="Calibri"/>
              </a:rPr>
              <a:t>▸  Qaror: yuklamani belgilashdan oldin VO2max va QTc bo‘yicha individual kardiologik skrining. QTc sezilarli uzaysa, chuqur tekshiruv tavsiya etilgan.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Cheklovlar va mashq tavsiyalari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Dizayn ko‘ndalang; yosh, mashg‘ulot tajribasi va sinov protokollari xilma-xil, uzoq muddatli tasdiqlash yo‘q.</a:t>
            </a:r>
          </a:p>
          <a:p>
            <a:pPr>
              <a:spcAft>
                <a:spcPts val="1200"/>
              </a:spcAft>
            </a:pPr>
            <a:r>
              <a:rPr sz="2200">
                <a:solidFill>
                  <a:srgbClr val="1F2937"/>
                </a:solidFill>
                <a:latin typeface="Calibri"/>
              </a:rPr>
              <a:t>▸  Hududda biriktiruvchi to‘qima displaziyasi juda ko‘p uchragani uchun displaziyasiz nazorat guruhi tuzilmagan.</a:t>
            </a:r>
          </a:p>
          <a:p>
            <a:pPr>
              <a:spcAft>
                <a:spcPts val="1200"/>
              </a:spcAft>
            </a:pPr>
            <a:r>
              <a:rPr sz="2200">
                <a:solidFill>
                  <a:srgbClr val="1F2937"/>
                </a:solidFill>
                <a:latin typeface="Calibri"/>
              </a:rPr>
              <a:t>▸  VO2max ikki usulda o‘lchangan: bevosita (466 kishi) va hisoblash orqali (144 kishi). Aralash usul o‘lchov xatosini oshirishi mumkin.</a:t>
            </a:r>
          </a:p>
          <a:p>
            <a:pPr>
              <a:spcAft>
                <a:spcPts val="1200"/>
              </a:spcAft>
            </a:pPr>
            <a:r>
              <a:rPr sz="2200">
                <a:solidFill>
                  <a:srgbClr val="1F2937"/>
                </a:solidFill>
                <a:latin typeface="Calibri"/>
              </a:rPr>
              <a:t>▸  Tavsiya: yuklamadan oldin individual skrining (VO2max, QTc), exokardiografiya va 12 tarmoqli elektrokardiogramma (EKG) bilan yuklama sinovi.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Marfan sindromi: umumiy tavsif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Marfan sindromi autosom dominant bo‘lib, irsiy biriktiruvchi to‘qima kasalliklarining eng ko‘p uchraydigan shakli hisoblanadi.</a:t>
            </a:r>
          </a:p>
          <a:p>
            <a:pPr>
              <a:spcAft>
                <a:spcPts val="1200"/>
              </a:spcAft>
            </a:pPr>
            <a:r>
              <a:rPr sz="2200">
                <a:solidFill>
                  <a:srgbClr val="1F2937"/>
                </a:solidFill>
                <a:latin typeface="Calibri"/>
              </a:rPr>
              <a:t>▸  Klassik triada: yurak-qon tomir, ko‘z va tayanch-harakat tizimi zararlanishi. Biriktiruvchi komponenti bor har qanday a’zo jalb bo‘lishi mumkin.</a:t>
            </a:r>
          </a:p>
          <a:p>
            <a:pPr>
              <a:spcAft>
                <a:spcPts val="1200"/>
              </a:spcAft>
            </a:pPr>
            <a:r>
              <a:rPr sz="2200">
                <a:solidFill>
                  <a:srgbClr val="1F2937"/>
                </a:solidFill>
                <a:latin typeface="Calibri"/>
              </a:rPr>
              <a:t>▸  Tarqalishi taxminan 5000–10 000 kishidan bittasi; bosh a’zolar zararlanmasa, tashxis qiyinlashib, ko‘rsatkich kam baholanishi mumkin.</a:t>
            </a:r>
          </a:p>
          <a:p>
            <a:pPr>
              <a:spcAft>
                <a:spcPts val="1200"/>
              </a:spcAft>
            </a:pPr>
            <a:r>
              <a:rPr sz="2200">
                <a:solidFill>
                  <a:srgbClr val="1F2937"/>
                </a:solidFill>
                <a:latin typeface="Calibri"/>
              </a:rPr>
              <a:t>▸  Yoshga bog‘liq penetrantlik bor: belgilar keyin, ko‘pincha 20 yoshdan so‘ng ham namoyon bo‘ladi. Shuning uchun bolalarda tashxis qiyin.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FBN1 gen va fibrillin-1 funksiyasi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FBN1 (15q21) variantlari Marfan sindromi (MFS) sababi; gen 65 ekzondan iborat.</a:t>
            </a:r>
          </a:p>
          <a:p>
            <a:pPr>
              <a:spcAft>
                <a:spcPts val="800"/>
              </a:spcAft>
            </a:pPr>
            <a:r>
              <a:rPr sz="1800">
                <a:solidFill>
                  <a:srgbClr val="1F2937"/>
                </a:solidFill>
                <a:latin typeface="Calibri"/>
              </a:rPr>
              <a:t>▸  Fibrillin-1 mikrofibrillalari TGFβ (o‘sish omili β) ajralishi va saqlanishini boshqaradi.</a:t>
            </a:r>
          </a:p>
          <a:p>
            <a:pPr>
              <a:spcAft>
                <a:spcPts val="800"/>
              </a:spcAft>
            </a:pPr>
            <a:r>
              <a:rPr sz="1800">
                <a:solidFill>
                  <a:srgbClr val="1F2937"/>
                </a:solidFill>
                <a:latin typeface="Calibri"/>
              </a:rPr>
              <a:t>▸  Oqsil yurak, qon tomir, ko‘z, teri, tog‘ay, o‘pkada bor — shu sababli belgilar xilma-xil.</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FBN1 varianti (15q21)</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Fibrillin-1 (2871 a.k.)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Mikrofibrilla → elastik tola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TGFβ miqdorini boshqarish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Ko‘p a‘zoli belgilar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FBN1 dan klinikagacha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Ghent mezonlari (2010)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 asosiy belgi: aorta ildizi kengayishi va linza ektopiyasi (linzaning o‘z o‘rnidan siljishi).</a:t>
            </a:r>
          </a:p>
          <a:p>
            <a:pPr>
              <a:spcAft>
                <a:spcPts val="800"/>
              </a:spcAft>
            </a:pPr>
            <a:r>
              <a:rPr sz="1800">
                <a:solidFill>
                  <a:srgbClr val="1F2937"/>
                </a:solidFill>
                <a:latin typeface="Calibri"/>
              </a:rPr>
              <a:t>▸  Tizimli ball: skelet va yuz belgilari, miopiya, mitral klapan prolapsi (MVP), pnevmotoraks, dural ektaziya.</a:t>
            </a:r>
          </a:p>
          <a:p>
            <a:pPr>
              <a:spcAft>
                <a:spcPts val="800"/>
              </a:spcAft>
            </a:pPr>
            <a:r>
              <a:rPr sz="1800">
                <a:solidFill>
                  <a:srgbClr val="1F2937"/>
                </a:solidFill>
                <a:latin typeface="Calibri"/>
              </a:rPr>
              <a:t>▸  Diqqat: oilada Marfan bo‘lsa, 20 yoshgacha Z ≥ 3 (kattalarda ≥ 2); 2–3 oralig‘ida kuzatuv.</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10850"/>
                <a:gridCol w="1259041"/>
                <a:gridCol w="2518083"/>
              </a:tblGrid>
              <a:tr h="411480">
                <a:tc>
                  <a:txBody>
                    <a:bodyPr/>
                    <a:lstStyle/>
                    <a:p>
                      <a:r>
                        <a:rPr sz="1300" b="1">
                          <a:solidFill>
                            <a:srgbClr val="FFFFFF"/>
                          </a:solidFill>
                        </a:rPr>
                        <a:t>Anamnez</a:t>
                      </a:r>
                    </a:p>
                  </a:txBody>
                  <a:tcPr marL="73152" marR="73152" marT="36576" marB="36576">
                    <a:solidFill>
                      <a:srgbClr val="0B1F3A"/>
                    </a:solidFill>
                  </a:tcPr>
                </a:tc>
                <a:tc>
                  <a:txBody>
                    <a:bodyPr/>
                    <a:lstStyle/>
                    <a:p>
                      <a:r>
                        <a:rPr sz="1300" b="1">
                          <a:solidFill>
                            <a:srgbClr val="FFFFFF"/>
                          </a:solidFill>
                        </a:rPr>
                        <a:t>Aorta ildizi Z</a:t>
                      </a:r>
                    </a:p>
                  </a:txBody>
                  <a:tcPr marL="73152" marR="73152" marT="36576" marB="36576">
                    <a:solidFill>
                      <a:srgbClr val="0B1F3A"/>
                    </a:solidFill>
                  </a:tcPr>
                </a:tc>
                <a:tc>
                  <a:txBody>
                    <a:bodyPr/>
                    <a:lstStyle/>
                    <a:p>
                      <a:r>
                        <a:rPr sz="1300" b="1">
                          <a:solidFill>
                            <a:srgbClr val="FFFFFF"/>
                          </a:solidFill>
                        </a:rPr>
                        <a:t>Qo‘shimcha</a:t>
                      </a:r>
                    </a:p>
                  </a:txBody>
                  <a:tcPr marL="73152" marR="73152" marT="36576" marB="36576">
                    <a:solidFill>
                      <a:srgbClr val="0B1F3A"/>
                    </a:solidFill>
                  </a:tcPr>
                </a:tc>
              </a:tr>
              <a:tr h="411480">
                <a:tc>
                  <a:txBody>
                    <a:bodyPr/>
                    <a:lstStyle/>
                    <a:p>
                      <a:r>
                        <a:rPr sz="1200" b="0">
                          <a:solidFill>
                            <a:srgbClr val="1F2937"/>
                          </a:solidFill>
                        </a:rPr>
                        <a:t>Manfiy</a:t>
                      </a:r>
                    </a:p>
                  </a:txBody>
                  <a:tcPr marL="73152" marR="73152" marT="36576" marB="36576">
                    <a:solidFill>
                      <a:srgbClr val="E8EEF6"/>
                    </a:solidFill>
                  </a:tcPr>
                </a:tc>
                <a:tc>
                  <a:txBody>
                    <a:bodyPr/>
                    <a:lstStyle/>
                    <a:p>
                      <a:r>
                        <a:rPr sz="1200" b="0">
                          <a:solidFill>
                            <a:srgbClr val="1F2937"/>
                          </a:solidFill>
                        </a:rPr>
                        <a:t>Z ≥ 2</a:t>
                      </a:r>
                    </a:p>
                  </a:txBody>
                  <a:tcPr marL="73152" marR="73152" marT="36576" marB="36576">
                    <a:solidFill>
                      <a:srgbClr val="E8EEF6"/>
                    </a:solidFill>
                  </a:tcPr>
                </a:tc>
                <a:tc>
                  <a:txBody>
                    <a:bodyPr/>
                    <a:lstStyle/>
                    <a:p>
                      <a:r>
                        <a:rPr sz="1200" b="0">
                          <a:solidFill>
                            <a:srgbClr val="1F2937"/>
                          </a:solidFill>
                        </a:rPr>
                        <a:t>Linza ektopiyasi, FBN1 yoki tizimli ball ≥7</a:t>
                      </a:r>
                    </a:p>
                  </a:txBody>
                  <a:tcPr marL="73152" marR="73152" marT="36576" marB="36576">
                    <a:solidFill>
                      <a:srgbClr val="E8EEF6"/>
                    </a:solidFill>
                  </a:tcPr>
                </a:tc>
              </a:tr>
              <a:tr h="411480">
                <a:tc>
                  <a:txBody>
                    <a:bodyPr/>
                    <a:lstStyle/>
                    <a:p>
                      <a:r>
                        <a:rPr sz="1200" b="0">
                          <a:solidFill>
                            <a:srgbClr val="1F2937"/>
                          </a:solidFill>
                        </a:rPr>
                        <a:t>Musbat, 20 yoshdan katta</a:t>
                      </a:r>
                    </a:p>
                  </a:txBody>
                  <a:tcPr marL="73152" marR="73152" marT="36576" marB="36576">
                    <a:solidFill>
                      <a:srgbClr val="FFFFFF"/>
                    </a:solidFill>
                  </a:tcPr>
                </a:tc>
                <a:tc>
                  <a:txBody>
                    <a:bodyPr/>
                    <a:lstStyle/>
                    <a:p>
                      <a:r>
                        <a:rPr sz="1200" b="0">
                          <a:solidFill>
                            <a:srgbClr val="1F2937"/>
                          </a:solidFill>
                        </a:rPr>
                        <a:t>Z ≥ 2</a:t>
                      </a:r>
                    </a:p>
                  </a:txBody>
                  <a:tcPr marL="73152" marR="73152" marT="36576" marB="36576">
                    <a:solidFill>
                      <a:srgbClr val="FFFFFF"/>
                    </a:solidFill>
                  </a:tcPr>
                </a:tc>
                <a:tc>
                  <a:txBody>
                    <a:bodyPr/>
                    <a:lstStyle/>
                    <a:p>
                      <a:r>
                        <a:rPr sz="1200" b="0">
                          <a:solidFill>
                            <a:srgbClr val="1F2937"/>
                          </a:solidFill>
                        </a:rPr>
                        <a:t>Oilada Marfan bor</a:t>
                      </a:r>
                    </a:p>
                  </a:txBody>
                  <a:tcPr marL="73152" marR="73152" marT="36576" marB="36576">
                    <a:solidFill>
                      <a:srgbClr val="FFFFFF"/>
                    </a:solidFill>
                  </a:tcPr>
                </a:tc>
              </a:tr>
              <a:tr h="411480">
                <a:tc>
                  <a:txBody>
                    <a:bodyPr/>
                    <a:lstStyle/>
                    <a:p>
                      <a:r>
                        <a:rPr sz="1200" b="0">
                          <a:solidFill>
                            <a:srgbClr val="1F2937"/>
                          </a:solidFill>
                        </a:rPr>
                        <a:t>Musbat, 20 yoshgacha</a:t>
                      </a:r>
                    </a:p>
                  </a:txBody>
                  <a:tcPr marL="73152" marR="73152" marT="36576" marB="36576">
                    <a:solidFill>
                      <a:srgbClr val="E8EEF6"/>
                    </a:solidFill>
                  </a:tcPr>
                </a:tc>
                <a:tc>
                  <a:txBody>
                    <a:bodyPr/>
                    <a:lstStyle/>
                    <a:p>
                      <a:r>
                        <a:rPr sz="1200" b="0">
                          <a:solidFill>
                            <a:srgbClr val="1F2937"/>
                          </a:solidFill>
                        </a:rPr>
                        <a:t>Z ≥ 3</a:t>
                      </a:r>
                    </a:p>
                  </a:txBody>
                  <a:tcPr marL="73152" marR="73152" marT="36576" marB="36576">
                    <a:solidFill>
                      <a:srgbClr val="E8EEF6"/>
                    </a:solidFill>
                  </a:tcPr>
                </a:tc>
                <a:tc>
                  <a:txBody>
                    <a:bodyPr/>
                    <a:lstStyle/>
                    <a:p>
                      <a:r>
                        <a:rPr sz="1200" b="0">
                          <a:solidFill>
                            <a:srgbClr val="1F2937"/>
                          </a:solidFill>
                        </a:rPr>
                        <a:t>Oilada Marfan bor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Ghent 2010: tashxis variantlari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boshlanuvchi MFS va klassik shakl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eoMFS (erta boshlanuvchi shakl) og‘irroq: mitral regurgitatsiya 89%, trikuspid 62%, aorta kengayishi 96%.</a:t>
            </a:r>
          </a:p>
          <a:p>
            <a:pPr>
              <a:spcAft>
                <a:spcPts val="800"/>
              </a:spcAft>
            </a:pPr>
            <a:r>
              <a:rPr sz="1800">
                <a:solidFill>
                  <a:srgbClr val="1F2937"/>
                </a:solidFill>
                <a:latin typeface="Calibri"/>
              </a:rPr>
              <a:t>▸  Zarate balli: 9 klinik belgi + FBN1 (24–32-ekzon); ≥14 ball — sezgirlik 100%, o‘ziga xoslik 92%.</a:t>
            </a:r>
          </a:p>
          <a:p>
            <a:pPr>
              <a:spcAft>
                <a:spcPts val="800"/>
              </a:spcAft>
            </a:pPr>
            <a:r>
              <a:rPr sz="1800">
                <a:solidFill>
                  <a:srgbClr val="1F2937"/>
                </a:solidFill>
                <a:latin typeface="Calibri"/>
              </a:rPr>
              <a:t>▸  Diqqat: ekzon 24–32 varianti o‘zi eoMFS tashxisi uchun yetarli emas; ball hisoblash shart.</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46578"/>
                <a:gridCol w="2148239"/>
                <a:gridCol w="2093156"/>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eoMFS</a:t>
                      </a:r>
                    </a:p>
                  </a:txBody>
                  <a:tcPr marL="73152" marR="73152" marT="36576" marB="36576">
                    <a:solidFill>
                      <a:srgbClr val="0B1F3A"/>
                    </a:solidFill>
                  </a:tcPr>
                </a:tc>
                <a:tc>
                  <a:txBody>
                    <a:bodyPr/>
                    <a:lstStyle/>
                    <a:p>
                      <a:r>
                        <a:rPr sz="1300" b="1">
                          <a:solidFill>
                            <a:srgbClr val="FFFFFF"/>
                          </a:solidFill>
                        </a:rPr>
                        <a:t>Klassik MFS</a:t>
                      </a:r>
                    </a:p>
                  </a:txBody>
                  <a:tcPr marL="73152" marR="73152" marT="36576" marB="36576">
                    <a:solidFill>
                      <a:srgbClr val="0B1F3A"/>
                    </a:solidFill>
                  </a:tcPr>
                </a:tc>
              </a:tr>
              <a:tr h="411480">
                <a:tc>
                  <a:txBody>
                    <a:bodyPr/>
                    <a:lstStyle/>
                    <a:p>
                      <a:r>
                        <a:rPr sz="1200" b="0">
                          <a:solidFill>
                            <a:srgbClr val="1F2937"/>
                          </a:solidFill>
                        </a:rPr>
                        <a:t>Boshlanishi</a:t>
                      </a:r>
                    </a:p>
                  </a:txBody>
                  <a:tcPr marL="73152" marR="73152" marT="36576" marB="36576">
                    <a:solidFill>
                      <a:srgbClr val="E8EEF6"/>
                    </a:solidFill>
                  </a:tcPr>
                </a:tc>
                <a:tc>
                  <a:txBody>
                    <a:bodyPr/>
                    <a:lstStyle/>
                    <a:p>
                      <a:r>
                        <a:rPr sz="1200" b="0">
                          <a:solidFill>
                            <a:srgbClr val="1F2937"/>
                          </a:solidFill>
                        </a:rPr>
                        <a:t>Perinatal davrdan dastlabki yillargacha</a:t>
                      </a:r>
                    </a:p>
                  </a:txBody>
                  <a:tcPr marL="73152" marR="73152" marT="36576" marB="36576">
                    <a:solidFill>
                      <a:srgbClr val="E8EEF6"/>
                    </a:solidFill>
                  </a:tcPr>
                </a:tc>
                <a:tc>
                  <a:txBody>
                    <a:bodyPr/>
                    <a:lstStyle/>
                    <a:p>
                      <a:r>
                        <a:rPr sz="1200" b="0">
                          <a:solidFill>
                            <a:srgbClr val="1F2937"/>
                          </a:solidFill>
                        </a:rPr>
                        <a:t>Bolalik; yoshga bog‘liq penetrans</a:t>
                      </a:r>
                    </a:p>
                  </a:txBody>
                  <a:tcPr marL="73152" marR="73152" marT="36576" marB="36576">
                    <a:solidFill>
                      <a:srgbClr val="E8EEF6"/>
                    </a:solidFill>
                  </a:tcPr>
                </a:tc>
              </a:tr>
              <a:tr h="411480">
                <a:tc>
                  <a:txBody>
                    <a:bodyPr/>
                    <a:lstStyle/>
                    <a:p>
                      <a:r>
                        <a:rPr sz="1200" b="0">
                          <a:solidFill>
                            <a:srgbClr val="1F2937"/>
                          </a:solidFill>
                        </a:rPr>
                        <a:t>Asosiy o‘lim sababi</a:t>
                      </a:r>
                    </a:p>
                  </a:txBody>
                  <a:tcPr marL="73152" marR="73152" marT="36576" marB="36576">
                    <a:solidFill>
                      <a:srgbClr val="FFFFFF"/>
                    </a:solidFill>
                  </a:tcPr>
                </a:tc>
                <a:tc>
                  <a:txBody>
                    <a:bodyPr/>
                    <a:lstStyle/>
                    <a:p>
                      <a:r>
                        <a:rPr sz="1200" b="0">
                          <a:solidFill>
                            <a:srgbClr val="1F2937"/>
                          </a:solidFill>
                        </a:rPr>
                        <a:t>Regurgitatsiya → yurak yetishmovchiligi</a:t>
                      </a:r>
                    </a:p>
                  </a:txBody>
                  <a:tcPr marL="73152" marR="73152" marT="36576" marB="36576">
                    <a:solidFill>
                      <a:srgbClr val="FFFFFF"/>
                    </a:solidFill>
                  </a:tcPr>
                </a:tc>
                <a:tc>
                  <a:txBody>
                    <a:bodyPr/>
                    <a:lstStyle/>
                    <a:p>
                      <a:r>
                        <a:rPr sz="1200" b="0">
                          <a:solidFill>
                            <a:srgbClr val="1F2937"/>
                          </a:solidFill>
                        </a:rPr>
                        <a:t>Aorta dissektsiyasi/yorilishi muhim</a:t>
                      </a:r>
                    </a:p>
                  </a:txBody>
                  <a:tcPr marL="73152" marR="73152" marT="36576" marB="36576">
                    <a:solidFill>
                      <a:srgbClr val="FFFFFF"/>
                    </a:solidFill>
                  </a:tcPr>
                </a:tc>
              </a:tr>
              <a:tr h="411480">
                <a:tc>
                  <a:txBody>
                    <a:bodyPr/>
                    <a:lstStyle/>
                    <a:p>
                      <a:r>
                        <a:rPr sz="1200" b="0">
                          <a:solidFill>
                            <a:srgbClr val="1F2937"/>
                          </a:solidFill>
                        </a:rPr>
                        <a:t>Oilaviy anamnez</a:t>
                      </a:r>
                    </a:p>
                  </a:txBody>
                  <a:tcPr marL="73152" marR="73152" marT="36576" marB="36576">
                    <a:solidFill>
                      <a:srgbClr val="E8EEF6"/>
                    </a:solidFill>
                  </a:tcPr>
                </a:tc>
                <a:tc>
                  <a:txBody>
                    <a:bodyPr/>
                    <a:lstStyle/>
                    <a:p>
                      <a:r>
                        <a:rPr sz="1200" b="0">
                          <a:solidFill>
                            <a:srgbClr val="1F2937"/>
                          </a:solidFill>
                        </a:rPr>
                        <a:t>Ko‘pincha manfiy (62–78%), de novo</a:t>
                      </a:r>
                    </a:p>
                  </a:txBody>
                  <a:tcPr marL="73152" marR="73152" marT="36576" marB="36576">
                    <a:solidFill>
                      <a:srgbClr val="E8EEF6"/>
                    </a:solidFill>
                  </a:tcPr>
                </a:tc>
                <a:tc>
                  <a:txBody>
                    <a:bodyPr/>
                    <a:lstStyle/>
                    <a:p>
                      <a:r>
                        <a:rPr sz="1200" b="0">
                          <a:solidFill>
                            <a:srgbClr val="1F2937"/>
                          </a:solidFill>
                        </a:rPr>
                        <a:t>Oilaviy skrining orqali ham aniqlanadi</a:t>
                      </a:r>
                    </a:p>
                  </a:txBody>
                  <a:tcPr marL="73152" marR="73152" marT="36576" marB="36576">
                    <a:solidFill>
                      <a:srgbClr val="E8EEF6"/>
                    </a:solidFill>
                  </a:tcPr>
                </a:tc>
              </a:tr>
              <a:tr h="411480">
                <a:tc>
                  <a:txBody>
                    <a:bodyPr/>
                    <a:lstStyle/>
                    <a:p>
                      <a:r>
                        <a:rPr sz="1200" b="0">
                          <a:solidFill>
                            <a:srgbClr val="1F2937"/>
                          </a:solidFill>
                        </a:rPr>
                        <a:t>Prognoz</a:t>
                      </a:r>
                    </a:p>
                  </a:txBody>
                  <a:tcPr marL="73152" marR="73152" marT="36576" marB="36576">
                    <a:solidFill>
                      <a:srgbClr val="FFFFFF"/>
                    </a:solidFill>
                  </a:tcPr>
                </a:tc>
                <a:tc>
                  <a:txBody>
                    <a:bodyPr/>
                    <a:lstStyle/>
                    <a:p>
                      <a:r>
                        <a:rPr sz="1200" b="0">
                          <a:solidFill>
                            <a:srgbClr val="1F2937"/>
                          </a:solidFill>
                        </a:rPr>
                        <a:t>Yomon; o‘rtacha yashash 16,3 oy</a:t>
                      </a:r>
                    </a:p>
                  </a:txBody>
                  <a:tcPr marL="73152" marR="73152" marT="36576" marB="36576">
                    <a:solidFill>
                      <a:srgbClr val="FFFFFF"/>
                    </a:solidFill>
                  </a:tcPr>
                </a:tc>
                <a:tc>
                  <a:txBody>
                    <a:bodyPr/>
                    <a:lstStyle/>
                    <a:p>
                      <a:r>
                        <a:rPr sz="1200" b="0">
                          <a:solidFill>
                            <a:srgbClr val="1F2937"/>
                          </a:solidFill>
                        </a:rPr>
                        <a:t>Dori va kuzatuv umrga ta’sir qiladi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eoMFS va klassik MFS</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Aorta ildizi: Z-ball va o‘lchash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Kattalarda mutlaq diametr ishlatiladi. Bolalarda o‘sish tufayli bu to‘g‘ri kelmaydi, shuning uchun Z-ball qo‘llanadi.</a:t>
            </a:r>
          </a:p>
          <a:p>
            <a:pPr>
              <a:spcAft>
                <a:spcPts val="800"/>
              </a:spcAft>
            </a:pPr>
            <a:r>
              <a:rPr sz="1800">
                <a:solidFill>
                  <a:srgbClr val="1F2937"/>
                </a:solidFill>
                <a:latin typeface="Calibri"/>
              </a:rPr>
              <a:t>▸  Z-ball o‘rtachadan necha standart og‘ishni ko‘rsatadi; yosh, jins, bo‘y, vazn hisobga olinadi.</a:t>
            </a:r>
          </a:p>
          <a:p>
            <a:pPr>
              <a:spcAft>
                <a:spcPts val="800"/>
              </a:spcAft>
            </a:pPr>
            <a:r>
              <a:rPr sz="1800">
                <a:solidFill>
                  <a:srgbClr val="1F2937"/>
                </a:solidFill>
                <a:latin typeface="Calibri"/>
              </a:rPr>
              <a:t>▸  Nomogrammalar turlicha Z-ball beradi; bitta bemorda har safar bir xil usul va nomogrammadan foydalaning.</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2360703"/>
                <a:gridCol w="2927271"/>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Ahamiyati</a:t>
                      </a:r>
                    </a:p>
                  </a:txBody>
                  <a:tcPr marL="73152" marR="73152" marT="36576" marB="36576">
                    <a:solidFill>
                      <a:srgbClr val="0B1F3A"/>
                    </a:solidFill>
                  </a:tcPr>
                </a:tc>
              </a:tr>
              <a:tr h="411480">
                <a:tc>
                  <a:txBody>
                    <a:bodyPr/>
                    <a:lstStyle/>
                    <a:p>
                      <a:r>
                        <a:rPr sz="1300" b="0">
                          <a:solidFill>
                            <a:srgbClr val="1F2937"/>
                          </a:solidFill>
                        </a:rPr>
                        <a:t>Umumiy aholida Z-ball &gt;2</a:t>
                      </a:r>
                    </a:p>
                  </a:txBody>
                  <a:tcPr marL="73152" marR="73152" marT="36576" marB="36576">
                    <a:solidFill>
                      <a:srgbClr val="E8EEF6"/>
                    </a:solidFill>
                  </a:tcPr>
                </a:tc>
                <a:tc>
                  <a:txBody>
                    <a:bodyPr/>
                    <a:lstStyle/>
                    <a:p>
                      <a:r>
                        <a:rPr sz="1300" b="0">
                          <a:solidFill>
                            <a:srgbClr val="1F2937"/>
                          </a:solidFill>
                        </a:rPr>
                        <a:t>Aholining 2,3 % ida uchraydi</a:t>
                      </a:r>
                    </a:p>
                  </a:txBody>
                  <a:tcPr marL="73152" marR="73152" marT="36576" marB="36576">
                    <a:solidFill>
                      <a:srgbClr val="E8EEF6"/>
                    </a:solidFill>
                  </a:tcPr>
                </a:tc>
              </a:tr>
              <a:tr h="411480">
                <a:tc>
                  <a:txBody>
                    <a:bodyPr/>
                    <a:lstStyle/>
                    <a:p>
                      <a:r>
                        <a:rPr sz="1300" b="0">
                          <a:solidFill>
                            <a:srgbClr val="1F2937"/>
                          </a:solidFill>
                        </a:rPr>
                        <a:t>Umumiy aholida Z-ball &gt;3</a:t>
                      </a:r>
                    </a:p>
                  </a:txBody>
                  <a:tcPr marL="73152" marR="73152" marT="36576" marB="36576">
                    <a:solidFill>
                      <a:srgbClr val="FFFFFF"/>
                    </a:solidFill>
                  </a:tcPr>
                </a:tc>
                <a:tc>
                  <a:txBody>
                    <a:bodyPr/>
                    <a:lstStyle/>
                    <a:p>
                      <a:r>
                        <a:rPr sz="1300" b="0">
                          <a:solidFill>
                            <a:srgbClr val="1F2937"/>
                          </a:solidFill>
                        </a:rPr>
                        <a:t>Aholining 0,13 % ida uchraydi</a:t>
                      </a:r>
                    </a:p>
                  </a:txBody>
                  <a:tcPr marL="73152" marR="73152" marT="36576" marB="36576">
                    <a:solidFill>
                      <a:srgbClr val="FFFFFF"/>
                    </a:solidFill>
                  </a:tcPr>
                </a:tc>
              </a:tr>
              <a:tr h="411480">
                <a:tc>
                  <a:txBody>
                    <a:bodyPr/>
                    <a:lstStyle/>
                    <a:p>
                      <a:r>
                        <a:rPr sz="1300" b="0">
                          <a:solidFill>
                            <a:srgbClr val="1F2937"/>
                          </a:solidFill>
                        </a:rPr>
                        <a:t>Ghent 2010, bolalar uchun</a:t>
                      </a:r>
                    </a:p>
                  </a:txBody>
                  <a:tcPr marL="73152" marR="73152" marT="36576" marB="36576">
                    <a:solidFill>
                      <a:srgbClr val="E8EEF6"/>
                    </a:solidFill>
                  </a:tcPr>
                </a:tc>
                <a:tc>
                  <a:txBody>
                    <a:bodyPr/>
                    <a:lstStyle/>
                    <a:p>
                      <a:r>
                        <a:rPr sz="1300" b="0">
                          <a:solidFill>
                            <a:srgbClr val="1F2937"/>
                          </a:solidFill>
                        </a:rPr>
                        <a:t>Tashxis chegarasi 3 deb olingan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Z-ball chegaralari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Aorta kengayish tezligi va BAV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Sog‘lom odamlarda aorta ildizi yiliga taxminan 0,1 mm o‘sadi. Davolanayotgan MFS bolalarida bu 0,5–0,8 mm/yil, ba‘zan 3 mm/yilgacha yetadi.</a:t>
            </a:r>
          </a:p>
          <a:p>
            <a:pPr>
              <a:spcAft>
                <a:spcPts val="1200"/>
              </a:spcAft>
            </a:pPr>
            <a:r>
              <a:rPr sz="2200">
                <a:solidFill>
                  <a:srgbClr val="1F2937"/>
                </a:solidFill>
                <a:latin typeface="Calibri"/>
              </a:rPr>
              <a:t>▸  Kattalarda tezlik sekinroq (0,3–0,7 mm/yil). Eng tez o‘sish erkaklarda va tashxis paytida ildizi kattaroq bemorlarda kuzatiladi.</a:t>
            </a:r>
          </a:p>
          <a:p>
            <a:pPr>
              <a:spcAft>
                <a:spcPts val="1200"/>
              </a:spcAft>
            </a:pPr>
            <a:r>
              <a:rPr sz="2200">
                <a:solidFill>
                  <a:srgbClr val="1F2937"/>
                </a:solidFill>
                <a:latin typeface="Calibri"/>
              </a:rPr>
              <a:t>▸  Ikki tavaqali aorta klapani (BAV) umumiy aholida 1–2 %, Marfan sindromida (MFS) taxminan 1,8 %. BAV bor MFS bemorlarida aorta ildizi kengayishi ko‘proq.</a:t>
            </a:r>
          </a:p>
          <a:p>
            <a:pPr>
              <a:spcAft>
                <a:spcPts val="1200"/>
              </a:spcAft>
            </a:pPr>
            <a:r>
              <a:rPr sz="2200">
                <a:solidFill>
                  <a:srgbClr val="1F2937"/>
                </a:solidFill>
                <a:latin typeface="Calibri"/>
              </a:rPr>
              <a:t>▸  BAV aortopatiyasida ko‘tariluvchi aorta ko‘proq zararlanadi. Profilaktik jarrohlik uchun ildiz yoki ko‘tariluvchi aortaning eng katta diametri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Z-ball va Ghent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bolalarda Z-ball chegarasi nega 3 deb olingan? Javob: bolada o‘lchovdagi kichik farq Z-ballni keskin o‘zgartiradi.</a:t>
            </a:r>
          </a:p>
          <a:p>
            <a:pPr>
              <a:spcAft>
                <a:spcPts val="1200"/>
              </a:spcAft>
            </a:pPr>
            <a:r>
              <a:rPr sz="2200">
                <a:solidFill>
                  <a:srgbClr val="1F2937"/>
                </a:solidFill>
                <a:latin typeface="Calibri"/>
              </a:rPr>
              <a:t>▸  Erta bolalikdagi o‘rtacha kengayish keyinroq yo‘qolib ketishi mumkin. Bolalar uchun &gt;2 va &gt;3 chegaralarini taqqoslovchi ko‘p markazli tadqiqot hozircha yo‘q.</a:t>
            </a:r>
          </a:p>
          <a:p>
            <a:pPr>
              <a:spcAft>
                <a:spcPts val="1200"/>
              </a:spcAft>
            </a:pPr>
            <a:r>
              <a:rPr sz="2200">
                <a:solidFill>
                  <a:srgbClr val="1F2937"/>
                </a:solidFill>
                <a:latin typeface="Calibri"/>
              </a:rPr>
              <a:t>▸  Z-ball 2–3 oralig‘ida, klinik belgisiz bolalarga har 1–2 yilda exokardiografiya kerak. Yirik tizimli belgi yoki o‘sish bo‘lsa, chegara &gt;2 ga tushadi.</a:t>
            </a:r>
          </a:p>
          <a:p>
            <a:pPr>
              <a:spcAft>
                <a:spcPts val="1200"/>
              </a:spcAft>
            </a:pPr>
            <a:r>
              <a:rPr sz="2200">
                <a:solidFill>
                  <a:srgbClr val="1F2937"/>
                </a:solidFill>
                <a:latin typeface="Calibri"/>
              </a:rPr>
              <a:t>▸  Diqqat: xato qilish xavfi: &gt;2 ≠ &gt;3. Ghent 2010 (oilaviy anamnez bor bo‘lsa): 20 yoshdan kichiklarda Z-ball ≥3, kattalarda ≥2.</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Konservativ davo: β-blokator va ARB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Davo tashxis qo‘yilganda yoki aorta ildizi kengayishi kuzatilganda boshlanadi.</a:t>
            </a:r>
          </a:p>
          <a:p>
            <a:pPr>
              <a:spcAft>
                <a:spcPts val="800"/>
              </a:spcAft>
            </a:pPr>
            <a:r>
              <a:rPr sz="1800">
                <a:solidFill>
                  <a:srgbClr val="1F2937"/>
                </a:solidFill>
                <a:latin typeface="Calibri"/>
              </a:rPr>
              <a:t>▸  β-blokator va angiotenzin retseptor blokatori (ARB) aorta ildizi kengayishini sekinlatadi.</a:t>
            </a:r>
          </a:p>
          <a:p>
            <a:pPr>
              <a:spcAft>
                <a:spcPts val="800"/>
              </a:spcAft>
            </a:pPr>
            <a:r>
              <a:rPr sz="1800">
                <a:solidFill>
                  <a:srgbClr val="1F2937"/>
                </a:solidFill>
                <a:latin typeface="Calibri"/>
              </a:rPr>
              <a:t>▸  Operatsiyadan keyin ham dori davom ettiriladi: distal aorta dissektsiyasi xavfi saqlanadi.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Davo</a:t>
                      </a:r>
                    </a:p>
                  </a:txBody>
                  <a:tcPr marL="73152" marR="73152" marT="36576" marB="36576">
                    <a:solidFill>
                      <a:srgbClr val="0B1F3A"/>
                    </a:solidFill>
                  </a:tcPr>
                </a:tc>
                <a:tc>
                  <a:txBody>
                    <a:bodyPr/>
                    <a:lstStyle/>
                    <a:p>
                      <a:r>
                        <a:rPr sz="1400" b="1">
                          <a:solidFill>
                            <a:srgbClr val="FFFFFF"/>
                          </a:solidFill>
                        </a:rPr>
                        <a:t>Natija</a:t>
                      </a:r>
                    </a:p>
                  </a:txBody>
                  <a:tcPr marL="73152" marR="73152" marT="36576" marB="36576">
                    <a:solidFill>
                      <a:srgbClr val="0B1F3A"/>
                    </a:solidFill>
                  </a:tcPr>
                </a:tc>
              </a:tr>
              <a:tr h="411480">
                <a:tc>
                  <a:txBody>
                    <a:bodyPr/>
                    <a:lstStyle/>
                    <a:p>
                      <a:r>
                        <a:rPr sz="1300" b="0">
                          <a:solidFill>
                            <a:srgbClr val="1F2937"/>
                          </a:solidFill>
                        </a:rPr>
                        <a:t>ARB</a:t>
                      </a:r>
                    </a:p>
                  </a:txBody>
                  <a:tcPr marL="73152" marR="73152" marT="36576" marB="36576">
                    <a:solidFill>
                      <a:srgbClr val="E8EEF6"/>
                    </a:solidFill>
                  </a:tcPr>
                </a:tc>
                <a:tc>
                  <a:txBody>
                    <a:bodyPr/>
                    <a:lstStyle/>
                    <a:p>
                      <a:r>
                        <a:rPr sz="1300" b="0">
                          <a:solidFill>
                            <a:srgbClr val="1F2937"/>
                          </a:solidFill>
                        </a:rPr>
                        <a:t>Z-score o‘sishi taxminan yarmiga kamaydi</a:t>
                      </a:r>
                    </a:p>
                  </a:txBody>
                  <a:tcPr marL="73152" marR="73152" marT="36576" marB="36576">
                    <a:solidFill>
                      <a:srgbClr val="E8EEF6"/>
                    </a:solidFill>
                  </a:tcPr>
                </a:tc>
              </a:tr>
              <a:tr h="411480">
                <a:tc>
                  <a:txBody>
                    <a:bodyPr/>
                    <a:lstStyle/>
                    <a:p>
                      <a:r>
                        <a:rPr sz="1300" b="0">
                          <a:solidFill>
                            <a:srgbClr val="1F2937"/>
                          </a:solidFill>
                        </a:rPr>
                        <a:t>β-blokator</a:t>
                      </a:r>
                    </a:p>
                  </a:txBody>
                  <a:tcPr marL="73152" marR="73152" marT="36576" marB="36576">
                    <a:solidFill>
                      <a:srgbClr val="FFFFFF"/>
                    </a:solidFill>
                  </a:tcPr>
                </a:tc>
                <a:tc>
                  <a:txBody>
                    <a:bodyPr/>
                    <a:lstStyle/>
                    <a:p>
                      <a:r>
                        <a:rPr sz="1300" b="0">
                          <a:solidFill>
                            <a:srgbClr val="1F2937"/>
                          </a:solidFill>
                        </a:rPr>
                        <a:t>Ta’siri ARBga o‘xshash</a:t>
                      </a:r>
                    </a:p>
                  </a:txBody>
                  <a:tcPr marL="73152" marR="73152" marT="36576" marB="36576">
                    <a:solidFill>
                      <a:srgbClr val="FFFFFF"/>
                    </a:solidFill>
                  </a:tcPr>
                </a:tc>
              </a:tr>
              <a:tr h="411480">
                <a:tc>
                  <a:txBody>
                    <a:bodyPr/>
                    <a:lstStyle/>
                    <a:p>
                      <a:r>
                        <a:rPr sz="1300" b="0">
                          <a:solidFill>
                            <a:srgbClr val="1F2937"/>
                          </a:solidFill>
                        </a:rPr>
                        <a:t>ARB + β-blokator</a:t>
                      </a:r>
                    </a:p>
                  </a:txBody>
                  <a:tcPr marL="73152" marR="73152" marT="36576" marB="36576">
                    <a:solidFill>
                      <a:srgbClr val="E8EEF6"/>
                    </a:solidFill>
                  </a:tcPr>
                </a:tc>
                <a:tc>
                  <a:txBody>
                    <a:bodyPr/>
                    <a:lstStyle/>
                    <a:p>
                      <a:r>
                        <a:rPr sz="1300" b="0">
                          <a:solidFill>
                            <a:srgbClr val="1F2937"/>
                          </a:solidFill>
                        </a:rPr>
                        <a:t>Kamida yarmiga sekinlashdi, operatsiya kechikdi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Pitcher meta-tahlili natijasi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 (3.2.1-bo‘lim, Conservative management)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Jismoniy faollik va turmush tarzi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Zo‘riqish yoki Valsalva talab qiladigan izometrik mashqlar, kontakt sportlar va og‘ir mashqlardan qochiladi; aorta devoriga kuchlanish kengayishni tezlashtirishi mumkin.</a:t>
            </a:r>
          </a:p>
          <a:p>
            <a:pPr>
              <a:spcAft>
                <a:spcPts val="1200"/>
              </a:spcAft>
            </a:pPr>
            <a:r>
              <a:rPr sz="2000">
                <a:solidFill>
                  <a:srgbClr val="1F2937"/>
                </a:solidFill>
                <a:latin typeface="Calibri"/>
              </a:rPr>
              <a:t>▸  Tez-tez ‘portlovchi’ mashqlar va to‘qnashuvli sportlar xavfli: ular aorta kengayishini kuchaytirib, o‘tkir dissektsiyani qo‘zg‘atishi mumkin.</a:t>
            </a:r>
          </a:p>
          <a:p>
            <a:pPr>
              <a:spcAft>
                <a:spcPts val="1200"/>
              </a:spcAft>
            </a:pPr>
            <a:r>
              <a:rPr sz="2000">
                <a:solidFill>
                  <a:srgbClr val="1F2937"/>
                </a:solidFill>
                <a:latin typeface="Calibri"/>
              </a:rPr>
              <a:t>▸  Imkoni borlarga yengil-o‘rtacha aerob mashqlar, yengil dam olish sportlari va yengil toshlar (zo‘riqmasdan ko‘p takror) tavsiya etiladi; ko‘pchilik ~50% quvvatda mashq qiladi.</a:t>
            </a:r>
          </a:p>
          <a:p>
            <a:pPr>
              <a:spcAft>
                <a:spcPts val="1200"/>
              </a:spcAft>
            </a:pPr>
            <a:r>
              <a:rPr sz="2000">
                <a:solidFill>
                  <a:srgbClr val="1F2937"/>
                </a:solidFill>
                <a:latin typeface="Calibri"/>
              </a:rPr>
              <a:t>▸  Puflab chalinadigan cholg‘ular professional darajada Valsalva orqali aorta kengayishiga ta’sir qilishi mumkin; bu shaxsiy kuzatuv, tasdiqlash uchun tadqiqot kerak.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 (3.2.1-bo‘lim, Conservative management)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Aorta jarrohligi ko‘rsatmalari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Tana yuzasi kattalarniki bo‘lgach (10–12 yosh) aorta ildizi va mitral klapan ta’miri xavfsizroq deb hisoblanadi.</a:t>
            </a:r>
          </a:p>
          <a:p>
            <a:pPr>
              <a:spcAft>
                <a:spcPts val="800"/>
              </a:spcAft>
            </a:pPr>
            <a:r>
              <a:rPr sz="1800">
                <a:solidFill>
                  <a:srgbClr val="1F2937"/>
                </a:solidFill>
                <a:latin typeface="Calibri"/>
              </a:rPr>
              <a:t>▸  Klapanni saqlovchi operatsiyada reimplantatsiya remodellashdan yaxshi, ayniqsa 10 yoshdan oshganlarda.</a:t>
            </a:r>
          </a:p>
          <a:p>
            <a:pPr>
              <a:spcAft>
                <a:spcPts val="800"/>
              </a:spcAft>
            </a:pPr>
            <a:r>
              <a:rPr sz="1800">
                <a:solidFill>
                  <a:srgbClr val="1F2937"/>
                </a:solidFill>
                <a:latin typeface="Calibri"/>
              </a:rPr>
              <a:t>▸  Jarrohlik ixtisoslashgan markazda o‘tkaziladi: asoratlar tez-tez uchraydi va ko‘p tizimli bo‘lishi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115190"/>
                <a:gridCol w="3172785"/>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Ko‘rsatma</a:t>
                      </a:r>
                    </a:p>
                  </a:txBody>
                  <a:tcPr marL="73152" marR="73152" marT="36576" marB="36576">
                    <a:solidFill>
                      <a:srgbClr val="0B1F3A"/>
                    </a:solidFill>
                  </a:tcPr>
                </a:tc>
              </a:tr>
              <a:tr h="411480">
                <a:tc>
                  <a:txBody>
                    <a:bodyPr/>
                    <a:lstStyle/>
                    <a:p>
                      <a:r>
                        <a:rPr sz="1300" b="0">
                          <a:solidFill>
                            <a:srgbClr val="1F2937"/>
                          </a:solidFill>
                        </a:rPr>
                        <a:t>Kattalar, xavf omilisiz</a:t>
                      </a:r>
                    </a:p>
                  </a:txBody>
                  <a:tcPr marL="73152" marR="73152" marT="36576" marB="36576">
                    <a:solidFill>
                      <a:srgbClr val="E8EEF6"/>
                    </a:solidFill>
                  </a:tcPr>
                </a:tc>
                <a:tc>
                  <a:txBody>
                    <a:bodyPr/>
                    <a:lstStyle/>
                    <a:p>
                      <a:r>
                        <a:rPr sz="1300" b="0">
                          <a:solidFill>
                            <a:srgbClr val="1F2937"/>
                          </a:solidFill>
                        </a:rPr>
                        <a:t>Aorta diametri ≥50 mm</a:t>
                      </a:r>
                    </a:p>
                  </a:txBody>
                  <a:tcPr marL="73152" marR="73152" marT="36576" marB="36576">
                    <a:solidFill>
                      <a:srgbClr val="E8EEF6"/>
                    </a:solidFill>
                  </a:tcPr>
                </a:tc>
              </a:tr>
              <a:tr h="411480">
                <a:tc>
                  <a:txBody>
                    <a:bodyPr/>
                    <a:lstStyle/>
                    <a:p>
                      <a:r>
                        <a:rPr sz="1300" b="0">
                          <a:solidFill>
                            <a:srgbClr val="1F2937"/>
                          </a:solidFill>
                        </a:rPr>
                        <a:t>Kattalar, xavf omili bor</a:t>
                      </a:r>
                    </a:p>
                  </a:txBody>
                  <a:tcPr marL="73152" marR="73152" marT="36576" marB="36576">
                    <a:solidFill>
                      <a:srgbClr val="FFFFFF"/>
                    </a:solidFill>
                  </a:tcPr>
                </a:tc>
                <a:tc>
                  <a:txBody>
                    <a:bodyPr/>
                    <a:lstStyle/>
                    <a:p>
                      <a:r>
                        <a:rPr sz="1300" b="0">
                          <a:solidFill>
                            <a:srgbClr val="1F2937"/>
                          </a:solidFill>
                        </a:rPr>
                        <a:t>Pastroq chegara: ≥45 mm</a:t>
                      </a:r>
                    </a:p>
                  </a:txBody>
                  <a:tcPr marL="73152" marR="73152" marT="36576" marB="36576">
                    <a:solidFill>
                      <a:srgbClr val="FFFFFF"/>
                    </a:solidFill>
                  </a:tcPr>
                </a:tc>
              </a:tr>
              <a:tr h="411480">
                <a:tc>
                  <a:txBody>
                    <a:bodyPr/>
                    <a:lstStyle/>
                    <a:p>
                      <a:r>
                        <a:rPr sz="1300" b="0">
                          <a:solidFill>
                            <a:srgbClr val="1F2937"/>
                          </a:solidFill>
                        </a:rPr>
                        <a:t>Xavf omili misollari</a:t>
                      </a:r>
                    </a:p>
                  </a:txBody>
                  <a:tcPr marL="73152" marR="73152" marT="36576" marB="36576">
                    <a:solidFill>
                      <a:srgbClr val="E8EEF6"/>
                    </a:solidFill>
                  </a:tcPr>
                </a:tc>
                <a:tc>
                  <a:txBody>
                    <a:bodyPr/>
                    <a:lstStyle/>
                    <a:p>
                      <a:r>
                        <a:rPr sz="1300" b="0">
                          <a:solidFill>
                            <a:srgbClr val="1F2937"/>
                          </a:solidFill>
                        </a:rPr>
                        <a:t>Oilada dissektsiya, &gt;3 mm/yil o‘sish</a:t>
                      </a:r>
                    </a:p>
                  </a:txBody>
                  <a:tcPr marL="73152" marR="73152" marT="36576" marB="36576">
                    <a:solidFill>
                      <a:srgbClr val="E8EEF6"/>
                    </a:solidFill>
                  </a:tcPr>
                </a:tc>
              </a:tr>
              <a:tr h="411480">
                <a:tc>
                  <a:txBody>
                    <a:bodyPr/>
                    <a:lstStyle/>
                    <a:p>
                      <a:r>
                        <a:rPr sz="1300" b="0">
                          <a:solidFill>
                            <a:srgbClr val="1F2937"/>
                          </a:solidFill>
                        </a:rPr>
                        <a:t>Bolalar</a:t>
                      </a:r>
                    </a:p>
                  </a:txBody>
                  <a:tcPr marL="73152" marR="73152" marT="36576" marB="36576">
                    <a:solidFill>
                      <a:srgbClr val="FFFFFF"/>
                    </a:solidFill>
                  </a:tcPr>
                </a:tc>
                <a:tc>
                  <a:txBody>
                    <a:bodyPr/>
                    <a:lstStyle/>
                    <a:p>
                      <a:r>
                        <a:rPr sz="1300" b="0">
                          <a:solidFill>
                            <a:srgbClr val="1F2937"/>
                          </a:solidFill>
                        </a:rPr>
                        <a:t>Yagona qo‘llanma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Operatsiya chegaralari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 (3.2.1-bo‘lim, Surgical management)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Klapanlar: mitral va trikuspid prolaps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Mitral qopqoq prolapsi (MVP) Marfan bolalarida 32–38%, kattalarda 40–68%, umumiy aholida 1–2% uchraydi.</a:t>
            </a:r>
          </a:p>
          <a:p>
            <a:pPr>
              <a:spcAft>
                <a:spcPts val="800"/>
              </a:spcAft>
            </a:pPr>
            <a:r>
              <a:rPr sz="1800">
                <a:solidFill>
                  <a:srgbClr val="1F2937"/>
                </a:solidFill>
                <a:latin typeface="Calibri"/>
              </a:rPr>
              <a:t>▸  Marfanda MVP bilan asorat xavfi 28%, idiopatik MVPda 13% (operatsiya, endokardit, yurak yetishmovchiligi).</a:t>
            </a:r>
          </a:p>
          <a:p>
            <a:pPr>
              <a:spcAft>
                <a:spcPts val="800"/>
              </a:spcAft>
            </a:pPr>
            <a:r>
              <a:rPr sz="1800">
                <a:solidFill>
                  <a:srgbClr val="1F2937"/>
                </a:solidFill>
                <a:latin typeface="Calibri"/>
              </a:rPr>
              <a:t>▸  Trikuspid qopqoq prolapsi (TVP) bolalarda 68,5% (89/130); og‘irroq fenotip belgisi bo‘lishi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Yosh</a:t>
                      </a:r>
                    </a:p>
                  </a:txBody>
                  <a:tcPr marL="73152" marR="73152" marT="36576" marB="36576">
                    <a:solidFill>
                      <a:srgbClr val="0B1F3A"/>
                    </a:solidFill>
                  </a:tcPr>
                </a:tc>
                <a:tc>
                  <a:txBody>
                    <a:bodyPr/>
                    <a:lstStyle/>
                    <a:p>
                      <a:r>
                        <a:rPr sz="1400" b="1">
                          <a:solidFill>
                            <a:srgbClr val="FFFFFF"/>
                          </a:solidFill>
                        </a:rPr>
                        <a:t>TVP, %</a:t>
                      </a:r>
                    </a:p>
                  </a:txBody>
                  <a:tcPr marL="73152" marR="73152" marT="36576" marB="36576">
                    <a:solidFill>
                      <a:srgbClr val="0B1F3A"/>
                    </a:solidFill>
                  </a:tcPr>
                </a:tc>
              </a:tr>
              <a:tr h="411480">
                <a:tc>
                  <a:txBody>
                    <a:bodyPr/>
                    <a:lstStyle/>
                    <a:p>
                      <a:r>
                        <a:rPr sz="1300" b="0">
                          <a:solidFill>
                            <a:srgbClr val="1F2937"/>
                          </a:solidFill>
                        </a:rPr>
                        <a:t>0–10 yosh</a:t>
                      </a:r>
                    </a:p>
                  </a:txBody>
                  <a:tcPr marL="73152" marR="73152" marT="36576" marB="36576">
                    <a:solidFill>
                      <a:srgbClr val="E8EEF6"/>
                    </a:solidFill>
                  </a:tcPr>
                </a:tc>
                <a:tc>
                  <a:txBody>
                    <a:bodyPr/>
                    <a:lstStyle/>
                    <a:p>
                      <a:r>
                        <a:rPr sz="1300" b="0">
                          <a:solidFill>
                            <a:srgbClr val="1F2937"/>
                          </a:solidFill>
                        </a:rPr>
                        <a:t>4%</a:t>
                      </a:r>
                    </a:p>
                  </a:txBody>
                  <a:tcPr marL="73152" marR="73152" marT="36576" marB="36576">
                    <a:solidFill>
                      <a:srgbClr val="E8EEF6"/>
                    </a:solidFill>
                  </a:tcPr>
                </a:tc>
              </a:tr>
              <a:tr h="411480">
                <a:tc>
                  <a:txBody>
                    <a:bodyPr/>
                    <a:lstStyle/>
                    <a:p>
                      <a:r>
                        <a:rPr sz="1300" b="0">
                          <a:solidFill>
                            <a:srgbClr val="1F2937"/>
                          </a:solidFill>
                        </a:rPr>
                        <a:t>10–20 yosh</a:t>
                      </a:r>
                    </a:p>
                  </a:txBody>
                  <a:tcPr marL="73152" marR="73152" marT="36576" marB="36576">
                    <a:solidFill>
                      <a:srgbClr val="FFFFFF"/>
                    </a:solidFill>
                  </a:tcPr>
                </a:tc>
                <a:tc>
                  <a:txBody>
                    <a:bodyPr/>
                    <a:lstStyle/>
                    <a:p>
                      <a:r>
                        <a:rPr sz="1300" b="0">
                          <a:solidFill>
                            <a:srgbClr val="1F2937"/>
                          </a:solidFill>
                        </a:rPr>
                        <a:t>17%</a:t>
                      </a:r>
                    </a:p>
                  </a:txBody>
                  <a:tcPr marL="73152" marR="73152" marT="36576" marB="36576">
                    <a:solidFill>
                      <a:srgbClr val="FFFFFF"/>
                    </a:solidFill>
                  </a:tcPr>
                </a:tc>
              </a:tr>
              <a:tr h="411480">
                <a:tc>
                  <a:txBody>
                    <a:bodyPr/>
                    <a:lstStyle/>
                    <a:p>
                      <a:r>
                        <a:rPr sz="1300" b="0">
                          <a:solidFill>
                            <a:srgbClr val="1F2937"/>
                          </a:solidFill>
                        </a:rPr>
                        <a:t>20–30 yosh</a:t>
                      </a:r>
                    </a:p>
                  </a:txBody>
                  <a:tcPr marL="73152" marR="73152" marT="36576" marB="36576">
                    <a:solidFill>
                      <a:srgbClr val="E8EEF6"/>
                    </a:solidFill>
                  </a:tcPr>
                </a:tc>
                <a:tc>
                  <a:txBody>
                    <a:bodyPr/>
                    <a:lstStyle/>
                    <a:p>
                      <a:r>
                        <a:rPr sz="1300" b="0">
                          <a:solidFill>
                            <a:srgbClr val="1F2937"/>
                          </a:solidFill>
                        </a:rPr>
                        <a:t>29%</a:t>
                      </a:r>
                    </a:p>
                  </a:txBody>
                  <a:tcPr marL="73152" marR="73152" marT="36576" marB="36576">
                    <a:solidFill>
                      <a:srgbClr val="E8EEF6"/>
                    </a:solidFill>
                  </a:tcPr>
                </a:tc>
              </a:tr>
              <a:tr h="411480">
                <a:tc>
                  <a:txBody>
                    <a:bodyPr/>
                    <a:lstStyle/>
                    <a:p>
                      <a:r>
                        <a:rPr sz="1300" b="0">
                          <a:solidFill>
                            <a:srgbClr val="1F2937"/>
                          </a:solidFill>
                        </a:rPr>
                        <a:t>30–40 yosh</a:t>
                      </a:r>
                    </a:p>
                  </a:txBody>
                  <a:tcPr marL="73152" marR="73152" marT="36576" marB="36576">
                    <a:solidFill>
                      <a:srgbClr val="FFFFFF"/>
                    </a:solidFill>
                  </a:tcPr>
                </a:tc>
                <a:tc>
                  <a:txBody>
                    <a:bodyPr/>
                    <a:lstStyle/>
                    <a:p>
                      <a:r>
                        <a:rPr sz="1300" b="0">
                          <a:solidFill>
                            <a:srgbClr val="1F2937"/>
                          </a:solidFill>
                        </a:rPr>
                        <a:t>32%</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TVP yosh bo‘yicha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Kardiomiopatiya va aritmiyalar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“Marfan kardiomiopatiyasi” tarqalishi 3–68%; ikki qorinchani qamrab, sistolik va diastolik buzilish beradi. Sababi fibrillin-1 anomaliyasi bo‘lishi mumkin.</a:t>
            </a:r>
          </a:p>
          <a:p>
            <a:pPr>
              <a:spcAft>
                <a:spcPts val="1200"/>
              </a:spcAft>
            </a:pPr>
            <a:r>
              <a:rPr sz="2000">
                <a:solidFill>
                  <a:srgbClr val="1F2937"/>
                </a:solidFill>
                <a:latin typeface="Calibri"/>
              </a:rPr>
              <a:t>▸  Qorinchalar va qorinchadan yuqori aritmiyalar klapan o‘zgarishisiz ham uchraydi; xavfli aritmiya 7–9%, to‘satdan yurak o‘limi 4% gacha.</a:t>
            </a:r>
          </a:p>
          <a:p>
            <a:pPr>
              <a:spcAft>
                <a:spcPts val="1200"/>
              </a:spcAft>
            </a:pPr>
            <a:r>
              <a:rPr sz="2000">
                <a:solidFill>
                  <a:srgbClr val="1F2937"/>
                </a:solidFill>
                <a:latin typeface="Calibri"/>
              </a:rPr>
              <a:t>▸  Tuzatilgan QT (QTc) &gt;440 ms bolalarning 9–20%ida, kattalarning 16–20%ida; aorta kengayishiga bog‘liq emas. QT uzaytiruvchi dorilarda ehtiyot bo‘ling.</a:t>
            </a:r>
          </a:p>
          <a:p>
            <a:pPr>
              <a:spcAft>
                <a:spcPts val="1200"/>
              </a:spcAft>
            </a:pPr>
            <a:r>
              <a:rPr sz="2000">
                <a:solidFill>
                  <a:srgbClr val="1F2937"/>
                </a:solidFill>
                <a:latin typeface="Calibri"/>
              </a:rPr>
              <a:t>▸  Xavfni baholashda qorincha ektopiyasi, qorinchalar taxikardiyasi, sistolik disfunksiya va NT-proBNP (miya natriuretik peptidi) hisobga olinadi; NT-proBNP eng kuchli.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Ko‘z va skelet ko‘rinishlari bolalarda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Gavhar siljishi (ektopiya linzy, EL) bolalarda 49% (25/52), 68%i ikki tomonlama; kattalarda taxminan 60%. EL faqat Marfanga xos emas.</a:t>
            </a:r>
          </a:p>
          <a:p>
            <a:pPr>
              <a:spcAft>
                <a:spcPts val="1200"/>
              </a:spcAft>
            </a:pPr>
            <a:r>
              <a:rPr sz="2200">
                <a:solidFill>
                  <a:srgbClr val="1F2937"/>
                </a:solidFill>
                <a:latin typeface="Calibri"/>
              </a:rPr>
              <a:t>▸  Miopiya &gt;3 dioptriya bolalarning 34,9%ida (nazoratda 12,9%); shox parda yassilashgan. Og‘ir miopiya gavhar siljishi uchun xavf belgisi.</a:t>
            </a:r>
          </a:p>
          <a:p>
            <a:pPr>
              <a:spcAft>
                <a:spcPts val="1200"/>
              </a:spcAft>
            </a:pPr>
            <a:r>
              <a:rPr sz="2200">
                <a:solidFill>
                  <a:srgbClr val="1F2937"/>
                </a:solidFill>
                <a:latin typeface="Calibri"/>
              </a:rPr>
              <a:t>▸  Ko‘krak deformatsiyasi 43% dan 62% gacha, skolioz 16% dan 59% gacha ortadi (0–6 dan 15–17 yoshgacha); bo‘y nazoratdan baland, ammo mezon emas.</a:t>
            </a:r>
          </a:p>
          <a:p>
            <a:pPr>
              <a:spcAft>
                <a:spcPts val="1200"/>
              </a:spcAft>
            </a:pPr>
            <a:r>
              <a:rPr sz="2200">
                <a:solidFill>
                  <a:srgbClr val="1F2937"/>
                </a:solidFill>
                <a:latin typeface="Calibri"/>
              </a:rPr>
              <a:t>▸  Ko‘z ko‘rigi tashxis paytida va kamida yiliga bir marta o‘tkaziladi; ko‘z o‘qi uzunligi va shox parda egriligini o‘lchash tavsiya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Marfan oilasidagi bola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ota-onasida FBN1 patogen variant topilgani uchun tekshirilgan bola. Genotipi musbat, fenotipi hozircha manfiy.</a:t>
            </a:r>
          </a:p>
          <a:p>
            <a:pPr>
              <a:spcAft>
                <a:spcPts val="1200"/>
              </a:spcAft>
            </a:pPr>
            <a:r>
              <a:rPr sz="2200">
                <a:solidFill>
                  <a:srgbClr val="1F2937"/>
                </a:solidFill>
                <a:latin typeface="Calibri"/>
              </a:rPr>
              <a:t>▸  Aorta ildizi Z-bali 2 va 3 orasida (kulrang zona). Belgisiz bolalarga exokardiografiya har 1–2 yilda tavsiya etiladi.</a:t>
            </a:r>
          </a:p>
          <a:p>
            <a:pPr>
              <a:spcAft>
                <a:spcPts val="1200"/>
              </a:spcAft>
            </a:pPr>
            <a:r>
              <a:rPr sz="2200">
                <a:solidFill>
                  <a:srgbClr val="1F2937"/>
                </a:solidFill>
                <a:latin typeface="Calibri"/>
              </a:rPr>
              <a:t>▸  Diqqat: Z-ball &gt;2 ≠ &gt;3. Bolalarda diagnostik chegara 3: o‘lchovdagi kichik farq Z-ballga katta ta’sir qiladi, yengil kengayish keyin yo‘qolishi mumkin.</a:t>
            </a:r>
          </a:p>
          <a:p>
            <a:pPr>
              <a:spcAft>
                <a:spcPts val="1200"/>
              </a:spcAft>
            </a:pPr>
            <a:r>
              <a:rPr sz="2200">
                <a:solidFill>
                  <a:srgbClr val="1F2937"/>
                </a:solidFill>
                <a:latin typeface="Calibri"/>
              </a:rPr>
              <a:t>▸  Savol: umrbod davo hozir boshlansinmi? Manbada normal aortali bolani oldindan umrbod davolash eng yaxshi variant bo‘lmasligi aytilgan; asosiy qoida — kuzatuv.</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Vaskulyar Ehlers-Danlos sindromi (vEDS)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vEDS — COL3A1 genidagi mutatsiya (III tip kollagenning α1 zanjiri) sabab bo‘ladigan og‘ir, ko‘p tizimli biriktiruvchi to‘qima kasalligi; autosomal dominant.</a:t>
            </a:r>
          </a:p>
          <a:p>
            <a:pPr>
              <a:spcAft>
                <a:spcPts val="1200"/>
              </a:spcAft>
            </a:pPr>
            <a:r>
              <a:rPr sz="2000">
                <a:solidFill>
                  <a:srgbClr val="1F2937"/>
                </a:solidFill>
                <a:latin typeface="Calibri"/>
              </a:rPr>
              <a:t>▸  Xavf: o‘rta va yirik arteriyalar, ichak, homilador bachadon, jigar va taloq yorilishi mumkin. Homiladorlikda aorta yorilishi ayollarda o‘limning eng ko‘p sababi.</a:t>
            </a:r>
          </a:p>
          <a:p>
            <a:pPr>
              <a:spcAft>
                <a:spcPts val="1200"/>
              </a:spcAft>
            </a:pPr>
            <a:r>
              <a:rPr sz="2000">
                <a:solidFill>
                  <a:srgbClr val="1F2937"/>
                </a:solidFill>
                <a:latin typeface="Calibri"/>
              </a:rPr>
              <a:t>▸  Tarqalishi taxminan 1:20 000–50 000 (manbada yozuv noaniq). Umr ko‘rish davomiyligi bir necha o‘n yilga qisqarib, taxminan 50 yoshni tashkil qiladi. (?)</a:t>
            </a:r>
          </a:p>
          <a:p>
            <a:pPr>
              <a:spcAft>
                <a:spcPts val="1200"/>
              </a:spcAft>
            </a:pPr>
            <a:r>
              <a:rPr sz="2000">
                <a:solidFill>
                  <a:srgbClr val="1F2937"/>
                </a:solidFill>
                <a:latin typeface="Calibri"/>
              </a:rPr>
              <a:t>▸  Belgilar: oson ko‘karish, yupqa shaffof teri, ko‘rinib turuvchi venalar, o‘ziga xos yuz, spontan pnevmotoraks, erta varikoz, kichik bo‘g‘imlar giperharakatchanligi.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III tip kollagen: sintez va yig‘ilish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Uchta α1(III) zanjir COL3A1 geni bilan kodlanadi va gomotrimer hosil qiladi.</a:t>
            </a:r>
          </a:p>
          <a:p>
            <a:pPr>
              <a:spcAft>
                <a:spcPts val="800"/>
              </a:spcAft>
            </a:pPr>
            <a:r>
              <a:rPr sz="1800">
                <a:solidFill>
                  <a:srgbClr val="1F2937"/>
                </a:solidFill>
                <a:latin typeface="Calibri"/>
              </a:rPr>
              <a:t>▸  Har uchinchi qoldiq glitsin (Gly-Xaa-Yaa); mutatsiyalar ko‘pincha aynan glitsinga tegadi.</a:t>
            </a:r>
          </a:p>
          <a:p>
            <a:pPr>
              <a:spcAft>
                <a:spcPts val="800"/>
              </a:spcAft>
            </a:pPr>
            <a:r>
              <a:rPr sz="1800">
                <a:solidFill>
                  <a:srgbClr val="1F2937"/>
                </a:solidFill>
                <a:latin typeface="Calibri"/>
              </a:rPr>
              <a:t>▸  Propeptidlar kesilgach, III tip kollagen I tip bilan heterotipik fibrilla hosil qiladi.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Uchta proα1(III) zanjir sintezi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 gidroksillanish, buklanish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Uch spiral: C→N yo‘nalishda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Golji/ECM: propeptid kesilishi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I:III heterotipik fibrilla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III tip kollagen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COL3A1 mutatsiyalari va genotip-fenotip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Glitsin almashinuvi (~65%) va splays-sayt variantlari (~25%) COL3A1 mutatsiyalarining asosini tashkil etadi.</a:t>
            </a:r>
          </a:p>
          <a:p>
            <a:pPr>
              <a:spcAft>
                <a:spcPts val="800"/>
              </a:spcAft>
            </a:pPr>
            <a:r>
              <a:rPr sz="1800">
                <a:solidFill>
                  <a:srgbClr val="1F2937"/>
                </a:solidFill>
                <a:latin typeface="Calibri"/>
              </a:rPr>
              <a:t>▸  Nol-mutatsiyalarda asoratlar ikki o‘n yilga kech boshlanadi, penetrantlik past, asosan qon tomir hodisalari.</a:t>
            </a:r>
          </a:p>
          <a:p>
            <a:pPr>
              <a:spcAft>
                <a:spcPts val="800"/>
              </a:spcAft>
            </a:pPr>
            <a:r>
              <a:rPr sz="1800">
                <a:solidFill>
                  <a:srgbClr val="1F2937"/>
                </a:solidFill>
                <a:latin typeface="Calibri"/>
              </a:rPr>
              <a:t>▸  Diqqat: glitsinni yirik radikal bilan almashtirish og‘irroq, kichik radikal (alanin, serin, sistein) yengilroq kechadi.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291455"/>
                <a:gridCol w="2996519"/>
              </a:tblGrid>
              <a:tr h="411480">
                <a:tc>
                  <a:txBody>
                    <a:bodyPr/>
                    <a:lstStyle/>
                    <a:p>
                      <a:r>
                        <a:rPr sz="1400" b="1">
                          <a:solidFill>
                            <a:srgbClr val="FFFFFF"/>
                          </a:solidFill>
                        </a:rPr>
                        <a:t>Variant turi</a:t>
                      </a:r>
                    </a:p>
                  </a:txBody>
                  <a:tcPr marL="73152" marR="73152" marT="36576" marB="36576">
                    <a:solidFill>
                      <a:srgbClr val="0B1F3A"/>
                    </a:solidFill>
                  </a:tcPr>
                </a:tc>
                <a:tc>
                  <a:txBody>
                    <a:bodyPr/>
                    <a:lstStyle/>
                    <a:p>
                      <a:r>
                        <a:rPr sz="1400" b="1">
                          <a:solidFill>
                            <a:srgbClr val="FFFFFF"/>
                          </a:solidFill>
                        </a:rPr>
                        <a:t>Kechishi</a:t>
                      </a:r>
                    </a:p>
                  </a:txBody>
                  <a:tcPr marL="73152" marR="73152" marT="36576" marB="36576">
                    <a:solidFill>
                      <a:srgbClr val="0B1F3A"/>
                    </a:solidFill>
                  </a:tcPr>
                </a:tc>
              </a:tr>
              <a:tr h="411480">
                <a:tc>
                  <a:txBody>
                    <a:bodyPr/>
                    <a:lstStyle/>
                    <a:p>
                      <a:r>
                        <a:rPr sz="1300" b="0">
                          <a:solidFill>
                            <a:srgbClr val="1F2937"/>
                          </a:solidFill>
                        </a:rPr>
                        <a:t>Ekzon-skipping splays-sayt</a:t>
                      </a:r>
                    </a:p>
                  </a:txBody>
                  <a:tcPr marL="73152" marR="73152" marT="36576" marB="36576">
                    <a:solidFill>
                      <a:srgbClr val="E8EEF6"/>
                    </a:solidFill>
                  </a:tcPr>
                </a:tc>
                <a:tc>
                  <a:txBody>
                    <a:bodyPr/>
                    <a:lstStyle/>
                    <a:p>
                      <a:r>
                        <a:rPr sz="1300" b="0">
                          <a:solidFill>
                            <a:srgbClr val="1F2937"/>
                          </a:solidFill>
                        </a:rPr>
                        <a:t>Omon qolish medianasi eng past</a:t>
                      </a:r>
                    </a:p>
                  </a:txBody>
                  <a:tcPr marL="73152" marR="73152" marT="36576" marB="36576">
                    <a:solidFill>
                      <a:srgbClr val="E8EEF6"/>
                    </a:solidFill>
                  </a:tcPr>
                </a:tc>
              </a:tr>
              <a:tr h="411480">
                <a:tc>
                  <a:txBody>
                    <a:bodyPr/>
                    <a:lstStyle/>
                    <a:p>
                      <a:r>
                        <a:rPr sz="1300" b="0">
                          <a:solidFill>
                            <a:srgbClr val="1F2937"/>
                          </a:solidFill>
                        </a:rPr>
                        <a:t>Glitsin → yirik radikal</a:t>
                      </a:r>
                    </a:p>
                  </a:txBody>
                  <a:tcPr marL="73152" marR="73152" marT="36576" marB="36576">
                    <a:solidFill>
                      <a:srgbClr val="FFFFFF"/>
                    </a:solidFill>
                  </a:tcPr>
                </a:tc>
                <a:tc>
                  <a:txBody>
                    <a:bodyPr/>
                    <a:lstStyle/>
                    <a:p>
                      <a:r>
                        <a:rPr sz="1300" b="0">
                          <a:solidFill>
                            <a:srgbClr val="1F2937"/>
                          </a:solidFill>
                        </a:rPr>
                        <a:t>Og‘ir (arginin, valin va b.)</a:t>
                      </a:r>
                    </a:p>
                  </a:txBody>
                  <a:tcPr marL="73152" marR="73152" marT="36576" marB="36576">
                    <a:solidFill>
                      <a:srgbClr val="FFFFFF"/>
                    </a:solidFill>
                  </a:tcPr>
                </a:tc>
              </a:tr>
              <a:tr h="411480">
                <a:tc>
                  <a:txBody>
                    <a:bodyPr/>
                    <a:lstStyle/>
                    <a:p>
                      <a:r>
                        <a:rPr sz="1300" b="0">
                          <a:solidFill>
                            <a:srgbClr val="1F2937"/>
                          </a:solidFill>
                        </a:rPr>
                        <a:t>Glitsin → kichik radikal</a:t>
                      </a:r>
                    </a:p>
                  </a:txBody>
                  <a:tcPr marL="73152" marR="73152" marT="36576" marB="36576">
                    <a:solidFill>
                      <a:srgbClr val="E8EEF6"/>
                    </a:solidFill>
                  </a:tcPr>
                </a:tc>
                <a:tc>
                  <a:txBody>
                    <a:bodyPr/>
                    <a:lstStyle/>
                    <a:p>
                      <a:r>
                        <a:rPr sz="1300" b="0">
                          <a:solidFill>
                            <a:srgbClr val="1F2937"/>
                          </a:solidFill>
                        </a:rPr>
                        <a:t>Yengilroq (alanin, serin, sistein)</a:t>
                      </a:r>
                    </a:p>
                  </a:txBody>
                  <a:tcPr marL="73152" marR="73152" marT="36576" marB="36576">
                    <a:solidFill>
                      <a:srgbClr val="E8EEF6"/>
                    </a:solidFill>
                  </a:tcPr>
                </a:tc>
              </a:tr>
              <a:tr h="411480">
                <a:tc>
                  <a:txBody>
                    <a:bodyPr/>
                    <a:lstStyle/>
                    <a:p>
                      <a:r>
                        <a:rPr sz="1300" b="0">
                          <a:solidFill>
                            <a:srgbClr val="1F2937"/>
                          </a:solidFill>
                        </a:rPr>
                        <a:t>Nol-mutatsiya</a:t>
                      </a:r>
                    </a:p>
                  </a:txBody>
                  <a:tcPr marL="73152" marR="73152" marT="36576" marB="36576">
                    <a:solidFill>
                      <a:srgbClr val="FFFFFF"/>
                    </a:solidFill>
                  </a:tcPr>
                </a:tc>
                <a:tc>
                  <a:txBody>
                    <a:bodyPr/>
                    <a:lstStyle/>
                    <a:p>
                      <a:r>
                        <a:rPr sz="1300" b="0">
                          <a:solidFill>
                            <a:srgbClr val="1F2937"/>
                          </a:solidFill>
                        </a:rPr>
                        <a:t>Kech boshlanish, past penetrantlik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Variant turi va kechishi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vEDS patogenezi va davo yondashuvlari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Hujayradan tashqari kollagen III kamayishi aniq; ER stress roli esa noaniq, sabab yoki oqibatligi bahsli.</a:t>
            </a:r>
          </a:p>
          <a:p>
            <a:pPr>
              <a:spcAft>
                <a:spcPts val="800"/>
              </a:spcAft>
            </a:pPr>
            <a:r>
              <a:rPr sz="1800">
                <a:solidFill>
                  <a:srgbClr val="1F2937"/>
                </a:solidFill>
                <a:latin typeface="Calibri"/>
              </a:rPr>
              <a:t>▸  Sichqonlarda PLC/IP3/PKC/ERK yo‘lini to‘sish o‘limni kamaytirdi; homiladorlikda oksitotsin signali ahamiyatli.</a:t>
            </a:r>
          </a:p>
          <a:p>
            <a:pPr>
              <a:spcAft>
                <a:spcPts val="800"/>
              </a:spcAft>
            </a:pPr>
            <a:r>
              <a:rPr sz="1800">
                <a:solidFill>
                  <a:srgbClr val="1F2937"/>
                </a:solidFill>
                <a:latin typeface="Calibri"/>
              </a:rPr>
              <a:t>▸  Selioprolol FDA tasdig‘ini olmadi; MMP-inhibitor va gen terapiyasi hali tadqiqot bosqichida.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COL3A1 mutatsiyasi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Kollagen III kamayishi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ECM nuqsoni, MMP ortishi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PLC/IP3/PKC/ERK faollashishi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Aorta yorilishi xavfi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Patogenez zanjiri (soddalashtirilgan)</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vEDS va homiladorlik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vEDS tashxisli homilador ayol. Homiladorlik bilan bog‘liq aorta yorilishi bu yoshdagi vEDS ayollarida o‘limning eng ko‘p sababi.</a:t>
            </a:r>
          </a:p>
          <a:p>
            <a:pPr>
              <a:spcAft>
                <a:spcPts val="1200"/>
              </a:spcAft>
            </a:pPr>
            <a:r>
              <a:rPr sz="2200">
                <a:solidFill>
                  <a:srgbClr val="1F2937"/>
                </a:solidFill>
                <a:latin typeface="Calibri"/>
              </a:rPr>
              <a:t>▸  Sichqonlarda PLC/IP3/PKC/ERK yo‘li homiladorlik va laktatsiyada kuchaydi; oksitotsin retseptori antagonisti va bolalarni darhol olib qo‘yish 95% tirik qolishni berdi.</a:t>
            </a:r>
          </a:p>
          <a:p>
            <a:pPr>
              <a:spcAft>
                <a:spcPts val="1200"/>
              </a:spcAft>
            </a:pPr>
            <a:r>
              <a:rPr sz="2200">
                <a:solidFill>
                  <a:srgbClr val="1F2937"/>
                </a:solidFill>
                <a:latin typeface="Calibri"/>
              </a:rPr>
              <a:t>▸  Hozirgi davo simptomatik: qon bosimini normada tutish (ARB, β-blokerlar). Sichqonlarda losartan va propranolol bosimni tushirdi, ammo yorilishni kamaytirmadi.</a:t>
            </a:r>
          </a:p>
          <a:p>
            <a:pPr>
              <a:spcAft>
                <a:spcPts val="1200"/>
              </a:spcAft>
            </a:pPr>
            <a:r>
              <a:rPr sz="2200">
                <a:solidFill>
                  <a:srgbClr val="1F2937"/>
                </a:solidFill>
                <a:latin typeface="Calibri"/>
              </a:rPr>
              <a:t>▸  Savol: nega faqat bosimni tushirish yetarli bo‘lmasligi mumkin va laktatsiya davri nima uchun xavfli deb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Omar R va boshq., Four decades in the making: Collagen III and mechanisms of vascular Ehlers Danlos Syndrome, betlar: PMID 34849481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xabarlar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BTDda chap qorincha yolg‘on iplari (LVFT) uchraydi. Yuklamani belgilashdan oldin VO2max (maksimal kislorod iste’moli) va QTc (tuzatilgan QT) ga urg‘u bilan individual skrining zarur.</a:t>
            </a:r>
          </a:p>
          <a:p>
            <a:pPr>
              <a:spcAft>
                <a:spcPts val="1200"/>
              </a:spcAft>
            </a:pPr>
            <a:r>
              <a:rPr sz="2000">
                <a:solidFill>
                  <a:srgbClr val="1F2937"/>
                </a:solidFill>
                <a:latin typeface="Calibri"/>
              </a:rPr>
              <a:t>▸  Qon tomir Ehlers-Danlos sindromida (vEDS) COL3A1 mutatsiyasi arteriyalar yorilishiga olib keladi. Hozirgi davo asosan simptomatik: qon bosimini nazorat qilish.</a:t>
            </a:r>
          </a:p>
          <a:p>
            <a:pPr>
              <a:spcAft>
                <a:spcPts val="1200"/>
              </a:spcAft>
            </a:pPr>
            <a:r>
              <a:rPr sz="2000">
                <a:solidFill>
                  <a:srgbClr val="1F2937"/>
                </a:solidFill>
                <a:latin typeface="Calibri"/>
              </a:rPr>
              <a:t>▸  Marfanda (FBN1) aorta ildizi kengayadi, mitral prolaps va aritmiya uchraydi. β-blokator va angiotenzin retseptorlari blokatorlari (ARB) kengayishni sekinlashtiradi.</a:t>
            </a:r>
          </a:p>
          <a:p>
            <a:pPr>
              <a:spcAft>
                <a:spcPts val="1200"/>
              </a:spcAft>
            </a:pPr>
            <a:r>
              <a:rPr sz="2000">
                <a:solidFill>
                  <a:srgbClr val="1F2937"/>
                </a:solidFill>
                <a:latin typeface="Calibri"/>
              </a:rPr>
              <a:t>▸  Marfan bolalarida belgilar yosh bilan paydo bo‘ladi. Shu sabab yurak, ko‘z va suyak-mushak tizimini qamragan ko‘p tarmoqli, muntazam kuzatuv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Vinokurova K va boshq., Cardiovascular Functioning Features in Individuals with Connective Tissue Dysplasia Engaged in Sports for the Disabled, betlar: PMID 41745671; Omar R va boshq., Four decades in the making: Collagen III and mechanisms of vascular Ehlers Danlos Syndrome, betlar: PMID 34849481; Anwar Baban va boshq., Unique Features of Cardiovascular Involvement and Progression in Children with Marfan Syndrome Justify Dedicated Multidisciplinary Care, betlar: PMID 38667733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biriktiruvchi to‘qima displaziyasi (BTD) ko‘prikdagi qo‘shimcha to‘sinlarga o‘xshaydi. Kollagen sintezi buzilganda to‘qima qattiqligi pasayadi, organ ichida qo‘shimcha biriktiruvchi tuzilmalar paydo bo‘lib mustahkamlikni oshiradi. Yurakda bular chap qorinchadagi soxta tendinlardir. Tekshirilgan 610 nafar sportchining barchasida 2 tadan 5 tagacha soxta tendin topilgan.</a:t>
            </a:r>
          </a:p>
          <a:p>
            <a:pPr>
              <a:spcAft>
                <a:spcPts val="1200"/>
              </a:spcAft>
            </a:pPr>
            <a:r>
              <a:rPr sz="1800">
                <a:solidFill>
                  <a:srgbClr val="1F2937"/>
                </a:solidFill>
                <a:latin typeface="Calibri"/>
              </a:rPr>
              <a:t>▸  Hodisa tahlili: III tur prokollagen gomotrimer, ya’ni uch bir xil zanjirdan iborat. Normal va mutant α1(III) zanjirlar teng miqdorda sintezlansa, gomotrimerlarning sakkizdan yettisi nuqsonli bo‘ladi. Bu mantiq nega bitta mutant gen vaskulyar Elers–Danlos sindromida arteriya yorilishiga olib kelishini tushuntiradi. Eslab qolish: 2×2×2 = 8 kombinatsiya, faqat bittasi toza (uchala zanjir normal).</a:t>
            </a:r>
          </a:p>
          <a:p>
            <a:pPr>
              <a:spcAft>
                <a:spcPts val="1200"/>
              </a:spcAft>
            </a:pPr>
            <a:r>
              <a:rPr sz="1800">
                <a:solidFill>
                  <a:srgbClr val="1F2937"/>
                </a:solidFill>
                <a:latin typeface="Calibri"/>
              </a:rPr>
              <a:t>▸  Diqqat, xato qilish xavfi: Z-ball 2 va Z-ball 3 bir narsa emas. Umumiy aholining 2,3 foizida aorta ildizi Z-balli 2 dan yuqori, 0,13 foizida 3 dan yuqori. Bolalarda Marfan sindromi tashxisi uchun chegara 3 etib belgilangan, chunki o‘lchashdagi kichik farq bolada Z-ballni kattaroq o‘zgartiradi. 2 bilan 3 oralig‘idagi bolalar har 1–2 yilda exokardiografiya bilan kuzatiladi.</a:t>
            </a:r>
          </a:p>
          <a:p>
            <a:pPr>
              <a:spcAft>
                <a:spcPts val="1200"/>
              </a:spcAft>
            </a:pPr>
            <a:r>
              <a:rPr sz="1800">
                <a:solidFill>
                  <a:srgbClr val="1F2937"/>
                </a:solidFill>
                <a:latin typeface="Calibri"/>
              </a:rPr>
              <a:t>▸  Eslab qolish: Marfan sindromining uch asosiy nuqtasi — yurak-qon tomir, ko‘z va skelet (Y–K–S). Yurak-qon tomirda aorta ildizining kengayishi, ko‘zda linza ektopiyasi, skeletda tizimli ball belgilari yetakchi. Bolalarda belgilar yoshga qarab keyinroq namoyon bo‘lishi mumkin (yoshga bog‘liq penetrantlik), shuning uchun kuzatuv muntazam bo‘lishi kerak.</a:t>
            </a:r>
          </a:p>
          <a:p>
            <a:pPr>
              <a:spcAft>
                <a:spcPts val="1200"/>
              </a:spcAft>
            </a:pPr>
            <a:r>
              <a:rPr sz="1800">
                <a:solidFill>
                  <a:srgbClr val="1F2937"/>
                </a:solidFill>
                <a:latin typeface="Calibri"/>
              </a:rPr>
              <a:t>▸  Hodisa tahlili: nogiron sportchilarda yurak zaxirasiga nogironlik turidan ko‘ra sport turi kuchliroq ta’sir qilgan. VO2max (maksimal kislorod iste’moli) uchun effekt hajmi sport turida η² = 0,158, nozologiyada 0,072. QTc uchun sport turida ε² = 0,146, nozologiyada 0,018. Amaliy xulosa: mashq yuklamasini belgilashdan oldin har bir sportchiga individual kardiologik skrining kerak, unda VO2max va QTc ko‘rsatkichlariga e’tibor beriladi.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22 ta test savoli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Para-sportchining exokardiografiyasida chap qorinchada 3 ta yo‘g‘on ko‘ndalang soxta tola topildi, tinch holatda yurak funksiyasi normada. Bu topilma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O‘tkir miokardit belgisi, sportdan darhol chetlatish shart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BTD belgisi; tinch holatda funksiya normada, patologiya emas</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Qorinchalararo to‘siqning tug‘ma teshigi, jarrohlik zarur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tomir devori yorilishining aniq va yagona belgisi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Biriktiruvchi to‘qima displaziyasi (BTD) qaysi biologik jarayon buzilishi bilan bog‘liq deb ta’riflanadi?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qon tomir devoridagi elastin yetishmovchiligi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Miokard hujayralaridagi ion kanallari mutatsiyasi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Qorinchalar orasidagi to‘siqning tug‘ma rivojlanmasligi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Kollagen sintezining tug‘ma buzilishi bilan bog‘liq holat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Sportchining tinch holatdagi EKGsida yurak urish soni daqiqasiga 52 marta. QT intervalini tuzatish uchun qaysi formula qo‘llanadi?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Framingham formulasi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Bazett formulasi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Biplanar Simpson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ACSM tenglamasi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tadqiqotga kiritish mezonini so‘radi. Chap qorinchada kamida nechta ko‘ndalang yoki qiyshiq soxta tola bo‘lishi kerak edi?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Kamida bitta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Kamida uchta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Kamida ikkita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Kamida beshta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Nogironlik aravachasidagi sportchida ortotest o‘tkazib bo‘lmadi. Gemodinamik monitoring qaysi tana holatida o‘lchandi?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tik turgan holatda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yotgan holatda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o‘tirgan holatda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Yotgan va tik holatda ikkalasida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qorincha hajmlarini (EDV, ESV) va chiqarish fraksiyasini aniqlamoqchi. Tadqiqotda chap qorincha kamerasini baholash uchun qaysi usul qo‘llangan?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Impedans kardiografiya usuli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Harvard step-test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Biplanar Simpson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Tik turgan holatdagi ortotest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Nogironlik aravachasidagi sportchiga gemodinamik monitoring o‘tkazilmoqda va ortotestni bajarib bo‘lmaydi. O‘lchovlar qaysi holatda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tik turgan holatda o‘lchanadi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o‘tirgan holatda o‘lchanadi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yotgan holatda o‘lchanadi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yurish paytida o‘lchanadi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Sportchining imkoniyati cheklangani sababli gaz almashinuvi analizatori bilan sinov o‘tkazib bo‘lmadi. Uning VO2max ko‘rsatkichi qanday aniqlangan?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QT oralig‘idan Bazett formulasi bilan hisoblab</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ACSM tenglamasi bilan yuk va antropometriyadan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Qorincha hajmidan Simpson usuli bilan hisoblab</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Ortotestdagi qon bosimi o‘zgarishidan hisoblab</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Para-xokkey o‘yinchisida VO2max 32 mL·kg⁻¹·min⁻¹ topildi. Bu qiymat tadqiqotdagi sport turlarining mediana qiymatlari orasida qayerga to‘g‘ri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Eng past mediana oralig‘iga to‘g‘ri keladi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Chang‘i poygasi medianasiga yaqin keladi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Para-suzish medianasiga yaqin keladi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Para-futbol medianasiga yaqin keladi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omillarning ta’sir kuchini solishtirmoqda. Qaysi omil va ko‘rsatkich juftligida effekt hajmi eng kichik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Sport turi va VO2max (η² = 0,158)</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Sport turi va QTc (ε² = 0,146)</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Nosologiya va VO2max (η² = 0,072)</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Nosologiya va QTc (ε² = 0,018)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Marfan sindromini keltirib chiqaradigan FBN1 geni odam genomida qayerda joylashgan?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12-xromosomaning uzun yelkasida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15-xromosomaning qisqa yelkasida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15-xromosomaning uzun yelkasida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5-xromosomaning uzun yelkasida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Oilada MFS yo‘q 9 yoshli bolada aorta ildizi Z-balli 2,4, ko‘zda esa gavhar ektopiyasi bor. Ghent mezonlari (2010) bo‘yicha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MFS tasdiqlanmaydi, chunki bolalarda Z-ball kamida 3 bo‘lishi shart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MFS tasdiqlanadi, chunki oila anamnezi salbiy, Z-ball ≥2 va ektopiya bor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MFS faqat tizimli ball ≥7 bo‘lganda tasdiqlanadi, boshqa yo‘l yo‘q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MFS faqat 20 yoshdan keyin takroriy tekshiruvda tasdiqlanishi mumkin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Chaqaloqda hayotning dastlabki yillarida mitral va trikuspidal regurgitatsiya hamda aorta ildizi kengayishi aniqlandi (erta boshlanuvchi MFS). Odatda o‘limning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Aorta ajralishi yoki yorilishi, xuddi klassik shakldagi kabi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Ko‘z gavharining to‘liq ko‘chishidan kelib chiqqan asoratlar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Skolioz tufayli o‘pka funksiyasining keskin buzilishi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Massiv klapan regurgitatsiyasidan keyingi yurak yetishmovchiligi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 belgilari yo‘q 7 yoshli bolada aorta ildizi Z-balli 2 va 3 oralig‘ida (kulrang zona). Qaysi kuzatuv taktikasi tavsiya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Har 1–2 yilda exokardiografik nazorat o‘tkazish tavsiya etiladi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Hech qanday nazorat kerak emas, chunki bola amalda sog‘lom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Aorta ildizini zudlik bilan jarrohlik yo‘li bilan almashtirish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Birinchi exokardiografiyani faqat 20 yoshdan keyin o‘tkazish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Dori davosi olayotgan MFS bolalarida aorta ildizining kutiladigan o‘rtacha o‘sish tezligi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0,1 mm/yil, sog‘lom odamlardagi kabi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0,3–0,7 mm/yil, kattalardagi kabi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0,5–0,8 mm/yil, ba’zan undan tezroq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3 mm/yil, har doim shu tezlikda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Aorta ildizi kengaygan 13 yoshli MFS bemor sport turini tanlamoqda. Qaysi faollik eng mos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Regbi kabi kontakt sport turida jamoaviy musobaqalarda qatnashish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Past yoki o‘rta intensivlikdagi aerob mashqlar, zo‘riqishsiz bajarish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Og‘ir shtanga bilan zo‘riqib bajariladigan izometrik mashqlar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Puflama cholg‘u asbobida professional darajada va zo‘riqib chalish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Marfan sindromi bor 10 yoshli bolada exokardiografiyada trikuspid klapan prolapsi topildi. Qaysi yondashuv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Ahamiyatsiz topilma, keyingi exokardiografiya shart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Og‘ir fenotip belgisi bo‘lishi mumkin, muntazam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Aorta kengaymasligini bildiradi, kuzatuv to‘xtatiladi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Jarrohlik uchun mutlaq ko‘rsatma, darhol operatsiya qilinadi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Marfan sindromli 12 yoshli bolada korreksiyalangan QT intervali (QTc) 450 ms chiqdi. Dori tanlashda nimaga e’tibor beriladi?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QT ni uzaytiradigan, aritmiya chaqiruvchi dorilardan ehtiyot bo‘lish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Aorta ildizi o‘lchamiga qarab har qanday dorini erkin qo‘llash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Mitral prolaps bo‘lmasa, QT o‘zgarishini hisobga olmaslik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QT uzayishi faqat chap qorincha disfunksiyasida bo‘ladi, deb bilish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28 yoshli vEDS bemor ayol homiladorlikni rejalashtirmoqda. Bunday ayollarda o‘limning eng ko‘p sababi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Spontan pnevmotoraksning qaytalanishi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Tug‘ma son chiqishining asoratlari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Milk mo‘rtligidan kelib chiqqan sepsis</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Homiladorlik bilan bog‘liq aorta yorilishi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COL3A1 mutatsiyalarining taxminan 65% i qaysi turga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Ekzonni o‘tkazib yuborishga olib keluvchi splays-sayt variantlari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Muddatidan oldin to‘xtash kodoni hosil qiluvchi o‘zgarishlar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Uch spiralli sohadagi glitsin almashinuvlari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Qisqa ramka ichidagi delesiyalar yoki insertsiyalar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21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Marfan sindromli 8 yoshli bolada og‘ir miopiya aniqlandi. U qaysi ko‘z asoratining ‘qizil bayrog‘i’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To‘r pardaning ajralishi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Linza ektopiyasi (siljishi)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Birlamchi ochiq burchakli glaukoma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Shox parda yallig‘lanishi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22 / 22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Marfan sindromli bola uchun mitral klapan prolapsi haqida qaysi fikr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Bolalarda uchramaydi, faqat kattalarda aniqlanadi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Bolalarning taxminan 32–38% ida uchraydi, yoshga bog‘liq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Umumiy aholidagi kabi 1–2% hollarda uchraydi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o‘g‘il bolalarda uchraydi, qizlarda kuzatilmaydi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BTD belgisi; tinch holatda funksiya normada, patologiya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Soxta tolalar biriktiruvchi to‘qima displaziyasining (BTD) kuchli markeri hisoblanadi. Zamonaviy kardiologiya ularni patologik topilma deb bilmaydi, chunki tinch holatda yurak funksiyasi normada qoladi. Farq yuklama paytida, yurakning funksional zahirasida seziladi.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 DOI 10.3390/sports14020069-bet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Kollagen sintezining tug‘ma buzilishi bilan bog‘liq holat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Maqolada BTD kollagen sintezining buzilishi bilan bog‘liq holat sifatida ta’riflanadi. Yurakda, birinchi navbatda chap qorinchada, u qo‘shimcha soxta tolalar hosil bo‘lishi bilan namoyon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 DOI 10.3390/sports14020069-bet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Framingham formulasi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Tadqiqotda Bazett formulasi (QTc = QT/√RR) 60–100 urish/daq oralig‘ida tanlangan. Yurak urish soni 60 dan past yoki 100 dan yuqori bo‘lsa, Framingham formulasi (QTc = QT + 0,154 × (1 − RR)) qo‘llangan. Simpson usuli exokardiografiyada qorincha hajmini, ACSM tenglamasi VO2max ni hisoblash uchun ishlatiladi.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 DOI 10.3390/sports14020069-bet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Kamida ikkita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Tadqiqot guruhiga 6 yoshdan 60 yoshgacha bo‘lgan 610 nafar nogironligi bor shaxs kiritilgan. Ularning har birining chap qorinchasida kamida ikkita ko‘ndalang va/yoki qiyshiq soxta tola bo‘lgan. Topilgan tolalar soni 2 dan 5 gacha (o‘rtacha 3,4 ± 1) bo‘lgan.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 DOI 10.3390/sports14020069-bet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Faqat yotgan holatda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Impedans kardiografiya faol ortotestda o‘tkazilgan. Aravachadagi 60 nafar ishtirokchida ortotestni bajarib bo‘lmagani uchun gemodinamik o‘lchovlar faqat yotgan holatda olingan.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 DOI 10.3390/sports14020069-bet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Biplanar Simpson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Transtorakal exokardiografiyada chap qorincha kamerasini hisoblash uchun biplanar Simpson usuli (to‘rt kamerali va ikki kamerali kesimlar) qo‘llangan. Impedans kardiografiya gemodinamik monitoring uchun, Harvard step-test 12 yoshgacha bo‘lgan bolalarda yuklama sinovi uchun ishlatilgan.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 DOI 10.3390/sports14020069-bet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Faqat yotgan holatda o‘lchanadi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Aravachadagi 60 nafar ishtirokchi ortotestni bajara olmagan. Shuning uchun ularda gemodinamik o‘lchovlar faqat yotgan holatda olingan.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ACSM tenglamasi bilan yuk va antropometriyadan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VO2max 466 kishida to‘g‘ridan-to‘g‘ri gaz analizatori bilan o‘lchangan. 144 kishida esa ACSM tenglamasi bilan yuk yoki tezlik va antropometriyaga asoslanib hisoblangan.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Eng past mediana oralig‘iga to‘g‘ri keladi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Para-xokkeyda mediana 31–32 bo‘lib, bu eng past ko‘rsatkich. Chang‘i poygasida mediana taxminan 50, para-futbolda 44–45, para-suzishda 42–43.</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Nosologiya va QTc (ε² = 0,018)</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Eng kichik effekt nosologiya va QTc juftligida (ε² = 0,018) kuzatilgan va u juda kichik effekt deb baholangan. Sport turining ta’siri esa o‘rtacha bo‘lgan.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Vinokurova K va boshq., Cardiovascular Functioning Features in Individuals with Connective Tissue Dysplasia Engaged in Sports for the Disabled, PMID 41745671-bet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15-xromosomaning uzun yelkasida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FBN1 geni 15-xromosomaning uzun yelkasida (15q21) joylashgan va kodlovchi ketma-ketligi 65 ekzondan iborat.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MFS tasdiqlanadi, chunki oila anamnezi salbiy, Z-ball ≥2 va ektopiya bor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Oila anamnezi salbiy bo‘lsa, aorta ildizi Z-balli ≥2 bilan birga gavhar ektopiyasi (yoki FBN1 varianti, yoki tizimli ball ≥7) MFS tashxisini tasdiqlaydi. Z-ball ≥3 talabi 20 yoshgacha bo‘lgan, oila anamnezi musbat bemorlarga tegishli. Yosh bu yerda tashxisni to‘sib qo‘ymaydi.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Massiv klapan regurgitatsiyasidan keyingi yurak yetishmovchiligi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Erta boshlanuvchi MFSda o‘lim asosan aorta ajralishi yoki yorilishi bilan emas, balki massiv klapan regurgitatsiyasi tufayli rivojlanadigan dimlanishli yurak yetishmovchiligi bilan bog‘liq. Klassik MFSda esa aorta asoratlari birinchi o‘rinda turadi. Bu ikki shakl prognozi bilan farq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Har 1–2 yilda exokardiografik nazorat o‘tkazish tavsiya etiladi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Kulrang zonadagi (Z-ball 2–3) va klinik belgilari yo‘q bolalar uchun har 1–2 yilda exokardiografik kuzatuv tavsiya etilgan. Chegara &gt;3 bo‘lib, katta tizimli o‘zgarishlar yoki aorta kengayishining o‘sishi bo‘lsa &gt;2 ga tushadi. Jarrohlik bunday holatda ko‘rsatma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Taxminan 0,5–0,8 mm/yil, ba’zan undan tezroq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Dori davosidagi MFS bolalarida aorta ildizi o‘rtacha 0,5–0,8 mm/yil kengayadi, ba’zan 3 mm/yilgacha yetadi. Sog‘lom odamlarda bu ko‘rsatkich 0,1 mm/yil, kattalarda esa 0,3–0,7 mm/yil. 3 mm/yil — maksimal qiymat, o‘rtacha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Past yoki o‘rta intensivlikdagi aerob mashqlar, zo‘riqishsiz bajarish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Imkoni bor MFS bemorlarga past yoki o‘rta intensivlikdagi aerob faollik, yengil rekreatsion sport tavsiya etiladi, taxminan quvvatning 50% darajasida. Izometrik mashqlar, kontakt sportlar, Valsalva sinamasini talab qiladigan faoliyat aortaga ortiqcha zo‘riqish berib, kengayishni tezlatishi mumkin. Aorta kengaygan bo‘lsa, ehtiyotkorlik ayniqsa muhim.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Og‘ir fenotip belgisi bo‘lishi mumkin, muntazam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Marfan sindromli bolalarda trikuspid klapan prolapsi erta paydo bo‘ladi. Prolapsli bolalarda aorta ildizi kengayishi, mitral prolaps va tizimli belgilar ko‘proq uchragan, shuning uchun bu klapan exokardiografiyada muntazam baholanishi tavsiya etilgan. Jarrohlik faqat og‘ir regurgitatsiya yoki o‘ng tomonlama yurak yetishmovchiligi alomatlarida ko‘rib chiqiladi.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QT ni uzaytiradigan, aritmiya chaqiruvchi dorilardan ehtiyot bo‘lish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Marfan sindromli bolalarning 9–20% ida QTc 440 ms dan uzun bo‘lgan. Bu o‘zgarish aorta ildizi kengayishi, chap qorincha faoliyati yoki mitral prolaps bilan bog‘liq emas. Shuning uchun proaritmogen yoki QT ni uzaytiruvchi dorilarni buyurishda ehtiyot bo‘lish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Homiladorlik bilan bog‘liq aorta yorilishi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Tug‘ish yoshidagi vEDS ayollarida o‘limning eng ko‘p sababi homiladorlik bilan bog‘liq aorta yorilishi. Sichqon modelida PLC/IP3/PKC/ERK signal yo‘li homiladorlik va laktatsiyada kuchaygan. Pnevmotoraks va son chiqishi vEDS belgilari, lekin ular o‘limning asosiy sababi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Omar R va boshq., Four decades in the making: Collagen III and mechanisms of vascular Ehlers Danlos Syndrome, PMID 34849481-bet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Uch spiralli sohadagi glitsin almashinuvlari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vEDS ning taxminan 65% mutatsiyalari proα1(III) uch spiralli sohasidagi glitsinni almashtiradi. Splays-sayt variantlari taxminan 25%, to‘xtash kodoni hosil qiluvchilari taxminan 5%, qisqa delesiya va insertsiyalar esa kichik ulushni tashkil qiladi. Glitsin kerak, chunki spiral ichki bo‘shlig‘iga faqat eng kichik aminokislota sig‘adi.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Omar R va boshq., Four decades in the making: Collagen III and mechanisms of vascular Ehlers Danlos Syndrome, PMID 34849481-bet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Linza ektopiyasi (siljishi)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Maqolada og‘ir miopiyani linza ektopiyasi (ectopia lentis) uchun ‘qizil bayroq’ deb hisoblash kerakligi aytilgan. Linza siljishi ko‘rish o‘tkirligini pasaytirib, miopiya va astigmatizm chaqirishi mumkin. Marfan sindromli bolalarda to‘r parda ajralishi qayd etilmagan, glaukoma esa faqat bitta bolada shubha qilingan.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Bolalarning taxminan 32–38% ida uchraydi, yoshga bog‘liq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Marfan sindromli bolalarda mitral klapan prolapsi 32–38% hollarda uchraydi va uning tarqalishi yoshga bog‘liq. Kattalarda bu ko‘rsatkich 40–68%, umumiy aholida esa 1–2%. Qizlarda prolaps va mitral regurgitatsiya o‘g‘il bolalarga qaraganda ko‘proq kuzatilgan.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Anwar Baban va boshq., Unique Features of Cardiovascular Involvement and Progression in Children with Marfan Syndrome Justify Dedicated Multidisciplinary Care, PMID 38667733-bet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Biriktiruvchi to'qima displaziyasida yurak va qon tomir patologiyasi -</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82</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Vinokurova K va boshq. Cardiovascular Functioning Features in Individuals with Connective Tissue Dysplasia Engaged in Sports for the Disabled, Sports. 2026. PMID 41745671; DOI 10.3390/sports14020069</a:t>
            </a:r>
          </a:p>
          <a:p>
            <a:pPr>
              <a:spcAft>
                <a:spcPts val="1200"/>
              </a:spcAft>
            </a:pPr>
            <a:r>
              <a:rPr sz="2000">
                <a:solidFill>
                  <a:srgbClr val="1F2937"/>
                </a:solidFill>
                <a:latin typeface="Calibri"/>
              </a:rPr>
              <a:t>▸  Omar R va boshq. Four decades in the making: Collagen III and mechanisms of vascular Ehlers Danlos Syndrome, Matrix Biology Plus. 2021. PMID 34849481; DOI 10.1016/j.mbplus.2021.100090</a:t>
            </a:r>
          </a:p>
          <a:p>
            <a:pPr>
              <a:spcAft>
                <a:spcPts val="1200"/>
              </a:spcAft>
            </a:pPr>
            <a:r>
              <a:rPr sz="2000">
                <a:solidFill>
                  <a:srgbClr val="1F2937"/>
                </a:solidFill>
                <a:latin typeface="Calibri"/>
              </a:rPr>
              <a:t>▸  Anwar Baban va boshq. Unique Features of Cardiovascular Involvement and Progression in Children with Marfan Syndrome Justify Dedicated Multidisciplinary Care, Journal of Cardiovascular Development and Disease. 2024. PMID 38667733; DOI 10.3390/jcdd11040114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