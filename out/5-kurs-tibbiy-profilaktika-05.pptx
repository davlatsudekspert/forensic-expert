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Nega kam uchrasa ham o‘q otar jarohatlarga alohida e’tibor beriladi? 2) Portlash jarohatlari nega shu guruhga kiradi? Doskada: «porox gazlari → snaryad → jarohat» zanjirini chizdiring. Tipik xato: o‘q otar jarohatni faqat o‘q tekkan jarohat deb tushunish; bu guruhga portlash jarohatlari ham kiradi.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Kichik massali, lekin tezkor snaryad nima bilan xavfli? 2) Mexanikdan tashqari yana qanday ta’sirlar bo‘ladi? Doskada: ikki guruhli (o‘q otar jarohat / portlash travmasi) sxema chizdiring. Tipik xato: o‘q otar jarohatni faqat mexanik shikast deb o‘ylash. Tezkor savol: o‘q otar jarohatning uchta o‘ziga xos belgisini ayting.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Tipik va atipik qurolning farqi nimada? 2) Stvol uzunligi bo‘yicha misollar keltiring. Doskada: tasnif daraxtini chizdiring. Diqqat: tipik ≠ atipik (zavodda tayyorlangan ≠ qo‘lbola yoki o‘zgartirilgan). Tipik xato: pistolet-pulemetni kalta stvolli qurolga kiritish; u o‘rta uzunlikdagi guruhga kiradi.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O‘yiqlar o‘q uchishiga qanday ta’sir qiladi? 2) Nega silliq stvolda kalibr soni va diametr teskari bog‘liq? Doskada: stvolning ko‘ndalang kesimini (A - silliq, B - o‘yiqli) chizing, kalibr o‘lchanadigan joyni belgilang. Tipik xato: kalibr soni kattaroq bo‘lsa diametr ham katta deb o‘ylash.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Sport va jangovor qurolning o‘xshashligi nimada? 2) Maxsus qurollarni nima birlashtiradi? Doskada: qurollar turlari (jangovor, ov, sport, gaz, maxsus) bo‘yicha qisqa daraxt sxema chizing. Tipik xato: 12 va 16 kalibrni o‘yiqli stvolning mm o‘lchami deb tushunish; bu silliq stvolli ov qurollari kalibri.</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daqiqa. Talabalar og‘zaki javob beradi, savollarni ketma-ket bering. Muhokama: tipik qurol nega ’tipik’ deb ataladi? Doskada: kalibr toifalarining uch qatorli jadvalini chizdiring. Tipik xato: atipik qurolni faqat qo‘lbola deb hisoblash; u o‘zgartirilgan tipik qurolni ham o‘z ichiga oladi.</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8-10 daq. Muhokama: 1) Tepki urganda patron ichida qaysi qism birinchi ishga tushadi? 2) Nega uzun va kalta stvolli qurol o‘qlarining uchi har xil? Doskada: Rasm 4.2 asosida patron kesimini chizib, 5 ta qismni raqamlang (o‘q, gilza, kapsyul, gilza cheti, porox). Tipik xato: gilza va kapsyulni aralashtirish; kapsyul gilza tubida joylashadi va poroxni yondiradi.</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8-10 daq. Muhokama: 1) Nega tutunsiz porox uzoq nishonlarni urishga qulay? 2) Maxsus o‘qlarni qaysi belgisi bo‘yicha ajratamiz? Doskada: ikki ustunli jadvalni (tutunsiz va qora porox) o‘quvchilar bilan to‘ldiring. Tipik xato: qora poroxni jangovor qurollarda asosiy porox deb o‘ylash; u asosan ov va signal qurollarida ishlatiladi.</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8-10 daq. Muhokama: 1) Porox ustidagi tiqin qanday vazifani bajaradi (germetiklik)? 2) Sochma va kartechni nima farqlaydi? Doskada: Rasm 4.3 bo‘yicha 7 ta qismni raqamlab chizing. Tipik xato: sochmali patronni o‘yiq stvolli qurol patroni bilan aralashtirish; sochmali patronlar silliq stvolli ov qurollarida qo‘llanadi.</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Stvol ichki yuzasi qurol turi haqida nima deydi? 2) Sochmali va unitar patronni qaysi belgilar bilan ajratamiz? Doskada: stvolning ko‘ndalang kesimini (silliq va o‘yiqli) chizdiring. Tipik xato: kalibrni silliq va o‘yiqli stvolda bir xil usulda hisoblash. Silliq stvolda kalibr sharsimon o‘qlar soni bilan, o‘yiqli stvolda o‘yiqlararo masofa (mm) bilan belgilanadi.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Qo‘shimcha omillarning ta’siri nimalarga bog‘liq? 2) Qurol qachon shikastlovchi omilga aylanadi? Doskada: to‘rt omilni o‘q yo‘nalishi bo‘yicha sxemada chizdiring. Tipik xato: qo‘shimcha omillarni asosiy snaryad bilan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Nega o‘yiqli stvolda bosim va tezlik yuqoriroq? 2) Qurolning orqaga harakati amalda nimaga olib kelishi mumkin? Doskada: stvol kanalida bosim va snaryad harakati sxemasini chizdiring. Tipik xato: silliq va o‘yiqli stvolning bosim va tezlik ko‘rsatkichlarini almashtirib yuborish.</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nega qo‘shimcha omillar masofani aniqlashda muhim? Qurol turi masofaga qanday ta’sir qiladi? Doskada: stvol uchidan nishongacha chiziq chizib, 3-5, 10-15 va 3-10 sm belgilarini qo‘ying. Tipik xato: alanga masofasini (3-10 sm) porox gazlari masofasi (10-15 sm) bilan almashtirish. Jadvaldagi alanga masofasi manbaning 86-betidan olingan.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10 daq. Muhokama: yorma ta’sir qaysi hollarda (maxsus o‘qlar, tirab otish) uchraydi? Nega chiqish teshigida defekt kam uchraydi? Doskada: energiya pog‘onasi (ming - yuz - o‘n joul) va har biriga yara eskizini chizing. Tipik xato: yulma va ponasimon ta’sirni aralashtirish, defekt bor-yo‘qligini unutish.</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kirish teshigi atrofidagi pushti tus ekspertga nimani ko‘rsatadi? Kiyim kuyishi qaysi omillar bilan bog‘liq? Doskada: porox gazlari - karboksigemoglobin (qonda) va karboksimioglobin (mushakda) - pushti tus zanjirini chizing. Tipik xato: karboksigemoglobin (qonda) bilan karboksimioglobinni (mushakda) almashtirish.</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Har bir belgi qaysi omil (alanga, porox gazlari) bilan bog‘liq? 2) Shu belgilar qaysi distansiyaga xos bo‘lishi mumkin? Doskada: omil → ta’sir turi (termik, mexanik, kimyoviy) → belgi ustunli jadval chizdiring. Tipik xato: pushti tusni faqat termik ta’sirga bog‘lash; aslida u kimyoviy ta’sir natijasi.</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Nega masofani faqat jarohatga qarab aniqlab bo‘lmaydi? 2) Eksperimentda qanday qurol, patron va nishon ishlatiladi? Doskada: ikki ustunli solishtirma jadval chizdiring. Tipik xato: ‘yaqin distansiya’ ni aniq santimetr bilan aralashtirish; distansiya shartli belgilar majmuidir.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Shtansmarka nima va u nimani ko‘rsatadi? 2) Nega qiyalab otishda belgilar faqat bir tomonda bo‘ladi? Doskada: stvol uchi va teri kesimini chizib, uch turni sxemada ko‘rsating. Tipik xato: shtansmarkani barcha tirab otishlarda uchraydi deb o‘ylash; u to‘liq germetik turga xos.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10 daq. Muhokama: nega masofa oshgani sari belgilar kamayadi? Nega zona uzunligi qurolga qarab farq qiladi? Doskada: stvol–nishon chizig‘ini chizib, uch zonani rangli bo‘ling. Tipik xato: distansiya (belgilar majmui) bilan masofani (sm)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Savollarni talabalarga navbat bilan bering, javobni slaydni ochishdan oldin so‘rang. Muhokama: to‘siq bo‘lganda tanadagi jarohat nima uchun odatdagi belgilarga mos kelmaydi? Doskada: to‘siq–o‘q–nishon sxemasini chizdiring. Tipik xato: to‘siq orqasidagi tanada qurum bo‘ladi, deb o‘ylash.</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10 daq. Muhokama: yaqin distansiyadagi qurum bilan Vinogradov fenomenidagi qurum qanday farqlanadi? Qaysi shartlar bajarilmasa fenomen yo‘qoladi? Doskada: ikki qavat kiyim va o‘q ortidagi bo‘shliq sxemasini chizdiring. Tipik xato: ichki qavatdagi qurumni darhol yaqin distansiya belgisi deb baholash.</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tashqi qavatda qurum yo‘qligi yaqin distansiyani inkor qiladi? 2) Qaysi shart yetishmasa fenomen rivojlanmaydi? Doskada: o‘q, ortidagi past bosimli bo‘shliq va ikki qavat kiyim sxemasini chizdiring, qurum izini belgilang. Tipik xato: ichki qavatdagi qurumni darhol yaqin distansiya deb baholash.</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Nega bir xil o‘q turli sohalarda turlicha jarohat beradi? 2) Pulsatsiya nimaga olib keladi? Doskada: zarb nazariyasi zanjirini 5 bosqichda chizdiring. Tipik xato: faqat o‘qning o‘zini hisobga olib, shikastlangan soha xususiyatlarini unutish.</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Uzlukli kanal ekspertiza uchun nimani bildiradi? 2) Siljigan og‘irlik markazli o‘q nega xavfliroq? Doskada: yara devorining uch zonasini konsentrik doiralar bilan chizdiring. Tipik xato: ko‘r va yalama jarohatni aralashtirish (ko‘rda o‘q tanada qoladi, yalamada to‘liq kirmaydi).</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10 daq. Muhokama: 1) Nega kirishda ifloslanish hoshiyasi hosil bo‘ladi? 2) Qon quyilish turi qaysi teshikni ko‘rsatadi? Doskada jadvalni o‘zlari chizsin. Tipik xato: har qanday dumaloq teshikni kirish deb hisoblash; shakl yolg‘iz belgi emas, hoshiyalarni ham tekshirish kerak.</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Suyakdagi konus kengayishi o‘q yo‘nalishini qanday ko‘rsatadi? 2) Chiqishda defekt qachon paydo bo‘ladi? Doskada yassi va naysimon suyak kesimini chizib, kirish va chiqishni belgilang. Tipik xato: kesik konusning kichik va katta asosini chalkashtirish.</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Hoshiyalar bo‘lmasa, qaysi qo‘shimcha belgilar yordam beradi? 2) Chetlarni yaqinlashtirish sinovi nimani ko‘rsatadi? Doskada jadval ustunlari bo‘yicha asoslashni talabalar yozsin. Tipik xato: defekt borligi uchun teshikni darhol kirish deb xulosa qilish.</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sochmali patronda yaqin distansiya uzunroq? 2) Kompakt va nisbiy tarqalma ta’sirini qanday farqlaysiz? Doskada chizish: stvol–nishon chizig‘i bo‘yicha 1 m, 5 m va undan uzoq masofada teshiklar joylashuvini chizing. Tipik xato: kompakt ta’sirdagi bitta teshikni o‘q otar qurolning o‘yiqli stvolidan otilgan o‘q izi deb o‘ylash. Teshik o‘lchami patron diametriga teng ekanini eslating.</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Snaryadsiz patrondan nega og‘ir jarohat bo‘lishi mumkin? 2) Pnevmatik qurol jarohati qaysi distansiyadagi jarohatga o‘xshaydi? Doskada chizish: ikki ustunli solishtirish jadvalini o‘zlari to‘ldirsin. Tipik xato: Diqqat! Pnevmatik qurolda qo‘shimcha omillar belgisi yo‘q, snaryadsiz patronda esa tirab/yaqin masofada porox gazlari belgilari bor. Ularni aralashtirmang.</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Stvoldagi to‘siq nima uchun kerak? 2) Hodisa joyida irritant izini qanday yig‘ish kerak? Doskada chizish: gaz qurollaridagi irritant ta’sir bosqichlarini (masofa, davomiyligi, asoratlar) chizing. Tipik xato: gaz qurolini xavfsiz deb hisoblash va asoratlarni (keratit, pnevmoniya) e’tiborsiz qoldirish.</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10 daq. Muhokama: 1) Qaysi savol birinchi hal qilinadi va nega? 2) Qurol turini aniqlash nega murakkab? Doskada: savollar zanjirini chizdiring. Tipik xato: distansiya va masofani bir xil tushunish; bir xil distansiya turli qurolda turli masofaga to‘g‘ri kelishi mumkin.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10 daq. Muhokama: 1) Nega qurum keyingi jarohatda ko‘proq, moy esa kamroq? 2) Jarrohlik muolajasi ekspertizaga qanday ta’sir qiladi? Doskada: ikki jarohat darzlarining kesishmasligini chizdiring. Tipik xato: moy zarrachalarining ketma-ketlikdagi o‘zgarishini qurum bilan bir xil deb o‘ylash (ular teskari).</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10 daq. Muhokama: 1) Qaysi omil baroakustik travmani keltiradi? 2) Ikkilamchi snaryad bo‘laklaridan jarohat nega odatda yengilroq? Doskada: besh omil va ularning ta’sir turlari jadvalini chizdiring. Tipik xato: porox (tarqatuvchi, yonadi) va brizant moddalarni (detonatsiya)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Nega masofa (metr) emas, distansiya (belgilar majmui) deyiladi? 2) Zarb to‘lqini qaysi distansiyalarda ta’sir qiladi? Doskada: to‘rt distansiyali jadvalni talabalar bilan birga chizing. Tipik xato: distansiya va masofani aralashtirish; yaqin bo‘lmagan distansiyada zarb to‘lqinini ham asosiy omil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Muhokama: 1) Yot jismlar qaysi omillar (bo‘laklar, ikkilamchi snaryadlar) hisobiga paydo bo‘ladi? 2) Nima uchun yot jismni shifokor o‘zi yo‘qotmasligi kerak? Doskada: omil → shikast turi (mexanik, baroakustik) zanjirini chizing. Tipik xato: yot jismni tibbiy chiqindi sifatida tashlab yuborish yoki jarohatni hujjatda aks ettirmaslik.</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nazorat savollari (1, 5, 7) bo‘yicha talabalar juft bo‘lib javob beradi. Doskada: yaqin, yaqin bo‘lmagan va tirab otish uchun asosiy belgilarning qisqa konspektini yozdiring. Tipik xato: kirish va chiqish teshigi belgilarini almashtirib yuborish; shifokor hujjatlashtirishining ahamiyatini ikkinchi darajali deb bilish.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737360"/>
            <a:ext cx="10911535" cy="2194560"/>
          </a:xfrm>
          <a:prstGeom prst="rect">
            <a:avLst/>
          </a:prstGeom>
          <a:noFill/>
        </p:spPr>
        <p:txBody>
          <a:bodyPr wrap="square" anchor="b">
            <a:spAutoFit/>
          </a:bodyPr>
          <a:lstStyle/>
          <a:p>
            <a:r>
              <a:rPr sz="4000" b="1">
                <a:solidFill>
                  <a:srgbClr val="FFFFFF"/>
                </a:solidFill>
                <a:latin typeface="Georgia"/>
              </a:rPr>
              <a:t>Amaliy mashg’ulot: O‘q otar qurollardan yetkazilgan jarohatlar.</a:t>
            </a:r>
          </a:p>
        </p:txBody>
      </p:sp>
      <p:sp>
        <p:nvSpPr>
          <p:cNvPr id="5" name="TextBox 4"/>
          <p:cNvSpPr txBox="1"/>
          <p:nvPr/>
        </p:nvSpPr>
        <p:spPr>
          <a:xfrm>
            <a:off x="640080" y="4343400"/>
            <a:ext cx="10911535" cy="548640"/>
          </a:xfrm>
          <a:prstGeom prst="rect">
            <a:avLst/>
          </a:prstGeom>
          <a:noFill/>
        </p:spPr>
        <p:txBody>
          <a:bodyPr wrap="square">
            <a:spAutoFit/>
          </a:bodyPr>
          <a:lstStyle/>
          <a:p>
            <a:r>
              <a:rPr sz="2000" b="0">
                <a:solidFill>
                  <a:srgbClr val="C9A227"/>
                </a:solidFill>
                <a:latin typeface="Calibri"/>
              </a:rPr>
              <a:t>Sud tibbiyoti · ma’ruza taqdimoti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Kirish: o‘q otar jarohatlar nima?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O‘q otar qurolda shikastlovchi snaryad porox gazlarining energiyasi hisobiga harakatga keladi. Bunday quroldan etkazilgan shikast o‘q otar jarohat deyiladi.</a:t>
            </a:r>
          </a:p>
          <a:p>
            <a:pPr>
              <a:spcAft>
                <a:spcPts val="1200"/>
              </a:spcAft>
            </a:pPr>
            <a:r>
              <a:rPr sz="2200">
                <a:solidFill>
                  <a:srgbClr val="1F2937"/>
                </a:solidFill>
                <a:latin typeface="Calibri"/>
              </a:rPr>
              <a:t>▸  Artillerik snaryad, mina, granata portlashidan va turli portlovchi moddalardan etkazilgan shikastlar ham o‘q otar jarohatlar qatoriga kiradi.</a:t>
            </a:r>
          </a:p>
          <a:p>
            <a:pPr>
              <a:spcAft>
                <a:spcPts val="1200"/>
              </a:spcAft>
            </a:pPr>
            <a:r>
              <a:rPr sz="2200">
                <a:solidFill>
                  <a:srgbClr val="1F2937"/>
                </a:solidFill>
                <a:latin typeface="Calibri"/>
              </a:rPr>
              <a:t>▸  Sud-tibbiy amaliyotda bunday jarohatlar o‘tmas va o‘tkir jismlardan etkazilgan mexanik jarohatlarga qaraganda kamroq uchraydi.</a:t>
            </a:r>
          </a:p>
          <a:p>
            <a:pPr>
              <a:spcAft>
                <a:spcPts val="1200"/>
              </a:spcAft>
            </a:pPr>
            <a:r>
              <a:rPr sz="2200">
                <a:solidFill>
                  <a:srgbClr val="1F2937"/>
                </a:solidFill>
                <a:latin typeface="Calibri"/>
              </a:rPr>
              <a:t>▸  Shunga qaramay, huquqni muhofaza etuvchi idoralar bu hodisalarga alohida e’tibor beradi va atroflicha tekshiruv o‘tkazadi.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80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O‘q otar jarohatlarning o‘ziga xosligi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O‘tmas va o‘tkir jismlardan farqli, o‘q otar jarohatlar qurol va aslahalarning tuzilish xususiyatlari bilan bog‘liq.</a:t>
            </a:r>
          </a:p>
          <a:p>
            <a:pPr>
              <a:spcAft>
                <a:spcPts val="1200"/>
              </a:spcAft>
            </a:pPr>
            <a:r>
              <a:rPr sz="2200">
                <a:solidFill>
                  <a:srgbClr val="1F2937"/>
                </a:solidFill>
                <a:latin typeface="Calibri"/>
              </a:rPr>
              <a:t>▸  Snaryad nisbatan kichik massaga, lekin katta tezlikka ega bo‘ladi va jarohatni katta masofadan etkazishi mumkin.</a:t>
            </a:r>
          </a:p>
          <a:p>
            <a:pPr>
              <a:spcAft>
                <a:spcPts val="1200"/>
              </a:spcAft>
            </a:pPr>
            <a:r>
              <a:rPr sz="2200">
                <a:solidFill>
                  <a:srgbClr val="1F2937"/>
                </a:solidFill>
                <a:latin typeface="Calibri"/>
              </a:rPr>
              <a:t>▸  Mexanik omildan tashqari termik, kimyoviy va boshqa turdagi ta’sir ham bo‘ladi.</a:t>
            </a:r>
          </a:p>
          <a:p>
            <a:pPr>
              <a:spcAft>
                <a:spcPts val="1200"/>
              </a:spcAft>
            </a:pPr>
            <a:r>
              <a:rPr sz="2200">
                <a:solidFill>
                  <a:srgbClr val="1F2937"/>
                </a:solidFill>
                <a:latin typeface="Calibri"/>
              </a:rPr>
              <a:t>▸  Sud tibbiyotida bu shikastlar shartli ikki guruhga bo‘linadi: o‘q otar qurollardan jarohat va portlash travmasi.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80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O‘q otar qurollar tasnifi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Tipik qurol maxsus ishlab chiqarishda tayyorlanadi; atipik qurol qo‘lbola yoki o‘zgartirilgan bo‘ladi.</a:t>
            </a:r>
          </a:p>
          <a:p>
            <a:pPr>
              <a:spcAft>
                <a:spcPts val="800"/>
              </a:spcAft>
            </a:pPr>
            <a:r>
              <a:rPr sz="1800">
                <a:solidFill>
                  <a:srgbClr val="1F2937"/>
                </a:solidFill>
                <a:latin typeface="Calibri"/>
              </a:rPr>
              <a:t>▸  Xususan o‘q otar qurollar individual (miltiq, avtomat, pistolet) yoki guruhiy (pulemet) bo‘ladi.</a:t>
            </a:r>
          </a:p>
          <a:p>
            <a:pPr>
              <a:spcAft>
                <a:spcPts val="800"/>
              </a:spcAft>
            </a:pPr>
            <a:r>
              <a:rPr sz="1800">
                <a:solidFill>
                  <a:srgbClr val="1F2937"/>
                </a:solidFill>
                <a:latin typeface="Calibri"/>
              </a:rPr>
              <a:t>▸  Stvol uzunligi: uzun — miltiq, karabin; o‘rta — pistolet-pulemet; kalta — pistolet, revolver.</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1762658"/>
                <a:gridCol w="3525316"/>
              </a:tblGrid>
              <a:tr h="411480">
                <a:tc>
                  <a:txBody>
                    <a:bodyPr/>
                    <a:lstStyle/>
                    <a:p>
                      <a:r>
                        <a:rPr sz="1400" b="1">
                          <a:solidFill>
                            <a:srgbClr val="FFFFFF"/>
                          </a:solidFill>
                        </a:rPr>
                        <a:t>Belgi</a:t>
                      </a:r>
                    </a:p>
                  </a:txBody>
                  <a:tcPr marL="73152" marR="73152" marT="36576" marB="36576">
                    <a:solidFill>
                      <a:srgbClr val="0B1F3A"/>
                    </a:solidFill>
                  </a:tcPr>
                </a:tc>
                <a:tc>
                  <a:txBody>
                    <a:bodyPr/>
                    <a:lstStyle/>
                    <a:p>
                      <a:r>
                        <a:rPr sz="1400" b="1">
                          <a:solidFill>
                            <a:srgbClr val="FFFFFF"/>
                          </a:solidFill>
                        </a:rPr>
                        <a:t>Turlari</a:t>
                      </a:r>
                    </a:p>
                  </a:txBody>
                  <a:tcPr marL="73152" marR="73152" marT="36576" marB="36576">
                    <a:solidFill>
                      <a:srgbClr val="0B1F3A"/>
                    </a:solidFill>
                  </a:tcPr>
                </a:tc>
              </a:tr>
              <a:tr h="411480">
                <a:tc>
                  <a:txBody>
                    <a:bodyPr/>
                    <a:lstStyle/>
                    <a:p>
                      <a:r>
                        <a:rPr sz="1300" b="0">
                          <a:solidFill>
                            <a:srgbClr val="1F2937"/>
                          </a:solidFill>
                        </a:rPr>
                        <a:t>Maqsadi</a:t>
                      </a:r>
                    </a:p>
                  </a:txBody>
                  <a:tcPr marL="73152" marR="73152" marT="36576" marB="36576">
                    <a:solidFill>
                      <a:srgbClr val="E8EEF6"/>
                    </a:solidFill>
                  </a:tcPr>
                </a:tc>
                <a:tc>
                  <a:txBody>
                    <a:bodyPr/>
                    <a:lstStyle/>
                    <a:p>
                      <a:r>
                        <a:rPr sz="1300" b="0">
                          <a:solidFill>
                            <a:srgbClr val="1F2937"/>
                          </a:solidFill>
                        </a:rPr>
                        <a:t>jangovor, ov, sport, gaz, maxsus</a:t>
                      </a:r>
                    </a:p>
                  </a:txBody>
                  <a:tcPr marL="73152" marR="73152" marT="36576" marB="36576">
                    <a:solidFill>
                      <a:srgbClr val="E8EEF6"/>
                    </a:solidFill>
                  </a:tcPr>
                </a:tc>
              </a:tr>
              <a:tr h="411480">
                <a:tc>
                  <a:txBody>
                    <a:bodyPr/>
                    <a:lstStyle/>
                    <a:p>
                      <a:r>
                        <a:rPr sz="1300" b="0">
                          <a:solidFill>
                            <a:srgbClr val="1F2937"/>
                          </a:solidFill>
                        </a:rPr>
                        <a:t>Tayyorlanishi</a:t>
                      </a:r>
                    </a:p>
                  </a:txBody>
                  <a:tcPr marL="73152" marR="73152" marT="36576" marB="36576">
                    <a:solidFill>
                      <a:srgbClr val="FFFFFF"/>
                    </a:solidFill>
                  </a:tcPr>
                </a:tc>
                <a:tc>
                  <a:txBody>
                    <a:bodyPr/>
                    <a:lstStyle/>
                    <a:p>
                      <a:r>
                        <a:rPr sz="1300" b="0">
                          <a:solidFill>
                            <a:srgbClr val="1F2937"/>
                          </a:solidFill>
                        </a:rPr>
                        <a:t>tipik va atipik</a:t>
                      </a:r>
                    </a:p>
                  </a:txBody>
                  <a:tcPr marL="73152" marR="73152" marT="36576" marB="36576">
                    <a:solidFill>
                      <a:srgbClr val="FFFFFF"/>
                    </a:solidFill>
                  </a:tcPr>
                </a:tc>
              </a:tr>
              <a:tr h="411480">
                <a:tc>
                  <a:txBody>
                    <a:bodyPr/>
                    <a:lstStyle/>
                    <a:p>
                      <a:r>
                        <a:rPr sz="1300" b="0">
                          <a:solidFill>
                            <a:srgbClr val="1F2937"/>
                          </a:solidFill>
                        </a:rPr>
                        <a:t>Jangovor qurol</a:t>
                      </a:r>
                    </a:p>
                  </a:txBody>
                  <a:tcPr marL="73152" marR="73152" marT="36576" marB="36576">
                    <a:solidFill>
                      <a:srgbClr val="E8EEF6"/>
                    </a:solidFill>
                  </a:tcPr>
                </a:tc>
                <a:tc>
                  <a:txBody>
                    <a:bodyPr/>
                    <a:lstStyle/>
                    <a:p>
                      <a:r>
                        <a:rPr sz="1300" b="0">
                          <a:solidFill>
                            <a:srgbClr val="1F2937"/>
                          </a:solidFill>
                        </a:rPr>
                        <a:t>artillerik; xususan o‘q otar</a:t>
                      </a:r>
                    </a:p>
                  </a:txBody>
                  <a:tcPr marL="73152" marR="73152" marT="36576" marB="36576">
                    <a:solidFill>
                      <a:srgbClr val="E8EEF6"/>
                    </a:solidFill>
                  </a:tcPr>
                </a:tc>
              </a:tr>
              <a:tr h="411480">
                <a:tc>
                  <a:txBody>
                    <a:bodyPr/>
                    <a:lstStyle/>
                    <a:p>
                      <a:r>
                        <a:rPr sz="1300" b="0">
                          <a:solidFill>
                            <a:srgbClr val="1F2937"/>
                          </a:solidFill>
                        </a:rPr>
                        <a:t>Stvol uzunligi</a:t>
                      </a:r>
                    </a:p>
                  </a:txBody>
                  <a:tcPr marL="73152" marR="73152" marT="36576" marB="36576">
                    <a:solidFill>
                      <a:srgbClr val="FFFFFF"/>
                    </a:solidFill>
                  </a:tcPr>
                </a:tc>
                <a:tc>
                  <a:txBody>
                    <a:bodyPr/>
                    <a:lstStyle/>
                    <a:p>
                      <a:r>
                        <a:rPr sz="1300" b="0">
                          <a:solidFill>
                            <a:srgbClr val="1F2937"/>
                          </a:solidFill>
                        </a:rPr>
                        <a:t>uzun, o‘rta, kalta</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Qurollar tasnifi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80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Stvol, o‘yiqlar va kalibr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O‘yiqli stvolda 4-6 vintsimon o‘yiq bor. Ular o‘qqa aylanma harakat beradi, o‘q uzoqroq va aniqroq uchadi.</a:t>
            </a:r>
          </a:p>
          <a:p>
            <a:pPr>
              <a:spcAft>
                <a:spcPts val="800"/>
              </a:spcAft>
            </a:pPr>
            <a:r>
              <a:rPr sz="1800">
                <a:solidFill>
                  <a:srgbClr val="1F2937"/>
                </a:solidFill>
                <a:latin typeface="Calibri"/>
              </a:rPr>
              <a:t>▸  O‘yiqli stvolda kalibr qarama-qarshi o‘yiqlararo yuzalar orasidagi masofa (mm) bilan o‘lchanadi.</a:t>
            </a:r>
          </a:p>
          <a:p>
            <a:pPr>
              <a:spcAft>
                <a:spcPts val="800"/>
              </a:spcAft>
            </a:pPr>
            <a:r>
              <a:rPr sz="1800">
                <a:solidFill>
                  <a:srgbClr val="1F2937"/>
                </a:solidFill>
                <a:latin typeface="Calibri"/>
              </a:rPr>
              <a:t>▸  Diqqat: silliq stvolda kalibr soni katta bo‘lsa, stvol kanalining diametri kichik bo‘ladi.</a:t>
            </a:r>
          </a:p>
        </p:txBody>
      </p:sp>
      <p:graphicFrame>
        <p:nvGraphicFramePr>
          <p:cNvPr id="9" name="Table 8"/>
          <p:cNvGraphicFramePr>
            <a:graphicFrameLocks noGrp="1"/>
          </p:cNvGraphicFramePr>
          <p:nvPr/>
        </p:nvGraphicFramePr>
        <p:xfrm>
          <a:off x="6263640" y="1463040"/>
          <a:ext cx="5287973" cy="2057400"/>
        </p:xfrm>
        <a:graphic>
          <a:graphicData uri="http://schemas.openxmlformats.org/drawingml/2006/table">
            <a:tbl>
              <a:tblPr firstRow="1" bandRow="1">
                <a:tableStyleId>{5C22544A-7EE6-4342-B048-85BDC9FD1C3A}</a:tableStyleId>
              </a:tblPr>
              <a:tblGrid>
                <a:gridCol w="1019368"/>
                <a:gridCol w="2166158"/>
                <a:gridCol w="2102447"/>
              </a:tblGrid>
              <a:tr h="411480">
                <a:tc>
                  <a:txBody>
                    <a:bodyPr/>
                    <a:lstStyle/>
                    <a:p>
                      <a:r>
                        <a:rPr sz="1300" b="1">
                          <a:solidFill>
                            <a:srgbClr val="FFFFFF"/>
                          </a:solidFill>
                        </a:rPr>
                        <a:t>Belgi</a:t>
                      </a:r>
                    </a:p>
                  </a:txBody>
                  <a:tcPr marL="73152" marR="73152" marT="36576" marB="36576">
                    <a:solidFill>
                      <a:srgbClr val="0B1F3A"/>
                    </a:solidFill>
                  </a:tcPr>
                </a:tc>
                <a:tc>
                  <a:txBody>
                    <a:bodyPr/>
                    <a:lstStyle/>
                    <a:p>
                      <a:r>
                        <a:rPr sz="1300" b="1">
                          <a:solidFill>
                            <a:srgbClr val="FFFFFF"/>
                          </a:solidFill>
                        </a:rPr>
                        <a:t>Silliq stvol</a:t>
                      </a:r>
                    </a:p>
                  </a:txBody>
                  <a:tcPr marL="73152" marR="73152" marT="36576" marB="36576">
                    <a:solidFill>
                      <a:srgbClr val="0B1F3A"/>
                    </a:solidFill>
                  </a:tcPr>
                </a:tc>
                <a:tc>
                  <a:txBody>
                    <a:bodyPr/>
                    <a:lstStyle/>
                    <a:p>
                      <a:r>
                        <a:rPr sz="1300" b="1">
                          <a:solidFill>
                            <a:srgbClr val="FFFFFF"/>
                          </a:solidFill>
                        </a:rPr>
                        <a:t>O‘yiqli stvol</a:t>
                      </a:r>
                    </a:p>
                  </a:txBody>
                  <a:tcPr marL="73152" marR="73152" marT="36576" marB="36576">
                    <a:solidFill>
                      <a:srgbClr val="0B1F3A"/>
                    </a:solidFill>
                  </a:tcPr>
                </a:tc>
              </a:tr>
              <a:tr h="411480">
                <a:tc>
                  <a:txBody>
                    <a:bodyPr/>
                    <a:lstStyle/>
                    <a:p>
                      <a:r>
                        <a:rPr sz="1200" b="0">
                          <a:solidFill>
                            <a:srgbClr val="1F2937"/>
                          </a:solidFill>
                        </a:rPr>
                        <a:t>Ichki yuza</a:t>
                      </a:r>
                    </a:p>
                  </a:txBody>
                  <a:tcPr marL="73152" marR="73152" marT="36576" marB="36576">
                    <a:solidFill>
                      <a:srgbClr val="E8EEF6"/>
                    </a:solidFill>
                  </a:tcPr>
                </a:tc>
                <a:tc>
                  <a:txBody>
                    <a:bodyPr/>
                    <a:lstStyle/>
                    <a:p>
                      <a:r>
                        <a:rPr sz="1200" b="0">
                          <a:solidFill>
                            <a:srgbClr val="1F2937"/>
                          </a:solidFill>
                        </a:rPr>
                        <a:t>Silliq</a:t>
                      </a:r>
                    </a:p>
                  </a:txBody>
                  <a:tcPr marL="73152" marR="73152" marT="36576" marB="36576">
                    <a:solidFill>
                      <a:srgbClr val="E8EEF6"/>
                    </a:solidFill>
                  </a:tcPr>
                </a:tc>
                <a:tc>
                  <a:txBody>
                    <a:bodyPr/>
                    <a:lstStyle/>
                    <a:p>
                      <a:r>
                        <a:rPr sz="1200" b="0">
                          <a:solidFill>
                            <a:srgbClr val="1F2937"/>
                          </a:solidFill>
                        </a:rPr>
                        <a:t>4-6 vintsimon o‘yiq</a:t>
                      </a:r>
                    </a:p>
                  </a:txBody>
                  <a:tcPr marL="73152" marR="73152" marT="36576" marB="36576">
                    <a:solidFill>
                      <a:srgbClr val="E8EEF6"/>
                    </a:solidFill>
                  </a:tcPr>
                </a:tc>
              </a:tr>
              <a:tr h="411480">
                <a:tc>
                  <a:txBody>
                    <a:bodyPr/>
                    <a:lstStyle/>
                    <a:p>
                      <a:r>
                        <a:rPr sz="1200" b="0">
                          <a:solidFill>
                            <a:srgbClr val="1F2937"/>
                          </a:solidFill>
                        </a:rPr>
                        <a:t>Kalibr</a:t>
                      </a:r>
                    </a:p>
                  </a:txBody>
                  <a:tcPr marL="73152" marR="73152" marT="36576" marB="36576">
                    <a:solidFill>
                      <a:srgbClr val="FFFFFF"/>
                    </a:solidFill>
                  </a:tcPr>
                </a:tc>
                <a:tc>
                  <a:txBody>
                    <a:bodyPr/>
                    <a:lstStyle/>
                    <a:p>
                      <a:r>
                        <a:rPr sz="1200" b="0">
                          <a:solidFill>
                            <a:srgbClr val="1F2937"/>
                          </a:solidFill>
                        </a:rPr>
                        <a:t>Bir funt qo‘rg‘oshin sharlari soni</a:t>
                      </a:r>
                    </a:p>
                  </a:txBody>
                  <a:tcPr marL="73152" marR="73152" marT="36576" marB="36576">
                    <a:solidFill>
                      <a:srgbClr val="FFFFFF"/>
                    </a:solidFill>
                  </a:tcPr>
                </a:tc>
                <a:tc>
                  <a:txBody>
                    <a:bodyPr/>
                    <a:lstStyle/>
                    <a:p>
                      <a:r>
                        <a:rPr sz="1200" b="0">
                          <a:solidFill>
                            <a:srgbClr val="1F2937"/>
                          </a:solidFill>
                        </a:rPr>
                        <a:t>Qarama-qarshi o‘yiqlararo masofa</a:t>
                      </a:r>
                    </a:p>
                  </a:txBody>
                  <a:tcPr marL="73152" marR="73152" marT="36576" marB="36576">
                    <a:solidFill>
                      <a:srgbClr val="FFFFFF"/>
                    </a:solidFill>
                  </a:tcPr>
                </a:tc>
              </a:tr>
              <a:tr h="411480">
                <a:tc>
                  <a:txBody>
                    <a:bodyPr/>
                    <a:lstStyle/>
                    <a:p>
                      <a:r>
                        <a:rPr sz="1200" b="0">
                          <a:solidFill>
                            <a:srgbClr val="1F2937"/>
                          </a:solidFill>
                        </a:rPr>
                        <a:t>Kalibr toifasi</a:t>
                      </a:r>
                    </a:p>
                  </a:txBody>
                  <a:tcPr marL="73152" marR="73152" marT="36576" marB="36576">
                    <a:solidFill>
                      <a:srgbClr val="E8EEF6"/>
                    </a:solidFill>
                  </a:tcPr>
                </a:tc>
                <a:tc>
                  <a:txBody>
                    <a:bodyPr/>
                    <a:lstStyle/>
                    <a:p>
                      <a:r>
                        <a:rPr sz="1200" b="0">
                          <a:solidFill>
                            <a:srgbClr val="1F2937"/>
                          </a:solidFill>
                        </a:rPr>
                        <a:t>Soni bilan beriladi</a:t>
                      </a:r>
                    </a:p>
                  </a:txBody>
                  <a:tcPr marL="73152" marR="73152" marT="36576" marB="36576">
                    <a:solidFill>
                      <a:srgbClr val="E8EEF6"/>
                    </a:solidFill>
                  </a:tcPr>
                </a:tc>
                <a:tc>
                  <a:txBody>
                    <a:bodyPr/>
                    <a:lstStyle/>
                    <a:p>
                      <a:r>
                        <a:rPr sz="1200" b="0">
                          <a:solidFill>
                            <a:srgbClr val="1F2937"/>
                          </a:solidFill>
                        </a:rPr>
                        <a:t>Mayda ≤6, o‘rta 7-9, yirik ≥10 mm</a:t>
                      </a:r>
                    </a:p>
                  </a:txBody>
                  <a:tcPr marL="73152" marR="73152" marT="36576" marB="36576">
                    <a:solidFill>
                      <a:srgbClr val="E8EEF6"/>
                    </a:solidFill>
                  </a:tcPr>
                </a:tc>
              </a:tr>
              <a:tr h="411480">
                <a:tc>
                  <a:txBody>
                    <a:bodyPr/>
                    <a:lstStyle/>
                    <a:p>
                      <a:r>
                        <a:rPr sz="1200" b="0">
                          <a:solidFill>
                            <a:srgbClr val="1F2937"/>
                          </a:solidFill>
                        </a:rPr>
                        <a:t>Qo‘llanish</a:t>
                      </a:r>
                    </a:p>
                  </a:txBody>
                  <a:tcPr marL="73152" marR="73152" marT="36576" marB="36576">
                    <a:solidFill>
                      <a:srgbClr val="FFFFFF"/>
                    </a:solidFill>
                  </a:tcPr>
                </a:tc>
                <a:tc>
                  <a:txBody>
                    <a:bodyPr/>
                    <a:lstStyle/>
                    <a:p>
                      <a:r>
                        <a:rPr sz="1200" b="0">
                          <a:solidFill>
                            <a:srgbClr val="1F2937"/>
                          </a:solidFill>
                        </a:rPr>
                        <a:t>Ov qurollari: sochma uchun</a:t>
                      </a:r>
                    </a:p>
                  </a:txBody>
                  <a:tcPr marL="73152" marR="73152" marT="36576" marB="36576">
                    <a:solidFill>
                      <a:srgbClr val="FFFFFF"/>
                    </a:solidFill>
                  </a:tcPr>
                </a:tc>
                <a:tc>
                  <a:txBody>
                    <a:bodyPr/>
                    <a:lstStyle/>
                    <a:p>
                      <a:r>
                        <a:rPr sz="1200" b="0">
                          <a:solidFill>
                            <a:srgbClr val="1F2937"/>
                          </a:solidFill>
                        </a:rPr>
                        <a:t>Jangovor va sport qurollari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Silliq va o‘yiqli stvol</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81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Ov, sport va maxsus qurollar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Sport qurollari tuzilishi bo‘yicha jangovorlardan deyarli farqlanmaydi. Ularning stvoli odatda mayda kalibrli (5,6 mm) va o‘yiqli bo‘ladi.</a:t>
            </a:r>
          </a:p>
          <a:p>
            <a:pPr>
              <a:spcAft>
                <a:spcPts val="1200"/>
              </a:spcAft>
            </a:pPr>
            <a:r>
              <a:rPr sz="2200">
                <a:solidFill>
                  <a:srgbClr val="1F2937"/>
                </a:solidFill>
                <a:latin typeface="Calibri"/>
              </a:rPr>
              <a:t>▸  Ov qurollari silliq yoki o‘yiqli stvolli. Silliq stvollisi sochma uchun mo‘ljallangan, kalibri 10-32; 12 va 16 kalibr ko‘proq tarqalgan.</a:t>
            </a:r>
          </a:p>
          <a:p>
            <a:pPr>
              <a:spcAft>
                <a:spcPts val="1200"/>
              </a:spcAft>
            </a:pPr>
            <a:r>
              <a:rPr sz="2200">
                <a:solidFill>
                  <a:srgbClr val="1F2937"/>
                </a:solidFill>
                <a:latin typeface="Calibri"/>
              </a:rPr>
              <a:t>▸  Maxsus qurollar ham porox gazlari energiyasidan foydalanadi: start, signal va qurilish-montaj pistoletlari shular qatoriga kiradi.</a:t>
            </a:r>
          </a:p>
          <a:p>
            <a:pPr>
              <a:spcAft>
                <a:spcPts val="1200"/>
              </a:spcAft>
            </a:pPr>
            <a:r>
              <a:rPr sz="2200">
                <a:solidFill>
                  <a:srgbClr val="1F2937"/>
                </a:solidFill>
                <a:latin typeface="Calibri"/>
              </a:rPr>
              <a:t>▸  O‘qlanishiga ko‘ra avtomatik va noavtomatik qurollar farqlanadi. Avtomatik qurollarda o‘qlanish porox gazlari hisobiga amalga oshadi.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81, 81-82, 82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qurol turlari va kalibr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1-savol: tipik va atipik qurol farqi? Atipik qurol qo‘lbola yoki o‘zgartirilgan (masalan, stvoli va qo‘ndog‘i kalta qilingan miltiq).</a:t>
            </a:r>
          </a:p>
          <a:p>
            <a:pPr>
              <a:spcAft>
                <a:spcPts val="1200"/>
              </a:spcAft>
            </a:pPr>
            <a:r>
              <a:rPr sz="2200">
                <a:solidFill>
                  <a:srgbClr val="1F2937"/>
                </a:solidFill>
                <a:latin typeface="Calibri"/>
              </a:rPr>
              <a:t>▸  2-savol: o‘yiqlar nima uchun kerak? Snaryadga aylanma harakat beradi; o‘q tezroq, uzoqroq va aniqroq uchadi.</a:t>
            </a:r>
          </a:p>
          <a:p>
            <a:pPr>
              <a:spcAft>
                <a:spcPts val="1200"/>
              </a:spcAft>
            </a:pPr>
            <a:r>
              <a:rPr sz="2200">
                <a:solidFill>
                  <a:srgbClr val="1F2937"/>
                </a:solidFill>
                <a:latin typeface="Calibri"/>
              </a:rPr>
              <a:t>▸  3-savol: kalibr toifalari qanday? Mayda — 6 mm gacha, o‘rta — 7-9 mm, yirik — 10 mm va undan katta.</a:t>
            </a:r>
          </a:p>
          <a:p>
            <a:pPr>
              <a:spcAft>
                <a:spcPts val="1200"/>
              </a:spcAft>
            </a:pPr>
            <a:r>
              <a:rPr sz="2200">
                <a:solidFill>
                  <a:srgbClr val="1F2937"/>
                </a:solidFill>
                <a:latin typeface="Calibri"/>
              </a:rPr>
              <a:t>▸  4-savol: silliq stvolli ov qurolida kalibr soni oshsa, diametr qanday o‘zgaradi? Kichrayadi.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80, 81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Jangovor patronning tuzilishi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Unitar patronda o‘q (snaryad), porox zaryadi va kapsyul bir butun holda gilza ichiga joylangan.</a:t>
            </a:r>
          </a:p>
          <a:p>
            <a:pPr>
              <a:spcAft>
                <a:spcPts val="800"/>
              </a:spcAft>
            </a:pPr>
            <a:r>
              <a:rPr sz="1800">
                <a:solidFill>
                  <a:srgbClr val="1F2937"/>
                </a:solidFill>
                <a:latin typeface="Calibri"/>
              </a:rPr>
              <a:t>▸  Kapsyul gilza tubida, latun qobiqli; tarkibida qo‘rg‘oshin stifnat, antimoniy, bertole tuzi bor.</a:t>
            </a:r>
          </a:p>
          <a:p>
            <a:pPr>
              <a:spcAft>
                <a:spcPts val="800"/>
              </a:spcAft>
            </a:pPr>
            <a:r>
              <a:rPr sz="1800">
                <a:solidFill>
                  <a:srgbClr val="1F2937"/>
                </a:solidFill>
                <a:latin typeface="Calibri"/>
              </a:rPr>
              <a:t>▸  Uzun stvolli qurol o‘qining uchi biroz o‘tkir; kalta stvolli qurolda uchi dumaloq yoki kesik konus.</a:t>
            </a:r>
          </a:p>
        </p:txBody>
      </p:sp>
      <p:graphicFrame>
        <p:nvGraphicFramePr>
          <p:cNvPr id="9" name="Table 8"/>
          <p:cNvGraphicFramePr>
            <a:graphicFrameLocks noGrp="1"/>
          </p:cNvGraphicFramePr>
          <p:nvPr/>
        </p:nvGraphicFramePr>
        <p:xfrm>
          <a:off x="6263640" y="1463040"/>
          <a:ext cx="5287975" cy="2057400"/>
        </p:xfrm>
        <a:graphic>
          <a:graphicData uri="http://schemas.openxmlformats.org/drawingml/2006/table">
            <a:tbl>
              <a:tblPr firstRow="1" bandRow="1">
                <a:tableStyleId>{5C22544A-7EE6-4342-B048-85BDC9FD1C3A}</a:tableStyleId>
              </a:tblPr>
              <a:tblGrid>
                <a:gridCol w="1510850"/>
                <a:gridCol w="3777125"/>
              </a:tblGrid>
              <a:tr h="411480">
                <a:tc>
                  <a:txBody>
                    <a:bodyPr/>
                    <a:lstStyle/>
                    <a:p>
                      <a:r>
                        <a:rPr sz="1400" b="1">
                          <a:solidFill>
                            <a:srgbClr val="FFFFFF"/>
                          </a:solidFill>
                        </a:rPr>
                        <a:t>Qism</a:t>
                      </a:r>
                    </a:p>
                  </a:txBody>
                  <a:tcPr marL="73152" marR="73152" marT="36576" marB="36576">
                    <a:solidFill>
                      <a:srgbClr val="0B1F3A"/>
                    </a:solidFill>
                  </a:tcPr>
                </a:tc>
                <a:tc>
                  <a:txBody>
                    <a:bodyPr/>
                    <a:lstStyle/>
                    <a:p>
                      <a:r>
                        <a:rPr sz="1400" b="1">
                          <a:solidFill>
                            <a:srgbClr val="FFFFFF"/>
                          </a:solidFill>
                        </a:rPr>
                        <a:t>Materiali / joyi</a:t>
                      </a:r>
                    </a:p>
                  </a:txBody>
                  <a:tcPr marL="73152" marR="73152" marT="36576" marB="36576">
                    <a:solidFill>
                      <a:srgbClr val="0B1F3A"/>
                    </a:solidFill>
                  </a:tcPr>
                </a:tc>
              </a:tr>
              <a:tr h="411480">
                <a:tc>
                  <a:txBody>
                    <a:bodyPr/>
                    <a:lstStyle/>
                    <a:p>
                      <a:r>
                        <a:rPr sz="1300" b="0">
                          <a:solidFill>
                            <a:srgbClr val="1F2937"/>
                          </a:solidFill>
                        </a:rPr>
                        <a:t>Snaryad (o‘q)</a:t>
                      </a:r>
                    </a:p>
                  </a:txBody>
                  <a:tcPr marL="73152" marR="73152" marT="36576" marB="36576">
                    <a:solidFill>
                      <a:srgbClr val="E8EEF6"/>
                    </a:solidFill>
                  </a:tcPr>
                </a:tc>
                <a:tc>
                  <a:txBody>
                    <a:bodyPr/>
                    <a:lstStyle/>
                    <a:p>
                      <a:r>
                        <a:rPr sz="1300" b="0">
                          <a:solidFill>
                            <a:srgbClr val="1F2937"/>
                          </a:solidFill>
                        </a:rPr>
                        <a:t>Po‘lat yoki qo‘rg‘oshin qobiqli po‘lat asos</a:t>
                      </a:r>
                    </a:p>
                  </a:txBody>
                  <a:tcPr marL="73152" marR="73152" marT="36576" marB="36576">
                    <a:solidFill>
                      <a:srgbClr val="E8EEF6"/>
                    </a:solidFill>
                  </a:tcPr>
                </a:tc>
              </a:tr>
              <a:tr h="411480">
                <a:tc>
                  <a:txBody>
                    <a:bodyPr/>
                    <a:lstStyle/>
                    <a:p>
                      <a:r>
                        <a:rPr sz="1300" b="0">
                          <a:solidFill>
                            <a:srgbClr val="1F2937"/>
                          </a:solidFill>
                        </a:rPr>
                        <a:t>Gilza</a:t>
                      </a:r>
                    </a:p>
                  </a:txBody>
                  <a:tcPr marL="73152" marR="73152" marT="36576" marB="36576">
                    <a:solidFill>
                      <a:srgbClr val="FFFFFF"/>
                    </a:solidFill>
                  </a:tcPr>
                </a:tc>
                <a:tc>
                  <a:txBody>
                    <a:bodyPr/>
                    <a:lstStyle/>
                    <a:p>
                      <a:r>
                        <a:rPr sz="1300" b="0">
                          <a:solidFill>
                            <a:srgbClr val="1F2937"/>
                          </a:solidFill>
                        </a:rPr>
                        <a:t>Po‘lat, latun yoki temir</a:t>
                      </a:r>
                    </a:p>
                  </a:txBody>
                  <a:tcPr marL="73152" marR="73152" marT="36576" marB="36576">
                    <a:solidFill>
                      <a:srgbClr val="FFFFFF"/>
                    </a:solidFill>
                  </a:tcPr>
                </a:tc>
              </a:tr>
              <a:tr h="411480">
                <a:tc>
                  <a:txBody>
                    <a:bodyPr/>
                    <a:lstStyle/>
                    <a:p>
                      <a:r>
                        <a:rPr sz="1300" b="0">
                          <a:solidFill>
                            <a:srgbClr val="1F2937"/>
                          </a:solidFill>
                        </a:rPr>
                        <a:t>Kapsyul</a:t>
                      </a:r>
                    </a:p>
                  </a:txBody>
                  <a:tcPr marL="73152" marR="73152" marT="36576" marB="36576">
                    <a:solidFill>
                      <a:srgbClr val="E8EEF6"/>
                    </a:solidFill>
                  </a:tcPr>
                </a:tc>
                <a:tc>
                  <a:txBody>
                    <a:bodyPr/>
                    <a:lstStyle/>
                    <a:p>
                      <a:r>
                        <a:rPr sz="1300" b="0">
                          <a:solidFill>
                            <a:srgbClr val="1F2937"/>
                          </a:solidFill>
                        </a:rPr>
                        <a:t>Gilza tubida, latun qobiqli</a:t>
                      </a:r>
                    </a:p>
                  </a:txBody>
                  <a:tcPr marL="73152" marR="73152" marT="36576" marB="36576">
                    <a:solidFill>
                      <a:srgbClr val="E8EEF6"/>
                    </a:solidFill>
                  </a:tcPr>
                </a:tc>
              </a:tr>
              <a:tr h="411480">
                <a:tc>
                  <a:txBody>
                    <a:bodyPr/>
                    <a:lstStyle/>
                    <a:p>
                      <a:r>
                        <a:rPr sz="1300" b="0">
                          <a:solidFill>
                            <a:srgbClr val="1F2937"/>
                          </a:solidFill>
                        </a:rPr>
                        <a:t>Porox</a:t>
                      </a:r>
                    </a:p>
                  </a:txBody>
                  <a:tcPr marL="73152" marR="73152" marT="36576" marB="36576">
                    <a:solidFill>
                      <a:srgbClr val="FFFFFF"/>
                    </a:solidFill>
                  </a:tcPr>
                </a:tc>
                <a:tc>
                  <a:txBody>
                    <a:bodyPr/>
                    <a:lstStyle/>
                    <a:p>
                      <a:r>
                        <a:rPr sz="1300" b="0">
                          <a:solidFill>
                            <a:srgbClr val="1F2937"/>
                          </a:solidFill>
                        </a:rPr>
                        <a:t>Tutunsiz porox (nitrotsellyulozadan)</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Patron qismlari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82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Maxsus o‘qlar va porox turlari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Zirxteshar o‘q asosi maxsus po‘lat; yondiruvchida fosfor, iz qoldiruvchida bariy va magniy bor.</a:t>
            </a:r>
          </a:p>
          <a:p>
            <a:pPr>
              <a:spcAft>
                <a:spcPts val="800"/>
              </a:spcAft>
            </a:pPr>
            <a:r>
              <a:rPr sz="1800">
                <a:solidFill>
                  <a:srgbClr val="1F2937"/>
                </a:solidFill>
                <a:latin typeface="Calibri"/>
              </a:rPr>
              <a:t>▸  Yorma o‘q nishonga tekkanda mayda qismlarga bo‘linadi; xalqaro bitimlar jangda uni taqiqlaydi.</a:t>
            </a:r>
          </a:p>
          <a:p>
            <a:pPr>
              <a:spcAft>
                <a:spcPts val="800"/>
              </a:spcAft>
            </a:pPr>
            <a:r>
              <a:rPr sz="1800">
                <a:solidFill>
                  <a:srgbClr val="1F2937"/>
                </a:solidFill>
                <a:latin typeface="Calibri"/>
              </a:rPr>
              <a:t>▸  Tutunsiz poroxda gaz qora poroxdagidan 3 barobar ko‘p; o‘q energiyasi va uchish uzoqligi ortadi.</a:t>
            </a:r>
          </a:p>
        </p:txBody>
      </p:sp>
      <p:graphicFrame>
        <p:nvGraphicFramePr>
          <p:cNvPr id="9" name="Table 8"/>
          <p:cNvGraphicFramePr>
            <a:graphicFrameLocks noGrp="1"/>
          </p:cNvGraphicFramePr>
          <p:nvPr/>
        </p:nvGraphicFramePr>
        <p:xfrm>
          <a:off x="6263640" y="1463040"/>
          <a:ext cx="5287973" cy="1645920"/>
        </p:xfrm>
        <a:graphic>
          <a:graphicData uri="http://schemas.openxmlformats.org/drawingml/2006/table">
            <a:tbl>
              <a:tblPr firstRow="1" bandRow="1">
                <a:tableStyleId>{5C22544A-7EE6-4342-B048-85BDC9FD1C3A}</a:tableStyleId>
              </a:tblPr>
              <a:tblGrid>
                <a:gridCol w="1019368"/>
                <a:gridCol w="1720184"/>
                <a:gridCol w="2548421"/>
              </a:tblGrid>
              <a:tr h="411480">
                <a:tc>
                  <a:txBody>
                    <a:bodyPr/>
                    <a:lstStyle/>
                    <a:p>
                      <a:r>
                        <a:rPr sz="1300" b="1">
                          <a:solidFill>
                            <a:srgbClr val="FFFFFF"/>
                          </a:solidFill>
                        </a:rPr>
                        <a:t>Belgi</a:t>
                      </a:r>
                    </a:p>
                  </a:txBody>
                  <a:tcPr marL="73152" marR="73152" marT="36576" marB="36576">
                    <a:solidFill>
                      <a:srgbClr val="0B1F3A"/>
                    </a:solidFill>
                  </a:tcPr>
                </a:tc>
                <a:tc>
                  <a:txBody>
                    <a:bodyPr/>
                    <a:lstStyle/>
                    <a:p>
                      <a:r>
                        <a:rPr sz="1300" b="1">
                          <a:solidFill>
                            <a:srgbClr val="FFFFFF"/>
                          </a:solidFill>
                        </a:rPr>
                        <a:t>Tutunsiz</a:t>
                      </a:r>
                    </a:p>
                  </a:txBody>
                  <a:tcPr marL="73152" marR="73152" marT="36576" marB="36576">
                    <a:solidFill>
                      <a:srgbClr val="0B1F3A"/>
                    </a:solidFill>
                  </a:tcPr>
                </a:tc>
                <a:tc>
                  <a:txBody>
                    <a:bodyPr/>
                    <a:lstStyle/>
                    <a:p>
                      <a:r>
                        <a:rPr sz="1300" b="1">
                          <a:solidFill>
                            <a:srgbClr val="FFFFFF"/>
                          </a:solidFill>
                        </a:rPr>
                        <a:t>Qora (tutunli)</a:t>
                      </a:r>
                    </a:p>
                  </a:txBody>
                  <a:tcPr marL="73152" marR="73152" marT="36576" marB="36576">
                    <a:solidFill>
                      <a:srgbClr val="0B1F3A"/>
                    </a:solidFill>
                  </a:tcPr>
                </a:tc>
              </a:tr>
              <a:tr h="411480">
                <a:tc>
                  <a:txBody>
                    <a:bodyPr/>
                    <a:lstStyle/>
                    <a:p>
                      <a:r>
                        <a:rPr sz="1200" b="0">
                          <a:solidFill>
                            <a:srgbClr val="1F2937"/>
                          </a:solidFill>
                        </a:rPr>
                        <a:t>Asosi</a:t>
                      </a:r>
                    </a:p>
                  </a:txBody>
                  <a:tcPr marL="73152" marR="73152" marT="36576" marB="36576">
                    <a:solidFill>
                      <a:srgbClr val="E8EEF6"/>
                    </a:solidFill>
                  </a:tcPr>
                </a:tc>
                <a:tc>
                  <a:txBody>
                    <a:bodyPr/>
                    <a:lstStyle/>
                    <a:p>
                      <a:r>
                        <a:rPr sz="1200" b="0">
                          <a:solidFill>
                            <a:srgbClr val="1F2937"/>
                          </a:solidFill>
                        </a:rPr>
                        <a:t>Nitrotsellyuloza</a:t>
                      </a:r>
                    </a:p>
                  </a:txBody>
                  <a:tcPr marL="73152" marR="73152" marT="36576" marB="36576">
                    <a:solidFill>
                      <a:srgbClr val="E8EEF6"/>
                    </a:solidFill>
                  </a:tcPr>
                </a:tc>
                <a:tc>
                  <a:txBody>
                    <a:bodyPr/>
                    <a:lstStyle/>
                    <a:p>
                      <a:r>
                        <a:rPr sz="1200" b="0">
                          <a:solidFill>
                            <a:srgbClr val="1F2937"/>
                          </a:solidFill>
                        </a:rPr>
                        <a:t>Kaliy selitrasi, pista ko‘mir, oltingugurt</a:t>
                      </a:r>
                    </a:p>
                  </a:txBody>
                  <a:tcPr marL="73152" marR="73152" marT="36576" marB="36576">
                    <a:solidFill>
                      <a:srgbClr val="E8EEF6"/>
                    </a:solidFill>
                  </a:tcPr>
                </a:tc>
              </a:tr>
              <a:tr h="411480">
                <a:tc>
                  <a:txBody>
                    <a:bodyPr/>
                    <a:lstStyle/>
                    <a:p>
                      <a:r>
                        <a:rPr sz="1200" b="0">
                          <a:solidFill>
                            <a:srgbClr val="1F2937"/>
                          </a:solidFill>
                        </a:rPr>
                        <a:t>Gaz (1 g dan)</a:t>
                      </a:r>
                    </a:p>
                  </a:txBody>
                  <a:tcPr marL="73152" marR="73152" marT="36576" marB="36576">
                    <a:solidFill>
                      <a:srgbClr val="FFFFFF"/>
                    </a:solidFill>
                  </a:tcPr>
                </a:tc>
                <a:tc>
                  <a:txBody>
                    <a:bodyPr/>
                    <a:lstStyle/>
                    <a:p>
                      <a:r>
                        <a:rPr sz="1200" b="0">
                          <a:solidFill>
                            <a:srgbClr val="1F2937"/>
                          </a:solidFill>
                        </a:rPr>
                        <a:t>Qoradan 3 barobar ko‘p</a:t>
                      </a:r>
                    </a:p>
                  </a:txBody>
                  <a:tcPr marL="73152" marR="73152" marT="36576" marB="36576">
                    <a:solidFill>
                      <a:srgbClr val="FFFFFF"/>
                    </a:solidFill>
                  </a:tcPr>
                </a:tc>
                <a:tc>
                  <a:txBody>
                    <a:bodyPr/>
                    <a:lstStyle/>
                    <a:p>
                      <a:r>
                        <a:rPr sz="1200" b="0">
                          <a:solidFill>
                            <a:srgbClr val="1F2937"/>
                          </a:solidFill>
                        </a:rPr>
                        <a:t>Taxminan 300 kub. sm</a:t>
                      </a:r>
                    </a:p>
                  </a:txBody>
                  <a:tcPr marL="73152" marR="73152" marT="36576" marB="36576">
                    <a:solidFill>
                      <a:srgbClr val="FFFFFF"/>
                    </a:solidFill>
                  </a:tcPr>
                </a:tc>
              </a:tr>
              <a:tr h="411480">
                <a:tc>
                  <a:txBody>
                    <a:bodyPr/>
                    <a:lstStyle/>
                    <a:p>
                      <a:r>
                        <a:rPr sz="1200" b="0">
                          <a:solidFill>
                            <a:srgbClr val="1F2937"/>
                          </a:solidFill>
                        </a:rPr>
                        <a:t>Qo‘llanishi</a:t>
                      </a:r>
                    </a:p>
                  </a:txBody>
                  <a:tcPr marL="73152" marR="73152" marT="36576" marB="36576">
                    <a:solidFill>
                      <a:srgbClr val="E8EEF6"/>
                    </a:solidFill>
                  </a:tcPr>
                </a:tc>
                <a:tc>
                  <a:txBody>
                    <a:bodyPr/>
                    <a:lstStyle/>
                    <a:p>
                      <a:r>
                        <a:rPr sz="1200" b="0">
                          <a:solidFill>
                            <a:srgbClr val="1F2937"/>
                          </a:solidFill>
                        </a:rPr>
                        <a:t>Jangovor va sport qurollari</a:t>
                      </a:r>
                    </a:p>
                  </a:txBody>
                  <a:tcPr marL="73152" marR="73152" marT="36576" marB="36576">
                    <a:solidFill>
                      <a:srgbClr val="E8EEF6"/>
                    </a:solidFill>
                  </a:tcPr>
                </a:tc>
                <a:tc>
                  <a:txBody>
                    <a:bodyPr/>
                    <a:lstStyle/>
                    <a:p>
                      <a:r>
                        <a:rPr sz="1200" b="0">
                          <a:solidFill>
                            <a:srgbClr val="1F2937"/>
                          </a:solidFill>
                        </a:rPr>
                        <a:t>Ov, signal pistoleti, ayrim gaz qurollari</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Porox turlarini solishtirish</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82, 83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Sochmali patronning tuzilishi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Gilza latun, plastmassa yoki kartondan; zaryad sifatida qora porox ishlatilishi mumkin.</a:t>
            </a:r>
          </a:p>
          <a:p>
            <a:pPr>
              <a:spcAft>
                <a:spcPts val="800"/>
              </a:spcAft>
            </a:pPr>
            <a:r>
              <a:rPr sz="1800">
                <a:solidFill>
                  <a:srgbClr val="1F2937"/>
                </a:solidFill>
                <a:latin typeface="Calibri"/>
              </a:rPr>
              <a:t>▸  Sochma — diametri 1 dan 5,5 mm gacha sharchalar; kattasi katta sochma (kartech) deyiladi.</a:t>
            </a:r>
          </a:p>
          <a:p>
            <a:pPr>
              <a:spcAft>
                <a:spcPts val="800"/>
              </a:spcAft>
            </a:pPr>
            <a:r>
              <a:rPr sz="1800">
                <a:solidFill>
                  <a:srgbClr val="1F2937"/>
                </a:solidFill>
                <a:latin typeface="Calibri"/>
              </a:rPr>
              <a:t>▸  O‘qli patronda diametri 10 mm dan katta qo‘rg‘oshin shar, Yakan yoki Brenneke o‘qi bo‘lishi mumkin.</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Gilza va kapsyul</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Porox</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Karton va kigiz tiqin</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Sochma</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Sochma tiqini</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Sochmali patron qatlamlari</a:t>
            </a:r>
          </a:p>
        </p:txBody>
      </p:sp>
      <p:sp>
        <p:nvSpPr>
          <p:cNvPr id="19" name="TextBox 1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83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qurol va patron turini farqlash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hodisa joyidan kalta stvolli qurol va bir nechta gilza topildi. Stvolning ichki yuzasida 4-6 ta vintsimon o‘yiq bor.</a:t>
            </a:r>
          </a:p>
          <a:p>
            <a:pPr>
              <a:spcAft>
                <a:spcPts val="1200"/>
              </a:spcAft>
            </a:pPr>
            <a:r>
              <a:rPr sz="2200">
                <a:solidFill>
                  <a:srgbClr val="1F2937"/>
                </a:solidFill>
                <a:latin typeface="Calibri"/>
              </a:rPr>
              <a:t>▸  Stvol belgisi: o‘yiqlar jangovor yoki sport qurolini ko‘rsatadi. Silliq stvol esa ko‘pincha sochma bilan otadigan ov qurollariga xos.</a:t>
            </a:r>
          </a:p>
          <a:p>
            <a:pPr>
              <a:spcAft>
                <a:spcPts val="1200"/>
              </a:spcAft>
            </a:pPr>
            <a:r>
              <a:rPr sz="2200">
                <a:solidFill>
                  <a:srgbClr val="1F2937"/>
                </a:solidFill>
                <a:latin typeface="Calibri"/>
              </a:rPr>
              <a:t>▸  Patron belgisi: unitar patronda o‘q, porox va kapsyul gilza ichida bo‘ladi. Sochmali patronda tiqinlar va 1-5,5 mm sochmalar bor.</a:t>
            </a:r>
          </a:p>
          <a:p>
            <a:pPr>
              <a:spcAft>
                <a:spcPts val="1200"/>
              </a:spcAft>
            </a:pPr>
            <a:r>
              <a:rPr sz="2200">
                <a:solidFill>
                  <a:srgbClr val="1F2937"/>
                </a:solidFill>
                <a:latin typeface="Calibri"/>
              </a:rPr>
              <a:t>▸  Savol: qaysi belgilar qurol va patron turini ko‘rsatadi? Diqqat: qo‘lbola yoki o‘zgartirilgan qurol atipik hisoblanadi.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80-81, 81, 82-83, 80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O‘q otishning shikastlovchi omillari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Birlamchi snaryad — o‘q, sochma va ularning qismlari.</a:t>
            </a:r>
          </a:p>
          <a:p>
            <a:pPr>
              <a:spcAft>
                <a:spcPts val="800"/>
              </a:spcAft>
            </a:pPr>
            <a:r>
              <a:rPr sz="1800">
                <a:solidFill>
                  <a:srgbClr val="1F2937"/>
                </a:solidFill>
                <a:latin typeface="Calibri"/>
              </a:rPr>
              <a:t>▸  Ikkilamchi snaryad — parvoz yo‘lidagi to‘siq, kiyim, suyak bo‘laklari; ular ham jarohat yetkazadi.</a:t>
            </a:r>
          </a:p>
          <a:p>
            <a:pPr>
              <a:spcAft>
                <a:spcPts val="800"/>
              </a:spcAft>
            </a:pPr>
            <a:r>
              <a:rPr sz="1800">
                <a:solidFill>
                  <a:srgbClr val="1F2937"/>
                </a:solidFill>
                <a:latin typeface="Calibri"/>
              </a:rPr>
              <a:t>▸  Diqqat: birlamchi snaryad ≠ ikkilamchi snaryad. Ikkinchisi to‘siq va suyak bo‘laklaridan hosil bo‘ladi.</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1850791"/>
                <a:gridCol w="3437183"/>
              </a:tblGrid>
              <a:tr h="411480">
                <a:tc>
                  <a:txBody>
                    <a:bodyPr/>
                    <a:lstStyle/>
                    <a:p>
                      <a:r>
                        <a:rPr sz="1400" b="1">
                          <a:solidFill>
                            <a:srgbClr val="FFFFFF"/>
                          </a:solidFill>
                        </a:rPr>
                        <a:t>Omil</a:t>
                      </a:r>
                    </a:p>
                  </a:txBody>
                  <a:tcPr marL="73152" marR="73152" marT="36576" marB="36576">
                    <a:solidFill>
                      <a:srgbClr val="0B1F3A"/>
                    </a:solidFill>
                  </a:tcPr>
                </a:tc>
                <a:tc>
                  <a:txBody>
                    <a:bodyPr/>
                    <a:lstStyle/>
                    <a:p>
                      <a:r>
                        <a:rPr sz="1400" b="1">
                          <a:solidFill>
                            <a:srgbClr val="FFFFFF"/>
                          </a:solidFill>
                        </a:rPr>
                        <a:t>Misol</a:t>
                      </a:r>
                    </a:p>
                  </a:txBody>
                  <a:tcPr marL="73152" marR="73152" marT="36576" marB="36576">
                    <a:solidFill>
                      <a:srgbClr val="0B1F3A"/>
                    </a:solidFill>
                  </a:tcPr>
                </a:tc>
              </a:tr>
              <a:tr h="411480">
                <a:tc>
                  <a:txBody>
                    <a:bodyPr/>
                    <a:lstStyle/>
                    <a:p>
                      <a:r>
                        <a:rPr sz="1300" b="0">
                          <a:solidFill>
                            <a:srgbClr val="1F2937"/>
                          </a:solidFill>
                        </a:rPr>
                        <a:t>Asosiy snaryad</a:t>
                      </a:r>
                    </a:p>
                  </a:txBody>
                  <a:tcPr marL="73152" marR="73152" marT="36576" marB="36576">
                    <a:solidFill>
                      <a:srgbClr val="E8EEF6"/>
                    </a:solidFill>
                  </a:tcPr>
                </a:tc>
                <a:tc>
                  <a:txBody>
                    <a:bodyPr/>
                    <a:lstStyle/>
                    <a:p>
                      <a:r>
                        <a:rPr sz="1300" b="0">
                          <a:solidFill>
                            <a:srgbClr val="1F2937"/>
                          </a:solidFill>
                        </a:rPr>
                        <a:t>o‘q, sochma, ularning qismlari</a:t>
                      </a:r>
                    </a:p>
                  </a:txBody>
                  <a:tcPr marL="73152" marR="73152" marT="36576" marB="36576">
                    <a:solidFill>
                      <a:srgbClr val="E8EEF6"/>
                    </a:solidFill>
                  </a:tcPr>
                </a:tc>
              </a:tr>
              <a:tr h="411480">
                <a:tc>
                  <a:txBody>
                    <a:bodyPr/>
                    <a:lstStyle/>
                    <a:p>
                      <a:r>
                        <a:rPr sz="1300" b="0">
                          <a:solidFill>
                            <a:srgbClr val="1F2937"/>
                          </a:solidFill>
                        </a:rPr>
                        <a:t>Qo‘shimcha omillar</a:t>
                      </a:r>
                    </a:p>
                  </a:txBody>
                  <a:tcPr marL="73152" marR="73152" marT="36576" marB="36576">
                    <a:solidFill>
                      <a:srgbClr val="FFFFFF"/>
                    </a:solidFill>
                  </a:tcPr>
                </a:tc>
                <a:tc>
                  <a:txBody>
                    <a:bodyPr/>
                    <a:lstStyle/>
                    <a:p>
                      <a:r>
                        <a:rPr sz="1300" b="0">
                          <a:solidFill>
                            <a:srgbClr val="1F2937"/>
                          </a:solidFill>
                        </a:rPr>
                        <a:t>o‘qoldi havo, alanga, gaz, qurum, porox</a:t>
                      </a:r>
                    </a:p>
                  </a:txBody>
                  <a:tcPr marL="73152" marR="73152" marT="36576" marB="36576">
                    <a:solidFill>
                      <a:srgbClr val="FFFFFF"/>
                    </a:solidFill>
                  </a:tcPr>
                </a:tc>
              </a:tr>
              <a:tr h="411480">
                <a:tc>
                  <a:txBody>
                    <a:bodyPr/>
                    <a:lstStyle/>
                    <a:p>
                      <a:r>
                        <a:rPr sz="1300" b="0">
                          <a:solidFill>
                            <a:srgbClr val="1F2937"/>
                          </a:solidFill>
                        </a:rPr>
                        <a:t>O‘q otar qurol</a:t>
                      </a:r>
                    </a:p>
                  </a:txBody>
                  <a:tcPr marL="73152" marR="73152" marT="36576" marB="36576">
                    <a:solidFill>
                      <a:srgbClr val="E8EEF6"/>
                    </a:solidFill>
                  </a:tcPr>
                </a:tc>
                <a:tc>
                  <a:txBody>
                    <a:bodyPr/>
                    <a:lstStyle/>
                    <a:p>
                      <a:r>
                        <a:rPr sz="1300" b="0">
                          <a:solidFill>
                            <a:srgbClr val="1F2937"/>
                          </a:solidFill>
                        </a:rPr>
                        <a:t>stvol bo‘laklari (stvol yorilganda)</a:t>
                      </a:r>
                    </a:p>
                  </a:txBody>
                  <a:tcPr marL="73152" marR="73152" marT="36576" marB="36576">
                    <a:solidFill>
                      <a:srgbClr val="E8EEF6"/>
                    </a:solidFill>
                  </a:tcPr>
                </a:tc>
              </a:tr>
              <a:tr h="411480">
                <a:tc>
                  <a:txBody>
                    <a:bodyPr/>
                    <a:lstStyle/>
                    <a:p>
                      <a:r>
                        <a:rPr sz="1300" b="0">
                          <a:solidFill>
                            <a:srgbClr val="1F2937"/>
                          </a:solidFill>
                        </a:rPr>
                        <a:t>Ikkilamchi snaryadlar</a:t>
                      </a:r>
                    </a:p>
                  </a:txBody>
                  <a:tcPr marL="73152" marR="73152" marT="36576" marB="36576">
                    <a:solidFill>
                      <a:srgbClr val="FFFFFF"/>
                    </a:solidFill>
                  </a:tcPr>
                </a:tc>
                <a:tc>
                  <a:txBody>
                    <a:bodyPr/>
                    <a:lstStyle/>
                    <a:p>
                      <a:r>
                        <a:rPr sz="1300" b="0">
                          <a:solidFill>
                            <a:srgbClr val="1F2937"/>
                          </a:solidFill>
                        </a:rPr>
                        <a:t>kiyim, suyak va to‘siq bo‘laklari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To‘rt guruh omil</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83, 84, 83-84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Porox gazlari bosimi va snaryad tezligi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Porox yonganda 0,01-0,001 sek. ichida gazlar hosil bo‘lib, patron bo‘shlig‘ida katta bosim paydo bo‘ladi.</a:t>
            </a:r>
          </a:p>
          <a:p>
            <a:pPr>
              <a:spcAft>
                <a:spcPts val="800"/>
              </a:spcAft>
            </a:pPr>
            <a:r>
              <a:rPr sz="1800">
                <a:solidFill>
                  <a:srgbClr val="1F2937"/>
                </a:solidFill>
                <a:latin typeface="Calibri"/>
              </a:rPr>
              <a:t>▸  Gaz bosimi stvol devorining barcha tomoniga ta’sir etadi, qurol biroz orqaga harakatlanadi.</a:t>
            </a:r>
          </a:p>
          <a:p>
            <a:pPr>
              <a:spcAft>
                <a:spcPts val="800"/>
              </a:spcAft>
            </a:pPr>
            <a:r>
              <a:rPr sz="1800">
                <a:solidFill>
                  <a:srgbClr val="1F2937"/>
                </a:solidFill>
                <a:latin typeface="Calibri"/>
              </a:rPr>
              <a:t>▸  Snaryad bir sekundda o‘z o‘qi atrofida 3000 martagacha aylanadi.</a:t>
            </a:r>
          </a:p>
        </p:txBody>
      </p:sp>
      <p:graphicFrame>
        <p:nvGraphicFramePr>
          <p:cNvPr id="9" name="Table 8"/>
          <p:cNvGraphicFramePr>
            <a:graphicFrameLocks noGrp="1"/>
          </p:cNvGraphicFramePr>
          <p:nvPr/>
        </p:nvGraphicFramePr>
        <p:xfrm>
          <a:off x="6263640" y="1463040"/>
          <a:ext cx="5287973" cy="2057400"/>
        </p:xfrm>
        <a:graphic>
          <a:graphicData uri="http://schemas.openxmlformats.org/drawingml/2006/table">
            <a:tbl>
              <a:tblPr firstRow="1" bandRow="1">
                <a:tableStyleId>{5C22544A-7EE6-4342-B048-85BDC9FD1C3A}</a:tableStyleId>
              </a:tblPr>
              <a:tblGrid>
                <a:gridCol w="1473697"/>
                <a:gridCol w="1560386"/>
                <a:gridCol w="2253890"/>
              </a:tblGrid>
              <a:tr h="411480">
                <a:tc>
                  <a:txBody>
                    <a:bodyPr/>
                    <a:lstStyle/>
                    <a:p>
                      <a:r>
                        <a:rPr sz="1300" b="1">
                          <a:solidFill>
                            <a:srgbClr val="FFFFFF"/>
                          </a:solidFill>
                        </a:rPr>
                        <a:t>Qurol</a:t>
                      </a:r>
                    </a:p>
                  </a:txBody>
                  <a:tcPr marL="73152" marR="73152" marT="36576" marB="36576">
                    <a:solidFill>
                      <a:srgbClr val="0B1F3A"/>
                    </a:solidFill>
                  </a:tcPr>
                </a:tc>
                <a:tc>
                  <a:txBody>
                    <a:bodyPr/>
                    <a:lstStyle/>
                    <a:p>
                      <a:r>
                        <a:rPr sz="1300" b="1">
                          <a:solidFill>
                            <a:srgbClr val="FFFFFF"/>
                          </a:solidFill>
                        </a:rPr>
                        <a:t>Bosim</a:t>
                      </a:r>
                    </a:p>
                  </a:txBody>
                  <a:tcPr marL="73152" marR="73152" marT="36576" marB="36576">
                    <a:solidFill>
                      <a:srgbClr val="0B1F3A"/>
                    </a:solidFill>
                  </a:tcPr>
                </a:tc>
                <a:tc>
                  <a:txBody>
                    <a:bodyPr/>
                    <a:lstStyle/>
                    <a:p>
                      <a:r>
                        <a:rPr sz="1300" b="1">
                          <a:solidFill>
                            <a:srgbClr val="FFFFFF"/>
                          </a:solidFill>
                        </a:rPr>
                        <a:t>Tezlik</a:t>
                      </a:r>
                    </a:p>
                  </a:txBody>
                  <a:tcPr marL="73152" marR="73152" marT="36576" marB="36576">
                    <a:solidFill>
                      <a:srgbClr val="0B1F3A"/>
                    </a:solidFill>
                  </a:tcPr>
                </a:tc>
              </a:tr>
              <a:tr h="411480">
                <a:tc>
                  <a:txBody>
                    <a:bodyPr/>
                    <a:lstStyle/>
                    <a:p>
                      <a:r>
                        <a:rPr sz="1200" b="0">
                          <a:solidFill>
                            <a:srgbClr val="1F2937"/>
                          </a:solidFill>
                        </a:rPr>
                        <a:t>Silliq stvolli</a:t>
                      </a:r>
                    </a:p>
                  </a:txBody>
                  <a:tcPr marL="73152" marR="73152" marT="36576" marB="36576">
                    <a:solidFill>
                      <a:srgbClr val="E8EEF6"/>
                    </a:solidFill>
                  </a:tcPr>
                </a:tc>
                <a:tc>
                  <a:txBody>
                    <a:bodyPr/>
                    <a:lstStyle/>
                    <a:p>
                      <a:r>
                        <a:rPr sz="1200" b="0">
                          <a:solidFill>
                            <a:srgbClr val="1F2937"/>
                          </a:solidFill>
                        </a:rPr>
                        <a:t>400-700 atm.</a:t>
                      </a:r>
                    </a:p>
                  </a:txBody>
                  <a:tcPr marL="73152" marR="73152" marT="36576" marB="36576">
                    <a:solidFill>
                      <a:srgbClr val="E8EEF6"/>
                    </a:solidFill>
                  </a:tcPr>
                </a:tc>
                <a:tc>
                  <a:txBody>
                    <a:bodyPr/>
                    <a:lstStyle/>
                    <a:p>
                      <a:r>
                        <a:rPr sz="1200" b="0">
                          <a:solidFill>
                            <a:srgbClr val="1F2937"/>
                          </a:solidFill>
                        </a:rPr>
                        <a:t>500 m/sek.gacha</a:t>
                      </a:r>
                    </a:p>
                  </a:txBody>
                  <a:tcPr marL="73152" marR="73152" marT="36576" marB="36576">
                    <a:solidFill>
                      <a:srgbClr val="E8EEF6"/>
                    </a:solidFill>
                  </a:tcPr>
                </a:tc>
              </a:tr>
              <a:tr h="411480">
                <a:tc>
                  <a:txBody>
                    <a:bodyPr/>
                    <a:lstStyle/>
                    <a:p>
                      <a:r>
                        <a:rPr sz="1200" b="0">
                          <a:solidFill>
                            <a:srgbClr val="1F2937"/>
                          </a:solidFill>
                        </a:rPr>
                        <a:t>O‘yiqli stvolli</a:t>
                      </a:r>
                    </a:p>
                  </a:txBody>
                  <a:tcPr marL="73152" marR="73152" marT="36576" marB="36576">
                    <a:solidFill>
                      <a:srgbClr val="FFFFFF"/>
                    </a:solidFill>
                  </a:tcPr>
                </a:tc>
                <a:tc>
                  <a:txBody>
                    <a:bodyPr/>
                    <a:lstStyle/>
                    <a:p>
                      <a:r>
                        <a:rPr sz="1200" b="0">
                          <a:solidFill>
                            <a:srgbClr val="1F2937"/>
                          </a:solidFill>
                        </a:rPr>
                        <a:t>2000-3000 atm.</a:t>
                      </a:r>
                    </a:p>
                  </a:txBody>
                  <a:tcPr marL="73152" marR="73152" marT="36576" marB="36576">
                    <a:solidFill>
                      <a:srgbClr val="FFFFFF"/>
                    </a:solidFill>
                  </a:tcPr>
                </a:tc>
                <a:tc>
                  <a:txBody>
                    <a:bodyPr/>
                    <a:lstStyle/>
                    <a:p>
                      <a:r>
                        <a:rPr sz="1200" b="0">
                          <a:solidFill>
                            <a:srgbClr val="1F2937"/>
                          </a:solidFill>
                        </a:rPr>
                        <a:t>bir necha ming m/sek.gacha</a:t>
                      </a:r>
                    </a:p>
                  </a:txBody>
                  <a:tcPr marL="73152" marR="73152" marT="36576" marB="36576">
                    <a:solidFill>
                      <a:srgbClr val="FFFFFF"/>
                    </a:solidFill>
                  </a:tcPr>
                </a:tc>
              </a:tr>
              <a:tr h="411480">
                <a:tc>
                  <a:txBody>
                    <a:bodyPr/>
                    <a:lstStyle/>
                    <a:p>
                      <a:r>
                        <a:rPr sz="1200" b="0">
                          <a:solidFill>
                            <a:srgbClr val="1F2937"/>
                          </a:solidFill>
                        </a:rPr>
                        <a:t>Makarov pistoleti</a:t>
                      </a:r>
                    </a:p>
                  </a:txBody>
                  <a:tcPr marL="73152" marR="73152" marT="36576" marB="36576">
                    <a:solidFill>
                      <a:srgbClr val="E8EEF6"/>
                    </a:solidFill>
                  </a:tcPr>
                </a:tc>
                <a:tc>
                  <a:txBody>
                    <a:bodyPr/>
                    <a:lstStyle/>
                    <a:p>
                      <a:r>
                        <a:rPr sz="1200" b="0">
                          <a:solidFill>
                            <a:srgbClr val="1F2937"/>
                          </a:solidFill>
                        </a:rPr>
                        <a:t>manbada berilmagan</a:t>
                      </a:r>
                    </a:p>
                  </a:txBody>
                  <a:tcPr marL="73152" marR="73152" marT="36576" marB="36576">
                    <a:solidFill>
                      <a:srgbClr val="E8EEF6"/>
                    </a:solidFill>
                  </a:tcPr>
                </a:tc>
                <a:tc>
                  <a:txBody>
                    <a:bodyPr/>
                    <a:lstStyle/>
                    <a:p>
                      <a:r>
                        <a:rPr sz="1200" b="0">
                          <a:solidFill>
                            <a:srgbClr val="1F2937"/>
                          </a:solidFill>
                        </a:rPr>
                        <a:t>315 m/sek.</a:t>
                      </a:r>
                    </a:p>
                  </a:txBody>
                  <a:tcPr marL="73152" marR="73152" marT="36576" marB="36576">
                    <a:solidFill>
                      <a:srgbClr val="E8EEF6"/>
                    </a:solidFill>
                  </a:tcPr>
                </a:tc>
              </a:tr>
              <a:tr h="411480">
                <a:tc>
                  <a:txBody>
                    <a:bodyPr/>
                    <a:lstStyle/>
                    <a:p>
                      <a:r>
                        <a:rPr sz="1200" b="0">
                          <a:solidFill>
                            <a:srgbClr val="1F2937"/>
                          </a:solidFill>
                        </a:rPr>
                        <a:t>AKM avtomati</a:t>
                      </a:r>
                    </a:p>
                  </a:txBody>
                  <a:tcPr marL="73152" marR="73152" marT="36576" marB="36576">
                    <a:solidFill>
                      <a:srgbClr val="FFFFFF"/>
                    </a:solidFill>
                  </a:tcPr>
                </a:tc>
                <a:tc>
                  <a:txBody>
                    <a:bodyPr/>
                    <a:lstStyle/>
                    <a:p>
                      <a:r>
                        <a:rPr sz="1200" b="0">
                          <a:solidFill>
                            <a:srgbClr val="1F2937"/>
                          </a:solidFill>
                        </a:rPr>
                        <a:t>manbada berilmagan</a:t>
                      </a:r>
                    </a:p>
                  </a:txBody>
                  <a:tcPr marL="73152" marR="73152" marT="36576" marB="36576">
                    <a:solidFill>
                      <a:srgbClr val="FFFFFF"/>
                    </a:solidFill>
                  </a:tcPr>
                </a:tc>
                <a:tc>
                  <a:txBody>
                    <a:bodyPr/>
                    <a:lstStyle/>
                    <a:p>
                      <a:r>
                        <a:rPr sz="1200" b="0">
                          <a:solidFill>
                            <a:srgbClr val="1F2937"/>
                          </a:solidFill>
                        </a:rPr>
                        <a:t>710 m/sek.</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Bosim va tezlik (atm. — atmosfera)</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83, 84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Qo‘shimcha omillar va ta’sir masofalari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Qo‘shimcha omillarga o‘q oldi havo, o‘q otish alangasi, porox gazlari, qurum, zarrachalar va moy tomchilari kiradi.</a:t>
            </a:r>
          </a:p>
          <a:p>
            <a:pPr>
              <a:spcAft>
                <a:spcPts val="800"/>
              </a:spcAft>
            </a:pPr>
            <a:r>
              <a:rPr sz="1800">
                <a:solidFill>
                  <a:srgbClr val="1F2937"/>
                </a:solidFill>
                <a:latin typeface="Calibri"/>
              </a:rPr>
              <a:t>▸  Ta’sir qurol va patron tuzilishiga, avvalgi otishlarga, to‘siq va shikastlanayotgan yuzaga bog‘liq.</a:t>
            </a:r>
          </a:p>
          <a:p>
            <a:pPr>
              <a:spcAft>
                <a:spcPts val="800"/>
              </a:spcAft>
            </a:pPr>
            <a:r>
              <a:rPr sz="1800">
                <a:solidFill>
                  <a:srgbClr val="1F2937"/>
                </a:solidFill>
                <a:latin typeface="Calibri"/>
              </a:rPr>
              <a:t>▸  Porox gazlari bosimidan qurol orqaga siljiydi; qo‘lbola qurolda stvol yorilib, qurol ushlagan shaxsga shikast yetishi mumkin.</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1510850"/>
                <a:gridCol w="1930530"/>
                <a:gridCol w="1846594"/>
              </a:tblGrid>
              <a:tr h="411480">
                <a:tc>
                  <a:txBody>
                    <a:bodyPr/>
                    <a:lstStyle/>
                    <a:p>
                      <a:r>
                        <a:rPr sz="1300" b="1">
                          <a:solidFill>
                            <a:srgbClr val="FFFFFF"/>
                          </a:solidFill>
                        </a:rPr>
                        <a:t>Omil</a:t>
                      </a:r>
                    </a:p>
                  </a:txBody>
                  <a:tcPr marL="73152" marR="73152" marT="36576" marB="36576">
                    <a:solidFill>
                      <a:srgbClr val="0B1F3A"/>
                    </a:solidFill>
                  </a:tcPr>
                </a:tc>
                <a:tc>
                  <a:txBody>
                    <a:bodyPr/>
                    <a:lstStyle/>
                    <a:p>
                      <a:r>
                        <a:rPr sz="1300" b="1">
                          <a:solidFill>
                            <a:srgbClr val="FFFFFF"/>
                          </a:solidFill>
                        </a:rPr>
                        <a:t>Ta’sir turi</a:t>
                      </a:r>
                    </a:p>
                  </a:txBody>
                  <a:tcPr marL="73152" marR="73152" marT="36576" marB="36576">
                    <a:solidFill>
                      <a:srgbClr val="0B1F3A"/>
                    </a:solidFill>
                  </a:tcPr>
                </a:tc>
                <a:tc>
                  <a:txBody>
                    <a:bodyPr/>
                    <a:lstStyle/>
                    <a:p>
                      <a:r>
                        <a:rPr sz="1300" b="1">
                          <a:solidFill>
                            <a:srgbClr val="FFFFFF"/>
                          </a:solidFill>
                        </a:rPr>
                        <a:t>Masofa</a:t>
                      </a:r>
                    </a:p>
                  </a:txBody>
                  <a:tcPr marL="73152" marR="73152" marT="36576" marB="36576">
                    <a:solidFill>
                      <a:srgbClr val="0B1F3A"/>
                    </a:solidFill>
                  </a:tcPr>
                </a:tc>
              </a:tr>
              <a:tr h="411480">
                <a:tc>
                  <a:txBody>
                    <a:bodyPr/>
                    <a:lstStyle/>
                    <a:p>
                      <a:r>
                        <a:rPr sz="1200" b="0">
                          <a:solidFill>
                            <a:srgbClr val="1F2937"/>
                          </a:solidFill>
                        </a:rPr>
                        <a:t>O‘q oldi havo</a:t>
                      </a:r>
                    </a:p>
                  </a:txBody>
                  <a:tcPr marL="73152" marR="73152" marT="36576" marB="36576">
                    <a:solidFill>
                      <a:srgbClr val="E8EEF6"/>
                    </a:solidFill>
                  </a:tcPr>
                </a:tc>
                <a:tc>
                  <a:txBody>
                    <a:bodyPr/>
                    <a:lstStyle/>
                    <a:p>
                      <a:r>
                        <a:rPr sz="1200" b="0">
                          <a:solidFill>
                            <a:srgbClr val="1F2937"/>
                          </a:solidFill>
                        </a:rPr>
                        <a:t>Mexanik</a:t>
                      </a:r>
                    </a:p>
                  </a:txBody>
                  <a:tcPr marL="73152" marR="73152" marT="36576" marB="36576">
                    <a:solidFill>
                      <a:srgbClr val="E8EEF6"/>
                    </a:solidFill>
                  </a:tcPr>
                </a:tc>
                <a:tc>
                  <a:txBody>
                    <a:bodyPr/>
                    <a:lstStyle/>
                    <a:p>
                      <a:r>
                        <a:rPr sz="1200" b="0">
                          <a:solidFill>
                            <a:srgbClr val="1F2937"/>
                          </a:solidFill>
                        </a:rPr>
                        <a:t>3-5 sm</a:t>
                      </a:r>
                    </a:p>
                  </a:txBody>
                  <a:tcPr marL="73152" marR="73152" marT="36576" marB="36576">
                    <a:solidFill>
                      <a:srgbClr val="E8EEF6"/>
                    </a:solidFill>
                  </a:tcPr>
                </a:tc>
              </a:tr>
              <a:tr h="411480">
                <a:tc>
                  <a:txBody>
                    <a:bodyPr/>
                    <a:lstStyle/>
                    <a:p>
                      <a:r>
                        <a:rPr sz="1200" b="0">
                          <a:solidFill>
                            <a:srgbClr val="1F2937"/>
                          </a:solidFill>
                        </a:rPr>
                        <a:t>Porox gazlari</a:t>
                      </a:r>
                    </a:p>
                  </a:txBody>
                  <a:tcPr marL="73152" marR="73152" marT="36576" marB="36576">
                    <a:solidFill>
                      <a:srgbClr val="FFFFFF"/>
                    </a:solidFill>
                  </a:tcPr>
                </a:tc>
                <a:tc>
                  <a:txBody>
                    <a:bodyPr/>
                    <a:lstStyle/>
                    <a:p>
                      <a:r>
                        <a:rPr sz="1200" b="0">
                          <a:solidFill>
                            <a:srgbClr val="1F2937"/>
                          </a:solidFill>
                        </a:rPr>
                        <a:t>Mexanik</a:t>
                      </a:r>
                    </a:p>
                  </a:txBody>
                  <a:tcPr marL="73152" marR="73152" marT="36576" marB="36576">
                    <a:solidFill>
                      <a:srgbClr val="FFFFFF"/>
                    </a:solidFill>
                  </a:tcPr>
                </a:tc>
                <a:tc>
                  <a:txBody>
                    <a:bodyPr/>
                    <a:lstStyle/>
                    <a:p>
                      <a:r>
                        <a:rPr sz="1200" b="0">
                          <a:solidFill>
                            <a:srgbClr val="1F2937"/>
                          </a:solidFill>
                        </a:rPr>
                        <a:t>10-15 sm</a:t>
                      </a:r>
                    </a:p>
                  </a:txBody>
                  <a:tcPr marL="73152" marR="73152" marT="36576" marB="36576">
                    <a:solidFill>
                      <a:srgbClr val="FFFFFF"/>
                    </a:solidFill>
                  </a:tcPr>
                </a:tc>
              </a:tr>
              <a:tr h="411480">
                <a:tc>
                  <a:txBody>
                    <a:bodyPr/>
                    <a:lstStyle/>
                    <a:p>
                      <a:r>
                        <a:rPr sz="1200" b="0">
                          <a:solidFill>
                            <a:srgbClr val="1F2937"/>
                          </a:solidFill>
                        </a:rPr>
                        <a:t>O‘q otish alangasi</a:t>
                      </a:r>
                    </a:p>
                  </a:txBody>
                  <a:tcPr marL="73152" marR="73152" marT="36576" marB="36576">
                    <a:solidFill>
                      <a:srgbClr val="E8EEF6"/>
                    </a:solidFill>
                  </a:tcPr>
                </a:tc>
                <a:tc>
                  <a:txBody>
                    <a:bodyPr/>
                    <a:lstStyle/>
                    <a:p>
                      <a:r>
                        <a:rPr sz="1200" b="0">
                          <a:solidFill>
                            <a:srgbClr val="1F2937"/>
                          </a:solidFill>
                        </a:rPr>
                        <a:t>Termik</a:t>
                      </a:r>
                    </a:p>
                  </a:txBody>
                  <a:tcPr marL="73152" marR="73152" marT="36576" marB="36576">
                    <a:solidFill>
                      <a:srgbClr val="E8EEF6"/>
                    </a:solidFill>
                  </a:tcPr>
                </a:tc>
                <a:tc>
                  <a:txBody>
                    <a:bodyPr/>
                    <a:lstStyle/>
                    <a:p>
                      <a:r>
                        <a:rPr sz="1200" b="0">
                          <a:solidFill>
                            <a:srgbClr val="1F2937"/>
                          </a:solidFill>
                        </a:rPr>
                        <a:t>3-10 sm</a:t>
                      </a:r>
                    </a:p>
                  </a:txBody>
                  <a:tcPr marL="73152" marR="73152" marT="36576" marB="36576">
                    <a:solidFill>
                      <a:srgbClr val="E8EEF6"/>
                    </a:solidFill>
                  </a:tcPr>
                </a:tc>
              </a:tr>
              <a:tr h="411480">
                <a:tc>
                  <a:txBody>
                    <a:bodyPr/>
                    <a:lstStyle/>
                    <a:p>
                      <a:r>
                        <a:rPr sz="1200" b="0">
                          <a:solidFill>
                            <a:srgbClr val="1F2937"/>
                          </a:solidFill>
                        </a:rPr>
                        <a:t>Qurum, zarrachalar</a:t>
                      </a:r>
                    </a:p>
                  </a:txBody>
                  <a:tcPr marL="73152" marR="73152" marT="36576" marB="36576">
                    <a:solidFill>
                      <a:srgbClr val="FFFFFF"/>
                    </a:solidFill>
                  </a:tcPr>
                </a:tc>
                <a:tc>
                  <a:txBody>
                    <a:bodyPr/>
                    <a:lstStyle/>
                    <a:p>
                      <a:r>
                        <a:rPr sz="1200" b="0">
                          <a:solidFill>
                            <a:srgbClr val="1F2937"/>
                          </a:solidFill>
                        </a:rPr>
                        <a:t>Yuzaki yengil kontuzion</a:t>
                      </a:r>
                    </a:p>
                  </a:txBody>
                  <a:tcPr marL="73152" marR="73152" marT="36576" marB="36576">
                    <a:solidFill>
                      <a:srgbClr val="FFFFFF"/>
                    </a:solidFill>
                  </a:tcPr>
                </a:tc>
                <a:tc>
                  <a:txBody>
                    <a:bodyPr/>
                    <a:lstStyle/>
                    <a:p>
                      <a:r>
                        <a:rPr sz="1200" b="0">
                          <a:solidFill>
                            <a:srgbClr val="1F2937"/>
                          </a:solidFill>
                        </a:rPr>
                        <a:t>Manbada ko‘rsatilmagan</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Qo‘shimcha omillar masofasi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84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Mexanik ta’sir: yorma, yulma, ponasimon</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Mexanik ta’sir turi o‘qning nishonga tegish paytidagi energiyasining kattaligiga bog‘liq.</a:t>
            </a:r>
          </a:p>
          <a:p>
            <a:pPr>
              <a:spcAft>
                <a:spcPts val="800"/>
              </a:spcAft>
            </a:pPr>
            <a:r>
              <a:rPr sz="1800">
                <a:solidFill>
                  <a:srgbClr val="1F2937"/>
                </a:solidFill>
                <a:latin typeface="Calibri"/>
              </a:rPr>
              <a:t>▸  Pirogov to‘qima defektini 1849 yilda tasvirlab, uni “to‘qima o‘zligini yo‘qotishi” deb atagan.</a:t>
            </a:r>
          </a:p>
          <a:p>
            <a:pPr>
              <a:spcAft>
                <a:spcPts val="800"/>
              </a:spcAft>
            </a:pPr>
            <a:r>
              <a:rPr sz="1800">
                <a:solidFill>
                  <a:srgbClr val="1F2937"/>
                </a:solidFill>
                <a:latin typeface="Calibri"/>
              </a:rPr>
              <a:t>▸  Diqqat: yulma ≠ ponasimon. Yulmada to‘qima defekti bor, ponasimonda yo‘q; chiqish teshigi odatda ponasimon.</a:t>
            </a:r>
          </a:p>
        </p:txBody>
      </p:sp>
      <p:graphicFrame>
        <p:nvGraphicFramePr>
          <p:cNvPr id="9" name="Table 8"/>
          <p:cNvGraphicFramePr>
            <a:graphicFrameLocks noGrp="1"/>
          </p:cNvGraphicFramePr>
          <p:nvPr/>
        </p:nvGraphicFramePr>
        <p:xfrm>
          <a:off x="6263640" y="1463040"/>
          <a:ext cx="5287974" cy="1645920"/>
        </p:xfrm>
        <a:graphic>
          <a:graphicData uri="http://schemas.openxmlformats.org/drawingml/2006/table">
            <a:tbl>
              <a:tblPr firstRow="1" bandRow="1">
                <a:tableStyleId>{5C22544A-7EE6-4342-B048-85BDC9FD1C3A}</a:tableStyleId>
              </a:tblPr>
              <a:tblGrid>
                <a:gridCol w="1128101"/>
                <a:gridCol w="1339620"/>
                <a:gridCol w="2820253"/>
              </a:tblGrid>
              <a:tr h="411480">
                <a:tc>
                  <a:txBody>
                    <a:bodyPr/>
                    <a:lstStyle/>
                    <a:p>
                      <a:r>
                        <a:rPr sz="1300" b="1">
                          <a:solidFill>
                            <a:srgbClr val="FFFFFF"/>
                          </a:solidFill>
                        </a:rPr>
                        <a:t>Ta’sir</a:t>
                      </a:r>
                    </a:p>
                  </a:txBody>
                  <a:tcPr marL="73152" marR="73152" marT="36576" marB="36576">
                    <a:solidFill>
                      <a:srgbClr val="0B1F3A"/>
                    </a:solidFill>
                  </a:tcPr>
                </a:tc>
                <a:tc>
                  <a:txBody>
                    <a:bodyPr/>
                    <a:lstStyle/>
                    <a:p>
                      <a:r>
                        <a:rPr sz="1300" b="1">
                          <a:solidFill>
                            <a:srgbClr val="FFFFFF"/>
                          </a:solidFill>
                        </a:rPr>
                        <a:t>Energiya</a:t>
                      </a:r>
                    </a:p>
                  </a:txBody>
                  <a:tcPr marL="73152" marR="73152" marT="36576" marB="36576">
                    <a:solidFill>
                      <a:srgbClr val="0B1F3A"/>
                    </a:solidFill>
                  </a:tcPr>
                </a:tc>
                <a:tc>
                  <a:txBody>
                    <a:bodyPr/>
                    <a:lstStyle/>
                    <a:p>
                      <a:r>
                        <a:rPr sz="1300" b="1">
                          <a:solidFill>
                            <a:srgbClr val="FFFFFF"/>
                          </a:solidFill>
                        </a:rPr>
                        <a:t>Yara belgisi</a:t>
                      </a:r>
                    </a:p>
                  </a:txBody>
                  <a:tcPr marL="73152" marR="73152" marT="36576" marB="36576">
                    <a:solidFill>
                      <a:srgbClr val="0B1F3A"/>
                    </a:solidFill>
                  </a:tcPr>
                </a:tc>
              </a:tr>
              <a:tr h="411480">
                <a:tc>
                  <a:txBody>
                    <a:bodyPr/>
                    <a:lstStyle/>
                    <a:p>
                      <a:r>
                        <a:rPr sz="1200" b="0">
                          <a:solidFill>
                            <a:srgbClr val="1F2937"/>
                          </a:solidFill>
                        </a:rPr>
                        <a:t>Yorma</a:t>
                      </a:r>
                    </a:p>
                  </a:txBody>
                  <a:tcPr marL="73152" marR="73152" marT="36576" marB="36576">
                    <a:solidFill>
                      <a:srgbClr val="E8EEF6"/>
                    </a:solidFill>
                  </a:tcPr>
                </a:tc>
                <a:tc>
                  <a:txBody>
                    <a:bodyPr/>
                    <a:lstStyle/>
                    <a:p>
                      <a:r>
                        <a:rPr sz="1200" b="0">
                          <a:solidFill>
                            <a:srgbClr val="1F2937"/>
                          </a:solidFill>
                        </a:rPr>
                        <a:t>Bir necha ming joul</a:t>
                      </a:r>
                    </a:p>
                  </a:txBody>
                  <a:tcPr marL="73152" marR="73152" marT="36576" marB="36576">
                    <a:solidFill>
                      <a:srgbClr val="E8EEF6"/>
                    </a:solidFill>
                  </a:tcPr>
                </a:tc>
                <a:tc>
                  <a:txBody>
                    <a:bodyPr/>
                    <a:lstStyle/>
                    <a:p>
                      <a:r>
                        <a:rPr sz="1200" b="0">
                          <a:solidFill>
                            <a:srgbClr val="1F2937"/>
                          </a:solidFill>
                        </a:rPr>
                        <a:t>Yara katta, chetlari notekis, radial yoriq</a:t>
                      </a:r>
                    </a:p>
                  </a:txBody>
                  <a:tcPr marL="73152" marR="73152" marT="36576" marB="36576">
                    <a:solidFill>
                      <a:srgbClr val="E8EEF6"/>
                    </a:solidFill>
                  </a:tcPr>
                </a:tc>
              </a:tr>
              <a:tr h="411480">
                <a:tc>
                  <a:txBody>
                    <a:bodyPr/>
                    <a:lstStyle/>
                    <a:p>
                      <a:r>
                        <a:rPr sz="1200" b="0">
                          <a:solidFill>
                            <a:srgbClr val="1F2937"/>
                          </a:solidFill>
                        </a:rPr>
                        <a:t>Yulma</a:t>
                      </a:r>
                    </a:p>
                  </a:txBody>
                  <a:tcPr marL="73152" marR="73152" marT="36576" marB="36576">
                    <a:solidFill>
                      <a:srgbClr val="FFFFFF"/>
                    </a:solidFill>
                  </a:tcPr>
                </a:tc>
                <a:tc>
                  <a:txBody>
                    <a:bodyPr/>
                    <a:lstStyle/>
                    <a:p>
                      <a:r>
                        <a:rPr sz="1200" b="0">
                          <a:solidFill>
                            <a:srgbClr val="1F2937"/>
                          </a:solidFill>
                        </a:rPr>
                        <a:t>Bir necha yuz joul</a:t>
                      </a:r>
                    </a:p>
                  </a:txBody>
                  <a:tcPr marL="73152" marR="73152" marT="36576" marB="36576">
                    <a:solidFill>
                      <a:srgbClr val="FFFFFF"/>
                    </a:solidFill>
                  </a:tcPr>
                </a:tc>
                <a:tc>
                  <a:txBody>
                    <a:bodyPr/>
                    <a:lstStyle/>
                    <a:p>
                      <a:r>
                        <a:rPr sz="1200" b="0">
                          <a:solidFill>
                            <a:srgbClr val="1F2937"/>
                          </a:solidFill>
                        </a:rPr>
                        <a:t>Defekt o‘qdan kichik, chetlari tekis</a:t>
                      </a:r>
                    </a:p>
                  </a:txBody>
                  <a:tcPr marL="73152" marR="73152" marT="36576" marB="36576">
                    <a:solidFill>
                      <a:srgbClr val="FFFFFF"/>
                    </a:solidFill>
                  </a:tcPr>
                </a:tc>
              </a:tr>
              <a:tr h="411480">
                <a:tc>
                  <a:txBody>
                    <a:bodyPr/>
                    <a:lstStyle/>
                    <a:p>
                      <a:r>
                        <a:rPr sz="1200" b="0">
                          <a:solidFill>
                            <a:srgbClr val="1F2937"/>
                          </a:solidFill>
                        </a:rPr>
                        <a:t>Ponasimon</a:t>
                      </a:r>
                    </a:p>
                  </a:txBody>
                  <a:tcPr marL="73152" marR="73152" marT="36576" marB="36576">
                    <a:solidFill>
                      <a:srgbClr val="E8EEF6"/>
                    </a:solidFill>
                  </a:tcPr>
                </a:tc>
                <a:tc>
                  <a:txBody>
                    <a:bodyPr/>
                    <a:lstStyle/>
                    <a:p>
                      <a:r>
                        <a:rPr sz="1200" b="0">
                          <a:solidFill>
                            <a:srgbClr val="1F2937"/>
                          </a:solidFill>
                        </a:rPr>
                        <a:t>Bir necha o‘n joul</a:t>
                      </a:r>
                    </a:p>
                  </a:txBody>
                  <a:tcPr marL="73152" marR="73152" marT="36576" marB="36576">
                    <a:solidFill>
                      <a:srgbClr val="E8EEF6"/>
                    </a:solidFill>
                  </a:tcPr>
                </a:tc>
                <a:tc>
                  <a:txBody>
                    <a:bodyPr/>
                    <a:lstStyle/>
                    <a:p>
                      <a:r>
                        <a:rPr sz="1200" b="0">
                          <a:solidFill>
                            <a:srgbClr val="1F2937"/>
                          </a:solidFill>
                        </a:rPr>
                        <a:t>Yoriqsimon, yulduzsimon, defektsiz</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Uch ta’sir turi solishtirmasi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84, 85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Termik va kimyoviy ta’sir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Termik ta’sir asosan o‘q otish alangasi va porox gazlaridan. Alanga yonib ulgurmagan porox zarrachalarining havo kislorodi bilan portlashidan hosil bo‘lib, 3-10 sm masofada ta’sir etadi.</a:t>
            </a:r>
          </a:p>
          <a:p>
            <a:pPr>
              <a:spcAft>
                <a:spcPts val="1200"/>
              </a:spcAft>
            </a:pPr>
            <a:r>
              <a:rPr sz="2000">
                <a:solidFill>
                  <a:srgbClr val="1F2937"/>
                </a:solidFill>
                <a:latin typeface="Calibri"/>
              </a:rPr>
              <a:t>▸  Alanga va gazlar kiyim, teri va sochni kuydiradi; kiyimning ikkilamchi alangalanishi ham termik jarohat beradi. Qurum, porox va metall zarrachalari yuzaki termik shikast yetkazadi.</a:t>
            </a:r>
          </a:p>
          <a:p>
            <a:pPr>
              <a:spcAft>
                <a:spcPts val="1200"/>
              </a:spcAft>
            </a:pPr>
            <a:r>
              <a:rPr sz="2000">
                <a:solidFill>
                  <a:srgbClr val="1F2937"/>
                </a:solidFill>
                <a:latin typeface="Calibri"/>
              </a:rPr>
              <a:t>▸  Kimyoviy ta’sir porox gazlaridan: kirish teshigi atrofida qonda karboksigemoglobin, mushaklarda karboksimioglobin hosil bo‘lib, soha pushti tusga kiradi. Ba’zan metgemoglobin va sulfgemoglobin ham paydo bo‘ladi.</a:t>
            </a:r>
          </a:p>
          <a:p>
            <a:pPr>
              <a:spcAft>
                <a:spcPts val="1200"/>
              </a:spcAft>
            </a:pPr>
            <a:r>
              <a:rPr sz="2000">
                <a:solidFill>
                  <a:srgbClr val="1F2937"/>
                </a:solidFill>
                <a:latin typeface="Calibri"/>
              </a:rPr>
              <a:t>▸  Maxsus o‘qlar (yondiruvchi yoki kimyoviy modda saqlovchi) tegishli tarzda termik va kimyoviy shikastlanish hosil qiladi.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86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shikastlovchi omillar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yara atrofida kuyish, shilinish va pushti tus aniqlangan. Savol: qo‘shimcha omillardan qaysilari ta’sir qilgan?</a:t>
            </a:r>
          </a:p>
          <a:p>
            <a:pPr>
              <a:spcAft>
                <a:spcPts val="1200"/>
              </a:spcAft>
            </a:pPr>
            <a:r>
              <a:rPr sz="2200">
                <a:solidFill>
                  <a:srgbClr val="1F2937"/>
                </a:solidFill>
                <a:latin typeface="Calibri"/>
              </a:rPr>
              <a:t>▸  Kuyish: o‘q otish alangasi (3-10 sm) va porox gazlari termik ta’sir etib, kiyim, teri va sochni kuydiradi.</a:t>
            </a:r>
          </a:p>
          <a:p>
            <a:pPr>
              <a:spcAft>
                <a:spcPts val="1200"/>
              </a:spcAft>
            </a:pPr>
            <a:r>
              <a:rPr sz="2200">
                <a:solidFill>
                  <a:srgbClr val="1F2937"/>
                </a:solidFill>
                <a:latin typeface="Calibri"/>
              </a:rPr>
              <a:t>▸  Shilinish: porox gazlari 10-15 sm masofada mexanik ta’sir ko‘rsatib, shilinish, qontalash va yumshoq to‘qima yorilishini beradi.</a:t>
            </a:r>
          </a:p>
          <a:p>
            <a:pPr>
              <a:spcAft>
                <a:spcPts val="1200"/>
              </a:spcAft>
            </a:pPr>
            <a:r>
              <a:rPr sz="2200">
                <a:solidFill>
                  <a:srgbClr val="1F2937"/>
                </a:solidFill>
                <a:latin typeface="Calibri"/>
              </a:rPr>
              <a:t>▸  Pushti tus: porox gazlarining kimyoviy ta’sirida qonda karboksigemoglobin, mushakda karboksimioglobin hosil bo‘ladi.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84, 86, 85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O‘q otish distansiyasi va masofasi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Distansiya — ma’lum belgilar majmui, masofa esa stvol uchi va nishon oralig‘i.</a:t>
            </a:r>
          </a:p>
          <a:p>
            <a:pPr>
              <a:spcAft>
                <a:spcPts val="800"/>
              </a:spcAft>
            </a:pPr>
            <a:r>
              <a:rPr sz="1800">
                <a:solidFill>
                  <a:srgbClr val="1F2937"/>
                </a:solidFill>
                <a:latin typeface="Calibri"/>
              </a:rPr>
              <a:t>▸  Masofa faqat eksperiment bilan aniqlanadi: shu qurol va patrondan sinov otishlari o‘tkaziladi.</a:t>
            </a:r>
          </a:p>
          <a:p>
            <a:pPr>
              <a:spcAft>
                <a:spcPts val="800"/>
              </a:spcAft>
            </a:pPr>
            <a:r>
              <a:rPr sz="1800">
                <a:solidFill>
                  <a:srgbClr val="1F2937"/>
                </a:solidFill>
                <a:latin typeface="Calibri"/>
              </a:rPr>
              <a:t>▸  Diqqat: distansiya ≠ masofa. Bir xil distansiya turli qurolda boshqa masofaga to‘g‘ri kelishi mumkin.</a:t>
            </a:r>
          </a:p>
        </p:txBody>
      </p:sp>
      <p:graphicFrame>
        <p:nvGraphicFramePr>
          <p:cNvPr id="9" name="Table 8"/>
          <p:cNvGraphicFramePr>
            <a:graphicFrameLocks noGrp="1"/>
          </p:cNvGraphicFramePr>
          <p:nvPr/>
        </p:nvGraphicFramePr>
        <p:xfrm>
          <a:off x="6263640" y="1463040"/>
          <a:ext cx="5287973" cy="2057400"/>
        </p:xfrm>
        <a:graphic>
          <a:graphicData uri="http://schemas.openxmlformats.org/drawingml/2006/table">
            <a:tbl>
              <a:tblPr firstRow="1" bandRow="1">
                <a:tableStyleId>{5C22544A-7EE6-4342-B048-85BDC9FD1C3A}</a:tableStyleId>
              </a:tblPr>
              <a:tblGrid>
                <a:gridCol w="1084712"/>
                <a:gridCol w="2305014"/>
                <a:gridCol w="1898247"/>
              </a:tblGrid>
              <a:tr h="411480">
                <a:tc>
                  <a:txBody>
                    <a:bodyPr/>
                    <a:lstStyle/>
                    <a:p>
                      <a:r>
                        <a:rPr sz="1300" b="1">
                          <a:solidFill>
                            <a:srgbClr val="FFFFFF"/>
                          </a:solidFill>
                        </a:rPr>
                        <a:t>Belgi</a:t>
                      </a:r>
                    </a:p>
                  </a:txBody>
                  <a:tcPr marL="73152" marR="73152" marT="36576" marB="36576">
                    <a:solidFill>
                      <a:srgbClr val="0B1F3A"/>
                    </a:solidFill>
                  </a:tcPr>
                </a:tc>
                <a:tc>
                  <a:txBody>
                    <a:bodyPr/>
                    <a:lstStyle/>
                    <a:p>
                      <a:r>
                        <a:rPr sz="1300" b="1">
                          <a:solidFill>
                            <a:srgbClr val="FFFFFF"/>
                          </a:solidFill>
                        </a:rPr>
                        <a:t>Distansiya</a:t>
                      </a:r>
                    </a:p>
                  </a:txBody>
                  <a:tcPr marL="73152" marR="73152" marT="36576" marB="36576">
                    <a:solidFill>
                      <a:srgbClr val="0B1F3A"/>
                    </a:solidFill>
                  </a:tcPr>
                </a:tc>
                <a:tc>
                  <a:txBody>
                    <a:bodyPr/>
                    <a:lstStyle/>
                    <a:p>
                      <a:r>
                        <a:rPr sz="1300" b="1">
                          <a:solidFill>
                            <a:srgbClr val="FFFFFF"/>
                          </a:solidFill>
                        </a:rPr>
                        <a:t>Masofa</a:t>
                      </a:r>
                    </a:p>
                  </a:txBody>
                  <a:tcPr marL="73152" marR="73152" marT="36576" marB="36576">
                    <a:solidFill>
                      <a:srgbClr val="0B1F3A"/>
                    </a:solidFill>
                  </a:tcPr>
                </a:tc>
              </a:tr>
              <a:tr h="411480">
                <a:tc>
                  <a:txBody>
                    <a:bodyPr/>
                    <a:lstStyle/>
                    <a:p>
                      <a:r>
                        <a:rPr sz="1200" b="0">
                          <a:solidFill>
                            <a:srgbClr val="1F2937"/>
                          </a:solidFill>
                        </a:rPr>
                        <a:t>Mohiyati</a:t>
                      </a:r>
                    </a:p>
                  </a:txBody>
                  <a:tcPr marL="73152" marR="73152" marT="36576" marB="36576">
                    <a:solidFill>
                      <a:srgbClr val="E8EEF6"/>
                    </a:solidFill>
                  </a:tcPr>
                </a:tc>
                <a:tc>
                  <a:txBody>
                    <a:bodyPr/>
                    <a:lstStyle/>
                    <a:p>
                      <a:r>
                        <a:rPr sz="1200" b="0">
                          <a:solidFill>
                            <a:srgbClr val="1F2937"/>
                          </a:solidFill>
                        </a:rPr>
                        <a:t>Ma’lum belgilar majmui</a:t>
                      </a:r>
                    </a:p>
                  </a:txBody>
                  <a:tcPr marL="73152" marR="73152" marT="36576" marB="36576">
                    <a:solidFill>
                      <a:srgbClr val="E8EEF6"/>
                    </a:solidFill>
                  </a:tcPr>
                </a:tc>
                <a:tc>
                  <a:txBody>
                    <a:bodyPr/>
                    <a:lstStyle/>
                    <a:p>
                      <a:r>
                        <a:rPr sz="1200" b="0">
                          <a:solidFill>
                            <a:srgbClr val="1F2937"/>
                          </a:solidFill>
                        </a:rPr>
                        <a:t>Stvol uchi–nishon oralig‘i</a:t>
                      </a:r>
                    </a:p>
                  </a:txBody>
                  <a:tcPr marL="73152" marR="73152" marT="36576" marB="36576">
                    <a:solidFill>
                      <a:srgbClr val="E8EEF6"/>
                    </a:solidFill>
                  </a:tcPr>
                </a:tc>
              </a:tr>
              <a:tr h="411480">
                <a:tc>
                  <a:txBody>
                    <a:bodyPr/>
                    <a:lstStyle/>
                    <a:p>
                      <a:r>
                        <a:rPr sz="1200" b="0">
                          <a:solidFill>
                            <a:srgbClr val="1F2937"/>
                          </a:solidFill>
                        </a:rPr>
                        <a:t>Ifodasi</a:t>
                      </a:r>
                    </a:p>
                  </a:txBody>
                  <a:tcPr marL="73152" marR="73152" marT="36576" marB="36576">
                    <a:solidFill>
                      <a:srgbClr val="FFFFFF"/>
                    </a:solidFill>
                  </a:tcPr>
                </a:tc>
                <a:tc>
                  <a:txBody>
                    <a:bodyPr/>
                    <a:lstStyle/>
                    <a:p>
                      <a:r>
                        <a:rPr sz="1200" b="0">
                          <a:solidFill>
                            <a:srgbClr val="1F2937"/>
                          </a:solidFill>
                        </a:rPr>
                        <a:t>Tirab, yaqin, yaqin bo‘lmagan</a:t>
                      </a:r>
                    </a:p>
                  </a:txBody>
                  <a:tcPr marL="73152" marR="73152" marT="36576" marB="36576">
                    <a:solidFill>
                      <a:srgbClr val="FFFFFF"/>
                    </a:solidFill>
                  </a:tcPr>
                </a:tc>
                <a:tc>
                  <a:txBody>
                    <a:bodyPr/>
                    <a:lstStyle/>
                    <a:p>
                      <a:r>
                        <a:rPr sz="1200" b="0">
                          <a:solidFill>
                            <a:srgbClr val="1F2937"/>
                          </a:solidFill>
                        </a:rPr>
                        <a:t>Uzunlik birligida o‘lchanadi</a:t>
                      </a:r>
                    </a:p>
                  </a:txBody>
                  <a:tcPr marL="73152" marR="73152" marT="36576" marB="36576">
                    <a:solidFill>
                      <a:srgbClr val="FFFFFF"/>
                    </a:solidFill>
                  </a:tcPr>
                </a:tc>
              </a:tr>
              <a:tr h="411480">
                <a:tc>
                  <a:txBody>
                    <a:bodyPr/>
                    <a:lstStyle/>
                    <a:p>
                      <a:r>
                        <a:rPr sz="1200" b="0">
                          <a:solidFill>
                            <a:srgbClr val="1F2937"/>
                          </a:solidFill>
                        </a:rPr>
                        <a:t>Aniqlash</a:t>
                      </a:r>
                    </a:p>
                  </a:txBody>
                  <a:tcPr marL="73152" marR="73152" marT="36576" marB="36576">
                    <a:solidFill>
                      <a:srgbClr val="E8EEF6"/>
                    </a:solidFill>
                  </a:tcPr>
                </a:tc>
                <a:tc>
                  <a:txBody>
                    <a:bodyPr/>
                    <a:lstStyle/>
                    <a:p>
                      <a:r>
                        <a:rPr sz="1200" b="0">
                          <a:solidFill>
                            <a:srgbClr val="1F2937"/>
                          </a:solidFill>
                        </a:rPr>
                        <a:t>Kiyim va tanadagi xos o‘zgarishlar</a:t>
                      </a:r>
                    </a:p>
                  </a:txBody>
                  <a:tcPr marL="73152" marR="73152" marT="36576" marB="36576">
                    <a:solidFill>
                      <a:srgbClr val="E8EEF6"/>
                    </a:solidFill>
                  </a:tcPr>
                </a:tc>
                <a:tc>
                  <a:txBody>
                    <a:bodyPr/>
                    <a:lstStyle/>
                    <a:p>
                      <a:r>
                        <a:rPr sz="1200" b="0">
                          <a:solidFill>
                            <a:srgbClr val="1F2937"/>
                          </a:solidFill>
                        </a:rPr>
                        <a:t>Sinov otish (eksperiment)</a:t>
                      </a:r>
                    </a:p>
                  </a:txBody>
                  <a:tcPr marL="73152" marR="73152" marT="36576" marB="36576">
                    <a:solidFill>
                      <a:srgbClr val="E8EEF6"/>
                    </a:solidFill>
                  </a:tcPr>
                </a:tc>
              </a:tr>
              <a:tr h="411480">
                <a:tc>
                  <a:txBody>
                    <a:bodyPr/>
                    <a:lstStyle/>
                    <a:p>
                      <a:r>
                        <a:rPr sz="1200" b="0">
                          <a:solidFill>
                            <a:srgbClr val="1F2937"/>
                          </a:solidFill>
                        </a:rPr>
                        <a:t>Qurol rusumi</a:t>
                      </a:r>
                    </a:p>
                  </a:txBody>
                  <a:tcPr marL="73152" marR="73152" marT="36576" marB="36576">
                    <a:solidFill>
                      <a:srgbClr val="FFFFFF"/>
                    </a:solidFill>
                  </a:tcPr>
                </a:tc>
                <a:tc>
                  <a:txBody>
                    <a:bodyPr/>
                    <a:lstStyle/>
                    <a:p>
                      <a:r>
                        <a:rPr sz="1200" b="0">
                          <a:solidFill>
                            <a:srgbClr val="1F2937"/>
                          </a:solidFill>
                        </a:rPr>
                        <a:t>Bir xil bo‘lishi mumkin</a:t>
                      </a:r>
                    </a:p>
                  </a:txBody>
                  <a:tcPr marL="73152" marR="73152" marT="36576" marB="36576">
                    <a:solidFill>
                      <a:srgbClr val="FFFFFF"/>
                    </a:solidFill>
                  </a:tcPr>
                </a:tc>
                <a:tc>
                  <a:txBody>
                    <a:bodyPr/>
                    <a:lstStyle/>
                    <a:p>
                      <a:r>
                        <a:rPr sz="1200" b="0">
                          <a:solidFill>
                            <a:srgbClr val="1F2937"/>
                          </a:solidFill>
                        </a:rPr>
                        <a:t>Rusumga qarab har xil</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Distansiya va masofa farqi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86, 86-87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Tirab o‘q otishda shikastlanish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Porox gazlari ichki a’zolarga yetsa, gazning keskin kengayishi ko‘lamli yorilish keltirib chiqaradi.</a:t>
            </a:r>
          </a:p>
          <a:p>
            <a:pPr>
              <a:spcAft>
                <a:spcPts val="800"/>
              </a:spcAft>
            </a:pPr>
            <a:r>
              <a:rPr sz="1800">
                <a:solidFill>
                  <a:srgbClr val="1F2937"/>
                </a:solidFill>
                <a:latin typeface="Calibri"/>
              </a:rPr>
              <a:t>▸  Yara kanalida qurum va porox zarralari bo‘ladi; boshlanish qismi pushti, chunki karboksigemoglobin hosil bo‘ladi.</a:t>
            </a:r>
          </a:p>
          <a:p>
            <a:pPr>
              <a:spcAft>
                <a:spcPts val="800"/>
              </a:spcAft>
            </a:pPr>
            <a:r>
              <a:rPr sz="1800">
                <a:solidFill>
                  <a:srgbClr val="1F2937"/>
                </a:solidFill>
                <a:latin typeface="Calibri"/>
              </a:rPr>
              <a:t>▸  To‘liq tirab otishda kirish yarasida kalibrdan katta defekt, chetlari ko‘chgan va yoriqli bo‘ladi.</a:t>
            </a:r>
          </a:p>
        </p:txBody>
      </p:sp>
      <p:graphicFrame>
        <p:nvGraphicFramePr>
          <p:cNvPr id="9" name="Table 8"/>
          <p:cNvGraphicFramePr>
            <a:graphicFrameLocks noGrp="1"/>
          </p:cNvGraphicFramePr>
          <p:nvPr/>
        </p:nvGraphicFramePr>
        <p:xfrm>
          <a:off x="6263640" y="1463040"/>
          <a:ext cx="5287974" cy="1645920"/>
        </p:xfrm>
        <a:graphic>
          <a:graphicData uri="http://schemas.openxmlformats.org/drawingml/2006/table">
            <a:tbl>
              <a:tblPr firstRow="1" bandRow="1">
                <a:tableStyleId>{5C22544A-7EE6-4342-B048-85BDC9FD1C3A}</a:tableStyleId>
              </a:tblPr>
              <a:tblGrid>
                <a:gridCol w="983809"/>
                <a:gridCol w="1844642"/>
                <a:gridCol w="2459523"/>
              </a:tblGrid>
              <a:tr h="411480">
                <a:tc>
                  <a:txBody>
                    <a:bodyPr/>
                    <a:lstStyle/>
                    <a:p>
                      <a:r>
                        <a:rPr sz="1300" b="1">
                          <a:solidFill>
                            <a:srgbClr val="FFFFFF"/>
                          </a:solidFill>
                        </a:rPr>
                        <a:t>Tur</a:t>
                      </a:r>
                    </a:p>
                  </a:txBody>
                  <a:tcPr marL="73152" marR="73152" marT="36576" marB="36576">
                    <a:solidFill>
                      <a:srgbClr val="0B1F3A"/>
                    </a:solidFill>
                  </a:tcPr>
                </a:tc>
                <a:tc>
                  <a:txBody>
                    <a:bodyPr/>
                    <a:lstStyle/>
                    <a:p>
                      <a:r>
                        <a:rPr sz="1300" b="1">
                          <a:solidFill>
                            <a:srgbClr val="FFFFFF"/>
                          </a:solidFill>
                        </a:rPr>
                        <a:t>Kontakt</a:t>
                      </a:r>
                    </a:p>
                  </a:txBody>
                  <a:tcPr marL="73152" marR="73152" marT="36576" marB="36576">
                    <a:solidFill>
                      <a:srgbClr val="0B1F3A"/>
                    </a:solidFill>
                  </a:tcPr>
                </a:tc>
                <a:tc>
                  <a:txBody>
                    <a:bodyPr/>
                    <a:lstStyle/>
                    <a:p>
                      <a:r>
                        <a:rPr sz="1300" b="1">
                          <a:solidFill>
                            <a:srgbClr val="FFFFFF"/>
                          </a:solidFill>
                        </a:rPr>
                        <a:t>Asosiy belgi</a:t>
                      </a:r>
                    </a:p>
                  </a:txBody>
                  <a:tcPr marL="73152" marR="73152" marT="36576" marB="36576">
                    <a:solidFill>
                      <a:srgbClr val="0B1F3A"/>
                    </a:solidFill>
                  </a:tcPr>
                </a:tc>
              </a:tr>
              <a:tr h="411480">
                <a:tc>
                  <a:txBody>
                    <a:bodyPr/>
                    <a:lstStyle/>
                    <a:p>
                      <a:r>
                        <a:rPr sz="1200" b="0">
                          <a:solidFill>
                            <a:srgbClr val="1F2937"/>
                          </a:solidFill>
                        </a:rPr>
                        <a:t>To‘liq germetik</a:t>
                      </a:r>
                    </a:p>
                  </a:txBody>
                  <a:tcPr marL="73152" marR="73152" marT="36576" marB="36576">
                    <a:solidFill>
                      <a:srgbClr val="E8EEF6"/>
                    </a:solidFill>
                  </a:tcPr>
                </a:tc>
                <a:tc>
                  <a:txBody>
                    <a:bodyPr/>
                    <a:lstStyle/>
                    <a:p>
                      <a:r>
                        <a:rPr sz="1200" b="0">
                          <a:solidFill>
                            <a:srgbClr val="1F2937"/>
                          </a:solidFill>
                        </a:rPr>
                        <a:t>Gaz terini stvol uchiga bosadi</a:t>
                      </a:r>
                    </a:p>
                  </a:txBody>
                  <a:tcPr marL="73152" marR="73152" marT="36576" marB="36576">
                    <a:solidFill>
                      <a:srgbClr val="E8EEF6"/>
                    </a:solidFill>
                  </a:tcPr>
                </a:tc>
                <a:tc>
                  <a:txBody>
                    <a:bodyPr/>
                    <a:lstStyle/>
                    <a:p>
                      <a:r>
                        <a:rPr sz="1200" b="0">
                          <a:solidFill>
                            <a:srgbClr val="1F2937"/>
                          </a:solidFill>
                        </a:rPr>
                        <a:t>Shtansmarka: shilinma yoki qontalash izi</a:t>
                      </a:r>
                    </a:p>
                  </a:txBody>
                  <a:tcPr marL="73152" marR="73152" marT="36576" marB="36576">
                    <a:solidFill>
                      <a:srgbClr val="E8EEF6"/>
                    </a:solidFill>
                  </a:tcPr>
                </a:tc>
              </a:tr>
              <a:tr h="411480">
                <a:tc>
                  <a:txBody>
                    <a:bodyPr/>
                    <a:lstStyle/>
                    <a:p>
                      <a:r>
                        <a:rPr sz="1200" b="0">
                          <a:solidFill>
                            <a:srgbClr val="1F2937"/>
                          </a:solidFill>
                        </a:rPr>
                        <a:t>To‘liq</a:t>
                      </a:r>
                    </a:p>
                  </a:txBody>
                  <a:tcPr marL="73152" marR="73152" marT="36576" marB="36576">
                    <a:solidFill>
                      <a:srgbClr val="FFFFFF"/>
                    </a:solidFill>
                  </a:tcPr>
                </a:tc>
                <a:tc>
                  <a:txBody>
                    <a:bodyPr/>
                    <a:lstStyle/>
                    <a:p>
                      <a:r>
                        <a:rPr sz="1200" b="0">
                          <a:solidFill>
                            <a:srgbClr val="1F2937"/>
                          </a:solidFill>
                        </a:rPr>
                        <a:t>Stvol uchining barcha sohasi</a:t>
                      </a:r>
                    </a:p>
                  </a:txBody>
                  <a:tcPr marL="73152" marR="73152" marT="36576" marB="36576">
                    <a:solidFill>
                      <a:srgbClr val="FFFFFF"/>
                    </a:solidFill>
                  </a:tcPr>
                </a:tc>
                <a:tc>
                  <a:txBody>
                    <a:bodyPr/>
                    <a:lstStyle/>
                    <a:p>
                      <a:r>
                        <a:rPr sz="1200" b="0">
                          <a:solidFill>
                            <a:srgbClr val="1F2937"/>
                          </a:solidFill>
                        </a:rPr>
                        <a:t>Kirish chetlari ko‘chgan, yoriqli</a:t>
                      </a:r>
                    </a:p>
                  </a:txBody>
                  <a:tcPr marL="73152" marR="73152" marT="36576" marB="36576">
                    <a:solidFill>
                      <a:srgbClr val="FFFFFF"/>
                    </a:solidFill>
                  </a:tcPr>
                </a:tc>
              </a:tr>
              <a:tr h="411480">
                <a:tc>
                  <a:txBody>
                    <a:bodyPr/>
                    <a:lstStyle/>
                    <a:p>
                      <a:r>
                        <a:rPr sz="1200" b="0">
                          <a:solidFill>
                            <a:srgbClr val="1F2937"/>
                          </a:solidFill>
                        </a:rPr>
                        <a:t>Qiyalab</a:t>
                      </a:r>
                    </a:p>
                  </a:txBody>
                  <a:tcPr marL="73152" marR="73152" marT="36576" marB="36576">
                    <a:solidFill>
                      <a:srgbClr val="E8EEF6"/>
                    </a:solidFill>
                  </a:tcPr>
                </a:tc>
                <a:tc>
                  <a:txBody>
                    <a:bodyPr/>
                    <a:lstStyle/>
                    <a:p>
                      <a:r>
                        <a:rPr sz="1200" b="0">
                          <a:solidFill>
                            <a:srgbClr val="1F2937"/>
                          </a:solidFill>
                        </a:rPr>
                        <a:t>Stvol qiya turadi</a:t>
                      </a:r>
                    </a:p>
                  </a:txBody>
                  <a:tcPr marL="73152" marR="73152" marT="36576" marB="36576">
                    <a:solidFill>
                      <a:srgbClr val="E8EEF6"/>
                    </a:solidFill>
                  </a:tcPr>
                </a:tc>
                <a:tc>
                  <a:txBody>
                    <a:bodyPr/>
                    <a:lstStyle/>
                    <a:p>
                      <a:r>
                        <a:rPr sz="1200" b="0">
                          <a:solidFill>
                            <a:srgbClr val="1F2937"/>
                          </a:solidFill>
                        </a:rPr>
                        <a:t>Bir tomonda yoriq, qurum “tilsimon”</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Tirab otish turlari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87</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Yaqin distansiya: uch zona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Yaqin distansiyada qo‘shimcha omillar belgilariga qarab uch zona ajratiladi.</a:t>
            </a:r>
          </a:p>
          <a:p>
            <a:pPr>
              <a:spcAft>
                <a:spcPts val="800"/>
              </a:spcAft>
            </a:pPr>
            <a:r>
              <a:rPr sz="1800">
                <a:solidFill>
                  <a:srgbClr val="1F2937"/>
                </a:solidFill>
                <a:latin typeface="Calibri"/>
              </a:rPr>
              <a:t>▸  Zona uzunligi stvol uzunligi, kalibr va patron tuzilishiga bog‘liq bo‘ladi.</a:t>
            </a:r>
          </a:p>
          <a:p>
            <a:pPr>
              <a:spcAft>
                <a:spcPts val="800"/>
              </a:spcAft>
            </a:pPr>
            <a:r>
              <a:rPr sz="1800">
                <a:solidFill>
                  <a:srgbClr val="1F2937"/>
                </a:solidFill>
                <a:latin typeface="Calibri"/>
              </a:rPr>
              <a:t>▸  Diqqat: 2-zonada porox gazi belgisi yo‘q, 3-zonada faqat porox va metall zarrachalari qoladi.</a:t>
            </a:r>
          </a:p>
        </p:txBody>
      </p:sp>
      <p:graphicFrame>
        <p:nvGraphicFramePr>
          <p:cNvPr id="9" name="Table 8"/>
          <p:cNvGraphicFramePr>
            <a:graphicFrameLocks noGrp="1"/>
          </p:cNvGraphicFramePr>
          <p:nvPr/>
        </p:nvGraphicFramePr>
        <p:xfrm>
          <a:off x="6263640" y="1463040"/>
          <a:ext cx="5287973" cy="2057400"/>
        </p:xfrm>
        <a:graphic>
          <a:graphicData uri="http://schemas.openxmlformats.org/drawingml/2006/table">
            <a:tbl>
              <a:tblPr firstRow="1" bandRow="1">
                <a:tableStyleId>{5C22544A-7EE6-4342-B048-85BDC9FD1C3A}</a:tableStyleId>
              </a:tblPr>
              <a:tblGrid>
                <a:gridCol w="983809"/>
                <a:gridCol w="2152082"/>
                <a:gridCol w="2152082"/>
              </a:tblGrid>
              <a:tr h="411480">
                <a:tc>
                  <a:txBody>
                    <a:bodyPr/>
                    <a:lstStyle/>
                    <a:p>
                      <a:r>
                        <a:rPr sz="1300" b="1">
                          <a:solidFill>
                            <a:srgbClr val="FFFFFF"/>
                          </a:solidFill>
                        </a:rPr>
                        <a:t>Zona</a:t>
                      </a:r>
                    </a:p>
                  </a:txBody>
                  <a:tcPr marL="73152" marR="73152" marT="36576" marB="36576">
                    <a:solidFill>
                      <a:srgbClr val="0B1F3A"/>
                    </a:solidFill>
                  </a:tcPr>
                </a:tc>
                <a:tc>
                  <a:txBody>
                    <a:bodyPr/>
                    <a:lstStyle/>
                    <a:p>
                      <a:r>
                        <a:rPr sz="1300" b="1">
                          <a:solidFill>
                            <a:srgbClr val="FFFFFF"/>
                          </a:solidFill>
                        </a:rPr>
                        <a:t>Omillar</a:t>
                      </a:r>
                    </a:p>
                  </a:txBody>
                  <a:tcPr marL="73152" marR="73152" marT="36576" marB="36576">
                    <a:solidFill>
                      <a:srgbClr val="0B1F3A"/>
                    </a:solidFill>
                  </a:tcPr>
                </a:tc>
                <a:tc>
                  <a:txBody>
                    <a:bodyPr/>
                    <a:lstStyle/>
                    <a:p>
                      <a:r>
                        <a:rPr sz="1300" b="1">
                          <a:solidFill>
                            <a:srgbClr val="FFFFFF"/>
                          </a:solidFill>
                        </a:rPr>
                        <a:t>Masofa</a:t>
                      </a:r>
                    </a:p>
                  </a:txBody>
                  <a:tcPr marL="73152" marR="73152" marT="36576" marB="36576">
                    <a:solidFill>
                      <a:srgbClr val="0B1F3A"/>
                    </a:solidFill>
                  </a:tcPr>
                </a:tc>
              </a:tr>
              <a:tr h="411480">
                <a:tc>
                  <a:txBody>
                    <a:bodyPr/>
                    <a:lstStyle/>
                    <a:p>
                      <a:r>
                        <a:rPr sz="1200" b="0">
                          <a:solidFill>
                            <a:srgbClr val="1F2937"/>
                          </a:solidFill>
                        </a:rPr>
                        <a:t>1-zona</a:t>
                      </a:r>
                    </a:p>
                  </a:txBody>
                  <a:tcPr marL="73152" marR="73152" marT="36576" marB="36576">
                    <a:solidFill>
                      <a:srgbClr val="E8EEF6"/>
                    </a:solidFill>
                  </a:tcPr>
                </a:tc>
                <a:tc>
                  <a:txBody>
                    <a:bodyPr/>
                    <a:lstStyle/>
                    <a:p>
                      <a:r>
                        <a:rPr sz="1200" b="0">
                          <a:solidFill>
                            <a:srgbClr val="1F2937"/>
                          </a:solidFill>
                        </a:rPr>
                        <a:t>Gaz, qurum, porox, metall, moy</a:t>
                      </a:r>
                    </a:p>
                  </a:txBody>
                  <a:tcPr marL="73152" marR="73152" marT="36576" marB="36576">
                    <a:solidFill>
                      <a:srgbClr val="E8EEF6"/>
                    </a:solidFill>
                  </a:tcPr>
                </a:tc>
                <a:tc>
                  <a:txBody>
                    <a:bodyPr/>
                    <a:lstStyle/>
                    <a:p>
                      <a:r>
                        <a:rPr sz="1200" b="0">
                          <a:solidFill>
                            <a:srgbClr val="1F2937"/>
                          </a:solidFill>
                        </a:rPr>
                        <a:t>Makarov ~1 sm; AK 3 sm; miltiq 5 sm</a:t>
                      </a:r>
                    </a:p>
                  </a:txBody>
                  <a:tcPr marL="73152" marR="73152" marT="36576" marB="36576">
                    <a:solidFill>
                      <a:srgbClr val="E8EEF6"/>
                    </a:solidFill>
                  </a:tcPr>
                </a:tc>
              </a:tr>
              <a:tr h="411480">
                <a:tc>
                  <a:txBody>
                    <a:bodyPr/>
                    <a:lstStyle/>
                    <a:p>
                      <a:r>
                        <a:rPr sz="1200" b="0">
                          <a:solidFill>
                            <a:srgbClr val="1F2937"/>
                          </a:solidFill>
                        </a:rPr>
                        <a:t>2-zona</a:t>
                      </a:r>
                    </a:p>
                  </a:txBody>
                  <a:tcPr marL="73152" marR="73152" marT="36576" marB="36576">
                    <a:solidFill>
                      <a:srgbClr val="FFFFFF"/>
                    </a:solidFill>
                  </a:tcPr>
                </a:tc>
                <a:tc>
                  <a:txBody>
                    <a:bodyPr/>
                    <a:lstStyle/>
                    <a:p>
                      <a:r>
                        <a:rPr sz="1200" b="0">
                          <a:solidFill>
                            <a:srgbClr val="1F2937"/>
                          </a:solidFill>
                        </a:rPr>
                        <a:t>Gaz yo‘q; qurum, porox, metall, moy</a:t>
                      </a:r>
                    </a:p>
                  </a:txBody>
                  <a:tcPr marL="73152" marR="73152" marT="36576" marB="36576">
                    <a:solidFill>
                      <a:srgbClr val="FFFFFF"/>
                    </a:solidFill>
                  </a:tcPr>
                </a:tc>
                <a:tc>
                  <a:txBody>
                    <a:bodyPr/>
                    <a:lstStyle/>
                    <a:p>
                      <a:r>
                        <a:rPr sz="1200" b="0">
                          <a:solidFill>
                            <a:srgbClr val="1F2937"/>
                          </a:solidFill>
                        </a:rPr>
                        <a:t>Jangovor qurollarda 25–35 sm</a:t>
                      </a:r>
                    </a:p>
                  </a:txBody>
                  <a:tcPr marL="73152" marR="73152" marT="36576" marB="36576">
                    <a:solidFill>
                      <a:srgbClr val="FFFFFF"/>
                    </a:solidFill>
                  </a:tcPr>
                </a:tc>
              </a:tr>
              <a:tr h="411480">
                <a:tc>
                  <a:txBody>
                    <a:bodyPr/>
                    <a:lstStyle/>
                    <a:p>
                      <a:r>
                        <a:rPr sz="1200" b="0">
                          <a:solidFill>
                            <a:srgbClr val="1F2937"/>
                          </a:solidFill>
                        </a:rPr>
                        <a:t>3-zona</a:t>
                      </a:r>
                    </a:p>
                  </a:txBody>
                  <a:tcPr marL="73152" marR="73152" marT="36576" marB="36576">
                    <a:solidFill>
                      <a:srgbClr val="E8EEF6"/>
                    </a:solidFill>
                  </a:tcPr>
                </a:tc>
                <a:tc>
                  <a:txBody>
                    <a:bodyPr/>
                    <a:lstStyle/>
                    <a:p>
                      <a:r>
                        <a:rPr sz="1200" b="0">
                          <a:solidFill>
                            <a:srgbClr val="1F2937"/>
                          </a:solidFill>
                        </a:rPr>
                        <a:t>Faqat porox va metall zarrachalari</a:t>
                      </a:r>
                    </a:p>
                  </a:txBody>
                  <a:tcPr marL="73152" marR="73152" marT="36576" marB="36576">
                    <a:solidFill>
                      <a:srgbClr val="E8EEF6"/>
                    </a:solidFill>
                  </a:tcPr>
                </a:tc>
                <a:tc>
                  <a:txBody>
                    <a:bodyPr/>
                    <a:lstStyle/>
                    <a:p>
                      <a:r>
                        <a:rPr sz="1200" b="0">
                          <a:solidFill>
                            <a:srgbClr val="1F2937"/>
                          </a:solidFill>
                        </a:rPr>
                        <a:t>Makarov 150, AK 200, miltiq 250 sm</a:t>
                      </a:r>
                    </a:p>
                  </a:txBody>
                  <a:tcPr marL="73152" marR="73152" marT="36576" marB="36576">
                    <a:solidFill>
                      <a:srgbClr val="E8EEF6"/>
                    </a:solidFill>
                  </a:tcPr>
                </a:tc>
              </a:tr>
              <a:tr h="411480">
                <a:tc>
                  <a:txBody>
                    <a:bodyPr/>
                    <a:lstStyle/>
                    <a:p>
                      <a:r>
                        <a:rPr sz="1200" b="0">
                          <a:solidFill>
                            <a:srgbClr val="1F2937"/>
                          </a:solidFill>
                        </a:rPr>
                        <a:t>Silliq stvol</a:t>
                      </a:r>
                    </a:p>
                  </a:txBody>
                  <a:tcPr marL="73152" marR="73152" marT="36576" marB="36576">
                    <a:solidFill>
                      <a:srgbClr val="FFFFFF"/>
                    </a:solidFill>
                  </a:tcPr>
                </a:tc>
                <a:tc>
                  <a:txBody>
                    <a:bodyPr/>
                    <a:lstStyle/>
                    <a:p>
                      <a:r>
                        <a:rPr sz="1200" b="0">
                          <a:solidFill>
                            <a:srgbClr val="1F2937"/>
                          </a:solidFill>
                        </a:rPr>
                        <a:t>Ov miltig‘ida 3-zona</a:t>
                      </a:r>
                    </a:p>
                  </a:txBody>
                  <a:tcPr marL="73152" marR="73152" marT="36576" marB="36576">
                    <a:solidFill>
                      <a:srgbClr val="FFFFFF"/>
                    </a:solidFill>
                  </a:tcPr>
                </a:tc>
                <a:tc>
                  <a:txBody>
                    <a:bodyPr/>
                    <a:lstStyle/>
                    <a:p>
                      <a:r>
                        <a:rPr sz="1200" b="0">
                          <a:solidFill>
                            <a:srgbClr val="1F2937"/>
                          </a:solidFill>
                        </a:rPr>
                        <a:t>500 sm gacha bo‘lishi mumkin</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Yaqin distansiya zonalari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88</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yaqin distansiya zonalari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1-savol: qaysi zonada porox gazlarining ta’sir belgilari aniqlanadi? Javob: birinchi zonada; kirish yarasi o‘qning yulma va gazning yorma, lat ta’siridan hosil bo‘ladi.</a:t>
            </a:r>
          </a:p>
          <a:p>
            <a:pPr>
              <a:spcAft>
                <a:spcPts val="1200"/>
              </a:spcAft>
            </a:pPr>
            <a:r>
              <a:rPr sz="2000">
                <a:solidFill>
                  <a:srgbClr val="1F2937"/>
                </a:solidFill>
                <a:latin typeface="Calibri"/>
              </a:rPr>
              <a:t>▸  2-savol: qaysi zonada qo‘shimcha omillardan faqat porox va metall zarrachalari aniqlanadi? Javob: uchinchi zonada.</a:t>
            </a:r>
          </a:p>
          <a:p>
            <a:pPr>
              <a:spcAft>
                <a:spcPts val="1200"/>
              </a:spcAft>
            </a:pPr>
            <a:r>
              <a:rPr sz="2000">
                <a:solidFill>
                  <a:srgbClr val="1F2937"/>
                </a:solidFill>
                <a:latin typeface="Calibri"/>
              </a:rPr>
              <a:t>▸  3-savol: stvol va jabrlanuvchi o‘rtasida to‘siq bo‘lsa, qo‘shimcha omillar qayerda qoladi? Javob: to‘siqda; o‘q to‘siqni teshib o‘tib nishonga tegadi.</a:t>
            </a:r>
          </a:p>
          <a:p>
            <a:pPr>
              <a:spcAft>
                <a:spcPts val="1200"/>
              </a:spcAft>
            </a:pPr>
            <a:r>
              <a:rPr sz="2000">
                <a:solidFill>
                  <a:srgbClr val="1F2937"/>
                </a:solidFill>
                <a:latin typeface="Calibri"/>
              </a:rPr>
              <a:t>▸  4-savol: to‘siq o‘qqa qanday ta’sir qiladi? Javob: o‘q deformatsiyalanishi yoki parchalanishi, energiyasi va yo‘nalishi o‘zgarishi mumkin; atipik jarohat hosil bo‘ladi.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88</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Yaqin bo‘lmagan distansiya va Vinogradov fenomeni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Yaqin bo‘lmagan distansiyada kiyim va kirish teshigi atrofida qo‘shimcha omillar belgisi bo‘lmaydi.</a:t>
            </a:r>
          </a:p>
          <a:p>
            <a:pPr>
              <a:spcAft>
                <a:spcPts val="800"/>
              </a:spcAft>
            </a:pPr>
            <a:r>
              <a:rPr sz="1800">
                <a:solidFill>
                  <a:srgbClr val="1F2937"/>
                </a:solidFill>
                <a:latin typeface="Calibri"/>
              </a:rPr>
              <a:t>▸  Vinogradov fenomeni shartlari: tezlik 500 m/sek dan kam emas, kiyim zich yopishmagan, kuchli shamol yo‘q.</a:t>
            </a:r>
          </a:p>
          <a:p>
            <a:pPr>
              <a:spcAft>
                <a:spcPts val="800"/>
              </a:spcAft>
            </a:pPr>
            <a:r>
              <a:rPr sz="1800">
                <a:solidFill>
                  <a:srgbClr val="1F2937"/>
                </a:solidFill>
                <a:latin typeface="Calibri"/>
              </a:rPr>
              <a:t>▸  Farqi: 1-qavat kiyim tashqisida qurum yo‘q; qurum oz, chetdan uzoqlashgan sari kuchayadi.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O‘q katta tezlikda uchadi</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O‘q ortida bosim past bo‘shliq</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Qurum shu bo‘shliqqa tushadi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Qurum o‘q ortidan nishongacha boradi</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Qurum ichki qavat/tanada qoladi</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Vinogradov fenomeni mexanizmi</a:t>
            </a:r>
          </a:p>
        </p:txBody>
      </p:sp>
      <p:sp>
        <p:nvSpPr>
          <p:cNvPr id="19" name="TextBox 1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88-89, 89</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distansiyani aniqlash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tashqi qavat kiyimida qurum yo‘q, ichki qavatda oz qurum bor. Bu yaqin emas, yaqin bo‘lmagan distansiya va Vinogradov fenomeni belgisi.</a:t>
            </a:r>
          </a:p>
          <a:p>
            <a:pPr>
              <a:spcAft>
                <a:spcPts val="1200"/>
              </a:spcAft>
            </a:pPr>
            <a:r>
              <a:rPr sz="2200">
                <a:solidFill>
                  <a:srgbClr val="1F2937"/>
                </a:solidFill>
                <a:latin typeface="Calibri"/>
              </a:rPr>
              <a:t>▸  Shartlar: o‘q tezligi nishonga tegishda 500 m/sek dan kam emas; kiyim tanaga zich yopishmagan yoki qavatlar orasida bo‘shliq bor; kuchli shamol yo‘q.</a:t>
            </a:r>
          </a:p>
          <a:p>
            <a:pPr>
              <a:spcAft>
                <a:spcPts val="1200"/>
              </a:spcAft>
            </a:pPr>
            <a:r>
              <a:rPr sz="2200">
                <a:solidFill>
                  <a:srgbClr val="1F2937"/>
                </a:solidFill>
                <a:latin typeface="Calibri"/>
              </a:rPr>
              <a:t>▸  Mexanizm: tez uchayotgan o‘q ortida bosimi past bo‘shliq hosil bo‘ladi. Qurum shu bo‘shliqqa tushib, o‘q ortidan nishongacha yetadi.</a:t>
            </a:r>
          </a:p>
          <a:p>
            <a:pPr>
              <a:spcAft>
                <a:spcPts val="1200"/>
              </a:spcAft>
            </a:pPr>
            <a:r>
              <a:rPr sz="2200">
                <a:solidFill>
                  <a:srgbClr val="1F2937"/>
                </a:solidFill>
                <a:latin typeface="Calibri"/>
              </a:rPr>
              <a:t>▸  Diqqat: yaqin distansiyada birinchi qavat tashqi yuzasida qurum bo‘ladi. Vinogradov fenomenida qurum oz, teshikdan uzoqda va periferiyaga qarab kuchayadi.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88-89, 89</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O‘q otar jarohatlar morfologiyasi va zarb nazariyasi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Snaryad: material, massa, kalibr, uzunlik. Ballistika: tezlik, pretsessiya, nutatsiya, to‘siqlar.</a:t>
            </a:r>
          </a:p>
          <a:p>
            <a:pPr>
              <a:spcAft>
                <a:spcPts val="800"/>
              </a:spcAft>
            </a:pPr>
            <a:r>
              <a:rPr sz="1800">
                <a:solidFill>
                  <a:srgbClr val="1F2937"/>
                </a:solidFill>
                <a:latin typeface="Calibri"/>
              </a:rPr>
              <a:t>▸  Shikastlangan soha: anatomik tuzilish, zichlik, hajm, qon bilan ta’minlanish, suyuqlik va gaz borligi.</a:t>
            </a:r>
          </a:p>
          <a:p>
            <a:pPr>
              <a:spcAft>
                <a:spcPts val="800"/>
              </a:spcAft>
            </a:pPr>
            <a:r>
              <a:rPr sz="1800">
                <a:solidFill>
                  <a:srgbClr val="1F2937"/>
                </a:solidFill>
                <a:latin typeface="Calibri"/>
              </a:rPr>
              <a:t>▸  Zarb kuchi yon va orqa tomonga ham tarqaladi; pulsatsiya o‘qning chuqurroq kirishiga sharoit yaratadi.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Kichik yuzaga kuchli zarb</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To‘lqin kanal yoniga tarqaladi</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Musbat va manfiy bosim fazalari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Vaqtincha bo‘shliq pulsatsiyasi</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Qon va to‘qima zarralari chiqadi</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Zarb ta’siri nazariyasi</a:t>
            </a:r>
          </a:p>
        </p:txBody>
      </p:sp>
      <p:sp>
        <p:nvSpPr>
          <p:cNvPr id="19" name="TextBox 1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89</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Yara kanali va yara devori zonalari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Teshib o‘tar: kirish, kanal, chiqish. Ko‘r: chiqish yo‘q, snaryad kanal oxirida qoladi. Yalama: snaryad to‘liq kirmaydi, uzunchoq shilinma yoki ariqchasimon yara hosil bo‘ladi.</a:t>
            </a:r>
          </a:p>
          <a:p>
            <a:pPr>
              <a:spcAft>
                <a:spcPts val="1200"/>
              </a:spcAft>
            </a:pPr>
            <a:r>
              <a:rPr sz="2000">
                <a:solidFill>
                  <a:srgbClr val="1F2937"/>
                </a:solidFill>
                <a:latin typeface="Calibri"/>
              </a:rPr>
              <a:t>▸  Kanal to‘g‘ri, siniq yoki yoysimon bo‘ladi; uzluksiz va uzlukli turlari bor. Uzlukli kanal to‘qimalar qisqarishidan hosil bo‘lib, odatda shikastlanish hayotiyligini ko‘rsatadi.</a:t>
            </a:r>
          </a:p>
          <a:p>
            <a:pPr>
              <a:spcAft>
                <a:spcPts val="1200"/>
              </a:spcAft>
            </a:pPr>
            <a:r>
              <a:rPr sz="2000">
                <a:solidFill>
                  <a:srgbClr val="1F2937"/>
                </a:solidFill>
                <a:latin typeface="Calibri"/>
              </a:rPr>
              <a:t>▸  Yara devorida uch zona: bevosita kanal; lat yeyish (0,3 sm dan 1-2 sm gacha); chayqalish zonasi (kengligi 4-5 sm va undan ortiq).</a:t>
            </a:r>
          </a:p>
          <a:p>
            <a:pPr>
              <a:spcAft>
                <a:spcPts val="1200"/>
              </a:spcAft>
            </a:pPr>
            <a:r>
              <a:rPr sz="2000">
                <a:solidFill>
                  <a:srgbClr val="1F2937"/>
                </a:solidFill>
                <a:latin typeface="Calibri"/>
              </a:rPr>
              <a:t>▸  Og‘irlik markazi pastga siljigan o‘q tanada turg‘unligini yo‘qotadi, energiyani to‘qimalarga to‘liqroq beradi: katta kanal, ichki a’zolar yorilishi, suyak sinishi.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90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Kirish va chiqish teshiklarini farqlash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Kirishda yara chetlarida 1–3 mm li shilinish hoshiyasi va uning ustida ifloslanish hoshiyasi bo‘ladi.</a:t>
            </a:r>
          </a:p>
          <a:p>
            <a:pPr>
              <a:spcAft>
                <a:spcPts val="800"/>
              </a:spcAft>
            </a:pPr>
            <a:r>
              <a:rPr sz="1800">
                <a:solidFill>
                  <a:srgbClr val="1F2937"/>
                </a:solidFill>
                <a:latin typeface="Calibri"/>
              </a:rPr>
              <a:t>▸  Pirogov bu hoshiyalarni 1865 yilda “Umumiy harbiy-dala jarrohligi asoslari” kitobida keltirgan.</a:t>
            </a:r>
          </a:p>
          <a:p>
            <a:pPr>
              <a:spcAft>
                <a:spcPts val="800"/>
              </a:spcAft>
            </a:pPr>
            <a:r>
              <a:rPr sz="1800">
                <a:solidFill>
                  <a:srgbClr val="1F2937"/>
                </a:solidFill>
                <a:latin typeface="Calibri"/>
              </a:rPr>
              <a:t>▸  Diqqat: kirish ≠ chiqish. Kirishda qon quyilish muftasimon, chiqishda assimetrik bo‘ladi.</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1159008"/>
                <a:gridCol w="2028264"/>
                <a:gridCol w="2100702"/>
              </a:tblGrid>
              <a:tr h="411480">
                <a:tc>
                  <a:txBody>
                    <a:bodyPr/>
                    <a:lstStyle/>
                    <a:p>
                      <a:r>
                        <a:rPr sz="1300" b="1">
                          <a:solidFill>
                            <a:srgbClr val="FFFFFF"/>
                          </a:solidFill>
                        </a:rPr>
                        <a:t>Belgi</a:t>
                      </a:r>
                    </a:p>
                  </a:txBody>
                  <a:tcPr marL="73152" marR="73152" marT="36576" marB="36576">
                    <a:solidFill>
                      <a:srgbClr val="0B1F3A"/>
                    </a:solidFill>
                  </a:tcPr>
                </a:tc>
                <a:tc>
                  <a:txBody>
                    <a:bodyPr/>
                    <a:lstStyle/>
                    <a:p>
                      <a:r>
                        <a:rPr sz="1300" b="1">
                          <a:solidFill>
                            <a:srgbClr val="FFFFFF"/>
                          </a:solidFill>
                        </a:rPr>
                        <a:t>Kirish</a:t>
                      </a:r>
                    </a:p>
                  </a:txBody>
                  <a:tcPr marL="73152" marR="73152" marT="36576" marB="36576">
                    <a:solidFill>
                      <a:srgbClr val="0B1F3A"/>
                    </a:solidFill>
                  </a:tcPr>
                </a:tc>
                <a:tc>
                  <a:txBody>
                    <a:bodyPr/>
                    <a:lstStyle/>
                    <a:p>
                      <a:r>
                        <a:rPr sz="1300" b="1">
                          <a:solidFill>
                            <a:srgbClr val="FFFFFF"/>
                          </a:solidFill>
                        </a:rPr>
                        <a:t>Chiqish</a:t>
                      </a:r>
                    </a:p>
                  </a:txBody>
                  <a:tcPr marL="73152" marR="73152" marT="36576" marB="36576">
                    <a:solidFill>
                      <a:srgbClr val="0B1F3A"/>
                    </a:solidFill>
                  </a:tcPr>
                </a:tc>
              </a:tr>
              <a:tr h="411480">
                <a:tc>
                  <a:txBody>
                    <a:bodyPr/>
                    <a:lstStyle/>
                    <a:p>
                      <a:r>
                        <a:rPr sz="1200" b="0">
                          <a:solidFill>
                            <a:srgbClr val="1F2937"/>
                          </a:solidFill>
                        </a:rPr>
                        <a:t>Shakli</a:t>
                      </a:r>
                    </a:p>
                  </a:txBody>
                  <a:tcPr marL="73152" marR="73152" marT="36576" marB="36576">
                    <a:solidFill>
                      <a:srgbClr val="E8EEF6"/>
                    </a:solidFill>
                  </a:tcPr>
                </a:tc>
                <a:tc>
                  <a:txBody>
                    <a:bodyPr/>
                    <a:lstStyle/>
                    <a:p>
                      <a:r>
                        <a:rPr sz="1200" b="0">
                          <a:solidFill>
                            <a:srgbClr val="1F2937"/>
                          </a:solidFill>
                        </a:rPr>
                        <a:t>Dumaloq, oval</a:t>
                      </a:r>
                    </a:p>
                  </a:txBody>
                  <a:tcPr marL="73152" marR="73152" marT="36576" marB="36576">
                    <a:solidFill>
                      <a:srgbClr val="E8EEF6"/>
                    </a:solidFill>
                  </a:tcPr>
                </a:tc>
                <a:tc>
                  <a:txBody>
                    <a:bodyPr/>
                    <a:lstStyle/>
                    <a:p>
                      <a:r>
                        <a:rPr sz="1200" b="0">
                          <a:solidFill>
                            <a:srgbClr val="1F2937"/>
                          </a:solidFill>
                        </a:rPr>
                        <a:t>Yoriqsimon, yulduzsimon</a:t>
                      </a:r>
                    </a:p>
                  </a:txBody>
                  <a:tcPr marL="73152" marR="73152" marT="36576" marB="36576">
                    <a:solidFill>
                      <a:srgbClr val="E8EEF6"/>
                    </a:solidFill>
                  </a:tcPr>
                </a:tc>
              </a:tr>
              <a:tr h="411480">
                <a:tc>
                  <a:txBody>
                    <a:bodyPr/>
                    <a:lstStyle/>
                    <a:p>
                      <a:r>
                        <a:rPr sz="1200" b="0">
                          <a:solidFill>
                            <a:srgbClr val="1F2937"/>
                          </a:solidFill>
                        </a:rPr>
                        <a:t>To‘qima defekti</a:t>
                      </a:r>
                    </a:p>
                  </a:txBody>
                  <a:tcPr marL="73152" marR="73152" marT="36576" marB="36576">
                    <a:solidFill>
                      <a:srgbClr val="FFFFFF"/>
                    </a:solidFill>
                  </a:tcPr>
                </a:tc>
                <a:tc>
                  <a:txBody>
                    <a:bodyPr/>
                    <a:lstStyle/>
                    <a:p>
                      <a:r>
                        <a:rPr sz="1200" b="0">
                          <a:solidFill>
                            <a:srgbClr val="1F2937"/>
                          </a:solidFill>
                        </a:rPr>
                        <a:t>Ko‘pincha bo‘ladi</a:t>
                      </a:r>
                    </a:p>
                  </a:txBody>
                  <a:tcPr marL="73152" marR="73152" marT="36576" marB="36576">
                    <a:solidFill>
                      <a:srgbClr val="FFFFFF"/>
                    </a:solidFill>
                  </a:tcPr>
                </a:tc>
                <a:tc>
                  <a:txBody>
                    <a:bodyPr/>
                    <a:lstStyle/>
                    <a:p>
                      <a:r>
                        <a:rPr sz="1200" b="0">
                          <a:solidFill>
                            <a:srgbClr val="1F2937"/>
                          </a:solidFill>
                        </a:rPr>
                        <a:t>Kamdan kam hollarda</a:t>
                      </a:r>
                    </a:p>
                  </a:txBody>
                  <a:tcPr marL="73152" marR="73152" marT="36576" marB="36576">
                    <a:solidFill>
                      <a:srgbClr val="FFFFFF"/>
                    </a:solidFill>
                  </a:tcPr>
                </a:tc>
              </a:tr>
              <a:tr h="411480">
                <a:tc>
                  <a:txBody>
                    <a:bodyPr/>
                    <a:lstStyle/>
                    <a:p>
                      <a:r>
                        <a:rPr sz="1200" b="0">
                          <a:solidFill>
                            <a:srgbClr val="1F2937"/>
                          </a:solidFill>
                        </a:rPr>
                        <a:t>Chetlari</a:t>
                      </a:r>
                    </a:p>
                  </a:txBody>
                  <a:tcPr marL="73152" marR="73152" marT="36576" marB="36576">
                    <a:solidFill>
                      <a:srgbClr val="E8EEF6"/>
                    </a:solidFill>
                  </a:tcPr>
                </a:tc>
                <a:tc>
                  <a:txBody>
                    <a:bodyPr/>
                    <a:lstStyle/>
                    <a:p>
                      <a:r>
                        <a:rPr sz="1200" b="0">
                          <a:solidFill>
                            <a:srgbClr val="1F2937"/>
                          </a:solidFill>
                        </a:rPr>
                        <a:t>Tekis, ichkariga qayrilgan</a:t>
                      </a:r>
                    </a:p>
                  </a:txBody>
                  <a:tcPr marL="73152" marR="73152" marT="36576" marB="36576">
                    <a:solidFill>
                      <a:srgbClr val="E8EEF6"/>
                    </a:solidFill>
                  </a:tcPr>
                </a:tc>
                <a:tc>
                  <a:txBody>
                    <a:bodyPr/>
                    <a:lstStyle/>
                    <a:p>
                      <a:r>
                        <a:rPr sz="1200" b="0">
                          <a:solidFill>
                            <a:srgbClr val="1F2937"/>
                          </a:solidFill>
                        </a:rPr>
                        <a:t>Notekis, tashqariga qayrilgan</a:t>
                      </a:r>
                    </a:p>
                  </a:txBody>
                  <a:tcPr marL="73152" marR="73152" marT="36576" marB="36576">
                    <a:solidFill>
                      <a:srgbClr val="E8EEF6"/>
                    </a:solidFill>
                  </a:tcPr>
                </a:tc>
              </a:tr>
              <a:tr h="411480">
                <a:tc>
                  <a:txBody>
                    <a:bodyPr/>
                    <a:lstStyle/>
                    <a:p>
                      <a:r>
                        <a:rPr sz="1200" b="0">
                          <a:solidFill>
                            <a:srgbClr val="1F2937"/>
                          </a:solidFill>
                        </a:rPr>
                        <a:t>Hoshiyalar</a:t>
                      </a:r>
                    </a:p>
                  </a:txBody>
                  <a:tcPr marL="73152" marR="73152" marT="36576" marB="36576">
                    <a:solidFill>
                      <a:srgbClr val="FFFFFF"/>
                    </a:solidFill>
                  </a:tcPr>
                </a:tc>
                <a:tc>
                  <a:txBody>
                    <a:bodyPr/>
                    <a:lstStyle/>
                    <a:p>
                      <a:r>
                        <a:rPr sz="1200" b="0">
                          <a:solidFill>
                            <a:srgbClr val="1F2937"/>
                          </a:solidFill>
                        </a:rPr>
                        <a:t>Shilinish va ifloslanish bor</a:t>
                      </a:r>
                    </a:p>
                  </a:txBody>
                  <a:tcPr marL="73152" marR="73152" marT="36576" marB="36576">
                    <a:solidFill>
                      <a:srgbClr val="FFFFFF"/>
                    </a:solidFill>
                  </a:tcPr>
                </a:tc>
                <a:tc>
                  <a:txBody>
                    <a:bodyPr/>
                    <a:lstStyle/>
                    <a:p>
                      <a:r>
                        <a:rPr sz="1200" b="0">
                          <a:solidFill>
                            <a:srgbClr val="1F2937"/>
                          </a:solidFill>
                        </a:rPr>
                        <a:t>Ko‘pincha yo‘q</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Kirish va chiqish teshigi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91-bet, 92–93-betlar</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Suyaklarning o‘q otar shikastlanishi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Yassi suyakda o‘q kirgan joyda kesik konus shaklidagi defekt hosil bo‘ladi. Snaryad kichik asosdan katta asos tomon harakatlanadi.</a:t>
            </a:r>
          </a:p>
          <a:p>
            <a:pPr>
              <a:spcAft>
                <a:spcPts val="1200"/>
              </a:spcAft>
            </a:pPr>
            <a:r>
              <a:rPr sz="2200">
                <a:solidFill>
                  <a:srgbClr val="1F2937"/>
                </a:solidFill>
                <a:latin typeface="Calibri"/>
              </a:rPr>
              <a:t>▸  Naysimon suyakda kirish tomonida radial darzli dumaloq defekt bo‘ladi. Chiqish tomonida defekt kattaroq, darzlar uzunasiga ketadi.</a:t>
            </a:r>
          </a:p>
          <a:p>
            <a:pPr>
              <a:spcAft>
                <a:spcPts val="1200"/>
              </a:spcAft>
            </a:pPr>
            <a:r>
              <a:rPr sz="2200">
                <a:solidFill>
                  <a:srgbClr val="1F2937"/>
                </a:solidFill>
                <a:latin typeface="Calibri"/>
              </a:rPr>
              <a:t>▸  Chiqish teshigi uchun defekt xos emas. Bilak, elka kabi yupqa sohalarda o‘q energiyasi saqlansa, yulma ta’sir bilan defekt bo‘lishi mumkin.</a:t>
            </a:r>
          </a:p>
          <a:p>
            <a:pPr>
              <a:spcAft>
                <a:spcPts val="1200"/>
              </a:spcAft>
            </a:pPr>
            <a:r>
              <a:rPr sz="2200">
                <a:solidFill>
                  <a:srgbClr val="1F2937"/>
                </a:solidFill>
                <a:latin typeface="Calibri"/>
              </a:rPr>
              <a:t>▸  Diqqat: yumshoq to‘qimada kirishdagi defekt uchi ichkariga, chiqishdagi defekt uchi tashqariga qaragan konus shaklida bo‘ladi.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92-bet, 93-bet, 90, 93-betlar</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kirish va chiqish teshigi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jabrlanganning bilagida ikkita teshik bor. Birida to‘qima defekti hamda shilinish va ifloslanish hoshiyasi aniqlangan, ikkinchisida yo‘q.</a:t>
            </a:r>
          </a:p>
          <a:p>
            <a:pPr>
              <a:spcAft>
                <a:spcPts val="1200"/>
              </a:spcAft>
            </a:pPr>
            <a:r>
              <a:rPr sz="2200">
                <a:solidFill>
                  <a:srgbClr val="1F2937"/>
                </a:solidFill>
                <a:latin typeface="Calibri"/>
              </a:rPr>
              <a:t>▸  Savol: qaysi biri kirish teshigi? Javobni jadvaldagi belgilar bo‘yicha asoslang: shakl, chetlari, hoshiyalar, qon quyilish.</a:t>
            </a:r>
          </a:p>
          <a:p>
            <a:pPr>
              <a:spcAft>
                <a:spcPts val="1200"/>
              </a:spcAft>
            </a:pPr>
            <a:r>
              <a:rPr sz="2200">
                <a:solidFill>
                  <a:srgbClr val="1F2937"/>
                </a:solidFill>
                <a:latin typeface="Calibri"/>
              </a:rPr>
              <a:t>▸  Defekt, shilinish va ifloslanish hoshiyasi kirishga xos. Chetlarni yaqinlashtirganda teri burmalari hosil bo‘lsa, defekt bor.</a:t>
            </a:r>
          </a:p>
          <a:p>
            <a:pPr>
              <a:spcAft>
                <a:spcPts val="1200"/>
              </a:spcAft>
            </a:pPr>
            <a:r>
              <a:rPr sz="2200">
                <a:solidFill>
                  <a:srgbClr val="1F2937"/>
                </a:solidFill>
                <a:latin typeface="Calibri"/>
              </a:rPr>
              <a:t>▸  Diqqat: bilak yupqa soha, shuning uchun chiqishda ham defekt bo‘lishi mumkin. Faqat defektga emas, hoshiyalarga ham tayaning.</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91–92-betlar, 92-bet, 91-bet, 93-bet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Sochmali patrondan shikastlanish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Sochmali patron silliq stvolli ov miltiqlarida ishlatiladi. Porox va metall zarrachalari belgilari 200–500 sm gacha aniqlanishi mumkin.</a:t>
            </a:r>
          </a:p>
          <a:p>
            <a:pPr>
              <a:spcAft>
                <a:spcPts val="800"/>
              </a:spcAft>
            </a:pPr>
            <a:r>
              <a:rPr sz="1800">
                <a:solidFill>
                  <a:srgbClr val="1F2937"/>
                </a:solidFill>
                <a:latin typeface="Calibri"/>
              </a:rPr>
              <a:t>▸  Sochmalar 200–400 m, katta sochma (kartech) 600 m gacha uchadi. Tiqinlar 40 m gacha ta’sir qiladi.</a:t>
            </a:r>
          </a:p>
          <a:p>
            <a:pPr>
              <a:spcAft>
                <a:spcPts val="800"/>
              </a:spcAft>
            </a:pPr>
            <a:r>
              <a:rPr sz="1800">
                <a:solidFill>
                  <a:srgbClr val="1F2937"/>
                </a:solidFill>
                <a:latin typeface="Calibri"/>
              </a:rPr>
              <a:t>▸  Sochmali patrondan odatda ko‘r yaralar vujudga keladi.</a:t>
            </a:r>
          </a:p>
        </p:txBody>
      </p:sp>
      <p:graphicFrame>
        <p:nvGraphicFramePr>
          <p:cNvPr id="9" name="Table 8"/>
          <p:cNvGraphicFramePr>
            <a:graphicFrameLocks noGrp="1"/>
          </p:cNvGraphicFramePr>
          <p:nvPr/>
        </p:nvGraphicFramePr>
        <p:xfrm>
          <a:off x="6263640" y="1463040"/>
          <a:ext cx="5287975" cy="1645920"/>
        </p:xfrm>
        <a:graphic>
          <a:graphicData uri="http://schemas.openxmlformats.org/drawingml/2006/table">
            <a:tbl>
              <a:tblPr firstRow="1" bandRow="1">
                <a:tableStyleId>{5C22544A-7EE6-4342-B048-85BDC9FD1C3A}</a:tableStyleId>
              </a:tblPr>
              <a:tblGrid>
                <a:gridCol w="1373500"/>
                <a:gridCol w="1167475"/>
                <a:gridCol w="2747000"/>
              </a:tblGrid>
              <a:tr h="411480">
                <a:tc>
                  <a:txBody>
                    <a:bodyPr/>
                    <a:lstStyle/>
                    <a:p>
                      <a:r>
                        <a:rPr sz="1300" b="1">
                          <a:solidFill>
                            <a:srgbClr val="FFFFFF"/>
                          </a:solidFill>
                        </a:rPr>
                        <a:t>Masofa</a:t>
                      </a:r>
                    </a:p>
                  </a:txBody>
                  <a:tcPr marL="73152" marR="73152" marT="36576" marB="36576">
                    <a:solidFill>
                      <a:srgbClr val="0B1F3A"/>
                    </a:solidFill>
                  </a:tcPr>
                </a:tc>
                <a:tc>
                  <a:txBody>
                    <a:bodyPr/>
                    <a:lstStyle/>
                    <a:p>
                      <a:r>
                        <a:rPr sz="1300" b="1">
                          <a:solidFill>
                            <a:srgbClr val="FFFFFF"/>
                          </a:solidFill>
                        </a:rPr>
                        <a:t>Ta’sir turi</a:t>
                      </a:r>
                    </a:p>
                  </a:txBody>
                  <a:tcPr marL="73152" marR="73152" marT="36576" marB="36576">
                    <a:solidFill>
                      <a:srgbClr val="0B1F3A"/>
                    </a:solidFill>
                  </a:tcPr>
                </a:tc>
                <a:tc>
                  <a:txBody>
                    <a:bodyPr/>
                    <a:lstStyle/>
                    <a:p>
                      <a:r>
                        <a:rPr sz="1300" b="1">
                          <a:solidFill>
                            <a:srgbClr val="FFFFFF"/>
                          </a:solidFill>
                        </a:rPr>
                        <a:t>Natija</a:t>
                      </a:r>
                    </a:p>
                  </a:txBody>
                  <a:tcPr marL="73152" marR="73152" marT="36576" marB="36576">
                    <a:solidFill>
                      <a:srgbClr val="0B1F3A"/>
                    </a:solidFill>
                  </a:tcPr>
                </a:tc>
              </a:tr>
              <a:tr h="411480">
                <a:tc>
                  <a:txBody>
                    <a:bodyPr/>
                    <a:lstStyle/>
                    <a:p>
                      <a:r>
                        <a:rPr sz="1200" b="0">
                          <a:solidFill>
                            <a:srgbClr val="1F2937"/>
                          </a:solidFill>
                        </a:rPr>
                        <a:t>Tirab yoki 1 m gacha</a:t>
                      </a:r>
                    </a:p>
                  </a:txBody>
                  <a:tcPr marL="73152" marR="73152" marT="36576" marB="36576">
                    <a:solidFill>
                      <a:srgbClr val="E8EEF6"/>
                    </a:solidFill>
                  </a:tcPr>
                </a:tc>
                <a:tc>
                  <a:txBody>
                    <a:bodyPr/>
                    <a:lstStyle/>
                    <a:p>
                      <a:r>
                        <a:rPr sz="1200" b="0">
                          <a:solidFill>
                            <a:srgbClr val="1F2937"/>
                          </a:solidFill>
                        </a:rPr>
                        <a:t>Kompakt</a:t>
                      </a:r>
                    </a:p>
                  </a:txBody>
                  <a:tcPr marL="73152" marR="73152" marT="36576" marB="36576">
                    <a:solidFill>
                      <a:srgbClr val="E8EEF6"/>
                    </a:solidFill>
                  </a:tcPr>
                </a:tc>
                <a:tc>
                  <a:txBody>
                    <a:bodyPr/>
                    <a:lstStyle/>
                    <a:p>
                      <a:r>
                        <a:rPr sz="1200" b="0">
                          <a:solidFill>
                            <a:srgbClr val="1F2937"/>
                          </a:solidFill>
                        </a:rPr>
                        <a:t>Bitta teshik, o‘lchami patron diametriga teng</a:t>
                      </a:r>
                    </a:p>
                  </a:txBody>
                  <a:tcPr marL="73152" marR="73152" marT="36576" marB="36576">
                    <a:solidFill>
                      <a:srgbClr val="E8EEF6"/>
                    </a:solidFill>
                  </a:tcPr>
                </a:tc>
              </a:tr>
              <a:tr h="411480">
                <a:tc>
                  <a:txBody>
                    <a:bodyPr/>
                    <a:lstStyle/>
                    <a:p>
                      <a:r>
                        <a:rPr sz="1200" b="0">
                          <a:solidFill>
                            <a:srgbClr val="1F2937"/>
                          </a:solidFill>
                        </a:rPr>
                        <a:t>5 m gacha</a:t>
                      </a:r>
                    </a:p>
                  </a:txBody>
                  <a:tcPr marL="73152" marR="73152" marT="36576" marB="36576">
                    <a:solidFill>
                      <a:srgbClr val="FFFFFF"/>
                    </a:solidFill>
                  </a:tcPr>
                </a:tc>
                <a:tc>
                  <a:txBody>
                    <a:bodyPr/>
                    <a:lstStyle/>
                    <a:p>
                      <a:r>
                        <a:rPr sz="1200" b="0">
                          <a:solidFill>
                            <a:srgbClr val="1F2937"/>
                          </a:solidFill>
                        </a:rPr>
                        <a:t>Nisbiy tarqalma</a:t>
                      </a:r>
                    </a:p>
                  </a:txBody>
                  <a:tcPr marL="73152" marR="73152" marT="36576" marB="36576">
                    <a:solidFill>
                      <a:srgbClr val="FFFFFF"/>
                    </a:solidFill>
                  </a:tcPr>
                </a:tc>
                <a:tc>
                  <a:txBody>
                    <a:bodyPr/>
                    <a:lstStyle/>
                    <a:p>
                      <a:r>
                        <a:rPr sz="1200" b="0">
                          <a:solidFill>
                            <a:srgbClr val="1F2937"/>
                          </a:solidFill>
                        </a:rPr>
                        <a:t>Asosiy teshik va atrofida mayda yaralar</a:t>
                      </a:r>
                    </a:p>
                  </a:txBody>
                  <a:tcPr marL="73152" marR="73152" marT="36576" marB="36576">
                    <a:solidFill>
                      <a:srgbClr val="FFFFFF"/>
                    </a:solidFill>
                  </a:tcPr>
                </a:tc>
              </a:tr>
              <a:tr h="411480">
                <a:tc>
                  <a:txBody>
                    <a:bodyPr/>
                    <a:lstStyle/>
                    <a:p>
                      <a:r>
                        <a:rPr sz="1200" b="0">
                          <a:solidFill>
                            <a:srgbClr val="1F2937"/>
                          </a:solidFill>
                        </a:rPr>
                        <a:t>5 m dan uzoq</a:t>
                      </a:r>
                    </a:p>
                  </a:txBody>
                  <a:tcPr marL="73152" marR="73152" marT="36576" marB="36576">
                    <a:solidFill>
                      <a:srgbClr val="E8EEF6"/>
                    </a:solidFill>
                  </a:tcPr>
                </a:tc>
                <a:tc>
                  <a:txBody>
                    <a:bodyPr/>
                    <a:lstStyle/>
                    <a:p>
                      <a:r>
                        <a:rPr sz="1200" b="0">
                          <a:solidFill>
                            <a:srgbClr val="1F2937"/>
                          </a:solidFill>
                        </a:rPr>
                        <a:t>Tarqalma</a:t>
                      </a:r>
                    </a:p>
                  </a:txBody>
                  <a:tcPr marL="73152" marR="73152" marT="36576" marB="36576">
                    <a:solidFill>
                      <a:srgbClr val="E8EEF6"/>
                    </a:solidFill>
                  </a:tcPr>
                </a:tc>
                <a:tc>
                  <a:txBody>
                    <a:bodyPr/>
                    <a:lstStyle/>
                    <a:p>
                      <a:r>
                        <a:rPr sz="1200" b="0">
                          <a:solidFill>
                            <a:srgbClr val="1F2937"/>
                          </a:solidFill>
                        </a:rPr>
                        <a:t>Mayda, shakli va o‘lchami o‘xshash yaralar</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Masofaga qarab sochma ta’siri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93</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Snaryadsiz va pnevmatik qurollar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Snaryadsiz patronda o‘q yo‘q: jarohat tirab yoki yaqin masofada porox gazlari ta’siridan hosil bo‘ladi.</a:t>
            </a:r>
          </a:p>
          <a:p>
            <a:pPr>
              <a:spcAft>
                <a:spcPts val="800"/>
              </a:spcAft>
            </a:pPr>
            <a:r>
              <a:rPr sz="1800">
                <a:solidFill>
                  <a:srgbClr val="1F2937"/>
                </a:solidFill>
                <a:latin typeface="Calibri"/>
              </a:rPr>
              <a:t>▸  Tirab otilsa kirish teshigi yoriqli, defekti katta; ko‘krak-qorinda ichki a’zolar yorilishi mumkin.</a:t>
            </a:r>
          </a:p>
          <a:p>
            <a:pPr>
              <a:spcAft>
                <a:spcPts val="800"/>
              </a:spcAft>
            </a:pPr>
            <a:r>
              <a:rPr sz="1800">
                <a:solidFill>
                  <a:srgbClr val="1F2937"/>
                </a:solidFill>
                <a:latin typeface="Calibri"/>
              </a:rPr>
              <a:t>▸  Pnevmatik qurolda siqilgan havo ishlaydi; tirab otilsa havo oqimi lat eyish qoldirishi mumkin.</a:t>
            </a:r>
          </a:p>
        </p:txBody>
      </p:sp>
      <p:graphicFrame>
        <p:nvGraphicFramePr>
          <p:cNvPr id="9" name="Table 8"/>
          <p:cNvGraphicFramePr>
            <a:graphicFrameLocks noGrp="1"/>
          </p:cNvGraphicFramePr>
          <p:nvPr/>
        </p:nvGraphicFramePr>
        <p:xfrm>
          <a:off x="6263640" y="1463040"/>
          <a:ext cx="5287973" cy="2057400"/>
        </p:xfrm>
        <a:graphic>
          <a:graphicData uri="http://schemas.openxmlformats.org/drawingml/2006/table">
            <a:tbl>
              <a:tblPr firstRow="1" bandRow="1">
                <a:tableStyleId>{5C22544A-7EE6-4342-B048-85BDC9FD1C3A}</a:tableStyleId>
              </a:tblPr>
              <a:tblGrid>
                <a:gridCol w="1012590"/>
                <a:gridCol w="2025181"/>
                <a:gridCol w="2250202"/>
              </a:tblGrid>
              <a:tr h="411480">
                <a:tc>
                  <a:txBody>
                    <a:bodyPr/>
                    <a:lstStyle/>
                    <a:p>
                      <a:r>
                        <a:rPr sz="1300" b="1">
                          <a:solidFill>
                            <a:srgbClr val="FFFFFF"/>
                          </a:solidFill>
                        </a:rPr>
                        <a:t>Belgi</a:t>
                      </a:r>
                    </a:p>
                  </a:txBody>
                  <a:tcPr marL="73152" marR="73152" marT="36576" marB="36576">
                    <a:solidFill>
                      <a:srgbClr val="0B1F3A"/>
                    </a:solidFill>
                  </a:tcPr>
                </a:tc>
                <a:tc>
                  <a:txBody>
                    <a:bodyPr/>
                    <a:lstStyle/>
                    <a:p>
                      <a:r>
                        <a:rPr sz="1300" b="1">
                          <a:solidFill>
                            <a:srgbClr val="FFFFFF"/>
                          </a:solidFill>
                        </a:rPr>
                        <a:t>Snaryadsiz</a:t>
                      </a:r>
                    </a:p>
                  </a:txBody>
                  <a:tcPr marL="73152" marR="73152" marT="36576" marB="36576">
                    <a:solidFill>
                      <a:srgbClr val="0B1F3A"/>
                    </a:solidFill>
                  </a:tcPr>
                </a:tc>
                <a:tc>
                  <a:txBody>
                    <a:bodyPr/>
                    <a:lstStyle/>
                    <a:p>
                      <a:r>
                        <a:rPr sz="1300" b="1">
                          <a:solidFill>
                            <a:srgbClr val="FFFFFF"/>
                          </a:solidFill>
                        </a:rPr>
                        <a:t>Pnevmatik</a:t>
                      </a:r>
                    </a:p>
                  </a:txBody>
                  <a:tcPr marL="73152" marR="73152" marT="36576" marB="36576">
                    <a:solidFill>
                      <a:srgbClr val="0B1F3A"/>
                    </a:solidFill>
                  </a:tcPr>
                </a:tc>
              </a:tr>
              <a:tr h="411480">
                <a:tc>
                  <a:txBody>
                    <a:bodyPr/>
                    <a:lstStyle/>
                    <a:p>
                      <a:r>
                        <a:rPr sz="1200" b="0">
                          <a:solidFill>
                            <a:srgbClr val="1F2937"/>
                          </a:solidFill>
                        </a:rPr>
                        <a:t>Asosiy omil</a:t>
                      </a:r>
                    </a:p>
                  </a:txBody>
                  <a:tcPr marL="73152" marR="73152" marT="36576" marB="36576">
                    <a:solidFill>
                      <a:srgbClr val="E8EEF6"/>
                    </a:solidFill>
                  </a:tcPr>
                </a:tc>
                <a:tc>
                  <a:txBody>
                    <a:bodyPr/>
                    <a:lstStyle/>
                    <a:p>
                      <a:r>
                        <a:rPr sz="1200" b="0">
                          <a:solidFill>
                            <a:srgbClr val="1F2937"/>
                          </a:solidFill>
                        </a:rPr>
                        <a:t>Porox gazlari (o‘q yo‘q)</a:t>
                      </a:r>
                    </a:p>
                  </a:txBody>
                  <a:tcPr marL="73152" marR="73152" marT="36576" marB="36576">
                    <a:solidFill>
                      <a:srgbClr val="E8EEF6"/>
                    </a:solidFill>
                  </a:tcPr>
                </a:tc>
                <a:tc>
                  <a:txBody>
                    <a:bodyPr/>
                    <a:lstStyle/>
                    <a:p>
                      <a:r>
                        <a:rPr sz="1200" b="0">
                          <a:solidFill>
                            <a:srgbClr val="1F2937"/>
                          </a:solidFill>
                        </a:rPr>
                        <a:t>Siqilgan havo; o‘q deformatsiyaga uchraydi</a:t>
                      </a:r>
                    </a:p>
                  </a:txBody>
                  <a:tcPr marL="73152" marR="73152" marT="36576" marB="36576">
                    <a:solidFill>
                      <a:srgbClr val="E8EEF6"/>
                    </a:solidFill>
                  </a:tcPr>
                </a:tc>
              </a:tr>
              <a:tr h="411480">
                <a:tc>
                  <a:txBody>
                    <a:bodyPr/>
                    <a:lstStyle/>
                    <a:p>
                      <a:r>
                        <a:rPr sz="1200" b="0">
                          <a:solidFill>
                            <a:srgbClr val="1F2937"/>
                          </a:solidFill>
                        </a:rPr>
                        <a:t>Qo‘shimcha omillar</a:t>
                      </a:r>
                    </a:p>
                  </a:txBody>
                  <a:tcPr marL="73152" marR="73152" marT="36576" marB="36576">
                    <a:solidFill>
                      <a:srgbClr val="FFFFFF"/>
                    </a:solidFill>
                  </a:tcPr>
                </a:tc>
                <a:tc>
                  <a:txBody>
                    <a:bodyPr/>
                    <a:lstStyle/>
                    <a:p>
                      <a:r>
                        <a:rPr sz="1200" b="0">
                          <a:solidFill>
                            <a:srgbClr val="1F2937"/>
                          </a:solidFill>
                        </a:rPr>
                        <a:t>Tirab/yaqin: porox gazlari, qurum</a:t>
                      </a:r>
                    </a:p>
                  </a:txBody>
                  <a:tcPr marL="73152" marR="73152" marT="36576" marB="36576">
                    <a:solidFill>
                      <a:srgbClr val="FFFFFF"/>
                    </a:solidFill>
                  </a:tcPr>
                </a:tc>
                <a:tc>
                  <a:txBody>
                    <a:bodyPr/>
                    <a:lstStyle/>
                    <a:p>
                      <a:r>
                        <a:rPr sz="1200" b="0">
                          <a:solidFill>
                            <a:srgbClr val="1F2937"/>
                          </a:solidFill>
                        </a:rPr>
                        <a:t>Belgilari bo‘lmaydi</a:t>
                      </a:r>
                    </a:p>
                  </a:txBody>
                  <a:tcPr marL="73152" marR="73152" marT="36576" marB="36576">
                    <a:solidFill>
                      <a:srgbClr val="FFFFFF"/>
                    </a:solidFill>
                  </a:tcPr>
                </a:tc>
              </a:tr>
              <a:tr h="411480">
                <a:tc>
                  <a:txBody>
                    <a:bodyPr/>
                    <a:lstStyle/>
                    <a:p>
                      <a:r>
                        <a:rPr sz="1200" b="0">
                          <a:solidFill>
                            <a:srgbClr val="1F2937"/>
                          </a:solidFill>
                        </a:rPr>
                        <a:t>Yara kanali</a:t>
                      </a:r>
                    </a:p>
                  </a:txBody>
                  <a:tcPr marL="73152" marR="73152" marT="36576" marB="36576">
                    <a:solidFill>
                      <a:srgbClr val="E8EEF6"/>
                    </a:solidFill>
                  </a:tcPr>
                </a:tc>
                <a:tc>
                  <a:txBody>
                    <a:bodyPr/>
                    <a:lstStyle/>
                    <a:p>
                      <a:r>
                        <a:rPr sz="1200" b="0">
                          <a:solidFill>
                            <a:srgbClr val="1F2937"/>
                          </a:solidFill>
                        </a:rPr>
                        <a:t>Ko‘r; karabinda 10–15 sm gacha</a:t>
                      </a:r>
                    </a:p>
                  </a:txBody>
                  <a:tcPr marL="73152" marR="73152" marT="36576" marB="36576">
                    <a:solidFill>
                      <a:srgbClr val="E8EEF6"/>
                    </a:solidFill>
                  </a:tcPr>
                </a:tc>
                <a:tc>
                  <a:txBody>
                    <a:bodyPr/>
                    <a:lstStyle/>
                    <a:p>
                      <a:r>
                        <a:rPr sz="1200" b="0">
                          <a:solidFill>
                            <a:srgbClr val="1F2937"/>
                          </a:solidFill>
                        </a:rPr>
                        <a:t>Ko‘r; tanani teshib o‘tmaydi</a:t>
                      </a:r>
                    </a:p>
                  </a:txBody>
                  <a:tcPr marL="73152" marR="73152" marT="36576" marB="36576">
                    <a:solidFill>
                      <a:srgbClr val="E8EEF6"/>
                    </a:solidFill>
                  </a:tcPr>
                </a:tc>
              </a:tr>
              <a:tr h="411480">
                <a:tc>
                  <a:txBody>
                    <a:bodyPr/>
                    <a:lstStyle/>
                    <a:p>
                      <a:r>
                        <a:rPr sz="1200" b="0">
                          <a:solidFill>
                            <a:srgbClr val="1F2937"/>
                          </a:solidFill>
                        </a:rPr>
                        <a:t>Ta’sir doirasi</a:t>
                      </a:r>
                    </a:p>
                  </a:txBody>
                  <a:tcPr marL="73152" marR="73152" marT="36576" marB="36576">
                    <a:solidFill>
                      <a:srgbClr val="FFFFFF"/>
                    </a:solidFill>
                  </a:tcPr>
                </a:tc>
                <a:tc>
                  <a:txBody>
                    <a:bodyPr/>
                    <a:lstStyle/>
                    <a:p>
                      <a:r>
                        <a:rPr sz="1200" b="0">
                          <a:solidFill>
                            <a:srgbClr val="1F2937"/>
                          </a:solidFill>
                        </a:rPr>
                        <a:t>Tiqin, bo‘laklar bir necha metrgacha</a:t>
                      </a:r>
                    </a:p>
                  </a:txBody>
                  <a:tcPr marL="73152" marR="73152" marT="36576" marB="36576">
                    <a:solidFill>
                      <a:srgbClr val="FFFFFF"/>
                    </a:solidFill>
                  </a:tcPr>
                </a:tc>
                <a:tc>
                  <a:txBody>
                    <a:bodyPr/>
                    <a:lstStyle/>
                    <a:p>
                      <a:r>
                        <a:rPr sz="1200" b="0">
                          <a:solidFill>
                            <a:srgbClr val="1F2937"/>
                          </a:solidFill>
                        </a:rPr>
                        <a:t>O‘q 30–50 m gacha yetadi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Snaryadsiz patron va pnevmatik qurol</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94, 96</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Gaz qurollaridan shikastlanish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Gaz quroli stvolli yoki stvolsiz (balloncha) bo‘ladi. Silliq stvol ichida to‘siq bor. Kalibri ko‘pincha 6, 8, 9, 11,43 mm; 6 mm patronda porox yo‘q.</a:t>
            </a:r>
          </a:p>
          <a:p>
            <a:pPr>
              <a:spcAft>
                <a:spcPts val="1200"/>
              </a:spcAft>
            </a:pPr>
            <a:r>
              <a:rPr sz="2200">
                <a:solidFill>
                  <a:srgbClr val="1F2937"/>
                </a:solidFill>
                <a:latin typeface="Calibri"/>
              </a:rPr>
              <a:t>▸  Irritant patronda 20–1000 mg bo‘ladi va 2–3 m masofada ta’sir qiladi. Asosiy ta’sir bir soatga yaqin, qoldiq oqibatlar 7 kungacha aniqlanishi mumkin.</a:t>
            </a:r>
          </a:p>
          <a:p>
            <a:pPr>
              <a:spcAft>
                <a:spcPts val="1200"/>
              </a:spcAft>
            </a:pPr>
            <a:r>
              <a:rPr sz="2200">
                <a:solidFill>
                  <a:srgbClr val="1F2937"/>
                </a:solidFill>
                <a:latin typeface="Calibri"/>
              </a:rPr>
              <a:t>▸  Belgilari: og‘riq, yo‘tal, ko‘zdan yosh oqishi, blefarospazm. Asoratlar: keratit, kon’yunktivit, traxeit, bronxit, pnevmoniya, teri yaralari.</a:t>
            </a:r>
          </a:p>
          <a:p>
            <a:pPr>
              <a:spcAft>
                <a:spcPts val="1200"/>
              </a:spcAft>
            </a:pPr>
            <a:r>
              <a:rPr sz="2200">
                <a:solidFill>
                  <a:srgbClr val="1F2937"/>
                </a:solidFill>
                <a:latin typeface="Calibri"/>
              </a:rPr>
              <a:t>▸  Sud-kimyoviy tekshiruvga irritant izli kichik buyumlar olinadi. Teri va katta buyumlardan etil spirtli doka tampon yuvmasi germetik idishda yuboriladi.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94–95, 95</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O‘q otar jarohatlarda ekspertiza savollari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Ekspertiza oldiga 8 ta asosiy savol qo‘yiladi; voqeaga qarab qo‘shimcha savollar ham bo‘lishi mumkin.</a:t>
            </a:r>
          </a:p>
          <a:p>
            <a:pPr>
              <a:spcAft>
                <a:spcPts val="800"/>
              </a:spcAft>
            </a:pPr>
            <a:r>
              <a:rPr sz="1800">
                <a:solidFill>
                  <a:srgbClr val="1F2937"/>
                </a:solidFill>
                <a:latin typeface="Calibri"/>
              </a:rPr>
              <a:t>▸  Quroldan otilganligi defekt, hoshiyalar, qo‘shimcha omillar belgilari va tanadagi snaryad bo‘yicha aniqlanadi.</a:t>
            </a:r>
          </a:p>
          <a:p>
            <a:pPr>
              <a:spcAft>
                <a:spcPts val="800"/>
              </a:spcAft>
            </a:pPr>
            <a:r>
              <a:rPr sz="1800">
                <a:solidFill>
                  <a:srgbClr val="1F2937"/>
                </a:solidFill>
                <a:latin typeface="Calibri"/>
              </a:rPr>
              <a:t>▸  Diqqat: distansiya — belgilar majmui, masofa — stvol–nishon oralig‘i (eksperimentda aniqlanadi).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Quroldan otilganmi?</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Qurol va snaryad turi</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Distansiya va masofa</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Kirish-chiqish, kanal</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Stvol va jabrlanuvchi holati</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Savollar ketma-ketligi</a:t>
            </a:r>
          </a:p>
        </p:txBody>
      </p:sp>
      <p:sp>
        <p:nvSpPr>
          <p:cNvPr id="19" name="TextBox 1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96, 86; 97</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Jarohatlar ketma-ketligi va instrumental usullar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Ketma-ketlik: dastlabki jarohatda qon quyilish yaqqol, qurum va metall keyingisida ko‘proq, moy dastlabkida ko‘proq; keyingi darz avvalgisini kesmaydi.</a:t>
            </a:r>
          </a:p>
          <a:p>
            <a:pPr>
              <a:spcAft>
                <a:spcPts val="1200"/>
              </a:spcAft>
            </a:pPr>
            <a:r>
              <a:rPr sz="2200">
                <a:solidFill>
                  <a:srgbClr val="1F2937"/>
                </a:solidFill>
                <a:latin typeface="Calibri"/>
              </a:rPr>
              <a:t>▸  Avtomatik qurolda jarohatlar bir tomonda, yaqin va bir xil. O‘z-o‘ziga: tepkini bosa olish, kanal, qo‘lda qurum, stvolda qon izi baholanadi.</a:t>
            </a:r>
          </a:p>
          <a:p>
            <a:pPr>
              <a:spcAft>
                <a:spcPts val="1200"/>
              </a:spcAft>
            </a:pPr>
            <a:r>
              <a:rPr sz="2200">
                <a:solidFill>
                  <a:srgbClr val="1F2937"/>
                </a:solidFill>
                <a:latin typeface="Calibri"/>
              </a:rPr>
              <a:t>▸  Rentgen o‘q va sochmani, Bukki nuri metall zarrachani, ultrabinafsha qurum-moyni, infraqizil fotografiya to‘q kiyimdagi izlarni ko‘rsatadi.</a:t>
            </a:r>
          </a:p>
          <a:p>
            <a:pPr>
              <a:spcAft>
                <a:spcPts val="1200"/>
              </a:spcAft>
            </a:pPr>
            <a:r>
              <a:rPr sz="2200">
                <a:solidFill>
                  <a:srgbClr val="1F2937"/>
                </a:solidFill>
                <a:latin typeface="Calibri"/>
              </a:rPr>
              <a:t>▸  Shifokor kirish-chiqish teshigi va kanalni hujjatlashtiradi; topilgan o‘q, sochma, kiyim-poyafzalni o‘ramda huquqni muhofaza idoralariga topshiradi.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97, 98</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Portlash travmasi: turlari va omillari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Portlash — qisqa vaqtda katta energiya ajralishi; turlari: tabiiy, qasddan, tasodifiy.</a:t>
            </a:r>
          </a:p>
          <a:p>
            <a:pPr>
              <a:spcAft>
                <a:spcPts val="800"/>
              </a:spcAft>
            </a:pPr>
            <a:r>
              <a:rPr sz="1800">
                <a:solidFill>
                  <a:srgbClr val="1F2937"/>
                </a:solidFill>
                <a:latin typeface="Calibri"/>
              </a:rPr>
              <a:t>▸  Moddalar: birlamchi (initsial), ikkilamchi (brizant), tarqatuvchi (porox) guruhlari.</a:t>
            </a:r>
          </a:p>
          <a:p>
            <a:pPr>
              <a:spcAft>
                <a:spcPts val="800"/>
              </a:spcAft>
            </a:pPr>
            <a:r>
              <a:rPr sz="1800">
                <a:solidFill>
                  <a:srgbClr val="1F2937"/>
                </a:solidFill>
                <a:latin typeface="Calibri"/>
              </a:rPr>
              <a:t>▸  Ta’sir turlari: mexanik, termik, kimyoviy va baroakustik (quloq nog‘ora pardasi, o‘pka).</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Detonatsiya mahsulotlari</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Atrof-muhit zarb to‘lqini</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Portlovchi moslama bo‘laklari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Maxsus shikastlovchi vositalar</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Ikkilamchi snaryadlar</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Portlashning 5 omili</a:t>
            </a:r>
          </a:p>
        </p:txBody>
      </p:sp>
      <p:sp>
        <p:nvSpPr>
          <p:cNvPr id="19" name="TextBox 1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98, 99, 100-101</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Portlash distansiyalari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Portlashda shartli ravishda to‘rtta distansiya farqlanadi: kontakt, yaqin, nisbatan yaqin va yaqin bo‘lmagan.</a:t>
            </a:r>
          </a:p>
          <a:p>
            <a:pPr>
              <a:spcAft>
                <a:spcPts val="800"/>
              </a:spcAft>
            </a:pPr>
            <a:r>
              <a:rPr sz="1800">
                <a:solidFill>
                  <a:srgbClr val="1F2937"/>
                </a:solidFill>
                <a:latin typeface="Calibri"/>
              </a:rPr>
              <a:t>▸  Har bir distansiyaga to‘g‘ri keladigan masofa portlovchi modda, moslama va zaryad quvvatiga bog‘liq.</a:t>
            </a:r>
          </a:p>
          <a:p>
            <a:pPr>
              <a:spcAft>
                <a:spcPts val="800"/>
              </a:spcAft>
            </a:pPr>
            <a:r>
              <a:rPr sz="1800">
                <a:solidFill>
                  <a:srgbClr val="1F2937"/>
                </a:solidFill>
                <a:latin typeface="Calibri"/>
              </a:rPr>
              <a:t>▸  Zaryadsiz moslamada: ballonda devor bo‘laklari, bug‘ qozonida termik jarohat asosiy bo‘ladi.</a:t>
            </a:r>
          </a:p>
        </p:txBody>
      </p:sp>
      <p:graphicFrame>
        <p:nvGraphicFramePr>
          <p:cNvPr id="9" name="Table 8"/>
          <p:cNvGraphicFramePr>
            <a:graphicFrameLocks noGrp="1"/>
          </p:cNvGraphicFramePr>
          <p:nvPr/>
        </p:nvGraphicFramePr>
        <p:xfrm>
          <a:off x="6263640" y="1463040"/>
          <a:ext cx="5287975" cy="2057400"/>
        </p:xfrm>
        <a:graphic>
          <a:graphicData uri="http://schemas.openxmlformats.org/drawingml/2006/table">
            <a:tbl>
              <a:tblPr firstRow="1" bandRow="1">
                <a:tableStyleId>{5C22544A-7EE6-4342-B048-85BDC9FD1C3A}</a:tableStyleId>
              </a:tblPr>
              <a:tblGrid>
                <a:gridCol w="1510850"/>
                <a:gridCol w="3777125"/>
              </a:tblGrid>
              <a:tr h="411480">
                <a:tc>
                  <a:txBody>
                    <a:bodyPr/>
                    <a:lstStyle/>
                    <a:p>
                      <a:r>
                        <a:rPr sz="1400" b="1">
                          <a:solidFill>
                            <a:srgbClr val="FFFFFF"/>
                          </a:solidFill>
                        </a:rPr>
                        <a:t>Distansiya</a:t>
                      </a:r>
                    </a:p>
                  </a:txBody>
                  <a:tcPr marL="73152" marR="73152" marT="36576" marB="36576">
                    <a:solidFill>
                      <a:srgbClr val="0B1F3A"/>
                    </a:solidFill>
                  </a:tcPr>
                </a:tc>
                <a:tc>
                  <a:txBody>
                    <a:bodyPr/>
                    <a:lstStyle/>
                    <a:p>
                      <a:r>
                        <a:rPr sz="1400" b="1">
                          <a:solidFill>
                            <a:srgbClr val="FFFFFF"/>
                          </a:solidFill>
                        </a:rPr>
                        <a:t>Asosiy omillar</a:t>
                      </a:r>
                    </a:p>
                  </a:txBody>
                  <a:tcPr marL="73152" marR="73152" marT="36576" marB="36576">
                    <a:solidFill>
                      <a:srgbClr val="0B1F3A"/>
                    </a:solidFill>
                  </a:tcPr>
                </a:tc>
              </a:tr>
              <a:tr h="411480">
                <a:tc>
                  <a:txBody>
                    <a:bodyPr/>
                    <a:lstStyle/>
                    <a:p>
                      <a:r>
                        <a:rPr sz="1300" b="0">
                          <a:solidFill>
                            <a:srgbClr val="1F2937"/>
                          </a:solidFill>
                        </a:rPr>
                        <a:t>Kontakt</a:t>
                      </a:r>
                    </a:p>
                  </a:txBody>
                  <a:tcPr marL="73152" marR="73152" marT="36576" marB="36576">
                    <a:solidFill>
                      <a:srgbClr val="E8EEF6"/>
                    </a:solidFill>
                  </a:tcPr>
                </a:tc>
                <a:tc>
                  <a:txBody>
                    <a:bodyPr/>
                    <a:lstStyle/>
                    <a:p>
                      <a:r>
                        <a:rPr sz="1300" b="0">
                          <a:solidFill>
                            <a:srgbClr val="1F2937"/>
                          </a:solidFill>
                        </a:rPr>
                        <a:t>Detonatsiya mahsulotlari, bo‘laklar</a:t>
                      </a:r>
                    </a:p>
                  </a:txBody>
                  <a:tcPr marL="73152" marR="73152" marT="36576" marB="36576">
                    <a:solidFill>
                      <a:srgbClr val="E8EEF6"/>
                    </a:solidFill>
                  </a:tcPr>
                </a:tc>
              </a:tr>
              <a:tr h="411480">
                <a:tc>
                  <a:txBody>
                    <a:bodyPr/>
                    <a:lstStyle/>
                    <a:p>
                      <a:r>
                        <a:rPr sz="1300" b="0">
                          <a:solidFill>
                            <a:srgbClr val="1F2937"/>
                          </a:solidFill>
                        </a:rPr>
                        <a:t>Yaqin</a:t>
                      </a:r>
                    </a:p>
                  </a:txBody>
                  <a:tcPr marL="73152" marR="73152" marT="36576" marB="36576">
                    <a:solidFill>
                      <a:srgbClr val="FFFFFF"/>
                    </a:solidFill>
                  </a:tcPr>
                </a:tc>
                <a:tc>
                  <a:txBody>
                    <a:bodyPr/>
                    <a:lstStyle/>
                    <a:p>
                      <a:r>
                        <a:rPr sz="1300" b="0">
                          <a:solidFill>
                            <a:srgbClr val="1F2937"/>
                          </a:solidFill>
                        </a:rPr>
                        <a:t>Mahsulotlar, bo‘laklar, zarb to‘lqini</a:t>
                      </a:r>
                    </a:p>
                  </a:txBody>
                  <a:tcPr marL="73152" marR="73152" marT="36576" marB="36576">
                    <a:solidFill>
                      <a:srgbClr val="FFFFFF"/>
                    </a:solidFill>
                  </a:tcPr>
                </a:tc>
              </a:tr>
              <a:tr h="411480">
                <a:tc>
                  <a:txBody>
                    <a:bodyPr/>
                    <a:lstStyle/>
                    <a:p>
                      <a:r>
                        <a:rPr sz="1300" b="0">
                          <a:solidFill>
                            <a:srgbClr val="1F2937"/>
                          </a:solidFill>
                        </a:rPr>
                        <a:t>Nisbatan yaqin</a:t>
                      </a:r>
                    </a:p>
                  </a:txBody>
                  <a:tcPr marL="73152" marR="73152" marT="36576" marB="36576">
                    <a:solidFill>
                      <a:srgbClr val="E8EEF6"/>
                    </a:solidFill>
                  </a:tcPr>
                </a:tc>
                <a:tc>
                  <a:txBody>
                    <a:bodyPr/>
                    <a:lstStyle/>
                    <a:p>
                      <a:r>
                        <a:rPr sz="1300" b="0">
                          <a:solidFill>
                            <a:srgbClr val="1F2937"/>
                          </a:solidFill>
                        </a:rPr>
                        <a:t>Zarb to‘lqini, bo‘laklar, ikkilamchi snaryad</a:t>
                      </a:r>
                    </a:p>
                  </a:txBody>
                  <a:tcPr marL="73152" marR="73152" marT="36576" marB="36576">
                    <a:solidFill>
                      <a:srgbClr val="E8EEF6"/>
                    </a:solidFill>
                  </a:tcPr>
                </a:tc>
              </a:tr>
              <a:tr h="411480">
                <a:tc>
                  <a:txBody>
                    <a:bodyPr/>
                    <a:lstStyle/>
                    <a:p>
                      <a:r>
                        <a:rPr sz="1300" b="0">
                          <a:solidFill>
                            <a:srgbClr val="1F2937"/>
                          </a:solidFill>
                        </a:rPr>
                        <a:t>Yaqin bo‘lmagan</a:t>
                      </a:r>
                    </a:p>
                  </a:txBody>
                  <a:tcPr marL="73152" marR="73152" marT="36576" marB="36576">
                    <a:solidFill>
                      <a:srgbClr val="FFFFFF"/>
                    </a:solidFill>
                  </a:tcPr>
                </a:tc>
                <a:tc>
                  <a:txBody>
                    <a:bodyPr/>
                    <a:lstStyle/>
                    <a:p>
                      <a:r>
                        <a:rPr sz="1300" b="0">
                          <a:solidFill>
                            <a:srgbClr val="1F2937"/>
                          </a:solidFill>
                        </a:rPr>
                        <a:t>Bo‘laklar va ikkilamchi snaryadlar</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Distansiya va asosiy omillar</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101</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portlash va ekspertiza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portlash joyida jabrlanganning tanasi va kiyimida yot jismlar topilgan, quloq nog‘ora pardasi shikastlangan.</a:t>
            </a:r>
          </a:p>
          <a:p>
            <a:pPr>
              <a:spcAft>
                <a:spcPts val="1200"/>
              </a:spcAft>
            </a:pPr>
            <a:r>
              <a:rPr sz="2200">
                <a:solidFill>
                  <a:srgbClr val="1F2937"/>
                </a:solidFill>
                <a:latin typeface="Calibri"/>
              </a:rPr>
              <a:t>▸  Savol 1: nog‘ora parda va o‘pka shikasti qaysi omildan? Baroakustik travma asosan atrof-muhit zarb to‘lqinidan, ba’zan portlash gazlaridan bo‘ladi.</a:t>
            </a:r>
          </a:p>
          <a:p>
            <a:pPr>
              <a:spcAft>
                <a:spcPts val="1200"/>
              </a:spcAft>
            </a:pPr>
            <a:r>
              <a:rPr sz="2200">
                <a:solidFill>
                  <a:srgbClr val="1F2937"/>
                </a:solidFill>
                <a:latin typeface="Calibri"/>
              </a:rPr>
              <a:t>▸  Savol 2: qaysi distansiya? Zarb to‘lqini yaqin va nisbatan yaqin distansiyada ta’sir qiladi, aniq javob uchun qo‘shimcha ma’lumot kerak. (?)</a:t>
            </a:r>
          </a:p>
          <a:p>
            <a:pPr>
              <a:spcAft>
                <a:spcPts val="1200"/>
              </a:spcAft>
            </a:pPr>
            <a:r>
              <a:rPr sz="2200">
                <a:solidFill>
                  <a:srgbClr val="1F2937"/>
                </a:solidFill>
                <a:latin typeface="Calibri"/>
              </a:rPr>
              <a:t>▸  Savol 3: shifokor tan jarohatlarini to‘liq tekshirib hujjatlashtiradi, yot jismlarni imkon qadar tez rasman huquqni muhofaza idoralariga topshiradi.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101-102, 101, 102</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Xulosa va asosiy tushunchalar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Shikastlovchi omillar: o‘q otishda asosiy snaryad, qo‘shimcha omillar, qurol va ikkilamchi snaryadlar; portlashda beshta omil.</a:t>
            </a:r>
          </a:p>
          <a:p>
            <a:pPr>
              <a:spcAft>
                <a:spcPts val="1200"/>
              </a:spcAft>
            </a:pPr>
            <a:r>
              <a:rPr sz="2200">
                <a:solidFill>
                  <a:srgbClr val="1F2937"/>
                </a:solidFill>
                <a:latin typeface="Calibri"/>
              </a:rPr>
              <a:t>▸  Distansiya — belgilar majmui (tirab, yaqin, yaqin bo‘lmagan). Masofa — stvol uchi va nishon oralig‘i. Distansiya ≠ masofa.</a:t>
            </a:r>
          </a:p>
          <a:p>
            <a:pPr>
              <a:spcAft>
                <a:spcPts val="1200"/>
              </a:spcAft>
            </a:pPr>
            <a:r>
              <a:rPr sz="2200">
                <a:solidFill>
                  <a:srgbClr val="1F2937"/>
                </a:solidFill>
                <a:latin typeface="Calibri"/>
              </a:rPr>
              <a:t>▸  Kirish teshigida ko‘pincha to‘qima defekti, shilinish va ifloslanish hoshiyasi bor. Chiqish teshigi notekis, hoshiyasiz bo‘ladi.</a:t>
            </a:r>
          </a:p>
          <a:p>
            <a:pPr>
              <a:spcAft>
                <a:spcPts val="1200"/>
              </a:spcAft>
            </a:pPr>
            <a:r>
              <a:rPr sz="2200">
                <a:solidFill>
                  <a:srgbClr val="1F2937"/>
                </a:solidFill>
                <a:latin typeface="Calibri"/>
              </a:rPr>
              <a:t>▸  Ekspertiza qurol turi, distansiya, kanal yo‘nalishi, ketma-ketlikni aniqlaydi. Shifokor jarohatni to‘liq hujjatlashtirishi shart.</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83, 99, 86, 91-93, 96-98, 102</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Qiziqarli ma’lumotlar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38 / 80</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1200"/>
              </a:spcAft>
            </a:pPr>
            <a:r>
              <a:rPr sz="1800">
                <a:solidFill>
                  <a:srgbClr val="1F2937"/>
                </a:solidFill>
                <a:latin typeface="Calibri"/>
              </a:rPr>
              <a:t>▸  Pirogov ikki muhim belgini ilk bor tasvirlagan. 1849 yilda to‘qima defektini (“to‘qima o‘zligini yo‘qotishi”) ta’riflagan. 1865 yilda kirish teshigi atrofidagi shilinish va ifloslanish hoshiyalarini keltirgan. Bugun kirish teshigini aniqlashda aynan shu belgilarga tayanamiz.</a:t>
            </a:r>
          </a:p>
          <a:p>
            <a:pPr>
              <a:spcAft>
                <a:spcPts val="1200"/>
              </a:spcAft>
            </a:pPr>
            <a:r>
              <a:rPr sz="1800">
                <a:solidFill>
                  <a:srgbClr val="1F2937"/>
                </a:solidFill>
                <a:latin typeface="Calibri"/>
              </a:rPr>
              <a:t>▸  Vinogradov fenomeni: yaqin bo‘lmagan distansiyadan otilganda ham ichki qavat kiyimda yoki tanada qurum topilishi mumkin. Tez uchayotgan o‘q ortida past bosimli bo‘shliq hosil bo‘ladi va qurum shu bo‘shliqqa tushib o‘q ortidan boradi. Shartlari: tezlik kamida 500 m/sek., kiyim tanaga zich yopishmagan, kuchli shamol yo‘q. Muhim farq: birinchi qavat kiyimning tashqi yuzasida qurum bo‘lmaydi.</a:t>
            </a:r>
          </a:p>
          <a:p>
            <a:pPr>
              <a:spcAft>
                <a:spcPts val="1200"/>
              </a:spcAft>
            </a:pPr>
            <a:r>
              <a:rPr sz="1800">
                <a:solidFill>
                  <a:srgbClr val="1F2937"/>
                </a:solidFill>
                <a:latin typeface="Calibri"/>
              </a:rPr>
              <a:t>▸  Eslab qolish usuli (yaqin distansiya zonalari, o‘qituvchi mnemonikasi): “Hammasi – Gazsiz – Zarracha”. 1-zonada barcha omillar bor (Makarov pistoletida taxminan 1 sm gacha). 2-zonada porox gazi yo‘q (aksariyat jangovor qurollarda 25-35 sm). 3-zonada faqat porox va metall zarrachalari qoladi (Makarovda 150 sm gacha, silliq stvolli ov miltig‘ida 500 sm gacha).</a:t>
            </a:r>
          </a:p>
          <a:p>
            <a:pPr>
              <a:spcAft>
                <a:spcPts val="1200"/>
              </a:spcAft>
            </a:pPr>
            <a:r>
              <a:rPr sz="1800">
                <a:solidFill>
                  <a:srgbClr val="1F2937"/>
                </a:solidFill>
                <a:latin typeface="Calibri"/>
              </a:rPr>
              <a:t>▸  Hodisa tahlili: “bitta o‘q, to‘rtta teshik” mumkinmi? Ha. Tananing yupqa sohalarida (bilak, ko‘krak) bir o‘q ikkita kirish va ikkita chiqish teshigi hosil qilishi mumkin. Shuningdek, yupqa sohada chiqish teshigida ham to‘qima defekti bo‘lishi mumkin, bunda uning uchi tashqariga qaragan bo‘ladi. Shuning uchun teshiklarni bitta belgiga qarab emas, belgilar majmuiga qarab farqlang.</a:t>
            </a:r>
          </a:p>
          <a:p>
            <a:pPr>
              <a:spcAft>
                <a:spcPts val="1200"/>
              </a:spcAft>
            </a:pPr>
            <a:r>
              <a:rPr sz="1800">
                <a:solidFill>
                  <a:srgbClr val="1F2937"/>
                </a:solidFill>
                <a:latin typeface="Calibri"/>
              </a:rPr>
              <a:t>▸  Yonish va detonatsiya bir narsa emas. Yopiq muhitda qora porox yonish tezligi 400 m/sek.ga yetadi va gaz bosimi bir necha ming atmosferaga chiqadi. Detonatsiyada jarayon zarb to‘lqini ta’sirida bir necha ming m/sek. tezlikda o‘tadi. Trotilda bosim yuz ming atmosferadan oshadi. Shu sababli porox “tarqatuvchi”, trotil esa “brizant” modda hisoblanadi.</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377440"/>
            <a:ext cx="10911535" cy="1280160"/>
          </a:xfrm>
          <a:prstGeom prst="rect">
            <a:avLst/>
          </a:prstGeom>
          <a:noFill/>
        </p:spPr>
        <p:txBody>
          <a:bodyPr wrap="square" anchor="ctr">
            <a:spAutoFit/>
          </a:bodyPr>
          <a:lstStyle/>
          <a:p>
            <a:r>
              <a:rPr sz="4400" b="1">
                <a:solidFill>
                  <a:srgbClr val="FFFFFF"/>
                </a:solidFill>
                <a:latin typeface="Georgia"/>
              </a:rPr>
              <a:t>Bilimingizni sinang</a:t>
            </a:r>
          </a:p>
        </p:txBody>
      </p:sp>
      <p:sp>
        <p:nvSpPr>
          <p:cNvPr id="4" name="TextBox 3"/>
          <p:cNvSpPr txBox="1"/>
          <p:nvPr/>
        </p:nvSpPr>
        <p:spPr>
          <a:xfrm>
            <a:off x="640080" y="3749039"/>
            <a:ext cx="10911535" cy="548640"/>
          </a:xfrm>
          <a:prstGeom prst="rect">
            <a:avLst/>
          </a:prstGeom>
          <a:noFill/>
        </p:spPr>
        <p:txBody>
          <a:bodyPr wrap="square">
            <a:spAutoFit/>
          </a:bodyPr>
          <a:lstStyle/>
          <a:p>
            <a:r>
              <a:rPr sz="2200" b="0">
                <a:solidFill>
                  <a:srgbClr val="C9A227"/>
                </a:solidFill>
                <a:latin typeface="Calibri"/>
              </a:rPr>
              <a:t>20 ta test savoli</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40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Ekspert qo‘lbola tayyorlangan, stvoli va qo‘ndog‘i kalta qilingan miltiqni ko‘rdi. Bu qurol qaysi guruhga kiradi?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Tipik o‘q otar qurol</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Atipik o‘q otar qurol</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Maxsus o‘q otar qurol</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Sport o‘q otar quroli</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41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Ekspert jangovor qurol stvolining ichida 4-6 ta vintsimon o‘yiq borligini aniqladi. Bu o‘yiqlar nimaga xizmat qiladi?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Porox gazlarini stvolda sovutishga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Patronni stvolga to‘g‘ri joylashga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Qurumni stvol ichidan chiqarishga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Snaryadga aylanma harakat berishga</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3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42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Silliq stvolli ov quroli kalibri 12 deb belgilangan. Bu raqam nimani bildiradi?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Bir funt qo‘rg‘oshindan tayyorlanadigan sharsimon o‘qlar sonini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Stvol kanalining ichki diametrini millimetrlarda ifodalaydi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Stvol ichidagi vintsimon o‘yiqlarning umumiy sonini bildiradi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Bitta patrondagi sochmalarning umumiy sonini ko‘rsatadi</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4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43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Jangovor qurol patronida tutunsiz porox topildi. U qaysi moddadan tayyorlanadi?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Kaliy selitrasi, ko‘mir, oltingugurt</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Fosfor va bariy birikmalari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Nitrotsellyuloza asosidagi modda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Antimoniy va bertole tuzi</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5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44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Sochma deb diametri qaysi oraliqda bo‘lgan mayda sharchalar ataladi?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0,5 mm dan 2 mm gacha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1 mm dan 5,5 mm gacha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5,5 mm dan 10 mm gacha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10 mm dan 15 mm gacha</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6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45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Ekspert stvoli va qo‘ndog‘i kalta qilib o‘zgartirilgan miltiqni ko‘rdi. Bu qurol qaysi turga kiradi?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Tipik o‘q otar qurol</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Atipik o‘q otar qurol</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Maxsus o‘q otar qurol</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Sport o‘q otar qurol</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7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46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Qo‘lbola qurolning stvoli yorilib, qurolni ushlagan shaxs jarohatlandi. Shikastlovchi omillarning qaysi guruhi ishtirok etdi?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Asosiy snaryad — o‘q</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Ikkilamchi snaryadlar</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O‘q oldi havo</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O‘q otar qurolning o‘zi</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8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47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Ekspert jabrlanganda shilinish, qontalash va yumshoq to‘qimalarning yorilishini porox gazlari ta’siri deb baholadi. Bu ta’sir taxminan qaysi masofada bo‘ladi?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10–15 sm gacha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3–5 sm gacha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25–35 sm gacha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150 sm gacha</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9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48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Jarohatda dumaloq, chetlari tekis, o‘lchami o‘q diametridan kichik to‘qima defekti topildi. Bu qaysi ta’sirga xos?</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Yorma ta’sir</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Ponasimon ta’sir</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Yulma ta’sir</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Kontuzion ta’sir</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10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49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Turli rusumdagi ikki qurol bir xil distansiyadan otilganda, nima har xil bo‘lishi mumkin?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Otish distansiyasi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Otish masofasi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Distansiya belgilari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Distansiya nomi</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11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50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Ekspert kirish teshigi atrofida porox gazlari belgilarini topmadi, lekin qurum, porox, metall zarrachalari va moy sachralari bor. Bu qaysi zonaga mos?</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Birinchi zonaga, chunki gazlar kuyish qoldirgan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Ikkinchi zonaga, chunki faqat o‘q ta’sir qilgan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Uchinchi zonaga, chunki qurum butunlay yo‘q</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Tirab otish zonasiga, chunki moy zarralari bor</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12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51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Birinchi qavat kiyimning tashqi yuzasida qurum yo‘q. Uning ichki yuzasida va ikkinchi qavat kiyimning tashqi yuzasida oz qurum bor, o‘q tezligi 500 m/sek.dan kam emas. Bu qanday holat?</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Tirab otishning odatiy belgisi bo‘lgan holat</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Yaqin distansiyaning birinchi zonasi belgisi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Yaqin distansiyaning ikkinchi zonasi belgisi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Yaqin bo‘lmagan distansiyadagi Vinogradov fenomeni</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13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52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Zarb ta’siri nazariyasiga ko‘ra o‘q otar yara devorida ajratiladigan to‘qimalarning chayqalish zonasi kengligi qancha bo‘ladi?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Kengligi 4–5 sm va undan ortiq</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Kengligi 0,3 sm dan 1–2 sm gacha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Kengligi 1–3 mm atrofida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Kengligi 10–15 sm atrofida</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14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53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Murda ekspertizasida teri yarasi dumaloq, chetlari tekis va ichkariga qayrilgan. Atrofida 1–3 mm shilinish hoshiyasi va ifloslanish hoshiyasi bor. Bu qaysi teshik?</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Chiqish teshigi, chunki shakli dumaloq</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Chiqish teshigi, chunki hoshiya bo‘ladi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Kirish teshigi, chunki hoshiyalar yaqqol</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Aniqlab bo‘lmaydi, ikkalasida ham bor</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15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54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Yassi suyakda o‘q kirgan sohada kesik konus shaklidagi defekt topildi. Snaryad qaysi yo‘nalishda harakatlangan?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Katta asosdan kichik asos tomonga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Kichik asosdan katta asos tomonga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Yo‘nalish asoslarga bog‘liq emas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Yo‘nalishni defektdan aniqlab bo‘lmaydi</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16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55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Silliq stvolli ov miltig‘idan sochmali patron bilan 1 metrgacha masofadan otilgan. Jarohatda kirish teshigi qanday bo‘ladi?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Patron diametriga teng bitta kirish teshigi hosil bo‘ladi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Bitta asosiy teshik va atrofida mayda dumaloq yaralar bo‘ladi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Shakli o‘xshash mayda yaralar alohida tarqalib joylashadi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Yulduzsimon yoriqli bitta katta teshik hosil bo‘ladi</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17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56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Gaz quroli ishlatilgan hodisada irritant izini sud-kimyoviy aniqlash uchun namuna olish tartibi qanday?</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Kiyimni yuvib, yuvindi suvini oddiy qog‘ozga to‘kish</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Spirtli doka tampon bilan yuvma olib, germetik idishga solish</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Teri yuzasini quruq doka bilan artib, ochiq qoldirish</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Faqat jabrlanganning shikoyatlariga tayanib xulosa berish</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18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57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Murdada ikkita o‘q otar jarohat bor. A jarohat atrofida qon quyilish yaqqol va moy zarralari ko‘p. B jarohat atrofida qurum va metall zarrachalari ko‘proq. Qaysi xulosa to‘g‘ri?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B jarohat dastlab, A jarohat keyin etkazilgan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Ikkala jarohat bir vaqtning o‘zida etkazilgan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 jarohat dastlab, B jarohat keyin etkazilgan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Ketma-ketlikni belgilab bo‘lmaydi, belgilar yetarli emas</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19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58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Portlash holatlarida baroakustik travma asosan qaysi shikastlovchi omil ta’sirida vujudga keladi?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Portlovchi moslamaning bo‘laklari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Kiyim-bosh va poyafzalning bo‘laklari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Maxsus shikastlovchi vositalar</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Atrof-muhitning zarb to‘lqini</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20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59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Portlashda jabrlanganda asosiy shikastlovchi omillar faqat moslama bo‘laklari va ikkilamchi snaryadlar. Bu qaysi distansiyaga mos keladi?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Portlovchi moslama tana bilan kontaktda bo‘lganda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Portlash markazi yaqin bo‘lmagan distansiyada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Portlash markazi nisbatan yaqin distansiyada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Portlash markazi yaqin distansiyada bo‘lganda</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60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Atipik o‘q otar qurol</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Qo‘lbola tayyorlangan yoki ma’lum maqsadda o‘zgartirilgan qurol (masalan, stvoli va qo‘ndog‘i kalta qilingan miltiq) atipik hisoblanadi. Tipik qurollar esa maxsus ishlab chiqarish sharoitida tayyorlanadi.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80-bet</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61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Snaryadga aylanma harakat berishga</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Vintsimon o‘yiqlar snaryadga o‘qi atrofida aylanma harakat beradi. Natijada o‘qning tezligi kattaroq bo‘ladi, u uzoqroq va aniqroq uchadi.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81-bet</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3: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62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Bir funt qo‘rg‘oshindan tayyorlanadigan sharsimon o‘qlar sonini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Silliq stvolli ov qurolining kalibri bir ingliz funti (453,6 g) qo‘rg‘oshindan tayyorlanishi mumkin bo‘lgan sharsimon o‘qlar soni bilan belgilanadi. Kalibr soni katta bo‘lsa, stvol kanalining diametri kichikroq bo‘ladi.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81-bet</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4: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63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Nitrotsellyuloza asosidagi modda</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Jangovor va sport qurollarida snaryadni harakatga keltiruvchi energiya manbai tutunsiz porox bo‘lib, u nitrotsellyulozadan tayyorlanadi. Kaliy selitrasi, ko‘mir va oltingugurt qora porox tarkibiga kiradi.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82-bet</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5: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64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1 mm dan 5,5 mm gacha</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Sochmalar diametri 1 mm dan 5,5 mm gacha bo‘lgan mayda sharchalardir. Bundan katta sharchalar katta sochma (kartech) deb ataladi.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83-bet</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6: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65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Atipik o‘q otar qurol</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Atipik qurol qo‘lbola tayyorlangan yoki tipik qurol ma’lum maqsadda o‘zgartirilgan bo‘ladi, masalan stvoli va qo‘ndog‘i kalta qilingan miltiq. Tipik qurol esa maxsus ishlab chiqarish sharoitida tayyorlanadi.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80-bet</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7: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66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O‘q otar qurolning o‘zi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O‘q otar qurol va uning qismlari ham shikastlovchi omil hisoblanadi. Qurol ushlagan shaxsga og‘ir shikast odatda faqat stvol yorilib ketganda etkaziladi.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84, 86-bet</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8: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67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10–15 sm gacha</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Porox gazlari 10–15 sm masofada mexanik ta’sir ko‘rsatadi va shilinish, qontalash, yumshoq to‘qimalar yorilishini keltiradi. 3–5 sm esa stvoldagi o‘q oldi havoning ta’sir masofasi.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85-bet</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9: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68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Yulma ta’sir</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Bir necha yuz joul energiyali o‘q to‘qimaning bir qismini yulib, o‘lchami snaryad diametridan kichik, chetlari tekis defekt hosil qiladi. Bu yulma ta’sir.</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85-bet</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10: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69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Otish masofasi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Distansiya — ma’lum belgilar majmui, masofa esa stvol uchi va nishon oralig‘i uzunligi. Bir xil distansiya turli qurollarda uzunlik birligidagi har xil masofaga to‘g‘ri kelishi mumkin.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86-bet</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11: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70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Ikkinchi zonaga, chunki faqat o‘q ta’sir qilgan</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Ikkinchi zonada porox gazlari ta’siri bo‘lmaydi. Kirish teshigi faqat o‘q ta’sirida hosil bo‘ladi, atrofida esa qurum, porox, metall va moy zarralari qoladi. Birinchi zonada gazlar ta’siri (yorilish, kuyish) bor. Uchinchi zonada faqat porox va metall zarrachalari aniqlanadi.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88-bet</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12: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71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Yaqin bo‘lmagan distansiyadagi Vinogradov fenomeni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Vinogradov fenomenida o‘q ortida past bosimli bo‘shliq hosil bo‘ladi va qurum o‘q ortidan kiradi. Qurum birinchi qavat kiyimning ichki yuzasida va ikkinchi qavatning tashqi yuzasida qoladi. Yaqin distansiyadan farqli ravishda birinchi qavat kiyimning tashqi yuzasida qurum bo‘lmaydi.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88-89-bet</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13: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72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Kengligi 4–5 sm va undan ortiq</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Yara devorida uch zona bor: bevosita yara kanali, to‘qimalarning lat yeyish zonasi (0,3 sm dan 1–2 sm gacha) va chayqalish zonasi (4–5 sm va undan ortiq). Shilinish hoshiyasi esa boshqa tushuncha bo‘lib, kengligi 1–3 mm.</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90-bet</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14: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73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Kirish teshigi, chunki hoshiyalar yaqqol</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Kirish teshigi dumaloq yoki oval, chetlari nisbatan tekis va ichkariga qayrilgan bo‘ladi. Unda shilinish va ifloslanish hoshiyalari yaqqol ko‘rinadi. Chiqish teshigi yoriqsimon, chetlari notekis va tashqariga qayrilgan bo‘ladi, hoshiyalari ko‘pincha bo‘lmaydi.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91-92-bet</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15: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74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Kichik asosdan katta asos tomonga</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Yassi suyaklar shikastlanganda o‘q kirgan sohada kesik konus shaklidagi defekt hosil bo‘ladi. Snaryadning harakat yo‘nalishi kichik asosdan katta asos tomonga bo‘ladi. Shu belgi yordamida kirish tomonini aniqlash mumkin.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92-bet</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16: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75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Patron diametriga teng bitta kirish teshigi hosil bo‘ladi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Stvol tanaga tiralganda yoki 1 metrgacha masofada sochmalar kompakt, bir butun ta’sir qiladi. Natijada o‘lchami patron diametriga teng bitta teshik hosil bo‘ladi. Bitta asosiy teshik va atrofdagi mayda yaralar 5 metrgacha bo‘lgan nisbiy tarqalma ta’sirga xos. Alohida mayda yaralar esa undan uzoqroq masofadagi tarqalma ta’sirga xos.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93-bet</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17: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76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Spirtli doka tampon bilan yuvma olib, germetik idishga solish</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Katta predmetlar va teri yuzasidan etil spirti bilan namlangan doka tampon yordamida yuvma olinadi. Yuvma plastik paketga yoki germetik yopiladigan idishga solinib, laboratoriyaga yuboriladi. Quruq artish va ochiq saqlash izni yo‘qotadi, shikoyatning o‘zi esa kimyoviy tasdiq bermaydi.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95-bet</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18: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77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A jarohat dastlab, B jarohat keyin etkazilgan</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Dastlabki jarohatlarda qon quyilishlar yaqqolroq va ko‘lamliroq bo‘ladi. Moy zarrachalari ham dastlabki jarohat atrofida ko‘proq bo‘ladi. Qurum va metall zarrachalari esa keyingi jarohatlarda ko‘proq aniqlanadi. Demak, A jarohat birinchi etkazilgan.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97-bet</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19: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78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Atrof-muhitning zarb to‘lqini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Baroakustik travma asosan atrof-muhit zarb to‘lqini, ba’zan portlash gazlarining ta’siridan bosim keskin o‘zgarishi hisobiga hosil bo‘ladi. Bunda quloqning nog‘ora pardasi va o‘pkalar shikastlanishi mumkin. Moslama bo‘laklari va ikkilamchi snaryadlar asosan mexanik ta’sir qiladi.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101-bet</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20: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79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Portlash markazi yaqin bo‘lmagan distansiyada</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Yaqin bo‘lmagan distansiyada asosiy omillar portlovchi moslama bo‘laklari va ikkilamchi snaryadlardir. Nisbatan yaqin distansiyada ularga atrof-muhit zarb to‘lqini ham qo‘shiladi. Yaqin distansiyada esa detonatsiya mahsulotlari ham ta’sir qiladi.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101-bet</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Foydalanilgan manbalar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80 / 80</a:t>
            </a:r>
          </a:p>
        </p:txBody>
      </p:sp>
      <p:sp>
        <p:nvSpPr>
          <p:cNvPr id="8" name="TextBox 7"/>
          <p:cNvSpPr txBox="1"/>
          <p:nvPr/>
        </p:nvSpPr>
        <p:spPr>
          <a:xfrm>
            <a:off x="640080" y="1463040"/>
            <a:ext cx="10911535" cy="4572000"/>
          </a:xfrm>
          <a:prstGeom prst="rect">
            <a:avLst/>
          </a:prstGeom>
          <a:noFill/>
        </p:spPr>
        <p:txBody>
          <a:bodyPr wrap="square">
            <a:spAutoFit/>
          </a:bodyPr>
          <a:lstStyle/>
          <a:p>
            <a:pPr>
              <a:spcAft>
                <a:spcPts val="1200"/>
              </a:spcAft>
            </a:pPr>
            <a:r>
              <a:rPr sz="2000">
                <a:solidFill>
                  <a:srgbClr val="1F2937"/>
                </a:solidFill>
                <a:latin typeface="Calibri"/>
              </a:rPr>
              <a:t>▸  G‘iyosov Z.A. Sud tibbiyoti: darslik, Toshkent: Global Books nashriyoti. 2018. Bob 4. O'q otar qurollardan jarohatlar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