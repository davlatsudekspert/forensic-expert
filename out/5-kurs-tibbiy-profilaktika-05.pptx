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kam uchrasa ham o‘q otar jarohatlarga alohida e’tibor beriladi? 2) Portlash jarohatlari nega shu guruhga kiradi? Doskada: «porox gazlari → snaryad → jarohat» zanjirini chizdiring. Tipik xato: o‘q otar jarohatni faqat o‘q tekkan jarohat deb tushunish; bu guruhga portlash jarohatlari ham kiradi.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Kichik massali, lekin tezkor snaryad nima bilan xavfli? 2) Mexanikdan tashqari yana qanday ta’sirlar bo‘ladi? Doskada: ikki guruhli (o‘q otar jarohat / portlash travmasi) sxema chizdiring. Tipik xato: o‘q otar jarohatni faqat mexanik shikast deb o‘ylash. Tezkor savol: o‘q otar jarohatning uchta o‘ziga xos belgisini ayting.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Tipik va atipik qurolning farqi nimada? 2) Stvol uzunligi bo‘yicha misollar keltiring. Doskada: tasnif daraxtini chizdiring. Diqqat: tipik ≠ atipik (zavodda tayyorlangan ≠ qo‘lbola yoki o‘zgartirilgan). Tipik xato: pistolet-pulemetni kalta stvolli qurolga kiritish; u o‘rta uzunlikdagi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O‘yiqlar o‘q uchishiga qanday ta’sir qiladi? 2) Nega silliq stvolda kalibr soni va diametr teskari bog‘liq? Doskada: stvolning ko‘ndalang kesimini (A - silliq, B - o‘yiqli) chizing, kalibr o‘lchanadigan joyni belgilang. Tipik xato: kalibr soni kattaroq bo‘lsa diametr ham katta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Sport va jangovor qurolning o‘xshashligi nimada? 2) Maxsus qurollarni nima birlashtiradi? Doskada: qurollar turlari (jangovor, ov, sport, gaz, maxsus) bo‘yicha qisqa daraxt sxema chizing. Tipik xato: 12 va 16 kalibrni o‘yiqli stvolning mm o‘lchami deb tushunish; bu silliq stvolli ov qurollari kalibri.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og‘zaki javob beradi, savollarni ketma-ket bering. Muhokama: tipik qurol nega ’tipik’ deb ataladi? Doskada: kalibr toifalarining uch qatorli jadvalini chizdiring. Tipik xato: atipik qurolni faqat qo‘lbola deb hisoblash; u o‘zgartirilgan tipik qurolni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 Muhokama: 1) Tepki urganda patron ichida qaysi qism birinchi ishga tushadi? 2) Nega uzun va kalta stvolli qurol o‘qlarining uchi har xil? Doskada: Rasm 4.2 asosida patron kesimini chizib, 5 ta qismni raqamlang (o‘q, gilza, kapsyul, gilza cheti, porox). Tipik xato: gilza va kapsyulni aralashtirish; kapsyul gilza tubida joylashadi va poroxni yondiradi.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 Muhokama: 1) Nega tutunsiz porox uzoq nishonlarni urishga qulay? 2) Maxsus o‘qlarni qaysi belgisi bo‘yicha ajratamiz? Doskada: ikki ustunli jadvalni (tutunsiz va qora porox) o‘quvchilar bilan to‘ldiring. Tipik xato: qora poroxni jangovor qurollarda asosiy porox deb o‘ylash; u asosan ov va signal qurollarida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 Muhokama: 1) Porox ustidagi tiqin qanday vazifani bajaradi (germetiklik)? 2) Sochma va kartechni nima farqlaydi? Doskada: Rasm 4.3 bo‘yicha 7 ta qismni raqamlab chizing. Tipik xato: sochmali patronni o‘yiq stvolli qurol patroni bilan aralashtirish; sochmali patronlar silliq stvolli ov qurollarida qo‘llanadi.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Stvol ichki yuzasi qurol turi haqida nima deydi? 2) Sochmali va unitar patronni qaysi belgilar bilan ajratamiz? Doskada: stvolning ko‘ndalang kesimini (silliq va o‘yiqli) chizdiring. Tipik xato: kalibrni silliq va o‘yiqli stvolda bir xil usulda hisoblash. Silliq stvolda kalibr sharsimon o‘qlar soni bilan, o‘yiqli stvolda o‘yiqlararo masofa (mm)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Qo‘shimcha omillarning ta’siri nimalarga bog‘liq? 2) Qurol qachon shikastlovchi omilga aylanadi? Doskada: to‘rt omilni o‘q yo‘nalishi bo‘yicha sxemada chizdiring. Tipik xato: qo‘shimcha omillarni asosiy snaryad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o‘yiqli stvolda bosim va tezlik yuqoriroq? 2) Qurolning orqaga harakati amalda nimaga olib kelishi mumkin? Doskada: stvol kanalida bosim va snaryad harakati sxemasini chizdiring. Tipik xato: silliq va o‘yiqli stvolning bosim va tezlik ko‘rsatkichlarini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qo‘shimcha omillar masofani aniqlashda muhim? Qurol turi masofaga qanday ta’sir qiladi? Doskada: stvol uchidan nishongacha chiziq chizib, 3-5, 10-15 va 3-10 sm belgilarini qo‘ying. Tipik xato: alanga masofasini (3-10 sm) porox gazlari masofasi (10-15 sm) bilan almashtirish. Jadvaldagi alanga masofasi manbaning 86-betidan olingan.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yorma ta’sir qaysi hollarda (maxsus o‘qlar, tirab otish) uchraydi? Nega chiqish teshigida defekt kam uchraydi? Doskada: energiya pog‘onasi (ming - yuz - o‘n joul) va har biriga yara eskizini chizing. Tipik xato: yulma va ponasimon ta’sirni aralashtirish, defekt bor-yo‘qligini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kirish teshigi atrofidagi pushti tus ekspertga nimani ko‘rsatadi? Kiyim kuyishi qaysi omillar bilan bog‘liq? Doskada: porox gazlari - karboksigemoglobin (qonda) va karboksimioglobin (mushakda) - pushti tus zanjirini chizing. Tipik xato: karboksigemoglobin (qonda) bilan karboksimioglobinni (mushakda)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Har bir belgi qaysi omil (alanga, porox gazlari) bilan bog‘liq? 2) Shu belgilar qaysi distansiyaga xos bo‘lishi mumkin? Doskada: omil → ta’sir turi (termik, mexanik, kimyoviy) → belgi ustunli jadval chizdiring. Tipik xato: pushti tusni faqat termik ta’sirga bog‘lash; aslida u kimyoviy ta’sir natijasi.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masofani faqat jarohatga qarab aniqlab bo‘lmaydi? 2) Eksperimentda qanday qurol, patron va nishon ishlatiladi? Doskada: ikki ustunli solishtirma jadval chizdiring. Tipik xato: ‘yaqin distansiya’ ni aniq santimetr bilan aralashtirish; distansiya shartli belgilar majmuidir.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Shtansmarka nima va u nimani ko‘rsatadi? 2) Nega qiyalab otishda belgilar faqat bir tomonda bo‘ladi? Doskada: stvol uchi va teri kesimini chizib, uch turni sxemada ko‘rsating. Tipik xato: shtansmarkani barcha tirab otishlarda uchraydi deb o‘ylash; u to‘liq germetik turga xos.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masofa oshgani sari belgilar kamayadi? Nega zona uzunligi qurolga qarab farq qiladi? Doskada: stvol–nishon chizig‘ini chizib, uch zonani rangli bo‘ling. Tipik xato: distansiya (belgilar majmui) bilan masofani (sm)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slaydni ochishdan oldin so‘rang. Muhokama: to‘siq bo‘lganda tanadagi jarohat nima uchun odatdagi belgilarga mos kelmaydi? Doskada: to‘siq–o‘q–nishon sxemasini chizdiring. Tipik xato: to‘siq orqasidagi tanada qurum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yaqin distansiyadagi qurum bilan Vinogradov fenomenidagi qurum qanday farqlanadi? Qaysi shartlar bajarilmasa fenomen yo‘qoladi? Doskada: ikki qavat kiyim va o‘q ortidagi bo‘shliq sxemasini chizdiring. Tipik xato: ichki qavatdagi qurumni darhol yaqin distansiya belgisi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tashqi qavatda qurum yo‘qligi yaqin distansiyani inkor qiladi? 2) Qaysi shart yetishmasa fenomen rivojlanmaydi? Doskada: o‘q, ortidagi past bosimli bo‘shliq va ikki qavat kiyim sxemasini chizdiring, qurum izini belgilang. Tipik xato: ichki qavatdagi qurumni darhol yaqin distansiya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bir xil o‘q turli sohalarda turlicha jarohat beradi? 2) Pulsatsiya nimaga olib keladi? Doskada: zarb nazariyasi zanjirini 5 bosqichda chizdiring. Tipik xato: faqat o‘qning o‘zini hisobga olib, shikastlangan soha xususiyatlarini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Uzlukli kanal ekspertiza uchun nimani bildiradi? 2) Siljigan og‘irlik markazli o‘q nega xavfliroq? Doskada: yara devorining uch zonasini konsentrik doiralar bilan chizdiring. Tipik xato: ko‘r va yalama jarohatni aralashtirish (ko‘rda o‘q tanada qoladi, yalamada to‘liq kirmaydi).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kirishda ifloslanish hoshiyasi hosil bo‘ladi? 2) Qon quyilish turi qaysi teshikni ko‘rsatadi? Doskada jadvalni o‘zlari chizsin. Tipik xato: har qanday dumaloq teshikni kirish deb hisoblash; shakl yolg‘iz belgi emas, hoshiyalarni ham tekshirish kerak.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Suyakdagi konus kengayishi o‘q yo‘nalishini qanday ko‘rsatadi? 2) Chiqishda defekt qachon paydo bo‘ladi? Doskada yassi va naysimon suyak kesimini chizib, kirish va chiqishni belgilang. Tipik xato: kesik konusning kichik va katta asosini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Hoshiyalar bo‘lmasa, qaysi qo‘shimcha belgilar yordam beradi? 2) Chetlarni yaqinlashtirish sinovi nimani ko‘rsatadi? Doskada jadval ustunlari bo‘yicha asoslashni talabalar yozsin. Tipik xato: defekt borligi uchun teshikni darhol kirish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sochmali patronda yaqin distansiya uzunroq? 2) Kompakt va nisbiy tarqalma ta’sirini qanday farqlaysiz? Doskada chizish: stvol–nishon chizig‘i bo‘yicha 1 m, 5 m va undan uzoq masofada teshiklar joylashuvini chizing. Tipik xato: kompakt ta’sirdagi bitta teshikni o‘q otar qurolning o‘yiqli stvolidan otilgan o‘q izi deb o‘ylash. Teshik o‘lchami patron diametriga teng ekanini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Snaryadsiz patrondan nega og‘ir jarohat bo‘lishi mumkin? 2) Pnevmatik qurol jarohati qaysi distansiyadagi jarohatga o‘xshaydi? Doskada chizish: ikki ustunli solishtirish jadvalini o‘zlari to‘ldirsin. Tipik xato: Diqqat! Pnevmatik qurolda qo‘shimcha omillar belgisi yo‘q, snaryadsiz patronda esa tirab/yaqin masofada porox gazlari belgilari bor. Ularni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Stvoldagi to‘siq nima uchun kerak? 2) Hodisa joyida irritant izini qanday yig‘ish kerak? Doskada chizish: gaz qurollaridagi irritant ta’sir bosqichlarini (masofa, davomiyligi, asoratlar) chizing. Tipik xato: gaz qurolini xavfsiz deb hisoblash va asoratlarni (keratit, pnevmoniya)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Qaysi savol birinchi hal qilinadi va nega? 2) Qurol turini aniqlash nega murakkab? Doskada: savollar zanjirini chizdiring. Tipik xato: distansiya va masofani bir xil tushunish; bir xil distansiya turli qurolda turli masofaga to‘g‘ri kelishi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qurum keyingi jarohatda ko‘proq, moy esa kamroq? 2) Jarrohlik muolajasi ekspertizaga qanday ta’sir qiladi? Doskada: ikki jarohat darzlarining kesishmasligini chizdiring. Tipik xato: moy zarrachalarining ketma-ketlikdagi o‘zgarishini qurum bilan bir xil deb o‘ylash (ular teskari).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Qaysi omil baroakustik travmani keltiradi? 2) Ikkilamchi snaryad bo‘laklaridan jarohat nega odatda yengilroq? Doskada: besh omil va ularning ta’sir turlari jadvalini chizdiring. Tipik xato: porox (tarqatuvchi, yonadi) va brizant moddalarni (detonatsiya)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masofa (metr) emas, distansiya (belgilar majmui) deyiladi? 2) Zarb to‘lqini qaysi distansiyalarda ta’sir qiladi? Doskada: to‘rt distansiyali jadvalni talabalar bilan birga chizing. Tipik xato: distansiya va masofani aralashtirish; yaqin bo‘lmagan distansiyada zarb to‘lqinini ham asosiy omil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Yot jismlar qaysi omillar (bo‘laklar, ikkilamchi snaryadlar) hisobiga paydo bo‘ladi? 2) Nima uchun yot jismni shifokor o‘zi yo‘qotmasligi kerak? Doskada: omil → shikast turi (mexanik, baroakustik) zanjirini chizing. Tipik xato: yot jismni tibbiy chiqindi sifatida tashlab yuborish yoki jarohatni hujjatda aks ettirmaslik.</a:t>
            </a:r>
          </a:p>
          <a:p/>
          <a:p>
            <a:r>
              <a:t>Tekshirish kerak (manbada noaniq):</a:t>
            </a:r>
          </a:p>
          <a:p>
            <a:r>
              <a:t>- Savol 2: qaysi distansiya? Zarb to‘lqini yaqin va nisbatan yaqin distansiyada ta’sir qiladi, aniq javob uchun qo‘shimcha ma’lumot kerak.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nazorat savollari (1, 5, 7) bo‘yicha talabalar juft bo‘lib javob beradi. Doskada: yaqin, yaqin bo‘lmagan va tirab otish uchun asosiy belgilarning qisqa konspektini yozdiring. Tipik xato: kirish va chiqish teshigi belgilarini almashtirib yuborish; shifokor hujjatlashtirishining ahamiyatini ikkinchi darajali deb bilish.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O‘q otar qurollardan yetkazilgan jarohatlar.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o‘q otar jarohatlar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qurolda shikastlovchi snaryad porox gazlarining energiyasi hisobiga harakatga keladi. Bunday quroldan etkazilgan shikast o‘q otar jarohat deyiladi.</a:t>
            </a:r>
          </a:p>
          <a:p>
            <a:pPr>
              <a:spcAft>
                <a:spcPts val="1200"/>
              </a:spcAft>
            </a:pPr>
            <a:r>
              <a:rPr sz="2200">
                <a:solidFill>
                  <a:srgbClr val="1F2937"/>
                </a:solidFill>
                <a:latin typeface="Calibri"/>
              </a:rPr>
              <a:t>▸  Artillerik snaryad, mina, granata portlashidan va turli portlovchi moddalardan etkazilgan shikastlar ham o‘q otar jarohatlar qatoriga kiradi.</a:t>
            </a:r>
          </a:p>
          <a:p>
            <a:pPr>
              <a:spcAft>
                <a:spcPts val="1200"/>
              </a:spcAft>
            </a:pPr>
            <a:r>
              <a:rPr sz="2200">
                <a:solidFill>
                  <a:srgbClr val="1F2937"/>
                </a:solidFill>
                <a:latin typeface="Calibri"/>
              </a:rPr>
              <a:t>▸  Sud-tibbiy amaliyotda bunday jarohatlar o‘tmas va o‘tkir jismlardan etkazilgan mexanik jarohatlarga qaraganda kamroq uchraydi.</a:t>
            </a:r>
          </a:p>
          <a:p>
            <a:pPr>
              <a:spcAft>
                <a:spcPts val="1200"/>
              </a:spcAft>
            </a:pPr>
            <a:r>
              <a:rPr sz="2200">
                <a:solidFill>
                  <a:srgbClr val="1F2937"/>
                </a:solidFill>
                <a:latin typeface="Calibri"/>
              </a:rPr>
              <a:t>▸  Shunga qaramay, huquqni muhofaza etuvchi idoralar bu hodisalarga alohida e’tibor beradi va atroflicha tekshiruv o‘tkazadi.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jarohatlarning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O‘tmas va o‘tkir jismlardan farqli, o‘q otar jarohatlar qurol va aslahalarning tuzilish xususiyatlari bilan bog‘liq.</a:t>
            </a:r>
          </a:p>
          <a:p>
            <a:pPr>
              <a:spcAft>
                <a:spcPts val="1200"/>
              </a:spcAft>
            </a:pPr>
            <a:r>
              <a:rPr sz="2200">
                <a:solidFill>
                  <a:srgbClr val="1F2937"/>
                </a:solidFill>
                <a:latin typeface="Calibri"/>
              </a:rPr>
              <a:t>▸  Snaryad nisbatan kichik massaga, lekin katta tezlikka ega bo‘ladi va jarohatni katta masofadan etkazishi mumkin.</a:t>
            </a:r>
          </a:p>
          <a:p>
            <a:pPr>
              <a:spcAft>
                <a:spcPts val="1200"/>
              </a:spcAft>
            </a:pPr>
            <a:r>
              <a:rPr sz="2200">
                <a:solidFill>
                  <a:srgbClr val="1F2937"/>
                </a:solidFill>
                <a:latin typeface="Calibri"/>
              </a:rPr>
              <a:t>▸  Mexanik omildan tashqari termik, kimyoviy va boshqa turdagi ta’sir ham bo‘ladi.</a:t>
            </a:r>
          </a:p>
          <a:p>
            <a:pPr>
              <a:spcAft>
                <a:spcPts val="1200"/>
              </a:spcAft>
            </a:pPr>
            <a:r>
              <a:rPr sz="2200">
                <a:solidFill>
                  <a:srgbClr val="1F2937"/>
                </a:solidFill>
                <a:latin typeface="Calibri"/>
              </a:rPr>
              <a:t>▸  Sud tibbiyotida bu shikastlar shartli ikki guruhga bo‘linadi: o‘q otar qurollardan jarohat va portlash travmasi.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Tipik qurol maxsus ishlab chiqarishda tayyorlanadi; atipik qurol qo‘lbola yoki o‘zgartirilgan bo‘ladi.</a:t>
            </a:r>
          </a:p>
          <a:p>
            <a:pPr>
              <a:spcAft>
                <a:spcPts val="800"/>
              </a:spcAft>
            </a:pPr>
            <a:r>
              <a:rPr sz="1800">
                <a:solidFill>
                  <a:srgbClr val="1F2937"/>
                </a:solidFill>
                <a:latin typeface="Calibri"/>
              </a:rPr>
              <a:t>▸  Xususan o‘q otar qurollar individual (miltiq, avtomat, pistolet) yoki guruhiy (pulemet) bo‘ladi.</a:t>
            </a:r>
          </a:p>
          <a:p>
            <a:pPr>
              <a:spcAft>
                <a:spcPts val="800"/>
              </a:spcAft>
            </a:pPr>
            <a:r>
              <a:rPr sz="1800">
                <a:solidFill>
                  <a:srgbClr val="1F2937"/>
                </a:solidFill>
                <a:latin typeface="Calibri"/>
              </a:rPr>
              <a:t>▸  Stvol uzunligi: uzun — miltiq, karabin; o‘rta — pistolet-pulemet; kalta — pistolet, revolver.</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014474"/>
                <a:gridCol w="3273501"/>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Turlari</a:t>
                      </a:r>
                    </a:p>
                  </a:txBody>
                  <a:tcPr marL="73152" marR="73152" marT="36576" marB="36576">
                    <a:solidFill>
                      <a:srgbClr val="0B1F3A"/>
                    </a:solidFill>
                  </a:tcPr>
                </a:tc>
              </a:tr>
              <a:tr h="614476">
                <a:tc>
                  <a:txBody>
                    <a:bodyPr/>
                    <a:lstStyle/>
                    <a:p>
                      <a:r>
                        <a:rPr sz="1700" b="0">
                          <a:solidFill>
                            <a:srgbClr val="1F2937"/>
                          </a:solidFill>
                        </a:rPr>
                        <a:t>Maqsadi</a:t>
                      </a:r>
                    </a:p>
                  </a:txBody>
                  <a:tcPr marL="73152" marR="73152" marT="36576" marB="36576">
                    <a:solidFill>
                      <a:srgbClr val="E8EEF6"/>
                    </a:solidFill>
                  </a:tcPr>
                </a:tc>
                <a:tc>
                  <a:txBody>
                    <a:bodyPr/>
                    <a:lstStyle/>
                    <a:p>
                      <a:r>
                        <a:rPr sz="1700" b="0">
                          <a:solidFill>
                            <a:srgbClr val="1F2937"/>
                          </a:solidFill>
                        </a:rPr>
                        <a:t>jangovor, ov, sport, gaz, maxsus</a:t>
                      </a:r>
                    </a:p>
                  </a:txBody>
                  <a:tcPr marL="73152" marR="73152" marT="36576" marB="36576">
                    <a:solidFill>
                      <a:srgbClr val="E8EEF6"/>
                    </a:solidFill>
                  </a:tcPr>
                </a:tc>
              </a:tr>
              <a:tr h="614476">
                <a:tc>
                  <a:txBody>
                    <a:bodyPr/>
                    <a:lstStyle/>
                    <a:p>
                      <a:r>
                        <a:rPr sz="1700" b="0">
                          <a:solidFill>
                            <a:srgbClr val="1F2937"/>
                          </a:solidFill>
                        </a:rPr>
                        <a:t>Tayyorlanishi</a:t>
                      </a:r>
                    </a:p>
                  </a:txBody>
                  <a:tcPr marL="73152" marR="73152" marT="36576" marB="36576">
                    <a:solidFill>
                      <a:srgbClr val="FFFFFF"/>
                    </a:solidFill>
                  </a:tcPr>
                </a:tc>
                <a:tc>
                  <a:txBody>
                    <a:bodyPr/>
                    <a:lstStyle/>
                    <a:p>
                      <a:r>
                        <a:rPr sz="1700" b="0">
                          <a:solidFill>
                            <a:srgbClr val="1F2937"/>
                          </a:solidFill>
                        </a:rPr>
                        <a:t>tipik va atipik</a:t>
                      </a:r>
                    </a:p>
                  </a:txBody>
                  <a:tcPr marL="73152" marR="73152" marT="36576" marB="36576">
                    <a:solidFill>
                      <a:srgbClr val="FFFFFF"/>
                    </a:solidFill>
                  </a:tcPr>
                </a:tc>
              </a:tr>
              <a:tr h="614476">
                <a:tc>
                  <a:txBody>
                    <a:bodyPr/>
                    <a:lstStyle/>
                    <a:p>
                      <a:r>
                        <a:rPr sz="1700" b="0">
                          <a:solidFill>
                            <a:srgbClr val="1F2937"/>
                          </a:solidFill>
                        </a:rPr>
                        <a:t>Jangovor qurol</a:t>
                      </a:r>
                    </a:p>
                  </a:txBody>
                  <a:tcPr marL="73152" marR="73152" marT="36576" marB="36576">
                    <a:solidFill>
                      <a:srgbClr val="E8EEF6"/>
                    </a:solidFill>
                  </a:tcPr>
                </a:tc>
                <a:tc>
                  <a:txBody>
                    <a:bodyPr/>
                    <a:lstStyle/>
                    <a:p>
                      <a:r>
                        <a:rPr sz="1700" b="0">
                          <a:solidFill>
                            <a:srgbClr val="1F2937"/>
                          </a:solidFill>
                        </a:rPr>
                        <a:t>artillerik; xususan o‘q otar</a:t>
                      </a:r>
                    </a:p>
                  </a:txBody>
                  <a:tcPr marL="73152" marR="73152" marT="36576" marB="36576">
                    <a:solidFill>
                      <a:srgbClr val="E8EEF6"/>
                    </a:solidFill>
                  </a:tcPr>
                </a:tc>
              </a:tr>
              <a:tr h="614476">
                <a:tc>
                  <a:txBody>
                    <a:bodyPr/>
                    <a:lstStyle/>
                    <a:p>
                      <a:r>
                        <a:rPr sz="1700" b="0">
                          <a:solidFill>
                            <a:srgbClr val="1F2937"/>
                          </a:solidFill>
                        </a:rPr>
                        <a:t>Stvol uzunligi</a:t>
                      </a:r>
                    </a:p>
                  </a:txBody>
                  <a:tcPr marL="73152" marR="73152" marT="36576" marB="36576">
                    <a:solidFill>
                      <a:srgbClr val="FFFFFF"/>
                    </a:solidFill>
                  </a:tcPr>
                </a:tc>
                <a:tc>
                  <a:txBody>
                    <a:bodyPr/>
                    <a:lstStyle/>
                    <a:p>
                      <a:r>
                        <a:rPr sz="1700" b="0">
                          <a:solidFill>
                            <a:srgbClr val="1F2937"/>
                          </a:solidFill>
                        </a:rPr>
                        <a:t>uzun, o‘rta, kalta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Qurollar tasnifi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Stvol, o‘yiqlar va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O‘yiqli stvolda 4-6 vintsimon o‘yiq bor. Ular o‘qqa aylanma harakat beradi, o‘q uzoqroq va aniqroq uchadi.</a:t>
            </a:r>
          </a:p>
          <a:p>
            <a:pPr>
              <a:spcAft>
                <a:spcPts val="800"/>
              </a:spcAft>
            </a:pPr>
            <a:r>
              <a:rPr sz="1800">
                <a:solidFill>
                  <a:srgbClr val="1F2937"/>
                </a:solidFill>
                <a:latin typeface="Calibri"/>
              </a:rPr>
              <a:t>▸  O‘yiqli stvolda kalibr qarama-qarshi o‘yiqlararo yuzalar orasidagi masofa (mm) bilan o‘lchanadi.</a:t>
            </a:r>
          </a:p>
          <a:p>
            <a:pPr>
              <a:spcAft>
                <a:spcPts val="800"/>
              </a:spcAft>
            </a:pPr>
            <a:r>
              <a:rPr sz="1800">
                <a:solidFill>
                  <a:srgbClr val="1F2937"/>
                </a:solidFill>
                <a:latin typeface="Calibri"/>
              </a:rPr>
              <a:t>▸  Diqqat: silliq stvolda kalibr soni katta bo‘lsa, stvol kanalining diametri kichik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74270"/>
                <a:gridCol w="1958284"/>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Silliq stvol</a:t>
                      </a:r>
                    </a:p>
                  </a:txBody>
                  <a:tcPr marL="73152" marR="73152" marT="36576" marB="36576">
                    <a:solidFill>
                      <a:srgbClr val="0B1F3A"/>
                    </a:solidFill>
                  </a:tcPr>
                </a:tc>
                <a:tc>
                  <a:txBody>
                    <a:bodyPr/>
                    <a:lstStyle/>
                    <a:p>
                      <a:r>
                        <a:rPr sz="1600" b="1">
                          <a:solidFill>
                            <a:srgbClr val="FFFFFF"/>
                          </a:solidFill>
                        </a:rPr>
                        <a:t>O‘yiqli stvol</a:t>
                      </a:r>
                    </a:p>
                  </a:txBody>
                  <a:tcPr marL="73152" marR="73152" marT="36576" marB="36576">
                    <a:solidFill>
                      <a:srgbClr val="0B1F3A"/>
                    </a:solidFill>
                  </a:tcPr>
                </a:tc>
              </a:tr>
              <a:tr h="614476">
                <a:tc>
                  <a:txBody>
                    <a:bodyPr/>
                    <a:lstStyle/>
                    <a:p>
                      <a:r>
                        <a:rPr sz="1500" b="0">
                          <a:solidFill>
                            <a:srgbClr val="1F2937"/>
                          </a:solidFill>
                        </a:rPr>
                        <a:t>Ichki yuza</a:t>
                      </a:r>
                    </a:p>
                  </a:txBody>
                  <a:tcPr marL="73152" marR="73152" marT="36576" marB="36576">
                    <a:solidFill>
                      <a:srgbClr val="E8EEF6"/>
                    </a:solidFill>
                  </a:tcPr>
                </a:tc>
                <a:tc>
                  <a:txBody>
                    <a:bodyPr/>
                    <a:lstStyle/>
                    <a:p>
                      <a:r>
                        <a:rPr sz="1500" b="0">
                          <a:solidFill>
                            <a:srgbClr val="1F2937"/>
                          </a:solidFill>
                        </a:rPr>
                        <a:t>Silliq</a:t>
                      </a:r>
                    </a:p>
                  </a:txBody>
                  <a:tcPr marL="73152" marR="73152" marT="36576" marB="36576">
                    <a:solidFill>
                      <a:srgbClr val="E8EEF6"/>
                    </a:solidFill>
                  </a:tcPr>
                </a:tc>
                <a:tc>
                  <a:txBody>
                    <a:bodyPr/>
                    <a:lstStyle/>
                    <a:p>
                      <a:r>
                        <a:rPr sz="1500" b="0">
                          <a:solidFill>
                            <a:srgbClr val="1F2937"/>
                          </a:solidFill>
                        </a:rPr>
                        <a:t>4-6 vintsimon o‘yiq</a:t>
                      </a:r>
                    </a:p>
                  </a:txBody>
                  <a:tcPr marL="73152" marR="73152" marT="36576" marB="36576">
                    <a:solidFill>
                      <a:srgbClr val="E8EEF6"/>
                    </a:solidFill>
                  </a:tcPr>
                </a:tc>
              </a:tr>
              <a:tr h="614476">
                <a:tc>
                  <a:txBody>
                    <a:bodyPr/>
                    <a:lstStyle/>
                    <a:p>
                      <a:r>
                        <a:rPr sz="1500" b="0">
                          <a:solidFill>
                            <a:srgbClr val="1F2937"/>
                          </a:solidFill>
                        </a:rPr>
                        <a:t>Kalibr</a:t>
                      </a:r>
                    </a:p>
                  </a:txBody>
                  <a:tcPr marL="73152" marR="73152" marT="36576" marB="36576">
                    <a:solidFill>
                      <a:srgbClr val="FFFFFF"/>
                    </a:solidFill>
                  </a:tcPr>
                </a:tc>
                <a:tc>
                  <a:txBody>
                    <a:bodyPr/>
                    <a:lstStyle/>
                    <a:p>
                      <a:r>
                        <a:rPr sz="1500" b="0">
                          <a:solidFill>
                            <a:srgbClr val="1F2937"/>
                          </a:solidFill>
                        </a:rPr>
                        <a:t>Bir funt qo‘rg‘oshin sharlari soni</a:t>
                      </a:r>
                    </a:p>
                  </a:txBody>
                  <a:tcPr marL="73152" marR="73152" marT="36576" marB="36576">
                    <a:solidFill>
                      <a:srgbClr val="FFFFFF"/>
                    </a:solidFill>
                  </a:tcPr>
                </a:tc>
                <a:tc>
                  <a:txBody>
                    <a:bodyPr/>
                    <a:lstStyle/>
                    <a:p>
                      <a:r>
                        <a:rPr sz="1500" b="0">
                          <a:solidFill>
                            <a:srgbClr val="1F2937"/>
                          </a:solidFill>
                        </a:rPr>
                        <a:t>Qarama-qarshi o‘yiqlararo masofa</a:t>
                      </a:r>
                    </a:p>
                  </a:txBody>
                  <a:tcPr marL="73152" marR="73152" marT="36576" marB="36576">
                    <a:solidFill>
                      <a:srgbClr val="FFFFFF"/>
                    </a:solidFill>
                  </a:tcPr>
                </a:tc>
              </a:tr>
              <a:tr h="614476">
                <a:tc>
                  <a:txBody>
                    <a:bodyPr/>
                    <a:lstStyle/>
                    <a:p>
                      <a:r>
                        <a:rPr sz="1500" b="0">
                          <a:solidFill>
                            <a:srgbClr val="1F2937"/>
                          </a:solidFill>
                        </a:rPr>
                        <a:t>Kalibr toifasi</a:t>
                      </a:r>
                    </a:p>
                  </a:txBody>
                  <a:tcPr marL="73152" marR="73152" marT="36576" marB="36576">
                    <a:solidFill>
                      <a:srgbClr val="E8EEF6"/>
                    </a:solidFill>
                  </a:tcPr>
                </a:tc>
                <a:tc>
                  <a:txBody>
                    <a:bodyPr/>
                    <a:lstStyle/>
                    <a:p>
                      <a:r>
                        <a:rPr sz="1500" b="0">
                          <a:solidFill>
                            <a:srgbClr val="1F2937"/>
                          </a:solidFill>
                        </a:rPr>
                        <a:t>Soni bilan beriladi</a:t>
                      </a:r>
                    </a:p>
                  </a:txBody>
                  <a:tcPr marL="73152" marR="73152" marT="36576" marB="36576">
                    <a:solidFill>
                      <a:srgbClr val="E8EEF6"/>
                    </a:solidFill>
                  </a:tcPr>
                </a:tc>
                <a:tc>
                  <a:txBody>
                    <a:bodyPr/>
                    <a:lstStyle/>
                    <a:p>
                      <a:r>
                        <a:rPr sz="1500" b="0">
                          <a:solidFill>
                            <a:srgbClr val="1F2937"/>
                          </a:solidFill>
                        </a:rPr>
                        <a:t>Mayda ≤6, o‘rta 7-9, yirik ≥10 mm</a:t>
                      </a:r>
                    </a:p>
                  </a:txBody>
                  <a:tcPr marL="73152" marR="73152" marT="36576" marB="36576">
                    <a:solidFill>
                      <a:srgbClr val="E8EEF6"/>
                    </a:solidFill>
                  </a:tcPr>
                </a:tc>
              </a:tr>
              <a:tr h="614476">
                <a:tc>
                  <a:txBody>
                    <a:bodyPr/>
                    <a:lstStyle/>
                    <a:p>
                      <a:r>
                        <a:rPr sz="1500" b="0">
                          <a:solidFill>
                            <a:srgbClr val="1F2937"/>
                          </a:solidFill>
                        </a:rPr>
                        <a:t>Qo‘llanish</a:t>
                      </a:r>
                    </a:p>
                  </a:txBody>
                  <a:tcPr marL="73152" marR="73152" marT="36576" marB="36576">
                    <a:solidFill>
                      <a:srgbClr val="FFFFFF"/>
                    </a:solidFill>
                  </a:tcPr>
                </a:tc>
                <a:tc>
                  <a:txBody>
                    <a:bodyPr/>
                    <a:lstStyle/>
                    <a:p>
                      <a:r>
                        <a:rPr sz="1500" b="0">
                          <a:solidFill>
                            <a:srgbClr val="1F2937"/>
                          </a:solidFill>
                        </a:rPr>
                        <a:t>Ov qurollari: sochma uchun</a:t>
                      </a:r>
                    </a:p>
                  </a:txBody>
                  <a:tcPr marL="73152" marR="73152" marT="36576" marB="36576">
                    <a:solidFill>
                      <a:srgbClr val="FFFFFF"/>
                    </a:solidFill>
                  </a:tcPr>
                </a:tc>
                <a:tc>
                  <a:txBody>
                    <a:bodyPr/>
                    <a:lstStyle/>
                    <a:p>
                      <a:r>
                        <a:rPr sz="1500" b="0">
                          <a:solidFill>
                            <a:srgbClr val="1F2937"/>
                          </a:solidFill>
                        </a:rPr>
                        <a:t>Jangovor va sport qurollari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Silliq va o‘yiqli stvol</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 sport va maxsus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Sport qurollari tuzilishi bo‘yicha jangovorlardan deyarli farqlanmaydi. Ularning stvoli odatda mayda kalibrli (5,6 mm) va o‘yiqli bo‘ladi.</a:t>
            </a:r>
          </a:p>
          <a:p>
            <a:pPr>
              <a:spcAft>
                <a:spcPts val="1200"/>
              </a:spcAft>
            </a:pPr>
            <a:r>
              <a:rPr sz="2200">
                <a:solidFill>
                  <a:srgbClr val="1F2937"/>
                </a:solidFill>
                <a:latin typeface="Calibri"/>
              </a:rPr>
              <a:t>▸  Ov qurollari silliq yoki o‘yiqli stvolli. Silliq stvollisi sochma uchun mo‘ljallangan, kalibri 10-32; 12 va 16 kalibr ko‘proq tarqalgan.</a:t>
            </a:r>
          </a:p>
          <a:p>
            <a:pPr>
              <a:spcAft>
                <a:spcPts val="1200"/>
              </a:spcAft>
            </a:pPr>
            <a:r>
              <a:rPr sz="2200">
                <a:solidFill>
                  <a:srgbClr val="1F2937"/>
                </a:solidFill>
                <a:latin typeface="Calibri"/>
              </a:rPr>
              <a:t>▸  Maxsus qurollar ham porox gazlari energiyasidan foydalanadi: start, signal va qurilish-montaj pistoletlari shular qatoriga kiradi.</a:t>
            </a:r>
          </a:p>
          <a:p>
            <a:pPr>
              <a:spcAft>
                <a:spcPts val="1200"/>
              </a:spcAft>
            </a:pPr>
            <a:r>
              <a:rPr sz="2200">
                <a:solidFill>
                  <a:srgbClr val="1F2937"/>
                </a:solidFill>
                <a:latin typeface="Calibri"/>
              </a:rPr>
              <a:t>▸  O‘qlanishiga ko‘ra avtomatik va noavtomatik qurollar farqlanadi. Avtomatik qurollarda o‘qlanish porox gazlari hisobiga amalga oshadi.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81, 81-82,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qurol turlari va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tipik va atipik qurol farqi? Atipik qurol qo‘lbola yoki o‘zgartirilgan (masalan, stvoli va qo‘ndog‘i kalta qilingan miltiq).</a:t>
            </a:r>
          </a:p>
          <a:p>
            <a:pPr>
              <a:spcAft>
                <a:spcPts val="1200"/>
              </a:spcAft>
            </a:pPr>
            <a:r>
              <a:rPr sz="2200">
                <a:solidFill>
                  <a:srgbClr val="1F2937"/>
                </a:solidFill>
                <a:latin typeface="Calibri"/>
              </a:rPr>
              <a:t>▸  2-savol: o‘yiqlar nima uchun kerak? Snaryadga aylanma harakat beradi; o‘q tezroq, uzoqroq va aniqroq uchadi.</a:t>
            </a:r>
          </a:p>
          <a:p>
            <a:pPr>
              <a:spcAft>
                <a:spcPts val="1200"/>
              </a:spcAft>
            </a:pPr>
            <a:r>
              <a:rPr sz="2200">
                <a:solidFill>
                  <a:srgbClr val="1F2937"/>
                </a:solidFill>
                <a:latin typeface="Calibri"/>
              </a:rPr>
              <a:t>▸  3-savol: kalibr toifalari qanday? Mayda — 6 mm gacha, o‘rta — 7-9 mm, yirik — 10 mm va undan katta.</a:t>
            </a:r>
          </a:p>
          <a:p>
            <a:pPr>
              <a:spcAft>
                <a:spcPts val="1200"/>
              </a:spcAft>
            </a:pPr>
            <a:r>
              <a:rPr sz="2200">
                <a:solidFill>
                  <a:srgbClr val="1F2937"/>
                </a:solidFill>
                <a:latin typeface="Calibri"/>
              </a:rPr>
              <a:t>▸  4-savol: silliq stvolli ov qurolida kalibr soni oshsa, diametr qanday o‘zgaradi? Kichrayadi.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Jangovor patronning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o‘q (snaryad), porox zaryadi va kapsyul bir butun holda gilza ichiga joylangan.</a:t>
            </a:r>
          </a:p>
          <a:p>
            <a:pPr>
              <a:spcAft>
                <a:spcPts val="800"/>
              </a:spcAft>
            </a:pPr>
            <a:r>
              <a:rPr sz="1800">
                <a:solidFill>
                  <a:srgbClr val="1F2937"/>
                </a:solidFill>
                <a:latin typeface="Calibri"/>
              </a:rPr>
              <a:t>▸  Kapsyul gilza tubida, latun qobiqli; tarkibida qo‘rg‘oshin stifnat, antimoniy, bertole tuzi bor.</a:t>
            </a:r>
          </a:p>
          <a:p>
            <a:pPr>
              <a:spcAft>
                <a:spcPts val="800"/>
              </a:spcAft>
            </a:pPr>
            <a:r>
              <a:rPr sz="1800">
                <a:solidFill>
                  <a:srgbClr val="1F2937"/>
                </a:solidFill>
                <a:latin typeface="Calibri"/>
              </a:rPr>
              <a:t>▸  Uzun stvolli qurol o‘qining uchi biroz o‘tkir; kalta stvolli qurolda uchi dumaloq yoki kesik konus.</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Qism</a:t>
                      </a:r>
                    </a:p>
                  </a:txBody>
                  <a:tcPr marL="73152" marR="73152" marT="36576" marB="36576">
                    <a:solidFill>
                      <a:srgbClr val="0B1F3A"/>
                    </a:solidFill>
                  </a:tcPr>
                </a:tc>
                <a:tc>
                  <a:txBody>
                    <a:bodyPr/>
                    <a:lstStyle/>
                    <a:p>
                      <a:r>
                        <a:rPr sz="1800" b="1">
                          <a:solidFill>
                            <a:srgbClr val="FFFFFF"/>
                          </a:solidFill>
                        </a:rPr>
                        <a:t>Materiali / joyi</a:t>
                      </a:r>
                    </a:p>
                  </a:txBody>
                  <a:tcPr marL="73152" marR="73152" marT="36576" marB="36576">
                    <a:solidFill>
                      <a:srgbClr val="0B1F3A"/>
                    </a:solidFill>
                  </a:tcPr>
                </a:tc>
              </a:tr>
              <a:tr h="614476">
                <a:tc>
                  <a:txBody>
                    <a:bodyPr/>
                    <a:lstStyle/>
                    <a:p>
                      <a:r>
                        <a:rPr sz="1700" b="0">
                          <a:solidFill>
                            <a:srgbClr val="1F2937"/>
                          </a:solidFill>
                        </a:rPr>
                        <a:t>Snaryad (o‘q)</a:t>
                      </a:r>
                    </a:p>
                  </a:txBody>
                  <a:tcPr marL="73152" marR="73152" marT="36576" marB="36576">
                    <a:solidFill>
                      <a:srgbClr val="E8EEF6"/>
                    </a:solidFill>
                  </a:tcPr>
                </a:tc>
                <a:tc>
                  <a:txBody>
                    <a:bodyPr/>
                    <a:lstStyle/>
                    <a:p>
                      <a:r>
                        <a:rPr sz="1700" b="0">
                          <a:solidFill>
                            <a:srgbClr val="1F2937"/>
                          </a:solidFill>
                        </a:rPr>
                        <a:t>Po‘lat yoki qo‘rg‘oshin qobiqli po‘lat asos</a:t>
                      </a:r>
                    </a:p>
                  </a:txBody>
                  <a:tcPr marL="73152" marR="73152" marT="36576" marB="36576">
                    <a:solidFill>
                      <a:srgbClr val="E8EEF6"/>
                    </a:solidFill>
                  </a:tcPr>
                </a:tc>
              </a:tr>
              <a:tr h="614476">
                <a:tc>
                  <a:txBody>
                    <a:bodyPr/>
                    <a:lstStyle/>
                    <a:p>
                      <a:r>
                        <a:rPr sz="1700" b="0">
                          <a:solidFill>
                            <a:srgbClr val="1F2937"/>
                          </a:solidFill>
                        </a:rPr>
                        <a:t>Gilza</a:t>
                      </a:r>
                    </a:p>
                  </a:txBody>
                  <a:tcPr marL="73152" marR="73152" marT="36576" marB="36576">
                    <a:solidFill>
                      <a:srgbClr val="FFFFFF"/>
                    </a:solidFill>
                  </a:tcPr>
                </a:tc>
                <a:tc>
                  <a:txBody>
                    <a:bodyPr/>
                    <a:lstStyle/>
                    <a:p>
                      <a:r>
                        <a:rPr sz="1700" b="0">
                          <a:solidFill>
                            <a:srgbClr val="1F2937"/>
                          </a:solidFill>
                        </a:rPr>
                        <a:t>Po‘lat, latun yoki temir</a:t>
                      </a:r>
                    </a:p>
                  </a:txBody>
                  <a:tcPr marL="73152" marR="73152" marT="36576" marB="36576">
                    <a:solidFill>
                      <a:srgbClr val="FFFFFF"/>
                    </a:solidFill>
                  </a:tcPr>
                </a:tc>
              </a:tr>
              <a:tr h="614476">
                <a:tc>
                  <a:txBody>
                    <a:bodyPr/>
                    <a:lstStyle/>
                    <a:p>
                      <a:r>
                        <a:rPr sz="1700" b="0">
                          <a:solidFill>
                            <a:srgbClr val="1F2937"/>
                          </a:solidFill>
                        </a:rPr>
                        <a:t>Kapsyul</a:t>
                      </a:r>
                    </a:p>
                  </a:txBody>
                  <a:tcPr marL="73152" marR="73152" marT="36576" marB="36576">
                    <a:solidFill>
                      <a:srgbClr val="E8EEF6"/>
                    </a:solidFill>
                  </a:tcPr>
                </a:tc>
                <a:tc>
                  <a:txBody>
                    <a:bodyPr/>
                    <a:lstStyle/>
                    <a:p>
                      <a:r>
                        <a:rPr sz="1700" b="0">
                          <a:solidFill>
                            <a:srgbClr val="1F2937"/>
                          </a:solidFill>
                        </a:rPr>
                        <a:t>Gilza tubida, latun qobiqli</a:t>
                      </a:r>
                    </a:p>
                  </a:txBody>
                  <a:tcPr marL="73152" marR="73152" marT="36576" marB="36576">
                    <a:solidFill>
                      <a:srgbClr val="E8EEF6"/>
                    </a:solidFill>
                  </a:tcPr>
                </a:tc>
              </a:tr>
              <a:tr h="614476">
                <a:tc>
                  <a:txBody>
                    <a:bodyPr/>
                    <a:lstStyle/>
                    <a:p>
                      <a:r>
                        <a:rPr sz="1700" b="0">
                          <a:solidFill>
                            <a:srgbClr val="1F2937"/>
                          </a:solidFill>
                        </a:rPr>
                        <a:t>Porox</a:t>
                      </a:r>
                    </a:p>
                  </a:txBody>
                  <a:tcPr marL="73152" marR="73152" marT="36576" marB="36576">
                    <a:solidFill>
                      <a:srgbClr val="FFFFFF"/>
                    </a:solidFill>
                  </a:tcPr>
                </a:tc>
                <a:tc>
                  <a:txBody>
                    <a:bodyPr/>
                    <a:lstStyle/>
                    <a:p>
                      <a:r>
                        <a:rPr sz="1700" b="0">
                          <a:solidFill>
                            <a:srgbClr val="1F2937"/>
                          </a:solidFill>
                        </a:rPr>
                        <a:t>Tutunsiz porox (nitrotsellyulozadan)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Patron qismlari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Maxsus o‘qlar va porox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Zirxteshar o‘q asosi maxsus po‘lat; yondiruvchida fosfor, iz qoldiruvchida bariy va magniy bor.</a:t>
            </a:r>
          </a:p>
          <a:p>
            <a:pPr>
              <a:spcAft>
                <a:spcPts val="800"/>
              </a:spcAft>
            </a:pPr>
            <a:r>
              <a:rPr sz="1800">
                <a:solidFill>
                  <a:srgbClr val="1F2937"/>
                </a:solidFill>
                <a:latin typeface="Calibri"/>
              </a:rPr>
              <a:t>▸  Yorma o‘q nishonga tekkanda mayda qismlarga bo‘linadi; xalqaro bitimlar jangda uni taqiqlaydi.</a:t>
            </a:r>
          </a:p>
          <a:p>
            <a:pPr>
              <a:spcAft>
                <a:spcPts val="800"/>
              </a:spcAft>
            </a:pPr>
            <a:r>
              <a:rPr sz="1800">
                <a:solidFill>
                  <a:srgbClr val="1F2937"/>
                </a:solidFill>
                <a:latin typeface="Calibri"/>
              </a:rPr>
              <a:t>▸  Tutunsiz poroxda gaz qora poroxdagidan 3 barobar ko‘p; o‘q energiyasi va uchish uzoqligi ortadi.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573530"/>
                <a:gridCol w="2164080"/>
                <a:gridCol w="1550365"/>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Tutunsiz</a:t>
                      </a:r>
                    </a:p>
                  </a:txBody>
                  <a:tcPr marL="73152" marR="73152" marT="36576" marB="36576">
                    <a:solidFill>
                      <a:srgbClr val="0B1F3A"/>
                    </a:solidFill>
                  </a:tcPr>
                </a:tc>
                <a:tc>
                  <a:txBody>
                    <a:bodyPr/>
                    <a:lstStyle/>
                    <a:p>
                      <a:r>
                        <a:rPr sz="1600" b="1">
                          <a:solidFill>
                            <a:srgbClr val="FFFFFF"/>
                          </a:solidFill>
                        </a:rPr>
                        <a:t>Qora (tutunli)</a:t>
                      </a:r>
                    </a:p>
                  </a:txBody>
                  <a:tcPr marL="73152" marR="73152" marT="36576" marB="36576">
                    <a:solidFill>
                      <a:srgbClr val="0B1F3A"/>
                    </a:solidFill>
                  </a:tcPr>
                </a:tc>
              </a:tr>
              <a:tr h="768096">
                <a:tc>
                  <a:txBody>
                    <a:bodyPr/>
                    <a:lstStyle/>
                    <a:p>
                      <a:r>
                        <a:rPr sz="1500" b="0">
                          <a:solidFill>
                            <a:srgbClr val="1F2937"/>
                          </a:solidFill>
                        </a:rPr>
                        <a:t>Asosi</a:t>
                      </a:r>
                    </a:p>
                  </a:txBody>
                  <a:tcPr marL="73152" marR="73152" marT="36576" marB="36576">
                    <a:solidFill>
                      <a:srgbClr val="E8EEF6"/>
                    </a:solidFill>
                  </a:tcPr>
                </a:tc>
                <a:tc>
                  <a:txBody>
                    <a:bodyPr/>
                    <a:lstStyle/>
                    <a:p>
                      <a:r>
                        <a:rPr sz="1500" b="0">
                          <a:solidFill>
                            <a:srgbClr val="1F2937"/>
                          </a:solidFill>
                        </a:rPr>
                        <a:t>Nitrotsellyuloza</a:t>
                      </a:r>
                    </a:p>
                  </a:txBody>
                  <a:tcPr marL="73152" marR="73152" marT="36576" marB="36576">
                    <a:solidFill>
                      <a:srgbClr val="E8EEF6"/>
                    </a:solidFill>
                  </a:tcPr>
                </a:tc>
                <a:tc>
                  <a:txBody>
                    <a:bodyPr/>
                    <a:lstStyle/>
                    <a:p>
                      <a:r>
                        <a:rPr sz="1500" b="0">
                          <a:solidFill>
                            <a:srgbClr val="1F2937"/>
                          </a:solidFill>
                        </a:rPr>
                        <a:t>Kaliy selitrasi, pista ko‘mir, oltingugurt</a:t>
                      </a:r>
                    </a:p>
                  </a:txBody>
                  <a:tcPr marL="73152" marR="73152" marT="36576" marB="36576">
                    <a:solidFill>
                      <a:srgbClr val="E8EEF6"/>
                    </a:solidFill>
                  </a:tcPr>
                </a:tc>
              </a:tr>
              <a:tr h="768096">
                <a:tc>
                  <a:txBody>
                    <a:bodyPr/>
                    <a:lstStyle/>
                    <a:p>
                      <a:r>
                        <a:rPr sz="1500" b="0">
                          <a:solidFill>
                            <a:srgbClr val="1F2937"/>
                          </a:solidFill>
                        </a:rPr>
                        <a:t>Gaz (1 g dan)</a:t>
                      </a:r>
                    </a:p>
                  </a:txBody>
                  <a:tcPr marL="73152" marR="73152" marT="36576" marB="36576">
                    <a:solidFill>
                      <a:srgbClr val="FFFFFF"/>
                    </a:solidFill>
                  </a:tcPr>
                </a:tc>
                <a:tc>
                  <a:txBody>
                    <a:bodyPr/>
                    <a:lstStyle/>
                    <a:p>
                      <a:r>
                        <a:rPr sz="1500" b="0">
                          <a:solidFill>
                            <a:srgbClr val="1F2937"/>
                          </a:solidFill>
                        </a:rPr>
                        <a:t>Qoradan 3 barobar ko‘p</a:t>
                      </a:r>
                    </a:p>
                  </a:txBody>
                  <a:tcPr marL="73152" marR="73152" marT="36576" marB="36576">
                    <a:solidFill>
                      <a:srgbClr val="FFFFFF"/>
                    </a:solidFill>
                  </a:tcPr>
                </a:tc>
                <a:tc>
                  <a:txBody>
                    <a:bodyPr/>
                    <a:lstStyle/>
                    <a:p>
                      <a:r>
                        <a:rPr sz="1500" b="0">
                          <a:solidFill>
                            <a:srgbClr val="1F2937"/>
                          </a:solidFill>
                        </a:rPr>
                        <a:t>Taxminan 300 kub. sm</a:t>
                      </a:r>
                    </a:p>
                  </a:txBody>
                  <a:tcPr marL="73152" marR="73152" marT="36576" marB="36576">
                    <a:solidFill>
                      <a:srgbClr val="FFFFFF"/>
                    </a:solidFill>
                  </a:tcPr>
                </a:tc>
              </a:tr>
              <a:tr h="768096">
                <a:tc>
                  <a:txBody>
                    <a:bodyPr/>
                    <a:lstStyle/>
                    <a:p>
                      <a:r>
                        <a:rPr sz="1500" b="0">
                          <a:solidFill>
                            <a:srgbClr val="1F2937"/>
                          </a:solidFill>
                        </a:rPr>
                        <a:t>Qo‘llanishi</a:t>
                      </a:r>
                    </a:p>
                  </a:txBody>
                  <a:tcPr marL="73152" marR="73152" marT="36576" marB="36576">
                    <a:solidFill>
                      <a:srgbClr val="E8EEF6"/>
                    </a:solidFill>
                  </a:tcPr>
                </a:tc>
                <a:tc>
                  <a:txBody>
                    <a:bodyPr/>
                    <a:lstStyle/>
                    <a:p>
                      <a:r>
                        <a:rPr sz="1500" b="0">
                          <a:solidFill>
                            <a:srgbClr val="1F2937"/>
                          </a:solidFill>
                        </a:rPr>
                        <a:t>Jangovor va sport qurollari</a:t>
                      </a:r>
                    </a:p>
                  </a:txBody>
                  <a:tcPr marL="73152" marR="73152" marT="36576" marB="36576">
                    <a:solidFill>
                      <a:srgbClr val="E8EEF6"/>
                    </a:solidFill>
                  </a:tcPr>
                </a:tc>
                <a:tc>
                  <a:txBody>
                    <a:bodyPr/>
                    <a:lstStyle/>
                    <a:p>
                      <a:r>
                        <a:rPr sz="1500" b="0">
                          <a:solidFill>
                            <a:srgbClr val="1F2937"/>
                          </a:solidFill>
                        </a:rPr>
                        <a:t>Ov, signal pistoleti, ayrim gaz qurollari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Porox turlarini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 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Gilza latun, plastmassa yoki kartondan; zaryad sifatida qora porox ishlatilishi mumkin.</a:t>
            </a:r>
          </a:p>
          <a:p>
            <a:pPr>
              <a:spcAft>
                <a:spcPts val="800"/>
              </a:spcAft>
            </a:pPr>
            <a:r>
              <a:rPr sz="1800">
                <a:solidFill>
                  <a:srgbClr val="1F2937"/>
                </a:solidFill>
                <a:latin typeface="Calibri"/>
              </a:rPr>
              <a:t>▸  Sochma — diametri 1 dan 5,5 mm gacha sharchalar; kattasi katta sochma (kartech) deyiladi.</a:t>
            </a:r>
          </a:p>
          <a:p>
            <a:pPr>
              <a:spcAft>
                <a:spcPts val="800"/>
              </a:spcAft>
            </a:pPr>
            <a:r>
              <a:rPr sz="1800">
                <a:solidFill>
                  <a:srgbClr val="1F2937"/>
                </a:solidFill>
                <a:latin typeface="Calibri"/>
              </a:rPr>
              <a:t>▸  O‘qli patronda diametri 10 mm dan katta qo‘rg‘oshin shar, Yakan yoki Brenneke o‘qi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Gilza va kapsyul</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Karton va kigiz tiqin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Sochma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Sochma tiqini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Sochmali patron qatlamlari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qurol va patron turini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joyidan kalta stvolli qurol va bir nechta gilza topildi. Stvolning ichki yuzasida 4-6 ta vintsimon o‘yiq bor.</a:t>
            </a:r>
          </a:p>
          <a:p>
            <a:pPr>
              <a:spcAft>
                <a:spcPts val="1200"/>
              </a:spcAft>
            </a:pPr>
            <a:r>
              <a:rPr sz="2200">
                <a:solidFill>
                  <a:srgbClr val="1F2937"/>
                </a:solidFill>
                <a:latin typeface="Calibri"/>
              </a:rPr>
              <a:t>▸  Stvol belgisi: o‘yiqlar jangovor yoki sport qurolini ko‘rsatadi. Silliq stvol esa ko‘pincha sochma bilan otadigan ov qurollariga xos.</a:t>
            </a:r>
          </a:p>
          <a:p>
            <a:pPr>
              <a:spcAft>
                <a:spcPts val="1200"/>
              </a:spcAft>
            </a:pPr>
            <a:r>
              <a:rPr sz="2200">
                <a:solidFill>
                  <a:srgbClr val="1F2937"/>
                </a:solidFill>
                <a:latin typeface="Calibri"/>
              </a:rPr>
              <a:t>▸  Patron belgisi: unitar patronda o‘q, porox va kapsyul gilza ichida bo‘ladi. Sochmali patronda tiqinlar va 1-5,5 mm sochmalar bor.</a:t>
            </a:r>
          </a:p>
          <a:p>
            <a:pPr>
              <a:spcAft>
                <a:spcPts val="1200"/>
              </a:spcAft>
            </a:pPr>
            <a:r>
              <a:rPr sz="2200">
                <a:solidFill>
                  <a:srgbClr val="1F2937"/>
                </a:solidFill>
                <a:latin typeface="Calibri"/>
              </a:rPr>
              <a:t>▸  Savol: qaysi belgilar qurol va patron turini ko‘rsatadi? Diqqat: qo‘lbola yoki o‘zgartirilgan qurol atipik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80-81, 81, 82-83, 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otishning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snaryad — o‘q, sochma va ularning qismlari.</a:t>
            </a:r>
          </a:p>
          <a:p>
            <a:pPr>
              <a:spcAft>
                <a:spcPts val="800"/>
              </a:spcAft>
            </a:pPr>
            <a:r>
              <a:rPr sz="1800">
                <a:solidFill>
                  <a:srgbClr val="1F2937"/>
                </a:solidFill>
                <a:latin typeface="Calibri"/>
              </a:rPr>
              <a:t>▸  Ikkilamchi snaryad — parvoz yo‘lidagi to‘siq, kiyim, suyak bo‘laklari; ular ham jarohat yetkazadi.</a:t>
            </a:r>
          </a:p>
          <a:p>
            <a:pPr>
              <a:spcAft>
                <a:spcPts val="800"/>
              </a:spcAft>
            </a:pPr>
            <a:r>
              <a:rPr sz="1800">
                <a:solidFill>
                  <a:srgbClr val="1F2937"/>
                </a:solidFill>
                <a:latin typeface="Calibri"/>
              </a:rPr>
              <a:t>▸  Diqqat: birlamchi snaryad ≠ ikkilamchi snaryad. Ikkinchisi to‘siq va suyak bo‘laklaridan hosil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50791"/>
                <a:gridCol w="3437183"/>
              </a:tblGrid>
              <a:tr h="614476">
                <a:tc>
                  <a:txBody>
                    <a:bodyPr/>
                    <a:lstStyle/>
                    <a:p>
                      <a:r>
                        <a:rPr sz="1800" b="1">
                          <a:solidFill>
                            <a:srgbClr val="FFFFFF"/>
                          </a:solidFill>
                        </a:rPr>
                        <a:t>Omil</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614476">
                <a:tc>
                  <a:txBody>
                    <a:bodyPr/>
                    <a:lstStyle/>
                    <a:p>
                      <a:r>
                        <a:rPr sz="1700" b="0">
                          <a:solidFill>
                            <a:srgbClr val="1F2937"/>
                          </a:solidFill>
                        </a:rPr>
                        <a:t>Asosiy snaryad</a:t>
                      </a:r>
                    </a:p>
                  </a:txBody>
                  <a:tcPr marL="73152" marR="73152" marT="36576" marB="36576">
                    <a:solidFill>
                      <a:srgbClr val="E8EEF6"/>
                    </a:solidFill>
                  </a:tcPr>
                </a:tc>
                <a:tc>
                  <a:txBody>
                    <a:bodyPr/>
                    <a:lstStyle/>
                    <a:p>
                      <a:r>
                        <a:rPr sz="1700" b="0">
                          <a:solidFill>
                            <a:srgbClr val="1F2937"/>
                          </a:solidFill>
                        </a:rPr>
                        <a:t>o‘q, sochma, ularning qismlari</a:t>
                      </a:r>
                    </a:p>
                  </a:txBody>
                  <a:tcPr marL="73152" marR="73152" marT="36576" marB="36576">
                    <a:solidFill>
                      <a:srgbClr val="E8EEF6"/>
                    </a:solidFill>
                  </a:tcPr>
                </a:tc>
              </a:tr>
              <a:tr h="614476">
                <a:tc>
                  <a:txBody>
                    <a:bodyPr/>
                    <a:lstStyle/>
                    <a:p>
                      <a:r>
                        <a:rPr sz="1700" b="0">
                          <a:solidFill>
                            <a:srgbClr val="1F2937"/>
                          </a:solidFill>
                        </a:rPr>
                        <a:t>Qo‘shimcha omillar</a:t>
                      </a:r>
                    </a:p>
                  </a:txBody>
                  <a:tcPr marL="73152" marR="73152" marT="36576" marB="36576">
                    <a:solidFill>
                      <a:srgbClr val="FFFFFF"/>
                    </a:solidFill>
                  </a:tcPr>
                </a:tc>
                <a:tc>
                  <a:txBody>
                    <a:bodyPr/>
                    <a:lstStyle/>
                    <a:p>
                      <a:r>
                        <a:rPr sz="1700" b="0">
                          <a:solidFill>
                            <a:srgbClr val="1F2937"/>
                          </a:solidFill>
                        </a:rPr>
                        <a:t>o‘qoldi havo, alanga, gaz, qurum, porox</a:t>
                      </a:r>
                    </a:p>
                  </a:txBody>
                  <a:tcPr marL="73152" marR="73152" marT="36576" marB="36576">
                    <a:solidFill>
                      <a:srgbClr val="FFFFFF"/>
                    </a:solidFill>
                  </a:tcPr>
                </a:tc>
              </a:tr>
              <a:tr h="614476">
                <a:tc>
                  <a:txBody>
                    <a:bodyPr/>
                    <a:lstStyle/>
                    <a:p>
                      <a:r>
                        <a:rPr sz="1700" b="0">
                          <a:solidFill>
                            <a:srgbClr val="1F2937"/>
                          </a:solidFill>
                        </a:rPr>
                        <a:t>O‘q otar qurol</a:t>
                      </a:r>
                    </a:p>
                  </a:txBody>
                  <a:tcPr marL="73152" marR="73152" marT="36576" marB="36576">
                    <a:solidFill>
                      <a:srgbClr val="E8EEF6"/>
                    </a:solidFill>
                  </a:tcPr>
                </a:tc>
                <a:tc>
                  <a:txBody>
                    <a:bodyPr/>
                    <a:lstStyle/>
                    <a:p>
                      <a:r>
                        <a:rPr sz="1700" b="0">
                          <a:solidFill>
                            <a:srgbClr val="1F2937"/>
                          </a:solidFill>
                        </a:rPr>
                        <a:t>stvol bo‘laklari (stvol yorilganda)</a:t>
                      </a:r>
                    </a:p>
                  </a:txBody>
                  <a:tcPr marL="73152" marR="73152" marT="36576" marB="36576">
                    <a:solidFill>
                      <a:srgbClr val="E8EEF6"/>
                    </a:solidFill>
                  </a:tcPr>
                </a:tc>
              </a:tr>
              <a:tr h="614476">
                <a:tc>
                  <a:txBody>
                    <a:bodyPr/>
                    <a:lstStyle/>
                    <a:p>
                      <a:r>
                        <a:rPr sz="1700" b="0">
                          <a:solidFill>
                            <a:srgbClr val="1F2937"/>
                          </a:solidFill>
                        </a:rPr>
                        <a:t>Ikkilamchi snaryadlar</a:t>
                      </a:r>
                    </a:p>
                  </a:txBody>
                  <a:tcPr marL="73152" marR="73152" marT="36576" marB="36576">
                    <a:solidFill>
                      <a:srgbClr val="FFFFFF"/>
                    </a:solidFill>
                  </a:tcPr>
                </a:tc>
                <a:tc>
                  <a:txBody>
                    <a:bodyPr/>
                    <a:lstStyle/>
                    <a:p>
                      <a:r>
                        <a:rPr sz="1700" b="0">
                          <a:solidFill>
                            <a:srgbClr val="1F2937"/>
                          </a:solidFill>
                        </a:rPr>
                        <a:t>kiyim, suyak va to‘siq bo‘laklari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 omil</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 83-84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Porox gazlari bosimi va snaryad tezligi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 yonganda 0,01-0,001 sek. ichida gazlar hosil bo‘lib, patron bo‘shlig‘ida katta bosim paydo bo‘ladi.</a:t>
            </a:r>
          </a:p>
          <a:p>
            <a:pPr>
              <a:spcAft>
                <a:spcPts val="800"/>
              </a:spcAft>
            </a:pPr>
            <a:r>
              <a:rPr sz="1800">
                <a:solidFill>
                  <a:srgbClr val="1F2937"/>
                </a:solidFill>
                <a:latin typeface="Calibri"/>
              </a:rPr>
              <a:t>▸  Gaz bosimi stvol devorining barcha tomoniga ta’sir etadi, qurol biroz orqaga harakatlanadi.</a:t>
            </a:r>
          </a:p>
          <a:p>
            <a:pPr>
              <a:spcAft>
                <a:spcPts val="800"/>
              </a:spcAft>
            </a:pPr>
            <a:r>
              <a:rPr sz="1800">
                <a:solidFill>
                  <a:srgbClr val="1F2937"/>
                </a:solidFill>
                <a:latin typeface="Calibri"/>
              </a:rPr>
              <a:t>▸  Snaryad bir sekundda o‘z o‘qi atrofida 3000 martagacha aylanadi.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473697"/>
                <a:gridCol w="1560386"/>
                <a:gridCol w="2253890"/>
              </a:tblGrid>
              <a:tr h="614476">
                <a:tc>
                  <a:txBody>
                    <a:bodyPr/>
                    <a:lstStyle/>
                    <a:p>
                      <a:r>
                        <a:rPr sz="1600" b="1">
                          <a:solidFill>
                            <a:srgbClr val="FFFFFF"/>
                          </a:solidFill>
                        </a:rPr>
                        <a:t>Qurol</a:t>
                      </a:r>
                    </a:p>
                  </a:txBody>
                  <a:tcPr marL="73152" marR="73152" marT="36576" marB="36576">
                    <a:solidFill>
                      <a:srgbClr val="0B1F3A"/>
                    </a:solidFill>
                  </a:tcPr>
                </a:tc>
                <a:tc>
                  <a:txBody>
                    <a:bodyPr/>
                    <a:lstStyle/>
                    <a:p>
                      <a:r>
                        <a:rPr sz="1600" b="1">
                          <a:solidFill>
                            <a:srgbClr val="FFFFFF"/>
                          </a:solidFill>
                        </a:rPr>
                        <a:t>Bosim</a:t>
                      </a:r>
                    </a:p>
                  </a:txBody>
                  <a:tcPr marL="73152" marR="73152" marT="36576" marB="36576">
                    <a:solidFill>
                      <a:srgbClr val="0B1F3A"/>
                    </a:solidFill>
                  </a:tcPr>
                </a:tc>
                <a:tc>
                  <a:txBody>
                    <a:bodyPr/>
                    <a:lstStyle/>
                    <a:p>
                      <a:r>
                        <a:rPr sz="1600" b="1">
                          <a:solidFill>
                            <a:srgbClr val="FFFFFF"/>
                          </a:solidFill>
                        </a:rPr>
                        <a:t>Tezlik</a:t>
                      </a:r>
                    </a:p>
                  </a:txBody>
                  <a:tcPr marL="73152" marR="73152" marT="36576" marB="36576">
                    <a:solidFill>
                      <a:srgbClr val="0B1F3A"/>
                    </a:solidFill>
                  </a:tcPr>
                </a:tc>
              </a:tr>
              <a:tr h="614476">
                <a:tc>
                  <a:txBody>
                    <a:bodyPr/>
                    <a:lstStyle/>
                    <a:p>
                      <a:r>
                        <a:rPr sz="1500" b="0">
                          <a:solidFill>
                            <a:srgbClr val="1F2937"/>
                          </a:solidFill>
                        </a:rPr>
                        <a:t>Silliq stvolli</a:t>
                      </a:r>
                    </a:p>
                  </a:txBody>
                  <a:tcPr marL="73152" marR="73152" marT="36576" marB="36576">
                    <a:solidFill>
                      <a:srgbClr val="E8EEF6"/>
                    </a:solidFill>
                  </a:tcPr>
                </a:tc>
                <a:tc>
                  <a:txBody>
                    <a:bodyPr/>
                    <a:lstStyle/>
                    <a:p>
                      <a:r>
                        <a:rPr sz="1500" b="0">
                          <a:solidFill>
                            <a:srgbClr val="1F2937"/>
                          </a:solidFill>
                        </a:rPr>
                        <a:t>400-700 atm.</a:t>
                      </a:r>
                    </a:p>
                  </a:txBody>
                  <a:tcPr marL="73152" marR="73152" marT="36576" marB="36576">
                    <a:solidFill>
                      <a:srgbClr val="E8EEF6"/>
                    </a:solidFill>
                  </a:tcPr>
                </a:tc>
                <a:tc>
                  <a:txBody>
                    <a:bodyPr/>
                    <a:lstStyle/>
                    <a:p>
                      <a:r>
                        <a:rPr sz="1500" b="0">
                          <a:solidFill>
                            <a:srgbClr val="1F2937"/>
                          </a:solidFill>
                        </a:rPr>
                        <a:t>500 m/sek.gacha</a:t>
                      </a:r>
                    </a:p>
                  </a:txBody>
                  <a:tcPr marL="73152" marR="73152" marT="36576" marB="36576">
                    <a:solidFill>
                      <a:srgbClr val="E8EEF6"/>
                    </a:solidFill>
                  </a:tcPr>
                </a:tc>
              </a:tr>
              <a:tr h="614476">
                <a:tc>
                  <a:txBody>
                    <a:bodyPr/>
                    <a:lstStyle/>
                    <a:p>
                      <a:r>
                        <a:rPr sz="1500" b="0">
                          <a:solidFill>
                            <a:srgbClr val="1F2937"/>
                          </a:solidFill>
                        </a:rPr>
                        <a:t>O‘yiqli stvolli</a:t>
                      </a:r>
                    </a:p>
                  </a:txBody>
                  <a:tcPr marL="73152" marR="73152" marT="36576" marB="36576">
                    <a:solidFill>
                      <a:srgbClr val="FFFFFF"/>
                    </a:solidFill>
                  </a:tcPr>
                </a:tc>
                <a:tc>
                  <a:txBody>
                    <a:bodyPr/>
                    <a:lstStyle/>
                    <a:p>
                      <a:r>
                        <a:rPr sz="1500" b="0">
                          <a:solidFill>
                            <a:srgbClr val="1F2937"/>
                          </a:solidFill>
                        </a:rPr>
                        <a:t>2000-3000 atm.</a:t>
                      </a:r>
                    </a:p>
                  </a:txBody>
                  <a:tcPr marL="73152" marR="73152" marT="36576" marB="36576">
                    <a:solidFill>
                      <a:srgbClr val="FFFFFF"/>
                    </a:solidFill>
                  </a:tcPr>
                </a:tc>
                <a:tc>
                  <a:txBody>
                    <a:bodyPr/>
                    <a:lstStyle/>
                    <a:p>
                      <a:r>
                        <a:rPr sz="1500" b="0">
                          <a:solidFill>
                            <a:srgbClr val="1F2937"/>
                          </a:solidFill>
                        </a:rPr>
                        <a:t>bir necha ming m/sek.gacha</a:t>
                      </a:r>
                    </a:p>
                  </a:txBody>
                  <a:tcPr marL="73152" marR="73152" marT="36576" marB="36576">
                    <a:solidFill>
                      <a:srgbClr val="FFFFFF"/>
                    </a:solidFill>
                  </a:tcPr>
                </a:tc>
              </a:tr>
              <a:tr h="614476">
                <a:tc>
                  <a:txBody>
                    <a:bodyPr/>
                    <a:lstStyle/>
                    <a:p>
                      <a:r>
                        <a:rPr sz="1500" b="0">
                          <a:solidFill>
                            <a:srgbClr val="1F2937"/>
                          </a:solidFill>
                        </a:rPr>
                        <a:t>Makarov pistoleti</a:t>
                      </a:r>
                    </a:p>
                  </a:txBody>
                  <a:tcPr marL="73152" marR="73152" marT="36576" marB="36576">
                    <a:solidFill>
                      <a:srgbClr val="E8EEF6"/>
                    </a:solidFill>
                  </a:tcPr>
                </a:tc>
                <a:tc>
                  <a:txBody>
                    <a:bodyPr/>
                    <a:lstStyle/>
                    <a:p>
                      <a:r>
                        <a:rPr sz="1500" b="0">
                          <a:solidFill>
                            <a:srgbClr val="1F2937"/>
                          </a:solidFill>
                        </a:rPr>
                        <a:t>manbada berilmagan</a:t>
                      </a:r>
                    </a:p>
                  </a:txBody>
                  <a:tcPr marL="73152" marR="73152" marT="36576" marB="36576">
                    <a:solidFill>
                      <a:srgbClr val="E8EEF6"/>
                    </a:solidFill>
                  </a:tcPr>
                </a:tc>
                <a:tc>
                  <a:txBody>
                    <a:bodyPr/>
                    <a:lstStyle/>
                    <a:p>
                      <a:r>
                        <a:rPr sz="1500" b="0">
                          <a:solidFill>
                            <a:srgbClr val="1F2937"/>
                          </a:solidFill>
                        </a:rPr>
                        <a:t>315 m/sek.</a:t>
                      </a:r>
                    </a:p>
                  </a:txBody>
                  <a:tcPr marL="73152" marR="73152" marT="36576" marB="36576">
                    <a:solidFill>
                      <a:srgbClr val="E8EEF6"/>
                    </a:solidFill>
                  </a:tcPr>
                </a:tc>
              </a:tr>
              <a:tr h="614476">
                <a:tc>
                  <a:txBody>
                    <a:bodyPr/>
                    <a:lstStyle/>
                    <a:p>
                      <a:r>
                        <a:rPr sz="1500" b="0">
                          <a:solidFill>
                            <a:srgbClr val="1F2937"/>
                          </a:solidFill>
                        </a:rPr>
                        <a:t>AKM avtomati</a:t>
                      </a:r>
                    </a:p>
                  </a:txBody>
                  <a:tcPr marL="73152" marR="73152" marT="36576" marB="36576">
                    <a:solidFill>
                      <a:srgbClr val="FFFFFF"/>
                    </a:solidFill>
                  </a:tcPr>
                </a:tc>
                <a:tc>
                  <a:txBody>
                    <a:bodyPr/>
                    <a:lstStyle/>
                    <a:p>
                      <a:r>
                        <a:rPr sz="1500" b="0">
                          <a:solidFill>
                            <a:srgbClr val="1F2937"/>
                          </a:solidFill>
                        </a:rPr>
                        <a:t>manbada berilmagan</a:t>
                      </a:r>
                    </a:p>
                  </a:txBody>
                  <a:tcPr marL="73152" marR="73152" marT="36576" marB="36576">
                    <a:solidFill>
                      <a:srgbClr val="FFFFFF"/>
                    </a:solidFill>
                  </a:tcPr>
                </a:tc>
                <a:tc>
                  <a:txBody>
                    <a:bodyPr/>
                    <a:lstStyle/>
                    <a:p>
                      <a:r>
                        <a:rPr sz="1500" b="0">
                          <a:solidFill>
                            <a:srgbClr val="1F2937"/>
                          </a:solidFill>
                        </a:rPr>
                        <a:t>710 m/sek.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Bosim va tezlik (atm. — atmosfera)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omillar va ta’sir masofalari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Qo‘shimcha omillarga o‘q oldi havo, o‘q otish alangasi, porox gazlari, qurum, zarrachalar va moy tomchilari kiradi.</a:t>
            </a:r>
          </a:p>
          <a:p>
            <a:pPr>
              <a:spcAft>
                <a:spcPts val="800"/>
              </a:spcAft>
            </a:pPr>
            <a:r>
              <a:rPr sz="1800">
                <a:solidFill>
                  <a:srgbClr val="1F2937"/>
                </a:solidFill>
                <a:latin typeface="Calibri"/>
              </a:rPr>
              <a:t>▸  Ta’sir qurol va patron tuzilishiga, avvalgi otishlarga, to‘siq va shikastlanayotgan yuzaga bog‘liq.</a:t>
            </a:r>
          </a:p>
          <a:p>
            <a:pPr>
              <a:spcAft>
                <a:spcPts val="800"/>
              </a:spcAft>
            </a:pPr>
            <a:r>
              <a:rPr sz="1800">
                <a:solidFill>
                  <a:srgbClr val="1F2937"/>
                </a:solidFill>
                <a:latin typeface="Calibri"/>
              </a:rPr>
              <a:t>▸  Porox gazlari bosimidan qurol orqaga siljiydi; qo‘lbola qurolda stvol yorilib, qurol ushlagan shaxsga shikast yetishi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786586"/>
                <a:gridCol w="1927859"/>
              </a:tblGrid>
              <a:tr h="614476">
                <a:tc>
                  <a:txBody>
                    <a:bodyPr/>
                    <a:lstStyle/>
                    <a:p>
                      <a:r>
                        <a:rPr sz="1600" b="1">
                          <a:solidFill>
                            <a:srgbClr val="FFFFFF"/>
                          </a:solidFill>
                        </a:rPr>
                        <a:t>Omil</a:t>
                      </a:r>
                    </a:p>
                  </a:txBody>
                  <a:tcPr marL="73152" marR="73152" marT="36576" marB="36576">
                    <a:solidFill>
                      <a:srgbClr val="0B1F3A"/>
                    </a:solidFill>
                  </a:tcPr>
                </a:tc>
                <a:tc>
                  <a:txBody>
                    <a:bodyPr/>
                    <a:lstStyle/>
                    <a:p>
                      <a:r>
                        <a:rPr sz="1600" b="1">
                          <a:solidFill>
                            <a:srgbClr val="FFFFFF"/>
                          </a:solidFill>
                        </a:rPr>
                        <a:t>Ta’sir turi</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614476">
                <a:tc>
                  <a:txBody>
                    <a:bodyPr/>
                    <a:lstStyle/>
                    <a:p>
                      <a:r>
                        <a:rPr sz="1500" b="0">
                          <a:solidFill>
                            <a:srgbClr val="1F2937"/>
                          </a:solidFill>
                        </a:rPr>
                        <a:t>O‘q oldi havo</a:t>
                      </a:r>
                    </a:p>
                  </a:txBody>
                  <a:tcPr marL="73152" marR="73152" marT="36576" marB="36576">
                    <a:solidFill>
                      <a:srgbClr val="E8EEF6"/>
                    </a:solidFill>
                  </a:tcPr>
                </a:tc>
                <a:tc>
                  <a:txBody>
                    <a:bodyPr/>
                    <a:lstStyle/>
                    <a:p>
                      <a:r>
                        <a:rPr sz="1500" b="0">
                          <a:solidFill>
                            <a:srgbClr val="1F2937"/>
                          </a:solidFill>
                        </a:rPr>
                        <a:t>Mexanik</a:t>
                      </a:r>
                    </a:p>
                  </a:txBody>
                  <a:tcPr marL="73152" marR="73152" marT="36576" marB="36576">
                    <a:solidFill>
                      <a:srgbClr val="E8EEF6"/>
                    </a:solidFill>
                  </a:tcPr>
                </a:tc>
                <a:tc>
                  <a:txBody>
                    <a:bodyPr/>
                    <a:lstStyle/>
                    <a:p>
                      <a:r>
                        <a:rPr sz="1500" b="0">
                          <a:solidFill>
                            <a:srgbClr val="1F2937"/>
                          </a:solidFill>
                        </a:rPr>
                        <a:t>3-5 sm</a:t>
                      </a:r>
                    </a:p>
                  </a:txBody>
                  <a:tcPr marL="73152" marR="73152" marT="36576" marB="36576">
                    <a:solidFill>
                      <a:srgbClr val="E8EEF6"/>
                    </a:solidFill>
                  </a:tcPr>
                </a:tc>
              </a:tr>
              <a:tr h="614476">
                <a:tc>
                  <a:txBody>
                    <a:bodyPr/>
                    <a:lstStyle/>
                    <a:p>
                      <a:r>
                        <a:rPr sz="1500" b="0">
                          <a:solidFill>
                            <a:srgbClr val="1F2937"/>
                          </a:solidFill>
                        </a:rPr>
                        <a:t>Porox gazlari</a:t>
                      </a:r>
                    </a:p>
                  </a:txBody>
                  <a:tcPr marL="73152" marR="73152" marT="36576" marB="36576">
                    <a:solidFill>
                      <a:srgbClr val="FFFFFF"/>
                    </a:solidFill>
                  </a:tcPr>
                </a:tc>
                <a:tc>
                  <a:txBody>
                    <a:bodyPr/>
                    <a:lstStyle/>
                    <a:p>
                      <a:r>
                        <a:rPr sz="1500" b="0">
                          <a:solidFill>
                            <a:srgbClr val="1F2937"/>
                          </a:solidFill>
                        </a:rPr>
                        <a:t>Mexanik</a:t>
                      </a:r>
                    </a:p>
                  </a:txBody>
                  <a:tcPr marL="73152" marR="73152" marT="36576" marB="36576">
                    <a:solidFill>
                      <a:srgbClr val="FFFFFF"/>
                    </a:solidFill>
                  </a:tcPr>
                </a:tc>
                <a:tc>
                  <a:txBody>
                    <a:bodyPr/>
                    <a:lstStyle/>
                    <a:p>
                      <a:r>
                        <a:rPr sz="1500" b="0">
                          <a:solidFill>
                            <a:srgbClr val="1F2937"/>
                          </a:solidFill>
                        </a:rPr>
                        <a:t>10-15 sm</a:t>
                      </a:r>
                    </a:p>
                  </a:txBody>
                  <a:tcPr marL="73152" marR="73152" marT="36576" marB="36576">
                    <a:solidFill>
                      <a:srgbClr val="FFFFFF"/>
                    </a:solidFill>
                  </a:tcPr>
                </a:tc>
              </a:tr>
              <a:tr h="614476">
                <a:tc>
                  <a:txBody>
                    <a:bodyPr/>
                    <a:lstStyle/>
                    <a:p>
                      <a:r>
                        <a:rPr sz="1500" b="0">
                          <a:solidFill>
                            <a:srgbClr val="1F2937"/>
                          </a:solidFill>
                        </a:rPr>
                        <a:t>O‘q otish alangasi</a:t>
                      </a:r>
                    </a:p>
                  </a:txBody>
                  <a:tcPr marL="73152" marR="73152" marT="36576" marB="36576">
                    <a:solidFill>
                      <a:srgbClr val="E8EEF6"/>
                    </a:solidFill>
                  </a:tcPr>
                </a:tc>
                <a:tc>
                  <a:txBody>
                    <a:bodyPr/>
                    <a:lstStyle/>
                    <a:p>
                      <a:r>
                        <a:rPr sz="1500" b="0">
                          <a:solidFill>
                            <a:srgbClr val="1F2937"/>
                          </a:solidFill>
                        </a:rPr>
                        <a:t>Termik</a:t>
                      </a:r>
                    </a:p>
                  </a:txBody>
                  <a:tcPr marL="73152" marR="73152" marT="36576" marB="36576">
                    <a:solidFill>
                      <a:srgbClr val="E8EEF6"/>
                    </a:solidFill>
                  </a:tcPr>
                </a:tc>
                <a:tc>
                  <a:txBody>
                    <a:bodyPr/>
                    <a:lstStyle/>
                    <a:p>
                      <a:r>
                        <a:rPr sz="1500" b="0">
                          <a:solidFill>
                            <a:srgbClr val="1F2937"/>
                          </a:solidFill>
                        </a:rPr>
                        <a:t>3-10 sm</a:t>
                      </a:r>
                    </a:p>
                  </a:txBody>
                  <a:tcPr marL="73152" marR="73152" marT="36576" marB="36576">
                    <a:solidFill>
                      <a:srgbClr val="E8EEF6"/>
                    </a:solidFill>
                  </a:tcPr>
                </a:tc>
              </a:tr>
              <a:tr h="614476">
                <a:tc>
                  <a:txBody>
                    <a:bodyPr/>
                    <a:lstStyle/>
                    <a:p>
                      <a:r>
                        <a:rPr sz="1500" b="0">
                          <a:solidFill>
                            <a:srgbClr val="1F2937"/>
                          </a:solidFill>
                        </a:rPr>
                        <a:t>Qurum, zarrachalar</a:t>
                      </a:r>
                    </a:p>
                  </a:txBody>
                  <a:tcPr marL="73152" marR="73152" marT="36576" marB="36576">
                    <a:solidFill>
                      <a:srgbClr val="FFFFFF"/>
                    </a:solidFill>
                  </a:tcPr>
                </a:tc>
                <a:tc>
                  <a:txBody>
                    <a:bodyPr/>
                    <a:lstStyle/>
                    <a:p>
                      <a:r>
                        <a:rPr sz="1500" b="0">
                          <a:solidFill>
                            <a:srgbClr val="1F2937"/>
                          </a:solidFill>
                        </a:rPr>
                        <a:t>Yuzaki yengil kontuzion</a:t>
                      </a:r>
                    </a:p>
                  </a:txBody>
                  <a:tcPr marL="73152" marR="73152" marT="36576" marB="36576">
                    <a:solidFill>
                      <a:srgbClr val="FFFFFF"/>
                    </a:solidFill>
                  </a:tcPr>
                </a:tc>
                <a:tc>
                  <a:txBody>
                    <a:bodyPr/>
                    <a:lstStyle/>
                    <a:p>
                      <a:r>
                        <a:rPr sz="1500" b="0">
                          <a:solidFill>
                            <a:srgbClr val="1F2937"/>
                          </a:solidFill>
                        </a:rPr>
                        <a:t>Manbada ko‘rsatilmagan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Qo‘shimcha omillar masofasi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ta’sir: yorma, yulma, ponasimon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ta’sir turi o‘qning nishonga tegish paytidagi energiyasining kattaligiga bog‘liq.</a:t>
            </a:r>
          </a:p>
          <a:p>
            <a:pPr>
              <a:spcAft>
                <a:spcPts val="800"/>
              </a:spcAft>
            </a:pPr>
            <a:r>
              <a:rPr sz="1800">
                <a:solidFill>
                  <a:srgbClr val="1F2937"/>
                </a:solidFill>
                <a:latin typeface="Calibri"/>
              </a:rPr>
              <a:t>▸  Pirogov to‘qima defektini 1849 yilda tasvirlab, uni “to‘qima o‘zligini yo‘qotishi” deb atagan.</a:t>
            </a:r>
          </a:p>
          <a:p>
            <a:pPr>
              <a:spcAft>
                <a:spcPts val="800"/>
              </a:spcAft>
            </a:pPr>
            <a:r>
              <a:rPr sz="1800">
                <a:solidFill>
                  <a:srgbClr val="1F2937"/>
                </a:solidFill>
                <a:latin typeface="Calibri"/>
              </a:rPr>
              <a:t>▸  Diqqat: yulma ≠ ponasimon. Yulmada to‘qima defekti bor, ponasimonda yo‘q; chiqish teshigi odatda ponasimon.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1319450"/>
                <a:gridCol w="2631214"/>
              </a:tblGrid>
              <a:tr h="768096">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Energiya</a:t>
                      </a:r>
                    </a:p>
                  </a:txBody>
                  <a:tcPr marL="73152" marR="73152" marT="36576" marB="36576">
                    <a:solidFill>
                      <a:srgbClr val="0B1F3A"/>
                    </a:solidFill>
                  </a:tcPr>
                </a:tc>
                <a:tc>
                  <a:txBody>
                    <a:bodyPr/>
                    <a:lstStyle/>
                    <a:p>
                      <a:r>
                        <a:rPr sz="1600" b="1">
                          <a:solidFill>
                            <a:srgbClr val="FFFFFF"/>
                          </a:solidFill>
                        </a:rPr>
                        <a:t>Yara belgisi</a:t>
                      </a:r>
                    </a:p>
                  </a:txBody>
                  <a:tcPr marL="73152" marR="73152" marT="36576" marB="36576">
                    <a:solidFill>
                      <a:srgbClr val="0B1F3A"/>
                    </a:solidFill>
                  </a:tcPr>
                </a:tc>
              </a:tr>
              <a:tr h="768096">
                <a:tc>
                  <a:txBody>
                    <a:bodyPr/>
                    <a:lstStyle/>
                    <a:p>
                      <a:r>
                        <a:rPr sz="1500" b="0">
                          <a:solidFill>
                            <a:srgbClr val="1F2937"/>
                          </a:solidFill>
                        </a:rPr>
                        <a:t>Yorma</a:t>
                      </a:r>
                    </a:p>
                  </a:txBody>
                  <a:tcPr marL="73152" marR="73152" marT="36576" marB="36576">
                    <a:solidFill>
                      <a:srgbClr val="E8EEF6"/>
                    </a:solidFill>
                  </a:tcPr>
                </a:tc>
                <a:tc>
                  <a:txBody>
                    <a:bodyPr/>
                    <a:lstStyle/>
                    <a:p>
                      <a:r>
                        <a:rPr sz="1500" b="0">
                          <a:solidFill>
                            <a:srgbClr val="1F2937"/>
                          </a:solidFill>
                        </a:rPr>
                        <a:t>Bir necha ming joul</a:t>
                      </a:r>
                    </a:p>
                  </a:txBody>
                  <a:tcPr marL="73152" marR="73152" marT="36576" marB="36576">
                    <a:solidFill>
                      <a:srgbClr val="E8EEF6"/>
                    </a:solidFill>
                  </a:tcPr>
                </a:tc>
                <a:tc>
                  <a:txBody>
                    <a:bodyPr/>
                    <a:lstStyle/>
                    <a:p>
                      <a:r>
                        <a:rPr sz="1500" b="0">
                          <a:solidFill>
                            <a:srgbClr val="1F2937"/>
                          </a:solidFill>
                        </a:rPr>
                        <a:t>Yara katta, chetlari notekis, radial yoriq</a:t>
                      </a:r>
                    </a:p>
                  </a:txBody>
                  <a:tcPr marL="73152" marR="73152" marT="36576" marB="36576">
                    <a:solidFill>
                      <a:srgbClr val="E8EEF6"/>
                    </a:solidFill>
                  </a:tcPr>
                </a:tc>
              </a:tr>
              <a:tr h="768096">
                <a:tc>
                  <a:txBody>
                    <a:bodyPr/>
                    <a:lstStyle/>
                    <a:p>
                      <a:r>
                        <a:rPr sz="1500" b="0">
                          <a:solidFill>
                            <a:srgbClr val="1F2937"/>
                          </a:solidFill>
                        </a:rPr>
                        <a:t>Yulma</a:t>
                      </a:r>
                    </a:p>
                  </a:txBody>
                  <a:tcPr marL="73152" marR="73152" marT="36576" marB="36576">
                    <a:solidFill>
                      <a:srgbClr val="FFFFFF"/>
                    </a:solidFill>
                  </a:tcPr>
                </a:tc>
                <a:tc>
                  <a:txBody>
                    <a:bodyPr/>
                    <a:lstStyle/>
                    <a:p>
                      <a:r>
                        <a:rPr sz="1500" b="0">
                          <a:solidFill>
                            <a:srgbClr val="1F2937"/>
                          </a:solidFill>
                        </a:rPr>
                        <a:t>Bir necha yuz joul</a:t>
                      </a:r>
                    </a:p>
                  </a:txBody>
                  <a:tcPr marL="73152" marR="73152" marT="36576" marB="36576">
                    <a:solidFill>
                      <a:srgbClr val="FFFFFF"/>
                    </a:solidFill>
                  </a:tcPr>
                </a:tc>
                <a:tc>
                  <a:txBody>
                    <a:bodyPr/>
                    <a:lstStyle/>
                    <a:p>
                      <a:r>
                        <a:rPr sz="1500" b="0">
                          <a:solidFill>
                            <a:srgbClr val="1F2937"/>
                          </a:solidFill>
                        </a:rPr>
                        <a:t>Defekt o‘qdan kichik, chetlari tekis</a:t>
                      </a:r>
                    </a:p>
                  </a:txBody>
                  <a:tcPr marL="73152" marR="73152" marT="36576" marB="36576">
                    <a:solidFill>
                      <a:srgbClr val="FFFFFF"/>
                    </a:solidFill>
                  </a:tcPr>
                </a:tc>
              </a:tr>
              <a:tr h="768096">
                <a:tc>
                  <a:txBody>
                    <a:bodyPr/>
                    <a:lstStyle/>
                    <a:p>
                      <a:r>
                        <a:rPr sz="1500" b="0">
                          <a:solidFill>
                            <a:srgbClr val="1F2937"/>
                          </a:solidFill>
                        </a:rPr>
                        <a:t>Ponasimon</a:t>
                      </a:r>
                    </a:p>
                  </a:txBody>
                  <a:tcPr marL="73152" marR="73152" marT="36576" marB="36576">
                    <a:solidFill>
                      <a:srgbClr val="E8EEF6"/>
                    </a:solidFill>
                  </a:tcPr>
                </a:tc>
                <a:tc>
                  <a:txBody>
                    <a:bodyPr/>
                    <a:lstStyle/>
                    <a:p>
                      <a:r>
                        <a:rPr sz="1500" b="0">
                          <a:solidFill>
                            <a:srgbClr val="1F2937"/>
                          </a:solidFill>
                        </a:rPr>
                        <a:t>Bir necha o‘n joul</a:t>
                      </a:r>
                    </a:p>
                  </a:txBody>
                  <a:tcPr marL="73152" marR="73152" marT="36576" marB="36576">
                    <a:solidFill>
                      <a:srgbClr val="E8EEF6"/>
                    </a:solidFill>
                  </a:tcPr>
                </a:tc>
                <a:tc>
                  <a:txBody>
                    <a:bodyPr/>
                    <a:lstStyle/>
                    <a:p>
                      <a:r>
                        <a:rPr sz="1500" b="0">
                          <a:solidFill>
                            <a:srgbClr val="1F2937"/>
                          </a:solidFill>
                        </a:rPr>
                        <a:t>Yoriqsimon, yulduzsimon, defektsiz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ta’sir turi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84, 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va kimyoviy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Termik ta’sir asosan o‘q otish alangasi va porox gazlaridan. Alanga yonib ulgurmagan porox zarrachalarining havo kislorodi bilan portlashidan hosil bo‘lib, 3-10 sm masofada ta’sir etadi.</a:t>
            </a:r>
          </a:p>
          <a:p>
            <a:pPr>
              <a:spcAft>
                <a:spcPts val="1200"/>
              </a:spcAft>
            </a:pPr>
            <a:r>
              <a:rPr sz="2000">
                <a:solidFill>
                  <a:srgbClr val="1F2937"/>
                </a:solidFill>
                <a:latin typeface="Calibri"/>
              </a:rPr>
              <a:t>▸  Alanga va gazlar kiyim, teri va sochni kuydiradi; kiyimning ikkilamchi alangalanishi ham termik jarohat beradi. Qurum, porox va metall zarrachalari yuzaki termik shikast yetkazadi.</a:t>
            </a:r>
          </a:p>
          <a:p>
            <a:pPr>
              <a:spcAft>
                <a:spcPts val="1200"/>
              </a:spcAft>
            </a:pPr>
            <a:r>
              <a:rPr sz="2000">
                <a:solidFill>
                  <a:srgbClr val="1F2937"/>
                </a:solidFill>
                <a:latin typeface="Calibri"/>
              </a:rPr>
              <a:t>▸  Kimyoviy ta’sir porox gazlaridan: kirish teshigi atrofida qonda karboksigemoglobin, mushaklarda karboksimioglobin hosil bo‘lib, soha pushti tusga kiradi. Ba’zan metgemoglobin va sulfgemoglobin ham paydo bo‘ladi.</a:t>
            </a:r>
          </a:p>
          <a:p>
            <a:pPr>
              <a:spcAft>
                <a:spcPts val="1200"/>
              </a:spcAft>
            </a:pPr>
            <a:r>
              <a:rPr sz="2000">
                <a:solidFill>
                  <a:srgbClr val="1F2937"/>
                </a:solidFill>
                <a:latin typeface="Calibri"/>
              </a:rPr>
              <a:t>▸  Maxsus o‘qlar (yondiruvchi yoki kimyoviy modda saqlovchi) tegishli tarzda termik va kimyoviy shikastlanish hosil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yara atrofida kuyish, shilinish va pushti tus aniqlangan. Savol: qo‘shimcha omillardan qaysilari ta’sir qilgan?</a:t>
            </a:r>
          </a:p>
          <a:p>
            <a:pPr>
              <a:spcAft>
                <a:spcPts val="1200"/>
              </a:spcAft>
            </a:pPr>
            <a:r>
              <a:rPr sz="2200">
                <a:solidFill>
                  <a:srgbClr val="1F2937"/>
                </a:solidFill>
                <a:latin typeface="Calibri"/>
              </a:rPr>
              <a:t>▸  Kuyish: o‘q otish alangasi (3-10 sm) va porox gazlari termik ta’sir etib, kiyim, teri va sochni kuydiradi.</a:t>
            </a:r>
          </a:p>
          <a:p>
            <a:pPr>
              <a:spcAft>
                <a:spcPts val="1200"/>
              </a:spcAft>
            </a:pPr>
            <a:r>
              <a:rPr sz="2200">
                <a:solidFill>
                  <a:srgbClr val="1F2937"/>
                </a:solidFill>
                <a:latin typeface="Calibri"/>
              </a:rPr>
              <a:t>▸  Shilinish: porox gazlari 10-15 sm masofada mexanik ta’sir ko‘rsatib, shilinish, qontalash va yumshoq to‘qima yorilishini beradi.</a:t>
            </a:r>
          </a:p>
          <a:p>
            <a:pPr>
              <a:spcAft>
                <a:spcPts val="1200"/>
              </a:spcAft>
            </a:pPr>
            <a:r>
              <a:rPr sz="2200">
                <a:solidFill>
                  <a:srgbClr val="1F2937"/>
                </a:solidFill>
                <a:latin typeface="Calibri"/>
              </a:rPr>
              <a:t>▸  Pushti tus: porox gazlarining kimyoviy ta’sirida qonda karboksigemoglobin, mushakda karboksimioglobin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84, 86, 85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 distansiyasi va masofasi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Distansiya — ma’lum belgilar majmui, masofa esa stvol uchi va nishon oralig‘i.</a:t>
            </a:r>
          </a:p>
          <a:p>
            <a:pPr>
              <a:spcAft>
                <a:spcPts val="800"/>
              </a:spcAft>
            </a:pPr>
            <a:r>
              <a:rPr sz="1800">
                <a:solidFill>
                  <a:srgbClr val="1F2937"/>
                </a:solidFill>
                <a:latin typeface="Calibri"/>
              </a:rPr>
              <a:t>▸  Masofa faqat eksperiment bilan aniqlanadi: shu qurol va patrondan sinov otishlari o‘tkaziladi.</a:t>
            </a:r>
          </a:p>
          <a:p>
            <a:pPr>
              <a:spcAft>
                <a:spcPts val="800"/>
              </a:spcAft>
            </a:pPr>
            <a:r>
              <a:rPr sz="1800">
                <a:solidFill>
                  <a:srgbClr val="1F2937"/>
                </a:solidFill>
                <a:latin typeface="Calibri"/>
              </a:rPr>
              <a:t>▸  Diqqat: distansiya ≠ masofa. Bir xil distansiya turli qurolda boshqa masofaga to‘g‘ri kelishi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2187484"/>
                <a:gridCol w="188129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Distansiya</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61447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Ma’lum belgilar majmui</a:t>
                      </a:r>
                    </a:p>
                  </a:txBody>
                  <a:tcPr marL="73152" marR="73152" marT="36576" marB="36576">
                    <a:solidFill>
                      <a:srgbClr val="E8EEF6"/>
                    </a:solidFill>
                  </a:tcPr>
                </a:tc>
                <a:tc>
                  <a:txBody>
                    <a:bodyPr/>
                    <a:lstStyle/>
                    <a:p>
                      <a:r>
                        <a:rPr sz="1500" b="0">
                          <a:solidFill>
                            <a:srgbClr val="1F2937"/>
                          </a:solidFill>
                        </a:rPr>
                        <a:t>Stvol uchi–nishon oralig‘i</a:t>
                      </a:r>
                    </a:p>
                  </a:txBody>
                  <a:tcPr marL="73152" marR="73152" marT="36576" marB="36576">
                    <a:solidFill>
                      <a:srgbClr val="E8EEF6"/>
                    </a:solidFill>
                  </a:tcPr>
                </a:tc>
              </a:tr>
              <a:tr h="614476">
                <a:tc>
                  <a:txBody>
                    <a:bodyPr/>
                    <a:lstStyle/>
                    <a:p>
                      <a:r>
                        <a:rPr sz="1500" b="0">
                          <a:solidFill>
                            <a:srgbClr val="1F2937"/>
                          </a:solidFill>
                        </a:rPr>
                        <a:t>Ifodasi</a:t>
                      </a:r>
                    </a:p>
                  </a:txBody>
                  <a:tcPr marL="73152" marR="73152" marT="36576" marB="36576">
                    <a:solidFill>
                      <a:srgbClr val="FFFFFF"/>
                    </a:solidFill>
                  </a:tcPr>
                </a:tc>
                <a:tc>
                  <a:txBody>
                    <a:bodyPr/>
                    <a:lstStyle/>
                    <a:p>
                      <a:r>
                        <a:rPr sz="1500" b="0">
                          <a:solidFill>
                            <a:srgbClr val="1F2937"/>
                          </a:solidFill>
                        </a:rPr>
                        <a:t>Tirab, yaqin, yaqin bo‘lmagan</a:t>
                      </a:r>
                    </a:p>
                  </a:txBody>
                  <a:tcPr marL="73152" marR="73152" marT="36576" marB="36576">
                    <a:solidFill>
                      <a:srgbClr val="FFFFFF"/>
                    </a:solidFill>
                  </a:tcPr>
                </a:tc>
                <a:tc>
                  <a:txBody>
                    <a:bodyPr/>
                    <a:lstStyle/>
                    <a:p>
                      <a:r>
                        <a:rPr sz="1500" b="0">
                          <a:solidFill>
                            <a:srgbClr val="1F2937"/>
                          </a:solidFill>
                        </a:rPr>
                        <a:t>Uzunlik birligida o‘lchanadi</a:t>
                      </a:r>
                    </a:p>
                  </a:txBody>
                  <a:tcPr marL="73152" marR="73152" marT="36576" marB="36576">
                    <a:solidFill>
                      <a:srgbClr val="FFFFFF"/>
                    </a:solidFill>
                  </a:tcPr>
                </a:tc>
              </a:tr>
              <a:tr h="614476">
                <a:tc>
                  <a:txBody>
                    <a:bodyPr/>
                    <a:lstStyle/>
                    <a:p>
                      <a:r>
                        <a:rPr sz="1500" b="0">
                          <a:solidFill>
                            <a:srgbClr val="1F2937"/>
                          </a:solidFill>
                        </a:rPr>
                        <a:t>Aniqlash</a:t>
                      </a:r>
                    </a:p>
                  </a:txBody>
                  <a:tcPr marL="73152" marR="73152" marT="36576" marB="36576">
                    <a:solidFill>
                      <a:srgbClr val="E8EEF6"/>
                    </a:solidFill>
                  </a:tcPr>
                </a:tc>
                <a:tc>
                  <a:txBody>
                    <a:bodyPr/>
                    <a:lstStyle/>
                    <a:p>
                      <a:r>
                        <a:rPr sz="1500" b="0">
                          <a:solidFill>
                            <a:srgbClr val="1F2937"/>
                          </a:solidFill>
                        </a:rPr>
                        <a:t>Kiyim va tanadagi xos o‘zgarishlar</a:t>
                      </a:r>
                    </a:p>
                  </a:txBody>
                  <a:tcPr marL="73152" marR="73152" marT="36576" marB="36576">
                    <a:solidFill>
                      <a:srgbClr val="E8EEF6"/>
                    </a:solidFill>
                  </a:tcPr>
                </a:tc>
                <a:tc>
                  <a:txBody>
                    <a:bodyPr/>
                    <a:lstStyle/>
                    <a:p>
                      <a:r>
                        <a:rPr sz="1500" b="0">
                          <a:solidFill>
                            <a:srgbClr val="1F2937"/>
                          </a:solidFill>
                        </a:rPr>
                        <a:t>Sinov otish (eksperiment)</a:t>
                      </a:r>
                    </a:p>
                  </a:txBody>
                  <a:tcPr marL="73152" marR="73152" marT="36576" marB="36576">
                    <a:solidFill>
                      <a:srgbClr val="E8EEF6"/>
                    </a:solidFill>
                  </a:tcPr>
                </a:tc>
              </a:tr>
              <a:tr h="614476">
                <a:tc>
                  <a:txBody>
                    <a:bodyPr/>
                    <a:lstStyle/>
                    <a:p>
                      <a:r>
                        <a:rPr sz="1500" b="0">
                          <a:solidFill>
                            <a:srgbClr val="1F2937"/>
                          </a:solidFill>
                        </a:rPr>
                        <a:t>Qurol rusumi</a:t>
                      </a:r>
                    </a:p>
                  </a:txBody>
                  <a:tcPr marL="73152" marR="73152" marT="36576" marB="36576">
                    <a:solidFill>
                      <a:srgbClr val="FFFFFF"/>
                    </a:solidFill>
                  </a:tcPr>
                </a:tc>
                <a:tc>
                  <a:txBody>
                    <a:bodyPr/>
                    <a:lstStyle/>
                    <a:p>
                      <a:r>
                        <a:rPr sz="1500" b="0">
                          <a:solidFill>
                            <a:srgbClr val="1F2937"/>
                          </a:solidFill>
                        </a:rPr>
                        <a:t>Bir xil bo‘lishi mumkin</a:t>
                      </a:r>
                    </a:p>
                  </a:txBody>
                  <a:tcPr marL="73152" marR="73152" marT="36576" marB="36576">
                    <a:solidFill>
                      <a:srgbClr val="FFFFFF"/>
                    </a:solidFill>
                  </a:tcPr>
                </a:tc>
                <a:tc>
                  <a:txBody>
                    <a:bodyPr/>
                    <a:lstStyle/>
                    <a:p>
                      <a:r>
                        <a:rPr sz="1500" b="0">
                          <a:solidFill>
                            <a:srgbClr val="1F2937"/>
                          </a:solidFill>
                        </a:rPr>
                        <a:t>Rusumga qarab har xil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Distansiya va masofa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86-87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Tirab o‘q otishda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Porox gazlari ichki a’zolarga yetsa, gazning keskin kengayishi ko‘lamli yorilish keltirib chiqaradi.</a:t>
            </a:r>
          </a:p>
          <a:p>
            <a:pPr>
              <a:spcAft>
                <a:spcPts val="800"/>
              </a:spcAft>
            </a:pPr>
            <a:r>
              <a:rPr sz="1800">
                <a:solidFill>
                  <a:srgbClr val="1F2937"/>
                </a:solidFill>
                <a:latin typeface="Calibri"/>
              </a:rPr>
              <a:t>▸  Yara kanalida qurum va porox zarralari bo‘ladi; boshlanish qismi pushti, chunki karboksigemoglobin hosil bo‘ladi.</a:t>
            </a:r>
          </a:p>
          <a:p>
            <a:pPr>
              <a:spcAft>
                <a:spcPts val="800"/>
              </a:spcAft>
            </a:pPr>
            <a:r>
              <a:rPr sz="1800">
                <a:solidFill>
                  <a:srgbClr val="1F2937"/>
                </a:solidFill>
                <a:latin typeface="Calibri"/>
              </a:rPr>
              <a:t>▸  To‘liq tirab otishda kirish yarasida kalibrdan katta defekt, chetlari ko‘chgan va yoriqli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1738979"/>
                <a:gridCol w="2329795"/>
              </a:tblGrid>
              <a:tr h="76809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Kontakt</a:t>
                      </a:r>
                    </a:p>
                  </a:txBody>
                  <a:tcPr marL="73152" marR="73152" marT="36576" marB="36576">
                    <a:solidFill>
                      <a:srgbClr val="0B1F3A"/>
                    </a:solidFill>
                  </a:tcPr>
                </a:tc>
                <a:tc>
                  <a:txBody>
                    <a:bodyPr/>
                    <a:lstStyle/>
                    <a:p>
                      <a:r>
                        <a:rPr sz="1600" b="1">
                          <a:solidFill>
                            <a:srgbClr val="FFFFFF"/>
                          </a:solidFill>
                        </a:rPr>
                        <a:t>Asosiy belgi</a:t>
                      </a:r>
                    </a:p>
                  </a:txBody>
                  <a:tcPr marL="73152" marR="73152" marT="36576" marB="36576">
                    <a:solidFill>
                      <a:srgbClr val="0B1F3A"/>
                    </a:solidFill>
                  </a:tcPr>
                </a:tc>
              </a:tr>
              <a:tr h="768096">
                <a:tc>
                  <a:txBody>
                    <a:bodyPr/>
                    <a:lstStyle/>
                    <a:p>
                      <a:r>
                        <a:rPr sz="1500" b="0">
                          <a:solidFill>
                            <a:srgbClr val="1F2937"/>
                          </a:solidFill>
                        </a:rPr>
                        <a:t>To‘liq germetik</a:t>
                      </a:r>
                    </a:p>
                  </a:txBody>
                  <a:tcPr marL="73152" marR="73152" marT="36576" marB="36576">
                    <a:solidFill>
                      <a:srgbClr val="E8EEF6"/>
                    </a:solidFill>
                  </a:tcPr>
                </a:tc>
                <a:tc>
                  <a:txBody>
                    <a:bodyPr/>
                    <a:lstStyle/>
                    <a:p>
                      <a:r>
                        <a:rPr sz="1500" b="0">
                          <a:solidFill>
                            <a:srgbClr val="1F2937"/>
                          </a:solidFill>
                        </a:rPr>
                        <a:t>Gaz terini stvol uchiga bosadi</a:t>
                      </a:r>
                    </a:p>
                  </a:txBody>
                  <a:tcPr marL="73152" marR="73152" marT="36576" marB="36576">
                    <a:solidFill>
                      <a:srgbClr val="E8EEF6"/>
                    </a:solidFill>
                  </a:tcPr>
                </a:tc>
                <a:tc>
                  <a:txBody>
                    <a:bodyPr/>
                    <a:lstStyle/>
                    <a:p>
                      <a:r>
                        <a:rPr sz="1500" b="0">
                          <a:solidFill>
                            <a:srgbClr val="1F2937"/>
                          </a:solidFill>
                        </a:rPr>
                        <a:t>Shtansmarka: shilinma yoki qontalash izi</a:t>
                      </a:r>
                    </a:p>
                  </a:txBody>
                  <a:tcPr marL="73152" marR="73152" marT="36576" marB="36576">
                    <a:solidFill>
                      <a:srgbClr val="E8EEF6"/>
                    </a:solidFill>
                  </a:tcPr>
                </a:tc>
              </a:tr>
              <a:tr h="768096">
                <a:tc>
                  <a:txBody>
                    <a:bodyPr/>
                    <a:lstStyle/>
                    <a:p>
                      <a:r>
                        <a:rPr sz="1500" b="0">
                          <a:solidFill>
                            <a:srgbClr val="1F2937"/>
                          </a:solidFill>
                        </a:rPr>
                        <a:t>To‘liq</a:t>
                      </a:r>
                    </a:p>
                  </a:txBody>
                  <a:tcPr marL="73152" marR="73152" marT="36576" marB="36576">
                    <a:solidFill>
                      <a:srgbClr val="FFFFFF"/>
                    </a:solidFill>
                  </a:tcPr>
                </a:tc>
                <a:tc>
                  <a:txBody>
                    <a:bodyPr/>
                    <a:lstStyle/>
                    <a:p>
                      <a:r>
                        <a:rPr sz="1500" b="0">
                          <a:solidFill>
                            <a:srgbClr val="1F2937"/>
                          </a:solidFill>
                        </a:rPr>
                        <a:t>Stvol uchining barcha sohasi</a:t>
                      </a:r>
                    </a:p>
                  </a:txBody>
                  <a:tcPr marL="73152" marR="73152" marT="36576" marB="36576">
                    <a:solidFill>
                      <a:srgbClr val="FFFFFF"/>
                    </a:solidFill>
                  </a:tcPr>
                </a:tc>
                <a:tc>
                  <a:txBody>
                    <a:bodyPr/>
                    <a:lstStyle/>
                    <a:p>
                      <a:r>
                        <a:rPr sz="1500" b="0">
                          <a:solidFill>
                            <a:srgbClr val="1F2937"/>
                          </a:solidFill>
                        </a:rPr>
                        <a:t>Kirish chetlari ko‘chgan, yoriqli</a:t>
                      </a:r>
                    </a:p>
                  </a:txBody>
                  <a:tcPr marL="73152" marR="73152" marT="36576" marB="36576">
                    <a:solidFill>
                      <a:srgbClr val="FFFFFF"/>
                    </a:solidFill>
                  </a:tcPr>
                </a:tc>
              </a:tr>
              <a:tr h="768096">
                <a:tc>
                  <a:txBody>
                    <a:bodyPr/>
                    <a:lstStyle/>
                    <a:p>
                      <a:r>
                        <a:rPr sz="1500" b="0">
                          <a:solidFill>
                            <a:srgbClr val="1F2937"/>
                          </a:solidFill>
                        </a:rPr>
                        <a:t>Qiyalab</a:t>
                      </a:r>
                    </a:p>
                  </a:txBody>
                  <a:tcPr marL="73152" marR="73152" marT="36576" marB="36576">
                    <a:solidFill>
                      <a:srgbClr val="E8EEF6"/>
                    </a:solidFill>
                  </a:tcPr>
                </a:tc>
                <a:tc>
                  <a:txBody>
                    <a:bodyPr/>
                    <a:lstStyle/>
                    <a:p>
                      <a:r>
                        <a:rPr sz="1500" b="0">
                          <a:solidFill>
                            <a:srgbClr val="1F2937"/>
                          </a:solidFill>
                        </a:rPr>
                        <a:t>Stvol qiya turadi</a:t>
                      </a:r>
                    </a:p>
                  </a:txBody>
                  <a:tcPr marL="73152" marR="73152" marT="36576" marB="36576">
                    <a:solidFill>
                      <a:srgbClr val="E8EEF6"/>
                    </a:solidFill>
                  </a:tcPr>
                </a:tc>
                <a:tc>
                  <a:txBody>
                    <a:bodyPr/>
                    <a:lstStyle/>
                    <a:p>
                      <a:r>
                        <a:rPr sz="1500" b="0">
                          <a:solidFill>
                            <a:srgbClr val="1F2937"/>
                          </a:solidFill>
                        </a:rPr>
                        <a:t>Bir tomonda yoriq, qurum “tilsimon”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Tirab otish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uch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distansiyada qo‘shimcha omillar belgilariga qarab uch zona ajratiladi.</a:t>
            </a:r>
          </a:p>
          <a:p>
            <a:pPr>
              <a:spcAft>
                <a:spcPts val="800"/>
              </a:spcAft>
            </a:pPr>
            <a:r>
              <a:rPr sz="1800">
                <a:solidFill>
                  <a:srgbClr val="1F2937"/>
                </a:solidFill>
                <a:latin typeface="Calibri"/>
              </a:rPr>
              <a:t>▸  Zona uzunligi stvol uzunligi, kalibr va patron tuzilishiga bog‘liq bo‘ladi.</a:t>
            </a:r>
          </a:p>
          <a:p>
            <a:pPr>
              <a:spcAft>
                <a:spcPts val="800"/>
              </a:spcAft>
            </a:pPr>
            <a:r>
              <a:rPr sz="1800">
                <a:solidFill>
                  <a:srgbClr val="1F2937"/>
                </a:solidFill>
                <a:latin typeface="Calibri"/>
              </a:rPr>
              <a:t>▸  Diqqat: 2-zonada porox gazi belgisi yo‘q, 3-zonada faqat porox va metall zarrachalari qoladi.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983809"/>
                <a:gridCol w="2152082"/>
                <a:gridCol w="2152082"/>
              </a:tblGrid>
              <a:tr h="614476">
                <a:tc>
                  <a:txBody>
                    <a:bodyPr/>
                    <a:lstStyle/>
                    <a:p>
                      <a:r>
                        <a:rPr sz="1600" b="1">
                          <a:solidFill>
                            <a:srgbClr val="FFFFFF"/>
                          </a:solidFill>
                        </a:rPr>
                        <a:t>Zona</a:t>
                      </a:r>
                    </a:p>
                  </a:txBody>
                  <a:tcPr marL="73152" marR="73152" marT="36576" marB="36576">
                    <a:solidFill>
                      <a:srgbClr val="0B1F3A"/>
                    </a:solidFill>
                  </a:tcPr>
                </a:tc>
                <a:tc>
                  <a:txBody>
                    <a:bodyPr/>
                    <a:lstStyle/>
                    <a:p>
                      <a:r>
                        <a:rPr sz="1600" b="1">
                          <a:solidFill>
                            <a:srgbClr val="FFFFFF"/>
                          </a:solidFill>
                        </a:rPr>
                        <a:t>Omillar</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614476">
                <a:tc>
                  <a:txBody>
                    <a:bodyPr/>
                    <a:lstStyle/>
                    <a:p>
                      <a:r>
                        <a:rPr sz="1500" b="0">
                          <a:solidFill>
                            <a:srgbClr val="1F2937"/>
                          </a:solidFill>
                        </a:rPr>
                        <a:t>1-zona</a:t>
                      </a:r>
                    </a:p>
                  </a:txBody>
                  <a:tcPr marL="73152" marR="73152" marT="36576" marB="36576">
                    <a:solidFill>
                      <a:srgbClr val="E8EEF6"/>
                    </a:solidFill>
                  </a:tcPr>
                </a:tc>
                <a:tc>
                  <a:txBody>
                    <a:bodyPr/>
                    <a:lstStyle/>
                    <a:p>
                      <a:r>
                        <a:rPr sz="1500" b="0">
                          <a:solidFill>
                            <a:srgbClr val="1F2937"/>
                          </a:solidFill>
                        </a:rPr>
                        <a:t>Gaz, qurum, porox, metall, moy</a:t>
                      </a:r>
                    </a:p>
                  </a:txBody>
                  <a:tcPr marL="73152" marR="73152" marT="36576" marB="36576">
                    <a:solidFill>
                      <a:srgbClr val="E8EEF6"/>
                    </a:solidFill>
                  </a:tcPr>
                </a:tc>
                <a:tc>
                  <a:txBody>
                    <a:bodyPr/>
                    <a:lstStyle/>
                    <a:p>
                      <a:r>
                        <a:rPr sz="1500" b="0">
                          <a:solidFill>
                            <a:srgbClr val="1F2937"/>
                          </a:solidFill>
                        </a:rPr>
                        <a:t>Makarov ~1 sm; AK 3 sm; miltiq 5 sm</a:t>
                      </a:r>
                    </a:p>
                  </a:txBody>
                  <a:tcPr marL="73152" marR="73152" marT="36576" marB="36576">
                    <a:solidFill>
                      <a:srgbClr val="E8EEF6"/>
                    </a:solidFill>
                  </a:tcPr>
                </a:tc>
              </a:tr>
              <a:tr h="614476">
                <a:tc>
                  <a:txBody>
                    <a:bodyPr/>
                    <a:lstStyle/>
                    <a:p>
                      <a:r>
                        <a:rPr sz="1500" b="0">
                          <a:solidFill>
                            <a:srgbClr val="1F2937"/>
                          </a:solidFill>
                        </a:rPr>
                        <a:t>2-zona</a:t>
                      </a:r>
                    </a:p>
                  </a:txBody>
                  <a:tcPr marL="73152" marR="73152" marT="36576" marB="36576">
                    <a:solidFill>
                      <a:srgbClr val="FFFFFF"/>
                    </a:solidFill>
                  </a:tcPr>
                </a:tc>
                <a:tc>
                  <a:txBody>
                    <a:bodyPr/>
                    <a:lstStyle/>
                    <a:p>
                      <a:r>
                        <a:rPr sz="1500" b="0">
                          <a:solidFill>
                            <a:srgbClr val="1F2937"/>
                          </a:solidFill>
                        </a:rPr>
                        <a:t>Gaz yo‘q; qurum, porox, metall, moy</a:t>
                      </a:r>
                    </a:p>
                  </a:txBody>
                  <a:tcPr marL="73152" marR="73152" marT="36576" marB="36576">
                    <a:solidFill>
                      <a:srgbClr val="FFFFFF"/>
                    </a:solidFill>
                  </a:tcPr>
                </a:tc>
                <a:tc>
                  <a:txBody>
                    <a:bodyPr/>
                    <a:lstStyle/>
                    <a:p>
                      <a:r>
                        <a:rPr sz="1500" b="0">
                          <a:solidFill>
                            <a:srgbClr val="1F2937"/>
                          </a:solidFill>
                        </a:rPr>
                        <a:t>Jangovor qurollarda 25–35 sm</a:t>
                      </a:r>
                    </a:p>
                  </a:txBody>
                  <a:tcPr marL="73152" marR="73152" marT="36576" marB="36576">
                    <a:solidFill>
                      <a:srgbClr val="FFFFFF"/>
                    </a:solidFill>
                  </a:tcPr>
                </a:tc>
              </a:tr>
              <a:tr h="614476">
                <a:tc>
                  <a:txBody>
                    <a:bodyPr/>
                    <a:lstStyle/>
                    <a:p>
                      <a:r>
                        <a:rPr sz="1500" b="0">
                          <a:solidFill>
                            <a:srgbClr val="1F2937"/>
                          </a:solidFill>
                        </a:rPr>
                        <a:t>3-zona</a:t>
                      </a:r>
                    </a:p>
                  </a:txBody>
                  <a:tcPr marL="73152" marR="73152" marT="36576" marB="36576">
                    <a:solidFill>
                      <a:srgbClr val="E8EEF6"/>
                    </a:solidFill>
                  </a:tcPr>
                </a:tc>
                <a:tc>
                  <a:txBody>
                    <a:bodyPr/>
                    <a:lstStyle/>
                    <a:p>
                      <a:r>
                        <a:rPr sz="1500" b="0">
                          <a:solidFill>
                            <a:srgbClr val="1F2937"/>
                          </a:solidFill>
                        </a:rPr>
                        <a:t>Faqat porox va metall zarrachalari</a:t>
                      </a:r>
                    </a:p>
                  </a:txBody>
                  <a:tcPr marL="73152" marR="73152" marT="36576" marB="36576">
                    <a:solidFill>
                      <a:srgbClr val="E8EEF6"/>
                    </a:solidFill>
                  </a:tcPr>
                </a:tc>
                <a:tc>
                  <a:txBody>
                    <a:bodyPr/>
                    <a:lstStyle/>
                    <a:p>
                      <a:r>
                        <a:rPr sz="1500" b="0">
                          <a:solidFill>
                            <a:srgbClr val="1F2937"/>
                          </a:solidFill>
                        </a:rPr>
                        <a:t>Makarov 150, AK 200, miltiq 250 sm</a:t>
                      </a:r>
                    </a:p>
                  </a:txBody>
                  <a:tcPr marL="73152" marR="73152" marT="36576" marB="36576">
                    <a:solidFill>
                      <a:srgbClr val="E8EEF6"/>
                    </a:solidFill>
                  </a:tcPr>
                </a:tc>
              </a:tr>
              <a:tr h="614476">
                <a:tc>
                  <a:txBody>
                    <a:bodyPr/>
                    <a:lstStyle/>
                    <a:p>
                      <a:r>
                        <a:rPr sz="1500" b="0">
                          <a:solidFill>
                            <a:srgbClr val="1F2937"/>
                          </a:solidFill>
                        </a:rPr>
                        <a:t>Silliq stvol</a:t>
                      </a:r>
                    </a:p>
                  </a:txBody>
                  <a:tcPr marL="73152" marR="73152" marT="36576" marB="36576">
                    <a:solidFill>
                      <a:srgbClr val="FFFFFF"/>
                    </a:solidFill>
                  </a:tcPr>
                </a:tc>
                <a:tc>
                  <a:txBody>
                    <a:bodyPr/>
                    <a:lstStyle/>
                    <a:p>
                      <a:r>
                        <a:rPr sz="1500" b="0">
                          <a:solidFill>
                            <a:srgbClr val="1F2937"/>
                          </a:solidFill>
                        </a:rPr>
                        <a:t>Ov miltig‘ida 3-zona</a:t>
                      </a:r>
                    </a:p>
                  </a:txBody>
                  <a:tcPr marL="73152" marR="73152" marT="36576" marB="36576">
                    <a:solidFill>
                      <a:srgbClr val="FFFFFF"/>
                    </a:solidFill>
                  </a:tcPr>
                </a:tc>
                <a:tc>
                  <a:txBody>
                    <a:bodyPr/>
                    <a:lstStyle/>
                    <a:p>
                      <a:r>
                        <a:rPr sz="1500" b="0">
                          <a:solidFill>
                            <a:srgbClr val="1F2937"/>
                          </a:solidFill>
                        </a:rPr>
                        <a:t>500 sm gacha bo‘lishi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Yaqin distansiya zonalari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yaqin distansiya zonalari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qaysi zonada porox gazlarining ta’sir belgilari aniqlanadi? Javob: birinchi zonada; kirish yarasi o‘qning yulma va gazning yorma, lat ta’siridan hosil bo‘ladi.</a:t>
            </a:r>
          </a:p>
          <a:p>
            <a:pPr>
              <a:spcAft>
                <a:spcPts val="1200"/>
              </a:spcAft>
            </a:pPr>
            <a:r>
              <a:rPr sz="2000">
                <a:solidFill>
                  <a:srgbClr val="1F2937"/>
                </a:solidFill>
                <a:latin typeface="Calibri"/>
              </a:rPr>
              <a:t>▸  2-savol: qaysi zonada qo‘shimcha omillardan faqat porox va metall zarrachalari aniqlanadi? Javob: uchinchi zonada.</a:t>
            </a:r>
          </a:p>
          <a:p>
            <a:pPr>
              <a:spcAft>
                <a:spcPts val="1200"/>
              </a:spcAft>
            </a:pPr>
            <a:r>
              <a:rPr sz="2000">
                <a:solidFill>
                  <a:srgbClr val="1F2937"/>
                </a:solidFill>
                <a:latin typeface="Calibri"/>
              </a:rPr>
              <a:t>▸  3-savol: stvol va jabrlanuvchi o‘rtasida to‘siq bo‘lsa, qo‘shimcha omillar qayerda qoladi? Javob: to‘siqda; o‘q to‘siqni teshib o‘tib nishonga tegadi.</a:t>
            </a:r>
          </a:p>
          <a:p>
            <a:pPr>
              <a:spcAft>
                <a:spcPts val="1200"/>
              </a:spcAft>
            </a:pPr>
            <a:r>
              <a:rPr sz="2000">
                <a:solidFill>
                  <a:srgbClr val="1F2937"/>
                </a:solidFill>
                <a:latin typeface="Calibri"/>
              </a:rPr>
              <a:t>▸  4-savol: to‘siq o‘qqa qanday ta’sir qiladi? Javob: o‘q deformatsiyalanishi yoki parchalanishi, energiyasi va yo‘nalishi o‘zgarishi mumkin; atipik jarohat hosil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 va Vinogradov fenomeni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 kiyim va kirish teshigi atrofida qo‘shimcha omillar belgisi bo‘lmaydi.</a:t>
            </a:r>
          </a:p>
          <a:p>
            <a:pPr>
              <a:spcAft>
                <a:spcPts val="800"/>
              </a:spcAft>
            </a:pPr>
            <a:r>
              <a:rPr sz="1800">
                <a:solidFill>
                  <a:srgbClr val="1F2937"/>
                </a:solidFill>
                <a:latin typeface="Calibri"/>
              </a:rPr>
              <a:t>▸  Vinogradov fenomeni shartlari: tezlik 500 m/sek dan kam emas, kiyim zich yopishmagan, kuchli shamol yo‘q.</a:t>
            </a:r>
          </a:p>
          <a:p>
            <a:pPr>
              <a:spcAft>
                <a:spcPts val="800"/>
              </a:spcAft>
            </a:pPr>
            <a:r>
              <a:rPr sz="1800">
                <a:solidFill>
                  <a:srgbClr val="1F2937"/>
                </a:solidFill>
                <a:latin typeface="Calibri"/>
              </a:rPr>
              <a:t>▸  Farqi: 1-qavat kiyim tashqisida qurum yo‘q; qurum oz, chetdan uzoqlashgan sari kuchayadi.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katta tezlikda uchadi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ortida bosim past bo‘shliq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shu bo‘shliqqa tushadi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o‘q ortidan nishongacha boradi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ichki qavat/tanada qoladi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Vinogradov fenomeni mexanizmi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distansiyani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tashqi qavat kiyimida qurum yo‘q, ichki qavatda oz qurum bor. Bu yaqin emas, yaqin bo‘lmagan distansiya va Vinogradov fenomeni belgisi.</a:t>
            </a:r>
          </a:p>
          <a:p>
            <a:pPr>
              <a:spcAft>
                <a:spcPts val="1200"/>
              </a:spcAft>
            </a:pPr>
            <a:r>
              <a:rPr sz="2200">
                <a:solidFill>
                  <a:srgbClr val="1F2937"/>
                </a:solidFill>
                <a:latin typeface="Calibri"/>
              </a:rPr>
              <a:t>▸  Shartlar: o‘q tezligi nishonga tegishda 500 m/sek dan kam emas; kiyim tanaga zich yopishmagan yoki qavatlar orasida bo‘shliq bor; kuchli shamol yo‘q.</a:t>
            </a:r>
          </a:p>
          <a:p>
            <a:pPr>
              <a:spcAft>
                <a:spcPts val="1200"/>
              </a:spcAft>
            </a:pPr>
            <a:r>
              <a:rPr sz="2200">
                <a:solidFill>
                  <a:srgbClr val="1F2937"/>
                </a:solidFill>
                <a:latin typeface="Calibri"/>
              </a:rPr>
              <a:t>▸  Mexanizm: tez uchayotgan o‘q ortida bosimi past bo‘shliq hosil bo‘ladi. Qurum shu bo‘shliqqa tushib, o‘q ortidan nishongacha yetadi.</a:t>
            </a:r>
          </a:p>
          <a:p>
            <a:pPr>
              <a:spcAft>
                <a:spcPts val="1200"/>
              </a:spcAft>
            </a:pPr>
            <a:r>
              <a:rPr sz="2200">
                <a:solidFill>
                  <a:srgbClr val="1F2937"/>
                </a:solidFill>
                <a:latin typeface="Calibri"/>
              </a:rPr>
              <a:t>▸  Diqqat: yaqin distansiyada birinchi qavat tashqi yuzasida qurum bo‘ladi. Vinogradov fenomenida qurum oz, teshikdan uzoqda va periferiyaga qarab kuchayadi.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 morfologiyasi va zarb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Snaryad: material, massa, kalibr, uzunlik. Ballistika: tezlik, pretsessiya, nutatsiya, to‘siqlar.</a:t>
            </a:r>
          </a:p>
          <a:p>
            <a:pPr>
              <a:spcAft>
                <a:spcPts val="800"/>
              </a:spcAft>
            </a:pPr>
            <a:r>
              <a:rPr sz="1800">
                <a:solidFill>
                  <a:srgbClr val="1F2937"/>
                </a:solidFill>
                <a:latin typeface="Calibri"/>
              </a:rPr>
              <a:t>▸  Shikastlangan soha: anatomik tuzilish, zichlik, hajm, qon bilan ta’minlanish, suyuqlik va gaz borligi.</a:t>
            </a:r>
          </a:p>
          <a:p>
            <a:pPr>
              <a:spcAft>
                <a:spcPts val="800"/>
              </a:spcAft>
            </a:pPr>
            <a:r>
              <a:rPr sz="1800">
                <a:solidFill>
                  <a:srgbClr val="1F2937"/>
                </a:solidFill>
                <a:latin typeface="Calibri"/>
              </a:rPr>
              <a:t>▸  Zarb kuchi yon va orqa tomonga ham tarqaladi; pulsatsiya o‘qning chuqurroq kirishiga sharoit yaratadi.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yuzaga kuchli zarb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To‘lqin kanal yoniga tarqaladi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va manfiy bosim fazalari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Vaqtincha bo‘shliq pulsatsiyasi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va to‘qima zarralari chiqadi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Zarb ta’siri nazariyasi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kanali va yara devori zonalari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Teshib o‘tar: kirish, kanal, chiqish. Ko‘r: chiqish yo‘q, snaryad kanal oxirida qoladi. Yalama: snaryad to‘liq kirmaydi, uzunchoq shilinma yoki ariqchasimon yara hosil bo‘ladi.</a:t>
            </a:r>
          </a:p>
          <a:p>
            <a:pPr>
              <a:spcAft>
                <a:spcPts val="1200"/>
              </a:spcAft>
            </a:pPr>
            <a:r>
              <a:rPr sz="2000">
                <a:solidFill>
                  <a:srgbClr val="1F2937"/>
                </a:solidFill>
                <a:latin typeface="Calibri"/>
              </a:rPr>
              <a:t>▸  Kanal to‘g‘ri, siniq yoki yoysimon bo‘ladi; uzluksiz va uzlukli turlari bor. Uzlukli kanal to‘qimalar qisqarishidan hosil bo‘lib, odatda shikastlanish hayotiyligini ko‘rsatadi.</a:t>
            </a:r>
          </a:p>
          <a:p>
            <a:pPr>
              <a:spcAft>
                <a:spcPts val="1200"/>
              </a:spcAft>
            </a:pPr>
            <a:r>
              <a:rPr sz="2000">
                <a:solidFill>
                  <a:srgbClr val="1F2937"/>
                </a:solidFill>
                <a:latin typeface="Calibri"/>
              </a:rPr>
              <a:t>▸  Yara devorida uch zona: bevosita kanal; lat yeyish (0,3 sm dan 1-2 sm gacha); chayqalish zonasi (kengligi 4-5 sm va undan ortiq).</a:t>
            </a:r>
          </a:p>
          <a:p>
            <a:pPr>
              <a:spcAft>
                <a:spcPts val="1200"/>
              </a:spcAft>
            </a:pPr>
            <a:r>
              <a:rPr sz="2000">
                <a:solidFill>
                  <a:srgbClr val="1F2937"/>
                </a:solidFill>
                <a:latin typeface="Calibri"/>
              </a:rPr>
              <a:t>▸  Og‘irlik markazi pastga siljigan o‘q tanada turg‘unligini yo‘qotadi, energiyani to‘qimalarga to‘liqroq beradi: katta kanal, ichki a’zolar yorilishi, suyak sinishi.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teshiklarini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Kirishda yara chetlarida 1–3 mm li shilinish hoshiyasi va uning ustida ifloslanish hoshiyasi bo‘ladi.</a:t>
            </a:r>
          </a:p>
          <a:p>
            <a:pPr>
              <a:spcAft>
                <a:spcPts val="800"/>
              </a:spcAft>
            </a:pPr>
            <a:r>
              <a:rPr sz="1800">
                <a:solidFill>
                  <a:srgbClr val="1F2937"/>
                </a:solidFill>
                <a:latin typeface="Calibri"/>
              </a:rPr>
              <a:t>▸  Pirogov bu hoshiyalarni 1865 yilda “Umumiy harbiy-dala jarrohligi asoslari” kitobida keltirgan.</a:t>
            </a:r>
          </a:p>
          <a:p>
            <a:pPr>
              <a:spcAft>
                <a:spcPts val="800"/>
              </a:spcAft>
            </a:pPr>
            <a:r>
              <a:rPr sz="1800">
                <a:solidFill>
                  <a:srgbClr val="1F2937"/>
                </a:solidFill>
                <a:latin typeface="Calibri"/>
              </a:rPr>
              <a:t>▸  Diqqat: kirish ≠ chiqish. Kirishda qon quyilish muftasimon, chiqishda assimetrik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90992"/>
                <a:gridCol w="1941562"/>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Kirish</a:t>
                      </a:r>
                    </a:p>
                  </a:txBody>
                  <a:tcPr marL="73152" marR="73152" marT="36576" marB="36576">
                    <a:solidFill>
                      <a:srgbClr val="0B1F3A"/>
                    </a:solidFill>
                  </a:tcPr>
                </a:tc>
                <a:tc>
                  <a:txBody>
                    <a:bodyPr/>
                    <a:lstStyle/>
                    <a:p>
                      <a:r>
                        <a:rPr sz="1600" b="1">
                          <a:solidFill>
                            <a:srgbClr val="FFFFFF"/>
                          </a:solidFill>
                        </a:rPr>
                        <a:t>Chiqish</a:t>
                      </a:r>
                    </a:p>
                  </a:txBody>
                  <a:tcPr marL="73152" marR="73152" marT="36576" marB="36576">
                    <a:solidFill>
                      <a:srgbClr val="0B1F3A"/>
                    </a:solidFill>
                  </a:tcPr>
                </a:tc>
              </a:tr>
              <a:tr h="614476">
                <a:tc>
                  <a:txBody>
                    <a:bodyPr/>
                    <a:lstStyle/>
                    <a:p>
                      <a:r>
                        <a:rPr sz="1500" b="0">
                          <a:solidFill>
                            <a:srgbClr val="1F2937"/>
                          </a:solidFill>
                        </a:rPr>
                        <a:t>Shakli</a:t>
                      </a:r>
                    </a:p>
                  </a:txBody>
                  <a:tcPr marL="73152" marR="73152" marT="36576" marB="36576">
                    <a:solidFill>
                      <a:srgbClr val="E8EEF6"/>
                    </a:solidFill>
                  </a:tcPr>
                </a:tc>
                <a:tc>
                  <a:txBody>
                    <a:bodyPr/>
                    <a:lstStyle/>
                    <a:p>
                      <a:r>
                        <a:rPr sz="1500" b="0">
                          <a:solidFill>
                            <a:srgbClr val="1F2937"/>
                          </a:solidFill>
                        </a:rPr>
                        <a:t>Dumaloq, oval</a:t>
                      </a:r>
                    </a:p>
                  </a:txBody>
                  <a:tcPr marL="73152" marR="73152" marT="36576" marB="36576">
                    <a:solidFill>
                      <a:srgbClr val="E8EEF6"/>
                    </a:solidFill>
                  </a:tcPr>
                </a:tc>
                <a:tc>
                  <a:txBody>
                    <a:bodyPr/>
                    <a:lstStyle/>
                    <a:p>
                      <a:r>
                        <a:rPr sz="1500" b="0">
                          <a:solidFill>
                            <a:srgbClr val="1F2937"/>
                          </a:solidFill>
                        </a:rPr>
                        <a:t>Yoriqsimon, yulduzsimon</a:t>
                      </a:r>
                    </a:p>
                  </a:txBody>
                  <a:tcPr marL="73152" marR="73152" marT="36576" marB="36576">
                    <a:solidFill>
                      <a:srgbClr val="E8EEF6"/>
                    </a:solidFill>
                  </a:tcPr>
                </a:tc>
              </a:tr>
              <a:tr h="614476">
                <a:tc>
                  <a:txBody>
                    <a:bodyPr/>
                    <a:lstStyle/>
                    <a:p>
                      <a:r>
                        <a:rPr sz="1500" b="0">
                          <a:solidFill>
                            <a:srgbClr val="1F2937"/>
                          </a:solidFill>
                        </a:rPr>
                        <a:t>To‘qima defekti</a:t>
                      </a:r>
                    </a:p>
                  </a:txBody>
                  <a:tcPr marL="73152" marR="73152" marT="36576" marB="36576">
                    <a:solidFill>
                      <a:srgbClr val="FFFFFF"/>
                    </a:solidFill>
                  </a:tcPr>
                </a:tc>
                <a:tc>
                  <a:txBody>
                    <a:bodyPr/>
                    <a:lstStyle/>
                    <a:p>
                      <a:r>
                        <a:rPr sz="1500" b="0">
                          <a:solidFill>
                            <a:srgbClr val="1F2937"/>
                          </a:solidFill>
                        </a:rPr>
                        <a:t>Ko‘pincha bo‘ladi</a:t>
                      </a:r>
                    </a:p>
                  </a:txBody>
                  <a:tcPr marL="73152" marR="73152" marT="36576" marB="36576">
                    <a:solidFill>
                      <a:srgbClr val="FFFFFF"/>
                    </a:solidFill>
                  </a:tcPr>
                </a:tc>
                <a:tc>
                  <a:txBody>
                    <a:bodyPr/>
                    <a:lstStyle/>
                    <a:p>
                      <a:r>
                        <a:rPr sz="1500" b="0">
                          <a:solidFill>
                            <a:srgbClr val="1F2937"/>
                          </a:solidFill>
                        </a:rPr>
                        <a:t>Kamdan kam hollarda</a:t>
                      </a:r>
                    </a:p>
                  </a:txBody>
                  <a:tcPr marL="73152" marR="73152" marT="36576" marB="36576">
                    <a:solidFill>
                      <a:srgbClr val="FFFFFF"/>
                    </a:solidFill>
                  </a:tcPr>
                </a:tc>
              </a:tr>
              <a:tr h="614476">
                <a:tc>
                  <a:txBody>
                    <a:bodyPr/>
                    <a:lstStyle/>
                    <a:p>
                      <a:r>
                        <a:rPr sz="1500" b="0">
                          <a:solidFill>
                            <a:srgbClr val="1F2937"/>
                          </a:solidFill>
                        </a:rPr>
                        <a:t>Chetlari</a:t>
                      </a:r>
                    </a:p>
                  </a:txBody>
                  <a:tcPr marL="73152" marR="73152" marT="36576" marB="36576">
                    <a:solidFill>
                      <a:srgbClr val="E8EEF6"/>
                    </a:solidFill>
                  </a:tcPr>
                </a:tc>
                <a:tc>
                  <a:txBody>
                    <a:bodyPr/>
                    <a:lstStyle/>
                    <a:p>
                      <a:r>
                        <a:rPr sz="1500" b="0">
                          <a:solidFill>
                            <a:srgbClr val="1F2937"/>
                          </a:solidFill>
                        </a:rPr>
                        <a:t>Tekis, ichkariga qayrilgan</a:t>
                      </a:r>
                    </a:p>
                  </a:txBody>
                  <a:tcPr marL="73152" marR="73152" marT="36576" marB="36576">
                    <a:solidFill>
                      <a:srgbClr val="E8EEF6"/>
                    </a:solidFill>
                  </a:tcPr>
                </a:tc>
                <a:tc>
                  <a:txBody>
                    <a:bodyPr/>
                    <a:lstStyle/>
                    <a:p>
                      <a:r>
                        <a:rPr sz="1500" b="0">
                          <a:solidFill>
                            <a:srgbClr val="1F2937"/>
                          </a:solidFill>
                        </a:rPr>
                        <a:t>Notekis, tashqariga qayrilgan</a:t>
                      </a:r>
                    </a:p>
                  </a:txBody>
                  <a:tcPr marL="73152" marR="73152" marT="36576" marB="36576">
                    <a:solidFill>
                      <a:srgbClr val="E8EEF6"/>
                    </a:solidFill>
                  </a:tcPr>
                </a:tc>
              </a:tr>
              <a:tr h="614476">
                <a:tc>
                  <a:txBody>
                    <a:bodyPr/>
                    <a:lstStyle/>
                    <a:p>
                      <a:r>
                        <a:rPr sz="1500" b="0">
                          <a:solidFill>
                            <a:srgbClr val="1F2937"/>
                          </a:solidFill>
                        </a:rPr>
                        <a:t>Hoshiyalar</a:t>
                      </a:r>
                    </a:p>
                  </a:txBody>
                  <a:tcPr marL="73152" marR="73152" marT="36576" marB="36576">
                    <a:solidFill>
                      <a:srgbClr val="FFFFFF"/>
                    </a:solidFill>
                  </a:tcPr>
                </a:tc>
                <a:tc>
                  <a:txBody>
                    <a:bodyPr/>
                    <a:lstStyle/>
                    <a:p>
                      <a:r>
                        <a:rPr sz="1500" b="0">
                          <a:solidFill>
                            <a:srgbClr val="1F2937"/>
                          </a:solidFill>
                        </a:rPr>
                        <a:t>Shilinish va ifloslanish bor</a:t>
                      </a:r>
                    </a:p>
                  </a:txBody>
                  <a:tcPr marL="73152" marR="73152" marT="36576" marB="36576">
                    <a:solidFill>
                      <a:srgbClr val="FFFFFF"/>
                    </a:solidFill>
                  </a:tcPr>
                </a:tc>
                <a:tc>
                  <a:txBody>
                    <a:bodyPr/>
                    <a:lstStyle/>
                    <a:p>
                      <a:r>
                        <a:rPr sz="1500" b="0">
                          <a:solidFill>
                            <a:srgbClr val="1F2937"/>
                          </a:solidFill>
                        </a:rPr>
                        <a:t>Ko‘pincha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va chiqish teshigi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91-bet, 92–93-betlar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Suyaklarning o‘q otar shikastlanishi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Yassi suyakda o‘q kirgan joyda kesik konus shaklidagi defekt hosil bo‘ladi. Snaryad kichik asosdan katta asos tomon harakatlanadi.</a:t>
            </a:r>
          </a:p>
          <a:p>
            <a:pPr>
              <a:spcAft>
                <a:spcPts val="1200"/>
              </a:spcAft>
            </a:pPr>
            <a:r>
              <a:rPr sz="2200">
                <a:solidFill>
                  <a:srgbClr val="1F2937"/>
                </a:solidFill>
                <a:latin typeface="Calibri"/>
              </a:rPr>
              <a:t>▸  Naysimon suyakda kirish tomonida radial darzli dumaloq defekt bo‘ladi. Chiqish tomonida defekt kattaroq, darzlar uzunasiga ketadi.</a:t>
            </a:r>
          </a:p>
          <a:p>
            <a:pPr>
              <a:spcAft>
                <a:spcPts val="1200"/>
              </a:spcAft>
            </a:pPr>
            <a:r>
              <a:rPr sz="2200">
                <a:solidFill>
                  <a:srgbClr val="1F2937"/>
                </a:solidFill>
                <a:latin typeface="Calibri"/>
              </a:rPr>
              <a:t>▸  Chiqish teshigi uchun defekt xos emas. Bilak, elka kabi yupqa sohalarda o‘q energiyasi saqlansa, yulma ta’sir bilan defekt bo‘lishi mumkin.</a:t>
            </a:r>
          </a:p>
          <a:p>
            <a:pPr>
              <a:spcAft>
                <a:spcPts val="1200"/>
              </a:spcAft>
            </a:pPr>
            <a:r>
              <a:rPr sz="2200">
                <a:solidFill>
                  <a:srgbClr val="1F2937"/>
                </a:solidFill>
                <a:latin typeface="Calibri"/>
              </a:rPr>
              <a:t>▸  Diqqat: yumshoq to‘qimada kirishdagi defekt uchi ichkariga, chiqishdagi defekt uchi tashqariga qaragan konus shaklida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92-bet, 93-bet, 90, 93-betlar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kirish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jabrlanganning bilagida ikkita teshik bor. Birida to‘qima defekti hamda shilinish va ifloslanish hoshiyasi aniqlangan, ikkinchisida yo‘q.</a:t>
            </a:r>
          </a:p>
          <a:p>
            <a:pPr>
              <a:spcAft>
                <a:spcPts val="1200"/>
              </a:spcAft>
            </a:pPr>
            <a:r>
              <a:rPr sz="2200">
                <a:solidFill>
                  <a:srgbClr val="1F2937"/>
                </a:solidFill>
                <a:latin typeface="Calibri"/>
              </a:rPr>
              <a:t>▸  Savol: qaysi biri kirish teshigi? Javobni jadvaldagi belgilar bo‘yicha asoslang: shakl, chetlari, hoshiyalar, qon quyilish.</a:t>
            </a:r>
          </a:p>
          <a:p>
            <a:pPr>
              <a:spcAft>
                <a:spcPts val="1200"/>
              </a:spcAft>
            </a:pPr>
            <a:r>
              <a:rPr sz="2200">
                <a:solidFill>
                  <a:srgbClr val="1F2937"/>
                </a:solidFill>
                <a:latin typeface="Calibri"/>
              </a:rPr>
              <a:t>▸  Defekt, shilinish va ifloslanish hoshiyasi kirishga xos. Chetlarni yaqinlashtirganda teri burmalari hosil bo‘lsa, defekt bor.</a:t>
            </a:r>
          </a:p>
          <a:p>
            <a:pPr>
              <a:spcAft>
                <a:spcPts val="1200"/>
              </a:spcAft>
            </a:pPr>
            <a:r>
              <a:rPr sz="2200">
                <a:solidFill>
                  <a:srgbClr val="1F2937"/>
                </a:solidFill>
                <a:latin typeface="Calibri"/>
              </a:rPr>
              <a:t>▸  Diqqat: bilak yupqa soha, shuning uchun chiqishda ham defekt bo‘lishi mumkin. Faqat defektga emas, hoshiyalarga ham tayaning.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91–92-betlar, 92-bet, 91-bet, 93-bet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Sochmali patron silliq stvolli ov miltiqlarida ishlatiladi. Porox va metall zarrachalari belgilari 200–500 sm gacha aniqlanishi mumkin.</a:t>
            </a:r>
          </a:p>
          <a:p>
            <a:pPr>
              <a:spcAft>
                <a:spcPts val="800"/>
              </a:spcAft>
            </a:pPr>
            <a:r>
              <a:rPr sz="1800">
                <a:solidFill>
                  <a:srgbClr val="1F2937"/>
                </a:solidFill>
                <a:latin typeface="Calibri"/>
              </a:rPr>
              <a:t>▸  Sochmalar 200–400 m, katta sochma (kartech) 600 m gacha uchadi. Tiqinlar 40 m gacha ta’sir qiladi.</a:t>
            </a:r>
          </a:p>
          <a:p>
            <a:pPr>
              <a:spcAft>
                <a:spcPts val="800"/>
              </a:spcAft>
            </a:pPr>
            <a:r>
              <a:rPr sz="1800">
                <a:solidFill>
                  <a:srgbClr val="1F2937"/>
                </a:solidFill>
                <a:latin typeface="Calibri"/>
              </a:rPr>
              <a:t>▸  Sochmali patrondan odatda ko‘r yaralar vujudga keladi.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61491"/>
                <a:gridCol w="1219200"/>
                <a:gridCol w="2707283"/>
              </a:tblGrid>
              <a:tr h="768096">
                <a:tc>
                  <a:txBody>
                    <a:bodyPr/>
                    <a:lstStyle/>
                    <a:p>
                      <a:r>
                        <a:rPr sz="1600" b="1">
                          <a:solidFill>
                            <a:srgbClr val="FFFFFF"/>
                          </a:solidFill>
                        </a:rPr>
                        <a:t>Masofa</a:t>
                      </a:r>
                    </a:p>
                  </a:txBody>
                  <a:tcPr marL="73152" marR="73152" marT="36576" marB="36576">
                    <a:solidFill>
                      <a:srgbClr val="0B1F3A"/>
                    </a:solidFill>
                  </a:tcPr>
                </a:tc>
                <a:tc>
                  <a:txBody>
                    <a:bodyPr/>
                    <a:lstStyle/>
                    <a:p>
                      <a:r>
                        <a:rPr sz="1600" b="1">
                          <a:solidFill>
                            <a:srgbClr val="FFFFFF"/>
                          </a:solidFill>
                        </a:rPr>
                        <a:t>Ta’sir turi</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768096">
                <a:tc>
                  <a:txBody>
                    <a:bodyPr/>
                    <a:lstStyle/>
                    <a:p>
                      <a:r>
                        <a:rPr sz="1500" b="0">
                          <a:solidFill>
                            <a:srgbClr val="1F2937"/>
                          </a:solidFill>
                        </a:rPr>
                        <a:t>Tirab yoki 1 m gacha</a:t>
                      </a:r>
                    </a:p>
                  </a:txBody>
                  <a:tcPr marL="73152" marR="73152" marT="36576" marB="36576">
                    <a:solidFill>
                      <a:srgbClr val="E8EEF6"/>
                    </a:solidFill>
                  </a:tcPr>
                </a:tc>
                <a:tc>
                  <a:txBody>
                    <a:bodyPr/>
                    <a:lstStyle/>
                    <a:p>
                      <a:r>
                        <a:rPr sz="1500" b="0">
                          <a:solidFill>
                            <a:srgbClr val="1F2937"/>
                          </a:solidFill>
                        </a:rPr>
                        <a:t>Kompakt</a:t>
                      </a:r>
                    </a:p>
                  </a:txBody>
                  <a:tcPr marL="73152" marR="73152" marT="36576" marB="36576">
                    <a:solidFill>
                      <a:srgbClr val="E8EEF6"/>
                    </a:solidFill>
                  </a:tcPr>
                </a:tc>
                <a:tc>
                  <a:txBody>
                    <a:bodyPr/>
                    <a:lstStyle/>
                    <a:p>
                      <a:r>
                        <a:rPr sz="1500" b="0">
                          <a:solidFill>
                            <a:srgbClr val="1F2937"/>
                          </a:solidFill>
                        </a:rPr>
                        <a:t>Bitta teshik, o‘lchami patron diametriga teng</a:t>
                      </a:r>
                    </a:p>
                  </a:txBody>
                  <a:tcPr marL="73152" marR="73152" marT="36576" marB="36576">
                    <a:solidFill>
                      <a:srgbClr val="E8EEF6"/>
                    </a:solidFill>
                  </a:tcPr>
                </a:tc>
              </a:tr>
              <a:tr h="768096">
                <a:tc>
                  <a:txBody>
                    <a:bodyPr/>
                    <a:lstStyle/>
                    <a:p>
                      <a:r>
                        <a:rPr sz="1500" b="0">
                          <a:solidFill>
                            <a:srgbClr val="1F2937"/>
                          </a:solidFill>
                        </a:rPr>
                        <a:t>5 m gacha</a:t>
                      </a:r>
                    </a:p>
                  </a:txBody>
                  <a:tcPr marL="73152" marR="73152" marT="36576" marB="36576">
                    <a:solidFill>
                      <a:srgbClr val="FFFFFF"/>
                    </a:solidFill>
                  </a:tcPr>
                </a:tc>
                <a:tc>
                  <a:txBody>
                    <a:bodyPr/>
                    <a:lstStyle/>
                    <a:p>
                      <a:r>
                        <a:rPr sz="1500" b="0">
                          <a:solidFill>
                            <a:srgbClr val="1F2937"/>
                          </a:solidFill>
                        </a:rPr>
                        <a:t>Nisbiy tarqalma</a:t>
                      </a:r>
                    </a:p>
                  </a:txBody>
                  <a:tcPr marL="73152" marR="73152" marT="36576" marB="36576">
                    <a:solidFill>
                      <a:srgbClr val="FFFFFF"/>
                    </a:solidFill>
                  </a:tcPr>
                </a:tc>
                <a:tc>
                  <a:txBody>
                    <a:bodyPr/>
                    <a:lstStyle/>
                    <a:p>
                      <a:r>
                        <a:rPr sz="1500" b="0">
                          <a:solidFill>
                            <a:srgbClr val="1F2937"/>
                          </a:solidFill>
                        </a:rPr>
                        <a:t>Asosiy teshik va atrofida mayda yaralar</a:t>
                      </a:r>
                    </a:p>
                  </a:txBody>
                  <a:tcPr marL="73152" marR="73152" marT="36576" marB="36576">
                    <a:solidFill>
                      <a:srgbClr val="FFFFFF"/>
                    </a:solidFill>
                  </a:tcPr>
                </a:tc>
              </a:tr>
              <a:tr h="768096">
                <a:tc>
                  <a:txBody>
                    <a:bodyPr/>
                    <a:lstStyle/>
                    <a:p>
                      <a:r>
                        <a:rPr sz="1500" b="0">
                          <a:solidFill>
                            <a:srgbClr val="1F2937"/>
                          </a:solidFill>
                        </a:rPr>
                        <a:t>5 m dan uzoq</a:t>
                      </a:r>
                    </a:p>
                  </a:txBody>
                  <a:tcPr marL="73152" marR="73152" marT="36576" marB="36576">
                    <a:solidFill>
                      <a:srgbClr val="E8EEF6"/>
                    </a:solidFill>
                  </a:tcPr>
                </a:tc>
                <a:tc>
                  <a:txBody>
                    <a:bodyPr/>
                    <a:lstStyle/>
                    <a:p>
                      <a:r>
                        <a:rPr sz="1500" b="0">
                          <a:solidFill>
                            <a:srgbClr val="1F2937"/>
                          </a:solidFill>
                        </a:rPr>
                        <a:t>Tarqalma</a:t>
                      </a:r>
                    </a:p>
                  </a:txBody>
                  <a:tcPr marL="73152" marR="73152" marT="36576" marB="36576">
                    <a:solidFill>
                      <a:srgbClr val="E8EEF6"/>
                    </a:solidFill>
                  </a:tcPr>
                </a:tc>
                <a:tc>
                  <a:txBody>
                    <a:bodyPr/>
                    <a:lstStyle/>
                    <a:p>
                      <a:r>
                        <a:rPr sz="1500" b="0">
                          <a:solidFill>
                            <a:srgbClr val="1F2937"/>
                          </a:solidFill>
                        </a:rPr>
                        <a:t>Mayda, shakli va o‘lchami o‘xshash yaralar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Masofaga qarab sochma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Snaryadsiz va pnevmatik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Snaryadsiz patronda o‘q yo‘q: jarohat tirab yoki yaqin masofada porox gazlari ta’siridan hosil bo‘ladi.</a:t>
            </a:r>
          </a:p>
          <a:p>
            <a:pPr>
              <a:spcAft>
                <a:spcPts val="800"/>
              </a:spcAft>
            </a:pPr>
            <a:r>
              <a:rPr sz="1800">
                <a:solidFill>
                  <a:srgbClr val="1F2937"/>
                </a:solidFill>
                <a:latin typeface="Calibri"/>
              </a:rPr>
              <a:t>▸  Tirab otilsa kirish teshigi yoriqli, defekti katta; ko‘krak-qorinda ichki a’zolar yorilishi mumkin.</a:t>
            </a:r>
          </a:p>
          <a:p>
            <a:pPr>
              <a:spcAft>
                <a:spcPts val="800"/>
              </a:spcAft>
            </a:pPr>
            <a:r>
              <a:rPr sz="1800">
                <a:solidFill>
                  <a:srgbClr val="1F2937"/>
                </a:solidFill>
                <a:latin typeface="Calibri"/>
              </a:rPr>
              <a:t>▸  Pnevmatik qurolda siqilgan havo ishlaydi; tirab otilsa havo oqimi lat eyish qoldirishi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799986"/>
                <a:gridCol w="2032568"/>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Snaryadsiz</a:t>
                      </a:r>
                    </a:p>
                  </a:txBody>
                  <a:tcPr marL="73152" marR="73152" marT="36576" marB="36576">
                    <a:solidFill>
                      <a:srgbClr val="0B1F3A"/>
                    </a:solidFill>
                  </a:tcPr>
                </a:tc>
                <a:tc>
                  <a:txBody>
                    <a:bodyPr/>
                    <a:lstStyle/>
                    <a:p>
                      <a:r>
                        <a:rPr sz="1600" b="1">
                          <a:solidFill>
                            <a:srgbClr val="FFFFFF"/>
                          </a:solidFill>
                        </a:rPr>
                        <a:t>Pnevmatik</a:t>
                      </a:r>
                    </a:p>
                  </a:txBody>
                  <a:tcPr marL="73152" marR="73152" marT="36576" marB="36576">
                    <a:solidFill>
                      <a:srgbClr val="0B1F3A"/>
                    </a:solidFill>
                  </a:tcPr>
                </a:tc>
              </a:tr>
              <a:tr h="614476">
                <a:tc>
                  <a:txBody>
                    <a:bodyPr/>
                    <a:lstStyle/>
                    <a:p>
                      <a:r>
                        <a:rPr sz="1500" b="0">
                          <a:solidFill>
                            <a:srgbClr val="1F2937"/>
                          </a:solidFill>
                        </a:rPr>
                        <a:t>Asosiy omil</a:t>
                      </a:r>
                    </a:p>
                  </a:txBody>
                  <a:tcPr marL="73152" marR="73152" marT="36576" marB="36576">
                    <a:solidFill>
                      <a:srgbClr val="E8EEF6"/>
                    </a:solidFill>
                  </a:tcPr>
                </a:tc>
                <a:tc>
                  <a:txBody>
                    <a:bodyPr/>
                    <a:lstStyle/>
                    <a:p>
                      <a:r>
                        <a:rPr sz="1500" b="0">
                          <a:solidFill>
                            <a:srgbClr val="1F2937"/>
                          </a:solidFill>
                        </a:rPr>
                        <a:t>Porox gazlari (o‘q yo‘q)</a:t>
                      </a:r>
                    </a:p>
                  </a:txBody>
                  <a:tcPr marL="73152" marR="73152" marT="36576" marB="36576">
                    <a:solidFill>
                      <a:srgbClr val="E8EEF6"/>
                    </a:solidFill>
                  </a:tcPr>
                </a:tc>
                <a:tc>
                  <a:txBody>
                    <a:bodyPr/>
                    <a:lstStyle/>
                    <a:p>
                      <a:r>
                        <a:rPr sz="1500" b="0">
                          <a:solidFill>
                            <a:srgbClr val="1F2937"/>
                          </a:solidFill>
                        </a:rPr>
                        <a:t>Siqilgan havo; o‘q deformatsiyaga uchraydi</a:t>
                      </a:r>
                    </a:p>
                  </a:txBody>
                  <a:tcPr marL="73152" marR="73152" marT="36576" marB="36576">
                    <a:solidFill>
                      <a:srgbClr val="E8EEF6"/>
                    </a:solidFill>
                  </a:tcPr>
                </a:tc>
              </a:tr>
              <a:tr h="614476">
                <a:tc>
                  <a:txBody>
                    <a:bodyPr/>
                    <a:lstStyle/>
                    <a:p>
                      <a:r>
                        <a:rPr sz="1500" b="0">
                          <a:solidFill>
                            <a:srgbClr val="1F2937"/>
                          </a:solidFill>
                        </a:rPr>
                        <a:t>Qo‘shimcha omillar</a:t>
                      </a:r>
                    </a:p>
                  </a:txBody>
                  <a:tcPr marL="73152" marR="73152" marT="36576" marB="36576">
                    <a:solidFill>
                      <a:srgbClr val="FFFFFF"/>
                    </a:solidFill>
                  </a:tcPr>
                </a:tc>
                <a:tc>
                  <a:txBody>
                    <a:bodyPr/>
                    <a:lstStyle/>
                    <a:p>
                      <a:r>
                        <a:rPr sz="1500" b="0">
                          <a:solidFill>
                            <a:srgbClr val="1F2937"/>
                          </a:solidFill>
                        </a:rPr>
                        <a:t>Tirab/yaqin: porox gazlari, qurum</a:t>
                      </a:r>
                    </a:p>
                  </a:txBody>
                  <a:tcPr marL="73152" marR="73152" marT="36576" marB="36576">
                    <a:solidFill>
                      <a:srgbClr val="FFFFFF"/>
                    </a:solidFill>
                  </a:tcPr>
                </a:tc>
                <a:tc>
                  <a:txBody>
                    <a:bodyPr/>
                    <a:lstStyle/>
                    <a:p>
                      <a:r>
                        <a:rPr sz="1500" b="0">
                          <a:solidFill>
                            <a:srgbClr val="1F2937"/>
                          </a:solidFill>
                        </a:rPr>
                        <a:t>Belgilari bo‘lmaydi</a:t>
                      </a:r>
                    </a:p>
                  </a:txBody>
                  <a:tcPr marL="73152" marR="73152" marT="36576" marB="36576">
                    <a:solidFill>
                      <a:srgbClr val="FFFFFF"/>
                    </a:solidFill>
                  </a:tcPr>
                </a:tc>
              </a:tr>
              <a:tr h="614476">
                <a:tc>
                  <a:txBody>
                    <a:bodyPr/>
                    <a:lstStyle/>
                    <a:p>
                      <a:r>
                        <a:rPr sz="1500" b="0">
                          <a:solidFill>
                            <a:srgbClr val="1F2937"/>
                          </a:solidFill>
                        </a:rPr>
                        <a:t>Yara kanali</a:t>
                      </a:r>
                    </a:p>
                  </a:txBody>
                  <a:tcPr marL="73152" marR="73152" marT="36576" marB="36576">
                    <a:solidFill>
                      <a:srgbClr val="E8EEF6"/>
                    </a:solidFill>
                  </a:tcPr>
                </a:tc>
                <a:tc>
                  <a:txBody>
                    <a:bodyPr/>
                    <a:lstStyle/>
                    <a:p>
                      <a:r>
                        <a:rPr sz="1500" b="0">
                          <a:solidFill>
                            <a:srgbClr val="1F2937"/>
                          </a:solidFill>
                        </a:rPr>
                        <a:t>Ko‘r; karabinda 10–15 sm gacha</a:t>
                      </a:r>
                    </a:p>
                  </a:txBody>
                  <a:tcPr marL="73152" marR="73152" marT="36576" marB="36576">
                    <a:solidFill>
                      <a:srgbClr val="E8EEF6"/>
                    </a:solidFill>
                  </a:tcPr>
                </a:tc>
                <a:tc>
                  <a:txBody>
                    <a:bodyPr/>
                    <a:lstStyle/>
                    <a:p>
                      <a:r>
                        <a:rPr sz="1500" b="0">
                          <a:solidFill>
                            <a:srgbClr val="1F2937"/>
                          </a:solidFill>
                        </a:rPr>
                        <a:t>Ko‘r; tanani teshib o‘tmaydi</a:t>
                      </a:r>
                    </a:p>
                  </a:txBody>
                  <a:tcPr marL="73152" marR="73152" marT="36576" marB="36576">
                    <a:solidFill>
                      <a:srgbClr val="E8EEF6"/>
                    </a:solidFill>
                  </a:tcPr>
                </a:tc>
              </a:tr>
              <a:tr h="614476">
                <a:tc>
                  <a:txBody>
                    <a:bodyPr/>
                    <a:lstStyle/>
                    <a:p>
                      <a:r>
                        <a:rPr sz="1500" b="0">
                          <a:solidFill>
                            <a:srgbClr val="1F2937"/>
                          </a:solidFill>
                        </a:rPr>
                        <a:t>Ta’sir doirasi</a:t>
                      </a:r>
                    </a:p>
                  </a:txBody>
                  <a:tcPr marL="73152" marR="73152" marT="36576" marB="36576">
                    <a:solidFill>
                      <a:srgbClr val="FFFFFF"/>
                    </a:solidFill>
                  </a:tcPr>
                </a:tc>
                <a:tc>
                  <a:txBody>
                    <a:bodyPr/>
                    <a:lstStyle/>
                    <a:p>
                      <a:r>
                        <a:rPr sz="1500" b="0">
                          <a:solidFill>
                            <a:srgbClr val="1F2937"/>
                          </a:solidFill>
                        </a:rPr>
                        <a:t>Tiqin, bo‘laklar bir necha metrgacha</a:t>
                      </a:r>
                    </a:p>
                  </a:txBody>
                  <a:tcPr marL="73152" marR="73152" marT="36576" marB="36576">
                    <a:solidFill>
                      <a:srgbClr val="FFFFFF"/>
                    </a:solidFill>
                  </a:tcPr>
                </a:tc>
                <a:tc>
                  <a:txBody>
                    <a:bodyPr/>
                    <a:lstStyle/>
                    <a:p>
                      <a:r>
                        <a:rPr sz="1500" b="0">
                          <a:solidFill>
                            <a:srgbClr val="1F2937"/>
                          </a:solidFill>
                        </a:rPr>
                        <a:t>O‘q 30–50 m gacha yetadi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Snaryadsiz patron va pnevmatik qurol</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94, 96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Gaz qurollaridan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Gaz quroli stvolli yoki stvolsiz (balloncha) bo‘ladi. Silliq stvol ichida to‘siq bor. Kalibri ko‘pincha 6, 8, 9, 11,43 mm; 6 mm patronda porox yo‘q.</a:t>
            </a:r>
          </a:p>
          <a:p>
            <a:pPr>
              <a:spcAft>
                <a:spcPts val="1200"/>
              </a:spcAft>
            </a:pPr>
            <a:r>
              <a:rPr sz="2200">
                <a:solidFill>
                  <a:srgbClr val="1F2937"/>
                </a:solidFill>
                <a:latin typeface="Calibri"/>
              </a:rPr>
              <a:t>▸  Irritant patronda 20–1000 mg bo‘ladi va 2–3 m masofada ta’sir qiladi. Asosiy ta’sir bir soatga yaqin, qoldiq oqibatlar 7 kungacha aniqlanishi mumkin.</a:t>
            </a:r>
          </a:p>
          <a:p>
            <a:pPr>
              <a:spcAft>
                <a:spcPts val="1200"/>
              </a:spcAft>
            </a:pPr>
            <a:r>
              <a:rPr sz="2200">
                <a:solidFill>
                  <a:srgbClr val="1F2937"/>
                </a:solidFill>
                <a:latin typeface="Calibri"/>
              </a:rPr>
              <a:t>▸  Belgilari: og‘riq, yo‘tal, ko‘zdan yosh oqishi, blefarospazm. Asoratlar: keratit, kon’yunktivit, traxeit, bronxit, pnevmoniya, teri yaralari.</a:t>
            </a:r>
          </a:p>
          <a:p>
            <a:pPr>
              <a:spcAft>
                <a:spcPts val="1200"/>
              </a:spcAft>
            </a:pPr>
            <a:r>
              <a:rPr sz="2200">
                <a:solidFill>
                  <a:srgbClr val="1F2937"/>
                </a:solidFill>
                <a:latin typeface="Calibri"/>
              </a:rPr>
              <a:t>▸  Sud-kimyoviy tekshiruvga irritant izli kichik buyumlar olinadi. Teri va katta buyumlardan etil spirtli doka tampon yuvmasi germetik idishda yuboriladi.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94–95, 95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jarohatlarda ekspertiza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oldiga 8 ta asosiy savol qo‘yiladi; voqeaga qarab qo‘shimcha savollar ham bo‘lishi mumkin.</a:t>
            </a:r>
          </a:p>
          <a:p>
            <a:pPr>
              <a:spcAft>
                <a:spcPts val="800"/>
              </a:spcAft>
            </a:pPr>
            <a:r>
              <a:rPr sz="1800">
                <a:solidFill>
                  <a:srgbClr val="1F2937"/>
                </a:solidFill>
                <a:latin typeface="Calibri"/>
              </a:rPr>
              <a:t>▸  Quroldan otilganligi defekt, hoshiyalar, qo‘shimcha omillar belgilari va tanadagi snaryad bo‘yicha aniqlanadi.</a:t>
            </a:r>
          </a:p>
          <a:p>
            <a:pPr>
              <a:spcAft>
                <a:spcPts val="800"/>
              </a:spcAft>
            </a:pPr>
            <a:r>
              <a:rPr sz="1800">
                <a:solidFill>
                  <a:srgbClr val="1F2937"/>
                </a:solidFill>
                <a:latin typeface="Calibri"/>
              </a:rPr>
              <a:t>▸  Diqqat: distansiya — belgilar majmui, masofa — stvol–nishon oralig‘i (eksperimentda aniqlanadi).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Quroldan otilganmi?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Qurol va snaryad turi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Distansiya va masofa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Kirish-chiqish, kanal</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Stvol va jabrlanuvchi holati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Savollar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96, 86; 97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ketma-ketligi va instrumental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Ketma-ketlik: dastlabki jarohatda qon quyilish yaqqol, qurum va metall keyingisida ko‘proq, moy dastlabkida ko‘proq; keyingi darz avvalgisini kesmaydi.</a:t>
            </a:r>
          </a:p>
          <a:p>
            <a:pPr>
              <a:spcAft>
                <a:spcPts val="1200"/>
              </a:spcAft>
            </a:pPr>
            <a:r>
              <a:rPr sz="2200">
                <a:solidFill>
                  <a:srgbClr val="1F2937"/>
                </a:solidFill>
                <a:latin typeface="Calibri"/>
              </a:rPr>
              <a:t>▸  Avtomatik qurolda jarohatlar bir tomonda, yaqin va bir xil. O‘z-o‘ziga: tepkini bosa olish, kanal, qo‘lda qurum, stvolda qon izi baholanadi.</a:t>
            </a:r>
          </a:p>
          <a:p>
            <a:pPr>
              <a:spcAft>
                <a:spcPts val="1200"/>
              </a:spcAft>
            </a:pPr>
            <a:r>
              <a:rPr sz="2200">
                <a:solidFill>
                  <a:srgbClr val="1F2937"/>
                </a:solidFill>
                <a:latin typeface="Calibri"/>
              </a:rPr>
              <a:t>▸  Rentgen o‘q va sochmani, Bukki nuri metall zarrachani, ultrabinafsha qurum-moyni, infraqizil fotografiya to‘q kiyimdagi izlarni ko‘rsatadi.</a:t>
            </a:r>
          </a:p>
          <a:p>
            <a:pPr>
              <a:spcAft>
                <a:spcPts val="1200"/>
              </a:spcAft>
            </a:pPr>
            <a:r>
              <a:rPr sz="2200">
                <a:solidFill>
                  <a:srgbClr val="1F2937"/>
                </a:solidFill>
                <a:latin typeface="Calibri"/>
              </a:rPr>
              <a:t>▸  Shifokor kirish-chiqish teshigi va kanalni hujjatlashtiradi; topilgan o‘q, sochma, kiyim-poyafzalni o‘ramda huquqni muhofaza idoralariga topshiradi.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97, 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travmasi: turlari va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Portlash — qisqa vaqtda katta energiya ajralishi; turlari: tabiiy, qasddan, tasodifiy.</a:t>
            </a:r>
          </a:p>
          <a:p>
            <a:pPr>
              <a:spcAft>
                <a:spcPts val="800"/>
              </a:spcAft>
            </a:pPr>
            <a:r>
              <a:rPr sz="1800">
                <a:solidFill>
                  <a:srgbClr val="1F2937"/>
                </a:solidFill>
                <a:latin typeface="Calibri"/>
              </a:rPr>
              <a:t>▸  Moddalar: birlamchi (initsial), ikkilamchi (brizant), tarqatuvchi (porox) guruhlari.</a:t>
            </a:r>
          </a:p>
          <a:p>
            <a:pPr>
              <a:spcAft>
                <a:spcPts val="800"/>
              </a:spcAft>
            </a:pPr>
            <a:r>
              <a:rPr sz="1800">
                <a:solidFill>
                  <a:srgbClr val="1F2937"/>
                </a:solidFill>
                <a:latin typeface="Calibri"/>
              </a:rPr>
              <a:t>▸  Ta’sir turlari: mexanik, termik, kimyoviy va baroakustik (quloq nog‘ora pardasi, o‘pka).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Detonatsiya mahsulotlari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Atrof-muhit zarb to‘lqini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Portlovchi moslama bo‘laklari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Maxsus shikastlovchi vositalar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Ikkilamchi snaryadlar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Portlashning 5 omili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 99, 100-101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distansiyalari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Portlashda shartli ravishda to‘rtta distansiya farqlanadi: kontakt, yaqin, nisbatan yaqin va yaqin bo‘lmagan.</a:t>
            </a:r>
          </a:p>
          <a:p>
            <a:pPr>
              <a:spcAft>
                <a:spcPts val="800"/>
              </a:spcAft>
            </a:pPr>
            <a:r>
              <a:rPr sz="1800">
                <a:solidFill>
                  <a:srgbClr val="1F2937"/>
                </a:solidFill>
                <a:latin typeface="Calibri"/>
              </a:rPr>
              <a:t>▸  Har bir distansiyaga to‘g‘ri keladigan masofa portlovchi modda, moslama va zaryad quvvatiga bog‘liq.</a:t>
            </a:r>
          </a:p>
          <a:p>
            <a:pPr>
              <a:spcAft>
                <a:spcPts val="800"/>
              </a:spcAft>
            </a:pPr>
            <a:r>
              <a:rPr sz="1800">
                <a:solidFill>
                  <a:srgbClr val="1F2937"/>
                </a:solidFill>
                <a:latin typeface="Calibri"/>
              </a:rPr>
              <a:t>▸  Zaryadsiz moslamada: ballonda devor bo‘laklari, bug‘ qozonida termik jarohat asosiy bo‘ladi.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Distansiya</a:t>
                      </a:r>
                    </a:p>
                  </a:txBody>
                  <a:tcPr marL="73152" marR="73152" marT="36576" marB="36576">
                    <a:solidFill>
                      <a:srgbClr val="0B1F3A"/>
                    </a:solidFill>
                  </a:tcPr>
                </a:tc>
                <a:tc>
                  <a:txBody>
                    <a:bodyPr/>
                    <a:lstStyle/>
                    <a:p>
                      <a:r>
                        <a:rPr sz="1800" b="1">
                          <a:solidFill>
                            <a:srgbClr val="FFFFFF"/>
                          </a:solidFill>
                        </a:rPr>
                        <a:t>Asosiy omillar</a:t>
                      </a:r>
                    </a:p>
                  </a:txBody>
                  <a:tcPr marL="73152" marR="73152" marT="36576" marB="36576">
                    <a:solidFill>
                      <a:srgbClr val="0B1F3A"/>
                    </a:solidFill>
                  </a:tcPr>
                </a:tc>
              </a:tr>
              <a:tr h="614476">
                <a:tc>
                  <a:txBody>
                    <a:bodyPr/>
                    <a:lstStyle/>
                    <a:p>
                      <a:r>
                        <a:rPr sz="1700" b="0">
                          <a:solidFill>
                            <a:srgbClr val="1F2937"/>
                          </a:solidFill>
                        </a:rPr>
                        <a:t>Kontakt</a:t>
                      </a:r>
                    </a:p>
                  </a:txBody>
                  <a:tcPr marL="73152" marR="73152" marT="36576" marB="36576">
                    <a:solidFill>
                      <a:srgbClr val="E8EEF6"/>
                    </a:solidFill>
                  </a:tcPr>
                </a:tc>
                <a:tc>
                  <a:txBody>
                    <a:bodyPr/>
                    <a:lstStyle/>
                    <a:p>
                      <a:r>
                        <a:rPr sz="1700" b="0">
                          <a:solidFill>
                            <a:srgbClr val="1F2937"/>
                          </a:solidFill>
                        </a:rPr>
                        <a:t>Detonatsiya mahsulotlari, bo‘laklar</a:t>
                      </a:r>
                    </a:p>
                  </a:txBody>
                  <a:tcPr marL="73152" marR="73152" marT="36576" marB="36576">
                    <a:solidFill>
                      <a:srgbClr val="E8EEF6"/>
                    </a:solidFill>
                  </a:tcPr>
                </a:tc>
              </a:tr>
              <a:tr h="614476">
                <a:tc>
                  <a:txBody>
                    <a:bodyPr/>
                    <a:lstStyle/>
                    <a:p>
                      <a:r>
                        <a:rPr sz="1700" b="0">
                          <a:solidFill>
                            <a:srgbClr val="1F2937"/>
                          </a:solidFill>
                        </a:rPr>
                        <a:t>Yaqin</a:t>
                      </a:r>
                    </a:p>
                  </a:txBody>
                  <a:tcPr marL="73152" marR="73152" marT="36576" marB="36576">
                    <a:solidFill>
                      <a:srgbClr val="FFFFFF"/>
                    </a:solidFill>
                  </a:tcPr>
                </a:tc>
                <a:tc>
                  <a:txBody>
                    <a:bodyPr/>
                    <a:lstStyle/>
                    <a:p>
                      <a:r>
                        <a:rPr sz="1700" b="0">
                          <a:solidFill>
                            <a:srgbClr val="1F2937"/>
                          </a:solidFill>
                        </a:rPr>
                        <a:t>Mahsulotlar, bo‘laklar, zarb to‘lqini</a:t>
                      </a:r>
                    </a:p>
                  </a:txBody>
                  <a:tcPr marL="73152" marR="73152" marT="36576" marB="36576">
                    <a:solidFill>
                      <a:srgbClr val="FFFFFF"/>
                    </a:solidFill>
                  </a:tcPr>
                </a:tc>
              </a:tr>
              <a:tr h="614476">
                <a:tc>
                  <a:txBody>
                    <a:bodyPr/>
                    <a:lstStyle/>
                    <a:p>
                      <a:r>
                        <a:rPr sz="1700" b="0">
                          <a:solidFill>
                            <a:srgbClr val="1F2937"/>
                          </a:solidFill>
                        </a:rPr>
                        <a:t>Nisbatan yaqin</a:t>
                      </a:r>
                    </a:p>
                  </a:txBody>
                  <a:tcPr marL="73152" marR="73152" marT="36576" marB="36576">
                    <a:solidFill>
                      <a:srgbClr val="E8EEF6"/>
                    </a:solidFill>
                  </a:tcPr>
                </a:tc>
                <a:tc>
                  <a:txBody>
                    <a:bodyPr/>
                    <a:lstStyle/>
                    <a:p>
                      <a:r>
                        <a:rPr sz="1700" b="0">
                          <a:solidFill>
                            <a:srgbClr val="1F2937"/>
                          </a:solidFill>
                        </a:rPr>
                        <a:t>Zarb to‘lqini, bo‘laklar, ikkilamchi snaryad</a:t>
                      </a:r>
                    </a:p>
                  </a:txBody>
                  <a:tcPr marL="73152" marR="73152" marT="36576" marB="36576">
                    <a:solidFill>
                      <a:srgbClr val="E8EEF6"/>
                    </a:solidFill>
                  </a:tcPr>
                </a:tc>
              </a:tr>
              <a:tr h="614476">
                <a:tc>
                  <a:txBody>
                    <a:bodyPr/>
                    <a:lstStyle/>
                    <a:p>
                      <a:r>
                        <a:rPr sz="1700" b="0">
                          <a:solidFill>
                            <a:srgbClr val="1F2937"/>
                          </a:solidFill>
                        </a:rPr>
                        <a:t>Yaqin bo‘lmagan</a:t>
                      </a:r>
                    </a:p>
                  </a:txBody>
                  <a:tcPr marL="73152" marR="73152" marT="36576" marB="36576">
                    <a:solidFill>
                      <a:srgbClr val="FFFFFF"/>
                    </a:solidFill>
                  </a:tcPr>
                </a:tc>
                <a:tc>
                  <a:txBody>
                    <a:bodyPr/>
                    <a:lstStyle/>
                    <a:p>
                      <a:r>
                        <a:rPr sz="1700" b="0">
                          <a:solidFill>
                            <a:srgbClr val="1F2937"/>
                          </a:solidFill>
                        </a:rPr>
                        <a:t>Bo‘laklar va ikkilamchi snaryadlar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Distansiya va asosiy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portlash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portlash joyida jabrlanganning tanasi va kiyimida yot jismlar topilgan, quloq nog‘ora pardasi shikastlangan.</a:t>
            </a:r>
          </a:p>
          <a:p>
            <a:pPr>
              <a:spcAft>
                <a:spcPts val="1200"/>
              </a:spcAft>
            </a:pPr>
            <a:r>
              <a:rPr sz="2200">
                <a:solidFill>
                  <a:srgbClr val="1F2937"/>
                </a:solidFill>
                <a:latin typeface="Calibri"/>
              </a:rPr>
              <a:t>▸  Savol 1: nog‘ora parda va o‘pka shikasti qaysi omildan? Baroakustik travma asosan atrof-muhit zarb to‘lqinidan, ba’zan portlash gazlaridan bo‘ladi.</a:t>
            </a:r>
          </a:p>
          <a:p>
            <a:pPr>
              <a:spcAft>
                <a:spcPts val="1200"/>
              </a:spcAft>
            </a:pPr>
            <a:r>
              <a:rPr sz="2200">
                <a:solidFill>
                  <a:srgbClr val="1F2937"/>
                </a:solidFill>
                <a:latin typeface="Calibri"/>
              </a:rPr>
              <a:t>▸  Savol 2: qaysi distansiya? Zarb to‘lqini yaqin va nisbatan yaqin distansiyada ta’sir qiladi, aniq javob uchun qo‘shimcha ma’lumot kerak.</a:t>
            </a:r>
          </a:p>
          <a:p>
            <a:pPr>
              <a:spcAft>
                <a:spcPts val="1200"/>
              </a:spcAft>
            </a:pPr>
            <a:r>
              <a:rPr sz="2200">
                <a:solidFill>
                  <a:srgbClr val="1F2937"/>
                </a:solidFill>
                <a:latin typeface="Calibri"/>
              </a:rPr>
              <a:t>▸  Savol 3: shifokor tan jarohatlarini to‘liq tekshirib hujjatlashtiradi, yot jismlarni imkon qadar tez rasman huquqni muhofaza idoralariga topshiradi.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101-102, 101, 102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Shikastlovchi omillar: o‘q otishda asosiy snaryad, qo‘shimcha omillar, qurol va ikkilamchi snaryadlar; portlashda beshta omil.</a:t>
            </a:r>
          </a:p>
          <a:p>
            <a:pPr>
              <a:spcAft>
                <a:spcPts val="1200"/>
              </a:spcAft>
            </a:pPr>
            <a:r>
              <a:rPr sz="2200">
                <a:solidFill>
                  <a:srgbClr val="1F2937"/>
                </a:solidFill>
                <a:latin typeface="Calibri"/>
              </a:rPr>
              <a:t>▸  Distansiya — belgilar majmui (tirab, yaqin, yaqin bo‘lmagan). Masofa — stvol uchi va nishon oralig‘i. Distansiya ≠ masofa.</a:t>
            </a:r>
          </a:p>
          <a:p>
            <a:pPr>
              <a:spcAft>
                <a:spcPts val="1200"/>
              </a:spcAft>
            </a:pPr>
            <a:r>
              <a:rPr sz="2200">
                <a:solidFill>
                  <a:srgbClr val="1F2937"/>
                </a:solidFill>
                <a:latin typeface="Calibri"/>
              </a:rPr>
              <a:t>▸  Kirish teshigida ko‘pincha to‘qima defekti, shilinish va ifloslanish hoshiyasi bor. Chiqish teshigi notekis, hoshiyasiz bo‘ladi.</a:t>
            </a:r>
          </a:p>
          <a:p>
            <a:pPr>
              <a:spcAft>
                <a:spcPts val="1200"/>
              </a:spcAft>
            </a:pPr>
            <a:r>
              <a:rPr sz="2200">
                <a:solidFill>
                  <a:srgbClr val="1F2937"/>
                </a:solidFill>
                <a:latin typeface="Calibri"/>
              </a:rPr>
              <a:t>▸  Ekspertiza qurol turi, distansiya, kanal yo‘nalishi, ketma-ketlikni aniqlaydi. Shifokor jarohatni to‘liq hujjatlashtirishi shart.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99, 86, 91-93, 96-98, 102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Pirogov ikki muhim belgini ilk bor tasvirlagan. 1849 yilda to‘qima defektini (“to‘qima o‘zligini yo‘qotishi”) ta’riflagan. 1865 yilda kirish teshigi atrofidagi shilinish va ifloslanish hoshiyalarini keltirgan. Bugun kirish teshigini aniqlashda aynan shu belgilarga tayanamiz.</a:t>
            </a:r>
          </a:p>
          <a:p>
            <a:pPr>
              <a:spcAft>
                <a:spcPts val="1200"/>
              </a:spcAft>
            </a:pPr>
            <a:r>
              <a:rPr sz="1800">
                <a:solidFill>
                  <a:srgbClr val="1F2937"/>
                </a:solidFill>
                <a:latin typeface="Calibri"/>
              </a:rPr>
              <a:t>▸  Vinogradov fenomeni: yaqin bo‘lmagan distansiyadan otilganda ham ichki qavat kiyimda yoki tanada qurum topilishi mumkin. Tez uchayotgan o‘q ortida past bosimli bo‘shliq hosil bo‘ladi va qurum shu bo‘shliqqa tushib o‘q ortidan boradi. Shartlari: tezlik kamida 500 m/sek., kiyim tanaga zich yopishmagan, kuchli shamol yo‘q. Muhim farq: birinchi qavat kiyimning tashqi yuzasida qurum bo‘lmaydi.</a:t>
            </a:r>
          </a:p>
          <a:p>
            <a:pPr>
              <a:spcAft>
                <a:spcPts val="1200"/>
              </a:spcAft>
            </a:pPr>
            <a:r>
              <a:rPr sz="1800">
                <a:solidFill>
                  <a:srgbClr val="1F2937"/>
                </a:solidFill>
                <a:latin typeface="Calibri"/>
              </a:rPr>
              <a:t>▸  Eslab qolish usuli (yaqin distansiya zonalari, o‘qituvchi mnemonikasi): “Hammasi – Gazsiz – Zarracha”. 1-zonada barcha omillar bor (Makarov pistoletida taxminan 1 sm gacha). 2-zonada porox gazi yo‘q (aksariyat jangovor qurollarda 25-35 sm). 3-zonada faqat porox va metall zarrachalari qoladi (Makarovda 150 sm gacha, silliq stvolli ov miltig‘ida 500 sm gacha).</a:t>
            </a:r>
          </a:p>
          <a:p>
            <a:pPr>
              <a:spcAft>
                <a:spcPts val="1200"/>
              </a:spcAft>
            </a:pPr>
            <a:r>
              <a:rPr sz="1800">
                <a:solidFill>
                  <a:srgbClr val="1F2937"/>
                </a:solidFill>
                <a:latin typeface="Calibri"/>
              </a:rPr>
              <a:t>▸  Hodisa tahlili: “bitta o‘q, to‘rtta teshik” mumkinmi? Ha. Tananing yupqa sohalarida (bilak, ko‘krak) bir o‘q ikkita kirish va ikkita chiqish teshigi hosil qilishi mumkin. Shuningdek, yupqa sohada chiqish teshigida ham to‘qima defekti bo‘lishi mumkin, bunda uning uchi tashqariga qaragan bo‘ladi. Shuning uchun teshiklarni bitta belgiga qarab emas, belgilar majmuiga qarab farqlang.</a:t>
            </a:r>
          </a:p>
          <a:p>
            <a:pPr>
              <a:spcAft>
                <a:spcPts val="1200"/>
              </a:spcAft>
            </a:pPr>
            <a:r>
              <a:rPr sz="1800">
                <a:solidFill>
                  <a:srgbClr val="1F2937"/>
                </a:solidFill>
                <a:latin typeface="Calibri"/>
              </a:rPr>
              <a:t>▸  Yonish va detonatsiya bir narsa emas. Yopiq muhitda qora porox yonish tezligi 400 m/sek.ga yetadi va gaz bosimi bir necha ming atmosferaga chiqadi. Detonatsiyada jarayon zarb to‘lqini ta’sirida bir necha ming m/sek. tezlikda o‘tadi. Trotilda bosim yuz ming atmosferadan oshadi. Shu sababli porox “tarqatuvchi”, trotil esa “brizant” modda hisoblanadi.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4. O'q otar qurollardan jarohatlar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