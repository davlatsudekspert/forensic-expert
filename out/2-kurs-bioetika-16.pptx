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yangi texnologiya eski etik tamoyillarni talab qiladi? 2) Nanotibbiyotdan siz qanday foyda va xavf kutasiz? Doskada besh bo‘limli xarita chizdiring: mohiyat, xavfsizlik, atrof-muhit, etika va adolat, tartibga solish va axborot. Tipik xato: nanotibbiyotni faqat foyda deb tushunish. Izoh: berilgan manbalarda axborot xavfsizligi bo‘yicha faqat shaffoflik va jamoatchilik ishonchi tilga olinadi. Shaxsiy ma’lumotlar himoyasi manbalarda yo‘q, shuning uchun uni o‘zingiz alohida izohlang.</a:t>
            </a:r>
          </a:p>
          <a:p/>
          <a:p>
            <a:r>
              <a:t>Tekshirish kerak (manbada noaniq):</a:t>
            </a:r>
          </a:p>
          <a:p>
            <a:r>
              <a:t>- Ma’ruza besh bo‘limdan iborat: mohiyat, xavfsizlik, atrof-muhit, etika va adolat, tartibga solish hamda axborot.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100 nm chegarasi o‘zboshimchalik deyiladi? 2) Nega ‘nanomaterial’ so‘zi xavfli degani emas? Doskada uch mezonli jadvalni chizdiring. Qo‘shimcha: sog‘liq yoki xavfsizlik xavotiri bo‘lsa, 50% chegarasi 1–50% oralig‘idagi qiymatga almashtirilishi mumkin. Tipik xato: yuza maydoni mezoni o‘lcham taqsimotidan ustun deb o‘ylash. Aslida taqsimot ustun turadi.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Nanofan natijasi nanotexnologiyaga qanday aylanadi? 2) Nanotibbiyotga misol keltiring: nanojarrohlik, to‘qima muhandisligi, nishonli dori yetkazish. Doskada zanjir chizdiring: nanofan → nanotexnologiya → nanotibbiyot. Tipik xato: uchala atamani sinonim deb ishlatish.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bir xil moddaning nano shakli boshqacha xossa ko‘rsatadi? 0D–3D belgilashda mualliflar nano o‘lchamlarni turlicha sanashi mumkinligini ayting (Ma manbasidagi 1D/2D ta’rifi Soares manbasidagi sanashdan farq qiladi; shu sababli 3-band ishonchsiz deb belgilandi). Doskada: kub, sim va yupqa qatlam chizib, nano o‘lchamlarini belgilang. Tipik xato: 0D ni ‘nol o‘lcham’ deb tushunish; aslida u barcha o‘lchamlari nano ekanini bildiradi.</a:t>
            </a:r>
          </a:p>
          <a:p/>
          <a:p>
            <a:r>
              <a:t>Tekshirish kerak (manbada noaniq):</a:t>
            </a:r>
          </a:p>
          <a:p>
            <a:r>
              <a:t>- Ma va boshq.: 0D — nanozarracha, 1D — nanosim, 2D — nanoqatlam, 3D — nanogul, nanokub.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biodegradatsiyalanmaydigan nanomaterial uzoq muddat organizmda qolsa, qanday axloqiy xavf tug‘iladi? Qaysi sinfni bemorga qo‘llashdan oldin ko‘proq tekshirish kerak? Doskada: to‘rt sinfni to‘rtburchaklar bilan chizib, har biriga bittadan afzallik va cheklov yozing. Tipik xato: ‘noorganik’ ni ‘zararli’ deb, ‘organik’ ni esa ‘butunlay xavfsiz’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javobni juft bo‘lib 1 daqiqa muhokama qilsin, so‘ng bittadan javob bersin. Muhokama: 100 nm chegarasi nega qat’iy emas (xossalar 100 nm da keskin o‘zgarmaydi)? Doskada: aggregat (qo‘shilib ketgan) va agglomerat (yengil yopishgan) zarrachalarni yonma-yon chizing. Tipik xato: aggregat va agglomeratni bir-biriga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nano o‘lchamda xossalar o‘zgaradi? 2) Qaysi yo‘nalish bemor uchun eng tez foyda beradi? Doskada: nanotibbiyot yo‘nalishlari xaritasini chizdiring (to‘qima injeneriyasini ham qo‘shing). Tipik xato: nanotibbiyotni faqat dori yetkazish deb o‘ylash.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kontrast moddaning tez chiqishi muammo? 2) Nanozarra kontrastning xavfi qanday bo‘lishi mumkin? Doskada: uch ustunli jadvalni (usul – cheklov – nano yechim) talabalar bilan to‘ldiring. Tipik xato: MRT, KT, PET tamoyillarini aralashtirish (magnit maydon – rentgen – radiotrasser).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faqat EPR yetarli emas? 2) O‘lcham va sirt zarracha taqdirini qanday belgilaydi? Doskada: o‘sma tomiri, nanozarra va retseptorli hujayrani chizib, passiv va faol yo‘lni strelkalar bilan ko‘rsating. Tipik xato: PEG (polietilenglikol) qoplamasini faol nishonlash deb hisoblash; u aylanish vaqtini uzaytiradi.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EPR — kuchaytirilgan o‘tkazuvchanlik va ushlanib qolish effekti: o‘sma tomirlari «tuynuk» bo‘lgani uchun zarrachalar o‘smada to‘planadi. SPARC — o‘sma hujayralari ortiqcha chiqaradigan, albuminni bog‘laydigan oqsil. Muhokama: 1) Nega faqat passiv nishonlash yetarli emas? 2) Nanodori «xavfsiz» degani nimani anglatadi? Doskada: ikki ustunli solishtirma jadval chizing. Tipik xato: Doxil va Abraxane tasdiq yillarini (1995 va 2005) va ularning nishonlash turini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mRNK uchun endosomadan chiqish kritik, DNK uchun esa yadro qobig‘i? 2) Viral vektorning qaysi cheklovi bioetik jihatdan eng xavfli (masalan, kanserogenlik)? Doskada: «qon → hujayra → endosoma → sitozol/yadro» yo‘lini chizing va to‘siqlarni belgilang. Tipik xato: DNK va mRNK terapiyasining qaysi hujayra bo‘limida ishlashini aralashtirish. Diqqat: xato qilish xavfi — viral vektor ≠ nonviral (nanozarrachali) vektor.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Nanojarrohlik mikrojarrohlikdan xavf-foyda nisbati bo‘yicha qanday farq qiladi? 2) Nega aniq nisbat uchun batafsil tajribalar kerak? Doskada: har bir texnikaning «afzallik — xavf — kerakli tekshiruv» uch ustunli jadvalini to‘ldiring. Tipik xato: «hujayra jarrohligi» (cell surgery) ni bevosita hujayra davolash deb tushunish; mualliflar bunda donor hujayralarni tayyorlashni nazarda tutadi. Eslatma: manbada bu texnikalar hozircha istiqbolli deb ta’riflanadi.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bering, javobni talabalar topsin. Muhokama: passiv va faol nishonga olish bir-birini to‘ldiradimi? Nega nanojarrohlik oddiy mikrojarrohlikdan farq qiladi? Doskada: o‘simta qon tomiri va nanozarra sxemasini chizdiring (passiv va faol yo‘l). Tipik xato: passiv nishonga olishni ligand bilan bog‘lash. Passiv usulda ligand kerak emas.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(juftliklarda 4 daq, umumiy muhokama 4 daq). Muhokama: faol va passiv nishonga olishni birga qo‘llash toksiklikni nega kamaytirishi mumkin? Zarar bermaslik (nonmaleficence) tamoyili bu yerda qanday ishlaydi? Doskada: ikki ustunli jadval chizdiring (Doxil® va Abraxane®: mexanizm, kamchilik). Tipik xato: faqat dozani kamaytirishni yechim deb hisoblash. Gap nishonga olish aniqligi haqida.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bir xil kimyoviy tarkibli ikki nanodori har xil xavf berishi mumkin? Korona immun javobga qanday ta’sir qilishi mumkin? Doskada: zarra, uning atrofidagi oqsil “korona”si va hujayra sxemasini chizdiring. Qo‘shimcha fakt: 20–30 nm dan kichik zarralar buyrak orqali tez chiqadi, 200 nm va kattalari jigar va taloqdagi makrofag tizimiga ushlanadi (Soares va boshq.). Tipik xato: nanomaterialni oddiy “mayda kimyoviy modda” deb qarash.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kichik zarrachalar buyrak orqali tez chiqadi, kattalari esa jigar va taloqda to‘planadi? 2) Qaysi o‘lcham diapazoni uzoq vaqt ta’sirda xavfliroq bo‘lishi mumkin? Doskada chizing: zarracha o‘lchami o‘qi (10 nm, 20–30 nm, 200 nm) va har bir oraliqda chiqarilish yo‘lini ko‘rsating. Tipik xato: o‘lcham yagona omil deb o‘ylash; yuza xususiyati va shakli ham taqsimlanishga ta’sir qiladi. Eslatma: mononuklear fagotsitar tizim (MFT) jigar, taloq va suyak ko‘migida joylashgan.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glutation tugashi hujayrani himoyasiz qoldiradi? 2) Bir xil tarkibli, lekin o‘lchami va zaryadi farqli nanomaterial nega turlicha toksik bo‘lishi mumkin? Doskada chizing: 5 bosqichli zanjirni strelkalar bilan va har bosqichga hujayra himoyasini yozing. Tipik xato: ROS faqat nanomaterial ta’sirida hosil bo‘ladi deb o‘ylash; hujayra ularni normal metabolizmda ham hosil qiladi, nanomaterial esa miqdorini oshiradi.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Hayvon sinovlarini qisqartirish bioetikaning qaysi tamoyillariga mos keladi? 2) Nega in vitro natijalar bitta hujayra turi va tanlangan mezonlar bilan cheklangan? Doskada chizing: Sayes–Warheit uch bosqichini (quruq, nam, biologik tizim) zinapoya shaklida. Tipik xato: in vitro natija organizmdagi reaksiyani to‘liq bashorat qiladi deb o‘ylash; manbada bu bashorat qilolmasligi aytilgan. Eslatma: jadvaldagi hayvon sinovi afzalligi manbada ko‘rsatilmagan, o‘zingizdan qo‘shmang.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Talabalar javobni juftlikda 1 daqiqa o‘ylaydi. Kutilgan javoblar: 1) ROS — gidroksil radikali, superoksid anioni, vodorod peroksidi; himoya — qaytarilgan glutation, superoksiddismutaza, glutationperoksidaza, katalaza. 2) Biomoslik — material muayyan qo‘llanishda mos javob berishi; sirtga yopishgan oqsillar tasviri immun javobga sabab bo‘lishi mumkin. 3) In vitro modelda organizmning kompensator mexanizmlari va hujayra, to‘qima, a’zolar orasidagi murakkab aloqalar yo‘q; shuningdek, nanomaterial reagentlar bilan ta’sirlashishi mumkin. 4) Standart protokollar va etalon nanomaterial yo‘qligi; ayrim dozalar biologik tizimga mos emas. Muhokama: in silico usullar hayvon tajribasidagi axloqiy muammoni qisman hal qiladimi? Doskada chizish: ROS ko‘payishidan hujayra o‘limigacha zanjir (ROS ko‘payishi, glutation kamayishi, oksidlovchi stress, membrana buzilishi, apoptoz yoki nekroz). Tipik xato: ROS faqat nanomaterial ta’sirida paydo bo‘ladi deb o‘ylash; aslida hujayra ularni metabolizm natijasida normal ham hosil qiladi.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NCS — nanotoksikologik tasniflash tizimi (Keck va Myuller). Sinflar I dan IV gacha, biomoslik (B) yoki biomosmaslik (NB) bilan 8 kichik sinf: I-B, I-NB … IV-B, IV-NB. DF4nanoGrouping 4 guruhi: eruvchan, biobarqaror yuqori nisbatli (high aspect ratio) zarralar, passiv va faol nanomateriallar. Muhokama: nega bir xil nanomaterial teri orqali va tomir ichiga yuborilganda turlicha xavf tug‘diradi? Nega NB sirt I sinfdagi zarrada ham immun tizimini faollashtirishi mumkin? Doskada chizish: o‘lcham va biodegradatsiya bo‘yicha 2x2 katak va unga B/NB bo‘linishini qo‘shing. Tipik xato: NCS sinfini zarraning yakuniy ‘xavfli yoki xavfsiz’ hukmi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PAT — jarayon tahlili texnologiyasi: ishlab chiqarish davomida muhim ko‘rsatkichlarni o‘z vaqtida o‘lchash tizimi. Muhokama: nega nanodori kichik hajmda yaxshi chiqib, katta hajmda muvaffaqiyatsiz bo‘lishi mumkin? Seriyalararo farq bemor xavfsizligiga qanday ta’sir qiladi? Doskada chizish: zanjirni chizing va har bosqichda qaysi xossa (o‘lcham, sirt, zaryad) tekshirilishini yozing. Tipik xato: sifatni faqat tayyor mahsulotni sinash orqali ta’minlash mumkin deb o‘ylash; manbaga ko‘ra sifat loyihalash va jarayonni tushunish orqali quriladi.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CQA ni tekshirasiz (o‘lcham, o‘lcham taqsimoti, sirt zaryadi)? 2) Seriya chegaradan chiqsa, nima qilinadi? Doskaga: «kichik masshtab, katta masshtab, seriya 1 va seriya 2, CQA oralig‘i» chizmasini chizdiring. Yordamchi ma’lumot: 20–30 nm dan kichiklar buyrak orqali tez chiqadi, 200 nm va kattalar jigar va taloqdagi mononuklear fagotsitar tizimga tushadi. Tipik xato: sifatni faqat tayyor mahsulotda tekshirish kifoya deb o‘ylash. Manbaga ko‘ra sifat tayyor mahsulotda sinalmaydi, jarayonga quriladi.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muallif fantastikaga asoslangan qo‘rquvdan qochishni aytadi? 2) Hujjatlangan xavfni nimadan bilamiz? Doskaga: ikki ustun chizdiring, «hujjatlashtirilgan xavf» (toksiklik) va «taxminiy xavf» (nazoratsiz tarqalish). Qo‘shimcha: o‘z-o‘zidan yig‘ilishda molekulalar eng past energiya darajasini izlaydi va kuchlar bog‘lovchi kuchlardan zaifroq, deyiladi. Tipik xato: Dreksler stsenariysini isbotlangan xavf deb qabul qilish yoki atrof-muhit xavfini butunlay inkor etish. Ogohlantirish: atrof-muhit haqidagi manba ma’lumoti cheklangan, o‘zingizdan raqam qo‘shmang.</a:t>
            </a:r>
          </a:p>
          <a:p/>
          <a:p>
            <a:r>
              <a:t>Tekshirish kerak (manbada noaniq):</a:t>
            </a:r>
          </a:p>
          <a:p>
            <a:r>
              <a:t>- Ekotizim va biologik xilma-xillikka ta’siri xavf sifatida tilga olingan. Manbadan olingan matnda bu bo‘lim tafsilotlari yo‘q.</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Zararsizlik (nonmaleficence), foyda (beneficence) va bemor avtonomiyasi to‘qnashsa, qaysi biriga ko‘proq vazn beriladi? 2) Nega biodegradatsiya xavfni kamaytiradi? Doskaga: chizmadagi 5 bosqichni chizib, har biriga xavf nuqtasini belgilang. Qo‘shimcha: Soares et al. ga ko‘ra, biodegradatsiyalanmaydigan nanomaterial tanada abadiy qoladi va immun tizimiga ta’sir qiladi. Tipik xato: «biodegradatsiya» va «biouyg‘unlik» (biocompatibility) ni bir narsa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Zarrachani tanadan chiqarishning qaysi yo‘llari bor (metabolizm, ekskretsiya, “homing”)? 2) Nega Drexler tasviri ilmiy fantastika deb baholanadi? Doskada chizing: ‘xavf – foyda – avtonomiya’ uchburchagi va o‘rtasiga tanlangan ustuvorlikni yozing. Tipik xato: talaba xavfni to‘liq yo‘q qilish mumkin deb o‘ylaydi; aslida xavf kamaytiriladi va boshqariladi.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Zarrachalar bilan davolashda qaysi tamoyillar to‘qnashadi? 2) Prima facie nima uchun mutlaq majburiyat emas? Doskada chizing: to‘rt tamoyil jadvaliga o‘z misolingizni qo‘shing. Tipik xato: prima facie majburiyatni mutlaq deb tushunish; aslida u kuchliroq majburiyat bilan almashishi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xavf-foyda tahlili texnik emas, axloqiy masala? 2) Nanojarrohlikni mikrojarrohlik bilan solishtirishda qanday tajribalar kerak? Doskada chizing: 4 bosqichli zanjirni va har bosqichga bitta nanotibbiyot misolini yozing. Tipik xato: baholash va boshqarishni bir narsa deb o‘ylash; baholash xavfni aniqlaydi, boshqarish esa unga javob qarorlaridir.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Nanozarrachalar nazoratdan chiqish xavfi bo‘lganda qaysi tamoyil og‘irroq bo‘ladi? 2) Prima facie tamoyil mutlaq tamoyildan nimasi bilan farq qiladi? Doskada: ikki ustunli chizma — ‘yaxshilik: harakat’ va ‘zarar yetkazmaslik: tiyilish’. Tipik xato: talabalar ikkala majburiyatni bir xil qat’iylikda deb o‘ylaydi yoki prima facie ni ‘ixtiyoriy’ tamoyil deb tushunadi.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Germinal xatolar qaytmas bo‘lsa, avlodlar avtonomiyasi nima uchun xavf ostida? 2) Mori va Neri ‘kasalliklarni davolashdan voz kechish majburiyati’ ni nega asossiz deydi? Doskada: ikki shoxli sxema — somatik (bir shaxs) va germinal (shaxs va avlod). Tipik xato: talabalar somatik terapiyada ham rozilik va xavf tahlili kerak emas deb o‘ylaydi; aslida bu har ikkala holatda ham zarur.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Ota-onaning farzandiga eng yaxshi imkoniyat berish istagi va farzand erkinligi qanday to‘qnashadi? 2) Vaksinani ‘yaxshilash’ deb hisoblash mumkinmi? Doskada: terapiya — normallik — enhancement shkalasini chizing va vaksina, xolesterin dorisi, gormon terapiyasini qayerga qo‘yishni talabalar bilan hal qiling. Tipik xato: terapiya va enhancement o‘rtasida aniq chegara bor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Embrion maqomi qachon boshlanadi? 2) Nega qoldiq blastotsistani yo‘q qilish ham muammo bo‘lishi mumkin? Doskada: uchta ustunli jadvalni (pozitsiya–himoya–davlatlar) chizdiring. Tipik xato: liberal va oraliq pozitsiyani aralashtirish; oraliqda faqat IVF qoldiqlari, liberalda tadqiqot uchun maxsus olingan hujayralar ham ruxsat.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Yangi texnologiya avval boylarga yetsa, bu adolatmi? 2) Tijoratlashtirish adolatga qanday ta‘sir qiladi? Doskada: ikki ustun — “yaxshi ahvoldagilar” va “muhtojlar” — va ular orasiga savol belgisi chizing. Tipik xato: adolatni faqat narx masalasi deb tushunish; manbada u ustuvorlik, ishonch va shaffoflik bilan ham bog‘liq.</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Germinal terapiya skrining va tanlab abortga muqobil bo‘la oladimi? 2) Kelajak avlod rozilik bera olmasligi qarorni qanday o‘zgartiradi? Doskada: yaxshilik va kelajak avlod avtonomiyasi tarozisini chizing. Tipik xato: 75% ni kasal bola ehtimoli deb o‘qish; u fenotipik normal bola ehtimoli.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YeK ta’rifi materialni xavfli yoki xavfsiz demaydi? 2) Ruxsat olingach, nega dori hamma davlatda birdan mavjud bo‘lmaydi? Doskada: 5 bosqichli zanjirni chizdiring. Tipik xato: ta’rif = xavfsizlik kafolati deb o‘ylash. Diqqat: ‘nanomaterial’ ≠ ‘xavfli material’.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Shaffoflik ishonchni qanday oshiradi? 2) Nanodori bemor ma’lumotlari qanday himoyalanishi kerak (manbadan tashqari, o‘zingiz muhokama qiling)? Doskada: ‘shaffoflik → ishonch → qabul qilish’ zanjirini chizdiring. Tipik xato: manbada bo‘lmagan ma’lumot xavfsizligi qoidalarini manbaga bog‘lab aytish.</a:t>
            </a:r>
          </a:p>
          <a:p/>
          <a:p>
            <a:r>
              <a:t>Tekshirish kerak (manbada noaniq):</a:t>
            </a:r>
          </a:p>
          <a:p>
            <a:r>
              <a:t>- Diqqat: berilgan manbalarda shaxsiy ma’lumot va axborot xavfsizligi masalasi to‘g‘ridan-to‘g‘ri yoritilmagan; uni alohida manbadan to‘ldirish kerak.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To‘rt tamoyildan qaysi biri nanodorida eng ko‘p to‘qnashadi? 2) Fan va etikani birga qo‘llash amalda nimani anglatadi? Doskada: to‘rt tamoyil va uch mavzu (xavfsizlik, atrof-muhit, adolat) jadvalini chizdiring. Tipik xato: yangi texnologiya yangi etik tamoyillarni talab qiladi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Nanotibbiyot va nanoetika: mohiyati, nanotexnologik mahsulotlar xavfsizligi, atrof-muhit, adolat, axborot xavfsizligi (A10)</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nanotibbiyot va nanoetika nima uchun muhim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Nanotibbiyot — nanomaterialni kasalliklarni aniqlash, kuzatish, nazorat qilish, oldini olish va davolash uchun ishlatish.</a:t>
            </a:r>
          </a:p>
          <a:p>
            <a:pPr>
              <a:spcAft>
                <a:spcPts val="1200"/>
              </a:spcAft>
            </a:pPr>
            <a:r>
              <a:rPr sz="2200">
                <a:solidFill>
                  <a:srgbClr val="1F2937"/>
                </a:solidFill>
                <a:latin typeface="Calibri"/>
              </a:rPr>
              <a:t>▸  Nanotexnologiya erta tashxis, nishonli dori yetkazish va kamroq yon ta’sirni va’da qiladi, ammo xavfsizlik va atrof-muhit xavotirlari ham bor.</a:t>
            </a:r>
          </a:p>
          <a:p>
            <a:pPr>
              <a:spcAft>
                <a:spcPts val="1200"/>
              </a:spcAft>
            </a:pPr>
            <a:r>
              <a:rPr sz="2200">
                <a:solidFill>
                  <a:srgbClr val="1F2937"/>
                </a:solidFill>
                <a:latin typeface="Calibri"/>
              </a:rPr>
              <a:t>▸  Ma’ruza besh bo‘limdan iborat: mohiyat, xavfsizlik, atrof-muhit, etika va adolat, tartibga solish hamda axborot.</a:t>
            </a:r>
          </a:p>
          <a:p>
            <a:pPr>
              <a:spcAft>
                <a:spcPts val="1200"/>
              </a:spcAft>
            </a:pPr>
            <a:r>
              <a:rPr sz="2200">
                <a:solidFill>
                  <a:srgbClr val="1F2937"/>
                </a:solidFill>
                <a:latin typeface="Calibri"/>
              </a:rPr>
              <a:t>▸  Etik tahlilda to‘rt tamoyil ishlaydi: avtonomiyaga hurmat, yaxshilik qilish, zarar yetkazmaslik va adolat.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 Ma et al., Nanotechnology in healthcare, betlar: PMID 39548502; Ebbesen et al., Nanomedicine: Techniques, betlar: PMID 17489016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Nanomaterial ta’rifi: 1–100 nm va uch mezon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Chegara o‘zboshimchalik: material xossalari 100 nm da keskin o‘zgarmaydi.</a:t>
            </a:r>
          </a:p>
          <a:p>
            <a:pPr>
              <a:spcAft>
                <a:spcPts val="800"/>
              </a:spcAft>
            </a:pPr>
            <a:r>
              <a:rPr sz="1800">
                <a:solidFill>
                  <a:srgbClr val="1F2937"/>
                </a:solidFill>
                <a:latin typeface="Calibri"/>
              </a:rPr>
              <a:t>▸  1 nm dan kichik fullerenlar, grafen parchalari va bir devorli uglerod nanotrubkalar ham nanomaterial hisoblanadi.</a:t>
            </a:r>
          </a:p>
          <a:p>
            <a:pPr>
              <a:spcAft>
                <a:spcPts val="800"/>
              </a:spcAft>
            </a:pPr>
            <a:r>
              <a:rPr sz="1800">
                <a:solidFill>
                  <a:srgbClr val="1F2937"/>
                </a:solidFill>
                <a:latin typeface="Calibri"/>
              </a:rPr>
              <a:t>▸  Diqqat: ‘nanomaterial’ ≠ ‘xavfli’. Ta’rif faqat mezon, xavfsizlik bahosi emas.</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2175837"/>
                <a:gridCol w="1774827"/>
              </a:tblGrid>
              <a:tr h="76809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Ma’nosi</a:t>
                      </a:r>
                    </a:p>
                  </a:txBody>
                  <a:tcPr marL="73152" marR="73152" marT="36576" marB="36576">
                    <a:solidFill>
                      <a:srgbClr val="0B1F3A"/>
                    </a:solidFill>
                  </a:tcPr>
                </a:tc>
                <a:tc>
                  <a:txBody>
                    <a:bodyPr/>
                    <a:lstStyle/>
                    <a:p>
                      <a:r>
                        <a:rPr sz="1600" b="1">
                          <a:solidFill>
                            <a:srgbClr val="FFFFFF"/>
                          </a:solidFill>
                        </a:rPr>
                        <a:t>Qoida</a:t>
                      </a:r>
                    </a:p>
                  </a:txBody>
                  <a:tcPr marL="73152" marR="73152" marT="36576" marB="36576">
                    <a:solidFill>
                      <a:srgbClr val="0B1F3A"/>
                    </a:solidFill>
                  </a:tcPr>
                </a:tc>
              </a:tr>
              <a:tr h="768096">
                <a:tc>
                  <a:txBody>
                    <a:bodyPr/>
                    <a:lstStyle/>
                    <a:p>
                      <a:r>
                        <a:rPr sz="1500" b="0">
                          <a:solidFill>
                            <a:srgbClr val="1F2937"/>
                          </a:solidFill>
                        </a:rPr>
                        <a:t>O‘lcham</a:t>
                      </a:r>
                    </a:p>
                  </a:txBody>
                  <a:tcPr marL="73152" marR="73152" marT="36576" marB="36576">
                    <a:solidFill>
                      <a:srgbClr val="E8EEF6"/>
                    </a:solidFill>
                  </a:tcPr>
                </a:tc>
                <a:tc>
                  <a:txBody>
                    <a:bodyPr/>
                    <a:lstStyle/>
                    <a:p>
                      <a:r>
                        <a:rPr sz="1500" b="0">
                          <a:solidFill>
                            <a:srgbClr val="1F2937"/>
                          </a:solidFill>
                        </a:rPr>
                        <a:t>Tashqi o‘lcham 1–100 nm</a:t>
                      </a:r>
                    </a:p>
                  </a:txBody>
                  <a:tcPr marL="73152" marR="73152" marT="36576" marB="36576">
                    <a:solidFill>
                      <a:srgbClr val="E8EEF6"/>
                    </a:solidFill>
                  </a:tcPr>
                </a:tc>
                <a:tc>
                  <a:txBody>
                    <a:bodyPr/>
                    <a:lstStyle/>
                    <a:p>
                      <a:r>
                        <a:rPr sz="1500" b="0">
                          <a:solidFill>
                            <a:srgbClr val="1F2937"/>
                          </a:solidFill>
                        </a:rPr>
                        <a:t>≥50% zarracha, soni bo‘yicha</a:t>
                      </a:r>
                    </a:p>
                  </a:txBody>
                  <a:tcPr marL="73152" marR="73152" marT="36576" marB="36576">
                    <a:solidFill>
                      <a:srgbClr val="E8EEF6"/>
                    </a:solidFill>
                  </a:tcPr>
                </a:tc>
              </a:tr>
              <a:tr h="768096">
                <a:tc>
                  <a:txBody>
                    <a:bodyPr/>
                    <a:lstStyle/>
                    <a:p>
                      <a:r>
                        <a:rPr sz="1500" b="0">
                          <a:solidFill>
                            <a:srgbClr val="1F2937"/>
                          </a:solidFill>
                        </a:rPr>
                        <a:t>Zarracha taqsimoti</a:t>
                      </a:r>
                    </a:p>
                  </a:txBody>
                  <a:tcPr marL="73152" marR="73152" marT="36576" marB="36576">
                    <a:solidFill>
                      <a:srgbClr val="FFFFFF"/>
                    </a:solidFill>
                  </a:tcPr>
                </a:tc>
                <a:tc>
                  <a:txBody>
                    <a:bodyPr/>
                    <a:lstStyle/>
                    <a:p>
                      <a:r>
                        <a:rPr sz="1500" b="0">
                          <a:solidFill>
                            <a:srgbClr val="1F2937"/>
                          </a:solidFill>
                        </a:rPr>
                        <a:t>Zarracha o‘lchamlari qanchalik tarqoq</a:t>
                      </a:r>
                    </a:p>
                  </a:txBody>
                  <a:tcPr marL="73152" marR="73152" marT="36576" marB="36576">
                    <a:solidFill>
                      <a:srgbClr val="FFFFFF"/>
                    </a:solidFill>
                  </a:tcPr>
                </a:tc>
                <a:tc>
                  <a:txBody>
                    <a:bodyPr/>
                    <a:lstStyle/>
                    <a:p>
                      <a:r>
                        <a:rPr sz="1500" b="0">
                          <a:solidFill>
                            <a:srgbClr val="1F2937"/>
                          </a:solidFill>
                        </a:rPr>
                        <a:t>Asosiy mezon, u ustun turadi</a:t>
                      </a:r>
                    </a:p>
                  </a:txBody>
                  <a:tcPr marL="73152" marR="73152" marT="36576" marB="36576">
                    <a:solidFill>
                      <a:srgbClr val="FFFFFF"/>
                    </a:solidFill>
                  </a:tcPr>
                </a:tc>
              </a:tr>
              <a:tr h="768096">
                <a:tc>
                  <a:txBody>
                    <a:bodyPr/>
                    <a:lstStyle/>
                    <a:p>
                      <a:r>
                        <a:rPr sz="1500" b="0">
                          <a:solidFill>
                            <a:srgbClr val="1F2937"/>
                          </a:solidFill>
                        </a:rPr>
                        <a:t>Yuza maydoni</a:t>
                      </a:r>
                    </a:p>
                  </a:txBody>
                  <a:tcPr marL="73152" marR="73152" marT="36576" marB="36576">
                    <a:solidFill>
                      <a:srgbClr val="E8EEF6"/>
                    </a:solidFill>
                  </a:tcPr>
                </a:tc>
                <a:tc>
                  <a:txBody>
                    <a:bodyPr/>
                    <a:lstStyle/>
                    <a:p>
                      <a:r>
                        <a:rPr sz="1500" b="0">
                          <a:solidFill>
                            <a:srgbClr val="1F2937"/>
                          </a:solidFill>
                        </a:rPr>
                        <a:t>Hajmga nisbatan yuza</a:t>
                      </a:r>
                    </a:p>
                  </a:txBody>
                  <a:tcPr marL="73152" marR="73152" marT="36576" marB="36576">
                    <a:solidFill>
                      <a:srgbClr val="E8EEF6"/>
                    </a:solidFill>
                  </a:tcPr>
                </a:tc>
                <a:tc>
                  <a:txBody>
                    <a:bodyPr/>
                    <a:lstStyle/>
                    <a:p>
                      <a:r>
                        <a:rPr sz="1500" b="0">
                          <a:solidFill>
                            <a:srgbClr val="1F2937"/>
                          </a:solidFill>
                        </a:rPr>
                        <a:t>60 m²/sm³ dan oshsa ham kiradi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Nanomaterialni aniqlashning uch mezoni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Nanofan, nanotexnologiya va nanotibbiyot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Nanofan — fundamental bilim; nanotexnologiya — loyihalash, ishlab chiqarish va qo‘llash.</a:t>
            </a:r>
          </a:p>
          <a:p>
            <a:pPr>
              <a:spcAft>
                <a:spcPts val="800"/>
              </a:spcAft>
            </a:pPr>
            <a:r>
              <a:rPr sz="1800">
                <a:solidFill>
                  <a:srgbClr val="1F2937"/>
                </a:solidFill>
                <a:latin typeface="Calibri"/>
              </a:rPr>
              <a:t>▸  Mualliflar maqolada ikkala atamani yig‘ma ma’noda ‘nanotexnologiya’ deb ishlatadi.</a:t>
            </a:r>
          </a:p>
          <a:p>
            <a:pPr>
              <a:spcAft>
                <a:spcPts val="800"/>
              </a:spcAft>
            </a:pPr>
            <a:r>
              <a:rPr sz="1800">
                <a:solidFill>
                  <a:srgbClr val="1F2937"/>
                </a:solidFill>
                <a:latin typeface="Calibri"/>
              </a:rPr>
              <a:t>▸  Diqqat: nanofan ≠ nanotexnologiya ≠ nanotibbiyot — uchalasini aralashtirmang.</a:t>
            </a:r>
          </a:p>
        </p:txBody>
      </p:sp>
      <p:graphicFrame>
        <p:nvGraphicFramePr>
          <p:cNvPr id="9" name="Table 8"/>
          <p:cNvGraphicFramePr>
            <a:graphicFrameLocks noGrp="1"/>
          </p:cNvGraphicFramePr>
          <p:nvPr/>
        </p:nvGraphicFramePr>
        <p:xfrm>
          <a:off x="6263640" y="1463040"/>
          <a:ext cx="6610348" cy="3072384"/>
        </p:xfrm>
        <a:graphic>
          <a:graphicData uri="http://schemas.openxmlformats.org/drawingml/2006/table">
            <a:tbl>
              <a:tblPr firstRow="1" bandRow="1">
                <a:tableStyleId>{5C22544A-7EE6-4342-B048-85BDC9FD1C3A}</a:tableStyleId>
              </a:tblPr>
              <a:tblGrid>
                <a:gridCol w="2045969"/>
                <a:gridCol w="2518410"/>
                <a:gridCol w="2045969"/>
              </a:tblGrid>
              <a:tr h="768096">
                <a:tc>
                  <a:txBody>
                    <a:bodyPr/>
                    <a:lstStyle/>
                    <a:p>
                      <a:r>
                        <a:rPr sz="1600" b="1">
                          <a:solidFill>
                            <a:srgbClr val="FFFFFF"/>
                          </a:solidFill>
                        </a:rPr>
                        <a:t>Tushuncha</a:t>
                      </a:r>
                    </a:p>
                  </a:txBody>
                  <a:tcPr marL="73152" marR="73152" marT="36576" marB="36576">
                    <a:solidFill>
                      <a:srgbClr val="0B1F3A"/>
                    </a:solidFill>
                  </a:tcPr>
                </a:tc>
                <a:tc>
                  <a:txBody>
                    <a:bodyPr/>
                    <a:lstStyle/>
                    <a:p>
                      <a:r>
                        <a:rPr sz="1600" b="1">
                          <a:solidFill>
                            <a:srgbClr val="FFFFFF"/>
                          </a:solidFill>
                        </a:rPr>
                        <a:t>Qaratilgan</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r>
              <a:tr h="768096">
                <a:tc>
                  <a:txBody>
                    <a:bodyPr/>
                    <a:lstStyle/>
                    <a:p>
                      <a:r>
                        <a:rPr sz="1500" b="0">
                          <a:solidFill>
                            <a:srgbClr val="1F2937"/>
                          </a:solidFill>
                        </a:rPr>
                        <a:t>Nanofan</a:t>
                      </a:r>
                    </a:p>
                  </a:txBody>
                  <a:tcPr marL="73152" marR="73152" marT="36576" marB="36576">
                    <a:solidFill>
                      <a:srgbClr val="E8EEF6"/>
                    </a:solidFill>
                  </a:tcPr>
                </a:tc>
                <a:tc>
                  <a:txBody>
                    <a:bodyPr/>
                    <a:lstStyle/>
                    <a:p>
                      <a:r>
                        <a:rPr sz="1500" b="0">
                          <a:solidFill>
                            <a:srgbClr val="1F2937"/>
                          </a:solidFill>
                        </a:rPr>
                        <a:t>Atom va molekula darajasidagi hodisalar</a:t>
                      </a:r>
                    </a:p>
                  </a:txBody>
                  <a:tcPr marL="73152" marR="73152" marT="36576" marB="36576">
                    <a:solidFill>
                      <a:srgbClr val="E8EEF6"/>
                    </a:solidFill>
                  </a:tcPr>
                </a:tc>
                <a:tc>
                  <a:txBody>
                    <a:bodyPr/>
                    <a:lstStyle/>
                    <a:p>
                      <a:r>
                        <a:rPr sz="1500" b="0">
                          <a:solidFill>
                            <a:srgbClr val="1F2937"/>
                          </a:solidFill>
                        </a:rPr>
                        <a:t>Nanotexnologiya uchun bilim asosi</a:t>
                      </a:r>
                    </a:p>
                  </a:txBody>
                  <a:tcPr marL="73152" marR="73152" marT="36576" marB="36576">
                    <a:solidFill>
                      <a:srgbClr val="E8EEF6"/>
                    </a:solidFill>
                  </a:tcPr>
                </a:tc>
              </a:tr>
              <a:tr h="768096">
                <a:tc>
                  <a:txBody>
                    <a:bodyPr/>
                    <a:lstStyle/>
                    <a:p>
                      <a:r>
                        <a:rPr sz="1500" b="0">
                          <a:solidFill>
                            <a:srgbClr val="1F2937"/>
                          </a:solidFill>
                        </a:rPr>
                        <a:t>Nanotexnologiya</a:t>
                      </a:r>
                    </a:p>
                  </a:txBody>
                  <a:tcPr marL="73152" marR="73152" marT="36576" marB="36576">
                    <a:solidFill>
                      <a:srgbClr val="FFFFFF"/>
                    </a:solidFill>
                  </a:tcPr>
                </a:tc>
                <a:tc>
                  <a:txBody>
                    <a:bodyPr/>
                    <a:lstStyle/>
                    <a:p>
                      <a:r>
                        <a:rPr sz="1500" b="0">
                          <a:solidFill>
                            <a:srgbClr val="1F2937"/>
                          </a:solidFill>
                        </a:rPr>
                        <a:t>Nano shakl va o‘lchamni boshqarish</a:t>
                      </a:r>
                    </a:p>
                  </a:txBody>
                  <a:tcPr marL="73152" marR="73152" marT="36576" marB="36576">
                    <a:solidFill>
                      <a:srgbClr val="FFFFFF"/>
                    </a:solidFill>
                  </a:tcPr>
                </a:tc>
                <a:tc>
                  <a:txBody>
                    <a:bodyPr/>
                    <a:lstStyle/>
                    <a:p>
                      <a:r>
                        <a:rPr sz="1500" b="0">
                          <a:solidFill>
                            <a:srgbClr val="1F2937"/>
                          </a:solidFill>
                        </a:rPr>
                        <a:t>Yangi xossali qurilma va tizimlar</a:t>
                      </a:r>
                    </a:p>
                  </a:txBody>
                  <a:tcPr marL="73152" marR="73152" marT="36576" marB="36576">
                    <a:solidFill>
                      <a:srgbClr val="FFFFFF"/>
                    </a:solidFill>
                  </a:tcPr>
                </a:tc>
              </a:tr>
              <a:tr h="768096">
                <a:tc>
                  <a:txBody>
                    <a:bodyPr/>
                    <a:lstStyle/>
                    <a:p>
                      <a:r>
                        <a:rPr sz="1500" b="0">
                          <a:solidFill>
                            <a:srgbClr val="1F2937"/>
                          </a:solidFill>
                        </a:rPr>
                        <a:t>Nanotibbiyot</a:t>
                      </a:r>
                    </a:p>
                  </a:txBody>
                  <a:tcPr marL="73152" marR="73152" marT="36576" marB="36576">
                    <a:solidFill>
                      <a:srgbClr val="E8EEF6"/>
                    </a:solidFill>
                  </a:tcPr>
                </a:tc>
                <a:tc>
                  <a:txBody>
                    <a:bodyPr/>
                    <a:lstStyle/>
                    <a:p>
                      <a:r>
                        <a:rPr sz="1500" b="0">
                          <a:solidFill>
                            <a:srgbClr val="1F2937"/>
                          </a:solidFill>
                        </a:rPr>
                        <a:t>Nanotexnologiyaning tibbiyotga qo‘llanishi</a:t>
                      </a:r>
                    </a:p>
                  </a:txBody>
                  <a:tcPr marL="73152" marR="73152" marT="36576" marB="36576">
                    <a:solidFill>
                      <a:srgbClr val="E8EEF6"/>
                    </a:solidFill>
                  </a:tcPr>
                </a:tc>
                <a:tc>
                  <a:txBody>
                    <a:bodyPr/>
                    <a:lstStyle/>
                    <a:p>
                      <a:r>
                        <a:rPr sz="1500" b="0">
                          <a:solidFill>
                            <a:srgbClr val="1F2937"/>
                          </a:solidFill>
                        </a:rPr>
                        <a:t>Tashxis, davolash, profilaktika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tushunchani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Nanomateriallar tasnifi: o‘lchamlilik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Nanomaterial — kamida bir o‘lchami 1–100 nm bo‘lgan material; xossalari katta o‘lchamdagidan farq qiladi.</a:t>
            </a:r>
          </a:p>
          <a:p>
            <a:pPr>
              <a:spcAft>
                <a:spcPts val="800"/>
              </a:spcAft>
            </a:pPr>
            <a:r>
              <a:rPr sz="1800">
                <a:solidFill>
                  <a:srgbClr val="1F2937"/>
                </a:solidFill>
                <a:latin typeface="Calibri"/>
              </a:rPr>
              <a:t>▸  Nano o‘lchamli yo‘nalishlar soni: 3 ta — zarracha; 2 ta — sim, naycha; 1 ta — plyonka, qoplama.</a:t>
            </a:r>
          </a:p>
          <a:p>
            <a:pPr>
              <a:spcAft>
                <a:spcPts val="800"/>
              </a:spcAft>
            </a:pPr>
            <a:r>
              <a:rPr sz="1800">
                <a:solidFill>
                  <a:srgbClr val="1F2937"/>
                </a:solidFill>
                <a:latin typeface="Calibri"/>
              </a:rPr>
              <a:t>▸  Ma va boshq.: 0D — nanozarracha, 1D — nanosim, 2D — nanoqatlam, 3D — nanogul, nanokub.</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Nanomaterial: 1–100 nm</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ta o‘lcham nano: zarracha</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ta o‘lcham nano: sim, naycha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ta o‘lcham nano: plyonka</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Nano o‘lchamlar soniga ko‘ra</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 Soares et al., Nanomedicine: Principles, betlar: PMID 30177965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Kimyoviy tarkib bo‘yicha to‘rt sinf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Eng keng tarqalgan tasnif kimyoviy tarkibga asoslanadi: organik, noorganik, uglerodli va kompozit sinflar.</a:t>
            </a:r>
          </a:p>
          <a:p>
            <a:pPr>
              <a:spcAft>
                <a:spcPts val="800"/>
              </a:spcAft>
            </a:pPr>
            <a:r>
              <a:rPr sz="1800">
                <a:solidFill>
                  <a:srgbClr val="1F2937"/>
                </a:solidFill>
                <a:latin typeface="Calibri"/>
              </a:rPr>
              <a:t>▸  Organik materiallar biomos va parchalanuvchan; noorganiklar barqaror, ammo to‘qimalarda to‘planib, toksik bo‘lishi mumkin.</a:t>
            </a:r>
          </a:p>
          <a:p>
            <a:pPr>
              <a:spcAft>
                <a:spcPts val="800"/>
              </a:spcAft>
            </a:pPr>
            <a:r>
              <a:rPr sz="1800">
                <a:solidFill>
                  <a:srgbClr val="1F2937"/>
                </a:solidFill>
                <a:latin typeface="Calibri"/>
              </a:rPr>
              <a:t>▸  Kompozitlar organik va noorganik qismlarni birlashtiradi; organik qobiq noorganik yadroning biomosligini oshirishi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37310"/>
                <a:gridCol w="2154419"/>
                <a:gridCol w="1796245"/>
              </a:tblGrid>
              <a:tr h="614476">
                <a:tc>
                  <a:txBody>
                    <a:bodyPr/>
                    <a:lstStyle/>
                    <a:p>
                      <a:r>
                        <a:rPr sz="1600" b="1">
                          <a:solidFill>
                            <a:srgbClr val="FFFFFF"/>
                          </a:solidFill>
                        </a:rPr>
                        <a:t>Sinf</a:t>
                      </a:r>
                    </a:p>
                  </a:txBody>
                  <a:tcPr marL="73152" marR="73152" marT="36576" marB="36576">
                    <a:solidFill>
                      <a:srgbClr val="0B1F3A"/>
                    </a:solidFill>
                  </a:tcPr>
                </a:tc>
                <a:tc>
                  <a:txBody>
                    <a:bodyPr/>
                    <a:lstStyle/>
                    <a:p>
                      <a:r>
                        <a:rPr sz="1600" b="1">
                          <a:solidFill>
                            <a:srgbClr val="FFFFFF"/>
                          </a:solidFill>
                        </a:rPr>
                        <a:t>Afzallik</a:t>
                      </a:r>
                    </a:p>
                  </a:txBody>
                  <a:tcPr marL="73152" marR="73152" marT="36576" marB="36576">
                    <a:solidFill>
                      <a:srgbClr val="0B1F3A"/>
                    </a:solidFill>
                  </a:tcPr>
                </a:tc>
                <a:tc>
                  <a:txBody>
                    <a:bodyPr/>
                    <a:lstStyle/>
                    <a:p>
                      <a:r>
                        <a:rPr sz="1600" b="1">
                          <a:solidFill>
                            <a:srgbClr val="FFFFFF"/>
                          </a:solidFill>
                        </a:rPr>
                        <a:t>Cheklov</a:t>
                      </a:r>
                    </a:p>
                  </a:txBody>
                  <a:tcPr marL="73152" marR="73152" marT="36576" marB="36576">
                    <a:solidFill>
                      <a:srgbClr val="0B1F3A"/>
                    </a:solidFill>
                  </a:tcPr>
                </a:tc>
              </a:tr>
              <a:tr h="614476">
                <a:tc>
                  <a:txBody>
                    <a:bodyPr/>
                    <a:lstStyle/>
                    <a:p>
                      <a:r>
                        <a:rPr sz="1500" b="0">
                          <a:solidFill>
                            <a:srgbClr val="1F2937"/>
                          </a:solidFill>
                        </a:rPr>
                        <a:t>Organik</a:t>
                      </a:r>
                    </a:p>
                  </a:txBody>
                  <a:tcPr marL="73152" marR="73152" marT="36576" marB="36576">
                    <a:solidFill>
                      <a:srgbClr val="E8EEF6"/>
                    </a:solidFill>
                  </a:tcPr>
                </a:tc>
                <a:tc>
                  <a:txBody>
                    <a:bodyPr/>
                    <a:lstStyle/>
                    <a:p>
                      <a:r>
                        <a:rPr sz="1500" b="0">
                          <a:solidFill>
                            <a:srgbClr val="1F2937"/>
                          </a:solidFill>
                        </a:rPr>
                        <a:t>Biomoslik, tez parchalanadi</a:t>
                      </a:r>
                    </a:p>
                  </a:txBody>
                  <a:tcPr marL="73152" marR="73152" marT="36576" marB="36576">
                    <a:solidFill>
                      <a:srgbClr val="E8EEF6"/>
                    </a:solidFill>
                  </a:tcPr>
                </a:tc>
                <a:tc>
                  <a:txBody>
                    <a:bodyPr/>
                    <a:lstStyle/>
                    <a:p>
                      <a:r>
                        <a:rPr sz="1500" b="0">
                          <a:solidFill>
                            <a:srgbClr val="1F2937"/>
                          </a:solidFill>
                        </a:rPr>
                        <a:t>Past mustahkamlik, partiyalar farqi</a:t>
                      </a:r>
                    </a:p>
                  </a:txBody>
                  <a:tcPr marL="73152" marR="73152" marT="36576" marB="36576">
                    <a:solidFill>
                      <a:srgbClr val="E8EEF6"/>
                    </a:solidFill>
                  </a:tcPr>
                </a:tc>
              </a:tr>
              <a:tr h="614476">
                <a:tc>
                  <a:txBody>
                    <a:bodyPr/>
                    <a:lstStyle/>
                    <a:p>
                      <a:r>
                        <a:rPr sz="1500" b="0">
                          <a:solidFill>
                            <a:srgbClr val="1F2937"/>
                          </a:solidFill>
                        </a:rPr>
                        <a:t>Noorganik</a:t>
                      </a:r>
                    </a:p>
                  </a:txBody>
                  <a:tcPr marL="73152" marR="73152" marT="36576" marB="36576">
                    <a:solidFill>
                      <a:srgbClr val="FFFFFF"/>
                    </a:solidFill>
                  </a:tcPr>
                </a:tc>
                <a:tc>
                  <a:txBody>
                    <a:bodyPr/>
                    <a:lstStyle/>
                    <a:p>
                      <a:r>
                        <a:rPr sz="1500" b="0">
                          <a:solidFill>
                            <a:srgbClr val="1F2937"/>
                          </a:solidFill>
                        </a:rPr>
                        <a:t>Barqaror; optik, magnit xossalari</a:t>
                      </a:r>
                    </a:p>
                  </a:txBody>
                  <a:tcPr marL="73152" marR="73152" marT="36576" marB="36576">
                    <a:solidFill>
                      <a:srgbClr val="FFFFFF"/>
                    </a:solidFill>
                  </a:tcPr>
                </a:tc>
                <a:tc>
                  <a:txBody>
                    <a:bodyPr/>
                    <a:lstStyle/>
                    <a:p>
                      <a:r>
                        <a:rPr sz="1500" b="0">
                          <a:solidFill>
                            <a:srgbClr val="1F2937"/>
                          </a:solidFill>
                        </a:rPr>
                        <a:t>Toksiklik, to‘qimalarda to‘planish</a:t>
                      </a:r>
                    </a:p>
                  </a:txBody>
                  <a:tcPr marL="73152" marR="73152" marT="36576" marB="36576">
                    <a:solidFill>
                      <a:srgbClr val="FFFFFF"/>
                    </a:solidFill>
                  </a:tcPr>
                </a:tc>
              </a:tr>
              <a:tr h="614476">
                <a:tc>
                  <a:txBody>
                    <a:bodyPr/>
                    <a:lstStyle/>
                    <a:p>
                      <a:r>
                        <a:rPr sz="1500" b="0">
                          <a:solidFill>
                            <a:srgbClr val="1F2937"/>
                          </a:solidFill>
                        </a:rPr>
                        <a:t>Uglerodli</a:t>
                      </a:r>
                    </a:p>
                  </a:txBody>
                  <a:tcPr marL="73152" marR="73152" marT="36576" marB="36576">
                    <a:solidFill>
                      <a:srgbClr val="E8EEF6"/>
                    </a:solidFill>
                  </a:tcPr>
                </a:tc>
                <a:tc>
                  <a:txBody>
                    <a:bodyPr/>
                    <a:lstStyle/>
                    <a:p>
                      <a:r>
                        <a:rPr sz="1500" b="0">
                          <a:solidFill>
                            <a:srgbClr val="1F2937"/>
                          </a:solidFill>
                        </a:rPr>
                        <a:t>Katta yuza, o‘tkazuvchanlik, mustahkamlik</a:t>
                      </a:r>
                    </a:p>
                  </a:txBody>
                  <a:tcPr marL="73152" marR="73152" marT="36576" marB="36576">
                    <a:solidFill>
                      <a:srgbClr val="E8EEF6"/>
                    </a:solidFill>
                  </a:tcPr>
                </a:tc>
                <a:tc>
                  <a:txBody>
                    <a:bodyPr/>
                    <a:lstStyle/>
                    <a:p>
                      <a:r>
                        <a:rPr sz="1500" b="0">
                          <a:solidFill>
                            <a:srgbClr val="1F2937"/>
                          </a:solidFill>
                        </a:rPr>
                        <a:t>Biomoslik muammolari</a:t>
                      </a:r>
                    </a:p>
                  </a:txBody>
                  <a:tcPr marL="73152" marR="73152" marT="36576" marB="36576">
                    <a:solidFill>
                      <a:srgbClr val="E8EEF6"/>
                    </a:solidFill>
                  </a:tcPr>
                </a:tc>
              </a:tr>
              <a:tr h="614476">
                <a:tc>
                  <a:txBody>
                    <a:bodyPr/>
                    <a:lstStyle/>
                    <a:p>
                      <a:r>
                        <a:rPr sz="1500" b="0">
                          <a:solidFill>
                            <a:srgbClr val="1F2937"/>
                          </a:solidFill>
                        </a:rPr>
                        <a:t>Kompozit</a:t>
                      </a:r>
                    </a:p>
                  </a:txBody>
                  <a:tcPr marL="73152" marR="73152" marT="36576" marB="36576">
                    <a:solidFill>
                      <a:srgbClr val="FFFFFF"/>
                    </a:solidFill>
                  </a:tcPr>
                </a:tc>
                <a:tc>
                  <a:txBody>
                    <a:bodyPr/>
                    <a:lstStyle/>
                    <a:p>
                      <a:r>
                        <a:rPr sz="1500" b="0">
                          <a:solidFill>
                            <a:srgbClr val="1F2937"/>
                          </a:solidFill>
                        </a:rPr>
                        <a:t>Komponentlar afzalligini birlashtiradi</a:t>
                      </a:r>
                    </a:p>
                  </a:txBody>
                  <a:tcPr marL="73152" marR="73152" marT="36576" marB="36576">
                    <a:solidFill>
                      <a:srgbClr val="FFFFFF"/>
                    </a:solidFill>
                  </a:tcPr>
                </a:tc>
                <a:tc>
                  <a:txBody>
                    <a:bodyPr/>
                    <a:lstStyle/>
                    <a:p>
                      <a:r>
                        <a:rPr sz="1500" b="0">
                          <a:solidFill>
                            <a:srgbClr val="1F2937"/>
                          </a:solidFill>
                        </a:rPr>
                        <a:t>Tuzilishi murakkab</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sinf: afzallik va cheklov</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ta’rif va tasnif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Evropa Komissiyasi ta’rifida zarrachalarning kamida qancha qismi 1–100 nm bo‘lishi kerak? Javob: soni bo‘yicha ≥50%.</a:t>
            </a:r>
          </a:p>
          <a:p>
            <a:pPr>
              <a:spcAft>
                <a:spcPts val="1200"/>
              </a:spcAft>
            </a:pPr>
            <a:r>
              <a:rPr sz="2200">
                <a:solidFill>
                  <a:srgbClr val="1F2937"/>
                </a:solidFill>
                <a:latin typeface="Calibri"/>
              </a:rPr>
              <a:t>▸  Savol 2: Aggregat va agglomerat nima? Aggregat — mustahkam bog‘langan yoki qo‘shilib ketgan zarralar; agglomerat — kuchsiz bog‘langan to‘plam.</a:t>
            </a:r>
          </a:p>
          <a:p>
            <a:pPr>
              <a:spcAft>
                <a:spcPts val="1200"/>
              </a:spcAft>
            </a:pPr>
            <a:r>
              <a:rPr sz="2200">
                <a:solidFill>
                  <a:srgbClr val="1F2937"/>
                </a:solidFill>
                <a:latin typeface="Calibri"/>
              </a:rPr>
              <a:t>▸  Diqqat: xato qilish xavfi — aggregat ≠ agglomerat. Aggregatda tashqi yuza yig‘indidan kichik bo‘lishi mumkin; agglomeratda yig‘indiga yaqin.</a:t>
            </a:r>
          </a:p>
          <a:p>
            <a:pPr>
              <a:spcAft>
                <a:spcPts val="1200"/>
              </a:spcAft>
            </a:pPr>
            <a:r>
              <a:rPr sz="2200">
                <a:solidFill>
                  <a:srgbClr val="1F2937"/>
                </a:solidFill>
                <a:latin typeface="Calibri"/>
              </a:rPr>
              <a:t>▸  Savol 3: Uch o‘lchami 100 nm dan kichik material qanday bo‘ladi? Zarracha yoki kvant nuqta; ikki o‘lcham — naycha, tola; bir o‘lcham — plyonka.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Nanotibbiyot sohalari: umumiy xarita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Nanotibbiyot: diagnostika, to‘qima injeneriyasi, dori va gen yetkazish, saraton va antimikrob qo‘llanish.</a:t>
            </a:r>
          </a:p>
          <a:p>
            <a:pPr>
              <a:spcAft>
                <a:spcPts val="800"/>
              </a:spcAft>
            </a:pPr>
            <a:r>
              <a:rPr sz="1800">
                <a:solidFill>
                  <a:srgbClr val="1F2937"/>
                </a:solidFill>
                <a:latin typeface="Calibri"/>
              </a:rPr>
              <a:t>▸  Nanomaterial o‘lchami 1–100 nm; shu masshtabda eruvchanlik va reaktivlik kabi xossalar odatdagidan farq qiladi.</a:t>
            </a:r>
          </a:p>
          <a:p>
            <a:pPr>
              <a:spcAft>
                <a:spcPts val="800"/>
              </a:spcAft>
            </a:pPr>
            <a:r>
              <a:rPr sz="1800">
                <a:solidFill>
                  <a:srgbClr val="1F2937"/>
                </a:solidFill>
                <a:latin typeface="Calibri"/>
              </a:rPr>
              <a:t>▸  Teranostika diagnostika (tasvirlash) va davoni bitta tizimda birlashtiradi.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Nanomaterial (1–100 nm)</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Diagnostika va tasvirlash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Dori va gen yetkazish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Davolash: saraton, infeksiya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Teranostika: tashxis + davo</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Nanotibbiyot yo‘nalishlari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 Soares et al., Nanomedicine: Principles, betlar: PMID 30177965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Nanodiagnostika: MRT, KT, PET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Nanozarralar o‘ziga xos biomarkerga bog‘lanib, tasvir sezgirligi va aniqligini oshiradi.</a:t>
            </a:r>
          </a:p>
          <a:p>
            <a:pPr>
              <a:spcAft>
                <a:spcPts val="800"/>
              </a:spcAft>
            </a:pPr>
            <a:r>
              <a:rPr sz="1800">
                <a:solidFill>
                  <a:srgbClr val="1F2937"/>
                </a:solidFill>
                <a:latin typeface="Calibri"/>
              </a:rPr>
              <a:t>▸  MRT kontrasti: Gd, Mn kompleksi va SPION (temir oksidi nanozarra) signalni kuchaytiradi.</a:t>
            </a:r>
          </a:p>
          <a:p>
            <a:pPr>
              <a:spcAft>
                <a:spcPts val="800"/>
              </a:spcAft>
            </a:pPr>
            <a:r>
              <a:rPr sz="1800">
                <a:solidFill>
                  <a:srgbClr val="1F2937"/>
                </a:solidFill>
                <a:latin typeface="Calibri"/>
              </a:rPr>
              <a:t>▸  Oltin nanozarra KTda barqaror kontrast beradi; radioizotopli nanozarra PETda o‘smada to‘planadi.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2518410"/>
                <a:gridCol w="1598529"/>
                <a:gridCol w="1171035"/>
              </a:tblGrid>
              <a:tr h="76809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Cheklov</a:t>
                      </a:r>
                    </a:p>
                  </a:txBody>
                  <a:tcPr marL="73152" marR="73152" marT="36576" marB="36576">
                    <a:solidFill>
                      <a:srgbClr val="0B1F3A"/>
                    </a:solidFill>
                  </a:tcPr>
                </a:tc>
                <a:tc>
                  <a:txBody>
                    <a:bodyPr/>
                    <a:lstStyle/>
                    <a:p>
                      <a:r>
                        <a:rPr sz="1600" b="1">
                          <a:solidFill>
                            <a:srgbClr val="FFFFFF"/>
                          </a:solidFill>
                        </a:rPr>
                        <a:t>Nano yechim</a:t>
                      </a:r>
                    </a:p>
                  </a:txBody>
                  <a:tcPr marL="73152" marR="73152" marT="36576" marB="36576">
                    <a:solidFill>
                      <a:srgbClr val="0B1F3A"/>
                    </a:solidFill>
                  </a:tcPr>
                </a:tc>
              </a:tr>
              <a:tr h="768096">
                <a:tc>
                  <a:txBody>
                    <a:bodyPr/>
                    <a:lstStyle/>
                    <a:p>
                      <a:r>
                        <a:rPr sz="1500" b="0">
                          <a:solidFill>
                            <a:srgbClr val="1F2937"/>
                          </a:solidFill>
                        </a:rPr>
                        <a:t>MRT (magnit-rezonans)</a:t>
                      </a:r>
                    </a:p>
                  </a:txBody>
                  <a:tcPr marL="73152" marR="73152" marT="36576" marB="36576">
                    <a:solidFill>
                      <a:srgbClr val="E8EEF6"/>
                    </a:solidFill>
                  </a:tcPr>
                </a:tc>
                <a:tc>
                  <a:txBody>
                    <a:bodyPr/>
                    <a:lstStyle/>
                    <a:p>
                      <a:r>
                        <a:rPr sz="1500" b="0">
                          <a:solidFill>
                            <a:srgbClr val="1F2937"/>
                          </a:solidFill>
                        </a:rPr>
                        <a:t>Kontrast past; erta o‘choq ko‘rinmaydi</a:t>
                      </a:r>
                    </a:p>
                  </a:txBody>
                  <a:tcPr marL="73152" marR="73152" marT="36576" marB="36576">
                    <a:solidFill>
                      <a:srgbClr val="E8EEF6"/>
                    </a:solidFill>
                  </a:tcPr>
                </a:tc>
                <a:tc>
                  <a:txBody>
                    <a:bodyPr/>
                    <a:lstStyle/>
                    <a:p>
                      <a:r>
                        <a:rPr sz="1500" b="0">
                          <a:solidFill>
                            <a:srgbClr val="1F2937"/>
                          </a:solidFill>
                        </a:rPr>
                        <a:t>Gd, Mn kompleks, SPION: signal kuchayadi</a:t>
                      </a:r>
                    </a:p>
                  </a:txBody>
                  <a:tcPr marL="73152" marR="73152" marT="36576" marB="36576">
                    <a:solidFill>
                      <a:srgbClr val="E8EEF6"/>
                    </a:solidFill>
                  </a:tcPr>
                </a:tc>
              </a:tr>
              <a:tr h="768096">
                <a:tc>
                  <a:txBody>
                    <a:bodyPr/>
                    <a:lstStyle/>
                    <a:p>
                      <a:r>
                        <a:rPr sz="1500" b="0">
                          <a:solidFill>
                            <a:srgbClr val="1F2937"/>
                          </a:solidFill>
                        </a:rPr>
                        <a:t>KT (kompyuter)</a:t>
                      </a:r>
                    </a:p>
                  </a:txBody>
                  <a:tcPr marL="73152" marR="73152" marT="36576" marB="36576">
                    <a:solidFill>
                      <a:srgbClr val="FFFFFF"/>
                    </a:solidFill>
                  </a:tcPr>
                </a:tc>
                <a:tc>
                  <a:txBody>
                    <a:bodyPr/>
                    <a:lstStyle/>
                    <a:p>
                      <a:r>
                        <a:rPr sz="1500" b="0">
                          <a:solidFill>
                            <a:srgbClr val="1F2937"/>
                          </a:solidFill>
                        </a:rPr>
                        <a:t>Yod kontrasti tez chiqadi, nefrotoksiklik</a:t>
                      </a:r>
                    </a:p>
                  </a:txBody>
                  <a:tcPr marL="73152" marR="73152" marT="36576" marB="36576">
                    <a:solidFill>
                      <a:srgbClr val="FFFFFF"/>
                    </a:solidFill>
                  </a:tcPr>
                </a:tc>
                <a:tc>
                  <a:txBody>
                    <a:bodyPr/>
                    <a:lstStyle/>
                    <a:p>
                      <a:r>
                        <a:rPr sz="1500" b="0">
                          <a:solidFill>
                            <a:srgbClr val="1F2937"/>
                          </a:solidFill>
                        </a:rPr>
                        <a:t>Au nanozarra: barqaror, nishonli</a:t>
                      </a:r>
                    </a:p>
                  </a:txBody>
                  <a:tcPr marL="73152" marR="73152" marT="36576" marB="36576">
                    <a:solidFill>
                      <a:srgbClr val="FFFFFF"/>
                    </a:solidFill>
                  </a:tcPr>
                </a:tc>
              </a:tr>
              <a:tr h="768096">
                <a:tc>
                  <a:txBody>
                    <a:bodyPr/>
                    <a:lstStyle/>
                    <a:p>
                      <a:r>
                        <a:rPr sz="1500" b="0">
                          <a:solidFill>
                            <a:srgbClr val="1F2937"/>
                          </a:solidFill>
                        </a:rPr>
                        <a:t>PET (pozitron-emission)</a:t>
                      </a:r>
                    </a:p>
                  </a:txBody>
                  <a:tcPr marL="73152" marR="73152" marT="36576" marB="36576">
                    <a:solidFill>
                      <a:srgbClr val="E8EEF6"/>
                    </a:solidFill>
                  </a:tcPr>
                </a:tc>
                <a:tc>
                  <a:txBody>
                    <a:bodyPr/>
                    <a:lstStyle/>
                    <a:p>
                      <a:r>
                        <a:rPr sz="1500" b="0">
                          <a:solidFill>
                            <a:srgbClr val="1F2937"/>
                          </a:solidFill>
                        </a:rPr>
                        <a:t>Ajrata olish past; fon shovqini</a:t>
                      </a:r>
                    </a:p>
                  </a:txBody>
                  <a:tcPr marL="73152" marR="73152" marT="36576" marB="36576">
                    <a:solidFill>
                      <a:srgbClr val="E8EEF6"/>
                    </a:solidFill>
                  </a:tcPr>
                </a:tc>
                <a:tc>
                  <a:txBody>
                    <a:bodyPr/>
                    <a:lstStyle/>
                    <a:p>
                      <a:r>
                        <a:rPr sz="1500" b="0">
                          <a:solidFill>
                            <a:srgbClr val="1F2937"/>
                          </a:solidFill>
                        </a:rPr>
                        <a:t>Radioizotopli nanozarra o‘smaga to‘planadi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An‘anaviy cheklov va nano yechim</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Maqsadli dori yetkazish: passiv va faol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EPR effekti: o‘sma tomirlari devori bo‘sh, shuning uchun nanozarralar o‘smada to‘planadi.</a:t>
            </a:r>
          </a:p>
          <a:p>
            <a:pPr>
              <a:spcAft>
                <a:spcPts val="800"/>
              </a:spcAft>
            </a:pPr>
            <a:r>
              <a:rPr sz="1800">
                <a:solidFill>
                  <a:srgbClr val="1F2937"/>
                </a:solidFill>
                <a:latin typeface="Calibri"/>
              </a:rPr>
              <a:t>▸  O‘lcham, sirt, pH: &lt;10 nm tez chiqadi, PEG aylanishni uzaytiradi, pH-sezgir qoplama dori ajratadi.</a:t>
            </a:r>
          </a:p>
          <a:p>
            <a:pPr>
              <a:spcAft>
                <a:spcPts val="800"/>
              </a:spcAft>
            </a:pPr>
            <a:r>
              <a:rPr sz="1800">
                <a:solidFill>
                  <a:srgbClr val="1F2937"/>
                </a:solidFill>
                <a:latin typeface="Calibri"/>
              </a:rPr>
              <a:t>▸  Diqqat: passiv (EPR) ≠ faol (ligand–retseptor); eng yaxshi natija ko‘pincha ikkalasini birlashtirishdan.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219200"/>
                <a:gridCol w="2074386"/>
                <a:gridCol w="1994388"/>
              </a:tblGrid>
              <a:tr h="768096">
                <a:tc>
                  <a:txBody>
                    <a:bodyPr/>
                    <a:lstStyle/>
                    <a:p>
                      <a:r>
                        <a:rPr sz="1600" b="1">
                          <a:solidFill>
                            <a:srgbClr val="FFFFFF"/>
                          </a:solidFill>
                        </a:rPr>
                        <a:t>Jihat</a:t>
                      </a:r>
                    </a:p>
                  </a:txBody>
                  <a:tcPr marL="73152" marR="73152" marT="36576" marB="36576">
                    <a:solidFill>
                      <a:srgbClr val="0B1F3A"/>
                    </a:solidFill>
                  </a:tcPr>
                </a:tc>
                <a:tc>
                  <a:txBody>
                    <a:bodyPr/>
                    <a:lstStyle/>
                    <a:p>
                      <a:r>
                        <a:rPr sz="1600" b="1">
                          <a:solidFill>
                            <a:srgbClr val="FFFFFF"/>
                          </a:solidFill>
                        </a:rPr>
                        <a:t>Passiv</a:t>
                      </a:r>
                    </a:p>
                  </a:txBody>
                  <a:tcPr marL="73152" marR="73152" marT="36576" marB="36576">
                    <a:solidFill>
                      <a:srgbClr val="0B1F3A"/>
                    </a:solidFill>
                  </a:tcPr>
                </a:tc>
                <a:tc>
                  <a:txBody>
                    <a:bodyPr/>
                    <a:lstStyle/>
                    <a:p>
                      <a:r>
                        <a:rPr sz="1600" b="1">
                          <a:solidFill>
                            <a:srgbClr val="FFFFFF"/>
                          </a:solidFill>
                        </a:rPr>
                        <a:t>Faol</a:t>
                      </a:r>
                    </a:p>
                  </a:txBody>
                  <a:tcPr marL="73152" marR="73152" marT="36576" marB="36576">
                    <a:solidFill>
                      <a:srgbClr val="0B1F3A"/>
                    </a:solidFill>
                  </a:tcPr>
                </a:tc>
              </a:tr>
              <a:tr h="768096">
                <a:tc>
                  <a:txBody>
                    <a:bodyPr/>
                    <a:lstStyle/>
                    <a:p>
                      <a:r>
                        <a:rPr sz="1500" b="0">
                          <a:solidFill>
                            <a:srgbClr val="1F2937"/>
                          </a:solidFill>
                        </a:rPr>
                        <a:t>Mexanizm</a:t>
                      </a:r>
                    </a:p>
                  </a:txBody>
                  <a:tcPr marL="73152" marR="73152" marT="36576" marB="36576">
                    <a:solidFill>
                      <a:srgbClr val="E8EEF6"/>
                    </a:solidFill>
                  </a:tcPr>
                </a:tc>
                <a:tc>
                  <a:txBody>
                    <a:bodyPr/>
                    <a:lstStyle/>
                    <a:p>
                      <a:r>
                        <a:rPr sz="1500" b="0">
                          <a:solidFill>
                            <a:srgbClr val="1F2937"/>
                          </a:solidFill>
                        </a:rPr>
                        <a:t>EPR: o‘sma tomirlari o‘tkazuvchan</a:t>
                      </a:r>
                    </a:p>
                  </a:txBody>
                  <a:tcPr marL="73152" marR="73152" marT="36576" marB="36576">
                    <a:solidFill>
                      <a:srgbClr val="E8EEF6"/>
                    </a:solidFill>
                  </a:tcPr>
                </a:tc>
                <a:tc>
                  <a:txBody>
                    <a:bodyPr/>
                    <a:lstStyle/>
                    <a:p>
                      <a:r>
                        <a:rPr sz="1500" b="0">
                          <a:solidFill>
                            <a:srgbClr val="1F2937"/>
                          </a:solidFill>
                        </a:rPr>
                        <a:t>Ligand bilan retseptorga bog‘lanish</a:t>
                      </a:r>
                    </a:p>
                  </a:txBody>
                  <a:tcPr marL="73152" marR="73152" marT="36576" marB="36576">
                    <a:solidFill>
                      <a:srgbClr val="E8EEF6"/>
                    </a:solidFill>
                  </a:tcPr>
                </a:tc>
              </a:tr>
              <a:tr h="768096">
                <a:tc>
                  <a:txBody>
                    <a:bodyPr/>
                    <a:lstStyle/>
                    <a:p>
                      <a:r>
                        <a:rPr sz="1500" b="0">
                          <a:solidFill>
                            <a:srgbClr val="1F2937"/>
                          </a:solidFill>
                        </a:rPr>
                        <a:t>Misol</a:t>
                      </a:r>
                    </a:p>
                  </a:txBody>
                  <a:tcPr marL="73152" marR="73152" marT="36576" marB="36576">
                    <a:solidFill>
                      <a:srgbClr val="FFFFFF"/>
                    </a:solidFill>
                  </a:tcPr>
                </a:tc>
                <a:tc>
                  <a:txBody>
                    <a:bodyPr/>
                    <a:lstStyle/>
                    <a:p>
                      <a:r>
                        <a:rPr sz="1500" b="0">
                          <a:solidFill>
                            <a:srgbClr val="1F2937"/>
                          </a:solidFill>
                        </a:rPr>
                        <a:t>Doxil: PEGlangan liposoma</a:t>
                      </a:r>
                    </a:p>
                  </a:txBody>
                  <a:tcPr marL="73152" marR="73152" marT="36576" marB="36576">
                    <a:solidFill>
                      <a:srgbClr val="FFFFFF"/>
                    </a:solidFill>
                  </a:tcPr>
                </a:tc>
                <a:tc>
                  <a:txBody>
                    <a:bodyPr/>
                    <a:lstStyle/>
                    <a:p>
                      <a:r>
                        <a:rPr sz="1500" b="0">
                          <a:solidFill>
                            <a:srgbClr val="1F2937"/>
                          </a:solidFill>
                        </a:rPr>
                        <a:t>MBP-426: transferrin retseptoriga</a:t>
                      </a:r>
                    </a:p>
                  </a:txBody>
                  <a:tcPr marL="73152" marR="73152" marT="36576" marB="36576">
                    <a:solidFill>
                      <a:srgbClr val="FFFFFF"/>
                    </a:solidFill>
                  </a:tcPr>
                </a:tc>
              </a:tr>
              <a:tr h="768096">
                <a:tc>
                  <a:txBody>
                    <a:bodyPr/>
                    <a:lstStyle/>
                    <a:p>
                      <a:r>
                        <a:rPr sz="1500" b="0">
                          <a:solidFill>
                            <a:srgbClr val="1F2937"/>
                          </a:solidFill>
                        </a:rPr>
                        <a:t>Natija</a:t>
                      </a:r>
                    </a:p>
                  </a:txBody>
                  <a:tcPr marL="73152" marR="73152" marT="36576" marB="36576">
                    <a:solidFill>
                      <a:srgbClr val="E8EEF6"/>
                    </a:solidFill>
                  </a:tcPr>
                </a:tc>
                <a:tc>
                  <a:txBody>
                    <a:bodyPr/>
                    <a:lstStyle/>
                    <a:p>
                      <a:r>
                        <a:rPr sz="1500" b="0">
                          <a:solidFill>
                            <a:srgbClr val="1F2937"/>
                          </a:solidFill>
                        </a:rPr>
                        <a:t>Nishonga aniqlik past, toksiklik qoladi</a:t>
                      </a:r>
                    </a:p>
                  </a:txBody>
                  <a:tcPr marL="73152" marR="73152" marT="36576" marB="36576">
                    <a:solidFill>
                      <a:srgbClr val="E8EEF6"/>
                    </a:solidFill>
                  </a:tcPr>
                </a:tc>
                <a:tc>
                  <a:txBody>
                    <a:bodyPr/>
                    <a:lstStyle/>
                    <a:p>
                      <a:r>
                        <a:rPr sz="1500" b="0">
                          <a:solidFill>
                            <a:srgbClr val="1F2937"/>
                          </a:solidFill>
                        </a:rPr>
                        <a:t>Aniqroq; passiv bilan birga kuchliroq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Passiv va faol yetkazish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Doxil va Abraxane: ikki klinik namuna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Doxil 1995 yilda AQSh dori boshqarmasi (FDA) tasdiqladi; nanozarrachali shakllar klinikaga rasman kirdi.</a:t>
            </a:r>
          </a:p>
          <a:p>
            <a:pPr>
              <a:spcAft>
                <a:spcPts val="800"/>
              </a:spcAft>
            </a:pPr>
            <a:r>
              <a:rPr sz="1800">
                <a:solidFill>
                  <a:srgbClr val="1F2937"/>
                </a:solidFill>
                <a:latin typeface="Calibri"/>
              </a:rPr>
              <a:t>▸  Polietilenglikol (PEG) qobig‘i aylanishni uzaytiradi; passiv nishonlik yurak toksikligini qoldiradi.</a:t>
            </a:r>
          </a:p>
          <a:p>
            <a:pPr>
              <a:spcAft>
                <a:spcPts val="800"/>
              </a:spcAft>
            </a:pPr>
            <a:r>
              <a:rPr sz="1800">
                <a:solidFill>
                  <a:srgbClr val="1F2937"/>
                </a:solidFill>
                <a:latin typeface="Calibri"/>
              </a:rPr>
              <a:t>▸  Abraxane (2005): albumin o‘smada to‘planib, dori konsentratsiyasini oshiradi, tizimli toksiklik kamayadi.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2181944"/>
                <a:gridCol w="1650610"/>
              </a:tblGrid>
              <a:tr h="614476">
                <a:tc>
                  <a:txBody>
                    <a:bodyPr/>
                    <a:lstStyle/>
                    <a:p>
                      <a:r>
                        <a:rPr sz="1600" b="1">
                          <a:solidFill>
                            <a:srgbClr val="FFFFFF"/>
                          </a:solidFill>
                        </a:rPr>
                        <a:t>Xususiyat</a:t>
                      </a:r>
                    </a:p>
                  </a:txBody>
                  <a:tcPr marL="73152" marR="73152" marT="36576" marB="36576">
                    <a:solidFill>
                      <a:srgbClr val="0B1F3A"/>
                    </a:solidFill>
                  </a:tcPr>
                </a:tc>
                <a:tc>
                  <a:txBody>
                    <a:bodyPr/>
                    <a:lstStyle/>
                    <a:p>
                      <a:r>
                        <a:rPr sz="1600" b="1">
                          <a:solidFill>
                            <a:srgbClr val="FFFFFF"/>
                          </a:solidFill>
                        </a:rPr>
                        <a:t>Doxil</a:t>
                      </a:r>
                    </a:p>
                  </a:txBody>
                  <a:tcPr marL="73152" marR="73152" marT="36576" marB="36576">
                    <a:solidFill>
                      <a:srgbClr val="0B1F3A"/>
                    </a:solidFill>
                  </a:tcPr>
                </a:tc>
                <a:tc>
                  <a:txBody>
                    <a:bodyPr/>
                    <a:lstStyle/>
                    <a:p>
                      <a:r>
                        <a:rPr sz="1600" b="1">
                          <a:solidFill>
                            <a:srgbClr val="FFFFFF"/>
                          </a:solidFill>
                        </a:rPr>
                        <a:t>Abraxane</a:t>
                      </a:r>
                    </a:p>
                  </a:txBody>
                  <a:tcPr marL="73152" marR="73152" marT="36576" marB="36576">
                    <a:solidFill>
                      <a:srgbClr val="0B1F3A"/>
                    </a:solidFill>
                  </a:tcPr>
                </a:tc>
              </a:tr>
              <a:tr h="614476">
                <a:tc>
                  <a:txBody>
                    <a:bodyPr/>
                    <a:lstStyle/>
                    <a:p>
                      <a:r>
                        <a:rPr sz="1500" b="0">
                          <a:solidFill>
                            <a:srgbClr val="1F2937"/>
                          </a:solidFill>
                        </a:rPr>
                        <a:t>Tarkibi</a:t>
                      </a:r>
                    </a:p>
                  </a:txBody>
                  <a:tcPr marL="73152" marR="73152" marT="36576" marB="36576">
                    <a:solidFill>
                      <a:srgbClr val="E8EEF6"/>
                    </a:solidFill>
                  </a:tcPr>
                </a:tc>
                <a:tc>
                  <a:txBody>
                    <a:bodyPr/>
                    <a:lstStyle/>
                    <a:p>
                      <a:r>
                        <a:rPr sz="1500" b="0">
                          <a:solidFill>
                            <a:srgbClr val="1F2937"/>
                          </a:solidFill>
                        </a:rPr>
                        <a:t>PEGlangan liposomal doksorubitsin</a:t>
                      </a:r>
                    </a:p>
                  </a:txBody>
                  <a:tcPr marL="73152" marR="73152" marT="36576" marB="36576">
                    <a:solidFill>
                      <a:srgbClr val="E8EEF6"/>
                    </a:solidFill>
                  </a:tcPr>
                </a:tc>
                <a:tc>
                  <a:txBody>
                    <a:bodyPr/>
                    <a:lstStyle/>
                    <a:p>
                      <a:r>
                        <a:rPr sz="1500" b="0">
                          <a:solidFill>
                            <a:srgbClr val="1F2937"/>
                          </a:solidFill>
                        </a:rPr>
                        <a:t>Albuminga bog‘langan paklitaksel</a:t>
                      </a:r>
                    </a:p>
                  </a:txBody>
                  <a:tcPr marL="73152" marR="73152" marT="36576" marB="36576">
                    <a:solidFill>
                      <a:srgbClr val="E8EEF6"/>
                    </a:solidFill>
                  </a:tcPr>
                </a:tc>
              </a:tr>
              <a:tr h="614476">
                <a:tc>
                  <a:txBody>
                    <a:bodyPr/>
                    <a:lstStyle/>
                    <a:p>
                      <a:r>
                        <a:rPr sz="1500" b="0">
                          <a:solidFill>
                            <a:srgbClr val="1F2937"/>
                          </a:solidFill>
                        </a:rPr>
                        <a:t>FDA tasdig‘i</a:t>
                      </a:r>
                    </a:p>
                  </a:txBody>
                  <a:tcPr marL="73152" marR="73152" marT="36576" marB="36576">
                    <a:solidFill>
                      <a:srgbClr val="FFFFFF"/>
                    </a:solidFill>
                  </a:tcPr>
                </a:tc>
                <a:tc>
                  <a:txBody>
                    <a:bodyPr/>
                    <a:lstStyle/>
                    <a:p>
                      <a:r>
                        <a:rPr sz="1500" b="0">
                          <a:solidFill>
                            <a:srgbClr val="1F2937"/>
                          </a:solidFill>
                        </a:rPr>
                        <a:t>1995 yil</a:t>
                      </a:r>
                    </a:p>
                  </a:txBody>
                  <a:tcPr marL="73152" marR="73152" marT="36576" marB="36576">
                    <a:solidFill>
                      <a:srgbClr val="FFFFFF"/>
                    </a:solidFill>
                  </a:tcPr>
                </a:tc>
                <a:tc>
                  <a:txBody>
                    <a:bodyPr/>
                    <a:lstStyle/>
                    <a:p>
                      <a:r>
                        <a:rPr sz="1500" b="0">
                          <a:solidFill>
                            <a:srgbClr val="1F2937"/>
                          </a:solidFill>
                        </a:rPr>
                        <a:t>2005 yil</a:t>
                      </a:r>
                    </a:p>
                  </a:txBody>
                  <a:tcPr marL="73152" marR="73152" marT="36576" marB="36576">
                    <a:solidFill>
                      <a:srgbClr val="FFFFFF"/>
                    </a:solidFill>
                  </a:tcPr>
                </a:tc>
              </a:tr>
              <a:tr h="614476">
                <a:tc>
                  <a:txBody>
                    <a:bodyPr/>
                    <a:lstStyle/>
                    <a:p>
                      <a:r>
                        <a:rPr sz="1500" b="0">
                          <a:solidFill>
                            <a:srgbClr val="1F2937"/>
                          </a:solidFill>
                        </a:rPr>
                        <a:t>Nishonlash</a:t>
                      </a:r>
                    </a:p>
                  </a:txBody>
                  <a:tcPr marL="73152" marR="73152" marT="36576" marB="36576">
                    <a:solidFill>
                      <a:srgbClr val="E8EEF6"/>
                    </a:solidFill>
                  </a:tcPr>
                </a:tc>
                <a:tc>
                  <a:txBody>
                    <a:bodyPr/>
                    <a:lstStyle/>
                    <a:p>
                      <a:r>
                        <a:rPr sz="1500" b="0">
                          <a:solidFill>
                            <a:srgbClr val="1F2937"/>
                          </a:solidFill>
                        </a:rPr>
                        <a:t>Passiv: tomir o‘tkazuvchanligi (EPR)</a:t>
                      </a:r>
                    </a:p>
                  </a:txBody>
                  <a:tcPr marL="73152" marR="73152" marT="36576" marB="36576">
                    <a:solidFill>
                      <a:srgbClr val="E8EEF6"/>
                    </a:solidFill>
                  </a:tcPr>
                </a:tc>
                <a:tc>
                  <a:txBody>
                    <a:bodyPr/>
                    <a:lstStyle/>
                    <a:p>
                      <a:r>
                        <a:rPr sz="1500" b="0">
                          <a:solidFill>
                            <a:srgbClr val="1F2937"/>
                          </a:solidFill>
                        </a:rPr>
                        <a:t>Passiv va faol (albumin, SPARC)</a:t>
                      </a:r>
                    </a:p>
                  </a:txBody>
                  <a:tcPr marL="73152" marR="73152" marT="36576" marB="36576">
                    <a:solidFill>
                      <a:srgbClr val="E8EEF6"/>
                    </a:solidFill>
                  </a:tcPr>
                </a:tc>
              </a:tr>
              <a:tr h="614476">
                <a:tc>
                  <a:txBody>
                    <a:bodyPr/>
                    <a:lstStyle/>
                    <a:p>
                      <a:r>
                        <a:rPr sz="1500" b="0">
                          <a:solidFill>
                            <a:srgbClr val="1F2937"/>
                          </a:solidFill>
                        </a:rPr>
                        <a:t>Qolgan muammo</a:t>
                      </a:r>
                    </a:p>
                  </a:txBody>
                  <a:tcPr marL="73152" marR="73152" marT="36576" marB="36576">
                    <a:solidFill>
                      <a:srgbClr val="FFFFFF"/>
                    </a:solidFill>
                  </a:tcPr>
                </a:tc>
                <a:tc>
                  <a:txBody>
                    <a:bodyPr/>
                    <a:lstStyle/>
                    <a:p>
                      <a:r>
                        <a:rPr sz="1500" b="0">
                          <a:solidFill>
                            <a:srgbClr val="1F2937"/>
                          </a:solidFill>
                        </a:rPr>
                        <a:t>Yurak toksikligi saqlanadi</a:t>
                      </a:r>
                    </a:p>
                  </a:txBody>
                  <a:tcPr marL="73152" marR="73152" marT="36576" marB="36576">
                    <a:solidFill>
                      <a:srgbClr val="FFFFFF"/>
                    </a:solidFill>
                  </a:tcPr>
                </a:tc>
                <a:tc>
                  <a:txBody>
                    <a:bodyPr/>
                    <a:lstStyle/>
                    <a:p>
                      <a:r>
                        <a:rPr sz="1500" b="0">
                          <a:solidFill>
                            <a:srgbClr val="1F2937"/>
                          </a:solidFill>
                        </a:rPr>
                        <a:t>Tizimli toksiklik kamayadi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Doxil va Abraxane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 yetkazish va lipid nanozarrachalar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Nuklein kislotalar (DNK, RNK) qonda beqaror va tez chiqariladi. Manfiy zaryadi va katta o‘lchami tufayli ular hujayra membranasidan qiyin o‘tadi.</a:t>
            </a:r>
          </a:p>
          <a:p>
            <a:pPr>
              <a:spcAft>
                <a:spcPts val="1200"/>
              </a:spcAft>
            </a:pPr>
            <a:r>
              <a:rPr sz="2000">
                <a:solidFill>
                  <a:srgbClr val="1F2937"/>
                </a:solidFill>
                <a:latin typeface="Calibri"/>
              </a:rPr>
              <a:t>▸  DNK terapiyasida gen yadro qobig‘idan o‘tishi kerak. Xabarchi RNK (mRNK) terapiyasida tarjima sitozolda bo‘ladi, shuning uchun endosomadan chiqish asosiy to‘siq.</a:t>
            </a:r>
          </a:p>
          <a:p>
            <a:pPr>
              <a:spcAft>
                <a:spcPts val="1200"/>
              </a:spcAft>
            </a:pPr>
            <a:r>
              <a:rPr sz="2000">
                <a:solidFill>
                  <a:srgbClr val="1F2937"/>
                </a:solidFill>
                <a:latin typeface="Calibri"/>
              </a:rPr>
              <a:t>▸  Viral vektorlar immunogenlik, tez tozalanish, genom sig‘imining chegaralanganligi va kanserogenlik xavfi bilan cheklanadi. Shu sabab nanozarrachali nonviral vektorlarga o‘tilmoqda.</a:t>
            </a:r>
          </a:p>
          <a:p>
            <a:pPr>
              <a:spcAft>
                <a:spcPts val="1200"/>
              </a:spcAft>
            </a:pPr>
            <a:r>
              <a:rPr sz="2000">
                <a:solidFill>
                  <a:srgbClr val="1F2937"/>
                </a:solidFill>
                <a:latin typeface="Calibri"/>
              </a:rPr>
              <a:t>▸  Lipid nanozarrachalar mRNKni o‘z ichiga o‘rab himoyalaydi. BNT162b2 (Comirnaty) COVID-19 vaksinasi COVID-19 ni oldini olishda 95,0% samaradorlik ko‘rsatgan.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Nanojarrohlik: AFM nanoinasi va femtosekund lazer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Atom-kuch mikroskopiyasi (AFM) nanoinasi hujayra va yadro membranasini teshib, yadroga aniq kiradi.</a:t>
            </a:r>
          </a:p>
          <a:p>
            <a:pPr>
              <a:spcAft>
                <a:spcPts val="800"/>
              </a:spcAft>
            </a:pPr>
            <a:r>
              <a:rPr sz="1800">
                <a:solidFill>
                  <a:srgbClr val="1F2937"/>
                </a:solidFill>
                <a:latin typeface="Calibri"/>
              </a:rPr>
              <a:t>▸  Femtosekund lazer kimyoviy bog‘larni uzib to‘qimani bug‘latadi; atrofda isish va nekroz yo‘q.</a:t>
            </a:r>
          </a:p>
          <a:p>
            <a:pPr>
              <a:spcAft>
                <a:spcPts val="800"/>
              </a:spcAft>
            </a:pPr>
            <a:r>
              <a:rPr sz="1800">
                <a:solidFill>
                  <a:srgbClr val="1F2937"/>
                </a:solidFill>
                <a:latin typeface="Calibri"/>
              </a:rPr>
              <a:t>▸  Kelajakda: ko‘z va asab jarrohligi, to‘qima injeneriyasi, gen terapiyasi; avval xavf-foyda baholanadi.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2282190"/>
                <a:gridCol w="1550365"/>
              </a:tblGrid>
              <a:tr h="614476">
                <a:tc>
                  <a:txBody>
                    <a:bodyPr/>
                    <a:lstStyle/>
                    <a:p>
                      <a:r>
                        <a:rPr sz="1600" b="1">
                          <a:solidFill>
                            <a:srgbClr val="FFFFFF"/>
                          </a:solidFill>
                        </a:rPr>
                        <a:t>Jihat</a:t>
                      </a:r>
                    </a:p>
                  </a:txBody>
                  <a:tcPr marL="73152" marR="73152" marT="36576" marB="36576">
                    <a:solidFill>
                      <a:srgbClr val="0B1F3A"/>
                    </a:solidFill>
                  </a:tcPr>
                </a:tc>
                <a:tc>
                  <a:txBody>
                    <a:bodyPr/>
                    <a:lstStyle/>
                    <a:p>
                      <a:r>
                        <a:rPr sz="1600" b="1">
                          <a:solidFill>
                            <a:srgbClr val="FFFFFF"/>
                          </a:solidFill>
                        </a:rPr>
                        <a:t>AFM nanoinasi</a:t>
                      </a:r>
                    </a:p>
                  </a:txBody>
                  <a:tcPr marL="73152" marR="73152" marT="36576" marB="36576">
                    <a:solidFill>
                      <a:srgbClr val="0B1F3A"/>
                    </a:solidFill>
                  </a:tcPr>
                </a:tc>
                <a:tc>
                  <a:txBody>
                    <a:bodyPr/>
                    <a:lstStyle/>
                    <a:p>
                      <a:r>
                        <a:rPr sz="1600" b="1">
                          <a:solidFill>
                            <a:srgbClr val="FFFFFF"/>
                          </a:solidFill>
                        </a:rPr>
                        <a:t>Femto-lazer</a:t>
                      </a:r>
                    </a:p>
                  </a:txBody>
                  <a:tcPr marL="73152" marR="73152" marT="36576" marB="36576">
                    <a:solidFill>
                      <a:srgbClr val="0B1F3A"/>
                    </a:solidFill>
                  </a:tcPr>
                </a:tc>
              </a:tr>
              <a:tr h="614476">
                <a:tc>
                  <a:txBody>
                    <a:bodyPr/>
                    <a:lstStyle/>
                    <a:p>
                      <a:r>
                        <a:rPr sz="1500" b="0">
                          <a:solidFill>
                            <a:srgbClr val="1F2937"/>
                          </a:solidFill>
                        </a:rPr>
                        <a:t>Tamoyil</a:t>
                      </a:r>
                    </a:p>
                  </a:txBody>
                  <a:tcPr marL="73152" marR="73152" marT="36576" marB="36576">
                    <a:solidFill>
                      <a:srgbClr val="E8EEF6"/>
                    </a:solidFill>
                  </a:tcPr>
                </a:tc>
                <a:tc>
                  <a:txBody>
                    <a:bodyPr/>
                    <a:lstStyle/>
                    <a:p>
                      <a:r>
                        <a:rPr sz="1500" b="0">
                          <a:solidFill>
                            <a:srgbClr val="1F2937"/>
                          </a:solidFill>
                        </a:rPr>
                        <a:t>Ingichka igna membranani teshadi</a:t>
                      </a:r>
                    </a:p>
                  </a:txBody>
                  <a:tcPr marL="73152" marR="73152" marT="36576" marB="36576">
                    <a:solidFill>
                      <a:srgbClr val="E8EEF6"/>
                    </a:solidFill>
                  </a:tcPr>
                </a:tc>
                <a:tc>
                  <a:txBody>
                    <a:bodyPr/>
                    <a:lstStyle/>
                    <a:p>
                      <a:r>
                        <a:rPr sz="1500" b="0">
                          <a:solidFill>
                            <a:srgbClr val="1F2937"/>
                          </a:solidFill>
                        </a:rPr>
                        <a:t>Yaqin infraqizil impuls bog‘larni uzadi</a:t>
                      </a:r>
                    </a:p>
                  </a:txBody>
                  <a:tcPr marL="73152" marR="73152" marT="36576" marB="36576">
                    <a:solidFill>
                      <a:srgbClr val="E8EEF6"/>
                    </a:solidFill>
                  </a:tcPr>
                </a:tc>
              </a:tr>
              <a:tr h="614476">
                <a:tc>
                  <a:txBody>
                    <a:bodyPr/>
                    <a:lstStyle/>
                    <a:p>
                      <a:r>
                        <a:rPr sz="1500" b="0">
                          <a:solidFill>
                            <a:srgbClr val="1F2937"/>
                          </a:solidFill>
                        </a:rPr>
                        <a:t>Afzalligi</a:t>
                      </a:r>
                    </a:p>
                  </a:txBody>
                  <a:tcPr marL="73152" marR="73152" marT="36576" marB="36576">
                    <a:solidFill>
                      <a:srgbClr val="FFFFFF"/>
                    </a:solidFill>
                  </a:tcPr>
                </a:tc>
                <a:tc>
                  <a:txBody>
                    <a:bodyPr/>
                    <a:lstStyle/>
                    <a:p>
                      <a:r>
                        <a:rPr sz="1500" b="0">
                          <a:solidFill>
                            <a:srgbClr val="1F2937"/>
                          </a:solidFill>
                        </a:rPr>
                        <a:t>Hujayraga halokatli zarar yo‘q</a:t>
                      </a:r>
                    </a:p>
                  </a:txBody>
                  <a:tcPr marL="73152" marR="73152" marT="36576" marB="36576">
                    <a:solidFill>
                      <a:srgbClr val="FFFFFF"/>
                    </a:solidFill>
                  </a:tcPr>
                </a:tc>
                <a:tc>
                  <a:txBody>
                    <a:bodyPr/>
                    <a:lstStyle/>
                    <a:p>
                      <a:r>
                        <a:rPr sz="1500" b="0">
                          <a:solidFill>
                            <a:srgbClr val="1F2937"/>
                          </a:solidFill>
                        </a:rPr>
                        <a:t>Atrofda issiqlik zarari yo‘q</a:t>
                      </a:r>
                    </a:p>
                  </a:txBody>
                  <a:tcPr marL="73152" marR="73152" marT="36576" marB="36576">
                    <a:solidFill>
                      <a:srgbClr val="FFFFFF"/>
                    </a:solidFill>
                  </a:tcPr>
                </a:tc>
              </a:tr>
              <a:tr h="614476">
                <a:tc>
                  <a:txBody>
                    <a:bodyPr/>
                    <a:lstStyle/>
                    <a:p>
                      <a:r>
                        <a:rPr sz="1500" b="0">
                          <a:solidFill>
                            <a:srgbClr val="1F2937"/>
                          </a:solidFill>
                        </a:rPr>
                        <a:t>Taqqoslash</a:t>
                      </a:r>
                    </a:p>
                  </a:txBody>
                  <a:tcPr marL="73152" marR="73152" marT="36576" marB="36576">
                    <a:solidFill>
                      <a:srgbClr val="E8EEF6"/>
                    </a:solidFill>
                  </a:tcPr>
                </a:tc>
                <a:tc>
                  <a:txBody>
                    <a:bodyPr/>
                    <a:lstStyle/>
                    <a:p>
                      <a:r>
                        <a:rPr sz="1500" b="0">
                          <a:solidFill>
                            <a:srgbClr val="1F2937"/>
                          </a:solidFill>
                        </a:rPr>
                        <a:t>Mikrokapillyardan aniqroq</a:t>
                      </a:r>
                    </a:p>
                  </a:txBody>
                  <a:tcPr marL="73152" marR="73152" marT="36576" marB="36576">
                    <a:solidFill>
                      <a:srgbClr val="E8EEF6"/>
                    </a:solidFill>
                  </a:tcPr>
                </a:tc>
                <a:tc>
                  <a:txBody>
                    <a:bodyPr/>
                    <a:lstStyle/>
                    <a:p>
                      <a:r>
                        <a:rPr sz="1500" b="0">
                          <a:solidFill>
                            <a:srgbClr val="1F2937"/>
                          </a:solidFill>
                        </a:rPr>
                        <a:t>Nanosekund impulsdan yumshoqroq</a:t>
                      </a:r>
                    </a:p>
                  </a:txBody>
                  <a:tcPr marL="73152" marR="73152" marT="36576" marB="36576">
                    <a:solidFill>
                      <a:srgbClr val="E8EEF6"/>
                    </a:solidFill>
                  </a:tcPr>
                </a:tc>
              </a:tr>
              <a:tr h="614476">
                <a:tc>
                  <a:txBody>
                    <a:bodyPr/>
                    <a:lstStyle/>
                    <a:p>
                      <a:r>
                        <a:rPr sz="1500" b="0">
                          <a:solidFill>
                            <a:srgbClr val="1F2937"/>
                          </a:solidFill>
                        </a:rPr>
                        <a:t>Misol</a:t>
                      </a:r>
                    </a:p>
                  </a:txBody>
                  <a:tcPr marL="73152" marR="73152" marT="36576" marB="36576">
                    <a:solidFill>
                      <a:srgbClr val="FFFFFF"/>
                    </a:solidFill>
                  </a:tcPr>
                </a:tc>
                <a:tc>
                  <a:txBody>
                    <a:bodyPr/>
                    <a:lstStyle/>
                    <a:p>
                      <a:r>
                        <a:rPr sz="1500" b="0">
                          <a:solidFill>
                            <a:srgbClr val="1F2937"/>
                          </a:solidFill>
                        </a:rPr>
                        <a:t>Yadroga aniq kiritish</a:t>
                      </a:r>
                    </a:p>
                  </a:txBody>
                  <a:tcPr marL="73152" marR="73152" marT="36576" marB="36576">
                    <a:solidFill>
                      <a:srgbClr val="FFFFFF"/>
                    </a:solidFill>
                  </a:tcPr>
                </a:tc>
                <a:tc>
                  <a:txBody>
                    <a:bodyPr/>
                    <a:lstStyle/>
                    <a:p>
                      <a:r>
                        <a:rPr sz="1500" b="0">
                          <a:solidFill>
                            <a:srgbClr val="1F2937"/>
                          </a:solidFill>
                        </a:rPr>
                        <a:t>Xromosoma 1 da 110 nm kesim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nanojarrohlik texnikasi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qo‘llanish sohalari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1-savol: passiv nishonga olish nimaga tayanadi? Javob: EPR effekti. O‘simta qon tomirlari “bo‘sh” bo‘lgani uchun nanozarralar o‘simta to‘qimasida ko‘proq to‘planadi.</a:t>
            </a:r>
          </a:p>
          <a:p>
            <a:pPr>
              <a:spcAft>
                <a:spcPts val="1200"/>
              </a:spcAft>
            </a:pPr>
            <a:r>
              <a:rPr sz="2000">
                <a:solidFill>
                  <a:srgbClr val="1F2937"/>
                </a:solidFill>
                <a:latin typeface="Calibri"/>
              </a:rPr>
              <a:t>▸  2-savol: faol nishonga olish nima? Javob: zarra yuzasiga antitana, peptid yoki uglevod biriktiriladi. U o‘simta hujayrasi retseptoriga bog‘lanadi (masalan, trastuzumab va HER2).</a:t>
            </a:r>
          </a:p>
          <a:p>
            <a:pPr>
              <a:spcAft>
                <a:spcPts val="1200"/>
              </a:spcAft>
            </a:pPr>
            <a:r>
              <a:rPr sz="2000">
                <a:solidFill>
                  <a:srgbClr val="1F2937"/>
                </a:solidFill>
                <a:latin typeface="Calibri"/>
              </a:rPr>
              <a:t>▸  3-savol: nanojarrohlikning qaysi ikki usuli bor? Javob: nanoignali atom-kuch mikroskopi (AFM) va femtosekundli lazer jarrohligi.</a:t>
            </a:r>
          </a:p>
          <a:p>
            <a:pPr>
              <a:spcAft>
                <a:spcPts val="1200"/>
              </a:spcAft>
            </a:pPr>
            <a:r>
              <a:rPr sz="2000">
                <a:solidFill>
                  <a:srgbClr val="1F2937"/>
                </a:solidFill>
                <a:latin typeface="Calibri"/>
              </a:rPr>
              <a:t>▸  4-savol: nanodiagnostikada nanozarralar nimani yaxshilaydi? Javob: biomarkerlarga bog‘lanib, MRT, KT va PET tasvirlarining aniqligi va sezgirligini oshiradi.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 DOI 10.1186/s12951-024-02901-x; Ebbesen et al., Nanomedicine: Techniques, betlar: PMID 17489016; DOI 10.1155/JBB/2006/51516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yangi nanodori klinik sinovi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yangi nanodori klinik sinovda. U faqat passiv EPR effektiga tayanadi, shunga qaramay yurak toksikligi (kardiotoksiklik) saqlanib qolmoqda.</a:t>
            </a:r>
          </a:p>
          <a:p>
            <a:pPr>
              <a:spcAft>
                <a:spcPts val="1200"/>
              </a:spcAft>
            </a:pPr>
            <a:r>
              <a:rPr sz="2000">
                <a:solidFill>
                  <a:srgbClr val="1F2937"/>
                </a:solidFill>
                <a:latin typeface="Calibri"/>
              </a:rPr>
              <a:t>▸  Taqqoslang: Doxil® (PEG bilan qoplangan liposomal doksorubitsin) faqat passiv EPR ga tayangani uchun nishonga olish samaradorligi past, kardiotoksiklik asl doksorubitsinnikiga o‘xshash.</a:t>
            </a:r>
          </a:p>
          <a:p>
            <a:pPr>
              <a:spcAft>
                <a:spcPts val="1200"/>
              </a:spcAft>
            </a:pPr>
            <a:r>
              <a:rPr sz="2000">
                <a:solidFill>
                  <a:srgbClr val="1F2937"/>
                </a:solidFill>
                <a:latin typeface="Calibri"/>
              </a:rPr>
              <a:t>▸  Yechim yo‘li: faol nishonga olishni qo‘shish. Abraxane® paklitakselni albuminga bog‘laydi, MBP-426 oksaliplatinni transferrin bilan bog‘laydi. Maqsad: toksiklikni kamaytirish.</a:t>
            </a:r>
          </a:p>
          <a:p>
            <a:pPr>
              <a:spcAft>
                <a:spcPts val="1200"/>
              </a:spcAft>
            </a:pPr>
            <a:r>
              <a:rPr sz="2000">
                <a:solidFill>
                  <a:srgbClr val="1F2937"/>
                </a:solidFill>
                <a:latin typeface="Calibri"/>
              </a:rPr>
              <a:t>▸  Savol: dorani qanday takomillashtirasiz va nima uchun? Etik asos: zarar bermaslik va foyda keltirish tamoyillarini tortib ko‘ruvchi xavf-foyda tahlili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Ma et al., Nanotechnology in healthcare, betlar: PMID 39548502; DOI 10.1186/s12951-024-02901-x; Ebbesen et al., Nanomedicine: Techniques, betlar: PMID 17489016; DOI 10.1155/JBB/2006/51516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Nanozarra xossalari: nega alohida xavfsizlik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Zarra kichik bo‘lgani uchun hajmga nisbatan yuzasi katta, yuza energiyasi ortadi va nanomaterial ancha reaktiv bo‘ladi. Foyda ham, xavf ham shundan.</a:t>
            </a:r>
          </a:p>
          <a:p>
            <a:pPr>
              <a:spcAft>
                <a:spcPts val="1200"/>
              </a:spcAft>
            </a:pPr>
            <a:r>
              <a:rPr sz="2000">
                <a:solidFill>
                  <a:srgbClr val="1F2937"/>
                </a:solidFill>
                <a:latin typeface="Calibri"/>
              </a:rPr>
              <a:t>▸  Biologik suyuqlikda zarra yuzasiga oqsil va lipidlar yopishib “korona” hosil qiladi. Uning tarkibi kirish yo‘liga va suyuqlik turiga bog‘liq.</a:t>
            </a:r>
          </a:p>
          <a:p>
            <a:pPr>
              <a:spcAft>
                <a:spcPts val="1200"/>
              </a:spcAft>
            </a:pPr>
            <a:r>
              <a:rPr sz="2000">
                <a:solidFill>
                  <a:srgbClr val="1F2937"/>
                </a:solidFill>
                <a:latin typeface="Calibri"/>
              </a:rPr>
              <a:t>▸  Nanoshakl farmakokinetikani (so‘rilish, taqsimlanish, metabolizm, chiqarilish) o‘zgartiradi, to‘siqlardan osonroq o‘tadi va organizmda hamda atrof-muhitda uzoq saqlanishi mumkin.</a:t>
            </a:r>
          </a:p>
          <a:p>
            <a:pPr>
              <a:spcAft>
                <a:spcPts val="1200"/>
              </a:spcAft>
            </a:pPr>
            <a:r>
              <a:rPr sz="2000">
                <a:solidFill>
                  <a:srgbClr val="1F2937"/>
                </a:solidFill>
                <a:latin typeface="Calibri"/>
              </a:rPr>
              <a:t>▸  Diqqat: tarkibi bir xil ≠ ta’siri bir xil. Zaryad, o‘lcham yoki shakldagi kichik farq hujayradagi taqdirini va to‘planishini o‘zgartiradi.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 DOI 10.3389/fchem.2018.00360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O‘lcham, taqsimlanish va organizmdan chiqarilish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Taqsimlanish zarracha yuzasi, shakli va o‘lchamiga bog‘liq.</a:t>
            </a:r>
          </a:p>
          <a:p>
            <a:pPr>
              <a:spcAft>
                <a:spcPts val="800"/>
              </a:spcAft>
            </a:pPr>
            <a:r>
              <a:rPr sz="1800">
                <a:solidFill>
                  <a:srgbClr val="1F2937"/>
                </a:solidFill>
                <a:latin typeface="Calibri"/>
              </a:rPr>
              <a:t>▸  10 nm zarrachalar ko‘p a‘zolarda, kattalari faqat taloq, jigar va qonda topilgan.</a:t>
            </a:r>
          </a:p>
          <a:p>
            <a:pPr>
              <a:spcAft>
                <a:spcPts val="800"/>
              </a:spcAft>
            </a:pPr>
            <a:r>
              <a:rPr sz="1800">
                <a:solidFill>
                  <a:srgbClr val="1F2937"/>
                </a:solidFill>
                <a:latin typeface="Calibri"/>
              </a:rPr>
              <a:t>▸  Chiqarilish o‘lcham va yuzaga bog‘liq; sarum oqsillari bilan birikish hujayra yutilishiga ta’sir qiladi.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219200"/>
                <a:gridCol w="1910861"/>
                <a:gridCol w="2157913"/>
              </a:tblGrid>
              <a:tr h="768096">
                <a:tc>
                  <a:txBody>
                    <a:bodyPr/>
                    <a:lstStyle/>
                    <a:p>
                      <a:r>
                        <a:rPr sz="1600" b="1">
                          <a:solidFill>
                            <a:srgbClr val="FFFFFF"/>
                          </a:solidFill>
                        </a:rPr>
                        <a:t>O‘lcham</a:t>
                      </a:r>
                    </a:p>
                  </a:txBody>
                  <a:tcPr marL="73152" marR="73152" marT="36576" marB="36576">
                    <a:solidFill>
                      <a:srgbClr val="0B1F3A"/>
                    </a:solidFill>
                  </a:tcPr>
                </a:tc>
                <a:tc>
                  <a:txBody>
                    <a:bodyPr/>
                    <a:lstStyle/>
                    <a:p>
                      <a:r>
                        <a:rPr sz="1600" b="1">
                          <a:solidFill>
                            <a:srgbClr val="FFFFFF"/>
                          </a:solidFill>
                        </a:rPr>
                        <a:t>Taqsimlanish</a:t>
                      </a:r>
                    </a:p>
                  </a:txBody>
                  <a:tcPr marL="73152" marR="73152" marT="36576" marB="36576">
                    <a:solidFill>
                      <a:srgbClr val="0B1F3A"/>
                    </a:solidFill>
                  </a:tcPr>
                </a:tc>
                <a:tc>
                  <a:txBody>
                    <a:bodyPr/>
                    <a:lstStyle/>
                    <a:p>
                      <a:r>
                        <a:rPr sz="1600" b="1">
                          <a:solidFill>
                            <a:srgbClr val="FFFFFF"/>
                          </a:solidFill>
                        </a:rPr>
                        <a:t>Chiqarilish</a:t>
                      </a:r>
                    </a:p>
                  </a:txBody>
                  <a:tcPr marL="73152" marR="73152" marT="36576" marB="36576">
                    <a:solidFill>
                      <a:srgbClr val="0B1F3A"/>
                    </a:solidFill>
                  </a:tcPr>
                </a:tc>
              </a:tr>
              <a:tr h="768096">
                <a:tc>
                  <a:txBody>
                    <a:bodyPr/>
                    <a:lstStyle/>
                    <a:p>
                      <a:r>
                        <a:rPr sz="1500" b="0">
                          <a:solidFill>
                            <a:srgbClr val="1F2937"/>
                          </a:solidFill>
                        </a:rPr>
                        <a:t>&lt;20–30 nm</a:t>
                      </a:r>
                    </a:p>
                  </a:txBody>
                  <a:tcPr marL="73152" marR="73152" marT="36576" marB="36576">
                    <a:solidFill>
                      <a:srgbClr val="E8EEF6"/>
                    </a:solidFill>
                  </a:tcPr>
                </a:tc>
                <a:tc>
                  <a:txBody>
                    <a:bodyPr/>
                    <a:lstStyle/>
                    <a:p>
                      <a:r>
                        <a:rPr sz="1500" b="0">
                          <a:solidFill>
                            <a:srgbClr val="1F2937"/>
                          </a:solidFill>
                        </a:rPr>
                        <a:t>10 nm: ko‘p a‘zolarda topilgan</a:t>
                      </a:r>
                    </a:p>
                  </a:txBody>
                  <a:tcPr marL="73152" marR="73152" marT="36576" marB="36576">
                    <a:solidFill>
                      <a:srgbClr val="E8EEF6"/>
                    </a:solidFill>
                  </a:tcPr>
                </a:tc>
                <a:tc>
                  <a:txBody>
                    <a:bodyPr/>
                    <a:lstStyle/>
                    <a:p>
                      <a:r>
                        <a:rPr sz="1500" b="0">
                          <a:solidFill>
                            <a:srgbClr val="1F2937"/>
                          </a:solidFill>
                        </a:rPr>
                        <a:t>Buyrak orqali tez chiqadi</a:t>
                      </a:r>
                    </a:p>
                  </a:txBody>
                  <a:tcPr marL="73152" marR="73152" marT="36576" marB="36576">
                    <a:solidFill>
                      <a:srgbClr val="E8EEF6"/>
                    </a:solidFill>
                  </a:tcPr>
                </a:tc>
              </a:tr>
              <a:tr h="768096">
                <a:tc>
                  <a:txBody>
                    <a:bodyPr/>
                    <a:lstStyle/>
                    <a:p>
                      <a:r>
                        <a:rPr sz="1500" b="0">
                          <a:solidFill>
                            <a:srgbClr val="1F2937"/>
                          </a:solidFill>
                        </a:rPr>
                        <a:t>Kattaroq</a:t>
                      </a:r>
                    </a:p>
                  </a:txBody>
                  <a:tcPr marL="73152" marR="73152" marT="36576" marB="36576">
                    <a:solidFill>
                      <a:srgbClr val="FFFFFF"/>
                    </a:solidFill>
                  </a:tcPr>
                </a:tc>
                <a:tc>
                  <a:txBody>
                    <a:bodyPr/>
                    <a:lstStyle/>
                    <a:p>
                      <a:r>
                        <a:rPr sz="1500" b="0">
                          <a:solidFill>
                            <a:srgbClr val="1F2937"/>
                          </a:solidFill>
                        </a:rPr>
                        <a:t>Faqat taloq, jigar va qonda</a:t>
                      </a:r>
                    </a:p>
                  </a:txBody>
                  <a:tcPr marL="73152" marR="73152" marT="36576" marB="36576">
                    <a:solidFill>
                      <a:srgbClr val="FFFFFF"/>
                    </a:solidFill>
                  </a:tcPr>
                </a:tc>
                <a:tc>
                  <a:txBody>
                    <a:bodyPr/>
                    <a:lstStyle/>
                    <a:p>
                      <a:r>
                        <a:rPr sz="1500" b="0">
                          <a:solidFill>
                            <a:srgbClr val="1F2937"/>
                          </a:solidFill>
                        </a:rPr>
                        <a:t>Yuzasi va shakliga bog‘liq</a:t>
                      </a:r>
                    </a:p>
                  </a:txBody>
                  <a:tcPr marL="73152" marR="73152" marT="36576" marB="36576">
                    <a:solidFill>
                      <a:srgbClr val="FFFFFF"/>
                    </a:solidFill>
                  </a:tcPr>
                </a:tc>
              </a:tr>
              <a:tr h="768096">
                <a:tc>
                  <a:txBody>
                    <a:bodyPr/>
                    <a:lstStyle/>
                    <a:p>
                      <a:r>
                        <a:rPr sz="1500" b="0">
                          <a:solidFill>
                            <a:srgbClr val="1F2937"/>
                          </a:solidFill>
                        </a:rPr>
                        <a:t>≥200 nm</a:t>
                      </a:r>
                    </a:p>
                  </a:txBody>
                  <a:tcPr marL="73152" marR="73152" marT="36576" marB="36576">
                    <a:solidFill>
                      <a:srgbClr val="E8EEF6"/>
                    </a:solidFill>
                  </a:tcPr>
                </a:tc>
                <a:tc>
                  <a:txBody>
                    <a:bodyPr/>
                    <a:lstStyle/>
                    <a:p>
                      <a:r>
                        <a:rPr sz="1500" b="0">
                          <a:solidFill>
                            <a:srgbClr val="1F2937"/>
                          </a:solidFill>
                        </a:rPr>
                        <a:t>Jigar, taloq, suyak ko‘migi</a:t>
                      </a:r>
                    </a:p>
                  </a:txBody>
                  <a:tcPr marL="73152" marR="73152" marT="36576" marB="36576">
                    <a:solidFill>
                      <a:srgbClr val="E8EEF6"/>
                    </a:solidFill>
                  </a:tcPr>
                </a:tc>
                <a:tc>
                  <a:txBody>
                    <a:bodyPr/>
                    <a:lstStyle/>
                    <a:p>
                      <a:r>
                        <a:rPr sz="1500" b="0">
                          <a:solidFill>
                            <a:srgbClr val="1F2937"/>
                          </a:solidFill>
                        </a:rPr>
                        <a:t>Mononuklear fagotsitar tizim yutadi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Zarracha o‘lchami va taqdiri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 Biocompatibility and nanotoxicology bo‘limi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Toksiklik mexanizmi: oksidlovchi stress zanjiri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ROS (reaktiv kislorod turlari): gidroksil radikal, superoksid anion, vodorod peroksid.</a:t>
            </a:r>
          </a:p>
          <a:p>
            <a:pPr>
              <a:spcAft>
                <a:spcPts val="800"/>
              </a:spcAft>
            </a:pPr>
            <a:r>
              <a:rPr sz="1800">
                <a:solidFill>
                  <a:srgbClr val="1F2937"/>
                </a:solidFill>
                <a:latin typeface="Calibri"/>
              </a:rPr>
              <a:t>▸  Hujayra himoyasi: glutation, superoksiddismutaza, katalaza; ROS ko‘payganda glutation kamayadi.</a:t>
            </a:r>
          </a:p>
          <a:p>
            <a:pPr>
              <a:spcAft>
                <a:spcPts val="800"/>
              </a:spcAft>
            </a:pPr>
            <a:r>
              <a:rPr sz="1800">
                <a:solidFill>
                  <a:srgbClr val="1F2937"/>
                </a:solidFill>
                <a:latin typeface="Calibri"/>
              </a:rPr>
              <a:t>▸  Nanomaterial redoks muvozanatini buzadi; oqibatda membrana shikastlanib, yallig‘lanish rivojlanadi.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ROS ko‘payishi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Glutation kamayishi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Membrana shikasti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Yallig‘lanish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Apoptoz yoki nekroz</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Oksidlovchi stress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 Evaluation methods bo‘limi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Toksiklikni baholash: in vitro, in silico, hayvon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Sayes va Warheit modeli: quruq holat, nam holat, so‘ng in vitro va in vivo o‘zaro ta’sir.</a:t>
            </a:r>
          </a:p>
          <a:p>
            <a:pPr>
              <a:spcAft>
                <a:spcPts val="800"/>
              </a:spcAft>
            </a:pPr>
            <a:r>
              <a:rPr sz="1800">
                <a:solidFill>
                  <a:srgbClr val="1F2937"/>
                </a:solidFill>
                <a:latin typeface="Calibri"/>
              </a:rPr>
              <a:t>▸  QSAR (miqdoriy struktura–faollik modeli) toksiklikni o‘lcham, shakl, zaryad bo‘yicha bashorat qiladi.</a:t>
            </a:r>
          </a:p>
          <a:p>
            <a:pPr>
              <a:spcAft>
                <a:spcPts val="800"/>
              </a:spcAft>
            </a:pPr>
            <a:r>
              <a:rPr sz="1800">
                <a:solidFill>
                  <a:srgbClr val="1F2937"/>
                </a:solidFill>
                <a:latin typeface="Calibri"/>
              </a:rPr>
              <a:t>▸  Uchinchi bosqich, ayniqsa in vivo, hayvon sinovlari tufayli etik jihatdan eng murakkab.</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1975332"/>
                <a:gridCol w="1975332"/>
              </a:tblGrid>
              <a:tr h="768096">
                <a:tc>
                  <a:txBody>
                    <a:bodyPr/>
                    <a:lstStyle/>
                    <a:p>
                      <a:r>
                        <a:rPr sz="1600" b="1">
                          <a:solidFill>
                            <a:srgbClr val="FFFFFF"/>
                          </a:solidFill>
                        </a:rPr>
                        <a:t>Yondashuv</a:t>
                      </a:r>
                    </a:p>
                  </a:txBody>
                  <a:tcPr marL="73152" marR="73152" marT="36576" marB="36576">
                    <a:solidFill>
                      <a:srgbClr val="0B1F3A"/>
                    </a:solidFill>
                  </a:tcPr>
                </a:tc>
                <a:tc>
                  <a:txBody>
                    <a:bodyPr/>
                    <a:lstStyle/>
                    <a:p>
                      <a:r>
                        <a:rPr sz="1600" b="1">
                          <a:solidFill>
                            <a:srgbClr val="FFFFFF"/>
                          </a:solidFill>
                        </a:rPr>
                        <a:t>Afzalligi</a:t>
                      </a:r>
                    </a:p>
                  </a:txBody>
                  <a:tcPr marL="73152" marR="73152" marT="36576" marB="36576">
                    <a:solidFill>
                      <a:srgbClr val="0B1F3A"/>
                    </a:solidFill>
                  </a:tcPr>
                </a:tc>
                <a:tc>
                  <a:txBody>
                    <a:bodyPr/>
                    <a:lstStyle/>
                    <a:p>
                      <a:r>
                        <a:rPr sz="1600" b="1">
                          <a:solidFill>
                            <a:srgbClr val="FFFFFF"/>
                          </a:solidFill>
                        </a:rPr>
                        <a:t>Kamchiligi</a:t>
                      </a:r>
                    </a:p>
                  </a:txBody>
                  <a:tcPr marL="73152" marR="73152" marT="36576" marB="36576">
                    <a:solidFill>
                      <a:srgbClr val="0B1F3A"/>
                    </a:solidFill>
                  </a:tcPr>
                </a:tc>
              </a:tr>
              <a:tr h="768096">
                <a:tc>
                  <a:txBody>
                    <a:bodyPr/>
                    <a:lstStyle/>
                    <a:p>
                      <a:r>
                        <a:rPr sz="1500" b="0">
                          <a:solidFill>
                            <a:srgbClr val="1F2937"/>
                          </a:solidFill>
                        </a:rPr>
                        <a:t>In vitro</a:t>
                      </a:r>
                    </a:p>
                  </a:txBody>
                  <a:tcPr marL="73152" marR="73152" marT="36576" marB="36576">
                    <a:solidFill>
                      <a:srgbClr val="E8EEF6"/>
                    </a:solidFill>
                  </a:tcPr>
                </a:tc>
                <a:tc>
                  <a:txBody>
                    <a:bodyPr/>
                    <a:lstStyle/>
                    <a:p>
                      <a:r>
                        <a:rPr sz="1500" b="0">
                          <a:solidFill>
                            <a:srgbClr val="1F2937"/>
                          </a:solidFill>
                        </a:rPr>
                        <a:t>Arzon, tez, sodda; sharoit nazorat qilinadi</a:t>
                      </a:r>
                    </a:p>
                  </a:txBody>
                  <a:tcPr marL="73152" marR="73152" marT="36576" marB="36576">
                    <a:solidFill>
                      <a:srgbClr val="E8EEF6"/>
                    </a:solidFill>
                  </a:tcPr>
                </a:tc>
                <a:tc>
                  <a:txBody>
                    <a:bodyPr/>
                    <a:lstStyle/>
                    <a:p>
                      <a:r>
                        <a:rPr sz="1500" b="0">
                          <a:solidFill>
                            <a:srgbClr val="1F2937"/>
                          </a:solidFill>
                        </a:rPr>
                        <a:t>Organizm murakkabligini aks ettirmaydi</a:t>
                      </a:r>
                    </a:p>
                  </a:txBody>
                  <a:tcPr marL="73152" marR="73152" marT="36576" marB="36576">
                    <a:solidFill>
                      <a:srgbClr val="E8EEF6"/>
                    </a:solidFill>
                  </a:tcPr>
                </a:tc>
              </a:tr>
              <a:tr h="768096">
                <a:tc>
                  <a:txBody>
                    <a:bodyPr/>
                    <a:lstStyle/>
                    <a:p>
                      <a:r>
                        <a:rPr sz="1500" b="0">
                          <a:solidFill>
                            <a:srgbClr val="1F2937"/>
                          </a:solidFill>
                        </a:rPr>
                        <a:t>In silico</a:t>
                      </a:r>
                    </a:p>
                  </a:txBody>
                  <a:tcPr marL="73152" marR="73152" marT="36576" marB="36576">
                    <a:solidFill>
                      <a:srgbClr val="FFFFFF"/>
                    </a:solidFill>
                  </a:tcPr>
                </a:tc>
                <a:tc>
                  <a:txBody>
                    <a:bodyPr/>
                    <a:lstStyle/>
                    <a:p>
                      <a:r>
                        <a:rPr sz="1500" b="0">
                          <a:solidFill>
                            <a:srgbClr val="1F2937"/>
                          </a:solidFill>
                        </a:rPr>
                        <a:t>Ko‘p materialni tez, etik savolsiz tahlil</a:t>
                      </a:r>
                    </a:p>
                  </a:txBody>
                  <a:tcPr marL="73152" marR="73152" marT="36576" marB="36576">
                    <a:solidFill>
                      <a:srgbClr val="FFFFFF"/>
                    </a:solidFill>
                  </a:tcPr>
                </a:tc>
                <a:tc>
                  <a:txBody>
                    <a:bodyPr/>
                    <a:lstStyle/>
                    <a:p>
                      <a:r>
                        <a:rPr sz="1500" b="0">
                          <a:solidFill>
                            <a:srgbClr val="1F2937"/>
                          </a:solidFill>
                        </a:rPr>
                        <a:t>Manbada kamchiligi ko‘rsatilmagan</a:t>
                      </a:r>
                    </a:p>
                  </a:txBody>
                  <a:tcPr marL="73152" marR="73152" marT="36576" marB="36576">
                    <a:solidFill>
                      <a:srgbClr val="FFFFFF"/>
                    </a:solidFill>
                  </a:tcPr>
                </a:tc>
              </a:tr>
              <a:tr h="768096">
                <a:tc>
                  <a:txBody>
                    <a:bodyPr/>
                    <a:lstStyle/>
                    <a:p>
                      <a:r>
                        <a:rPr sz="1500" b="0">
                          <a:solidFill>
                            <a:srgbClr val="1F2937"/>
                          </a:solidFill>
                        </a:rPr>
                        <a:t>Hayvon sinovi</a:t>
                      </a:r>
                    </a:p>
                  </a:txBody>
                  <a:tcPr marL="73152" marR="73152" marT="36576" marB="36576">
                    <a:solidFill>
                      <a:srgbClr val="E8EEF6"/>
                    </a:solidFill>
                  </a:tcPr>
                </a:tc>
                <a:tc>
                  <a:txBody>
                    <a:bodyPr/>
                    <a:lstStyle/>
                    <a:p>
                      <a:r>
                        <a:rPr sz="1500" b="0">
                          <a:solidFill>
                            <a:srgbClr val="1F2937"/>
                          </a:solidFill>
                        </a:rPr>
                        <a:t>Manbada afzalligi ko‘rsatilmagan</a:t>
                      </a:r>
                    </a:p>
                  </a:txBody>
                  <a:tcPr marL="73152" marR="73152" marT="36576" marB="36576">
                    <a:solidFill>
                      <a:srgbClr val="E8EEF6"/>
                    </a:solidFill>
                  </a:tcPr>
                </a:tc>
                <a:tc>
                  <a:txBody>
                    <a:bodyPr/>
                    <a:lstStyle/>
                    <a:p>
                      <a:r>
                        <a:rPr sz="1500" b="0">
                          <a:solidFill>
                            <a:srgbClr val="1F2937"/>
                          </a:solidFill>
                        </a:rPr>
                        <a:t>Qimmat, uzoq, noetik; odamga o‘tkazish zaif</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yondashuv solishtiruvi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 Evaluation methods bo‘limi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xavfsizlik va toksikologiya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nanomaterial hujayrada qaysi reaktiv kislorod turlarini (ROS) ko‘paytiradi va hujayra qaysi fermentlar bilan himoyalanadi?</a:t>
            </a:r>
          </a:p>
          <a:p>
            <a:pPr>
              <a:spcAft>
                <a:spcPts val="1200"/>
              </a:spcAft>
            </a:pPr>
            <a:r>
              <a:rPr sz="2200">
                <a:solidFill>
                  <a:srgbClr val="1F2937"/>
                </a:solidFill>
                <a:latin typeface="Calibri"/>
              </a:rPr>
              <a:t>▸  Savol 2: biomoslik nima va nega oqsillarning material sirtiga yopishishi immun javobga sabab bo‘lishi mumkin?</a:t>
            </a:r>
          </a:p>
          <a:p>
            <a:pPr>
              <a:spcAft>
                <a:spcPts val="1200"/>
              </a:spcAft>
            </a:pPr>
            <a:r>
              <a:rPr sz="2200">
                <a:solidFill>
                  <a:srgbClr val="1F2937"/>
                </a:solidFill>
                <a:latin typeface="Calibri"/>
              </a:rPr>
              <a:t>▸  Savol 3: in vitro (probirkadagi hujayra) sinovlari tirik organizmdagi murakkab o‘zaro ta’sirni nega to‘liq ko‘rsata olmaydi?</a:t>
            </a:r>
          </a:p>
          <a:p>
            <a:pPr>
              <a:spcAft>
                <a:spcPts val="1200"/>
              </a:spcAft>
            </a:pPr>
            <a:r>
              <a:rPr sz="2200">
                <a:solidFill>
                  <a:srgbClr val="1F2937"/>
                </a:solidFill>
                <a:latin typeface="Calibri"/>
              </a:rPr>
              <a:t>▸  Savol 4: nanotoksikologiya tajribalari natijalarini bir-biriga solishtirish nega qiyin? Ikkita sababni ayting.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Nanotoksikologik tasniflash tizimlari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100 nm dan kichik zarralar har qanday hujayraga endotsitoz orqali kiradi, shuning uchun xavfi yuqoriroq.</a:t>
            </a:r>
          </a:p>
          <a:p>
            <a:pPr>
              <a:spcAft>
                <a:spcPts val="800"/>
              </a:spcAft>
            </a:pPr>
            <a:r>
              <a:rPr sz="1800">
                <a:solidFill>
                  <a:srgbClr val="1F2937"/>
                </a:solidFill>
                <a:latin typeface="Calibri"/>
              </a:rPr>
              <a:t>▸  Biodegradatsiyalanmaydigan nanomaterial tanada qoladi va immun tizimi ishini o‘zgartirishi mumkin.</a:t>
            </a:r>
          </a:p>
          <a:p>
            <a:pPr>
              <a:spcAft>
                <a:spcPts val="800"/>
              </a:spcAft>
            </a:pPr>
            <a:r>
              <a:rPr sz="1800">
                <a:solidFill>
                  <a:srgbClr val="1F2937"/>
                </a:solidFill>
                <a:latin typeface="Calibri"/>
              </a:rPr>
              <a:t>▸  Diqqat: NCS faqat sodda yo‘riqnoma; toksiklikni boshqa ko‘p parametrlar ham belgilaydi.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2045969"/>
                <a:gridCol w="2045969"/>
                <a:gridCol w="1196037"/>
              </a:tblGrid>
              <a:tr h="768096">
                <a:tc>
                  <a:txBody>
                    <a:bodyPr/>
                    <a:lstStyle/>
                    <a:p>
                      <a:r>
                        <a:rPr sz="1600" b="1">
                          <a:solidFill>
                            <a:srgbClr val="FFFFFF"/>
                          </a:solidFill>
                        </a:rPr>
                        <a:t>Tizim</a:t>
                      </a:r>
                    </a:p>
                  </a:txBody>
                  <a:tcPr marL="73152" marR="73152" marT="36576" marB="36576">
                    <a:solidFill>
                      <a:srgbClr val="0B1F3A"/>
                    </a:solidFill>
                  </a:tcPr>
                </a:tc>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r>
              <a:tr h="768096">
                <a:tc>
                  <a:txBody>
                    <a:bodyPr/>
                    <a:lstStyle/>
                    <a:p>
                      <a:r>
                        <a:rPr sz="1500" b="0">
                          <a:solidFill>
                            <a:srgbClr val="1F2937"/>
                          </a:solidFill>
                        </a:rPr>
                        <a:t>Keck–Myuller NCS</a:t>
                      </a:r>
                    </a:p>
                  </a:txBody>
                  <a:tcPr marL="73152" marR="73152" marT="36576" marB="36576">
                    <a:solidFill>
                      <a:srgbClr val="E8EEF6"/>
                    </a:solidFill>
                  </a:tcPr>
                </a:tc>
                <a:tc>
                  <a:txBody>
                    <a:bodyPr/>
                    <a:lstStyle/>
                    <a:p>
                      <a:r>
                        <a:rPr sz="1500" b="0">
                          <a:solidFill>
                            <a:srgbClr val="1F2937"/>
                          </a:solidFill>
                        </a:rPr>
                        <a:t>O‘lcham va biodegradatsiya</a:t>
                      </a:r>
                    </a:p>
                  </a:txBody>
                  <a:tcPr marL="73152" marR="73152" marT="36576" marB="36576">
                    <a:solidFill>
                      <a:srgbClr val="E8EEF6"/>
                    </a:solidFill>
                  </a:tcPr>
                </a:tc>
                <a:tc>
                  <a:txBody>
                    <a:bodyPr/>
                    <a:lstStyle/>
                    <a:p>
                      <a:r>
                        <a:rPr sz="1500" b="0">
                          <a:solidFill>
                            <a:srgbClr val="1F2937"/>
                          </a:solidFill>
                        </a:rPr>
                        <a:t>4 sinf; B/NB bilan 8 kichik sinf</a:t>
                      </a:r>
                    </a:p>
                  </a:txBody>
                  <a:tcPr marL="73152" marR="73152" marT="36576" marB="36576">
                    <a:solidFill>
                      <a:srgbClr val="E8EEF6"/>
                    </a:solidFill>
                  </a:tcPr>
                </a:tc>
              </a:tr>
              <a:tr h="768096">
                <a:tc>
                  <a:txBody>
                    <a:bodyPr/>
                    <a:lstStyle/>
                    <a:p>
                      <a:r>
                        <a:rPr sz="1500" b="0">
                          <a:solidFill>
                            <a:srgbClr val="1F2937"/>
                          </a:solidFill>
                        </a:rPr>
                        <a:t>DF4nanoGrouping</a:t>
                      </a:r>
                    </a:p>
                  </a:txBody>
                  <a:tcPr marL="73152" marR="73152" marT="36576" marB="36576">
                    <a:solidFill>
                      <a:srgbClr val="FFFFFF"/>
                    </a:solidFill>
                  </a:tcPr>
                </a:tc>
                <a:tc>
                  <a:txBody>
                    <a:bodyPr/>
                    <a:lstStyle/>
                    <a:p>
                      <a:r>
                        <a:rPr sz="1500" b="0">
                          <a:solidFill>
                            <a:srgbClr val="1F2937"/>
                          </a:solidFill>
                        </a:rPr>
                        <a:t>Xossalar va toksik ta’sirlar</a:t>
                      </a:r>
                    </a:p>
                  </a:txBody>
                  <a:tcPr marL="73152" marR="73152" marT="36576" marB="36576">
                    <a:solidFill>
                      <a:srgbClr val="FFFFFF"/>
                    </a:solidFill>
                  </a:tcPr>
                </a:tc>
                <a:tc>
                  <a:txBody>
                    <a:bodyPr/>
                    <a:lstStyle/>
                    <a:p>
                      <a:r>
                        <a:rPr sz="1500" b="0">
                          <a:solidFill>
                            <a:srgbClr val="1F2937"/>
                          </a:solidFill>
                        </a:rPr>
                        <a:t>Eruvchan, biobarqaror, passiv, faol</a:t>
                      </a:r>
                    </a:p>
                  </a:txBody>
                  <a:tcPr marL="73152" marR="73152" marT="36576" marB="36576">
                    <a:solidFill>
                      <a:srgbClr val="FFFFFF"/>
                    </a:solidFill>
                  </a:tcPr>
                </a:tc>
              </a:tr>
              <a:tr h="768096">
                <a:tc>
                  <a:txBody>
                    <a:bodyPr/>
                    <a:lstStyle/>
                    <a:p>
                      <a:r>
                        <a:rPr sz="1500" b="0">
                          <a:solidFill>
                            <a:srgbClr val="1F2937"/>
                          </a:solidFill>
                        </a:rPr>
                        <a:t>NCS uchun qo‘shimcha</a:t>
                      </a:r>
                    </a:p>
                  </a:txBody>
                  <a:tcPr marL="73152" marR="73152" marT="36576" marB="36576">
                    <a:solidFill>
                      <a:srgbClr val="E8EEF6"/>
                    </a:solidFill>
                  </a:tcPr>
                </a:tc>
                <a:tc>
                  <a:txBody>
                    <a:bodyPr/>
                    <a:lstStyle/>
                    <a:p>
                      <a:r>
                        <a:rPr sz="1500" b="0">
                          <a:solidFill>
                            <a:srgbClr val="1F2937"/>
                          </a:solidFill>
                        </a:rPr>
                        <a:t>Yuborish yo‘li, sirt biomosligi</a:t>
                      </a:r>
                    </a:p>
                  </a:txBody>
                  <a:tcPr marL="73152" marR="73152" marT="36576" marB="36576">
                    <a:solidFill>
                      <a:srgbClr val="E8EEF6"/>
                    </a:solidFill>
                  </a:tcPr>
                </a:tc>
                <a:tc>
                  <a:txBody>
                    <a:bodyPr/>
                    <a:lstStyle/>
                    <a:p>
                      <a:r>
                        <a:rPr sz="1500" b="0">
                          <a:solidFill>
                            <a:srgbClr val="1F2937"/>
                          </a:solidFill>
                        </a:rPr>
                        <a:t>Yo‘l va sirt xavfni o‘zgartiradi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tasniflash yondashuvi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Ishlab chiqarish nazorati: QbD, PAT, masshtablash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Loyihalash orqali sifat (QbD): sifat sinovdan emas, loyihadan keladi.</a:t>
            </a:r>
          </a:p>
          <a:p>
            <a:pPr>
              <a:spcAft>
                <a:spcPts val="800"/>
              </a:spcAft>
            </a:pPr>
            <a:r>
              <a:rPr sz="1800">
                <a:solidFill>
                  <a:srgbClr val="1F2937"/>
                </a:solidFill>
                <a:latin typeface="Calibri"/>
              </a:rPr>
              <a:t>▸  Muhim sifat atributlari (CQA) belgilangan oraliqda bo‘lishi kerak; ular kichik hajmda aniqlanadi.</a:t>
            </a:r>
          </a:p>
          <a:p>
            <a:pPr>
              <a:spcAft>
                <a:spcPts val="800"/>
              </a:spcAft>
            </a:pPr>
            <a:r>
              <a:rPr sz="1800">
                <a:solidFill>
                  <a:srgbClr val="1F2937"/>
                </a:solidFill>
                <a:latin typeface="Calibri"/>
              </a:rPr>
              <a:t>▸  Katta hajmda kichik o‘zgarish seriyalararo farq beradi va xavfsizlikni buzishi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Terapevtik maqsadni tushunish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Sifat atributlarini aniqlash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CQA chegaralarini belgilash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Jarayon tahlili (PAT) o‘lchovi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Seriyalar bir xilligi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Sifatni loyihalash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seriyalararo farq va sifat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(faraz): nanodori kichik hajmda yaxshi ishlagan. Ishlab chiqarish kengaytirilgach, seriyalar orasida zarracha o‘lchami o‘zgargan.</a:t>
            </a:r>
          </a:p>
          <a:p>
            <a:pPr>
              <a:spcAft>
                <a:spcPts val="1200"/>
              </a:spcAft>
            </a:pPr>
            <a:r>
              <a:rPr sz="2200">
                <a:solidFill>
                  <a:srgbClr val="1F2937"/>
                </a:solidFill>
                <a:latin typeface="Calibri"/>
              </a:rPr>
              <a:t>▸  Katta masshtabda jarayondagi kichik o‘zgarishlar fizik-kimyoviy xususiyatlarni o‘zgartiradi. Bu sifatga, xavfsizlikka va davolash natijasiga ta’sir qiladi.</a:t>
            </a:r>
          </a:p>
          <a:p>
            <a:pPr>
              <a:spcAft>
                <a:spcPts val="1200"/>
              </a:spcAft>
            </a:pPr>
            <a:r>
              <a:rPr sz="2200">
                <a:solidFill>
                  <a:srgbClr val="1F2937"/>
                </a:solidFill>
                <a:latin typeface="Calibri"/>
              </a:rPr>
              <a:t>▸  Kritik sifat atributlari (CQA) belgilangan oraliqda bo‘lishi kerak. O‘lcham ham shulardan: 100 nm dan kichik zarrachani har qanday hujayra qamraydi, toksiklik xavfi yuqoriroq.</a:t>
            </a:r>
          </a:p>
          <a:p>
            <a:pPr>
              <a:spcAft>
                <a:spcPts val="1200"/>
              </a:spcAft>
            </a:pPr>
            <a:r>
              <a:rPr sz="2200">
                <a:solidFill>
                  <a:srgbClr val="1F2937"/>
                </a:solidFill>
                <a:latin typeface="Calibri"/>
              </a:rPr>
              <a:t>▸  Savol: qaysi CQA ni birinchi tekshirasiz va o‘lcham o‘zgarishi bemor xavfsizligiga qanday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Atrof-muhit xavfi va nazoratsiz o‘z-o‘zidan yig‘ilish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Nanomiqyosda xossalar yirik materialdan farq qiladi. Bu biologik tizimlar va atrof-muhit bilan zararli o‘zaro ta’sir va toksiklik xavfini tug‘dirishi mumkin.</a:t>
            </a:r>
          </a:p>
          <a:p>
            <a:pPr>
              <a:spcAft>
                <a:spcPts val="1200"/>
              </a:spcAft>
            </a:pPr>
            <a:r>
              <a:rPr sz="2200">
                <a:solidFill>
                  <a:srgbClr val="1F2937"/>
                </a:solidFill>
                <a:latin typeface="Calibri"/>
              </a:rPr>
              <a:t>▸  Xavotirlar qatorida nanomateriallarning atrof-muhitda va inson tanasida saqlanib qolishi ham sanaladi.</a:t>
            </a:r>
          </a:p>
          <a:p>
            <a:pPr>
              <a:spcAft>
                <a:spcPts val="1200"/>
              </a:spcAft>
            </a:pPr>
            <a:r>
              <a:rPr sz="2200">
                <a:solidFill>
                  <a:srgbClr val="1F2937"/>
                </a:solidFill>
                <a:latin typeface="Calibri"/>
              </a:rPr>
              <a:t>▸  Ekotizim va biologik xilma-xillikka ta’siri xavf sifatida tilga olingan. Manbadan olingan matnda bu bo‘lim tafsilotlari yo‘q.</a:t>
            </a:r>
          </a:p>
          <a:p>
            <a:pPr>
              <a:spcAft>
                <a:spcPts val="1200"/>
              </a:spcAft>
            </a:pPr>
            <a:r>
              <a:rPr sz="2200">
                <a:solidFill>
                  <a:srgbClr val="1F2937"/>
                </a:solidFill>
                <a:latin typeface="Calibri"/>
              </a:rPr>
              <a:t>▸  Diqqat: hujjatlashtirilgan xavf ≠ fantastik taxmin. Dreksler o‘z-o‘zidan yig‘iluvchi zarrachalarning nazoratsiz tarqalishidan qo‘rqadi, mualliflar esa bu hali uzoq, deydi.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 Soares et al., Nanomedicine: Principles, betlar: PMID 30177965; Ma et al., Nanotechnology in healthcare, betlar: PMID 39548502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Nazoratni saqlash: teskari aloqa va biodegradatsiya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Teskari aloqa mexanizmi bo‘lmasa, dori nanozarrachalari «nazoratdan chiqib» ketishi mumkin.</a:t>
            </a:r>
          </a:p>
          <a:p>
            <a:pPr>
              <a:spcAft>
                <a:spcPts val="800"/>
              </a:spcAft>
            </a:pPr>
            <a:r>
              <a:rPr sz="1800">
                <a:solidFill>
                  <a:srgbClr val="1F2937"/>
                </a:solidFill>
                <a:latin typeface="Calibri"/>
              </a:rPr>
              <a:t>▸  Biodegradatsiyalanuvchi yoki tabiiy tarkibli zarrachalar metabolizm va ajralish orqali tanadan chiqariladi.</a:t>
            </a:r>
          </a:p>
          <a:p>
            <a:pPr>
              <a:spcAft>
                <a:spcPts val="800"/>
              </a:spcAft>
            </a:pPr>
            <a:r>
              <a:rPr sz="1800">
                <a:solidFill>
                  <a:srgbClr val="1F2937"/>
                </a:solidFill>
                <a:latin typeface="Calibri"/>
              </a:rPr>
              <a:t>▸  «Homing» qurilmasi zarrachani vazifasidan so‘ng yig‘ib olib, tanadan chiqarishga imkon beradi.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Dori nanozarracha yuboriladi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Vazifasini bajaradi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Biodegradatsiya / homing</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Ajralish yoki yig‘ib olish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Tanadan chiqadi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Nazorat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nazoratdan chiqqan zarrachalar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dori tashuvchi nanozarracha biodegradatsiyalanmaydi. Tanada qolgan bunday material immun tizim ishini o‘zgartirishi mumkin.</a:t>
            </a:r>
          </a:p>
          <a:p>
            <a:pPr>
              <a:spcAft>
                <a:spcPts val="1200"/>
              </a:spcAft>
            </a:pPr>
            <a:r>
              <a:rPr sz="2200">
                <a:solidFill>
                  <a:srgbClr val="1F2937"/>
                </a:solidFill>
                <a:latin typeface="Calibri"/>
              </a:rPr>
              <a:t>▸  Teskari aloqa mexanizmi bo‘lmasa, dori tashuvchi zarrachalar “nazoratdan chiqishi” mumkin.</a:t>
            </a:r>
          </a:p>
          <a:p>
            <a:pPr>
              <a:spcAft>
                <a:spcPts val="1200"/>
              </a:spcAft>
            </a:pPr>
            <a:r>
              <a:rPr sz="2200">
                <a:solidFill>
                  <a:srgbClr val="1F2937"/>
                </a:solidFill>
                <a:latin typeface="Calibri"/>
              </a:rPr>
              <a:t>▸  Muhokama: zarrachani biodegradatsiyalanadigan qilish yoki “homing” qurilmasi bilan yig‘ib olish. Munozara ilmiy fantastikasiz, fanga tayanadi.</a:t>
            </a:r>
          </a:p>
          <a:p>
            <a:pPr>
              <a:spcAft>
                <a:spcPts val="1200"/>
              </a:spcAft>
            </a:pPr>
            <a:r>
              <a:rPr sz="2200">
                <a:solidFill>
                  <a:srgbClr val="1F2937"/>
                </a:solidFill>
                <a:latin typeface="Calibri"/>
              </a:rPr>
              <a:t>▸  Savol: xavf qanday kamaytiriladi? Zarar yetkazmaslik, yaxshilik va bemor avtonomiyasi to‘qnashsa, qaysi biri ustun turadi?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 Ebbesen et al., Nanomedicine: Techniques, betlar: PMID 17489016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Bioetikaning to‘rt tamoyili nanotibbiyotda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Eslab qoling: 4 tamoyil — avtonomiya, yaxshilik, zarar yetkazmaslik, adolat; nanotibbiyotda ham o‘shalar ishlaydi.</a:t>
            </a:r>
          </a:p>
          <a:p>
            <a:pPr>
              <a:spcAft>
                <a:spcPts val="800"/>
              </a:spcAft>
            </a:pPr>
            <a:r>
              <a:rPr sz="1800">
                <a:solidFill>
                  <a:srgbClr val="1F2937"/>
                </a:solidFill>
                <a:latin typeface="Calibri"/>
              </a:rPr>
              <a:t>▸  Tamoyillar prima facie majburiy: kuchliroq majburiyat to‘qnashmaguncha ular bajarilishi shart.</a:t>
            </a:r>
          </a:p>
          <a:p>
            <a:pPr>
              <a:spcAft>
                <a:spcPts val="800"/>
              </a:spcAft>
            </a:pPr>
            <a:r>
              <a:rPr sz="1800">
                <a:solidFill>
                  <a:srgbClr val="1F2937"/>
                </a:solidFill>
                <a:latin typeface="Calibri"/>
              </a:rPr>
              <a:t>▸  Diqqat: birorta tamoyil boshqasidan yuqori turmaydi; og‘irlikni vaziyat belgilaydi.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Tamoyil</a:t>
                      </a:r>
                    </a:p>
                  </a:txBody>
                  <a:tcPr marL="73152" marR="73152" marT="36576" marB="36576">
                    <a:solidFill>
                      <a:srgbClr val="0B1F3A"/>
                    </a:solidFill>
                  </a:tcPr>
                </a:tc>
                <a:tc>
                  <a:txBody>
                    <a:bodyPr/>
                    <a:lstStyle/>
                    <a:p>
                      <a:r>
                        <a:rPr sz="1800" b="1">
                          <a:solidFill>
                            <a:srgbClr val="FFFFFF"/>
                          </a:solidFill>
                        </a:rPr>
                        <a:t>Misol</a:t>
                      </a:r>
                    </a:p>
                  </a:txBody>
                  <a:tcPr marL="73152" marR="73152" marT="36576" marB="36576">
                    <a:solidFill>
                      <a:srgbClr val="0B1F3A"/>
                    </a:solidFill>
                  </a:tcPr>
                </a:tc>
              </a:tr>
              <a:tr h="614476">
                <a:tc>
                  <a:txBody>
                    <a:bodyPr/>
                    <a:lstStyle/>
                    <a:p>
                      <a:r>
                        <a:rPr sz="1700" b="0">
                          <a:solidFill>
                            <a:srgbClr val="1F2937"/>
                          </a:solidFill>
                        </a:rPr>
                        <a:t>Avtonomiyaga hurmat</a:t>
                      </a:r>
                    </a:p>
                  </a:txBody>
                  <a:tcPr marL="73152" marR="73152" marT="36576" marB="36576">
                    <a:solidFill>
                      <a:srgbClr val="E8EEF6"/>
                    </a:solidFill>
                  </a:tcPr>
                </a:tc>
                <a:tc>
                  <a:txBody>
                    <a:bodyPr/>
                    <a:lstStyle/>
                    <a:p>
                      <a:r>
                        <a:rPr sz="1700" b="0">
                          <a:solidFill>
                            <a:srgbClr val="1F2937"/>
                          </a:solidFill>
                        </a:rPr>
                        <a:t>Bemor roziligi; kelajak avlod roziligi yo‘q</a:t>
                      </a:r>
                    </a:p>
                  </a:txBody>
                  <a:tcPr marL="73152" marR="73152" marT="36576" marB="36576">
                    <a:solidFill>
                      <a:srgbClr val="E8EEF6"/>
                    </a:solidFill>
                  </a:tcPr>
                </a:tc>
              </a:tr>
              <a:tr h="614476">
                <a:tc>
                  <a:txBody>
                    <a:bodyPr/>
                    <a:lstStyle/>
                    <a:p>
                      <a:r>
                        <a:rPr sz="1700" b="0">
                          <a:solidFill>
                            <a:srgbClr val="1F2937"/>
                          </a:solidFill>
                        </a:rPr>
                        <a:t>Yaxshilik qilish</a:t>
                      </a:r>
                    </a:p>
                  </a:txBody>
                  <a:tcPr marL="73152" marR="73152" marT="36576" marB="36576">
                    <a:solidFill>
                      <a:srgbClr val="FFFFFF"/>
                    </a:solidFill>
                  </a:tcPr>
                </a:tc>
                <a:tc>
                  <a:txBody>
                    <a:bodyPr/>
                    <a:lstStyle/>
                    <a:p>
                      <a:r>
                        <a:rPr sz="1700" b="0">
                          <a:solidFill>
                            <a:srgbClr val="1F2937"/>
                          </a:solidFill>
                        </a:rPr>
                        <a:t>Og‘ir kasallikni davolashdan olinadigan foyda</a:t>
                      </a:r>
                    </a:p>
                  </a:txBody>
                  <a:tcPr marL="73152" marR="73152" marT="36576" marB="36576">
                    <a:solidFill>
                      <a:srgbClr val="FFFFFF"/>
                    </a:solidFill>
                  </a:tcPr>
                </a:tc>
              </a:tr>
              <a:tr h="614476">
                <a:tc>
                  <a:txBody>
                    <a:bodyPr/>
                    <a:lstStyle/>
                    <a:p>
                      <a:r>
                        <a:rPr sz="1700" b="0">
                          <a:solidFill>
                            <a:srgbClr val="1F2937"/>
                          </a:solidFill>
                        </a:rPr>
                        <a:t>Zarar yetkazmaslik</a:t>
                      </a:r>
                    </a:p>
                  </a:txBody>
                  <a:tcPr marL="73152" marR="73152" marT="36576" marB="36576">
                    <a:solidFill>
                      <a:srgbClr val="E8EEF6"/>
                    </a:solidFill>
                  </a:tcPr>
                </a:tc>
                <a:tc>
                  <a:txBody>
                    <a:bodyPr/>
                    <a:lstStyle/>
                    <a:p>
                      <a:r>
                        <a:rPr sz="1700" b="0">
                          <a:solidFill>
                            <a:srgbClr val="1F2937"/>
                          </a:solidFill>
                        </a:rPr>
                        <a:t>Zarrachalar toksikligi, nazoratdan chiqishi</a:t>
                      </a:r>
                    </a:p>
                  </a:txBody>
                  <a:tcPr marL="73152" marR="73152" marT="36576" marB="36576">
                    <a:solidFill>
                      <a:srgbClr val="E8EEF6"/>
                    </a:solidFill>
                  </a:tcPr>
                </a:tc>
              </a:tr>
              <a:tr h="614476">
                <a:tc>
                  <a:txBody>
                    <a:bodyPr/>
                    <a:lstStyle/>
                    <a:p>
                      <a:r>
                        <a:rPr sz="1700" b="0">
                          <a:solidFill>
                            <a:srgbClr val="1F2937"/>
                          </a:solidFill>
                        </a:rPr>
                        <a:t>Adolat</a:t>
                      </a:r>
                    </a:p>
                  </a:txBody>
                  <a:tcPr marL="73152" marR="73152" marT="36576" marB="36576">
                    <a:solidFill>
                      <a:srgbClr val="FFFFFF"/>
                    </a:solidFill>
                  </a:tcPr>
                </a:tc>
                <a:tc>
                  <a:txBody>
                    <a:bodyPr/>
                    <a:lstStyle/>
                    <a:p>
                      <a:r>
                        <a:rPr sz="1700" b="0">
                          <a:solidFill>
                            <a:srgbClr val="1F2937"/>
                          </a:solidFill>
                        </a:rPr>
                        <a:t>Davoni kim oladi? Resurs taqsimoti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Tamoyillar va misollar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Xavf-foyda tahlili va xavfni boshqarish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Xavf — kelajakda zarar bo‘lishi ehtimoli; zarar — hayot, salomatlik manfaatiga putur yetishi.</a:t>
            </a:r>
          </a:p>
          <a:p>
            <a:pPr>
              <a:spcAft>
                <a:spcPts val="800"/>
              </a:spcAft>
            </a:pPr>
            <a:r>
              <a:rPr sz="1800">
                <a:solidFill>
                  <a:srgbClr val="1F2937"/>
                </a:solidFill>
                <a:latin typeface="Calibri"/>
              </a:rPr>
              <a:t>▸  Foyda–xavf nisbatida kutilgan foyda va zarar ehtimoli hamda kattaligi solishtiriladi.</a:t>
            </a:r>
          </a:p>
          <a:p>
            <a:pPr>
              <a:spcAft>
                <a:spcPts val="800"/>
              </a:spcAft>
            </a:pPr>
            <a:r>
              <a:rPr sz="1800">
                <a:solidFill>
                  <a:srgbClr val="1F2937"/>
                </a:solidFill>
                <a:latin typeface="Calibri"/>
              </a:rPr>
              <a:t>▸  Zarar yetkazmaslik majburiyati yaxshilik qilishdan kuchliroq; xavfni boshqarish ham axloqiy masala.</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Xavf va foydani aniqlash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Ehtimol va kattalikni baholash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Qiymat berib solishtirish</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Xavfni boshqarish (kamaytirish)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Baholashdan boshqarishgacha</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4: etika tamoyillari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1: qaysi majburiyat qat’iyroq — zarar yetkazmaslik (nonmaleficence) yoki yaxshilik qilish (beneficence)? Javob: zarar yetkazmaslik qat’iyroq.</a:t>
            </a:r>
          </a:p>
          <a:p>
            <a:pPr>
              <a:spcAft>
                <a:spcPts val="1200"/>
              </a:spcAft>
            </a:pPr>
            <a:r>
              <a:rPr sz="2000">
                <a:solidFill>
                  <a:srgbClr val="1F2937"/>
                </a:solidFill>
                <a:latin typeface="Calibri"/>
              </a:rPr>
              <a:t>▸  Savol 2: yaxshilik qilish nimani talab qiladi? Zararning oldini olish, uni yo‘qotish va yaxshilikni ilgari surish uchun faol harakat qilishni.</a:t>
            </a:r>
          </a:p>
          <a:p>
            <a:pPr>
              <a:spcAft>
                <a:spcPts val="1200"/>
              </a:spcAft>
            </a:pPr>
            <a:r>
              <a:rPr sz="2000">
                <a:solidFill>
                  <a:srgbClr val="1F2937"/>
                </a:solidFill>
                <a:latin typeface="Calibri"/>
              </a:rPr>
              <a:t>▸  Savol 3: prima facie tamoyil nima? Teng yoki kuchliroq majburiyat to‘qnashmasa, albatta bajariladigan tamoyil. Hech biri boshqasidan yuqori turmaydi, vaznni vaziyat belgilaydi.</a:t>
            </a:r>
          </a:p>
          <a:p>
            <a:pPr>
              <a:spcAft>
                <a:spcPts val="1200"/>
              </a:spcAft>
            </a:pPr>
            <a:r>
              <a:rPr sz="2000">
                <a:solidFill>
                  <a:srgbClr val="1F2937"/>
                </a:solidFill>
                <a:latin typeface="Calibri"/>
              </a:rPr>
              <a:t>▸  Diqqat: yaxshilik ≠ zarar yetkazmaslik. Ular simmetrik emas: zarar yetkazmaslik faqat qasddan zararli ishdan o‘zini tiyishni talab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Somatik va germinal gen terapiyasi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Germinal terapiyada o‘zgarish davolangan shaxsga ham, uning avlodiga ham ta’sir qiladi.</a:t>
            </a:r>
          </a:p>
          <a:p>
            <a:pPr>
              <a:spcAft>
                <a:spcPts val="800"/>
              </a:spcAft>
            </a:pPr>
            <a:r>
              <a:rPr sz="1800">
                <a:solidFill>
                  <a:srgbClr val="1F2937"/>
                </a:solidFill>
                <a:latin typeface="Calibri"/>
              </a:rPr>
              <a:t>▸  Mori va Neri: konvensiya juda qattiq; huquqlar o‘zgarmas emas, ratsional dalilga ko‘ra o‘zgaradi.</a:t>
            </a:r>
          </a:p>
          <a:p>
            <a:pPr>
              <a:spcAft>
                <a:spcPts val="800"/>
              </a:spcAft>
            </a:pPr>
            <a:r>
              <a:rPr sz="1800">
                <a:solidFill>
                  <a:srgbClr val="1F2937"/>
                </a:solidFill>
                <a:latin typeface="Calibri"/>
              </a:rPr>
              <a:t>▸  Wivel va Walters: Tay-Sachs kabi monogen kasalliklarda germinal terapiya foydasi ustun bo‘lishi mumkin.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09750"/>
                <a:gridCol w="1455420"/>
                <a:gridCol w="2022805"/>
              </a:tblGrid>
              <a:tr h="61447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Somatik</a:t>
                      </a:r>
                    </a:p>
                  </a:txBody>
                  <a:tcPr marL="73152" marR="73152" marT="36576" marB="36576">
                    <a:solidFill>
                      <a:srgbClr val="0B1F3A"/>
                    </a:solidFill>
                  </a:tcPr>
                </a:tc>
                <a:tc>
                  <a:txBody>
                    <a:bodyPr/>
                    <a:lstStyle/>
                    <a:p>
                      <a:r>
                        <a:rPr sz="1600" b="1">
                          <a:solidFill>
                            <a:srgbClr val="FFFFFF"/>
                          </a:solidFill>
                        </a:rPr>
                        <a:t>Germinal</a:t>
                      </a:r>
                    </a:p>
                  </a:txBody>
                  <a:tcPr marL="73152" marR="73152" marT="36576" marB="36576">
                    <a:solidFill>
                      <a:srgbClr val="0B1F3A"/>
                    </a:solidFill>
                  </a:tcPr>
                </a:tc>
              </a:tr>
              <a:tr h="614476">
                <a:tc>
                  <a:txBody>
                    <a:bodyPr/>
                    <a:lstStyle/>
                    <a:p>
                      <a:r>
                        <a:rPr sz="1500" b="0">
                          <a:solidFill>
                            <a:srgbClr val="1F2937"/>
                          </a:solidFill>
                        </a:rPr>
                        <a:t>Ta’sir doirasi</a:t>
                      </a:r>
                    </a:p>
                  </a:txBody>
                  <a:tcPr marL="73152" marR="73152" marT="36576" marB="36576">
                    <a:solidFill>
                      <a:srgbClr val="E8EEF6"/>
                    </a:solidFill>
                  </a:tcPr>
                </a:tc>
                <a:tc>
                  <a:txBody>
                    <a:bodyPr/>
                    <a:lstStyle/>
                    <a:p>
                      <a:r>
                        <a:rPr sz="1500" b="0">
                          <a:solidFill>
                            <a:srgbClr val="1F2937"/>
                          </a:solidFill>
                        </a:rPr>
                        <a:t>Davolangan shaxs</a:t>
                      </a:r>
                    </a:p>
                  </a:txBody>
                  <a:tcPr marL="73152" marR="73152" marT="36576" marB="36576">
                    <a:solidFill>
                      <a:srgbClr val="E8EEF6"/>
                    </a:solidFill>
                  </a:tcPr>
                </a:tc>
                <a:tc>
                  <a:txBody>
                    <a:bodyPr/>
                    <a:lstStyle/>
                    <a:p>
                      <a:r>
                        <a:rPr sz="1500" b="0">
                          <a:solidFill>
                            <a:srgbClr val="1F2937"/>
                          </a:solidFill>
                        </a:rPr>
                        <a:t>Shaxs va uning avlodlari</a:t>
                      </a:r>
                    </a:p>
                  </a:txBody>
                  <a:tcPr marL="73152" marR="73152" marT="36576" marB="36576">
                    <a:solidFill>
                      <a:srgbClr val="E8EEF6"/>
                    </a:solidFill>
                  </a:tcPr>
                </a:tc>
              </a:tr>
              <a:tr h="614476">
                <a:tc>
                  <a:txBody>
                    <a:bodyPr/>
                    <a:lstStyle/>
                    <a:p>
                      <a:r>
                        <a:rPr sz="1500" b="0">
                          <a:solidFill>
                            <a:srgbClr val="1F2937"/>
                          </a:solidFill>
                        </a:rPr>
                        <a:t>Xavf va rozilik</a:t>
                      </a:r>
                    </a:p>
                  </a:txBody>
                  <a:tcPr marL="73152" marR="73152" marT="36576" marB="36576">
                    <a:solidFill>
                      <a:srgbClr val="FFFFFF"/>
                    </a:solidFill>
                  </a:tcPr>
                </a:tc>
                <a:tc>
                  <a:txBody>
                    <a:bodyPr/>
                    <a:lstStyle/>
                    <a:p>
                      <a:r>
                        <a:rPr sz="1500" b="0">
                          <a:solidFill>
                            <a:srgbClr val="1F2937"/>
                          </a:solidFill>
                        </a:rPr>
                        <a:t>Xavf tahlili, rozilik</a:t>
                      </a:r>
                    </a:p>
                  </a:txBody>
                  <a:tcPr marL="73152" marR="73152" marT="36576" marB="36576">
                    <a:solidFill>
                      <a:srgbClr val="FFFFFF"/>
                    </a:solidFill>
                  </a:tcPr>
                </a:tc>
                <a:tc>
                  <a:txBody>
                    <a:bodyPr/>
                    <a:lstStyle/>
                    <a:p>
                      <a:r>
                        <a:rPr sz="1500" b="0">
                          <a:solidFill>
                            <a:srgbClr val="1F2937"/>
                          </a:solidFill>
                        </a:rPr>
                        <a:t>Bu yetarli emas, farqlash kerak</a:t>
                      </a:r>
                    </a:p>
                  </a:txBody>
                  <a:tcPr marL="73152" marR="73152" marT="36576" marB="36576">
                    <a:solidFill>
                      <a:srgbClr val="FFFFFF"/>
                    </a:solidFill>
                  </a:tcPr>
                </a:tc>
              </a:tr>
              <a:tr h="614476">
                <a:tc>
                  <a:txBody>
                    <a:bodyPr/>
                    <a:lstStyle/>
                    <a:p>
                      <a:r>
                        <a:rPr sz="1500" b="0">
                          <a:solidFill>
                            <a:srgbClr val="1F2937"/>
                          </a:solidFill>
                        </a:rPr>
                        <a:t>Yevropa konvensiyasi, 1996</a:t>
                      </a:r>
                    </a:p>
                  </a:txBody>
                  <a:tcPr marL="73152" marR="73152" marT="36576" marB="36576">
                    <a:solidFill>
                      <a:srgbClr val="E8EEF6"/>
                    </a:solidFill>
                  </a:tcPr>
                </a:tc>
                <a:tc>
                  <a:txBody>
                    <a:bodyPr/>
                    <a:lstStyle/>
                    <a:p>
                      <a:r>
                        <a:rPr sz="1500" b="0">
                          <a:solidFill>
                            <a:srgbClr val="1F2937"/>
                          </a:solidFill>
                        </a:rPr>
                        <a:t>Davo maqsadida mumkin</a:t>
                      </a:r>
                    </a:p>
                  </a:txBody>
                  <a:tcPr marL="73152" marR="73152" marT="36576" marB="36576">
                    <a:solidFill>
                      <a:srgbClr val="E8EEF6"/>
                    </a:solidFill>
                  </a:tcPr>
                </a:tc>
                <a:tc>
                  <a:txBody>
                    <a:bodyPr/>
                    <a:lstStyle/>
                    <a:p>
                      <a:r>
                        <a:rPr sz="1500" b="0">
                          <a:solidFill>
                            <a:srgbClr val="1F2937"/>
                          </a:solidFill>
                        </a:rPr>
                        <a:t>Taqiqlangan</a:t>
                      </a:r>
                    </a:p>
                  </a:txBody>
                  <a:tcPr marL="73152" marR="73152" marT="36576" marB="36576">
                    <a:solidFill>
                      <a:srgbClr val="E8EEF6"/>
                    </a:solidFill>
                  </a:tcPr>
                </a:tc>
              </a:tr>
              <a:tr h="614476">
                <a:tc>
                  <a:txBody>
                    <a:bodyPr/>
                    <a:lstStyle/>
                    <a:p>
                      <a:r>
                        <a:rPr sz="1500" b="0">
                          <a:solidFill>
                            <a:srgbClr val="1F2937"/>
                          </a:solidFill>
                        </a:rPr>
                        <a:t>Avlod roziligi</a:t>
                      </a:r>
                    </a:p>
                  </a:txBody>
                  <a:tcPr marL="73152" marR="73152" marT="36576" marB="36576">
                    <a:solidFill>
                      <a:srgbClr val="FFFFFF"/>
                    </a:solidFill>
                  </a:tcPr>
                </a:tc>
                <a:tc>
                  <a:txBody>
                    <a:bodyPr/>
                    <a:lstStyle/>
                    <a:p>
                      <a:r>
                        <a:rPr sz="1500" b="0">
                          <a:solidFill>
                            <a:srgbClr val="1F2937"/>
                          </a:solidFill>
                        </a:rPr>
                        <a:t>Bemor rozilik beradi</a:t>
                      </a:r>
                    </a:p>
                  </a:txBody>
                  <a:tcPr marL="73152" marR="73152" marT="36576" marB="36576">
                    <a:solidFill>
                      <a:srgbClr val="FFFFFF"/>
                    </a:solidFill>
                  </a:tcPr>
                </a:tc>
                <a:tc>
                  <a:txBody>
                    <a:bodyPr/>
                    <a:lstStyle/>
                    <a:p>
                      <a:r>
                        <a:rPr sz="1500" b="0">
                          <a:solidFill>
                            <a:srgbClr val="1F2937"/>
                          </a:solidFill>
                        </a:rPr>
                        <a:t>Kelajak avlod rozilik bera olmaydi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Somatik va germinal terapiya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Davolash va ‘yaxshilash’ chegarasi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Terapiya mavjud kasallikni davolaydi, enhancement esa normallik chegarasidan oshadi; ammo chegara xira: vaksina immunitetni kuchaytiradi, xolesterin dorilari keksayishga qarshi turadi.</a:t>
            </a:r>
          </a:p>
          <a:p>
            <a:pPr>
              <a:spcAft>
                <a:spcPts val="1200"/>
              </a:spcAft>
            </a:pPr>
            <a:r>
              <a:rPr sz="2000">
                <a:solidFill>
                  <a:srgbClr val="1F2937"/>
                </a:solidFill>
                <a:latin typeface="Calibri"/>
              </a:rPr>
              <a:t>▸  Boström inson imkoniyatlarini genetik muhandislik bilan tubdan yaxshilashni olqishlaydi; Habermas esa o‘ziga xoslik va o‘zini anglashga ta’sir qilishidan xavotirda.</a:t>
            </a:r>
          </a:p>
          <a:p>
            <a:pPr>
              <a:spcAft>
                <a:spcPts val="1200"/>
              </a:spcAft>
            </a:pPr>
            <a:r>
              <a:rPr sz="2000">
                <a:solidFill>
                  <a:srgbClr val="1F2937"/>
                </a:solidFill>
                <a:latin typeface="Calibri"/>
              </a:rPr>
              <a:t>▸  Habermas: avlodni ongli loyihalash tasodif jihatini yo‘qotadi va kelajakdagi insonning erkinligini buzishi mumkin. Bola rozilik bera olmaydi, o‘zgarish esa qaytmas.</a:t>
            </a:r>
          </a:p>
          <a:p>
            <a:pPr>
              <a:spcAft>
                <a:spcPts val="1200"/>
              </a:spcAft>
            </a:pPr>
            <a:r>
              <a:rPr sz="2000">
                <a:solidFill>
                  <a:srgbClr val="1F2937"/>
                </a:solidFill>
                <a:latin typeface="Calibri"/>
              </a:rPr>
              <a:t>▸  Mualliflar fikricha, DNKning alohida axloqiy maqomi asoslanmagan; rentgen nurlari ham germinal mutatsiya keltirishi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Embrional ildiz hujayralar: uch pozitsiya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Savol: embrion qachon axloqiy maqom va qadr-qimmatga ega bo‘ladi? Urug‘lanishdan odamgacha rivojlanish uzluksiz jarayon.</a:t>
            </a:r>
          </a:p>
          <a:p>
            <a:pPr>
              <a:spcAft>
                <a:spcPts val="800"/>
              </a:spcAft>
            </a:pPr>
            <a:r>
              <a:rPr sz="1800">
                <a:solidFill>
                  <a:srgbClr val="1F2937"/>
                </a:solidFill>
                <a:latin typeface="Calibri"/>
              </a:rPr>
              <a:t>▸  IVF (probirkada urug‘lantirish)dan ortgan embrionlardan liniyalar olinadi; ularda rivojlanish imkoni bor.</a:t>
            </a:r>
          </a:p>
          <a:p>
            <a:pPr>
              <a:spcAft>
                <a:spcPts val="800"/>
              </a:spcAft>
            </a:pPr>
            <a:r>
              <a:rPr sz="1800">
                <a:solidFill>
                  <a:srgbClr val="1F2937"/>
                </a:solidFill>
                <a:latin typeface="Calibri"/>
              </a:rPr>
              <a:t>▸  Paradoks: tashlab yuborilgan IVF blastotsistalari haqida kam gapiriladi; mantiq ikkala holatda bir xil bo‘lishi kerak.</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869852"/>
                <a:gridCol w="1844592"/>
              </a:tblGrid>
              <a:tr h="614476">
                <a:tc>
                  <a:txBody>
                    <a:bodyPr/>
                    <a:lstStyle/>
                    <a:p>
                      <a:r>
                        <a:rPr sz="1600" b="1">
                          <a:solidFill>
                            <a:srgbClr val="FFFFFF"/>
                          </a:solidFill>
                        </a:rPr>
                        <a:t>Pozitsiya</a:t>
                      </a:r>
                    </a:p>
                  </a:txBody>
                  <a:tcPr marL="73152" marR="73152" marT="36576" marB="36576">
                    <a:solidFill>
                      <a:srgbClr val="0B1F3A"/>
                    </a:solidFill>
                  </a:tcPr>
                </a:tc>
                <a:tc>
                  <a:txBody>
                    <a:bodyPr/>
                    <a:lstStyle/>
                    <a:p>
                      <a:r>
                        <a:rPr sz="1600" b="1">
                          <a:solidFill>
                            <a:srgbClr val="FFFFFF"/>
                          </a:solidFill>
                        </a:rPr>
                        <a:t>Himoya</a:t>
                      </a:r>
                    </a:p>
                  </a:txBody>
                  <a:tcPr marL="73152" marR="73152" marT="36576" marB="36576">
                    <a:solidFill>
                      <a:srgbClr val="0B1F3A"/>
                    </a:solidFill>
                  </a:tcPr>
                </a:tc>
                <a:tc>
                  <a:txBody>
                    <a:bodyPr/>
                    <a:lstStyle/>
                    <a:p>
                      <a:r>
                        <a:rPr sz="1600" b="1">
                          <a:solidFill>
                            <a:srgbClr val="FFFFFF"/>
                          </a:solidFill>
                        </a:rPr>
                        <a:t>Davlatlar</a:t>
                      </a:r>
                    </a:p>
                  </a:txBody>
                  <a:tcPr marL="73152" marR="73152" marT="36576" marB="36576">
                    <a:solidFill>
                      <a:srgbClr val="0B1F3A"/>
                    </a:solidFill>
                  </a:tcPr>
                </a:tc>
              </a:tr>
              <a:tr h="614476">
                <a:tc>
                  <a:txBody>
                    <a:bodyPr/>
                    <a:lstStyle/>
                    <a:p>
                      <a:r>
                        <a:rPr sz="1500" b="0">
                          <a:solidFill>
                            <a:srgbClr val="1F2937"/>
                          </a:solidFill>
                        </a:rPr>
                        <a:t>Konservativ</a:t>
                      </a:r>
                    </a:p>
                  </a:txBody>
                  <a:tcPr marL="73152" marR="73152" marT="36576" marB="36576">
                    <a:solidFill>
                      <a:srgbClr val="E8EEF6"/>
                    </a:solidFill>
                  </a:tcPr>
                </a:tc>
                <a:tc>
                  <a:txBody>
                    <a:bodyPr/>
                    <a:lstStyle/>
                    <a:p>
                      <a:r>
                        <a:rPr sz="1500" b="0">
                          <a:solidFill>
                            <a:srgbClr val="1F2937"/>
                          </a:solidFill>
                        </a:rPr>
                        <a:t>Mutlaq; tadqiqot taqiqlangan</a:t>
                      </a:r>
                    </a:p>
                  </a:txBody>
                  <a:tcPr marL="73152" marR="73152" marT="36576" marB="36576">
                    <a:solidFill>
                      <a:srgbClr val="E8EEF6"/>
                    </a:solidFill>
                  </a:tcPr>
                </a:tc>
                <a:tc>
                  <a:txBody>
                    <a:bodyPr/>
                    <a:lstStyle/>
                    <a:p>
                      <a:r>
                        <a:rPr sz="1500" b="0">
                          <a:solidFill>
                            <a:srgbClr val="1F2937"/>
                          </a:solidFill>
                        </a:rPr>
                        <a:t>Irlandiya, Italiya, Norvegiya, Avstriya</a:t>
                      </a:r>
                    </a:p>
                  </a:txBody>
                  <a:tcPr marL="73152" marR="73152" marT="36576" marB="36576">
                    <a:solidFill>
                      <a:srgbClr val="E8EEF6"/>
                    </a:solidFill>
                  </a:tcPr>
                </a:tc>
              </a:tr>
              <a:tr h="614476">
                <a:tc>
                  <a:txBody>
                    <a:bodyPr/>
                    <a:lstStyle/>
                    <a:p>
                      <a:r>
                        <a:rPr sz="1500" b="0">
                          <a:solidFill>
                            <a:srgbClr val="1F2937"/>
                          </a:solidFill>
                        </a:rPr>
                        <a:t>Liberal</a:t>
                      </a:r>
                    </a:p>
                  </a:txBody>
                  <a:tcPr marL="73152" marR="73152" marT="36576" marB="36576">
                    <a:solidFill>
                      <a:srgbClr val="FFFFFF"/>
                    </a:solidFill>
                  </a:tcPr>
                </a:tc>
                <a:tc>
                  <a:txBody>
                    <a:bodyPr/>
                    <a:lstStyle/>
                    <a:p>
                      <a:r>
                        <a:rPr sz="1500" b="0">
                          <a:solidFill>
                            <a:srgbClr val="1F2937"/>
                          </a:solidFill>
                        </a:rPr>
                        <a:t>Nisbiy; qoldiq va maxsus hujayralar mumkin</a:t>
                      </a:r>
                    </a:p>
                  </a:txBody>
                  <a:tcPr marL="73152" marR="73152" marT="36576" marB="36576">
                    <a:solidFill>
                      <a:srgbClr val="FFFFFF"/>
                    </a:solidFill>
                  </a:tcPr>
                </a:tc>
                <a:tc>
                  <a:txBody>
                    <a:bodyPr/>
                    <a:lstStyle/>
                    <a:p>
                      <a:r>
                        <a:rPr sz="1500" b="0">
                          <a:solidFill>
                            <a:srgbClr val="1F2937"/>
                          </a:solidFill>
                        </a:rPr>
                        <a:t>Belgiya, Buyuk Britaniya, Shvetsiya</a:t>
                      </a:r>
                    </a:p>
                  </a:txBody>
                  <a:tcPr marL="73152" marR="73152" marT="36576" marB="36576">
                    <a:solidFill>
                      <a:srgbClr val="FFFFFF"/>
                    </a:solidFill>
                  </a:tcPr>
                </a:tc>
              </a:tr>
              <a:tr h="614476">
                <a:tc>
                  <a:txBody>
                    <a:bodyPr/>
                    <a:lstStyle/>
                    <a:p>
                      <a:r>
                        <a:rPr sz="1500" b="0">
                          <a:solidFill>
                            <a:srgbClr val="1F2937"/>
                          </a:solidFill>
                        </a:rPr>
                        <a:t>Oraliq</a:t>
                      </a:r>
                    </a:p>
                  </a:txBody>
                  <a:tcPr marL="73152" marR="73152" marT="36576" marB="36576">
                    <a:solidFill>
                      <a:srgbClr val="E8EEF6"/>
                    </a:solidFill>
                  </a:tcPr>
                </a:tc>
                <a:tc>
                  <a:txBody>
                    <a:bodyPr/>
                    <a:lstStyle/>
                    <a:p>
                      <a:r>
                        <a:rPr sz="1500" b="0">
                          <a:solidFill>
                            <a:srgbClr val="1F2937"/>
                          </a:solidFill>
                        </a:rPr>
                        <a:t>Faqat IVF qoldiqlari ruxsat</a:t>
                      </a:r>
                    </a:p>
                  </a:txBody>
                  <a:tcPr marL="73152" marR="73152" marT="36576" marB="36576">
                    <a:solidFill>
                      <a:srgbClr val="E8EEF6"/>
                    </a:solidFill>
                  </a:tcPr>
                </a:tc>
                <a:tc>
                  <a:txBody>
                    <a:bodyPr/>
                    <a:lstStyle/>
                    <a:p>
                      <a:r>
                        <a:rPr sz="1500" b="0">
                          <a:solidFill>
                            <a:srgbClr val="1F2937"/>
                          </a:solidFill>
                        </a:rPr>
                        <a:t>Daniya, Finlandiya, Gresiya</a:t>
                      </a:r>
                    </a:p>
                  </a:txBody>
                  <a:tcPr marL="73152" marR="73152" marT="36576" marB="36576">
                    <a:solidFill>
                      <a:srgbClr val="E8EEF6"/>
                    </a:solidFill>
                  </a:tcPr>
                </a:tc>
              </a:tr>
              <a:tr h="614476">
                <a:tc>
                  <a:txBody>
                    <a:bodyPr/>
                    <a:lstStyle/>
                    <a:p>
                      <a:r>
                        <a:rPr sz="1500" b="0">
                          <a:solidFill>
                            <a:srgbClr val="1F2937"/>
                          </a:solidFill>
                        </a:rPr>
                        <a:t>Oraliq (davomi)</a:t>
                      </a:r>
                    </a:p>
                  </a:txBody>
                  <a:tcPr marL="73152" marR="73152" marT="36576" marB="36576">
                    <a:solidFill>
                      <a:srgbClr val="FFFFFF"/>
                    </a:solidFill>
                  </a:tcPr>
                </a:tc>
                <a:tc>
                  <a:txBody>
                    <a:bodyPr/>
                    <a:lstStyle/>
                    <a:p>
                      <a:r>
                        <a:rPr sz="1500" b="0">
                          <a:solidFill>
                            <a:srgbClr val="1F2937"/>
                          </a:solidFill>
                        </a:rPr>
                        <a:t>Faqat IVF qoldiqlari ruxsat</a:t>
                      </a:r>
                    </a:p>
                  </a:txBody>
                  <a:tcPr marL="73152" marR="73152" marT="36576" marB="36576">
                    <a:solidFill>
                      <a:srgbClr val="FFFFFF"/>
                    </a:solidFill>
                  </a:tcPr>
                </a:tc>
                <a:tc>
                  <a:txBody>
                    <a:bodyPr/>
                    <a:lstStyle/>
                    <a:p>
                      <a:r>
                        <a:rPr sz="1500" b="0">
                          <a:solidFill>
                            <a:srgbClr val="1F2937"/>
                          </a:solidFill>
                        </a:rPr>
                        <a:t>Gollandiya, Ispaniya, Vengriya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yondashuv va davlatlar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Adolat: nanotibbiyot kimga xizmat qiladi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Agar nanotibbiyot oddiy xususiyatlarni yaxshilasa, “davo” kimga beriladi: yaxshi ahvoldagilargami yoki muhtojlargami?</a:t>
            </a:r>
          </a:p>
          <a:p>
            <a:pPr>
              <a:spcAft>
                <a:spcPts val="1200"/>
              </a:spcAft>
            </a:pPr>
            <a:r>
              <a:rPr sz="2200">
                <a:solidFill>
                  <a:srgbClr val="1F2937"/>
                </a:solidFill>
                <a:latin typeface="Calibri"/>
              </a:rPr>
              <a:t>▸  Bu yerda sog‘liq xizmatlarini jamiyatda adolatli taqsimlash printsipi xavf ostida. Bu masala umuman sog‘liqni saqlashda ham murakkab.</a:t>
            </a:r>
          </a:p>
          <a:p>
            <a:pPr>
              <a:spcAft>
                <a:spcPts val="1200"/>
              </a:spcAft>
            </a:pPr>
            <a:r>
              <a:rPr sz="2200">
                <a:solidFill>
                  <a:srgbClr val="1F2937"/>
                </a:solidFill>
                <a:latin typeface="Calibri"/>
              </a:rPr>
              <a:t>▸  Masala ijtimoiy oqibatlar bilan bog‘liq: fanni ustuvor qilish va tijoratlashtirish, jamoatchilik ishonchi, texnologiyalarda shaffoflik.</a:t>
            </a:r>
          </a:p>
          <a:p>
            <a:pPr>
              <a:spcAft>
                <a:spcPts val="1200"/>
              </a:spcAft>
            </a:pPr>
            <a:r>
              <a:rPr sz="2200">
                <a:solidFill>
                  <a:srgbClr val="1F2937"/>
                </a:solidFill>
                <a:latin typeface="Calibri"/>
              </a:rPr>
              <a:t>▸  Ochiq savollar: nanotexnologiyadan kim foyda ko‘rishi kerak? Rivojlanayotgan mamlakatlar oldida mas‘uliyatimiz bormi?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germinal terapiya yoki skrining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ikkala ota-ona retsessiv kasallik bo‘yicha geterozigota. Fenotipik normal bola tug‘ilish ehtimoli 75%.</a:t>
            </a:r>
          </a:p>
          <a:p>
            <a:pPr>
              <a:spcAft>
                <a:spcPts val="1200"/>
              </a:spcAft>
            </a:pPr>
            <a:r>
              <a:rPr sz="2200">
                <a:solidFill>
                  <a:srgbClr val="1F2937"/>
                </a:solidFill>
                <a:latin typeface="Calibri"/>
              </a:rPr>
              <a:t>▸  Odatiy yo‘l: homiladorlikda skrining o‘tkaziladi; homila mutant allel bo‘yicha gomozigota bo‘lsa, tanlab abort qilinadi.</a:t>
            </a:r>
          </a:p>
          <a:p>
            <a:pPr>
              <a:spcAft>
                <a:spcPts val="1200"/>
              </a:spcAft>
            </a:pPr>
            <a:r>
              <a:rPr sz="2200">
                <a:solidFill>
                  <a:srgbClr val="1F2937"/>
                </a:solidFill>
                <a:latin typeface="Calibri"/>
              </a:rPr>
              <a:t>▸  Muqobil: germinal genetik modifikatsiya. Lesh–Naiyan, Tey–Saks, metaxromatik leykodistrofiya mumkin nomzodlar deb ko‘riladi.</a:t>
            </a:r>
          </a:p>
          <a:p>
            <a:pPr>
              <a:spcAft>
                <a:spcPts val="1200"/>
              </a:spcAft>
            </a:pPr>
            <a:r>
              <a:rPr sz="2200">
                <a:solidFill>
                  <a:srgbClr val="1F2937"/>
                </a:solidFill>
                <a:latin typeface="Calibri"/>
              </a:rPr>
              <a:t>▸  Savol: yaxshilik printsipi kelajak avlod avtonomiyasidan ustun bo‘lishi mumkinmi? Xatolar qaytarilmasligi ham hisobga olinsin.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Tartibga solish va bozorga chiqish (Yevropa Ittifoqi)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Yevropa Komissiyasi (YeK): zarrachalarning ≥50% i 1–100 nm bo‘lsa — nanomaterial; bu xavfni baholamaydi.</a:t>
            </a:r>
          </a:p>
          <a:p>
            <a:pPr>
              <a:spcAft>
                <a:spcPts val="800"/>
              </a:spcAft>
            </a:pPr>
            <a:r>
              <a:rPr sz="1800">
                <a:solidFill>
                  <a:srgbClr val="1F2937"/>
                </a:solidFill>
                <a:latin typeface="Calibri"/>
              </a:rPr>
              <a:t>▸  Yevropa dori agentligi (EMA) hujjatlar chiqargan; nanooxshashlar (nanosimilars) qoidasi hali tugallanmagan.</a:t>
            </a:r>
          </a:p>
          <a:p>
            <a:pPr>
              <a:spcAft>
                <a:spcPts val="800"/>
              </a:spcAft>
            </a:pPr>
            <a:r>
              <a:rPr sz="1800">
                <a:solidFill>
                  <a:srgbClr val="1F2937"/>
                </a:solidFill>
                <a:latin typeface="Calibri"/>
              </a:rPr>
              <a:t>▸  Narx qarorlari har bir davlatda alohida; HTA (sog‘liqni saqlash texnologiyalarini baholash) ma’lumot beradi.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YeK ta’rifi: 1–100 nm</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EMA hujjatlari va maslahat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Savdo ruxsati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Davlatda narx va qoplash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HTA: xavfsizlik, samara, narx</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Nanodori yo‘li: ta’rifdan bemorgacha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Soares et al., Nanomedicine: Principles, betlar: PMID 30177965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Axborot xavfsizligi, shaffoflik va ishonch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berilgan manbalarda shaxsiy ma’lumot va axborot xavfsizligi masalasi to‘g‘ridan-to‘g‘ri yoritilmagan; uni alohida manbadan to‘ldirish kerak.</a:t>
            </a:r>
          </a:p>
          <a:p>
            <a:pPr>
              <a:spcAft>
                <a:spcPts val="1200"/>
              </a:spcAft>
            </a:pPr>
            <a:r>
              <a:rPr sz="2200">
                <a:solidFill>
                  <a:srgbClr val="1F2937"/>
                </a:solidFill>
                <a:latin typeface="Calibri"/>
              </a:rPr>
              <a:t>▸  Mualliflar jamoatchilik ishonchi va shaffoflikni nanotexnologiyaning jamiyatga ta’siri sifatida ko‘rsatadi; foydani kim oladi — ochiq savol.</a:t>
            </a:r>
          </a:p>
          <a:p>
            <a:pPr>
              <a:spcAft>
                <a:spcPts val="1200"/>
              </a:spcAft>
            </a:pPr>
            <a:r>
              <a:rPr sz="2200">
                <a:solidFill>
                  <a:srgbClr val="1F2937"/>
                </a:solidFill>
                <a:latin typeface="Calibri"/>
              </a:rPr>
              <a:t>▸  Yevropa tarmog‘i EUnetHTA yangi dorilar kirishini uyg‘unlashtirib, aniq va shaffof ma’lumot tayyorlashni maqsad qiladi.</a:t>
            </a:r>
          </a:p>
          <a:p>
            <a:pPr>
              <a:spcAft>
                <a:spcPts val="1200"/>
              </a:spcAft>
            </a:pPr>
            <a:r>
              <a:rPr sz="2200">
                <a:solidFill>
                  <a:srgbClr val="1F2937"/>
                </a:solidFill>
                <a:latin typeface="Calibri"/>
              </a:rPr>
              <a:t>▸  Xalqaro standart usullar va etalon nanomaterial natijalarni solishtirish imkonini beradi; hozir tajribalar ko‘pincha o‘zaro mos kelmaydi.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 Soares et al., Nanomedicine: Principles, betlar: PMID 30177965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fan va etikani birgalikda qo‘llash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Nanotibbiyotda ham o‘sha tamoyillar amal qiladi: avtonomiyaga hurmat, ezgulik, zarar yetkazmaslik, adolat; faqat muammolar murakkabroq.</a:t>
            </a:r>
          </a:p>
          <a:p>
            <a:pPr>
              <a:spcAft>
                <a:spcPts val="1200"/>
              </a:spcAft>
            </a:pPr>
            <a:r>
              <a:rPr sz="2200">
                <a:solidFill>
                  <a:srgbClr val="1F2937"/>
                </a:solidFill>
                <a:latin typeface="Calibri"/>
              </a:rPr>
              <a:t>▸  Xavfsizlik va adolat: zaharlilik va nazoratsiz ishlash xavfi tahlil qilinadi; nanodavodan kim foydalanishi adolat masalasidir.</a:t>
            </a:r>
          </a:p>
          <a:p>
            <a:pPr>
              <a:spcAft>
                <a:spcPts val="1200"/>
              </a:spcAft>
            </a:pPr>
            <a:r>
              <a:rPr sz="2200">
                <a:solidFill>
                  <a:srgbClr val="1F2937"/>
                </a:solidFill>
                <a:latin typeface="Calibri"/>
              </a:rPr>
              <a:t>▸  Innovatsiya xavfsizlik va atrof-muhitni asrash bilan muvozanatda bo‘lishi kerak; sohaga mas’uliyatli yondashuv zarur.</a:t>
            </a:r>
          </a:p>
          <a:p>
            <a:pPr>
              <a:spcAft>
                <a:spcPts val="1200"/>
              </a:spcAft>
            </a:pPr>
            <a:r>
              <a:rPr sz="2200">
                <a:solidFill>
                  <a:srgbClr val="1F2937"/>
                </a:solidFill>
                <a:latin typeface="Calibri"/>
              </a:rPr>
              <a:t>▸  Yakuniy savollar: kim davolanadi? Qancha xavf maqbul? Ishonchni qanday saqlash mumkin? Muhokama fanga tayansin, fantastikaga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Ebbesen et al., Nanomedicine: Techniques, betlar: PMID 17489016; Ma et al., Nanotechnology in healthcare, betlar: PMID 39548502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Davolash va “yaxshilash” (enhancement) chegarasi xira. Vaksina ham immun tizimni kuchaytiradi, xolesterinni tushiruvchi dorilar va yurak-o‘pka reanimatsiyasi esa keksayish jarayoniga qarshi turadi. Shu sababli “normal sog‘lom odam” nima ekanini aniq belgilash qiyin. Talabalarga savol: nanojarrohlik bilan infraqizil nurni ko‘ruvchi ko‘z davolashmi yoki yaxshilashmi?</a:t>
            </a:r>
          </a:p>
          <a:p>
            <a:pPr>
              <a:spcAft>
                <a:spcPts val="1200"/>
              </a:spcAft>
            </a:pPr>
            <a:r>
              <a:rPr sz="1800">
                <a:solidFill>
                  <a:srgbClr val="1F2937"/>
                </a:solidFill>
                <a:latin typeface="Calibri"/>
              </a:rPr>
              <a:t>▸  Eslab qolish usuli: bioetikaning to‘rt tamoyilini “A-Y-Z-A” deb yodlang: Avtonomiya, Yaxshilik qilish, Zarar yetkazmaslik, Adolat. Beauchamp va Childress bo‘yicha zarar yetkazmaslik majburiyati yaxshilik qilish majburiyatidan qat’iyroq. Nanozarrachalar “nazoratdan chiqishi” xavfi bu tamoyillarni bir-biriga qarama-qarshi qo‘yadi.</a:t>
            </a:r>
          </a:p>
          <a:p>
            <a:pPr>
              <a:spcAft>
                <a:spcPts val="1200"/>
              </a:spcAft>
            </a:pPr>
            <a:r>
              <a:rPr sz="1800">
                <a:solidFill>
                  <a:srgbClr val="1F2937"/>
                </a:solidFill>
                <a:latin typeface="Calibri"/>
              </a:rPr>
              <a:t>▸  Hodisa tahlili: Doxil® (FDA, 1995) nanozarrachali dori sifatida klinikaga birinchi kirdi. U faqat passiv EPR (kuchaytirilgan o‘tkazuvchanlik va ushlanib qolish) effektiga tayanadi, shuning uchun nishonga olish samaradorligi past va kardiotoksiklik saqlanib qoladi. Abraxane® (2005) albumin va SPARC oqsili orqali o‘simtaga yaxshiroq to‘planadi. Xulosa: xavfsizlikni nanodizayn aniqligi oshiradi.</a:t>
            </a:r>
          </a:p>
          <a:p>
            <a:pPr>
              <a:spcAft>
                <a:spcPts val="1200"/>
              </a:spcAft>
            </a:pPr>
            <a:r>
              <a:rPr sz="1800">
                <a:solidFill>
                  <a:srgbClr val="1F2937"/>
                </a:solidFill>
                <a:latin typeface="Calibri"/>
              </a:rPr>
              <a:t>▸  Nanozarracha hajmi uning taqdirini belgilaydi. 20–30 nm dan kichiklari buyrak orqali tez chiqadi, 200 nm va kattalari esa jigar, taloq va suyak ko‘migidagi makrofag tizimi tomonidan tutiladi. Keck va Müller bo‘yicha 100 nm dan kichik zarrachani istalgan hujayra endotsitoz bilan yutishi mumkin, kattasini esa faqat makrofaglar. Shu sababli kichik zarrachalarda toksiklik xavfi yuqoriroq hisoblanadi. Biologik parchalanmaydigan zarracha organizmda doimiy qoladi.</a:t>
            </a:r>
          </a:p>
          <a:p>
            <a:pPr>
              <a:spcAft>
                <a:spcPts val="1200"/>
              </a:spcAft>
            </a:pPr>
            <a:r>
              <a:rPr sz="1800">
                <a:solidFill>
                  <a:srgbClr val="1F2937"/>
                </a:solidFill>
                <a:latin typeface="Calibri"/>
              </a:rPr>
              <a:t>▸  Diqqat, xato qilish xavfi: “100 nm” qat’iy chegara emas. Yevropa Komissiyasi ta’rifida zarrachalarning kamida 50 foizi 1–100 nm bo‘lishi kerak. Materialning fizik-kimyoviy va biologik xususiyatlari 100 nm da keskin o‘zgarmaydi. Zarrachalar o‘lcham taqsimoti (PSD) hal qiluvchi, hajmga nisbatan yuza 60 m²/sm³ dan kam bo‘lsa ham material nanomaterial hisoblanishi mumkin. Ta’rif materialning xavfli yoki xavfsizligini bildirmaydi.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Nanotibbiyot va nanoetika: mohiyati, nanotexnologik mahsulotlar xavfsizligi, atrof-muhit,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Ebbesen et al. Nanomedicine: Techniques, Potentials, and Ethical Implications, Journal of Biomedicine and Biotechnology. 2006. PMID 17489016; DOI 10.1155/JBB/2006/51516</a:t>
            </a:r>
          </a:p>
          <a:p>
            <a:pPr>
              <a:spcAft>
                <a:spcPts val="800"/>
              </a:spcAft>
            </a:pPr>
            <a:r>
              <a:rPr sz="2000">
                <a:solidFill>
                  <a:srgbClr val="1F2937"/>
                </a:solidFill>
                <a:latin typeface="Calibri"/>
              </a:rPr>
              <a:t>▸  Ma et al. Nanotechnology in healthcare, and its safety and environmental risks, Journal of Nanobiotechnology. 2024. PMID 39548502; DOI 10.1186/s12951-024-02901-x</a:t>
            </a:r>
          </a:p>
          <a:p>
            <a:pPr>
              <a:spcAft>
                <a:spcPts val="800"/>
              </a:spcAft>
            </a:pPr>
            <a:r>
              <a:rPr sz="2000">
                <a:solidFill>
                  <a:srgbClr val="1F2937"/>
                </a:solidFill>
                <a:latin typeface="Calibri"/>
              </a:rPr>
              <a:t>▸  Soares et al. Nanomedicine: Principles, Properties, and Regulatory Issues, Frontiers in Chemistry. 2018. PMID 30177965; DOI 10.3389/fchem.2018.00360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