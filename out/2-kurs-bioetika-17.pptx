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Dars rejasi: (1) fMRI va EEG, (2) shikastdan keyingi holatlar, (3) bemor va oila axloqi, (4) neyroetika tamoyillari, (5) hype va kutilmalar. Uch manba: Weijer et al., Shook &amp; Giordano, Rusconi &amp; Mitchener-Nissen. Muhokama: nega ongni aniqlash axloqiy savol tug‘diradi? Doskada: dars rejasi sxemasini chizdiring. Tipik xato: neyrotasvirlashni ‘miyani o‘qish’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Qo‘shimcha fakt: fMRI tadqiqotlarida vegetativ deb tashxislanganlarning 17–19% ida bemor yotog‘idagi ko‘rikda sezilmaydigan ong saqlangan. Muhokama: nega bemorning tennis tasavvuri ‘refleks’ emas, ixtiyoriy javob hisoblanadi? Doskada: bemor – buyruq – miya javobi – natija zanjirini chizdiring. Tipik xato: EEG ni fMRI bilan bir xil deb o‘ylash. Tezkor savol: EEG ning fMRI dan ustunligi nima?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nima uchun xulq-atvorga asoslangan diagnoz xato qilishi mumkin? Oila uchun noto‘g‘ri diagnozning oqibati qanday? Doskada: koma → vegetativ yoki minimal ongli → tuzalish yo‘lini chizdiring. Tipik xato: vegetativ holatni komaning sinonimi deb hisoblash. Eslatma: vegetativ holat ‘unresponsive wakefulness syndrome’ deb ham ataladi.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faqat xulq-atvorga qarab tashxis qo‘yish xato ehtimolini oshiradi? 2) Noto‘g‘ri tashxis oila qarorlariga qanday ta’sir qiladi? Doskada: ikki ustunli solishtirma chizing (vegetativ va minimal ongli: anglash bor/yo‘q/izchil emas). Tipik xato: 43% ni har doim to‘g‘ri tashxisga tegishli deb o‘ylash; aslida bu xato darajasining yuqori chegarasi (“gacha”).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“Takroriy tekshiruv” nima uchun muhim? 2) Minimal ongli holat nega alohida toifa? Doskada: tashxis zanjirini chizing (takroriy tekshiruv, javob yo‘q, vegetativ tashxis). Tipik xato: vegetativ holatni komadan farqlamaslik; vegetativda uyg‘onish-uyqu sikli saqlanadi, komada bemor uyg‘otib bo‘lmaydigan holatda bo‘ladi.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miya javobi xulq-atvor javobining o‘rnini bosa oladi? 2) Manfiy natija nimani anglatadi? Doskada: flow sxemani o‘zingiz chizing va “ha/yo‘q” shoxlarini ko‘rsating. Tipik xato: tasavvur usulini oddiy refleks deb o‘ylash; bu ixtiyoriy, buyruq asosida o‘zgartirilgan miya faolligi.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Og‘riq haqida so‘rash nima uchun klinik jihatdan muhim? 2) Faqat “ha/yo‘q” javobi qaror qabul qilish layoqatini baholashga qanday to‘sqinlik qiladi? Doskada chizish: ikki ustun — “tennis = ha”, “uy bo‘ylab yurish = yo‘q”. Tipik xato: talabalar bu usulni oddiy ongli suhbat deb tushunadi; aslida javob miya faolligining o‘zgarishi orqali aniqlanadi.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Resurslari cheklangan shifoxonada qaysi usul ko‘proq qo‘llanishi mumkin va nega? 2) Tanqidlarga qaramay natijalarni qanday ishonchli qilish mumkin? Doskada chizish: jadvalni daftarga ko‘chirib, har qatorga bittadan misol yozing. Tipik xato: EEG ni fMRI dan ‘aniqroq’ deb o‘ylash; manbada EEG arzon va ko‘chma ekani aytilgan, aniqlik haqida emas.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Javoblar: 1) o‘zini va atrof-muhitni; 2) 43% gacha; 3) tennis o‘ynashni (“yo‘q” uchun uyda xonadan xonaga yurish). Muhokama: tashxis xatosi oilaga qanday ta’sir qiladi? Doskada chizish: ikki holatni “anglash: yo‘q” va “anglash: beqaror” deb ajrating. Tipik xato: minimal ong holatini vegetativ holat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ob’ektiv ko‘rsatkichlar bo‘lsa ham prognoz subyektiv bo‘lib qoladi? (2) Qaysi vosita nimani o‘lchashini izohlang. Doskada: uchta vosita va ularning "yomon belgi" ustunini jadval qilib chizdiring. Tipik xato: SSEPni miya tasviri deb o‘ylash; u median nerv bilan sensor korteks orasidagi yo‘l butunligini tekshiradi. Qo‘shimcha: koma 2–4 hafta davom etishi mumkin; bemor ko‘zini ochmaydi, faqat refleks javob beradi.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shifoxonalar o‘rtasidagi farq shifokorlarning uzoq muddatli prognozni turlicha baholashiga ishora qilishi mumkin? (2) “Imkoniyat oynasi” oila qaroriga qanday bosim qiladi? Doskada: shikastdan ventilyatorgacha vaqt chizig‘ini chizing va “oyna”ni belgilang. Tipik xato: 70% ni umumiy o‘lim deb o‘qish; u o‘limlarning HQD to‘xtatilishi bilan bog‘liq ulushi, 32% esa umumiy o‘lim.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(kichik guruhlarda). Muhokama: (1) Bemorning oldindan bildirgan istaklari qaror uchun qanchalik hal qiluvchi? (2) Neyrotasvirlash natijasi oilaga qanday yetkazilishi kerak? Kutiladigan javob: prognoz noaniq va funksional neyrotasvirlash mavjud bo‘lsa, qarordan oldin aniqroq prognoz tasvirini qurish bo‘yicha dastlabki (prima facie) majburiyat bor; qaror bemorning oldindan bildirgan istaklari va ishonchli prognozga asoslanishi kerak. Doskada: qaror daraxtini chizing (prognoz aniq / noaniq). Tipik xato: komadagi bemorda ong aniqlangan deb o‘ylash; hozircha hech kimda yashirin ong ko‘rsatilmagan.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‘ongsiz nutq qayta ishlash’ tanqidi muhim? 2) Sog‘lom ishtirokchilarda sinash nega argument bo‘la oladi? Doskada: tanqid → javob juftliklarini strelka bilan chizdiring. Tipik xato: talabalar fMRI faolligini har doim ong belgisi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Bemor faqat “ha/yo‘q” desa, qaror qobiliyatini qanday tekshirish mumkin? 2) Oila ijobiy natijaga qanday munosabatda bo‘lishi mumkin? Doskada: ikki ustun chizing — “davoni davom ettirish” va “to‘xtatish” dalillari. Tipik xato: ong aniqlansa, davoni to‘xtatish avtomatik noto‘g‘ri,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qobiliyat har bir qarorga alohida baholanadi? 2) Qaysi qarorlar yuqori xavfli hisoblanadi? Doskada: 5 tugunli zanjirni chizib, har bosqichga misol yozing. Tipik xato: qobiliyat bir marta baholansa, barcha qarorlarga yaraydi,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“Ruxsat berasizmi?” va “Og‘riq bormi?” savollari qaysi axloqiy asosga tayanadi? 2) Qaror qobiliyati bo‘lmasa, bemor manfaatlari yo‘qoladimi? Doskada chizing: ikki ustunli jadval, “Avtonomiya” va “Farovonlik”, har biriga bittadan namunaviy savol yozing. Tipik xato: farovonlik etikasini avtonomiya bilan aralashtirish yoki sezuvchanlik uchun aqliy qobiliyat shart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Qaysi yo‘l eng ishonchli va nima uchun? 2) Yurak urishi tezlashishi og‘riqning aniq dalilimi? Doskada chizing: ong doirasi ichida sezuvchanlik doirasi (neyroanatomik yo‘l sxemasi). Tipik xato: bu yo‘llarni isbotlangan natija deb o‘ylash, aslida ular muallif rejalashtirgan argument yo‘nalishlari.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tashqi kuzatuvchining taxmini bemorning o‘z bahosidan farq qilishi mumkin? 2) Faqat “ha/yo‘q” javoblar bilan hayot sifatini o‘lchash qanday cheklovlar tug‘diradi? Doskada chizing: ikki ustun, “Kuzatuvchi taxmini” va “Bemor bahosi”, o‘rtasiga locked-in misolini yozing. Tipik xato: locked-in sindromini vegetativ holat bilan bir xil deb hisoblash; locked-in bemorlarda aql saqlanadi.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Musbat natija nega oilaga ham quvonch, ham xavotir keltiradi? 2) Manfiy natijani oilaga qanday tushuntirish kerak? Doskada chizish: ikki ustunli jadval (musbat/manfiy natija va oilaga ta’siri). Tipik xato: manfiy natijani ‘bemor ongsiz’ deb talqin qilish. Aslida test shartlari buzilgan bo‘lishi ham mumkin. Qo‘shimcha: loyihada taxminan 30 oila ishtirok etadi, intervyular ikki marta (90 daqiqadan) o‘tkaziladi.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Reanimatsiya bo‘limidagi oila uchun individual natija foydalimi yoki zararlimi? 2) Natija ishonchli bo‘lmasa, oshkor qilish nima uchun xavfli? Doskada chizish: to‘rt mezonli zanjir va har biriga bittadan misol. Tipik xato: umumiy yakuniy natijalarni ulashish bilan individual natijani oshkor qilishni aralashtirish. Manbada koma bemorlarida hali hech kim yashirin ongni namoyon etmagani ta’kidlanadi.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Og‘riq haqidagi savol bilan davolashga rozilik savoli qanday farq qiladi? 2) Qobiliyat tushunish, anglash, mulohaza va muloqotdan iborat; bemor qaysi birini ko‘rsata oladi? Doskada chizish: ikki ustun, ‘Autonomiya → qobiliyat’ va ‘Farovonlik → manfaat’. Tipik xato: farovonlik etikasi uchun aqliy qobiliyat shart deb o‘ylash. Aslida manfaatlarning vazni aqliy qobiliyatga bog‘liq emas.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 2-3 kishilik guruhda javob topadi. Javoblar: 1) tushunish, baholay olish (appreciation), mulohaza yuritish va muloqot; muloqot (“ha/yo‘q” javobi) neyrotasvirlash orqali ko‘rsatilgan. 2) Farovonlik etikasida manfaat ratsional layoqatga bog‘liq emas, sezuvchanlikning o‘zi yetarli. 3) Manfiy natija bemor ongsiz ekanini yoki test sharoiti buzilganini (harakat qilgan, uxlab qolgan, e’tibor jamlay olmagan) bildirishi mumkin. Muhokama: oila “ongli” deb ishongan bo‘lsa, manfiy natijani qanday yetkazish kerak? Doskada: uch ustunli sxema chizing — Qobiliyat / Farovonlik / Oila. Tipik xato: manfiy natijani ongsizlik isboti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“sof tavsifiy” neyroetika mumkin emas? Kimdir ijtimoiy me’yorni tekshirishga tanlasa, bu allaqachon baho emasmi? Doskada: ikki yo‘nalishli strelka — “miya bilimi ⇄ o‘zini anglash ⇄ etika me’yori ⇄ texnologiya”. Tipik xato: bu ikki rejimni bir-biriga bog‘liq bo‘lmagan, alohida fanlar deb tushunish. Misollarni aralashtirmang: javobgarlik mezonini qayta ko‘rish — birinchi rejim, mahkumga miya modifikatsiyasi — ikkinchi rejim.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Sizning jamiyatingizda qaysi yangi tibbiy texnologiya bo‘yicha ikki lager bor? 2) Nega qonun va ijtimoiy me’yor nizoni hal qilmasligi mumkin? Doskada: ikki ustun — “Konservativ: an’ana” va “Progressiv: yangi tuzilma”, o‘rtasiga “umumiy ustuvor maqsad” deb yozing. Tipik xato: ijtimoiy me’yorni ob’ektiv haqiqat deb olish. Me’yor ko‘pchilik qabul qilgan qoida, uning to‘g‘riligini isbotlamaydi.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axloqiy nazariyani miya haqidagi fan bilan tekshirish mumkin? 2) Meta-etika oddiy etikadan nimasi bilan farq qiladi? Doskada: uch bosqichli zanjirni (qobiliyat, amaliyot, tamoyil) chizdiring va har biriga bittadan misol yozdiring. Tipik xato: meta-etikani tayyor axloq kodeksi deb tushunish. Manbada bu yangi meta-etika aniq bir axloq kodeksini bermaydi.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Naturalizm plyuralizmga nega zid emas? 2) Axloqni o‘rganish uni «to‘g‘ri» deb tan olish bilan bir narsami? Doskada: ikki ustunli qisqa taqqoslash (naturalizm: axloq qanday ishlaydi; realizm: qaysi axloq haqiqiy) yozdiring. Tipik xato: ikki atamani bir ma’noda ishlatish. Eslab qoling: naturalizm tushunadi, realizm hukm chiqaradi.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Chegaradan o‘tadigan neyrotexnologiyani faqat milliy qonun bilan tartibga solish yetarlimi? 2) Qaysi tamoyil (kuchaytirish, eskirmaslik, o‘zini yaratish, fuqarolik) sizga eng muhim tuyuladi va nega? Doskada: «mamlakat A → chegara → mamlakat B» sxemasini chizib, har bosqichda qaysi savol tug‘ilishini yozdiring. Tipik xato: kosmopolitizmni yagona dunyo madaniyati yoki yagona dunyo hukumati deb tushunish; manbada bu mo‘tadil, madaniyatlararo yondashuv.</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madaniy xilma-xillikni hurmat qilish bilan ‘hamma madaniyat teng to‘g‘ri’ degan fikr bir narsa emas? 2) Mo‘tadil va ekstremal kosmopolitanizm farqi nimada? Doskada: ikki ustun chizing, chapda ‘mo‘tadil’, o‘ngda ‘ekstremal’ belgilarini yozdiring. Tipik xato: kosmopolitanizmni yagona jahon madaniyati yoki yagona hukumat g‘oyasi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Xotirasini qayta yozgan odamning avtonomiyasi kimniki? 2) Uyquga ehtiyojni yo‘qotish ‘zarar’mi? Doskada: jadvalni ko‘chirib, har qatorga o‘z misolingizni qo‘shing. Tipik xato: bu tamoyillar ‘eskirgan, yaroqsiz’ deb o‘ylash; manbada ular foydali, lekin endi to‘liq yetarli emas deyiladi.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Yangi yo‘riqnoma qaysi eski tamoyilning davomi? 2) Biror kognitiv kuchaytirish usulini to‘rt yo‘riqnoma bo‘yicha baholang. Doskada: to‘rt eski tamoyildan to‘rt yangi yo‘riqnomaga o‘qlar chizdiring. Tipik xato: ‘o‘zini yaratish’ni faqat o‘ziga xoslik deb tushunish; manbada odam guruh me’yorlariga yaqinlashish uchun ham o‘zini o‘zgartira oladi.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Kennedining Oy dasturi va «Miya o‘n yilligi» kutilma sifatida ishladi? (2) Kutilma o‘z-o‘zini oqlaydigan bashoratga o‘xshaydimi? Doskada: diagrammadagi zanjirni chizib, har bosqichga bitta misol yozdiring. Tipik xato: kutilmani kafolatlangan natija deb tushunish — kutilma bashorat sifatida ishonchsiz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fMRI yolg‘on detektori sudda dalil bo‘lishi mumkinmi? (2) «Yolg‘on inhibitori» insonning tabiiy yolg‘on aytish qobiliyatiga qanday ta’sir qiladi? Doskada: ikki ustun — «Umid» va «To‘siq» — chizdirib to‘ldirtiring. Tipik xato: laboratoriyada statistik ahamiyatli effektni real so‘roqda ham ishlaydi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Gartner hype sikli neyrotasvirlash uchun nimani anglatadi? (2) Olim kutilmani «umid» chegarasida qanday ushlab tura oladi? Doskada: sikl egri chizig‘ini chizib, bosqichlarni belgilang. Tipik xato: hype’dan keyin texnologiya butunlay tashlab yuboriladi deb o‘ylash — aslida u sekinroq, real maqsadlar tomon rivojlanadi.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olim o‘z g‘oyasining etik tomonini aytishdan qo‘rqishi mumkin? 2) Etik tahlil kutilmani zaiflashtiradimi yoki kuchaytiradimi? Doskada: besh bosqichli zanjirni chizing va har bosqichga o‘zingiz bir neyrotexnologiya misolini yozing. Tipik xato: kutilma va hype bir xil narsa deb o‘ylash; ular ko‘pincha faqat talqin farqi bilan ajraladi.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(voqea 4 daq, tezkor savol 3 daq). Muhokama: 1) Umid va hype chegarasini nima belgilaydi? 2) Majburiy so‘roq qanday huquqiy muammo tug‘diradi? Doskada: ustunlarga Ilmiy to‘siqlar va Huquqiy-etik to‘siqlar deb yozib, talabalar bilan to‘ldiring. Tipik xato: laboratoriyada olingan natija real hayotda ham ishlaydi deb o‘ylash. Diqqat: kutilma ≠ hype.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Uch manbadagi g‘oyalar o‘zaro qanday bog‘lanadi? 2) Neyrotasvirlashni klinikada qo‘llashdan oldin qaysi etik savolga birinchi javob berish kerak? Doskada: to‘rt bandni to‘rtta ustun qilib, har biriga bittadan kalit so‘z yozing. Tipik xato: neyroetikaning to‘rt yo‘riqnomasini an’anaviy tibbiy etikaning to‘rt tamoyili bilan aynan bir xil deb o‘ylash; ular uni kengaytiradi.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Neyrotasvirlash texnologiyalari va tibbiyotda raqamli texnologiyalar etikasi (A11)</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va dars maqsadlari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Neyrotasvirlash – funksional magnit-rezonans tomografiya (fMRI) va elektroensefalografiya (EEG) – og‘ir shikastdan keyin yashirin ongni aniqlashi mumkin.</a:t>
            </a:r>
          </a:p>
          <a:p>
            <a:pPr>
              <a:spcAft>
                <a:spcPts val="1200"/>
              </a:spcAft>
            </a:pPr>
            <a:r>
              <a:rPr sz="2200">
                <a:solidFill>
                  <a:srgbClr val="1F2937"/>
                </a:solidFill>
                <a:latin typeface="Calibri"/>
              </a:rPr>
              <a:t>▸  Vegetativ va minimal ongli bemorlarda diagnoz xatosi 43% gacha bo‘lishi mumkin. Shu sababli yangi usullarga qiziqish katta.</a:t>
            </a:r>
          </a:p>
          <a:p>
            <a:pPr>
              <a:spcAft>
                <a:spcPts val="1200"/>
              </a:spcAft>
            </a:pPr>
            <a:r>
              <a:rPr sz="2200">
                <a:solidFill>
                  <a:srgbClr val="1F2937"/>
                </a:solidFill>
                <a:latin typeface="Calibri"/>
              </a:rPr>
              <a:t>▸  Neyroetika neyrotexnologiyalarni qo‘llashning axloqiy jihatlarini baholaydi. Bu texnologiyalar chegaralardan tez o‘tib, xalqaro savollarni keltirib chiqaradi.</a:t>
            </a:r>
          </a:p>
          <a:p>
            <a:pPr>
              <a:spcAft>
                <a:spcPts val="1200"/>
              </a:spcAft>
            </a:pPr>
            <a:r>
              <a:rPr sz="2200">
                <a:solidFill>
                  <a:srgbClr val="1F2937"/>
                </a:solidFill>
                <a:latin typeface="Calibri"/>
              </a:rPr>
              <a:t>▸  Kelajak haqidagi kutilmalar tadqiqotga yordam beradi. Ular bo‘rttirilsa (hype), hafsala pir bo‘ladi va soha obro‘siga zarar yetadi.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 Shook et al., A principled and cosmopolitan neuroethics: considerations for international relevance, betlar: PMID 24387102; Rusconi et al., The role of expectations, betlar: PMID 25400557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Neyrotasvirlash: fMRI va EEG nima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fMRI va EEG vegetativ hamda minimal ongli bemorlarda qoldiq bilish funksiyasini aniqlash uchun ishlatilgan.</a:t>
            </a:r>
          </a:p>
          <a:p>
            <a:pPr>
              <a:spcAft>
                <a:spcPts val="800"/>
              </a:spcAft>
            </a:pPr>
            <a:r>
              <a:rPr sz="1800">
                <a:solidFill>
                  <a:srgbClr val="1F2937"/>
                </a:solidFill>
                <a:latin typeface="Calibri"/>
              </a:rPr>
              <a:t>▸  Bemor buyruq bo‘yicha tennis o‘ynashni tasavvur qiladi; ixtiyoriy miya faolligi buyruqqa amal qilish belgisi bo‘ladi.</a:t>
            </a:r>
          </a:p>
          <a:p>
            <a:pPr>
              <a:spcAft>
                <a:spcPts val="800"/>
              </a:spcAft>
            </a:pPr>
            <a:r>
              <a:rPr sz="1800">
                <a:solidFill>
                  <a:srgbClr val="1F2937"/>
                </a:solidFill>
                <a:latin typeface="Calibri"/>
              </a:rPr>
              <a:t>▸  EEG arzonroq va ko‘chma usul sifatida ishlab chiqilmoqda; bemorni tashish shart emas.</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337310"/>
                <a:gridCol w="2214922"/>
                <a:gridCol w="1735742"/>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fMRI</a:t>
                      </a:r>
                    </a:p>
                  </a:txBody>
                  <a:tcPr marL="73152" marR="73152" marT="36576" marB="36576">
                    <a:solidFill>
                      <a:srgbClr val="0B1F3A"/>
                    </a:solidFill>
                  </a:tcPr>
                </a:tc>
                <a:tc>
                  <a:txBody>
                    <a:bodyPr/>
                    <a:lstStyle/>
                    <a:p>
                      <a:r>
                        <a:rPr sz="1600" b="1">
                          <a:solidFill>
                            <a:srgbClr val="FFFFFF"/>
                          </a:solidFill>
                        </a:rPr>
                        <a:t>EEG</a:t>
                      </a:r>
                    </a:p>
                  </a:txBody>
                  <a:tcPr marL="73152" marR="73152" marT="36576" marB="36576">
                    <a:solidFill>
                      <a:srgbClr val="0B1F3A"/>
                    </a:solidFill>
                  </a:tcPr>
                </a:tc>
              </a:tr>
              <a:tr h="614476">
                <a:tc>
                  <a:txBody>
                    <a:bodyPr/>
                    <a:lstStyle/>
                    <a:p>
                      <a:r>
                        <a:rPr sz="1500" b="0">
                          <a:solidFill>
                            <a:srgbClr val="1F2937"/>
                          </a:solidFill>
                        </a:rPr>
                        <a:t>Nimani aniqlaydi</a:t>
                      </a:r>
                    </a:p>
                  </a:txBody>
                  <a:tcPr marL="73152" marR="73152" marT="36576" marB="36576">
                    <a:solidFill>
                      <a:srgbClr val="E8EEF6"/>
                    </a:solidFill>
                  </a:tcPr>
                </a:tc>
                <a:tc>
                  <a:txBody>
                    <a:bodyPr/>
                    <a:lstStyle/>
                    <a:p>
                      <a:r>
                        <a:rPr sz="1500" b="0">
                          <a:solidFill>
                            <a:srgbClr val="1F2937"/>
                          </a:solidFill>
                        </a:rPr>
                        <a:t>Miyadagi gemodinamik o‘zgarishlar</a:t>
                      </a:r>
                    </a:p>
                  </a:txBody>
                  <a:tcPr marL="73152" marR="73152" marT="36576" marB="36576">
                    <a:solidFill>
                      <a:srgbClr val="E8EEF6"/>
                    </a:solidFill>
                  </a:tcPr>
                </a:tc>
                <a:tc>
                  <a:txBody>
                    <a:bodyPr/>
                    <a:lstStyle/>
                    <a:p>
                      <a:r>
                        <a:rPr sz="1500" b="0">
                          <a:solidFill>
                            <a:srgbClr val="1F2937"/>
                          </a:solidFill>
                        </a:rPr>
                        <a:t>Miya elektr faolligi</a:t>
                      </a:r>
                    </a:p>
                  </a:txBody>
                  <a:tcPr marL="73152" marR="73152" marT="36576" marB="36576">
                    <a:solidFill>
                      <a:srgbClr val="E8EEF6"/>
                    </a:solidFill>
                  </a:tcPr>
                </a:tc>
              </a:tr>
              <a:tr h="614476">
                <a:tc>
                  <a:txBody>
                    <a:bodyPr/>
                    <a:lstStyle/>
                    <a:p>
                      <a:r>
                        <a:rPr sz="1500" b="0">
                          <a:solidFill>
                            <a:srgbClr val="1F2937"/>
                          </a:solidFill>
                        </a:rPr>
                        <a:t>Narx va vaqt</a:t>
                      </a:r>
                    </a:p>
                  </a:txBody>
                  <a:tcPr marL="73152" marR="73152" marT="36576" marB="36576">
                    <a:solidFill>
                      <a:srgbClr val="FFFFFF"/>
                    </a:solidFill>
                  </a:tcPr>
                </a:tc>
                <a:tc>
                  <a:txBody>
                    <a:bodyPr/>
                    <a:lstStyle/>
                    <a:p>
                      <a:r>
                        <a:rPr sz="1500" b="0">
                          <a:solidFill>
                            <a:srgbClr val="1F2937"/>
                          </a:solidFill>
                        </a:rPr>
                        <a:t>Qimmat, skaner vaqti cheklangan</a:t>
                      </a:r>
                    </a:p>
                  </a:txBody>
                  <a:tcPr marL="73152" marR="73152" marT="36576" marB="36576">
                    <a:solidFill>
                      <a:srgbClr val="FFFFFF"/>
                    </a:solidFill>
                  </a:tcPr>
                </a:tc>
                <a:tc>
                  <a:txBody>
                    <a:bodyPr/>
                    <a:lstStyle/>
                    <a:p>
                      <a:r>
                        <a:rPr sz="1500" b="0">
                          <a:solidFill>
                            <a:srgbClr val="1F2937"/>
                          </a:solidFill>
                        </a:rPr>
                        <a:t>Arzonroq usul sifatida</a:t>
                      </a:r>
                    </a:p>
                  </a:txBody>
                  <a:tcPr marL="73152" marR="73152" marT="36576" marB="36576">
                    <a:solidFill>
                      <a:srgbClr val="FFFFFF"/>
                    </a:solidFill>
                  </a:tcPr>
                </a:tc>
              </a:tr>
              <a:tr h="614476">
                <a:tc>
                  <a:txBody>
                    <a:bodyPr/>
                    <a:lstStyle/>
                    <a:p>
                      <a:r>
                        <a:rPr sz="1500" b="0">
                          <a:solidFill>
                            <a:srgbClr val="1F2937"/>
                          </a:solidFill>
                        </a:rPr>
                        <a:t>Tashish</a:t>
                      </a:r>
                    </a:p>
                  </a:txBody>
                  <a:tcPr marL="73152" marR="73152" marT="36576" marB="36576">
                    <a:solidFill>
                      <a:srgbClr val="E8EEF6"/>
                    </a:solidFill>
                  </a:tcPr>
                </a:tc>
                <a:tc>
                  <a:txBody>
                    <a:bodyPr/>
                    <a:lstStyle/>
                    <a:p>
                      <a:r>
                        <a:rPr sz="1500" b="0">
                          <a:solidFill>
                            <a:srgbClr val="1F2937"/>
                          </a:solidFill>
                        </a:rPr>
                        <a:t>Bemorni markazga olib borish kerak</a:t>
                      </a:r>
                    </a:p>
                  </a:txBody>
                  <a:tcPr marL="73152" marR="73152" marT="36576" marB="36576">
                    <a:solidFill>
                      <a:srgbClr val="E8EEF6"/>
                    </a:solidFill>
                  </a:tcPr>
                </a:tc>
                <a:tc>
                  <a:txBody>
                    <a:bodyPr/>
                    <a:lstStyle/>
                    <a:p>
                      <a:r>
                        <a:rPr sz="1500" b="0">
                          <a:solidFill>
                            <a:srgbClr val="1F2937"/>
                          </a:solidFill>
                        </a:rPr>
                        <a:t>Ko‘chma, tashish shart emas</a:t>
                      </a:r>
                    </a:p>
                  </a:txBody>
                  <a:tcPr marL="73152" marR="73152" marT="36576" marB="36576">
                    <a:solidFill>
                      <a:srgbClr val="E8EEF6"/>
                    </a:solidFill>
                  </a:tcPr>
                </a:tc>
              </a:tr>
              <a:tr h="614476">
                <a:tc>
                  <a:txBody>
                    <a:bodyPr/>
                    <a:lstStyle/>
                    <a:p>
                      <a:r>
                        <a:rPr sz="1500" b="0">
                          <a:solidFill>
                            <a:srgbClr val="1F2937"/>
                          </a:solidFill>
                        </a:rPr>
                        <a:t>Vazifasi</a:t>
                      </a:r>
                    </a:p>
                  </a:txBody>
                  <a:tcPr marL="73152" marR="73152" marT="36576" marB="36576">
                    <a:solidFill>
                      <a:srgbClr val="FFFFFF"/>
                    </a:solidFill>
                  </a:tcPr>
                </a:tc>
                <a:tc>
                  <a:txBody>
                    <a:bodyPr/>
                    <a:lstStyle/>
                    <a:p>
                      <a:r>
                        <a:rPr sz="1500" b="0">
                          <a:solidFill>
                            <a:srgbClr val="1F2937"/>
                          </a:solidFill>
                        </a:rPr>
                        <a:t>Buyruqqa amal qilish, muloqot</a:t>
                      </a:r>
                    </a:p>
                  </a:txBody>
                  <a:tcPr marL="73152" marR="73152" marT="36576" marB="36576">
                    <a:solidFill>
                      <a:srgbClr val="FFFFFF"/>
                    </a:solidFill>
                  </a:tcPr>
                </a:tc>
                <a:tc>
                  <a:txBody>
                    <a:bodyPr/>
                    <a:lstStyle/>
                    <a:p>
                      <a:r>
                        <a:rPr sz="1500" b="0">
                          <a:solidFill>
                            <a:srgbClr val="1F2937"/>
                          </a:solidFill>
                        </a:rPr>
                        <a:t>Yashirin ongni aniqlash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fMRI va EEG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Og‘ir miya shikastidan keyingi holatlar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Komadan keyin ba’zi bemorlar tuzaladi, boshqalari vegetativ yoki minimal ongli holatga o‘tadi.</a:t>
            </a:r>
          </a:p>
          <a:p>
            <a:pPr>
              <a:spcAft>
                <a:spcPts val="800"/>
              </a:spcAft>
            </a:pPr>
            <a:r>
              <a:rPr sz="1800">
                <a:solidFill>
                  <a:srgbClr val="1F2937"/>
                </a:solidFill>
                <a:latin typeface="Calibri"/>
              </a:rPr>
              <a:t>▸  Diagnoz kuzatilgan xulq-atvorning subyektiv talqiniga tayanadi; xato darajasi 43% gacha bo‘lishi mumkin.</a:t>
            </a:r>
          </a:p>
          <a:p>
            <a:pPr>
              <a:spcAft>
                <a:spcPts val="800"/>
              </a:spcAft>
            </a:pPr>
            <a:r>
              <a:rPr sz="1800">
                <a:solidFill>
                  <a:srgbClr val="1F2937"/>
                </a:solidFill>
                <a:latin typeface="Calibri"/>
              </a:rPr>
              <a:t>▸  Diqqat: vegetativ bemor uyg‘oq, komadagini esa uyg‘otib bo‘lmaydi. Bu holatlarni adashtirmang.</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337310"/>
                <a:gridCol w="1991061"/>
                <a:gridCol w="1959603"/>
              </a:tblGrid>
              <a:tr h="768096">
                <a:tc>
                  <a:txBody>
                    <a:bodyPr/>
                    <a:lstStyle/>
                    <a:p>
                      <a:r>
                        <a:rPr sz="1600" b="1">
                          <a:solidFill>
                            <a:srgbClr val="FFFFFF"/>
                          </a:solidFill>
                        </a:rPr>
                        <a:t>Holat</a:t>
                      </a:r>
                    </a:p>
                  </a:txBody>
                  <a:tcPr marL="73152" marR="73152" marT="36576" marB="36576">
                    <a:solidFill>
                      <a:srgbClr val="0B1F3A"/>
                    </a:solidFill>
                  </a:tcPr>
                </a:tc>
                <a:tc>
                  <a:txBody>
                    <a:bodyPr/>
                    <a:lstStyle/>
                    <a:p>
                      <a:r>
                        <a:rPr sz="1600" b="1">
                          <a:solidFill>
                            <a:srgbClr val="FFFFFF"/>
                          </a:solidFill>
                        </a:rPr>
                        <a:t>Ong belgisi</a:t>
                      </a:r>
                    </a:p>
                  </a:txBody>
                  <a:tcPr marL="73152" marR="73152" marT="36576" marB="36576">
                    <a:solidFill>
                      <a:srgbClr val="0B1F3A"/>
                    </a:solidFill>
                  </a:tcPr>
                </a:tc>
                <a:tc>
                  <a:txBody>
                    <a:bodyPr/>
                    <a:lstStyle/>
                    <a:p>
                      <a:r>
                        <a:rPr sz="1600" b="1">
                          <a:solidFill>
                            <a:srgbClr val="FFFFFF"/>
                          </a:solidFill>
                        </a:rPr>
                        <a:t>Qo‘shimcha</a:t>
                      </a:r>
                    </a:p>
                  </a:txBody>
                  <a:tcPr marL="73152" marR="73152" marT="36576" marB="36576">
                    <a:solidFill>
                      <a:srgbClr val="0B1F3A"/>
                    </a:solidFill>
                  </a:tcPr>
                </a:tc>
              </a:tr>
              <a:tr h="768096">
                <a:tc>
                  <a:txBody>
                    <a:bodyPr/>
                    <a:lstStyle/>
                    <a:p>
                      <a:r>
                        <a:rPr sz="1500" b="0">
                          <a:solidFill>
                            <a:srgbClr val="1F2937"/>
                          </a:solidFill>
                        </a:rPr>
                        <a:t>Koma</a:t>
                      </a:r>
                    </a:p>
                  </a:txBody>
                  <a:tcPr marL="73152" marR="73152" marT="36576" marB="36576">
                    <a:solidFill>
                      <a:srgbClr val="E8EEF6"/>
                    </a:solidFill>
                  </a:tcPr>
                </a:tc>
                <a:tc>
                  <a:txBody>
                    <a:bodyPr/>
                    <a:lstStyle/>
                    <a:p>
                      <a:r>
                        <a:rPr sz="1500" b="0">
                          <a:solidFill>
                            <a:srgbClr val="1F2937"/>
                          </a:solidFill>
                        </a:rPr>
                        <a:t>Uyg‘ota olmaydi, ko‘z ochmaydi</a:t>
                      </a:r>
                    </a:p>
                  </a:txBody>
                  <a:tcPr marL="73152" marR="73152" marT="36576" marB="36576">
                    <a:solidFill>
                      <a:srgbClr val="E8EEF6"/>
                    </a:solidFill>
                  </a:tcPr>
                </a:tc>
                <a:tc>
                  <a:txBody>
                    <a:bodyPr/>
                    <a:lstStyle/>
                    <a:p>
                      <a:r>
                        <a:rPr sz="1500" b="0">
                          <a:solidFill>
                            <a:srgbClr val="1F2937"/>
                          </a:solidFill>
                        </a:rPr>
                        <a:t>Faqat refleks javoblari; 2–4 hafta</a:t>
                      </a:r>
                    </a:p>
                  </a:txBody>
                  <a:tcPr marL="73152" marR="73152" marT="36576" marB="36576">
                    <a:solidFill>
                      <a:srgbClr val="E8EEF6"/>
                    </a:solidFill>
                  </a:tcPr>
                </a:tc>
              </a:tr>
              <a:tr h="768096">
                <a:tc>
                  <a:txBody>
                    <a:bodyPr/>
                    <a:lstStyle/>
                    <a:p>
                      <a:r>
                        <a:rPr sz="1500" b="0">
                          <a:solidFill>
                            <a:srgbClr val="1F2937"/>
                          </a:solidFill>
                        </a:rPr>
                        <a:t>Vegetativ holat</a:t>
                      </a:r>
                    </a:p>
                  </a:txBody>
                  <a:tcPr marL="73152" marR="73152" marT="36576" marB="36576">
                    <a:solidFill>
                      <a:srgbClr val="FFFFFF"/>
                    </a:solidFill>
                  </a:tcPr>
                </a:tc>
                <a:tc>
                  <a:txBody>
                    <a:bodyPr/>
                    <a:lstStyle/>
                    <a:p>
                      <a:r>
                        <a:rPr sz="1500" b="0">
                          <a:solidFill>
                            <a:srgbClr val="1F2937"/>
                          </a:solidFill>
                        </a:rPr>
                        <a:t>Uyg‘oq, o‘zini va muhitni anglamaydi</a:t>
                      </a:r>
                    </a:p>
                  </a:txBody>
                  <a:tcPr marL="73152" marR="73152" marT="36576" marB="36576">
                    <a:solidFill>
                      <a:srgbClr val="FFFFFF"/>
                    </a:solidFill>
                  </a:tcPr>
                </a:tc>
                <a:tc>
                  <a:txBody>
                    <a:bodyPr/>
                    <a:lstStyle/>
                    <a:p>
                      <a:r>
                        <a:rPr sz="1500" b="0">
                          <a:solidFill>
                            <a:srgbClr val="1F2937"/>
                          </a:solidFill>
                        </a:rPr>
                        <a:t>Uyqu-uyg‘onish sikli bor</a:t>
                      </a:r>
                    </a:p>
                  </a:txBody>
                  <a:tcPr marL="73152" marR="73152" marT="36576" marB="36576">
                    <a:solidFill>
                      <a:srgbClr val="FFFFFF"/>
                    </a:solidFill>
                  </a:tcPr>
                </a:tc>
              </a:tr>
              <a:tr h="768096">
                <a:tc>
                  <a:txBody>
                    <a:bodyPr/>
                    <a:lstStyle/>
                    <a:p>
                      <a:r>
                        <a:rPr sz="1500" b="0">
                          <a:solidFill>
                            <a:srgbClr val="1F2937"/>
                          </a:solidFill>
                        </a:rPr>
                        <a:t>Minimal ongli</a:t>
                      </a:r>
                    </a:p>
                  </a:txBody>
                  <a:tcPr marL="73152" marR="73152" marT="36576" marB="36576">
                    <a:solidFill>
                      <a:srgbClr val="E8EEF6"/>
                    </a:solidFill>
                  </a:tcPr>
                </a:tc>
                <a:tc>
                  <a:txBody>
                    <a:bodyPr/>
                    <a:lstStyle/>
                    <a:p>
                      <a:r>
                        <a:rPr sz="1500" b="0">
                          <a:solidFill>
                            <a:srgbClr val="1F2937"/>
                          </a:solidFill>
                        </a:rPr>
                        <a:t>Ong belgisi nomuvofiq, lekin takrorlanadi</a:t>
                      </a:r>
                    </a:p>
                  </a:txBody>
                  <a:tcPr marL="73152" marR="73152" marT="36576" marB="36576">
                    <a:solidFill>
                      <a:srgbClr val="E8EEF6"/>
                    </a:solidFill>
                  </a:tcPr>
                </a:tc>
                <a:tc>
                  <a:txBody>
                    <a:bodyPr/>
                    <a:lstStyle/>
                    <a:p>
                      <a:r>
                        <a:rPr sz="1500" b="0">
                          <a:solidFill>
                            <a:srgbClr val="1F2937"/>
                          </a:solidFill>
                        </a:rPr>
                        <a:t>Nisbatan yangi diagnostik toifa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holatni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Tashxis xatosi xavfi: 43% gacha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Og‘ir miya jarohati va komadan keyin ayrim bemorlar tiklanadi, boshqalari vegetativ yoki minimal ongli holatga o‘tadi.</a:t>
            </a:r>
          </a:p>
          <a:p>
            <a:pPr>
              <a:spcAft>
                <a:spcPts val="1200"/>
              </a:spcAft>
            </a:pPr>
            <a:r>
              <a:rPr sz="2200">
                <a:solidFill>
                  <a:srgbClr val="1F2937"/>
                </a:solidFill>
                <a:latin typeface="Calibri"/>
              </a:rPr>
              <a:t>▸  Ikkala holatda baholash juda qiyin va kuzatilgan xulq-atvorni sub’ektiv talqin qilishga tayanadi.</a:t>
            </a:r>
          </a:p>
          <a:p>
            <a:pPr>
              <a:spcAft>
                <a:spcPts val="1200"/>
              </a:spcAft>
            </a:pPr>
            <a:r>
              <a:rPr sz="2200">
                <a:solidFill>
                  <a:srgbClr val="1F2937"/>
                </a:solidFill>
                <a:latin typeface="Calibri"/>
              </a:rPr>
              <a:t>▸  Bu guruhlarda noto‘g‘ri tashxis darajasi 43% gacha bo‘lishi mumkin.</a:t>
            </a:r>
          </a:p>
          <a:p>
            <a:pPr>
              <a:spcAft>
                <a:spcPts val="1200"/>
              </a:spcAft>
            </a:pPr>
            <a:r>
              <a:rPr sz="2200">
                <a:solidFill>
                  <a:srgbClr val="1F2937"/>
                </a:solidFill>
                <a:latin typeface="Calibri"/>
              </a:rPr>
              <a:t>▸  Diqqat: xato qilish xavfi. Vegetativ ≠ minimal ongli: birinchisida o‘zini va muhitni anglash yo‘q, ikkinchisida anglash belgilari izchil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 Background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Vegetativ va minimal ongli holat tashxisi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Vegetativ holatda bemorda uyg‘onish-uyqu sikli bor, lekin o‘zini va atrofini anglash belgisi yo‘q.</a:t>
            </a:r>
          </a:p>
          <a:p>
            <a:pPr>
              <a:spcAft>
                <a:spcPts val="1200"/>
              </a:spcAft>
            </a:pPr>
            <a:r>
              <a:rPr sz="2200">
                <a:solidFill>
                  <a:srgbClr val="1F2937"/>
                </a:solidFill>
                <a:latin typeface="Calibri"/>
              </a:rPr>
              <a:t>▸  Tashxis karavot yonidagi takroriy tekshiruvlarga tayanadi: ko‘rish, eshitish, teginish yoki og‘riqqa barqaror, ixtiyoriy javob topilmaydi.</a:t>
            </a:r>
          </a:p>
          <a:p>
            <a:pPr>
              <a:spcAft>
                <a:spcPts val="1200"/>
              </a:spcAft>
            </a:pPr>
            <a:r>
              <a:rPr sz="2200">
                <a:solidFill>
                  <a:srgbClr val="1F2937"/>
                </a:solidFill>
                <a:latin typeface="Calibri"/>
              </a:rPr>
              <a:t>▸  Minimal ongli holat nisbatan yangi toifa: anglashning izchil bo‘lmagan, lekin takrorlanadigan belgilari kuzatiladi.</a:t>
            </a:r>
          </a:p>
          <a:p>
            <a:pPr>
              <a:spcAft>
                <a:spcPts val="1200"/>
              </a:spcAft>
            </a:pPr>
            <a:r>
              <a:rPr sz="2200">
                <a:solidFill>
                  <a:srgbClr val="1F2937"/>
                </a:solidFill>
                <a:latin typeface="Calibri"/>
              </a:rPr>
              <a:t>▸  Tiklanish ehtimoli travmadan 12 oy o‘tgach kam, travmatik bo‘lmagan hodisadan 3 oy o‘tgach esa kamdan-kam.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 Neuroimaging in vegetative and minimally conscious patients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Aqliy tasavvur usuli: tennis va uy</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Funksional magnit-rezonans tomografiya (fMRI)da ixtiyoriy miya faolligi buyruqqa javob o‘rnini bosadi.</a:t>
            </a:r>
          </a:p>
          <a:p>
            <a:pPr>
              <a:spcAft>
                <a:spcPts val="800"/>
              </a:spcAft>
            </a:pPr>
            <a:r>
              <a:rPr sz="1800">
                <a:solidFill>
                  <a:srgbClr val="1F2937"/>
                </a:solidFill>
                <a:latin typeface="Calibri"/>
              </a:rPr>
              <a:t>▸  Birinchi bemor 23 yoshli, 1 yil vegetativ edi; javobi sog‘lom nazoratdan ajralmadi.</a:t>
            </a:r>
          </a:p>
          <a:p>
            <a:pPr>
              <a:spcAft>
                <a:spcPts val="800"/>
              </a:spcAft>
            </a:pPr>
            <a:r>
              <a:rPr sz="1800">
                <a:solidFill>
                  <a:srgbClr val="1F2937"/>
                </a:solidFill>
                <a:latin typeface="Calibri"/>
              </a:rPr>
              <a:t>▸  54 bemorda sinaldi; vegetativ deb tashxislangan 4 nafari (17%) buyruqqa miya faolligi bilan javob berdi.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Ko‘rsatma: savol beriladi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 tennis tasavvuri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“Yo‘q”: uyda yurish tasavvuri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fMRI: gemodinamik o‘zgarish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Miya javobi = yashirin ong</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Yashirin ongni aniqlash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 Neuroimaging in vegetative and minimally conscious patients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Neyrotasvirlash orqali muloqot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Aqliy tasavvur usulida bemor tennis o‘ynashni tasavvur qilsa — “ha”, uyda xonadan xonaga yurishni tasavvur qilsa — “yo‘q” javobi hisoblanadi.</a:t>
            </a:r>
          </a:p>
          <a:p>
            <a:pPr>
              <a:spcAft>
                <a:spcPts val="1200"/>
              </a:spcAft>
            </a:pPr>
            <a:r>
              <a:rPr sz="2000">
                <a:solidFill>
                  <a:srgbClr val="1F2937"/>
                </a:solidFill>
                <a:latin typeface="Calibri"/>
              </a:rPr>
              <a:t>▸  Besh yil davomida vegetativ tashxisi tasdiqlangan bir bemor otasi, aka-opalari va jarohatdan oldingi oxirgi tashrif buyurgan mamlakat haqidagi savollarga to‘g‘ri javob berdi.</a:t>
            </a:r>
          </a:p>
          <a:p>
            <a:pPr>
              <a:spcAft>
                <a:spcPts val="1200"/>
              </a:spcAft>
            </a:pPr>
            <a:r>
              <a:rPr sz="2000">
                <a:solidFill>
                  <a:srgbClr val="1F2937"/>
                </a:solidFill>
                <a:latin typeface="Calibri"/>
              </a:rPr>
              <a:t>▸  Londondagi (Ontario) 12 yil vegetativ deb hisoblangan bemordan “jismoniy og‘riq sezyapsizmi?” deb so‘ralgan va u savollarga javob bera olgan.</a:t>
            </a:r>
          </a:p>
          <a:p>
            <a:pPr>
              <a:spcAft>
                <a:spcPts val="1200"/>
              </a:spcAft>
            </a:pPr>
            <a:r>
              <a:rPr sz="2000">
                <a:solidFill>
                  <a:srgbClr val="1F2937"/>
                </a:solidFill>
                <a:latin typeface="Calibri"/>
              </a:rPr>
              <a:t>▸  Diqqat: muloqot faqat “ha” yoki “yo‘q” bilan cheklanadi va bemor o‘zi savol bera olmaydi. Shu sabab qaror qabul qilish layoqatini baholash munozarali.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fMRI va EEG: afzallik va cheklovlar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fMRI qimmat va skaner vaqti cheklangan; EEG arzonroq, ko‘chma usul sifatida rivojlantirilmoqda.</a:t>
            </a:r>
          </a:p>
          <a:p>
            <a:pPr>
              <a:spcAft>
                <a:spcPts val="800"/>
              </a:spcAft>
            </a:pPr>
            <a:r>
              <a:rPr sz="1800">
                <a:solidFill>
                  <a:srgbClr val="1F2937"/>
                </a:solidFill>
                <a:latin typeface="Calibri"/>
              </a:rPr>
              <a:t>▸  EEG uchun bemorni shifoxonaga yoki fMRI markaziga olib borish shart emas, shuning uchun jismoniy yuk kamayadi.</a:t>
            </a:r>
          </a:p>
          <a:p>
            <a:pPr>
              <a:spcAft>
                <a:spcPts val="800"/>
              </a:spcAft>
            </a:pPr>
            <a:r>
              <a:rPr sz="1800">
                <a:solidFill>
                  <a:srgbClr val="1F2937"/>
                </a:solidFill>
                <a:latin typeface="Calibri"/>
              </a:rPr>
              <a:t>▸  fMRI ning yangi varianti diqqat tarmog‘ini faollashtiradi va tasvirga olish vaqtini qisqartiradi.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455420"/>
                <a:gridCol w="1878592"/>
                <a:gridCol w="1953962"/>
              </a:tblGrid>
              <a:tr h="614476">
                <a:tc>
                  <a:txBody>
                    <a:bodyPr/>
                    <a:lstStyle/>
                    <a:p>
                      <a:r>
                        <a:rPr sz="1600" b="1">
                          <a:solidFill>
                            <a:srgbClr val="FFFFFF"/>
                          </a:solidFill>
                        </a:rPr>
                        <a:t>Mezon</a:t>
                      </a:r>
                    </a:p>
                  </a:txBody>
                  <a:tcPr marL="73152" marR="73152" marT="36576" marB="36576">
                    <a:solidFill>
                      <a:srgbClr val="0B1F3A"/>
                    </a:solidFill>
                  </a:tcPr>
                </a:tc>
                <a:tc>
                  <a:txBody>
                    <a:bodyPr/>
                    <a:lstStyle/>
                    <a:p>
                      <a:r>
                        <a:rPr sz="1600" b="1">
                          <a:solidFill>
                            <a:srgbClr val="FFFFFF"/>
                          </a:solidFill>
                        </a:rPr>
                        <a:t>fMRI</a:t>
                      </a:r>
                    </a:p>
                  </a:txBody>
                  <a:tcPr marL="73152" marR="73152" marT="36576" marB="36576">
                    <a:solidFill>
                      <a:srgbClr val="0B1F3A"/>
                    </a:solidFill>
                  </a:tcPr>
                </a:tc>
                <a:tc>
                  <a:txBody>
                    <a:bodyPr/>
                    <a:lstStyle/>
                    <a:p>
                      <a:r>
                        <a:rPr sz="1600" b="1">
                          <a:solidFill>
                            <a:srgbClr val="FFFFFF"/>
                          </a:solidFill>
                        </a:rPr>
                        <a:t>EEG</a:t>
                      </a:r>
                    </a:p>
                  </a:txBody>
                  <a:tcPr marL="73152" marR="73152" marT="36576" marB="36576">
                    <a:solidFill>
                      <a:srgbClr val="0B1F3A"/>
                    </a:solidFill>
                  </a:tcPr>
                </a:tc>
              </a:tr>
              <a:tr h="614476">
                <a:tc>
                  <a:txBody>
                    <a:bodyPr/>
                    <a:lstStyle/>
                    <a:p>
                      <a:r>
                        <a:rPr sz="1500" b="0">
                          <a:solidFill>
                            <a:srgbClr val="1F2937"/>
                          </a:solidFill>
                        </a:rPr>
                        <a:t>Narx va vaqt</a:t>
                      </a:r>
                    </a:p>
                  </a:txBody>
                  <a:tcPr marL="73152" marR="73152" marT="36576" marB="36576">
                    <a:solidFill>
                      <a:srgbClr val="E8EEF6"/>
                    </a:solidFill>
                  </a:tcPr>
                </a:tc>
                <a:tc>
                  <a:txBody>
                    <a:bodyPr/>
                    <a:lstStyle/>
                    <a:p>
                      <a:r>
                        <a:rPr sz="1500" b="0">
                          <a:solidFill>
                            <a:srgbClr val="1F2937"/>
                          </a:solidFill>
                        </a:rPr>
                        <a:t>Qimmat, skaner vaqti cheklangan</a:t>
                      </a:r>
                    </a:p>
                  </a:txBody>
                  <a:tcPr marL="73152" marR="73152" marT="36576" marB="36576">
                    <a:solidFill>
                      <a:srgbClr val="E8EEF6"/>
                    </a:solidFill>
                  </a:tcPr>
                </a:tc>
                <a:tc>
                  <a:txBody>
                    <a:bodyPr/>
                    <a:lstStyle/>
                    <a:p>
                      <a:r>
                        <a:rPr sz="1500" b="0">
                          <a:solidFill>
                            <a:srgbClr val="1F2937"/>
                          </a:solidFill>
                        </a:rPr>
                        <a:t>Arzonroq</a:t>
                      </a:r>
                    </a:p>
                  </a:txBody>
                  <a:tcPr marL="73152" marR="73152" marT="36576" marB="36576">
                    <a:solidFill>
                      <a:srgbClr val="E8EEF6"/>
                    </a:solidFill>
                  </a:tcPr>
                </a:tc>
              </a:tr>
              <a:tr h="614476">
                <a:tc>
                  <a:txBody>
                    <a:bodyPr/>
                    <a:lstStyle/>
                    <a:p>
                      <a:r>
                        <a:rPr sz="1500" b="0">
                          <a:solidFill>
                            <a:srgbClr val="1F2937"/>
                          </a:solidFill>
                        </a:rPr>
                        <a:t>Ko‘chirish</a:t>
                      </a:r>
                    </a:p>
                  </a:txBody>
                  <a:tcPr marL="73152" marR="73152" marT="36576" marB="36576">
                    <a:solidFill>
                      <a:srgbClr val="FFFFFF"/>
                    </a:solidFill>
                  </a:tcPr>
                </a:tc>
                <a:tc>
                  <a:txBody>
                    <a:bodyPr/>
                    <a:lstStyle/>
                    <a:p>
                      <a:r>
                        <a:rPr sz="1500" b="0">
                          <a:solidFill>
                            <a:srgbClr val="1F2937"/>
                          </a:solidFill>
                        </a:rPr>
                        <a:t>Tadqiqot markaziga olib borish kerak</a:t>
                      </a:r>
                    </a:p>
                  </a:txBody>
                  <a:tcPr marL="73152" marR="73152" marT="36576" marB="36576">
                    <a:solidFill>
                      <a:srgbClr val="FFFFFF"/>
                    </a:solidFill>
                  </a:tcPr>
                </a:tc>
                <a:tc>
                  <a:txBody>
                    <a:bodyPr/>
                    <a:lstStyle/>
                    <a:p>
                      <a:r>
                        <a:rPr sz="1500" b="0">
                          <a:solidFill>
                            <a:srgbClr val="1F2937"/>
                          </a:solidFill>
                        </a:rPr>
                        <a:t>Ko‘chma, bemor yonida</a:t>
                      </a:r>
                    </a:p>
                  </a:txBody>
                  <a:tcPr marL="73152" marR="73152" marT="36576" marB="36576">
                    <a:solidFill>
                      <a:srgbClr val="FFFFFF"/>
                    </a:solidFill>
                  </a:tcPr>
                </a:tc>
              </a:tr>
              <a:tr h="614476">
                <a:tc>
                  <a:txBody>
                    <a:bodyPr/>
                    <a:lstStyle/>
                    <a:p>
                      <a:r>
                        <a:rPr sz="1500" b="0">
                          <a:solidFill>
                            <a:srgbClr val="1F2937"/>
                          </a:solidFill>
                        </a:rPr>
                        <a:t>Bemorga yuk</a:t>
                      </a:r>
                    </a:p>
                  </a:txBody>
                  <a:tcPr marL="73152" marR="73152" marT="36576" marB="36576">
                    <a:solidFill>
                      <a:srgbClr val="E8EEF6"/>
                    </a:solidFill>
                  </a:tcPr>
                </a:tc>
                <a:tc>
                  <a:txBody>
                    <a:bodyPr/>
                    <a:lstStyle/>
                    <a:p>
                      <a:r>
                        <a:rPr sz="1500" b="0">
                          <a:solidFill>
                            <a:srgbClr val="1F2937"/>
                          </a:solidFill>
                        </a:rPr>
                        <a:t>Tashish jismoniy stress beradi</a:t>
                      </a:r>
                    </a:p>
                  </a:txBody>
                  <a:tcPr marL="73152" marR="73152" marT="36576" marB="36576">
                    <a:solidFill>
                      <a:srgbClr val="E8EEF6"/>
                    </a:solidFill>
                  </a:tcPr>
                </a:tc>
                <a:tc>
                  <a:txBody>
                    <a:bodyPr/>
                    <a:lstStyle/>
                    <a:p>
                      <a:r>
                        <a:rPr sz="1500" b="0">
                          <a:solidFill>
                            <a:srgbClr val="1F2937"/>
                          </a:solidFill>
                        </a:rPr>
                        <a:t>Stress kam, kirish oson</a:t>
                      </a:r>
                    </a:p>
                  </a:txBody>
                  <a:tcPr marL="73152" marR="73152" marT="36576" marB="36576">
                    <a:solidFill>
                      <a:srgbClr val="E8EEF6"/>
                    </a:solidFill>
                  </a:tcPr>
                </a:tc>
              </a:tr>
              <a:tr h="614476">
                <a:tc>
                  <a:txBody>
                    <a:bodyPr/>
                    <a:lstStyle/>
                    <a:p>
                      <a:r>
                        <a:rPr sz="1500" b="0">
                          <a:solidFill>
                            <a:srgbClr val="1F2937"/>
                          </a:solidFill>
                        </a:rPr>
                        <a:t>Tanqid</a:t>
                      </a:r>
                    </a:p>
                  </a:txBody>
                  <a:tcPr marL="73152" marR="73152" marT="36576" marB="36576">
                    <a:solidFill>
                      <a:srgbClr val="FFFFFF"/>
                    </a:solidFill>
                  </a:tcPr>
                </a:tc>
                <a:tc>
                  <a:txBody>
                    <a:bodyPr/>
                    <a:lstStyle/>
                    <a:p>
                      <a:r>
                        <a:rPr sz="1500" b="0">
                          <a:solidFill>
                            <a:srgbClr val="1F2937"/>
                          </a:solidFill>
                        </a:rPr>
                        <a:t>Nutqni ongsiz qayta ishlash deyildi</a:t>
                      </a:r>
                    </a:p>
                  </a:txBody>
                  <a:tcPr marL="73152" marR="73152" marT="36576" marB="36576">
                    <a:solidFill>
                      <a:srgbClr val="FFFFFF"/>
                    </a:solidFill>
                  </a:tcPr>
                </a:tc>
                <a:tc>
                  <a:txBody>
                    <a:bodyPr/>
                    <a:lstStyle/>
                    <a:p>
                      <a:r>
                        <a:rPr sz="1500" b="0">
                          <a:solidFill>
                            <a:srgbClr val="1F2937"/>
                          </a:solidFill>
                        </a:rPr>
                        <a:t>Statistika yetarli qattiq emas deyildi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fMRI va EEG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vegetativ holatdagi bemor uyg‘oq bo‘lsa ham, nimani anglamaydi?</a:t>
            </a:r>
          </a:p>
          <a:p>
            <a:pPr>
              <a:spcAft>
                <a:spcPts val="1200"/>
              </a:spcAft>
            </a:pPr>
            <a:r>
              <a:rPr sz="2200">
                <a:solidFill>
                  <a:srgbClr val="1F2937"/>
                </a:solidFill>
                <a:latin typeface="Calibri"/>
              </a:rPr>
              <a:t>▸  Savol 2: vegetativ va minimal ong holatlarini aniqlashda tashxis xatosi eng ko‘pi bilan necha foizga yetishi mumkin?</a:t>
            </a:r>
          </a:p>
          <a:p>
            <a:pPr>
              <a:spcAft>
                <a:spcPts val="1200"/>
              </a:spcAft>
            </a:pPr>
            <a:r>
              <a:rPr sz="2200">
                <a:solidFill>
                  <a:srgbClr val="1F2937"/>
                </a:solidFill>
                <a:latin typeface="Calibri"/>
              </a:rPr>
              <a:t>▸  Savol 3: aqliy tasavvur usulida bemor “ha” javobi uchun nimani tasavvur qiladi?</a:t>
            </a:r>
          </a:p>
          <a:p>
            <a:pPr>
              <a:spcAft>
                <a:spcPts val="1200"/>
              </a:spcAft>
            </a:pPr>
            <a:r>
              <a:rPr sz="2200">
                <a:solidFill>
                  <a:srgbClr val="1F2937"/>
                </a:solidFill>
                <a:latin typeface="Calibri"/>
              </a:rPr>
              <a:t>▸  Diqqat: vegetativ holat ≠ minimal ong holati. Birinchisida o‘zini va atrofni anglash yo‘q, ikkinchisida anglash belgilari beqaror.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Koma bemorlari: prognoz vositalari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Prognoz klinik ko‘rik, strukturaviy tasvir va somatosensor chaqirilgan potensiallar (SSEP) bilan baholanadi.</a:t>
            </a:r>
          </a:p>
          <a:p>
            <a:pPr>
              <a:spcAft>
                <a:spcPts val="800"/>
              </a:spcAft>
            </a:pPr>
            <a:r>
              <a:rPr sz="1800">
                <a:solidFill>
                  <a:srgbClr val="1F2937"/>
                </a:solidFill>
                <a:latin typeface="Calibri"/>
              </a:rPr>
              <a:t>▸  Yurak to‘xtashidan keyin qorachiq refleksi yoki ikki tomonlama SSEP bo‘lmasa, oqibat juda yomon.</a:t>
            </a:r>
          </a:p>
          <a:p>
            <a:pPr>
              <a:spcAft>
                <a:spcPts val="800"/>
              </a:spcAft>
            </a:pPr>
            <a:r>
              <a:rPr sz="1800">
                <a:solidFill>
                  <a:srgbClr val="1F2937"/>
                </a:solidFill>
                <a:latin typeface="Calibri"/>
              </a:rPr>
              <a:t>▸  Shunga qaramay, prognoz nevrologning subyektiv bahosi va tajribasiga tayanadi.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880616"/>
                <a:gridCol w="3407359"/>
              </a:tblGrid>
              <a:tr h="768096">
                <a:tc>
                  <a:txBody>
                    <a:bodyPr/>
                    <a:lstStyle/>
                    <a:p>
                      <a:r>
                        <a:rPr sz="1800" b="1">
                          <a:solidFill>
                            <a:srgbClr val="FFFFFF"/>
                          </a:solidFill>
                        </a:rPr>
                        <a:t>Vosita</a:t>
                      </a:r>
                    </a:p>
                  </a:txBody>
                  <a:tcPr marL="73152" marR="73152" marT="36576" marB="36576">
                    <a:solidFill>
                      <a:srgbClr val="0B1F3A"/>
                    </a:solidFill>
                  </a:tcPr>
                </a:tc>
                <a:tc>
                  <a:txBody>
                    <a:bodyPr/>
                    <a:lstStyle/>
                    <a:p>
                      <a:r>
                        <a:rPr sz="1800" b="1">
                          <a:solidFill>
                            <a:srgbClr val="FFFFFF"/>
                          </a:solidFill>
                        </a:rPr>
                        <a:t>Nimani baholaydi</a:t>
                      </a:r>
                    </a:p>
                  </a:txBody>
                  <a:tcPr marL="73152" marR="73152" marT="36576" marB="36576">
                    <a:solidFill>
                      <a:srgbClr val="0B1F3A"/>
                    </a:solidFill>
                  </a:tcPr>
                </a:tc>
              </a:tr>
              <a:tr h="768096">
                <a:tc>
                  <a:txBody>
                    <a:bodyPr/>
                    <a:lstStyle/>
                    <a:p>
                      <a:r>
                        <a:rPr sz="1700" b="0">
                          <a:solidFill>
                            <a:srgbClr val="1F2937"/>
                          </a:solidFill>
                        </a:rPr>
                        <a:t>Klinik ko‘rik</a:t>
                      </a:r>
                    </a:p>
                  </a:txBody>
                  <a:tcPr marL="73152" marR="73152" marT="36576" marB="36576">
                    <a:solidFill>
                      <a:srgbClr val="E8EEF6"/>
                    </a:solidFill>
                  </a:tcPr>
                </a:tc>
                <a:tc>
                  <a:txBody>
                    <a:bodyPr/>
                    <a:lstStyle/>
                    <a:p>
                      <a:r>
                        <a:rPr sz="1700" b="0">
                          <a:solidFill>
                            <a:srgbClr val="1F2937"/>
                          </a:solidFill>
                        </a:rPr>
                        <a:t>Qorachiq refleksi, og‘riqqa motor javob</a:t>
                      </a:r>
                    </a:p>
                  </a:txBody>
                  <a:tcPr marL="73152" marR="73152" marT="36576" marB="36576">
                    <a:solidFill>
                      <a:srgbClr val="E8EEF6"/>
                    </a:solidFill>
                  </a:tcPr>
                </a:tc>
              </a:tr>
              <a:tr h="768096">
                <a:tc>
                  <a:txBody>
                    <a:bodyPr/>
                    <a:lstStyle/>
                    <a:p>
                      <a:r>
                        <a:rPr sz="1700" b="0">
                          <a:solidFill>
                            <a:srgbClr val="1F2937"/>
                          </a:solidFill>
                        </a:rPr>
                        <a:t>Strukturaviy tasvir</a:t>
                      </a:r>
                    </a:p>
                  </a:txBody>
                  <a:tcPr marL="73152" marR="73152" marT="36576" marB="36576">
                    <a:solidFill>
                      <a:srgbClr val="FFFFFF"/>
                    </a:solidFill>
                  </a:tcPr>
                </a:tc>
                <a:tc>
                  <a:txBody>
                    <a:bodyPr/>
                    <a:lstStyle/>
                    <a:p>
                      <a:r>
                        <a:rPr sz="1700" b="0">
                          <a:solidFill>
                            <a:srgbClr val="1F2937"/>
                          </a:solidFill>
                        </a:rPr>
                        <a:t>Qorincha ichi, subaraxnoid qon quyilishi</a:t>
                      </a:r>
                    </a:p>
                  </a:txBody>
                  <a:tcPr marL="73152" marR="73152" marT="36576" marB="36576">
                    <a:solidFill>
                      <a:srgbClr val="FFFFFF"/>
                    </a:solidFill>
                  </a:tcPr>
                </a:tc>
              </a:tr>
              <a:tr h="768096">
                <a:tc>
                  <a:txBody>
                    <a:bodyPr/>
                    <a:lstStyle/>
                    <a:p>
                      <a:r>
                        <a:rPr sz="1700" b="0">
                          <a:solidFill>
                            <a:srgbClr val="1F2937"/>
                          </a:solidFill>
                        </a:rPr>
                        <a:t>SSEP</a:t>
                      </a:r>
                    </a:p>
                  </a:txBody>
                  <a:tcPr marL="73152" marR="73152" marT="36576" marB="36576">
                    <a:solidFill>
                      <a:srgbClr val="E8EEF6"/>
                    </a:solidFill>
                  </a:tcPr>
                </a:tc>
                <a:tc>
                  <a:txBody>
                    <a:bodyPr/>
                    <a:lstStyle/>
                    <a:p>
                      <a:r>
                        <a:rPr sz="1700" b="0">
                          <a:solidFill>
                            <a:srgbClr val="1F2937"/>
                          </a:solidFill>
                        </a:rPr>
                        <a:t>Median nerv–sensor korteks yo‘li butunligi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Prognoz vositalari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 DOI 10.1186/1472-6939-15-41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Hayotni qo‘llab-quvvatlovchi davoni to‘xtatish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Hayotni qo‘llab-quvvatlovchi davo (HQD) to‘xtatilishi o‘limlarning ko‘pchiligidan oldin keladi.</a:t>
            </a:r>
          </a:p>
          <a:p>
            <a:pPr>
              <a:spcAft>
                <a:spcPts val="800"/>
              </a:spcAft>
            </a:pPr>
            <a:r>
              <a:rPr sz="1800">
                <a:solidFill>
                  <a:srgbClr val="1F2937"/>
                </a:solidFill>
                <a:latin typeface="Calibri"/>
              </a:rPr>
              <a:t>▸  Oilalar shikastdan ventilyatorga qaramlik tugaguncha “imkoniyat oynasi”ni ko‘rishi mumkin.</a:t>
            </a:r>
          </a:p>
          <a:p>
            <a:pPr>
              <a:spcAft>
                <a:spcPts val="800"/>
              </a:spcAft>
            </a:pPr>
            <a:r>
              <a:rPr sz="1800">
                <a:solidFill>
                  <a:srgbClr val="1F2937"/>
                </a:solidFill>
                <a:latin typeface="Calibri"/>
              </a:rPr>
              <a:t>▸  Mualliflarga ko‘ra, bunday erta qarorlar aniq prognoz uchun ba’zan juda erta bo‘lishi mumkin.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643987"/>
                <a:gridCol w="2643987"/>
              </a:tblGrid>
              <a:tr h="614476">
                <a:tc>
                  <a:txBody>
                    <a:bodyPr/>
                    <a:lstStyle/>
                    <a:p>
                      <a:r>
                        <a:rPr sz="1800" b="1">
                          <a:solidFill>
                            <a:srgbClr val="FFFFFF"/>
                          </a:solidFill>
                        </a:rPr>
                        <a:t>Ko‘rsatkich</a:t>
                      </a:r>
                    </a:p>
                  </a:txBody>
                  <a:tcPr marL="73152" marR="73152" marT="36576" marB="36576">
                    <a:solidFill>
                      <a:srgbClr val="0B1F3A"/>
                    </a:solidFill>
                  </a:tcPr>
                </a:tc>
                <a:tc>
                  <a:txBody>
                    <a:bodyPr/>
                    <a:lstStyle/>
                    <a:p>
                      <a:r>
                        <a:rPr sz="1800" b="1">
                          <a:solidFill>
                            <a:srgbClr val="FFFFFF"/>
                          </a:solidFill>
                        </a:rPr>
                        <a:t>Qiymat</a:t>
                      </a:r>
                    </a:p>
                  </a:txBody>
                  <a:tcPr marL="73152" marR="73152" marT="36576" marB="36576">
                    <a:solidFill>
                      <a:srgbClr val="0B1F3A"/>
                    </a:solidFill>
                  </a:tcPr>
                </a:tc>
              </a:tr>
              <a:tr h="614476">
                <a:tc>
                  <a:txBody>
                    <a:bodyPr/>
                    <a:lstStyle/>
                    <a:p>
                      <a:r>
                        <a:rPr sz="1700" b="0">
                          <a:solidFill>
                            <a:srgbClr val="1F2937"/>
                          </a:solidFill>
                        </a:rPr>
                        <a:t>Shikastdan keyin o‘lim</a:t>
                      </a:r>
                    </a:p>
                  </a:txBody>
                  <a:tcPr marL="73152" marR="73152" marT="36576" marB="36576">
                    <a:solidFill>
                      <a:srgbClr val="E8EEF6"/>
                    </a:solidFill>
                  </a:tcPr>
                </a:tc>
                <a:tc>
                  <a:txBody>
                    <a:bodyPr/>
                    <a:lstStyle/>
                    <a:p>
                      <a:r>
                        <a:rPr sz="1700" b="0">
                          <a:solidFill>
                            <a:srgbClr val="1F2937"/>
                          </a:solidFill>
                        </a:rPr>
                        <a:t>32%</a:t>
                      </a:r>
                    </a:p>
                  </a:txBody>
                  <a:tcPr marL="73152" marR="73152" marT="36576" marB="36576">
                    <a:solidFill>
                      <a:srgbClr val="E8EEF6"/>
                    </a:solidFill>
                  </a:tcPr>
                </a:tc>
              </a:tr>
              <a:tr h="614476">
                <a:tc>
                  <a:txBody>
                    <a:bodyPr/>
                    <a:lstStyle/>
                    <a:p>
                      <a:r>
                        <a:rPr sz="1700" b="0">
                          <a:solidFill>
                            <a:srgbClr val="1F2937"/>
                          </a:solidFill>
                        </a:rPr>
                        <a:t>HQD to‘xtatilishi bilan bog‘liq</a:t>
                      </a:r>
                    </a:p>
                  </a:txBody>
                  <a:tcPr marL="73152" marR="73152" marT="36576" marB="36576">
                    <a:solidFill>
                      <a:srgbClr val="FFFFFF"/>
                    </a:solidFill>
                  </a:tcPr>
                </a:tc>
                <a:tc>
                  <a:txBody>
                    <a:bodyPr/>
                    <a:lstStyle/>
                    <a:p>
                      <a:r>
                        <a:rPr sz="1700" b="0">
                          <a:solidFill>
                            <a:srgbClr val="1F2937"/>
                          </a:solidFill>
                        </a:rPr>
                        <a:t>70% o‘limlarda</a:t>
                      </a:r>
                    </a:p>
                  </a:txBody>
                  <a:tcPr marL="73152" marR="73152" marT="36576" marB="36576">
                    <a:solidFill>
                      <a:srgbClr val="FFFFFF"/>
                    </a:solidFill>
                  </a:tcPr>
                </a:tc>
              </a:tr>
              <a:tr h="614476">
                <a:tc>
                  <a:txBody>
                    <a:bodyPr/>
                    <a:lstStyle/>
                    <a:p>
                      <a:r>
                        <a:rPr sz="1700" b="0">
                          <a:solidFill>
                            <a:srgbClr val="1F2937"/>
                          </a:solidFill>
                        </a:rPr>
                        <a:t>72 soat ichidagi o‘limlar</a:t>
                      </a:r>
                    </a:p>
                  </a:txBody>
                  <a:tcPr marL="73152" marR="73152" marT="36576" marB="36576">
                    <a:solidFill>
                      <a:srgbClr val="E8EEF6"/>
                    </a:solidFill>
                  </a:tcPr>
                </a:tc>
                <a:tc>
                  <a:txBody>
                    <a:bodyPr/>
                    <a:lstStyle/>
                    <a:p>
                      <a:r>
                        <a:rPr sz="1700" b="0">
                          <a:solidFill>
                            <a:srgbClr val="1F2937"/>
                          </a:solidFill>
                        </a:rPr>
                        <a:t>taxminan yarmi</a:t>
                      </a:r>
                    </a:p>
                  </a:txBody>
                  <a:tcPr marL="73152" marR="73152" marT="36576" marB="36576">
                    <a:solidFill>
                      <a:srgbClr val="E8EEF6"/>
                    </a:solidFill>
                  </a:tcPr>
                </a:tc>
              </a:tr>
              <a:tr h="614476">
                <a:tc>
                  <a:txBody>
                    <a:bodyPr/>
                    <a:lstStyle/>
                    <a:p>
                      <a:r>
                        <a:rPr sz="1700" b="0">
                          <a:solidFill>
                            <a:srgbClr val="1F2937"/>
                          </a:solidFill>
                        </a:rPr>
                        <a:t>Shifoxonalar o‘rtasida</a:t>
                      </a:r>
                    </a:p>
                  </a:txBody>
                  <a:tcPr marL="73152" marR="73152" marT="36576" marB="36576">
                    <a:solidFill>
                      <a:srgbClr val="FFFFFF"/>
                    </a:solidFill>
                  </a:tcPr>
                </a:tc>
                <a:tc>
                  <a:txBody>
                    <a:bodyPr/>
                    <a:lstStyle/>
                    <a:p>
                      <a:r>
                        <a:rPr sz="1700" b="0">
                          <a:solidFill>
                            <a:srgbClr val="1F2937"/>
                          </a:solidFill>
                        </a:rPr>
                        <a:t>farq xavf tuzatilgach ham qoldi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Kanada travma markazlari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 DOI 10.1186/1472-6939-15-41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erta qaror va prognoz</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og‘ir bosh miya shikastlangan bemor reanimatsiyada, komada, ventilyatorda. Oila davoni to‘xtatishni o‘ylamoqda.</a:t>
            </a:r>
          </a:p>
          <a:p>
            <a:pPr>
              <a:spcAft>
                <a:spcPts val="1200"/>
              </a:spcAft>
            </a:pPr>
            <a:r>
              <a:rPr sz="2200">
                <a:solidFill>
                  <a:srgbClr val="1F2937"/>
                </a:solidFill>
                <a:latin typeface="Calibri"/>
              </a:rPr>
              <a:t>▸  Manbaga ko‘ra, bunday qarorlar ba’zan 72 soat ichida qabul qilinadi; bu aniq prognoz uchun juda erta bo‘lishi mumkin.</a:t>
            </a:r>
          </a:p>
          <a:p>
            <a:pPr>
              <a:spcAft>
                <a:spcPts val="1200"/>
              </a:spcAft>
            </a:pPr>
            <a:r>
              <a:rPr sz="2200">
                <a:solidFill>
                  <a:srgbClr val="1F2937"/>
                </a:solidFill>
                <a:latin typeface="Calibri"/>
              </a:rPr>
              <a:t>▸  Funksional magnit-rezonans tomografiya (fMRI) va elektroensefalografiya (EEG) komadagi bemorlarning bir qismida yashirin kognitiv funksiyani aniqlagan; yashirin ong hali topilmagan.</a:t>
            </a:r>
          </a:p>
          <a:p>
            <a:pPr>
              <a:spcAft>
                <a:spcPts val="1200"/>
              </a:spcAft>
            </a:pPr>
            <a:r>
              <a:rPr sz="2200">
                <a:solidFill>
                  <a:srgbClr val="1F2937"/>
                </a:solidFill>
                <a:latin typeface="Calibri"/>
              </a:rPr>
              <a:t>▸  Savol: prognoz noaniq va neyrotasvirlash mavjud bo‘lsa, hayotni qo‘llab-quvvatlovchi davo haqida qaror oldidan qanday majburiyat paydo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 DOI 10.1186/1472-6939-15-41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Ilmiy shubhalar: fMRI va EEG</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Dastlabki fMRI (funksional magnit-rezonans tomografiya) va EEG (elektroensefalografiya) topilmalariga mutaxassislar shubha bilan qaradi.</a:t>
            </a:r>
          </a:p>
          <a:p>
            <a:pPr>
              <a:spcAft>
                <a:spcPts val="800"/>
              </a:spcAft>
            </a:pPr>
            <a:r>
              <a:rPr sz="1800">
                <a:solidFill>
                  <a:srgbClr val="1F2937"/>
                </a:solidFill>
                <a:latin typeface="Calibri"/>
              </a:rPr>
              <a:t>▸  Mualliflar: faollik eshitish korteksidan boshqa hududlarda kuzatilib, biografik savollarga to‘g‘ri javob berilgan.</a:t>
            </a:r>
          </a:p>
          <a:p>
            <a:pPr>
              <a:spcAft>
                <a:spcPts val="800"/>
              </a:spcAft>
            </a:pPr>
            <a:r>
              <a:rPr sz="1800">
                <a:solidFill>
                  <a:srgbClr val="1F2937"/>
                </a:solidFill>
                <a:latin typeface="Calibri"/>
              </a:rPr>
              <a:t>▸  Diqqat: ongsiz nutq qayta ishlash ≠ ongli buyruqqa amal qilish; farq faollik joyi va davomiyligida.</a:t>
            </a:r>
          </a:p>
        </p:txBody>
      </p:sp>
      <p:graphicFrame>
        <p:nvGraphicFramePr>
          <p:cNvPr id="9" name="Table 8"/>
          <p:cNvGraphicFramePr>
            <a:graphicFrameLocks noGrp="1"/>
          </p:cNvGraphicFramePr>
          <p:nvPr/>
        </p:nvGraphicFramePr>
        <p:xfrm>
          <a:off x="6263640" y="1463040"/>
          <a:ext cx="5287973" cy="3072380"/>
        </p:xfrm>
        <a:graphic>
          <a:graphicData uri="http://schemas.openxmlformats.org/drawingml/2006/table">
            <a:tbl>
              <a:tblPr firstRow="1" bandRow="1">
                <a:tableStyleId>{5C22544A-7EE6-4342-B048-85BDC9FD1C3A}</a:tableStyleId>
              </a:tblPr>
              <a:tblGrid>
                <a:gridCol w="881329"/>
                <a:gridCol w="2203322"/>
                <a:gridCol w="2203322"/>
              </a:tblGrid>
              <a:tr h="614476">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Tanqid</a:t>
                      </a:r>
                    </a:p>
                  </a:txBody>
                  <a:tcPr marL="73152" marR="73152" marT="36576" marB="36576">
                    <a:solidFill>
                      <a:srgbClr val="0B1F3A"/>
                    </a:solidFill>
                  </a:tcPr>
                </a:tc>
                <a:tc>
                  <a:txBody>
                    <a:bodyPr/>
                    <a:lstStyle/>
                    <a:p>
                      <a:r>
                        <a:rPr sz="1600" b="1">
                          <a:solidFill>
                            <a:srgbClr val="FFFFFF"/>
                          </a:solidFill>
                        </a:rPr>
                        <a:t>Javob</a:t>
                      </a:r>
                    </a:p>
                  </a:txBody>
                  <a:tcPr marL="73152" marR="73152" marT="36576" marB="36576">
                    <a:solidFill>
                      <a:srgbClr val="0B1F3A"/>
                    </a:solidFill>
                  </a:tcPr>
                </a:tc>
              </a:tr>
              <a:tr h="614476">
                <a:tc>
                  <a:txBody>
                    <a:bodyPr/>
                    <a:lstStyle/>
                    <a:p>
                      <a:r>
                        <a:rPr sz="1500" b="0">
                          <a:solidFill>
                            <a:srgbClr val="1F2937"/>
                          </a:solidFill>
                        </a:rPr>
                        <a:t>fMRI</a:t>
                      </a:r>
                    </a:p>
                  </a:txBody>
                  <a:tcPr marL="73152" marR="73152" marT="36576" marB="36576">
                    <a:solidFill>
                      <a:srgbClr val="E8EEF6"/>
                    </a:solidFill>
                  </a:tcPr>
                </a:tc>
                <a:tc>
                  <a:txBody>
                    <a:bodyPr/>
                    <a:lstStyle/>
                    <a:p>
                      <a:r>
                        <a:rPr sz="1500" b="0">
                          <a:solidFill>
                            <a:srgbClr val="1F2937"/>
                          </a:solidFill>
                        </a:rPr>
                        <a:t>Nutq ongsiz qayta ishlanishi mumkin</a:t>
                      </a:r>
                    </a:p>
                  </a:txBody>
                  <a:tcPr marL="73152" marR="73152" marT="36576" marB="36576">
                    <a:solidFill>
                      <a:srgbClr val="E8EEF6"/>
                    </a:solidFill>
                  </a:tcPr>
                </a:tc>
                <a:tc>
                  <a:txBody>
                    <a:bodyPr/>
                    <a:lstStyle/>
                    <a:p>
                      <a:r>
                        <a:rPr sz="1500" b="0">
                          <a:solidFill>
                            <a:srgbClr val="1F2937"/>
                          </a:solidFill>
                        </a:rPr>
                        <a:t>Faollik harakat va fazo hududlarida</a:t>
                      </a:r>
                    </a:p>
                  </a:txBody>
                  <a:tcPr marL="73152" marR="73152" marT="36576" marB="36576">
                    <a:solidFill>
                      <a:srgbClr val="E8EEF6"/>
                    </a:solidFill>
                  </a:tcPr>
                </a:tc>
              </a:tr>
              <a:tr h="614476">
                <a:tc>
                  <a:txBody>
                    <a:bodyPr/>
                    <a:lstStyle/>
                    <a:p>
                      <a:r>
                        <a:rPr sz="1500" b="0">
                          <a:solidFill>
                            <a:srgbClr val="1F2937"/>
                          </a:solidFill>
                        </a:rPr>
                        <a:t>fMRI</a:t>
                      </a:r>
                    </a:p>
                  </a:txBody>
                  <a:tcPr marL="73152" marR="73152" marT="36576" marB="36576">
                    <a:solidFill>
                      <a:srgbClr val="FFFFFF"/>
                    </a:solidFill>
                  </a:tcPr>
                </a:tc>
                <a:tc>
                  <a:txBody>
                    <a:bodyPr/>
                    <a:lstStyle/>
                    <a:p>
                      <a:r>
                        <a:rPr sz="1500" b="0">
                          <a:solidFill>
                            <a:srgbClr val="1F2937"/>
                          </a:solidFill>
                        </a:rPr>
                        <a:t>Og‘zaki ogohlantirish o‘zi faollik beradi</a:t>
                      </a:r>
                    </a:p>
                  </a:txBody>
                  <a:tcPr marL="73152" marR="73152" marT="36576" marB="36576">
                    <a:solidFill>
                      <a:srgbClr val="FFFFFF"/>
                    </a:solidFill>
                  </a:tcPr>
                </a:tc>
                <a:tc>
                  <a:txBody>
                    <a:bodyPr/>
                    <a:lstStyle/>
                    <a:p>
                      <a:r>
                        <a:rPr sz="1500" b="0">
                          <a:solidFill>
                            <a:srgbClr val="1F2937"/>
                          </a:solidFill>
                        </a:rPr>
                        <a:t>Kamida 3 bemor savolga to‘g‘ri javob bergan</a:t>
                      </a:r>
                    </a:p>
                  </a:txBody>
                  <a:tcPr marL="73152" marR="73152" marT="36576" marB="36576">
                    <a:solidFill>
                      <a:srgbClr val="FFFFFF"/>
                    </a:solidFill>
                  </a:tcPr>
                </a:tc>
              </a:tr>
              <a:tr h="614476">
                <a:tc>
                  <a:txBody>
                    <a:bodyPr/>
                    <a:lstStyle/>
                    <a:p>
                      <a:r>
                        <a:rPr sz="1500" b="0">
                          <a:solidFill>
                            <a:srgbClr val="1F2937"/>
                          </a:solidFill>
                        </a:rPr>
                        <a:t>EEG</a:t>
                      </a:r>
                    </a:p>
                  </a:txBody>
                  <a:tcPr marL="73152" marR="73152" marT="36576" marB="36576">
                    <a:solidFill>
                      <a:srgbClr val="E8EEF6"/>
                    </a:solidFill>
                  </a:tcPr>
                </a:tc>
                <a:tc>
                  <a:txBody>
                    <a:bodyPr/>
                    <a:lstStyle/>
                    <a:p>
                      <a:r>
                        <a:rPr sz="1500" b="0">
                          <a:solidFill>
                            <a:srgbClr val="1F2937"/>
                          </a:solidFill>
                        </a:rPr>
                        <a:t>Statistika yetarlicha konservativ emas</a:t>
                      </a:r>
                    </a:p>
                  </a:txBody>
                  <a:tcPr marL="73152" marR="73152" marT="36576" marB="36576">
                    <a:solidFill>
                      <a:srgbClr val="E8EEF6"/>
                    </a:solidFill>
                  </a:tcPr>
                </a:tc>
                <a:tc>
                  <a:txBody>
                    <a:bodyPr/>
                    <a:lstStyle/>
                    <a:p>
                      <a:r>
                        <a:rPr sz="1500" b="0">
                          <a:solidFill>
                            <a:srgbClr val="1F2937"/>
                          </a:solidFill>
                        </a:rPr>
                        <a:t>fMRI ma’lumoti tasdiqlovchi dalil</a:t>
                      </a:r>
                    </a:p>
                  </a:txBody>
                  <a:tcPr marL="73152" marR="73152" marT="36576" marB="36576">
                    <a:solidFill>
                      <a:srgbClr val="E8EEF6"/>
                    </a:solidFill>
                  </a:tcPr>
                </a:tc>
              </a:tr>
              <a:tr h="614476">
                <a:tc>
                  <a:txBody>
                    <a:bodyPr/>
                    <a:lstStyle/>
                    <a:p>
                      <a:r>
                        <a:rPr sz="1500" b="0">
                          <a:solidFill>
                            <a:srgbClr val="1F2937"/>
                          </a:solidFill>
                        </a:rPr>
                        <a:t>EEG</a:t>
                      </a:r>
                    </a:p>
                  </a:txBody>
                  <a:tcPr marL="73152" marR="73152" marT="36576" marB="36576">
                    <a:solidFill>
                      <a:srgbClr val="FFFFFF"/>
                    </a:solidFill>
                  </a:tcPr>
                </a:tc>
                <a:tc>
                  <a:txBody>
                    <a:bodyPr/>
                    <a:lstStyle/>
                    <a:p>
                      <a:r>
                        <a:rPr sz="1500" b="0">
                          <a:solidFill>
                            <a:srgbClr val="1F2937"/>
                          </a:solidFill>
                        </a:rPr>
                        <a:t>Soxta musbat natija xavfi</a:t>
                      </a:r>
                    </a:p>
                  </a:txBody>
                  <a:tcPr marL="73152" marR="73152" marT="36576" marB="36576">
                    <a:solidFill>
                      <a:srgbClr val="FFFFFF"/>
                    </a:solidFill>
                  </a:tcPr>
                </a:tc>
                <a:tc>
                  <a:txBody>
                    <a:bodyPr/>
                    <a:lstStyle/>
                    <a:p>
                      <a:r>
                        <a:rPr sz="1500" b="0">
                          <a:solidFill>
                            <a:srgbClr val="1F2937"/>
                          </a:solidFill>
                        </a:rPr>
                        <a:t>Usul sog‘lomlarning 75% ini ongli deb topadi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Tanqid va javob</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Etik bahslar: qaror qobiliyati va davo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Neyrotasvirlash faqat “ha” yoki “yo‘q” javob beradi va bemor o‘zi savol bera olmaydi. Shu sababli ba’zilar qaror qobiliyatini baholab bo‘lmaydi, deydi.</a:t>
            </a:r>
          </a:p>
          <a:p>
            <a:pPr>
              <a:spcAft>
                <a:spcPts val="1200"/>
              </a:spcAft>
            </a:pPr>
            <a:r>
              <a:rPr sz="2000">
                <a:solidFill>
                  <a:srgbClr val="1F2937"/>
                </a:solidFill>
                <a:latin typeface="Calibri"/>
              </a:rPr>
              <a:t>▸  Vegetativ deb tashxislangan bemorda yashirin ong topilsa, hayotni ushlab turuvchi davoni (LST) to‘xtatish mumkinmi? Ba’zilar ong buni to‘xtatmaslik sababi deydi.</a:t>
            </a:r>
          </a:p>
          <a:p>
            <a:pPr>
              <a:spcAft>
                <a:spcPts val="1200"/>
              </a:spcAft>
            </a:pPr>
            <a:r>
              <a:rPr sz="2000">
                <a:solidFill>
                  <a:srgbClr val="1F2937"/>
                </a:solidFill>
                <a:latin typeface="Calibri"/>
              </a:rPr>
              <a:t>▸  Boshqalar bemor azob chekayotgan bo‘lsa, davomiy davo zarar yetkazishi mumkin, deydi. Ong aniqlanishi bemorni tirik saqlash uchun aniq sabab bermaydi.</a:t>
            </a:r>
          </a:p>
          <a:p>
            <a:pPr>
              <a:spcAft>
                <a:spcPts val="1200"/>
              </a:spcAft>
            </a:pPr>
            <a:r>
              <a:rPr sz="2000">
                <a:solidFill>
                  <a:srgbClr val="1F2937"/>
                </a:solidFill>
                <a:latin typeface="Calibri"/>
              </a:rPr>
              <a:t>▸  Oilaga ta’sir: hissiy va moliyaviy yuk bo‘lishi mumkin. Jismoniy ko‘rik va neyrotasvirlash natijalari o‘rtasidagi bog‘liqlik aniq o‘rganilmagan.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Loyiha 1: qaror qabul qilish qobiliyatini baholash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Qobiliyat: tushunish, baholash, mantiq va muloqot. Muloqotni neyrotasvirlash allaqachon ta’minlay oladi.</a:t>
            </a:r>
          </a:p>
          <a:p>
            <a:pPr>
              <a:spcAft>
                <a:spcPts val="800"/>
              </a:spcAft>
            </a:pPr>
            <a:r>
              <a:rPr sz="1800">
                <a:solidFill>
                  <a:srgbClr val="1F2937"/>
                </a:solidFill>
                <a:latin typeface="Calibri"/>
              </a:rPr>
              <a:t>▸  Chegara qaror xavfiga moslanadi; yuqori xavfli qarorlar uchun yaroqsiz bo‘lishi mumkin.</a:t>
            </a:r>
          </a:p>
          <a:p>
            <a:pPr>
              <a:spcAft>
                <a:spcPts val="800"/>
              </a:spcAft>
            </a:pPr>
            <a:r>
              <a:rPr sz="1800">
                <a:solidFill>
                  <a:srgbClr val="1F2937"/>
                </a:solidFill>
                <a:latin typeface="Calibri"/>
              </a:rPr>
              <a:t>▸  Sinov: 10 savolda ≥9 to‘g‘ri javob — muvaffaqiyat; 20 kishidan 14 tasi muvaffaqiyatli bo‘lishi kerak.</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MacArthur vositasi tahlili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Kognitiv funksiyalarga ajratish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1-bosqich: funksiyalar mavjudmi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2-bosqich: aynan shu qaror</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Qaror xavf darajasiga mos</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bosqichli baholash</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Loyiha 2: farovonlik etikasi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Diqqat: avtonomiya ≠ farovonlik. “Og‘riq qoldiruvchiga ruxsat berasizmi?” avtonomiya savoli; “Og‘riq bormi?” esa tajriba haqidagi, farovonlik nuqtai nazaridagi savol.</a:t>
            </a:r>
          </a:p>
          <a:p>
            <a:pPr>
              <a:spcAft>
                <a:spcPts val="1200"/>
              </a:spcAft>
            </a:pPr>
            <a:r>
              <a:rPr sz="2000">
                <a:solidFill>
                  <a:srgbClr val="1F2937"/>
                </a:solidFill>
                <a:latin typeface="Calibri"/>
              </a:rPr>
              <a:t>▸  Har qanday qarorda ta’sirlanganlarning manfaatlari hisobga olinadi. Sezuvchan, ya’ni og‘riq va lazzat his qiladigan mavjudotning manfaatlarini e’tiborsiz qoldirish noto‘g‘ri.</a:t>
            </a:r>
          </a:p>
          <a:p>
            <a:pPr>
              <a:spcAft>
                <a:spcPts val="1200"/>
              </a:spcAft>
            </a:pPr>
            <a:r>
              <a:rPr sz="2000">
                <a:solidFill>
                  <a:srgbClr val="1F2937"/>
                </a:solidFill>
                <a:latin typeface="Calibri"/>
              </a:rPr>
              <a:t>▸  Manfaat og‘irligi aqliy qobiliyatga bog‘liq emas: bolaning befoyda azobi ham kattanikidek yomon. Qaror qobiliyati tasdiqlanmasa ham bu yondashuv qo‘l keladi.</a:t>
            </a:r>
          </a:p>
          <a:p>
            <a:pPr>
              <a:spcAft>
                <a:spcPts val="1200"/>
              </a:spcAft>
            </a:pPr>
            <a:r>
              <a:rPr sz="2000">
                <a:solidFill>
                  <a:srgbClr val="1F2937"/>
                </a:solidFill>
                <a:latin typeface="Calibri"/>
              </a:rPr>
              <a:t>▸  Bemor neyrotasvirlash orqali manfaatini bildira olsa, oila va shifokor chora ko‘radi. Og‘riq hissini bilishning o‘zi, masalan, og‘riqli muolajadan oldin analgeziya berishga asos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Sezuvchanlikni isbotlashning uch yo‘li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Savol: ongli bemor sezuvchan ham bo‘ladimi? Uch dalil yo‘li ishlab chiqiladi.</a:t>
            </a:r>
          </a:p>
          <a:p>
            <a:pPr>
              <a:spcAft>
                <a:spcPts val="800"/>
              </a:spcAft>
            </a:pPr>
            <a:r>
              <a:rPr sz="1800">
                <a:solidFill>
                  <a:srgbClr val="1F2937"/>
                </a:solidFill>
                <a:latin typeface="Calibri"/>
              </a:rPr>
              <a:t>▸  Mental tasavvur topshirig‘ini bajargan bemorlarda eshitish, nutqni qayta ishlash va qisqa muddatli xotira saqlangan.</a:t>
            </a:r>
          </a:p>
          <a:p>
            <a:pPr>
              <a:spcAft>
                <a:spcPts val="800"/>
              </a:spcAft>
            </a:pPr>
            <a:r>
              <a:rPr sz="1800">
                <a:solidFill>
                  <a:srgbClr val="1F2937"/>
                </a:solidFill>
                <a:latin typeface="Calibri"/>
              </a:rPr>
              <a:t>▸  Faqat muloqot mumkin bo‘lgan bemorlarda og‘riqni bemorning o‘zi tasdiqlashi mumkin.</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2014474"/>
                <a:gridCol w="3273501"/>
              </a:tblGrid>
              <a:tr h="768096">
                <a:tc>
                  <a:txBody>
                    <a:bodyPr/>
                    <a:lstStyle/>
                    <a:p>
                      <a:r>
                        <a:rPr sz="1800" b="1">
                          <a:solidFill>
                            <a:srgbClr val="FFFFFF"/>
                          </a:solidFill>
                        </a:rPr>
                        <a:t>Yo‘l</a:t>
                      </a:r>
                    </a:p>
                  </a:txBody>
                  <a:tcPr marL="73152" marR="73152" marT="36576" marB="36576">
                    <a:solidFill>
                      <a:srgbClr val="0B1F3A"/>
                    </a:solidFill>
                  </a:tcPr>
                </a:tc>
                <a:tc>
                  <a:txBody>
                    <a:bodyPr/>
                    <a:lstStyle/>
                    <a:p>
                      <a:r>
                        <a:rPr sz="1800" b="1">
                          <a:solidFill>
                            <a:srgbClr val="FFFFFF"/>
                          </a:solidFill>
                        </a:rPr>
                        <a:t>Mohiyati</a:t>
                      </a:r>
                    </a:p>
                  </a:txBody>
                  <a:tcPr marL="73152" marR="73152" marT="36576" marB="36576">
                    <a:solidFill>
                      <a:srgbClr val="0B1F3A"/>
                    </a:solidFill>
                  </a:tcPr>
                </a:tc>
              </a:tr>
              <a:tr h="768096">
                <a:tc>
                  <a:txBody>
                    <a:bodyPr/>
                    <a:lstStyle/>
                    <a:p>
                      <a:r>
                        <a:rPr sz="1700" b="0">
                          <a:solidFill>
                            <a:srgbClr val="1F2937"/>
                          </a:solidFill>
                        </a:rPr>
                        <a:t>1. Neyroanatomik</a:t>
                      </a:r>
                    </a:p>
                  </a:txBody>
                  <a:tcPr marL="73152" marR="73152" marT="36576" marB="36576">
                    <a:solidFill>
                      <a:srgbClr val="E8EEF6"/>
                    </a:solidFill>
                  </a:tcPr>
                </a:tc>
                <a:tc>
                  <a:txBody>
                    <a:bodyPr/>
                    <a:lstStyle/>
                    <a:p>
                      <a:r>
                        <a:rPr sz="1700" b="0">
                          <a:solidFill>
                            <a:srgbClr val="1F2937"/>
                          </a:solidFill>
                        </a:rPr>
                        <a:t>Sezgi tuzilmalari ong tuzilmalari qismi</a:t>
                      </a:r>
                    </a:p>
                  </a:txBody>
                  <a:tcPr marL="73152" marR="73152" marT="36576" marB="36576">
                    <a:solidFill>
                      <a:srgbClr val="E8EEF6"/>
                    </a:solidFill>
                  </a:tcPr>
                </a:tc>
              </a:tr>
              <a:tr h="768096">
                <a:tc>
                  <a:txBody>
                    <a:bodyPr/>
                    <a:lstStyle/>
                    <a:p>
                      <a:r>
                        <a:rPr sz="1700" b="0">
                          <a:solidFill>
                            <a:srgbClr val="1F2937"/>
                          </a:solidFill>
                        </a:rPr>
                        <a:t>2. Bilvosita belgi</a:t>
                      </a:r>
                    </a:p>
                  </a:txBody>
                  <a:tcPr marL="73152" marR="73152" marT="36576" marB="36576">
                    <a:solidFill>
                      <a:srgbClr val="FFFFFF"/>
                    </a:solidFill>
                  </a:tcPr>
                </a:tc>
                <a:tc>
                  <a:txBody>
                    <a:bodyPr/>
                    <a:lstStyle/>
                    <a:p>
                      <a:r>
                        <a:rPr sz="1700" b="0">
                          <a:solidFill>
                            <a:srgbClr val="1F2937"/>
                          </a:solidFill>
                        </a:rPr>
                        <a:t>Yurak urishi, qon bosimi, tasvir</a:t>
                      </a:r>
                    </a:p>
                  </a:txBody>
                  <a:tcPr marL="73152" marR="73152" marT="36576" marB="36576">
                    <a:solidFill>
                      <a:srgbClr val="FFFFFF"/>
                    </a:solidFill>
                  </a:tcPr>
                </a:tc>
              </a:tr>
              <a:tr h="768096">
                <a:tc>
                  <a:txBody>
                    <a:bodyPr/>
                    <a:lstStyle/>
                    <a:p>
                      <a:r>
                        <a:rPr sz="1700" b="0">
                          <a:solidFill>
                            <a:srgbClr val="1F2937"/>
                          </a:solidFill>
                        </a:rPr>
                        <a:t>3. Bemorning o‘zi</a:t>
                      </a:r>
                    </a:p>
                  </a:txBody>
                  <a:tcPr marL="73152" marR="73152" marT="36576" marB="36576">
                    <a:solidFill>
                      <a:srgbClr val="E8EEF6"/>
                    </a:solidFill>
                  </a:tcPr>
                </a:tc>
                <a:tc>
                  <a:txBody>
                    <a:bodyPr/>
                    <a:lstStyle/>
                    <a:p>
                      <a:r>
                        <a:rPr sz="1700" b="0">
                          <a:solidFill>
                            <a:srgbClr val="1F2937"/>
                          </a:solidFill>
                        </a:rPr>
                        <a:t>Og‘riqni ixtiyoriy xabar qiladi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dalil yo‘li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Locked-in sindromi va hayot sifati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Ba’zi mualliflar sezuvchanlik va og‘ir nogironlik katta azobga olib keladi, bemorni o‘lishga qo‘yish kerak deydi. Muallif bu taxminga e’tiroz bildiradi.</a:t>
            </a:r>
          </a:p>
          <a:p>
            <a:pPr>
              <a:spcAft>
                <a:spcPts val="1200"/>
              </a:spcAft>
            </a:pPr>
            <a:r>
              <a:rPr sz="2000">
                <a:solidFill>
                  <a:srgbClr val="1F2937"/>
                </a:solidFill>
                <a:latin typeface="Calibri"/>
              </a:rPr>
              <a:t>▸  Jamoatchilik va shifokorlarning sezgisi kuchli, lekin u bunday hayot haqida yomon yo‘lboshchi bo‘lishi mumkin. Imkon bo‘lsa, bemorning o‘z bahosini so‘rash kerak.</a:t>
            </a:r>
          </a:p>
          <a:p>
            <a:pPr>
              <a:spcAft>
                <a:spcPts val="1200"/>
              </a:spcAft>
            </a:pPr>
            <a:r>
              <a:rPr sz="2000">
                <a:solidFill>
                  <a:srgbClr val="1F2937"/>
                </a:solidFill>
                <a:latin typeface="Calibri"/>
              </a:rPr>
              <a:t>▸  Locked-in sindromida aql saqlanadi, harakat va nutq yo‘q. Tadqiqotlarda ko‘pchilik o‘zini baxtli deb baholagan, ayrim ballar sog‘lomlarga yaqin bo‘lgan.</a:t>
            </a:r>
          </a:p>
          <a:p>
            <a:pPr>
              <a:spcAft>
                <a:spcPts val="1200"/>
              </a:spcAft>
            </a:pPr>
            <a:r>
              <a:rPr sz="2000">
                <a:solidFill>
                  <a:srgbClr val="1F2937"/>
                </a:solidFill>
                <a:latin typeface="Calibri"/>
              </a:rPr>
              <a:t>▸  Hayot sifati vositasini yaratish qiyin: qadriyatlarni so‘rab bo‘lmaydi, boshqa shkalalar to‘ldirilmaydi, javob faqat “ha/yo‘q”. Buning uchun ikki kunlik ekspert seminari rejalashtirilgan.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Loyiha 3: oilalarga ta’sir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Oila bemor nomidan qaror qiladi, parvarishda yordam beradi va surunkali kasallik noaniqligidan hissiy yuk ko‘taradi.</a:t>
            </a:r>
          </a:p>
          <a:p>
            <a:pPr>
              <a:spcAft>
                <a:spcPts val="800"/>
              </a:spcAft>
            </a:pPr>
            <a:r>
              <a:rPr sz="1800">
                <a:solidFill>
                  <a:srgbClr val="1F2937"/>
                </a:solidFill>
                <a:latin typeface="Calibri"/>
              </a:rPr>
              <a:t>▸  Oilalar xulq-atvorda belgi bo‘lmasa ham, odatda bemor ongli deb hisoblaydi.</a:t>
            </a:r>
          </a:p>
          <a:p>
            <a:pPr>
              <a:spcAft>
                <a:spcPts val="800"/>
              </a:spcAft>
            </a:pPr>
            <a:r>
              <a:rPr sz="1800">
                <a:solidFill>
                  <a:srgbClr val="1F2937"/>
                </a:solidFill>
                <a:latin typeface="Calibri"/>
              </a:rPr>
              <a:t>▸  Salbiy natija test xatosini ham anglatishi mumkin: bemor ko‘p qimirlagan, uxlab qolgan yoki diqqatini jamlay olmagan.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Natija</a:t>
                      </a:r>
                    </a:p>
                  </a:txBody>
                  <a:tcPr marL="73152" marR="73152" marT="36576" marB="36576">
                    <a:solidFill>
                      <a:srgbClr val="0B1F3A"/>
                    </a:solidFill>
                  </a:tcPr>
                </a:tc>
                <a:tc>
                  <a:txBody>
                    <a:bodyPr/>
                    <a:lstStyle/>
                    <a:p>
                      <a:r>
                        <a:rPr sz="1800" b="1">
                          <a:solidFill>
                            <a:srgbClr val="FFFFFF"/>
                          </a:solidFill>
                        </a:rPr>
                        <a:t>Oilaga ta’siri</a:t>
                      </a:r>
                    </a:p>
                  </a:txBody>
                  <a:tcPr marL="73152" marR="73152" marT="36576" marB="36576">
                    <a:solidFill>
                      <a:srgbClr val="0B1F3A"/>
                    </a:solidFill>
                  </a:tcPr>
                </a:tc>
              </a:tr>
              <a:tr h="614476">
                <a:tc>
                  <a:txBody>
                    <a:bodyPr/>
                    <a:lstStyle/>
                    <a:p>
                      <a:r>
                        <a:rPr sz="1700" b="0">
                          <a:solidFill>
                            <a:srgbClr val="1F2937"/>
                          </a:solidFill>
                        </a:rPr>
                        <a:t>Musbat</a:t>
                      </a:r>
                    </a:p>
                  </a:txBody>
                  <a:tcPr marL="73152" marR="73152" marT="36576" marB="36576">
                    <a:solidFill>
                      <a:srgbClr val="E8EEF6"/>
                    </a:solidFill>
                  </a:tcPr>
                </a:tc>
                <a:tc>
                  <a:txBody>
                    <a:bodyPr/>
                    <a:lstStyle/>
                    <a:p>
                      <a:r>
                        <a:rPr sz="1700" b="0">
                          <a:solidFill>
                            <a:srgbClr val="1F2937"/>
                          </a:solidFill>
                        </a:rPr>
                        <a:t>Optimizm yoki o‘zini haq his qilish</a:t>
                      </a:r>
                    </a:p>
                  </a:txBody>
                  <a:tcPr marL="73152" marR="73152" marT="36576" marB="36576">
                    <a:solidFill>
                      <a:srgbClr val="E8EEF6"/>
                    </a:solidFill>
                  </a:tcPr>
                </a:tc>
              </a:tr>
              <a:tr h="614476">
                <a:tc>
                  <a:txBody>
                    <a:bodyPr/>
                    <a:lstStyle/>
                    <a:p>
                      <a:r>
                        <a:rPr sz="1700" b="0">
                          <a:solidFill>
                            <a:srgbClr val="1F2937"/>
                          </a:solidFill>
                        </a:rPr>
                        <a:t>Musbat</a:t>
                      </a:r>
                    </a:p>
                  </a:txBody>
                  <a:tcPr marL="73152" marR="73152" marT="36576" marB="36576">
                    <a:solidFill>
                      <a:srgbClr val="FFFFFF"/>
                    </a:solidFill>
                  </a:tcPr>
                </a:tc>
                <a:tc>
                  <a:txBody>
                    <a:bodyPr/>
                    <a:lstStyle/>
                    <a:p>
                      <a:r>
                        <a:rPr sz="1700" b="0">
                          <a:solidFill>
                            <a:srgbClr val="1F2937"/>
                          </a:solidFill>
                        </a:rPr>
                        <a:t>Bemor azob chekayotgan bo‘lishi mumkin</a:t>
                      </a:r>
                    </a:p>
                  </a:txBody>
                  <a:tcPr marL="73152" marR="73152" marT="36576" marB="36576">
                    <a:solidFill>
                      <a:srgbClr val="FFFFFF"/>
                    </a:solidFill>
                  </a:tcPr>
                </a:tc>
              </a:tr>
              <a:tr h="614476">
                <a:tc>
                  <a:txBody>
                    <a:bodyPr/>
                    <a:lstStyle/>
                    <a:p>
                      <a:r>
                        <a:rPr sz="1700" b="0">
                          <a:solidFill>
                            <a:srgbClr val="1F2937"/>
                          </a:solidFill>
                        </a:rPr>
                        <a:t>Manfiy</a:t>
                      </a:r>
                    </a:p>
                  </a:txBody>
                  <a:tcPr marL="73152" marR="73152" marT="36576" marB="36576">
                    <a:solidFill>
                      <a:srgbClr val="E8EEF6"/>
                    </a:solidFill>
                  </a:tcPr>
                </a:tc>
                <a:tc>
                  <a:txBody>
                    <a:bodyPr/>
                    <a:lstStyle/>
                    <a:p>
                      <a:r>
                        <a:rPr sz="1700" b="0">
                          <a:solidFill>
                            <a:srgbClr val="1F2937"/>
                          </a:solidFill>
                        </a:rPr>
                        <a:t>Sababi noaniq: ongsizlik yoki test xatosi</a:t>
                      </a:r>
                    </a:p>
                  </a:txBody>
                  <a:tcPr marL="73152" marR="73152" marT="36576" marB="36576">
                    <a:solidFill>
                      <a:srgbClr val="E8EEF6"/>
                    </a:solidFill>
                  </a:tcPr>
                </a:tc>
              </a:tr>
              <a:tr h="614476">
                <a:tc>
                  <a:txBody>
                    <a:bodyPr/>
                    <a:lstStyle/>
                    <a:p>
                      <a:r>
                        <a:rPr sz="1700" b="0">
                          <a:solidFill>
                            <a:srgbClr val="1F2937"/>
                          </a:solidFill>
                        </a:rPr>
                        <a:t>Manfiy</a:t>
                      </a:r>
                    </a:p>
                  </a:txBody>
                  <a:tcPr marL="73152" marR="73152" marT="36576" marB="36576">
                    <a:solidFill>
                      <a:srgbClr val="FFFFFF"/>
                    </a:solidFill>
                  </a:tcPr>
                </a:tc>
                <a:tc>
                  <a:txBody>
                    <a:bodyPr/>
                    <a:lstStyle/>
                    <a:p>
                      <a:r>
                        <a:rPr sz="1700" b="0">
                          <a:solidFill>
                            <a:srgbClr val="1F2937"/>
                          </a:solidFill>
                        </a:rPr>
                        <a:t>Bemor ongli deb ishongan oilada iztirob</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Natija turlari va oila ta’siri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Loyiha 4: koma va natijalarni oshkor qilish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Koma bemorlarida neyrotasvirlash tajribaviy: etika kengashi nazorati va yaqin qarindoshning roziligi bilan o‘tkaziladi.</a:t>
            </a:r>
          </a:p>
          <a:p>
            <a:pPr>
              <a:spcAft>
                <a:spcPts val="800"/>
              </a:spcAft>
            </a:pPr>
            <a:r>
              <a:rPr sz="1800">
                <a:solidFill>
                  <a:srgbClr val="1F2937"/>
                </a:solidFill>
                <a:latin typeface="Calibri"/>
              </a:rPr>
              <a:t>▸  Tadqiqot yakunida umumiy natijalarni ulashish qabul qilingan, individual natijalarni aytish esa munozarali.</a:t>
            </a:r>
          </a:p>
          <a:p>
            <a:pPr>
              <a:spcAft>
                <a:spcPts val="800"/>
              </a:spcAft>
            </a:pPr>
            <a:r>
              <a:rPr sz="1800">
                <a:solidFill>
                  <a:srgbClr val="1F2937"/>
                </a:solidFill>
                <a:latin typeface="Calibri"/>
              </a:rPr>
              <a:t>▸  Individual natija oilaga aytilishi kerak, agar to‘rt mezonning hammasi bajarilsa.</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Ilmiy asos buzilmaydi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Natija ma’lumotli va ishonchli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Foyda zarardan ustun</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Ishtirokchi rozilik beradi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Oshkor qilishning to‘rt mezoni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qobiliyat va farovonlik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12 yil vegetativ deb tashxislangan bemor neyrotasvirlash orqali “jismoniy og‘riq bormi?” kabi savollarga javob berdi. Savol: qaysi etik yondashuv qo‘llanadi?</a:t>
            </a:r>
          </a:p>
          <a:p>
            <a:pPr>
              <a:spcAft>
                <a:spcPts val="1200"/>
              </a:spcAft>
            </a:pPr>
            <a:r>
              <a:rPr sz="2200">
                <a:solidFill>
                  <a:srgbClr val="1F2937"/>
                </a:solidFill>
                <a:latin typeface="Calibri"/>
              </a:rPr>
              <a:t>▸  Og‘riq haqidagi savol sub’ektiv tajribaga oid, shuning uchun farovonlik etikasi qo‘llanadi: sezuvchi mavjudotning manfaatlari hisobga olinadi.</a:t>
            </a:r>
          </a:p>
          <a:p>
            <a:pPr>
              <a:spcAft>
                <a:spcPts val="1200"/>
              </a:spcAft>
            </a:pPr>
            <a:r>
              <a:rPr sz="2200">
                <a:solidFill>
                  <a:srgbClr val="1F2937"/>
                </a:solidFill>
                <a:latin typeface="Calibri"/>
              </a:rPr>
              <a:t>▸  “Qayta jonlantirilsinmi?” kabi qaror savollari avtonomiyaga tayanadi; avval qaror qabul qilish qobiliyati aniqlanishi shart.</a:t>
            </a:r>
          </a:p>
          <a:p>
            <a:pPr>
              <a:spcAft>
                <a:spcPts val="1200"/>
              </a:spcAft>
            </a:pPr>
            <a:r>
              <a:rPr sz="2200">
                <a:solidFill>
                  <a:srgbClr val="1F2937"/>
                </a:solidFill>
                <a:latin typeface="Calibri"/>
              </a:rPr>
              <a:t>▸  Diqqat: faqat “ha/yo‘q” javob qobiliyatni baholashni qiyinlashtiradi; usul yuqori xavfli (hayot oxiri) qarorlarga mos kelmasligi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Qarorlar qabul qilish layoqati qaysi to‘rt elementdan iborat? Neyrotasvirlashda qaysi biri allaqachon isbotlangan?</a:t>
            </a:r>
          </a:p>
          <a:p>
            <a:pPr>
              <a:spcAft>
                <a:spcPts val="1200"/>
              </a:spcAft>
            </a:pPr>
            <a:r>
              <a:rPr sz="2200">
                <a:solidFill>
                  <a:srgbClr val="1F2937"/>
                </a:solidFill>
                <a:latin typeface="Calibri"/>
              </a:rPr>
              <a:t>▸  Savol 2: Bemorning ratsional layoqati tasdiqlanmasa ham, uning og‘riq yoki rohat sezishi nega e’tiborga olinishi kerak?</a:t>
            </a:r>
          </a:p>
          <a:p>
            <a:pPr>
              <a:spcAft>
                <a:spcPts val="1200"/>
              </a:spcAft>
            </a:pPr>
            <a:r>
              <a:rPr sz="2200">
                <a:solidFill>
                  <a:srgbClr val="1F2937"/>
                </a:solidFill>
                <a:latin typeface="Calibri"/>
              </a:rPr>
              <a:t>▸  Savol 3: Manfiy tasvir natijasi bemor oilasini nega chalg‘itishi mumkin? Bunda qanday ikki xil izoh bor?</a:t>
            </a:r>
          </a:p>
          <a:p>
            <a:pPr>
              <a:spcAft>
                <a:spcPts val="1200"/>
              </a:spcAft>
            </a:pPr>
            <a:r>
              <a:rPr sz="2200">
                <a:solidFill>
                  <a:srgbClr val="1F2937"/>
                </a:solidFill>
                <a:latin typeface="Calibri"/>
              </a:rPr>
              <a:t>▸  Diqqat: xato qilish xavfi — manfiy natija ≠ ong yo‘qligi. U sinov sharoiti muvaffaqiyatsiz bo‘lganini ham bildirishi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Neyroetikaning ikki rejimi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Ikkala rejimda ham tavsif bor, lekin ikkalasi ham “nima qilish kerak” deb ko‘rsatma beradi.</a:t>
            </a:r>
          </a:p>
          <a:p>
            <a:pPr>
              <a:spcAft>
                <a:spcPts val="800"/>
              </a:spcAft>
            </a:pPr>
            <a:r>
              <a:rPr sz="1800">
                <a:solidFill>
                  <a:srgbClr val="1F2937"/>
                </a:solidFill>
                <a:latin typeface="Calibri"/>
              </a:rPr>
              <a:t>▸  Rejimlarni ikki alohida “an’ana”ga bo‘lish xavfli: oddiy farq qarama-qarshilikka aylanib ketishi mumkin.</a:t>
            </a:r>
          </a:p>
          <a:p>
            <a:pPr>
              <a:spcAft>
                <a:spcPts val="800"/>
              </a:spcAft>
            </a:pPr>
            <a:r>
              <a:rPr sz="1800">
                <a:solidFill>
                  <a:srgbClr val="1F2937"/>
                </a:solidFill>
                <a:latin typeface="Calibri"/>
              </a:rPr>
              <a:t>▸  Yangi o‘zini anglash etika usullarini, etika esa yangi miya texnologiyalarini baholashni o‘zgartiradi.</a:t>
            </a:r>
          </a:p>
        </p:txBody>
      </p:sp>
      <p:graphicFrame>
        <p:nvGraphicFramePr>
          <p:cNvPr id="9" name="Table 8"/>
          <p:cNvGraphicFramePr>
            <a:graphicFrameLocks noGrp="1"/>
          </p:cNvGraphicFramePr>
          <p:nvPr/>
        </p:nvGraphicFramePr>
        <p:xfrm>
          <a:off x="6263640" y="1463040"/>
          <a:ext cx="5287974" cy="2606040"/>
        </p:xfrm>
        <a:graphic>
          <a:graphicData uri="http://schemas.openxmlformats.org/drawingml/2006/table">
            <a:tbl>
              <a:tblPr firstRow="1" bandRow="1">
                <a:tableStyleId>{5C22544A-7EE6-4342-B048-85BDC9FD1C3A}</a:tableStyleId>
              </a:tblPr>
              <a:tblGrid>
                <a:gridCol w="1573530"/>
                <a:gridCol w="1702917"/>
                <a:gridCol w="2011527"/>
              </a:tblGrid>
              <a:tr h="868680">
                <a:tc>
                  <a:txBody>
                    <a:bodyPr/>
                    <a:lstStyle/>
                    <a:p>
                      <a:r>
                        <a:rPr sz="1600" b="1">
                          <a:solidFill>
                            <a:srgbClr val="FFFFFF"/>
                          </a:solidFill>
                        </a:rPr>
                        <a:t>Rejim</a:t>
                      </a:r>
                    </a:p>
                  </a:txBody>
                  <a:tcPr marL="73152" marR="73152" marT="36576" marB="36576">
                    <a:solidFill>
                      <a:srgbClr val="0B1F3A"/>
                    </a:solidFill>
                  </a:tcPr>
                </a:tc>
                <a:tc>
                  <a:txBody>
                    <a:bodyPr/>
                    <a:lstStyle/>
                    <a:p>
                      <a:r>
                        <a:rPr sz="1600" b="1">
                          <a:solidFill>
                            <a:srgbClr val="FFFFFF"/>
                          </a:solidFill>
                        </a:rPr>
                        <a:t>Mohiyati</a:t>
                      </a:r>
                    </a:p>
                  </a:txBody>
                  <a:tcPr marL="73152" marR="73152" marT="36576" marB="36576">
                    <a:solidFill>
                      <a:srgbClr val="0B1F3A"/>
                    </a:solidFill>
                  </a:tcPr>
                </a:tc>
                <a:tc>
                  <a:txBody>
                    <a:bodyPr/>
                    <a:lstStyle/>
                    <a:p>
                      <a:r>
                        <a:rPr sz="1600" b="1">
                          <a:solidFill>
                            <a:srgbClr val="FFFFFF"/>
                          </a:solidFill>
                        </a:rPr>
                        <a:t>Misol</a:t>
                      </a:r>
                    </a:p>
                  </a:txBody>
                  <a:tcPr marL="73152" marR="73152" marT="36576" marB="36576">
                    <a:solidFill>
                      <a:srgbClr val="0B1F3A"/>
                    </a:solidFill>
                  </a:tcPr>
                </a:tc>
              </a:tr>
              <a:tr h="868680">
                <a:tc>
                  <a:txBody>
                    <a:bodyPr/>
                    <a:lstStyle/>
                    <a:p>
                      <a:r>
                        <a:rPr sz="1500" b="0">
                          <a:solidFill>
                            <a:srgbClr val="1F2937"/>
                          </a:solidFill>
                        </a:rPr>
                        <a:t>Etika neyrobilimi</a:t>
                      </a:r>
                    </a:p>
                  </a:txBody>
                  <a:tcPr marL="73152" marR="73152" marT="36576" marB="36576">
                    <a:solidFill>
                      <a:srgbClr val="E8EEF6"/>
                    </a:solidFill>
                  </a:tcPr>
                </a:tc>
                <a:tc>
                  <a:txBody>
                    <a:bodyPr/>
                    <a:lstStyle/>
                    <a:p>
                      <a:r>
                        <a:rPr sz="1500" b="0">
                          <a:solidFill>
                            <a:srgbClr val="1F2937"/>
                          </a:solidFill>
                        </a:rPr>
                        <a:t>Miya bilimi ijtimoiy qarashni o‘zgartiradi</a:t>
                      </a:r>
                    </a:p>
                  </a:txBody>
                  <a:tcPr marL="73152" marR="73152" marT="36576" marB="36576">
                    <a:solidFill>
                      <a:srgbClr val="E8EEF6"/>
                    </a:solidFill>
                  </a:tcPr>
                </a:tc>
                <a:tc>
                  <a:txBody>
                    <a:bodyPr/>
                    <a:lstStyle/>
                    <a:p>
                      <a:r>
                        <a:rPr sz="1500" b="0">
                          <a:solidFill>
                            <a:srgbClr val="1F2937"/>
                          </a:solidFill>
                        </a:rPr>
                        <a:t>Jinoiy javobgarlik mezonlarini qayta ko‘rish</a:t>
                      </a:r>
                    </a:p>
                  </a:txBody>
                  <a:tcPr marL="73152" marR="73152" marT="36576" marB="36576">
                    <a:solidFill>
                      <a:srgbClr val="E8EEF6"/>
                    </a:solidFill>
                  </a:tcPr>
                </a:tc>
              </a:tr>
              <a:tr h="868680">
                <a:tc>
                  <a:txBody>
                    <a:bodyPr/>
                    <a:lstStyle/>
                    <a:p>
                      <a:r>
                        <a:rPr sz="1500" b="0">
                          <a:solidFill>
                            <a:srgbClr val="1F2937"/>
                          </a:solidFill>
                        </a:rPr>
                        <a:t>Neyrobilim etikasi</a:t>
                      </a:r>
                    </a:p>
                  </a:txBody>
                  <a:tcPr marL="73152" marR="73152" marT="36576" marB="36576">
                    <a:solidFill>
                      <a:srgbClr val="FFFFFF"/>
                    </a:solidFill>
                  </a:tcPr>
                </a:tc>
                <a:tc>
                  <a:txBody>
                    <a:bodyPr/>
                    <a:lstStyle/>
                    <a:p>
                      <a:r>
                        <a:rPr sz="1500" b="0">
                          <a:solidFill>
                            <a:srgbClr val="1F2937"/>
                          </a:solidFill>
                        </a:rPr>
                        <a:t>Ijtimoiy qarash texnologiyani baholaydi</a:t>
                      </a:r>
                    </a:p>
                  </a:txBody>
                  <a:tcPr marL="73152" marR="73152" marT="36576" marB="36576">
                    <a:solidFill>
                      <a:srgbClr val="FFFFFF"/>
                    </a:solidFill>
                  </a:tcPr>
                </a:tc>
                <a:tc>
                  <a:txBody>
                    <a:bodyPr/>
                    <a:lstStyle/>
                    <a:p>
                      <a:r>
                        <a:rPr sz="1500" b="0">
                          <a:solidFill>
                            <a:srgbClr val="1F2937"/>
                          </a:solidFill>
                        </a:rPr>
                        <a:t>Mahkumlarga miya modifikatsiyasi berilsinmi?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rejim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Shook et al., A principled and cosmopolitan neuroethics: considerations for international relevance, betlar: PMID 24387102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Preskriptiv neyroetika va madaniy to‘qnashuv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Muammo odatda ikki lagerga bo‘linadi. Konservativlar an’anaga tayanib yangi texnologiyani rad etadi. Progressivlar yangi texnologiya imkon bergan yangi ijtimoiy tuzilmani taklif qiladi.</a:t>
            </a:r>
          </a:p>
          <a:p>
            <a:pPr>
              <a:spcAft>
                <a:spcPts val="1200"/>
              </a:spcAft>
            </a:pPr>
            <a:r>
              <a:rPr sz="2000">
                <a:solidFill>
                  <a:srgbClr val="1F2937"/>
                </a:solidFill>
                <a:latin typeface="Calibri"/>
              </a:rPr>
              <a:t>▸  Ikkala tomon ham intuitsiya, ijtimoiy standart, madaniy me’yor va qonunga tayanadi. Dalillar ikki tomonga ham yetgani uchun hech biri ustun kelmay, muammo boshi berk ko‘chaga kirishi mumkin.</a:t>
            </a:r>
          </a:p>
          <a:p>
            <a:pPr>
              <a:spcAft>
                <a:spcPts val="1200"/>
              </a:spcAft>
            </a:pPr>
            <a:r>
              <a:rPr sz="2000">
                <a:solidFill>
                  <a:srgbClr val="1F2937"/>
                </a:solidFill>
                <a:latin typeface="Calibri"/>
              </a:rPr>
              <a:t>▸  Jamiyat umr uzaytirish, ruhiy salomatlik yoki jinoyatchilikning oldini olish kabi maqsadga qattiq bog‘langan bo‘lsa, yangi texnologiyani tezroq qabul qiladi.</a:t>
            </a:r>
          </a:p>
          <a:p>
            <a:pPr>
              <a:spcAft>
                <a:spcPts val="1200"/>
              </a:spcAft>
            </a:pPr>
            <a:r>
              <a:rPr sz="2000">
                <a:solidFill>
                  <a:srgbClr val="1F2937"/>
                </a:solidFill>
                <a:latin typeface="Calibri"/>
              </a:rPr>
              <a:t>▸  Diqqat: ko‘pchilik yoqtirgan narsa avtomatik ravishda to‘g‘ri bo‘lmaydi. Ijtimoiy me’yorlar foydali, lekin universal tamoyil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Shook et al., A principled and cosmopolitan neuroethics: considerations for international relevance, betlar: PMID 24387102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meta-etika: uch yo‘nalish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Neyroetika uch masalaga e’tibor beradi: axloqiy qobiliyat, axloqiy amaliyot va axloqiy tamoyil.</a:t>
            </a:r>
          </a:p>
          <a:p>
            <a:pPr>
              <a:spcAft>
                <a:spcPts val="800"/>
              </a:spcAft>
            </a:pPr>
            <a:r>
              <a:rPr sz="1800">
                <a:solidFill>
                  <a:srgbClr val="1F2937"/>
                </a:solidFill>
                <a:latin typeface="Calibri"/>
              </a:rPr>
              <a:t>▸  Qobiliyat: miya mexanizmlari odamning ijtimoiy va axloqiy bo‘lish layoqatini qanday ta’minlashi o‘rganiladi.</a:t>
            </a:r>
          </a:p>
          <a:p>
            <a:pPr>
              <a:spcAft>
                <a:spcPts val="800"/>
              </a:spcAft>
            </a:pPr>
            <a:r>
              <a:rPr sz="1800">
                <a:solidFill>
                  <a:srgbClr val="1F2937"/>
                </a:solidFill>
                <a:latin typeface="Calibri"/>
              </a:rPr>
              <a:t>▸  Noto‘g‘ri taxminlarga tayangan nazariyalar fan ma’lumotlari bilan rad etilib, qayta ko‘riladi.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Qobiliyat: miya mexanizmi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Amaliyot: miyaga mosligi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Tamoyil: asosli hukm</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Nazariya fan bilan tekshiriladi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Meta-etika zanjiri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Shook et al., A principled and cosmopolitan neuroethics: considerations for international relevance, betlar: PMID 24387102; bo‘lim: A new meta-ethics for neuroethics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Axloqiy naturalizm ≠ axloqiy realizm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Axloqiy naturalizm — odamlar ijtimoiylik va axloqni o‘z madaniyatlarida qanday amalga oshirishini ilmiy tushunish loyihasi.</a:t>
            </a:r>
          </a:p>
          <a:p>
            <a:pPr>
              <a:spcAft>
                <a:spcPts val="1200"/>
              </a:spcAft>
            </a:pPr>
            <a:r>
              <a:rPr sz="2200">
                <a:solidFill>
                  <a:srgbClr val="1F2937"/>
                </a:solidFill>
                <a:latin typeface="Calibri"/>
              </a:rPr>
              <a:t>▸  Diqqat: xato qilish xavfi! Naturalist biror aniq axloq kodeksini nazarda tutmaydi va qaysi axloq «haqiqiy» ekanini ham aytmaydi.</a:t>
            </a:r>
          </a:p>
          <a:p>
            <a:pPr>
              <a:spcAft>
                <a:spcPts val="1200"/>
              </a:spcAft>
            </a:pPr>
            <a:r>
              <a:rPr sz="2200">
                <a:solidFill>
                  <a:srgbClr val="1F2937"/>
                </a:solidFill>
                <a:latin typeface="Calibri"/>
              </a:rPr>
              <a:t>▸  Naturalizm chuqur axloqiy plyuralizmga mos keladi, lekin sog‘lom fanga zid axloq qarashlarini qabul qilmaydi.</a:t>
            </a:r>
          </a:p>
          <a:p>
            <a:pPr>
              <a:spcAft>
                <a:spcPts val="1200"/>
              </a:spcAft>
            </a:pPr>
            <a:r>
              <a:rPr sz="2200">
                <a:solidFill>
                  <a:srgbClr val="1F2937"/>
                </a:solidFill>
                <a:latin typeface="Calibri"/>
              </a:rPr>
              <a:t>▸  Neyroetika tadqiqotda naturalistik, ammo barcha qadriyatlar tabiat faktlariga qisqaradi, degan fikrga majbur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Shook et al., A principled and cosmopolitan neuroethics: considerations for international relevance, betlar: PMID 24387102; bo‘lim: Neuroethics and moral naturalism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madaniyat va neyrotexnologiya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yangi neyrotexnologiya bir mamlakatda yaratilib, tez chegaradan o‘tadi; maqsad ezgu, tijoriy yoki zararli bo‘lishi mumkin.</a:t>
            </a:r>
          </a:p>
          <a:p>
            <a:pPr>
              <a:spcAft>
                <a:spcPts val="1200"/>
              </a:spcAft>
            </a:pPr>
            <a:r>
              <a:rPr sz="2200">
                <a:solidFill>
                  <a:srgbClr val="1F2937"/>
                </a:solidFill>
                <a:latin typeface="Calibri"/>
              </a:rPr>
              <a:t>▸  Neyrobozor endi faqat G‘arbniki emas: g‘arbdan tashqari davlatlar ham qatnashadi. Bozor yiliga 150 milliard dollardan ortiq baholanadi.</a:t>
            </a:r>
          </a:p>
          <a:p>
            <a:pPr>
              <a:spcAft>
                <a:spcPts val="1200"/>
              </a:spcAft>
            </a:pPr>
            <a:r>
              <a:rPr sz="2200">
                <a:solidFill>
                  <a:srgbClr val="1F2937"/>
                </a:solidFill>
                <a:latin typeface="Calibri"/>
              </a:rPr>
              <a:t>▸  Savol: faqat bitta madaniyat qadriyatlari yetarlimi? Mualliflar rivojlangan va rivojlanayotgan davlatlar uchun umumiy tamoyillarni taklif qiladi.</a:t>
            </a:r>
          </a:p>
          <a:p>
            <a:pPr>
              <a:spcAft>
                <a:spcPts val="1200"/>
              </a:spcAft>
            </a:pPr>
            <a:r>
              <a:rPr sz="2200">
                <a:solidFill>
                  <a:srgbClr val="1F2937"/>
                </a:solidFill>
                <a:latin typeface="Calibri"/>
              </a:rPr>
              <a:t>▸  Taklif: madaniyatlararo mo‘tadil kosmopolit tamoyillar — kuchaytirish, eskirmaslik, o‘zini yaratish va fuqarolik.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Shook et al., A principled and cosmopolitan neuroethics: considerations for international relevance, betlar: PMID 24387102; bo‘lim: International neuroethics, PMID 24387102; bo‘lim: Four guidelines of a principled neuroethics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Mo‘tadil kosmopolitan neyroetika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Mo‘tadil kosmopolitanizm odamlarning odatiy axloqiy xulqiga mos keladi. U etnik xilma-xillikni va demokratik o‘zini o‘zi boshqarishni qo‘llab-quvvatlaydi.</a:t>
            </a:r>
          </a:p>
          <a:p>
            <a:pPr>
              <a:spcAft>
                <a:spcPts val="1200"/>
              </a:spcAft>
            </a:pPr>
            <a:r>
              <a:rPr sz="2000">
                <a:solidFill>
                  <a:srgbClr val="1F2937"/>
                </a:solidFill>
                <a:latin typeface="Calibri"/>
              </a:rPr>
              <a:t>▸  Madaniy essensializm va izolyatsionizm bu yondashuvga to‘g‘ri kelmaydi. Odam bir madaniyatga qamalmagan, u madaniyatlarni tanqidiy baholay oladi.</a:t>
            </a:r>
          </a:p>
          <a:p>
            <a:pPr>
              <a:spcAft>
                <a:spcPts val="1200"/>
              </a:spcAft>
            </a:pPr>
            <a:r>
              <a:rPr sz="2000">
                <a:solidFill>
                  <a:srgbClr val="1F2937"/>
                </a:solidFill>
                <a:latin typeface="Calibri"/>
              </a:rPr>
              <a:t>▸  Diqqat: ekstremal kosmopolitanizm rad etiladi. Yagona jahon hukumati, hammaga teng g‘amxo‘rlik va bitta gegemon dunyo madaniyati haqidagi umidlar haqiqatga to‘g‘ri kelmaydi.</a:t>
            </a:r>
          </a:p>
          <a:p>
            <a:pPr>
              <a:spcAft>
                <a:spcPts val="1200"/>
              </a:spcAft>
            </a:pPr>
            <a:r>
              <a:rPr sz="2000">
                <a:solidFill>
                  <a:srgbClr val="1F2937"/>
                </a:solidFill>
                <a:latin typeface="Calibri"/>
              </a:rPr>
              <a:t>▸  Neyroetika boylik tengligi yoki iqtisodiy globallashuv kabi masalalarda majburiyat olmaydi. U erkinlik, zarardan himoya, imkoniyatlar va o‘zini boshqarishni tavsiya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Shook et al., A principled and cosmopolitan neuroethics: considerations for international relevance, betlar: PMID 24387102; DOI 10.1186/1747-5341-9-1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To‘rt an’anaviy tamoyil va ularning chegarasi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Tibbiy etika tamoyillari tibbiyot va G‘arb madaniyati sharoitida foydali bo‘lgan, ammo bahsli.</a:t>
            </a:r>
          </a:p>
          <a:p>
            <a:pPr>
              <a:spcAft>
                <a:spcPts val="800"/>
              </a:spcAft>
            </a:pPr>
            <a:r>
              <a:rPr sz="1800">
                <a:solidFill>
                  <a:srgbClr val="1F2937"/>
                </a:solidFill>
                <a:latin typeface="Calibri"/>
              </a:rPr>
              <a:t>▸  Neyrotexnologiyalar bu to‘rt tamoyilning ichki cheklovlarini yaqin orada ochib beradi.</a:t>
            </a:r>
          </a:p>
          <a:p>
            <a:pPr>
              <a:spcAft>
                <a:spcPts val="800"/>
              </a:spcAft>
            </a:pPr>
            <a:r>
              <a:rPr sz="1800">
                <a:solidFill>
                  <a:srgbClr val="1F2937"/>
                </a:solidFill>
                <a:latin typeface="Calibri"/>
              </a:rPr>
              <a:t>▸  Radikal o‘zgarishlar barqaror shaxs va aniq ‘yaxshilik’ haqidagi taxminlarni sinovdan o‘tkazadi.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612900"/>
                <a:gridCol w="3675075"/>
              </a:tblGrid>
              <a:tr h="614476">
                <a:tc>
                  <a:txBody>
                    <a:bodyPr/>
                    <a:lstStyle/>
                    <a:p>
                      <a:r>
                        <a:rPr sz="1800" b="1">
                          <a:solidFill>
                            <a:srgbClr val="FFFFFF"/>
                          </a:solidFill>
                        </a:rPr>
                        <a:t>Tamoyil</a:t>
                      </a:r>
                    </a:p>
                  </a:txBody>
                  <a:tcPr marL="73152" marR="73152" marT="36576" marB="36576">
                    <a:solidFill>
                      <a:srgbClr val="0B1F3A"/>
                    </a:solidFill>
                  </a:tcPr>
                </a:tc>
                <a:tc>
                  <a:txBody>
                    <a:bodyPr/>
                    <a:lstStyle/>
                    <a:p>
                      <a:r>
                        <a:rPr sz="1800" b="1">
                          <a:solidFill>
                            <a:srgbClr val="FFFFFF"/>
                          </a:solidFill>
                        </a:rPr>
                        <a:t>Chegarasi</a:t>
                      </a:r>
                    </a:p>
                  </a:txBody>
                  <a:tcPr marL="73152" marR="73152" marT="36576" marB="36576">
                    <a:solidFill>
                      <a:srgbClr val="0B1F3A"/>
                    </a:solidFill>
                  </a:tcPr>
                </a:tc>
              </a:tr>
              <a:tr h="614476">
                <a:tc>
                  <a:txBody>
                    <a:bodyPr/>
                    <a:lstStyle/>
                    <a:p>
                      <a:r>
                        <a:rPr sz="1700" b="0">
                          <a:solidFill>
                            <a:srgbClr val="1F2937"/>
                          </a:solidFill>
                        </a:rPr>
                        <a:t>Avtonomiya</a:t>
                      </a:r>
                    </a:p>
                  </a:txBody>
                  <a:tcPr marL="73152" marR="73152" marT="36576" marB="36576">
                    <a:solidFill>
                      <a:srgbClr val="E8EEF6"/>
                    </a:solidFill>
                  </a:tcPr>
                </a:tc>
                <a:tc>
                  <a:txBody>
                    <a:bodyPr/>
                    <a:lstStyle/>
                    <a:p>
                      <a:r>
                        <a:rPr sz="1700" b="0">
                          <a:solidFill>
                            <a:srgbClr val="1F2937"/>
                          </a:solidFill>
                        </a:rPr>
                        <a:t>Xotira qayta yozilsa, kimning erki buzildi?</a:t>
                      </a:r>
                    </a:p>
                  </a:txBody>
                  <a:tcPr marL="73152" marR="73152" marT="36576" marB="36576">
                    <a:solidFill>
                      <a:srgbClr val="E8EEF6"/>
                    </a:solidFill>
                  </a:tcPr>
                </a:tc>
              </a:tr>
              <a:tr h="614476">
                <a:tc>
                  <a:txBody>
                    <a:bodyPr/>
                    <a:lstStyle/>
                    <a:p>
                      <a:r>
                        <a:rPr sz="1700" b="0">
                          <a:solidFill>
                            <a:srgbClr val="1F2937"/>
                          </a:solidFill>
                        </a:rPr>
                        <a:t>Yaxshilik qilish</a:t>
                      </a:r>
                    </a:p>
                  </a:txBody>
                  <a:tcPr marL="73152" marR="73152" marT="36576" marB="36576">
                    <a:solidFill>
                      <a:srgbClr val="FFFFFF"/>
                    </a:solidFill>
                  </a:tcPr>
                </a:tc>
                <a:tc>
                  <a:txBody>
                    <a:bodyPr/>
                    <a:lstStyle/>
                    <a:p>
                      <a:r>
                        <a:rPr sz="1700" b="0">
                          <a:solidFill>
                            <a:srgbClr val="1F2937"/>
                          </a:solidFill>
                        </a:rPr>
                        <a:t>Yaxshilikni har kim o‘zi belgilaydi</a:t>
                      </a:r>
                    </a:p>
                  </a:txBody>
                  <a:tcPr marL="73152" marR="73152" marT="36576" marB="36576">
                    <a:solidFill>
                      <a:srgbClr val="FFFFFF"/>
                    </a:solidFill>
                  </a:tcPr>
                </a:tc>
              </a:tr>
              <a:tr h="614476">
                <a:tc>
                  <a:txBody>
                    <a:bodyPr/>
                    <a:lstStyle/>
                    <a:p>
                      <a:r>
                        <a:rPr sz="1700" b="0">
                          <a:solidFill>
                            <a:srgbClr val="1F2937"/>
                          </a:solidFill>
                        </a:rPr>
                        <a:t>Zarar qilmaslik</a:t>
                      </a:r>
                    </a:p>
                  </a:txBody>
                  <a:tcPr marL="73152" marR="73152" marT="36576" marB="36576">
                    <a:solidFill>
                      <a:srgbClr val="E8EEF6"/>
                    </a:solidFill>
                  </a:tcPr>
                </a:tc>
                <a:tc>
                  <a:txBody>
                    <a:bodyPr/>
                    <a:lstStyle/>
                    <a:p>
                      <a:r>
                        <a:rPr sz="1700" b="0">
                          <a:solidFill>
                            <a:srgbClr val="1F2937"/>
                          </a:solidFill>
                        </a:rPr>
                        <a:t>Zararni shaxs o‘zi tanlab qabul qiladi</a:t>
                      </a:r>
                    </a:p>
                  </a:txBody>
                  <a:tcPr marL="73152" marR="73152" marT="36576" marB="36576">
                    <a:solidFill>
                      <a:srgbClr val="E8EEF6"/>
                    </a:solidFill>
                  </a:tcPr>
                </a:tc>
              </a:tr>
              <a:tr h="614476">
                <a:tc>
                  <a:txBody>
                    <a:bodyPr/>
                    <a:lstStyle/>
                    <a:p>
                      <a:r>
                        <a:rPr sz="1700" b="0">
                          <a:solidFill>
                            <a:srgbClr val="1F2937"/>
                          </a:solidFill>
                        </a:rPr>
                        <a:t>Adolat</a:t>
                      </a:r>
                    </a:p>
                  </a:txBody>
                  <a:tcPr marL="73152" marR="73152" marT="36576" marB="36576">
                    <a:solidFill>
                      <a:srgbClr val="FFFFFF"/>
                    </a:solidFill>
                  </a:tcPr>
                </a:tc>
                <a:tc>
                  <a:txBody>
                    <a:bodyPr/>
                    <a:lstStyle/>
                    <a:p>
                      <a:r>
                        <a:rPr sz="1700" b="0">
                          <a:solidFill>
                            <a:srgbClr val="1F2937"/>
                          </a:solidFill>
                        </a:rPr>
                        <a:t>Kuchaytirish ish uchun moliyalanishi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Tamoyillar va ularning chegarasi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Shook et al., A principled and cosmopolitan neuroethics: considerations for international relevance, betlar: PMID 24387102; DOI 10.1186/1747-5341-9-1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To‘rt yangi yo‘riqnoma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Bu yo‘riqnomalar tibbiy etika tamoyillarini mo‘tadil kosmopolitanizm bilan kengaytirib hosil qilingan.</a:t>
            </a:r>
          </a:p>
          <a:p>
            <a:pPr>
              <a:spcAft>
                <a:spcPts val="800"/>
              </a:spcAft>
            </a:pPr>
            <a:r>
              <a:rPr sz="1800">
                <a:solidFill>
                  <a:srgbClr val="1F2937"/>
                </a:solidFill>
                <a:latin typeface="Calibri"/>
              </a:rPr>
              <a:t>▸  Zarar yetkazuvchi, qaramlikni oshiruvchi yoki ijodkorlikni toraytiruvchi o‘zgarish noetik hisoblanadi.</a:t>
            </a:r>
          </a:p>
          <a:p>
            <a:pPr>
              <a:spcAft>
                <a:spcPts val="800"/>
              </a:spcAft>
            </a:pPr>
            <a:r>
              <a:rPr sz="1800">
                <a:solidFill>
                  <a:srgbClr val="1F2937"/>
                </a:solidFill>
                <a:latin typeface="Calibri"/>
              </a:rPr>
              <a:t>▸  Mualliflar aynan shu to‘rttasini ustun qo‘ymaydi; boshqa tanlov boshqa to‘plam berishi mumkin.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691639"/>
                <a:gridCol w="1455420"/>
                <a:gridCol w="2140916"/>
              </a:tblGrid>
              <a:tr h="614476">
                <a:tc>
                  <a:txBody>
                    <a:bodyPr/>
                    <a:lstStyle/>
                    <a:p>
                      <a:r>
                        <a:rPr sz="1600" b="1">
                          <a:solidFill>
                            <a:srgbClr val="FFFFFF"/>
                          </a:solidFill>
                        </a:rPr>
                        <a:t>Yo‘riqnoma</a:t>
                      </a:r>
                    </a:p>
                  </a:txBody>
                  <a:tcPr marL="73152" marR="73152" marT="36576" marB="36576">
                    <a:solidFill>
                      <a:srgbClr val="0B1F3A"/>
                    </a:solidFill>
                  </a:tcPr>
                </a:tc>
                <a:tc>
                  <a:txBody>
                    <a:bodyPr/>
                    <a:lstStyle/>
                    <a:p>
                      <a:r>
                        <a:rPr sz="1600" b="1">
                          <a:solidFill>
                            <a:srgbClr val="FFFFFF"/>
                          </a:solidFill>
                        </a:rPr>
                        <a:t>Qaysidan</a:t>
                      </a:r>
                    </a:p>
                  </a:txBody>
                  <a:tcPr marL="73152" marR="73152" marT="36576" marB="36576">
                    <a:solidFill>
                      <a:srgbClr val="0B1F3A"/>
                    </a:solidFill>
                  </a:tcPr>
                </a:tc>
                <a:tc>
                  <a:txBody>
                    <a:bodyPr/>
                    <a:lstStyle/>
                    <a:p>
                      <a:r>
                        <a:rPr sz="1600" b="1">
                          <a:solidFill>
                            <a:srgbClr val="FFFFFF"/>
                          </a:solidFill>
                        </a:rPr>
                        <a:t>Mazmuni</a:t>
                      </a:r>
                    </a:p>
                  </a:txBody>
                  <a:tcPr marL="73152" marR="73152" marT="36576" marB="36576">
                    <a:solidFill>
                      <a:srgbClr val="0B1F3A"/>
                    </a:solidFill>
                  </a:tcPr>
                </a:tc>
              </a:tr>
              <a:tr h="614476">
                <a:tc>
                  <a:txBody>
                    <a:bodyPr/>
                    <a:lstStyle/>
                    <a:p>
                      <a:r>
                        <a:rPr sz="1500" b="0">
                          <a:solidFill>
                            <a:srgbClr val="1F2937"/>
                          </a:solidFill>
                        </a:rPr>
                        <a:t>Kuchaytirish</a:t>
                      </a:r>
                    </a:p>
                  </a:txBody>
                  <a:tcPr marL="73152" marR="73152" marT="36576" marB="36576">
                    <a:solidFill>
                      <a:srgbClr val="E8EEF6"/>
                    </a:solidFill>
                  </a:tcPr>
                </a:tc>
                <a:tc>
                  <a:txBody>
                    <a:bodyPr/>
                    <a:lstStyle/>
                    <a:p>
                      <a:r>
                        <a:rPr sz="1500" b="0">
                          <a:solidFill>
                            <a:srgbClr val="1F2937"/>
                          </a:solidFill>
                        </a:rPr>
                        <a:t>Yaxshilik qilish</a:t>
                      </a:r>
                    </a:p>
                  </a:txBody>
                  <a:tcPr marL="73152" marR="73152" marT="36576" marB="36576">
                    <a:solidFill>
                      <a:srgbClr val="E8EEF6"/>
                    </a:solidFill>
                  </a:tcPr>
                </a:tc>
                <a:tc>
                  <a:txBody>
                    <a:bodyPr/>
                    <a:lstStyle/>
                    <a:p>
                      <a:r>
                        <a:rPr sz="1500" b="0">
                          <a:solidFill>
                            <a:srgbClr val="1F2937"/>
                          </a:solidFill>
                        </a:rPr>
                        <a:t>Mustaqil hayot imkoniyatini oshirish</a:t>
                      </a:r>
                    </a:p>
                  </a:txBody>
                  <a:tcPr marL="73152" marR="73152" marT="36576" marB="36576">
                    <a:solidFill>
                      <a:srgbClr val="E8EEF6"/>
                    </a:solidFill>
                  </a:tcPr>
                </a:tc>
              </a:tr>
              <a:tr h="614476">
                <a:tc>
                  <a:txBody>
                    <a:bodyPr/>
                    <a:lstStyle/>
                    <a:p>
                      <a:r>
                        <a:rPr sz="1500" b="0">
                          <a:solidFill>
                            <a:srgbClr val="1F2937"/>
                          </a:solidFill>
                        </a:rPr>
                        <a:t>Eskirmaslik</a:t>
                      </a:r>
                    </a:p>
                  </a:txBody>
                  <a:tcPr marL="73152" marR="73152" marT="36576" marB="36576">
                    <a:solidFill>
                      <a:srgbClr val="FFFFFF"/>
                    </a:solidFill>
                  </a:tcPr>
                </a:tc>
                <a:tc>
                  <a:txBody>
                    <a:bodyPr/>
                    <a:lstStyle/>
                    <a:p>
                      <a:r>
                        <a:rPr sz="1500" b="0">
                          <a:solidFill>
                            <a:srgbClr val="1F2937"/>
                          </a:solidFill>
                        </a:rPr>
                        <a:t>Zarar qilmaslik</a:t>
                      </a:r>
                    </a:p>
                  </a:txBody>
                  <a:tcPr marL="73152" marR="73152" marT="36576" marB="36576">
                    <a:solidFill>
                      <a:srgbClr val="FFFFFF"/>
                    </a:solidFill>
                  </a:tcPr>
                </a:tc>
                <a:tc>
                  <a:txBody>
                    <a:bodyPr/>
                    <a:lstStyle/>
                    <a:p>
                      <a:r>
                        <a:rPr sz="1500" b="0">
                          <a:solidFill>
                            <a:srgbClr val="1F2937"/>
                          </a:solidFill>
                        </a:rPr>
                        <a:t>‘Bir martalik’ odam yaratmaslik</a:t>
                      </a:r>
                    </a:p>
                  </a:txBody>
                  <a:tcPr marL="73152" marR="73152" marT="36576" marB="36576">
                    <a:solidFill>
                      <a:srgbClr val="FFFFFF"/>
                    </a:solidFill>
                  </a:tcPr>
                </a:tc>
              </a:tr>
              <a:tr h="614476">
                <a:tc>
                  <a:txBody>
                    <a:bodyPr/>
                    <a:lstStyle/>
                    <a:p>
                      <a:r>
                        <a:rPr sz="1500" b="0">
                          <a:solidFill>
                            <a:srgbClr val="1F2937"/>
                          </a:solidFill>
                        </a:rPr>
                        <a:t>O‘zini yaratish</a:t>
                      </a:r>
                    </a:p>
                  </a:txBody>
                  <a:tcPr marL="73152" marR="73152" marT="36576" marB="36576">
                    <a:solidFill>
                      <a:srgbClr val="E8EEF6"/>
                    </a:solidFill>
                  </a:tcPr>
                </a:tc>
                <a:tc>
                  <a:txBody>
                    <a:bodyPr/>
                    <a:lstStyle/>
                    <a:p>
                      <a:r>
                        <a:rPr sz="1500" b="0">
                          <a:solidFill>
                            <a:srgbClr val="1F2937"/>
                          </a:solidFill>
                        </a:rPr>
                        <a:t>Avtonomiya</a:t>
                      </a:r>
                    </a:p>
                  </a:txBody>
                  <a:tcPr marL="73152" marR="73152" marT="36576" marB="36576">
                    <a:solidFill>
                      <a:srgbClr val="E8EEF6"/>
                    </a:solidFill>
                  </a:tcPr>
                </a:tc>
                <a:tc>
                  <a:txBody>
                    <a:bodyPr/>
                    <a:lstStyle/>
                    <a:p>
                      <a:r>
                        <a:rPr sz="1500" b="0">
                          <a:solidFill>
                            <a:srgbClr val="1F2937"/>
                          </a:solidFill>
                        </a:rPr>
                        <a:t>O‘zini boyitish uchun qayta yaratish huquqi</a:t>
                      </a:r>
                    </a:p>
                  </a:txBody>
                  <a:tcPr marL="73152" marR="73152" marT="36576" marB="36576">
                    <a:solidFill>
                      <a:srgbClr val="E8EEF6"/>
                    </a:solidFill>
                  </a:tcPr>
                </a:tc>
              </a:tr>
              <a:tr h="614476">
                <a:tc>
                  <a:txBody>
                    <a:bodyPr/>
                    <a:lstStyle/>
                    <a:p>
                      <a:r>
                        <a:rPr sz="1500" b="0">
                          <a:solidFill>
                            <a:srgbClr val="1F2937"/>
                          </a:solidFill>
                        </a:rPr>
                        <a:t>Fuqarolik</a:t>
                      </a:r>
                    </a:p>
                  </a:txBody>
                  <a:tcPr marL="73152" marR="73152" marT="36576" marB="36576">
                    <a:solidFill>
                      <a:srgbClr val="FFFFFF"/>
                    </a:solidFill>
                  </a:tcPr>
                </a:tc>
                <a:tc>
                  <a:txBody>
                    <a:bodyPr/>
                    <a:lstStyle/>
                    <a:p>
                      <a:r>
                        <a:rPr sz="1500" b="0">
                          <a:solidFill>
                            <a:srgbClr val="1F2937"/>
                          </a:solidFill>
                        </a:rPr>
                        <a:t>Adolat</a:t>
                      </a:r>
                    </a:p>
                  </a:txBody>
                  <a:tcPr marL="73152" marR="73152" marT="36576" marB="36576">
                    <a:solidFill>
                      <a:srgbClr val="FFFFFF"/>
                    </a:solidFill>
                  </a:tcPr>
                </a:tc>
                <a:tc>
                  <a:txBody>
                    <a:bodyPr/>
                    <a:lstStyle/>
                    <a:p>
                      <a:r>
                        <a:rPr sz="1500" b="0">
                          <a:solidFill>
                            <a:srgbClr val="1F2937"/>
                          </a:solidFill>
                        </a:rPr>
                        <a:t>Erkin, teng fuqarolik rolini saqlash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Tamoyildan yo‘riqnomaga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Shook et al., A principled and cosmopolitan neuroethics: considerations for international relevance, betlar: PMID 24387102; DOI 10.1186/1747-5341-9-1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Kutilmalar (expectations): foydasi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Kutilma — hali erishilmagan kelajak yutug‘ining va’dasi, maqsadi yoki tasviri.</a:t>
            </a:r>
          </a:p>
          <a:p>
            <a:pPr>
              <a:spcAft>
                <a:spcPts val="800"/>
              </a:spcAft>
            </a:pPr>
            <a:r>
              <a:rPr sz="1800">
                <a:solidFill>
                  <a:srgbClr val="1F2937"/>
                </a:solidFill>
                <a:latin typeface="Calibri"/>
              </a:rPr>
              <a:t>▸  U tadqiqotni yo‘naltiradi va fanlararo hamkorlik uchun umumiy tilni beradi.</a:t>
            </a:r>
          </a:p>
          <a:p>
            <a:pPr>
              <a:spcAft>
                <a:spcPts val="800"/>
              </a:spcAft>
            </a:pPr>
            <a:r>
              <a:rPr sz="1800">
                <a:solidFill>
                  <a:srgbClr val="1F2937"/>
                </a:solidFill>
                <a:latin typeface="Calibri"/>
              </a:rPr>
              <a:t>▸  U mablag‘ ajratishni asoslaydi, hamkor, investor va jamoatchilik e’tiborini jalb qiladi.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Kelajak haqidagi vizyon</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Tadqiqot yo‘nalishi aniqlanadi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Mablag‘ va hamkorlar jalb etiladi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Jamoatchilik qo‘llovi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Vizyon reallikka yaqinlashadi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Kutilma qanday ishlaydi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Rusconi et al., The role of expectations, betlar: PMID 25400557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Yolg‘on aniqlash: poligraf, fMRI, stimulyatsiya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Poligraf eng mashhur tizim edi, lekin ishonchsiz deb topildi; uning «afsonasi» hamon to‘xtatuvchi vosita sifatida qoladi.</a:t>
            </a:r>
          </a:p>
          <a:p>
            <a:pPr>
              <a:spcAft>
                <a:spcPts val="1200"/>
              </a:spcAft>
            </a:pPr>
            <a:r>
              <a:rPr sz="2200">
                <a:solidFill>
                  <a:srgbClr val="1F2937"/>
                </a:solidFill>
                <a:latin typeface="Calibri"/>
              </a:rPr>
              <a:t>▸  Funksional magnit-rezonans tomografiya (fMRI) «miyani o‘qish» umidini uyg‘otdi; patentlar bor, ammo detektor hali real emas.</a:t>
            </a:r>
          </a:p>
          <a:p>
            <a:pPr>
              <a:spcAft>
                <a:spcPts val="1200"/>
              </a:spcAft>
            </a:pPr>
            <a:r>
              <a:rPr sz="2200">
                <a:solidFill>
                  <a:srgbClr val="1F2937"/>
                </a:solidFill>
                <a:latin typeface="Calibri"/>
              </a:rPr>
              <a:t>▸  To‘siqlar: ilmiy (farazlar, ichki validlik, manipulyatsiya, laboratoriyadan chiqish) va huquqiy-etik (majburiy so‘roq, dalil kuchi, adolatli sud).</a:t>
            </a:r>
          </a:p>
          <a:p>
            <a:pPr>
              <a:spcAft>
                <a:spcPts val="1200"/>
              </a:spcAft>
            </a:pPr>
            <a:r>
              <a:rPr sz="2200">
                <a:solidFill>
                  <a:srgbClr val="1F2937"/>
                </a:solidFill>
                <a:latin typeface="Calibri"/>
              </a:rPr>
              <a:t>▸  Transkranial tok (tDCS) va magnit (TMS) stimulyatsiyasi ko‘chma va arzon, ammo effekti kichik, qisqa va real sharoitda tekshirilmagan.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Rusconi et al., The role of expectations, betlar: PMID 25400557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Hype sikli va uning oqibatlari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Hype — amalga oshmaydigan kutilma; farq ko‘pincha faqat talqin ramkasida.</a:t>
            </a:r>
          </a:p>
          <a:p>
            <a:pPr>
              <a:spcAft>
                <a:spcPts val="800"/>
              </a:spcAft>
            </a:pPr>
            <a:r>
              <a:rPr sz="1800">
                <a:solidFill>
                  <a:srgbClr val="1F2937"/>
                </a:solidFill>
                <a:latin typeface="Calibri"/>
              </a:rPr>
              <a:t>▸  Oqibati: ishonch pasayadi, mablag‘ yo‘qoladi, obro‘ va real tadqiqotlar zarar ko‘radi.</a:t>
            </a:r>
          </a:p>
          <a:p>
            <a:pPr>
              <a:spcAft>
                <a:spcPts val="800"/>
              </a:spcAft>
            </a:pPr>
            <a:r>
              <a:rPr sz="1800">
                <a:solidFill>
                  <a:srgbClr val="1F2937"/>
                </a:solidFill>
                <a:latin typeface="Calibri"/>
              </a:rPr>
              <a:t>▸  Diqqat: umid ≠ hype; axloqiy-huquqiy jihatlarsiz berilgan kutilma tanqidga ochiq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Yuksak kutilmalar</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Maqsadga erishilmaydi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Hype ayblovi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Hafsala pir bo‘lishi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Sekin, real tiklanish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Hype–hafsala pir bo‘lish sikli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Rusconi et al., The role of expectations, betlar: PMID 25400557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Ilm-fan kutilmalariga etikani kiritish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Etik, huquqiy va ijtimoiy jihatlarni hisobga olib shakllantirilgan kutilma yaxshiroq kutilma deyiladi.</a:t>
            </a:r>
          </a:p>
          <a:p>
            <a:pPr>
              <a:spcAft>
                <a:spcPts val="800"/>
              </a:spcAft>
            </a:pPr>
            <a:r>
              <a:rPr sz="1800">
                <a:solidFill>
                  <a:srgbClr val="1F2937"/>
                </a:solidFill>
                <a:latin typeface="Calibri"/>
              </a:rPr>
              <a:t>▸  Bu jihatlarni e’tiborsiz qoldirish ularni yo‘qqa chiqarmaydi; ular baribir keyin hal qilinishi kerak bo‘ladi.</a:t>
            </a:r>
          </a:p>
          <a:p>
            <a:pPr>
              <a:spcAft>
                <a:spcPts val="800"/>
              </a:spcAft>
            </a:pPr>
            <a:r>
              <a:rPr sz="1800">
                <a:solidFill>
                  <a:srgbClr val="1F2937"/>
                </a:solidFill>
                <a:latin typeface="Calibri"/>
              </a:rPr>
              <a:t>▸  Oldindan o‘ylash hype (amalga oshmaydigan kutilma) xavfini kamaytirib, tarafdorlar doirasini kengaytiradi.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Kutilma shakllantiriladi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Etik-huquqiy-ijtimoiy tahlil</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Nizo manbalarini aniqlash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Yaxshiroq kutilma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Hype xavfi kamayadi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Yaxshiroq kutilma yo‘li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Rusconi et al., The role of expectations, betlar: PMID 25400557; DOI 10.3389/fnsys.2014.00214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va tezkor savol 3</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Faraz qilaylik, tadqiqotchilar fMRI asosidagi yolg‘on detektori sud va xavfsizlikda haqiqatni aniq ajratadi, deb va’da beradi.</a:t>
            </a:r>
          </a:p>
          <a:p>
            <a:pPr>
              <a:spcAft>
                <a:spcPts val="1200"/>
              </a:spcAft>
            </a:pPr>
            <a:r>
              <a:rPr sz="2200">
                <a:solidFill>
                  <a:srgbClr val="1F2937"/>
                </a:solidFill>
                <a:latin typeface="Calibri"/>
              </a:rPr>
              <a:t>▸  Birinchi fMRI-hisobotlaridan o‘n yildan ortiq o‘tdi, ko‘p patent arizasi berildi, ammo detektor hali ham real emas.</a:t>
            </a:r>
          </a:p>
          <a:p>
            <a:pPr>
              <a:spcAft>
                <a:spcPts val="1200"/>
              </a:spcAft>
            </a:pPr>
            <a:r>
              <a:rPr sz="2200">
                <a:solidFill>
                  <a:srgbClr val="1F2937"/>
                </a:solidFill>
                <a:latin typeface="Calibri"/>
              </a:rPr>
              <a:t>▸  To‘siqlar: natijani sub’ekt buzishi, laboratoriyadan tashqariga chiqish qiyinligi, majburiy so‘roq va adolatli sud huquqi.</a:t>
            </a:r>
          </a:p>
          <a:p>
            <a:pPr>
              <a:spcAft>
                <a:spcPts val="1200"/>
              </a:spcAft>
            </a:pPr>
            <a:r>
              <a:rPr sz="2200">
                <a:solidFill>
                  <a:srgbClr val="1F2937"/>
                </a:solidFill>
                <a:latin typeface="Calibri"/>
              </a:rPr>
              <a:t>▸  Tezkor savol: bu va’da umidmi yoki hype? Tadqiqotchi qaysi huquqiy to‘siqni oldindan aytib qo‘yishi kerak edi?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Rusconi et al., The role of expectations, betlar: PMID 25400557; DOI 10.3389/fnsys.2014.00214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tezislar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fMRI va EEG yashirin ongni aniqlab, diagnostikani yaxshilashi mumkin; xato darajasi 43% gacha bo‘lishi qayd etilgan.</a:t>
            </a:r>
          </a:p>
          <a:p>
            <a:pPr>
              <a:spcAft>
                <a:spcPts val="1200"/>
              </a:spcAft>
            </a:pPr>
            <a:r>
              <a:rPr sz="2200">
                <a:solidFill>
                  <a:srgbClr val="1F2937"/>
                </a:solidFill>
                <a:latin typeface="Calibri"/>
              </a:rPr>
              <a:t>▸  Etik savollar: manfiy natijani izohlash qiyin, aloqa faqat “ha” yoki “yo‘q” bilan cheklangan, oila va xarajat masalalari bor.</a:t>
            </a:r>
          </a:p>
          <a:p>
            <a:pPr>
              <a:spcAft>
                <a:spcPts val="1200"/>
              </a:spcAft>
            </a:pPr>
            <a:r>
              <a:rPr sz="2200">
                <a:solidFill>
                  <a:srgbClr val="1F2937"/>
                </a:solidFill>
                <a:latin typeface="Calibri"/>
              </a:rPr>
              <a:t>▸  Neyroetika to‘rt yo‘riqnoma taklif qiladi: empowerment (imkoniyatni oshirish), non-obsolescence (eskirmaslik), self-creativity (o‘zini yaratish), citizenship (fuqarolik).</a:t>
            </a:r>
          </a:p>
          <a:p>
            <a:pPr>
              <a:spcAft>
                <a:spcPts val="1200"/>
              </a:spcAft>
            </a:pPr>
            <a:r>
              <a:rPr sz="2200">
                <a:solidFill>
                  <a:srgbClr val="1F2937"/>
                </a:solidFill>
                <a:latin typeface="Calibri"/>
              </a:rPr>
              <a:t>▸  Kutilma tadqiqotni harakatlantiradi, lekin haddan oshgan va’da hype va hafsala pir bo‘lishiga olib keladi; etik tahlil buni yumshatadi.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Weijer et al., Ethics of neuroimaging after serious brain injury, betlar: PMID 24885720; DOI 10.1186/1472-6939-15-41; Shook et al., A principled and cosmopolitan neuroethics: considerations for international relevance, betlar: PMID 24387102; DOI 10.1186/1747-5341-9-1; Rusconi et al., The role of expectations, betlar: PMID 25400557; DOI 10.3389/fnsys.2014.00214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Fakt: vegetativ yoki minimal ong holatdagi bemorlarda tashxis xatosi 43% gacha bo‘lishi mumkin. Neyrotasvirlash (funksional magnit-rezonans tomografiya, fMRI) tekshiruvi o‘tkazilganda, xulq-atvor bo‘yicha vegetativ deb topilgan bemorlarning 17–19% ida ong saqlanib qolgani aniqlangan.</a:t>
            </a:r>
          </a:p>
          <a:p>
            <a:pPr>
              <a:spcAft>
                <a:spcPts val="1200"/>
              </a:spcAft>
            </a:pPr>
            <a:r>
              <a:rPr sz="1800">
                <a:solidFill>
                  <a:srgbClr val="1F2937"/>
                </a:solidFill>
                <a:latin typeface="Calibri"/>
              </a:rPr>
              <a:t>▸  Eslab qolish usuli: fMRI orqali muloqotda bemor «ha» deb javob berish uchun tennis o‘ynashni, «yo‘q» deb javob berish uchun uyida xonama-xona yurishni tasavvur qiladi. Shu usul bilan bir bemor otasi va aka-ukalari haqidagi savollarga to‘g‘ri javob bergan. Esda tuting: tennis = «ha», uy bo‘ylab yurish = «yo‘q».</a:t>
            </a:r>
          </a:p>
          <a:p>
            <a:pPr>
              <a:spcAft>
                <a:spcPts val="1200"/>
              </a:spcAft>
            </a:pPr>
            <a:r>
              <a:rPr sz="1800">
                <a:solidFill>
                  <a:srgbClr val="1F2937"/>
                </a:solidFill>
                <a:latin typeface="Calibri"/>
              </a:rPr>
              <a:t>▸  Hodisa tahlili: Kanadadagi travmatologiya markazlarida og‘ir bosh miya jarohatidan keyingi o‘lim 32% bo‘lgan, bu o‘limlarning 70% hayotni qo‘llab-quvvatlovchi davo (LST) to‘xtatilishi bilan bog‘liq. Yarmi 72 soat ichida sodir bo‘lgan. Mualliflar bu prognozni aniq baholash uchun erta bo‘lishi mumkinligini ta’kidlaydi. Savol: bunday vaziyatda neyrotasvirlash qarorni qanday o‘zgartirishi mumkin?</a:t>
            </a:r>
          </a:p>
          <a:p>
            <a:pPr>
              <a:spcAft>
                <a:spcPts val="1200"/>
              </a:spcAft>
            </a:pPr>
            <a:r>
              <a:rPr sz="1800">
                <a:solidFill>
                  <a:srgbClr val="1F2937"/>
                </a:solidFill>
                <a:latin typeface="Calibri"/>
              </a:rPr>
              <a:t>▸  Eslab qolish usuli (hype sikli): umid → shov-shuv (hype) → hafsalasi pir bo‘lish → sekin tiklanish. Misol: fMRI yordamida yolg‘onni aniqlash bo‘yicha dastlabki hisobotlardan o‘n yildan ko‘p vaqt o‘tgan, patent arizalari berilgan, biroq qurilma hali haqiqatga aylanmagan. Hype, odatda, atrofdagilar (ijtimoiy-huquqiy) jihatlarni inobatga olmaganda kuchayadi.</a:t>
            </a:r>
          </a:p>
          <a:p>
            <a:pPr>
              <a:spcAft>
                <a:spcPts val="1200"/>
              </a:spcAft>
            </a:pPr>
            <a:r>
              <a:rPr sz="1800">
                <a:solidFill>
                  <a:srgbClr val="1F2937"/>
                </a:solidFill>
                <a:latin typeface="Calibri"/>
              </a:rPr>
              <a:t>▸  Eslab qolish usuli: an’anaviy tibbiy etika tamoyillari neyroetikada to‘rtta yo‘nalishga kengaytiriladi. Yaxshilik qilish → empowerment (imkoniyatni kuchaytirish); zarar yetkazmaslik → non-obsolescence (odamni «eskirgan» qilib qo‘ymaslik); avtonomiya → self-creativity (o‘zini qayta yaratish); adolat → citizenship (to‘laqonli fuqarolik).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Neyrotasvirlash texnologiyalari va tibbiyotda raqamli texnologiyalar etikasi (A11)</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Weijer et al. Ethics of neuroimaging after serious brain injury, BMC Medical Ethics. 2014. PMID 24885720; DOI 10.1186/1472-6939-15-41</a:t>
            </a:r>
          </a:p>
          <a:p>
            <a:pPr>
              <a:spcAft>
                <a:spcPts val="800"/>
              </a:spcAft>
            </a:pPr>
            <a:r>
              <a:rPr sz="2000">
                <a:solidFill>
                  <a:srgbClr val="1F2937"/>
                </a:solidFill>
                <a:latin typeface="Calibri"/>
              </a:rPr>
              <a:t>▸  Shook et al. A principled and cosmopolitan neuroethics: considerations for international relevance, Philosophy, Ethics, and Humanities in Medicine : PEHM. 2014. PMID 24387102; DOI 10.1186/1747-5341-9-1</a:t>
            </a:r>
          </a:p>
          <a:p>
            <a:pPr>
              <a:spcAft>
                <a:spcPts val="800"/>
              </a:spcAft>
            </a:pPr>
            <a:r>
              <a:rPr sz="2000">
                <a:solidFill>
                  <a:srgbClr val="1F2937"/>
                </a:solidFill>
                <a:latin typeface="Calibri"/>
              </a:rPr>
              <a:t>▸  Rusconi et al. The role of expectations, hype and ethics in neuroimaging and neuromodulation futures, Frontiers in Systems Neuroscience. 2014. PMID 25400557; DOI 10.3389/fnsys.2014.00214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