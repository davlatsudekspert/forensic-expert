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Tibbiyot imkoniyatlari kengayishi nega ezgulik haqidagi savolni keskinlashtirdi? 2) Talabalar hayot boshlanishi masalasida qanday fikrda? Doskada chizish: mavzuning 4 muammosini markazdan tarqalgan to‘rt shoxli sxema qiling. Tipik xato: bu mavzuni faqat abort mavzusi deb tushunish, aslida u hayot qadriyati va sifatini ham qamraydi.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Ikkala qarash nega mutlaq emas? 2) “Organizm hayoti” va “shaxs hayoti” farqi nimada? Doskada chizish: ikki ustunli jadvalni talabalar bilan birga to‘ldiring. Tipik xato: sakral hayot (sanctity of life) bilan sifatli hayot (quality of life)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Xushni tiklashga umid bo‘lmagan vegetativ holatda hayotni cheksiz saqlash to‘g‘rimi? 2) Sarf-xarajatni hisobga olmaslik qanday oqibatlarga olib kelishi mumkin? Doskada chizish: tibbiy vitalizm pozitsiyasidan kelib chiqadigan 4 ta “qarshi” (abort, evtanaziya, embrion tekshiruvi, genom tajribalari) zanjirini yozing. Tipik xato: vitalizmni faqat dinga bog‘lash; manbada u hayotning oliy qadriyati sifatida tushuntirilgan.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organizm hayoti shaxs hayotining sharti deyiladi? 2) Mezonlarni kim belgilashi kerak? Doskada: zanjirni o‘zingiz chizib, har bosqichga bitta misol yozing. Tipik xato: ‘‘organizm hayoti’’ va ‘‘shaxs hayoti’’ni bir xil tushuncha deb olish.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Uorren mezonlari chaqaloqqa nega to‘liq mos kelmaydi? 2) Resurs cheklangan bo‘lsa, ‘‘asoslangan’’ qaror nimani anglatadi? Doskada: to‘rt mezonni ustun qilib yozing, qarshisiga ‘‘bo‘lmasligi mumkin’’ guruhlarini belgilang. Tipik xato: Uorren mezonlarini hamma holatga mutlaq qo‘llash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(juftlikda 3 daqiqa, umumiy muhokama 4 daqiqa). Muhokama: 1) Sakral hayot tarafdori qanday qaror qiladi? 2) Sifatli hayot tarafdori-chi? Doskada: ikki ustunli ‘‘sakral hayot / sifatli hayot’’ jadvalini chizing va bemor uchun qarorni yozing. Tipik xato: sifatli hayot yondashuvini ‘‘hayotni qadrsiz deb bilish’’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Vegetativ holatdagi bemorni vitalizm nuqtai nazaridan qanday davolash kerak? 2) Nega ikkala konsepsiyani alohida qo‘llab bo‘lmaydi? Doskada: ikki ustunli jadval chizing (sakral hayot / sifatli hayot) va mezonlarni yozing. Tipik xato: talabalar vitalizmni ‘‘sifat konsepsiyasi’’ deb adashtiradi yoki ‘‘organizm hayoti’’ bilan ‘‘shaxs hayoti’’ni bir narsa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hayot sifatini faqat laboratoriya ko‘rsatkichlari bilan o‘lchab bo‘lmaydi? 2) Mustaqil yoki boshqaga muhtoj bo‘lish hissi hayot sifatiga qanday ta’sir qiladi? Doskada: JSST ta’rifidagi asosiy so‘zlarni (his etish, madaniyat, qadriyatlar) markazga yozib, atrofiga omillarni chizing. Tipik xato: hayot sifatini faqat kasallik belgilari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so‘rovnoma va ob’ektiv ma’lumot birga kerak? 2) Umumiy shkala bilan kasallikka moslashtirilgan shkalaning farqi nimada? Doskada: baholash zanjirini (his etish → so‘rovnoma → ob’ektiv ma’lumot → baho) chizib, har bosqichga misol yozing. Tipik xato: subyektiv baho ‘‘ishonchsiz’’ deb butunlay rad etiladi, aslida u hayot sifatining asosiy qismi. Eslatma: shkalalar bandi OCR matnining noaniq joyiga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sifatni son bilan ifodalash kerak? Bu shkala qaysi ma‘noda utilitarizmga tayanadi? Doskada: 0 dan 1,0 gacha chiziq chizib, uch holatni shu chiziqda belgilang. Tipik xato: oraliqlarni qat‘iy me‘yor deb o‘ylash. Kitobda ular misol tariqasida berilgan (mumkin).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agar sifat 0,5 bo‘lib, bemor yana 7 yil yashasa, natija qancha bo‘ladi? Uzoqroq hayot har doim yaxshimi? Doskada: hisoblash zanjirini chizib, talabalar bilan boshqa sifat qiymati bilan takrorlang. Tipik xato: 7 yilni to‘liq 7 QALY yil deb olish. Diqqat: yillar soni ≠ QALY yillari.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cheklangan resurslarda QALY qanday yordam beradi va qanday xavf tug‘diradi? Hayotning qadri iqtisodiy ko‘rsatkichga bog‘liqmi? Doskada: ikki ustunli ro‘yxat tuzing — «QALY foydasi» va «QALY cheklovi». Tipik xato: QALY ni hayotning qadrini o‘lchaydigan mezon deb tushunish; u faqat sifatni baholash va resurslarni taqqoslash vositasi.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Resurslar cheklangan bo‘lsa, QALY qarorda qanday yordam beradi? 2) Uning axloqiy chegarasi qayerda? Doskada: 7 × 0,7 hisobini bosqichma-bosqich yozdiring. Tipik xato: 7 yilni to‘liq 7 QALY yil deb olish; sifat koeffitsiyenti hisobga olinishi kerak.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savollarni og‘zaki bering, javobni 1 daqiqada oling. Muhokama: nega hech bir shkala mutlaq mukammal emas (subyektivlik)? Doskada: 0 dan 1,0 gacha chiziq chizib, misollarni joylashtiring. Tipik xato: QALY ni bemorning ijtimoiy qadri o‘lchovi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biologik indivi­d bilan axloqiy shaxsni farqlash kerak? 2) Hayot boshlanishini aniqlash nega bioetikada muhim? Doskada: zanjirni 5 bosqichda chizdiring. Tipik xato: zigota va blastotsistni aralashtirish; zigota birinchi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aynan «preembrion» atamasi kiritilgan? 2) Atama tadqiqot axloqiga ta’sir qiladimi? Doskada: zigota → blastotsist → preembrion (14-kungacha) → embrion zanjirini chizing. Tipik xato: talabalar preembrionni embrion bilan aralashtiradi va 14-kunni «hayot boshlanishi» deb o‘ylaydi. Aslida bu tadqiqotga ruxsat beruvchi qarash chegarasi.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hodisalar embrionga alohida axloqiy munosabatni asoslaydi? 2) Yurak urishi 18-kunda boshlanishi abortga munosabatga ta’sir qiladimi? Doskada: 0 dan 76-kungacha vaqt chizig‘ini chizib, to‘rt belgini joylashtiring. Tipik xato: kunlar va haftalarni aralashtirish. Eslatma: manbada embrional davr «8–9 hafta», fetal davr esa «75–76-kun» deyiladi. Bu raqamlar o‘zaro to‘liq mos kelmaydi, shuning uchun band aniqlanishi lozim deb belgilandi. Talabalarga manbadagi raqamni aynan shunday keltirishni ayting.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(guruhda 3 daq, umumiy muhokama 3 daq). Muhokama: 1) Preembrion bosqichida tadqiqotga ruxsat berish axloqan qanchalik asosli? 2) Embrionning axloqiy mavqei homiladorlik muddati bilan qanday o‘zgaradi? Doskada ikki ustun chizing: «Preembrion – tadqiqotga ruxsat» va «Embrion – potensial inson, alohida munosabat». Tipik xato: talabalar «14-kungacha hosila inson emas» deb mutlaq xulosa chiqaradi. Manbada esa embrion rivojlanishning barcha bosqichlarida inson qadriyatlarini saqlaydi deyiladi.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Embrion ona tanasining qismi bo‘la oladimi? 2) Status vaqt o‘tishi bilan o‘zgaradimi? Doskada: urug‘lanishdan tug‘ilishgacha vaqt chizig‘ini chizib, ikki chetiga ‘‘bioredukt’’ va ‘‘egoredukt’’ iboralarini yozdiring. Tipik xato: sxemadagi ikki iborani bir-biriga aralashtirish. Eslatma: skanerlangan matnda bu iboralar noaniq o‘qiladi, ularni darslikdagi asl rasm bilan tekshiring.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‘‘Potensial inson’’ degani nimani anglatadi? 2) Nega muddat oshgani sari status o‘zgaradi deb hisoblanadi? Doskada: ikki ustun chizing — ‘‘Embrion shaxs’’ (hayotni saqlash tarafdorlari) va ‘‘faqat potensial shaxs’’ (‘‘Erkin tanlov’’ tarafdorlari). Tipik xato: ‘‘potensial inson’’ ni ‘‘inson emas, demak qadriyati yo‘q’’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Embrion ayol tanasining qismi deb olinsa, qanday xulosa kelib chiqadi? 2) ‘‘Ijtimoiy tan olingan axloqiy subyekt’’ iborasini o‘z so‘zingiz bilan tushuntiring. Doskada: ‘‘status tan olinadi → axloqiy munosabat talab etiladi’’ va ‘‘status tan olinmaydi → tana qismi’’ degan ikki shoxli sxema chizdiring. Tipik xato: ushbu mantiqiy fikrni abort haqidagi yakuniy ahloqiy hukm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diniy qarashlarda aynan ruhning kirishi muddati hal qiluvchi hisoblanadi? 2) Ikkinchi trimestrda reaksiya shakllanishi abortga munosabatga qanday ta’sir qiladi? Doskada: vaqt chizig‘ini chizing (urug‘lanish → 16-kun → 4-oy → tug‘ilish) va ikki diniy muddatni belgilang. Tipik xato: ‘konfessiyalar abortga mutlaq ruxsat beradi’ deb o‘ylash — aslida munosabat salbiy, faqat istisnolar bor. Diqqat: ‘16-kun’ (Angliya cherkovi) va ‘4-oy’ (islom) 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Embrion ‘potensial shaxs’ bo‘lsa, unga munosabat nimasi bilan ‘ona tanasining qismi’ga munosabatdan farq qiladi? 2) Qaysi qarash sizga yaqin va nega? Doskada: ikki ustunli jadval chizib, har ikki tarafning bitta dalilini yozdiring. Tipik xato: talabalar ‘Erkin tanlov’ tarafdorlarini embrionga qadriyat umuman bermaydi deb o‘ylashadi; matnda faqat shaxs maqomi inkor etilgani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Guruhlarda ishlang: 1-guruh embrion maqmoni tan oladi, 2-guruh tan olmaydi; har biri qarorini asoslaydi. Muhokama: 1) Muddat (trimestr yoki diniy muddat) qarorni o‘zgartirishi kerakmi? 2) Ayol huquqi va embrion maqomi to‘qnashsa, nimaga ustuvorlik berilishi mumkin? Doskada: ‘maqom tan olinadi / tan olinmaydi’ ikki shoxli sxema chizing. Tipik xato: embrion maqomi masalasini abortning huquqiy tomonidan ajratib qo‘yish — matnga ko‘ra ular bir-biriga uzviy bog‘liq. Ikkinchi band matni OCR sababli to‘liq aniq emas, ehtiyot bo‘ling.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Embrionni «potensial inson» deyish unga qanday munosabatni talab qiladi? 2) Nega dinlar ruh kirishi bilan muddatni bog‘laydi? Doskaga chizish: vaqt o‘qi (urug‘lanish → tug‘ilish) va unda 16-kun hamda 4-oyni belgilang. Tipik xato: talabalar embrionni «ayol tanasining bir a’zosi» deb yozadi; manbada bu qarash axloqiy jihatdan yetarli emas deb ko‘rsatiladi.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Gippokrat va Aristotel qarashlari farq qiladi? 2) Embrion maqomiga qarash abortga munosabatni qanday o‘zgartirgan? Doskaga chizish: besh bosqichli vaqt chizig‘i. Tipik xato: Rimda abort taqiqlangan deb o‘ylash; manbada u keng tarqalgan. 1649 va 1784 yillar uchun jumlalar OCR sifati past, shuning uchun asl kitobdan tekshiring; 1649 yildagi taqiq «taxminan yuz yildan keyin bekor qilingan» degan talqin ham taxminiy.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1852 yilgi xulosa nega kesarcha kesish va o‘lim statistikasiga tayangan? 2) Feministik harakat munozarani qanday o‘zgartirgan? Doskaga chizish: 1852–1880 yillar jadvali va AQShdagi taqiq muddati. Tipik xato: Sanger tushunchasini faqat kontratseptsiya deb olish; manbada keyin evgenik ma’noda ham qo‘llangani aytilgan. Eslatma: AQShdagi taqiq XX asrning 60-yillarigacha amal qilgan.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taqiq 1955 yilda bekor qilindi? 2) Noqonuniy abort statistikasi qonun o‘zgarishiga qanday asos bo‘ladi? Doskada: 1920 – taqiq – 1955 – 12 hafta vaqt chizig‘ini chizing. Tipik xato: Argentinada 14 hafta, sobiq ittifoqda 12 hafta ekanini aralashtirish. Statistika davri (1990-yillar oxiri) ni alohida ta’kidlang.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Embrion ayol tanasining qismimi yoki alohida subyektmi? 2) Ayol avtonomiyasi va homila hayoti to‘qnashsa, nima ustun? Doskada: ikki ustunli ‘dalil – qarshi dalil’ jadvalini chizing. Tipik xato: pozitsiyalarni ‘to‘g‘ri/noto‘g‘ri’ deb baholash. Ular ikki axloqiy yondashuv. Diqqat: JSST statistikasi va og‘riq bandi OCR matnida noaniq, aniqlashtiring.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Ko‘rsatmalar tizimi muddatlar tizimidan nimasi bilan farq qiladi? 2) O‘zbekiston modeli qaysi biriga yaqin (12 hafta va ko‘rsatmalar)? Doskada: uch modelni ‘ayol xohishi – ko‘rsatma – taqiq’ shkalasida joylashtiring. Tipik xato: Irlandiya va Polsha qonunlarini bir xil deb o‘ylash; Polshada zo‘rlash va inzest istisno, Irlandiyada hayot xavfigina.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xohish bilan abort muddati ijtimoiy va tibbiy ko‘rsatmadan qisqaroq? 2) Tibbiy ko‘rsatmada muddat cheklanmasligi nimani anglatadi? Doskada: 4 bosqichli qaror zanjirini chizing, har bosqichga haftani yozing. Tipik xato: 12 va 22 haftani aralashtirish; 12 hafta — faqat ayol xohishi va qarshi ko‘rsatma bo‘lmaganda.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abortning ‘‘oddiyligi’’ xavfsizlik haqida yolg‘on taassurot beradi? 2) Kontratseptsiya abortlar sonini qanday kamaytiradi? Doskada: ‘‘asoratlar’’ ro‘yxatini erta (jarayon vaqtida) va kechki (keyingi homiladorlik, bepushtlik) guruhlarga bo‘ling. Tipik xato: kontratseptsiyani abort bilan tenglashtirish; manbada u istalmagan homiladorlikning oldini oluvchi vosita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ayolning o‘zi javobgarlikka tortilmaydi, lekin majburlash jinoyat? 2) Taqiq holatlari ayol salomatligini qanday himoya qiladi? Doskada: 114- va 115-moddalarni ikki ustunda solishtiring. Tipik xato: ayol o‘zi tushirsa ham javobgar deb o‘ylash. ‘‘12 haftadan ortiq’’ taqiqi manbada tibbiy qarshi ko‘rsatma sifatida berilgan; 22 haftalik ijtimoiy ko‘rsatma bilan farqini o‘qituvchi manbadan aniqlashtirsin.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huquqsiz shaxs tomonidan qilingan abort jinoyat hisoblanadi? 2) Ayolning javobgar bo‘lmasligi va tushirgan shaxsning javobgarligi qanday farqlanadi? Doskada chizish: 114-modda va 115-moddani ikki ustunda yozing, har biriga bitta holatni qo‘ying. Tipik xato: ayol hamma holatda javobgar emas, deb yoki majburlashni jinoyat emas,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ikkala yondashuvni alohida-alohida qo‘llab bo‘lmaydi? 2) Embrionning ‘potensial inson’ maqomi abortga munosabatni qanday o‘zgartiradi? Doskada chizish: hayot boshlanishidan huquqiy tartibgacha mantiqiy zanjirni chizing. Tipik xato: QALY ko‘rsatkichini hayotning axloqiy qiymati deb tushunish. Yakunda talabalarni IX bobning nazorat savollariga yo‘naltiring.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Hayot boshlanishining ijtimoiy, huquqiy va axloqiy jihatlari: hayot oliy qadriyat, embrionning axloqiy holati, hayot sifati, inson hayoti boshlanishini aniqlash (M4)</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hayot boshlanishi bioetikada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asrda tibbiyot jadal rivojlandi va uning imkoniyatlari ancha kengaydi.</a:t>
            </a:r>
          </a:p>
          <a:p>
            <a:pPr>
              <a:spcAft>
                <a:spcPts val="1200"/>
              </a:spcAft>
            </a:pPr>
            <a:r>
              <a:rPr sz="2200">
                <a:solidFill>
                  <a:srgbClr val="1F2937"/>
                </a:solidFill>
                <a:latin typeface="Calibri"/>
              </a:rPr>
              <a:t>▸  Shu sababli bemor uchun ezgulik, yaxshilikning o‘zi nima ekanini qayta o‘ylash zarurati tug‘ildi.</a:t>
            </a:r>
          </a:p>
          <a:p>
            <a:pPr>
              <a:spcAft>
                <a:spcPts val="1200"/>
              </a:spcAft>
            </a:pPr>
            <a:r>
              <a:rPr sz="2200">
                <a:solidFill>
                  <a:srgbClr val="1F2937"/>
                </a:solidFill>
                <a:latin typeface="Calibri"/>
              </a:rPr>
              <a:t>▸  Bu masala bioetikaning asosiy muammosi — hayotning oliy qadriyat sifatidagi o‘rni bilan bog‘liq.</a:t>
            </a:r>
          </a:p>
          <a:p>
            <a:pPr>
              <a:spcAft>
                <a:spcPts val="1200"/>
              </a:spcAft>
            </a:pPr>
            <a:r>
              <a:rPr sz="2200">
                <a:solidFill>
                  <a:srgbClr val="1F2937"/>
                </a:solidFill>
                <a:latin typeface="Calibri"/>
              </a:rPr>
              <a:t>▸  Bob muammolari: hayot qadriyati, hayot boshlanish vaqti, embrionning axloqiy maqomi, abortning etik-huquqiy jihatlari.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oliy qadriyat: ikki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Ikkala yondashuv ham ma’lum darajada shartli xususiyatga ega.</a:t>
            </a:r>
          </a:p>
          <a:p>
            <a:pPr>
              <a:spcAft>
                <a:spcPts val="800"/>
              </a:spcAft>
            </a:pPr>
            <a:r>
              <a:rPr sz="1800">
                <a:solidFill>
                  <a:srgbClr val="1F2937"/>
                </a:solidFill>
                <a:latin typeface="Calibri"/>
              </a:rPr>
              <a:t>▸  Sakral hayot tarafdorlari hayotni muqaddas, daxlsiz oliy qadriyat deb biladi.</a:t>
            </a:r>
          </a:p>
          <a:p>
            <a:pPr>
              <a:spcAft>
                <a:spcPts val="800"/>
              </a:spcAft>
            </a:pPr>
            <a:r>
              <a:rPr sz="1800">
                <a:solidFill>
                  <a:srgbClr val="1F2937"/>
                </a:solidFill>
                <a:latin typeface="Calibri"/>
              </a:rPr>
              <a:t>▸  Diqqat: “organizm hayoti” ≠ “shaxs hayoti”; sifatli hayot qarashi ularni farqlaydi.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10062"/>
                <a:gridCol w="1901294"/>
                <a:gridCol w="2376617"/>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Sakral hayot</a:t>
                      </a:r>
                    </a:p>
                  </a:txBody>
                  <a:tcPr marL="73152" marR="73152" marT="36576" marB="36576">
                    <a:solidFill>
                      <a:srgbClr val="0B1F3A"/>
                    </a:solidFill>
                  </a:tcPr>
                </a:tc>
                <a:tc>
                  <a:txBody>
                    <a:bodyPr/>
                    <a:lstStyle/>
                    <a:p>
                      <a:r>
                        <a:rPr sz="1300" b="1">
                          <a:solidFill>
                            <a:srgbClr val="FFFFFF"/>
                          </a:solidFill>
                        </a:rPr>
                        <a:t>Sifatli hayot</a:t>
                      </a:r>
                    </a:p>
                  </a:txBody>
                  <a:tcPr marL="73152" marR="73152" marT="36576" marB="36576">
                    <a:solidFill>
                      <a:srgbClr val="0B1F3A"/>
                    </a:solidFill>
                  </a:tcPr>
                </a:tc>
              </a:tr>
              <a:tr h="411480">
                <a:tc>
                  <a:txBody>
                    <a:bodyPr/>
                    <a:lstStyle/>
                    <a:p>
                      <a:r>
                        <a:rPr sz="1200" b="0">
                          <a:solidFill>
                            <a:srgbClr val="1F2937"/>
                          </a:solidFill>
                        </a:rPr>
                        <a:t>Hayotga qarash</a:t>
                      </a:r>
                    </a:p>
                  </a:txBody>
                  <a:tcPr marL="73152" marR="73152" marT="36576" marB="36576">
                    <a:solidFill>
                      <a:srgbClr val="E8EEF6"/>
                    </a:solidFill>
                  </a:tcPr>
                </a:tc>
                <a:tc>
                  <a:txBody>
                    <a:bodyPr/>
                    <a:lstStyle/>
                    <a:p>
                      <a:r>
                        <a:rPr sz="1200" b="0">
                          <a:solidFill>
                            <a:srgbClr val="1F2937"/>
                          </a:solidFill>
                        </a:rPr>
                        <a:t>Muqaddas, daxlsiz, oliy qadriyat</a:t>
                      </a:r>
                    </a:p>
                  </a:txBody>
                  <a:tcPr marL="73152" marR="73152" marT="36576" marB="36576">
                    <a:solidFill>
                      <a:srgbClr val="E8EEF6"/>
                    </a:solidFill>
                  </a:tcPr>
                </a:tc>
                <a:tc>
                  <a:txBody>
                    <a:bodyPr/>
                    <a:lstStyle/>
                    <a:p>
                      <a:r>
                        <a:rPr sz="1200" b="0">
                          <a:solidFill>
                            <a:srgbClr val="1F2937"/>
                          </a:solidFill>
                        </a:rPr>
                        <a:t>Hayot muayyan sifatlarga ega bo‘lishi kerak</a:t>
                      </a:r>
                    </a:p>
                  </a:txBody>
                  <a:tcPr marL="73152" marR="73152" marT="36576" marB="36576">
                    <a:solidFill>
                      <a:srgbClr val="E8EEF6"/>
                    </a:solidFill>
                  </a:tcPr>
                </a:tc>
              </a:tr>
              <a:tr h="411480">
                <a:tc>
                  <a:txBody>
                    <a:bodyPr/>
                    <a:lstStyle/>
                    <a:p>
                      <a:r>
                        <a:rPr sz="1200" b="0">
                          <a:solidFill>
                            <a:srgbClr val="1F2937"/>
                          </a:solidFill>
                        </a:rPr>
                        <a:t>Tibbiyot vazifasi</a:t>
                      </a:r>
                    </a:p>
                  </a:txBody>
                  <a:tcPr marL="73152" marR="73152" marT="36576" marB="36576">
                    <a:solidFill>
                      <a:srgbClr val="FFFFFF"/>
                    </a:solidFill>
                  </a:tcPr>
                </a:tc>
                <a:tc>
                  <a:txBody>
                    <a:bodyPr/>
                    <a:lstStyle/>
                    <a:p>
                      <a:r>
                        <a:rPr sz="1200" b="0">
                          <a:solidFill>
                            <a:srgbClr val="1F2937"/>
                          </a:solidFill>
                        </a:rPr>
                        <a:t>Hayotni har holatda saqlash</a:t>
                      </a:r>
                    </a:p>
                  </a:txBody>
                  <a:tcPr marL="73152" marR="73152" marT="36576" marB="36576">
                    <a:solidFill>
                      <a:srgbClr val="FFFFFF"/>
                    </a:solidFill>
                  </a:tcPr>
                </a:tc>
                <a:tc>
                  <a:txBody>
                    <a:bodyPr/>
                    <a:lstStyle/>
                    <a:p>
                      <a:r>
                        <a:rPr sz="1200" b="0">
                          <a:solidFill>
                            <a:srgbClr val="1F2937"/>
                          </a:solidFill>
                        </a:rPr>
                        <a:t>Yordam zarurligini mezonlar hal qiladi</a:t>
                      </a:r>
                    </a:p>
                  </a:txBody>
                  <a:tcPr marL="73152" marR="73152" marT="36576" marB="36576">
                    <a:solidFill>
                      <a:srgbClr val="FFFFFF"/>
                    </a:solidFill>
                  </a:tcPr>
                </a:tc>
              </a:tr>
              <a:tr h="411480">
                <a:tc>
                  <a:txBody>
                    <a:bodyPr/>
                    <a:lstStyle/>
                    <a:p>
                      <a:r>
                        <a:rPr sz="1200" b="0">
                          <a:solidFill>
                            <a:srgbClr val="1F2937"/>
                          </a:solidFill>
                        </a:rPr>
                        <a:t>Hayot sifati</a:t>
                      </a:r>
                    </a:p>
                  </a:txBody>
                  <a:tcPr marL="73152" marR="73152" marT="36576" marB="36576">
                    <a:solidFill>
                      <a:srgbClr val="E8EEF6"/>
                    </a:solidFill>
                  </a:tcPr>
                </a:tc>
                <a:tc>
                  <a:txBody>
                    <a:bodyPr/>
                    <a:lstStyle/>
                    <a:p>
                      <a:r>
                        <a:rPr sz="1200" b="0">
                          <a:solidFill>
                            <a:srgbClr val="1F2937"/>
                          </a:solidFill>
                        </a:rPr>
                        <a:t>Axloq mezoni emas, tibbiy masala</a:t>
                      </a:r>
                    </a:p>
                  </a:txBody>
                  <a:tcPr marL="73152" marR="73152" marT="36576" marB="36576">
                    <a:solidFill>
                      <a:srgbClr val="E8EEF6"/>
                    </a:solidFill>
                  </a:tcPr>
                </a:tc>
                <a:tc>
                  <a:txBody>
                    <a:bodyPr/>
                    <a:lstStyle/>
                    <a:p>
                      <a:r>
                        <a:rPr sz="1200" b="0">
                          <a:solidFill>
                            <a:srgbClr val="1F2937"/>
                          </a:solidFill>
                        </a:rPr>
                        <a:t>Organizm hayoti va shaxs hayoti farqlanadi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yondashuv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 82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Sakral hayot va tibbiy vitalizm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Hayotni muqaddas va daxlsiz deb biluvchi qarash bioetikada “tibbiy vitalizm” deb ataladi.</a:t>
            </a:r>
          </a:p>
          <a:p>
            <a:pPr>
              <a:spcAft>
                <a:spcPts val="1200"/>
              </a:spcAft>
            </a:pPr>
            <a:r>
              <a:rPr sz="2200">
                <a:solidFill>
                  <a:srgbClr val="1F2937"/>
                </a:solidFill>
                <a:latin typeface="Calibri"/>
              </a:rPr>
              <a:t>▸  Tibbiyot vazifasi — hayotni qanday holatda bo‘lishidan qat’i nazar saqlash; zarur xarajat miqdori inobatga olinmaydi.</a:t>
            </a:r>
          </a:p>
          <a:p>
            <a:pPr>
              <a:spcAft>
                <a:spcPts val="1200"/>
              </a:spcAft>
            </a:pPr>
            <a:r>
              <a:rPr sz="2200">
                <a:solidFill>
                  <a:srgbClr val="1F2937"/>
                </a:solidFill>
                <a:latin typeface="Calibri"/>
              </a:rPr>
              <a:t>▸  Hayotni “o‘ta qadrli” yoki “qadrga ega emas” deb ajratib bo‘lmaydi; hayot sifati axloq mezoni emas, tibbiy masala.</a:t>
            </a:r>
          </a:p>
          <a:p>
            <a:pPr>
              <a:spcAft>
                <a:spcPts val="1200"/>
              </a:spcAft>
            </a:pPr>
            <a:r>
              <a:rPr sz="2200">
                <a:solidFill>
                  <a:srgbClr val="1F2937"/>
                </a:solidFill>
                <a:latin typeface="Calibri"/>
              </a:rPr>
              <a:t>▸  Tarafdorlar abort, evtanaziya, embrion tekshiruvi va inson genomi tajribalariga mutlaqo qarshi; vegetativ holatdagi hayot ham cheksiz saqlanishi lozim.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Sifatli hayot etikasi: organizm va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qarashda haqiqiy inson hayoti ma’lum sifatlarga ega bo‘lishi kerak; uni har holatda saqlash shart emas.</a:t>
            </a:r>
          </a:p>
          <a:p>
            <a:pPr>
              <a:spcAft>
                <a:spcPts val="800"/>
              </a:spcAft>
            </a:pPr>
            <a:r>
              <a:rPr sz="1800">
                <a:solidFill>
                  <a:srgbClr val="1F2937"/>
                </a:solidFill>
                <a:latin typeface="Calibri"/>
              </a:rPr>
              <a:t>▸  Tibbiy yordam kerak yoki yo‘qligini hal qilish uchun aniq mezonlar bo‘lishi zarur.</a:t>
            </a:r>
          </a:p>
          <a:p>
            <a:pPr>
              <a:spcAft>
                <a:spcPts val="800"/>
              </a:spcAft>
            </a:pPr>
            <a:r>
              <a:rPr sz="1800">
                <a:solidFill>
                  <a:srgbClr val="1F2937"/>
                </a:solidFill>
                <a:latin typeface="Calibri"/>
              </a:rPr>
              <a:t>▸  Diqqat: ‘‘organizm hayoti’’ ≠ ‘‘shaxs hayoti’’; birinchisi ikkinchisining shartidir.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 (tana) hayoti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Muayyan sifatlar bormi?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 shaxs hayoti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Yo‘q: axloqiy maqom yo‘qoladi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Mezon asosida yordam qarori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Organizmdan shaxsgacha mantiq</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81-82, 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Uorren mezonlari va konsepsiyalar nisbiyligi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Amerikalik bioetik M.Z. Uorren fikricha, shaxslar jamiyatiga qo‘shilish uchun ong, aql, mustaqil harakat va muloqot kerak.</a:t>
            </a:r>
          </a:p>
          <a:p>
            <a:pPr>
              <a:spcAft>
                <a:spcPts val="1200"/>
              </a:spcAft>
            </a:pPr>
            <a:r>
              <a:rPr sz="2200">
                <a:solidFill>
                  <a:srgbClr val="1F2937"/>
                </a:solidFill>
                <a:latin typeface="Calibri"/>
              </a:rPr>
              <a:t>▸  Embrion, yangi tug‘ilgan chaqaloq, ruhiy kasal va hushsiz bemorda bu sifatlar ma’lum davrda bo‘lmasligi tabiiy.</a:t>
            </a:r>
          </a:p>
          <a:p>
            <a:pPr>
              <a:spcAft>
                <a:spcPts val="1200"/>
              </a:spcAft>
            </a:pPr>
            <a:r>
              <a:rPr sz="2200">
                <a:solidFill>
                  <a:srgbClr val="1F2937"/>
                </a:solidFill>
                <a:latin typeface="Calibri"/>
              </a:rPr>
              <a:t>▸  Ikkala konsepsiya ham mutlaq emas, ularni alohida qo‘llab bo‘lmaydi. Hayot qadrli va hurmatga loyiq deb tan olinadi.</a:t>
            </a:r>
          </a:p>
          <a:p>
            <a:pPr>
              <a:spcAft>
                <a:spcPts val="1200"/>
              </a:spcAft>
            </a:pPr>
            <a:r>
              <a:rPr sz="2200">
                <a:solidFill>
                  <a:srgbClr val="1F2937"/>
                </a:solidFill>
                <a:latin typeface="Calibri"/>
              </a:rPr>
              <a:t>▸  Tibbiy resurslar cheklangan, shuning uchun samarasiz va asoslanmagan harakatlardan voz kechish masalasi dolzarbdir.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vegetativ holatdagi bemor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vegetativ holatda, hushni tiklashga hech qanday umid yo‘q.</a:t>
            </a:r>
          </a:p>
          <a:p>
            <a:pPr>
              <a:spcAft>
                <a:spcPts val="1200"/>
              </a:spcAft>
            </a:pPr>
            <a:r>
              <a:rPr sz="2200">
                <a:solidFill>
                  <a:srgbClr val="1F2937"/>
                </a:solidFill>
                <a:latin typeface="Calibri"/>
              </a:rPr>
              <a:t>▸  Sakral hayot (tibbiy vitalizm) bo‘yicha bunday hayot ham cheksiz tibbiy muolajalar bilan sun’iy saqlanishi lozim; xarajat hisobga olinmaydi.</a:t>
            </a:r>
          </a:p>
          <a:p>
            <a:pPr>
              <a:spcAft>
                <a:spcPts val="1200"/>
              </a:spcAft>
            </a:pPr>
            <a:r>
              <a:rPr sz="2200">
                <a:solidFill>
                  <a:srgbClr val="1F2937"/>
                </a:solidFill>
                <a:latin typeface="Calibri"/>
              </a:rPr>
              <a:t>▸  Sifatli hayot bo‘yicha hayot ma’lum sifatlarga ega bo‘lishi kerak, shuning uchun uni har doim saqlash shart emas.</a:t>
            </a:r>
          </a:p>
          <a:p>
            <a:pPr>
              <a:spcAft>
                <a:spcPts val="1200"/>
              </a:spcAft>
            </a:pPr>
            <a:r>
              <a:rPr sz="2200">
                <a:solidFill>
                  <a:srgbClr val="1F2937"/>
                </a:solidFill>
                <a:latin typeface="Calibri"/>
              </a:rPr>
              <a:t>▸  Savol: har ikki yondashuv bu bemorga qanday qaror beradi? Nega ularni mutlaq deb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 81-82,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yondashuvlarni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tibbiy vitalizm qaysi konsepsiyaga tegishli? Javob: hayotni muqaddas, daxlsiz oliy qadriyat deb biladigan sakral hayot etikasiga (sanctity of life).</a:t>
            </a:r>
          </a:p>
          <a:p>
            <a:pPr>
              <a:spcAft>
                <a:spcPts val="1200"/>
              </a:spcAft>
            </a:pPr>
            <a:r>
              <a:rPr sz="2200">
                <a:solidFill>
                  <a:srgbClr val="1F2937"/>
                </a:solidFill>
                <a:latin typeface="Calibri"/>
              </a:rPr>
              <a:t>▸  Vitalizmda hayot har qanday holatda oliy qadriyat. Uni ‘‘o‘ta qadrli’’ yoki ‘‘qadrsiz’’ deb ajratib bo‘lmaydi, sarf-xarajat esa hisobga olinmaydi.</a:t>
            </a:r>
          </a:p>
          <a:p>
            <a:pPr>
              <a:spcAft>
                <a:spcPts val="1200"/>
              </a:spcAft>
            </a:pPr>
            <a:r>
              <a:rPr sz="2200">
                <a:solidFill>
                  <a:srgbClr val="1F2937"/>
                </a:solidFill>
                <a:latin typeface="Calibri"/>
              </a:rPr>
              <a:t>▸  Savol: ‘‘organizm hayoti’’ va ‘‘shaxs hayoti’’ farqi nima? Sifatli hayot tarafdorlari organizm hayotini yuqoriroq sifatli shaxs hayoti uchun shart deb biladi.</a:t>
            </a:r>
          </a:p>
          <a:p>
            <a:pPr>
              <a:spcAft>
                <a:spcPts val="1200"/>
              </a:spcAft>
            </a:pPr>
            <a:r>
              <a:rPr sz="2200">
                <a:solidFill>
                  <a:srgbClr val="1F2937"/>
                </a:solidFill>
                <a:latin typeface="Calibri"/>
              </a:rPr>
              <a:t>▸  Diqqat: xato qilish xavfi! Sakral hayot ≠ sifatli hayot. Ikkala konsepsiya ham shartli, mutlaq emas va ularni alohida qo‘llab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sifati: JSST ta’rifi va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JSST (Jahon sog‘liqni saqlash tashkiloti): hayot sifati — shaxsning o‘z holatini madaniyat va qadriyatlar tizimida his etishi.</a:t>
            </a:r>
          </a:p>
          <a:p>
            <a:pPr>
              <a:spcAft>
                <a:spcPts val="800"/>
              </a:spcAft>
            </a:pPr>
            <a:r>
              <a:rPr sz="1800">
                <a:solidFill>
                  <a:srgbClr val="1F2937"/>
                </a:solidFill>
                <a:latin typeface="Calibri"/>
              </a:rPr>
              <a:t>▸  Bu integral ko‘rsatkich: sog‘liq omillarining shaxs o‘z vaziyatini his etishiga ta’sirini aks ettiradi.</a:t>
            </a:r>
          </a:p>
          <a:p>
            <a:pPr>
              <a:spcAft>
                <a:spcPts val="800"/>
              </a:spcAft>
            </a:pPr>
            <a:r>
              <a:rPr sz="1800">
                <a:solidFill>
                  <a:srgbClr val="1F2937"/>
                </a:solidFill>
                <a:latin typeface="Calibri"/>
              </a:rPr>
              <a:t>▸  Tushuncha tibbiyotga ijtimoiy fanlardan kirgan; sog‘liq bilan bog‘liq tadqiqotlar 1970-yillardan boshlangan.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Jihat</a:t>
                      </a:r>
                    </a:p>
                  </a:txBody>
                  <a:tcPr marL="73152" marR="73152" marT="36576" marB="36576">
                    <a:solidFill>
                      <a:srgbClr val="0B1F3A"/>
                    </a:solidFill>
                  </a:tcPr>
                </a:tc>
                <a:tc>
                  <a:txBody>
                    <a:bodyPr/>
                    <a:lstStyle/>
                    <a:p>
                      <a:r>
                        <a:rPr sz="1400" b="1">
                          <a:solidFill>
                            <a:srgbClr val="FFFFFF"/>
                          </a:solidFill>
                        </a:rPr>
                        <a:t>Mazmun</a:t>
                      </a:r>
                    </a:p>
                  </a:txBody>
                  <a:tcPr marL="73152" marR="73152" marT="36576" marB="36576">
                    <a:solidFill>
                      <a:srgbClr val="0B1F3A"/>
                    </a:solidFill>
                  </a:tcPr>
                </a:tc>
              </a:tr>
              <a:tr h="411480">
                <a:tc>
                  <a:txBody>
                    <a:bodyPr/>
                    <a:lstStyle/>
                    <a:p>
                      <a:r>
                        <a:rPr sz="1300" b="0">
                          <a:solidFill>
                            <a:srgbClr val="1F2937"/>
                          </a:solidFill>
                        </a:rPr>
                        <a:t>Ta’rif</a:t>
                      </a:r>
                    </a:p>
                  </a:txBody>
                  <a:tcPr marL="73152" marR="73152" marT="36576" marB="36576">
                    <a:solidFill>
                      <a:srgbClr val="E8EEF6"/>
                    </a:solidFill>
                  </a:tcPr>
                </a:tc>
                <a:tc>
                  <a:txBody>
                    <a:bodyPr/>
                    <a:lstStyle/>
                    <a:p>
                      <a:r>
                        <a:rPr sz="1300" b="0">
                          <a:solidFill>
                            <a:srgbClr val="1F2937"/>
                          </a:solidFill>
                        </a:rPr>
                        <a:t>O‘z o‘rnini qadriyatlar tizimida his etish</a:t>
                      </a:r>
                    </a:p>
                  </a:txBody>
                  <a:tcPr marL="73152" marR="73152" marT="36576" marB="36576">
                    <a:solidFill>
                      <a:srgbClr val="E8EEF6"/>
                    </a:solidFill>
                  </a:tcPr>
                </a:tc>
              </a:tr>
              <a:tr h="411480">
                <a:tc>
                  <a:txBody>
                    <a:bodyPr/>
                    <a:lstStyle/>
                    <a:p>
                      <a:r>
                        <a:rPr sz="1300" b="0">
                          <a:solidFill>
                            <a:srgbClr val="1F2937"/>
                          </a:solidFill>
                        </a:rPr>
                        <a:t>Ko‘rsatkich turi</a:t>
                      </a:r>
                    </a:p>
                  </a:txBody>
                  <a:tcPr marL="73152" marR="73152" marT="36576" marB="36576">
                    <a:solidFill>
                      <a:srgbClr val="FFFFFF"/>
                    </a:solidFill>
                  </a:tcPr>
                </a:tc>
                <a:tc>
                  <a:txBody>
                    <a:bodyPr/>
                    <a:lstStyle/>
                    <a:p>
                      <a:r>
                        <a:rPr sz="1300" b="0">
                          <a:solidFill>
                            <a:srgbClr val="1F2937"/>
                          </a:solidFill>
                        </a:rPr>
                        <a:t>Integral (omillar yig‘indisi)</a:t>
                      </a:r>
                    </a:p>
                  </a:txBody>
                  <a:tcPr marL="73152" marR="73152" marT="36576" marB="36576">
                    <a:solidFill>
                      <a:srgbClr val="FFFFFF"/>
                    </a:solidFill>
                  </a:tcPr>
                </a:tc>
              </a:tr>
              <a:tr h="411480">
                <a:tc>
                  <a:txBody>
                    <a:bodyPr/>
                    <a:lstStyle/>
                    <a:p>
                      <a:r>
                        <a:rPr sz="1300" b="0">
                          <a:solidFill>
                            <a:srgbClr val="1F2937"/>
                          </a:solidFill>
                        </a:rPr>
                        <a:t>Omillar</a:t>
                      </a:r>
                    </a:p>
                  </a:txBody>
                  <a:tcPr marL="73152" marR="73152" marT="36576" marB="36576">
                    <a:solidFill>
                      <a:srgbClr val="E8EEF6"/>
                    </a:solidFill>
                  </a:tcPr>
                </a:tc>
                <a:tc>
                  <a:txBody>
                    <a:bodyPr/>
                    <a:lstStyle/>
                    <a:p>
                      <a:r>
                        <a:rPr sz="1300" b="0">
                          <a:solidFill>
                            <a:srgbClr val="1F2937"/>
                          </a:solidFill>
                        </a:rPr>
                        <a:t>Sog‘lom/bemor, mustaqillik, kasb, oila</a:t>
                      </a:r>
                    </a:p>
                  </a:txBody>
                  <a:tcPr marL="73152" marR="73152" marT="36576" marB="36576">
                    <a:solidFill>
                      <a:srgbClr val="E8EEF6"/>
                    </a:solidFill>
                  </a:tcPr>
                </a:tc>
              </a:tr>
              <a:tr h="411480">
                <a:tc>
                  <a:txBody>
                    <a:bodyPr/>
                    <a:lstStyle/>
                    <a:p>
                      <a:r>
                        <a:rPr sz="1300" b="0">
                          <a:solidFill>
                            <a:srgbClr val="1F2937"/>
                          </a:solidFill>
                        </a:rPr>
                        <a:t>Kelib chiqishi</a:t>
                      </a:r>
                    </a:p>
                  </a:txBody>
                  <a:tcPr marL="73152" marR="73152" marT="36576" marB="36576">
                    <a:solidFill>
                      <a:srgbClr val="FFFFFF"/>
                    </a:solidFill>
                  </a:tcPr>
                </a:tc>
                <a:tc>
                  <a:txBody>
                    <a:bodyPr/>
                    <a:lstStyle/>
                    <a:p>
                      <a:r>
                        <a:rPr sz="1300" b="0">
                          <a:solidFill>
                            <a:srgbClr val="1F2937"/>
                          </a:solidFill>
                        </a:rPr>
                        <a:t>Ijtimoiy fanlardan; 1970-yillardan tadqiq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 sifati: asosiy jihatlar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sifatini baholash: so‘rovnoma va shkalalar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Bemor vaziyatni subyektiv his etgani uchun maxsus so‘rovnomalardan foydalaniladi.</a:t>
            </a:r>
          </a:p>
          <a:p>
            <a:pPr>
              <a:spcAft>
                <a:spcPts val="800"/>
              </a:spcAft>
            </a:pPr>
            <a:r>
              <a:rPr sz="1800">
                <a:solidFill>
                  <a:srgbClr val="1F2937"/>
                </a:solidFill>
                <a:latin typeface="Calibri"/>
              </a:rPr>
              <a:t>▸  Yakuniy bahoda bemor sog‘lig‘ining joriy holatini aks ettiruvchi ob’ektiv ma’lumotlar ham hisobga olinadi.</a:t>
            </a:r>
          </a:p>
          <a:p>
            <a:pPr>
              <a:spcAft>
                <a:spcPts val="800"/>
              </a:spcAft>
            </a:pPr>
            <a:r>
              <a:rPr sz="1800">
                <a:solidFill>
                  <a:srgbClr val="1F2937"/>
                </a:solidFill>
                <a:latin typeface="Calibri"/>
              </a:rPr>
              <a:t>▸  Shkalalar umumiy parametrlar bo‘yicha yoki ayrim kasalliklarga moslashtirilgan turlarga bo‘linadi. (?)</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Subyektiv his etish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Maxsus so‘rovnoma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Ob’ektiv sog‘liq ma’lumotlari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Yakuniy baho</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Shkala orqali miqdoriy ifoda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Baholash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83, 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QALY shkalasi: mohiyati va qiymatlari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QALY — sifat bo‘yicha o‘zgartirilgan hayot yillari; bemor hayotining sifatini son bilan ifodalaydi.</a:t>
            </a:r>
          </a:p>
          <a:p>
            <a:pPr>
              <a:spcAft>
                <a:spcPts val="800"/>
              </a:spcAft>
            </a:pPr>
            <a:r>
              <a:rPr sz="1800">
                <a:solidFill>
                  <a:srgbClr val="1F2937"/>
                </a:solidFill>
                <a:latin typeface="Calibri"/>
              </a:rPr>
              <a:t>▸  Shkala utilitarizm konsepsiyasiga tayanib ishlab chiqilgan.</a:t>
            </a:r>
          </a:p>
          <a:p>
            <a:pPr>
              <a:spcAft>
                <a:spcPts val="800"/>
              </a:spcAft>
            </a:pPr>
            <a:r>
              <a:rPr sz="1800">
                <a:solidFill>
                  <a:srgbClr val="1F2937"/>
                </a:solidFill>
                <a:latin typeface="Calibri"/>
              </a:rPr>
              <a:t>▸  Hayot sifati qancha past bo‘lsa, ko‘rsatkich shuncha past bo‘ladi.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3557365"/>
                <a:gridCol w="1730610"/>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QALY qiymati</a:t>
                      </a:r>
                    </a:p>
                  </a:txBody>
                  <a:tcPr marL="73152" marR="73152" marT="36576" marB="36576">
                    <a:solidFill>
                      <a:srgbClr val="0B1F3A"/>
                    </a:solidFill>
                  </a:tcPr>
                </a:tc>
              </a:tr>
              <a:tr h="411480">
                <a:tc>
                  <a:txBody>
                    <a:bodyPr/>
                    <a:lstStyle/>
                    <a:p>
                      <a:r>
                        <a:rPr sz="1300" b="0">
                          <a:solidFill>
                            <a:srgbClr val="1F2937"/>
                          </a:solidFill>
                        </a:rPr>
                        <a:t>To‘liq sog‘liq</a:t>
                      </a:r>
                    </a:p>
                  </a:txBody>
                  <a:tcPr marL="73152" marR="73152" marT="36576" marB="36576">
                    <a:solidFill>
                      <a:srgbClr val="E8EEF6"/>
                    </a:solidFill>
                  </a:tcPr>
                </a:tc>
                <a:tc>
                  <a:txBody>
                    <a:bodyPr/>
                    <a:lstStyle/>
                    <a:p>
                      <a:r>
                        <a:rPr sz="1300" b="0">
                          <a:solidFill>
                            <a:srgbClr val="1F2937"/>
                          </a:solidFill>
                        </a:rPr>
                        <a:t>1,0</a:t>
                      </a:r>
                    </a:p>
                  </a:txBody>
                  <a:tcPr marL="73152" marR="73152" marT="36576" marB="36576">
                    <a:solidFill>
                      <a:srgbClr val="E8EEF6"/>
                    </a:solidFill>
                  </a:tcPr>
                </a:tc>
              </a:tr>
              <a:tr h="411480">
                <a:tc>
                  <a:txBody>
                    <a:bodyPr/>
                    <a:lstStyle/>
                    <a:p>
                      <a:r>
                        <a:rPr sz="1300" b="0">
                          <a:solidFill>
                            <a:srgbClr val="1F2937"/>
                          </a:solidFill>
                        </a:rPr>
                        <a:t>Surunkali kasallik</a:t>
                      </a:r>
                    </a:p>
                  </a:txBody>
                  <a:tcPr marL="73152" marR="73152" marT="36576" marB="36576">
                    <a:solidFill>
                      <a:srgbClr val="FFFFFF"/>
                    </a:solidFill>
                  </a:tcPr>
                </a:tc>
                <a:tc>
                  <a:txBody>
                    <a:bodyPr/>
                    <a:lstStyle/>
                    <a:p>
                      <a:r>
                        <a:rPr sz="1300" b="0">
                          <a:solidFill>
                            <a:srgbClr val="1F2937"/>
                          </a:solidFill>
                        </a:rPr>
                        <a:t>taxminan 0,6–0,8</a:t>
                      </a:r>
                    </a:p>
                  </a:txBody>
                  <a:tcPr marL="73152" marR="73152" marT="36576" marB="36576">
                    <a:solidFill>
                      <a:srgbClr val="FFFFFF"/>
                    </a:solidFill>
                  </a:tcPr>
                </a:tc>
              </a:tr>
              <a:tr h="411480">
                <a:tc>
                  <a:txBody>
                    <a:bodyPr/>
                    <a:lstStyle/>
                    <a:p>
                      <a:r>
                        <a:rPr sz="1300" b="0">
                          <a:solidFill>
                            <a:srgbClr val="1F2937"/>
                          </a:solidFill>
                        </a:rPr>
                        <a:t>O‘ziga xizmat qila olmaydigan nogiron</a:t>
                      </a:r>
                    </a:p>
                  </a:txBody>
                  <a:tcPr marL="73152" marR="73152" marT="36576" marB="36576">
                    <a:solidFill>
                      <a:srgbClr val="E8EEF6"/>
                    </a:solidFill>
                  </a:tcPr>
                </a:tc>
                <a:tc>
                  <a:txBody>
                    <a:bodyPr/>
                    <a:lstStyle/>
                    <a:p>
                      <a:r>
                        <a:rPr sz="1300" b="0">
                          <a:solidFill>
                            <a:srgbClr val="1F2937"/>
                          </a:solidFill>
                        </a:rPr>
                        <a:t>taxminan 0,2–0,4</a:t>
                      </a:r>
                    </a:p>
                  </a:txBody>
                  <a:tcPr marL="73152" marR="73152" marT="36576" marB="36576">
                    <a:solidFill>
                      <a:srgbClr val="E8EEF6"/>
                    </a:solidFill>
                  </a:tcPr>
                </a:tc>
              </a:tr>
              <a:tr h="411480">
                <a:tc>
                  <a:txBody>
                    <a:bodyPr/>
                    <a:lstStyle/>
                    <a:p>
                      <a:r>
                        <a:rPr sz="1300" b="0">
                          <a:solidFill>
                            <a:srgbClr val="1F2937"/>
                          </a:solidFill>
                        </a:rPr>
                        <a:t>O‘lim</a:t>
                      </a:r>
                    </a:p>
                  </a:txBody>
                  <a:tcPr marL="73152" marR="73152" marT="36576" marB="36576">
                    <a:solidFill>
                      <a:srgbClr val="FFFFFF"/>
                    </a:solidFill>
                  </a:tcPr>
                </a:tc>
                <a:tc>
                  <a:txBody>
                    <a:bodyPr/>
                    <a:lstStyle/>
                    <a:p>
                      <a:r>
                        <a:rPr sz="1300" b="0">
                          <a:solidFill>
                            <a:srgbClr val="1F2937"/>
                          </a:solidFill>
                        </a:rPr>
                        <a:t>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QALY qiymatlari oralig‘i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84-85, 84, 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QALY hisoblash misoli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Kasallik tufayli sifat pasaygan; QALY 0,7 bo‘lganda davolash boshlangan.</a:t>
            </a:r>
          </a:p>
          <a:p>
            <a:pPr>
              <a:spcAft>
                <a:spcPts val="800"/>
              </a:spcAft>
            </a:pPr>
            <a:r>
              <a:rPr sz="1800">
                <a:solidFill>
                  <a:srgbClr val="1F2937"/>
                </a:solidFill>
                <a:latin typeface="Calibri"/>
              </a:rPr>
              <a:t>▸  Natijada hayot uzaygan: 7 yil × 0,7 = 4,9 QALY yilga uzayish.</a:t>
            </a:r>
          </a:p>
          <a:p>
            <a:pPr>
              <a:spcAft>
                <a:spcPts val="800"/>
              </a:spcAft>
            </a:pPr>
            <a:r>
              <a:rPr sz="1800">
                <a:solidFill>
                  <a:srgbClr val="1F2937"/>
                </a:solidFill>
                <a:latin typeface="Calibri"/>
              </a:rPr>
              <a:t>▸  Hayot uzayib, sifati pasaysa, bunday hayot sog‘lom hayotdan qisqaroq baholanadi.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Sifat 0,7 da davolash boshlandi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O‘lim xavfi bartaraf etildi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Sifat barqarorlashdi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yana 7 yil yashadi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7 × 0,7 = 4,9 QALY yil</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Hisoblash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QALY, resurslar va shkalalar cheklovi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Turli davolarda uzaytirilgan bir QALY yilga sarflangan xarajat solishtirilib, iqtisodiy jihatdan samaraliroq texnologiya aniqlanadi.</a:t>
            </a:r>
          </a:p>
          <a:p>
            <a:pPr>
              <a:spcAft>
                <a:spcPts val="1200"/>
              </a:spcAft>
            </a:pPr>
            <a:r>
              <a:rPr sz="2200">
                <a:solidFill>
                  <a:srgbClr val="1F2937"/>
                </a:solidFill>
                <a:latin typeface="Calibri"/>
              </a:rPr>
              <a:t>▸  Ayrim mamlakatlarda tibbiy texnologiyalarni QALY shkalasi bilan baholash qonun hujjatlari orqali belgilangan.</a:t>
            </a:r>
          </a:p>
          <a:p>
            <a:pPr>
              <a:spcAft>
                <a:spcPts val="1200"/>
              </a:spcAft>
            </a:pPr>
            <a:r>
              <a:rPr sz="2200">
                <a:solidFill>
                  <a:srgbClr val="1F2937"/>
                </a:solidFill>
                <a:latin typeface="Calibri"/>
              </a:rPr>
              <a:t>▸  Hech bir shkala mukammal emas: har bir shaxs o‘ziga xos, vaziyatni his etishda esa subyektivlik bor.</a:t>
            </a:r>
          </a:p>
          <a:p>
            <a:pPr>
              <a:spcAft>
                <a:spcPts val="1200"/>
              </a:spcAft>
            </a:pPr>
            <a:r>
              <a:rPr sz="2200">
                <a:solidFill>
                  <a:srgbClr val="1F2937"/>
                </a:solidFill>
                <a:latin typeface="Calibri"/>
              </a:rPr>
              <a:t>▸  Inson hayotini darajasidan qat‘i nazar faqat ijtimoiy foydalilik yoki iqtisodiy samaradorlik bilan baholash to‘g‘ri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QALY bo‘yicha qaror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Kasallik tufayli hayot sifati pasaygan bemorda QALY (sifat bo‘yicha tuzatilgan hayot yillari) ko‘rsatkichi 0,7 bo‘lganda davolash boshlandi.</a:t>
            </a:r>
          </a:p>
          <a:p>
            <a:pPr>
              <a:spcAft>
                <a:spcPts val="1200"/>
              </a:spcAft>
            </a:pPr>
            <a:r>
              <a:rPr sz="2200">
                <a:solidFill>
                  <a:srgbClr val="1F2937"/>
                </a:solidFill>
                <a:latin typeface="Calibri"/>
              </a:rPr>
              <a:t>▸  Ahvol yomonlashmadi, o‘lim xavfi bartaraf etildi, hayot sifati barqarorlashdi. Bemor yana 7 yil yashadi.</a:t>
            </a:r>
          </a:p>
          <a:p>
            <a:pPr>
              <a:spcAft>
                <a:spcPts val="1200"/>
              </a:spcAft>
            </a:pPr>
            <a:r>
              <a:rPr sz="2200">
                <a:solidFill>
                  <a:srgbClr val="1F2937"/>
                </a:solidFill>
                <a:latin typeface="Calibri"/>
              </a:rPr>
              <a:t>▸  Hisob: 7 × 0,7 = 4,9. Demak, davo hayotni 4,9 QALY yilga uzaytirgan.</a:t>
            </a:r>
          </a:p>
          <a:p>
            <a:pPr>
              <a:spcAft>
                <a:spcPts val="1200"/>
              </a:spcAft>
            </a:pPr>
            <a:r>
              <a:rPr sz="2200">
                <a:solidFill>
                  <a:srgbClr val="1F2937"/>
                </a:solidFill>
                <a:latin typeface="Calibri"/>
              </a:rPr>
              <a:t>▸  Savol: uzaytirilgan bir yilga ketgan xarajatni solishtirib qaror qilish mumkinmi? Hayotni faqat iqtisodiy samara bilan baholash to‘g‘ri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QALY va hayot sifati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QALY shkalasida 1,0 va 0 nimani bildiradi? Yuqori chegara 1,0 (to‘liq sog‘lom hayot), 0 esa o‘lim holati. (?)</a:t>
            </a:r>
          </a:p>
          <a:p>
            <a:pPr>
              <a:spcAft>
                <a:spcPts val="1200"/>
              </a:spcAft>
            </a:pPr>
            <a:r>
              <a:rPr sz="2200">
                <a:solidFill>
                  <a:srgbClr val="1F2937"/>
                </a:solidFill>
                <a:latin typeface="Calibri"/>
              </a:rPr>
              <a:t>▸  Hayot sifati qancha past bo‘lsa, ko‘rsatkich ham shuncha past. Surunkali kasallikda 0,6–0,8, o‘ziga xizmat qila olmaganda 0,2–0,4 bo‘lishi mumkin.</a:t>
            </a:r>
          </a:p>
          <a:p>
            <a:pPr>
              <a:spcAft>
                <a:spcPts val="1200"/>
              </a:spcAft>
            </a:pPr>
            <a:r>
              <a:rPr sz="2200">
                <a:solidFill>
                  <a:srgbClr val="1F2937"/>
                </a:solidFill>
                <a:latin typeface="Calibri"/>
              </a:rPr>
              <a:t>▸  Savol: 7 yil × 0,7 nechaga teng? Javob: 4,9 QALY yil.</a:t>
            </a:r>
          </a:p>
          <a:p>
            <a:pPr>
              <a:spcAft>
                <a:spcPts val="1200"/>
              </a:spcAft>
            </a:pPr>
            <a:r>
              <a:rPr sz="2200">
                <a:solidFill>
                  <a:srgbClr val="1F2937"/>
                </a:solidFill>
                <a:latin typeface="Calibri"/>
              </a:rPr>
              <a:t>▸  Diqqat: hayot sifati ≠ ijtimoiy foydalilik. Inson hayotini faqat ijtimoiy foyda yoki iqtisodiy samara nuqtai nazaridan baholash to‘g‘ri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84-85, 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boshlanishi: biologik nuqtai nazar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Biologiya va embriologiyaga ko‘ra inson hayoti gametalar qo‘shilib zigota hosil bo‘lishidan boshlanadi.</a:t>
            </a:r>
          </a:p>
          <a:p>
            <a:pPr>
              <a:spcAft>
                <a:spcPts val="800"/>
              </a:spcAft>
            </a:pPr>
            <a:r>
              <a:rPr sz="1800">
                <a:solidFill>
                  <a:srgbClr val="1F2937"/>
                </a:solidFill>
                <a:latin typeface="Calibri"/>
              </a:rPr>
              <a:t>▸  Zigota yaxlit yadroga ega va betakror genetik materialni saqlaydi.</a:t>
            </a:r>
          </a:p>
          <a:p>
            <a:pPr>
              <a:spcAft>
                <a:spcPts val="800"/>
              </a:spcAft>
            </a:pPr>
            <a:r>
              <a:rPr sz="1800">
                <a:solidFill>
                  <a:srgbClr val="1F2937"/>
                </a:solidFill>
                <a:latin typeface="Calibri"/>
              </a:rPr>
              <a:t>▸  Hujayralar bo‘linib, avval bir xil hujayralar guruhi, keyin blastotsist hosil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Erkak va ayol gametalari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Qo‘shilish: zigota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Hujayralar bo‘linishi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Bir xil hujayralar guruhi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Blastotsist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Hayotning dastlabki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Preembrion va 14-kun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Blastotsist bachadonning ichki devoriga hali birikmagan bo‘ladi. Hujayralarning aksariyati hali tuzilmalashmagan.</a:t>
            </a:r>
          </a:p>
          <a:p>
            <a:pPr>
              <a:spcAft>
                <a:spcPts val="1200"/>
              </a:spcAft>
            </a:pPr>
            <a:r>
              <a:rPr sz="2200">
                <a:solidFill>
                  <a:srgbClr val="1F2937"/>
                </a:solidFill>
                <a:latin typeface="Calibri"/>
              </a:rPr>
              <a:t>▸  Blastotsist ikkiga yoki undan ko‘p qismga bo‘linishi mumkin. Shu sababli mutaxassislar bu bosqichni preembrion deb ataydi.</a:t>
            </a:r>
          </a:p>
          <a:p>
            <a:pPr>
              <a:spcAft>
                <a:spcPts val="1200"/>
              </a:spcAft>
            </a:pPr>
            <a:r>
              <a:rPr sz="2200">
                <a:solidFill>
                  <a:srgbClr val="1F2937"/>
                </a:solidFill>
                <a:latin typeface="Calibri"/>
              </a:rPr>
              <a:t>▸  Ayrim mutaxassislar homiladorlikning 14-kuniga qadar preembrionda turli tadqiqotlar o‘tkazish mumkin deb hisoblaydi. Bu ba’zi mamlakatlar qonunlarida ham bor.</a:t>
            </a:r>
          </a:p>
          <a:p>
            <a:pPr>
              <a:spcAft>
                <a:spcPts val="1200"/>
              </a:spcAft>
            </a:pPr>
            <a:r>
              <a:rPr sz="2200">
                <a:solidFill>
                  <a:srgbClr val="1F2937"/>
                </a:solidFill>
                <a:latin typeface="Calibri"/>
              </a:rPr>
              <a:t>▸  Diqqat: preembrion ≠ embrion. 14-kundan boshlab bachadon ichidagi hosila embrion deb ataladi.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85-86, 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Embrional rivojlanish xronologiyasi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Embrional davr 8–9 hafta davom etadi. Homiladorlikning 75–76-kunidan fetal (homila) davri boshlanadi. (?)</a:t>
            </a:r>
          </a:p>
          <a:p>
            <a:pPr>
              <a:spcAft>
                <a:spcPts val="800"/>
              </a:spcAft>
            </a:pPr>
            <a:r>
              <a:rPr sz="1800">
                <a:solidFill>
                  <a:srgbClr val="1F2937"/>
                </a:solidFill>
                <a:latin typeface="Calibri"/>
              </a:rPr>
              <a:t>▸  13–14-kunda birlamchi hoshiya paydo bo‘ladi, individual belgilar namoyon bo‘la boshlaydi.</a:t>
            </a:r>
          </a:p>
          <a:p>
            <a:pPr>
              <a:spcAft>
                <a:spcPts val="800"/>
              </a:spcAft>
            </a:pPr>
            <a:r>
              <a:rPr sz="1800">
                <a:solidFill>
                  <a:srgbClr val="1F2937"/>
                </a:solidFill>
                <a:latin typeface="Calibri"/>
              </a:rPr>
              <a:t>▸  Yurak urishi 18-kunda boshlanadi, qon aylanish tizimi 21-kunga kelib shakllanadi.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00161"/>
                <a:gridCol w="3487813"/>
              </a:tblGrid>
              <a:tr h="411480">
                <a:tc>
                  <a:txBody>
                    <a:bodyPr/>
                    <a:lstStyle/>
                    <a:p>
                      <a:r>
                        <a:rPr sz="1400" b="1">
                          <a:solidFill>
                            <a:srgbClr val="FFFFFF"/>
                          </a:solidFill>
                        </a:rPr>
                        <a:t>Muddat</a:t>
                      </a:r>
                    </a:p>
                  </a:txBody>
                  <a:tcPr marL="73152" marR="73152" marT="36576" marB="36576">
                    <a:solidFill>
                      <a:srgbClr val="0B1F3A"/>
                    </a:solidFill>
                  </a:tcPr>
                </a:tc>
                <a:tc>
                  <a:txBody>
                    <a:bodyPr/>
                    <a:lstStyle/>
                    <a:p>
                      <a:r>
                        <a:rPr sz="1400" b="1">
                          <a:solidFill>
                            <a:srgbClr val="FFFFFF"/>
                          </a:solidFill>
                        </a:rPr>
                        <a:t>Hodisa</a:t>
                      </a:r>
                    </a:p>
                  </a:txBody>
                  <a:tcPr marL="73152" marR="73152" marT="36576" marB="36576">
                    <a:solidFill>
                      <a:srgbClr val="0B1F3A"/>
                    </a:solidFill>
                  </a:tcPr>
                </a:tc>
              </a:tr>
              <a:tr h="411480">
                <a:tc>
                  <a:txBody>
                    <a:bodyPr/>
                    <a:lstStyle/>
                    <a:p>
                      <a:r>
                        <a:rPr sz="1300" b="0">
                          <a:solidFill>
                            <a:srgbClr val="1F2937"/>
                          </a:solidFill>
                        </a:rPr>
                        <a:t>13–14-kun</a:t>
                      </a:r>
                    </a:p>
                  </a:txBody>
                  <a:tcPr marL="73152" marR="73152" marT="36576" marB="36576">
                    <a:solidFill>
                      <a:srgbClr val="E8EEF6"/>
                    </a:solidFill>
                  </a:tcPr>
                </a:tc>
                <a:tc>
                  <a:txBody>
                    <a:bodyPr/>
                    <a:lstStyle/>
                    <a:p>
                      <a:r>
                        <a:rPr sz="1300" b="0">
                          <a:solidFill>
                            <a:srgbClr val="1F2937"/>
                          </a:solidFill>
                        </a:rPr>
                        <a:t>Birlamchi hoshiya paydo bo‘ladi</a:t>
                      </a:r>
                    </a:p>
                  </a:txBody>
                  <a:tcPr marL="73152" marR="73152" marT="36576" marB="36576">
                    <a:solidFill>
                      <a:srgbClr val="E8EEF6"/>
                    </a:solidFill>
                  </a:tcPr>
                </a:tc>
              </a:tr>
              <a:tr h="411480">
                <a:tc>
                  <a:txBody>
                    <a:bodyPr/>
                    <a:lstStyle/>
                    <a:p>
                      <a:r>
                        <a:rPr sz="1300" b="0">
                          <a:solidFill>
                            <a:srgbClr val="1F2937"/>
                          </a:solidFill>
                        </a:rPr>
                        <a:t>18-kun</a:t>
                      </a:r>
                    </a:p>
                  </a:txBody>
                  <a:tcPr marL="73152" marR="73152" marT="36576" marB="36576">
                    <a:solidFill>
                      <a:srgbClr val="FFFFFF"/>
                    </a:solidFill>
                  </a:tcPr>
                </a:tc>
                <a:tc>
                  <a:txBody>
                    <a:bodyPr/>
                    <a:lstStyle/>
                    <a:p>
                      <a:r>
                        <a:rPr sz="1300" b="0">
                          <a:solidFill>
                            <a:srgbClr val="1F2937"/>
                          </a:solidFill>
                        </a:rPr>
                        <a:t>Yurak urishi paydo bo‘ladi</a:t>
                      </a:r>
                    </a:p>
                  </a:txBody>
                  <a:tcPr marL="73152" marR="73152" marT="36576" marB="36576">
                    <a:solidFill>
                      <a:srgbClr val="FFFFFF"/>
                    </a:solidFill>
                  </a:tcPr>
                </a:tc>
              </a:tr>
              <a:tr h="411480">
                <a:tc>
                  <a:txBody>
                    <a:bodyPr/>
                    <a:lstStyle/>
                    <a:p>
                      <a:r>
                        <a:rPr sz="1300" b="0">
                          <a:solidFill>
                            <a:srgbClr val="1F2937"/>
                          </a:solidFill>
                        </a:rPr>
                        <a:t>21-kun</a:t>
                      </a:r>
                    </a:p>
                  </a:txBody>
                  <a:tcPr marL="73152" marR="73152" marT="36576" marB="36576">
                    <a:solidFill>
                      <a:srgbClr val="E8EEF6"/>
                    </a:solidFill>
                  </a:tcPr>
                </a:tc>
                <a:tc>
                  <a:txBody>
                    <a:bodyPr/>
                    <a:lstStyle/>
                    <a:p>
                      <a:r>
                        <a:rPr sz="1300" b="0">
                          <a:solidFill>
                            <a:srgbClr val="1F2937"/>
                          </a:solidFill>
                        </a:rPr>
                        <a:t>Qon aylanish tizimi shakllanadi</a:t>
                      </a:r>
                    </a:p>
                  </a:txBody>
                  <a:tcPr marL="73152" marR="73152" marT="36576" marB="36576">
                    <a:solidFill>
                      <a:srgbClr val="E8EEF6"/>
                    </a:solidFill>
                  </a:tcPr>
                </a:tc>
              </a:tr>
              <a:tr h="411480">
                <a:tc>
                  <a:txBody>
                    <a:bodyPr/>
                    <a:lstStyle/>
                    <a:p>
                      <a:r>
                        <a:rPr sz="1300" b="0">
                          <a:solidFill>
                            <a:srgbClr val="1F2937"/>
                          </a:solidFill>
                        </a:rPr>
                        <a:t>75–76-kundan</a:t>
                      </a:r>
                    </a:p>
                  </a:txBody>
                  <a:tcPr marL="73152" marR="73152" marT="36576" marB="36576">
                    <a:solidFill>
                      <a:srgbClr val="FFFFFF"/>
                    </a:solidFill>
                  </a:tcPr>
                </a:tc>
                <a:tc>
                  <a:txBody>
                    <a:bodyPr/>
                    <a:lstStyle/>
                    <a:p>
                      <a:r>
                        <a:rPr sz="1300" b="0">
                          <a:solidFill>
                            <a:srgbClr val="1F2937"/>
                          </a:solidFill>
                        </a:rPr>
                        <a:t>Fetal (homila) davri boshlanadi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Rivojlanish 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preembrion tadqiqoti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tadqiqotchi homiladorlikning 12-kunidagi hosilada tajriba o‘tkazmoqchi va uni «preembrion» deb asoslaydi.</a:t>
            </a:r>
          </a:p>
          <a:p>
            <a:pPr>
              <a:spcAft>
                <a:spcPts val="1200"/>
              </a:spcAft>
            </a:pPr>
            <a:r>
              <a:rPr sz="2200">
                <a:solidFill>
                  <a:srgbClr val="1F2937"/>
                </a:solidFill>
                <a:latin typeface="Calibri"/>
              </a:rPr>
              <a:t>▸  Uning foydasiga: bu muddatda blastotsist birikmagan, hujayralar tuzilmalashmagan va hosila bo‘linishi mumkin.</a:t>
            </a:r>
          </a:p>
          <a:p>
            <a:pPr>
              <a:spcAft>
                <a:spcPts val="1200"/>
              </a:spcAft>
            </a:pPr>
            <a:r>
              <a:rPr sz="2200">
                <a:solidFill>
                  <a:srgbClr val="1F2937"/>
                </a:solidFill>
                <a:latin typeface="Calibri"/>
              </a:rPr>
              <a:t>▸  Qarshi dalil: 13–14-kunda birlamchi hoshiya chiqadi, 18-kunda yurak uradi, 21-kunda qon aylanishi shakllanadi.</a:t>
            </a:r>
          </a:p>
          <a:p>
            <a:pPr>
              <a:spcAft>
                <a:spcPts val="1200"/>
              </a:spcAft>
            </a:pPr>
            <a:r>
              <a:rPr sz="2200">
                <a:solidFill>
                  <a:srgbClr val="1F2937"/>
                </a:solidFill>
                <a:latin typeface="Calibri"/>
              </a:rPr>
              <a:t>▸  Savol: embrion «potensial inson» sifatida alohida axloqiy munosabat talab qiladi. 14-kun chegarasi buni hisobga oladimi?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statusi: asosiy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savol: embrion ayol tanasining bir qismimi yoki alohida axloqiy statusga egami?</a:t>
            </a:r>
          </a:p>
          <a:p>
            <a:pPr>
              <a:spcAft>
                <a:spcPts val="800"/>
              </a:spcAft>
            </a:pPr>
            <a:r>
              <a:rPr sz="1800">
                <a:solidFill>
                  <a:srgbClr val="1F2937"/>
                </a:solidFill>
                <a:latin typeface="Calibri"/>
              </a:rPr>
              <a:t>▸  Inson hayoti qachon boshlanishi haqidagi turli qarashlar embrion statusini belgilashdagi farqlarga tayanadi.</a:t>
            </a:r>
          </a:p>
          <a:p>
            <a:pPr>
              <a:spcAft>
                <a:spcPts val="800"/>
              </a:spcAft>
            </a:pPr>
            <a:r>
              <a:rPr sz="1800">
                <a:solidFill>
                  <a:srgbClr val="1F2937"/>
                </a:solidFill>
                <a:latin typeface="Calibri"/>
              </a:rPr>
              <a:t>▸  Sxema (6-rasm) statusning urug‘lanishdan tug‘ilishgacha o‘zgarishini ko‘rsatadi. (?)</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Urug‘lanish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Bioredukt: ona tanasi qismi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Embrion statusi o‘zgaradi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Egoredukt: potensial shaxs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Tug‘ilish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Embrion statusi o‘zgarishi (soddalashtirilgan sxema)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 potensial inson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Embrion o‘ziga xos ontologik statusga ega: u potensial inson hisoblanadi.</a:t>
            </a:r>
          </a:p>
          <a:p>
            <a:pPr>
              <a:spcAft>
                <a:spcPts val="1200"/>
              </a:spcAft>
            </a:pPr>
            <a:r>
              <a:rPr sz="2200">
                <a:solidFill>
                  <a:srgbClr val="1F2937"/>
                </a:solidFill>
                <a:latin typeface="Calibri"/>
              </a:rPr>
              <a:t>▸  Homiladorlik muddati oshgani sari embrion asl inson statusiga tobora yaqinlashadi.</a:t>
            </a:r>
          </a:p>
          <a:p>
            <a:pPr>
              <a:spcAft>
                <a:spcPts val="1200"/>
              </a:spcAft>
            </a:pPr>
            <a:r>
              <a:rPr sz="2200">
                <a:solidFill>
                  <a:srgbClr val="1F2937"/>
                </a:solidFill>
                <a:latin typeface="Calibri"/>
              </a:rPr>
              <a:t>▸  Rivojlanishning barcha bosqichlarida embrion insoniy qadriyatlarni saqlaydi va ularning tashuvchisi hisoblanadi. Shuning uchun unga alohida axloqiy yondashuv kerak.</a:t>
            </a:r>
          </a:p>
          <a:p>
            <a:pPr>
              <a:spcAft>
                <a:spcPts val="1200"/>
              </a:spcAft>
            </a:pPr>
            <a:r>
              <a:rPr sz="2200">
                <a:solidFill>
                  <a:srgbClr val="1F2937"/>
                </a:solidFill>
                <a:latin typeface="Calibri"/>
              </a:rPr>
              <a:t>▸  Diqqat: ‘‘potensial inson’’ ≠ ‘‘real shaxs’’. ‘‘Erkin tanlov’’ tarafdorlari shu sababli embrionga shaxs maqomini bermaydi.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 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Status tan olinmasa: ijtimoiy subyekt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Embrion va homilaning axloqiy statusi hamda yashash huquqi tan olinmasa, u ayol tanasining bir qismi bo‘lib qoladi.</a:t>
            </a:r>
          </a:p>
          <a:p>
            <a:pPr>
              <a:spcAft>
                <a:spcPts val="1200"/>
              </a:spcAft>
            </a:pPr>
            <a:r>
              <a:rPr sz="2200">
                <a:solidFill>
                  <a:srgbClr val="1F2937"/>
                </a:solidFill>
                <a:latin typeface="Calibri"/>
              </a:rPr>
              <a:t>▸  Unda uni axloqiy ziddiyatsiz va oqibatlarsiz, tibbiy ko‘rsatma yoki ayol xohishi bilan, chuvalchangsimon o‘simta (appendiks) kabi olib tashlash mumkin bo‘ladi.</a:t>
            </a:r>
          </a:p>
          <a:p>
            <a:pPr>
              <a:spcAft>
                <a:spcPts val="1200"/>
              </a:spcAft>
            </a:pPr>
            <a:r>
              <a:rPr sz="2200">
                <a:solidFill>
                  <a:srgbClr val="1F2937"/>
                </a:solidFill>
                <a:latin typeface="Calibri"/>
              </a:rPr>
              <a:t>▸  Shu sababli tug‘ilmagan tirik jonzot ayol tanasining qismi emas, axloqiy munosabatlarning ijtimoiy tan olingan subyekti sifatida ko‘riladi.</a:t>
            </a:r>
          </a:p>
          <a:p>
            <a:pPr>
              <a:spcAft>
                <a:spcPts val="1200"/>
              </a:spcAft>
            </a:pPr>
            <a:r>
              <a:rPr sz="2200">
                <a:solidFill>
                  <a:srgbClr val="1F2937"/>
                </a:solidFill>
                <a:latin typeface="Calibri"/>
              </a:rPr>
              <a:t>▸  Embrion va homilaning axloqiy statusini aniqlash homiladorlikni to‘xtatish masalasining yechimi bilan chambarchas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 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Diniy qarashlar: ruh tanaga kirishi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konfessiyalar abortga salbiy qaraydi, ammo istisno hollarda unga yo‘l qo‘yiladi.</a:t>
            </a:r>
          </a:p>
          <a:p>
            <a:pPr>
              <a:spcAft>
                <a:spcPts val="800"/>
              </a:spcAft>
            </a:pPr>
            <a:r>
              <a:rPr sz="1800">
                <a:solidFill>
                  <a:srgbClr val="1F2937"/>
                </a:solidFill>
                <a:latin typeface="Calibri"/>
              </a:rPr>
              <a:t>▸  Diniy nuqtai nazardan masala ruhning tanaga kirishi vaqti bilan bog‘lanadi.</a:t>
            </a:r>
          </a:p>
          <a:p>
            <a:pPr>
              <a:spcAft>
                <a:spcPts val="800"/>
              </a:spcAft>
            </a:pPr>
            <a:r>
              <a:rPr sz="1800">
                <a:solidFill>
                  <a:srgbClr val="1F2937"/>
                </a:solidFill>
                <a:latin typeface="Calibri"/>
              </a:rPr>
              <a:t>▸  Ikkinchi trimestrda (4-6 oy) reaksiya shakllanadi; shu sabab ayrimlar abortni birinchi trimestrda joiz deydi.</a:t>
            </a:r>
          </a:p>
        </p:txBody>
      </p:sp>
      <p:graphicFrame>
        <p:nvGraphicFramePr>
          <p:cNvPr id="9" name="Table 8"/>
          <p:cNvGraphicFramePr>
            <a:graphicFrameLocks noGrp="1"/>
          </p:cNvGraphicFramePr>
          <p:nvPr/>
        </p:nvGraphicFramePr>
        <p:xfrm>
          <a:off x="6263640" y="1463040"/>
          <a:ext cx="5287973" cy="1234440"/>
        </p:xfrm>
        <a:graphic>
          <a:graphicData uri="http://schemas.openxmlformats.org/drawingml/2006/table">
            <a:tbl>
              <a:tblPr firstRow="1" bandRow="1">
                <a:tableStyleId>{5C22544A-7EE6-4342-B048-85BDC9FD1C3A}</a:tableStyleId>
              </a:tblPr>
              <a:tblGrid>
                <a:gridCol w="1182836"/>
                <a:gridCol w="1669886"/>
                <a:gridCol w="2435251"/>
              </a:tblGrid>
              <a:tr h="411480">
                <a:tc>
                  <a:txBody>
                    <a:bodyPr/>
                    <a:lstStyle/>
                    <a:p>
                      <a:r>
                        <a:rPr sz="1300" b="1">
                          <a:solidFill>
                            <a:srgbClr val="FFFFFF"/>
                          </a:solidFill>
                        </a:rPr>
                        <a:t>Din/cherkov</a:t>
                      </a:r>
                    </a:p>
                  </a:txBody>
                  <a:tcPr marL="73152" marR="73152" marT="36576" marB="36576">
                    <a:solidFill>
                      <a:srgbClr val="0B1F3A"/>
                    </a:solidFill>
                  </a:tcPr>
                </a:tc>
                <a:tc>
                  <a:txBody>
                    <a:bodyPr/>
                    <a:lstStyle/>
                    <a:p>
                      <a:r>
                        <a:rPr sz="1300" b="1">
                          <a:solidFill>
                            <a:srgbClr val="FFFFFF"/>
                          </a:solidFill>
                        </a:rPr>
                        <a:t>Ruh kirishi</a:t>
                      </a:r>
                    </a:p>
                  </a:txBody>
                  <a:tcPr marL="73152" marR="73152" marT="36576" marB="36576">
                    <a:solidFill>
                      <a:srgbClr val="0B1F3A"/>
                    </a:solidFill>
                  </a:tcPr>
                </a:tc>
                <a:tc>
                  <a:txBody>
                    <a:bodyPr/>
                    <a:lstStyle/>
                    <a:p>
                      <a:r>
                        <a:rPr sz="1300" b="1">
                          <a:solidFill>
                            <a:srgbClr val="FFFFFF"/>
                          </a:solidFill>
                        </a:rPr>
                        <a:t>Istisno hol</a:t>
                      </a:r>
                    </a:p>
                  </a:txBody>
                  <a:tcPr marL="73152" marR="73152" marT="36576" marB="36576">
                    <a:solidFill>
                      <a:srgbClr val="0B1F3A"/>
                    </a:solidFill>
                  </a:tcPr>
                </a:tc>
              </a:tr>
              <a:tr h="411480">
                <a:tc>
                  <a:txBody>
                    <a:bodyPr/>
                    <a:lstStyle/>
                    <a:p>
                      <a:r>
                        <a:rPr sz="1200" b="0">
                          <a:solidFill>
                            <a:srgbClr val="1F2937"/>
                          </a:solidFill>
                        </a:rPr>
                        <a:t>Angliya cherkovi</a:t>
                      </a:r>
                    </a:p>
                  </a:txBody>
                  <a:tcPr marL="73152" marR="73152" marT="36576" marB="36576">
                    <a:solidFill>
                      <a:srgbClr val="E8EEF6"/>
                    </a:solidFill>
                  </a:tcPr>
                </a:tc>
                <a:tc>
                  <a:txBody>
                    <a:bodyPr/>
                    <a:lstStyle/>
                    <a:p>
                      <a:r>
                        <a:rPr sz="1200" b="0">
                          <a:solidFill>
                            <a:srgbClr val="1F2937"/>
                          </a:solidFill>
                        </a:rPr>
                        <a:t>Homiladorlikning 16-kuni</a:t>
                      </a:r>
                    </a:p>
                  </a:txBody>
                  <a:tcPr marL="73152" marR="73152" marT="36576" marB="36576">
                    <a:solidFill>
                      <a:srgbClr val="E8EEF6"/>
                    </a:solidFill>
                  </a:tcPr>
                </a:tc>
                <a:tc>
                  <a:txBody>
                    <a:bodyPr/>
                    <a:lstStyle/>
                    <a:p>
                      <a:r>
                        <a:rPr sz="1200" b="0">
                          <a:solidFill>
                            <a:srgbClr val="1F2937"/>
                          </a:solidFill>
                        </a:rPr>
                        <a:t>16-kungacha, shartlarga rioya bilan</a:t>
                      </a:r>
                    </a:p>
                  </a:txBody>
                  <a:tcPr marL="73152" marR="73152" marT="36576" marB="36576">
                    <a:solidFill>
                      <a:srgbClr val="E8EEF6"/>
                    </a:solidFill>
                  </a:tcPr>
                </a:tc>
              </a:tr>
              <a:tr h="411480">
                <a:tc>
                  <a:txBody>
                    <a:bodyPr/>
                    <a:lstStyle/>
                    <a:p>
                      <a:r>
                        <a:rPr sz="1200" b="0">
                          <a:solidFill>
                            <a:srgbClr val="1F2937"/>
                          </a:solidFill>
                        </a:rPr>
                        <a:t>Islom dini</a:t>
                      </a:r>
                    </a:p>
                  </a:txBody>
                  <a:tcPr marL="73152" marR="73152" marT="36576" marB="36576">
                    <a:solidFill>
                      <a:srgbClr val="FFFFFF"/>
                    </a:solidFill>
                  </a:tcPr>
                </a:tc>
                <a:tc>
                  <a:txBody>
                    <a:bodyPr/>
                    <a:lstStyle/>
                    <a:p>
                      <a:r>
                        <a:rPr sz="1200" b="0">
                          <a:solidFill>
                            <a:srgbClr val="1F2937"/>
                          </a:solidFill>
                        </a:rPr>
                        <a:t>4-oy</a:t>
                      </a:r>
                    </a:p>
                  </a:txBody>
                  <a:tcPr marL="73152" marR="73152" marT="36576" marB="36576">
                    <a:solidFill>
                      <a:srgbClr val="FFFFFF"/>
                    </a:solidFill>
                  </a:tcPr>
                </a:tc>
                <a:tc>
                  <a:txBody>
                    <a:bodyPr/>
                    <a:lstStyle/>
                    <a:p>
                      <a:r>
                        <a:rPr sz="1200" b="0">
                          <a:solidFill>
                            <a:srgbClr val="1F2937"/>
                          </a:solidFill>
                        </a:rPr>
                        <a:t>4-oygacha, shartlarga rioya bilan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Ruh kirishi muddati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maqomi: ikki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qarash: embrion shaxsdir va unga xos axloqiy maqomga ega.</a:t>
            </a:r>
          </a:p>
          <a:p>
            <a:pPr>
              <a:spcAft>
                <a:spcPts val="800"/>
              </a:spcAft>
            </a:pPr>
            <a:r>
              <a:rPr sz="1800">
                <a:solidFill>
                  <a:srgbClr val="1F2937"/>
                </a:solidFill>
                <a:latin typeface="Calibri"/>
              </a:rPr>
              <a:t>▸  Ikkinchi qarash: embrion tug‘ilguncha real emas, faqat potensial shaxs, shuning uchun shaxs maqomiga ega emas.</a:t>
            </a:r>
          </a:p>
          <a:p>
            <a:pPr>
              <a:spcAft>
                <a:spcPts val="800"/>
              </a:spcAft>
            </a:pPr>
            <a:r>
              <a:rPr sz="1800">
                <a:solidFill>
                  <a:srgbClr val="1F2937"/>
                </a:solidFill>
                <a:latin typeface="Calibri"/>
              </a:rPr>
              <a:t>▸  Diqqat: potensial shaxs ≠ ona tanasining bir qismi; embrion axloqiy munosabatning ijtimoiy tan olingan subyekti.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84712"/>
                <a:gridCol w="1898247"/>
                <a:gridCol w="2305014"/>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Shaxs</a:t>
                      </a:r>
                    </a:p>
                  </a:txBody>
                  <a:tcPr marL="73152" marR="73152" marT="36576" marB="36576">
                    <a:solidFill>
                      <a:srgbClr val="0B1F3A"/>
                    </a:solidFill>
                  </a:tcPr>
                </a:tc>
                <a:tc>
                  <a:txBody>
                    <a:bodyPr/>
                    <a:lstStyle/>
                    <a:p>
                      <a:r>
                        <a:rPr sz="1300" b="1">
                          <a:solidFill>
                            <a:srgbClr val="FFFFFF"/>
                          </a:solidFill>
                        </a:rPr>
                        <a:t>Potensial</a:t>
                      </a:r>
                    </a:p>
                  </a:txBody>
                  <a:tcPr marL="73152" marR="73152" marT="36576" marB="36576">
                    <a:solidFill>
                      <a:srgbClr val="0B1F3A"/>
                    </a:solidFill>
                  </a:tcPr>
                </a:tc>
              </a:tr>
              <a:tr h="411480">
                <a:tc>
                  <a:txBody>
                    <a:bodyPr/>
                    <a:lstStyle/>
                    <a:p>
                      <a:r>
                        <a:rPr sz="1200" b="0">
                          <a:solidFill>
                            <a:srgbClr val="1F2937"/>
                          </a:solidFill>
                        </a:rPr>
                        <a:t>Tarafdorlar</a:t>
                      </a:r>
                    </a:p>
                  </a:txBody>
                  <a:tcPr marL="73152" marR="73152" marT="36576" marB="36576">
                    <a:solidFill>
                      <a:srgbClr val="E8EEF6"/>
                    </a:solidFill>
                  </a:tcPr>
                </a:tc>
                <a:tc>
                  <a:txBody>
                    <a:bodyPr/>
                    <a:lstStyle/>
                    <a:p>
                      <a:r>
                        <a:rPr sz="1200" b="0">
                          <a:solidFill>
                            <a:srgbClr val="1F2937"/>
                          </a:solidFill>
                        </a:rPr>
                        <a:t>Hayotni saqlash tarafdorlari</a:t>
                      </a:r>
                    </a:p>
                  </a:txBody>
                  <a:tcPr marL="73152" marR="73152" marT="36576" marB="36576">
                    <a:solidFill>
                      <a:srgbClr val="E8EEF6"/>
                    </a:solidFill>
                  </a:tcPr>
                </a:tc>
                <a:tc>
                  <a:txBody>
                    <a:bodyPr/>
                    <a:lstStyle/>
                    <a:p>
                      <a:r>
                        <a:rPr sz="1200" b="0">
                          <a:solidFill>
                            <a:srgbClr val="1F2937"/>
                          </a:solidFill>
                        </a:rPr>
                        <a:t>‘‘Erkin tanlov’’ tarafdorlari</a:t>
                      </a:r>
                    </a:p>
                  </a:txBody>
                  <a:tcPr marL="73152" marR="73152" marT="36576" marB="36576">
                    <a:solidFill>
                      <a:srgbClr val="E8EEF6"/>
                    </a:solidFill>
                  </a:tcPr>
                </a:tc>
              </a:tr>
              <a:tr h="411480">
                <a:tc>
                  <a:txBody>
                    <a:bodyPr/>
                    <a:lstStyle/>
                    <a:p>
                      <a:r>
                        <a:rPr sz="1200" b="0">
                          <a:solidFill>
                            <a:srgbClr val="1F2937"/>
                          </a:solidFill>
                        </a:rPr>
                        <a:t>Embrion kim?</a:t>
                      </a:r>
                    </a:p>
                  </a:txBody>
                  <a:tcPr marL="73152" marR="73152" marT="36576" marB="36576">
                    <a:solidFill>
                      <a:srgbClr val="FFFFFF"/>
                    </a:solidFill>
                  </a:tcPr>
                </a:tc>
                <a:tc>
                  <a:txBody>
                    <a:bodyPr/>
                    <a:lstStyle/>
                    <a:p>
                      <a:r>
                        <a:rPr sz="1200" b="0">
                          <a:solidFill>
                            <a:srgbClr val="1F2937"/>
                          </a:solidFill>
                        </a:rPr>
                        <a:t>Haqiqiy shaxs</a:t>
                      </a:r>
                    </a:p>
                  </a:txBody>
                  <a:tcPr marL="73152" marR="73152" marT="36576" marB="36576">
                    <a:solidFill>
                      <a:srgbClr val="FFFFFF"/>
                    </a:solidFill>
                  </a:tcPr>
                </a:tc>
                <a:tc>
                  <a:txBody>
                    <a:bodyPr/>
                    <a:lstStyle/>
                    <a:p>
                      <a:r>
                        <a:rPr sz="1200" b="0">
                          <a:solidFill>
                            <a:srgbClr val="1F2937"/>
                          </a:solidFill>
                        </a:rPr>
                        <a:t>Tug‘ilguncha faqat potensial shaxs</a:t>
                      </a:r>
                    </a:p>
                  </a:txBody>
                  <a:tcPr marL="73152" marR="73152" marT="36576" marB="36576">
                    <a:solidFill>
                      <a:srgbClr val="FFFFFF"/>
                    </a:solidFill>
                  </a:tcPr>
                </a:tc>
              </a:tr>
              <a:tr h="411480">
                <a:tc>
                  <a:txBody>
                    <a:bodyPr/>
                    <a:lstStyle/>
                    <a:p>
                      <a:r>
                        <a:rPr sz="1200" b="0">
                          <a:solidFill>
                            <a:srgbClr val="1F2937"/>
                          </a:solidFill>
                        </a:rPr>
                        <a:t>Axloqiy maqom</a:t>
                      </a:r>
                    </a:p>
                  </a:txBody>
                  <a:tcPr marL="73152" marR="73152" marT="36576" marB="36576">
                    <a:solidFill>
                      <a:srgbClr val="E8EEF6"/>
                    </a:solidFill>
                  </a:tcPr>
                </a:tc>
                <a:tc>
                  <a:txBody>
                    <a:bodyPr/>
                    <a:lstStyle/>
                    <a:p>
                      <a:r>
                        <a:rPr sz="1200" b="0">
                          <a:solidFill>
                            <a:srgbClr val="1F2937"/>
                          </a:solidFill>
                        </a:rPr>
                        <a:t>Shaxsga xos maqomga ega</a:t>
                      </a:r>
                    </a:p>
                  </a:txBody>
                  <a:tcPr marL="73152" marR="73152" marT="36576" marB="36576">
                    <a:solidFill>
                      <a:srgbClr val="E8EEF6"/>
                    </a:solidFill>
                  </a:tcPr>
                </a:tc>
                <a:tc>
                  <a:txBody>
                    <a:bodyPr/>
                    <a:lstStyle/>
                    <a:p>
                      <a:r>
                        <a:rPr sz="1200" b="0">
                          <a:solidFill>
                            <a:srgbClr val="1F2937"/>
                          </a:solidFill>
                        </a:rPr>
                        <a:t>Shaxsga xos maqomga ega emas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qarashni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embrion va ayol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 homiladorlikning dastlabki oylarida abort so‘ramoqda. Qaror embrionga qanday maqom berilishiga bog‘liq.</a:t>
            </a:r>
          </a:p>
          <a:p>
            <a:pPr>
              <a:spcAft>
                <a:spcPts val="1200"/>
              </a:spcAft>
            </a:pPr>
            <a:r>
              <a:rPr sz="2200">
                <a:solidFill>
                  <a:srgbClr val="1F2937"/>
                </a:solidFill>
                <a:latin typeface="Calibri"/>
              </a:rPr>
              <a:t>▸  Maqom tan olinmasa, embrion ayol tanasining bir qismi bo‘lib qoladi va uni axloqiy ziddiyatsiz olib tashlash mumkin bo‘ladi. (?)</a:t>
            </a:r>
          </a:p>
          <a:p>
            <a:pPr>
              <a:spcAft>
                <a:spcPts val="1200"/>
              </a:spcAft>
            </a:pPr>
            <a:r>
              <a:rPr sz="2200">
                <a:solidFill>
                  <a:srgbClr val="1F2937"/>
                </a:solidFill>
                <a:latin typeface="Calibri"/>
              </a:rPr>
              <a:t>▸  Maqom tan olinsa, embrion axloqiy munosabatning ijtimoiy tan olingan subyekti sanaladi va unga alohida axloqiy yondashuv kerak bo‘ladi.</a:t>
            </a:r>
          </a:p>
          <a:p>
            <a:pPr>
              <a:spcAft>
                <a:spcPts val="1200"/>
              </a:spcAft>
            </a:pPr>
            <a:r>
              <a:rPr sz="2200">
                <a:solidFill>
                  <a:srgbClr val="1F2937"/>
                </a:solidFill>
                <a:latin typeface="Calibri"/>
              </a:rPr>
              <a:t>▸  Savol: trimestrlar (ikkinchi trimestrda reaksiya shakllanishi) va diniy muddatlar (16-kun, 4-oy) qarorga qanday ta’sir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86-87, 86, 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embrion maqomi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embrionning ontologik statusi nima? Javob: u o‘ziga xos status egasi, ya’ni potensial inson.</a:t>
            </a:r>
          </a:p>
          <a:p>
            <a:pPr>
              <a:spcAft>
                <a:spcPts val="1200"/>
              </a:spcAft>
            </a:pPr>
            <a:r>
              <a:rPr sz="2200">
                <a:solidFill>
                  <a:srgbClr val="1F2937"/>
                </a:solidFill>
                <a:latin typeface="Calibri"/>
              </a:rPr>
              <a:t>▸  Homiladorlik muddati oshgani sari embrion haqiqiy inson maqomiga yaqinlashadi. Barcha bosqichda u insoniy qadriyatlar tashuvchisi hisoblanadi.</a:t>
            </a:r>
          </a:p>
          <a:p>
            <a:pPr>
              <a:spcAft>
                <a:spcPts val="1200"/>
              </a:spcAft>
            </a:pPr>
            <a:r>
              <a:rPr sz="2200">
                <a:solidFill>
                  <a:srgbClr val="1F2937"/>
                </a:solidFill>
                <a:latin typeface="Calibri"/>
              </a:rPr>
              <a:t>▸  Ruh kirishi muddati: Angliya cherkovi bo‘yicha homiladorlikning 16-kuni, islom dini bo‘yicha 4-oy.</a:t>
            </a:r>
          </a:p>
          <a:p>
            <a:pPr>
              <a:spcAft>
                <a:spcPts val="1200"/>
              </a:spcAft>
            </a:pPr>
            <a:r>
              <a:rPr sz="2200">
                <a:solidFill>
                  <a:srgbClr val="1F2937"/>
                </a:solidFill>
                <a:latin typeface="Calibri"/>
              </a:rPr>
              <a:t>▸  Diqqat: embrion ≠ ayol tanasining shunchaki qismi. U axloqiy munosabatlarning ijtimoiy tan olingan subyekti sifatida qaraladi.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86, 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tarixi: qadimgi davrdan XVIII asrgacha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Aristotel abortni demografik maqsadda mumkin degan. Uni sezuvchanlik va harakat shakllanishidan oldin o‘tkazish kerak degan. (?)</a:t>
            </a:r>
          </a:p>
          <a:p>
            <a:pPr>
              <a:spcAft>
                <a:spcPts val="800"/>
              </a:spcAft>
            </a:pPr>
            <a:r>
              <a:rPr sz="1800">
                <a:solidFill>
                  <a:srgbClr val="1F2937"/>
                </a:solidFill>
                <a:latin typeface="Calibri"/>
              </a:rPr>
              <a:t>▸  1649 yilda ham o‘lim jazosi belgilangan; 1784 yilgi qoida OCR matnida o‘qilmaydi. (?)</a:t>
            </a:r>
          </a:p>
          <a:p>
            <a:pPr>
              <a:spcAft>
                <a:spcPts val="800"/>
              </a:spcAft>
            </a:pPr>
            <a:r>
              <a:rPr sz="1800">
                <a:solidFill>
                  <a:srgbClr val="1F2937"/>
                </a:solidFill>
                <a:latin typeface="Calibri"/>
              </a:rPr>
              <a:t>▸  Maksimovich-Ambodik: tanqidiy holatda ona hayotini saqlash uchun homilani tushirish zarur.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Gippokrat: qat‘iy taqiq</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Aristotel: demografik asos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Qadimgi Rim: ona tanasi qismi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Xristianlik: qotillikka teng</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XVI asr: o‘lim jazosi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 qadimgidan XVI asrgacha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87, 88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tarixi: XIX asr va XX asr boshi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Amerika tibbiyot assotsiatsiyasi tashabbusi bilan AQShda taqiq; ayol hayoti xavfda bo‘lsagina ruxsat.</a:t>
            </a:r>
          </a:p>
          <a:p>
            <a:pPr>
              <a:spcAft>
                <a:spcPts val="800"/>
              </a:spcAft>
            </a:pPr>
            <a:r>
              <a:rPr sz="1800">
                <a:solidFill>
                  <a:srgbClr val="1F2937"/>
                </a:solidFill>
                <a:latin typeface="Calibri"/>
              </a:rPr>
              <a:t>▸  XX asrdagi munozarada feministik harakat asosiy o‘rin tutdi: ayol huquqlari va jinsiy axloq masalalari.</a:t>
            </a:r>
          </a:p>
          <a:p>
            <a:pPr>
              <a:spcAft>
                <a:spcPts val="800"/>
              </a:spcAft>
            </a:pPr>
            <a:r>
              <a:rPr sz="1800">
                <a:solidFill>
                  <a:srgbClr val="1F2937"/>
                </a:solidFill>
                <a:latin typeface="Calibri"/>
              </a:rPr>
              <a:t>▸  Sanger “tug‘ilishni nazorat qilish” tushunchasini kiritgan; keyin u evgenik g‘oyalar ma’nosida ham ishlatilgan.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Yil</a:t>
                      </a:r>
                    </a:p>
                  </a:txBody>
                  <a:tcPr marL="73152" marR="73152" marT="36576" marB="36576">
                    <a:solidFill>
                      <a:srgbClr val="0B1F3A"/>
                    </a:solidFill>
                  </a:tcPr>
                </a:tc>
                <a:tc>
                  <a:txBody>
                    <a:bodyPr/>
                    <a:lstStyle/>
                    <a:p>
                      <a:r>
                        <a:rPr sz="1400" b="1">
                          <a:solidFill>
                            <a:srgbClr val="FFFFFF"/>
                          </a:solidFill>
                        </a:rPr>
                        <a:t>Voqea</a:t>
                      </a:r>
                    </a:p>
                  </a:txBody>
                  <a:tcPr marL="73152" marR="73152" marT="36576" marB="36576">
                    <a:solidFill>
                      <a:srgbClr val="0B1F3A"/>
                    </a:solidFill>
                  </a:tcPr>
                </a:tc>
              </a:tr>
              <a:tr h="411480">
                <a:tc>
                  <a:txBody>
                    <a:bodyPr/>
                    <a:lstStyle/>
                    <a:p>
                      <a:r>
                        <a:rPr sz="1300" b="0">
                          <a:solidFill>
                            <a:srgbClr val="1F2937"/>
                          </a:solidFill>
                        </a:rPr>
                        <a:t>1852</a:t>
                      </a:r>
                    </a:p>
                  </a:txBody>
                  <a:tcPr marL="73152" marR="73152" marT="36576" marB="36576">
                    <a:solidFill>
                      <a:srgbClr val="E8EEF6"/>
                    </a:solidFill>
                  </a:tcPr>
                </a:tc>
                <a:tc>
                  <a:txBody>
                    <a:bodyPr/>
                    <a:lstStyle/>
                    <a:p>
                      <a:r>
                        <a:rPr sz="1300" b="0">
                          <a:solidFill>
                            <a:srgbClr val="1F2937"/>
                          </a:solidFill>
                        </a:rPr>
                        <a:t>Parij: tibbiy ko‘rsatma bilan abort mumkin</a:t>
                      </a:r>
                    </a:p>
                  </a:txBody>
                  <a:tcPr marL="73152" marR="73152" marT="36576" marB="36576">
                    <a:solidFill>
                      <a:srgbClr val="E8EEF6"/>
                    </a:solidFill>
                  </a:tcPr>
                </a:tc>
              </a:tr>
              <a:tr h="411480">
                <a:tc>
                  <a:txBody>
                    <a:bodyPr/>
                    <a:lstStyle/>
                    <a:p>
                      <a:r>
                        <a:rPr sz="1300" b="0">
                          <a:solidFill>
                            <a:srgbClr val="1F2937"/>
                          </a:solidFill>
                        </a:rPr>
                        <a:t>1869</a:t>
                      </a:r>
                    </a:p>
                  </a:txBody>
                  <a:tcPr marL="73152" marR="73152" marT="36576" marB="36576">
                    <a:solidFill>
                      <a:srgbClr val="FFFFFF"/>
                    </a:solidFill>
                  </a:tcPr>
                </a:tc>
                <a:tc>
                  <a:txBody>
                    <a:bodyPr/>
                    <a:lstStyle/>
                    <a:p>
                      <a:r>
                        <a:rPr sz="1300" b="0">
                          <a:solidFill>
                            <a:srgbClr val="1F2937"/>
                          </a:solidFill>
                        </a:rPr>
                        <a:t>Britaniya Akti: erta abort og‘ir jinoyat</a:t>
                      </a:r>
                    </a:p>
                  </a:txBody>
                  <a:tcPr marL="73152" marR="73152" marT="36576" marB="36576">
                    <a:solidFill>
                      <a:srgbClr val="FFFFFF"/>
                    </a:solidFill>
                  </a:tcPr>
                </a:tc>
              </a:tr>
              <a:tr h="411480">
                <a:tc>
                  <a:txBody>
                    <a:bodyPr/>
                    <a:lstStyle/>
                    <a:p>
                      <a:r>
                        <a:rPr sz="1300" b="0">
                          <a:solidFill>
                            <a:srgbClr val="1F2937"/>
                          </a:solidFill>
                        </a:rPr>
                        <a:t>1880</a:t>
                      </a:r>
                    </a:p>
                  </a:txBody>
                  <a:tcPr marL="73152" marR="73152" marT="36576" marB="36576">
                    <a:solidFill>
                      <a:srgbClr val="E8EEF6"/>
                    </a:solidFill>
                  </a:tcPr>
                </a:tc>
                <a:tc>
                  <a:txBody>
                    <a:bodyPr/>
                    <a:lstStyle/>
                    <a:p>
                      <a:r>
                        <a:rPr sz="1300" b="0">
                          <a:solidFill>
                            <a:srgbClr val="1F2937"/>
                          </a:solidFill>
                        </a:rPr>
                        <a:t>AQSh: taqiq; ayol hayoti xavfda — ruxsat</a:t>
                      </a:r>
                    </a:p>
                  </a:txBody>
                  <a:tcPr marL="73152" marR="73152" marT="36576" marB="36576">
                    <a:solidFill>
                      <a:srgbClr val="E8EEF6"/>
                    </a:solidFill>
                  </a:tcPr>
                </a:tc>
              </a:tr>
              <a:tr h="411480">
                <a:tc>
                  <a:txBody>
                    <a:bodyPr/>
                    <a:lstStyle/>
                    <a:p>
                      <a:r>
                        <a:rPr sz="1300" b="0">
                          <a:solidFill>
                            <a:srgbClr val="1F2937"/>
                          </a:solidFill>
                        </a:rPr>
                        <a:t>XX asr</a:t>
                      </a:r>
                    </a:p>
                  </a:txBody>
                  <a:tcPr marL="73152" marR="73152" marT="36576" marB="36576">
                    <a:solidFill>
                      <a:srgbClr val="FFFFFF"/>
                    </a:solidFill>
                  </a:tcPr>
                </a:tc>
                <a:tc>
                  <a:txBody>
                    <a:bodyPr/>
                    <a:lstStyle/>
                    <a:p>
                      <a:r>
                        <a:rPr sz="1300" b="0">
                          <a:solidFill>
                            <a:srgbClr val="1F2937"/>
                          </a:solidFill>
                        </a:rPr>
                        <a:t>Sanger: “tug‘ilishni nazorat qilish”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XIX–XX asr boshi voqealari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Sobiq ittifoq va Argentina tajribasi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1920 yilda jinoiy abortlarning oldini olish uchun ruxsat berilgan; dastlabki muddatda shifoxonada bepul.</a:t>
            </a:r>
          </a:p>
          <a:p>
            <a:pPr>
              <a:spcAft>
                <a:spcPts val="800"/>
              </a:spcAft>
            </a:pPr>
            <a:r>
              <a:rPr sz="1800">
                <a:solidFill>
                  <a:srgbClr val="1F2937"/>
                </a:solidFill>
                <a:latin typeface="Calibri"/>
              </a:rPr>
              <a:t>▸  Urush, ocharchilik va kasalliklar sabab taqiq kiritilgan; u 1955 yilda bekor qilingan.</a:t>
            </a:r>
          </a:p>
          <a:p>
            <a:pPr>
              <a:spcAft>
                <a:spcPts val="800"/>
              </a:spcAft>
            </a:pPr>
            <a:r>
              <a:rPr sz="1800">
                <a:solidFill>
                  <a:srgbClr val="1F2937"/>
                </a:solidFill>
                <a:latin typeface="Calibri"/>
              </a:rPr>
              <a:t>▸  Argentina: 2020 yil dekabrda 14 haftagacha ayol xohishiga ko‘ra abort ruxsat etildi.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26758"/>
                <a:gridCol w="2180608"/>
                <a:gridCol w="2180608"/>
              </a:tblGrid>
              <a:tr h="411480">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Sobiq ittifoq</a:t>
                      </a:r>
                    </a:p>
                  </a:txBody>
                  <a:tcPr marL="73152" marR="73152" marT="36576" marB="36576">
                    <a:solidFill>
                      <a:srgbClr val="0B1F3A"/>
                    </a:solidFill>
                  </a:tcPr>
                </a:tc>
                <a:tc>
                  <a:txBody>
                    <a:bodyPr/>
                    <a:lstStyle/>
                    <a:p>
                      <a:r>
                        <a:rPr sz="1300" b="1">
                          <a:solidFill>
                            <a:srgbClr val="FFFFFF"/>
                          </a:solidFill>
                        </a:rPr>
                        <a:t>Argentina</a:t>
                      </a:r>
                    </a:p>
                  </a:txBody>
                  <a:tcPr marL="73152" marR="73152" marT="36576" marB="36576">
                    <a:solidFill>
                      <a:srgbClr val="0B1F3A"/>
                    </a:solidFill>
                  </a:tcPr>
                </a:tc>
              </a:tr>
              <a:tr h="411480">
                <a:tc>
                  <a:txBody>
                    <a:bodyPr/>
                    <a:lstStyle/>
                    <a:p>
                      <a:r>
                        <a:rPr sz="1200" b="0">
                          <a:solidFill>
                            <a:srgbClr val="1F2937"/>
                          </a:solidFill>
                        </a:rPr>
                        <a:t>Ruxsat muddati</a:t>
                      </a:r>
                    </a:p>
                  </a:txBody>
                  <a:tcPr marL="73152" marR="73152" marT="36576" marB="36576">
                    <a:solidFill>
                      <a:srgbClr val="E8EEF6"/>
                    </a:solidFill>
                  </a:tcPr>
                </a:tc>
                <a:tc>
                  <a:txBody>
                    <a:bodyPr/>
                    <a:lstStyle/>
                    <a:p>
                      <a:r>
                        <a:rPr sz="1200" b="0">
                          <a:solidFill>
                            <a:srgbClr val="1F2937"/>
                          </a:solidFill>
                        </a:rPr>
                        <a:t>12 haftagacha (1955 yildan)</a:t>
                      </a:r>
                    </a:p>
                  </a:txBody>
                  <a:tcPr marL="73152" marR="73152" marT="36576" marB="36576">
                    <a:solidFill>
                      <a:srgbClr val="E8EEF6"/>
                    </a:solidFill>
                  </a:tcPr>
                </a:tc>
                <a:tc>
                  <a:txBody>
                    <a:bodyPr/>
                    <a:lstStyle/>
                    <a:p>
                      <a:r>
                        <a:rPr sz="1200" b="0">
                          <a:solidFill>
                            <a:srgbClr val="1F2937"/>
                          </a:solidFill>
                        </a:rPr>
                        <a:t>14 haftagacha (2020)</a:t>
                      </a:r>
                    </a:p>
                  </a:txBody>
                  <a:tcPr marL="73152" marR="73152" marT="36576" marB="36576">
                    <a:solidFill>
                      <a:srgbClr val="E8EEF6"/>
                    </a:solidFill>
                  </a:tcPr>
                </a:tc>
              </a:tr>
              <a:tr h="411480">
                <a:tc>
                  <a:txBody>
                    <a:bodyPr/>
                    <a:lstStyle/>
                    <a:p>
                      <a:r>
                        <a:rPr sz="1200" b="0">
                          <a:solidFill>
                            <a:srgbClr val="1F2937"/>
                          </a:solidFill>
                        </a:rPr>
                        <a:t>Avvalgi holat</a:t>
                      </a:r>
                    </a:p>
                  </a:txBody>
                  <a:tcPr marL="73152" marR="73152" marT="36576" marB="36576">
                    <a:solidFill>
                      <a:srgbClr val="FFFFFF"/>
                    </a:solidFill>
                  </a:tcPr>
                </a:tc>
                <a:tc>
                  <a:txBody>
                    <a:bodyPr/>
                    <a:lstStyle/>
                    <a:p>
                      <a:r>
                        <a:rPr sz="1200" b="0">
                          <a:solidFill>
                            <a:srgbClr val="1F2937"/>
                          </a:solidFill>
                        </a:rPr>
                        <a:t>1920 ruxsat, so‘ng taqiq</a:t>
                      </a:r>
                    </a:p>
                  </a:txBody>
                  <a:tcPr marL="73152" marR="73152" marT="36576" marB="36576">
                    <a:solidFill>
                      <a:srgbClr val="FFFFFF"/>
                    </a:solidFill>
                  </a:tcPr>
                </a:tc>
                <a:tc>
                  <a:txBody>
                    <a:bodyPr/>
                    <a:lstStyle/>
                    <a:p>
                      <a:r>
                        <a:rPr sz="1200" b="0">
                          <a:solidFill>
                            <a:srgbClr val="1F2937"/>
                          </a:solidFill>
                        </a:rPr>
                        <a:t>Faqat zo‘rlash, hayot xavfi</a:t>
                      </a:r>
                    </a:p>
                  </a:txBody>
                  <a:tcPr marL="73152" marR="73152" marT="36576" marB="36576">
                    <a:solidFill>
                      <a:srgbClr val="FFFFFF"/>
                    </a:solidFill>
                  </a:tcPr>
                </a:tc>
              </a:tr>
              <a:tr h="411480">
                <a:tc>
                  <a:txBody>
                    <a:bodyPr/>
                    <a:lstStyle/>
                    <a:p>
                      <a:r>
                        <a:rPr sz="1200" b="0">
                          <a:solidFill>
                            <a:srgbClr val="1F2937"/>
                          </a:solidFill>
                        </a:rPr>
                        <a:t>Statistika</a:t>
                      </a:r>
                    </a:p>
                  </a:txBody>
                  <a:tcPr marL="73152" marR="73152" marT="36576" marB="36576">
                    <a:solidFill>
                      <a:srgbClr val="E8EEF6"/>
                    </a:solidFill>
                  </a:tcPr>
                </a:tc>
                <a:tc>
                  <a:txBody>
                    <a:bodyPr/>
                    <a:lstStyle/>
                    <a:p>
                      <a:r>
                        <a:rPr sz="1200" b="0">
                          <a:solidFill>
                            <a:srgbClr val="1F2937"/>
                          </a:solidFill>
                        </a:rPr>
                        <a:t>1000 ta 15-49 yoshli ayolga 100-120 abort</a:t>
                      </a:r>
                    </a:p>
                  </a:txBody>
                  <a:tcPr marL="73152" marR="73152" marT="36576" marB="36576">
                    <a:solidFill>
                      <a:srgbClr val="E8EEF6"/>
                    </a:solidFill>
                  </a:tcPr>
                </a:tc>
                <a:tc>
                  <a:txBody>
                    <a:bodyPr/>
                    <a:lstStyle/>
                    <a:p>
                      <a:r>
                        <a:rPr sz="1200" b="0">
                          <a:solidFill>
                            <a:srgbClr val="1F2937"/>
                          </a:solidFill>
                        </a:rPr>
                        <a:t>Yiliga 350 mingdan ortiq noqonuniy abort</a:t>
                      </a:r>
                    </a:p>
                  </a:txBody>
                  <a:tcPr marL="73152" marR="73152" marT="36576" marB="36576">
                    <a:solidFill>
                      <a:srgbClr val="E8EEF6"/>
                    </a:solidFill>
                  </a:tcPr>
                </a:tc>
              </a:tr>
              <a:tr h="411480">
                <a:tc>
                  <a:txBody>
                    <a:bodyPr/>
                    <a:lstStyle/>
                    <a:p>
                      <a:r>
                        <a:rPr sz="1200" b="0">
                          <a:solidFill>
                            <a:srgbClr val="1F2937"/>
                          </a:solidFill>
                        </a:rPr>
                        <a:t>Asoratdan o‘lim</a:t>
                      </a:r>
                    </a:p>
                  </a:txBody>
                  <a:tcPr marL="73152" marR="73152" marT="36576" marB="36576">
                    <a:solidFill>
                      <a:srgbClr val="FFFFFF"/>
                    </a:solidFill>
                  </a:tcPr>
                </a:tc>
                <a:tc>
                  <a:txBody>
                    <a:bodyPr/>
                    <a:lstStyle/>
                    <a:p>
                      <a:r>
                        <a:rPr sz="1200" b="0">
                          <a:solidFill>
                            <a:srgbClr val="1F2937"/>
                          </a:solidFill>
                        </a:rPr>
                        <a:t>Manbada keltirilmagan</a:t>
                      </a:r>
                    </a:p>
                  </a:txBody>
                  <a:tcPr marL="73152" marR="73152" marT="36576" marB="36576">
                    <a:solidFill>
                      <a:srgbClr val="FFFFFF"/>
                    </a:solidFill>
                  </a:tcPr>
                </a:tc>
                <a:tc>
                  <a:txBody>
                    <a:bodyPr/>
                    <a:lstStyle/>
                    <a:p>
                      <a:r>
                        <a:rPr sz="1200" b="0">
                          <a:solidFill>
                            <a:srgbClr val="1F2937"/>
                          </a:solidFill>
                        </a:rPr>
                        <a:t>1983 yildan 3 mingdan ortiq ayol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tajriba taqqoslanishi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88, 88-89, 89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liberal va konservativ pozitsiyalar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Liberal: ayol o‘z tanasining xo‘jayini, embrion shaxs emas; tibbiy ko‘rsatmada ayol hayoti saqlanadi.</a:t>
            </a:r>
          </a:p>
          <a:p>
            <a:pPr>
              <a:spcAft>
                <a:spcPts val="800"/>
              </a:spcAft>
            </a:pPr>
            <a:r>
              <a:rPr sz="1800">
                <a:solidFill>
                  <a:srgbClr val="1F2937"/>
                </a:solidFill>
                <a:latin typeface="Calibri"/>
              </a:rPr>
              <a:t>▸  Konservativ: JSST bo‘yicha yiliga taxminan 70 ming ayol abort asoratidan vafot etadi. (?)</a:t>
            </a:r>
          </a:p>
          <a:p>
            <a:pPr>
              <a:spcAft>
                <a:spcPts val="800"/>
              </a:spcAft>
            </a:pPr>
            <a:r>
              <a:rPr sz="1800">
                <a:solidFill>
                  <a:srgbClr val="1F2937"/>
                </a:solidFill>
                <a:latin typeface="Calibri"/>
              </a:rPr>
              <a:t>▸  Konservativ: homila og‘riqni his qiladi, shuning uchun abort qotillik; asosiy savol – hayotga layoqat. (?)</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44229"/>
                <a:gridCol w="1944108"/>
                <a:gridCol w="2099637"/>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Liberal</a:t>
                      </a:r>
                    </a:p>
                  </a:txBody>
                  <a:tcPr marL="73152" marR="73152" marT="36576" marB="36576">
                    <a:solidFill>
                      <a:srgbClr val="0B1F3A"/>
                    </a:solidFill>
                  </a:tcPr>
                </a:tc>
                <a:tc>
                  <a:txBody>
                    <a:bodyPr/>
                    <a:lstStyle/>
                    <a:p>
                      <a:r>
                        <a:rPr sz="1300" b="1">
                          <a:solidFill>
                            <a:srgbClr val="FFFFFF"/>
                          </a:solidFill>
                        </a:rPr>
                        <a:t>Konservativ</a:t>
                      </a:r>
                    </a:p>
                  </a:txBody>
                  <a:tcPr marL="73152" marR="73152" marT="36576" marB="36576">
                    <a:solidFill>
                      <a:srgbClr val="0B1F3A"/>
                    </a:solidFill>
                  </a:tcPr>
                </a:tc>
              </a:tr>
              <a:tr h="411480">
                <a:tc>
                  <a:txBody>
                    <a:bodyPr/>
                    <a:lstStyle/>
                    <a:p>
                      <a:r>
                        <a:rPr sz="1200" b="0">
                          <a:solidFill>
                            <a:srgbClr val="1F2937"/>
                          </a:solidFill>
                        </a:rPr>
                        <a:t>Embrion maqomi</a:t>
                      </a:r>
                    </a:p>
                  </a:txBody>
                  <a:tcPr marL="73152" marR="73152" marT="36576" marB="36576">
                    <a:solidFill>
                      <a:srgbClr val="E8EEF6"/>
                    </a:solidFill>
                  </a:tcPr>
                </a:tc>
                <a:tc>
                  <a:txBody>
                    <a:bodyPr/>
                    <a:lstStyle/>
                    <a:p>
                      <a:r>
                        <a:rPr sz="1200" b="0">
                          <a:solidFill>
                            <a:srgbClr val="1F2937"/>
                          </a:solidFill>
                        </a:rPr>
                        <a:t>Ayol tanasining bir qismi</a:t>
                      </a:r>
                    </a:p>
                  </a:txBody>
                  <a:tcPr marL="73152" marR="73152" marT="36576" marB="36576">
                    <a:solidFill>
                      <a:srgbClr val="E8EEF6"/>
                    </a:solidFill>
                  </a:tcPr>
                </a:tc>
                <a:tc>
                  <a:txBody>
                    <a:bodyPr/>
                    <a:lstStyle/>
                    <a:p>
                      <a:r>
                        <a:rPr sz="1200" b="0">
                          <a:solidFill>
                            <a:srgbClr val="1F2937"/>
                          </a:solidFill>
                        </a:rPr>
                        <a:t>Shaxs maqomiga ega</a:t>
                      </a:r>
                    </a:p>
                  </a:txBody>
                  <a:tcPr marL="73152" marR="73152" marT="36576" marB="36576">
                    <a:solidFill>
                      <a:srgbClr val="E8EEF6"/>
                    </a:solidFill>
                  </a:tcPr>
                </a:tc>
              </a:tr>
              <a:tr h="411480">
                <a:tc>
                  <a:txBody>
                    <a:bodyPr/>
                    <a:lstStyle/>
                    <a:p>
                      <a:r>
                        <a:rPr sz="1200" b="0">
                          <a:solidFill>
                            <a:srgbClr val="1F2937"/>
                          </a:solidFill>
                        </a:rPr>
                        <a:t>Asosiy dalil</a:t>
                      </a:r>
                    </a:p>
                  </a:txBody>
                  <a:tcPr marL="73152" marR="73152" marT="36576" marB="36576">
                    <a:solidFill>
                      <a:srgbClr val="FFFFFF"/>
                    </a:solidFill>
                  </a:tcPr>
                </a:tc>
                <a:tc>
                  <a:txBody>
                    <a:bodyPr/>
                    <a:lstStyle/>
                    <a:p>
                      <a:r>
                        <a:rPr sz="1200" b="0">
                          <a:solidFill>
                            <a:srgbClr val="1F2937"/>
                          </a:solidFill>
                        </a:rPr>
                        <a:t>Ayol avtonomiyasi</a:t>
                      </a:r>
                    </a:p>
                  </a:txBody>
                  <a:tcPr marL="73152" marR="73152" marT="36576" marB="36576">
                    <a:solidFill>
                      <a:srgbClr val="FFFFFF"/>
                    </a:solidFill>
                  </a:tcPr>
                </a:tc>
                <a:tc>
                  <a:txBody>
                    <a:bodyPr/>
                    <a:lstStyle/>
                    <a:p>
                      <a:r>
                        <a:rPr sz="1200" b="0">
                          <a:solidFill>
                            <a:srgbClr val="1F2937"/>
                          </a:solidFill>
                        </a:rPr>
                        <a:t>Asoratlar va o‘lim xavfi</a:t>
                      </a:r>
                    </a:p>
                  </a:txBody>
                  <a:tcPr marL="73152" marR="73152" marT="36576" marB="36576">
                    <a:solidFill>
                      <a:srgbClr val="FFFFFF"/>
                    </a:solidFill>
                  </a:tcPr>
                </a:tc>
              </a:tr>
              <a:tr h="411480">
                <a:tc>
                  <a:txBody>
                    <a:bodyPr/>
                    <a:lstStyle/>
                    <a:p>
                      <a:r>
                        <a:rPr sz="1200" b="0">
                          <a:solidFill>
                            <a:srgbClr val="1F2937"/>
                          </a:solidFill>
                        </a:rPr>
                        <a:t>Tibbiy ko‘rsatma</a:t>
                      </a:r>
                    </a:p>
                  </a:txBody>
                  <a:tcPr marL="73152" marR="73152" marT="36576" marB="36576">
                    <a:solidFill>
                      <a:srgbClr val="E8EEF6"/>
                    </a:solidFill>
                  </a:tcPr>
                </a:tc>
                <a:tc>
                  <a:txBody>
                    <a:bodyPr/>
                    <a:lstStyle/>
                    <a:p>
                      <a:r>
                        <a:rPr sz="1200" b="0">
                          <a:solidFill>
                            <a:srgbClr val="1F2937"/>
                          </a:solidFill>
                        </a:rPr>
                        <a:t>Ayol hayoti ustun</a:t>
                      </a:r>
                    </a:p>
                  </a:txBody>
                  <a:tcPr marL="73152" marR="73152" marT="36576" marB="36576">
                    <a:solidFill>
                      <a:srgbClr val="E8EEF6"/>
                    </a:solidFill>
                  </a:tcPr>
                </a:tc>
                <a:tc>
                  <a:txBody>
                    <a:bodyPr/>
                    <a:lstStyle/>
                    <a:p>
                      <a:r>
                        <a:rPr sz="1200" b="0">
                          <a:solidFill>
                            <a:srgbClr val="1F2937"/>
                          </a:solidFill>
                        </a:rPr>
                        <a:t>Homilaning hayotga layoqati</a:t>
                      </a:r>
                    </a:p>
                  </a:txBody>
                  <a:tcPr marL="73152" marR="73152" marT="36576" marB="36576">
                    <a:solidFill>
                      <a:srgbClr val="E8EEF6"/>
                    </a:solidFill>
                  </a:tcPr>
                </a:tc>
              </a:tr>
              <a:tr h="411480">
                <a:tc>
                  <a:txBody>
                    <a:bodyPr/>
                    <a:lstStyle/>
                    <a:p>
                      <a:r>
                        <a:rPr sz="1200" b="0">
                          <a:solidFill>
                            <a:srgbClr val="1F2937"/>
                          </a:solidFill>
                        </a:rPr>
                        <a:t>Og‘riq</a:t>
                      </a:r>
                    </a:p>
                  </a:txBody>
                  <a:tcPr marL="73152" marR="73152" marT="36576" marB="36576">
                    <a:solidFill>
                      <a:srgbClr val="FFFFFF"/>
                    </a:solidFill>
                  </a:tcPr>
                </a:tc>
                <a:tc>
                  <a:txBody>
                    <a:bodyPr/>
                    <a:lstStyle/>
                    <a:p>
                      <a:r>
                        <a:rPr sz="1200" b="0">
                          <a:solidFill>
                            <a:srgbClr val="1F2937"/>
                          </a:solidFill>
                        </a:rPr>
                        <a:t>Manbada keltirilmagan</a:t>
                      </a:r>
                    </a:p>
                  </a:txBody>
                  <a:tcPr marL="73152" marR="73152" marT="36576" marB="36576">
                    <a:solidFill>
                      <a:srgbClr val="FFFFFF"/>
                    </a:solidFill>
                  </a:tcPr>
                </a:tc>
                <a:tc>
                  <a:txBody>
                    <a:bodyPr/>
                    <a:lstStyle/>
                    <a:p>
                      <a:r>
                        <a:rPr sz="1200" b="0">
                          <a:solidFill>
                            <a:srgbClr val="1F2937"/>
                          </a:solidFill>
                        </a:rPr>
                        <a:t>Homila og‘riqni his qiladi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Argumentlar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Oraliq pozitsiya va G‘arbiy Yevropa modellari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Oraliq pozitsiya: abort faqat tibbiy yoki ijtimoiy ko‘rsatma bo‘yicha mumkin.</a:t>
            </a:r>
          </a:p>
          <a:p>
            <a:pPr>
              <a:spcAft>
                <a:spcPts val="800"/>
              </a:spcAft>
            </a:pPr>
            <a:r>
              <a:rPr sz="1800">
                <a:solidFill>
                  <a:srgbClr val="1F2937"/>
                </a:solidFill>
                <a:latin typeface="Calibri"/>
              </a:rPr>
              <a:t>▸  Bu pozitsiya abortni ayolning huquqi sifatida axloqan qo‘llab-quvvatlamaydi.</a:t>
            </a:r>
          </a:p>
          <a:p>
            <a:pPr>
              <a:spcAft>
                <a:spcPts val="800"/>
              </a:spcAft>
            </a:pPr>
            <a:r>
              <a:rPr sz="1800">
                <a:solidFill>
                  <a:srgbClr val="1F2937"/>
                </a:solidFill>
                <a:latin typeface="Calibri"/>
              </a:rPr>
              <a:t>▸  G‘arbiy Yevropada uch yondashuv bor: taqiq, ko‘rsatmalar tizimi va muddatlar tizimi.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Model</a:t>
                      </a:r>
                    </a:p>
                  </a:txBody>
                  <a:tcPr marL="73152" marR="73152" marT="36576" marB="36576">
                    <a:solidFill>
                      <a:srgbClr val="0B1F3A"/>
                    </a:solidFill>
                  </a:tcPr>
                </a:tc>
                <a:tc>
                  <a:txBody>
                    <a:bodyPr/>
                    <a:lstStyle/>
                    <a:p>
                      <a:r>
                        <a:rPr sz="1300" b="1">
                          <a:solidFill>
                            <a:srgbClr val="FFFFFF"/>
                          </a:solidFill>
                        </a:rPr>
                        <a:t>Mamlakatlar</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r>
              <a:tr h="411480">
                <a:tc>
                  <a:txBody>
                    <a:bodyPr/>
                    <a:lstStyle/>
                    <a:p>
                      <a:r>
                        <a:rPr sz="1200" b="0">
                          <a:solidFill>
                            <a:srgbClr val="1F2937"/>
                          </a:solidFill>
                        </a:rPr>
                        <a:t>Taqiq</a:t>
                      </a:r>
                    </a:p>
                  </a:txBody>
                  <a:tcPr marL="73152" marR="73152" marT="36576" marB="36576">
                    <a:solidFill>
                      <a:srgbClr val="E8EEF6"/>
                    </a:solidFill>
                  </a:tcPr>
                </a:tc>
                <a:tc>
                  <a:txBody>
                    <a:bodyPr/>
                    <a:lstStyle/>
                    <a:p>
                      <a:r>
                        <a:rPr sz="1200" b="0">
                          <a:solidFill>
                            <a:srgbClr val="1F2937"/>
                          </a:solidFill>
                        </a:rPr>
                        <a:t>Irlandiya, Polsha</a:t>
                      </a:r>
                    </a:p>
                  </a:txBody>
                  <a:tcPr marL="73152" marR="73152" marT="36576" marB="36576">
                    <a:solidFill>
                      <a:srgbClr val="E8EEF6"/>
                    </a:solidFill>
                  </a:tcPr>
                </a:tc>
                <a:tc>
                  <a:txBody>
                    <a:bodyPr/>
                    <a:lstStyle/>
                    <a:p>
                      <a:r>
                        <a:rPr sz="1200" b="0">
                          <a:solidFill>
                            <a:srgbClr val="1F2937"/>
                          </a:solidFill>
                        </a:rPr>
                        <a:t>Faqat hayot xavfi; Polshada zo‘rlash, inzest</a:t>
                      </a:r>
                    </a:p>
                  </a:txBody>
                  <a:tcPr marL="73152" marR="73152" marT="36576" marB="36576">
                    <a:solidFill>
                      <a:srgbClr val="E8EEF6"/>
                    </a:solidFill>
                  </a:tcPr>
                </a:tc>
              </a:tr>
              <a:tr h="411480">
                <a:tc>
                  <a:txBody>
                    <a:bodyPr/>
                    <a:lstStyle/>
                    <a:p>
                      <a:r>
                        <a:rPr sz="1200" b="0">
                          <a:solidFill>
                            <a:srgbClr val="1F2937"/>
                          </a:solidFill>
                        </a:rPr>
                        <a:t>Ko‘rsatmalar</a:t>
                      </a:r>
                    </a:p>
                  </a:txBody>
                  <a:tcPr marL="73152" marR="73152" marT="36576" marB="36576">
                    <a:solidFill>
                      <a:srgbClr val="FFFFFF"/>
                    </a:solidFill>
                  </a:tcPr>
                </a:tc>
                <a:tc>
                  <a:txBody>
                    <a:bodyPr/>
                    <a:lstStyle/>
                    <a:p>
                      <a:r>
                        <a:rPr sz="1200" b="0">
                          <a:solidFill>
                            <a:srgbClr val="1F2937"/>
                          </a:solidFill>
                        </a:rPr>
                        <a:t>Buyuk Britaniya</a:t>
                      </a:r>
                    </a:p>
                  </a:txBody>
                  <a:tcPr marL="73152" marR="73152" marT="36576" marB="36576">
                    <a:solidFill>
                      <a:srgbClr val="FFFFFF"/>
                    </a:solidFill>
                  </a:tcPr>
                </a:tc>
                <a:tc>
                  <a:txBody>
                    <a:bodyPr/>
                    <a:lstStyle/>
                    <a:p>
                      <a:r>
                        <a:rPr sz="1200" b="0">
                          <a:solidFill>
                            <a:srgbClr val="1F2937"/>
                          </a:solidFill>
                        </a:rPr>
                        <a:t>Hayot xavfi, genetika, salomatlikka tahdid</a:t>
                      </a:r>
                    </a:p>
                  </a:txBody>
                  <a:tcPr marL="73152" marR="73152" marT="36576" marB="36576">
                    <a:solidFill>
                      <a:srgbClr val="FFFFFF"/>
                    </a:solidFill>
                  </a:tcPr>
                </a:tc>
              </a:tr>
              <a:tr h="411480">
                <a:tc>
                  <a:txBody>
                    <a:bodyPr/>
                    <a:lstStyle/>
                    <a:p>
                      <a:r>
                        <a:rPr sz="1200" b="0">
                          <a:solidFill>
                            <a:srgbClr val="1F2937"/>
                          </a:solidFill>
                        </a:rPr>
                        <a:t>Muddatlar</a:t>
                      </a:r>
                    </a:p>
                  </a:txBody>
                  <a:tcPr marL="73152" marR="73152" marT="36576" marB="36576">
                    <a:solidFill>
                      <a:srgbClr val="E8EEF6"/>
                    </a:solidFill>
                  </a:tcPr>
                </a:tc>
                <a:tc>
                  <a:txBody>
                    <a:bodyPr/>
                    <a:lstStyle/>
                    <a:p>
                      <a:r>
                        <a:rPr sz="1200" b="0">
                          <a:solidFill>
                            <a:srgbClr val="1F2937"/>
                          </a:solidFill>
                        </a:rPr>
                        <a:t>Avstriya, Fransiya, Norvegiya, Shvetsiya</a:t>
                      </a:r>
                    </a:p>
                  </a:txBody>
                  <a:tcPr marL="73152" marR="73152" marT="36576" marB="36576">
                    <a:solidFill>
                      <a:srgbClr val="E8EEF6"/>
                    </a:solidFill>
                  </a:tcPr>
                </a:tc>
                <a:tc>
                  <a:txBody>
                    <a:bodyPr/>
                    <a:lstStyle/>
                    <a:p>
                      <a:r>
                        <a:rPr sz="1200" b="0">
                          <a:solidFill>
                            <a:srgbClr val="1F2937"/>
                          </a:solidFill>
                        </a:rPr>
                        <a:t>Muayyan muddatgacha ayol xohishi bilan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Yevropa modellari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89, 90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 abort muddatlari va ko‘rsatmalar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12 haftagacha qarshi ko‘rsatma bo‘lmasa, ayol xohishi bilan tegishli tibbiy muassasada abort qilinadi.</a:t>
            </a:r>
          </a:p>
          <a:p>
            <a:pPr>
              <a:spcAft>
                <a:spcPts val="800"/>
              </a:spcAft>
            </a:pPr>
            <a:r>
              <a:rPr sz="1800">
                <a:solidFill>
                  <a:srgbClr val="1F2937"/>
                </a:solidFill>
                <a:latin typeface="Calibri"/>
              </a:rPr>
              <a:t>▸  Ijtimoiy ko‘rsatma bo‘yicha homiladorlik 22 haftagacha tugatilishi mumkin.</a:t>
            </a:r>
          </a:p>
          <a:p>
            <a:pPr>
              <a:spcAft>
                <a:spcPts val="800"/>
              </a:spcAft>
            </a:pPr>
            <a:r>
              <a:rPr sz="1800">
                <a:solidFill>
                  <a:srgbClr val="1F2937"/>
                </a:solidFill>
                <a:latin typeface="Calibri"/>
              </a:rPr>
              <a:t>▸  Tibbiy ko‘rsatma bo‘lsa, muddatdan qat‘i nazar; holatlar ro‘yxati qonun hujjatlarida berilgan.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Muddat va ko‘rsatma aniqlanadi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12 haftagacha: ayol xohishi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Ijtimoiy: 22 haftagacha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muddatdan qat‘i nazar</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Abort bo‘yicha qaror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asoratlari va kontratseptsiya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Abort oddiy, qulay va bepul bo‘lgani uchun uni xavfsiz deb o‘ylash noto‘g‘ri tasavvur hisoblanadi.</a:t>
            </a:r>
          </a:p>
          <a:p>
            <a:pPr>
              <a:spcAft>
                <a:spcPts val="1200"/>
              </a:spcAft>
            </a:pPr>
            <a:r>
              <a:rPr sz="2200">
                <a:solidFill>
                  <a:srgbClr val="1F2937"/>
                </a:solidFill>
                <a:latin typeface="Calibri"/>
              </a:rPr>
              <a:t>▸  Keyingi homiladorlik va tug‘ruq murakkablashishi, ginekologik kasalliklar (yallig‘lanish, o‘smalar) va bepushtlik kuzatilishi mumkin.</a:t>
            </a:r>
          </a:p>
          <a:p>
            <a:pPr>
              <a:spcAft>
                <a:spcPts val="1200"/>
              </a:spcAft>
            </a:pPr>
            <a:r>
              <a:rPr sz="2200">
                <a:solidFill>
                  <a:srgbClr val="1F2937"/>
                </a:solidFill>
                <a:latin typeface="Calibri"/>
              </a:rPr>
              <a:t>▸  Abort jarayonida anesteziya asoratlari, bachadon perforatsiyasi (teshilishi), tashqi va ichki qon ketish bo‘lishi mumkin.</a:t>
            </a:r>
          </a:p>
          <a:p>
            <a:pPr>
              <a:spcAft>
                <a:spcPts val="1200"/>
              </a:spcAft>
            </a:pPr>
            <a:r>
              <a:rPr sz="2200">
                <a:solidFill>
                  <a:srgbClr val="1F2937"/>
                </a:solidFill>
                <a:latin typeface="Calibri"/>
              </a:rPr>
              <a:t>▸  Jahon tibbiyot assotsiatsiyasi 1994 yilda bayonot qabul qildi: kontratseptsiya vositalaridan foydalanish barcha ayollarning huquqi.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90, 90-91, 91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Jinoiy abort: Jinoyat kodeksi 114- va 115-moddalar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Jinoiy abortda homiladorlik muddati va tushirish usuli ahamiyatga ega emas.</a:t>
            </a:r>
          </a:p>
          <a:p>
            <a:pPr>
              <a:spcAft>
                <a:spcPts val="800"/>
              </a:spcAft>
            </a:pPr>
            <a:r>
              <a:rPr sz="1800">
                <a:solidFill>
                  <a:srgbClr val="1F2937"/>
                </a:solidFill>
                <a:latin typeface="Calibri"/>
              </a:rPr>
              <a:t>▸  Tibbiy taqiq: jinsiy a‘zolar yallig‘lanishi, yiringli o‘choq, o‘tkir yuqumli kasallik, 12 haftadan ortiq. (?)</a:t>
            </a:r>
          </a:p>
          <a:p>
            <a:pPr>
              <a:spcAft>
                <a:spcPts val="800"/>
              </a:spcAft>
            </a:pPr>
            <a:r>
              <a:rPr sz="1800">
                <a:solidFill>
                  <a:srgbClr val="1F2937"/>
                </a:solidFill>
                <a:latin typeface="Calibri"/>
              </a:rPr>
              <a:t>▸  Oldingi abortdan keyin olti oy o‘tmasdan homilani tushirish ham taqiqlangan.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3345"/>
                <a:gridCol w="2858364"/>
                <a:gridCol w="1286264"/>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Qoida</a:t>
                      </a:r>
                    </a:p>
                  </a:txBody>
                  <a:tcPr marL="73152" marR="73152" marT="36576" marB="36576">
                    <a:solidFill>
                      <a:srgbClr val="0B1F3A"/>
                    </a:solidFill>
                  </a:tcPr>
                </a:tc>
                <a:tc>
                  <a:txBody>
                    <a:bodyPr/>
                    <a:lstStyle/>
                    <a:p>
                      <a:r>
                        <a:rPr sz="1300" b="1">
                          <a:solidFill>
                            <a:srgbClr val="FFFFFF"/>
                          </a:solidFill>
                        </a:rPr>
                        <a:t>Oqibat</a:t>
                      </a:r>
                    </a:p>
                  </a:txBody>
                  <a:tcPr marL="73152" marR="73152" marT="36576" marB="36576">
                    <a:solidFill>
                      <a:srgbClr val="0B1F3A"/>
                    </a:solidFill>
                  </a:tcPr>
                </a:tc>
              </a:tr>
              <a:tr h="411480">
                <a:tc>
                  <a:txBody>
                    <a:bodyPr/>
                    <a:lstStyle/>
                    <a:p>
                      <a:r>
                        <a:rPr sz="1200" b="0">
                          <a:solidFill>
                            <a:srgbClr val="1F2937"/>
                          </a:solidFill>
                        </a:rPr>
                        <a:t>114-modda</a:t>
                      </a:r>
                    </a:p>
                  </a:txBody>
                  <a:tcPr marL="73152" marR="73152" marT="36576" marB="36576">
                    <a:solidFill>
                      <a:srgbClr val="E8EEF6"/>
                    </a:solidFill>
                  </a:tcPr>
                </a:tc>
                <a:tc>
                  <a:txBody>
                    <a:bodyPr/>
                    <a:lstStyle/>
                    <a:p>
                      <a:r>
                        <a:rPr sz="1200" b="0">
                          <a:solidFill>
                            <a:srgbClr val="1F2937"/>
                          </a:solidFill>
                        </a:rPr>
                        <a:t>Muassasadan tashqarida yoki huquqsiz shaxs</a:t>
                      </a:r>
                    </a:p>
                  </a:txBody>
                  <a:tcPr marL="73152" marR="73152" marT="36576" marB="36576">
                    <a:solidFill>
                      <a:srgbClr val="E8EEF6"/>
                    </a:solidFill>
                  </a:tcPr>
                </a:tc>
                <a:tc>
                  <a:txBody>
                    <a:bodyPr/>
                    <a:lstStyle/>
                    <a:p>
                      <a:r>
                        <a:rPr sz="1200" b="0">
                          <a:solidFill>
                            <a:srgbClr val="1F2937"/>
                          </a:solidFill>
                        </a:rPr>
                        <a:t>Jinoiy abort</a:t>
                      </a:r>
                    </a:p>
                  </a:txBody>
                  <a:tcPr marL="73152" marR="73152" marT="36576" marB="36576">
                    <a:solidFill>
                      <a:srgbClr val="E8EEF6"/>
                    </a:solidFill>
                  </a:tcPr>
                </a:tc>
              </a:tr>
              <a:tr h="411480">
                <a:tc>
                  <a:txBody>
                    <a:bodyPr/>
                    <a:lstStyle/>
                    <a:p>
                      <a:r>
                        <a:rPr sz="1200" b="0">
                          <a:solidFill>
                            <a:srgbClr val="1F2937"/>
                          </a:solidFill>
                        </a:rPr>
                        <a:t>114-modda</a:t>
                      </a:r>
                    </a:p>
                  </a:txBody>
                  <a:tcPr marL="73152" marR="73152" marT="36576" marB="36576">
                    <a:solidFill>
                      <a:srgbClr val="FFFFFF"/>
                    </a:solidFill>
                  </a:tcPr>
                </a:tc>
                <a:tc>
                  <a:txBody>
                    <a:bodyPr/>
                    <a:lstStyle/>
                    <a:p>
                      <a:r>
                        <a:rPr sz="1200" b="0">
                          <a:solidFill>
                            <a:srgbClr val="1F2937"/>
                          </a:solidFill>
                        </a:rPr>
                        <a:t>Tibbiy jihatdan mumkin bo‘lmagan holat</a:t>
                      </a:r>
                    </a:p>
                  </a:txBody>
                  <a:tcPr marL="73152" marR="73152" marT="36576" marB="36576">
                    <a:solidFill>
                      <a:srgbClr val="FFFFFF"/>
                    </a:solidFill>
                  </a:tcPr>
                </a:tc>
                <a:tc>
                  <a:txBody>
                    <a:bodyPr/>
                    <a:lstStyle/>
                    <a:p>
                      <a:r>
                        <a:rPr sz="1200" b="0">
                          <a:solidFill>
                            <a:srgbClr val="1F2937"/>
                          </a:solidFill>
                        </a:rPr>
                        <a:t>Jinoiy abort</a:t>
                      </a:r>
                    </a:p>
                  </a:txBody>
                  <a:tcPr marL="73152" marR="73152" marT="36576" marB="36576">
                    <a:solidFill>
                      <a:srgbClr val="FFFFFF"/>
                    </a:solidFill>
                  </a:tcPr>
                </a:tc>
              </a:tr>
              <a:tr h="411480">
                <a:tc>
                  <a:txBody>
                    <a:bodyPr/>
                    <a:lstStyle/>
                    <a:p>
                      <a:r>
                        <a:rPr sz="1200" b="0">
                          <a:solidFill>
                            <a:srgbClr val="1F2937"/>
                          </a:solidFill>
                        </a:rPr>
                        <a:t>115-modda</a:t>
                      </a:r>
                    </a:p>
                  </a:txBody>
                  <a:tcPr marL="73152" marR="73152" marT="36576" marB="36576">
                    <a:solidFill>
                      <a:srgbClr val="E8EEF6"/>
                    </a:solidFill>
                  </a:tcPr>
                </a:tc>
                <a:tc>
                  <a:txBody>
                    <a:bodyPr/>
                    <a:lstStyle/>
                    <a:p>
                      <a:r>
                        <a:rPr sz="1200" b="0">
                          <a:solidFill>
                            <a:srgbClr val="1F2937"/>
                          </a:solidFill>
                        </a:rPr>
                        <a:t>Ayolni abortga majburlash</a:t>
                      </a:r>
                    </a:p>
                  </a:txBody>
                  <a:tcPr marL="73152" marR="73152" marT="36576" marB="36576">
                    <a:solidFill>
                      <a:srgbClr val="E8EEF6"/>
                    </a:solidFill>
                  </a:tcPr>
                </a:tc>
                <a:tc>
                  <a:txBody>
                    <a:bodyPr/>
                    <a:lstStyle/>
                    <a:p>
                      <a:r>
                        <a:rPr sz="1200" b="0">
                          <a:solidFill>
                            <a:srgbClr val="1F2937"/>
                          </a:solidFill>
                        </a:rPr>
                        <a:t>Jinoyat</a:t>
                      </a:r>
                    </a:p>
                  </a:txBody>
                  <a:tcPr marL="73152" marR="73152" marT="36576" marB="36576">
                    <a:solidFill>
                      <a:srgbClr val="E8EEF6"/>
                    </a:solidFill>
                  </a:tcPr>
                </a:tc>
              </a:tr>
              <a:tr h="411480">
                <a:tc>
                  <a:txBody>
                    <a:bodyPr/>
                    <a:lstStyle/>
                    <a:p>
                      <a:r>
                        <a:rPr sz="1200" b="0">
                          <a:solidFill>
                            <a:srgbClr val="1F2937"/>
                          </a:solidFill>
                        </a:rPr>
                        <a:t>Javobgarlik</a:t>
                      </a:r>
                    </a:p>
                  </a:txBody>
                  <a:tcPr marL="73152" marR="73152" marT="36576" marB="36576">
                    <a:solidFill>
                      <a:srgbClr val="FFFFFF"/>
                    </a:solidFill>
                  </a:tcPr>
                </a:tc>
                <a:tc>
                  <a:txBody>
                    <a:bodyPr/>
                    <a:lstStyle/>
                    <a:p>
                      <a:r>
                        <a:rPr sz="1200" b="0">
                          <a:solidFill>
                            <a:srgbClr val="1F2937"/>
                          </a:solidFill>
                        </a:rPr>
                        <a:t>Ayol o‘zi yoki boshqalar tushirsa</a:t>
                      </a:r>
                    </a:p>
                  </a:txBody>
                  <a:tcPr marL="73152" marR="73152" marT="36576" marB="36576">
                    <a:solidFill>
                      <a:srgbClr val="FFFFFF"/>
                    </a:solidFill>
                  </a:tcPr>
                </a:tc>
                <a:tc>
                  <a:txBody>
                    <a:bodyPr/>
                    <a:lstStyle/>
                    <a:p>
                      <a:r>
                        <a:rPr sz="1200" b="0">
                          <a:solidFill>
                            <a:srgbClr val="1F2937"/>
                          </a:solidFill>
                        </a:rPr>
                        <a:t>Ayol javobgar emas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Moddalar va javobgarlik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92, 91-92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abort va huquqiy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huquqi bo‘lmagan shaxs davolash muassasasidan tashqarida homilani tushirdi. Savol: bu holat Jinoyat kodeksining qaysi moddasiga to‘g‘ri keladi?</a:t>
            </a:r>
          </a:p>
          <a:p>
            <a:pPr>
              <a:spcAft>
                <a:spcPts val="1200"/>
              </a:spcAft>
            </a:pPr>
            <a:r>
              <a:rPr sz="2000">
                <a:solidFill>
                  <a:srgbClr val="1F2937"/>
                </a:solidFill>
                <a:latin typeface="Calibri"/>
              </a:rPr>
              <a:t>▸  Jinoyat kodeksining 114-moddasi: muassasadan tashqarida yoki tibbiy jihatdan mumkin bo‘lmaganda homila tushirish, shuningdek huquqsiz shaxsning bu ishi jinoiy hisoblanadi.</a:t>
            </a:r>
          </a:p>
          <a:p>
            <a:pPr>
              <a:spcAft>
                <a:spcPts val="1200"/>
              </a:spcAft>
            </a:pPr>
            <a:r>
              <a:rPr sz="2000">
                <a:solidFill>
                  <a:srgbClr val="1F2937"/>
                </a:solidFill>
                <a:latin typeface="Calibri"/>
              </a:rPr>
              <a:t>▸  Tibbiy jihatdan zid holatlar: jinsiy a’zolar yallig‘lanishi, yiringli o‘choqlar, o‘tkir yuqumli kasalliklar va 12 haftadan ortiq homiladorlik muddati.</a:t>
            </a:r>
          </a:p>
          <a:p>
            <a:pPr>
              <a:spcAft>
                <a:spcPts val="1200"/>
              </a:spcAft>
            </a:pPr>
            <a:r>
              <a:rPr sz="2000">
                <a:solidFill>
                  <a:srgbClr val="1F2937"/>
                </a:solidFill>
                <a:latin typeface="Calibri"/>
              </a:rPr>
              <a:t>▸  Diqqat: jinoiy abortda muddat va usul ahamiyatsiz. Ayol o‘zi tushirsa javobgar emas, lekin ayolni majburlash 115-modda bo‘yicha jinoyat.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91, 92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hayot qadriyati, embrion maqomi va huquq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Hayot qadriyati bo‘yicha ikki yondashuv bor: hayot muqaddas (tibbiy vitalizm) va hayot sifati. Ikkalasi ham mutlaq emas, ular birga muvozanatda qo‘llanadi.</a:t>
            </a:r>
          </a:p>
          <a:p>
            <a:pPr>
              <a:spcAft>
                <a:spcPts val="1200"/>
              </a:spcAft>
            </a:pPr>
            <a:r>
              <a:rPr sz="2000">
                <a:solidFill>
                  <a:srgbClr val="1F2937"/>
                </a:solidFill>
                <a:latin typeface="Calibri"/>
              </a:rPr>
              <a:t>▸  QALY shkalasida o‘lim holati nolga teng. Misol: 0,7 sifat bilan yana 7 yil yashash 4,9 QALY yilni beradi. Shkala mukammal emas, hayotni faqat foydalilik bilan baholash to‘g‘ri emas.</a:t>
            </a:r>
          </a:p>
          <a:p>
            <a:pPr>
              <a:spcAft>
                <a:spcPts val="1200"/>
              </a:spcAft>
            </a:pPr>
            <a:r>
              <a:rPr sz="2000">
                <a:solidFill>
                  <a:srgbClr val="1F2937"/>
                </a:solidFill>
                <a:latin typeface="Calibri"/>
              </a:rPr>
              <a:t>▸  Hayot zigotadan boshlanadi. Embrion potensial inson sifatida alohida axloqiy munosabat talab qiladi. Abort bo‘yicha liberal, konservativ va oraliq pozitsiyalar bor.</a:t>
            </a:r>
          </a:p>
          <a:p>
            <a:pPr>
              <a:spcAft>
                <a:spcPts val="1200"/>
              </a:spcAft>
            </a:pPr>
            <a:r>
              <a:rPr sz="2000">
                <a:solidFill>
                  <a:srgbClr val="1F2937"/>
                </a:solidFill>
                <a:latin typeface="Calibri"/>
              </a:rPr>
              <a:t>▸  O‘zbekistonda ayol xohishiga ko‘ra abort 12 haftagacha mumkin. Ijtimoiy ko‘rsatma bilan 22 haftagacha, tibbiy ko‘rsatma bilan muddatdan qat’i nazar. Endi nazorat savollariga o‘ting.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Indiaminov S.I., Bioetika, betlar: 81-82, 84-85, 85-87, 89, 90, 92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79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QALY hisobi: davo boshlanganda shkala ko‘rsatkichi 0,7 bo‘lgan bemor yana 7 yil yashagan. Umr 7 × 0,7 = 4,9 QALY yilga uzaygan. Eslab qolish usuli: «yil × sifat koeffitsiyenti». Sog‘lom hayot 1,0 ga, o‘lim 0 ga teng.</a:t>
            </a:r>
          </a:p>
          <a:p>
            <a:pPr>
              <a:spcAft>
                <a:spcPts val="1200"/>
              </a:spcAft>
            </a:pPr>
            <a:r>
              <a:rPr sz="1800">
                <a:solidFill>
                  <a:srgbClr val="1F2937"/>
                </a:solidFill>
                <a:latin typeface="Calibri"/>
              </a:rPr>
              <a:t>▸  Hodisa tahlili: davo bemor umrini uzaytirdi, lekin hayot sifati pasaydi. Bunday uzayish shartli ravishda sog‘lom hayotdan qisqaroq baholanadi. Shu sababli sifatni faqat ijtimoiy foydalilik yoki iqtisodiy samara nuqtai nazaridan o‘lchash to‘g‘ri emas.</a:t>
            </a:r>
          </a:p>
          <a:p>
            <a:pPr>
              <a:spcAft>
                <a:spcPts val="1200"/>
              </a:spcAft>
            </a:pPr>
            <a:r>
              <a:rPr sz="1800">
                <a:solidFill>
                  <a:srgbClr val="1F2937"/>
                </a:solidFill>
                <a:latin typeface="Calibri"/>
              </a:rPr>
              <a:t>▸  Embrion rivojlanishi zanjiri: zigota, blastotsist (preembrion), 14-kundan embrion, 18-kunda yurak urishi, 21-kunda qon aylanish tizimi. Embrional davr 8–9 hafta, 75–76-kundan fetal (homila) davri boshlanadi.</a:t>
            </a:r>
          </a:p>
          <a:p>
            <a:pPr>
              <a:spcAft>
                <a:spcPts val="1200"/>
              </a:spcAft>
            </a:pPr>
            <a:r>
              <a:rPr sz="1800">
                <a:solidFill>
                  <a:srgbClr val="1F2937"/>
                </a:solidFill>
                <a:latin typeface="Calibri"/>
              </a:rPr>
              <a:t>▸  Din va «ruh kirishi» muddati: Angliya cherkovi bo‘yicha ruh tanaga homiladorlikning 16-kunida, islom dini bo‘yicha 4-oyda kiradi. Bu muddatlargacha istisno hollarda abort mumkin deb hisoblanadi. Muddatlar turli konfessiyalarda farq qiladi.</a:t>
            </a:r>
          </a:p>
          <a:p>
            <a:pPr>
              <a:spcAft>
                <a:spcPts val="1200"/>
              </a:spcAft>
            </a:pPr>
            <a:r>
              <a:rPr sz="1800">
                <a:solidFill>
                  <a:srgbClr val="1F2937"/>
                </a:solidFill>
                <a:latin typeface="Calibri"/>
              </a:rPr>
              <a:t>▸  Eslab qolish: O‘zbekistonda abort muddatlari 12–22–cheklovsiz. Ayolning xohishi bilan 12-haftagacha, ijtimoiy ko‘rsatma bilan 22-haftagacha, tibbiy ko‘rsatma bilan muddatdan qat’i nazar. Qarshi ko‘rsatmalar bo‘lmasligi shart.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vegetativ holatda, ongni tiklashga umid yo‘q. Tibbiy vitalizm tarafdori bu holatda qanday qaror tarafdori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Muolajalar to‘xtatilib, mablag‘ boshqa bemorga yo‘naltiriladi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Hayot tibbiy choralar bilan cheksiz sun’iy saqlanishi lozim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 faqat hayot sifati shkalasi ko‘rsatkichiga bog‘liq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Qaror davolash xarajatlari miqdoriga qarab chiqariladi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hayot sifatini etika mezoni emas, tibbiy masala deb biladi va abort hamda evtanaziyaga mutlaq qarshi. U qaysi yondashuvga amal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Hayotning sakral qadriyati etikasi (sanctity of life)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Sifatli hayot etikasi (quality of life) yondashuvi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“shaxs hayoti” tanlovi konsepsiyasi yondashuvi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Iqtisodiy samaradorlikka asoslangan utilitar yondashuv</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organizmi tirik, ammo ong va muloqot qobiliyati yo‘q. Sifatli hayot etikasi tarafdori buni qanday baholaydi?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Organizm hayoti shaxs hayotidan yuqori darajaga ega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yordam har holda cheksiz davom ettirilishi shart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Organizm insonga xos axloqiy mavqeidan mahrum bo‘lishi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Organizm va shaxs hayoti o‘rtasida hech qanday farq bo‘lmaydi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Amerikalik bioetik M.Z. Uorren fikricha, shaxslar hamjamiyatiga qo‘shilish uchun organizmda qaysi sifatlar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Ong, mustaqil ovqatlanish, ish qobiliyati va mulkka egalik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Yosh chegarasi, sog‘liq holati, ijtimoiy foydalilik va ong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Ong, irsiy salomatlik, oilaviy aloqalar va mehnat qobiliyati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Ong, aql, mustaqil harakat va muloqot qilish qobiliyati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JSST (Jahon sog‘liqni saqlash tashkiloti) ta’rifiga ko‘ra, hayot sifati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Kasallikning laborator ko‘rsatkichlari yig‘indisi bo‘yicha baho</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Shaxsning o‘z holatini qadriyat va maqsadlariga mos his etishi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Shifokor tomonidan baholangan umr davomiyligi ko‘rsatkichi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Davolash xarajatlarining bir yilga to‘g‘ri keladigan miqdori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Bemorda QALY ko‘rsatkichi 0,7 bo‘lganda davolash boshlandi. Hayot sifati barqarorlashdi va bemor yana 7 yil yashadi. Davo hisobiga necha QALY yil yutildi?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4,9 QALY 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7,0 QALY yil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0,7 QALY yil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7,7 QALY yil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Sog‘liqni saqlash tizimida ikki xil tibbiy texnologiyani iqtisodiy jihatdan solishtirish kerak. QALY shkalasi bunda nimani taqqoslashga imkon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Kasalxona o‘rinlari sonini taqqoslash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QALY yiliga ketgan xarajatni taqqoslash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o‘lim holatlari sonini taqqoslash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Shifokorlar ish haqini o‘zaro taqqoslash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bemorda QALY qiymati bir xil, lekin ular o‘z ahvolini butunlay boshqacha his etadi. Bu shkalaning qaysi cheklovini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Shkala faqat o‘lim holatini hisoblashi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Shkala davolash narxini hisobga olmasligi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Shkalada his etishning subyektivligi mavjudligi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Shkala faqat yosh bemorlarga mo‘ljallangani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Embriolog ko‘rsatdi: blastotsist bachadon devoriga hali birikmagan, hujayralari tuzilmagan va ikki yoki undan ko‘p qismga bo‘linishi mumkin. Bu hosila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Zigota (birinchi hujayra)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Homila (fetal davr boshlanishi)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Embrion (rivojlangan shakl)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Preembrion (erta bosqich)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Embriologiya va genetika nuqtai nazaridan inson hayoti biologik jihatdan qaysi hodisadan boshlanadi?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Blastotsist hosil bo‘lishidan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Zigota paydo bo‘lishidan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Yurak urishi boshlanishidan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 aylanishi shakllanishidan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homiladorlikning 10-kunidagi hosilada tajriba o‘tkazmoqchi. Darslikdagi mutaxassislarning fikricha, bunga qaysi davr asos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Preembrion davri, homiladorlikning 14-kunigacha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Fetal davr, homiladorlikning 75-kunidan keyin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Yurak urishi boshlangan davr, 18-kundan keyin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 aylanish tizimi shakllangan, 21-kundan so‘ng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Embriolog homiladorlikning 18-kunidagi hosilani tekshirmoqda. Embriologiya ma’lumotlariga ko‘ra, aynan shu kunda nima paydo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aylanish tizimi to‘liq shakllanadi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Embrionda yurak urishi paydo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Homila (fetal) davri boshlanadi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Birlamchi hoshiya birinchi marta paydo bo‘ladi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Munozarada embrionning axloqiy maqomi umuman tan olinmadi. Darslikka ko‘ra, bunda bachadondagi embrionga munosabat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Potensial shaxs sifatida maxsus huquqiy himoya ostiga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Axloqiy munosabatlarning ijtimoiy tan olingan subyekti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Ayol tanasining bir qismi bo‘lib, axloqiy ziddiyatsiz olib tashlanadi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Tug‘ilgunga qadar mustaqil shaxs maqomiga to‘liq ega bo‘ladi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Musulmon bemor ayol istisno holatda homiladorlikni to‘xtatish masalasini diniy nuqtai nazardan so‘ramoqda. Islom dini bo‘yicha ruh tanaga qachon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Homiladorlikning 14-kunida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Homiladorlikning 16-kunida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Homiladorlikning 12-haftasida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Homiladorlikning 4-oyida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Munozarada notiq: «Embrion tug‘ilgunga qadar real emas, faqat potensial shaxs, shuning uchun shaxsga xos axloqiy maqomga ega emas», dedi. U kimning fikrini bildirmoqda?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«Erkin tanlov» tarafdorlari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Hayotni saqlab qolish tarafdorlari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Tibbiy vitalizm tarafdorlari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Oraliq pozitsiya tarafdorlari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Ayol homiladorlikning 10-haftasida, qarshi ko‘rsatmalar bo‘lmagan holda, tibbiyot muassasasida o‘z xohishiga ko‘ra abort qildirmoqchi. O‘zbekistondagi tartibga ko‘ra bu holat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ijtimoiy ko‘rsatma mavjud bo‘lganda ruxsat etiladi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tibbiy ko‘rsatma mavjud bo‘lganda ruxsat etiladi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Qarshi ko‘rsatma bo‘lmasa, 12-haftagacha ruxsat etiladi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Har qanday sharoitda to‘liq taqiqlangan hisoblanadi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Biror shaxs homilador ayolni homilasini sun’iy tushirishga majburlagan. Darslikka ko‘ra bu harakat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Jinoyat deb baholanadi (Jinoyat kodeksining 115-moddasi)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axloqiy masala bo‘lib, huquqiy javobgarlik yo‘q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ayolning roziligi bo‘lsa jinoyat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12 haftadan keyin jinoyat deb hisoblanadi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Munozarada ishtirokchi shunday dedi: “Embrion tug‘ilgunga qadar real emas, faqat potensial shaxs, shuning uchun shaxsga xos axloqiy maqomga ega emas.” U qaysi pozitsiyani ifodalamoqda?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Hayotni saqlab qolish tarafdorlari pozitsiyasini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vitalizm tarafdorlari pozitsiyasini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Abortni to‘liq taqiqlovchi pozitsiyani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“Erkin tanlov” tarafdorlari pozitsiyasini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mamlakatda abortga hayot uchun xavf, genetik ko‘rsatma, ayol salomatligiga tahdid yoki bolalar uchun nohush oqibat bo‘lganda ruxsat beriladi. Bu qaysi model?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To‘liq yoki deyarli to‘liq taqiq modeli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Ko‘rsatmalar tizimi modeli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Muddatlar tizimi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Ayol xohishiga erkin ruxsat modeli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2020-yil dekabrida Argentina Senati qabul qilgan qonunga ko‘ra, ayol xohishiga ko‘ra abort qildirishi mumkin bo‘lgan muddat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Homiladorlikning 10-haftasigacha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Homiladorlikning 12-haftasigacha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Homiladorlikning 14-haftasigacha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Homiladorlikning 22-haftasigacha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Hayot tibbiy choralar bilan cheksiz sun’iy saqlanishi lozim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Tibbiy vitalizm hayotni har qanday holatda oliy qadriyat deb biladi. Unga ko‘ra, ongni tiklashga umid bo‘lmagan vegetativ holatdagi odam hayoti ham tibbiy muolajalar bilan cheksiz saqlanishi kerak. Sarf-xarajat miqdori hisobga olinmaydi.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81-bet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Hayotning sakral qadriyati etikasi (sanctity of life)</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Sakral hayot yondashuvi (tibbiy vitalizm) hayotni muqaddas va daxlsiz deb biladi. Hayot sifatini etik mezon emas, tibbiy masala deb hisoblaydi. Abort, evtanaziya, embrion tekshiruvlari va genom tajribalariga mutlaq qarshi turadi.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81-bet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Organizm insonga xos axloqiy mavqeidan mahrum bo‘lishi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Sifatli hayot yondashuvi organizm hayoti va shaxs hayotini farqlaydi. Organizm hayoti yuqoriroq sifatli shaxs hayoti uchun shart sifatida tan olinadi. Organizm zarur sifatlarga ega bo‘lmasa, insonga xos axloqiy mavqeidan mahrum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82-bet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Ong, aql, mustaqil harakat va muloqot qilish qobiliyati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Uorren mezonlari: ong, aql, mustaqil harakat va muloqot qilish. Bu sifatlar majmuidan har doim foydalanib bo‘lmaydi. Embrion, yangi tug‘ilgan chaqaloq, ruhiy kasal va hushsiz bemorlar ma’lum davrda bu sifatlarga ega bo‘lmasligi tabiiy.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82-bet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Shaxsning o‘z holatini qadriyat va maqsadlariga mos his etishi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JSST ta’rifida hayot sifati — individlarning o‘z holatini yashash muhitidagi madaniyat va qadriyatlar tizimiga, shuningdek o‘z maqsad, niyat, standart va tashvishlariga mos his etishidir. Bu sub’ektiv his etishni aks ettiruvchi integral ko‘rsatkich.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83-bet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4,9 QALY yil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QALY yillari yashalgan yillar sonini hayot sifati koeffitsiyentiga ko‘paytirib topiladi: 7 x 0,7 = 4,9. Shuning uchun 7,0 (sifat hisobga olinmagan), 0,7 (faqat koeffitsiyent) va 7,7 (qo‘shish)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85-bet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Bir QALY yiliga ketgan xarajatni taqqoslash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QALY yordamida har xil muolajalarda uzaytirilgan bir yilga sarflangan xarajat taqqoslanadi. Shu orqali iqtisodiy jihatdan samaraliroq texnologiya aniqlanadi va resurslardan unumli foydalaniladi.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85-bet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Shkalada his etishning subyektivligi mavjudligi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Hech bir shkalani mutlaq mukammal deb bo‘lmaydi. Sababi har bir shaxsning individualligi va o‘z vaziyatini his etishdagi subyektivlikdir.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85-bet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Preembrion (erta bosqich)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Bunday erta blastotsist mutaxassislar tomonidan preembrion deb ataladi. 14-kunga yaqin birlamchi hoshiya paydo bo‘lgach, bachadon ichidagi hosila embrion deyiladi. Homila davri keyinroq boshlanadi.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85-86-bet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Zigota paydo bo‘lishidan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Erkak va ayol gametalari qo‘shilib, betakror genetik materialli yaxlit yadroga ega zigota hosil bo‘ladi. Blastotsist undan keyingi bosqich. Yurak urishi (18-kun) va qon aylanishi (21-kun) yanada keyin paydo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85-86-bet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Preembrion davri, homiladorlikning 14-kunigacha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Blastotsist bachadon devoriga birikmagan, hujayralari tuzilmagan va ikki yoki undan ko‘p qismga bo‘linishi mumkin. Shu sabab uni preembrion deb atashadi. Ayrim mutaxassislar 14-kunga qadar unda tadqiqot o‘tkazish mumkin, deb hisoblaydi. Bu qoida ba’zi mamlakatlar qonunlarida ham bor.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Embrionda yurak urishi paydo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homiladorlikning 18-kunida yurak urishi paydo bo‘lishi, 21-kunga kelib qon aylanish tizimi shakllanishi aytilgan. Fetal davr esa 75-76-kundan boshlanadi.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86-bet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Ayol tanasining bir qismi bo‘lib, axloqiy ziddiyatsiz olib tashlanadi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Agar embrion va homilaning axloqiy maqomi hamda yashash huquqi tan olinmasa, u ayol tanasining bir qismi bo‘lib qoladi. Unda uni axloqiy ziddiyatsiz olib tashlash mumkin bo‘ladi, masalan, ko‘richak o‘simtasi kabi. Shu sababli embrionni ijtimoiy tan olingan axloqiy subyekt sifatida ko‘rish muhim.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86-bet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Homiladorlikning 4-oyida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islom dinida ruh tanaga 4-oyda kiradi. Angliya cherkovida esa 16-kunda kiradi, shu sababli 16-kun chalg‘ituvchi variant. Ko‘rsatilgan muddatlargacha istisno holatlarda, shartlarga rioya qilinsa, homiladorlik to‘xtatilishi mumkin, deb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87-bet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«Erkin tanlov» tarafdorlari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«Erkin tanlov» tarafdorlari embrionni tug‘ilgunga qadar faqat potensial shaxs deb biladi va unga shaxsga xos axloqiy maqomni bermaydi. Hayotni saqlab qolish tarafdorlari esa embrionni shaxs deb hisoblaydi va unga shunday maqom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87-bet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Qarshi ko‘rsatma bo‘lmasa, 12-haftagacha ruxsat etiladi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O‘zbekistonda qarshi ko‘rsatmalar bo‘lmasa, ayollar xohishiga ko‘ra homiladorlikning 12-haftasigacha tegishli tibbiyot muassasalarida abort qildirishi mumkin. Ijtimoiy ko‘rsatma bo‘yicha 22-haftagacha, tibbiy ko‘rsatma bo‘yicha esa muddatdan qat’i nazar ruxsat beriladi.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90-bet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Jinoyat deb baholanadi (Jinoyat kodeksining 115-moddasi)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Ayolni homilasini sun’iy tushirishga majburlash ham jinoyat hisoblanadi (O‘zbekiston Respublikasi Jinoyat kodeksining 115-moddasi).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92-bet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“Erkin tanlov” tarafdorlari pozitsiyasini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“Erkin tanlov” tarafdorlari embrionni tug‘ilgunga qadar faqat potensial shaxs deb biladi va unga shaxsga xos axloqiy maqomni bermaydi. Hayotni saqlash tarafdorlari esa embrionni shaxs deb hisoblaydi.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87-bet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Ko‘rsatmalar tizimi modeli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Buyuk Britaniyada abort aynan shunday ko‘rsatmalar mavjud bo‘lganda mumkin, bu ko‘rsatmalar tizimi deyiladi. Muddatlar tizimida esa ayol xohishiga ko‘ra ma’lum muddatgacha abort qilinadi (Avstriya, Fransiya, Norvegiya, Shvetsiya).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90-bet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Homiladorlikning 14-haftasigacha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Qonun ayolning xohishiga ko‘ra 14-haftagacha abort qilishga ruxsat berdi. Bundan oldin faqat zo‘rlash oqibatidagi homiladorlik va ayol hayotiga tahdid holatlarida mumkin edi.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89-bet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Hayot boshlanishining ijtimoiy, huquqiy va axloqiy jihatlari: hayot oliy qadriyat, embrion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79</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Indiaminov S.I. Bioetika (o‘quv qo‘llanma), Samarqand. 2022. IX bob (hayot boshlanishi, abort), kitob betlari 81-92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