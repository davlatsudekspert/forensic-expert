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savollari: 1) MNT topilmalari sud jarayonida nima uchun muhim? 2) Uch manba bir-birini qanday to‘ldiradi? Doskada chizish: mavzuning uch qismli rejasini (sharh, MRI usuli, 2026 yangiliklari) uchta ustun qilib chizing. Tipik xato: talabalar uch manbani bitta usul deb o‘ylaydi, aslida ular turli yo‘nalishlar.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savollari: 1) Makroskopik topilmaga tayanish qanday xavf tug‘diradi? 2) Ikki fanni birlashtirish nima beradi? Doskada chizish: ikki doira (Venn diagrammasi) chizib, kesishmasiga sud nevropatologiyasini yozing. Tipik xato: sud patologiyasi mikroskopik usullarni umuman qo‘llamaydi deb o‘ylash. Manbada faqat asosiy tayanch usul ko‘rsatilgan. Jadvalda tanqid qatori sud patologiyasiga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Tezkor savol: MNT tekshiruvi nega oddiy autopsiyadan murakkabroq? Muhokama savoli: sud yo‘nalishidagi tadqiqotlar nega kam? Doskada chizish: MNT jarohati, nevrologik kasallik va o‘lim sababi o‘rtasidagi bog‘liqlik strelkalarini chizing. Tipik xato: MNT tekshiruvini faqat miyani tortish deb tushunish; bu murakkab to‘qima ishlovini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Skoping sharh tizimli sharhdan nimasi bilan farq qiladi (savol keng, adabiyot avval umumlashtirilmagan bo‘lsa qo‘l keladi)? 2) Nega ko‘p maqola chiqarildi (asosan noto‘g‘ri kontekst, masalan sud psixiatriyasi, yoki original maqola bo‘lmagani uchun)? Doskada: 5053 → 2864 → 122 zanjirini chizing va 122 ta maqola davr ichidagilarning 4,3% ini tashkil etishini hisoblang. Tipik xato: 5053 ni kiritilgan maqolalar soni deb o‘ylash; kiritilgani 122 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 nevropatologiyasi klinik nevropatologiyadan orqada qolgan (klinikaning translyatsion imkoniyati va klinitsistlar bilan hamkorlik)? 2) Qaysi mintaqalarda tadqiqot yetishmaydi va nega (resurs va siyosat to‘siqlari)? Qo‘shimcha: klinik jurnallar 23,0%, patologiya jurnallari 8,2%, impakt-faktorsiz jurnallar 11,5%. Doskada: jadvaldagi ulushlardan oddiy ustunli diagramma chizing. Tipik xato: Evropa va Osiyo ulushini nashr turlari ulushi bilan aralashtirish; bular boshqa-boshqa taqsimot.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Nazorat guruhisiz xulosa nega cheklangan (taqqoslash ko‘p ilmiy xulosa uchun shart)? 2) Keng yosh oralig‘i qulaymi yoki xavflimi (umumlashtirish oshadi, lekin kichik namunada bir xillik kamayadi)? Qo‘shimcha: kattalar va voyaga yetmaganlar aralash namuna 30,3%, faqat voyaga yetmaganlar 12,3%; quvvat hisobi kam keltirilgan. Doskada: namuna hajmi uchun median va kvartillar oralig‘ini sxematik chizing. Tipik xato: 43,4% ni nazorat guruhi yo‘q ishlar ulushi deb o‘qish; aslida nazorat guruhi borlari ulushi.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nima uchun travma eng ko‘p o‘rganiladi? Kam o‘rganilgan mavzularni nega rivojlantirish kerak? Doskada: mavzular ulushini ustunli diagramma shaklida chizdiring. Tipik xato: anatomiya mavzusini sud neyropatologiyasining asosiy yo‘nalishi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qaysi usul jarohat yoshini aniqlashga yaxshiroq mos? Nega makroskopiya yolg‘iz yetarli emas? Doskada: usul → topilma → tasdiqlash zanjirini chizdiring. Tipik xato: miya vaznini o‘lchashni aniq diagnostik usul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nazorat guruhi bo‘lmasa qanday xulosa chiqarish mumkin? Namuna hajmini qanday asoslash kerak? Doskada: ‘namuna – nazorat – xulosa’ sxemasini chizdiring. Tipik xato: qiziqarli topilmani darhol tasdiqlangan usul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Javoblar: eng ko‘p mavzu — travmatik intrakranial jarohat (24.6%); eng ko‘p usul — immunotexnikalar (31.1%), so‘ng makroskopik kuzatuv (21.3%). Muhokama: nega sohada nashrlar kam (klinik neyropatologiya bilan solishtiring)? Nega nazorat guruhi kam ishlatilgan (43.4%)? Doskada: uch mavzu va ikki usulning ulushlarini ustunli sxema qilib chizdiring. Tipik xato: moddalar suiste‘moli yoki anatomiyani eng ko‘p uchraydigan mavzu deb aytish.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lezyonning aniq tabiati faqat MRI ga qarab aytilmaydi? Qaysi klinik xavf omillari lezyonlar bilan bog‘liq (gipertoniya, diabet)? Doskada: T2 va T1 da lezyon qanday ko‘rinishini ikkita doira bilan chizing (yorqin va qorong‘i). Tipik xato: T2 va T1 belgilarini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kesish yo‘naltirgichi kerak? MRI va blokface suratni moslashtirish nima uchun zarur? Doskada: besh bosqichli zanjirni strelkalar bilan chizing. Tipik xato: kesishni MRI dan oldin bajarish deb o‘ylash; to‘g‘ri tartibda avval MRI, keyin kesish.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muhit singdiruvchanligi miyaga yaqin bo‘lishi kerak? 2) Agar-saxaroza formalinga nisbatan qanday afzallik beradi (manbada signal-shovqin va kontrast-shovqin nisbati yaxshilanishi aytilgan)? Doskada: uch ustunli ustunli diagramma chizing (78, 68, 58) va farqni ko‘rsating. Tipik xato: 68 ni 58 bilan bir xil deb o‘ylash. Diqqat: 68 ≠ 58, saxaroza qiymatni faqat yaqinlashtiradi.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eritma 42°C gacha sovitiladi va avval qorinchalar to‘ldiriladi? 2) Pufaklar qanday artefakt beradi (manbada GRE tasvirlarda sulkus va gippokamp yaqinida suseptibilitet artefakti aytilgan)? Doskada: besh bosqichni o‘q bilan chizib, harorat va vaqtlarni yozing. Tipik xato: miyani lateral tomoni yuqorida joylash (dastlab formalindan ko‘chirishda lateral tomon yuqorida, konteynerda esa lateral tomon pastda, qorinchalar yuqoriga qaragan).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Ikki teshikli qopqoq nima uchun muhim? 2) Qayta ishlatiladigan yo‘naltirgich har bir miya uchun alohida qolip yasashdan qanday afzal? Doskada: yon tomondan ustunlar va pichoq o‘tadigan oraliqni chizing. Tipik xato: to‘rtta to‘rtburchak burchak ustunini kesish ustuni deb o‘ylash; manbada ular yo‘naltirgichni korpusdan ajratishda tutqich vazifasini bajaradi. Yo‘naltirgich butun miyani qoplamaydi, shuning uchun ayrim joylar qo‘lda kesiladi.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T2-SPACE moslashtirishda, T1w MP2RAGE esa o‘zgarishlarni avtomatik ajratishda qo‘llangan? Skaner 7 T Siemens Magnetom ekanini eslatib o‘ting. Doskada jadvalni o‘zlari chizishsin. Tipik xato: T2-SPACE va T1w MP2RAGE rollarini, ya‘ni qaysi biri moslashtirish, qaysi biri segmentatsiya uchun ishlatilganini aralashtirish.</a:t>
            </a:r>
          </a:p>
          <a:p/>
          <a:p>
            <a:r>
              <a:t>Tekshirish kerak (manbada noaniq):</a:t>
            </a:r>
          </a:p>
          <a:p>
            <a:r>
              <a:t>- GRE ning maqsadi matnda aniq yozilmagan; havo pufakchalari GRE da sezuvchanlik artefaktini beradi.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pichoq izlari nega suratga olinadi? Qo‘lda kesilgan bo‘laklar nega yo‘naltirilgan kesimlarga parallel bo‘lishi kerak? Doskada zanjirni chizdiring. Tipik xato: yo‘naltirgich butun miyani qamrab oladi deb o‘ylash; aslida ayrim qismlar qo‘lda kesiladi. Mashhur misol: har bir miyada 18 ta koronal bo‘lakdan 4 tasi qo‘lda kesilgan.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ustunlar yaxshi belgi hisoblanadi? Vizual tasdiqlashning kamchiligi nima (miqdoriy ko‘rsatkich yo‘qligi)? Doskada zanjirni chizdiring. Tipik xato: fiducial deb anatomik tuzilmani tushunish; bu yerda belgi vazifasini sun‘iy ustunlar bajaradi. Eslatma: yo‘naltirilgan 14 ta bo‘lakni moslash taxminan 30 daqiqa, qo‘lda kesilganlari esa bittasi taxminan bir soat olgan.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niqobni MRT dan blokface suratiga o‘tkazish kerak? 2) Nevropatolog modelning qaysi natijasiga tayanadi? Doskada chizing: T1 tasvir → model niqobi → blokface surati → namuna joyi. Tipik xato: blokface ni MRT tasviri deb o‘ylash; u bo‘lak yuzasining fotosurati.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qo‘lda kesilgan bo‘laklarni moslashtirish uzoq davom etdi? 2) Muvaffaqiyatli moslashuv qanday tasdiqlandi? Doskada jadvalni chizing va 14+4=18 ni yozing. Tipik xato: moslashtirish vaqtini bitta bo‘lak uchun 30 daqiqa deb o‘ylash; bu 14 bo‘lakning umumiy vaqti.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cheklov eng ko‘p vaqt yo‘qotishga olib keladi? 2) Nega agar qotgach miyaning holatini o‘zgartirib bo‘lmaydi? Doskada afzallik va cheklov ustunlarini chizing. Tipik xato: bitta komplektni bir marta ishlatiladi deb o‘ylash; u taxminan 30 miyaga yetadi.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T2 va T1 da o‘choq belgisi qarama-qarshi? 2) Qo‘lda kesish nega ko‘proq vaqt oladi? Doskaga A-M-K-M-N zanjirini chizdiring va har bosqichni bir jumlada izohlating. Tipik xato: T1 va T2 belgilarini almashtirib yuborish; barcha bo‘laklar yo‘naltirgich bilan kesilgan deb o‘ylash. Mnemonika (A-M-K-M-N) o‘qituvchi tomonidan manbadagi bosqichlar tartibi asosida tuzilgan.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artefakt aynan sulkus va gippokamp atrofida seziladi? 2) Qopqoqdagi ikki port qanday yordam beradi? Doskaga konteyner, kirish va chiqish portlari sxemasini chizdiring. Tipik xato: pufakchalar barcha ketma-ketliklarga bir xil ta’sir qiladi deb o‘ylash (manbada asosan GRE tilga olingan).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Talabalarga avval savolni o‘qing, 20 soniya o‘ylashga bering, so‘ng javobni oching. Muhokama: saxaroza qo‘shilmasa tasvir sifati qanday o‘zgarishi mumkin? Doskaga 78 → 68 → ~58 qatorini yozdiring. Tipik xato: fiducial belgini anatomik tuzilma deb o‘ylash; aslida u yo‘naltirgichning ustunlari.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tasvirni tekshiruvdan oldin ko‘rish rejalashtirish va nishonli namuna olish uchun foydali (maqola PMCTni sud-tibbiy patologiyadagi so‘nggi 25 yilning muhim yutug‘i deydi)? 2) Nega 90 daqiqalik protokol kundalik ishga noqulay (skaner band, vaqt cheklangan)? Doskada: to‘rt qatorli vaqt chizig‘ini (1990 → 2021 → 2025) chizing. Tipik xato: minimal va ideal protokollarni aralashtirish. Minimal — 30 daqiqadan kam, 3-D T2/T1; ideal — butun tana va miyada SWI (qon quyilish) hamda DWI (to‘qima tafsiloti) bor. Maqola PMMRga atigi bitta qisqa xatboshi ajratgan, PMCT ko‘proq yoritilgan. Ekspert guruhi kichik bo‘lgan (19 mutaxassis, 17 markaz) va ba’zi qit’alar vakillari yo‘q.</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tana harorati, rigor mortis va livor mortis usullari noaniq hisoblanadi? 2) Nega faqat 35 kishilik tanlanma ehtiyotkorlik talab qiladi? Doskada: GFAP va S100B egri chiziqlarini kunlar o‘qida (1–6 kun) sxematik chizing. Tipik xato: biomarker ’o‘lim vaqtini aniq beradi’ deb o‘ylash; muallif faqat ’istiqbolli’ deydi. Eslatma: manba GFAP, S100B va NSE qisqartmalarini ochib bermagan, shuning uchun slaydda ham ochilmadi. Tanlanmada asab tizimi patologiyasi yo‘q, o‘lim vaqti ma’lum shaxslar bo‘lgan.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2–3 kishilik guruhda ishlaydi. Muhokama: 1) Usul ishonchli deb bo‘ladimi yoki hozircha tadqiqot bosqichidami? Dalil keltiring. 2) GFAP 3-kundan keyin kamaysa, bitta o‘lchov natijasini sharhlashda qanday qiyinchilik tug‘iladi (bu o‘qituvchi xulosasi, manbada bevosita aytilmagan)? Doskada: ’klassik belgilar + biokimyo‘ ko‘p usulli yondashuv sxemasini chizing. Tipik xato: kichik tanlanmadagi natijani ishonchli xulosa deb qabul qilish; shuningdek, shishasimon tanada GFAP ko‘pincha aniqlanmaganini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maneken natijasi to‘g‘ridan-to‘g‘ri isbot emas? 2) Nega yosh kichikligi tezlanishga ta’sir qiladi? Doskada: ikki maneken uchun tezlanish farqini ustunli sxema qiling. Tipik xato: model natijasini isbotlangan sabab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tirik qolganlar tanlamasi natijani buzishi mumkin? 2) Prospektiv moslik tadqiqoti nimani aniqlaydi? Doskada: silkitish → HIE → miya shishi zanjirini yozing, gipoteza bo‘g‘inini belgilang. Tipik xato: gipotezani isbotlangan mexanizm deb yozish.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CTE topilmagan tadqiqot CTE yo‘qligini isbotlamaydi? 2) CTE sudda dalil bo‘lishi uchun nima kerak? Doskada: takroriy TBI → CTE bog‘liqligi va uni buzuvchi omillarni yozing. Tipik xato: yakka TBI va takroriy TBI ni farqlamaslik.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Qisqartmalar: SUDEP — epilepsiyada kutilmagan o‘lim; SUID — chaqaloqlarda kutilmagan o‘lim; SIDS — uning eng ko‘p uchraydigan turi (chaqaloqlarning kutilmagan o‘lim sindromi); SUDC — bolalikdagi tushuntirilmagan o‘lim. Xavf omillari: yolg‘iz yashash, bir yilda uch va undan ko‘p generalizatsiyalangan tutqanoq, uzoq markaziy apnoe. Muhokama: nega SUDEP istisno tashxisi hisoblanadi? Nevropatolog yana qanday foyda keltirishi mumkin (yashirin epileptogen sababni topish)? Doskada: istisno algoritmini chizdiring (boshqa sabab topilmadi → SUDEP). Tipik xato: SUDEPni gistologik belgisi bor tashxis deb o‘ylash. Gippokamp anomaliyasi tutqanoq sababi yoki oqibati ekani noma’lum.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AI sud majlisida ob’yektiv dalil bo‘la oladimi? Nega TBI bo‘yicha ishlar kam (6 ta), epilepsiya bo‘yicha ko‘p (28 ta)? Doskada: ikki guruh (TBI va epilepsiya) va ular ostida ishlar sonini chizdiring. Tipik xato: ’AI kundalik amaliyotga kirdi’ deb o‘ylash. Manba aksincha, bu hozircha uzoq maqsad deydi. Qo‘shimcha: PMCT va PRISMA qisqartmalarini talabalar bilan takrorlang.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nega serebellum ’guvoh qutisi’ deyiladi? Miya tasviridagi topilma xulq sababi ekanini nega aytib bo‘lmaydi? Doskada: serebellumdan uchta ko‘rsatkich (dori, alkogol, gerniya) chizig‘ini chizdiring. Tipik xato: tasvirdagi o‘zgarishni to‘g‘ridan-to‘g‘ri jinoiy xulq sababi deb talqin qilish. Manba mualliflari aynan shu xavfdan ogohlantiradi. Qo‘shimcha: Whitman holati o‘sma va xulq o‘rtasida aloqa o‘rnatib bo‘lmasligiga misol.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SUDEP istisno tashxisi hisoblanadi? 2) Nevropatolog otopsiyada qaysi boshqa sabablarni istisno qiladi? Doskada: ‘epilepsiya → o‘lim’ yo‘lini ikki shoxga chizing: bevosita sabab (SUDEP, status epilepticus) va bilvosita sabab (baxtsiz hodisa, hamroh kasalliklar). Tipik xato: talabalar SUDEPni otopsiyada aniq morfologik belgisi bor tashxis deb o‘ylaydi. Aslida u boshqa sabab topilmaganda qo‘yiladi.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sagittal burchak tezlanishi, kichik aylanish radiusi bilan. 2) istisno tashxisi; yolg‘iz yashash, bir yilda 3 va undan ko‘p generalizatsiyalangan tutqanoq, uzoqroq apnoe. 3) GFAP, S100B, NSE. 4) 30 daqiqadan kam; miya va tananing 3D T2 va T1 skanlari. Muhokama: qaysi yo‘nalish amaliyotga tezroq kirib keladi? Doskada: 4 savolning kalit so‘zlarini jadvalga yozing. Tipik xato: S100B ni NSE bilan aralashtirish; NSE’ning tendensiyasi tartibsiz edi.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bitta usul (masalan, faqat makroskopiya) hozir yetarli emas? 2) Kichik namuna va nazoratsiz tadqiqotlar xulosalarga qanday ta’sir qiladi? Doskada: markazda ‘nevropatolog’, atrofida to‘rt hamkor (sud patologi, neyroradiolog, bioinjener, genetik) va har biri nima beradi. Tipik xato: talabalar tasviriy topilma (masalan, MRI) o‘zi sababiy bog‘liqlikni isbotlaydi deb o‘ylaydi. Aslida u tasdiqlash va kontekstli talqinni talab qiladi.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Asab tizimini tekshirish texnikasining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asab tizimini tekshirish va mavzu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Markaziy asab tizimi (MNT) topilmalari sud-tibbiyotda o‘lim sababini aniqlashda va sud jarayonida hal qiluvchi ahamiyatga ega bo‘lishi mumkin.</a:t>
            </a:r>
          </a:p>
          <a:p>
            <a:pPr>
              <a:spcAft>
                <a:spcPts val="1200"/>
              </a:spcAft>
            </a:pPr>
            <a:r>
              <a:rPr sz="2200">
                <a:solidFill>
                  <a:srgbClr val="1F2937"/>
                </a:solidFill>
                <a:latin typeface="Calibri"/>
              </a:rPr>
              <a:t>▸  Reja, 1-qism: Oura va hamkasblari sharhi. 2010–2022 yillardagi 122 ta original maqola tahlil qilingan.</a:t>
            </a:r>
          </a:p>
          <a:p>
            <a:pPr>
              <a:spcAft>
                <a:spcPts val="1200"/>
              </a:spcAft>
            </a:pPr>
            <a:r>
              <a:rPr sz="2200">
                <a:solidFill>
                  <a:srgbClr val="1F2937"/>
                </a:solidFill>
                <a:latin typeface="Calibri"/>
              </a:rPr>
              <a:t>▸  Reja, 2-qism: Farhat jamoasi usuli. 7 Tesla magnit-rezonans tomografiya (MRI) va 3D bosma qolip yordamida oq modda o‘choqlaridan namuna olinadi.</a:t>
            </a:r>
          </a:p>
          <a:p>
            <a:pPr>
              <a:spcAft>
                <a:spcPts val="1200"/>
              </a:spcAft>
            </a:pPr>
            <a:r>
              <a:rPr sz="2200">
                <a:solidFill>
                  <a:srgbClr val="1F2937"/>
                </a:solidFill>
                <a:latin typeface="Calibri"/>
              </a:rPr>
              <a:t>▸  Reja, 3-qism: Matschke 2026 yangilanishi. Zo‘ravonlik bosh jarohati, epilepsiyada kutilmagan o‘lim (SUDEP) va sun’iy intellekt ko‘rib chiqiladi.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Oura P va boshq., Forensic neuropathology in the past decade: a scoping literature review, betlar: PMID 37439948; DOI 10.1007/s12024-023-00672-9; Nadim Farhat va boshq., Bridging Neuroimaging and Neuropathology: A Comprehensive Workflow for Targeted Sampling of White Matter Lesions, betlar: PMID 41126483; DOI 10.1111/jon.70094; Matschke J va boshq., Forensic neuropathology: 2026 update, betlar: PMID 42170192; DOI 10.17879/freeneuropathology-2026-9343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Nevropatologiya va sud patologiyasi: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Nevropatologiya mayda to‘qima namunalarini ilg‘or usullar bilan batafsil o‘rganadi.</a:t>
            </a:r>
          </a:p>
          <a:p>
            <a:pPr>
              <a:spcAft>
                <a:spcPts val="800"/>
              </a:spcAft>
            </a:pPr>
            <a:r>
              <a:rPr sz="1800">
                <a:solidFill>
                  <a:srgbClr val="1F2937"/>
                </a:solidFill>
                <a:latin typeface="Calibri"/>
              </a:rPr>
              <a:t>▸  Sud patologiyasi o‘lim sababi va usulini asosan makroskopik topilmalar orqali aniqlaydi.</a:t>
            </a:r>
          </a:p>
          <a:p>
            <a:pPr>
              <a:spcAft>
                <a:spcPts val="800"/>
              </a:spcAft>
            </a:pPr>
            <a:r>
              <a:rPr sz="1800">
                <a:solidFill>
                  <a:srgbClr val="1F2937"/>
                </a:solidFill>
                <a:latin typeface="Calibri"/>
              </a:rPr>
              <a:t>▸  Diqqat: nevropatologiya ≠ sud patologiyasi. Sud nevropatologiyasi ikkalasining kuchini birlashtiradi.</a:t>
            </a:r>
          </a:p>
        </p:txBody>
      </p:sp>
      <p:graphicFrame>
        <p:nvGraphicFramePr>
          <p:cNvPr id="9" name="Table 8"/>
          <p:cNvGraphicFramePr>
            <a:graphicFrameLocks noGrp="1"/>
          </p:cNvGraphicFramePr>
          <p:nvPr/>
        </p:nvGraphicFramePr>
        <p:xfrm>
          <a:off x="6263640" y="1463040"/>
          <a:ext cx="6019800" cy="3072380"/>
        </p:xfrm>
        <a:graphic>
          <a:graphicData uri="http://schemas.openxmlformats.org/drawingml/2006/table">
            <a:tbl>
              <a:tblPr firstRow="1" bandRow="1">
                <a:tableStyleId>{5C22544A-7EE6-4342-B048-85BDC9FD1C3A}</a:tableStyleId>
              </a:tblPr>
              <a:tblGrid>
                <a:gridCol w="1337310"/>
                <a:gridCol w="2282190"/>
                <a:gridCol w="2400300"/>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Nevropat.</a:t>
                      </a:r>
                    </a:p>
                  </a:txBody>
                  <a:tcPr marL="73152" marR="73152" marT="36576" marB="36576">
                    <a:solidFill>
                      <a:srgbClr val="0B1F3A"/>
                    </a:solidFill>
                  </a:tcPr>
                </a:tc>
                <a:tc>
                  <a:txBody>
                    <a:bodyPr/>
                    <a:lstStyle/>
                    <a:p>
                      <a:r>
                        <a:rPr sz="1600" b="1">
                          <a:solidFill>
                            <a:srgbClr val="FFFFFF"/>
                          </a:solidFill>
                        </a:rPr>
                        <a:t>Sud pat.</a:t>
                      </a:r>
                    </a:p>
                  </a:txBody>
                  <a:tcPr marL="73152" marR="73152" marT="36576" marB="36576">
                    <a:solidFill>
                      <a:srgbClr val="0B1F3A"/>
                    </a:solidFill>
                  </a:tcPr>
                </a:tc>
              </a:tr>
              <a:tr h="614476">
                <a:tc>
                  <a:txBody>
                    <a:bodyPr/>
                    <a:lstStyle/>
                    <a:p>
                      <a:r>
                        <a:rPr sz="1500" b="0">
                          <a:solidFill>
                            <a:srgbClr val="1F2937"/>
                          </a:solidFill>
                        </a:rPr>
                        <a:t>Yondashuv</a:t>
                      </a:r>
                    </a:p>
                  </a:txBody>
                  <a:tcPr marL="73152" marR="73152" marT="36576" marB="36576">
                    <a:solidFill>
                      <a:srgbClr val="E8EEF6"/>
                    </a:solidFill>
                  </a:tcPr>
                </a:tc>
                <a:tc>
                  <a:txBody>
                    <a:bodyPr/>
                    <a:lstStyle/>
                    <a:p>
                      <a:r>
                        <a:rPr sz="1500" b="0">
                          <a:solidFill>
                            <a:srgbClr val="1F2937"/>
                          </a:solidFill>
                        </a:rPr>
                        <a:t>Mayda namunalarni batafsil tahlil</a:t>
                      </a:r>
                    </a:p>
                  </a:txBody>
                  <a:tcPr marL="73152" marR="73152" marT="36576" marB="36576">
                    <a:solidFill>
                      <a:srgbClr val="E8EEF6"/>
                    </a:solidFill>
                  </a:tcPr>
                </a:tc>
                <a:tc>
                  <a:txBody>
                    <a:bodyPr/>
                    <a:lstStyle/>
                    <a:p>
                      <a:r>
                        <a:rPr sz="1500" b="0">
                          <a:solidFill>
                            <a:srgbClr val="1F2937"/>
                          </a:solidFill>
                        </a:rPr>
                        <a:t>Makroskopik topilma va vaziyat bahosi</a:t>
                      </a:r>
                    </a:p>
                  </a:txBody>
                  <a:tcPr marL="73152" marR="73152" marT="36576" marB="36576">
                    <a:solidFill>
                      <a:srgbClr val="E8EEF6"/>
                    </a:solidFill>
                  </a:tcPr>
                </a:tc>
              </a:tr>
              <a:tr h="614476">
                <a:tc>
                  <a:txBody>
                    <a:bodyPr/>
                    <a:lstStyle/>
                    <a:p>
                      <a:r>
                        <a:rPr sz="1500" b="0">
                          <a:solidFill>
                            <a:srgbClr val="1F2937"/>
                          </a:solidFill>
                        </a:rPr>
                        <a:t>Usullar</a:t>
                      </a:r>
                    </a:p>
                  </a:txBody>
                  <a:tcPr marL="73152" marR="73152" marT="36576" marB="36576">
                    <a:solidFill>
                      <a:srgbClr val="FFFFFF"/>
                    </a:solidFill>
                  </a:tcPr>
                </a:tc>
                <a:tc>
                  <a:txBody>
                    <a:bodyPr/>
                    <a:lstStyle/>
                    <a:p>
                      <a:r>
                        <a:rPr sz="1500" b="0">
                          <a:solidFill>
                            <a:srgbClr val="1F2937"/>
                          </a:solidFill>
                        </a:rPr>
                        <a:t>Gistologiya, immunogistokimyo, sekvenirlash</a:t>
                      </a:r>
                    </a:p>
                  </a:txBody>
                  <a:tcPr marL="73152" marR="73152" marT="36576" marB="36576">
                    <a:solidFill>
                      <a:srgbClr val="FFFFFF"/>
                    </a:solidFill>
                  </a:tcPr>
                </a:tc>
                <a:tc>
                  <a:txBody>
                    <a:bodyPr/>
                    <a:lstStyle/>
                    <a:p>
                      <a:r>
                        <a:rPr sz="1500" b="0">
                          <a:solidFill>
                            <a:srgbClr val="1F2937"/>
                          </a:solidFill>
                        </a:rPr>
                        <a:t>Makroskopik ko‘rik</a:t>
                      </a:r>
                    </a:p>
                  </a:txBody>
                  <a:tcPr marL="73152" marR="73152" marT="36576" marB="36576">
                    <a:solidFill>
                      <a:srgbClr val="FFFFFF"/>
                    </a:solidFill>
                  </a:tcPr>
                </a:tc>
              </a:tr>
              <a:tr h="614476">
                <a:tc>
                  <a:txBody>
                    <a:bodyPr/>
                    <a:lstStyle/>
                    <a:p>
                      <a:r>
                        <a:rPr sz="1500" b="0">
                          <a:solidFill>
                            <a:srgbClr val="1F2937"/>
                          </a:solidFill>
                        </a:rPr>
                        <a:t>Maqsad</a:t>
                      </a:r>
                    </a:p>
                  </a:txBody>
                  <a:tcPr marL="73152" marR="73152" marT="36576" marB="36576">
                    <a:solidFill>
                      <a:srgbClr val="E8EEF6"/>
                    </a:solidFill>
                  </a:tcPr>
                </a:tc>
                <a:tc>
                  <a:txBody>
                    <a:bodyPr/>
                    <a:lstStyle/>
                    <a:p>
                      <a:r>
                        <a:rPr sz="1500" b="0">
                          <a:solidFill>
                            <a:srgbClr val="1F2937"/>
                          </a:solidFill>
                        </a:rPr>
                        <a:t>—</a:t>
                      </a:r>
                    </a:p>
                  </a:txBody>
                  <a:tcPr marL="73152" marR="73152" marT="36576" marB="36576">
                    <a:solidFill>
                      <a:srgbClr val="E8EEF6"/>
                    </a:solidFill>
                  </a:tcPr>
                </a:tc>
                <a:tc>
                  <a:txBody>
                    <a:bodyPr/>
                    <a:lstStyle/>
                    <a:p>
                      <a:r>
                        <a:rPr sz="1500" b="0">
                          <a:solidFill>
                            <a:srgbClr val="1F2937"/>
                          </a:solidFill>
                        </a:rPr>
                        <a:t>O‘lim sababi va usulini aniqlash</a:t>
                      </a:r>
                    </a:p>
                  </a:txBody>
                  <a:tcPr marL="73152" marR="73152" marT="36576" marB="36576">
                    <a:solidFill>
                      <a:srgbClr val="E8EEF6"/>
                    </a:solidFill>
                  </a:tcPr>
                </a:tc>
              </a:tr>
              <a:tr h="614476">
                <a:tc>
                  <a:txBody>
                    <a:bodyPr/>
                    <a:lstStyle/>
                    <a:p>
                      <a:r>
                        <a:rPr sz="1500" b="0">
                          <a:solidFill>
                            <a:srgbClr val="1F2937"/>
                          </a:solidFill>
                        </a:rPr>
                        <a:t>Muammo</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c>
                  <a:txBody>
                    <a:bodyPr/>
                    <a:lstStyle/>
                    <a:p>
                      <a:r>
                        <a:rPr sz="1500" b="0">
                          <a:solidFill>
                            <a:srgbClr val="1F2937"/>
                          </a:solidFill>
                        </a:rPr>
                        <a:t>Xolislik, takrorlanuvchanlik shubhasi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Nevropatologiya va sud patologiyasi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 DOI 10.17879/freeneuropathology-2026-9343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 tekshiruvi nega muhim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Nevrologik kasalliklar va MNT jarohati dunyoda o‘limning keng tarqalgan sabablari qatoriga kiradi.</a:t>
            </a:r>
          </a:p>
          <a:p>
            <a:pPr>
              <a:spcAft>
                <a:spcPts val="1200"/>
              </a:spcAft>
            </a:pPr>
            <a:r>
              <a:rPr sz="2200">
                <a:solidFill>
                  <a:srgbClr val="1F2937"/>
                </a:solidFill>
                <a:latin typeface="Calibri"/>
              </a:rPr>
              <a:t>▸  MNT ni o‘limdan keyin to‘liq tekshirish ko‘pincha maxsus mahorat va murakkab to‘qima ishlov usullarini talab qiladi.</a:t>
            </a:r>
          </a:p>
          <a:p>
            <a:pPr>
              <a:spcAft>
                <a:spcPts val="1200"/>
              </a:spcAft>
            </a:pPr>
            <a:r>
              <a:rPr sz="2200">
                <a:solidFill>
                  <a:srgbClr val="1F2937"/>
                </a:solidFill>
                <a:latin typeface="Calibri"/>
              </a:rPr>
              <a:t>▸  Shu sababli nevropatologik tajriba klinik va sud patologiyasida yuqori qadrlanadi.</a:t>
            </a:r>
          </a:p>
          <a:p>
            <a:pPr>
              <a:spcAft>
                <a:spcPts val="1200"/>
              </a:spcAft>
            </a:pPr>
            <a:r>
              <a:rPr sz="2200">
                <a:solidFill>
                  <a:srgbClr val="1F2937"/>
                </a:solidFill>
                <a:latin typeface="Calibri"/>
              </a:rPr>
              <a:t>▸  Klinik nevropatologiyaga nisbatan sud yo‘nalishidagi tadqiqotlar kamroq uchraydi.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Oura P va boshq., Forensic neuropathology in the past decade: a scoping literature review, betlar: PMID 37439948; DOI 10.1007/s12024-023-00672-9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Skoping sharh: qidiruv va tanlov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Qidiruv MEDLINE bazasida 2022-yil 12-fevralda o‘tkazildi; 2010-yil 1-yanvardan boshlangan davr olindi.</a:t>
            </a:r>
          </a:p>
          <a:p>
            <a:pPr>
              <a:spcAft>
                <a:spcPts val="800"/>
              </a:spcAft>
            </a:pPr>
            <a:r>
              <a:rPr sz="1800">
                <a:solidFill>
                  <a:srgbClr val="1F2937"/>
                </a:solidFill>
                <a:latin typeface="Calibri"/>
              </a:rPr>
              <a:t>▸  Inson namunasida nevropatologik usul qo‘llangan, inglizcha original maqolalar tanlandi.</a:t>
            </a:r>
          </a:p>
          <a:p>
            <a:pPr>
              <a:spcAft>
                <a:spcPts val="800"/>
              </a:spcAft>
            </a:pPr>
            <a:r>
              <a:rPr sz="1800">
                <a:solidFill>
                  <a:srgbClr val="1F2937"/>
                </a:solidFill>
                <a:latin typeface="Calibri"/>
              </a:rPr>
              <a:t>▸  Nevropatologik usulsiz, faqat tasvir, suyuqlik, shaxsni aniqlash yoki suyak sinishi ishlari chiqarildi.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5053 ta dastlabki natija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2864 ta maqola (maqsad davri)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Sarlavha va annotatsiya ko‘rigi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Kerak bo‘lsa to‘liq matn ko‘rigi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122 ta maqola kiritildi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Maqolalarni saralash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Nashrlar hajmi va geografiyasi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Butun dunyoda yiliga atigi 3–17 maqola chop etilgan; ilmiy faollik nisbatan past.</a:t>
            </a:r>
          </a:p>
          <a:p>
            <a:pPr>
              <a:spcAft>
                <a:spcPts val="800"/>
              </a:spcAft>
            </a:pPr>
            <a:r>
              <a:rPr sz="1800">
                <a:solidFill>
                  <a:srgbClr val="1F2937"/>
                </a:solidFill>
                <a:latin typeface="Calibri"/>
              </a:rPr>
              <a:t>▸  Ko‘pchilik maqola sud-tibbiyot jurnallarida chiqqan; jurnallarning median impakt-faktori 2,3.</a:t>
            </a:r>
          </a:p>
          <a:p>
            <a:pPr>
              <a:spcAft>
                <a:spcPts val="800"/>
              </a:spcAft>
            </a:pPr>
            <a:r>
              <a:rPr sz="1800">
                <a:solidFill>
                  <a:srgbClr val="1F2937"/>
                </a:solidFill>
                <a:latin typeface="Calibri"/>
              </a:rPr>
              <a:t>▸  Amerika guruhlarining maqolalari kam, butun davrda Afrikadan faqat ikkita maqola chiqqan.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118549"/>
                <a:gridCol w="2169425"/>
              </a:tblGrid>
              <a:tr h="614476">
                <a:tc>
                  <a:txBody>
                    <a:bodyPr/>
                    <a:lstStyle/>
                    <a:p>
                      <a:r>
                        <a:rPr sz="1800" b="1">
                          <a:solidFill>
                            <a:srgbClr val="FFFFFF"/>
                          </a:solidFill>
                        </a:rPr>
                        <a:t>Ko‘rsatkich</a:t>
                      </a:r>
                    </a:p>
                  </a:txBody>
                  <a:tcPr marL="73152" marR="73152" marT="36576" marB="36576">
                    <a:solidFill>
                      <a:srgbClr val="0B1F3A"/>
                    </a:solidFill>
                  </a:tcPr>
                </a:tc>
                <a:tc>
                  <a:txBody>
                    <a:bodyPr/>
                    <a:lstStyle/>
                    <a:p>
                      <a:r>
                        <a:rPr sz="1800" b="1">
                          <a:solidFill>
                            <a:srgbClr val="FFFFFF"/>
                          </a:solidFill>
                        </a:rPr>
                        <a:t>Qiymat</a:t>
                      </a:r>
                    </a:p>
                  </a:txBody>
                  <a:tcPr marL="73152" marR="73152" marT="36576" marB="36576">
                    <a:solidFill>
                      <a:srgbClr val="0B1F3A"/>
                    </a:solidFill>
                  </a:tcPr>
                </a:tc>
              </a:tr>
              <a:tr h="614476">
                <a:tc>
                  <a:txBody>
                    <a:bodyPr/>
                    <a:lstStyle/>
                    <a:p>
                      <a:r>
                        <a:rPr sz="1700" b="0">
                          <a:solidFill>
                            <a:srgbClr val="1F2937"/>
                          </a:solidFill>
                        </a:rPr>
                        <a:t>Yiliga maqola soni</a:t>
                      </a:r>
                    </a:p>
                  </a:txBody>
                  <a:tcPr marL="73152" marR="73152" marT="36576" marB="36576">
                    <a:solidFill>
                      <a:srgbClr val="E8EEF6"/>
                    </a:solidFill>
                  </a:tcPr>
                </a:tc>
                <a:tc>
                  <a:txBody>
                    <a:bodyPr/>
                    <a:lstStyle/>
                    <a:p>
                      <a:r>
                        <a:rPr sz="1700" b="0">
                          <a:solidFill>
                            <a:srgbClr val="1F2937"/>
                          </a:solidFill>
                        </a:rPr>
                        <a:t>3–17 ta</a:t>
                      </a:r>
                    </a:p>
                  </a:txBody>
                  <a:tcPr marL="73152" marR="73152" marT="36576" marB="36576">
                    <a:solidFill>
                      <a:srgbClr val="E8EEF6"/>
                    </a:solidFill>
                  </a:tcPr>
                </a:tc>
              </a:tr>
              <a:tr h="614476">
                <a:tc>
                  <a:txBody>
                    <a:bodyPr/>
                    <a:lstStyle/>
                    <a:p>
                      <a:r>
                        <a:rPr sz="1700" b="0">
                          <a:solidFill>
                            <a:srgbClr val="1F2937"/>
                          </a:solidFill>
                        </a:rPr>
                        <a:t>Evropadan maqolalar</a:t>
                      </a:r>
                    </a:p>
                  </a:txBody>
                  <a:tcPr marL="73152" marR="73152" marT="36576" marB="36576">
                    <a:solidFill>
                      <a:srgbClr val="FFFFFF"/>
                    </a:solidFill>
                  </a:tcPr>
                </a:tc>
                <a:tc>
                  <a:txBody>
                    <a:bodyPr/>
                    <a:lstStyle/>
                    <a:p>
                      <a:r>
                        <a:rPr sz="1700" b="0">
                          <a:solidFill>
                            <a:srgbClr val="1F2937"/>
                          </a:solidFill>
                        </a:rPr>
                        <a:t>39,3%</a:t>
                      </a:r>
                    </a:p>
                  </a:txBody>
                  <a:tcPr marL="73152" marR="73152" marT="36576" marB="36576">
                    <a:solidFill>
                      <a:srgbClr val="FFFFFF"/>
                    </a:solidFill>
                  </a:tcPr>
                </a:tc>
              </a:tr>
              <a:tr h="614476">
                <a:tc>
                  <a:txBody>
                    <a:bodyPr/>
                    <a:lstStyle/>
                    <a:p>
                      <a:r>
                        <a:rPr sz="1700" b="0">
                          <a:solidFill>
                            <a:srgbClr val="1F2937"/>
                          </a:solidFill>
                        </a:rPr>
                        <a:t>Osiyodan maqolalar</a:t>
                      </a:r>
                    </a:p>
                  </a:txBody>
                  <a:tcPr marL="73152" marR="73152" marT="36576" marB="36576">
                    <a:solidFill>
                      <a:srgbClr val="E8EEF6"/>
                    </a:solidFill>
                  </a:tcPr>
                </a:tc>
                <a:tc>
                  <a:txBody>
                    <a:bodyPr/>
                    <a:lstStyle/>
                    <a:p>
                      <a:r>
                        <a:rPr sz="1700" b="0">
                          <a:solidFill>
                            <a:srgbClr val="1F2937"/>
                          </a:solidFill>
                        </a:rPr>
                        <a:t>36,1%</a:t>
                      </a:r>
                    </a:p>
                  </a:txBody>
                  <a:tcPr marL="73152" marR="73152" marT="36576" marB="36576">
                    <a:solidFill>
                      <a:srgbClr val="E8EEF6"/>
                    </a:solidFill>
                  </a:tcPr>
                </a:tc>
              </a:tr>
              <a:tr h="614476">
                <a:tc>
                  <a:txBody>
                    <a:bodyPr/>
                    <a:lstStyle/>
                    <a:p>
                      <a:r>
                        <a:rPr sz="1700" b="0">
                          <a:solidFill>
                            <a:srgbClr val="1F2937"/>
                          </a:solidFill>
                        </a:rPr>
                        <a:t>Sud-tibbiyot jurnallari</a:t>
                      </a:r>
                    </a:p>
                  </a:txBody>
                  <a:tcPr marL="73152" marR="73152" marT="36576" marB="36576">
                    <a:solidFill>
                      <a:srgbClr val="FFFFFF"/>
                    </a:solidFill>
                  </a:tcPr>
                </a:tc>
                <a:tc>
                  <a:txBody>
                    <a:bodyPr/>
                    <a:lstStyle/>
                    <a:p>
                      <a:r>
                        <a:rPr sz="1700" b="0">
                          <a:solidFill>
                            <a:srgbClr val="1F2937"/>
                          </a:solidFill>
                        </a:rPr>
                        <a:t>57,4%</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Nashrlar: asosiy ko‘rsatkichlar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Namuna xususiyatlari va nazorat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Median namuna 57 ta shaxs; kvartillar oralig‘i 29–101, to‘liq oralig‘i 4–1222.</a:t>
            </a:r>
          </a:p>
          <a:p>
            <a:pPr>
              <a:spcAft>
                <a:spcPts val="800"/>
              </a:spcAft>
            </a:pPr>
            <a:r>
              <a:rPr sz="1800">
                <a:solidFill>
                  <a:srgbClr val="1F2937"/>
                </a:solidFill>
                <a:latin typeface="Calibri"/>
              </a:rPr>
              <a:t>▸  Yoshning median quyi va yuqori chegarasi 16 va 80 yosh; ishlarning chorak qismidan ko‘pida yosh yozilmagan.</a:t>
            </a:r>
          </a:p>
          <a:p>
            <a:pPr>
              <a:spcAft>
                <a:spcPts val="800"/>
              </a:spcAft>
            </a:pPr>
            <a:r>
              <a:rPr sz="1800">
                <a:solidFill>
                  <a:srgbClr val="1F2937"/>
                </a:solidFill>
                <a:latin typeface="Calibri"/>
              </a:rPr>
              <a:t>▸  Nazorat guruhi tadqiqotlarning yarmidan kamida bo‘lgan, shuning uchun ko‘pchilik ish tavsifiy xarakterda.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118549"/>
                <a:gridCol w="2169425"/>
              </a:tblGrid>
              <a:tr h="614476">
                <a:tc>
                  <a:txBody>
                    <a:bodyPr/>
                    <a:lstStyle/>
                    <a:p>
                      <a:r>
                        <a:rPr sz="1800" b="1">
                          <a:solidFill>
                            <a:srgbClr val="FFFFFF"/>
                          </a:solidFill>
                        </a:rPr>
                        <a:t>Ko‘rsatkich</a:t>
                      </a:r>
                    </a:p>
                  </a:txBody>
                  <a:tcPr marL="73152" marR="73152" marT="36576" marB="36576">
                    <a:solidFill>
                      <a:srgbClr val="0B1F3A"/>
                    </a:solidFill>
                  </a:tcPr>
                </a:tc>
                <a:tc>
                  <a:txBody>
                    <a:bodyPr/>
                    <a:lstStyle/>
                    <a:p>
                      <a:r>
                        <a:rPr sz="1800" b="1">
                          <a:solidFill>
                            <a:srgbClr val="FFFFFF"/>
                          </a:solidFill>
                        </a:rPr>
                        <a:t>Natija</a:t>
                      </a:r>
                    </a:p>
                  </a:txBody>
                  <a:tcPr marL="73152" marR="73152" marT="36576" marB="36576">
                    <a:solidFill>
                      <a:srgbClr val="0B1F3A"/>
                    </a:solidFill>
                  </a:tcPr>
                </a:tc>
              </a:tr>
              <a:tr h="614476">
                <a:tc>
                  <a:txBody>
                    <a:bodyPr/>
                    <a:lstStyle/>
                    <a:p>
                      <a:r>
                        <a:rPr sz="1700" b="0">
                          <a:solidFill>
                            <a:srgbClr val="1F2937"/>
                          </a:solidFill>
                        </a:rPr>
                        <a:t>Median namuna hajmi</a:t>
                      </a:r>
                    </a:p>
                  </a:txBody>
                  <a:tcPr marL="73152" marR="73152" marT="36576" marB="36576">
                    <a:solidFill>
                      <a:srgbClr val="E8EEF6"/>
                    </a:solidFill>
                  </a:tcPr>
                </a:tc>
                <a:tc>
                  <a:txBody>
                    <a:bodyPr/>
                    <a:lstStyle/>
                    <a:p>
                      <a:r>
                        <a:rPr sz="1700" b="0">
                          <a:solidFill>
                            <a:srgbClr val="1F2937"/>
                          </a:solidFill>
                        </a:rPr>
                        <a:t>57 ta shaxs</a:t>
                      </a:r>
                    </a:p>
                  </a:txBody>
                  <a:tcPr marL="73152" marR="73152" marT="36576" marB="36576">
                    <a:solidFill>
                      <a:srgbClr val="E8EEF6"/>
                    </a:solidFill>
                  </a:tcPr>
                </a:tc>
              </a:tr>
              <a:tr h="614476">
                <a:tc>
                  <a:txBody>
                    <a:bodyPr/>
                    <a:lstStyle/>
                    <a:p>
                      <a:r>
                        <a:rPr sz="1700" b="0">
                          <a:solidFill>
                            <a:srgbClr val="1F2937"/>
                          </a:solidFill>
                        </a:rPr>
                        <a:t>Nazorat guruhi bor</a:t>
                      </a:r>
                    </a:p>
                  </a:txBody>
                  <a:tcPr marL="73152" marR="73152" marT="36576" marB="36576">
                    <a:solidFill>
                      <a:srgbClr val="FFFFFF"/>
                    </a:solidFill>
                  </a:tcPr>
                </a:tc>
                <a:tc>
                  <a:txBody>
                    <a:bodyPr/>
                    <a:lstStyle/>
                    <a:p>
                      <a:r>
                        <a:rPr sz="1700" b="0">
                          <a:solidFill>
                            <a:srgbClr val="1F2937"/>
                          </a:solidFill>
                        </a:rPr>
                        <a:t>43,4%</a:t>
                      </a:r>
                    </a:p>
                  </a:txBody>
                  <a:tcPr marL="73152" marR="73152" marT="36576" marB="36576">
                    <a:solidFill>
                      <a:srgbClr val="FFFFFF"/>
                    </a:solidFill>
                  </a:tcPr>
                </a:tc>
              </a:tr>
              <a:tr h="614476">
                <a:tc>
                  <a:txBody>
                    <a:bodyPr/>
                    <a:lstStyle/>
                    <a:p>
                      <a:r>
                        <a:rPr sz="1700" b="0">
                          <a:solidFill>
                            <a:srgbClr val="1F2937"/>
                          </a:solidFill>
                        </a:rPr>
                        <a:t>Faqat kattalar namunasi</a:t>
                      </a:r>
                    </a:p>
                  </a:txBody>
                  <a:tcPr marL="73152" marR="73152" marT="36576" marB="36576">
                    <a:solidFill>
                      <a:srgbClr val="E8EEF6"/>
                    </a:solidFill>
                  </a:tcPr>
                </a:tc>
                <a:tc>
                  <a:txBody>
                    <a:bodyPr/>
                    <a:lstStyle/>
                    <a:p>
                      <a:r>
                        <a:rPr sz="1700" b="0">
                          <a:solidFill>
                            <a:srgbClr val="1F2937"/>
                          </a:solidFill>
                        </a:rPr>
                        <a:t>30,3%</a:t>
                      </a:r>
                    </a:p>
                  </a:txBody>
                  <a:tcPr marL="73152" marR="73152" marT="36576" marB="36576">
                    <a:solidFill>
                      <a:srgbClr val="E8EEF6"/>
                    </a:solidFill>
                  </a:tcPr>
                </a:tc>
              </a:tr>
              <a:tr h="614476">
                <a:tc>
                  <a:txBody>
                    <a:bodyPr/>
                    <a:lstStyle/>
                    <a:p>
                      <a:r>
                        <a:rPr sz="1700" b="0">
                          <a:solidFill>
                            <a:srgbClr val="1F2937"/>
                          </a:solidFill>
                        </a:rPr>
                        <a:t>Yoshi ko‘rsatilmagan</a:t>
                      </a:r>
                    </a:p>
                  </a:txBody>
                  <a:tcPr marL="73152" marR="73152" marT="36576" marB="36576">
                    <a:solidFill>
                      <a:srgbClr val="FFFFFF"/>
                    </a:solidFill>
                  </a:tcPr>
                </a:tc>
                <a:tc>
                  <a:txBody>
                    <a:bodyPr/>
                    <a:lstStyle/>
                    <a:p>
                      <a:r>
                        <a:rPr sz="1700" b="0">
                          <a:solidFill>
                            <a:srgbClr val="1F2937"/>
                          </a:solidFill>
                        </a:rPr>
                        <a:t>27,0%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Namuna xususiyatlari (122 ta 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Tadqiqot mavzulari reytingi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Eng ko‘p tadqiqot travmatik intrakranial jarohatga bag‘ishlangan: 122 maqolaning 24,6 foizi shu mavzuda.</a:t>
            </a:r>
          </a:p>
          <a:p>
            <a:pPr>
              <a:spcAft>
                <a:spcPts val="800"/>
              </a:spcAft>
            </a:pPr>
            <a:r>
              <a:rPr sz="1800">
                <a:solidFill>
                  <a:srgbClr val="1F2937"/>
                </a:solidFill>
                <a:latin typeface="Calibri"/>
              </a:rPr>
              <a:t>▸  Kam o‘rganilgan: o‘z joniga qasd, asfiksiya, cho‘kish, gipo- va gipertermiya, o‘lim muddatini baholash.</a:t>
            </a:r>
          </a:p>
          <a:p>
            <a:pPr>
              <a:spcAft>
                <a:spcPts val="800"/>
              </a:spcAft>
            </a:pPr>
            <a:r>
              <a:rPr sz="1800">
                <a:solidFill>
                  <a:srgbClr val="1F2937"/>
                </a:solidFill>
                <a:latin typeface="Calibri"/>
              </a:rPr>
              <a:t>▸  Diqqat: anatomiya ko‘p yozilgan, ammo sud neyropatologiyasiga qo‘shgan hissasi nisbatan kichik.</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403625"/>
                <a:gridCol w="1098800"/>
                <a:gridCol w="1785550"/>
              </a:tblGrid>
              <a:tr h="614476">
                <a:tc>
                  <a:txBody>
                    <a:bodyPr/>
                    <a:lstStyle/>
                    <a:p>
                      <a:r>
                        <a:rPr sz="1600" b="1">
                          <a:solidFill>
                            <a:srgbClr val="FFFFFF"/>
                          </a:solidFill>
                        </a:rPr>
                        <a:t>Mavzu</a:t>
                      </a:r>
                    </a:p>
                  </a:txBody>
                  <a:tcPr marL="73152" marR="73152" marT="36576" marB="36576">
                    <a:solidFill>
                      <a:srgbClr val="0B1F3A"/>
                    </a:solidFill>
                  </a:tcPr>
                </a:tc>
                <a:tc>
                  <a:txBody>
                    <a:bodyPr/>
                    <a:lstStyle/>
                    <a:p>
                      <a:r>
                        <a:rPr sz="1600" b="1">
                          <a:solidFill>
                            <a:srgbClr val="FFFFFF"/>
                          </a:solidFill>
                        </a:rPr>
                        <a:t>Ulush</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Travmatik intrakranial jarohat</a:t>
                      </a:r>
                    </a:p>
                  </a:txBody>
                  <a:tcPr marL="73152" marR="73152" marT="36576" marB="36576">
                    <a:solidFill>
                      <a:srgbClr val="E8EEF6"/>
                    </a:solidFill>
                  </a:tcPr>
                </a:tc>
                <a:tc>
                  <a:txBody>
                    <a:bodyPr/>
                    <a:lstStyle/>
                    <a:p>
                      <a:r>
                        <a:rPr sz="1500" b="0">
                          <a:solidFill>
                            <a:srgbClr val="1F2937"/>
                          </a:solidFill>
                        </a:rPr>
                        <a:t>24,6%</a:t>
                      </a:r>
                    </a:p>
                  </a:txBody>
                  <a:tcPr marL="73152" marR="73152" marT="36576" marB="36576">
                    <a:solidFill>
                      <a:srgbClr val="E8EEF6"/>
                    </a:solidFill>
                  </a:tcPr>
                </a:tc>
                <a:tc>
                  <a:txBody>
                    <a:bodyPr/>
                    <a:lstStyle/>
                    <a:p>
                      <a:r>
                        <a:rPr sz="1500" b="0">
                          <a:solidFill>
                            <a:srgbClr val="1F2937"/>
                          </a:solidFill>
                        </a:rPr>
                        <a:t>Eng ko‘p o‘rganilgan</a:t>
                      </a:r>
                    </a:p>
                  </a:txBody>
                  <a:tcPr marL="73152" marR="73152" marT="36576" marB="36576">
                    <a:solidFill>
                      <a:srgbClr val="E8EEF6"/>
                    </a:solidFill>
                  </a:tcPr>
                </a:tc>
              </a:tr>
              <a:tr h="614476">
                <a:tc>
                  <a:txBody>
                    <a:bodyPr/>
                    <a:lstStyle/>
                    <a:p>
                      <a:r>
                        <a:rPr sz="1500" b="0">
                          <a:solidFill>
                            <a:srgbClr val="1F2937"/>
                          </a:solidFill>
                        </a:rPr>
                        <a:t>Anatomiya</a:t>
                      </a:r>
                    </a:p>
                  </a:txBody>
                  <a:tcPr marL="73152" marR="73152" marT="36576" marB="36576">
                    <a:solidFill>
                      <a:srgbClr val="FFFFFF"/>
                    </a:solidFill>
                  </a:tcPr>
                </a:tc>
                <a:tc>
                  <a:txBody>
                    <a:bodyPr/>
                    <a:lstStyle/>
                    <a:p>
                      <a:r>
                        <a:rPr sz="1500" b="0">
                          <a:solidFill>
                            <a:srgbClr val="1F2937"/>
                          </a:solidFill>
                        </a:rPr>
                        <a:t>12,3%</a:t>
                      </a:r>
                    </a:p>
                  </a:txBody>
                  <a:tcPr marL="73152" marR="73152" marT="36576" marB="36576">
                    <a:solidFill>
                      <a:srgbClr val="FFFFFF"/>
                    </a:solidFill>
                  </a:tcPr>
                </a:tc>
                <a:tc>
                  <a:txBody>
                    <a:bodyPr/>
                    <a:lstStyle/>
                    <a:p>
                      <a:r>
                        <a:rPr sz="1500" b="0">
                          <a:solidFill>
                            <a:srgbClr val="1F2937"/>
                          </a:solidFill>
                        </a:rPr>
                        <a:t>Tomirlar, miya vazni</a:t>
                      </a:r>
                    </a:p>
                  </a:txBody>
                  <a:tcPr marL="73152" marR="73152" marT="36576" marB="36576">
                    <a:solidFill>
                      <a:srgbClr val="FFFFFF"/>
                    </a:solidFill>
                  </a:tcPr>
                </a:tc>
              </a:tr>
              <a:tr h="614476">
                <a:tc>
                  <a:txBody>
                    <a:bodyPr/>
                    <a:lstStyle/>
                    <a:p>
                      <a:r>
                        <a:rPr sz="1500" b="0">
                          <a:solidFill>
                            <a:srgbClr val="1F2937"/>
                          </a:solidFill>
                        </a:rPr>
                        <a:t>Giyohvandlik</a:t>
                      </a:r>
                    </a:p>
                  </a:txBody>
                  <a:tcPr marL="73152" marR="73152" marT="36576" marB="36576">
                    <a:solidFill>
                      <a:srgbClr val="E8EEF6"/>
                    </a:solidFill>
                  </a:tcPr>
                </a:tc>
                <a:tc>
                  <a:txBody>
                    <a:bodyPr/>
                    <a:lstStyle/>
                    <a:p>
                      <a:r>
                        <a:rPr sz="1500" b="0">
                          <a:solidFill>
                            <a:srgbClr val="1F2937"/>
                          </a:solidFill>
                        </a:rPr>
                        <a:t>11,5%</a:t>
                      </a:r>
                    </a:p>
                  </a:txBody>
                  <a:tcPr marL="73152" marR="73152" marT="36576" marB="36576">
                    <a:solidFill>
                      <a:srgbClr val="E8EEF6"/>
                    </a:solidFill>
                  </a:tcPr>
                </a:tc>
                <a:tc>
                  <a:txBody>
                    <a:bodyPr/>
                    <a:lstStyle/>
                    <a:p>
                      <a:r>
                        <a:rPr sz="1500" b="0">
                          <a:solidFill>
                            <a:srgbClr val="1F2937"/>
                          </a:solidFill>
                        </a:rPr>
                        <a:t>Spirt, opioid, stimulyator</a:t>
                      </a:r>
                    </a:p>
                  </a:txBody>
                  <a:tcPr marL="73152" marR="73152" marT="36576" marB="36576">
                    <a:solidFill>
                      <a:srgbClr val="E8EEF6"/>
                    </a:solidFill>
                  </a:tcPr>
                </a:tc>
              </a:tr>
              <a:tr h="614476">
                <a:tc>
                  <a:txBody>
                    <a:bodyPr/>
                    <a:lstStyle/>
                    <a:p>
                      <a:r>
                        <a:rPr sz="1500" b="0">
                          <a:solidFill>
                            <a:srgbClr val="1F2937"/>
                          </a:solidFill>
                        </a:rPr>
                        <a:t>Chaqaloq/bolalarda kutilmagan o‘lim</a:t>
                      </a:r>
                    </a:p>
                  </a:txBody>
                  <a:tcPr marL="73152" marR="73152" marT="36576" marB="36576">
                    <a:solidFill>
                      <a:srgbClr val="FFFFFF"/>
                    </a:solidFill>
                  </a:tcPr>
                </a:tc>
                <a:tc>
                  <a:txBody>
                    <a:bodyPr/>
                    <a:lstStyle/>
                    <a:p>
                      <a:r>
                        <a:rPr sz="1500" b="0">
                          <a:solidFill>
                            <a:srgbClr val="1F2937"/>
                          </a:solidFill>
                        </a:rPr>
                        <a:t>6,6%</a:t>
                      </a:r>
                    </a:p>
                  </a:txBody>
                  <a:tcPr marL="73152" marR="73152" marT="36576" marB="36576">
                    <a:solidFill>
                      <a:srgbClr val="FFFFFF"/>
                    </a:solidFill>
                  </a:tcPr>
                </a:tc>
                <a:tc>
                  <a:txBody>
                    <a:bodyPr/>
                    <a:lstStyle/>
                    <a:p>
                      <a:r>
                        <a:rPr sz="1500" b="0">
                          <a:solidFill>
                            <a:srgbClr val="1F2937"/>
                          </a:solidFill>
                        </a:rPr>
                        <a:t>Kam ulush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Mavzular ulushi (122 maqola)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Qo‘llanilgan usullar: immunotexnika va makroskopiya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Immunotexnikalar (immunogistokimyo, immunoblotting) eng keng qo‘llangan: tadqiqotlarning 31,1 foizi.</a:t>
            </a:r>
          </a:p>
          <a:p>
            <a:pPr>
              <a:spcAft>
                <a:spcPts val="800"/>
              </a:spcAft>
            </a:pPr>
            <a:r>
              <a:rPr sz="1800">
                <a:solidFill>
                  <a:srgbClr val="1F2937"/>
                </a:solidFill>
                <a:latin typeface="Calibri"/>
              </a:rPr>
              <a:t>▸  An’anaviy gistologiya asosiy usul sifatida oz holda ishlatilgan; genetik usullar turli maqsadda qo‘llangan.</a:t>
            </a:r>
          </a:p>
          <a:p>
            <a:pPr>
              <a:spcAft>
                <a:spcPts val="800"/>
              </a:spcAft>
            </a:pPr>
            <a:r>
              <a:rPr sz="1800">
                <a:solidFill>
                  <a:srgbClr val="1F2937"/>
                </a:solidFill>
                <a:latin typeface="Calibri"/>
              </a:rPr>
              <a:t>▸  Diqqat: dastlabki topilma ≠ tasdiqlangan usul; ko‘p yangi natija hali qo‘shimcha tekshiruv talab qiladi.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27859"/>
                <a:gridCol w="1705357"/>
                <a:gridCol w="1654758"/>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Kuchli tomon</a:t>
                      </a:r>
                    </a:p>
                  </a:txBody>
                  <a:tcPr marL="73152" marR="73152" marT="36576" marB="36576">
                    <a:solidFill>
                      <a:srgbClr val="0B1F3A"/>
                    </a:solidFill>
                  </a:tcPr>
                </a:tc>
                <a:tc>
                  <a:txBody>
                    <a:bodyPr/>
                    <a:lstStyle/>
                    <a:p>
                      <a:r>
                        <a:rPr sz="1600" b="1">
                          <a:solidFill>
                            <a:srgbClr val="FFFFFF"/>
                          </a:solidFill>
                        </a:rPr>
                        <a:t>Zaif tomon</a:t>
                      </a:r>
                    </a:p>
                  </a:txBody>
                  <a:tcPr marL="73152" marR="73152" marT="36576" marB="36576">
                    <a:solidFill>
                      <a:srgbClr val="0B1F3A"/>
                    </a:solidFill>
                  </a:tcPr>
                </a:tc>
              </a:tr>
              <a:tr h="614476">
                <a:tc>
                  <a:txBody>
                    <a:bodyPr/>
                    <a:lstStyle/>
                    <a:p>
                      <a:r>
                        <a:rPr sz="1500" b="0">
                          <a:solidFill>
                            <a:srgbClr val="1F2937"/>
                          </a:solidFill>
                        </a:rPr>
                        <a:t>Immunotexnika, 31,1%</a:t>
                      </a:r>
                    </a:p>
                  </a:txBody>
                  <a:tcPr marL="73152" marR="73152" marT="36576" marB="36576">
                    <a:solidFill>
                      <a:srgbClr val="E8EEF6"/>
                    </a:solidFill>
                  </a:tcPr>
                </a:tc>
                <a:tc>
                  <a:txBody>
                    <a:bodyPr/>
                    <a:lstStyle/>
                    <a:p>
                      <a:r>
                        <a:rPr sz="1500" b="0">
                          <a:solidFill>
                            <a:srgbClr val="1F2937"/>
                          </a:solidFill>
                        </a:rPr>
                        <a:t>Jarohat belgisi va yoshini aniqlaydi</a:t>
                      </a:r>
                    </a:p>
                  </a:txBody>
                  <a:tcPr marL="73152" marR="73152" marT="36576" marB="36576">
                    <a:solidFill>
                      <a:srgbClr val="E8EEF6"/>
                    </a:solidFill>
                  </a:tcPr>
                </a:tc>
                <a:tc>
                  <a:txBody>
                    <a:bodyPr/>
                    <a:lstStyle/>
                    <a:p>
                      <a:r>
                        <a:rPr sz="1500" b="0">
                          <a:solidFill>
                            <a:srgbClr val="1F2937"/>
                          </a:solidFill>
                        </a:rPr>
                        <a:t>Topilmalar dastlabki, tasdiq kerak</a:t>
                      </a:r>
                    </a:p>
                  </a:txBody>
                  <a:tcPr marL="73152" marR="73152" marT="36576" marB="36576">
                    <a:solidFill>
                      <a:srgbClr val="E8EEF6"/>
                    </a:solidFill>
                  </a:tcPr>
                </a:tc>
              </a:tr>
              <a:tr h="614476">
                <a:tc>
                  <a:txBody>
                    <a:bodyPr/>
                    <a:lstStyle/>
                    <a:p>
                      <a:r>
                        <a:rPr sz="1500" b="0">
                          <a:solidFill>
                            <a:srgbClr val="1F2937"/>
                          </a:solidFill>
                        </a:rPr>
                        <a:t>Makroskopiya, 21,3%</a:t>
                      </a:r>
                    </a:p>
                  </a:txBody>
                  <a:tcPr marL="73152" marR="73152" marT="36576" marB="36576">
                    <a:solidFill>
                      <a:srgbClr val="FFFFFF"/>
                    </a:solidFill>
                  </a:tcPr>
                </a:tc>
                <a:tc>
                  <a:txBody>
                    <a:bodyPr/>
                    <a:lstStyle/>
                    <a:p>
                      <a:r>
                        <a:rPr sz="1500" b="0">
                          <a:solidFill>
                            <a:srgbClr val="1F2937"/>
                          </a:solidFill>
                        </a:rPr>
                        <a:t>Jarohat shakllarini ko‘rsatadi</a:t>
                      </a:r>
                    </a:p>
                  </a:txBody>
                  <a:tcPr marL="73152" marR="73152" marT="36576" marB="36576">
                    <a:solidFill>
                      <a:srgbClr val="FFFFFF"/>
                    </a:solidFill>
                  </a:tcPr>
                </a:tc>
                <a:tc>
                  <a:txBody>
                    <a:bodyPr/>
                    <a:lstStyle/>
                    <a:p>
                      <a:r>
                        <a:rPr sz="1500" b="0">
                          <a:solidFill>
                            <a:srgbClr val="1F2937"/>
                          </a:solidFill>
                        </a:rPr>
                        <a:t>Ko‘pincha faqat tavsif bilan cheklanadi</a:t>
                      </a:r>
                    </a:p>
                  </a:txBody>
                  <a:tcPr marL="73152" marR="73152" marT="36576" marB="36576">
                    <a:solidFill>
                      <a:srgbClr val="FFFFFF"/>
                    </a:solidFill>
                  </a:tcPr>
                </a:tc>
              </a:tr>
              <a:tr h="614476">
                <a:tc>
                  <a:txBody>
                    <a:bodyPr/>
                    <a:lstStyle/>
                    <a:p>
                      <a:r>
                        <a:rPr sz="1500" b="0">
                          <a:solidFill>
                            <a:srgbClr val="1F2937"/>
                          </a:solidFill>
                        </a:rPr>
                        <a:t>Genetik usullar</a:t>
                      </a:r>
                    </a:p>
                  </a:txBody>
                  <a:tcPr marL="73152" marR="73152" marT="36576" marB="36576">
                    <a:solidFill>
                      <a:srgbClr val="E8EEF6"/>
                    </a:solidFill>
                  </a:tcPr>
                </a:tc>
                <a:tc>
                  <a:txBody>
                    <a:bodyPr/>
                    <a:lstStyle/>
                    <a:p>
                      <a:r>
                        <a:rPr sz="1500" b="0">
                          <a:solidFill>
                            <a:srgbClr val="1F2937"/>
                          </a:solidFill>
                        </a:rPr>
                        <a:t>To‘qima aniqlash, gen ifodasi tahlili</a:t>
                      </a:r>
                    </a:p>
                  </a:txBody>
                  <a:tcPr marL="73152" marR="73152" marT="36576" marB="36576">
                    <a:solidFill>
                      <a:srgbClr val="E8EEF6"/>
                    </a:solidFill>
                  </a:tcPr>
                </a:tc>
                <a:tc>
                  <a:txBody>
                    <a:bodyPr/>
                    <a:lstStyle/>
                    <a:p>
                      <a:r>
                        <a:rPr sz="1500" b="0">
                          <a:solidFill>
                            <a:srgbClr val="1F2937"/>
                          </a:solidFill>
                        </a:rPr>
                        <a:t>Topilmalar dastlabki, tasdiq kerak</a:t>
                      </a:r>
                    </a:p>
                  </a:txBody>
                  <a:tcPr marL="73152" marR="73152" marT="36576" marB="36576">
                    <a:solidFill>
                      <a:srgbClr val="E8EEF6"/>
                    </a:solidFill>
                  </a:tcPr>
                </a:tc>
              </a:tr>
              <a:tr h="614476">
                <a:tc>
                  <a:txBody>
                    <a:bodyPr/>
                    <a:lstStyle/>
                    <a:p>
                      <a:r>
                        <a:rPr sz="1500" b="0">
                          <a:solidFill>
                            <a:srgbClr val="1F2937"/>
                          </a:solidFill>
                        </a:rPr>
                        <a:t>Miya vaznini o‘lchash</a:t>
                      </a:r>
                    </a:p>
                  </a:txBody>
                  <a:tcPr marL="73152" marR="73152" marT="36576" marB="36576">
                    <a:solidFill>
                      <a:srgbClr val="FFFFFF"/>
                    </a:solidFill>
                  </a:tcPr>
                </a:tc>
                <a:tc>
                  <a:txBody>
                    <a:bodyPr/>
                    <a:lstStyle/>
                    <a:p>
                      <a:r>
                        <a:rPr sz="1500" b="0">
                          <a:solidFill>
                            <a:srgbClr val="1F2937"/>
                          </a:solidFill>
                        </a:rPr>
                        <a:t>Sodda o‘lchov</a:t>
                      </a:r>
                    </a:p>
                  </a:txBody>
                  <a:tcPr marL="73152" marR="73152" marT="36576" marB="36576">
                    <a:solidFill>
                      <a:srgbClr val="FFFFFF"/>
                    </a:solidFill>
                  </a:tcPr>
                </a:tc>
                <a:tc>
                  <a:txBody>
                    <a:bodyPr/>
                    <a:lstStyle/>
                    <a:p>
                      <a:r>
                        <a:rPr sz="1500" b="0">
                          <a:solidFill>
                            <a:srgbClr val="1F2937"/>
                          </a:solidFill>
                        </a:rPr>
                        <a:t>Qo‘pol usul, natija ko‘pincha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Usullarning kuchli va zaif tomonlari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kichik namuna va nazoratsiz 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tadqiqotchi kichik namunada immunotexnika bilan yangi belgi topdi, nazorat guruhi yo‘q. Manbada o‘rtacha (mediana) namuna 57 kishi.</a:t>
            </a:r>
          </a:p>
          <a:p>
            <a:pPr>
              <a:spcAft>
                <a:spcPts val="1200"/>
              </a:spcAft>
            </a:pPr>
            <a:r>
              <a:rPr sz="2200">
                <a:solidFill>
                  <a:srgbClr val="1F2937"/>
                </a:solidFill>
                <a:latin typeface="Calibri"/>
              </a:rPr>
              <a:t>▸  Nazorat guruhi tadqiqotlarning faqat 43,4 foizida bo‘lgan; solishtirma dizayn ko‘p ilmiy xulosa uchun shart.</a:t>
            </a:r>
          </a:p>
          <a:p>
            <a:pPr>
              <a:spcAft>
                <a:spcPts val="1200"/>
              </a:spcAft>
            </a:pPr>
            <a:r>
              <a:rPr sz="2200">
                <a:solidFill>
                  <a:srgbClr val="1F2937"/>
                </a:solidFill>
                <a:latin typeface="Calibri"/>
              </a:rPr>
              <a:t>▸  Namuna kichik bo‘lsa ham, statistik quvvat hisobi kamdan-kam keltirilgan; yosh oralig‘i keng bo‘lsa, guruh bir xil bo‘lmay qoladi.</a:t>
            </a:r>
          </a:p>
          <a:p>
            <a:pPr>
              <a:spcAft>
                <a:spcPts val="1200"/>
              </a:spcAft>
            </a:pPr>
            <a:r>
              <a:rPr sz="2200">
                <a:solidFill>
                  <a:srgbClr val="1F2937"/>
                </a:solidFill>
                <a:latin typeface="Calibri"/>
              </a:rPr>
              <a:t>▸  Savol: bunday xulosaga qanchalik ishonish mumkin? Javob: u dastlabki hisoblanadi va yirik, nazoratli tadqiqotda tasdiqlanishi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sharh natijalari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2010–2022 yillardagi 122 ta original maqolada eng ko‘p o‘rganilgan mavzu qaysi edi?</a:t>
            </a:r>
          </a:p>
          <a:p>
            <a:pPr>
              <a:spcAft>
                <a:spcPts val="1200"/>
              </a:spcAft>
            </a:pPr>
            <a:r>
              <a:rPr sz="2200">
                <a:solidFill>
                  <a:srgbClr val="1F2937"/>
                </a:solidFill>
                <a:latin typeface="Calibri"/>
              </a:rPr>
              <a:t>▸  Savol: eng ko‘p qo‘llangan usul qaysi va u maqolalarning qancha ulushida ishlatilgan?</a:t>
            </a:r>
          </a:p>
          <a:p>
            <a:pPr>
              <a:spcAft>
                <a:spcPts val="1200"/>
              </a:spcAft>
            </a:pPr>
            <a:r>
              <a:rPr sz="2200">
                <a:solidFill>
                  <a:srgbClr val="1F2937"/>
                </a:solidFill>
                <a:latin typeface="Calibri"/>
              </a:rPr>
              <a:t>▸  Yordam: butun dunyo bo‘yicha yiliga atigi 3–17 ta maqola chop etilgan, ya‘ni soha tadqiqotlari kam.</a:t>
            </a:r>
          </a:p>
          <a:p>
            <a:pPr>
              <a:spcAft>
                <a:spcPts val="1200"/>
              </a:spcAft>
            </a:pPr>
            <a:r>
              <a:rPr sz="2200">
                <a:solidFill>
                  <a:srgbClr val="1F2937"/>
                </a:solidFill>
                <a:latin typeface="Calibri"/>
              </a:rPr>
              <a:t>▸  Diqqat: xato qilish xavfi — anatomiya (12.3%) ikkinchi, moddalar suiste‘moli (11.5%) uchinchi o‘rinda; birinchi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Oura P va boshq., Forensic neuropathology in the past decade: a scoping literature review, betlar: PMID 37439948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modda lezyonlari: MRI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Oq modda lezyonlari — magnit-rezonans tomografiyada (MRI) qarishning eng keng tarqalgan belgilaridan.</a:t>
            </a:r>
          </a:p>
          <a:p>
            <a:pPr>
              <a:spcAft>
                <a:spcPts val="800"/>
              </a:spcAft>
            </a:pPr>
            <a:r>
              <a:rPr sz="1800">
                <a:solidFill>
                  <a:srgbClr val="1F2937"/>
                </a:solidFill>
                <a:latin typeface="Calibri"/>
              </a:rPr>
              <a:t>▸  Lezyon yuki ortishi insult, kognitiv pasayish, demensiya va o‘lim xavfi bilan kuchli bog‘liq.</a:t>
            </a:r>
          </a:p>
          <a:p>
            <a:pPr>
              <a:spcAft>
                <a:spcPts val="800"/>
              </a:spcAft>
            </a:pPr>
            <a:r>
              <a:rPr sz="1800">
                <a:solidFill>
                  <a:srgbClr val="1F2937"/>
                </a:solidFill>
                <a:latin typeface="Calibri"/>
              </a:rPr>
              <a:t>▸  Gistologik darajada lezyonlar hali yetarli o‘rganilmagan, shu sababli MRI bilan gistologiyani bog‘lash kerak.</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80616"/>
                <a:gridCol w="3407359"/>
              </a:tblGrid>
              <a:tr h="614476">
                <a:tc>
                  <a:txBody>
                    <a:bodyPr/>
                    <a:lstStyle/>
                    <a:p>
                      <a:r>
                        <a:rPr sz="1800" b="1">
                          <a:solidFill>
                            <a:srgbClr val="FFFFFF"/>
                          </a:solidFill>
                        </a:rPr>
                        <a:t>Ketma-ketlik</a:t>
                      </a:r>
                    </a:p>
                  </a:txBody>
                  <a:tcPr marL="73152" marR="73152" marT="36576" marB="36576">
                    <a:solidFill>
                      <a:srgbClr val="0B1F3A"/>
                    </a:solidFill>
                  </a:tcPr>
                </a:tc>
                <a:tc>
                  <a:txBody>
                    <a:bodyPr/>
                    <a:lstStyle/>
                    <a:p>
                      <a:r>
                        <a:rPr sz="1800" b="1">
                          <a:solidFill>
                            <a:srgbClr val="FFFFFF"/>
                          </a:solidFill>
                        </a:rPr>
                        <a:t>MRI belgisi</a:t>
                      </a:r>
                    </a:p>
                  </a:txBody>
                  <a:tcPr marL="73152" marR="73152" marT="36576" marB="36576">
                    <a:solidFill>
                      <a:srgbClr val="0B1F3A"/>
                    </a:solidFill>
                  </a:tcPr>
                </a:tc>
              </a:tr>
              <a:tr h="614476">
                <a:tc>
                  <a:txBody>
                    <a:bodyPr/>
                    <a:lstStyle/>
                    <a:p>
                      <a:r>
                        <a:rPr sz="1700" b="0">
                          <a:solidFill>
                            <a:srgbClr val="1F2937"/>
                          </a:solidFill>
                        </a:rPr>
                        <a:t>T2-vaznli</a:t>
                      </a:r>
                    </a:p>
                  </a:txBody>
                  <a:tcPr marL="73152" marR="73152" marT="36576" marB="36576">
                    <a:solidFill>
                      <a:srgbClr val="E8EEF6"/>
                    </a:solidFill>
                  </a:tcPr>
                </a:tc>
                <a:tc>
                  <a:txBody>
                    <a:bodyPr/>
                    <a:lstStyle/>
                    <a:p>
                      <a:r>
                        <a:rPr sz="1700" b="0">
                          <a:solidFill>
                            <a:srgbClr val="1F2937"/>
                          </a:solidFill>
                        </a:rPr>
                        <a:t>Giperintens (yorqin) soha</a:t>
                      </a:r>
                    </a:p>
                  </a:txBody>
                  <a:tcPr marL="73152" marR="73152" marT="36576" marB="36576">
                    <a:solidFill>
                      <a:srgbClr val="E8EEF6"/>
                    </a:solidFill>
                  </a:tcPr>
                </a:tc>
              </a:tr>
              <a:tr h="614476">
                <a:tc>
                  <a:txBody>
                    <a:bodyPr/>
                    <a:lstStyle/>
                    <a:p>
                      <a:r>
                        <a:rPr sz="1700" b="0">
                          <a:solidFill>
                            <a:srgbClr val="1F2937"/>
                          </a:solidFill>
                        </a:rPr>
                        <a:t>T1-vaznli</a:t>
                      </a:r>
                    </a:p>
                  </a:txBody>
                  <a:tcPr marL="73152" marR="73152" marT="36576" marB="36576">
                    <a:solidFill>
                      <a:srgbClr val="FFFFFF"/>
                    </a:solidFill>
                  </a:tcPr>
                </a:tc>
                <a:tc>
                  <a:txBody>
                    <a:bodyPr/>
                    <a:lstStyle/>
                    <a:p>
                      <a:r>
                        <a:rPr sz="1700" b="0">
                          <a:solidFill>
                            <a:srgbClr val="1F2937"/>
                          </a:solidFill>
                        </a:rPr>
                        <a:t>Gipointens (qorong‘i) soha</a:t>
                      </a:r>
                    </a:p>
                  </a:txBody>
                  <a:tcPr marL="73152" marR="73152" marT="36576" marB="36576">
                    <a:solidFill>
                      <a:srgbClr val="FFFFFF"/>
                    </a:solidFill>
                  </a:tcPr>
                </a:tc>
              </a:tr>
              <a:tr h="614476">
                <a:tc>
                  <a:txBody>
                    <a:bodyPr/>
                    <a:lstStyle/>
                    <a:p>
                      <a:r>
                        <a:rPr sz="1700" b="0">
                          <a:solidFill>
                            <a:srgbClr val="1F2937"/>
                          </a:solidFill>
                        </a:rPr>
                        <a:t>Mumkin sabablar</a:t>
                      </a:r>
                    </a:p>
                  </a:txBody>
                  <a:tcPr marL="73152" marR="73152" marT="36576" marB="36576">
                    <a:solidFill>
                      <a:srgbClr val="E8EEF6"/>
                    </a:solidFill>
                  </a:tcPr>
                </a:tc>
                <a:tc>
                  <a:txBody>
                    <a:bodyPr/>
                    <a:lstStyle/>
                    <a:p>
                      <a:r>
                        <a:rPr sz="1700" b="0">
                          <a:solidFill>
                            <a:srgbClr val="1F2937"/>
                          </a:solidFill>
                        </a:rPr>
                        <a:t>Demielinizatsiya, aksonal yo‘qotish, glioz</a:t>
                      </a:r>
                    </a:p>
                  </a:txBody>
                  <a:tcPr marL="73152" marR="73152" marT="36576" marB="36576">
                    <a:solidFill>
                      <a:srgbClr val="E8EEF6"/>
                    </a:solidFill>
                  </a:tcPr>
                </a:tc>
              </a:tr>
              <a:tr h="614476">
                <a:tc>
                  <a:txBody>
                    <a:bodyPr/>
                    <a:lstStyle/>
                    <a:p>
                      <a:r>
                        <a:rPr sz="1700" b="0">
                          <a:solidFill>
                            <a:srgbClr val="1F2937"/>
                          </a:solidFill>
                        </a:rPr>
                        <a:t>Klinik bog‘liqlik</a:t>
                      </a:r>
                    </a:p>
                  </a:txBody>
                  <a:tcPr marL="73152" marR="73152" marT="36576" marB="36576">
                    <a:solidFill>
                      <a:srgbClr val="FFFFFF"/>
                    </a:solidFill>
                  </a:tcPr>
                </a:tc>
                <a:tc>
                  <a:txBody>
                    <a:bodyPr/>
                    <a:lstStyle/>
                    <a:p>
                      <a:r>
                        <a:rPr sz="1700" b="0">
                          <a:solidFill>
                            <a:srgbClr val="1F2937"/>
                          </a:solidFill>
                        </a:rPr>
                        <a:t>Qarish, qon tomir xavfi, neyrodegeneratsiya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T2 va T1 solishtirma jadvali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MRI-yo‘naltirilgan namuna olishning umumiy sxemasi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Chap yarimsharni agar-saxaroza muhitiga joylash to‘qimani qimirlashdan va deformatsiyadan saqlaydi.</a:t>
            </a:r>
          </a:p>
          <a:p>
            <a:pPr>
              <a:spcAft>
                <a:spcPts val="800"/>
              </a:spcAft>
            </a:pPr>
            <a:r>
              <a:rPr sz="1800">
                <a:solidFill>
                  <a:srgbClr val="1F2937"/>
                </a:solidFill>
                <a:latin typeface="Calibri"/>
              </a:rPr>
              <a:t>▸  Kesilgan har bir plastinka yuzasi suratga olinadi (blokface) va MRI kesimlariga moslashtiriladi.</a:t>
            </a:r>
          </a:p>
          <a:p>
            <a:pPr>
              <a:spcAft>
                <a:spcPts val="800"/>
              </a:spcAft>
            </a:pPr>
            <a:r>
              <a:rPr sz="1800">
                <a:solidFill>
                  <a:srgbClr val="1F2937"/>
                </a:solidFill>
                <a:latin typeface="Calibri"/>
              </a:rPr>
              <a:t>▸  Chuqur o‘rganish modeli T1 da lezyonni topadi; neyropatolog maska bo‘yicha namuna 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Agar-saxarozaga joylash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7 Tesla (7T) MRI skanerlash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3D yo‘naltirgich bilan kesish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MRI–blokface moslashtirish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Lezyondan namuna olish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 jarayoni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Agar-saxaroza muhiti: dielektrik moslik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Agar-saxaroza muhiti harakat artefaktini kamaytiradi va miyani kesish paytida deformatsiyadan saqlaydi.</a:t>
            </a:r>
          </a:p>
          <a:p>
            <a:pPr>
              <a:spcAft>
                <a:spcPts val="800"/>
              </a:spcAft>
            </a:pPr>
            <a:r>
              <a:rPr sz="1800">
                <a:solidFill>
                  <a:srgbClr val="1F2937"/>
                </a:solidFill>
                <a:latin typeface="Calibri"/>
              </a:rPr>
              <a:t>▸  7 T magnit-rezonans tomografiyada (MRT) muhitning dielektrik xossalari miyaga yaqin bo‘lishi kerak.</a:t>
            </a:r>
          </a:p>
          <a:p>
            <a:pPr>
              <a:spcAft>
                <a:spcPts val="800"/>
              </a:spcAft>
            </a:pPr>
            <a:r>
              <a:rPr sz="1800">
                <a:solidFill>
                  <a:srgbClr val="1F2937"/>
                </a:solidFill>
                <a:latin typeface="Calibri"/>
              </a:rPr>
              <a:t>▸  Agarga saxaroza qo‘shilsa, nisbiy singdiruvchanlik 78 dan 68 gacha tushadi va miyaga yaqinlashadi.</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834603"/>
                <a:gridCol w="1726685"/>
                <a:gridCol w="1726685"/>
              </a:tblGrid>
              <a:tr h="768096">
                <a:tc>
                  <a:txBody>
                    <a:bodyPr/>
                    <a:lstStyle/>
                    <a:p>
                      <a:r>
                        <a:rPr sz="1600" b="1">
                          <a:solidFill>
                            <a:srgbClr val="FFFFFF"/>
                          </a:solidFill>
                        </a:rPr>
                        <a:t>Muhit</a:t>
                      </a:r>
                    </a:p>
                  </a:txBody>
                  <a:tcPr marL="73152" marR="73152" marT="36576" marB="36576">
                    <a:solidFill>
                      <a:srgbClr val="0B1F3A"/>
                    </a:solidFill>
                  </a:tcPr>
                </a:tc>
                <a:tc>
                  <a:txBody>
                    <a:bodyPr/>
                    <a:lstStyle/>
                    <a:p>
                      <a:r>
                        <a:rPr sz="1600" b="1">
                          <a:solidFill>
                            <a:srgbClr val="FFFFFF"/>
                          </a:solidFill>
                        </a:rPr>
                        <a:t>Qiymat</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768096">
                <a:tc>
                  <a:txBody>
                    <a:bodyPr/>
                    <a:lstStyle/>
                    <a:p>
                      <a:r>
                        <a:rPr sz="1500" b="0">
                          <a:solidFill>
                            <a:srgbClr val="1F2937"/>
                          </a:solidFill>
                        </a:rPr>
                        <a:t>Suv va oddiy agar</a:t>
                      </a:r>
                    </a:p>
                  </a:txBody>
                  <a:tcPr marL="73152" marR="73152" marT="36576" marB="36576">
                    <a:solidFill>
                      <a:srgbClr val="E8EEF6"/>
                    </a:solidFill>
                  </a:tcPr>
                </a:tc>
                <a:tc>
                  <a:txBody>
                    <a:bodyPr/>
                    <a:lstStyle/>
                    <a:p>
                      <a:r>
                        <a:rPr sz="1500" b="0">
                          <a:solidFill>
                            <a:srgbClr val="1F2937"/>
                          </a:solidFill>
                        </a:rPr>
                        <a:t>~78</a:t>
                      </a:r>
                    </a:p>
                  </a:txBody>
                  <a:tcPr marL="73152" marR="73152" marT="36576" marB="36576">
                    <a:solidFill>
                      <a:srgbClr val="E8EEF6"/>
                    </a:solidFill>
                  </a:tcPr>
                </a:tc>
                <a:tc>
                  <a:txBody>
                    <a:bodyPr/>
                    <a:lstStyle/>
                    <a:p>
                      <a:r>
                        <a:rPr sz="1500" b="0">
                          <a:solidFill>
                            <a:srgbClr val="1F2937"/>
                          </a:solidFill>
                        </a:rPr>
                        <a:t>Miyadan yuqori</a:t>
                      </a:r>
                    </a:p>
                  </a:txBody>
                  <a:tcPr marL="73152" marR="73152" marT="36576" marB="36576">
                    <a:solidFill>
                      <a:srgbClr val="E8EEF6"/>
                    </a:solidFill>
                  </a:tcPr>
                </a:tc>
              </a:tr>
              <a:tr h="768096">
                <a:tc>
                  <a:txBody>
                    <a:bodyPr/>
                    <a:lstStyle/>
                    <a:p>
                      <a:r>
                        <a:rPr sz="1500" b="0">
                          <a:solidFill>
                            <a:srgbClr val="1F2937"/>
                          </a:solidFill>
                        </a:rPr>
                        <a:t>Miya to‘qimasi</a:t>
                      </a:r>
                    </a:p>
                  </a:txBody>
                  <a:tcPr marL="73152" marR="73152" marT="36576" marB="36576">
                    <a:solidFill>
                      <a:srgbClr val="FFFFFF"/>
                    </a:solidFill>
                  </a:tcPr>
                </a:tc>
                <a:tc>
                  <a:txBody>
                    <a:bodyPr/>
                    <a:lstStyle/>
                    <a:p>
                      <a:r>
                        <a:rPr sz="1500" b="0">
                          <a:solidFill>
                            <a:srgbClr val="1F2937"/>
                          </a:solidFill>
                        </a:rPr>
                        <a:t>~58</a:t>
                      </a:r>
                    </a:p>
                  </a:txBody>
                  <a:tcPr marL="73152" marR="73152" marT="36576" marB="36576">
                    <a:solidFill>
                      <a:srgbClr val="FFFFFF"/>
                    </a:solidFill>
                  </a:tcPr>
                </a:tc>
                <a:tc>
                  <a:txBody>
                    <a:bodyPr/>
                    <a:lstStyle/>
                    <a:p>
                      <a:r>
                        <a:rPr sz="1500" b="0">
                          <a:solidFill>
                            <a:srgbClr val="1F2937"/>
                          </a:solidFill>
                        </a:rPr>
                        <a:t>Mo‘ljal qiymat</a:t>
                      </a:r>
                    </a:p>
                  </a:txBody>
                  <a:tcPr marL="73152" marR="73152" marT="36576" marB="36576">
                    <a:solidFill>
                      <a:srgbClr val="FFFFFF"/>
                    </a:solidFill>
                  </a:tcPr>
                </a:tc>
              </a:tr>
              <a:tr h="768096">
                <a:tc>
                  <a:txBody>
                    <a:bodyPr/>
                    <a:lstStyle/>
                    <a:p>
                      <a:r>
                        <a:rPr sz="1500" b="0">
                          <a:solidFill>
                            <a:srgbClr val="1F2937"/>
                          </a:solidFill>
                        </a:rPr>
                        <a:t>Agar + saxaroza</a:t>
                      </a:r>
                    </a:p>
                  </a:txBody>
                  <a:tcPr marL="73152" marR="73152" marT="36576" marB="36576">
                    <a:solidFill>
                      <a:srgbClr val="E8EEF6"/>
                    </a:solidFill>
                  </a:tcPr>
                </a:tc>
                <a:tc>
                  <a:txBody>
                    <a:bodyPr/>
                    <a:lstStyle/>
                    <a:p>
                      <a:r>
                        <a:rPr sz="1500" b="0">
                          <a:solidFill>
                            <a:srgbClr val="1F2937"/>
                          </a:solidFill>
                        </a:rPr>
                        <a:t>68</a:t>
                      </a:r>
                    </a:p>
                  </a:txBody>
                  <a:tcPr marL="73152" marR="73152" marT="36576" marB="36576">
                    <a:solidFill>
                      <a:srgbClr val="E8EEF6"/>
                    </a:solidFill>
                  </a:tcPr>
                </a:tc>
                <a:tc>
                  <a:txBody>
                    <a:bodyPr/>
                    <a:lstStyle/>
                    <a:p>
                      <a:r>
                        <a:rPr sz="1500" b="0">
                          <a:solidFill>
                            <a:srgbClr val="1F2937"/>
                          </a:solidFill>
                        </a:rPr>
                        <a:t>Miyaga yaqinroq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Nisbiy singdiruvchanlik (permittivity)</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Miyani agarga joylash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10% formalindan olinib, gyruslarga iliq eritma pipetka bilan sekin quyiladi.</a:t>
            </a:r>
          </a:p>
          <a:p>
            <a:pPr>
              <a:spcAft>
                <a:spcPts val="800"/>
              </a:spcAft>
            </a:pPr>
            <a:r>
              <a:rPr sz="1800">
                <a:solidFill>
                  <a:srgbClr val="1F2937"/>
                </a:solidFill>
                <a:latin typeface="Calibri"/>
              </a:rPr>
              <a:t>▸  Qorinchalar avval to‘ldiriladi, so‘ng atrofiga massaj qilib quyiladi — pufaklar chiqadi.</a:t>
            </a:r>
          </a:p>
          <a:p>
            <a:pPr>
              <a:spcAft>
                <a:spcPts val="800"/>
              </a:spcAft>
            </a:pPr>
            <a:r>
              <a:rPr sz="1800">
                <a:solidFill>
                  <a:srgbClr val="1F2937"/>
                </a:solidFill>
                <a:latin typeface="Calibri"/>
              </a:rPr>
              <a:t>▸  Miya 2–3 daqiqa botirib ushlanadi, agar quyuqlashib, suzib chiqishiga yo‘l qo‘ymasin.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Agar 1,5% va saxaroza 30%</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65–68°C da 2–3 soat isitish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42°C gacha sovitish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Miyani joylash, pufak chiqarish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2–3 soat qotish, qopqoq yopish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Joylash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3D chop etilgan konteyner va kesish yo‘naltirgichi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Ustunlar kamar bo‘ylab joylashgan; qalinligi 0,5 mm pichoq ular orasidan o‘tkaziladi.</a:t>
            </a:r>
          </a:p>
          <a:p>
            <a:pPr>
              <a:spcAft>
                <a:spcPts val="800"/>
              </a:spcAft>
            </a:pPr>
            <a:r>
              <a:rPr sz="1800">
                <a:solidFill>
                  <a:srgbClr val="1F2937"/>
                </a:solidFill>
                <a:latin typeface="Calibri"/>
              </a:rPr>
              <a:t>▸  Qopqoqdagi kirish teshigidan yopilgach agar qo‘shiladi, chiqish teshigidan havo so‘riladi.</a:t>
            </a:r>
          </a:p>
          <a:p>
            <a:pPr>
              <a:spcAft>
                <a:spcPts val="800"/>
              </a:spcAft>
            </a:pPr>
            <a:r>
              <a:rPr sz="1800">
                <a:solidFill>
                  <a:srgbClr val="1F2937"/>
                </a:solidFill>
                <a:latin typeface="Calibri"/>
              </a:rPr>
              <a:t>▸  Uch qism ham 3D bosmada chop etiladi; bitta to‘plam taxminan 30 ta miyaga yetadi.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2091658"/>
                <a:gridCol w="1386566"/>
              </a:tblGrid>
              <a:tr h="614476">
                <a:tc>
                  <a:txBody>
                    <a:bodyPr/>
                    <a:lstStyle/>
                    <a:p>
                      <a:r>
                        <a:rPr sz="1600" b="1">
                          <a:solidFill>
                            <a:srgbClr val="FFFFFF"/>
                          </a:solidFill>
                        </a:rPr>
                        <a:t>Qism</a:t>
                      </a:r>
                    </a:p>
                  </a:txBody>
                  <a:tcPr marL="73152" marR="73152" marT="36576" marB="36576">
                    <a:solidFill>
                      <a:srgbClr val="0B1F3A"/>
                    </a:solidFill>
                  </a:tcPr>
                </a:tc>
                <a:tc>
                  <a:txBody>
                    <a:bodyPr/>
                    <a:lstStyle/>
                    <a:p>
                      <a:r>
                        <a:rPr sz="1600" b="1">
                          <a:solidFill>
                            <a:srgbClr val="FFFFFF"/>
                          </a:solidFill>
                        </a:rPr>
                        <a:t>Vazifa</a:t>
                      </a:r>
                    </a:p>
                  </a:txBody>
                  <a:tcPr marL="73152" marR="73152" marT="36576" marB="36576">
                    <a:solidFill>
                      <a:srgbClr val="0B1F3A"/>
                    </a:solidFill>
                  </a:tcPr>
                </a:tc>
                <a:tc>
                  <a:txBody>
                    <a:bodyPr/>
                    <a:lstStyle/>
                    <a:p>
                      <a:r>
                        <a:rPr sz="1600" b="1">
                          <a:solidFill>
                            <a:srgbClr val="FFFFFF"/>
                          </a:solidFill>
                        </a:rPr>
                        <a:t>Tuzilishi</a:t>
                      </a:r>
                    </a:p>
                  </a:txBody>
                  <a:tcPr marL="73152" marR="73152" marT="36576" marB="36576">
                    <a:solidFill>
                      <a:srgbClr val="0B1F3A"/>
                    </a:solidFill>
                  </a:tcPr>
                </a:tc>
              </a:tr>
              <a:tr h="614476">
                <a:tc>
                  <a:txBody>
                    <a:bodyPr/>
                    <a:lstStyle/>
                    <a:p>
                      <a:r>
                        <a:rPr sz="1500" b="0">
                          <a:solidFill>
                            <a:srgbClr val="1F2937"/>
                          </a:solidFill>
                        </a:rPr>
                        <a:t>Korpus</a:t>
                      </a:r>
                    </a:p>
                  </a:txBody>
                  <a:tcPr marL="73152" marR="73152" marT="36576" marB="36576">
                    <a:solidFill>
                      <a:srgbClr val="E8EEF6"/>
                    </a:solidFill>
                  </a:tcPr>
                </a:tc>
                <a:tc>
                  <a:txBody>
                    <a:bodyPr/>
                    <a:lstStyle/>
                    <a:p>
                      <a:r>
                        <a:rPr sz="1500" b="0">
                          <a:solidFill>
                            <a:srgbClr val="1F2937"/>
                          </a:solidFill>
                        </a:rPr>
                        <a:t>Skanerlashda deformatsiyadan saqlash</a:t>
                      </a:r>
                    </a:p>
                  </a:txBody>
                  <a:tcPr marL="73152" marR="73152" marT="36576" marB="36576">
                    <a:solidFill>
                      <a:srgbClr val="E8EEF6"/>
                    </a:solidFill>
                  </a:tcPr>
                </a:tc>
                <a:tc>
                  <a:txBody>
                    <a:bodyPr/>
                    <a:lstStyle/>
                    <a:p>
                      <a:r>
                        <a:rPr sz="1500" b="0">
                          <a:solidFill>
                            <a:srgbClr val="1F2937"/>
                          </a:solidFill>
                        </a:rPr>
                        <a:t>Devor va tub qalinligi 3 mm</a:t>
                      </a:r>
                    </a:p>
                  </a:txBody>
                  <a:tcPr marL="73152" marR="73152" marT="36576" marB="36576">
                    <a:solidFill>
                      <a:srgbClr val="E8EEF6"/>
                    </a:solidFill>
                  </a:tcPr>
                </a:tc>
              </a:tr>
              <a:tr h="614476">
                <a:tc>
                  <a:txBody>
                    <a:bodyPr/>
                    <a:lstStyle/>
                    <a:p>
                      <a:r>
                        <a:rPr sz="1500" b="0">
                          <a:solidFill>
                            <a:srgbClr val="1F2937"/>
                          </a:solidFill>
                        </a:rPr>
                        <a:t>Yo‘naltirgich</a:t>
                      </a:r>
                    </a:p>
                  </a:txBody>
                  <a:tcPr marL="73152" marR="73152" marT="36576" marB="36576">
                    <a:solidFill>
                      <a:srgbClr val="FFFFFF"/>
                    </a:solidFill>
                  </a:tcPr>
                </a:tc>
                <a:tc>
                  <a:txBody>
                    <a:bodyPr/>
                    <a:lstStyle/>
                    <a:p>
                      <a:r>
                        <a:rPr sz="1500" b="0">
                          <a:solidFill>
                            <a:srgbClr val="1F2937"/>
                          </a:solidFill>
                        </a:rPr>
                        <a:t>Pichoqni koronal tekislikda ushlaydi</a:t>
                      </a:r>
                    </a:p>
                  </a:txBody>
                  <a:tcPr marL="73152" marR="73152" marT="36576" marB="36576">
                    <a:solidFill>
                      <a:srgbClr val="FFFFFF"/>
                    </a:solidFill>
                  </a:tcPr>
                </a:tc>
                <a:tc>
                  <a:txBody>
                    <a:bodyPr/>
                    <a:lstStyle/>
                    <a:p>
                      <a:r>
                        <a:rPr sz="1500" b="0">
                          <a:solidFill>
                            <a:srgbClr val="1F2937"/>
                          </a:solidFill>
                        </a:rPr>
                        <a:t>28 yuqori, 29 pastki ustun</a:t>
                      </a:r>
                    </a:p>
                  </a:txBody>
                  <a:tcPr marL="73152" marR="73152" marT="36576" marB="36576">
                    <a:solidFill>
                      <a:srgbClr val="FFFFFF"/>
                    </a:solidFill>
                  </a:tcPr>
                </a:tc>
              </a:tr>
              <a:tr h="614476">
                <a:tc>
                  <a:txBody>
                    <a:bodyPr/>
                    <a:lstStyle/>
                    <a:p>
                      <a:r>
                        <a:rPr sz="1500" b="0">
                          <a:solidFill>
                            <a:srgbClr val="1F2937"/>
                          </a:solidFill>
                        </a:rPr>
                        <a:t>Ustunlar</a:t>
                      </a:r>
                    </a:p>
                  </a:txBody>
                  <a:tcPr marL="73152" marR="73152" marT="36576" marB="36576">
                    <a:solidFill>
                      <a:srgbClr val="E8EEF6"/>
                    </a:solidFill>
                  </a:tcPr>
                </a:tc>
                <a:tc>
                  <a:txBody>
                    <a:bodyPr/>
                    <a:lstStyle/>
                    <a:p>
                      <a:r>
                        <a:rPr sz="1500" b="0">
                          <a:solidFill>
                            <a:srgbClr val="1F2937"/>
                          </a:solidFill>
                        </a:rPr>
                        <a:t>Pichoq oralig‘iga mo‘ljallangan</a:t>
                      </a:r>
                    </a:p>
                  </a:txBody>
                  <a:tcPr marL="73152" marR="73152" marT="36576" marB="36576">
                    <a:solidFill>
                      <a:srgbClr val="E8EEF6"/>
                    </a:solidFill>
                  </a:tcPr>
                </a:tc>
                <a:tc>
                  <a:txBody>
                    <a:bodyPr/>
                    <a:lstStyle/>
                    <a:p>
                      <a:r>
                        <a:rPr sz="1500" b="0">
                          <a:solidFill>
                            <a:srgbClr val="1F2937"/>
                          </a:solidFill>
                        </a:rPr>
                        <a:t>Diametr 4 mm, oralig‘i 0,6 mm</a:t>
                      </a:r>
                    </a:p>
                  </a:txBody>
                  <a:tcPr marL="73152" marR="73152" marT="36576" marB="36576">
                    <a:solidFill>
                      <a:srgbClr val="E8EEF6"/>
                    </a:solidFill>
                  </a:tcPr>
                </a:tc>
              </a:tr>
              <a:tr h="614476">
                <a:tc>
                  <a:txBody>
                    <a:bodyPr/>
                    <a:lstStyle/>
                    <a:p>
                      <a:r>
                        <a:rPr sz="1500" b="0">
                          <a:solidFill>
                            <a:srgbClr val="1F2937"/>
                          </a:solidFill>
                        </a:rPr>
                        <a:t>Qopqoq</a:t>
                      </a:r>
                    </a:p>
                  </a:txBody>
                  <a:tcPr marL="73152" marR="73152" marT="36576" marB="36576">
                    <a:solidFill>
                      <a:srgbClr val="FFFFFF"/>
                    </a:solidFill>
                  </a:tcPr>
                </a:tc>
                <a:tc>
                  <a:txBody>
                    <a:bodyPr/>
                    <a:lstStyle/>
                    <a:p>
                      <a:r>
                        <a:rPr sz="1500" b="0">
                          <a:solidFill>
                            <a:srgbClr val="1F2937"/>
                          </a:solidFill>
                        </a:rPr>
                        <a:t>Korpusni yopadi, agar qo‘shishga imkon beradi</a:t>
                      </a:r>
                    </a:p>
                  </a:txBody>
                  <a:tcPr marL="73152" marR="73152" marT="36576" marB="36576">
                    <a:solidFill>
                      <a:srgbClr val="FFFFFF"/>
                    </a:solidFill>
                  </a:tcPr>
                </a:tc>
                <a:tc>
                  <a:txBody>
                    <a:bodyPr/>
                    <a:lstStyle/>
                    <a:p>
                      <a:r>
                        <a:rPr sz="1500" b="0">
                          <a:solidFill>
                            <a:srgbClr val="1F2937"/>
                          </a:solidFill>
                        </a:rPr>
                        <a:t>Kirish va chiqish teshigi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Konteyner qismlari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7T MRI ketma-ketliklari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T2-SPACE tasvirlarida ustunlar qora ko‘rinadi; moslashtirish aynan shu ketma-ketlikda bajarildi.</a:t>
            </a:r>
          </a:p>
          <a:p>
            <a:pPr>
              <a:spcAft>
                <a:spcPts val="800"/>
              </a:spcAft>
            </a:pPr>
            <a:r>
              <a:rPr sz="1800">
                <a:solidFill>
                  <a:srgbClr val="1F2937"/>
                </a:solidFill>
                <a:latin typeface="Calibri"/>
              </a:rPr>
              <a:t>▸  T1w MP2RAGE tasvirida chuqur o‘rganish modeli oq modda o‘zgarishlarini avtomatik ajratdi.</a:t>
            </a:r>
          </a:p>
          <a:p>
            <a:pPr>
              <a:spcAft>
                <a:spcPts val="800"/>
              </a:spcAft>
            </a:pPr>
            <a:r>
              <a:rPr sz="1800">
                <a:solidFill>
                  <a:srgbClr val="1F2937"/>
                </a:solidFill>
                <a:latin typeface="Calibri"/>
              </a:rPr>
              <a:t>▸  GRE ning maqsadi matnda aniq yozilmagan; havo pufakchalari GRE da sezuvchanlik artefaktini beradi.</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830452"/>
                <a:gridCol w="1830452"/>
                <a:gridCol w="1627069"/>
              </a:tblGrid>
              <a:tr h="768096">
                <a:tc>
                  <a:txBody>
                    <a:bodyPr/>
                    <a:lstStyle/>
                    <a:p>
                      <a:r>
                        <a:rPr sz="1600" b="1">
                          <a:solidFill>
                            <a:srgbClr val="FFFFFF"/>
                          </a:solidFill>
                        </a:rPr>
                        <a:t>Ketma-ketlik</a:t>
                      </a:r>
                    </a:p>
                  </a:txBody>
                  <a:tcPr marL="73152" marR="73152" marT="36576" marB="36576">
                    <a:solidFill>
                      <a:srgbClr val="0B1F3A"/>
                    </a:solidFill>
                  </a:tcPr>
                </a:tc>
                <a:tc>
                  <a:txBody>
                    <a:bodyPr/>
                    <a:lstStyle/>
                    <a:p>
                      <a:r>
                        <a:rPr sz="1600" b="1">
                          <a:solidFill>
                            <a:srgbClr val="FFFFFF"/>
                          </a:solidFill>
                        </a:rPr>
                        <a:t>Voksel (mm)</a:t>
                      </a:r>
                    </a:p>
                  </a:txBody>
                  <a:tcPr marL="73152" marR="73152" marT="36576" marB="36576">
                    <a:solidFill>
                      <a:srgbClr val="0B1F3A"/>
                    </a:solidFill>
                  </a:tcPr>
                </a:tc>
                <a:tc>
                  <a:txBody>
                    <a:bodyPr/>
                    <a:lstStyle/>
                    <a:p>
                      <a:r>
                        <a:rPr sz="1600" b="1">
                          <a:solidFill>
                            <a:srgbClr val="FFFFFF"/>
                          </a:solidFill>
                        </a:rPr>
                        <a:t>Vaqt</a:t>
                      </a:r>
                    </a:p>
                  </a:txBody>
                  <a:tcPr marL="73152" marR="73152" marT="36576" marB="36576">
                    <a:solidFill>
                      <a:srgbClr val="0B1F3A"/>
                    </a:solidFill>
                  </a:tcPr>
                </a:tc>
              </a:tr>
              <a:tr h="768096">
                <a:tc>
                  <a:txBody>
                    <a:bodyPr/>
                    <a:lstStyle/>
                    <a:p>
                      <a:r>
                        <a:rPr sz="1500" b="0">
                          <a:solidFill>
                            <a:srgbClr val="1F2937"/>
                          </a:solidFill>
                        </a:rPr>
                        <a:t>GRE</a:t>
                      </a:r>
                    </a:p>
                  </a:txBody>
                  <a:tcPr marL="73152" marR="73152" marT="36576" marB="36576">
                    <a:solidFill>
                      <a:srgbClr val="E8EEF6"/>
                    </a:solidFill>
                  </a:tcPr>
                </a:tc>
                <a:tc>
                  <a:txBody>
                    <a:bodyPr/>
                    <a:lstStyle/>
                    <a:p>
                      <a:r>
                        <a:rPr sz="1500" b="0">
                          <a:solidFill>
                            <a:srgbClr val="1F2937"/>
                          </a:solidFill>
                        </a:rPr>
                        <a:t>0,37 × 0,37 × 0,37</a:t>
                      </a:r>
                    </a:p>
                  </a:txBody>
                  <a:tcPr marL="73152" marR="73152" marT="36576" marB="36576">
                    <a:solidFill>
                      <a:srgbClr val="E8EEF6"/>
                    </a:solidFill>
                  </a:tcPr>
                </a:tc>
                <a:tc>
                  <a:txBody>
                    <a:bodyPr/>
                    <a:lstStyle/>
                    <a:p>
                      <a:r>
                        <a:rPr sz="1500" b="0">
                          <a:solidFill>
                            <a:srgbClr val="1F2937"/>
                          </a:solidFill>
                        </a:rPr>
                        <a:t>36 daq 59 s</a:t>
                      </a:r>
                    </a:p>
                  </a:txBody>
                  <a:tcPr marL="73152" marR="73152" marT="36576" marB="36576">
                    <a:solidFill>
                      <a:srgbClr val="E8EEF6"/>
                    </a:solidFill>
                  </a:tcPr>
                </a:tc>
              </a:tr>
              <a:tr h="768096">
                <a:tc>
                  <a:txBody>
                    <a:bodyPr/>
                    <a:lstStyle/>
                    <a:p>
                      <a:r>
                        <a:rPr sz="1500" b="0">
                          <a:solidFill>
                            <a:srgbClr val="1F2937"/>
                          </a:solidFill>
                        </a:rPr>
                        <a:t>T2-SPACE</a:t>
                      </a:r>
                    </a:p>
                  </a:txBody>
                  <a:tcPr marL="73152" marR="73152" marT="36576" marB="36576">
                    <a:solidFill>
                      <a:srgbClr val="FFFFFF"/>
                    </a:solidFill>
                  </a:tcPr>
                </a:tc>
                <a:tc>
                  <a:txBody>
                    <a:bodyPr/>
                    <a:lstStyle/>
                    <a:p>
                      <a:r>
                        <a:rPr sz="1500" b="0">
                          <a:solidFill>
                            <a:srgbClr val="1F2937"/>
                          </a:solidFill>
                        </a:rPr>
                        <a:t>0,41 × 0,41 × 0,41</a:t>
                      </a:r>
                    </a:p>
                  </a:txBody>
                  <a:tcPr marL="73152" marR="73152" marT="36576" marB="36576">
                    <a:solidFill>
                      <a:srgbClr val="FFFFFF"/>
                    </a:solidFill>
                  </a:tcPr>
                </a:tc>
                <a:tc>
                  <a:txBody>
                    <a:bodyPr/>
                    <a:lstStyle/>
                    <a:p>
                      <a:r>
                        <a:rPr sz="1500" b="0">
                          <a:solidFill>
                            <a:srgbClr val="1F2937"/>
                          </a:solidFill>
                        </a:rPr>
                        <a:t>46 daq 19 s</a:t>
                      </a:r>
                    </a:p>
                  </a:txBody>
                  <a:tcPr marL="73152" marR="73152" marT="36576" marB="36576">
                    <a:solidFill>
                      <a:srgbClr val="FFFFFF"/>
                    </a:solidFill>
                  </a:tcPr>
                </a:tc>
              </a:tr>
              <a:tr h="768096">
                <a:tc>
                  <a:txBody>
                    <a:bodyPr/>
                    <a:lstStyle/>
                    <a:p>
                      <a:r>
                        <a:rPr sz="1500" b="0">
                          <a:solidFill>
                            <a:srgbClr val="1F2937"/>
                          </a:solidFill>
                        </a:rPr>
                        <a:t>T1w MP2RAGE</a:t>
                      </a:r>
                    </a:p>
                  </a:txBody>
                  <a:tcPr marL="73152" marR="73152" marT="36576" marB="36576">
                    <a:solidFill>
                      <a:srgbClr val="E8EEF6"/>
                    </a:solidFill>
                  </a:tcPr>
                </a:tc>
                <a:tc>
                  <a:txBody>
                    <a:bodyPr/>
                    <a:lstStyle/>
                    <a:p>
                      <a:r>
                        <a:rPr sz="1500" b="0">
                          <a:solidFill>
                            <a:srgbClr val="1F2937"/>
                          </a:solidFill>
                        </a:rPr>
                        <a:t>0,37 × 0,37 × 0,37</a:t>
                      </a:r>
                    </a:p>
                  </a:txBody>
                  <a:tcPr marL="73152" marR="73152" marT="36576" marB="36576">
                    <a:solidFill>
                      <a:srgbClr val="E8EEF6"/>
                    </a:solidFill>
                  </a:tcPr>
                </a:tc>
                <a:tc>
                  <a:txBody>
                    <a:bodyPr/>
                    <a:lstStyle/>
                    <a:p>
                      <a:r>
                        <a:rPr sz="1500" b="0">
                          <a:solidFill>
                            <a:srgbClr val="1F2937"/>
                          </a:solidFill>
                        </a:rPr>
                        <a:t>32 daq 28 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ketma-ketlik parametrlari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Miyani yo‘naltirilgan holda kesish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Muhit devor bo‘ylab bo‘shatilib, yo‘naltirgich to‘rtburchak ustunlardan tutib ajratib olinadi.</a:t>
            </a:r>
          </a:p>
          <a:p>
            <a:pPr>
              <a:spcAft>
                <a:spcPts val="800"/>
              </a:spcAft>
            </a:pPr>
            <a:r>
              <a:rPr sz="1800">
                <a:solidFill>
                  <a:srgbClr val="1F2937"/>
                </a:solidFill>
                <a:latin typeface="Calibri"/>
              </a:rPr>
              <a:t>▸  Pichoq 0,5 mm; har kesishda ikki juft ustun o‘tkazib yuboriladi. Keyin pichoq izlari suratga olinadi.</a:t>
            </a:r>
          </a:p>
          <a:p>
            <a:pPr>
              <a:spcAft>
                <a:spcPts val="800"/>
              </a:spcAft>
            </a:pPr>
            <a:r>
              <a:rPr sz="1800">
                <a:solidFill>
                  <a:srgbClr val="1F2937"/>
                </a:solidFill>
                <a:latin typeface="Calibri"/>
              </a:rPr>
              <a:t>▸  Ustunlar qamramagan qismlar qo‘lda kesiladi; bo‘laklar bir haftagacha 10% formalinda saqlanadi.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Qopqoq olinadi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Yo‘naltirgich ajratiladi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Koronal kesish (ustunlar orasi)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Pichoq izlari suratga olinadi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Qo‘lda kesish; formalin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Kesish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MRI va blokface suratlarini moslashtirish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Ustunlar blokface da oq, T2-SPACE da qora ko‘rinib, ishonchli belgi (fiducial) vazifasini bajaradi.</a:t>
            </a:r>
          </a:p>
          <a:p>
            <a:pPr>
              <a:spcAft>
                <a:spcPts val="800"/>
              </a:spcAft>
            </a:pPr>
            <a:r>
              <a:rPr sz="1800">
                <a:solidFill>
                  <a:srgbClr val="1F2937"/>
                </a:solidFill>
                <a:latin typeface="Calibri"/>
              </a:rPr>
              <a:t>▸  Pichoq ustunlar juftligi orasida koronal virtual tekislik bo‘ylab yurgan deb faraz qilindi.</a:t>
            </a:r>
          </a:p>
          <a:p>
            <a:pPr>
              <a:spcAft>
                <a:spcPts val="800"/>
              </a:spcAft>
            </a:pPr>
            <a:r>
              <a:rPr sz="1800">
                <a:solidFill>
                  <a:srgbClr val="1F2937"/>
                </a:solidFill>
                <a:latin typeface="Calibri"/>
              </a:rPr>
              <a:t>▸  RadiAnt ko‘ruvchisida tekislik pichoq iziga moslanadi; moslik ko‘z bilan, ya‘ni sifat jihatidan tasdiqlanadi.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Ustunlar — belgi vazifasida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Virtual koronal tekislik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RadiAnt MPR da sozlash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Vizual tasdiq, keyingi kesim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Maska blokface ga o‘tkaziladi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Moslashtirish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Lezyonni segmentatsiya qilish va namuna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modda lezyonlari magnit-rezonans tomografiya (MRT)da T1 va T2 ketma-ketliklarida ko‘rinadi va namuna olishni yo‘naltiradi.</a:t>
            </a:r>
          </a:p>
          <a:p>
            <a:pPr>
              <a:spcAft>
                <a:spcPts val="1200"/>
              </a:spcAft>
            </a:pPr>
            <a:r>
              <a:rPr sz="2200">
                <a:solidFill>
                  <a:srgbClr val="1F2937"/>
                </a:solidFill>
                <a:latin typeface="Calibri"/>
              </a:rPr>
              <a:t>▸  Mualliflarning o‘z chuqur o‘rganish (deep learning) modeli lezyonlarni T1 tasvirda avtomatik aniqladi.</a:t>
            </a:r>
          </a:p>
          <a:p>
            <a:pPr>
              <a:spcAft>
                <a:spcPts val="1200"/>
              </a:spcAft>
            </a:pPr>
            <a:r>
              <a:rPr sz="2200">
                <a:solidFill>
                  <a:srgbClr val="1F2937"/>
                </a:solidFill>
                <a:latin typeface="Calibri"/>
              </a:rPr>
              <a:t>▸  Lezyon niqobi MRT dan blokface suratiga o‘tkazildi. Blokface — kesilgan bo‘lak yuzasining fotosurati.</a:t>
            </a:r>
          </a:p>
          <a:p>
            <a:pPr>
              <a:spcAft>
                <a:spcPts val="1200"/>
              </a:spcAft>
            </a:pPr>
            <a:r>
              <a:rPr sz="2200">
                <a:solidFill>
                  <a:srgbClr val="1F2937"/>
                </a:solidFill>
                <a:latin typeface="Calibri"/>
              </a:rPr>
              <a:t>▸  Nevropatolog niqob va saqlangan moslashtirishdan foydalanib, jismoniy bo‘lakdagi aniq joydan gistologik namuna oldi.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 ikki miyada sinov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Yo‘naltirilgan 14 bo‘lakni moslashtirish har miyada taxminan 30 daqiqa oldi.</a:t>
            </a:r>
          </a:p>
          <a:p>
            <a:pPr>
              <a:spcAft>
                <a:spcPts val="800"/>
              </a:spcAft>
            </a:pPr>
            <a:r>
              <a:rPr sz="1800">
                <a:solidFill>
                  <a:srgbClr val="1F2937"/>
                </a:solidFill>
                <a:latin typeface="Calibri"/>
              </a:rPr>
              <a:t>▸  Qo‘lda kesilgan to‘rt bo‘lak ko‘proq vaqt oldi: har biri taxminan bir soat.</a:t>
            </a:r>
          </a:p>
          <a:p>
            <a:pPr>
              <a:spcAft>
                <a:spcPts val="800"/>
              </a:spcAft>
            </a:pPr>
            <a:r>
              <a:rPr sz="1800">
                <a:solidFill>
                  <a:srgbClr val="1F2937"/>
                </a:solidFill>
                <a:latin typeface="Calibri"/>
              </a:rPr>
              <a:t>▸  Ikkala miyada lezyonlar periventrikulyar sohada old tomondan orqaga cho‘zilgan.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09750"/>
                <a:gridCol w="1314145"/>
                <a:gridCol w="2164080"/>
              </a:tblGrid>
              <a:tr h="61447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Miya 1</a:t>
                      </a:r>
                    </a:p>
                  </a:txBody>
                  <a:tcPr marL="73152" marR="73152" marT="36576" marB="36576">
                    <a:solidFill>
                      <a:srgbClr val="0B1F3A"/>
                    </a:solidFill>
                  </a:tcPr>
                </a:tc>
                <a:tc>
                  <a:txBody>
                    <a:bodyPr/>
                    <a:lstStyle/>
                    <a:p>
                      <a:r>
                        <a:rPr sz="1600" b="1">
                          <a:solidFill>
                            <a:srgbClr val="FFFFFF"/>
                          </a:solidFill>
                        </a:rPr>
                        <a:t>Miya 2</a:t>
                      </a:r>
                    </a:p>
                  </a:txBody>
                  <a:tcPr marL="73152" marR="73152" marT="36576" marB="36576">
                    <a:solidFill>
                      <a:srgbClr val="0B1F3A"/>
                    </a:solidFill>
                  </a:tcPr>
                </a:tc>
              </a:tr>
              <a:tr h="614476">
                <a:tc>
                  <a:txBody>
                    <a:bodyPr/>
                    <a:lstStyle/>
                    <a:p>
                      <a:r>
                        <a:rPr sz="1500" b="0">
                          <a:solidFill>
                            <a:srgbClr val="1F2937"/>
                          </a:solidFill>
                        </a:rPr>
                        <a:t>Koronal bo‘laklar jami</a:t>
                      </a:r>
                    </a:p>
                  </a:txBody>
                  <a:tcPr marL="73152" marR="73152" marT="36576" marB="36576">
                    <a:solidFill>
                      <a:srgbClr val="E8EEF6"/>
                    </a:solidFill>
                  </a:tcPr>
                </a:tc>
                <a:tc>
                  <a:txBody>
                    <a:bodyPr/>
                    <a:lstStyle/>
                    <a:p>
                      <a:r>
                        <a:rPr sz="1500" b="0">
                          <a:solidFill>
                            <a:srgbClr val="1F2937"/>
                          </a:solidFill>
                        </a:rPr>
                        <a:t>18</a:t>
                      </a:r>
                    </a:p>
                  </a:txBody>
                  <a:tcPr marL="73152" marR="73152" marT="36576" marB="36576">
                    <a:solidFill>
                      <a:srgbClr val="E8EEF6"/>
                    </a:solidFill>
                  </a:tcPr>
                </a:tc>
                <a:tc>
                  <a:txBody>
                    <a:bodyPr/>
                    <a:lstStyle/>
                    <a:p>
                      <a:r>
                        <a:rPr sz="1500" b="0">
                          <a:solidFill>
                            <a:srgbClr val="1F2937"/>
                          </a:solidFill>
                        </a:rPr>
                        <a:t>18</a:t>
                      </a:r>
                    </a:p>
                  </a:txBody>
                  <a:tcPr marL="73152" marR="73152" marT="36576" marB="36576">
                    <a:solidFill>
                      <a:srgbClr val="E8EEF6"/>
                    </a:solidFill>
                  </a:tcPr>
                </a:tc>
              </a:tr>
              <a:tr h="614476">
                <a:tc>
                  <a:txBody>
                    <a:bodyPr/>
                    <a:lstStyle/>
                    <a:p>
                      <a:r>
                        <a:rPr sz="1500" b="0">
                          <a:solidFill>
                            <a:srgbClr val="1F2937"/>
                          </a:solidFill>
                        </a:rPr>
                        <a:t>Yo‘naltirgich bilan kesilgan</a:t>
                      </a:r>
                    </a:p>
                  </a:txBody>
                  <a:tcPr marL="73152" marR="73152" marT="36576" marB="36576">
                    <a:solidFill>
                      <a:srgbClr val="FFFFFF"/>
                    </a:solidFill>
                  </a:tcPr>
                </a:tc>
                <a:tc>
                  <a:txBody>
                    <a:bodyPr/>
                    <a:lstStyle/>
                    <a:p>
                      <a:r>
                        <a:rPr sz="1500" b="0">
                          <a:solidFill>
                            <a:srgbClr val="1F2937"/>
                          </a:solidFill>
                        </a:rPr>
                        <a:t>14</a:t>
                      </a:r>
                    </a:p>
                  </a:txBody>
                  <a:tcPr marL="73152" marR="73152" marT="36576" marB="36576">
                    <a:solidFill>
                      <a:srgbClr val="FFFFFF"/>
                    </a:solidFill>
                  </a:tcPr>
                </a:tc>
                <a:tc>
                  <a:txBody>
                    <a:bodyPr/>
                    <a:lstStyle/>
                    <a:p>
                      <a:r>
                        <a:rPr sz="1500" b="0">
                          <a:solidFill>
                            <a:srgbClr val="1F2937"/>
                          </a:solidFill>
                        </a:rPr>
                        <a:t>14</a:t>
                      </a:r>
                    </a:p>
                  </a:txBody>
                  <a:tcPr marL="73152" marR="73152" marT="36576" marB="36576">
                    <a:solidFill>
                      <a:srgbClr val="FFFFFF"/>
                    </a:solidFill>
                  </a:tcPr>
                </a:tc>
              </a:tr>
              <a:tr h="614476">
                <a:tc>
                  <a:txBody>
                    <a:bodyPr/>
                    <a:lstStyle/>
                    <a:p>
                      <a:r>
                        <a:rPr sz="1500" b="0">
                          <a:solidFill>
                            <a:srgbClr val="1F2937"/>
                          </a:solidFill>
                        </a:rPr>
                        <a:t>Qo‘lda kesilgan</a:t>
                      </a:r>
                    </a:p>
                  </a:txBody>
                  <a:tcPr marL="73152" marR="73152" marT="36576" marB="36576">
                    <a:solidFill>
                      <a:srgbClr val="E8EEF6"/>
                    </a:solidFill>
                  </a:tcPr>
                </a:tc>
                <a:tc>
                  <a:txBody>
                    <a:bodyPr/>
                    <a:lstStyle/>
                    <a:p>
                      <a:r>
                        <a:rPr sz="1500" b="0">
                          <a:solidFill>
                            <a:srgbClr val="1F2937"/>
                          </a:solidFill>
                        </a:rPr>
                        <a:t>4</a:t>
                      </a:r>
                    </a:p>
                  </a:txBody>
                  <a:tcPr marL="73152" marR="73152" marT="36576" marB="36576">
                    <a:solidFill>
                      <a:srgbClr val="E8EEF6"/>
                    </a:solidFill>
                  </a:tcPr>
                </a:tc>
                <a:tc>
                  <a:txBody>
                    <a:bodyPr/>
                    <a:lstStyle/>
                    <a:p>
                      <a:r>
                        <a:rPr sz="1500" b="0">
                          <a:solidFill>
                            <a:srgbClr val="1F2937"/>
                          </a:solidFill>
                        </a:rPr>
                        <a:t>4</a:t>
                      </a:r>
                    </a:p>
                  </a:txBody>
                  <a:tcPr marL="73152" marR="73152" marT="36576" marB="36576">
                    <a:solidFill>
                      <a:srgbClr val="E8EEF6"/>
                    </a:solidFill>
                  </a:tcPr>
                </a:tc>
              </a:tr>
              <a:tr h="614476">
                <a:tc>
                  <a:txBody>
                    <a:bodyPr/>
                    <a:lstStyle/>
                    <a:p>
                      <a:r>
                        <a:rPr sz="1500" b="0">
                          <a:solidFill>
                            <a:srgbClr val="1F2937"/>
                          </a:solidFill>
                        </a:rPr>
                        <a:t>Lezyonlar</a:t>
                      </a:r>
                    </a:p>
                  </a:txBody>
                  <a:tcPr marL="73152" marR="73152" marT="36576" marB="36576">
                    <a:solidFill>
                      <a:srgbClr val="FFFFFF"/>
                    </a:solidFill>
                  </a:tcPr>
                </a:tc>
                <a:tc>
                  <a:txBody>
                    <a:bodyPr/>
                    <a:lstStyle/>
                    <a:p>
                      <a:r>
                        <a:rPr sz="1500" b="0">
                          <a:solidFill>
                            <a:srgbClr val="1F2937"/>
                          </a:solidFill>
                        </a:rPr>
                        <a:t>Periventrikulyar + 2 chuqur o‘choq</a:t>
                      </a:r>
                    </a:p>
                  </a:txBody>
                  <a:tcPr marL="73152" marR="73152" marT="36576" marB="36576">
                    <a:solidFill>
                      <a:srgbClr val="FFFFFF"/>
                    </a:solidFill>
                  </a:tcPr>
                </a:tc>
                <a:tc>
                  <a:txBody>
                    <a:bodyPr/>
                    <a:lstStyle/>
                    <a:p>
                      <a:r>
                        <a:rPr sz="1500" b="0">
                          <a:solidFill>
                            <a:srgbClr val="1F2937"/>
                          </a:solidFill>
                        </a:rPr>
                        <a:t>Periventrikulyar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miya natijasi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Usulning afzalliklari va cheklovlari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Komplekt taxminan 60 dollar, taxminan 30 miyaga yetadi; har bir miyaga taxminan 2 dollar.</a:t>
            </a:r>
          </a:p>
          <a:p>
            <a:pPr>
              <a:spcAft>
                <a:spcPts val="800"/>
              </a:spcAft>
            </a:pPr>
            <a:r>
              <a:rPr sz="1800">
                <a:solidFill>
                  <a:srgbClr val="1F2937"/>
                </a:solidFill>
                <a:latin typeface="Calibri"/>
              </a:rPr>
              <a:t>▸  Pufakchalar gradient-exo (GRE) tasvirda sulkus va gippokamp yaqinida artefakt beradi.</a:t>
            </a:r>
          </a:p>
          <a:p>
            <a:pPr>
              <a:spcAft>
                <a:spcPts val="800"/>
              </a:spcAft>
            </a:pPr>
            <a:r>
              <a:rPr sz="1800">
                <a:solidFill>
                  <a:srgbClr val="1F2937"/>
                </a:solidFill>
                <a:latin typeface="Calibri"/>
              </a:rPr>
              <a:t>▸  Moslashtirish vizual baholandi; kelajakda miqdoriy o‘lchovlar qo‘shish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982980"/>
                <a:gridCol w="2194105"/>
                <a:gridCol w="2110889"/>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Afzallik</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614476">
                <a:tc>
                  <a:txBody>
                    <a:bodyPr/>
                    <a:lstStyle/>
                    <a:p>
                      <a:r>
                        <a:rPr sz="1500" b="0">
                          <a:solidFill>
                            <a:srgbClr val="1F2937"/>
                          </a:solidFill>
                        </a:rPr>
                        <a:t>Narx</a:t>
                      </a:r>
                    </a:p>
                  </a:txBody>
                  <a:tcPr marL="73152" marR="73152" marT="36576" marB="36576">
                    <a:solidFill>
                      <a:srgbClr val="E8EEF6"/>
                    </a:solidFill>
                  </a:tcPr>
                </a:tc>
                <a:tc>
                  <a:txBody>
                    <a:bodyPr/>
                    <a:lstStyle/>
                    <a:p>
                      <a:r>
                        <a:rPr sz="1500" b="0">
                          <a:solidFill>
                            <a:srgbClr val="1F2937"/>
                          </a:solidFill>
                        </a:rPr>
                        <a:t>Qayta ishlatiladigan komplekt, arzon</a:t>
                      </a:r>
                    </a:p>
                  </a:txBody>
                  <a:tcPr marL="73152" marR="73152" marT="36576" marB="36576">
                    <a:solidFill>
                      <a:srgbClr val="E8EEF6"/>
                    </a:solidFill>
                  </a:tcPr>
                </a:tc>
                <a:tc>
                  <a:txBody>
                    <a:bodyPr/>
                    <a:lstStyle/>
                    <a:p>
                      <a:r>
                        <a:rPr sz="1500" b="0">
                          <a:solidFill>
                            <a:srgbClr val="1F2937"/>
                          </a:solidFill>
                        </a:rPr>
                        <a:t>Bitta komplekt ~42 soat chop etiladi</a:t>
                      </a:r>
                    </a:p>
                  </a:txBody>
                  <a:tcPr marL="73152" marR="73152" marT="36576" marB="36576">
                    <a:solidFill>
                      <a:srgbClr val="E8EEF6"/>
                    </a:solidFill>
                  </a:tcPr>
                </a:tc>
              </a:tr>
              <a:tr h="614476">
                <a:tc>
                  <a:txBody>
                    <a:bodyPr/>
                    <a:lstStyle/>
                    <a:p>
                      <a:r>
                        <a:rPr sz="1500" b="0">
                          <a:solidFill>
                            <a:srgbClr val="1F2937"/>
                          </a:solidFill>
                        </a:rPr>
                        <a:t>Miya hajmi</a:t>
                      </a:r>
                    </a:p>
                  </a:txBody>
                  <a:tcPr marL="73152" marR="73152" marT="36576" marB="36576">
                    <a:solidFill>
                      <a:srgbClr val="FFFFFF"/>
                    </a:solidFill>
                  </a:tcPr>
                </a:tc>
                <a:tc>
                  <a:txBody>
                    <a:bodyPr/>
                    <a:lstStyle/>
                    <a:p>
                      <a:r>
                        <a:rPr sz="1500" b="0">
                          <a:solidFill>
                            <a:srgbClr val="1F2937"/>
                          </a:solidFill>
                        </a:rPr>
                        <a:t>Turli o‘lchamga mos; hech biri chetlatilmadi</a:t>
                      </a:r>
                    </a:p>
                  </a:txBody>
                  <a:tcPr marL="73152" marR="73152" marT="36576" marB="36576">
                    <a:solidFill>
                      <a:srgbClr val="FFFFFF"/>
                    </a:solidFill>
                  </a:tcPr>
                </a:tc>
                <a:tc>
                  <a:txBody>
                    <a:bodyPr/>
                    <a:lstStyle/>
                    <a:p>
                      <a:r>
                        <a:rPr sz="1500" b="0">
                          <a:solidFill>
                            <a:srgbClr val="1F2937"/>
                          </a:solidFill>
                        </a:rPr>
                        <a:t>Yo‘naltirgich butun miyani qoplamaydi</a:t>
                      </a:r>
                    </a:p>
                  </a:txBody>
                  <a:tcPr marL="73152" marR="73152" marT="36576" marB="36576">
                    <a:solidFill>
                      <a:srgbClr val="FFFFFF"/>
                    </a:solidFill>
                  </a:tcPr>
                </a:tc>
              </a:tr>
              <a:tr h="614476">
                <a:tc>
                  <a:txBody>
                    <a:bodyPr/>
                    <a:lstStyle/>
                    <a:p>
                      <a:r>
                        <a:rPr sz="1500" b="0">
                          <a:solidFill>
                            <a:srgbClr val="1F2937"/>
                          </a:solidFill>
                        </a:rPr>
                        <a:t>Agar muhiti</a:t>
                      </a:r>
                    </a:p>
                  </a:txBody>
                  <a:tcPr marL="73152" marR="73152" marT="36576" marB="36576">
                    <a:solidFill>
                      <a:srgbClr val="E8EEF6"/>
                    </a:solidFill>
                  </a:tcPr>
                </a:tc>
                <a:tc>
                  <a:txBody>
                    <a:bodyPr/>
                    <a:lstStyle/>
                    <a:p>
                      <a:r>
                        <a:rPr sz="1500" b="0">
                          <a:solidFill>
                            <a:srgbClr val="1F2937"/>
                          </a:solidFill>
                        </a:rPr>
                        <a:t>Harakat artefaktlari kamayadi</a:t>
                      </a:r>
                    </a:p>
                  </a:txBody>
                  <a:tcPr marL="73152" marR="73152" marT="36576" marB="36576">
                    <a:solidFill>
                      <a:srgbClr val="E8EEF6"/>
                    </a:solidFill>
                  </a:tcPr>
                </a:tc>
                <a:tc>
                  <a:txBody>
                    <a:bodyPr/>
                    <a:lstStyle/>
                    <a:p>
                      <a:r>
                        <a:rPr sz="1500" b="0">
                          <a:solidFill>
                            <a:srgbClr val="1F2937"/>
                          </a:solidFill>
                        </a:rPr>
                        <a:t>Pufakchalar artefakt beradi</a:t>
                      </a:r>
                    </a:p>
                  </a:txBody>
                  <a:tcPr marL="73152" marR="73152" marT="36576" marB="36576">
                    <a:solidFill>
                      <a:srgbClr val="E8EEF6"/>
                    </a:solidFill>
                  </a:tcPr>
                </a:tc>
              </a:tr>
              <a:tr h="614476">
                <a:tc>
                  <a:txBody>
                    <a:bodyPr/>
                    <a:lstStyle/>
                    <a:p>
                      <a:r>
                        <a:rPr sz="1500" b="0">
                          <a:solidFill>
                            <a:srgbClr val="1F2937"/>
                          </a:solidFill>
                        </a:rPr>
                        <a:t>Kesish</a:t>
                      </a:r>
                    </a:p>
                  </a:txBody>
                  <a:tcPr marL="73152" marR="73152" marT="36576" marB="36576">
                    <a:solidFill>
                      <a:srgbClr val="FFFFFF"/>
                    </a:solidFill>
                  </a:tcPr>
                </a:tc>
                <a:tc>
                  <a:txBody>
                    <a:bodyPr/>
                    <a:lstStyle/>
                    <a:p>
                      <a:r>
                        <a:rPr sz="1500" b="0">
                          <a:solidFill>
                            <a:srgbClr val="1F2937"/>
                          </a:solidFill>
                        </a:rPr>
                        <a:t>Bo‘laklar takrorlanuvchan, bir xil</a:t>
                      </a:r>
                    </a:p>
                  </a:txBody>
                  <a:tcPr marL="73152" marR="73152" marT="36576" marB="36576">
                    <a:solidFill>
                      <a:srgbClr val="FFFFFF"/>
                    </a:solidFill>
                  </a:tcPr>
                </a:tc>
                <a:tc>
                  <a:txBody>
                    <a:bodyPr/>
                    <a:lstStyle/>
                    <a:p>
                      <a:r>
                        <a:rPr sz="1500" b="0">
                          <a:solidFill>
                            <a:srgbClr val="1F2937"/>
                          </a:solidFill>
                        </a:rPr>
                        <a:t>Qotishdan oldin yo‘nalishni rejalash kerak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Afzallik va cheklov</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va eslab qoling: tipik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oq modda o‘choqlari T2 da giperintens (yorqin), T1 da gipointens (qorong‘i) ko‘rinadi. Ikkalasini chalkashtirmang.</a:t>
            </a:r>
          </a:p>
          <a:p>
            <a:pPr>
              <a:spcAft>
                <a:spcPts val="1200"/>
              </a:spcAft>
            </a:pPr>
            <a:r>
              <a:rPr sz="2200">
                <a:solidFill>
                  <a:srgbClr val="1F2937"/>
                </a:solidFill>
                <a:latin typeface="Calibri"/>
              </a:rPr>
              <a:t>▸  Diqqat: yo‘naltirgichli kesish ≠ qo‘lda kesish. Yo‘naltirgich qamramidan chiqqan joylar qo‘lda, lekin kesimlarga parallel kesiladi.</a:t>
            </a:r>
          </a:p>
          <a:p>
            <a:pPr>
              <a:spcAft>
                <a:spcPts val="1200"/>
              </a:spcAft>
            </a:pPr>
            <a:r>
              <a:rPr sz="2200">
                <a:solidFill>
                  <a:srgbClr val="1F2937"/>
                </a:solidFill>
                <a:latin typeface="Calibri"/>
              </a:rPr>
              <a:t>▸  Ikkala miyada ham 18 ta koronal bo‘lakning 14 tasi yo‘naltirgich bilan, 4 tasi qo‘lda kesilgan. Qo‘lda kesilganlarni moslashtirish ancha uzoq (~1 soat).</a:t>
            </a:r>
          </a:p>
          <a:p>
            <a:pPr>
              <a:spcAft>
                <a:spcPts val="1200"/>
              </a:spcAft>
            </a:pPr>
            <a:r>
              <a:rPr sz="2200">
                <a:solidFill>
                  <a:srgbClr val="1F2937"/>
                </a:solidFill>
                <a:latin typeface="Calibri"/>
              </a:rPr>
              <a:t>▸  Eslab qoling (tartib): Agar → MRI → Kesish → Moslashtirish → Namuna olish. Bosh harflar: A-M-K-M-N.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pufakchali agar va artefakt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agarda havo pufakchalari qolgan miya gradient exo (GRE) tasvirida sulkuslar va gippokamp yaqinida artefakt berdi. Savol: sababi nima, qanday kamaytiriladi?</a:t>
            </a:r>
          </a:p>
          <a:p>
            <a:pPr>
              <a:spcAft>
                <a:spcPts val="1200"/>
              </a:spcAft>
            </a:pPr>
            <a:r>
              <a:rPr sz="2200">
                <a:solidFill>
                  <a:srgbClr val="1F2937"/>
                </a:solidFill>
                <a:latin typeface="Calibri"/>
              </a:rPr>
              <a:t>▸  Sabab: agar ichida qolgan havo pufakchalari magnit sezuvchanlik artefaktini keltiradi. Bu asosan GRE tasvirlarga ta’sir qiladi.</a:t>
            </a:r>
          </a:p>
          <a:p>
            <a:pPr>
              <a:spcAft>
                <a:spcPts val="1200"/>
              </a:spcAft>
            </a:pPr>
            <a:r>
              <a:rPr sz="2200">
                <a:solidFill>
                  <a:srgbClr val="1F2937"/>
                </a:solidFill>
                <a:latin typeface="Calibri"/>
              </a:rPr>
              <a:t>▸  Kamaytirish: qopqoqdagi kirish va chiqish portlari orqali havo so‘rilib, agar qo‘shiladi. Qorincha avval to‘ldirilib, quyishda massaj qilinadi.</a:t>
            </a:r>
          </a:p>
          <a:p>
            <a:pPr>
              <a:spcAft>
                <a:spcPts val="1200"/>
              </a:spcAft>
            </a:pPr>
            <a:r>
              <a:rPr sz="2200">
                <a:solidFill>
                  <a:srgbClr val="1F2937"/>
                </a:solidFill>
                <a:latin typeface="Calibri"/>
              </a:rPr>
              <a:t>▸  Cheklov: usulni takomillashtirishga qaramay, pufakchalarni to‘liq yo‘qotish hanuzgacha qiyin.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MRI usuli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koronal bo‘lak taxminan necha mm qalinlikda? Javob: taxminan 9,8 mm; yo‘naltirgich bir xil kesishni ta’minlaydi.</a:t>
            </a:r>
          </a:p>
          <a:p>
            <a:pPr>
              <a:spcAft>
                <a:spcPts val="1200"/>
              </a:spcAft>
            </a:pPr>
            <a:r>
              <a:rPr sz="2200">
                <a:solidFill>
                  <a:srgbClr val="1F2937"/>
                </a:solidFill>
                <a:latin typeface="Calibri"/>
              </a:rPr>
              <a:t>▸  Savol: fiducial belgi vazifasini nima bajaradi? Javob: yo‘naltirgich ustunlari; blokface fotoda oq, T2-SPACE tasvirda qora ko‘rinadi.</a:t>
            </a:r>
          </a:p>
          <a:p>
            <a:pPr>
              <a:spcAft>
                <a:spcPts val="1200"/>
              </a:spcAft>
            </a:pPr>
            <a:r>
              <a:rPr sz="2200">
                <a:solidFill>
                  <a:srgbClr val="1F2937"/>
                </a:solidFill>
                <a:latin typeface="Calibri"/>
              </a:rPr>
              <a:t>▸  Savol: saxaroza nega qo‘shiladi? Javob: agarning nisbiy dielektrik o‘tkazuvchanligi 78 dan 68 ga tushadi, miyaning ~58 qiymatiga yaqinlashadi.</a:t>
            </a:r>
          </a:p>
          <a:p>
            <a:pPr>
              <a:spcAft>
                <a:spcPts val="1200"/>
              </a:spcAft>
            </a:pPr>
            <a:r>
              <a:rPr sz="2200">
                <a:solidFill>
                  <a:srgbClr val="1F2937"/>
                </a:solidFill>
                <a:latin typeface="Calibri"/>
              </a:rPr>
              <a:t>▸  Savol: tasvir aniqligi qancha? Javob: 7 Tesla maydonda 370 µm izotrop aniqlik.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Nadim Farhat va boshq., Bridging Neuroimaging and Neuropathology: A Comprehensive Workflow for Targeted Sampling of White Matter Lesions, betlar: PMID 41126483; DOI 10.1111/jon.70094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Postmortem radiologiya: PMCT va PMMR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PMCT — postmortem kompyuter tomografiyasi; jarohatni invaziv bo‘lmagan usulda hujjatlaydi.</a:t>
            </a:r>
          </a:p>
          <a:p>
            <a:pPr>
              <a:spcAft>
                <a:spcPts val="800"/>
              </a:spcAft>
            </a:pPr>
            <a:r>
              <a:rPr sz="1800">
                <a:solidFill>
                  <a:srgbClr val="1F2937"/>
                </a:solidFill>
                <a:latin typeface="Calibri"/>
              </a:rPr>
              <a:t>▸  PMMR — postmortem magnit-rezonans tasvirlash; 1990-yilda birinchi marta bayon etilgan.</a:t>
            </a:r>
          </a:p>
          <a:p>
            <a:pPr>
              <a:spcAft>
                <a:spcPts val="800"/>
              </a:spcAft>
            </a:pPr>
            <a:r>
              <a:rPr sz="1800">
                <a:solidFill>
                  <a:srgbClr val="1F2937"/>
                </a:solidFill>
                <a:latin typeface="Calibri"/>
              </a:rPr>
              <a:t>▸  ESPR (Evropa pediatrik radiologiya jamiyati) protokollarini 2021 va 2025-yillarda yangiladi.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622465"/>
                <a:gridCol w="2210089"/>
              </a:tblGrid>
              <a:tr h="614476">
                <a:tc>
                  <a:txBody>
                    <a:bodyPr/>
                    <a:lstStyle/>
                    <a:p>
                      <a:r>
                        <a:rPr sz="1600" b="1">
                          <a:solidFill>
                            <a:srgbClr val="FFFFFF"/>
                          </a:solidFill>
                        </a:rPr>
                        <a:t>Protokol</a:t>
                      </a:r>
                    </a:p>
                  </a:txBody>
                  <a:tcPr marL="73152" marR="73152" marT="36576" marB="36576">
                    <a:solidFill>
                      <a:srgbClr val="0B1F3A"/>
                    </a:solidFill>
                  </a:tcPr>
                </a:tc>
                <a:tc>
                  <a:txBody>
                    <a:bodyPr/>
                    <a:lstStyle/>
                    <a:p>
                      <a:r>
                        <a:rPr sz="1600" b="1">
                          <a:solidFill>
                            <a:srgbClr val="FFFFFF"/>
                          </a:solidFill>
                        </a:rPr>
                        <a:t>Vaqt</a:t>
                      </a:r>
                    </a:p>
                  </a:txBody>
                  <a:tcPr marL="73152" marR="73152" marT="36576" marB="36576">
                    <a:solidFill>
                      <a:srgbClr val="0B1F3A"/>
                    </a:solidFill>
                  </a:tcPr>
                </a:tc>
                <a:tc>
                  <a:txBody>
                    <a:bodyPr/>
                    <a:lstStyle/>
                    <a:p>
                      <a:r>
                        <a:rPr sz="1600" b="1">
                          <a:solidFill>
                            <a:srgbClr val="FFFFFF"/>
                          </a:solidFill>
                        </a:rPr>
                        <a:t>Tarkib</a:t>
                      </a:r>
                    </a:p>
                  </a:txBody>
                  <a:tcPr marL="73152" marR="73152" marT="36576" marB="36576">
                    <a:solidFill>
                      <a:srgbClr val="0B1F3A"/>
                    </a:solidFill>
                  </a:tcPr>
                </a:tc>
              </a:tr>
              <a:tr h="614476">
                <a:tc>
                  <a:txBody>
                    <a:bodyPr/>
                    <a:lstStyle/>
                    <a:p>
                      <a:r>
                        <a:rPr sz="1500" b="0">
                          <a:solidFill>
                            <a:srgbClr val="1F2937"/>
                          </a:solidFill>
                        </a:rPr>
                        <a:t>Erta versiyalar</a:t>
                      </a:r>
                    </a:p>
                  </a:txBody>
                  <a:tcPr marL="73152" marR="73152" marT="36576" marB="36576">
                    <a:solidFill>
                      <a:srgbClr val="E8EEF6"/>
                    </a:solidFill>
                  </a:tcPr>
                </a:tc>
                <a:tc>
                  <a:txBody>
                    <a:bodyPr/>
                    <a:lstStyle/>
                    <a:p>
                      <a:r>
                        <a:rPr sz="1500" b="0">
                          <a:solidFill>
                            <a:srgbClr val="1F2937"/>
                          </a:solidFill>
                        </a:rPr>
                        <a:t>90 daqiqagacha</a:t>
                      </a:r>
                    </a:p>
                  </a:txBody>
                  <a:tcPr marL="73152" marR="73152" marT="36576" marB="36576">
                    <a:solidFill>
                      <a:srgbClr val="E8EEF6"/>
                    </a:solidFill>
                  </a:tcPr>
                </a:tc>
                <a:tc>
                  <a:txBody>
                    <a:bodyPr/>
                    <a:lstStyle/>
                    <a:p>
                      <a:r>
                        <a:rPr sz="1500" b="0">
                          <a:solidFill>
                            <a:srgbClr val="1F2937"/>
                          </a:solidFill>
                        </a:rPr>
                        <a:t>Kundalik ishga juda uzun</a:t>
                      </a:r>
                    </a:p>
                  </a:txBody>
                  <a:tcPr marL="73152" marR="73152" marT="36576" marB="36576">
                    <a:solidFill>
                      <a:srgbClr val="E8EEF6"/>
                    </a:solidFill>
                  </a:tcPr>
                </a:tc>
              </a:tr>
              <a:tr h="614476">
                <a:tc>
                  <a:txBody>
                    <a:bodyPr/>
                    <a:lstStyle/>
                    <a:p>
                      <a:r>
                        <a:rPr sz="1500" b="0">
                          <a:solidFill>
                            <a:srgbClr val="1F2937"/>
                          </a:solidFill>
                        </a:rPr>
                        <a:t>ESPR 2021</a:t>
                      </a:r>
                    </a:p>
                  </a:txBody>
                  <a:tcPr marL="73152" marR="73152" marT="36576" marB="36576">
                    <a:solidFill>
                      <a:srgbClr val="FFFFFF"/>
                    </a:solidFill>
                  </a:tcPr>
                </a:tc>
                <a:tc>
                  <a:txBody>
                    <a:bodyPr/>
                    <a:lstStyle/>
                    <a:p>
                      <a:r>
                        <a:rPr sz="1500" b="0">
                          <a:solidFill>
                            <a:srgbClr val="1F2937"/>
                          </a:solidFill>
                        </a:rPr>
                        <a:t>30–60 daqiqa</a:t>
                      </a:r>
                    </a:p>
                  </a:txBody>
                  <a:tcPr marL="73152" marR="73152" marT="36576" marB="36576">
                    <a:solidFill>
                      <a:srgbClr val="FFFFFF"/>
                    </a:solidFill>
                  </a:tcPr>
                </a:tc>
                <a:tc>
                  <a:txBody>
                    <a:bodyPr/>
                    <a:lstStyle/>
                    <a:p>
                      <a:r>
                        <a:rPr sz="1500" b="0">
                          <a:solidFill>
                            <a:srgbClr val="1F2937"/>
                          </a:solidFill>
                        </a:rPr>
                        <a:t>Ekspertlar kelishgan standart</a:t>
                      </a:r>
                    </a:p>
                  </a:txBody>
                  <a:tcPr marL="73152" marR="73152" marT="36576" marB="36576">
                    <a:solidFill>
                      <a:srgbClr val="FFFFFF"/>
                    </a:solidFill>
                  </a:tcPr>
                </a:tc>
              </a:tr>
              <a:tr h="614476">
                <a:tc>
                  <a:txBody>
                    <a:bodyPr/>
                    <a:lstStyle/>
                    <a:p>
                      <a:r>
                        <a:rPr sz="1500" b="0">
                          <a:solidFill>
                            <a:srgbClr val="1F2937"/>
                          </a:solidFill>
                        </a:rPr>
                        <a:t>Minimal (2025)</a:t>
                      </a:r>
                    </a:p>
                  </a:txBody>
                  <a:tcPr marL="73152" marR="73152" marT="36576" marB="36576">
                    <a:solidFill>
                      <a:srgbClr val="E8EEF6"/>
                    </a:solidFill>
                  </a:tcPr>
                </a:tc>
                <a:tc>
                  <a:txBody>
                    <a:bodyPr/>
                    <a:lstStyle/>
                    <a:p>
                      <a:r>
                        <a:rPr sz="1500" b="0">
                          <a:solidFill>
                            <a:srgbClr val="1F2937"/>
                          </a:solidFill>
                        </a:rPr>
                        <a:t>30 daqiqadan kam</a:t>
                      </a:r>
                    </a:p>
                  </a:txBody>
                  <a:tcPr marL="73152" marR="73152" marT="36576" marB="36576">
                    <a:solidFill>
                      <a:srgbClr val="E8EEF6"/>
                    </a:solidFill>
                  </a:tcPr>
                </a:tc>
                <a:tc>
                  <a:txBody>
                    <a:bodyPr/>
                    <a:lstStyle/>
                    <a:p>
                      <a:r>
                        <a:rPr sz="1500" b="0">
                          <a:solidFill>
                            <a:srgbClr val="1F2937"/>
                          </a:solidFill>
                        </a:rPr>
                        <a:t>3-D T2 va T1: miya va tana</a:t>
                      </a:r>
                    </a:p>
                  </a:txBody>
                  <a:tcPr marL="73152" marR="73152" marT="36576" marB="36576">
                    <a:solidFill>
                      <a:srgbClr val="E8EEF6"/>
                    </a:solidFill>
                  </a:tcPr>
                </a:tc>
              </a:tr>
              <a:tr h="614476">
                <a:tc>
                  <a:txBody>
                    <a:bodyPr/>
                    <a:lstStyle/>
                    <a:p>
                      <a:r>
                        <a:rPr sz="1500" b="0">
                          <a:solidFill>
                            <a:srgbClr val="1F2937"/>
                          </a:solidFill>
                        </a:rPr>
                        <a:t>Ideal (2025)</a:t>
                      </a:r>
                    </a:p>
                  </a:txBody>
                  <a:tcPr marL="73152" marR="73152" marT="36576" marB="36576">
                    <a:solidFill>
                      <a:srgbClr val="FFFFFF"/>
                    </a:solidFill>
                  </a:tcPr>
                </a:tc>
                <a:tc>
                  <a:txBody>
                    <a:bodyPr/>
                    <a:lstStyle/>
                    <a:p>
                      <a:r>
                        <a:rPr sz="1500" b="0">
                          <a:solidFill>
                            <a:srgbClr val="1F2937"/>
                          </a:solidFill>
                        </a:rPr>
                        <a:t>Ko‘proq vaqt bo‘lganda</a:t>
                      </a:r>
                    </a:p>
                  </a:txBody>
                  <a:tcPr marL="73152" marR="73152" marT="36576" marB="36576">
                    <a:solidFill>
                      <a:srgbClr val="FFFFFF"/>
                    </a:solidFill>
                  </a:tcPr>
                </a:tc>
                <a:tc>
                  <a:txBody>
                    <a:bodyPr/>
                    <a:lstStyle/>
                    <a:p>
                      <a:r>
                        <a:rPr sz="1500" b="0">
                          <a:solidFill>
                            <a:srgbClr val="1F2937"/>
                          </a:solidFill>
                        </a:rPr>
                        <a:t>Butun tana 3-D; miyada SWI va DWI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ESPR PMMR protokollari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Likvor biomarkerlari bilan o‘lim vaqtini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PMI (o‘lim vaqti) klassik belgilarda noaniq; likvor (CSF) va shishasimon tana (VH) tahlil qilinadi.</a:t>
            </a:r>
          </a:p>
          <a:p>
            <a:pPr>
              <a:spcAft>
                <a:spcPts val="800"/>
              </a:spcAft>
            </a:pPr>
            <a:r>
              <a:rPr sz="1800">
                <a:solidFill>
                  <a:srgbClr val="1F2937"/>
                </a:solidFill>
                <a:latin typeface="Calibri"/>
              </a:rPr>
              <a:t>▸  Cecchi va boshq. 35 kishini o‘rgandi: o‘rtacha PMI 2,94 kun, oralig‘i 1–6 kun.</a:t>
            </a:r>
          </a:p>
          <a:p>
            <a:pPr>
              <a:spcAft>
                <a:spcPts val="800"/>
              </a:spcAft>
            </a:pPr>
            <a:r>
              <a:rPr sz="1800">
                <a:solidFill>
                  <a:srgbClr val="1F2937"/>
                </a:solidFill>
                <a:latin typeface="Calibri"/>
              </a:rPr>
              <a:t>▸  GFAP, S100B va NSE ayniqsa dastlabki 2 kunda istiqbolli; ko‘proq kuzatuv zarur.</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047793"/>
                <a:gridCol w="2430431"/>
                <a:gridCol w="1809750"/>
              </a:tblGrid>
              <a:tr h="76809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Likvor (CSF)</a:t>
                      </a:r>
                    </a:p>
                  </a:txBody>
                  <a:tcPr marL="73152" marR="73152" marT="36576" marB="36576">
                    <a:solidFill>
                      <a:srgbClr val="0B1F3A"/>
                    </a:solidFill>
                  </a:tcPr>
                </a:tc>
                <a:tc>
                  <a:txBody>
                    <a:bodyPr/>
                    <a:lstStyle/>
                    <a:p>
                      <a:r>
                        <a:rPr sz="1600" b="1">
                          <a:solidFill>
                            <a:srgbClr val="FFFFFF"/>
                          </a:solidFill>
                        </a:rPr>
                        <a:t>Shishasimon</a:t>
                      </a:r>
                    </a:p>
                  </a:txBody>
                  <a:tcPr marL="73152" marR="73152" marT="36576" marB="36576">
                    <a:solidFill>
                      <a:srgbClr val="0B1F3A"/>
                    </a:solidFill>
                  </a:tcPr>
                </a:tc>
              </a:tr>
              <a:tr h="768096">
                <a:tc>
                  <a:txBody>
                    <a:bodyPr/>
                    <a:lstStyle/>
                    <a:p>
                      <a:r>
                        <a:rPr sz="1500" b="0">
                          <a:solidFill>
                            <a:srgbClr val="1F2937"/>
                          </a:solidFill>
                        </a:rPr>
                        <a:t>GFAP</a:t>
                      </a:r>
                    </a:p>
                  </a:txBody>
                  <a:tcPr marL="73152" marR="73152" marT="36576" marB="36576">
                    <a:solidFill>
                      <a:srgbClr val="E8EEF6"/>
                    </a:solidFill>
                  </a:tcPr>
                </a:tc>
                <a:tc>
                  <a:txBody>
                    <a:bodyPr/>
                    <a:lstStyle/>
                    <a:p>
                      <a:r>
                        <a:rPr sz="1500" b="0">
                          <a:solidFill>
                            <a:srgbClr val="1F2937"/>
                          </a:solidFill>
                        </a:rPr>
                        <a:t>3-kungacha oshadi, so‘ng biroz kamayadi</a:t>
                      </a:r>
                    </a:p>
                  </a:txBody>
                  <a:tcPr marL="73152" marR="73152" marT="36576" marB="36576">
                    <a:solidFill>
                      <a:srgbClr val="E8EEF6"/>
                    </a:solidFill>
                  </a:tcPr>
                </a:tc>
                <a:tc>
                  <a:txBody>
                    <a:bodyPr/>
                    <a:lstStyle/>
                    <a:p>
                      <a:r>
                        <a:rPr sz="1500" b="0">
                          <a:solidFill>
                            <a:srgbClr val="1F2937"/>
                          </a:solidFill>
                        </a:rPr>
                        <a:t>Ko‘pchiligida aniqlanmadi</a:t>
                      </a:r>
                    </a:p>
                  </a:txBody>
                  <a:tcPr marL="73152" marR="73152" marT="36576" marB="36576">
                    <a:solidFill>
                      <a:srgbClr val="E8EEF6"/>
                    </a:solidFill>
                  </a:tcPr>
                </a:tc>
              </a:tr>
              <a:tr h="768096">
                <a:tc>
                  <a:txBody>
                    <a:bodyPr/>
                    <a:lstStyle/>
                    <a:p>
                      <a:r>
                        <a:rPr sz="1500" b="0">
                          <a:solidFill>
                            <a:srgbClr val="1F2937"/>
                          </a:solidFill>
                        </a:rPr>
                        <a:t>S100B</a:t>
                      </a:r>
                    </a:p>
                  </a:txBody>
                  <a:tcPr marL="73152" marR="73152" marT="36576" marB="36576">
                    <a:solidFill>
                      <a:srgbClr val="FFFFFF"/>
                    </a:solidFill>
                  </a:tcPr>
                </a:tc>
                <a:tc>
                  <a:txBody>
                    <a:bodyPr/>
                    <a:lstStyle/>
                    <a:p>
                      <a:r>
                        <a:rPr sz="1500" b="0">
                          <a:solidFill>
                            <a:srgbClr val="1F2937"/>
                          </a:solidFill>
                        </a:rPr>
                        <a:t>5-kungacha PMI bilan birga oshadi</a:t>
                      </a:r>
                    </a:p>
                  </a:txBody>
                  <a:tcPr marL="73152" marR="73152" marT="36576" marB="36576">
                    <a:solidFill>
                      <a:srgbClr val="FFFFFF"/>
                    </a:solidFill>
                  </a:tcPr>
                </a:tc>
                <a:tc>
                  <a:txBody>
                    <a:bodyPr/>
                    <a:lstStyle/>
                    <a:p>
                      <a:r>
                        <a:rPr sz="1500" b="0">
                          <a:solidFill>
                            <a:srgbClr val="1F2937"/>
                          </a:solidFill>
                        </a:rPr>
                        <a:t>Ma’lumot keltirilmagan</a:t>
                      </a:r>
                    </a:p>
                  </a:txBody>
                  <a:tcPr marL="73152" marR="73152" marT="36576" marB="36576">
                    <a:solidFill>
                      <a:srgbClr val="FFFFFF"/>
                    </a:solidFill>
                  </a:tcPr>
                </a:tc>
              </a:tr>
              <a:tr h="768096">
                <a:tc>
                  <a:txBody>
                    <a:bodyPr/>
                    <a:lstStyle/>
                    <a:p>
                      <a:r>
                        <a:rPr sz="1500" b="0">
                          <a:solidFill>
                            <a:srgbClr val="1F2937"/>
                          </a:solidFill>
                        </a:rPr>
                        <a:t>NSE</a:t>
                      </a:r>
                    </a:p>
                  </a:txBody>
                  <a:tcPr marL="73152" marR="73152" marT="36576" marB="36576">
                    <a:solidFill>
                      <a:srgbClr val="E8EEF6"/>
                    </a:solidFill>
                  </a:tcPr>
                </a:tc>
                <a:tc>
                  <a:txBody>
                    <a:bodyPr/>
                    <a:lstStyle/>
                    <a:p>
                      <a:r>
                        <a:rPr sz="1500" b="0">
                          <a:solidFill>
                            <a:srgbClr val="1F2937"/>
                          </a:solidFill>
                        </a:rPr>
                        <a:t>Tartibsiz o‘zgaradi</a:t>
                      </a:r>
                    </a:p>
                  </a:txBody>
                  <a:tcPr marL="73152" marR="73152" marT="36576" marB="36576">
                    <a:solidFill>
                      <a:srgbClr val="E8EEF6"/>
                    </a:solidFill>
                  </a:tcPr>
                </a:tc>
                <a:tc>
                  <a:txBody>
                    <a:bodyPr/>
                    <a:lstStyle/>
                    <a:p>
                      <a:r>
                        <a:rPr sz="1500" b="0">
                          <a:solidFill>
                            <a:srgbClr val="1F2937"/>
                          </a:solidFill>
                        </a:rPr>
                        <a:t>Tartibsiz o‘zgaradi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Biomarkerlar dinamikasi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o‘lim vaqtini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jasad topildi, o‘lim vaqti noma’lum; harorat, rigor mortis va livor mortis atrof-muhit hamda shaxsga bog‘liq omillar ta’sirida noaniq.</a:t>
            </a:r>
          </a:p>
          <a:p>
            <a:pPr>
              <a:spcAft>
                <a:spcPts val="1200"/>
              </a:spcAft>
            </a:pPr>
            <a:r>
              <a:rPr sz="2200">
                <a:solidFill>
                  <a:srgbClr val="1F2937"/>
                </a:solidFill>
                <a:latin typeface="Calibri"/>
              </a:rPr>
              <a:t>▸  Yondashuv: likvorda GFAP va S100B o‘lchanadi. GFAP taxminan 3 kungacha ko‘tariladi, S100B esa 5-kungacha oshadi.</a:t>
            </a:r>
          </a:p>
          <a:p>
            <a:pPr>
              <a:spcAft>
                <a:spcPts val="1200"/>
              </a:spcAft>
            </a:pPr>
            <a:r>
              <a:rPr sz="2200">
                <a:solidFill>
                  <a:srgbClr val="1F2937"/>
                </a:solidFill>
                <a:latin typeface="Calibri"/>
              </a:rPr>
              <a:t>▸  Cheklov: asos 35 kishilik tadqiqot (asab tizimi patologiyasi yo‘q, o‘rtacha PMI 2,94 kun); NSE o‘zgarishi tartibsiz bo‘lgan.</a:t>
            </a:r>
          </a:p>
          <a:p>
            <a:pPr>
              <a:spcAft>
                <a:spcPts val="1200"/>
              </a:spcAft>
            </a:pPr>
            <a:r>
              <a:rPr sz="2200">
                <a:solidFill>
                  <a:srgbClr val="1F2937"/>
                </a:solidFill>
                <a:latin typeface="Calibri"/>
              </a:rPr>
              <a:t>▸  Savol: bu usul qanchalik ishonchli? Muallif uni ayniqsa dastlabki 2 kunda istiqbolli deydi, lekin ko‘proq odamli tadqiqotlar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Bolalarda zo‘ravon bosh jarohati: biomexanika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Zo‘ravon bosh jarohati (AHT) — chaqaloqda urilish yoki kuchli silkitishdan kelib chiqqan jarohatlar sindromi.</a:t>
            </a:r>
          </a:p>
          <a:p>
            <a:pPr>
              <a:spcAft>
                <a:spcPts val="800"/>
              </a:spcAft>
            </a:pPr>
            <a:r>
              <a:rPr sz="1800">
                <a:solidFill>
                  <a:srgbClr val="1F2937"/>
                </a:solidFill>
                <a:latin typeface="Calibri"/>
              </a:rPr>
              <a:t>▸  Modellar: 2 hayvon, 5 fizik, 10 matematik tadqiqot. Jarohat chegaralari katta yoshlilar yoki hayvonlardan olingan.</a:t>
            </a:r>
          </a:p>
          <a:p>
            <a:pPr>
              <a:spcAft>
                <a:spcPts val="800"/>
              </a:spcAft>
            </a:pPr>
            <a:r>
              <a:rPr sz="1800">
                <a:solidFill>
                  <a:srgbClr val="1F2937"/>
                </a:solidFill>
                <a:latin typeface="Calibri"/>
              </a:rPr>
              <a:t>▸  Sagittal burchak tezlanishi asosiy mexanizm hisoblanadi; AHT ko‘pincha 2–4 oyliklarda uchraydi.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332930"/>
                <a:gridCol w="1710815"/>
                <a:gridCol w="1244229"/>
              </a:tblGrid>
              <a:tr h="76809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6 haftalik</a:t>
                      </a:r>
                    </a:p>
                  </a:txBody>
                  <a:tcPr marL="73152" marR="73152" marT="36576" marB="36576">
                    <a:solidFill>
                      <a:srgbClr val="0B1F3A"/>
                    </a:solidFill>
                  </a:tcPr>
                </a:tc>
                <a:tc>
                  <a:txBody>
                    <a:bodyPr/>
                    <a:lstStyle/>
                    <a:p>
                      <a:r>
                        <a:rPr sz="1600" b="1">
                          <a:solidFill>
                            <a:srgbClr val="FFFFFF"/>
                          </a:solidFill>
                        </a:rPr>
                        <a:t>1 yoshli</a:t>
                      </a:r>
                    </a:p>
                  </a:txBody>
                  <a:tcPr marL="73152" marR="73152" marT="36576" marB="36576">
                    <a:solidFill>
                      <a:srgbClr val="0B1F3A"/>
                    </a:solidFill>
                  </a:tcPr>
                </a:tc>
              </a:tr>
              <a:tr h="768096">
                <a:tc>
                  <a:txBody>
                    <a:bodyPr/>
                    <a:lstStyle/>
                    <a:p>
                      <a:r>
                        <a:rPr sz="1500" b="0">
                          <a:solidFill>
                            <a:srgbClr val="1F2937"/>
                          </a:solidFill>
                        </a:rPr>
                        <a:t>Bosh va tana tezlanishi</a:t>
                      </a:r>
                    </a:p>
                  </a:txBody>
                  <a:tcPr marL="73152" marR="73152" marT="36576" marB="36576">
                    <a:solidFill>
                      <a:srgbClr val="E8EEF6"/>
                    </a:solidFill>
                  </a:tcPr>
                </a:tc>
                <a:tc>
                  <a:txBody>
                    <a:bodyPr/>
                    <a:lstStyle/>
                    <a:p>
                      <a:r>
                        <a:rPr sz="1500" b="0">
                          <a:solidFill>
                            <a:srgbClr val="1F2937"/>
                          </a:solidFill>
                        </a:rPr>
                        <a:t>Yuqoriroq</a:t>
                      </a:r>
                    </a:p>
                  </a:txBody>
                  <a:tcPr marL="73152" marR="73152" marT="36576" marB="36576">
                    <a:solidFill>
                      <a:srgbClr val="E8EEF6"/>
                    </a:solidFill>
                  </a:tcPr>
                </a:tc>
                <a:tc>
                  <a:txBody>
                    <a:bodyPr/>
                    <a:lstStyle/>
                    <a:p>
                      <a:r>
                        <a:rPr sz="1500" b="0">
                          <a:solidFill>
                            <a:srgbClr val="1F2937"/>
                          </a:solidFill>
                        </a:rPr>
                        <a:t>Pastroq</a:t>
                      </a:r>
                    </a:p>
                  </a:txBody>
                  <a:tcPr marL="73152" marR="73152" marT="36576" marB="36576">
                    <a:solidFill>
                      <a:srgbClr val="E8EEF6"/>
                    </a:solidFill>
                  </a:tcPr>
                </a:tc>
              </a:tr>
              <a:tr h="768096">
                <a:tc>
                  <a:txBody>
                    <a:bodyPr/>
                    <a:lstStyle/>
                    <a:p>
                      <a:r>
                        <a:rPr sz="1500" b="0">
                          <a:solidFill>
                            <a:srgbClr val="1F2937"/>
                          </a:solidFill>
                        </a:rPr>
                        <a:t>Jarohat kinematikasiga mosligi</a:t>
                      </a:r>
                    </a:p>
                  </a:txBody>
                  <a:tcPr marL="73152" marR="73152" marT="36576" marB="36576">
                    <a:solidFill>
                      <a:srgbClr val="FFFFFF"/>
                    </a:solidFill>
                  </a:tcPr>
                </a:tc>
                <a:tc>
                  <a:txBody>
                    <a:bodyPr/>
                    <a:lstStyle/>
                    <a:p>
                      <a:r>
                        <a:rPr sz="1500" b="0">
                          <a:solidFill>
                            <a:srgbClr val="1F2937"/>
                          </a:solidFill>
                        </a:rPr>
                        <a:t>Ko‘proq mos</a:t>
                      </a:r>
                    </a:p>
                  </a:txBody>
                  <a:tcPr marL="73152" marR="73152" marT="36576" marB="36576">
                    <a:solidFill>
                      <a:srgbClr val="FFFFFF"/>
                    </a:solidFill>
                  </a:tcPr>
                </a:tc>
                <a:tc>
                  <a:txBody>
                    <a:bodyPr/>
                    <a:lstStyle/>
                    <a:p>
                      <a:r>
                        <a:rPr sz="1500" b="0">
                          <a:solidFill>
                            <a:srgbClr val="1F2937"/>
                          </a:solidFill>
                        </a:rPr>
                        <a:t>Kamroq mos</a:t>
                      </a:r>
                    </a:p>
                  </a:txBody>
                  <a:tcPr marL="73152" marR="73152" marT="36576" marB="36576">
                    <a:solidFill>
                      <a:srgbClr val="FFFFFF"/>
                    </a:solidFill>
                  </a:tcPr>
                </a:tc>
              </a:tr>
              <a:tr h="768096">
                <a:tc>
                  <a:txBody>
                    <a:bodyPr/>
                    <a:lstStyle/>
                    <a:p>
                      <a:r>
                        <a:rPr sz="1500" b="0">
                          <a:solidFill>
                            <a:srgbClr val="1F2937"/>
                          </a:solidFill>
                        </a:rPr>
                        <a:t>Datchiklar</a:t>
                      </a:r>
                    </a:p>
                  </a:txBody>
                  <a:tcPr marL="73152" marR="73152" marT="36576" marB="36576">
                    <a:solidFill>
                      <a:srgbClr val="E8EEF6"/>
                    </a:solidFill>
                  </a:tcPr>
                </a:tc>
                <a:tc>
                  <a:txBody>
                    <a:bodyPr/>
                    <a:lstStyle/>
                    <a:p>
                      <a:r>
                        <a:rPr sz="1500" b="0">
                          <a:solidFill>
                            <a:srgbClr val="1F2937"/>
                          </a:solidFill>
                        </a:rPr>
                        <a:t>Giroskop, akselerometr</a:t>
                      </a:r>
                    </a:p>
                  </a:txBody>
                  <a:tcPr marL="73152" marR="73152" marT="36576" marB="36576">
                    <a:solidFill>
                      <a:srgbClr val="E8EEF6"/>
                    </a:solidFill>
                  </a:tcPr>
                </a:tc>
                <a:tc>
                  <a:txBody>
                    <a:bodyPr/>
                    <a:lstStyle/>
                    <a:p>
                      <a:r>
                        <a:rPr sz="1500" b="0">
                          <a:solidFill>
                            <a:srgbClr val="1F2937"/>
                          </a:solidFill>
                        </a:rPr>
                        <a:t>Xuddi shunday</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maneken tajribasi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 1-bo‘lim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AHT: ensefalopatiya va neyroradiologiya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Asosiy topilmalar: gipoksik-ishemik ensefalopatiya (HIE), travmatik aksonal jarohat (TAI), subdural va retinal qon quyilish.</a:t>
            </a:r>
          </a:p>
          <a:p>
            <a:pPr>
              <a:spcAft>
                <a:spcPts val="1200"/>
              </a:spcAft>
            </a:pPr>
            <a:r>
              <a:rPr sz="2200">
                <a:solidFill>
                  <a:srgbClr val="1F2937"/>
                </a:solidFill>
                <a:latin typeface="Calibri"/>
              </a:rPr>
              <a:t>▸  Gipoteza: quyi miya ustunida yurak-nafas yadrolari yaqinida fokal TAI nafas to‘xtashiga olib keladi; hali to‘liq isbotlanmagan.</a:t>
            </a:r>
          </a:p>
          <a:p>
            <a:pPr>
              <a:spcAft>
                <a:spcPts val="1200"/>
              </a:spcAft>
            </a:pPr>
            <a:r>
              <a:rPr sz="2200">
                <a:solidFill>
                  <a:srgbClr val="1F2937"/>
                </a:solidFill>
                <a:latin typeface="Calibri"/>
              </a:rPr>
              <a:t>▸  Hahnemann tadqiqotida 61 bolaning 31 tasida (50,8 %) lezyon bor; miya ustuni lezyoni topilmadi, ko‘pchilik tirik qolgan.</a:t>
            </a:r>
          </a:p>
          <a:p>
            <a:pPr>
              <a:spcAft>
                <a:spcPts val="1200"/>
              </a:spcAft>
            </a:pPr>
            <a:r>
              <a:rPr sz="2200">
                <a:solidFill>
                  <a:srgbClr val="1F2937"/>
                </a:solidFill>
                <a:latin typeface="Calibri"/>
              </a:rPr>
              <a:t>▸  Diqqat: neyroradiologiyada ko‘rinmaslik ≠ patologiyada yo‘qlik. Kichik lezyonlar ko‘rinmasligi mumkin; klinik-patologik moslik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 1–2-bo‘limlar, PMID 42170192, 2-bo‘lim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travmatik ensefalopatiya va oila zo‘ravonligi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Takroriy travmatik bosh miya jarohati (TBI) ta’siri asr yaqin oldin «punch drunk» deb atalgan; hozir CTE. Omalu ishi qiziqishni oshirdi.</a:t>
            </a:r>
          </a:p>
          <a:p>
            <a:pPr>
              <a:spcAft>
                <a:spcPts val="1200"/>
              </a:spcAft>
            </a:pPr>
            <a:r>
              <a:rPr sz="2200">
                <a:solidFill>
                  <a:srgbClr val="1F2937"/>
                </a:solidFill>
                <a:latin typeface="Calibri"/>
              </a:rPr>
              <a:t>▸  1990-yilgi ayol holida CTE ekani noaniq qoldi. Sherik zo‘ravonligi (IPV) qurboni yosh ayolda birinchi aniq CTE holi 2021-yilda yozilgan.</a:t>
            </a:r>
          </a:p>
          <a:p>
            <a:pPr>
              <a:spcAft>
                <a:spcPts val="1200"/>
              </a:spcAft>
            </a:pPr>
            <a:r>
              <a:rPr sz="2200">
                <a:solidFill>
                  <a:srgbClr val="1F2937"/>
                </a:solidFill>
                <a:latin typeface="Calibri"/>
              </a:rPr>
              <a:t>▸  IPV tarixli 14 ayolda CTE topilmadi; sabab tanlama tarkibi bo‘lishi mumkin. Zarba soni va kuchini miqdoriy baholash deyarli imkonsiz.</a:t>
            </a:r>
          </a:p>
          <a:p>
            <a:pPr>
              <a:spcAft>
                <a:spcPts val="1200"/>
              </a:spcAft>
            </a:pPr>
            <a:r>
              <a:rPr sz="2200">
                <a:solidFill>
                  <a:srgbClr val="1F2937"/>
                </a:solidFill>
                <a:latin typeface="Calibri"/>
              </a:rPr>
              <a:t>▸  LETBI loyihasida 47 donor miyadan 7 tasida (14,9 %) aniq CTE bor; yakka TBI CTE bilan kam bog‘liq bo‘lgan.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 3-bo‘lim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SUDEP: istisno tashxisi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SUDEP — epilepsiyada kutilmagan o‘lim; tashxis boshqa sabablar istisno qilingandan keyin qo‘yiladi.</a:t>
            </a:r>
          </a:p>
          <a:p>
            <a:pPr>
              <a:spcAft>
                <a:spcPts val="800"/>
              </a:spcAft>
            </a:pPr>
            <a:r>
              <a:rPr sz="1800">
                <a:solidFill>
                  <a:srgbClr val="1F2937"/>
                </a:solidFill>
                <a:latin typeface="Calibri"/>
              </a:rPr>
              <a:t>▸  2500 dan ortiq bemorli kuzatuvda 38 nafari (1,54%) SUDEPdan vafot etgan: 1000 kishi-yilga 4,76.</a:t>
            </a:r>
          </a:p>
          <a:p>
            <a:pPr>
              <a:spcAft>
                <a:spcPts val="800"/>
              </a:spcAft>
            </a:pPr>
            <a:r>
              <a:rPr sz="1800">
                <a:solidFill>
                  <a:srgbClr val="1F2937"/>
                </a:solidFill>
                <a:latin typeface="Calibri"/>
              </a:rPr>
              <a:t>▸  Diqqat: SUDEP ≠ status epilepticus; ikkalasi ham epilepsiyaning bevosita o‘lim sabablari.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05694"/>
                <a:gridCol w="1854421"/>
                <a:gridCol w="1927859"/>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SUDEP</a:t>
                      </a:r>
                    </a:p>
                  </a:txBody>
                  <a:tcPr marL="73152" marR="73152" marT="36576" marB="36576">
                    <a:solidFill>
                      <a:srgbClr val="0B1F3A"/>
                    </a:solidFill>
                  </a:tcPr>
                </a:tc>
                <a:tc>
                  <a:txBody>
                    <a:bodyPr/>
                    <a:lstStyle/>
                    <a:p>
                      <a:r>
                        <a:rPr sz="1600" b="1">
                          <a:solidFill>
                            <a:srgbClr val="FFFFFF"/>
                          </a:solidFill>
                        </a:rPr>
                        <a:t>SUID/SUDC</a:t>
                      </a:r>
                    </a:p>
                  </a:txBody>
                  <a:tcPr marL="73152" marR="73152" marT="36576" marB="36576">
                    <a:solidFill>
                      <a:srgbClr val="0B1F3A"/>
                    </a:solidFill>
                  </a:tcPr>
                </a:tc>
              </a:tr>
              <a:tr h="614476">
                <a:tc>
                  <a:txBody>
                    <a:bodyPr/>
                    <a:lstStyle/>
                    <a:p>
                      <a:r>
                        <a:rPr sz="1500" b="0">
                          <a:solidFill>
                            <a:srgbClr val="1F2937"/>
                          </a:solidFill>
                        </a:rPr>
                        <a:t>Uyqu va yuztuban holat</a:t>
                      </a:r>
                    </a:p>
                  </a:txBody>
                  <a:tcPr marL="73152" marR="73152" marT="36576" marB="36576">
                    <a:solidFill>
                      <a:srgbClr val="E8EEF6"/>
                    </a:solidFill>
                  </a:tcPr>
                </a:tc>
                <a:tc>
                  <a:txBody>
                    <a:bodyPr/>
                    <a:lstStyle/>
                    <a:p>
                      <a:r>
                        <a:rPr sz="1500" b="0">
                          <a:solidFill>
                            <a:srgbClr val="1F2937"/>
                          </a:solidFill>
                        </a:rPr>
                        <a:t>Umumiy xususiyat</a:t>
                      </a:r>
                    </a:p>
                  </a:txBody>
                  <a:tcPr marL="73152" marR="73152" marT="36576" marB="36576">
                    <a:solidFill>
                      <a:srgbClr val="E8EEF6"/>
                    </a:solidFill>
                  </a:tcPr>
                </a:tc>
                <a:tc>
                  <a:txBody>
                    <a:bodyPr/>
                    <a:lstStyle/>
                    <a:p>
                      <a:r>
                        <a:rPr sz="1500" b="0">
                          <a:solidFill>
                            <a:srgbClr val="1F2937"/>
                          </a:solidFill>
                        </a:rPr>
                        <a:t>Umumiy xususiyat</a:t>
                      </a:r>
                    </a:p>
                  </a:txBody>
                  <a:tcPr marL="73152" marR="73152" marT="36576" marB="36576">
                    <a:solidFill>
                      <a:srgbClr val="E8EEF6"/>
                    </a:solidFill>
                  </a:tcPr>
                </a:tc>
              </a:tr>
              <a:tr h="614476">
                <a:tc>
                  <a:txBody>
                    <a:bodyPr/>
                    <a:lstStyle/>
                    <a:p>
                      <a:r>
                        <a:rPr sz="1500" b="0">
                          <a:solidFill>
                            <a:srgbClr val="1F2937"/>
                          </a:solidFill>
                        </a:rPr>
                        <a:t>Natriy kanal genlari</a:t>
                      </a:r>
                    </a:p>
                  </a:txBody>
                  <a:tcPr marL="73152" marR="73152" marT="36576" marB="36576">
                    <a:solidFill>
                      <a:srgbClr val="FFFFFF"/>
                    </a:solidFill>
                  </a:tcPr>
                </a:tc>
                <a:tc>
                  <a:txBody>
                    <a:bodyPr/>
                    <a:lstStyle/>
                    <a:p>
                      <a:r>
                        <a:rPr sz="1500" b="0">
                          <a:solidFill>
                            <a:srgbClr val="1F2937"/>
                          </a:solidFill>
                        </a:rPr>
                        <a:t>Variantlar ko‘proq uchraydi</a:t>
                      </a:r>
                    </a:p>
                  </a:txBody>
                  <a:tcPr marL="73152" marR="73152" marT="36576" marB="36576">
                    <a:solidFill>
                      <a:srgbClr val="FFFFFF"/>
                    </a:solidFill>
                  </a:tcPr>
                </a:tc>
                <a:tc>
                  <a:txBody>
                    <a:bodyPr/>
                    <a:lstStyle/>
                    <a:p>
                      <a:r>
                        <a:rPr sz="1500" b="0">
                          <a:solidFill>
                            <a:srgbClr val="1F2937"/>
                          </a:solidFill>
                        </a:rPr>
                        <a:t>Variantlar ko‘proq uchraydi</a:t>
                      </a:r>
                    </a:p>
                  </a:txBody>
                  <a:tcPr marL="73152" marR="73152" marT="36576" marB="36576">
                    <a:solidFill>
                      <a:srgbClr val="FFFFFF"/>
                    </a:solidFill>
                  </a:tcPr>
                </a:tc>
              </a:tr>
              <a:tr h="614476">
                <a:tc>
                  <a:txBody>
                    <a:bodyPr/>
                    <a:lstStyle/>
                    <a:p>
                      <a:r>
                        <a:rPr sz="1500" b="0">
                          <a:solidFill>
                            <a:srgbClr val="1F2937"/>
                          </a:solidFill>
                        </a:rPr>
                        <a:t>Gippokamp</a:t>
                      </a:r>
                    </a:p>
                  </a:txBody>
                  <a:tcPr marL="73152" marR="73152" marT="36576" marB="36576">
                    <a:solidFill>
                      <a:srgbClr val="E8EEF6"/>
                    </a:solidFill>
                  </a:tcPr>
                </a:tc>
                <a:tc>
                  <a:txBody>
                    <a:bodyPr/>
                    <a:lstStyle/>
                    <a:p>
                      <a:r>
                        <a:rPr sz="1500" b="0">
                          <a:solidFill>
                            <a:srgbClr val="1F2937"/>
                          </a:solidFill>
                        </a:rPr>
                        <a:t>Nozik anomaliyalar topilgan</a:t>
                      </a:r>
                    </a:p>
                  </a:txBody>
                  <a:tcPr marL="73152" marR="73152" marT="36576" marB="36576">
                    <a:solidFill>
                      <a:srgbClr val="E8EEF6"/>
                    </a:solidFill>
                  </a:tcPr>
                </a:tc>
                <a:tc>
                  <a:txBody>
                    <a:bodyPr/>
                    <a:lstStyle/>
                    <a:p>
                      <a:r>
                        <a:rPr sz="1500" b="0">
                          <a:solidFill>
                            <a:srgbClr val="1F2937"/>
                          </a:solidFill>
                        </a:rPr>
                        <a:t>Nozik anomaliyalar topilgan</a:t>
                      </a:r>
                    </a:p>
                  </a:txBody>
                  <a:tcPr marL="73152" marR="73152" marT="36576" marB="36576">
                    <a:solidFill>
                      <a:srgbClr val="E8EEF6"/>
                    </a:solidFill>
                  </a:tcPr>
                </a:tc>
              </a:tr>
              <a:tr h="614476">
                <a:tc>
                  <a:txBody>
                    <a:bodyPr/>
                    <a:lstStyle/>
                    <a:p>
                      <a:r>
                        <a:rPr sz="1500" b="0">
                          <a:solidFill>
                            <a:srgbClr val="1F2937"/>
                          </a:solidFill>
                        </a:rPr>
                        <a:t>Xavf omili</a:t>
                      </a:r>
                    </a:p>
                  </a:txBody>
                  <a:tcPr marL="73152" marR="73152" marT="36576" marB="36576">
                    <a:solidFill>
                      <a:srgbClr val="FFFFFF"/>
                    </a:solidFill>
                  </a:tcPr>
                </a:tc>
                <a:tc>
                  <a:txBody>
                    <a:bodyPr/>
                    <a:lstStyle/>
                    <a:p>
                      <a:r>
                        <a:rPr sz="1500" b="0">
                          <a:solidFill>
                            <a:srgbClr val="1F2937"/>
                          </a:solidFill>
                        </a:rPr>
                        <a:t>Yolg‘iz yashash, uzoq apnoe</a:t>
                      </a:r>
                    </a:p>
                  </a:txBody>
                  <a:tcPr marL="73152" marR="73152" marT="36576" marB="36576">
                    <a:solidFill>
                      <a:srgbClr val="FFFFFF"/>
                    </a:solidFill>
                  </a:tcPr>
                </a:tc>
                <a:tc>
                  <a:txBody>
                    <a:bodyPr/>
                    <a:lstStyle/>
                    <a:p>
                      <a:r>
                        <a:rPr sz="1500" b="0">
                          <a:solidFill>
                            <a:srgbClr val="1F2937"/>
                          </a:solidFill>
                        </a:rPr>
                        <a:t>Manbada ko‘rsatilmagan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SUDEP va bolalik o‘limlari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Sun’iy intellekt sud nevropatologiyasida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Treglia va hammualliflari sistematik sharhi (PRISMA) 2014–2024-yil may oralig‘ida 34 ta ishni topgan: TBI (bosh miya travmasi) va epilepsiya bo‘yicha.</a:t>
            </a:r>
          </a:p>
          <a:p>
            <a:pPr>
              <a:spcAft>
                <a:spcPts val="1200"/>
              </a:spcAft>
            </a:pPr>
            <a:r>
              <a:rPr sz="2000">
                <a:solidFill>
                  <a:srgbClr val="1F2937"/>
                </a:solidFill>
                <a:latin typeface="Calibri"/>
              </a:rPr>
              <a:t>▸  TBI bo‘yicha atigi 6 ta ish bor, hammasi radiologik. CNN (konvolyutsion neyron tarmoq) PMCT (o‘limdan keyingi kompyuter tomografiya)da o‘limga olib kelgan bosh jarohatini ajratgan.</a:t>
            </a:r>
          </a:p>
          <a:p>
            <a:pPr>
              <a:spcAft>
                <a:spcPts val="1200"/>
              </a:spcAft>
            </a:pPr>
            <a:r>
              <a:rPr sz="2000">
                <a:solidFill>
                  <a:srgbClr val="1F2937"/>
                </a:solidFill>
                <a:latin typeface="Calibri"/>
              </a:rPr>
              <a:t>▸  Epilepsiya va o‘smalar bo‘yicha 28 ta ish: AI o‘smalarni yuqori aniqlikda tasniflagan, fokal kortikal displaziyani tuberoz sklerozdan 90% dan yuqori aniqlikda ajratgan.</a:t>
            </a:r>
          </a:p>
          <a:p>
            <a:pPr>
              <a:spcAft>
                <a:spcPts val="1200"/>
              </a:spcAft>
            </a:pPr>
            <a:r>
              <a:rPr sz="2000">
                <a:solidFill>
                  <a:srgbClr val="1F2937"/>
                </a:solidFill>
                <a:latin typeface="Calibri"/>
              </a:rPr>
              <a:t>▸  AI ob’yektiv, takrorlanuvchi dalil berishi mumkin, lekin murakkab usullarning kundalik amaliyotga kirishi hozircha ehtimoldan yiroq.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Serebellum, miya morfologiyasi va alkogol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Serebellum ‘guvoh qutisi’: valproat yoki alkogol zaharlanishini (yuqori vermis atrofiyasi, tiamin tanqisligi) va gerniyani ko‘rsatishi mumkin.</a:t>
            </a:r>
          </a:p>
          <a:p>
            <a:pPr>
              <a:spcAft>
                <a:spcPts val="1200"/>
              </a:spcAft>
            </a:pPr>
            <a:r>
              <a:rPr sz="2200">
                <a:solidFill>
                  <a:srgbClr val="1F2937"/>
                </a:solidFill>
                <a:latin typeface="Calibri"/>
              </a:rPr>
              <a:t>▸  Supratentorial TBI serebellum to‘g‘ridan-to‘g‘ri shikastlanmasa ham, yillar o‘tib, ayniqsa bolalarda, atrofiya chaqirishi mumkin.</a:t>
            </a:r>
          </a:p>
          <a:p>
            <a:pPr>
              <a:spcAft>
                <a:spcPts val="1200"/>
              </a:spcAft>
            </a:pPr>
            <a:r>
              <a:rPr sz="2200">
                <a:solidFill>
                  <a:srgbClr val="1F2937"/>
                </a:solidFill>
                <a:latin typeface="Calibri"/>
              </a:rPr>
              <a:t>▸  17 ta jinoiy xulqli fokal shikastlanish tasvirida o‘ng uncinate fasciculus uzilishi topilgan, lekin tasvirning o‘zi sababiy bog‘liqlikni isbotlamaydi.</a:t>
            </a:r>
          </a:p>
          <a:p>
            <a:pPr>
              <a:spcAft>
                <a:spcPts val="1200"/>
              </a:spcAft>
            </a:pPr>
            <a:r>
              <a:rPr sz="2200">
                <a:solidFill>
                  <a:srgbClr val="1F2937"/>
                </a:solidFill>
                <a:latin typeface="Calibri"/>
              </a:rPr>
              <a:t>▸  Alkogol bilan bog‘liq miya shikastlanishi (ARBD) ishchi xotira va diqqatni buzadi; so‘nggi ishlar neyron yo‘qolishidan ko‘ra mikroglia o‘zgarishini ko‘rsatgan.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SUDEP va otopsiya topilmasi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epilepsiyasi bor shaxs o‘lik topildi. Otopsiyada boshqa o‘lim sababi aniqlanmadi. Savol: nevropatolog qanday xulosa qiladi?</a:t>
            </a:r>
          </a:p>
          <a:p>
            <a:pPr>
              <a:spcAft>
                <a:spcPts val="1200"/>
              </a:spcAft>
            </a:pPr>
            <a:r>
              <a:rPr sz="2200">
                <a:solidFill>
                  <a:srgbClr val="1F2937"/>
                </a:solidFill>
                <a:latin typeface="Calibri"/>
              </a:rPr>
              <a:t>▸  SUDEP — epilepsiyali shaxsning kutilmagan, baxtsiz hodisa bo‘lmagan o‘limi. Otopsiyada boshqa sabab topilmasa, shu tashxis qo‘yiladi. U istisno tashxisi.</a:t>
            </a:r>
          </a:p>
          <a:p>
            <a:pPr>
              <a:spcAft>
                <a:spcPts val="1200"/>
              </a:spcAft>
            </a:pPr>
            <a:r>
              <a:rPr sz="2200">
                <a:solidFill>
                  <a:srgbClr val="1F2937"/>
                </a:solidFill>
                <a:latin typeface="Calibri"/>
              </a:rPr>
              <a:t>▸  Nevropatologning asosiy vazifasi — o‘limning boshqa sabablarini istisno qilish. U ilgari noma’lum bo‘lgan epileptogen holatni ham topishi mumkin.</a:t>
            </a:r>
          </a:p>
          <a:p>
            <a:pPr>
              <a:spcAft>
                <a:spcPts val="1200"/>
              </a:spcAft>
            </a:pPr>
            <a:r>
              <a:rPr sz="2200">
                <a:solidFill>
                  <a:srgbClr val="1F2937"/>
                </a:solidFill>
                <a:latin typeface="Calibri"/>
              </a:rPr>
              <a:t>▸  Diqqat: xato qilish xavfi! SUDEP ≠ status epilepticus. Ikkalasi ham epilepsiyaning bevosita o‘lim sababi, lekin SUDEP boshqa sabab topilmaganda qo‘yiladi.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yangi yo‘nalishlar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(AHT): chaqaloqlarda tipik jarohatlarni hosil qiluvchi asosiy mexanizm qaysi kinematik ko‘rsatkich bilan bog‘lanadi?</a:t>
            </a:r>
          </a:p>
          <a:p>
            <a:pPr>
              <a:spcAft>
                <a:spcPts val="1200"/>
              </a:spcAft>
            </a:pPr>
            <a:r>
              <a:rPr sz="2200">
                <a:solidFill>
                  <a:srgbClr val="1F2937"/>
                </a:solidFill>
                <a:latin typeface="Calibri"/>
              </a:rPr>
              <a:t>▸  2-savol (SUDEP): bu tashxis qaysi turga kiradi va xavfni oshiruvchi omillardan uchtasini ayting.</a:t>
            </a:r>
          </a:p>
          <a:p>
            <a:pPr>
              <a:spcAft>
                <a:spcPts val="1200"/>
              </a:spcAft>
            </a:pPr>
            <a:r>
              <a:rPr sz="2200">
                <a:solidFill>
                  <a:srgbClr val="1F2937"/>
                </a:solidFill>
                <a:latin typeface="Calibri"/>
              </a:rPr>
              <a:t>▸  3-savol (likvor): o‘lim vaqtini baholash uchun likvorda qaysi uch biomarker o‘rganilgan?</a:t>
            </a:r>
          </a:p>
          <a:p>
            <a:pPr>
              <a:spcAft>
                <a:spcPts val="1200"/>
              </a:spcAft>
            </a:pPr>
            <a:r>
              <a:rPr sz="2200">
                <a:solidFill>
                  <a:srgbClr val="1F2937"/>
                </a:solidFill>
                <a:latin typeface="Calibri"/>
              </a:rPr>
              <a:t>▸  4-savol (PMMR): postmortem MRI (PMMR) ning ‘minimal’ protokoli qancha vaqtdan kam davom etadi va nimani qamraydi?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sud nevropatologiyasi texnikasining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Soha tavsifiy yordamchi fandan integrativ fanga aylanmoqda. Makroskopik topilmalar biomexanika, neyroradiologiya, genetika va bioinformatika bilan birga talqin qilinadi.</a:t>
            </a:r>
          </a:p>
          <a:p>
            <a:pPr>
              <a:spcAft>
                <a:spcPts val="1200"/>
              </a:spcAft>
            </a:pPr>
            <a:r>
              <a:rPr sz="2000">
                <a:solidFill>
                  <a:srgbClr val="1F2937"/>
                </a:solidFill>
                <a:latin typeface="Calibri"/>
              </a:rPr>
              <a:t>▸  MRI va gistologiyani bog‘lash: 7 Tesla MRI, 3D bosma kesish yo‘naltirgichlari va MRI–blokface moslashuvi oq modda o‘choqlaridan nishonli namuna olishga imkon beradi.</a:t>
            </a:r>
          </a:p>
          <a:p>
            <a:pPr>
              <a:spcAft>
                <a:spcPts val="1200"/>
              </a:spcAft>
            </a:pPr>
            <a:r>
              <a:rPr sz="2000">
                <a:solidFill>
                  <a:srgbClr val="1F2937"/>
                </a:solidFill>
                <a:latin typeface="Calibri"/>
              </a:rPr>
              <a:t>▸  Cheklov: yiliga 3–17 maqola chop etilgan, namunalar o‘rtacha 57 kishi, nazorat guruhi 43,4% ishda bor. Ko‘p topilmalar dastlabki, tasdiqlashni talab qiladi.</a:t>
            </a:r>
          </a:p>
          <a:p>
            <a:pPr>
              <a:spcAft>
                <a:spcPts val="1200"/>
              </a:spcAft>
            </a:pPr>
            <a:r>
              <a:rPr sz="2000">
                <a:solidFill>
                  <a:srgbClr val="1F2937"/>
                </a:solidFill>
                <a:latin typeface="Calibri"/>
              </a:rPr>
              <a:t>▸  Keyingi qadamlar: sud patologlari, neyroradiologlar va bioinjenerlar hamkorligi, yetarli namuna hajmi, nazorat guruhlari va prospektiv klinikopatologik korrelyatsiya.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Matschke J va boshq., Forensic neuropathology: 2026 update, betlar: PMID 42170192; Nadim Farhat va boshq., Bridging Neuroimaging and Neuropathology: A Comprehensive Workflow for Targeted Sampling of White Matter Lesions, betlar: PMID 41126483; Oura P va boshq., Forensic neuropathology in the past decade: a scoping literature review, betlar: PMID 37439948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Arzon yechim: korpus, qirqish yo‘naltirgichi va qopqoqdan iborat bitta to‘plam taxminan 60 dollar turadi. U taxminan 30 ta miya uchun yetadi, ya‘ni bitta miyaga taxminan 2 dollardan to‘g‘ri keladi. Eslab qoling: bir marta chop etiladi, ko‘p marta ishlatiladi.</a:t>
            </a:r>
          </a:p>
          <a:p>
            <a:pPr>
              <a:spcAft>
                <a:spcPts val="1200"/>
              </a:spcAft>
            </a:pPr>
            <a:r>
              <a:rPr sz="1800">
                <a:solidFill>
                  <a:srgbClr val="1F2937"/>
                </a:solidFill>
                <a:latin typeface="Calibri"/>
              </a:rPr>
              <a:t>▸  Eslab qolish usuli (agar-saxaroza muhiti): suv va agarda nisbiy dielektrik o‘tkazuvchanlik taxminan 78, miyada taxminan 58. Saxaroza qo‘shilsa u 68 gacha tushadi. Ya‘ni “78 dan 68 ga, miya (58) ga yaqinlashtiramiz”.</a:t>
            </a:r>
          </a:p>
          <a:p>
            <a:pPr>
              <a:spcAft>
                <a:spcPts val="1200"/>
              </a:spcAft>
            </a:pPr>
            <a:r>
              <a:rPr sz="1800">
                <a:solidFill>
                  <a:srgbClr val="1F2937"/>
                </a:solidFill>
                <a:latin typeface="Calibri"/>
              </a:rPr>
              <a:t>▸  Hodisa tahlili: 1966-yilda Charles Whitman 16 kishini o‘ldirdi. Autopsiyada amigdalani bosgan kichik o‘sma topildi. Mutaxassislar o‘sma va xatti-harakat orasidagi sabab bog‘liqligi isbotlanmaganini ta‘kidladi. Xulosa: tasvir yoki morfologik topilma yolg‘iz o‘zi sababni isbotlamaydi.</a:t>
            </a:r>
          </a:p>
          <a:p>
            <a:pPr>
              <a:spcAft>
                <a:spcPts val="1200"/>
              </a:spcAft>
            </a:pPr>
            <a:r>
              <a:rPr sz="1800">
                <a:solidFill>
                  <a:srgbClr val="1F2937"/>
                </a:solidFill>
                <a:latin typeface="Calibri"/>
              </a:rPr>
              <a:t>▸  Eslab qoling: SUDEP (epilepsiyada kutilmagan to‘satdan o‘lim) bu istisno tashxisi. Autopsiyada boshqa o‘lim sababi topilmasa qo‘yiladi. Neyropatologning asosiy vazifasi boshqa sabablarni chiqarib tashlashdir.</a:t>
            </a:r>
          </a:p>
          <a:p>
            <a:pPr>
              <a:spcAft>
                <a:spcPts val="1200"/>
              </a:spcAft>
            </a:pPr>
            <a:r>
              <a:rPr sz="1800">
                <a:solidFill>
                  <a:srgbClr val="1F2937"/>
                </a:solidFill>
                <a:latin typeface="Calibri"/>
              </a:rPr>
              <a:t>▸  Sud neyropatologiyasi tadqiqotlari tahlili: 2010–2022-yillarda yiliga atigi 3–17 ta maqola chiqqan. Tanlanma mediani 57 kishi bo‘lgan, nazorat guruhi tadqiqotlarning 43,4 foizida ishlatilgan. Demak, ko‘p ishlar tavsifiy xarakterda va topilmalar qo‘shimcha tasdiqlashni talab qiladi.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Asab tizimini tekshirish texnikasining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Nadim Farhat va boshq. Bridging Neuroimaging and Neuropathology: A Comprehensive Workflow for Targeted Sampling of White Matter Lesions, Journal of Neuroimaging. 2025. PMID 41126483; DOI 10.1111/jon.70094</a:t>
            </a:r>
          </a:p>
          <a:p>
            <a:pPr>
              <a:spcAft>
                <a:spcPts val="800"/>
              </a:spcAft>
            </a:pPr>
            <a:r>
              <a:rPr sz="2000">
                <a:solidFill>
                  <a:srgbClr val="1F2937"/>
                </a:solidFill>
                <a:latin typeface="Calibri"/>
              </a:rPr>
              <a:t>▸  Matschke J va boshq. Forensic neuropathology: 2026 update, Free Neuropathology. 2026. PMID 42170192; DOI 10.17879/freeneuropathology-2026-9343</a:t>
            </a:r>
          </a:p>
          <a:p>
            <a:pPr>
              <a:spcAft>
                <a:spcPts val="800"/>
              </a:spcAft>
            </a:pPr>
            <a:r>
              <a:rPr sz="2000">
                <a:solidFill>
                  <a:srgbClr val="1F2937"/>
                </a:solidFill>
                <a:latin typeface="Calibri"/>
              </a:rPr>
              <a:t>▸  Oura P va boshq. Forensic neuropathology in the past decade: a scoping literature review, Forensic Science. 2023. PMID 37439948; DOI 10.1007/s12024-023-00672-9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