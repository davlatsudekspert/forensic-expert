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o‘lim vaqtini aniqlash faqat shifokorlar masalasi emas? 2) A’zo tanqisligi qanday axloqiy savollar tug‘diradi? Doskada: ‘Reanimatsiya → o‘lim vaqti → a’zo olish’ strelkali chizma chizdiring. Tipik xato: talabalar o‘lim vaqti masalasini faqat tibbiy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Rejadagi qaysi blok sizga eng munozarali ko‘rinadi? 2) ‘Prezumptsiya’ so‘zini o‘z so‘zingiz bilan izohlang. Doskada: besh bloklik zanjirni daftarga ko‘chirtiring. Tipik xato: prezumptsiyani ‘hujjat’ deb tushunish; u oldindan taxmin qilingan rozilik yoki norozilikdir.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Donor va retsipient bir shaxs bo‘lishi mumkinmi? 2) Nega klinikadan oldin eksperimental bosqich kerak? Doskada: ‘Donor → a’zo → Retsipient’ sxemasini chizdiring. Tipik xato: eksperimental transplantatsiyani klinik amaliyotning o‘zi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klinikadan oldin eksperimental bosqich kerak? 2) Retsipientning immun holati nimaga muhim? Doskada: eksperimentdan klinikagacha bo‘lgan zanjirni chizdiring. Tipik xato: eksperimental transplantatsiyani to‘g‘ridan-to‘g‘ri bemorga ko‘chirish deb tushunish. Aslida bu klinikadan oldingi bosqich.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Qaysi turda donor va retsipient bir shaxs? 2) Hayvondan a‘zo olish qaysi turga kiradi? Doskada: jadvalni talabalar bilan birga to‘ldiring. Tipik xato: izotransplantatsiyani allotransplantatsiya bilan aralashtirish. Egizak donor genetik jihatdan aynan o‘xshash. Manbada izotransplantatsiya uchun aniq klinik misol berilmagan.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Egizak donor bo‘lsa, nega bu auto- emas? 2) Allo- va kseno- orasidagi asosiy farq nima? Doskada: to‘rt tur uchun ’donor kim?’ savoliga bir so‘zli javoblarni yozdiring. Tipik xato: egizakni retsipientning ’o‘zi’ deb hisoblash. Egizak alohida shaxs, auto-da esa donor aynan retsipientning o‘zi.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javobni qo‘l ko‘tarib yoki varaqda yozadi. Javoblar: 1 — autotransplantatsiya; 2 — izotransplantatsiya; 3 — ksenotransplantatsiya. Muhokama savoli: nega egizakdan olingan transplantat allo emas, izo deyiladi? Doskaga to‘rt turni donor–retsipient o‘qlari bilan chizdiring. Tipik xato: izo- va allo- turlarini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Guruhlarda muhokama, so‘ng javoblar. Kuyish va leykoz — autotransplantatsiya (bemorning o‘zi donor); egizak — izotransplantatsiya. Muhokama savollari: autotransplantatsiyada nima uchun immun rad etish muammosi bo‘lmaydi? Egizak donorda qanday etik masala qolishi mumkin? Doskada uchala holat uchun donor va retsipient chizmasini chizing. Tipik xato: leykozdagi ilik ko‘chirishni har doim allotransplantatsiya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nima uchun tibbiy omillar bor, lekin eng katta qiyinchilik etik-huquqiy deyilgan? Immunosupressiv terapiya nima uchun kerak (immunitetni susaytirish, rad etishning oldini olish)? Doskada ikki ustunli jadval chizdiring: tibbiy va etik-huquqiy cheklovlar. Tipik xato: tijoratlashtirishni faqat a’zo sotish deb tushunish; manbada bu faoliyatni foydaga bo‘ysundirish sifatida ta’riflangan.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shifokor «zarar yetkazma» tamoyiliga to‘liq amal qila olmaydi? 2) Foyda zarardan yuqori ekanini kim va qanday baholaydi? Doskada: 5 bosqichli zanjirni chizdiring. Tipik xato: «zarar yetkazma» tamoyili bekor bo‘ladi deb o‘ylash. Aslida unga to‘liq amal qilib bo‘lmaydi, shuning uchun foyda va zarar solishtiriladi.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murdadan olish eng keng tarqalgan tur? 2) Uch muammodan qaysi biri eng murakkab va nega? Doskada: jadvalni chizib, har qatorga o‘zingiz bir misol yozing. Tipik xato: tirik donor va murda donorni aralashtirish. Tirik donorda asosiy muammo donorga yetadigan zarar, murda donorda esa o‘limni tasdiqlash, rozilik va din masalalari.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3-4 kishilik guruhlarda ishlaydi. Muhokama: 1) Foyda va zararni solishtirish nimalarga tayanadi? 2) Davlat qonuniy doirani nega belgilaydi? Doskada: ikki ustunli «Foyda | Zarar» jadvalini chizdiring. Tipik xato: faqat qarindoshlar donor bo‘la oladi deb o‘ylash. Manbada qarindosh bo‘lmaganlar ham tirik donor bo‘lishi mumkinligi aytilgan, doirani esa har bir davlat qonuni belgilaydi.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o‘lim vaqti masalasi aynan reanimatsiya va transplantatsiya rivojlangach keskinlashdi? 2) Tirik va o‘lik donorda asosiy muammolar qanday farqlanadi? Doskada: ikki ustunli sxema chizing — «tirik donor» va «o‘lik donor», har biriga asosiy muammoni yozing. Tipik xato: talabalar o‘limni aniqlashni faqat tibbiy masala deb o‘ylashadi.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miya sun’iy tizimlar bilan almashtirib bo‘lmaydigan tizim hisoblanadi? 2) Belgilardan birining o‘zi yetarlimi? Doskada: diagrammadagi besh bosqichni o‘zingiz strelkalar bilan chizing. Tipik xato: mustaqil nafasning to‘xtashini yolg‘iz o‘zi miya o‘limiga teng deb bilish.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1) Nega Garvard mezonlari tibbiyot hamjamiyati uchun muhim bo‘ldi? 2) Qonunchilikda miya o‘limini tan olish nimani o‘zgartiradi? Doskada: uchta belgini «+» belgisi bilan yozib, natija sifatida «miya o‘limi» deb chizing. Tipik xato: belgilarni ketma-ket emas, ajratilgan holda sanash.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O‘lim vaqtini aniqlash nega bioetik masalaga aylandi? 2) Nega miya sun’iy tizim bilan almashtirib bo‘lmaydigan tizim hisoblanadi? Doskada: 5 bosqichli vaqt chizig‘ini chizdiring. Tipik xato: talabalar Garvard mezonlarini VMA Sidney deklaratsiyasi bilan aralashtiradi. Garvard mezonlari ishlab chiqilgan, Sidney deklaratsiyasi esa ularni tan olgan hujjatdir. Eslatma: bu qoida sun’iy ushlab turilgan nafasga ham taalluqli.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Apparat nafasi bemorning tirik ekanini bildiradimi, yoki miya o‘limi mezoni hal qiladimi? 2) Bu vaziyatda yana qaysi shartlar kerak (rozilik masalasi keyingi slaydda)? Doskada: bemor holati belgilarini ustunga yozib, «miya o‘limi» mezonlari bilan solishtiring. Tipik xato: koma va miya o‘limini bir xil deb hisoblash. Koma qaytishi mumkin, miya o‘limi esa qaytmasdir.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Rozilik va norozilik prezumptsiyasida isbotlash yuki kimda? 2) Qaysi usul donor a’zolar tanqisligini kamaytirishi mumkin va nega? Doskada: ikki ustunli «Rozilik / Norozilik prezumptsiyasi» jadvalini chizdiring. Tipik xato: rozilik prezumptsiyasi va norozilik prezumptsiyasini aralashtirish. Diqqat: rozilik prezumptsiyasi ≠ norozilik prezumptsiyasi.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Jim qolish nima uchun ikki tizimda turlicha oqibat beradi? 2) Qaysi tizim shaxs erkinligini ko‘proq himoya qiladi? Doskada: ikki ustunli jadval chizdiring (A — rozilik, B — norozilik) va har ustunga ‘kim nima qilishi kerak’ni yozdiring. Tipik xato: talabalar ikki prezumptsiyani aralashtirib, jim turishni har ikkala tizimda rozilik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G‘arbiy Yevropa davlatlari turli prezumptsiyani tanlagan bo‘lishi mumkin? 2) Qonunchilikdagi farq donorlar soniga qanday ta’sir qilishi mumkin? Doskada: ikki guruhga bo‘lingan davlatlar ro‘yxatini yozdiring. Tipik xato: Fransiya va Germaniyani Avstriya bilan bir guruhga qo‘yish (G‘arbiy Yevropa bir xil emas). Eslatma: o‘zbek qonunchiligi haqida ma’lumot manbada yo‘q.</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(2 daq mustaqil fikr, 4 daq muhokama). Muhokama: 1) A holatda yaqinlar keyinroq e’tiroz bildirsa nima bo‘ladi? 2) Norozilik prezumptsiyasida donor-karta bo‘lmasa, shifokor nima qilishi kerak? Doskada: A va B holatlar uchun ‘ha/yo‘q’ qarorlar daraxtini chizdiring. Tipik xato: norozilik haqidagi xabarni muassasaga yetkazmaslik shart deb o‘ylash — manbada xabar muassasaga ma’lum qilinishi aytilgan.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Rozilik prezumptsiyasida norozilik qanday bildiriladi? 2) AQSHdagi “donor-karta” qaysi prezumptsiyaga mos keladi? Doskada: ikki ustunli (rozilik / norozilik) jadval chizdiring, davlatlarni joylashtiring. Tipik xato: talabalar ikki prezumptsiyani almashtirib yuboradi.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faqat ixtiyoriy berish tanqislikni yecha olmaydi? 2) Qaysi yo‘l etik jihatdan eng qulay? Doskada: tanqislik markazda, to‘rt yechim yo‘lini strelkalar bilan chizdiring. Tipik xato: talabalar hujayra kulturasi usulini amaliyotga joriy etilgan deb o‘ylaydi, aslida u hali ilmiy tadqiqot bosqichida.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Sun’iy a’zo donor muammosini qaysi etik masalalardan xalos qiladi? 2) Nega bu yo‘l qimmat? Doskada: amaliyotda ishlatiladigan sun’iy a’zolar ro‘yxatini tuzdiring. Tipik xato: sun’iy a’zoni xenotransplantatsiya bilan aralashtirish (u hayvon a’zosi, bu mexanik vosita).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Insonlar ming yillardan beri hayvonlarni oziq-ovqat uchun o‘ldirgan; bu ksenotransplantatsiyani oqlaydimi? 2) Hayvon a’zosi bor odam o‘zini qanday his qilishi mumkin? Doskada chizish: transgen cho‘chqa zanjirini 4 qadamda chizdiring. Tipik xato: transgen cho‘chqa bilan rad etish xavfi butunlay yo‘qoladi deb o‘ylash. Matnda faqat ‘kamayishi kerak’ deyilgan.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o‘z hujayrasidan olingan to‘qima immunologik jihatdan qulay? 2) Bu yo‘l qaysi etik-huquqiy muammolarni hal qiladi? Doskada chizish: hujayradan to‘qimagacha zanjirni chizib, oxiriga ‘donor = retsipient’ deb yozing. Tipik xato: bu usul hozir keng amaliyotda deb o‘ylash; aslida u kelajak texnologiyasi.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Adolat prinsipi nima uchun taqsimlashning asosi? 2) Ro‘yxatda birinchi bemor nega darhol operatsiya olmasligi mumkin? Doskada chizish: taqsimlash zanjirini chizib, ‘moslik’ bosqichini ajratib belgilang. Diqqat: xato qilish xavfi — ‘ro‘yxatda birinchi’ ≠ ‘operatsiya birinchi’; hal qiluvchi omil immunologik moslik. Tipik xato: faqat kasallik og‘irligi navbatni belgilaydi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tanqislik a’zoni mahsulotga aylantiradi? 2) Taqiqqa qaramay qora bozor nima uchun saqlanadi? Doskada: 5 bosqichli zanjirni talabalar bilan birga chizing. Tipik xato: tijoratlashtirishni faqat pul to‘lash deb tushunish; aslida bu faoliyatni foydaga bo‘ysundirishdir.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 javobni 1 daqiqa o‘ylab, juftlikda muhokama qiladi. To‘g‘ri javob: kutish varaqasi — a’zo kerak bo‘lgan bemorlar ro‘yxati, taqsimlash adolat prinsipiga tayanadi. Muhokama: nega og‘ir bemor ham varaqada birinchi bo‘lsa-da, mos a’zo topilmasligi mumkin? Doskada: ikki ustun — «varaqa» va «moslik». Tipik xato: tartib raqamini yagona mezon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Moddiy majburiyat ostida berilgan rozilikni erkin deyish mumkinmi? 2) Savdo kimlarga foyda, kimlarga zarar keltiradi? Doskada: «donor — vositachi — reципиент» sxemasini chizib, har bir tomonning xavfini belgilang. Tipik xato: rozilik bo‘lsa savdo ham axloqiy deb hisoblash; ixtiyoriy rozilik va ijtimoiy adolat birga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pravoslav cherkovi rozilik prezumptsiyasini erkinlik buzilishi deb hisoblaydi? 2) Katolik va protestant qarashlari qayerda farq qiladi? Doskada: uch ustunli jadvalni talabalar bilan birga to‘ldiring. Tipik xato: xristianlikning barcha oqimlari bir xil fikrda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Yahudiylikda ikki shart (o‘lishdan oldingi ruxsat va oilaning e’tirozsizligi) nima uchun muhim? 2) Hadya sharti donorlikni qanday ma’noda ixtiyoriy qiladi? Doskada: yahudiylik uchun shartlar zanjirini chizing. Tipik xato: yahudiylikda hayotni qutqarish istisnosini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Qaror ’zarar etkazma’ tamoyili bilan qanday bog‘liq? 2) Nega tijorat qat’iy taqiqlangan? Qo‘shimcha: o‘lganning shaxsi yoki vorislari noma’lum bo‘lsa, musulmonlarning vakolatli rahbari rozilik beradi (norozilik prezumptsiyasi). Doskada: to‘rt qatorli jadvalni chizing. Tipik xato: ’Islomda har qanday a’zoni ko‘chirish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Dinlarning qaysi jihatlari umumiy (ixtiyoriylik, savdoga qarshilik)? 2) Oilaning roziligi qaysi dinlarda alohida talab qilinadi? Doskada chizish: dinlar ustunlari va «murdadan olish», «oila roziligi», «savdo» qatorlaridan jadval tuzdiring. Tipik xato: barcha dinlar donorlikka bir xil qaraydi, deb o‘ylash. Aslida shartlar farq qiladi.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genom «insoniyat mulki» deyilgan va bundan qanday adolat talabi kelib chiqadi? 2) Ksenotransplantatsiyada hayvon huquqi va infeksiya xavfi qanday bog‘liq? Doskada chizish: «muammo → etik savol» strelkalari bilan jadvalning qisqa nusxasini chizdiring. Tipik xato: Xalqaro bioetika qo‘mitasi taklifini qonun deb o‘ylash. Manbada bu faqat taklif.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Tanqislikka qarshi qaysi yechim sizningcha eng etik jihatdan qulay? 2) Tijoratlashtirish nega «o‘lim hayotni uzaytirishga xizmat qiladi» g‘oyasiga zid? Doskada chizish: 4 ta asosiy tezisni bitta zanjir sxemasida chizdiring. Tipik xato: rozilik va norozilik prezumptsiyasini aralashtirish. Rozilik prezumptsiyasida e’tiroz bildirish kerak, norozilikda esa rozilikni rasmiylashtirish kerak.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Reanimatsiya va transplantatsiyaning huquqiy, ma’naviy va tibbiy jihatlari.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reanimatsiya va transplantatsiya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XX asr oxirida reanimatsiya, transplantologiya va boshqa tibbiy texnologiyalar jadal rivojlandi.</a:t>
            </a:r>
          </a:p>
          <a:p>
            <a:pPr>
              <a:spcAft>
                <a:spcPts val="1200"/>
              </a:spcAft>
            </a:pPr>
            <a:r>
              <a:rPr sz="2200">
                <a:solidFill>
                  <a:srgbClr val="1F2937"/>
                </a:solidFill>
                <a:latin typeface="Calibri"/>
              </a:rPr>
              <a:t>▸  Shu sababli inson o‘limini qayd etish masalasi sof tibbiy muammodan bioetik muammolar toifasiga o‘tdi.</a:t>
            </a:r>
          </a:p>
          <a:p>
            <a:pPr>
              <a:spcAft>
                <a:spcPts val="1200"/>
              </a:spcAft>
            </a:pPr>
            <a:r>
              <a:rPr sz="2200">
                <a:solidFill>
                  <a:srgbClr val="1F2937"/>
                </a:solidFill>
                <a:latin typeface="Calibri"/>
              </a:rPr>
              <a:t>▸  Qo‘llab-quvvatlovchi terapiya va a’zo olish uchun bitta savolga javob kerak: organizmning qaysi holati o‘lim vaqti deb tan olinadi?</a:t>
            </a:r>
          </a:p>
          <a:p>
            <a:pPr>
              <a:spcAft>
                <a:spcPts val="1200"/>
              </a:spcAft>
            </a:pPr>
            <a:r>
              <a:rPr sz="2200">
                <a:solidFill>
                  <a:srgbClr val="1F2937"/>
                </a:solidFill>
                <a:latin typeface="Calibri"/>
              </a:rPr>
              <a:t>▸  Donor a’zolar jiddiy tanqis: AQSH (Amerika Qo‘shma Shtatlari) va Yevropada ko‘chirib o‘tkazish muhtojlarning taxminan 35 foiziga nasib qilmaydi.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Ma’ruza rejasi va asosiy tushunchalar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Avval transplantatsiya turlari hamda tibbiy va etik-huquqiy cheklovlar ko‘riladi.</a:t>
            </a:r>
          </a:p>
          <a:p>
            <a:pPr>
              <a:spcAft>
                <a:spcPts val="800"/>
              </a:spcAft>
            </a:pPr>
            <a:r>
              <a:rPr sz="1800">
                <a:solidFill>
                  <a:srgbClr val="1F2937"/>
                </a:solidFill>
                <a:latin typeface="Calibri"/>
              </a:rPr>
              <a:t>▸  Keyin miya o‘limi mezoni va o‘likdan a’zo olish tartiblari: rozilik va norozilik prezumptsiyasi (oldindan taxmin).</a:t>
            </a:r>
          </a:p>
          <a:p>
            <a:pPr>
              <a:spcAft>
                <a:spcPts val="800"/>
              </a:spcAft>
            </a:pPr>
            <a:r>
              <a:rPr sz="1800">
                <a:solidFill>
                  <a:srgbClr val="1F2937"/>
                </a:solidFill>
                <a:latin typeface="Calibri"/>
              </a:rPr>
              <a:t>▸  So‘ng a’zo tanqisligi, taqsimlash, tijoratlashtirish va turli dinlarning munosabati yoritiladi.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Turlar va tibbiy cheklovlar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o‘limi mezoni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Rozilik prezumptsiyasi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Tanqislik, taqsimlash, tijorat</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Dinlar nuqtai nazari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Ma’ruza yo‘nalishi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Transplantatsiya nima?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Transplantatsiya — biror a’zo yoki to‘qimani bir organizmdan ikkinchi organizmga ko‘chirib o‘tkazishdir.</a:t>
            </a:r>
          </a:p>
          <a:p>
            <a:pPr>
              <a:spcAft>
                <a:spcPts val="1200"/>
              </a:spcAft>
            </a:pPr>
            <a:r>
              <a:rPr sz="2200">
                <a:solidFill>
                  <a:srgbClr val="1F2937"/>
                </a:solidFill>
                <a:latin typeface="Calibri"/>
              </a:rPr>
              <a:t>▸  A’zo yoki to‘qima olinadigan shaxs donor, ko‘chirib o‘tkaziladigan shaxs retsipient (qabul qiluvchi) deyiladi.</a:t>
            </a:r>
          </a:p>
          <a:p>
            <a:pPr>
              <a:spcAft>
                <a:spcPts val="1200"/>
              </a:spcAft>
            </a:pPr>
            <a:r>
              <a:rPr sz="2200">
                <a:solidFill>
                  <a:srgbClr val="1F2937"/>
                </a:solidFill>
                <a:latin typeface="Calibri"/>
              </a:rPr>
              <a:t>▸  Odatda u eksperimental va klinik transplantatsiyaga ajratiladi.</a:t>
            </a:r>
          </a:p>
          <a:p>
            <a:pPr>
              <a:spcAft>
                <a:spcPts val="1200"/>
              </a:spcAft>
            </a:pPr>
            <a:r>
              <a:rPr sz="2200">
                <a:solidFill>
                  <a:srgbClr val="1F2937"/>
                </a:solidFill>
                <a:latin typeface="Calibri"/>
              </a:rPr>
              <a:t>▸  Diqqat: eksperimental transplantatsiya klinikadan oldingi bosqich; unda biologik, jarrohlik va tashkiliy muammolar ishlab chiqiladi.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Eksperimental va klinik transplantatsiya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Transplantatsiya — a‘zo yoki to‘qimani bir organizmdan ikkinchisiga ko‘chirish. U odatda eksperimental va klinik turga bo‘linadi.</a:t>
            </a:r>
          </a:p>
          <a:p>
            <a:pPr>
              <a:spcAft>
                <a:spcPts val="800"/>
              </a:spcAft>
            </a:pPr>
            <a:r>
              <a:rPr sz="1800">
                <a:solidFill>
                  <a:srgbClr val="1F2937"/>
                </a:solidFill>
                <a:latin typeface="Calibri"/>
              </a:rPr>
              <a:t>▸  Eksperimental transplantatsiya klinikadan oldingi bosqich: biologik, jarrohlik va tashkiliy muammolar ishlab chiqiladi.</a:t>
            </a:r>
          </a:p>
          <a:p>
            <a:pPr>
              <a:spcAft>
                <a:spcPts val="800"/>
              </a:spcAft>
            </a:pPr>
            <a:r>
              <a:rPr sz="1800">
                <a:solidFill>
                  <a:srgbClr val="1F2937"/>
                </a:solidFill>
                <a:latin typeface="Calibri"/>
              </a:rPr>
              <a:t>▸  Ko‘chirishdan keyin retsipientning immun holati o‘rganiladi; moslashuvga yordam beradigan yangi preparatlar ishlanadi.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Eksperiment (klinikadan oldin)</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Biologik va jarrohlik masalalar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Tashkiliy masalalar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Immun holatni o‘rganish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Klinik transplantatsiya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Eksperimentdan klinikaga yo‘l</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Transplantatsiya turlari: solishtirma jadval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Tasnif donor kimligiga asoslanadi: retsipientning o‘zi, egizagi, boshqa odam yoki hayvon.</a:t>
            </a:r>
          </a:p>
          <a:p>
            <a:pPr>
              <a:spcAft>
                <a:spcPts val="800"/>
              </a:spcAft>
            </a:pPr>
            <a:r>
              <a:rPr sz="1800">
                <a:solidFill>
                  <a:srgbClr val="1F2937"/>
                </a:solidFill>
                <a:latin typeface="Calibri"/>
              </a:rPr>
              <a:t>▸  Auto- autologik, allo- gomotransplantatsiya, kseno- turlararo transplantatsiya deb ham ataladi.</a:t>
            </a:r>
          </a:p>
          <a:p>
            <a:pPr>
              <a:spcAft>
                <a:spcPts val="800"/>
              </a:spcAft>
            </a:pPr>
            <a:r>
              <a:rPr sz="1800">
                <a:solidFill>
                  <a:srgbClr val="1F2937"/>
                </a:solidFill>
                <a:latin typeface="Calibri"/>
              </a:rPr>
              <a:t>▸  Leykoz va limfomada yuqori dozali kimyoterapiyadan so‘ng ilik yoki o‘zak hujayralar auto-ko‘chiriladi.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306440"/>
                <a:gridCol w="2115190"/>
                <a:gridCol w="1866344"/>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Donor kim</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Autotransplantatsiya</a:t>
                      </a:r>
                    </a:p>
                  </a:txBody>
                  <a:tcPr marL="73152" marR="73152" marT="36576" marB="36576">
                    <a:solidFill>
                      <a:srgbClr val="E8EEF6"/>
                    </a:solidFill>
                  </a:tcPr>
                </a:tc>
                <a:tc>
                  <a:txBody>
                    <a:bodyPr/>
                    <a:lstStyle/>
                    <a:p>
                      <a:r>
                        <a:rPr sz="1200" b="0">
                          <a:solidFill>
                            <a:srgbClr val="1F2937"/>
                          </a:solidFill>
                        </a:rPr>
                        <a:t>Retsipientning o‘zi</a:t>
                      </a:r>
                    </a:p>
                  </a:txBody>
                  <a:tcPr marL="73152" marR="73152" marT="36576" marB="36576">
                    <a:solidFill>
                      <a:srgbClr val="E8EEF6"/>
                    </a:solidFill>
                  </a:tcPr>
                </a:tc>
                <a:tc>
                  <a:txBody>
                    <a:bodyPr/>
                    <a:lstStyle/>
                    <a:p>
                      <a:r>
                        <a:rPr sz="1200" b="0">
                          <a:solidFill>
                            <a:srgbClr val="1F2937"/>
                          </a:solidFill>
                        </a:rPr>
                        <a:t>Kuygan joyga sog‘ qismdan teri</a:t>
                      </a:r>
                    </a:p>
                  </a:txBody>
                  <a:tcPr marL="73152" marR="73152" marT="36576" marB="36576">
                    <a:solidFill>
                      <a:srgbClr val="E8EEF6"/>
                    </a:solidFill>
                  </a:tcPr>
                </a:tc>
              </a:tr>
              <a:tr h="411480">
                <a:tc>
                  <a:txBody>
                    <a:bodyPr/>
                    <a:lstStyle/>
                    <a:p>
                      <a:r>
                        <a:rPr sz="1200" b="0">
                          <a:solidFill>
                            <a:srgbClr val="1F2937"/>
                          </a:solidFill>
                        </a:rPr>
                        <a:t>Izotransplantatsiya</a:t>
                      </a:r>
                    </a:p>
                  </a:txBody>
                  <a:tcPr marL="73152" marR="73152" marT="36576" marB="36576">
                    <a:solidFill>
                      <a:srgbClr val="FFFFFF"/>
                    </a:solidFill>
                  </a:tcPr>
                </a:tc>
                <a:tc>
                  <a:txBody>
                    <a:bodyPr/>
                    <a:lstStyle/>
                    <a:p>
                      <a:r>
                        <a:rPr sz="1200" b="0">
                          <a:solidFill>
                            <a:srgbClr val="1F2937"/>
                          </a:solidFill>
                        </a:rPr>
                        <a:t>Tuxumdosh egizak (genetik bir xil)</a:t>
                      </a:r>
                    </a:p>
                  </a:txBody>
                  <a:tcPr marL="73152" marR="73152" marT="36576" marB="36576">
                    <a:solidFill>
                      <a:srgbClr val="FFFFFF"/>
                    </a:solidFill>
                  </a:tcPr>
                </a:tc>
                <a:tc>
                  <a:txBody>
                    <a:bodyPr/>
                    <a:lstStyle/>
                    <a:p>
                      <a:r>
                        <a:rPr sz="1200" b="0">
                          <a:solidFill>
                            <a:srgbClr val="1F2937"/>
                          </a:solidFill>
                        </a:rPr>
                        <a:t>Egizakdan a‘zo yoki to‘qima</a:t>
                      </a:r>
                    </a:p>
                  </a:txBody>
                  <a:tcPr marL="73152" marR="73152" marT="36576" marB="36576">
                    <a:solidFill>
                      <a:srgbClr val="FFFFFF"/>
                    </a:solidFill>
                  </a:tcPr>
                </a:tc>
              </a:tr>
              <a:tr h="411480">
                <a:tc>
                  <a:txBody>
                    <a:bodyPr/>
                    <a:lstStyle/>
                    <a:p>
                      <a:r>
                        <a:rPr sz="1200" b="0">
                          <a:solidFill>
                            <a:srgbClr val="1F2937"/>
                          </a:solidFill>
                        </a:rPr>
                        <a:t>Allotransplantatsiya</a:t>
                      </a:r>
                    </a:p>
                  </a:txBody>
                  <a:tcPr marL="73152" marR="73152" marT="36576" marB="36576">
                    <a:solidFill>
                      <a:srgbClr val="E8EEF6"/>
                    </a:solidFill>
                  </a:tcPr>
                </a:tc>
                <a:tc>
                  <a:txBody>
                    <a:bodyPr/>
                    <a:lstStyle/>
                    <a:p>
                      <a:r>
                        <a:rPr sz="1200" b="0">
                          <a:solidFill>
                            <a:srgbClr val="1F2937"/>
                          </a:solidFill>
                        </a:rPr>
                        <a:t>Genetik jihatdan boshqa odam</a:t>
                      </a:r>
                    </a:p>
                  </a:txBody>
                  <a:tcPr marL="73152" marR="73152" marT="36576" marB="36576">
                    <a:solidFill>
                      <a:srgbClr val="E8EEF6"/>
                    </a:solidFill>
                  </a:tcPr>
                </a:tc>
                <a:tc>
                  <a:txBody>
                    <a:bodyPr/>
                    <a:lstStyle/>
                    <a:p>
                      <a:r>
                        <a:rPr sz="1200" b="0">
                          <a:solidFill>
                            <a:srgbClr val="1F2937"/>
                          </a:solidFill>
                        </a:rPr>
                        <a:t>Boshqa inson organizmidan a‘zo</a:t>
                      </a:r>
                    </a:p>
                  </a:txBody>
                  <a:tcPr marL="73152" marR="73152" marT="36576" marB="36576">
                    <a:solidFill>
                      <a:srgbClr val="E8EEF6"/>
                    </a:solidFill>
                  </a:tcPr>
                </a:tc>
              </a:tr>
              <a:tr h="411480">
                <a:tc>
                  <a:txBody>
                    <a:bodyPr/>
                    <a:lstStyle/>
                    <a:p>
                      <a:r>
                        <a:rPr sz="1200" b="0">
                          <a:solidFill>
                            <a:srgbClr val="1F2937"/>
                          </a:solidFill>
                        </a:rPr>
                        <a:t>Ksenotransplantatsiya</a:t>
                      </a:r>
                    </a:p>
                  </a:txBody>
                  <a:tcPr marL="73152" marR="73152" marT="36576" marB="36576">
                    <a:solidFill>
                      <a:srgbClr val="FFFFFF"/>
                    </a:solidFill>
                  </a:tcPr>
                </a:tc>
                <a:tc>
                  <a:txBody>
                    <a:bodyPr/>
                    <a:lstStyle/>
                    <a:p>
                      <a:r>
                        <a:rPr sz="1200" b="0">
                          <a:solidFill>
                            <a:srgbClr val="1F2937"/>
                          </a:solidFill>
                        </a:rPr>
                        <a:t>Boshqa biologik tur hayvoni</a:t>
                      </a:r>
                    </a:p>
                  </a:txBody>
                  <a:tcPr marL="73152" marR="73152" marT="36576" marB="36576">
                    <a:solidFill>
                      <a:srgbClr val="FFFFFF"/>
                    </a:solidFill>
                  </a:tcPr>
                </a:tc>
                <a:tc>
                  <a:txBody>
                    <a:bodyPr/>
                    <a:lstStyle/>
                    <a:p>
                      <a:r>
                        <a:rPr sz="1200" b="0">
                          <a:solidFill>
                            <a:srgbClr val="1F2937"/>
                          </a:solidFill>
                        </a:rPr>
                        <a:t>Hayvondan olingan a‘zo</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tur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auto- va izotransplantatsiyani adashtirmang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Auto-: retsipientning o‘zi donor. Masalan, og‘ir kuyishda shikastlanmagan joydan kuygan joyga teri ko‘chiriladi.</a:t>
            </a:r>
          </a:p>
          <a:p>
            <a:pPr>
              <a:spcAft>
                <a:spcPts val="1200"/>
              </a:spcAft>
            </a:pPr>
            <a:r>
              <a:rPr sz="2200">
                <a:solidFill>
                  <a:srgbClr val="1F2937"/>
                </a:solidFill>
                <a:latin typeface="Calibri"/>
              </a:rPr>
              <a:t>▸  Izo-: donor boshqa shaxs, ya‘ni retsipientga immunologik va genetik jihatdan aynan o‘xshash tuxumdosh egizagi.</a:t>
            </a:r>
          </a:p>
          <a:p>
            <a:pPr>
              <a:spcAft>
                <a:spcPts val="1200"/>
              </a:spcAft>
            </a:pPr>
            <a:r>
              <a:rPr sz="2200">
                <a:solidFill>
                  <a:srgbClr val="1F2937"/>
                </a:solidFill>
                <a:latin typeface="Calibri"/>
              </a:rPr>
              <a:t>▸  Allo-: donor genetik va immunologik jihatdan farq qiladigan boshqa odam. Kseno-: donor boshqa biologik tur hayvoni.</a:t>
            </a:r>
          </a:p>
          <a:p>
            <a:pPr>
              <a:spcAft>
                <a:spcPts val="1200"/>
              </a:spcAft>
            </a:pPr>
            <a:r>
              <a:rPr sz="2200">
                <a:solidFill>
                  <a:srgbClr val="1F2937"/>
                </a:solidFill>
                <a:latin typeface="Calibri"/>
              </a:rPr>
              <a:t>▸  Diqqat: auto- ≠ izo-, allo- ≠ kseno-. Farq donor kimligida: o‘zi, egizak, boshqa odam yoki hayvon.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transplantat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1-vaziyat: leykozda yuqori dozali kimyoterapiyadan keyin bemorga o‘zining suyak iligi hujayralari ko‘chirildi. Bu qaysi tur?</a:t>
            </a:r>
          </a:p>
          <a:p>
            <a:pPr>
              <a:spcAft>
                <a:spcPts val="1200"/>
              </a:spcAft>
            </a:pPr>
            <a:r>
              <a:rPr sz="2200">
                <a:solidFill>
                  <a:srgbClr val="1F2937"/>
                </a:solidFill>
                <a:latin typeface="Calibri"/>
              </a:rPr>
              <a:t>▸  2-vaziyat: retsipientga uning tuxumdosh egizagidan a’zo ko‘chirildi. 3-vaziyat: odamga cho‘chqadan a’zo ko‘chirildi. Qaysi turlar?</a:t>
            </a:r>
          </a:p>
          <a:p>
            <a:pPr>
              <a:spcAft>
                <a:spcPts val="1200"/>
              </a:spcAft>
            </a:pPr>
            <a:r>
              <a:rPr sz="2200">
                <a:solidFill>
                  <a:srgbClr val="1F2937"/>
                </a:solidFill>
                <a:latin typeface="Calibri"/>
              </a:rPr>
              <a:t>▸  Eslab qoling: auto — o‘zi, izo — egizak, allo — boshqa odam, ksено — boshqa biologik tur hayvoni.</a:t>
            </a:r>
          </a:p>
          <a:p>
            <a:pPr>
              <a:spcAft>
                <a:spcPts val="1200"/>
              </a:spcAft>
            </a:pPr>
            <a:r>
              <a:rPr sz="2200">
                <a:solidFill>
                  <a:srgbClr val="1F2937"/>
                </a:solidFill>
                <a:latin typeface="Calibri"/>
              </a:rPr>
              <a:t>▸  Diqqat: xato qilish xavfi — izotransplantatsiya (egizak) ≠ allotransplantatsiya (genetik jihatdan farq qiladigan boshqa odam).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qaysi tur?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Og‘ir kuygan bemorga uning shikastlanmagan joylaridan olingan teri kuygan joylarga ko‘chirildi.</a:t>
            </a:r>
          </a:p>
          <a:p>
            <a:pPr>
              <a:spcAft>
                <a:spcPts val="1200"/>
              </a:spcAft>
            </a:pPr>
            <a:r>
              <a:rPr sz="2200">
                <a:solidFill>
                  <a:srgbClr val="1F2937"/>
                </a:solidFill>
                <a:latin typeface="Calibri"/>
              </a:rPr>
              <a:t>▸  Leykozli bemor yuqori dozali kimyoterapiya oldi. Keyin unga o‘zining ilik yoki gemopoetik o‘zak hujayralari qayta ko‘chirildi.</a:t>
            </a:r>
          </a:p>
          <a:p>
            <a:pPr>
              <a:spcAft>
                <a:spcPts val="1200"/>
              </a:spcAft>
            </a:pPr>
            <a:r>
              <a:rPr sz="2200">
                <a:solidFill>
                  <a:srgbClr val="1F2937"/>
                </a:solidFill>
                <a:latin typeface="Calibri"/>
              </a:rPr>
              <a:t>▸  Uchinchi retsipientga a’zoni tuxumdosh egizagi berdi. Ular immunologik va genetik jihatdan bir xil.</a:t>
            </a:r>
          </a:p>
          <a:p>
            <a:pPr>
              <a:spcAft>
                <a:spcPts val="1200"/>
              </a:spcAft>
            </a:pPr>
            <a:r>
              <a:rPr sz="2200">
                <a:solidFill>
                  <a:srgbClr val="1F2937"/>
                </a:solidFill>
                <a:latin typeface="Calibri"/>
              </a:rPr>
              <a:t>▸  Savol: har bir holat qaysi turga kiradi va donor kim? Nega bu turlarda donor topish muammosi har xil?</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va etik-huquqiy cheklovlar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 omillarga immunologik saralash, retsipient salomatligi va immunosupressiv terapiya kiradi.</a:t>
            </a:r>
          </a:p>
          <a:p>
            <a:pPr>
              <a:spcAft>
                <a:spcPts val="800"/>
              </a:spcAft>
            </a:pPr>
            <a:r>
              <a:rPr sz="1800">
                <a:solidFill>
                  <a:srgbClr val="1F2937"/>
                </a:solidFill>
                <a:latin typeface="Calibri"/>
              </a:rPr>
              <a:t>▸  Eng katta qiyinchiliklar etik va huquqiy muammolar bilan bog‘liq.</a:t>
            </a:r>
          </a:p>
          <a:p>
            <a:pPr>
              <a:spcAft>
                <a:spcPts val="800"/>
              </a:spcAft>
            </a:pPr>
            <a:r>
              <a:rPr sz="1800">
                <a:solidFill>
                  <a:srgbClr val="1F2937"/>
                </a:solidFill>
                <a:latin typeface="Calibri"/>
              </a:rPr>
              <a:t>▸  Tijoratlashtirish — bu faoliyatni foyda olish maqsadiga bo‘ysundirish demakdir.</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Misol</a:t>
                      </a:r>
                    </a:p>
                  </a:txBody>
                  <a:tcPr marL="73152" marR="73152" marT="36576" marB="36576">
                    <a:solidFill>
                      <a:srgbClr val="0B1F3A"/>
                    </a:solidFill>
                  </a:tcPr>
                </a:tc>
              </a:tr>
              <a:tr h="411480">
                <a:tc>
                  <a:txBody>
                    <a:bodyPr/>
                    <a:lstStyle/>
                    <a:p>
                      <a:r>
                        <a:rPr sz="1300" b="0">
                          <a:solidFill>
                            <a:srgbClr val="1F2937"/>
                          </a:solidFill>
                        </a:rPr>
                        <a:t>Tibbiy</a:t>
                      </a:r>
                    </a:p>
                  </a:txBody>
                  <a:tcPr marL="73152" marR="73152" marT="36576" marB="36576">
                    <a:solidFill>
                      <a:srgbClr val="E8EEF6"/>
                    </a:solidFill>
                  </a:tcPr>
                </a:tc>
                <a:tc>
                  <a:txBody>
                    <a:bodyPr/>
                    <a:lstStyle/>
                    <a:p>
                      <a:r>
                        <a:rPr sz="1300" b="0">
                          <a:solidFill>
                            <a:srgbClr val="1F2937"/>
                          </a:solidFill>
                        </a:rPr>
                        <a:t>Donorni immunologik saralash</a:t>
                      </a:r>
                    </a:p>
                  </a:txBody>
                  <a:tcPr marL="73152" marR="73152" marT="36576" marB="36576">
                    <a:solidFill>
                      <a:srgbClr val="E8EEF6"/>
                    </a:solidFill>
                  </a:tcPr>
                </a:tc>
              </a:tr>
              <a:tr h="411480">
                <a:tc>
                  <a:txBody>
                    <a:bodyPr/>
                    <a:lstStyle/>
                    <a:p>
                      <a:r>
                        <a:rPr sz="1300" b="0">
                          <a:solidFill>
                            <a:srgbClr val="1F2937"/>
                          </a:solidFill>
                        </a:rPr>
                        <a:t>Tibbiy</a:t>
                      </a:r>
                    </a:p>
                  </a:txBody>
                  <a:tcPr marL="73152" marR="73152" marT="36576" marB="36576">
                    <a:solidFill>
                      <a:srgbClr val="FFFFFF"/>
                    </a:solidFill>
                  </a:tcPr>
                </a:tc>
                <a:tc>
                  <a:txBody>
                    <a:bodyPr/>
                    <a:lstStyle/>
                    <a:p>
                      <a:r>
                        <a:rPr sz="1300" b="0">
                          <a:solidFill>
                            <a:srgbClr val="1F2937"/>
                          </a:solidFill>
                        </a:rPr>
                        <a:t>Retsipientning salomatlik ko‘rsatkichlari</a:t>
                      </a:r>
                    </a:p>
                  </a:txBody>
                  <a:tcPr marL="73152" marR="73152" marT="36576" marB="36576">
                    <a:solidFill>
                      <a:srgbClr val="FFFFFF"/>
                    </a:solidFill>
                  </a:tcPr>
                </a:tc>
              </a:tr>
              <a:tr h="411480">
                <a:tc>
                  <a:txBody>
                    <a:bodyPr/>
                    <a:lstStyle/>
                    <a:p>
                      <a:r>
                        <a:rPr sz="1300" b="0">
                          <a:solidFill>
                            <a:srgbClr val="1F2937"/>
                          </a:solidFill>
                        </a:rPr>
                        <a:t>Tibbiy</a:t>
                      </a:r>
                    </a:p>
                  </a:txBody>
                  <a:tcPr marL="73152" marR="73152" marT="36576" marB="36576">
                    <a:solidFill>
                      <a:srgbClr val="E8EEF6"/>
                    </a:solidFill>
                  </a:tcPr>
                </a:tc>
                <a:tc>
                  <a:txBody>
                    <a:bodyPr/>
                    <a:lstStyle/>
                    <a:p>
                      <a:r>
                        <a:rPr sz="1300" b="0">
                          <a:solidFill>
                            <a:srgbClr val="1F2937"/>
                          </a:solidFill>
                        </a:rPr>
                        <a:t>Keyingi immunosupressiv terapiya</a:t>
                      </a:r>
                    </a:p>
                  </a:txBody>
                  <a:tcPr marL="73152" marR="73152" marT="36576" marB="36576">
                    <a:solidFill>
                      <a:srgbClr val="E8EEF6"/>
                    </a:solidFill>
                  </a:tcPr>
                </a:tc>
              </a:tr>
              <a:tr h="411480">
                <a:tc>
                  <a:txBody>
                    <a:bodyPr/>
                    <a:lstStyle/>
                    <a:p>
                      <a:r>
                        <a:rPr sz="1300" b="0">
                          <a:solidFill>
                            <a:srgbClr val="1F2937"/>
                          </a:solidFill>
                        </a:rPr>
                        <a:t>Etik-huquqiy</a:t>
                      </a:r>
                    </a:p>
                  </a:txBody>
                  <a:tcPr marL="73152" marR="73152" marT="36576" marB="36576">
                    <a:solidFill>
                      <a:srgbClr val="FFFFFF"/>
                    </a:solidFill>
                  </a:tcPr>
                </a:tc>
                <a:tc>
                  <a:txBody>
                    <a:bodyPr/>
                    <a:lstStyle/>
                    <a:p>
                      <a:r>
                        <a:rPr sz="1300" b="0">
                          <a:solidFill>
                            <a:srgbClr val="1F2937"/>
                          </a:solidFill>
                        </a:rPr>
                        <a:t>O‘lim tasdig‘i, olish, taqsimlash, tijorat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Cheklovlar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donor va «zarar yetkazma» dilemmasi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Tirik donordan a‘zo olish donorning sog‘lig‘iga zarar bilan bog‘liq.</a:t>
            </a:r>
          </a:p>
          <a:p>
            <a:pPr>
              <a:spcAft>
                <a:spcPts val="800"/>
              </a:spcAft>
            </a:pPr>
            <a:r>
              <a:rPr sz="1800">
                <a:solidFill>
                  <a:srgbClr val="1F2937"/>
                </a:solidFill>
                <a:latin typeface="Calibri"/>
              </a:rPr>
              <a:t>▸  Dilemma: donorga zarar yoki retsipient (a‘zo oluvchi) hayoti — birini tanlashdan o‘zga iloj yo‘q.</a:t>
            </a:r>
          </a:p>
          <a:p>
            <a:pPr>
              <a:spcAft>
                <a:spcPts val="800"/>
              </a:spcAft>
            </a:pPr>
            <a:r>
              <a:rPr sz="1800">
                <a:solidFill>
                  <a:srgbClr val="1F2937"/>
                </a:solidFill>
                <a:latin typeface="Calibri"/>
              </a:rPr>
              <a:t>▸  Dilemma foyda va zararni solishtirib hal etiladi: foyda doim zarardan yuqori bo‘lishi kerak.</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Tirik donordan a‘zo olinadi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 sog‘lig‘iga zarar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Dilemma: zarar yoki hayot</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Foyda va zarar solishtiriladi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Foyda zarardan yuqori bo‘lsin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Dilemmaning hal etilishi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donorlik: asosiy muammolar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Murdadan a‘zo va to‘qima olish donorlikning eng keng tarqalgan turi.</a:t>
            </a:r>
          </a:p>
          <a:p>
            <a:pPr>
              <a:spcAft>
                <a:spcPts val="800"/>
              </a:spcAft>
            </a:pPr>
            <a:r>
              <a:rPr sz="1800">
                <a:solidFill>
                  <a:srgbClr val="1F2937"/>
                </a:solidFill>
                <a:latin typeface="Calibri"/>
              </a:rPr>
              <a:t>▸  Aynan shu tur bir qator etik, huquqiy va diniy muammolar bilan bog‘liq.</a:t>
            </a:r>
          </a:p>
          <a:p>
            <a:pPr>
              <a:spcAft>
                <a:spcPts val="800"/>
              </a:spcAft>
            </a:pPr>
            <a:r>
              <a:rPr sz="1800">
                <a:solidFill>
                  <a:srgbClr val="1F2937"/>
                </a:solidFill>
                <a:latin typeface="Calibri"/>
              </a:rPr>
              <a:t>▸  Yechimlar xalqaro, milliy va konfessional (diniy) darajadagi hujjatlarda beriladi.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820450"/>
                <a:gridCol w="3467524"/>
              </a:tblGrid>
              <a:tr h="411480">
                <a:tc>
                  <a:txBody>
                    <a:bodyPr/>
                    <a:lstStyle/>
                    <a:p>
                      <a:r>
                        <a:rPr sz="1400" b="1">
                          <a:solidFill>
                            <a:srgbClr val="FFFFFF"/>
                          </a:solidFill>
                        </a:rPr>
                        <a:t>Muammo</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O‘limni tasdiqlash</a:t>
                      </a:r>
                    </a:p>
                  </a:txBody>
                  <a:tcPr marL="73152" marR="73152" marT="36576" marB="36576">
                    <a:solidFill>
                      <a:srgbClr val="E8EEF6"/>
                    </a:solidFill>
                  </a:tcPr>
                </a:tc>
                <a:tc>
                  <a:txBody>
                    <a:bodyPr/>
                    <a:lstStyle/>
                    <a:p>
                      <a:r>
                        <a:rPr sz="1300" b="0">
                          <a:solidFill>
                            <a:srgbClr val="1F2937"/>
                          </a:solidFill>
                        </a:rPr>
                        <a:t>Inson o‘lgani qachon qayd etiladi</a:t>
                      </a:r>
                    </a:p>
                  </a:txBody>
                  <a:tcPr marL="73152" marR="73152" marT="36576" marB="36576">
                    <a:solidFill>
                      <a:srgbClr val="E8EEF6"/>
                    </a:solidFill>
                  </a:tcPr>
                </a:tc>
              </a:tr>
              <a:tr h="411480">
                <a:tc>
                  <a:txBody>
                    <a:bodyPr/>
                    <a:lstStyle/>
                    <a:p>
                      <a:r>
                        <a:rPr sz="1300" b="0">
                          <a:solidFill>
                            <a:srgbClr val="1F2937"/>
                          </a:solidFill>
                        </a:rPr>
                        <a:t>Ixtiyoriy voz kechish</a:t>
                      </a:r>
                    </a:p>
                  </a:txBody>
                  <a:tcPr marL="73152" marR="73152" marT="36576" marB="36576">
                    <a:solidFill>
                      <a:srgbClr val="FFFFFF"/>
                    </a:solidFill>
                  </a:tcPr>
                </a:tc>
                <a:tc>
                  <a:txBody>
                    <a:bodyPr/>
                    <a:lstStyle/>
                    <a:p>
                      <a:r>
                        <a:rPr sz="1300" b="0">
                          <a:solidFill>
                            <a:srgbClr val="1F2937"/>
                          </a:solidFill>
                        </a:rPr>
                        <a:t>O‘limdan keyin a‘zodan voz kechish istagi</a:t>
                      </a:r>
                    </a:p>
                  </a:txBody>
                  <a:tcPr marL="73152" marR="73152" marT="36576" marB="36576">
                    <a:solidFill>
                      <a:srgbClr val="FFFFFF"/>
                    </a:solidFill>
                  </a:tcPr>
                </a:tc>
              </a:tr>
              <a:tr h="411480">
                <a:tc>
                  <a:txBody>
                    <a:bodyPr/>
                    <a:lstStyle/>
                    <a:p>
                      <a:r>
                        <a:rPr sz="1300" b="0">
                          <a:solidFill>
                            <a:srgbClr val="1F2937"/>
                          </a:solidFill>
                        </a:rPr>
                        <a:t>Diniy yo‘l qo‘yilish</a:t>
                      </a:r>
                    </a:p>
                  </a:txBody>
                  <a:tcPr marL="73152" marR="73152" marT="36576" marB="36576">
                    <a:solidFill>
                      <a:srgbClr val="E8EEF6"/>
                    </a:solidFill>
                  </a:tcPr>
                </a:tc>
                <a:tc>
                  <a:txBody>
                    <a:bodyPr/>
                    <a:lstStyle/>
                    <a:p>
                      <a:r>
                        <a:rPr sz="1300" b="0">
                          <a:solidFill>
                            <a:srgbClr val="1F2937"/>
                          </a:solidFill>
                        </a:rPr>
                        <a:t>Dinga ko‘ra tanadan foydalanish mumkinmi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asosiy muammo</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tirik donor tanlovi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bemorning hayoti a‘zo ko‘chirib o‘tkazishga bog‘liq. Donor bo‘lishga uning akasi ham, yaqin tanishi ham tayyor.</a:t>
            </a:r>
          </a:p>
          <a:p>
            <a:pPr>
              <a:spcAft>
                <a:spcPts val="1200"/>
              </a:spcAft>
            </a:pPr>
            <a:r>
              <a:rPr sz="2200">
                <a:solidFill>
                  <a:srgbClr val="1F2937"/>
                </a:solidFill>
                <a:latin typeface="Calibri"/>
              </a:rPr>
              <a:t>▸  Tirik donor yaqin qarindosh (aka-uka, ota-ona va b.) ham, qarindosh bo‘lmagan shaxs (do‘st, yaqin tanish) ham bo‘lishi mumkin; doirani har davlat qonun bilan belgilaydi.</a:t>
            </a:r>
          </a:p>
          <a:p>
            <a:pPr>
              <a:spcAft>
                <a:spcPts val="1200"/>
              </a:spcAft>
            </a:pPr>
            <a:r>
              <a:rPr sz="2200">
                <a:solidFill>
                  <a:srgbClr val="1F2937"/>
                </a:solidFill>
                <a:latin typeface="Calibri"/>
              </a:rPr>
              <a:t>▸  Savol 1: ikkala holatda ham donorga zarar yetadi. «Foyda zarardan yuqori bo‘lsin» qoidasi bu yerda qanday qo‘llanadi?</a:t>
            </a:r>
          </a:p>
          <a:p>
            <a:pPr>
              <a:spcAft>
                <a:spcPts val="1200"/>
              </a:spcAft>
            </a:pPr>
            <a:r>
              <a:rPr sz="2200">
                <a:solidFill>
                  <a:srgbClr val="1F2937"/>
                </a:solidFill>
                <a:latin typeface="Calibri"/>
              </a:rPr>
              <a:t>▸  Savol 2: qarindosh bo‘lmagan donor tanlanayotganda qonuniy doira nega muhim? Qaror qabul qilishda nimalar solishtiriladi?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O‘limni aniqlash: tibbiy emas, bioetik muammo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XX asr oxirida reanimatsiya va transplantatsiya texnologiyalari rivojlandi. Shu sabab o‘lim faktini tasdiqlash sof tibbiy emas, bioetik muammoga aylandi.</a:t>
            </a:r>
          </a:p>
          <a:p>
            <a:pPr>
              <a:spcAft>
                <a:spcPts val="1200"/>
              </a:spcAft>
            </a:pPr>
            <a:r>
              <a:rPr sz="2200">
                <a:solidFill>
                  <a:srgbClr val="1F2937"/>
                </a:solidFill>
                <a:latin typeface="Calibri"/>
              </a:rPr>
              <a:t>▸  Hayotni ushlab turuvchi terapiya va a’zolarni olish choralari uchun bir savolga aniq javob kerak: organizmning qaysi holati o‘lim vaqti deb tan olinadi?</a:t>
            </a:r>
          </a:p>
          <a:p>
            <a:pPr>
              <a:spcAft>
                <a:spcPts val="1200"/>
              </a:spcAft>
            </a:pPr>
            <a:r>
              <a:rPr sz="2200">
                <a:solidFill>
                  <a:srgbClr val="1F2937"/>
                </a:solidFill>
                <a:latin typeface="Calibri"/>
              </a:rPr>
              <a:t>▸  Transplantatsiyadagi etik-huquqiy muammolarning ko‘pi o‘limni qayd etish, a’zoni ajratib olish, taqsimlash va tijoratlashtirish bilan bog‘liq.</a:t>
            </a:r>
          </a:p>
          <a:p>
            <a:pPr>
              <a:spcAft>
                <a:spcPts val="1200"/>
              </a:spcAft>
            </a:pPr>
            <a:r>
              <a:rPr sz="2200">
                <a:solidFill>
                  <a:srgbClr val="1F2937"/>
                </a:solidFill>
                <a:latin typeface="Calibri"/>
              </a:rPr>
              <a:t>▸  Diqqat: xato qilish xavfi — tirik donorda asosiy dilemma «zarar yetkazma» qoidasi, o‘lik donorda esa o‘limni tasdiqlash muammosi.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Miya o‘limi — qaytmas behushlik, mustaqil nafasning to‘xtashi va miya ustuni reflekslarining yo‘qolishi bilan butun miya nobud bo‘lishi.</a:t>
            </a:r>
          </a:p>
          <a:p>
            <a:pPr>
              <a:spcAft>
                <a:spcPts val="800"/>
              </a:spcAft>
            </a:pPr>
            <a:r>
              <a:rPr sz="1800">
                <a:solidFill>
                  <a:srgbClr val="1F2937"/>
                </a:solidFill>
                <a:latin typeface="Calibri"/>
              </a:rPr>
              <a:t>▸  Tushuncha chegaradan o‘tgan koma tavsifidan (fransuz nevropatologlari Molar va Gulon) keyin ishlab chiqilgan.</a:t>
            </a:r>
          </a:p>
          <a:p>
            <a:pPr>
              <a:spcAft>
                <a:spcPts val="800"/>
              </a:spcAft>
            </a:pPr>
            <a:r>
              <a:rPr sz="1800">
                <a:solidFill>
                  <a:srgbClr val="1F2937"/>
                </a:solidFill>
                <a:latin typeface="Calibri"/>
              </a:rPr>
              <a:t>▸  Miya sun’iy tizimlar almashtira olmaydigan nozik tizim; uning yemirilishi o‘lim deb tushuniladi.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Qaytmas behushlik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Mustaqil nafas to‘xtaydi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Ustun reflekslari yo‘qoladi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Butun miya nobud bo‘ladi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o‘limi tasdiqlanadi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Miya o‘limi belgilari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miya 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miya o‘limining uchta belgisini ayting. Javob: qaytmas behushlik, mustaqil nafasning to‘xtashi, miya ustuni reflekslarining yo‘qolishi.</a:t>
            </a:r>
          </a:p>
          <a:p>
            <a:pPr>
              <a:spcAft>
                <a:spcPts val="1200"/>
              </a:spcAft>
            </a:pPr>
            <a:r>
              <a:rPr sz="2200">
                <a:solidFill>
                  <a:srgbClr val="1F2937"/>
                </a:solidFill>
                <a:latin typeface="Calibri"/>
              </a:rPr>
              <a:t>▸  Savol: ko‘p davlatlarda inson o‘limining bosh mezoni nima? Javob: miya o‘limi; u qonunchilik aktlarida tasdiqlangan.</a:t>
            </a:r>
          </a:p>
          <a:p>
            <a:pPr>
              <a:spcAft>
                <a:spcPts val="1200"/>
              </a:spcAft>
            </a:pPr>
            <a:r>
              <a:rPr sz="2200">
                <a:solidFill>
                  <a:srgbClr val="1F2937"/>
                </a:solidFill>
                <a:latin typeface="Calibri"/>
              </a:rPr>
              <a:t>▸  1968-yilda miya o‘limining Garvard mezonlari ishlab chiqilgan; o‘sha yili aniqlashtirilgan ko‘rinishda dunyo tibbiyot hamjamiyati tan olgan.</a:t>
            </a:r>
          </a:p>
          <a:p>
            <a:pPr>
              <a:spcAft>
                <a:spcPts val="1200"/>
              </a:spcAft>
            </a:pPr>
            <a:r>
              <a:rPr sz="2200">
                <a:solidFill>
                  <a:srgbClr val="1F2937"/>
                </a:solidFill>
                <a:latin typeface="Calibri"/>
              </a:rPr>
              <a:t>▸  Diqqat: xato qilish xavfi — mustaqil nafasning to‘xtashi ≠ miya o‘limi; ta’rifda belgilar birga va butun miya nobud bo‘lishi bilan keladi.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 tarixi: Molare, Gulon, Garvard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Fransuz nevropatologlari Molare va Gulon chegaradan o‘tgan komani tavsifladi; shundan miya o‘limi konsepsiyasi chiqdi.</a:t>
            </a:r>
          </a:p>
          <a:p>
            <a:pPr>
              <a:spcAft>
                <a:spcPts val="800"/>
              </a:spcAft>
            </a:pPr>
            <a:r>
              <a:rPr sz="1800">
                <a:solidFill>
                  <a:srgbClr val="1F2937"/>
                </a:solidFill>
                <a:latin typeface="Calibri"/>
              </a:rPr>
              <a:t>▸  Miya o‘limi: qaytmas behushlik, mustaqil nafasning to‘xtashi va miya ustuni reflekslarining yo‘qolishi.</a:t>
            </a:r>
          </a:p>
          <a:p>
            <a:pPr>
              <a:spcAft>
                <a:spcPts val="800"/>
              </a:spcAft>
            </a:pPr>
            <a:r>
              <a:rPr sz="1800">
                <a:solidFill>
                  <a:srgbClr val="1F2937"/>
                </a:solidFill>
                <a:latin typeface="Calibri"/>
              </a:rPr>
              <a:t>▸  1968: Garvard mezonlari; Butunjahon tibbiyot assotsiatsiyasi (VMA) Sidney deklaratsiyasi uni tan oldi.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Molare va Gulon: koma tavsifi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o‘limi konsepsiyasi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1968: Garvard mezonlari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1968: VMA Sidney deklaratsiyasi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Qonunlarda o‘lim mezoni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Miya o‘limi g‘oyasi yo‘li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reanimatsiya va miya 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reanimatsiyadagi bemorda qaytmas behushlik, o‘z nafasi yo‘q, miya ustuni reflekslari yo‘qolgan. Nafas va qon aylanishi apparat bilan ushlanadi.</a:t>
            </a:r>
          </a:p>
          <a:p>
            <a:pPr>
              <a:spcAft>
                <a:spcPts val="1200"/>
              </a:spcAft>
            </a:pPr>
            <a:r>
              <a:rPr sz="2200">
                <a:solidFill>
                  <a:srgbClr val="1F2937"/>
                </a:solidFill>
                <a:latin typeface="Calibri"/>
              </a:rPr>
              <a:t>▸  Savol: bu holat o‘limmi? Aksar davlatlarda miya o‘limi inson o‘limining bosh mezoni deb tan olingan.</a:t>
            </a:r>
          </a:p>
          <a:p>
            <a:pPr>
              <a:spcAft>
                <a:spcPts val="1200"/>
              </a:spcAft>
            </a:pPr>
            <a:r>
              <a:rPr sz="2200">
                <a:solidFill>
                  <a:srgbClr val="1F2937"/>
                </a:solidFill>
                <a:latin typeface="Calibri"/>
              </a:rPr>
              <a:t>▸  Diqqat: faqat behushlik yetarli emas. O‘z nafasining to‘xtashi va ustun reflekslarining yo‘qolishi ham shart.</a:t>
            </a:r>
          </a:p>
          <a:p>
            <a:pPr>
              <a:spcAft>
                <a:spcPts val="1200"/>
              </a:spcAft>
            </a:pPr>
            <a:r>
              <a:rPr sz="2200">
                <a:solidFill>
                  <a:srgbClr val="1F2937"/>
                </a:solidFill>
                <a:latin typeface="Calibri"/>
              </a:rPr>
              <a:t>▸  Islom huquqshunoslik akademiyasi qarori (1988): nafas va qon aylanishi sun’iy ushlangan miya o‘limidagi odamdan a’zo olish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Murdadan a’zo olishning uch usuli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Eski usulda tana davlat mulki sanaladi; davlat a’zolardan ehtiyoj va ilmiy maqsadda foydalanishga haqli.</a:t>
            </a:r>
          </a:p>
          <a:p>
            <a:pPr>
              <a:spcAft>
                <a:spcPts val="800"/>
              </a:spcAft>
            </a:pPr>
            <a:r>
              <a:rPr sz="1800">
                <a:solidFill>
                  <a:srgbClr val="1F2937"/>
                </a:solidFill>
                <a:latin typeface="Calibri"/>
              </a:rPr>
              <a:t>▸  Rozilik prezumptsiyasi: Avstriya, Belgiya, Ispaniya, Vengriya, Chexiya kabi mamlakatlarda moslangan.</a:t>
            </a:r>
          </a:p>
          <a:p>
            <a:pPr>
              <a:spcAft>
                <a:spcPts val="800"/>
              </a:spcAft>
            </a:pPr>
            <a:r>
              <a:rPr sz="1800">
                <a:solidFill>
                  <a:srgbClr val="1F2937"/>
                </a:solidFill>
                <a:latin typeface="Calibri"/>
              </a:rPr>
              <a:t>▸  Norozilik prezumptsiyasi: AQSH, Germaniya, Kanada, Fransiya, Italiyada; AQSHda donor-karta bor.</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080514"/>
                <a:gridCol w="3207460"/>
              </a:tblGrid>
              <a:tr h="411480">
                <a:tc>
                  <a:txBody>
                    <a:bodyPr/>
                    <a:lstStyle/>
                    <a:p>
                      <a:r>
                        <a:rPr sz="1400" b="1">
                          <a:solidFill>
                            <a:srgbClr val="FFFFFF"/>
                          </a:solidFill>
                        </a:rPr>
                        <a:t>Usul</a:t>
                      </a:r>
                    </a:p>
                  </a:txBody>
                  <a:tcPr marL="73152" marR="73152" marT="36576" marB="36576">
                    <a:solidFill>
                      <a:srgbClr val="0B1F3A"/>
                    </a:solidFill>
                  </a:tcPr>
                </a:tc>
                <a:tc>
                  <a:txBody>
                    <a:bodyPr/>
                    <a:lstStyle/>
                    <a:p>
                      <a:r>
                        <a:rPr sz="1400" b="1">
                          <a:solidFill>
                            <a:srgbClr val="FFFFFF"/>
                          </a:solidFill>
                        </a:rPr>
                        <a:t>Asosiy qoida</a:t>
                      </a:r>
                    </a:p>
                  </a:txBody>
                  <a:tcPr marL="73152" marR="73152" marT="36576" marB="36576">
                    <a:solidFill>
                      <a:srgbClr val="0B1F3A"/>
                    </a:solidFill>
                  </a:tcPr>
                </a:tc>
              </a:tr>
              <a:tr h="411480">
                <a:tc>
                  <a:txBody>
                    <a:bodyPr/>
                    <a:lstStyle/>
                    <a:p>
                      <a:r>
                        <a:rPr sz="1300" b="0">
                          <a:solidFill>
                            <a:srgbClr val="1F2937"/>
                          </a:solidFill>
                        </a:rPr>
                        <a:t>Eski usul</a:t>
                      </a:r>
                    </a:p>
                  </a:txBody>
                  <a:tcPr marL="73152" marR="73152" marT="36576" marB="36576">
                    <a:solidFill>
                      <a:srgbClr val="E8EEF6"/>
                    </a:solidFill>
                  </a:tcPr>
                </a:tc>
                <a:tc>
                  <a:txBody>
                    <a:bodyPr/>
                    <a:lstStyle/>
                    <a:p>
                      <a:r>
                        <a:rPr sz="1300" b="0">
                          <a:solidFill>
                            <a:srgbClr val="1F2937"/>
                          </a:solidFill>
                        </a:rPr>
                        <a:t>O‘limdan keyin tana davlat mulki</a:t>
                      </a:r>
                    </a:p>
                  </a:txBody>
                  <a:tcPr marL="73152" marR="73152" marT="36576" marB="36576">
                    <a:solidFill>
                      <a:srgbClr val="E8EEF6"/>
                    </a:solidFill>
                  </a:tcPr>
                </a:tc>
              </a:tr>
              <a:tr h="411480">
                <a:tc>
                  <a:txBody>
                    <a:bodyPr/>
                    <a:lstStyle/>
                    <a:p>
                      <a:r>
                        <a:rPr sz="1300" b="0">
                          <a:solidFill>
                            <a:srgbClr val="1F2937"/>
                          </a:solidFill>
                        </a:rPr>
                        <a:t>Rozilik prezumptsiyasi</a:t>
                      </a:r>
                    </a:p>
                  </a:txBody>
                  <a:tcPr marL="73152" marR="73152" marT="36576" marB="36576">
                    <a:solidFill>
                      <a:srgbClr val="FFFFFF"/>
                    </a:solidFill>
                  </a:tcPr>
                </a:tc>
                <a:tc>
                  <a:txBody>
                    <a:bodyPr/>
                    <a:lstStyle/>
                    <a:p>
                      <a:r>
                        <a:rPr sz="1300" b="0">
                          <a:solidFill>
                            <a:srgbClr val="1F2937"/>
                          </a:solidFill>
                        </a:rPr>
                        <a:t>Norozilik bildirilmasa, olish mumkin</a:t>
                      </a:r>
                    </a:p>
                  </a:txBody>
                  <a:tcPr marL="73152" marR="73152" marT="36576" marB="36576">
                    <a:solidFill>
                      <a:srgbClr val="FFFFFF"/>
                    </a:solidFill>
                  </a:tcPr>
                </a:tc>
              </a:tr>
              <a:tr h="411480">
                <a:tc>
                  <a:txBody>
                    <a:bodyPr/>
                    <a:lstStyle/>
                    <a:p>
                      <a:r>
                        <a:rPr sz="1300" b="0">
                          <a:solidFill>
                            <a:srgbClr val="1F2937"/>
                          </a:solidFill>
                        </a:rPr>
                        <a:t>Norozilik prezumptsiyasi</a:t>
                      </a:r>
                    </a:p>
                  </a:txBody>
                  <a:tcPr marL="73152" marR="73152" marT="36576" marB="36576">
                    <a:solidFill>
                      <a:srgbClr val="E8EEF6"/>
                    </a:solidFill>
                  </a:tcPr>
                </a:tc>
                <a:tc>
                  <a:txBody>
                    <a:bodyPr/>
                    <a:lstStyle/>
                    <a:p>
                      <a:r>
                        <a:rPr sz="1300" b="0">
                          <a:solidFill>
                            <a:srgbClr val="1F2937"/>
                          </a:solidFill>
                        </a:rPr>
                        <a:t>Hayotlikda rozilik hujjati kerak</a:t>
                      </a:r>
                    </a:p>
                  </a:txBody>
                  <a:tcPr marL="73152" marR="73152" marT="36576" marB="36576">
                    <a:solidFill>
                      <a:srgbClr val="E8EEF6"/>
                    </a:solidFill>
                  </a:tcPr>
                </a:tc>
              </a:tr>
              <a:tr h="411480">
                <a:tc>
                  <a:txBody>
                    <a:bodyPr/>
                    <a:lstStyle/>
                    <a:p>
                      <a:r>
                        <a:rPr sz="1300" b="0">
                          <a:solidFill>
                            <a:srgbClr val="1F2937"/>
                          </a:solidFill>
                        </a:rPr>
                        <a:t>Hozirgi amaliyot</a:t>
                      </a:r>
                    </a:p>
                  </a:txBody>
                  <a:tcPr marL="73152" marR="73152" marT="36576" marB="36576">
                    <a:solidFill>
                      <a:srgbClr val="FFFFFF"/>
                    </a:solidFill>
                  </a:tcPr>
                </a:tc>
                <a:tc>
                  <a:txBody>
                    <a:bodyPr/>
                    <a:lstStyle/>
                    <a:p>
                      <a:r>
                        <a:rPr sz="1300" b="0">
                          <a:solidFill>
                            <a:srgbClr val="1F2937"/>
                          </a:solidFill>
                        </a:rPr>
                        <a:t>Rozilik yoki norozilik prezumptsiyasi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usul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Rozilik va norozilik prezumptsiyasi (A vs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Rozilik prezumptsiyasi: norozi bo‘lgan shaxs norozilikni belgilangan tartibda bildirishi kerak.</a:t>
            </a:r>
          </a:p>
          <a:p>
            <a:pPr>
              <a:spcAft>
                <a:spcPts val="800"/>
              </a:spcAft>
            </a:pPr>
            <a:r>
              <a:rPr sz="1800">
                <a:solidFill>
                  <a:srgbClr val="1F2937"/>
                </a:solidFill>
                <a:latin typeface="Calibri"/>
              </a:rPr>
              <a:t>▸  Norozilik prezumptsiyasi: rozi bo‘lgan shaxs rozilikni belgilangan tartibda rasmiylashtirishi lozim.</a:t>
            </a:r>
          </a:p>
          <a:p>
            <a:pPr>
              <a:spcAft>
                <a:spcPts val="800"/>
              </a:spcAft>
            </a:pPr>
            <a:r>
              <a:rPr sz="1800">
                <a:solidFill>
                  <a:srgbClr val="1F2937"/>
                </a:solidFill>
                <a:latin typeface="Calibri"/>
              </a:rPr>
              <a:t>▸  Diqqat: bu ikki tushuncha aksincha — jimlik birida rozilik, ikkinchisida rad sanaladi.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34603"/>
                <a:gridCol w="2126685"/>
                <a:gridCol w="2126685"/>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Rozilik</a:t>
                      </a:r>
                    </a:p>
                  </a:txBody>
                  <a:tcPr marL="73152" marR="73152" marT="36576" marB="36576">
                    <a:solidFill>
                      <a:srgbClr val="0B1F3A"/>
                    </a:solidFill>
                  </a:tcPr>
                </a:tc>
                <a:tc>
                  <a:txBody>
                    <a:bodyPr/>
                    <a:lstStyle/>
                    <a:p>
                      <a:r>
                        <a:rPr sz="1300" b="1">
                          <a:solidFill>
                            <a:srgbClr val="FFFFFF"/>
                          </a:solidFill>
                        </a:rPr>
                        <a:t>Norozilik</a:t>
                      </a:r>
                    </a:p>
                  </a:txBody>
                  <a:tcPr marL="73152" marR="73152" marT="36576" marB="36576">
                    <a:solidFill>
                      <a:srgbClr val="0B1F3A"/>
                    </a:solidFill>
                  </a:tcPr>
                </a:tc>
              </a:tr>
              <a:tr h="411480">
                <a:tc>
                  <a:txBody>
                    <a:bodyPr/>
                    <a:lstStyle/>
                    <a:p>
                      <a:r>
                        <a:rPr sz="1200" b="0">
                          <a:solidFill>
                            <a:srgbClr val="1F2937"/>
                          </a:solidFill>
                        </a:rPr>
                        <a:t>Asosiy faraz</a:t>
                      </a:r>
                    </a:p>
                  </a:txBody>
                  <a:tcPr marL="73152" marR="73152" marT="36576" marB="36576">
                    <a:solidFill>
                      <a:srgbClr val="E8EEF6"/>
                    </a:solidFill>
                  </a:tcPr>
                </a:tc>
                <a:tc>
                  <a:txBody>
                    <a:bodyPr/>
                    <a:lstStyle/>
                    <a:p>
                      <a:r>
                        <a:rPr sz="1200" b="0">
                          <a:solidFill>
                            <a:srgbClr val="1F2937"/>
                          </a:solidFill>
                        </a:rPr>
                        <a:t>Rozilik oldindan berilgan deb olinadi</a:t>
                      </a:r>
                    </a:p>
                  </a:txBody>
                  <a:tcPr marL="73152" marR="73152" marT="36576" marB="36576">
                    <a:solidFill>
                      <a:srgbClr val="E8EEF6"/>
                    </a:solidFill>
                  </a:tcPr>
                </a:tc>
                <a:tc>
                  <a:txBody>
                    <a:bodyPr/>
                    <a:lstStyle/>
                    <a:p>
                      <a:r>
                        <a:rPr sz="1200" b="0">
                          <a:solidFill>
                            <a:srgbClr val="1F2937"/>
                          </a:solidFill>
                        </a:rPr>
                        <a:t>Norozilik oldindan bor deb olinadi</a:t>
                      </a:r>
                    </a:p>
                  </a:txBody>
                  <a:tcPr marL="73152" marR="73152" marT="36576" marB="36576">
                    <a:solidFill>
                      <a:srgbClr val="E8EEF6"/>
                    </a:solidFill>
                  </a:tcPr>
                </a:tc>
              </a:tr>
              <a:tr h="411480">
                <a:tc>
                  <a:txBody>
                    <a:bodyPr/>
                    <a:lstStyle/>
                    <a:p>
                      <a:r>
                        <a:rPr sz="1200" b="0">
                          <a:solidFill>
                            <a:srgbClr val="1F2937"/>
                          </a:solidFill>
                        </a:rPr>
                        <a:t>Kim harakat qiladi</a:t>
                      </a:r>
                    </a:p>
                  </a:txBody>
                  <a:tcPr marL="73152" marR="73152" marT="36576" marB="36576">
                    <a:solidFill>
                      <a:srgbClr val="FFFFFF"/>
                    </a:solidFill>
                  </a:tcPr>
                </a:tc>
                <a:tc>
                  <a:txBody>
                    <a:bodyPr/>
                    <a:lstStyle/>
                    <a:p>
                      <a:r>
                        <a:rPr sz="1200" b="0">
                          <a:solidFill>
                            <a:srgbClr val="1F2937"/>
                          </a:solidFill>
                        </a:rPr>
                        <a:t>Rozi bo‘lmagan norozilik bildiradi</a:t>
                      </a:r>
                    </a:p>
                  </a:txBody>
                  <a:tcPr marL="73152" marR="73152" marT="36576" marB="36576">
                    <a:solidFill>
                      <a:srgbClr val="FFFFFF"/>
                    </a:solidFill>
                  </a:tcPr>
                </a:tc>
                <a:tc>
                  <a:txBody>
                    <a:bodyPr/>
                    <a:lstStyle/>
                    <a:p>
                      <a:r>
                        <a:rPr sz="1200" b="0">
                          <a:solidFill>
                            <a:srgbClr val="1F2937"/>
                          </a:solidFill>
                        </a:rPr>
                        <a:t>Rozi bo‘lgan rozilik rasmiylashtiradi</a:t>
                      </a:r>
                    </a:p>
                  </a:txBody>
                  <a:tcPr marL="73152" marR="73152" marT="36576" marB="36576">
                    <a:solidFill>
                      <a:srgbClr val="FFFFFF"/>
                    </a:solidFill>
                  </a:tcPr>
                </a:tc>
              </a:tr>
              <a:tr h="411480">
                <a:tc>
                  <a:txBody>
                    <a:bodyPr/>
                    <a:lstStyle/>
                    <a:p>
                      <a:r>
                        <a:rPr sz="1200" b="0">
                          <a:solidFill>
                            <a:srgbClr val="1F2937"/>
                          </a:solidFill>
                        </a:rPr>
                        <a:t>Hujjat yo‘q bo‘lsa</a:t>
                      </a:r>
                    </a:p>
                  </a:txBody>
                  <a:tcPr marL="73152" marR="73152" marT="36576" marB="36576">
                    <a:solidFill>
                      <a:srgbClr val="E8EEF6"/>
                    </a:solidFill>
                  </a:tcPr>
                </a:tc>
                <a:tc>
                  <a:txBody>
                    <a:bodyPr/>
                    <a:lstStyle/>
                    <a:p>
                      <a:r>
                        <a:rPr sz="1200" b="0">
                          <a:solidFill>
                            <a:srgbClr val="1F2937"/>
                          </a:solidFill>
                        </a:rPr>
                        <a:t>A’zo olishga huquq beradi</a:t>
                      </a:r>
                    </a:p>
                  </a:txBody>
                  <a:tcPr marL="73152" marR="73152" marT="36576" marB="36576">
                    <a:solidFill>
                      <a:srgbClr val="E8EEF6"/>
                    </a:solidFill>
                  </a:tcPr>
                </a:tc>
                <a:tc>
                  <a:txBody>
                    <a:bodyPr/>
                    <a:lstStyle/>
                    <a:p>
                      <a:r>
                        <a:rPr sz="1200" b="0">
                          <a:solidFill>
                            <a:srgbClr val="1F2937"/>
                          </a:solidFill>
                        </a:rPr>
                        <a:t>Rasmiy rozilik bo‘lmasa, olinmaydi</a:t>
                      </a:r>
                    </a:p>
                  </a:txBody>
                  <a:tcPr marL="73152" marR="73152" marT="36576" marB="36576">
                    <a:solidFill>
                      <a:srgbClr val="E8EEF6"/>
                    </a:solidFill>
                  </a:tcPr>
                </a:tc>
              </a:tr>
              <a:tr h="411480">
                <a:tc>
                  <a:txBody>
                    <a:bodyPr/>
                    <a:lstStyle/>
                    <a:p>
                      <a:r>
                        <a:rPr sz="1200" b="0">
                          <a:solidFill>
                            <a:srgbClr val="1F2937"/>
                          </a:solidFill>
                        </a:rPr>
                        <a:t>Namuna</a:t>
                      </a:r>
                    </a:p>
                  </a:txBody>
                  <a:tcPr marL="73152" marR="73152" marT="36576" marB="36576">
                    <a:solidFill>
                      <a:srgbClr val="FFFFFF"/>
                    </a:solidFill>
                  </a:tcPr>
                </a:tc>
                <a:tc>
                  <a:txBody>
                    <a:bodyPr/>
                    <a:lstStyle/>
                    <a:p>
                      <a:r>
                        <a:rPr sz="1200" b="0">
                          <a:solidFill>
                            <a:srgbClr val="1F2937"/>
                          </a:solidFill>
                        </a:rPr>
                        <a:t>Norozilik muassasaga xabar qilinadi</a:t>
                      </a:r>
                    </a:p>
                  </a:txBody>
                  <a:tcPr marL="73152" marR="73152" marT="36576" marB="36576">
                    <a:solidFill>
                      <a:srgbClr val="FFFFFF"/>
                    </a:solidFill>
                  </a:tcPr>
                </a:tc>
                <a:tc>
                  <a:txBody>
                    <a:bodyPr/>
                    <a:lstStyle/>
                    <a:p>
                      <a:r>
                        <a:rPr sz="1200" b="0">
                          <a:solidFill>
                            <a:srgbClr val="1F2937"/>
                          </a:solidFill>
                        </a:rPr>
                        <a:t>AQSHda donor-karta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 vs B: prezumptsiyalar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 (3.1 Transplantatsiya)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Davlatlar amaliyoti va qonunchilik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Qariyb 40 davlatda dasturlar Konstitutsiya bo‘limlari yoki maxsus qonunlar bilan tartibga solinadi.</a:t>
            </a:r>
          </a:p>
          <a:p>
            <a:pPr>
              <a:spcAft>
                <a:spcPts val="800"/>
              </a:spcAft>
            </a:pPr>
            <a:r>
              <a:rPr sz="1800">
                <a:solidFill>
                  <a:srgbClr val="1F2937"/>
                </a:solidFill>
                <a:latin typeface="Calibri"/>
              </a:rPr>
              <a:t>▸  Milliy qonunlar shaxs huquqi, erkinligi va himoyasi bo‘yicha xalqaro normalarga tayanadi.</a:t>
            </a:r>
          </a:p>
          <a:p>
            <a:pPr>
              <a:spcAft>
                <a:spcPts val="800"/>
              </a:spcAft>
            </a:pPr>
            <a:r>
              <a:rPr sz="1800">
                <a:solidFill>
                  <a:srgbClr val="1F2937"/>
                </a:solidFill>
                <a:latin typeface="Calibri"/>
              </a:rPr>
              <a:t>▸  Barcha hujjatlar asosida xabardor ixtiyoriy rozilik va ijtimoiy adolat tamoyillari yotadi.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44538"/>
                <a:gridCol w="1762658"/>
                <a:gridCol w="2480778"/>
              </a:tblGrid>
              <a:tr h="411480">
                <a:tc>
                  <a:txBody>
                    <a:bodyPr/>
                    <a:lstStyle/>
                    <a:p>
                      <a:r>
                        <a:rPr sz="1300" b="1">
                          <a:solidFill>
                            <a:srgbClr val="FFFFFF"/>
                          </a:solidFill>
                        </a:rPr>
                        <a:t>Yondashuv</a:t>
                      </a:r>
                    </a:p>
                  </a:txBody>
                  <a:tcPr marL="73152" marR="73152" marT="36576" marB="36576">
                    <a:solidFill>
                      <a:srgbClr val="0B1F3A"/>
                    </a:solidFill>
                  </a:tcPr>
                </a:tc>
                <a:tc>
                  <a:txBody>
                    <a:bodyPr/>
                    <a:lstStyle/>
                    <a:p>
                      <a:r>
                        <a:rPr sz="1300" b="1">
                          <a:solidFill>
                            <a:srgbClr val="FFFFFF"/>
                          </a:solidFill>
                        </a:rPr>
                        <a:t>Davlatlar</a:t>
                      </a:r>
                    </a:p>
                  </a:txBody>
                  <a:tcPr marL="73152" marR="73152" marT="36576" marB="36576">
                    <a:solidFill>
                      <a:srgbClr val="0B1F3A"/>
                    </a:solidFill>
                  </a:tcPr>
                </a:tc>
                <a:tc>
                  <a:txBody>
                    <a:bodyPr/>
                    <a:lstStyle/>
                    <a:p>
                      <a:r>
                        <a:rPr sz="1300" b="1">
                          <a:solidFill>
                            <a:srgbClr val="FFFFFF"/>
                          </a:solidFill>
                        </a:rPr>
                        <a:t>Qoida</a:t>
                      </a:r>
                    </a:p>
                  </a:txBody>
                  <a:tcPr marL="73152" marR="73152" marT="36576" marB="36576">
                    <a:solidFill>
                      <a:srgbClr val="0B1F3A"/>
                    </a:solidFill>
                  </a:tcPr>
                </a:tc>
              </a:tr>
              <a:tr h="411480">
                <a:tc>
                  <a:txBody>
                    <a:bodyPr/>
                    <a:lstStyle/>
                    <a:p>
                      <a:r>
                        <a:rPr sz="1200" b="0">
                          <a:solidFill>
                            <a:srgbClr val="1F2937"/>
                          </a:solidFill>
                        </a:rPr>
                        <a:t>Rozilik</a:t>
                      </a:r>
                    </a:p>
                  </a:txBody>
                  <a:tcPr marL="73152" marR="73152" marT="36576" marB="36576">
                    <a:solidFill>
                      <a:srgbClr val="E8EEF6"/>
                    </a:solidFill>
                  </a:tcPr>
                </a:tc>
                <a:tc>
                  <a:txBody>
                    <a:bodyPr/>
                    <a:lstStyle/>
                    <a:p>
                      <a:r>
                        <a:rPr sz="1200" b="0">
                          <a:solidFill>
                            <a:srgbClr val="1F2937"/>
                          </a:solidFill>
                        </a:rPr>
                        <a:t>Avstriya, Belgiya, Ispaniya</a:t>
                      </a:r>
                    </a:p>
                  </a:txBody>
                  <a:tcPr marL="73152" marR="73152" marT="36576" marB="36576">
                    <a:solidFill>
                      <a:srgbClr val="E8EEF6"/>
                    </a:solidFill>
                  </a:tcPr>
                </a:tc>
                <a:tc>
                  <a:txBody>
                    <a:bodyPr/>
                    <a:lstStyle/>
                    <a:p>
                      <a:r>
                        <a:rPr sz="1200" b="0">
                          <a:solidFill>
                            <a:srgbClr val="1F2937"/>
                          </a:solidFill>
                        </a:rPr>
                        <a:t>Norozilik bildirilmasa — olish mumkin</a:t>
                      </a:r>
                    </a:p>
                  </a:txBody>
                  <a:tcPr marL="73152" marR="73152" marT="36576" marB="36576">
                    <a:solidFill>
                      <a:srgbClr val="E8EEF6"/>
                    </a:solidFill>
                  </a:tcPr>
                </a:tc>
              </a:tr>
              <a:tr h="411480">
                <a:tc>
                  <a:txBody>
                    <a:bodyPr/>
                    <a:lstStyle/>
                    <a:p>
                      <a:r>
                        <a:rPr sz="1200" b="0">
                          <a:solidFill>
                            <a:srgbClr val="1F2937"/>
                          </a:solidFill>
                        </a:rPr>
                        <a:t>Rozilik</a:t>
                      </a:r>
                    </a:p>
                  </a:txBody>
                  <a:tcPr marL="73152" marR="73152" marT="36576" marB="36576">
                    <a:solidFill>
                      <a:srgbClr val="FFFFFF"/>
                    </a:solidFill>
                  </a:tcPr>
                </a:tc>
                <a:tc>
                  <a:txBody>
                    <a:bodyPr/>
                    <a:lstStyle/>
                    <a:p>
                      <a:r>
                        <a:rPr sz="1200" b="0">
                          <a:solidFill>
                            <a:srgbClr val="1F2937"/>
                          </a:solidFill>
                        </a:rPr>
                        <a:t>Vengriya, Chexiya</a:t>
                      </a:r>
                    </a:p>
                  </a:txBody>
                  <a:tcPr marL="73152" marR="73152" marT="36576" marB="36576">
                    <a:solidFill>
                      <a:srgbClr val="FFFFFF"/>
                    </a:solidFill>
                  </a:tcPr>
                </a:tc>
                <a:tc>
                  <a:txBody>
                    <a:bodyPr/>
                    <a:lstStyle/>
                    <a:p>
                      <a:r>
                        <a:rPr sz="1200" b="0">
                          <a:solidFill>
                            <a:srgbClr val="1F2937"/>
                          </a:solidFill>
                        </a:rPr>
                        <a:t>Huquqiy normalar shunga moslangan</a:t>
                      </a:r>
                    </a:p>
                  </a:txBody>
                  <a:tcPr marL="73152" marR="73152" marT="36576" marB="36576">
                    <a:solidFill>
                      <a:srgbClr val="FFFFFF"/>
                    </a:solidFill>
                  </a:tcPr>
                </a:tc>
              </a:tr>
              <a:tr h="411480">
                <a:tc>
                  <a:txBody>
                    <a:bodyPr/>
                    <a:lstStyle/>
                    <a:p>
                      <a:r>
                        <a:rPr sz="1200" b="0">
                          <a:solidFill>
                            <a:srgbClr val="1F2937"/>
                          </a:solidFill>
                        </a:rPr>
                        <a:t>Norozilik</a:t>
                      </a:r>
                    </a:p>
                  </a:txBody>
                  <a:tcPr marL="73152" marR="73152" marT="36576" marB="36576">
                    <a:solidFill>
                      <a:srgbClr val="E8EEF6"/>
                    </a:solidFill>
                  </a:tcPr>
                </a:tc>
                <a:tc>
                  <a:txBody>
                    <a:bodyPr/>
                    <a:lstStyle/>
                    <a:p>
                      <a:r>
                        <a:rPr sz="1200" b="0">
                          <a:solidFill>
                            <a:srgbClr val="1F2937"/>
                          </a:solidFill>
                        </a:rPr>
                        <a:t>AQSH, Germaniya, Kanada</a:t>
                      </a:r>
                    </a:p>
                  </a:txBody>
                  <a:tcPr marL="73152" marR="73152" marT="36576" marB="36576">
                    <a:solidFill>
                      <a:srgbClr val="E8EEF6"/>
                    </a:solidFill>
                  </a:tcPr>
                </a:tc>
                <a:tc>
                  <a:txBody>
                    <a:bodyPr/>
                    <a:lstStyle/>
                    <a:p>
                      <a:r>
                        <a:rPr sz="1200" b="0">
                          <a:solidFill>
                            <a:srgbClr val="1F2937"/>
                          </a:solidFill>
                        </a:rPr>
                        <a:t>Yuridik rozilik bo‘lmasa — mumkin emas</a:t>
                      </a:r>
                    </a:p>
                  </a:txBody>
                  <a:tcPr marL="73152" marR="73152" marT="36576" marB="36576">
                    <a:solidFill>
                      <a:srgbClr val="E8EEF6"/>
                    </a:solidFill>
                  </a:tcPr>
                </a:tc>
              </a:tr>
              <a:tr h="411480">
                <a:tc>
                  <a:txBody>
                    <a:bodyPr/>
                    <a:lstStyle/>
                    <a:p>
                      <a:r>
                        <a:rPr sz="1200" b="0">
                          <a:solidFill>
                            <a:srgbClr val="1F2937"/>
                          </a:solidFill>
                        </a:rPr>
                        <a:t>Norozilik</a:t>
                      </a:r>
                    </a:p>
                  </a:txBody>
                  <a:tcPr marL="73152" marR="73152" marT="36576" marB="36576">
                    <a:solidFill>
                      <a:srgbClr val="FFFFFF"/>
                    </a:solidFill>
                  </a:tcPr>
                </a:tc>
                <a:tc>
                  <a:txBody>
                    <a:bodyPr/>
                    <a:lstStyle/>
                    <a:p>
                      <a:r>
                        <a:rPr sz="1200" b="0">
                          <a:solidFill>
                            <a:srgbClr val="1F2937"/>
                          </a:solidFill>
                        </a:rPr>
                        <a:t>Fransiya, Italiya</a:t>
                      </a:r>
                    </a:p>
                  </a:txBody>
                  <a:tcPr marL="73152" marR="73152" marT="36576" marB="36576">
                    <a:solidFill>
                      <a:srgbClr val="FFFFFF"/>
                    </a:solidFill>
                  </a:tcPr>
                </a:tc>
                <a:tc>
                  <a:txBody>
                    <a:bodyPr/>
                    <a:lstStyle/>
                    <a:p>
                      <a:r>
                        <a:rPr sz="1200" b="0">
                          <a:solidFill>
                            <a:srgbClr val="1F2937"/>
                          </a:solidFill>
                        </a:rPr>
                        <a:t>“So‘rab olingan rozilik” deyiladi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Davlatlar bo‘yicha taqsimot</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 (3.1 Transplantatsiya)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prezumptsiya amalda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 shaxs vafot etdi. Hayotligida u ham, yaqinlari ham a’zo olinishiga norozilikni sog‘liqni saqlash muassasasiga bildirmagan.</a:t>
            </a:r>
          </a:p>
          <a:p>
            <a:pPr>
              <a:spcAft>
                <a:spcPts val="1200"/>
              </a:spcAft>
            </a:pPr>
            <a:r>
              <a:rPr sz="2200">
                <a:solidFill>
                  <a:srgbClr val="1F2937"/>
                </a:solidFill>
                <a:latin typeface="Calibri"/>
              </a:rPr>
              <a:t>▸  Vaziyat B: vafot etgan shaxs, uning yaqinlari yoki qonuniy vakili norozilikni muassasaga ma’lum qilgan.</a:t>
            </a:r>
          </a:p>
          <a:p>
            <a:pPr>
              <a:spcAft>
                <a:spcPts val="1200"/>
              </a:spcAft>
            </a:pPr>
            <a:r>
              <a:rPr sz="2200">
                <a:solidFill>
                  <a:srgbClr val="1F2937"/>
                </a:solidFill>
                <a:latin typeface="Calibri"/>
              </a:rPr>
              <a:t>▸  Savol: rozilik prezumptsiyasi amal qiladigan mamlakatda A va B holatlarda a’zo olishga huquq bormi? Norozilik prezumptsiyasida-chi?</a:t>
            </a:r>
          </a:p>
          <a:p>
            <a:pPr>
              <a:spcAft>
                <a:spcPts val="1200"/>
              </a:spcAft>
            </a:pPr>
            <a:r>
              <a:rPr sz="2200">
                <a:solidFill>
                  <a:srgbClr val="1F2937"/>
                </a:solidFill>
                <a:latin typeface="Calibri"/>
              </a:rPr>
              <a:t>▸  Yo‘nalish: rozilik prezumptsiyasida A — huquq beriladi, B — berilmaydi. Norozilik prezumptsiyasida yuridik rozilik bo‘lmasa, olish mumkin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 (3.1 Transplantatsiya)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prezumptsiya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marhumning a’zosini olishda “sukut” nimani anglatadi? Bu javob prezumptsiya (taxmin) turiga bog‘liq.</a:t>
            </a:r>
          </a:p>
          <a:p>
            <a:pPr>
              <a:spcAft>
                <a:spcPts val="1200"/>
              </a:spcAft>
            </a:pPr>
            <a:r>
              <a:rPr sz="2200">
                <a:solidFill>
                  <a:srgbClr val="1F2937"/>
                </a:solidFill>
                <a:latin typeface="Calibri"/>
              </a:rPr>
              <a:t>▸  Rozilik prezumptsiyasi: norozilik oldindan bildirilmagan bo‘lsa, a’zo olishga huquq beriladi. Avstriya, Belgiya, Ispaniya, Vengriya, Chexiyada shunday.</a:t>
            </a:r>
          </a:p>
          <a:p>
            <a:pPr>
              <a:spcAft>
                <a:spcPts val="1200"/>
              </a:spcAft>
            </a:pPr>
            <a:r>
              <a:rPr sz="2200">
                <a:solidFill>
                  <a:srgbClr val="1F2937"/>
                </a:solidFill>
                <a:latin typeface="Calibri"/>
              </a:rPr>
              <a:t>▸  Norozilik prezumptsiyasi (“so‘rab olingan rozilik”): yuridik rasmiylashtirilgan rozilik bo‘lmasa, a’zodan foydalanib bo‘lmaydi. AQSH, Germaniya, Kanada, Fransiya, Italiyada amal qiladi.</a:t>
            </a:r>
          </a:p>
          <a:p>
            <a:pPr>
              <a:spcAft>
                <a:spcPts val="1200"/>
              </a:spcAft>
            </a:pPr>
            <a:r>
              <a:rPr sz="2200">
                <a:solidFill>
                  <a:srgbClr val="1F2937"/>
                </a:solidFill>
                <a:latin typeface="Calibri"/>
              </a:rPr>
              <a:t>▸  Diqqat: xato qilish xavfi! Rozilik prezumptsiyasi ≠ norozilik prezumptsiyasi. Birida norozilikni bildirish kerak, ikkinchisida rozilikni.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Donor a’zolar tanqisligi va yechim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AQSH va Yevropada ham muhtojlarning taxminan 35% i ko‘chirib o‘tkazishga yetisha olmaydi.</a:t>
            </a:r>
          </a:p>
          <a:p>
            <a:pPr>
              <a:spcAft>
                <a:spcPts val="800"/>
              </a:spcAft>
            </a:pPr>
            <a:r>
              <a:rPr sz="1800">
                <a:solidFill>
                  <a:srgbClr val="1F2937"/>
                </a:solidFill>
                <a:latin typeface="Calibri"/>
              </a:rPr>
              <a:t>▸  Odamlar rozilikni hayotligida rasmiylashtirib, a’zoni ixtiyoriy berishga chaqirilmoqda.</a:t>
            </a:r>
          </a:p>
          <a:p>
            <a:pPr>
              <a:spcAft>
                <a:spcPts val="800"/>
              </a:spcAft>
            </a:pPr>
            <a:r>
              <a:rPr sz="1800">
                <a:solidFill>
                  <a:srgbClr val="1F2937"/>
                </a:solidFill>
                <a:latin typeface="Calibri"/>
              </a:rPr>
              <a:t>▸  Texnologik yo‘llar ham izlanmoqda: sun’iy a’zo, hujayra kulturasi va hayvon donorligi.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77115"/>
                <a:gridCol w="3710859"/>
              </a:tblGrid>
              <a:tr h="411480">
                <a:tc>
                  <a:txBody>
                    <a:bodyPr/>
                    <a:lstStyle/>
                    <a:p>
                      <a:r>
                        <a:rPr sz="1400" b="1">
                          <a:solidFill>
                            <a:srgbClr val="FFFFFF"/>
                          </a:solidFill>
                        </a:rPr>
                        <a:t>Yo‘l</a:t>
                      </a:r>
                    </a:p>
                  </a:txBody>
                  <a:tcPr marL="73152" marR="73152" marT="36576" marB="36576">
                    <a:solidFill>
                      <a:srgbClr val="0B1F3A"/>
                    </a:solidFill>
                  </a:tcPr>
                </a:tc>
                <a:tc>
                  <a:txBody>
                    <a:bodyPr/>
                    <a:lstStyle/>
                    <a:p>
                      <a:r>
                        <a:rPr sz="1400" b="1">
                          <a:solidFill>
                            <a:srgbClr val="FFFFFF"/>
                          </a:solidFill>
                        </a:rPr>
                        <a:t>Mohiyati</a:t>
                      </a:r>
                    </a:p>
                  </a:txBody>
                  <a:tcPr marL="73152" marR="73152" marT="36576" marB="36576">
                    <a:solidFill>
                      <a:srgbClr val="0B1F3A"/>
                    </a:solidFill>
                  </a:tcPr>
                </a:tc>
              </a:tr>
              <a:tr h="411480">
                <a:tc>
                  <a:txBody>
                    <a:bodyPr/>
                    <a:lstStyle/>
                    <a:p>
                      <a:r>
                        <a:rPr sz="1300" b="0">
                          <a:solidFill>
                            <a:srgbClr val="1F2937"/>
                          </a:solidFill>
                        </a:rPr>
                        <a:t>Ixtiyoriy berish</a:t>
                      </a:r>
                    </a:p>
                  </a:txBody>
                  <a:tcPr marL="73152" marR="73152" marT="36576" marB="36576">
                    <a:solidFill>
                      <a:srgbClr val="E8EEF6"/>
                    </a:solidFill>
                  </a:tcPr>
                </a:tc>
                <a:tc>
                  <a:txBody>
                    <a:bodyPr/>
                    <a:lstStyle/>
                    <a:p>
                      <a:r>
                        <a:rPr sz="1300" b="0">
                          <a:solidFill>
                            <a:srgbClr val="1F2937"/>
                          </a:solidFill>
                        </a:rPr>
                        <a:t>Rozilik hayotlikda rasmiylashtiriladi</a:t>
                      </a:r>
                    </a:p>
                  </a:txBody>
                  <a:tcPr marL="73152" marR="73152" marT="36576" marB="36576">
                    <a:solidFill>
                      <a:srgbClr val="E8EEF6"/>
                    </a:solidFill>
                  </a:tcPr>
                </a:tc>
              </a:tr>
              <a:tr h="411480">
                <a:tc>
                  <a:txBody>
                    <a:bodyPr/>
                    <a:lstStyle/>
                    <a:p>
                      <a:r>
                        <a:rPr sz="1300" b="0">
                          <a:solidFill>
                            <a:srgbClr val="1F2937"/>
                          </a:solidFill>
                        </a:rPr>
                        <a:t>Sun’iy a’zo</a:t>
                      </a:r>
                    </a:p>
                  </a:txBody>
                  <a:tcPr marL="73152" marR="73152" marT="36576" marB="36576">
                    <a:solidFill>
                      <a:srgbClr val="FFFFFF"/>
                    </a:solidFill>
                  </a:tcPr>
                </a:tc>
                <a:tc>
                  <a:txBody>
                    <a:bodyPr/>
                    <a:lstStyle/>
                    <a:p>
                      <a:r>
                        <a:rPr sz="1300" b="0">
                          <a:solidFill>
                            <a:srgbClr val="1F2937"/>
                          </a:solidFill>
                        </a:rPr>
                        <a:t>Mexanik; bioelektronika, nanotexnologiya</a:t>
                      </a:r>
                    </a:p>
                  </a:txBody>
                  <a:tcPr marL="73152" marR="73152" marT="36576" marB="36576">
                    <a:solidFill>
                      <a:srgbClr val="FFFFFF"/>
                    </a:solidFill>
                  </a:tcPr>
                </a:tc>
              </a:tr>
              <a:tr h="411480">
                <a:tc>
                  <a:txBody>
                    <a:bodyPr/>
                    <a:lstStyle/>
                    <a:p>
                      <a:r>
                        <a:rPr sz="1300" b="0">
                          <a:solidFill>
                            <a:srgbClr val="1F2937"/>
                          </a:solidFill>
                        </a:rPr>
                        <a:t>Hujayra kulturasi</a:t>
                      </a:r>
                    </a:p>
                  </a:txBody>
                  <a:tcPr marL="73152" marR="73152" marT="36576" marB="36576">
                    <a:solidFill>
                      <a:srgbClr val="E8EEF6"/>
                    </a:solidFill>
                  </a:tcPr>
                </a:tc>
                <a:tc>
                  <a:txBody>
                    <a:bodyPr/>
                    <a:lstStyle/>
                    <a:p>
                      <a:r>
                        <a:rPr sz="1300" b="0">
                          <a:solidFill>
                            <a:srgbClr val="1F2937"/>
                          </a:solidFill>
                        </a:rPr>
                        <a:t>Somatik o‘zak hujayradan to‘qima o‘stirish</a:t>
                      </a:r>
                    </a:p>
                  </a:txBody>
                  <a:tcPr marL="73152" marR="73152" marT="36576" marB="36576">
                    <a:solidFill>
                      <a:srgbClr val="E8EEF6"/>
                    </a:solidFill>
                  </a:tcPr>
                </a:tc>
              </a:tr>
              <a:tr h="411480">
                <a:tc>
                  <a:txBody>
                    <a:bodyPr/>
                    <a:lstStyle/>
                    <a:p>
                      <a:r>
                        <a:rPr sz="1300" b="0">
                          <a:solidFill>
                            <a:srgbClr val="1F2937"/>
                          </a:solidFill>
                        </a:rPr>
                        <a:t>Hayvon donorligi</a:t>
                      </a:r>
                    </a:p>
                  </a:txBody>
                  <a:tcPr marL="73152" marR="73152" marT="36576" marB="36576">
                    <a:solidFill>
                      <a:srgbClr val="FFFFFF"/>
                    </a:solidFill>
                  </a:tcPr>
                </a:tc>
                <a:tc>
                  <a:txBody>
                    <a:bodyPr/>
                    <a:lstStyle/>
                    <a:p>
                      <a:r>
                        <a:rPr sz="1300" b="0">
                          <a:solidFill>
                            <a:srgbClr val="1F2937"/>
                          </a:solidFill>
                        </a:rPr>
                        <a:t>Hayvon a’zolarini olish usullari ishlanmoqda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Tanqislik yechimlari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Sun’iy a’zolar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“Sun’iy buyrak” apparati tibbiyot amaliyotida keng qo‘llanilmoqda.</a:t>
            </a:r>
          </a:p>
          <a:p>
            <a:pPr>
              <a:spcAft>
                <a:spcPts val="1200"/>
              </a:spcAft>
            </a:pPr>
            <a:r>
              <a:rPr sz="2200">
                <a:solidFill>
                  <a:srgbClr val="1F2937"/>
                </a:solidFill>
                <a:latin typeface="Calibri"/>
              </a:rPr>
              <a:t>▸  Kardiotransplantologiyada sun’iy yurak klapanlari qo‘llana boshlandi. Sun’iy bo‘g‘imlar va ko‘z gavharlaridan ham foydalaniladi.</a:t>
            </a:r>
          </a:p>
          <a:p>
            <a:pPr>
              <a:spcAft>
                <a:spcPts val="1200"/>
              </a:spcAft>
            </a:pPr>
            <a:r>
              <a:rPr sz="2200">
                <a:solidFill>
                  <a:srgbClr val="1F2937"/>
                </a:solidFill>
                <a:latin typeface="Calibri"/>
              </a:rPr>
              <a:t>▸  Sun’iy a’zolar tanqislik hamda tirik va marhum donordan a’zo olish bilan bog‘liq muammolarni yecha boshladi.</a:t>
            </a:r>
          </a:p>
          <a:p>
            <a:pPr>
              <a:spcAft>
                <a:spcPts val="1200"/>
              </a:spcAft>
            </a:pPr>
            <a:r>
              <a:rPr sz="2200">
                <a:solidFill>
                  <a:srgbClr val="1F2937"/>
                </a:solidFill>
                <a:latin typeface="Calibri"/>
              </a:rPr>
              <a:t>▸  Bu yo‘l katta iqtisodiy sarf, ilmiy tadqiqot va sinovlarni talab qiladi. U texnika, kimyo-biologiya fanlari yutuqlariga bog‘liq.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Ksenotransplantatsiya: afzallik va muammolar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Cho‘chqa donor sifatida oldinda: xromosomalari, a’zolari odamga yaqin, tez ko‘payadi, uy hayvoni.</a:t>
            </a:r>
          </a:p>
          <a:p>
            <a:pPr>
              <a:spcAft>
                <a:spcPts val="800"/>
              </a:spcAft>
            </a:pPr>
            <a:r>
              <a:rPr sz="1800">
                <a:solidFill>
                  <a:srgbClr val="1F2937"/>
                </a:solidFill>
                <a:latin typeface="Calibri"/>
              </a:rPr>
              <a:t>▸  Asosiy muammolar: infeksiya va viruslar o‘tishi hamda hayvon a’zosining odamga mosligi.</a:t>
            </a:r>
          </a:p>
          <a:p>
            <a:pPr>
              <a:spcAft>
                <a:spcPts val="800"/>
              </a:spcAft>
            </a:pPr>
            <a:r>
              <a:rPr sz="1800">
                <a:solidFill>
                  <a:srgbClr val="1F2937"/>
                </a:solidFill>
                <a:latin typeface="Calibri"/>
              </a:rPr>
              <a:t>▸  Hayvon himoyachilari qarshi; shaxs hayvon a’zosini o‘ziniki deb qabul qilishi ruhiy muammo.</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Cho‘chqa genomiga odam geni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Transgen cho‘chqa olinadi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A’zo odamga ko‘chiriladi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Rad etish ehtimoli kamayadi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Transgen cho‘chqa yo‘li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Terapevtik klonlash va o‘zak hujayralar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Terapevtik klonlash — genetik texnologiyalar yordamida donor a’zo va to‘qimalar yaratish imkoniyati.</a:t>
            </a:r>
          </a:p>
          <a:p>
            <a:pPr>
              <a:spcAft>
                <a:spcPts val="800"/>
              </a:spcAft>
            </a:pPr>
            <a:r>
              <a:rPr sz="1800">
                <a:solidFill>
                  <a:srgbClr val="1F2937"/>
                </a:solidFill>
                <a:latin typeface="Calibri"/>
              </a:rPr>
              <a:t>▸  Axloqan qulay: organizmni yorib a’zo olish shart emas; moslik muammosi yechilish imkoni bor.</a:t>
            </a:r>
          </a:p>
          <a:p>
            <a:pPr>
              <a:spcAft>
                <a:spcPts val="800"/>
              </a:spcAft>
            </a:pPr>
            <a:r>
              <a:rPr sz="1800">
                <a:solidFill>
                  <a:srgbClr val="1F2937"/>
                </a:solidFill>
                <a:latin typeface="Calibri"/>
              </a:rPr>
              <a:t>▸  Hozircha tajriba bosqichida: tog‘ay, mushak to‘qimalari sinalmoqda; amaliyotga joriy etishga hali uzoq.</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Odamning somatik hujayrasi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O‘zak hujayra kulturasi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Sun’iy sharoitda to‘qima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Odam o‘zi donor va retsipient</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O‘zidan o‘ziga: g‘oya zanjiri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A‘zolarni taqsimlash va kutish varaqalari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Kutish varaqasi — a’zo ko‘chirilishi zarur bemorlar ro‘yxati; unda sog‘liq xususiyatlari ko‘rsatiladi.</a:t>
            </a:r>
          </a:p>
          <a:p>
            <a:pPr>
              <a:spcAft>
                <a:spcPts val="800"/>
              </a:spcAft>
            </a:pPr>
            <a:r>
              <a:rPr sz="1800">
                <a:solidFill>
                  <a:srgbClr val="1F2937"/>
                </a:solidFill>
                <a:latin typeface="Calibri"/>
              </a:rPr>
              <a:t>▸  Birinchi navbatdagi og‘ir bemor ham immunologik nomoslik tufayli operatsiyaga yetmasligi mumkin.</a:t>
            </a:r>
          </a:p>
          <a:p>
            <a:pPr>
              <a:spcAft>
                <a:spcPts val="800"/>
              </a:spcAft>
            </a:pPr>
            <a:r>
              <a:rPr sz="1800">
                <a:solidFill>
                  <a:srgbClr val="1F2937"/>
                </a:solidFill>
                <a:latin typeface="Calibri"/>
              </a:rPr>
              <a:t>▸  Immunosupressor terapiyani takomillashtirish muammoni qisman hal etadi, ammo u hali dolzarb.</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 kutish varaqasiga yoziladi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Adolat prinsipi bo‘yicha navbat</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A’zo immunologik mosligi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Mos a’zo topilsa — operatsiya</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Taqsimlash jarayoni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Transplantologiyani tijoratlashtirish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Tijoratlashtirish — faoliyatni foyda olishga bo‘ysundirish. Bunda inson a’zosi mahsulotga aylanadi.</a:t>
            </a:r>
          </a:p>
          <a:p>
            <a:pPr>
              <a:spcAft>
                <a:spcPts val="800"/>
              </a:spcAft>
            </a:pPr>
            <a:r>
              <a:rPr sz="1800">
                <a:solidFill>
                  <a:srgbClr val="1F2937"/>
                </a:solidFill>
                <a:latin typeface="Calibri"/>
              </a:rPr>
              <a:t>▸  Tanqislikda a’zo juda qimmat mahsulotga aylanadi. Ko‘p davlatda a’zo oldi-sottisi qonun bilan taqiqlangan.</a:t>
            </a:r>
          </a:p>
          <a:p>
            <a:pPr>
              <a:spcAft>
                <a:spcPts val="800"/>
              </a:spcAft>
            </a:pPr>
            <a:r>
              <a:rPr sz="1800">
                <a:solidFill>
                  <a:srgbClr val="1F2937"/>
                </a:solidFill>
                <a:latin typeface="Calibri"/>
              </a:rPr>
              <a:t>▸  Bu gumanizm g‘oyasiga zid: transplantologiyada o‘lim hayotni uzaytirishga xizmat qilishi kerak.</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 a’zolar tanqisligi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A’zo — qimmat mahsulot</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Savdo qonunda taqiqlangan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Talab qora bozorni yaratadi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Sotuvchi-donor: ko‘pincha buyrak</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Qora bozor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taqsimlash va savdo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kutish varaqasi nima va a’zolarni taqsimlashda u qaysi prinsipga tayanadi?</a:t>
            </a:r>
          </a:p>
          <a:p>
            <a:pPr>
              <a:spcAft>
                <a:spcPts val="1200"/>
              </a:spcAft>
            </a:pPr>
            <a:r>
              <a:rPr sz="2200">
                <a:solidFill>
                  <a:srgbClr val="1F2937"/>
                </a:solidFill>
                <a:latin typeface="Calibri"/>
              </a:rPr>
              <a:t>▸  2-savol: tijoratlashtirish nima? Nega tanqislik sharoitida qora bozor paydo bo‘ladi?</a:t>
            </a:r>
          </a:p>
          <a:p>
            <a:pPr>
              <a:spcAft>
                <a:spcPts val="1200"/>
              </a:spcAft>
            </a:pPr>
            <a:r>
              <a:rPr sz="2200">
                <a:solidFill>
                  <a:srgbClr val="1F2937"/>
                </a:solidFill>
                <a:latin typeface="Calibri"/>
              </a:rPr>
              <a:t>▸  Diqqat: xato qilish xavfi — varaqada birinchi turish operatsiyaga kafolat emas, chunki immunologik moslik ham kerak.</a:t>
            </a:r>
          </a:p>
          <a:p>
            <a:pPr>
              <a:spcAft>
                <a:spcPts val="1200"/>
              </a:spcAft>
            </a:pPr>
            <a:r>
              <a:rPr sz="2200">
                <a:solidFill>
                  <a:srgbClr val="1F2937"/>
                </a:solidFill>
                <a:latin typeface="Calibri"/>
              </a:rPr>
              <a:t>▸  Eslab qoling: «talab taklifni keltirib chiqaradi» — qora bozor mavjudligini shu iqtisodiy qonun izohlaydi.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tanqislik va savdo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tirik odam moddiy qiyinchilik sababli o‘z buyraklaridan birini sotishga qaror qildi. Xaridor — ro‘yxatda kutayotgan bemor.</a:t>
            </a:r>
          </a:p>
          <a:p>
            <a:pPr>
              <a:spcAft>
                <a:spcPts val="1200"/>
              </a:spcAft>
            </a:pPr>
            <a:r>
              <a:rPr sz="2200">
                <a:solidFill>
                  <a:srgbClr val="1F2937"/>
                </a:solidFill>
                <a:latin typeface="Calibri"/>
              </a:rPr>
              <a:t>▸  Savol 1: tirik donordan a’zo olish uning sog‘lig‘iga zarar bilan bog‘liq. «Zarar yetkazma» prinsipi bu yerda qanday buziladi?</a:t>
            </a:r>
          </a:p>
          <a:p>
            <a:pPr>
              <a:spcAft>
                <a:spcPts val="1200"/>
              </a:spcAft>
            </a:pPr>
            <a:r>
              <a:rPr sz="2200">
                <a:solidFill>
                  <a:srgbClr val="1F2937"/>
                </a:solidFill>
                <a:latin typeface="Calibri"/>
              </a:rPr>
              <a:t>▸  Savol 2: ixtiyoriy rozilik va ijtimoiy adolat prinsiplari nuqtai nazaridan bu savdoni baholang. Rozilik haqiqatan ixtiyoriymi?</a:t>
            </a:r>
          </a:p>
          <a:p>
            <a:pPr>
              <a:spcAft>
                <a:spcPts val="1200"/>
              </a:spcAft>
            </a:pPr>
            <a:r>
              <a:rPr sz="2200">
                <a:solidFill>
                  <a:srgbClr val="1F2937"/>
                </a:solidFill>
                <a:latin typeface="Calibri"/>
              </a:rPr>
              <a:t>▸  Savol 3: Islom a’zo savdosini qat’iy taqiqlaydi, pravoslav cherkovi esa a’zoni oldi-sotti ob’ekti deb qarashga qarshi. Nega?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Xalqaro hujjatlar va diniy nuqtayi nazar: xristianlik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Butunjahon tibbiyot uyushmasi 1987-yilda a’zolarni ko‘chirib o‘tkazish deklaratsiyasini qabul qilgan.</a:t>
            </a:r>
          </a:p>
          <a:p>
            <a:pPr>
              <a:spcAft>
                <a:spcPts val="800"/>
              </a:spcAft>
            </a:pPr>
            <a:r>
              <a:rPr sz="1800">
                <a:solidFill>
                  <a:srgbClr val="1F2937"/>
                </a:solidFill>
                <a:latin typeface="Calibri"/>
              </a:rPr>
              <a:t>▸  Unda o‘limni tasdiqlash shartlari va etik tamoyillar belgilangan; shifokor inson sog‘lig‘i haqida qayg‘uradi.</a:t>
            </a:r>
          </a:p>
          <a:p>
            <a:pPr>
              <a:spcAft>
                <a:spcPts val="800"/>
              </a:spcAft>
            </a:pPr>
            <a:r>
              <a:rPr sz="1800">
                <a:solidFill>
                  <a:srgbClr val="1F2937"/>
                </a:solidFill>
                <a:latin typeface="Calibri"/>
              </a:rPr>
              <a:t>▸  Diqqat: pravoslav rozilik prezumptsiyasini rad etadi; katolik donorlikni rahmdillik deb biladi.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972501"/>
                <a:gridCol w="2431252"/>
                <a:gridCol w="1884220"/>
              </a:tblGrid>
              <a:tr h="411480">
                <a:tc>
                  <a:txBody>
                    <a:bodyPr/>
                    <a:lstStyle/>
                    <a:p>
                      <a:r>
                        <a:rPr sz="1300" b="1">
                          <a:solidFill>
                            <a:srgbClr val="FFFFFF"/>
                          </a:solidFill>
                        </a:rPr>
                        <a:t>Cherkov</a:t>
                      </a:r>
                    </a:p>
                  </a:txBody>
                  <a:tcPr marL="73152" marR="73152" marT="36576" marB="36576">
                    <a:solidFill>
                      <a:srgbClr val="0B1F3A"/>
                    </a:solidFill>
                  </a:tcPr>
                </a:tc>
                <a:tc>
                  <a:txBody>
                    <a:bodyPr/>
                    <a:lstStyle/>
                    <a:p>
                      <a:r>
                        <a:rPr sz="1300" b="1">
                          <a:solidFill>
                            <a:srgbClr val="FFFFFF"/>
                          </a:solidFill>
                        </a:rPr>
                        <a:t>Qarash</a:t>
                      </a:r>
                    </a:p>
                  </a:txBody>
                  <a:tcPr marL="73152" marR="73152" marT="36576" marB="36576">
                    <a:solidFill>
                      <a:srgbClr val="0B1F3A"/>
                    </a:solidFill>
                  </a:tcPr>
                </a:tc>
                <a:tc>
                  <a:txBody>
                    <a:bodyPr/>
                    <a:lstStyle/>
                    <a:p>
                      <a:r>
                        <a:rPr sz="1300" b="1">
                          <a:solidFill>
                            <a:srgbClr val="FFFFFF"/>
                          </a:solidFill>
                        </a:rPr>
                        <a:t>Cheklov</a:t>
                      </a:r>
                    </a:p>
                  </a:txBody>
                  <a:tcPr marL="73152" marR="73152" marT="36576" marB="36576">
                    <a:solidFill>
                      <a:srgbClr val="0B1F3A"/>
                    </a:solidFill>
                  </a:tcPr>
                </a:tc>
              </a:tr>
              <a:tr h="411480">
                <a:tc>
                  <a:txBody>
                    <a:bodyPr/>
                    <a:lstStyle/>
                    <a:p>
                      <a:r>
                        <a:rPr sz="1200" b="0">
                          <a:solidFill>
                            <a:srgbClr val="1F2937"/>
                          </a:solidFill>
                        </a:rPr>
                        <a:t>Pravoslav</a:t>
                      </a:r>
                    </a:p>
                  </a:txBody>
                  <a:tcPr marL="73152" marR="73152" marT="36576" marB="36576">
                    <a:solidFill>
                      <a:srgbClr val="E8EEF6"/>
                    </a:solidFill>
                  </a:tcPr>
                </a:tc>
                <a:tc>
                  <a:txBody>
                    <a:bodyPr/>
                    <a:lstStyle/>
                    <a:p>
                      <a:r>
                        <a:rPr sz="1200" b="0">
                          <a:solidFill>
                            <a:srgbClr val="1F2937"/>
                          </a:solidFill>
                        </a:rPr>
                        <a:t>Savdo mumkin emas; qurbonlik ixtiyoriy</a:t>
                      </a:r>
                    </a:p>
                  </a:txBody>
                  <a:tcPr marL="73152" marR="73152" marT="36576" marB="36576">
                    <a:solidFill>
                      <a:srgbClr val="E8EEF6"/>
                    </a:solidFill>
                  </a:tcPr>
                </a:tc>
                <a:tc>
                  <a:txBody>
                    <a:bodyPr/>
                    <a:lstStyle/>
                    <a:p>
                      <a:r>
                        <a:rPr sz="1200" b="0">
                          <a:solidFill>
                            <a:srgbClr val="1F2937"/>
                          </a:solidFill>
                        </a:rPr>
                        <a:t>Donor hayotiga xavf — nojoiz</a:t>
                      </a:r>
                    </a:p>
                  </a:txBody>
                  <a:tcPr marL="73152" marR="73152" marT="36576" marB="36576">
                    <a:solidFill>
                      <a:srgbClr val="E8EEF6"/>
                    </a:solidFill>
                  </a:tcPr>
                </a:tc>
              </a:tr>
              <a:tr h="411480">
                <a:tc>
                  <a:txBody>
                    <a:bodyPr/>
                    <a:lstStyle/>
                    <a:p>
                      <a:r>
                        <a:rPr sz="1200" b="0">
                          <a:solidFill>
                            <a:srgbClr val="1F2937"/>
                          </a:solidFill>
                        </a:rPr>
                        <a:t>Katolik</a:t>
                      </a:r>
                    </a:p>
                  </a:txBody>
                  <a:tcPr marL="73152" marR="73152" marT="36576" marB="36576">
                    <a:solidFill>
                      <a:srgbClr val="FFFFFF"/>
                    </a:solidFill>
                  </a:tcPr>
                </a:tc>
                <a:tc>
                  <a:txBody>
                    <a:bodyPr/>
                    <a:lstStyle/>
                    <a:p>
                      <a:r>
                        <a:rPr sz="1200" b="0">
                          <a:solidFill>
                            <a:srgbClr val="1F2937"/>
                          </a:solidFill>
                        </a:rPr>
                        <a:t>Rahmdillik va axloqiy burch</a:t>
                      </a:r>
                    </a:p>
                  </a:txBody>
                  <a:tcPr marL="73152" marR="73152" marT="36576" marB="36576">
                    <a:solidFill>
                      <a:srgbClr val="FFFFFF"/>
                    </a:solidFill>
                  </a:tcPr>
                </a:tc>
                <a:tc>
                  <a:txBody>
                    <a:bodyPr/>
                    <a:lstStyle/>
                    <a:p>
                      <a:r>
                        <a:rPr sz="1200" b="0">
                          <a:solidFill>
                            <a:srgbClr val="1F2937"/>
                          </a:solidFill>
                        </a:rPr>
                        <a:t>Muqobil davo yo‘q bo‘lsa mumkin</a:t>
                      </a:r>
                    </a:p>
                  </a:txBody>
                  <a:tcPr marL="73152" marR="73152" marT="36576" marB="36576">
                    <a:solidFill>
                      <a:srgbClr val="FFFFFF"/>
                    </a:solidFill>
                  </a:tcPr>
                </a:tc>
              </a:tr>
              <a:tr h="411480">
                <a:tc>
                  <a:txBody>
                    <a:bodyPr/>
                    <a:lstStyle/>
                    <a:p>
                      <a:r>
                        <a:rPr sz="1200" b="0">
                          <a:solidFill>
                            <a:srgbClr val="1F2937"/>
                          </a:solidFill>
                        </a:rPr>
                        <a:t>Protestant</a:t>
                      </a:r>
                    </a:p>
                  </a:txBody>
                  <a:tcPr marL="73152" marR="73152" marT="36576" marB="36576">
                    <a:solidFill>
                      <a:srgbClr val="E8EEF6"/>
                    </a:solidFill>
                  </a:tcPr>
                </a:tc>
                <a:tc>
                  <a:txBody>
                    <a:bodyPr/>
                    <a:lstStyle/>
                    <a:p>
                      <a:r>
                        <a:rPr sz="1200" b="0">
                          <a:solidFill>
                            <a:srgbClr val="1F2937"/>
                          </a:solidFill>
                        </a:rPr>
                        <a:t>Olingan a’zoning qonuniyligi tan olinadi</a:t>
                      </a:r>
                    </a:p>
                  </a:txBody>
                  <a:tcPr marL="73152" marR="73152" marT="36576" marB="36576">
                    <a:solidFill>
                      <a:srgbClr val="E8EEF6"/>
                    </a:solidFill>
                  </a:tcPr>
                </a:tc>
                <a:tc>
                  <a:txBody>
                    <a:bodyPr/>
                    <a:lstStyle/>
                    <a:p>
                      <a:r>
                        <a:rPr sz="1200" b="0">
                          <a:solidFill>
                            <a:srgbClr val="1F2937"/>
                          </a:solidFill>
                        </a:rPr>
                        <a:t>A’zo sotish — axloqsizlik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Xristian oqimlari qarashi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Yahudiylikda va buddaviylikda transplantatsiya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Yahudiylikda inson tanasiga o‘limidan keyin ham katta hurmat bilan qaraladi; o‘lgan odam tanasini yorish mumkin emas.</a:t>
            </a:r>
          </a:p>
          <a:p>
            <a:pPr>
              <a:spcAft>
                <a:spcPts val="1200"/>
              </a:spcAft>
            </a:pPr>
            <a:r>
              <a:rPr sz="2200">
                <a:solidFill>
                  <a:srgbClr val="1F2937"/>
                </a:solidFill>
                <a:latin typeface="Calibri"/>
              </a:rPr>
              <a:t>▸  A’zo olish faqat inson o‘lishidan oldin ruxsat bergan va oila qarshilik bildirmagan holda mumkin. Donor tanasi buzilmasligiga alohida e’tibor beriladi.</a:t>
            </a:r>
          </a:p>
          <a:p>
            <a:pPr>
              <a:spcAft>
                <a:spcPts val="1200"/>
              </a:spcAft>
            </a:pPr>
            <a:r>
              <a:rPr sz="2200">
                <a:solidFill>
                  <a:srgbClr val="1F2937"/>
                </a:solidFill>
                <a:latin typeface="Calibri"/>
              </a:rPr>
              <a:t>▸  Gap inson hayotini qutqarish haqida ketsa, yahudiylik a’zolarni ko‘chirib o‘tkazishni mumkin deb biladi.</a:t>
            </a:r>
          </a:p>
          <a:p>
            <a:pPr>
              <a:spcAft>
                <a:spcPts val="1200"/>
              </a:spcAft>
            </a:pPr>
            <a:r>
              <a:rPr sz="2200">
                <a:solidFill>
                  <a:srgbClr val="1F2937"/>
                </a:solidFill>
                <a:latin typeface="Calibri"/>
              </a:rPr>
              <a:t>▸  Buddaviylikda a’zoni faqat tirik donordan ko‘chirish mumkin. Yagona sharti — bu kasal uchun hadya bo‘lishi.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Islom: Fiqh akademiyasining 26-sonli qarori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1988-yilda 26-sonli (1/4) qaror: kutilgan foyda mumkin bo‘lgan zarardan yaqqol ortiq bo‘lishi shart.</a:t>
            </a:r>
          </a:p>
          <a:p>
            <a:pPr>
              <a:spcAft>
                <a:spcPts val="800"/>
              </a:spcAft>
            </a:pPr>
            <a:r>
              <a:rPr sz="1800">
                <a:solidFill>
                  <a:srgbClr val="1F2937"/>
                </a:solidFill>
                <a:latin typeface="Calibri"/>
              </a:rPr>
              <a:t>▸  Hayotiy a’zolar taqiqlanadi; tirik donor musulmon bo‘lib, rozilik berishi kerak.</a:t>
            </a:r>
          </a:p>
          <a:p>
            <a:pPr>
              <a:spcAft>
                <a:spcPts val="800"/>
              </a:spcAft>
            </a:pPr>
            <a:r>
              <a:rPr sz="1800">
                <a:solidFill>
                  <a:srgbClr val="1F2937"/>
                </a:solidFill>
                <a:latin typeface="Calibri"/>
              </a:rPr>
              <a:t>▸  Miya o‘limida (nafas va qon aylanishi sun’iy ushlangan) ruxsat beriladi; tijorat qat’iy taqiqlanadi.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60583"/>
                <a:gridCol w="3427391"/>
              </a:tblGrid>
              <a:tr h="411480">
                <a:tc>
                  <a:txBody>
                    <a:bodyPr/>
                    <a:lstStyle/>
                    <a:p>
                      <a:r>
                        <a:rPr sz="1400" b="1">
                          <a:solidFill>
                            <a:srgbClr val="FFFFFF"/>
                          </a:solidFill>
                        </a:rPr>
                        <a:t>Holat</a:t>
                      </a:r>
                    </a:p>
                  </a:txBody>
                  <a:tcPr marL="73152" marR="73152" marT="36576" marB="36576">
                    <a:solidFill>
                      <a:srgbClr val="0B1F3A"/>
                    </a:solidFill>
                  </a:tcPr>
                </a:tc>
                <a:tc>
                  <a:txBody>
                    <a:bodyPr/>
                    <a:lstStyle/>
                    <a:p>
                      <a:r>
                        <a:rPr sz="1400" b="1">
                          <a:solidFill>
                            <a:srgbClr val="FFFFFF"/>
                          </a:solidFill>
                        </a:rPr>
                        <a:t>Qaror</a:t>
                      </a:r>
                    </a:p>
                  </a:txBody>
                  <a:tcPr marL="73152" marR="73152" marT="36576" marB="36576">
                    <a:solidFill>
                      <a:srgbClr val="0B1F3A"/>
                    </a:solidFill>
                  </a:tcPr>
                </a:tc>
              </a:tr>
              <a:tr h="411480">
                <a:tc>
                  <a:txBody>
                    <a:bodyPr/>
                    <a:lstStyle/>
                    <a:p>
                      <a:r>
                        <a:rPr sz="1300" b="0">
                          <a:solidFill>
                            <a:srgbClr val="1F2937"/>
                          </a:solidFill>
                        </a:rPr>
                        <a:t>Foyda va zarar</a:t>
                      </a:r>
                    </a:p>
                  </a:txBody>
                  <a:tcPr marL="73152" marR="73152" marT="36576" marB="36576">
                    <a:solidFill>
                      <a:srgbClr val="E8EEF6"/>
                    </a:solidFill>
                  </a:tcPr>
                </a:tc>
                <a:tc>
                  <a:txBody>
                    <a:bodyPr/>
                    <a:lstStyle/>
                    <a:p>
                      <a:r>
                        <a:rPr sz="1300" b="0">
                          <a:solidFill>
                            <a:srgbClr val="1F2937"/>
                          </a:solidFill>
                        </a:rPr>
                        <a:t>Foyda zarardan yaqqol ortiq bo‘lsin</a:t>
                      </a:r>
                    </a:p>
                  </a:txBody>
                  <a:tcPr marL="73152" marR="73152" marT="36576" marB="36576">
                    <a:solidFill>
                      <a:srgbClr val="E8EEF6"/>
                    </a:solidFill>
                  </a:tcPr>
                </a:tc>
              </a:tr>
              <a:tr h="411480">
                <a:tc>
                  <a:txBody>
                    <a:bodyPr/>
                    <a:lstStyle/>
                    <a:p>
                      <a:r>
                        <a:rPr sz="1300" b="0">
                          <a:solidFill>
                            <a:srgbClr val="1F2937"/>
                          </a:solidFill>
                        </a:rPr>
                        <a:t>Tirik: hayotiy a’zo</a:t>
                      </a:r>
                    </a:p>
                  </a:txBody>
                  <a:tcPr marL="73152" marR="73152" marT="36576" marB="36576">
                    <a:solidFill>
                      <a:srgbClr val="FFFFFF"/>
                    </a:solidFill>
                  </a:tcPr>
                </a:tc>
                <a:tc>
                  <a:txBody>
                    <a:bodyPr/>
                    <a:lstStyle/>
                    <a:p>
                      <a:r>
                        <a:rPr sz="1300" b="0">
                          <a:solidFill>
                            <a:srgbClr val="1F2937"/>
                          </a:solidFill>
                        </a:rPr>
                        <a:t>Ko‘chirish taqiqlanadi</a:t>
                      </a:r>
                    </a:p>
                  </a:txBody>
                  <a:tcPr marL="73152" marR="73152" marT="36576" marB="36576">
                    <a:solidFill>
                      <a:srgbClr val="FFFFFF"/>
                    </a:solidFill>
                  </a:tcPr>
                </a:tc>
              </a:tr>
              <a:tr h="411480">
                <a:tc>
                  <a:txBody>
                    <a:bodyPr/>
                    <a:lstStyle/>
                    <a:p>
                      <a:r>
                        <a:rPr sz="1300" b="0">
                          <a:solidFill>
                            <a:srgbClr val="1F2937"/>
                          </a:solidFill>
                        </a:rPr>
                        <a:t>Miya o‘limi</a:t>
                      </a:r>
                    </a:p>
                  </a:txBody>
                  <a:tcPr marL="73152" marR="73152" marT="36576" marB="36576">
                    <a:solidFill>
                      <a:srgbClr val="E8EEF6"/>
                    </a:solidFill>
                  </a:tcPr>
                </a:tc>
                <a:tc>
                  <a:txBody>
                    <a:bodyPr/>
                    <a:lstStyle/>
                    <a:p>
                      <a:r>
                        <a:rPr sz="1300" b="0">
                          <a:solidFill>
                            <a:srgbClr val="1F2937"/>
                          </a:solidFill>
                        </a:rPr>
                        <a:t>Sun’iy ushlangan holda ruxsat</a:t>
                      </a:r>
                    </a:p>
                  </a:txBody>
                  <a:tcPr marL="73152" marR="73152" marT="36576" marB="36576">
                    <a:solidFill>
                      <a:srgbClr val="E8EEF6"/>
                    </a:solidFill>
                  </a:tcPr>
                </a:tc>
              </a:tr>
              <a:tr h="411480">
                <a:tc>
                  <a:txBody>
                    <a:bodyPr/>
                    <a:lstStyle/>
                    <a:p>
                      <a:r>
                        <a:rPr sz="1300" b="0">
                          <a:solidFill>
                            <a:srgbClr val="1F2937"/>
                          </a:solidFill>
                        </a:rPr>
                        <a:t>Tijorat</a:t>
                      </a:r>
                    </a:p>
                  </a:txBody>
                  <a:tcPr marL="73152" marR="73152" marT="36576" marB="36576">
                    <a:solidFill>
                      <a:srgbClr val="FFFFFF"/>
                    </a:solidFill>
                  </a:tcPr>
                </a:tc>
                <a:tc>
                  <a:txBody>
                    <a:bodyPr/>
                    <a:lstStyle/>
                    <a:p>
                      <a:r>
                        <a:rPr sz="1300" b="0">
                          <a:solidFill>
                            <a:srgbClr val="1F2937"/>
                          </a:solidFill>
                        </a:rPr>
                        <a:t>Qat’iyan man qilinadi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Qarorning asosiy qoidalari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diniy yondashuvlar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miya o‘limi tasdiqlangan bemorning a’zolari boshqa kasalning hayotini saqlab qolishi mumkin. Dinlar bunga qanday qaraydi?</a:t>
            </a:r>
          </a:p>
          <a:p>
            <a:pPr>
              <a:spcAft>
                <a:spcPts val="1200"/>
              </a:spcAft>
            </a:pPr>
            <a:r>
              <a:rPr sz="2200">
                <a:solidFill>
                  <a:srgbClr val="1F2937"/>
                </a:solidFill>
                <a:latin typeface="Calibri"/>
              </a:rPr>
              <a:t>▸  Yahudiylikda a’zo olish marhumning oldindan ruxsati va oilaning e’tirozsizligi bilan mumkin. Islomda donor yoki qarindoshlari rozi bo‘lishi kerak.</a:t>
            </a:r>
          </a:p>
          <a:p>
            <a:pPr>
              <a:spcAft>
                <a:spcPts val="1200"/>
              </a:spcAft>
            </a:pPr>
            <a:r>
              <a:rPr sz="2200">
                <a:solidFill>
                  <a:srgbClr val="1F2937"/>
                </a:solidFill>
                <a:latin typeface="Calibri"/>
              </a:rPr>
              <a:t>▸  Katolik cherkovi donorlikni rahm-shafqat va axloqiy burch deydi. Pravoslav cherkovi uni majburiyat emas, ixtiyoriy fidokorlik deb biladi.</a:t>
            </a:r>
          </a:p>
          <a:p>
            <a:pPr>
              <a:spcAft>
                <a:spcPts val="1200"/>
              </a:spcAft>
            </a:pPr>
            <a:r>
              <a:rPr sz="2200">
                <a:solidFill>
                  <a:srgbClr val="1F2937"/>
                </a:solidFill>
                <a:latin typeface="Calibri"/>
              </a:rPr>
              <a:t>▸  Savdoga qarash o‘xshash: pravoslavlar uni a’zo oldi-sottisi deb rad etadi, protestantlar axloqsizlik deydi, islom qat’iyan man etadi.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 Muhamedova Z.M., Bioetika, betlar: II bob, 3-bo‘lim oxiri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muammolar: genom, patent, hamjihatlik, YUNESKO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Inson geni kiritilgan transgen cho‘chqalar a’zosi rad etilish ehtimolini kamaytirishi kerak.</a:t>
            </a:r>
          </a:p>
          <a:p>
            <a:pPr>
              <a:spcAft>
                <a:spcPts val="800"/>
              </a:spcAft>
            </a:pPr>
            <a:r>
              <a:rPr sz="1800">
                <a:solidFill>
                  <a:srgbClr val="1F2937"/>
                </a:solidFill>
                <a:latin typeface="Calibri"/>
              </a:rPr>
              <a:t>▸  Genom «insoniyat mulki»; qo‘mita daromad qismi hisobidan texnologiyalarni moliyalashni taklif qildi.</a:t>
            </a:r>
          </a:p>
          <a:p>
            <a:pPr>
              <a:spcAft>
                <a:spcPts val="800"/>
              </a:spcAft>
            </a:pPr>
            <a:r>
              <a:rPr sz="1800">
                <a:solidFill>
                  <a:srgbClr val="1F2937"/>
                </a:solidFill>
                <a:latin typeface="Calibri"/>
              </a:rPr>
              <a:t>▸  YUNESKO (BMT ta’lim, fan va madaniyat tashkiloti) etikani 2002–2007 strategiyasida ustuvor qildi.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144819"/>
                <a:gridCol w="1962547"/>
                <a:gridCol w="2180608"/>
              </a:tblGrid>
              <a:tr h="411480">
                <a:tc>
                  <a:txBody>
                    <a:bodyPr/>
                    <a:lstStyle/>
                    <a:p>
                      <a:r>
                        <a:rPr sz="1300" b="1">
                          <a:solidFill>
                            <a:srgbClr val="FFFFFF"/>
                          </a:solidFill>
                        </a:rPr>
                        <a:t>Muammo</a:t>
                      </a:r>
                    </a:p>
                  </a:txBody>
                  <a:tcPr marL="73152" marR="73152" marT="36576" marB="36576">
                    <a:solidFill>
                      <a:srgbClr val="0B1F3A"/>
                    </a:solidFill>
                  </a:tcPr>
                </a:tc>
                <a:tc>
                  <a:txBody>
                    <a:bodyPr/>
                    <a:lstStyle/>
                    <a:p>
                      <a:r>
                        <a:rPr sz="1300" b="1">
                          <a:solidFill>
                            <a:srgbClr val="FFFFFF"/>
                          </a:solidFill>
                        </a:rPr>
                        <a:t>Mohiyati</a:t>
                      </a:r>
                    </a:p>
                  </a:txBody>
                  <a:tcPr marL="73152" marR="73152" marT="36576" marB="36576">
                    <a:solidFill>
                      <a:srgbClr val="0B1F3A"/>
                    </a:solidFill>
                  </a:tcPr>
                </a:tc>
                <a:tc>
                  <a:txBody>
                    <a:bodyPr/>
                    <a:lstStyle/>
                    <a:p>
                      <a:r>
                        <a:rPr sz="1300" b="1">
                          <a:solidFill>
                            <a:srgbClr val="FFFFFF"/>
                          </a:solidFill>
                        </a:rPr>
                        <a:t>Etik savol</a:t>
                      </a:r>
                    </a:p>
                  </a:txBody>
                  <a:tcPr marL="73152" marR="73152" marT="36576" marB="36576">
                    <a:solidFill>
                      <a:srgbClr val="0B1F3A"/>
                    </a:solidFill>
                  </a:tcPr>
                </a:tc>
              </a:tr>
              <a:tr h="411480">
                <a:tc>
                  <a:txBody>
                    <a:bodyPr/>
                    <a:lstStyle/>
                    <a:p>
                      <a:r>
                        <a:rPr sz="1200" b="0">
                          <a:solidFill>
                            <a:srgbClr val="1F2937"/>
                          </a:solidFill>
                        </a:rPr>
                        <a:t>Ksenotransplantatsiya</a:t>
                      </a:r>
                    </a:p>
                  </a:txBody>
                  <a:tcPr marL="73152" marR="73152" marT="36576" marB="36576">
                    <a:solidFill>
                      <a:srgbClr val="E8EEF6"/>
                    </a:solidFill>
                  </a:tcPr>
                </a:tc>
                <a:tc>
                  <a:txBody>
                    <a:bodyPr/>
                    <a:lstStyle/>
                    <a:p>
                      <a:r>
                        <a:rPr sz="1200" b="0">
                          <a:solidFill>
                            <a:srgbClr val="1F2937"/>
                          </a:solidFill>
                        </a:rPr>
                        <a:t>Infeksiya, virus o‘tishi; moslik</a:t>
                      </a:r>
                    </a:p>
                  </a:txBody>
                  <a:tcPr marL="73152" marR="73152" marT="36576" marB="36576">
                    <a:solidFill>
                      <a:srgbClr val="E8EEF6"/>
                    </a:solidFill>
                  </a:tcPr>
                </a:tc>
                <a:tc>
                  <a:txBody>
                    <a:bodyPr/>
                    <a:lstStyle/>
                    <a:p>
                      <a:r>
                        <a:rPr sz="1200" b="0">
                          <a:solidFill>
                            <a:srgbClr val="1F2937"/>
                          </a:solidFill>
                        </a:rPr>
                        <a:t>Hayvon huquqi; o‘zini inson deb his etish</a:t>
                      </a:r>
                    </a:p>
                  </a:txBody>
                  <a:tcPr marL="73152" marR="73152" marT="36576" marB="36576">
                    <a:solidFill>
                      <a:srgbClr val="E8EEF6"/>
                    </a:solidFill>
                  </a:tcPr>
                </a:tc>
              </a:tr>
              <a:tr h="411480">
                <a:tc>
                  <a:txBody>
                    <a:bodyPr/>
                    <a:lstStyle/>
                    <a:p>
                      <a:r>
                        <a:rPr sz="1200" b="0">
                          <a:solidFill>
                            <a:srgbClr val="1F2937"/>
                          </a:solidFill>
                        </a:rPr>
                        <a:t>Transgenez</a:t>
                      </a:r>
                    </a:p>
                  </a:txBody>
                  <a:tcPr marL="73152" marR="73152" marT="36576" marB="36576">
                    <a:solidFill>
                      <a:srgbClr val="FFFFFF"/>
                    </a:solidFill>
                  </a:tcPr>
                </a:tc>
                <a:tc>
                  <a:txBody>
                    <a:bodyPr/>
                    <a:lstStyle/>
                    <a:p>
                      <a:r>
                        <a:rPr sz="1200" b="0">
                          <a:solidFill>
                            <a:srgbClr val="1F2937"/>
                          </a:solidFill>
                        </a:rPr>
                        <a:t>Inson geniga ega hayvonlar</a:t>
                      </a:r>
                    </a:p>
                  </a:txBody>
                  <a:tcPr marL="73152" marR="73152" marT="36576" marB="36576">
                    <a:solidFill>
                      <a:srgbClr val="FFFFFF"/>
                    </a:solidFill>
                  </a:tcPr>
                </a:tc>
                <a:tc>
                  <a:txBody>
                    <a:bodyPr/>
                    <a:lstStyle/>
                    <a:p>
                      <a:r>
                        <a:rPr sz="1200" b="0">
                          <a:solidFill>
                            <a:srgbClr val="1F2937"/>
                          </a:solidFill>
                        </a:rPr>
                        <a:t>Moslik va rad etilish xavfi</a:t>
                      </a:r>
                    </a:p>
                  </a:txBody>
                  <a:tcPr marL="73152" marR="73152" marT="36576" marB="36576">
                    <a:solidFill>
                      <a:srgbClr val="FFFFFF"/>
                    </a:solidFill>
                  </a:tcPr>
                </a:tc>
              </a:tr>
              <a:tr h="411480">
                <a:tc>
                  <a:txBody>
                    <a:bodyPr/>
                    <a:lstStyle/>
                    <a:p>
                      <a:r>
                        <a:rPr sz="1200" b="0">
                          <a:solidFill>
                            <a:srgbClr val="1F2937"/>
                          </a:solidFill>
                        </a:rPr>
                        <a:t>Tengsizlik</a:t>
                      </a:r>
                    </a:p>
                  </a:txBody>
                  <a:tcPr marL="73152" marR="73152" marT="36576" marB="36576">
                    <a:solidFill>
                      <a:srgbClr val="E8EEF6"/>
                    </a:solidFill>
                  </a:tcPr>
                </a:tc>
                <a:tc>
                  <a:txBody>
                    <a:bodyPr/>
                    <a:lstStyle/>
                    <a:p>
                      <a:r>
                        <a:rPr sz="1200" b="0">
                          <a:solidFill>
                            <a:srgbClr val="1F2937"/>
                          </a:solidFill>
                        </a:rPr>
                        <a:t>Rivojlanayotgan mamlakatlarga qimmat</a:t>
                      </a:r>
                    </a:p>
                  </a:txBody>
                  <a:tcPr marL="73152" marR="73152" marT="36576" marB="36576">
                    <a:solidFill>
                      <a:srgbClr val="E8EEF6"/>
                    </a:solidFill>
                  </a:tcPr>
                </a:tc>
                <a:tc>
                  <a:txBody>
                    <a:bodyPr/>
                    <a:lstStyle/>
                    <a:p>
                      <a:r>
                        <a:rPr sz="1200" b="0">
                          <a:solidFill>
                            <a:srgbClr val="1F2937"/>
                          </a:solidFill>
                        </a:rPr>
                        <a:t>Hamjihatlik (birdamlik) masalasi</a:t>
                      </a:r>
                    </a:p>
                  </a:txBody>
                  <a:tcPr marL="73152" marR="73152" marT="36576" marB="36576">
                    <a:solidFill>
                      <a:srgbClr val="E8EEF6"/>
                    </a:solidFill>
                  </a:tcPr>
                </a:tc>
              </a:tr>
              <a:tr h="411480">
                <a:tc>
                  <a:txBody>
                    <a:bodyPr/>
                    <a:lstStyle/>
                    <a:p>
                      <a:r>
                        <a:rPr sz="1200" b="0">
                          <a:solidFill>
                            <a:srgbClr val="1F2937"/>
                          </a:solidFill>
                        </a:rPr>
                        <a:t>Genom</a:t>
                      </a:r>
                    </a:p>
                  </a:txBody>
                  <a:tcPr marL="73152" marR="73152" marT="36576" marB="36576">
                    <a:solidFill>
                      <a:srgbClr val="FFFFFF"/>
                    </a:solidFill>
                  </a:tcPr>
                </a:tc>
                <a:tc>
                  <a:txBody>
                    <a:bodyPr/>
                    <a:lstStyle/>
                    <a:p>
                      <a:r>
                        <a:rPr sz="1200" b="0">
                          <a:solidFill>
                            <a:srgbClr val="1F2937"/>
                          </a:solidFill>
                        </a:rPr>
                        <a:t>«Insoniyat mulki»</a:t>
                      </a:r>
                    </a:p>
                  </a:txBody>
                  <a:tcPr marL="73152" marR="73152" marT="36576" marB="36576">
                    <a:solidFill>
                      <a:srgbClr val="FFFFFF"/>
                    </a:solidFill>
                  </a:tcPr>
                </a:tc>
                <a:tc>
                  <a:txBody>
                    <a:bodyPr/>
                    <a:lstStyle/>
                    <a:p>
                      <a:r>
                        <a:rPr sz="1200" b="0">
                          <a:solidFill>
                            <a:srgbClr val="1F2937"/>
                          </a:solidFill>
                        </a:rPr>
                        <a:t>Daromadni adolatli taqsimlash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Yangi etik muammolar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tezislar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Transplantatsiya turlari: auto-, izo-, allo- va ksenotransplantatsiya. Murdadan a’zo olish eng keng tarqalgan donorlik bo‘lib, eng ko‘p etik-huquqiy muammo tug‘diradi.</a:t>
            </a:r>
          </a:p>
          <a:p>
            <a:pPr>
              <a:spcAft>
                <a:spcPts val="1200"/>
              </a:spcAft>
            </a:pPr>
            <a:r>
              <a:rPr sz="2000">
                <a:solidFill>
                  <a:srgbClr val="1F2937"/>
                </a:solidFill>
                <a:latin typeface="Calibri"/>
              </a:rPr>
              <a:t>▸  Ko‘p mamlakatda o‘lim mezoni miya o‘limidir. Murdadan olish eskicha usulda yoki rozilik yoxud norozilik prezumptsiyasi bilan amalga oshiriladi.</a:t>
            </a:r>
          </a:p>
          <a:p>
            <a:pPr>
              <a:spcAft>
                <a:spcPts val="1200"/>
              </a:spcAft>
            </a:pPr>
            <a:r>
              <a:rPr sz="2000">
                <a:solidFill>
                  <a:srgbClr val="1F2937"/>
                </a:solidFill>
                <a:latin typeface="Calibri"/>
              </a:rPr>
              <a:t>▸  Tanqislik: AQSH (Amerika Qo‘shma Shtatlari) va Yevropada muhtojlarning taxminan 35 foizi a’zo ololmaydi. Yechim: sun’iy a’zolar, ksenotransplantatsiya, terapevtik klonlash.</a:t>
            </a:r>
          </a:p>
          <a:p>
            <a:pPr>
              <a:spcAft>
                <a:spcPts val="1200"/>
              </a:spcAft>
            </a:pPr>
            <a:r>
              <a:rPr sz="2000">
                <a:solidFill>
                  <a:srgbClr val="1F2937"/>
                </a:solidFill>
                <a:latin typeface="Calibri"/>
              </a:rPr>
              <a:t>▸  Tijoratlashtirishga qarshi zarar yetkazmaslik, xabardor ixtiyoriy rozilik va ijtimoiy adolat prinsiplari turadi. Dinlar savdoni qoralaydi, ko‘pi ixtiyoriy donorlikka ruxsat beradi.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Yuldashev N.M., Saydalixodjayeva O.Z., Saidov A.B., Bioetika, betlar: 33-43; Muhamedova Z.M., Bioetika, betlar: II bob, 3-bo‘lim oxiri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qoling: miya o‘limining 3 belgisi. 1) qaytmas behushlik, 2) mustaqil nafas to‘xtashi, 3) miya ustuni reflekslarining yo‘qolishi. Bu tushuncha fransuz nevropatologlari P. Molar va M. Gulon koma holatini tavsiflaganidan keyin ishlab chiqilgan. Garvard mezonlari 1968-yilda yaratilgan va shu yili Butunjahon tibbiyot assotsiatsiyasining (BTA) Sidney deklaratsiyasida tan olingan.</a:t>
            </a:r>
          </a:p>
          <a:p>
            <a:pPr>
              <a:spcAft>
                <a:spcPts val="1200"/>
              </a:spcAft>
            </a:pPr>
            <a:r>
              <a:rPr sz="1800">
                <a:solidFill>
                  <a:srgbClr val="1F2937"/>
                </a:solidFill>
                <a:latin typeface="Calibri"/>
              </a:rPr>
              <a:t>▸  Eslab qolish usuli: rozilik prezumptsiyasi — “aytmasang, rozisan”. Norozilik prezumptsiyasi — “aytmasang, rozi emassan”. Birinchisi Avstriya, Belgiya, Ispaniya, Vengriya, Chexiyada qo‘llanadi. Ikkinchisi AQSh, Germaniya, Kanada, Fransiya, Italiyada (“so‘rab olingan rozilik”) qo‘llanadi. AQShda tirik paytda “donor-karta” rasmiylashtiriladi.</a:t>
            </a:r>
          </a:p>
          <a:p>
            <a:pPr>
              <a:spcAft>
                <a:spcPts val="1200"/>
              </a:spcAft>
            </a:pPr>
            <a:r>
              <a:rPr sz="1800">
                <a:solidFill>
                  <a:srgbClr val="1F2937"/>
                </a:solidFill>
                <a:latin typeface="Calibri"/>
              </a:rPr>
              <a:t>▸  Hodisa tahlili: navbat ro‘yxatida birinchi turgan og‘ir bemor ham operatsiyaga yetishmasligi mumkin. Sababi immunologik mos kelmaslik: mavjud donor a’zolar orasidan unga mosini tanlash juda qiyin. Shu bois AQSh va Yevropada ko‘chirib o‘tkazish taxminan 35% muhtojlarga nasib qilmaydi. Muammo immunosupressor terapiya takomillashgani sayin qisman hal bo‘ladi.</a:t>
            </a:r>
          </a:p>
          <a:p>
            <a:pPr>
              <a:spcAft>
                <a:spcPts val="1200"/>
              </a:spcAft>
            </a:pPr>
            <a:r>
              <a:rPr sz="1800">
                <a:solidFill>
                  <a:srgbClr val="1F2937"/>
                </a:solidFill>
                <a:latin typeface="Calibri"/>
              </a:rPr>
              <a:t>▸  Qiziqarli g‘oya: terapevtik klonlashda odamning o‘z somatik hujayralari boshlang‘ich material bo‘ladi. Shunda inson ham donor, ham retsipient bo‘lib, immunologik moslik va ko‘p etik-huquqiy muammolar hal bo‘ladi. Lekin bu hozircha ilmiy tadqiqot bosqichida, amaliyotga joriy qilishdan hali yiroq “kelajak texnologiyasi”.</a:t>
            </a:r>
          </a:p>
          <a:p>
            <a:pPr>
              <a:spcAft>
                <a:spcPts val="1200"/>
              </a:spcAft>
            </a:pPr>
            <a:r>
              <a:rPr sz="1800">
                <a:solidFill>
                  <a:srgbClr val="1F2937"/>
                </a:solidFill>
                <a:latin typeface="Calibri"/>
              </a:rPr>
              <a:t>▸  Dinlarni solishtirish: a’zo savdosiga barcha qarashlar qarshi. Islom tijorat asosidagi ko‘chirib o‘tkazishni qat’iyan man qiladi. Protestantlar sotishni axloqsizlik deydi. Pravoslav cherkovi a’zoni oldi-sotti ob’ekti deb bilmaydi. Buddaviylikda tirik donordan faqat bemorga in’om sifatida mumkin. Islom Fiqh akademiyasining 1988-yildagi 26-sonli (1/4) qarori miya o‘limida ham ruxsat beradi.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Og‘ir kuyish bilan og‘rigan bemorga jarroh uning shikastlanmagan sohasidan teri olib, kuygan joyga ko‘chirdi. Bu transplantatsiyaning qaysi turi?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Izotransplantatsiya – egizakdan olingan to‘qima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Autotransplantatsiya – bemorning o‘z to‘qimasi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Allotransplantatsiya – boshqa odamdan olingan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Ksenotransplantatsiya – hayvondan olingan a’zo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Buyrak kasalligi bilan og‘rigan bemorga uning tuxumdosh egizagi buyragini berdi. Bu transplantatsiyaning qaysi turi?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Izotransplantatsiya – tuxumdosh egizak donor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Autotransplantatsiya – bemorning o‘zi donor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Allotransplantatsiya – genetik jihatdan boshqa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Ksenotransplantatsiya – boshqa tur donori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Klinika organ tanqisligi sababli bemorga transgen cho‘chqadan olingan a’zoni ko‘chirishni rejalashtirdi. Bu transplantatsiyaning qaysi turi?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Autotransplantatsiya – bemorning o‘z a’zosi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Izotransplantatsiya – bemor egizagining a’zosi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Allotransplantatsiya – boshqa odamning a’zosi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Ksenotransplantatsiya – hayvon a’zosini ko‘chirish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Eksperimental transplantatsiya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odamlarda o‘tkaziladigan oddiy davolash bosqichi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Donor a’zolarini sotishning huquqiy tartibga solinishi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Klinikadan oldingi bosqich, muammolar ishlab chiqiladi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operatsiyadan keyingi reabilitatsiya jarayoni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Quyidagilardan qaysi biri transplantatsiyadagi tibbiy omillarga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Inson o‘limini tasdiqlash tartibi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Donorni immunologik saralash muammolari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Organlarni sotishning qonuniy taqiqlanishi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Organlarni retsipientlar o‘rtasida taqsimlash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Aka o‘z singlisiga buyrak bermoqchi. Shifokor bu holatda qaysi etik tamoyilga to‘liq rioya qila olmaydi?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Xabardor ixtiyoriy rozilik tamoyiliga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«Zarar yetkazma» tamoyiliga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Ijtimoiy adolat tamoyiliga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Tibbiy sir saqlash tamoyiliga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donorga yetadigan zarar bilan retsipient hayotini qutqarish foydasini solishtirmoqda. Qaror qaysi qoidaga tayanadi?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Foyda va zarar o‘zaro teng bo‘lishi shart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Donorga zarar mutlaqo yetkazilmasligi shart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Navbat varaqasidagi o‘rin hal qiluvchi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Foyda yetkazilgan zarardan yuqori bo‘lishi shart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Reanimatsiyadagi bemorda qaytmas hushsizlik bor, mustaqil nafas to‘xtagan, miya ustuni reflekslari yo‘q. Bu holat nimaga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Butun miya ustuni bilan nobud bo‘lgan qaytmas holat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Qaytariladigan koma, nafas tiklanishi mumkin bo‘lgan holat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bosh miya po‘stlog‘i susaygan, ustun refleksli holat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Hushsizlik bor, lekin mustaqil nafas saqlangan holat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Marhum tirikligida ham, yaqinlari ham sog‘liqni saqlash muassasasiga e’tiroz bildirmagan. Qaysi usul bo‘yicha a’zo olishga huquq paydo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Eskicha usul, ya’ni tana davlat mulki sanaladi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Norozilik prezumptsiyasi, ya’ni so‘ralgan rozilik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Rozilik prezumptsiyasi, ya’ni oldindan rozilik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tirik donordan a’zo olish usuli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Miya o‘limining Garvard mezonlari qaysi yilda ishlab chiqilgan?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1987-yilda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1968-yilda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2002-yilda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1988-yilda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Mamlakatda rozilik prezumptsiyasi amal qiladi. Vafot etgan shaxs ham, uning yaqinlari ham hayotlik chog‘ida norozilik bildirmagan. Bu holatda nima ruxsat etiladi?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A’zolarni olish faqat yaqinlarning yozma roziligi bilan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Marhumdan a’zo va to‘qimalarni olishga huquq beriladi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A’zolarni olish har qanday holatda mutlaqo taqiqlanadi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A’zolarni olishga faqat sud qarori bilan ruxsat beriladi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Davlatda norozilik prezumptsiyasi («so‘rab olingan rozilik») amal qiladi. Marhum hayotligida donorlik haqida hech qanday hujjat qoldirmagan.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A’zolardan foydalanish yaqinlarning og‘zaki fikriga ko‘ra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A’zolardan foydalanish shifokorlar konsiliumi qaroriga ko‘ra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A’zolardan foydalanish faqat ilmiy maqsadda avtomatik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Yuridik rasmiylashtirilgan rozilik bo‘lmasa, foydalanish mumkin emas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Olim donor a’zolar tanqisligini kamaytirish uchun xromosomalar to‘plami va ichki a’zolar tuzilishi jihatidan insonga yaqin hayvonni tanlamoqchi. Qaysi hayvon birinchi o‘ringa chiqqan?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Cho‘chqa, shu jumladan insoniy gen kiritilgan transgen cho‘chqalar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Sigir, chunki u yirik uy hayvoni hisoblanadi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Quyon, chunki u tez ko‘payadigan hayvon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Echki, chunki u keng tarqalgan uy hayvoni hisoblanadi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Kutish varaqasida birinchi turgan juda og‘ir bemor ham nima uchun o‘ziga kerakli operatsiyaga yetisha olmasligi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Chunki varaqada faqat yengil holatdagi bemorlar ro‘yxatga olinadi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Chunki a’zolar faqat ro‘yxatdagi oxirgi bemorlarga taqsimlanadi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Immunologik mos kelmagani sababli unga mos a’zoni tanlash qiyin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Chunki donor a’zolarning hammasi avtomatik sotuvga chiqariladi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Terapevtik klonlash va o‘zak hujayralar yo‘li etika nuqtayi nazaridan nima uchun yoqimli deb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 hayvonlarni donor sifatida o‘ldirishni talab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Organizmni a’zo olish maqsadida yorib kirishni talab qilmaydi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 sun’iy mexanik a’zolarni to‘liq almashtirishga asoslangan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 a’zolarni faqat o‘lgan donorlardan olishga asoslangan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Moddiy qiyinchilik tufayli bir kishi o‘z buyragini sotishga qaror qildi va qora bozorda xaridor topdi. Bu holat transplantologiyaning qaysi axloqiy muammosiga misol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Inson o‘limini tasdiqlash muammosiga misol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Transplantologiyani tijoratlashtirish muammosi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Retsipientlarni kutish varaqasiga kiritish muammosi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Hayvon a’zosini odamga ko‘chirish muammosi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Kutish varaqasida birinchi o‘rinda turgan juda og‘ir bemor uzoq vaqt operatsiyaga yeta olmayapti. Manbaga ko‘ra, asosiy qiyinchilik nimada?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Qonun og‘ir bemorlarga a’zo ko‘chirishni taqiqlaydi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tirik donordan a’zo olishga ruxsat berilgan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Bemor ro‘yxatga yozilganda roziligini bermagan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Mavjud a’zolardan unga immunologik mosini tanlash qiyin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Davlat qonunida marhumdan a’zo olishga rozilik prezumpsiyasi joriy etildi. Rus pravoslav cherkovi bunday normani qanday baholaydi?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Inson erkinligining yo‘l qo‘yib bo‘lmaydigan buzilishi deb</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Rahmdillikning eng yuqori namunasi va majburiyati deb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tirik donorlar uchun maqbul qoida deb</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A’zolar savdosi uchun yo‘l ochuvchi qoida deb</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Tirik odam o‘zining hayotiy muhim a’zosini bemorga bermoqchi. Fiqh akademiyasining 26-sonli qaroriga ko‘ra, shariat bunga qanday qaraydi?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Qarindoshlari rozi bo‘lsa, ruxsat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Savdosiz, ixtiyoriy bo‘lsa, ruxsat beradi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Hayotiy muhim a’zolarni ko‘chirishni taqiqlaydi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muftiy nazoratida ruxsat beradi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Marhum hayotligida a’zolarini berishga ruxsat bergan, oilasi esa qarshilik bildirmagan. Yahudiylik a’zo olishga qanday qaraydi?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Oila qarshiligidan qat’i nazar mumkin emas deb</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shart bajarilgani uchun mumkin deb biladi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tirik donordan olinsa mumkin deb biladi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hadya bo‘lsa ruxsat beriladi deb hisoblaydi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Autotransplantatsiya – bemorning o‘z to‘qimasi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Autotransplantatsiyada transplantat donori retsipientning o‘zi bo‘ladi. Kuyishda sog‘lom joydan teri ko‘chirish shunga misol. Izotransplantatsiyada donor tuxumdosh egizak, allotransplantatsiyada boshqa odam, ksenotransplantatsiyada hayvon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3.1-bo‘lim, 33-43-betlar-bet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Izotransplantatsiya – tuxumdosh egizak donor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Izotransplantatsiyada donor retsipientga immunologik va genetik jihatdan aynan o‘xshash tuxumdosh egizagi bo‘ladi. Allotransplantatsiyada donor genetik va immunologik jihatdan farq qiladigan boshqa odam.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3.1-bo‘lim, 33-43-betlar-bet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Ksenotransplantatsiya – hayvon a’zosini ko‘chirish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Boshqa biologik tur hayvonlaridan olingan a’zolarni ko‘chirish ksenotransplantatsiya, ya’ni turlararo transplantatsiya deyiladi. Darslikda cho‘chqalar donor sifatida birinchi o‘ringa chiqqani aytilgan.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3.1-bo‘lim, 33-43-betlar-bet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Klinikadan oldingi bosqich, muammolar ishlab chiqiladi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Eksperimental transplantatsiya klinikadan oldingi bosqich bo‘lib, unda ko‘chirib o‘tkazishning biologik, jarrohlik va tashkiliy muammolari ishlab chiqiladi. U yangi preparatlar yaratishda ham muhim.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3.1-bo‘lim, 33-43-betlar-bet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Donorni immunologik saralash muammolari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Tibbiy omillarga donorni immunologik saralash, retsipient salomatligi ko‘rsatkichlari va operatsiyadan keyingi immunosupressiv terapiya kiradi. O‘limni tasdiqlash, taqsimlash va savdo esa etik-huquqiy muammolar.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3.1-bo‘lim, 33-43-betlar-bet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«Zarar yetkazma» tamoyiliga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Tirik donordan a’zo olish donorning sog‘lig‘iga zarar yetkazish bilan bog‘liq. Shuning uchun shifokor «zarar yetkazma» tamoyiliga to‘liq amal qila olmaydi va donor sog‘lig‘iga zarar bilan retsipient hayotini qutqarish o‘rtasidagi dilemmaga duch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Foyda yetkazilgan zarardan yuqori bo‘lishi shart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Dilemma olinayotgan foyda va yetkazilayotgan zarar darajasini solishtirish orqali hal qilinadi. Doim amal qiladigan qoida: foyda zarardan yuqori bo‘lishi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Butun miya ustuni bilan nobud bo‘lgan qaytmas holat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«Miya o‘limi» qaytmas hushsizlik, mustaqil nafasning to‘xtashi va miya ustuni reflekslarining yo‘qolishi bilan birga butun miyaning ustuni bilan nobud bo‘lishini anglatadi.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Rozilik prezumptsiyasi, ya’ni oldindan rozilik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Rozilik prezumptsiyasida oldindan rozilik tan olinadi. Inson yoki yaqinlari belgilangan tartibda e’tiroz bildirmagan bo‘lsa, murdadan a’zo va to‘qima olishga huquq beriladi.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1968-yilda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Miya o‘limining Garvard mezonlari 1968-yilda ishlab chiqilgan. Shu yili ular biroz aniqlashtirilgan ko‘rinishda jahon tibbiyot hamjamiyati tomonidan tan olingan (Jahon tibbiyot assotsiatsiyasining Sidney deklaratsiyasi).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Marhumdan a’zo va to‘qimalarni olishga huquq beriladi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Rozilik prezumptsiyasida rozilik oldindan berilgan deb hisoblanadi. Norozilik sog‘liqni saqlash muassasasiga bildirilmagan bo‘lsa, a’zo va to‘qimalarni olishga huquq beriladi.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Yuridik rasmiylashtirilgan rozilik bo‘lmasa, foydalanish mumkin emas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Norozilik prezumptsiyasida inson rozi bo‘lsa, rozilikni belgilangan tartibda ifodalashi kerak. Yuridik rasmiylashtirilgan rozilik bo‘lmasa, a’zo va to‘qimalardan foydalanishga yo‘l qo‘yilmaydi. Bu tamoyil AQSH, Germaniya, Kanada, Frantsiya va Italiyada amal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Cho‘chqa, shu jumladan insoniy gen kiritilgan transgen cho‘chqalar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Darslikda ksenotransplantatsiya uchun cho‘chqalar birinchi darajaga chiqqani aytilgan. Genomida inson geni bo‘lgan transgen cho‘chqalar immunologik qabul qilmaslik ehtimolini pasaytirishi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Immunologik mos kelmagani sababli unga mos a’zoni tanlash qiyin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Kutish varaqasi tartibida birinchi turgan bemor uchun ham mavjud donor a’zolar orasidan immunologik jihatdan mos a’zoni topish qiyin. Bu muammo immunosupressor terapiyani takomillashtirish bilan qisman hal qilinadi.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Organizmni a’zo olish maqsadida yorib kirishni talab qilmaydi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Darslikka ko‘ra bu yo‘l biror organizmni a’zo olish uchun yorib kirishni talab qilmaydi. Boshlang‘ich material insonning o‘z somatik hujayralari bo‘lgani uchun immunologik moslik muammosi ham hal bo‘lishi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33-43 (3-bob, 3.1)-bet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Transplantologiyani tijoratlashtirish muammosi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Tijoratlashtirishda inson a’zolari mahsulotga, tanqislik sharoitida esa tanqis va qimmat mahsulotga aylanadi. Qora bozorda moddiy sabab bilan juft a’zolardan biri sotiladi, eng mashhuri buyrakdir. Bu transplantologiyaning gumanizm g‘oyasiga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 33-43-betlar-bet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Mavjud a’zolardan unga immunologik mosini tanlash qiyin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Kutish varaqasi bemorlar ro‘yxati bo‘lib, taqsimlash adolat tamoyiliga asoslanadi. Biroq immunologik mos kelmaslik tufayli mavjud donor a’zolar ichidan bemorga to‘g‘ri keladiganini tanlash juda qiyin. Muammo immunosupressor terapiyani takomillashtirish orqali qisman hal etiladi, lekin hali dolzarb.</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 33-43-betlar-bet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Inson erkinligining yo‘l qo‘yib bo‘lmaydigan buzilishi deb</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Cherkov «Ijtimoiy konsepsiya asoslari»da potensial donorning rozilik prezumpsiyasini inson erkinligining yo‘l qo‘yib bo‘lmaydigan buzilishi deb hisoblaydi. U vafotdan keyingi donorlikni ham majburiyat emas, ixtiyoriy fidokorlik deb biladi.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 33-43-betlar-bet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Hayotiy muhim a’zolarni ko‘chirishni taqiqlaydi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Shariat tirik odamning hayotiy muhim a’zolarini, shuningdek oqibatda o‘lim xavfi bo‘lmasa ham hayotiy funksiyalarni yomonlashtiradigan a’zolarni ko‘chirishni taqiqlaydi. Tijorat asosidagi transplantatsiya ham qat’iy man etiladi.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 33-43-betlar-bet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Ikkala shart bajarilgani uchun mumkin deb biladi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Yahudiylikda inson tanasi o‘limidan keyin ham hurmatli. A’zo olish faqat inson o‘lishdan oldin ruxsat bergan va oilasi qarshilik bildirmagan holda mumkin. Hayotni qutqarish masalasida transplantatsiya joiz hisoblanadi. Hadya sharti esa buddaviylikka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Yuldashev N.M., Saydalixodjayeva O.Z., Saidov A.B., Bioetika, 3-bob, 3.1, 33-43-betlar-bet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Reanimatsiya va transplantatsiyaning huquqiy, ma’naviy va tibbiy jihatlari.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Yuldashev N.M., Saydalixodjayeva O.Z., Saidov A.B. Bioetika (tibbiyot OTM talabalari uchun darslik), Toshkent tibbiyot akademiyasi, Toshkent, 2019 (titul betida 2018). 2019. 3-bob 3.1 «Transplantatsiya» (kitob beti 33-43; miya o‘limi, donorlik turlari, rozilik prezumptsiyasi)</a:t>
            </a:r>
          </a:p>
          <a:p>
            <a:pPr>
              <a:spcAft>
                <a:spcPts val="1200"/>
              </a:spcAft>
            </a:pPr>
            <a:r>
              <a:rPr sz="2000">
                <a:solidFill>
                  <a:srgbClr val="1F2937"/>
                </a:solidFill>
                <a:latin typeface="Calibri"/>
              </a:rPr>
              <a:t>▸  Muhamedova Z.M. Bioetika (o‘quv qo‘llanma, falsafa fakulteti), Toshkent, 2006. 2006. II bob 3-bo‘lim oxiri: a’zo va to‘qimalarni ko‘chirib o‘tkazishdagi axloqiy muammolar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