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zaharlanishlar zo‘raki o‘limda uchinchi o‘rinda? Talabalar kundalik hayotda qanday kimyoviy omillarga duch keladi? Doskada: mavzu rejasini 3 ta bo‘lim shaklida yozdiring. Tipik xato: zaharlanishni faqat qotillik bilan bog‘lash. Aslida u baxtsiz hodisa yoki o‘z-o‘zini o‘ldirish ham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«dori» va «zahar» o‘rtasida chegara bormi? Bariy sulfat va bariy xlorid misolida eruvchanlik nimani o‘zgartiradi? Doskada: «doza → dori / zahar» sxemasini chizdiring. Tipik xato: «zahar» deb faqat xavfli moddalarni tushunish. Dozani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klinik toksikolog va sud-tibbiy ekspert vazifalari qanday farqlanadi? Nima uchun aksariyat zaharlanish baxtsiz hodisa? Doskada: 6 ta yo‘nalishni «daraxt» shaklida chizdiring, sud-tibbiy shoxini ajrating. Tipik xato: qasddan zaharlashni eng ko‘p uchraydigan holat deb o‘ylash. Aslida qotillik kamdan-kam uchraydi.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aksariyat zaharlanish baxtsiz hodisa bo‘ladi? 2) Qasd va tasodifni nima ajratadi? Doskada: 3 ustunli sxema (qotillik, o‘z-o‘zini o‘ldirish, baxtsiz hodisa), yatrogenni baxtsiz hodisa shoxiga chizing. Tipik xato: yatrogen holatni qasddan zaharlash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Vaziyat o‘quv maqsadida manbadagi ta’rifdan tuzilgan. Muhokama: 1) Dori dozasini belgilashda qanday xatolar bo‘ladi? 2) Sud-tibbiy ekspert bunday holatda nimaga e’tibor beradi? Doskada: ’dori → xato → zaharlanish’ zanjirini chizing. Tipik xato: yatrogen holatni qotillik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xil doza turli odamga turlicha ta’sir qiladi? 2) Yopiq va issiq muhit nega xavfni oshiradi? Doskada: markazda ’zaharlanish’, atrofida 4 omilni o‘q bilan chizing. Tipik xato: faqat dozaga e’tibor berib, organizm va kirish yo‘lini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bariy sulfat rentgenda xavfsiz, bariy xlorid esa zaharli? 2) Vexikulum nima va nega ahamiyatli? Doskada chizing: zahar omillari ro‘yxati (tuzilish, doza, agregat holat, eruvchanlik, vexikulum, kumulyatsiya) va har biriga bittadan misol yozing. Tipik xato: o‘xshash kimyoviy tuzilishni bir xil zaharlilik deb o‘ylash (is gazi va CO2). Diqqat: kumulyatsiya (to‘planish) bilan toksikokinetika tushunchalari aralashtirilmasin.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 zaharga sezgirroq? 2) Tolerantlik va abstinensiya o‘rtasida qanday bog‘liqlik bor? Doskada chizing: ikki ustunli ro‘yxat — sezgirlikni oshiruvchi omillar (bolalik, homiladorlik, kasallik) va qarshilikni oshiruvchi omillar (sog‘lom organizm). Tipik xato: tolerantlikni immunitet deb tushunish yoki jinsga ko‘ra zaharlilik farq qiladi deb o‘ylash. Diqqat: tolerantlik ≠ abstinensiya (birinchisi o‘rganib qolish, ikkinchisi qabul to‘xtaganda paydo bo‘ladigan sindrom).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nafas yo‘li orqali kirgan zahar og‘iz orqali kirganidan kuchliroq ta’sir qiladi? 2) Qaysi tashqi sharoit alkogol va is gazi ta’sirini kuchaytiradi? Doskada chizing: kirish yo‘llari sxemasi — teri, og‘iz, nafas yo‘llari, to‘g‘ri ichak, in’eksiya — va jigardan o‘tadigan yo‘lni boshqalardan farqlab belgilang. Tipik xato: barcha shilliq qavatlardan so‘rilgan zahar jigardan o‘tadi deb o‘ylash. Diqqat: erimaydigan modda ≠ zararsiz modda (u faqat mahalliy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avval yozma, keyin og‘zaki aytadi. Muhokama savollari: 1) Zaharlanishda qaysi to‘rt guruh omil farqlanadi (zaharli modda, organizm, kirish yo‘li, tashqi sharoit)? 2) Eruvchanlik nima uchun muhim? Doskada chizish: to‘rt omilli sxema, markazda “zaharlanish”. Tipik xato: kimyoviy jihatdan o‘xshash moddalarni bir xil zaharli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Nima uchun funksional zaharlarda tibbiy hujjatlar muhim dalil bo‘lishi mumkin (morfologik o‘zgarish kam)? 2) Hodisa joyida nimalarga e’tibor beriladi (yot hid, dori idishlari, shpritslar, retseptlar, qusuq)? Doskada chizish: uch bosqichli zanjir va har bosqichga 2 ta misol. Tipik xato: faqat laboratoriya natijasiga tayanib, hodisa tafsiloti va klinikani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Og‘iz orqali qabul qilingan zaharda “uch nuqta” qoidasi bo‘yicha qaysi ob’ektlar olinadi? 2) Zahar manbai noma’lum bo‘lsa, nimalar olinadi (masalan, miyaning uchdan bir qismi, jigarning uchdan bir qismi, 100-200 ml qon)? Doskada chizish: “kirgan – ta’sir etgan – chiqqan” uch nuqtali sxema. Tipik xato: funksional zaharlarda har doim xos murda belgisi bo‘ladi deb o‘ylash; aslida ko‘pida xos o‘zgarish topilmasligi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Murda dog‘i rangi va hidi nima uchun faqat taxmin beradi? 2) Taxmin tasdig‘i uchun qaysi tekshiruv zarur? Doskada: ‘rang – zahar’ juftliklarini ustun qilib yozdiring. Tipik xato: talaba rang va hidni yakuniy dalil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metabolit ba’zan o‘zidan zaharliroq? 2) Biotransformatsiya asosan qaysi a’zoda kechadi? Doskada: kirish → taqsimlanish → metabolizm → chiqarilish zanjirini chizdiring. Tipik xato: metabolizm zaharni har doim zararsizlantiradi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Sirka kislotasi misolida uch bosqichni ayting. 2) Metanolda nega kechikkan neyrotoksik o‘zgarishlar rivojlanadi? Doskada: ‘birlamchi → keyingi → metatoksik’ jadvalini sirka kislotasi uchun to‘ldiring. Tipik xato: ikki tushunchani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mahalliy zaharlar ham umumiy reaksiya chaqiradi? Nima uchun umumiy zaharlar rezorbtiv deyiladi? Doskada: tasnif daraxtini (mahalliy / umumiy → destruktiv, gemotrop, funksional) chizdiring. Tipik xato: mahalliy va rezorbtiv ta’sirni bir-biriga qarama-qarshi qo‘yib, bir modda ikkalasini ham ko‘rsatishi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funksional zaharlarda murda tekshiruvida xos o‘zgarish kam topiladi? Spirt va opiat qaysi guruhchada joylashgan? Doskada: 4 guruhchani ustun qilib yozib, har biriga 2 ta misol qo‘shdiring. Tipik xato: opiatlarni so‘ndiruvchi guruhga qo‘yish. Darslik jadvalida ular qo‘zg‘atuvchilar ro‘yxatida turadi, 6.10-bo‘limda esa opiatlar sedativ ta’sirli deyilgan; bu farqni alohida izohlang.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juft bo‘lib 1 daqiqa o‘ylab javob beradi. Muhokama: sirka kislotasi nega ham mahalliy, ham gemolitik zaharlar qatorida tilga olinadi? Doskada: 3 ta moddani (simob, sianid, sirka kislotasi) tasnif jadvaliga joylashtirish. Tipik xato: guruhni faqat birinchi ta’sirga qarab belgilash.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spirt avval qo‘zg‘alish, keyin tormozlanish beradi? 2) Endogen alkogol nima uchun kerak? Doskada: miya bo‘limlari (po‘stloq → po‘stloq osti → uzunchoq miya) bo‘ylab tormozlanish o‘tishini o‘q bilan chizing. Tipik xato: talabalar endogen alkogolni zaharlanish belgisi deb o‘ylaydi, aslida u normada ham bo‘ladi.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Tezkor savol: qaysi modda poxmele sindromini keltirib chiqaradi? Muhokama: 1) Spirt qaysi a’zoda ko‘proq metabolizmga uchraydi? 2) Alkogoldegidrogenaza yetishmasa nima bo‘ladi (katalaza ulushi ortadi)? Doskada zanjirni fermentlar nomi bilan chizing. Tipik xato: atsetaldegid bilan sirka kislotasini adashtirish; poxmele sababi atsetaldegid.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Ekspert past promille topsa, qanday xulosa chiqarishda ehtiyot bo‘lish kerak? 2) Atsetaldegid nega to‘planadi? Doskada: ikki ferment faolligini ‘baland’ va ‘past’ deb belgilab, atsetaldegid ‘tiqilib qolishi’ni sxema qiling. Tipik xato: mastlik darajasini faqat promille bo‘yicha baholash va atipik fermentlarni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bir xil miqdordagi spirt turli odamlarda turlicha klinika beradi? 2) “Alkogol bilan bog‘liq o‘lim” tushunchasi nimani qamrab oladi? Doskada chizish: qondagi spirt shkalasi — 0,5–1,5 yengil, 1,5–2,5 o‘rta, 2,5–3,0 kuchli mastlik, 3,0 dan yuqori zaharlanish; murdada 5,0 promille va undan ko‘p o‘lim sababi hisoblanadi (160-bet). Tipik xato: mastlik va zaharlanishni bir tushuncha deb olish, “alkogol bilan bog‘liq o‘lim”ni faqat zaharlanishdan o‘lim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sifat sinamasi mastlik darajasini aniqlab bera olmaydi? 2) Qanday kasalliklarda soxta musbat natija chiqishi mumkin? Doskada chizish: Rappoport sinamasi bosqichlari — ikki probirkada 2 ml suv, birida 20–30 soniya havo chiqariladi, ikkinchisi nazorat; keyin 1 ml sulfat kislota va 0,5% permanganatdan bir tomchi; sinov probirkasida rang yo‘qolsa alkogol bor (158–159-betlar). Tipik xato: ikki sinamaning rang o‘zgarishini adashtirish; sifat sinamasini miqdoriy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Nega siydik va qon konsentratsiyasini solishtirish ichimlik vaqti haqida fikr yuritishga imkon beradi? 2) Nega tirik shaxsda P ni alohida aniqlash afzal? Doskada chizish: formulaning har bir harfi ma’nosi. Qo‘shimcha: reduksiya omili erkaklarda o‘rtacha 0,68, ayollarda 0,55; ozg‘inlarda 0,70–0,75, to‘laroqlarda 0,55–0,65; P ni aniqlab bo‘lmasa o‘rtacha 0,13–0,15 olinadi (160-bet). Namuna kamida 5 ml, idish to‘la, ichida havo bo‘lmasligi kerak (159-bet). Tipik xato: P va r ni chalkashtirish; eliminatsiya va rezorbsiya davrlarida qon-siydik nisbatini teskari aytish.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o‘tkir zaharlanishda murdada spetsifik o‘zgarish yo‘q, tashxis nimaga tayanadi? 2) Qaysi tekshiruvlar hal qiluvchi (sud-kimyo, gistologik)? Doskada chizish: mastlik darajalari jadvalini promille o‘qi ko‘rinishida chizing. Tipik xato: 3,0 promilleni ham mastlik, 5,0 ni esa har doim o‘lim sababi deb olish.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Qonda spirt topilmasa, spirt bilan bog‘liq o‘limni inkor qilish mumkinmi? 2) Yurakning ishemik kasalligi fonida spirtning roli qanday? Doskada chizish: qaror daraxti – promille → baho → qo‘shimcha tekshiruv. Tipik xato: faqat raqamga qarab, ichimlik tarkibi va kasalliklar fonini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Eslab qoling: surrogat = o‘rinbosar. Muhokama: nega metil spirti eng ko‘p adashib iste’mol qilinadi? Doskada chizish: surrogatlar ro‘yxati (metil, propil, butil, amil, etilenglikol, denaturat, tetraetil qo‘rg‘oshin). Tipik xato: surrogatni faqat metil spirti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yashirin bosqichdagi yaxshilanish aldamchi? 2) Nima uchun metanol etanoldan xavfliroq? Doskada chizish: metanol → formaldegid → chumoli kislotasi zanjirini chizdiring. Tipik xato: metanol ≠ etanol; metanolning o‘zi emas, metabolitlari zaharli. Diqqat: darslik matnida ko‘rish buzilishi "etil spirti" deb yozilgan, mazmunan metanolga tegishli (ehtimoliy matn xatosi) — talabalarga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Kryukov dog‘lari qayerda joylashadi? 2) Nega tekshiruv materialini erta olish muhim? Doskada chizish: yurak sxemasida chap kameralar sohasidagi epikard ostidagi qon quyilishlarni belgilang. Tipik xato: Kryukov dog‘larini faqat metanolga xos deb hisoblash. Darslik 3–5 kunni "etil spirti" deb yozgan, mazmunan metanolga tegishli deb olindi (ishonchsiz band).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Qaysi spirtning letal dozasi eng kichik? 2) Diagnostika nimalarga asoslanadi (voqea tafsiloti, klinika, murda va sud-kimyoviy tekshiruv)? Doskada chizish: jadvalni daftarga ko‘chirtiring va hidlarni belgilating. Tipik xato: amil spirtining letal dozasini (20–30 ml) propilnikiga (300 ml)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etilenglikolning butun molekulasi emas, metabolitlari xavfliroq? Tetraetil qo‘rg‘oshin murdada qanday hid beradi va nega bu muhim? Doskada: etilenglikol → glikol aldegid → oksalat kislotasi zanjirini chizdiring. Tipik xato: etilenglikolni metanol bilan aralashtirish; bu yerda oksalat kislotasi, metanolda formaldegid va chumoli kislotasi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talabalarga navbat bilan bering, javobni slayddan yashirib turing. Muhokama: nima uchun metanol etil spirtidan sekin oksidlanadi va bu nimaga olib keladi? Doskada: surrogatlar ro‘yxati va har birining letal dozasi jadvalini chizdiring. Tipik xato: metanolni mastlik beradi deb, xavfini past baholash; dastlabki mastlik kuchsiz va qisqa, keyin yashirin davr keladi.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mastlik holatining o‘zi baxtsiz hodisa va o‘z-o‘zini o‘ldirish xavfini oshiradi? Nega nashadan zaharlanish odatda o‘lim bilan tugamaydi? Doskada: DRD ning 5 ta holatini ro‘yxat qilib chizing. Tipik xato: geroinni tabiiy modda deb hisoblash; u opiyning yarim sintetik mahsuli.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Nima uchun opiatlarni tekshirishda jigar namunasi muhim? 2) Geroin morfindan qanday farq qiladi? Doskada chizish: ko‘knori sharbati → morfin → geroin (atsetillash) sxemasini chizdiring. Tipik xato: geroinni tabiiy alkaloid deb hisoblash; u yarim sintetik mahsulot.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parenteral yo‘lda letal doza kichikroq? 2) Opiat zaharlanishida nima uchun o‘lim nafas markazi falajidan bo‘ladi? Doskada chizish: klinik bosqichlar zanjiri (ko‘ngil aynishi → sianoz, miyoz → koma → nafas to‘xtashi). Tipik xato: quruq opiy va sof morfin dozalarini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Tolerantlik va abstinensiya sindromi o‘rtasidagi bog‘liqlik qanday? 2) Nega namuna imkon qadar tez olinishi kerak? Doskada chizish: geroinning siydikda paydo bo‘lishi va yo‘qolishi vaqt chizig‘i. Tipik xato: ruhiy bog‘liqlikni jismoniy bog‘liqlik bilan aralashtirish; namuna hajmlari umumiy narkotiklar uchun berilganini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venadagi chandiq iste’molni to‘liq isbotlamaydi? Qaysi guruh amaliyotda ahamiyatsiz va nega? Doskada: to‘rt guruhni ustun shaklida chizib, har biriga bittadan misol yozdiring. Tipik xato: talabalar tashqi belgilarni (chandiq, tatuirovka) qat’iy dalil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namunani kechiktirib olsak, natijaga nima bo‘ladi? Nima uchun qon bilan birga siydik ham olinadi? Doskada: vaqt chizig‘i chizing (qabul — 2–6 soat — aniqlanish davri). Tipik xato: talabalar qorachiq torayishini kokain yoki nasha belgisi bilan adashtiradi (ularda qorachiq kengayadi).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soxta musbat va soxta manfiy natijaga bittadan misol keltiring. Namunani tez olish nima uchun zarur? Doskada: ikki ustunli ro‘yxat chizing (soxta musbat sabablari / soxta manfiy sabablari). Tipik xato: talabalar «zahar topilmadi» degan natijani «zaharlanish bo‘lmagan» deb talqin qiladi.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Zaharli ximikatlar tushunchasi. Etil spirti va uning surrogatlari bilan zaharlanish. Opiatlar bilan zaharlanish.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sud-tibbiy toksikologiya va mavzu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sud-tibbiy ekspertiza amaliyotida nisbatan keng uchraydi.</a:t>
            </a:r>
          </a:p>
          <a:p>
            <a:pPr>
              <a:spcAft>
                <a:spcPts val="1200"/>
              </a:spcAft>
            </a:pPr>
            <a:r>
              <a:rPr sz="2200">
                <a:solidFill>
                  <a:srgbClr val="1F2937"/>
                </a:solidFill>
                <a:latin typeface="Calibri"/>
              </a:rPr>
              <a:t>▸  Zo‘raki o‘lim tarkibida zaharlanishlar uchinchi o‘rinda turadi. Undan oldin mexanik jarohatlar va mexanik asfiksiya keladi.</a:t>
            </a:r>
          </a:p>
          <a:p>
            <a:pPr>
              <a:spcAft>
                <a:spcPts val="1200"/>
              </a:spcAft>
            </a:pPr>
            <a:r>
              <a:rPr sz="2200">
                <a:solidFill>
                  <a:srgbClr val="1F2937"/>
                </a:solidFill>
                <a:latin typeface="Calibri"/>
              </a:rPr>
              <a:t>▸  Sud tibbiyoti fan sifatida aynan sud-tibbiy toksikologiyadan boshlanib shakllangan.</a:t>
            </a:r>
          </a:p>
          <a:p>
            <a:pPr>
              <a:spcAft>
                <a:spcPts val="1200"/>
              </a:spcAft>
            </a:pPr>
            <a:r>
              <a:rPr sz="2200">
                <a:solidFill>
                  <a:srgbClr val="1F2937"/>
                </a:solidFill>
                <a:latin typeface="Calibri"/>
              </a:rPr>
              <a:t>▸  Bugungi reja: zahar tushunchasi, etil spirti va uning surrogatlari bilan zaharlanish, so‘ng opiatlar bilan zaharlanish.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156, 168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U oz miqdorda ta’sir etib, sog‘liqni buzadigan yoki o‘limga olib keladigan moddadir.</a:t>
            </a:r>
          </a:p>
          <a:p>
            <a:pPr>
              <a:spcAft>
                <a:spcPts val="1200"/>
              </a:spcAft>
            </a:pPr>
            <a:r>
              <a:rPr sz="2200">
                <a:solidFill>
                  <a:srgbClr val="1F2937"/>
                </a:solidFill>
                <a:latin typeface="Calibri"/>
              </a:rPr>
              <a:t>▸  Tabiatda mutloq zahar ham, mutloq beziyon modda ham yo‘q. Paratsels: faqat doza moddani dori yoki zaharga aylantiradi.</a:t>
            </a:r>
          </a:p>
          <a:p>
            <a:pPr>
              <a:spcAft>
                <a:spcPts val="1200"/>
              </a:spcAft>
            </a:pPr>
            <a:r>
              <a:rPr sz="2200">
                <a:solidFill>
                  <a:srgbClr val="1F2937"/>
                </a:solidFill>
                <a:latin typeface="Calibri"/>
              </a:rPr>
              <a:t>▸  Oz miqdordagi moddaning ta’sirida paydo bo‘lgan sog‘liq buzilishi zaharlanish deb ataladi.</a:t>
            </a:r>
          </a:p>
          <a:p>
            <a:pPr>
              <a:spcAft>
                <a:spcPts val="1200"/>
              </a:spcAft>
            </a:pPr>
            <a:r>
              <a:rPr sz="2200">
                <a:solidFill>
                  <a:srgbClr val="1F2937"/>
                </a:solidFill>
                <a:latin typeface="Calibri"/>
              </a:rPr>
              <a:t>▸  Diqqat: bir modda holatga qarab turlicha ta’sir qiladi. Bariy sulfat suvda erimaydi va rentgenda ishlatiladi, bariy xlorid esa kuchli zahar.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yo‘nalishlari va sud-tibbiy toksikologiya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Toksikologiya zahar va zaharlanishni o‘rganadi. Uning yo‘nalishlari: sanoat, qishloq xo‘jaligi, harbiy, oziq-ovqat, maishiy va sud-tibbiy.</a:t>
            </a:r>
          </a:p>
          <a:p>
            <a:pPr>
              <a:spcAft>
                <a:spcPts val="1200"/>
              </a:spcAft>
            </a:pPr>
            <a:r>
              <a:rPr sz="2200">
                <a:solidFill>
                  <a:srgbClr val="1F2937"/>
                </a:solidFill>
                <a:latin typeface="Calibri"/>
              </a:rPr>
              <a:t>▸  Boshqa turlar zaharlanish sabablari, malakali yordam va oldini olish bilan shug‘ullanadi.</a:t>
            </a:r>
          </a:p>
          <a:p>
            <a:pPr>
              <a:spcAft>
                <a:spcPts val="1200"/>
              </a:spcAft>
            </a:pPr>
            <a:r>
              <a:rPr sz="2200">
                <a:solidFill>
                  <a:srgbClr val="1F2937"/>
                </a:solidFill>
                <a:latin typeface="Calibri"/>
              </a:rPr>
              <a:t>▸  Sud-tibbiy toksikologiya esa huquqni muhofaza etuvchi idoralar qo‘ygan vazifalarni hal etadi. Bu uning o‘ziga xosligi.</a:t>
            </a:r>
          </a:p>
          <a:p>
            <a:pPr>
              <a:spcAft>
                <a:spcPts val="1200"/>
              </a:spcAft>
            </a:pPr>
            <a:r>
              <a:rPr sz="2200">
                <a:solidFill>
                  <a:srgbClr val="1F2937"/>
                </a:solidFill>
                <a:latin typeface="Calibri"/>
              </a:rPr>
              <a:t>▸  Zaharlanish qotillik, o‘z-o‘zini o‘ldirish yoki baxtsiz hodisa bo‘lishi mumkin. Aksariyat holatlar baxtsiz hodisadir, qotillik kam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Zaharlanishlarning vujudga kelish tafsilotlari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Tafsilotiga ko‘ra zaharlanish qotillik, o‘z-o‘zini o‘ldirish yoki baxtsiz hodisa tarzida bo‘lishi mumkin.</a:t>
            </a:r>
          </a:p>
          <a:p>
            <a:pPr>
              <a:spcAft>
                <a:spcPts val="800"/>
              </a:spcAft>
            </a:pPr>
            <a:r>
              <a:rPr sz="1800">
                <a:solidFill>
                  <a:srgbClr val="1F2937"/>
                </a:solidFill>
                <a:latin typeface="Calibri"/>
              </a:rPr>
              <a:t>▸  Qotillik va o‘z-o‘zini o‘ldirishda zahar qasddan beriladi, baxtsiz hodisada esa tasodifan tushadi.</a:t>
            </a:r>
          </a:p>
          <a:p>
            <a:pPr>
              <a:spcAft>
                <a:spcPts val="800"/>
              </a:spcAft>
            </a:pPr>
            <a:r>
              <a:rPr sz="1800">
                <a:solidFill>
                  <a:srgbClr val="1F2937"/>
                </a:solidFill>
                <a:latin typeface="Calibri"/>
              </a:rPr>
              <a:t>▸  Ayrim tasodifiy zaharlanishlar yatrogen bo‘lib, dori dozasini xato belgilash yoki dorini almashtirishdan chiqadi.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62658"/>
                <a:gridCol w="3525316"/>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Uchrash tartibi</a:t>
                      </a:r>
                    </a:p>
                  </a:txBody>
                  <a:tcPr marL="73152" marR="73152" marT="36576" marB="36576">
                    <a:solidFill>
                      <a:srgbClr val="0B1F3A"/>
                    </a:solidFill>
                  </a:tcPr>
                </a:tc>
              </a:tr>
              <a:tr h="411480">
                <a:tc>
                  <a:txBody>
                    <a:bodyPr/>
                    <a:lstStyle/>
                    <a:p>
                      <a:r>
                        <a:rPr sz="1300" b="0">
                          <a:solidFill>
                            <a:srgbClr val="1F2937"/>
                          </a:solidFill>
                        </a:rPr>
                        <a:t>Baxtsiz hodisa</a:t>
                      </a:r>
                    </a:p>
                  </a:txBody>
                  <a:tcPr marL="73152" marR="73152" marT="36576" marB="36576">
                    <a:solidFill>
                      <a:srgbClr val="E8EEF6"/>
                    </a:solidFill>
                  </a:tcPr>
                </a:tc>
                <a:tc>
                  <a:txBody>
                    <a:bodyPr/>
                    <a:lstStyle/>
                    <a:p>
                      <a:r>
                        <a:rPr sz="1300" b="0">
                          <a:solidFill>
                            <a:srgbClr val="1F2937"/>
                          </a:solidFill>
                        </a:rPr>
                        <a:t>Eng ko‘p (aksariyat holat)</a:t>
                      </a:r>
                    </a:p>
                  </a:txBody>
                  <a:tcPr marL="73152" marR="73152" marT="36576" marB="36576">
                    <a:solidFill>
                      <a:srgbClr val="E8EEF6"/>
                    </a:solidFill>
                  </a:tcPr>
                </a:tc>
              </a:tr>
              <a:tr h="411480">
                <a:tc>
                  <a:txBody>
                    <a:bodyPr/>
                    <a:lstStyle/>
                    <a:p>
                      <a:r>
                        <a:rPr sz="1300" b="0">
                          <a:solidFill>
                            <a:srgbClr val="1F2937"/>
                          </a:solidFill>
                        </a:rPr>
                        <a:t>O‘z-o‘zini o‘ldirish</a:t>
                      </a:r>
                    </a:p>
                  </a:txBody>
                  <a:tcPr marL="73152" marR="73152" marT="36576" marB="36576">
                    <a:solidFill>
                      <a:srgbClr val="FFFFFF"/>
                    </a:solidFill>
                  </a:tcPr>
                </a:tc>
                <a:tc>
                  <a:txBody>
                    <a:bodyPr/>
                    <a:lstStyle/>
                    <a:p>
                      <a:r>
                        <a:rPr sz="1300" b="0">
                          <a:solidFill>
                            <a:srgbClr val="1F2937"/>
                          </a:solidFill>
                        </a:rPr>
                        <a:t>Ikkinchi o‘rinda</a:t>
                      </a:r>
                    </a:p>
                  </a:txBody>
                  <a:tcPr marL="73152" marR="73152" marT="36576" marB="36576">
                    <a:solidFill>
                      <a:srgbClr val="FFFFFF"/>
                    </a:solidFill>
                  </a:tcPr>
                </a:tc>
              </a:tr>
              <a:tr h="411480">
                <a:tc>
                  <a:txBody>
                    <a:bodyPr/>
                    <a:lstStyle/>
                    <a:p>
                      <a:r>
                        <a:rPr sz="1300" b="0">
                          <a:solidFill>
                            <a:srgbClr val="1F2937"/>
                          </a:solidFill>
                        </a:rPr>
                        <a:t>Qotillik</a:t>
                      </a:r>
                    </a:p>
                  </a:txBody>
                  <a:tcPr marL="73152" marR="73152" marT="36576" marB="36576">
                    <a:solidFill>
                      <a:srgbClr val="E8EEF6"/>
                    </a:solidFill>
                  </a:tcPr>
                </a:tc>
                <a:tc>
                  <a:txBody>
                    <a:bodyPr/>
                    <a:lstStyle/>
                    <a:p>
                      <a:r>
                        <a:rPr sz="1300" b="0">
                          <a:solidFill>
                            <a:srgbClr val="1F2937"/>
                          </a:solidFill>
                        </a:rPr>
                        <a:t>Kamdan-kam uchraydi</a:t>
                      </a:r>
                    </a:p>
                  </a:txBody>
                  <a:tcPr marL="73152" marR="73152" marT="36576" marB="36576">
                    <a:solidFill>
                      <a:srgbClr val="E8EEF6"/>
                    </a:solidFill>
                  </a:tcPr>
                </a:tc>
              </a:tr>
              <a:tr h="411480">
                <a:tc>
                  <a:txBody>
                    <a:bodyPr/>
                    <a:lstStyle/>
                    <a:p>
                      <a:r>
                        <a:rPr sz="1300" b="0">
                          <a:solidFill>
                            <a:srgbClr val="1F2937"/>
                          </a:solidFill>
                        </a:rPr>
                        <a:t>Yatrogen holat</a:t>
                      </a:r>
                    </a:p>
                  </a:txBody>
                  <a:tcPr marL="73152" marR="73152" marT="36576" marB="36576">
                    <a:solidFill>
                      <a:srgbClr val="FFFFFF"/>
                    </a:solidFill>
                  </a:tcPr>
                </a:tc>
                <a:tc>
                  <a:txBody>
                    <a:bodyPr/>
                    <a:lstStyle/>
                    <a:p>
                      <a:r>
                        <a:rPr sz="1300" b="0">
                          <a:solidFill>
                            <a:srgbClr val="1F2937"/>
                          </a:solidFill>
                        </a:rPr>
                        <a:t>Tasodifiy zaharlanishning bir ko‘rinishi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 va uchrashi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yatrogen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kasalxonada bemorga dori yuborilgan, lekin dozani belgilashda xato qilingan yoki bir dori o‘rniga boshqasi qo‘llangan.</a:t>
            </a:r>
          </a:p>
          <a:p>
            <a:pPr>
              <a:spcAft>
                <a:spcPts val="1200"/>
              </a:spcAft>
            </a:pPr>
            <a:r>
              <a:rPr sz="2200">
                <a:solidFill>
                  <a:srgbClr val="1F2937"/>
                </a:solidFill>
                <a:latin typeface="Calibri"/>
              </a:rPr>
              <a:t>▸  Savol 1: bu zaharlanish qotillik, o‘z-o‘zini o‘ldirish va baxtsiz hodisadan qaysi biriga kiradi va nega?</a:t>
            </a:r>
          </a:p>
          <a:p>
            <a:pPr>
              <a:spcAft>
                <a:spcPts val="1200"/>
              </a:spcAft>
            </a:pPr>
            <a:r>
              <a:rPr sz="2200">
                <a:solidFill>
                  <a:srgbClr val="1F2937"/>
                </a:solidFill>
                <a:latin typeface="Calibri"/>
              </a:rPr>
              <a:t>▸  Savol 2: bunday holatda zahar qasddan berilganmi yoki tasodifanmi? Javobingizni tafsilotga tayanib asoslang.</a:t>
            </a:r>
          </a:p>
          <a:p>
            <a:pPr>
              <a:spcAft>
                <a:spcPts val="1200"/>
              </a:spcAft>
            </a:pPr>
            <a:r>
              <a:rPr sz="2200">
                <a:solidFill>
                  <a:srgbClr val="1F2937"/>
                </a:solidFill>
                <a:latin typeface="Calibri"/>
              </a:rPr>
              <a:t>▸  Diqqat: xato qilish xavfi. Yatrogen zaharlanish tibbiy muolaja paytidagi tasodifiy xato bo‘lib, qasddan zaharlash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 organizm, kirish yo‘li va tashqi sharoit.</a:t>
            </a:r>
          </a:p>
          <a:p>
            <a:pPr>
              <a:spcAft>
                <a:spcPts val="800"/>
              </a:spcAft>
            </a:pPr>
            <a:r>
              <a:rPr sz="1800">
                <a:solidFill>
                  <a:srgbClr val="1F2937"/>
                </a:solidFill>
                <a:latin typeface="Calibri"/>
              </a:rPr>
              <a:t>▸  Zahar qonga qanchalik tez va to‘liq o‘tsa, toksik ta’sir darajasi shunchalik yuqori bo‘ladi.</a:t>
            </a:r>
          </a:p>
          <a:p>
            <a:pPr>
              <a:spcAft>
                <a:spcPts val="800"/>
              </a:spcAft>
            </a:pPr>
            <a:r>
              <a:rPr sz="1800">
                <a:solidFill>
                  <a:srgbClr val="1F2937"/>
                </a:solidFill>
                <a:latin typeface="Calibri"/>
              </a:rPr>
              <a:t>▸  Diqqat: tuzilishi o‘xshash moddalar (is gazi, karbonat angidrid) toksik xususiyati jihatidan bir xil emas.</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19647"/>
                <a:gridCol w="2299119"/>
                <a:gridCol w="2069207"/>
              </a:tblGrid>
              <a:tr h="411480">
                <a:tc>
                  <a:txBody>
                    <a:bodyPr/>
                    <a:lstStyle/>
                    <a:p>
                      <a:r>
                        <a:rPr sz="1300" b="1">
                          <a:solidFill>
                            <a:srgbClr val="FFFFFF"/>
                          </a:solidFill>
                        </a:rPr>
                        <a:t>Omil</a:t>
                      </a:r>
                    </a:p>
                  </a:txBody>
                  <a:tcPr marL="73152" marR="73152" marT="36576" marB="36576">
                    <a:solidFill>
                      <a:srgbClr val="0B1F3A"/>
                    </a:solidFill>
                  </a:tcPr>
                </a:tc>
                <a:tc>
                  <a:txBody>
                    <a:bodyPr/>
                    <a:lstStyle/>
                    <a:p>
                      <a:r>
                        <a:rPr sz="1300" b="1">
                          <a:solidFill>
                            <a:srgbClr val="FFFFFF"/>
                          </a:solidFill>
                        </a:rPr>
                        <a:t>Nimaga bog‘liq</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Zahar</a:t>
                      </a:r>
                    </a:p>
                  </a:txBody>
                  <a:tcPr marL="73152" marR="73152" marT="36576" marB="36576">
                    <a:solidFill>
                      <a:srgbClr val="E8EEF6"/>
                    </a:solidFill>
                  </a:tcPr>
                </a:tc>
                <a:tc>
                  <a:txBody>
                    <a:bodyPr/>
                    <a:lstStyle/>
                    <a:p>
                      <a:r>
                        <a:rPr sz="1200" b="0">
                          <a:solidFill>
                            <a:srgbClr val="1F2937"/>
                          </a:solidFill>
                        </a:rPr>
                        <a:t>Tuzilishi, miqdori, eruvchanligi</a:t>
                      </a:r>
                    </a:p>
                  </a:txBody>
                  <a:tcPr marL="73152" marR="73152" marT="36576" marB="36576">
                    <a:solidFill>
                      <a:srgbClr val="E8EEF6"/>
                    </a:solidFill>
                  </a:tcPr>
                </a:tc>
                <a:tc>
                  <a:txBody>
                    <a:bodyPr/>
                    <a:lstStyle/>
                    <a:p>
                      <a:r>
                        <a:rPr sz="1200" b="0">
                          <a:solidFill>
                            <a:srgbClr val="1F2937"/>
                          </a:solidFill>
                        </a:rPr>
                        <a:t>3% sirka ≠ sirka essensiyasi</a:t>
                      </a:r>
                    </a:p>
                  </a:txBody>
                  <a:tcPr marL="73152" marR="73152" marT="36576" marB="36576">
                    <a:solidFill>
                      <a:srgbClr val="E8EEF6"/>
                    </a:solidFill>
                  </a:tcPr>
                </a:tc>
              </a:tr>
              <a:tr h="411480">
                <a:tc>
                  <a:txBody>
                    <a:bodyPr/>
                    <a:lstStyle/>
                    <a:p>
                      <a:r>
                        <a:rPr sz="1200" b="0">
                          <a:solidFill>
                            <a:srgbClr val="1F2937"/>
                          </a:solidFill>
                        </a:rPr>
                        <a:t>Organizm</a:t>
                      </a:r>
                    </a:p>
                  </a:txBody>
                  <a:tcPr marL="73152" marR="73152" marT="36576" marB="36576">
                    <a:solidFill>
                      <a:srgbClr val="FFFFFF"/>
                    </a:solidFill>
                  </a:tcPr>
                </a:tc>
                <a:tc>
                  <a:txBody>
                    <a:bodyPr/>
                    <a:lstStyle/>
                    <a:p>
                      <a:r>
                        <a:rPr sz="1200" b="0">
                          <a:solidFill>
                            <a:srgbClr val="1F2937"/>
                          </a:solidFill>
                        </a:rPr>
                        <a:t>Vazn, yosh, salomatlik, genetika</a:t>
                      </a:r>
                    </a:p>
                  </a:txBody>
                  <a:tcPr marL="73152" marR="73152" marT="36576" marB="36576">
                    <a:solidFill>
                      <a:srgbClr val="FFFFFF"/>
                    </a:solidFill>
                  </a:tcPr>
                </a:tc>
                <a:tc>
                  <a:txBody>
                    <a:bodyPr/>
                    <a:lstStyle/>
                    <a:p>
                      <a:r>
                        <a:rPr sz="1200" b="0">
                          <a:solidFill>
                            <a:srgbClr val="1F2937"/>
                          </a:solidFill>
                        </a:rPr>
                        <a:t>Bolalar kattalardan sezgirroq</a:t>
                      </a:r>
                    </a:p>
                  </a:txBody>
                  <a:tcPr marL="73152" marR="73152" marT="36576" marB="36576">
                    <a:solidFill>
                      <a:srgbClr val="FFFFFF"/>
                    </a:solidFill>
                  </a:tcPr>
                </a:tc>
              </a:tr>
              <a:tr h="411480">
                <a:tc>
                  <a:txBody>
                    <a:bodyPr/>
                    <a:lstStyle/>
                    <a:p>
                      <a:r>
                        <a:rPr sz="1200" b="0">
                          <a:solidFill>
                            <a:srgbClr val="1F2937"/>
                          </a:solidFill>
                        </a:rPr>
                        <a:t>Kirish yo‘li</a:t>
                      </a:r>
                    </a:p>
                  </a:txBody>
                  <a:tcPr marL="73152" marR="73152" marT="36576" marB="36576">
                    <a:solidFill>
                      <a:srgbClr val="E8EEF6"/>
                    </a:solidFill>
                  </a:tcPr>
                </a:tc>
                <a:tc>
                  <a:txBody>
                    <a:bodyPr/>
                    <a:lstStyle/>
                    <a:p>
                      <a:r>
                        <a:rPr sz="1200" b="0">
                          <a:solidFill>
                            <a:srgbClr val="1F2937"/>
                          </a:solidFill>
                        </a:rPr>
                        <a:t>Teri, og‘iz, nafas, to‘g‘ri ichak, in’eksiya</a:t>
                      </a:r>
                    </a:p>
                  </a:txBody>
                  <a:tcPr marL="73152" marR="73152" marT="36576" marB="36576">
                    <a:solidFill>
                      <a:srgbClr val="E8EEF6"/>
                    </a:solidFill>
                  </a:tcPr>
                </a:tc>
                <a:tc>
                  <a:txBody>
                    <a:bodyPr/>
                    <a:lstStyle/>
                    <a:p>
                      <a:r>
                        <a:rPr sz="1200" b="0">
                          <a:solidFill>
                            <a:srgbClr val="1F2937"/>
                          </a:solidFill>
                        </a:rPr>
                        <a:t>Qonga tez o‘tsa, ta’sir kuchli</a:t>
                      </a:r>
                    </a:p>
                  </a:txBody>
                  <a:tcPr marL="73152" marR="73152" marT="36576" marB="36576">
                    <a:solidFill>
                      <a:srgbClr val="E8EEF6"/>
                    </a:solidFill>
                  </a:tcPr>
                </a:tc>
              </a:tr>
              <a:tr h="411480">
                <a:tc>
                  <a:txBody>
                    <a:bodyPr/>
                    <a:lstStyle/>
                    <a:p>
                      <a:r>
                        <a:rPr sz="1200" b="0">
                          <a:solidFill>
                            <a:srgbClr val="1F2937"/>
                          </a:solidFill>
                        </a:rPr>
                        <a:t>Tashqi sharoit</a:t>
                      </a:r>
                    </a:p>
                  </a:txBody>
                  <a:tcPr marL="73152" marR="73152" marT="36576" marB="36576">
                    <a:solidFill>
                      <a:srgbClr val="FFFFFF"/>
                    </a:solidFill>
                  </a:tcPr>
                </a:tc>
                <a:tc>
                  <a:txBody>
                    <a:bodyPr/>
                    <a:lstStyle/>
                    <a:p>
                      <a:r>
                        <a:rPr sz="1200" b="0">
                          <a:solidFill>
                            <a:srgbClr val="1F2937"/>
                          </a:solidFill>
                        </a:rPr>
                        <a:t>Yopiq muhit, harorat, namlik</a:t>
                      </a:r>
                    </a:p>
                  </a:txBody>
                  <a:tcPr marL="73152" marR="73152" marT="36576" marB="36576">
                    <a:solidFill>
                      <a:srgbClr val="FFFFFF"/>
                    </a:solidFill>
                  </a:tcPr>
                </a:tc>
                <a:tc>
                  <a:txBody>
                    <a:bodyPr/>
                    <a:lstStyle/>
                    <a:p>
                      <a:r>
                        <a:rPr sz="1200" b="0">
                          <a:solidFill>
                            <a:srgbClr val="1F2937"/>
                          </a:solidFill>
                        </a:rPr>
                        <a:t>Alkogol va is gazida moyillik oshadi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 omil</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134, 132-133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Kimyoviy tuzilish xususiyatni belgilaydi: is gazi va karbonat angidrid ikkalasi ham uglerod va kisloroddan iborat, lekin zaharliligi bir xil emas.</a:t>
            </a:r>
          </a:p>
          <a:p>
            <a:pPr>
              <a:spcAft>
                <a:spcPts val="1200"/>
              </a:spcAft>
            </a:pPr>
            <a:r>
              <a:rPr sz="2000">
                <a:solidFill>
                  <a:srgbClr val="1F2937"/>
                </a:solidFill>
                <a:latin typeface="Calibri"/>
              </a:rPr>
              <a:t>▸  Doza va konsentratsiya muhim: 3% sirka kislota bilan sirka essensiyasini taqqoslab bo‘lmaydi. Konsentrlangan fenol kuydiradi, suyultirilgani rezorbtiv ta’sir qiladi.</a:t>
            </a:r>
          </a:p>
          <a:p>
            <a:pPr>
              <a:spcAft>
                <a:spcPts val="1200"/>
              </a:spcAft>
            </a:pPr>
            <a:r>
              <a:rPr sz="2000">
                <a:solidFill>
                  <a:srgbClr val="1F2937"/>
                </a:solidFill>
                <a:latin typeface="Calibri"/>
              </a:rPr>
              <a:t>▸  Gaz suyuqlikdan, suyuqlik qattiq moddadan kuchliroq ta’sir qiladi, chunki tezroq qonga o‘tadi. Bariy sulfat erimaydi, bariy xlorid esa eriydi va kuchli zahar.</a:t>
            </a:r>
          </a:p>
          <a:p>
            <a:pPr>
              <a:spcAft>
                <a:spcPts val="1200"/>
              </a:spcAft>
            </a:pPr>
            <a:r>
              <a:rPr sz="2000">
                <a:solidFill>
                  <a:srgbClr val="1F2937"/>
                </a:solidFill>
                <a:latin typeface="Calibri"/>
              </a:rPr>
              <a:t>▸  Vexikulum (ichimlik, ovqat) ta’sirni o‘zgartiradi: margimush ishqoriy muhitda kuchayadi, sianid kislotali muhitda. Og‘ir metallar organizmda kumulyatsiya (to‘planish)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132-133, 133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Vazn: bir xil miqdordagi zahar turli vaznli odamlarda bir xil ta’sir qilmaydi. Shuning uchun dori dozasi 1 kg vaznga hisoblanadi.</a:t>
            </a:r>
          </a:p>
          <a:p>
            <a:pPr>
              <a:spcAft>
                <a:spcPts val="1200"/>
              </a:spcAft>
            </a:pPr>
            <a:r>
              <a:rPr sz="2000">
                <a:solidFill>
                  <a:srgbClr val="1F2937"/>
                </a:solidFill>
                <a:latin typeface="Calibri"/>
              </a:rPr>
              <a:t>▸  Jins bo‘yicha toksik ta’sirda farq bo‘lmaydi, lekin homiladorlikda ayollar sezgirroq. Bolalar kattalardan sezgir: vazni kichik, qarshilik tizimi to‘liq shakllanmagan.</a:t>
            </a:r>
          </a:p>
          <a:p>
            <a:pPr>
              <a:spcAft>
                <a:spcPts val="1200"/>
              </a:spcAft>
            </a:pPr>
            <a:r>
              <a:rPr sz="2000">
                <a:solidFill>
                  <a:srgbClr val="1F2937"/>
                </a:solidFill>
                <a:latin typeface="Calibri"/>
              </a:rPr>
              <a:t>▸  Sog‘lom organizm kuchliroq qarshilik qiladi; yurak, jigar, buyrak kasalligida u cheklanadi. Genetik xususiyat (xolinesteraza pastligi) va idiosinkraziya ham sezgirlikni o‘zgartiradi.</a:t>
            </a:r>
          </a:p>
          <a:p>
            <a:pPr>
              <a:spcAft>
                <a:spcPts val="1200"/>
              </a:spcAft>
            </a:pPr>
            <a:r>
              <a:rPr sz="2000">
                <a:solidFill>
                  <a:srgbClr val="1F2937"/>
                </a:solidFill>
                <a:latin typeface="Calibri"/>
              </a:rPr>
              <a:t>▸  Takroriy ta’sirda tolerantlik (o‘rganib qolish) rivojlanadi. Giyohvand moddalarda ruhiy va jismoniy bog‘liqlik paydo bo‘ladi, qabul qilinmasa abstinensiya sindromi kuzatiladi.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yo‘llari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teri, og‘iz, nafas yo‘llari, to‘g‘ri ichak yoki in’eksiya orqali kiradi. Qonga qancha tez va to‘liq o‘tsa, ta’siri shuncha kuchli bo‘ladi.</a:t>
            </a:r>
          </a:p>
          <a:p>
            <a:pPr>
              <a:spcAft>
                <a:spcPts val="1200"/>
              </a:spcAft>
            </a:pPr>
            <a:r>
              <a:rPr sz="2000">
                <a:solidFill>
                  <a:srgbClr val="1F2937"/>
                </a:solidFill>
                <a:latin typeface="Calibri"/>
              </a:rPr>
              <a:t>▸  Suvda va yog‘da erimaydigan moddalar faqat mahalliy ta’sir qiladi. Yog‘da yaxshi eriydigan fosfororganik birikmalar shikastlanmagan teri orqali ham so‘riladi.</a:t>
            </a:r>
          </a:p>
          <a:p>
            <a:pPr>
              <a:spcAft>
                <a:spcPts val="1200"/>
              </a:spcAft>
            </a:pPr>
            <a:r>
              <a:rPr sz="2000">
                <a:solidFill>
                  <a:srgbClr val="1F2937"/>
                </a:solidFill>
                <a:latin typeface="Calibri"/>
              </a:rPr>
              <a:t>▸  Nafas yo‘llari, to‘g‘ri ichak va qin shilliq qavatidan so‘rilgan modda jigardan o‘tmaydi, shuning uchun oshqozon-ichakdan so‘rilganiga qaraganda kuchliroq ta’sir qiladi.</a:t>
            </a:r>
          </a:p>
          <a:p>
            <a:pPr>
              <a:spcAft>
                <a:spcPts val="1200"/>
              </a:spcAft>
            </a:pPr>
            <a:r>
              <a:rPr sz="2000">
                <a:solidFill>
                  <a:srgbClr val="1F2937"/>
                </a:solidFill>
                <a:latin typeface="Calibri"/>
              </a:rPr>
              <a:t>▸  Yopiq, issiq va nam muhit alkogol va is gazi bilan zaharlanishga moyillik yaratadi. Ochiq muhit va past harorat ta’sirni susaytiradi. Vodorod sulfid kanalizatsiya quduqlarida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134-135, 135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zaharlanish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bariy sulfat suvda erimaydi, shuning uchun rentgenda butqa sifatida ishlatiladi. Bariy xlorid esa suvda eriydi va kuchli zahar. Farqni nima belgilaydi?</a:t>
            </a:r>
          </a:p>
          <a:p>
            <a:pPr>
              <a:spcAft>
                <a:spcPts val="1200"/>
              </a:spcAft>
            </a:pPr>
            <a:r>
              <a:rPr sz="2200">
                <a:solidFill>
                  <a:srgbClr val="1F2937"/>
                </a:solidFill>
                <a:latin typeface="Calibri"/>
              </a:rPr>
              <a:t>▸  Diqqat: xato qilish xavfi! Bariy sulfat ≠ bariy xlorid. Nomi o‘xshash bo‘lsa ham, toksikligi eruvchanlikka bog‘liq.</a:t>
            </a:r>
          </a:p>
          <a:p>
            <a:pPr>
              <a:spcAft>
                <a:spcPts val="1200"/>
              </a:spcAft>
            </a:pPr>
            <a:r>
              <a:rPr sz="2200">
                <a:solidFill>
                  <a:srgbClr val="1F2937"/>
                </a:solidFill>
                <a:latin typeface="Calibri"/>
              </a:rPr>
              <a:t>▸  Savol: 3% sirka kislota eritmasi bilan sirka essensiyasining ta’sirini taqqoslash mumkinmi? Javob: yo‘q, ta’sir konsentratsiyaga qarab farqlanadi.</a:t>
            </a:r>
          </a:p>
          <a:p>
            <a:pPr>
              <a:spcAft>
                <a:spcPts val="1200"/>
              </a:spcAft>
            </a:pPr>
            <a:r>
              <a:rPr sz="2200">
                <a:solidFill>
                  <a:srgbClr val="1F2937"/>
                </a:solidFill>
                <a:latin typeface="Calibri"/>
              </a:rPr>
              <a:t>▸  Savol: is gazi va karbonat angidrid ikkalasi ham uglerod va kislorod atomlaridan iborat. Nima uchun toksikligi bir xil emas? Gap kimyoviy tuzilishda.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 132-133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diagnostikaning uch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mutaxassis ishtirokida ko‘riladi, tibbiy hujjatlar va katamnez o‘rganiladi.</a:t>
            </a:r>
          </a:p>
          <a:p>
            <a:pPr>
              <a:spcAft>
                <a:spcPts val="800"/>
              </a:spcAft>
            </a:pPr>
            <a:r>
              <a:rPr sz="1800">
                <a:solidFill>
                  <a:srgbClr val="1F2937"/>
                </a:solidFill>
                <a:latin typeface="Calibri"/>
              </a:rPr>
              <a:t>▸  2-bosqich: murdaning tashqi va ichki tekshiruvida zaharlanishni tasdiqlovchi dalillar olinadi.</a:t>
            </a:r>
          </a:p>
          <a:p>
            <a:pPr>
              <a:spcAft>
                <a:spcPts val="800"/>
              </a:spcAft>
            </a:pPr>
            <a:r>
              <a:rPr sz="1800">
                <a:solidFill>
                  <a:srgbClr val="1F2937"/>
                </a:solidFill>
                <a:latin typeface="Calibri"/>
              </a:rPr>
              <a:t>▸  3-bosqich: qo‘shimcha laboratoriya tekshiruvlari o‘tkaziladi; eng ko‘p sud-kimyoviy (toksikologik) tekshiruv qilinadi.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va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Murdani tekshirish</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bosqichlari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136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belgilari va “uch nuqta”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Ichki a’zolardan hid: sianidlarda achchiq bodom hidi, sirka kislotasida o‘tkir spetsifik hid.</a:t>
            </a:r>
          </a:p>
          <a:p>
            <a:pPr>
              <a:spcAft>
                <a:spcPts val="800"/>
              </a:spcAft>
            </a:pPr>
            <a:r>
              <a:rPr sz="1800">
                <a:solidFill>
                  <a:srgbClr val="1F2937"/>
                </a:solidFill>
                <a:latin typeface="Calibri"/>
              </a:rPr>
              <a:t>▸  Mushak qotishi: strixninda tez va kuchli; xloral gidrat, kurare, miorelaksantlarda sust va kuchsiz.</a:t>
            </a:r>
          </a:p>
          <a:p>
            <a:pPr>
              <a:spcAft>
                <a:spcPts val="800"/>
              </a:spcAft>
            </a:pPr>
            <a:r>
              <a:rPr sz="1800">
                <a:solidFill>
                  <a:srgbClr val="1F2937"/>
                </a:solidFill>
                <a:latin typeface="Calibri"/>
              </a:rPr>
              <a:t>▸  “Uch nuqta”: namuna zahar kirgan, asosan ta’sir etgan va chiqqan joydan olinadi: oshqozon massasi, jigar, buyrak.</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214259"/>
                <a:gridCol w="2073715"/>
              </a:tblGrid>
              <a:tr h="411480">
                <a:tc>
                  <a:txBody>
                    <a:bodyPr/>
                    <a:lstStyle/>
                    <a:p>
                      <a:r>
                        <a:rPr sz="1400" b="1">
                          <a:solidFill>
                            <a:srgbClr val="FFFFFF"/>
                          </a:solidFill>
                        </a:rPr>
                        <a:t>Zahar</a:t>
                      </a:r>
                    </a:p>
                  </a:txBody>
                  <a:tcPr marL="73152" marR="73152" marT="36576" marB="36576">
                    <a:solidFill>
                      <a:srgbClr val="0B1F3A"/>
                    </a:solidFill>
                  </a:tcPr>
                </a:tc>
                <a:tc>
                  <a:txBody>
                    <a:bodyPr/>
                    <a:lstStyle/>
                    <a:p>
                      <a:r>
                        <a:rPr sz="1400" b="1">
                          <a:solidFill>
                            <a:srgbClr val="FFFFFF"/>
                          </a:solidFill>
                        </a:rPr>
                        <a:t>Dog‘lar rangi</a:t>
                      </a:r>
                    </a:p>
                  </a:txBody>
                  <a:tcPr marL="73152" marR="73152" marT="36576" marB="36576">
                    <a:solidFill>
                      <a:srgbClr val="0B1F3A"/>
                    </a:solidFill>
                  </a:tcPr>
                </a:tc>
              </a:tr>
              <a:tr h="411480">
                <a:tc>
                  <a:txBody>
                    <a:bodyPr/>
                    <a:lstStyle/>
                    <a:p>
                      <a:r>
                        <a:rPr sz="1300" b="0">
                          <a:solidFill>
                            <a:srgbClr val="1F2937"/>
                          </a:solidFill>
                        </a:rPr>
                        <a:t>Is gazi</a:t>
                      </a:r>
                    </a:p>
                  </a:txBody>
                  <a:tcPr marL="73152" marR="73152" marT="36576" marB="36576">
                    <a:solidFill>
                      <a:srgbClr val="E8EEF6"/>
                    </a:solidFill>
                  </a:tcPr>
                </a:tc>
                <a:tc>
                  <a:txBody>
                    <a:bodyPr/>
                    <a:lstStyle/>
                    <a:p>
                      <a:r>
                        <a:rPr sz="1300" b="0">
                          <a:solidFill>
                            <a:srgbClr val="1F2937"/>
                          </a:solidFill>
                        </a:rPr>
                        <a:t>Pushti</a:t>
                      </a:r>
                    </a:p>
                  </a:txBody>
                  <a:tcPr marL="73152" marR="73152" marT="36576" marB="36576">
                    <a:solidFill>
                      <a:srgbClr val="E8EEF6"/>
                    </a:solidFill>
                  </a:tcPr>
                </a:tc>
              </a:tr>
              <a:tr h="411480">
                <a:tc>
                  <a:txBody>
                    <a:bodyPr/>
                    <a:lstStyle/>
                    <a:p>
                      <a:r>
                        <a:rPr sz="1300" b="0">
                          <a:solidFill>
                            <a:srgbClr val="1F2937"/>
                          </a:solidFill>
                        </a:rPr>
                        <a:t>Sianidlar</a:t>
                      </a:r>
                    </a:p>
                  </a:txBody>
                  <a:tcPr marL="73152" marR="73152" marT="36576" marB="36576">
                    <a:solidFill>
                      <a:srgbClr val="FFFFFF"/>
                    </a:solidFill>
                  </a:tcPr>
                </a:tc>
                <a:tc>
                  <a:txBody>
                    <a:bodyPr/>
                    <a:lstStyle/>
                    <a:p>
                      <a:r>
                        <a:rPr sz="1300" b="0">
                          <a:solidFill>
                            <a:srgbClr val="1F2937"/>
                          </a:solidFill>
                        </a:rPr>
                        <a:t>Yorqin olcha rang</a:t>
                      </a:r>
                    </a:p>
                  </a:txBody>
                  <a:tcPr marL="73152" marR="73152" marT="36576" marB="36576">
                    <a:solidFill>
                      <a:srgbClr val="FFFFFF"/>
                    </a:solidFill>
                  </a:tcPr>
                </a:tc>
              </a:tr>
              <a:tr h="411480">
                <a:tc>
                  <a:txBody>
                    <a:bodyPr/>
                    <a:lstStyle/>
                    <a:p>
                      <a:r>
                        <a:rPr sz="1300" b="0">
                          <a:solidFill>
                            <a:srgbClr val="1F2937"/>
                          </a:solidFill>
                        </a:rPr>
                        <a:t>Metgemoglobin hosil qiluvchilar</a:t>
                      </a:r>
                    </a:p>
                  </a:txBody>
                  <a:tcPr marL="73152" marR="73152" marT="36576" marB="36576">
                    <a:solidFill>
                      <a:srgbClr val="E8EEF6"/>
                    </a:solidFill>
                  </a:tcPr>
                </a:tc>
                <a:tc>
                  <a:txBody>
                    <a:bodyPr/>
                    <a:lstStyle/>
                    <a:p>
                      <a:r>
                        <a:rPr sz="1300" b="0">
                          <a:solidFill>
                            <a:srgbClr val="1F2937"/>
                          </a:solidFill>
                        </a:rPr>
                        <a:t>Jigar rang, qo‘ng‘ir</a:t>
                      </a:r>
                    </a:p>
                  </a:txBody>
                  <a:tcPr marL="73152" marR="73152" marT="36576" marB="36576">
                    <a:solidFill>
                      <a:srgbClr val="E8EEF6"/>
                    </a:solidFill>
                  </a:tcPr>
                </a:tc>
              </a:tr>
              <a:tr h="411480">
                <a:tc>
                  <a:txBody>
                    <a:bodyPr/>
                    <a:lstStyle/>
                    <a:p>
                      <a:r>
                        <a:rPr sz="1300" b="0">
                          <a:solidFill>
                            <a:srgbClr val="1F2937"/>
                          </a:solidFill>
                        </a:rPr>
                        <a:t>Gemoliz chaqiruvchilar</a:t>
                      </a:r>
                    </a:p>
                  </a:txBody>
                  <a:tcPr marL="73152" marR="73152" marT="36576" marB="36576">
                    <a:solidFill>
                      <a:srgbClr val="FFFFFF"/>
                    </a:solidFill>
                  </a:tcPr>
                </a:tc>
                <a:tc>
                  <a:txBody>
                    <a:bodyPr/>
                    <a:lstStyle/>
                    <a:p>
                      <a:r>
                        <a:rPr sz="1300" b="0">
                          <a:solidFill>
                            <a:srgbClr val="1F2937"/>
                          </a:solidFill>
                        </a:rPr>
                        <a:t>Sargimtir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 dog‘lari rangi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zaharlanish diagnostikasi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yorqin olcha rangli dog‘lar bilan topildi, ichki a’zolardan achchiq bodom hidi keladi. Qaysi zahardan gumon qilinadi?</a:t>
            </a:r>
          </a:p>
          <a:p>
            <a:pPr>
              <a:spcAft>
                <a:spcPts val="1200"/>
              </a:spcAft>
            </a:pPr>
            <a:r>
              <a:rPr sz="2200">
                <a:solidFill>
                  <a:srgbClr val="1F2937"/>
                </a:solidFill>
                <a:latin typeface="Calibri"/>
              </a:rPr>
              <a:t>▸  Dog‘ rangi bo‘yicha: is gazida pushti, sianidda olcha rang, metgemoglobin hosil qiluvchilarda qo‘ng‘ir, gemoliz chaqiruvchilarda sargimtir.</a:t>
            </a:r>
          </a:p>
          <a:p>
            <a:pPr>
              <a:spcAft>
                <a:spcPts val="1200"/>
              </a:spcAft>
            </a:pPr>
            <a:r>
              <a:rPr sz="2200">
                <a:solidFill>
                  <a:srgbClr val="1F2937"/>
                </a:solidFill>
                <a:latin typeface="Calibri"/>
              </a:rPr>
              <a:t>▸  Hid va mushak qotishi: sianidda achchiq bodom hidi, sirka kislotasida o‘tkir hid. Strixninda qotish tez va kuchli, kurare va miorelaksantlarda sust.</a:t>
            </a:r>
          </a:p>
          <a:p>
            <a:pPr>
              <a:spcAft>
                <a:spcPts val="1200"/>
              </a:spcAft>
            </a:pPr>
            <a:r>
              <a:rPr sz="2200">
                <a:solidFill>
                  <a:srgbClr val="1F2937"/>
                </a:solidFill>
                <a:latin typeface="Calibri"/>
              </a:rPr>
              <a:t>▸  Diqqat: xato qilish xavfi. Funksional zaharlarda ko‘pincha xos o‘zgarish topilmaydi. Rang va hid taxmin beradi, tasdiqni laboratoriya tekshiruvi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zahar organizmda qanday o‘zgaradi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 taqsimlanish, metabolizm, chiqarilish: zahar qonga qancha tez o‘tsa, ta’siri shuncha kuchli.</a:t>
            </a:r>
          </a:p>
          <a:p>
            <a:pPr>
              <a:spcAft>
                <a:spcPts val="800"/>
              </a:spcAft>
            </a:pPr>
            <a:r>
              <a:rPr sz="1800">
                <a:solidFill>
                  <a:srgbClr val="1F2937"/>
                </a:solidFill>
                <a:latin typeface="Calibri"/>
              </a:rPr>
              <a:t>▸  Biotransformatsiya oksidlanish, qaytarilish, gidroliz va sintez orqali, asosan jigarda boradi.</a:t>
            </a:r>
          </a:p>
          <a:p>
            <a:pPr>
              <a:spcAft>
                <a:spcPts val="800"/>
              </a:spcAft>
            </a:pPr>
            <a:r>
              <a:rPr sz="1800">
                <a:solidFill>
                  <a:srgbClr val="1F2937"/>
                </a:solidFill>
                <a:latin typeface="Calibri"/>
              </a:rPr>
              <a:t>▸  Metanol, etanol va etilenglikol oksidlanganda o‘zidan kuchliroq toksik metabolitlar hosil bo‘ladi.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387009"/>
                <a:gridCol w="1473697"/>
                <a:gridCol w="2427267"/>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Metabolit</a:t>
                      </a:r>
                    </a:p>
                  </a:txBody>
                  <a:tcPr marL="73152" marR="73152" marT="36576" marB="36576">
                    <a:solidFill>
                      <a:srgbClr val="0B1F3A"/>
                    </a:solidFill>
                  </a:tcPr>
                </a:tc>
                <a:tc>
                  <a:txBody>
                    <a:bodyPr/>
                    <a:lstStyle/>
                    <a:p>
                      <a:r>
                        <a:rPr sz="1300" b="1">
                          <a:solidFill>
                            <a:srgbClr val="FFFFFF"/>
                          </a:solidFill>
                        </a:rPr>
                        <a:t>Ta’siri</a:t>
                      </a:r>
                    </a:p>
                  </a:txBody>
                  <a:tcPr marL="73152" marR="73152" marT="36576" marB="36576">
                    <a:solidFill>
                      <a:srgbClr val="0B1F3A"/>
                    </a:solidFill>
                  </a:tcPr>
                </a:tc>
              </a:tr>
              <a:tr h="411480">
                <a:tc>
                  <a:txBody>
                    <a:bodyPr/>
                    <a:lstStyle/>
                    <a:p>
                      <a:r>
                        <a:rPr sz="1200" b="0">
                          <a:solidFill>
                            <a:srgbClr val="1F2937"/>
                          </a:solidFill>
                        </a:rPr>
                        <a:t>Metil spirti</a:t>
                      </a:r>
                    </a:p>
                  </a:txBody>
                  <a:tcPr marL="73152" marR="73152" marT="36576" marB="36576">
                    <a:solidFill>
                      <a:srgbClr val="E8EEF6"/>
                    </a:solidFill>
                  </a:tcPr>
                </a:tc>
                <a:tc>
                  <a:txBody>
                    <a:bodyPr/>
                    <a:lstStyle/>
                    <a:p>
                      <a:r>
                        <a:rPr sz="1200" b="0">
                          <a:solidFill>
                            <a:srgbClr val="1F2937"/>
                          </a:solidFill>
                        </a:rPr>
                        <a:t>Formaldegid</a:t>
                      </a:r>
                    </a:p>
                  </a:txBody>
                  <a:tcPr marL="73152" marR="73152" marT="36576" marB="36576">
                    <a:solidFill>
                      <a:srgbClr val="E8EEF6"/>
                    </a:solidFill>
                  </a:tcPr>
                </a:tc>
                <a:tc>
                  <a:txBody>
                    <a:bodyPr/>
                    <a:lstStyle/>
                    <a:p>
                      <a:r>
                        <a:rPr sz="1200" b="0">
                          <a:solidFill>
                            <a:srgbClr val="1F2937"/>
                          </a:solidFill>
                        </a:rPr>
                        <a:t>Kardio-, nefro-, neyrotoksik</a:t>
                      </a:r>
                    </a:p>
                  </a:txBody>
                  <a:tcPr marL="73152" marR="73152" marT="36576" marB="36576">
                    <a:solidFill>
                      <a:srgbClr val="E8EEF6"/>
                    </a:solidFill>
                  </a:tcPr>
                </a:tc>
              </a:tr>
              <a:tr h="411480">
                <a:tc>
                  <a:txBody>
                    <a:bodyPr/>
                    <a:lstStyle/>
                    <a:p>
                      <a:r>
                        <a:rPr sz="1200" b="0">
                          <a:solidFill>
                            <a:srgbClr val="1F2937"/>
                          </a:solidFill>
                        </a:rPr>
                        <a:t>Etil spirti</a:t>
                      </a:r>
                    </a:p>
                  </a:txBody>
                  <a:tcPr marL="73152" marR="73152" marT="36576" marB="36576">
                    <a:solidFill>
                      <a:srgbClr val="FFFFFF"/>
                    </a:solidFill>
                  </a:tcPr>
                </a:tc>
                <a:tc>
                  <a:txBody>
                    <a:bodyPr/>
                    <a:lstStyle/>
                    <a:p>
                      <a:r>
                        <a:rPr sz="1200" b="0">
                          <a:solidFill>
                            <a:srgbClr val="1F2937"/>
                          </a:solidFill>
                        </a:rPr>
                        <a:t>Atsetaldegid</a:t>
                      </a:r>
                    </a:p>
                  </a:txBody>
                  <a:tcPr marL="73152" marR="73152" marT="36576" marB="36576">
                    <a:solidFill>
                      <a:srgbClr val="FFFFFF"/>
                    </a:solidFill>
                  </a:tcPr>
                </a:tc>
                <a:tc>
                  <a:txBody>
                    <a:bodyPr/>
                    <a:lstStyle/>
                    <a:p>
                      <a:r>
                        <a:rPr sz="1200" b="0">
                          <a:solidFill>
                            <a:srgbClr val="1F2937"/>
                          </a:solidFill>
                        </a:rPr>
                        <a:t>Toksik, poxmele sindromi</a:t>
                      </a:r>
                    </a:p>
                  </a:txBody>
                  <a:tcPr marL="73152" marR="73152" marT="36576" marB="36576">
                    <a:solidFill>
                      <a:srgbClr val="FFFFFF"/>
                    </a:solidFill>
                  </a:tcPr>
                </a:tc>
              </a:tr>
              <a:tr h="411480">
                <a:tc>
                  <a:txBody>
                    <a:bodyPr/>
                    <a:lstStyle/>
                    <a:p>
                      <a:r>
                        <a:rPr sz="1200" b="0">
                          <a:solidFill>
                            <a:srgbClr val="1F2937"/>
                          </a:solidFill>
                        </a:rPr>
                        <a:t>Etilenglikol</a:t>
                      </a:r>
                    </a:p>
                  </a:txBody>
                  <a:tcPr marL="73152" marR="73152" marT="36576" marB="36576">
                    <a:solidFill>
                      <a:srgbClr val="E8EEF6"/>
                    </a:solidFill>
                  </a:tcPr>
                </a:tc>
                <a:tc>
                  <a:txBody>
                    <a:bodyPr/>
                    <a:lstStyle/>
                    <a:p>
                      <a:r>
                        <a:rPr sz="1200" b="0">
                          <a:solidFill>
                            <a:srgbClr val="1F2937"/>
                          </a:solidFill>
                        </a:rPr>
                        <a:t>Oksalat kislotasi</a:t>
                      </a:r>
                    </a:p>
                  </a:txBody>
                  <a:tcPr marL="73152" marR="73152" marT="36576" marB="36576">
                    <a:solidFill>
                      <a:srgbClr val="E8EEF6"/>
                    </a:solidFill>
                  </a:tcPr>
                </a:tc>
                <a:tc>
                  <a:txBody>
                    <a:bodyPr/>
                    <a:lstStyle/>
                    <a:p>
                      <a:r>
                        <a:rPr sz="1200" b="0">
                          <a:solidFill>
                            <a:srgbClr val="1F2937"/>
                          </a:solidFill>
                        </a:rPr>
                        <a:t>Gepato- va nefrotoksik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Spirtlar metabolitlari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Toksikodinamika — zahar bilan organizmning o‘zaro ta’sir mexanizmi. U organizmning zahar va metabolitlariga javob reaksiyalarini qamraydi.</a:t>
            </a:r>
          </a:p>
          <a:p>
            <a:pPr>
              <a:spcAft>
                <a:spcPts val="1200"/>
              </a:spcAft>
            </a:pPr>
            <a:r>
              <a:rPr sz="2200">
                <a:solidFill>
                  <a:srgbClr val="1F2937"/>
                </a:solidFill>
                <a:latin typeface="Calibri"/>
              </a:rPr>
              <a:t>▸  Ta’sir birlamchi, keyingi va metatoksik bo‘ladi. Sirka kislotasida: avval shilliq qavat kuyadi, so‘ng atsidozdan gemoliz, keyin toksik gepatit va nefroz.</a:t>
            </a:r>
          </a:p>
          <a:p>
            <a:pPr>
              <a:spcAft>
                <a:spcPts val="1200"/>
              </a:spcAft>
            </a:pPr>
            <a:r>
              <a:rPr sz="2200">
                <a:solidFill>
                  <a:srgbClr val="1F2937"/>
                </a:solidFill>
                <a:latin typeface="Calibri"/>
              </a:rPr>
              <a:t>▸  Etilenglikolning butun molekulasi narkotik, metaboliti oksalat kislotasi gepato- va nefrotoksik. Metanolda keyingi kardio-, nefro-, neyrotoksik o‘zgarishlar formaldegidga bog‘liq.</a:t>
            </a:r>
          </a:p>
          <a:p>
            <a:pPr>
              <a:spcAft>
                <a:spcPts val="1200"/>
              </a:spcAft>
            </a:pPr>
            <a:r>
              <a:rPr sz="2200">
                <a:solidFill>
                  <a:srgbClr val="1F2937"/>
                </a:solidFill>
                <a:latin typeface="Calibri"/>
              </a:rPr>
              <a:t>▸  Diqqat: toksikokinetika ≠ toksikodinamika. Birinchisi zaharning organizmdagi yo‘li, ikkinchisi organizmning zaharga javobi.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136-138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ta’sir etuvchilarga bo‘linadi.</a:t>
            </a:r>
          </a:p>
          <a:p>
            <a:pPr>
              <a:spcAft>
                <a:spcPts val="800"/>
              </a:spcAft>
            </a:pPr>
            <a:r>
              <a:rPr sz="1800">
                <a:solidFill>
                  <a:srgbClr val="1F2937"/>
                </a:solidFill>
                <a:latin typeface="Calibri"/>
              </a:rPr>
              <a:t>▸  Mahalliy zaharlar kontakt joyida nekroz chaqiradi; umumiylari qonga so‘rilgach ta’sir qiladi.</a:t>
            </a:r>
          </a:p>
          <a:p>
            <a:pPr>
              <a:spcAft>
                <a:spcPts val="800"/>
              </a:spcAft>
            </a:pPr>
            <a:r>
              <a:rPr sz="1800">
                <a:solidFill>
                  <a:srgbClr val="1F2937"/>
                </a:solidFill>
                <a:latin typeface="Calibri"/>
              </a:rPr>
              <a:t>▸  Umumiy (rezorbtiv) zaharlar destruktiv, qon va funksional zaharlarga ajraladi.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19368"/>
                <a:gridCol w="1911316"/>
                <a:gridCol w="2357290"/>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Asosiy ta’siri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Mahalliy</a:t>
                      </a:r>
                    </a:p>
                  </a:txBody>
                  <a:tcPr marL="73152" marR="73152" marT="36576" marB="36576">
                    <a:solidFill>
                      <a:srgbClr val="E8EEF6"/>
                    </a:solidFill>
                  </a:tcPr>
                </a:tc>
                <a:tc>
                  <a:txBody>
                    <a:bodyPr/>
                    <a:lstStyle/>
                    <a:p>
                      <a:r>
                        <a:rPr sz="1200" b="0">
                          <a:solidFill>
                            <a:srgbClr val="1F2937"/>
                          </a:solidFill>
                        </a:rPr>
                        <a:t>Kontakt joyida nekroz</a:t>
                      </a:r>
                    </a:p>
                  </a:txBody>
                  <a:tcPr marL="73152" marR="73152" marT="36576" marB="36576">
                    <a:solidFill>
                      <a:srgbClr val="E8EEF6"/>
                    </a:solidFill>
                  </a:tcPr>
                </a:tc>
                <a:tc>
                  <a:txBody>
                    <a:bodyPr/>
                    <a:lstStyle/>
                    <a:p>
                      <a:r>
                        <a:rPr sz="1200" b="0">
                          <a:solidFill>
                            <a:srgbClr val="1F2937"/>
                          </a:solidFill>
                        </a:rPr>
                        <a:t>Kislotalar, ishqorlar, yod tindirmasi</a:t>
                      </a:r>
                    </a:p>
                  </a:txBody>
                  <a:tcPr marL="73152" marR="73152" marT="36576" marB="36576">
                    <a:solidFill>
                      <a:srgbClr val="E8EEF6"/>
                    </a:solidFill>
                  </a:tcPr>
                </a:tc>
              </a:tr>
              <a:tr h="411480">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To‘qima strukturasi buziladi</a:t>
                      </a:r>
                    </a:p>
                  </a:txBody>
                  <a:tcPr marL="73152" marR="73152" marT="36576" marB="36576">
                    <a:solidFill>
                      <a:srgbClr val="FFFFFF"/>
                    </a:solidFill>
                  </a:tcPr>
                </a:tc>
                <a:tc>
                  <a:txBody>
                    <a:bodyPr/>
                    <a:lstStyle/>
                    <a:p>
                      <a:r>
                        <a:rPr sz="1200" b="0">
                          <a:solidFill>
                            <a:srgbClr val="1F2937"/>
                          </a:solidFill>
                        </a:rPr>
                        <a:t>Simob, qo‘rg‘oshin, margimush</a:t>
                      </a:r>
                    </a:p>
                  </a:txBody>
                  <a:tcPr marL="73152" marR="73152" marT="36576" marB="36576">
                    <a:solidFill>
                      <a:srgbClr val="FFFFFF"/>
                    </a:solidFill>
                  </a:tcPr>
                </a:tc>
              </a:tr>
              <a:tr h="411480">
                <a:tc>
                  <a:txBody>
                    <a:bodyPr/>
                    <a:lstStyle/>
                    <a:p>
                      <a:r>
                        <a:rPr sz="1200" b="0">
                          <a:solidFill>
                            <a:srgbClr val="1F2937"/>
                          </a:solidFill>
                        </a:rPr>
                        <a:t>Gemotrop</a:t>
                      </a:r>
                    </a:p>
                  </a:txBody>
                  <a:tcPr marL="73152" marR="73152" marT="36576" marB="36576">
                    <a:solidFill>
                      <a:srgbClr val="E8EEF6"/>
                    </a:solidFill>
                  </a:tcPr>
                </a:tc>
                <a:tc>
                  <a:txBody>
                    <a:bodyPr/>
                    <a:lstStyle/>
                    <a:p>
                      <a:r>
                        <a:rPr sz="1200" b="0">
                          <a:solidFill>
                            <a:srgbClr val="1F2937"/>
                          </a:solidFill>
                        </a:rPr>
                        <a:t>Qon tarkibi va xususiyati</a:t>
                      </a:r>
                    </a:p>
                  </a:txBody>
                  <a:tcPr marL="73152" marR="73152" marT="36576" marB="36576">
                    <a:solidFill>
                      <a:srgbClr val="E8EEF6"/>
                    </a:solidFill>
                  </a:tcPr>
                </a:tc>
                <a:tc>
                  <a:txBody>
                    <a:bodyPr/>
                    <a:lstStyle/>
                    <a:p>
                      <a:r>
                        <a:rPr sz="1200" b="0">
                          <a:solidFill>
                            <a:srgbClr val="1F2937"/>
                          </a:solidFill>
                        </a:rPr>
                        <a:t>Is gazi, arsin, dikumarin</a:t>
                      </a:r>
                    </a:p>
                  </a:txBody>
                  <a:tcPr marL="73152" marR="73152" marT="36576" marB="36576">
                    <a:solidFill>
                      <a:srgbClr val="E8EEF6"/>
                    </a:solidFill>
                  </a:tcPr>
                </a:tc>
              </a:tr>
              <a:tr h="411480">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Nerv tizimi faoliyati buziladi</a:t>
                      </a:r>
                    </a:p>
                  </a:txBody>
                  <a:tcPr marL="73152" marR="73152" marT="36576" marB="36576">
                    <a:solidFill>
                      <a:srgbClr val="FFFFFF"/>
                    </a:solidFill>
                  </a:tcPr>
                </a:tc>
                <a:tc>
                  <a:txBody>
                    <a:bodyPr/>
                    <a:lstStyle/>
                    <a:p>
                      <a:r>
                        <a:rPr sz="1200" b="0">
                          <a:solidFill>
                            <a:srgbClr val="1F2937"/>
                          </a:solidFill>
                        </a:rPr>
                        <a:t>Sianid, strixnin, etil spirti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(V.L. Popov bo‘yicha)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138-139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guruhchalari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Funksional zaharlar a’zo va to‘qimalar, avvalo markaziy nerv tizimi (MNT) va periferik nerv tizimi (PNT) faoliyatini buzadi.</a:t>
            </a:r>
          </a:p>
          <a:p>
            <a:pPr>
              <a:spcAft>
                <a:spcPts val="1200"/>
              </a:spcAft>
            </a:pPr>
            <a:r>
              <a:rPr sz="2200">
                <a:solidFill>
                  <a:srgbClr val="1F2937"/>
                </a:solidFill>
                <a:latin typeface="Calibri"/>
              </a:rPr>
              <a:t>▸  MNT ni falajlovchilar: sianidlar, fosfororganik birikmalar, vodorod sulfid.</a:t>
            </a:r>
          </a:p>
          <a:p>
            <a:pPr>
              <a:spcAft>
                <a:spcPts val="1200"/>
              </a:spcAft>
            </a:pPr>
            <a:r>
              <a:rPr sz="2200">
                <a:solidFill>
                  <a:srgbClr val="1F2937"/>
                </a:solidFill>
                <a:latin typeface="Calibri"/>
              </a:rPr>
              <a:t>▸  MNT ni qo‘zg‘atuvchilar qatorida talvasa chaqiruvchilar, kofein, amfetaminlar, kokain, opiatlar va anasha keltirilgan.</a:t>
            </a:r>
          </a:p>
          <a:p>
            <a:pPr>
              <a:spcAft>
                <a:spcPts val="1200"/>
              </a:spcAft>
            </a:pPr>
            <a:r>
              <a:rPr sz="2200">
                <a:solidFill>
                  <a:srgbClr val="1F2937"/>
                </a:solidFill>
                <a:latin typeface="Calibri"/>
              </a:rPr>
              <a:t>▸  Etil va boshqa spirtlar, barbituratlar, trankvilizatorlar MNT ni so‘ndiruvchilar; PNT ga xolinergik, adrenoergik, antixolinesteraza moddalar ta’sir 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139, 139-140, 140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simob, qo‘rg‘oshin va margimush qaysi guruhga kiradi? Javob: destruktiv zaharlar.</a:t>
            </a:r>
          </a:p>
          <a:p>
            <a:pPr>
              <a:spcAft>
                <a:spcPts val="1200"/>
              </a:spcAft>
            </a:pPr>
            <a:r>
              <a:rPr sz="2200">
                <a:solidFill>
                  <a:srgbClr val="1F2937"/>
                </a:solidFill>
                <a:latin typeface="Calibri"/>
              </a:rPr>
              <a:t>▸  Savol: strixnin va etil spirti MNT ga qanday ta’sir qiladi? Javob: birinchisi qo‘zg‘atadi, ikkinchisi so‘ndiradi.</a:t>
            </a:r>
          </a:p>
          <a:p>
            <a:pPr>
              <a:spcAft>
                <a:spcPts val="1200"/>
              </a:spcAft>
            </a:pPr>
            <a:r>
              <a:rPr sz="2200">
                <a:solidFill>
                  <a:srgbClr val="1F2937"/>
                </a:solidFill>
                <a:latin typeface="Calibri"/>
              </a:rPr>
              <a:t>▸  Savol: is gazi qaysi guruhchaga kiradi? Javob: gemotrop zaharlarning gemoglobinotrop turi.</a:t>
            </a:r>
          </a:p>
          <a:p>
            <a:pPr>
              <a:spcAft>
                <a:spcPts val="1200"/>
              </a:spcAft>
            </a:pPr>
            <a:r>
              <a:rPr sz="2200">
                <a:solidFill>
                  <a:srgbClr val="1F2937"/>
                </a:solidFill>
                <a:latin typeface="Calibri"/>
              </a:rPr>
              <a:t>▸  Diqqat: sirka kislotasi mahalliy zahar, lekin uning rezorbtiv gemolitik ta’siri ham kuchli (mahalliy ≠ faqat mahalliy).</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139, 139-140, 142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umumiy xususiyatlari va narkotik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 spirti rangsiz, tiniq, uchuvchan suyuqlik. O‘ziga xos hidi va kuydiruvchi mazasi bor.</a:t>
            </a:r>
          </a:p>
          <a:p>
            <a:pPr>
              <a:spcAft>
                <a:spcPts val="1200"/>
              </a:spcAft>
            </a:pPr>
            <a:r>
              <a:rPr sz="2200">
                <a:solidFill>
                  <a:srgbClr val="1F2937"/>
                </a:solidFill>
                <a:latin typeface="Calibri"/>
              </a:rPr>
              <a:t>▸  Narkotik ta’siri bosh miya po‘stlog‘ining tormozlanishiga bog‘liq. Po‘stloq osti markazlari nazoratdan chiqib, qo‘zg‘aladi.</a:t>
            </a:r>
          </a:p>
          <a:p>
            <a:pPr>
              <a:spcAft>
                <a:spcPts val="1200"/>
              </a:spcAft>
            </a:pPr>
            <a:r>
              <a:rPr sz="2200">
                <a:solidFill>
                  <a:srgbClr val="1F2937"/>
                </a:solidFill>
                <a:latin typeface="Calibri"/>
              </a:rPr>
              <a:t>▸  Ko‘p qabul qilinsa, tormozlanish po‘stloq osti, uzunchoq miya va miyachaga o‘tadi. Nafas va yurak-qon tomir markazlari buziladi. Letal doza 250–300 ml.</a:t>
            </a:r>
          </a:p>
          <a:p>
            <a:pPr>
              <a:spcAft>
                <a:spcPts val="1200"/>
              </a:spcAft>
            </a:pPr>
            <a:r>
              <a:rPr sz="2200">
                <a:solidFill>
                  <a:srgbClr val="1F2937"/>
                </a:solidFill>
                <a:latin typeface="Calibri"/>
              </a:rPr>
              <a:t>▸  Organizmda endogen alkogol doim bor, 0,3–0,4 promillegacha. U energiya manbai bo‘lib, stressga moslashishga yordam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156, 156-157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spirtining so‘rilishi va metabolizmi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Spirtning 20% i oshqozonda, 80% i ichakda so‘riladi. Rezorbsiya davri odatda 1–2 soat.</a:t>
            </a:r>
          </a:p>
          <a:p>
            <a:pPr>
              <a:spcAft>
                <a:spcPts val="800"/>
              </a:spcAft>
            </a:pPr>
            <a:r>
              <a:rPr sz="1800">
                <a:solidFill>
                  <a:srgbClr val="1F2937"/>
                </a:solidFill>
                <a:latin typeface="Calibri"/>
              </a:rPr>
              <a:t>▸  Ikki bosqich: alkogoldegidrogenaza → atsetaldegid; aldegiddegidrogenaza (mitoxondriya) → sirka kislotasi.</a:t>
            </a:r>
          </a:p>
          <a:p>
            <a:pPr>
              <a:spcAft>
                <a:spcPts val="800"/>
              </a:spcAft>
            </a:pPr>
            <a:r>
              <a:rPr sz="1800">
                <a:solidFill>
                  <a:srgbClr val="1F2937"/>
                </a:solidFill>
                <a:latin typeface="Calibri"/>
              </a:rPr>
              <a:t>▸  Atsetaldegid toksik: bosh og‘rig‘i, ko‘ngil aynishi, qusish, taxikardiya — “poxmele” sindromi.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Etil spirti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Atsetaldegid (toksik)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Sirka kislotasi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 va karbonat angidrid</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 metabolizmi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Fermentlarning atipik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Ayrim shaxslarda alkogoldegidrogenaza va aldegiddegidrogenaza fermentlarining atipik shakllari uchraydi.</a:t>
            </a:r>
          </a:p>
          <a:p>
            <a:pPr>
              <a:spcAft>
                <a:spcPts val="1200"/>
              </a:spcAft>
            </a:pPr>
            <a:r>
              <a:rPr sz="2200">
                <a:solidFill>
                  <a:srgbClr val="1F2937"/>
                </a:solidFill>
                <a:latin typeface="Calibri"/>
              </a:rPr>
              <a:t>▸  Alkogoldegidrogenaza aktivligi juda baland, aldegiddegidrogenaza esa yetishmaydi. Atsetaldegid tez to‘planib, intoksikatsiyani kuchaytiradi.</a:t>
            </a:r>
          </a:p>
          <a:p>
            <a:pPr>
              <a:spcAft>
                <a:spcPts val="1200"/>
              </a:spcAft>
            </a:pPr>
            <a:r>
              <a:rPr sz="2200">
                <a:solidFill>
                  <a:srgbClr val="1F2937"/>
                </a:solidFill>
                <a:latin typeface="Calibri"/>
              </a:rPr>
              <a:t>▸  Bunday odamlarda qonda spirt juda baland bo‘lmasa ham kuchli intoksikatsiya kuzatiladi. Ba’zan o‘lim ham yuz berishi mumkin.</a:t>
            </a:r>
          </a:p>
          <a:p>
            <a:pPr>
              <a:spcAft>
                <a:spcPts val="1200"/>
              </a:spcAft>
            </a:pPr>
            <a:r>
              <a:rPr sz="2200">
                <a:solidFill>
                  <a:srgbClr val="1F2937"/>
                </a:solidFill>
                <a:latin typeface="Calibri"/>
              </a:rPr>
              <a:t>▸  Diqqat: xato qilish xavfi — qondagi spirt miqdorining pastligi intoksikatsiya yengil ekanini bildirmaydi.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bilan zaharlanishning klinikasi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Klinik belgilar qabul qilingan spirt miqdori, vaqt oralig‘i, oshqozondagi massa va organizmning individual xususiyatlariga bog‘liq.</a:t>
            </a:r>
          </a:p>
          <a:p>
            <a:pPr>
              <a:spcAft>
                <a:spcPts val="1200"/>
              </a:spcAft>
            </a:pPr>
            <a:r>
              <a:rPr sz="2200">
                <a:solidFill>
                  <a:srgbClr val="1F2937"/>
                </a:solidFill>
                <a:latin typeface="Calibri"/>
              </a:rPr>
              <a:t>▸  Avval bosh miya po‘stlog‘i tormozlanishi hisobiga eyforiya va psixo-motor qo‘zg‘alish, keyin uyquchanlik, harakat va nutq buzilishi kuzatiladi.</a:t>
            </a:r>
          </a:p>
          <a:p>
            <a:pPr>
              <a:spcAft>
                <a:spcPts val="1200"/>
              </a:spcAft>
            </a:pPr>
            <a:r>
              <a:rPr sz="2200">
                <a:solidFill>
                  <a:srgbClr val="1F2937"/>
                </a:solidFill>
                <a:latin typeface="Calibri"/>
              </a:rPr>
              <a:t>▸  Ko‘p miqdorda ko‘ngil aynishi va qusish bo‘ladi, ayrim hollarda koma rivojlanadi. Etil spirtining letal dozasi 250–300 ml.</a:t>
            </a:r>
          </a:p>
          <a:p>
            <a:pPr>
              <a:spcAft>
                <a:spcPts val="1200"/>
              </a:spcAft>
            </a:pPr>
            <a:r>
              <a:rPr sz="2200">
                <a:solidFill>
                  <a:srgbClr val="1F2937"/>
                </a:solidFill>
                <a:latin typeface="Calibri"/>
              </a:rPr>
              <a:t>▸  Diqqat: “alkogol bilan bog‘liq o‘lim” — mastlik bilvosita moyillik yaratgan o‘lim; jahon sog‘liqni saqlash tashkiloti bo‘yicha 2,5 millionga yaqin holat.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158, 156, 158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 sifat jihatidan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Alkogol oksidlovchi ta’sirida atsetaldegidga aylanadi, shu sababli sinamada reagent rangi o‘zgaradi.</a:t>
            </a:r>
          </a:p>
          <a:p>
            <a:pPr>
              <a:spcAft>
                <a:spcPts val="800"/>
              </a:spcAft>
            </a:pPr>
            <a:r>
              <a:rPr sz="1800">
                <a:solidFill>
                  <a:srgbClr val="1F2937"/>
                </a:solidFill>
                <a:latin typeface="Calibri"/>
              </a:rPr>
              <a:t>▸  Soxta manfiy bermaydi; kariyes, o‘pkaning surunkali kasalligi, qandli diabetda soxta musbat bo‘lishi mumkin.</a:t>
            </a:r>
          </a:p>
          <a:p>
            <a:pPr>
              <a:spcAft>
                <a:spcPts val="800"/>
              </a:spcAft>
            </a:pPr>
            <a:r>
              <a:rPr sz="1800">
                <a:solidFill>
                  <a:srgbClr val="1F2937"/>
                </a:solidFill>
                <a:latin typeface="Calibri"/>
              </a:rPr>
              <a:t>▸  Diqqat: Rappoport sinamasida rang yo‘qoladi, Moxov–Shinkarenko sinamasida sariqdan yashilga o‘tadi.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257787"/>
                <a:gridCol w="2079540"/>
              </a:tblGrid>
              <a:tr h="411480">
                <a:tc>
                  <a:txBody>
                    <a:bodyPr/>
                    <a:lstStyle/>
                    <a:p>
                      <a:r>
                        <a:rPr sz="1300" b="1">
                          <a:solidFill>
                            <a:srgbClr val="FFFFFF"/>
                          </a:solidFill>
                        </a:rPr>
                        <a:t>Xususiyat</a:t>
                      </a:r>
                    </a:p>
                  </a:txBody>
                  <a:tcPr marL="73152" marR="73152" marT="36576" marB="36576">
                    <a:solidFill>
                      <a:srgbClr val="0B1F3A"/>
                    </a:solidFill>
                  </a:tcPr>
                </a:tc>
                <a:tc>
                  <a:txBody>
                    <a:bodyPr/>
                    <a:lstStyle/>
                    <a:p>
                      <a:r>
                        <a:rPr sz="1300" b="1">
                          <a:solidFill>
                            <a:srgbClr val="FFFFFF"/>
                          </a:solidFill>
                        </a:rPr>
                        <a:t>Rappoport</a:t>
                      </a:r>
                    </a:p>
                  </a:txBody>
                  <a:tcPr marL="73152" marR="73152" marT="36576" marB="36576">
                    <a:solidFill>
                      <a:srgbClr val="0B1F3A"/>
                    </a:solidFill>
                  </a:tcPr>
                </a:tc>
                <a:tc>
                  <a:txBody>
                    <a:bodyPr/>
                    <a:lstStyle/>
                    <a:p>
                      <a:r>
                        <a:rPr sz="1300" b="1">
                          <a:solidFill>
                            <a:srgbClr val="FFFFFF"/>
                          </a:solidFill>
                        </a:rPr>
                        <a:t>Moxov–Shink.</a:t>
                      </a:r>
                    </a:p>
                  </a:txBody>
                  <a:tcPr marL="73152" marR="73152" marT="36576" marB="36576">
                    <a:solidFill>
                      <a:srgbClr val="0B1F3A"/>
                    </a:solidFill>
                  </a:tcPr>
                </a:tc>
              </a:tr>
              <a:tr h="411480">
                <a:tc>
                  <a:txBody>
                    <a:bodyPr/>
                    <a:lstStyle/>
                    <a:p>
                      <a:r>
                        <a:rPr sz="1200" b="0">
                          <a:solidFill>
                            <a:srgbClr val="1F2937"/>
                          </a:solidFill>
                        </a:rPr>
                        <a:t>Reagent</a:t>
                      </a:r>
                    </a:p>
                  </a:txBody>
                  <a:tcPr marL="73152" marR="73152" marT="36576" marB="36576">
                    <a:solidFill>
                      <a:srgbClr val="E8EEF6"/>
                    </a:solidFill>
                  </a:tcPr>
                </a:tc>
                <a:tc>
                  <a:txBody>
                    <a:bodyPr/>
                    <a:lstStyle/>
                    <a:p>
                      <a:r>
                        <a:rPr sz="1200" b="0">
                          <a:solidFill>
                            <a:srgbClr val="1F2937"/>
                          </a:solidFill>
                        </a:rPr>
                        <a:t>Sulfat kislota + kaliy permanganat</a:t>
                      </a:r>
                    </a:p>
                  </a:txBody>
                  <a:tcPr marL="73152" marR="73152" marT="36576" marB="36576">
                    <a:solidFill>
                      <a:srgbClr val="E8EEF6"/>
                    </a:solidFill>
                  </a:tcPr>
                </a:tc>
                <a:tc>
                  <a:txBody>
                    <a:bodyPr/>
                    <a:lstStyle/>
                    <a:p>
                      <a:r>
                        <a:rPr sz="1200" b="0">
                          <a:solidFill>
                            <a:srgbClr val="1F2937"/>
                          </a:solidFill>
                        </a:rPr>
                        <a:t>Sulfat kislota + bixromat kislotasi</a:t>
                      </a:r>
                    </a:p>
                  </a:txBody>
                  <a:tcPr marL="73152" marR="73152" marT="36576" marB="36576">
                    <a:solidFill>
                      <a:srgbClr val="E8EEF6"/>
                    </a:solidFill>
                  </a:tcPr>
                </a:tc>
              </a:tr>
              <a:tr h="411480">
                <a:tc>
                  <a:txBody>
                    <a:bodyPr/>
                    <a:lstStyle/>
                    <a:p>
                      <a:r>
                        <a:rPr sz="1200" b="0">
                          <a:solidFill>
                            <a:srgbClr val="1F2937"/>
                          </a:solidFill>
                        </a:rPr>
                        <a:t>Rang o‘zgarishi</a:t>
                      </a:r>
                    </a:p>
                  </a:txBody>
                  <a:tcPr marL="73152" marR="73152" marT="36576" marB="36576">
                    <a:solidFill>
                      <a:srgbClr val="FFFFFF"/>
                    </a:solidFill>
                  </a:tcPr>
                </a:tc>
                <a:tc>
                  <a:txBody>
                    <a:bodyPr/>
                    <a:lstStyle/>
                    <a:p>
                      <a:r>
                        <a:rPr sz="1200" b="0">
                          <a:solidFill>
                            <a:srgbClr val="1F2937"/>
                          </a:solidFill>
                        </a:rPr>
                        <a:t>Pushti-qizg‘ish rang yo‘qoladi</a:t>
                      </a:r>
                    </a:p>
                  </a:txBody>
                  <a:tcPr marL="73152" marR="73152" marT="36576" marB="36576">
                    <a:solidFill>
                      <a:srgbClr val="FFFFFF"/>
                    </a:solidFill>
                  </a:tcPr>
                </a:tc>
                <a:tc>
                  <a:txBody>
                    <a:bodyPr/>
                    <a:lstStyle/>
                    <a:p>
                      <a:r>
                        <a:rPr sz="1200" b="0">
                          <a:solidFill>
                            <a:srgbClr val="1F2937"/>
                          </a:solidFill>
                        </a:rPr>
                        <a:t>Sariq, olov rang yashilga o‘tadi</a:t>
                      </a:r>
                    </a:p>
                  </a:txBody>
                  <a:tcPr marL="73152" marR="73152" marT="36576" marB="36576">
                    <a:solidFill>
                      <a:srgbClr val="FFFFFF"/>
                    </a:solidFill>
                  </a:tcPr>
                </a:tc>
              </a:tr>
              <a:tr h="411480">
                <a:tc>
                  <a:txBody>
                    <a:bodyPr/>
                    <a:lstStyle/>
                    <a:p>
                      <a:r>
                        <a:rPr sz="1200" b="0">
                          <a:solidFill>
                            <a:srgbClr val="1F2937"/>
                          </a:solidFill>
                        </a:rPr>
                        <a:t>Kimyoviy asos</a:t>
                      </a:r>
                    </a:p>
                  </a:txBody>
                  <a:tcPr marL="73152" marR="73152" marT="36576" marB="36576">
                    <a:solidFill>
                      <a:srgbClr val="E8EEF6"/>
                    </a:solidFill>
                  </a:tcPr>
                </a:tc>
                <a:tc>
                  <a:txBody>
                    <a:bodyPr/>
                    <a:lstStyle/>
                    <a:p>
                      <a:r>
                        <a:rPr sz="1200" b="0">
                          <a:solidFill>
                            <a:srgbClr val="1F2937"/>
                          </a:solidFill>
                        </a:rPr>
                        <a:t>Marganets 7 valentlikdan 2 valentlikka</a:t>
                      </a:r>
                    </a:p>
                  </a:txBody>
                  <a:tcPr marL="73152" marR="73152" marT="36576" marB="36576">
                    <a:solidFill>
                      <a:srgbClr val="E8EEF6"/>
                    </a:solidFill>
                  </a:tcPr>
                </a:tc>
                <a:tc>
                  <a:txBody>
                    <a:bodyPr/>
                    <a:lstStyle/>
                    <a:p>
                      <a:r>
                        <a:rPr sz="1200" b="0">
                          <a:solidFill>
                            <a:srgbClr val="1F2937"/>
                          </a:solidFill>
                        </a:rPr>
                        <a:t>Xrom 6 valentlikdan 3 valentlikka</a:t>
                      </a:r>
                    </a:p>
                  </a:txBody>
                  <a:tcPr marL="73152" marR="73152" marT="36576" marB="36576">
                    <a:solidFill>
                      <a:srgbClr val="E8EEF6"/>
                    </a:solidFill>
                  </a:tcPr>
                </a:tc>
              </a:tr>
              <a:tr h="411480">
                <a:tc>
                  <a:txBody>
                    <a:bodyPr/>
                    <a:lstStyle/>
                    <a:p>
                      <a:r>
                        <a:rPr sz="1200" b="0">
                          <a:solidFill>
                            <a:srgbClr val="1F2937"/>
                          </a:solidFill>
                        </a:rPr>
                        <a:t>Sezgirlik</a:t>
                      </a:r>
                    </a:p>
                  </a:txBody>
                  <a:tcPr marL="73152" marR="73152" marT="36576" marB="36576">
                    <a:solidFill>
                      <a:srgbClr val="FFFFFF"/>
                    </a:solidFill>
                  </a:tcPr>
                </a:tc>
                <a:tc>
                  <a:txBody>
                    <a:bodyPr/>
                    <a:lstStyle/>
                    <a:p>
                      <a:r>
                        <a:rPr sz="1200" b="0">
                          <a:solidFill>
                            <a:srgbClr val="1F2937"/>
                          </a:solidFill>
                        </a:rPr>
                        <a:t>Qonda 0,3–0,4 promilleda payqaydi</a:t>
                      </a:r>
                    </a:p>
                  </a:txBody>
                  <a:tcPr marL="73152" marR="73152" marT="36576" marB="36576">
                    <a:solidFill>
                      <a:srgbClr val="FFFFFF"/>
                    </a:solidFill>
                  </a:tcPr>
                </a:tc>
                <a:tc>
                  <a:txBody>
                    <a:bodyPr/>
                    <a:lstStyle/>
                    <a:p>
                      <a:r>
                        <a:rPr sz="1200" b="0">
                          <a:solidFill>
                            <a:srgbClr val="1F2937"/>
                          </a:solidFill>
                        </a:rPr>
                        <a:t>Qonda 0,3–0,4 promilleda payqaydi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sinama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158, 159, 158, 159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Miqdoriy aniqlash, Vidmark konstantasi va formula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Miqdor asosan gaz-xromatografiya bilan aniqlanadi; qon periferik venadan, siydik bilan birga olinadi.</a:t>
            </a:r>
          </a:p>
          <a:p>
            <a:pPr>
              <a:spcAft>
                <a:spcPts val="800"/>
              </a:spcAft>
            </a:pPr>
            <a:r>
              <a:rPr sz="1800">
                <a:solidFill>
                  <a:srgbClr val="1F2937"/>
                </a:solidFill>
                <a:latin typeface="Calibri"/>
              </a:rPr>
              <a:t>▸  Rezorbsiyada qonda spirt siydikdagidan ko‘p; eliminatsiyada qonda kamayadi, siydikda baland bo‘ladi.</a:t>
            </a:r>
          </a:p>
          <a:p>
            <a:pPr>
              <a:spcAft>
                <a:spcPts val="800"/>
              </a:spcAft>
            </a:pPr>
            <a:r>
              <a:rPr sz="1800">
                <a:solidFill>
                  <a:srgbClr val="1F2937"/>
                </a:solidFill>
                <a:latin typeface="Calibri"/>
              </a:rPr>
              <a:t>▸  Formula: A = R·r·(Ct + P·T); R — vazn (kg), r — reduksiya omili, P — Vidmark konstantasi, T — soatlar.</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793647"/>
                <a:gridCol w="2494327"/>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P (promille)</a:t>
                      </a:r>
                    </a:p>
                  </a:txBody>
                  <a:tcPr marL="73152" marR="73152" marT="36576" marB="36576">
                    <a:solidFill>
                      <a:srgbClr val="0B1F3A"/>
                    </a:solidFill>
                  </a:tcPr>
                </a:tc>
              </a:tr>
              <a:tr h="411480">
                <a:tc>
                  <a:txBody>
                    <a:bodyPr/>
                    <a:lstStyle/>
                    <a:p>
                      <a:r>
                        <a:rPr sz="1300" b="0">
                          <a:solidFill>
                            <a:srgbClr val="1F2937"/>
                          </a:solidFill>
                        </a:rPr>
                        <a:t>Eliminatsiya davrining boshi</a:t>
                      </a:r>
                    </a:p>
                  </a:txBody>
                  <a:tcPr marL="73152" marR="73152" marT="36576" marB="36576">
                    <a:solidFill>
                      <a:srgbClr val="E8EEF6"/>
                    </a:solidFill>
                  </a:tcPr>
                </a:tc>
                <a:tc>
                  <a:txBody>
                    <a:bodyPr/>
                    <a:lstStyle/>
                    <a:p>
                      <a:r>
                        <a:rPr sz="1300" b="0">
                          <a:solidFill>
                            <a:srgbClr val="1F2937"/>
                          </a:solidFill>
                        </a:rPr>
                        <a:t>0,10–0,13</a:t>
                      </a:r>
                    </a:p>
                  </a:txBody>
                  <a:tcPr marL="73152" marR="73152" marT="36576" marB="36576">
                    <a:solidFill>
                      <a:srgbClr val="E8EEF6"/>
                    </a:solidFill>
                  </a:tcPr>
                </a:tc>
              </a:tr>
              <a:tr h="411480">
                <a:tc>
                  <a:txBody>
                    <a:bodyPr/>
                    <a:lstStyle/>
                    <a:p>
                      <a:r>
                        <a:rPr sz="1300" b="0">
                          <a:solidFill>
                            <a:srgbClr val="1F2937"/>
                          </a:solidFill>
                        </a:rPr>
                        <a:t>O‘rtacha jismoniy yuklama</a:t>
                      </a:r>
                    </a:p>
                  </a:txBody>
                  <a:tcPr marL="73152" marR="73152" marT="36576" marB="36576">
                    <a:solidFill>
                      <a:srgbClr val="FFFFFF"/>
                    </a:solidFill>
                  </a:tcPr>
                </a:tc>
                <a:tc>
                  <a:txBody>
                    <a:bodyPr/>
                    <a:lstStyle/>
                    <a:p>
                      <a:r>
                        <a:rPr sz="1300" b="0">
                          <a:solidFill>
                            <a:srgbClr val="1F2937"/>
                          </a:solidFill>
                        </a:rPr>
                        <a:t>0,15–0,18</a:t>
                      </a:r>
                    </a:p>
                  </a:txBody>
                  <a:tcPr marL="73152" marR="73152" marT="36576" marB="36576">
                    <a:solidFill>
                      <a:srgbClr val="FFFFFF"/>
                    </a:solidFill>
                  </a:tcPr>
                </a:tc>
              </a:tr>
              <a:tr h="411480">
                <a:tc>
                  <a:txBody>
                    <a:bodyPr/>
                    <a:lstStyle/>
                    <a:p>
                      <a:r>
                        <a:rPr sz="1300" b="0">
                          <a:solidFill>
                            <a:srgbClr val="1F2937"/>
                          </a:solidFill>
                        </a:rPr>
                        <a:t>Kuchli jismoniy yuklama</a:t>
                      </a:r>
                    </a:p>
                  </a:txBody>
                  <a:tcPr marL="73152" marR="73152" marT="36576" marB="36576">
                    <a:solidFill>
                      <a:srgbClr val="E8EEF6"/>
                    </a:solidFill>
                  </a:tcPr>
                </a:tc>
                <a:tc>
                  <a:txBody>
                    <a:bodyPr/>
                    <a:lstStyle/>
                    <a:p>
                      <a:r>
                        <a:rPr sz="1300" b="0">
                          <a:solidFill>
                            <a:srgbClr val="1F2937"/>
                          </a:solidFill>
                        </a:rPr>
                        <a:t>0,20–0,24</a:t>
                      </a:r>
                    </a:p>
                  </a:txBody>
                  <a:tcPr marL="73152" marR="73152" marT="36576" marB="36576">
                    <a:solidFill>
                      <a:srgbClr val="E8EEF6"/>
                    </a:solidFill>
                  </a:tcPr>
                </a:tc>
              </a:tr>
              <a:tr h="411480">
                <a:tc>
                  <a:txBody>
                    <a:bodyPr/>
                    <a:lstStyle/>
                    <a:p>
                      <a:r>
                        <a:rPr sz="1300" b="0">
                          <a:solidFill>
                            <a:srgbClr val="1F2937"/>
                          </a:solidFill>
                        </a:rPr>
                        <a:t>Uyqu va koma holatlari</a:t>
                      </a:r>
                    </a:p>
                  </a:txBody>
                  <a:tcPr marL="73152" marR="73152" marT="36576" marB="36576">
                    <a:solidFill>
                      <a:srgbClr val="FFFFFF"/>
                    </a:solidFill>
                  </a:tcPr>
                </a:tc>
                <a:tc>
                  <a:txBody>
                    <a:bodyPr/>
                    <a:lstStyle/>
                    <a:p>
                      <a:r>
                        <a:rPr sz="1300" b="0">
                          <a:solidFill>
                            <a:srgbClr val="1F2937"/>
                          </a:solidFill>
                        </a:rPr>
                        <a:t>0,10–0,12 / 0,10 dan past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Vidmark konstantasi (P)</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159, 160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darajalari va murda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3,0 dan yuqori – zaharlanish; murda qonida 5,0 va undan ko‘p bo‘lsa – o‘lim sababi.</a:t>
            </a:r>
          </a:p>
          <a:p>
            <a:pPr>
              <a:spcAft>
                <a:spcPts val="800"/>
              </a:spcAft>
            </a:pPr>
            <a:r>
              <a:rPr sz="1800">
                <a:solidFill>
                  <a:srgbClr val="1F2937"/>
                </a:solidFill>
                <a:latin typeface="Calibri"/>
              </a:rPr>
              <a:t>▸  Tashqi: yuz ko‘kimtir va shishinqiragan, subkon’yunktival ekximozlar; spetsifik belgi yo‘q.</a:t>
            </a:r>
          </a:p>
          <a:p>
            <a:pPr>
              <a:spcAft>
                <a:spcPts val="800"/>
              </a:spcAft>
            </a:pPr>
            <a:r>
              <a:rPr sz="1800">
                <a:solidFill>
                  <a:srgbClr val="1F2937"/>
                </a:solidFill>
                <a:latin typeface="Calibri"/>
              </a:rPr>
              <a:t>▸  Ichki: bo‘shliqda spetsifik hid, a’zolar to‘laqon, miya shishgan, siydik qopi to‘la.</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417360"/>
                <a:gridCol w="2870615"/>
              </a:tblGrid>
              <a:tr h="411480">
                <a:tc>
                  <a:txBody>
                    <a:bodyPr/>
                    <a:lstStyle/>
                    <a:p>
                      <a:r>
                        <a:rPr sz="1400" b="1">
                          <a:solidFill>
                            <a:srgbClr val="FFFFFF"/>
                          </a:solidFill>
                        </a:rPr>
                        <a:t>Daraja</a:t>
                      </a:r>
                    </a:p>
                  </a:txBody>
                  <a:tcPr marL="73152" marR="73152" marT="36576" marB="36576">
                    <a:solidFill>
                      <a:srgbClr val="0B1F3A"/>
                    </a:solidFill>
                  </a:tcPr>
                </a:tc>
                <a:tc>
                  <a:txBody>
                    <a:bodyPr/>
                    <a:lstStyle/>
                    <a:p>
                      <a:r>
                        <a:rPr sz="1400" b="1">
                          <a:solidFill>
                            <a:srgbClr val="FFFFFF"/>
                          </a:solidFill>
                        </a:rPr>
                        <a:t>Qondagi spirt</a:t>
                      </a:r>
                    </a:p>
                  </a:txBody>
                  <a:tcPr marL="73152" marR="73152" marT="36576" marB="36576">
                    <a:solidFill>
                      <a:srgbClr val="0B1F3A"/>
                    </a:solidFill>
                  </a:tcPr>
                </a:tc>
              </a:tr>
              <a:tr h="411480">
                <a:tc>
                  <a:txBody>
                    <a:bodyPr/>
                    <a:lstStyle/>
                    <a:p>
                      <a:r>
                        <a:rPr sz="1300" b="0">
                          <a:solidFill>
                            <a:srgbClr val="1F2937"/>
                          </a:solidFill>
                        </a:rPr>
                        <a:t>Yengil mastlik</a:t>
                      </a:r>
                    </a:p>
                  </a:txBody>
                  <a:tcPr marL="73152" marR="73152" marT="36576" marB="36576">
                    <a:solidFill>
                      <a:srgbClr val="E8EEF6"/>
                    </a:solidFill>
                  </a:tcPr>
                </a:tc>
                <a:tc>
                  <a:txBody>
                    <a:bodyPr/>
                    <a:lstStyle/>
                    <a:p>
                      <a:r>
                        <a:rPr sz="1300" b="0">
                          <a:solidFill>
                            <a:srgbClr val="1F2937"/>
                          </a:solidFill>
                        </a:rPr>
                        <a:t>0,5 dan 1,5 gacha</a:t>
                      </a:r>
                    </a:p>
                  </a:txBody>
                  <a:tcPr marL="73152" marR="73152" marT="36576" marB="36576">
                    <a:solidFill>
                      <a:srgbClr val="E8EEF6"/>
                    </a:solidFill>
                  </a:tcPr>
                </a:tc>
              </a:tr>
              <a:tr h="411480">
                <a:tc>
                  <a:txBody>
                    <a:bodyPr/>
                    <a:lstStyle/>
                    <a:p>
                      <a:r>
                        <a:rPr sz="1300" b="0">
                          <a:solidFill>
                            <a:srgbClr val="1F2937"/>
                          </a:solidFill>
                        </a:rPr>
                        <a:t>O‘rta mastlik</a:t>
                      </a:r>
                    </a:p>
                  </a:txBody>
                  <a:tcPr marL="73152" marR="73152" marT="36576" marB="36576">
                    <a:solidFill>
                      <a:srgbClr val="FFFFFF"/>
                    </a:solidFill>
                  </a:tcPr>
                </a:tc>
                <a:tc>
                  <a:txBody>
                    <a:bodyPr/>
                    <a:lstStyle/>
                    <a:p>
                      <a:r>
                        <a:rPr sz="1300" b="0">
                          <a:solidFill>
                            <a:srgbClr val="1F2937"/>
                          </a:solidFill>
                        </a:rPr>
                        <a:t>1,5 dan 2,5 gacha</a:t>
                      </a:r>
                    </a:p>
                  </a:txBody>
                  <a:tcPr marL="73152" marR="73152" marT="36576" marB="36576">
                    <a:solidFill>
                      <a:srgbClr val="FFFFFF"/>
                    </a:solidFill>
                  </a:tcPr>
                </a:tc>
              </a:tr>
              <a:tr h="411480">
                <a:tc>
                  <a:txBody>
                    <a:bodyPr/>
                    <a:lstStyle/>
                    <a:p>
                      <a:r>
                        <a:rPr sz="1300" b="0">
                          <a:solidFill>
                            <a:srgbClr val="1F2937"/>
                          </a:solidFill>
                        </a:rPr>
                        <a:t>Kuchli mastlik</a:t>
                      </a:r>
                    </a:p>
                  </a:txBody>
                  <a:tcPr marL="73152" marR="73152" marT="36576" marB="36576">
                    <a:solidFill>
                      <a:srgbClr val="E8EEF6"/>
                    </a:solidFill>
                  </a:tcPr>
                </a:tc>
                <a:tc>
                  <a:txBody>
                    <a:bodyPr/>
                    <a:lstStyle/>
                    <a:p>
                      <a:r>
                        <a:rPr sz="1300" b="0">
                          <a:solidFill>
                            <a:srgbClr val="1F2937"/>
                          </a:solidFill>
                        </a:rPr>
                        <a:t>2,5 dan 3,0 gacha</a:t>
                      </a:r>
                    </a:p>
                  </a:txBody>
                  <a:tcPr marL="73152" marR="73152" marT="36576" marB="36576">
                    <a:solidFill>
                      <a:srgbClr val="E8EEF6"/>
                    </a:solidFill>
                  </a:tcPr>
                </a:tc>
              </a:tr>
              <a:tr h="411480">
                <a:tc>
                  <a:txBody>
                    <a:bodyPr/>
                    <a:lstStyle/>
                    <a:p>
                      <a:r>
                        <a:rPr sz="1300" b="0">
                          <a:solidFill>
                            <a:srgbClr val="1F2937"/>
                          </a:solidFill>
                        </a:rPr>
                        <a:t>Zaharlanish</a:t>
                      </a:r>
                    </a:p>
                  </a:txBody>
                  <a:tcPr marL="73152" marR="73152" marT="36576" marB="36576">
                    <a:solidFill>
                      <a:srgbClr val="FFFFFF"/>
                    </a:solidFill>
                  </a:tcPr>
                </a:tc>
                <a:tc>
                  <a:txBody>
                    <a:bodyPr/>
                    <a:lstStyle/>
                    <a:p>
                      <a:r>
                        <a:rPr sz="1300" b="0">
                          <a:solidFill>
                            <a:srgbClr val="1F2937"/>
                          </a:solidFill>
                        </a:rPr>
                        <a:t>3,0 dan yuqori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darajalari (promille)</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 160-161, 161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spirt konsentratsiyasi va o‘lim sababi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murdadan olingan qonda 5,0 promille etil spirti aniqlandi, boshqa o‘lim sababi topilmadi.</a:t>
            </a:r>
          </a:p>
          <a:p>
            <a:pPr>
              <a:spcAft>
                <a:spcPts val="1200"/>
              </a:spcAft>
            </a:pPr>
            <a:r>
              <a:rPr sz="2200">
                <a:solidFill>
                  <a:srgbClr val="1F2937"/>
                </a:solidFill>
                <a:latin typeface="Calibri"/>
              </a:rPr>
              <a:t>▸  Savol: bu holatda o‘lim sababini qanday baholaysiz va qaysi holatlarda baho o‘zgaradi?</a:t>
            </a:r>
          </a:p>
          <a:p>
            <a:pPr>
              <a:spcAft>
                <a:spcPts val="1200"/>
              </a:spcAft>
            </a:pPr>
            <a:r>
              <a:rPr sz="2200">
                <a:solidFill>
                  <a:srgbClr val="1F2937"/>
                </a:solidFill>
                <a:latin typeface="Calibri"/>
              </a:rPr>
              <a:t>▸  Javob uchun: 5,0 va undan ko‘p – o‘tkir zaharlanish sababi; yuqori spirtlar aralashsa, 4,0 dan past ham o‘ldirishi mumkin.</a:t>
            </a:r>
          </a:p>
          <a:p>
            <a:pPr>
              <a:spcAft>
                <a:spcPts val="1200"/>
              </a:spcAft>
            </a:pPr>
            <a:r>
              <a:rPr sz="2200">
                <a:solidFill>
                  <a:srgbClr val="1F2937"/>
                </a:solidFill>
                <a:latin typeface="Calibri"/>
              </a:rPr>
              <a:t>▸  Ichgandan bir necha kun keyingi o‘limda qonda spirt past yoki yo‘q bo‘lishi mumkin; sabab ko‘pincha o‘tkir yurak yetishmovchiligi.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Spirt surrogatlari: umumiy tushuncha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Surrogat (ingliz tilida surrogate) – “o‘rnini bosuvchi”: etil spirti o‘rniga ichiladigan ichimliklar shunday ataladi.</a:t>
            </a:r>
          </a:p>
          <a:p>
            <a:pPr>
              <a:spcAft>
                <a:spcPts val="1200"/>
              </a:spcAft>
            </a:pPr>
            <a:r>
              <a:rPr sz="2200">
                <a:solidFill>
                  <a:srgbClr val="1F2937"/>
                </a:solidFill>
                <a:latin typeface="Calibri"/>
              </a:rPr>
              <a:t>▸  Ular qatoriga metil, propil, butil va amil spirtlari kiradi.</a:t>
            </a:r>
          </a:p>
          <a:p>
            <a:pPr>
              <a:spcAft>
                <a:spcPts val="1200"/>
              </a:spcAft>
            </a:pPr>
            <a:r>
              <a:rPr sz="2200">
                <a:solidFill>
                  <a:srgbClr val="1F2937"/>
                </a:solidFill>
                <a:latin typeface="Calibri"/>
              </a:rPr>
              <a:t>▸  Shuningdek, etilenglikol, spirt-denaturat va tetraetil qo‘rg‘oshin ham surrogatlar sanaladi.</a:t>
            </a:r>
          </a:p>
          <a:p>
            <a:pPr>
              <a:spcAft>
                <a:spcPts val="1200"/>
              </a:spcAft>
            </a:pPr>
            <a:r>
              <a:rPr sz="2200">
                <a:solidFill>
                  <a:srgbClr val="1F2937"/>
                </a:solidFill>
                <a:latin typeface="Calibri"/>
              </a:rPr>
              <a:t>▸  Metil spirtining rangi, hidi va ta’mi etil spirtiga o‘xshash, shuning uchun ko‘pincha adashib ichiladi.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Metil spirti (metanol)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Rangi, hidi, ta’mi etil spirtiga o‘xshash, shuning uchun adashib ichiladi. Letal doza — 30–100 ml.</a:t>
            </a:r>
          </a:p>
          <a:p>
            <a:pPr>
              <a:spcAft>
                <a:spcPts val="800"/>
              </a:spcAft>
            </a:pPr>
            <a:r>
              <a:rPr sz="1800">
                <a:solidFill>
                  <a:srgbClr val="1F2937"/>
                </a:solidFill>
                <a:latin typeface="Calibri"/>
              </a:rPr>
              <a:t>▸  Butun molekula kuchsiz narkotik ta’sir qiladi. Asosiy zararni metabolitlari — formaldegid va chumoli kislotasi beradi.</a:t>
            </a:r>
          </a:p>
          <a:p>
            <a:pPr>
              <a:spcAft>
                <a:spcPts val="800"/>
              </a:spcAft>
            </a:pPr>
            <a:r>
              <a:rPr sz="1800">
                <a:solidFill>
                  <a:srgbClr val="1F2937"/>
                </a:solidFill>
                <a:latin typeface="Calibri"/>
              </a:rPr>
              <a:t>▸  Atsidoz rivojlanadi, to‘qima nafasi buziladi. Oksidlanish sekin, shu sabab metabolitlar uzoq saqlanadi.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Qisqa mastlik, chuqur uyqu</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Yashirin bosqich (soat–kun)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Ahvol keskin yomonlashadi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Ko‘rish buzilishi, ko‘rlik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Nafas falaji: odatda 2–3 kun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Metanoldan o‘limda murda va sud-kimyo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 dog‘lari qizg‘ish-kulrang, qon quyushqoq va to‘q rangda. Ichki a’zolarda venoz to‘laqonlik, bosh miya shishgan.</a:t>
            </a:r>
          </a:p>
          <a:p>
            <a:pPr>
              <a:spcAft>
                <a:spcPts val="1200"/>
              </a:spcAft>
            </a:pPr>
            <a:r>
              <a:rPr sz="2200">
                <a:solidFill>
                  <a:srgbClr val="1F2937"/>
                </a:solidFill>
                <a:latin typeface="Calibri"/>
              </a:rPr>
              <a:t>▸  Miya o‘zak sohalarida o‘choqli qon quyilishlar bor. Epikard ostida, ayniqsa chap kameralarda, plakchasimon qon quyilishlar — Kryukov dog‘lari.</a:t>
            </a:r>
          </a:p>
          <a:p>
            <a:pPr>
              <a:spcAft>
                <a:spcPts val="1200"/>
              </a:spcAft>
            </a:pPr>
            <a:r>
              <a:rPr sz="2200">
                <a:solidFill>
                  <a:srgbClr val="1F2937"/>
                </a:solidFill>
                <a:latin typeface="Calibri"/>
              </a:rPr>
              <a:t>▸  Ko‘rish nervida qon quyilishlar, shishish va distrofik o‘zgarishlar topiladi. Uzoq kechganda miyada simmetrik yumshash o‘choqlari bo‘lishi mumkin.</a:t>
            </a:r>
          </a:p>
          <a:p>
            <a:pPr>
              <a:spcAft>
                <a:spcPts val="1200"/>
              </a:spcAft>
            </a:pPr>
            <a:r>
              <a:rPr sz="2200">
                <a:solidFill>
                  <a:srgbClr val="1F2937"/>
                </a:solidFill>
                <a:latin typeface="Calibri"/>
              </a:rPr>
              <a:t>▸  Metabolizm sust bo‘lgani uchun sud-kimyo tekshiruvida spirt qon va ichki a’zolarda 3–5 kun aniqlanishi mumkin.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Yuqori molekulyar spirtlar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Erituvchi va tormoz suyuqligi tarkibida bo‘ladi; miya va buyrakka kuchli toksik ta’sir ko‘rsatadi.</a:t>
            </a:r>
          </a:p>
          <a:p>
            <a:pPr>
              <a:spcAft>
                <a:spcPts val="800"/>
              </a:spcAft>
            </a:pPr>
            <a:r>
              <a:rPr sz="1800">
                <a:solidFill>
                  <a:srgbClr val="1F2937"/>
                </a:solidFill>
                <a:latin typeface="Calibri"/>
              </a:rPr>
              <a:t>▸  Koma rivojlanadi, o‘lim nafas olish markazi falajidan sodir bo‘ladi. Murdada spetsifik o‘zgarish topilmaydi.</a:t>
            </a:r>
          </a:p>
          <a:p>
            <a:pPr>
              <a:spcAft>
                <a:spcPts val="800"/>
              </a:spcAft>
            </a:pPr>
            <a:r>
              <a:rPr sz="1800">
                <a:solidFill>
                  <a:srgbClr val="1F2937"/>
                </a:solidFill>
                <a:latin typeface="Calibri"/>
              </a:rPr>
              <a:t>▸  Etil spirtidan farqli, miyadagi o‘zgarishlar yurakdagidan yaqqolroq bo‘ladi.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658972"/>
                <a:gridCol w="1658972"/>
                <a:gridCol w="1970029"/>
              </a:tblGrid>
              <a:tr h="411480">
                <a:tc>
                  <a:txBody>
                    <a:bodyPr/>
                    <a:lstStyle/>
                    <a:p>
                      <a:r>
                        <a:rPr sz="1300" b="1">
                          <a:solidFill>
                            <a:srgbClr val="FFFFFF"/>
                          </a:solidFill>
                        </a:rPr>
                        <a:t>Spirt</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c>
                  <a:txBody>
                    <a:bodyPr/>
                    <a:lstStyle/>
                    <a:p>
                      <a:r>
                        <a:rPr sz="1300" b="1">
                          <a:solidFill>
                            <a:srgbClr val="FFFFFF"/>
                          </a:solidFill>
                        </a:rPr>
                        <a:t>Hid</a:t>
                      </a:r>
                    </a:p>
                  </a:txBody>
                  <a:tcPr marL="73152" marR="73152" marT="36576" marB="36576">
                    <a:solidFill>
                      <a:srgbClr val="0B1F3A"/>
                    </a:solidFill>
                  </a:tcPr>
                </a:tc>
              </a:tr>
              <a:tr h="411480">
                <a:tc>
                  <a:txBody>
                    <a:bodyPr/>
                    <a:lstStyle/>
                    <a:p>
                      <a:r>
                        <a:rPr sz="1200" b="0">
                          <a:solidFill>
                            <a:srgbClr val="1F2937"/>
                          </a:solidFill>
                        </a:rPr>
                        <a:t>Propil</a:t>
                      </a:r>
                    </a:p>
                  </a:txBody>
                  <a:tcPr marL="73152" marR="73152" marT="36576" marB="36576">
                    <a:solidFill>
                      <a:srgbClr val="E8EEF6"/>
                    </a:solidFill>
                  </a:tcPr>
                </a:tc>
                <a:tc>
                  <a:txBody>
                    <a:bodyPr/>
                    <a:lstStyle/>
                    <a:p>
                      <a:r>
                        <a:rPr sz="1200" b="0">
                          <a:solidFill>
                            <a:srgbClr val="1F2937"/>
                          </a:solidFill>
                        </a:rPr>
                        <a:t>300 ml</a:t>
                      </a:r>
                    </a:p>
                  </a:txBody>
                  <a:tcPr marL="73152" marR="73152" marT="36576" marB="36576">
                    <a:solidFill>
                      <a:srgbClr val="E8EEF6"/>
                    </a:solidFill>
                  </a:tcPr>
                </a:tc>
                <a:tc>
                  <a:txBody>
                    <a:bodyPr/>
                    <a:lstStyle/>
                    <a:p>
                      <a:r>
                        <a:rPr sz="1200" b="0">
                          <a:solidFill>
                            <a:srgbClr val="1F2937"/>
                          </a:solidFill>
                        </a:rPr>
                        <a:t>Hid ko‘rsatilmagan</a:t>
                      </a:r>
                    </a:p>
                  </a:txBody>
                  <a:tcPr marL="73152" marR="73152" marT="36576" marB="36576">
                    <a:solidFill>
                      <a:srgbClr val="E8EEF6"/>
                    </a:solidFill>
                  </a:tcPr>
                </a:tc>
              </a:tr>
              <a:tr h="411480">
                <a:tc>
                  <a:txBody>
                    <a:bodyPr/>
                    <a:lstStyle/>
                    <a:p>
                      <a:r>
                        <a:rPr sz="1200" b="0">
                          <a:solidFill>
                            <a:srgbClr val="1F2937"/>
                          </a:solidFill>
                        </a:rPr>
                        <a:t>Butil</a:t>
                      </a:r>
                    </a:p>
                  </a:txBody>
                  <a:tcPr marL="73152" marR="73152" marT="36576" marB="36576">
                    <a:solidFill>
                      <a:srgbClr val="FFFFFF"/>
                    </a:solidFill>
                  </a:tcPr>
                </a:tc>
                <a:tc>
                  <a:txBody>
                    <a:bodyPr/>
                    <a:lstStyle/>
                    <a:p>
                      <a:r>
                        <a:rPr sz="1200" b="0">
                          <a:solidFill>
                            <a:srgbClr val="1F2937"/>
                          </a:solidFill>
                        </a:rPr>
                        <a:t>200–250 ml</a:t>
                      </a:r>
                    </a:p>
                  </a:txBody>
                  <a:tcPr marL="73152" marR="73152" marT="36576" marB="36576">
                    <a:solidFill>
                      <a:srgbClr val="FFFFFF"/>
                    </a:solidFill>
                  </a:tcPr>
                </a:tc>
                <a:tc>
                  <a:txBody>
                    <a:bodyPr/>
                    <a:lstStyle/>
                    <a:p>
                      <a:r>
                        <a:rPr sz="1200" b="0">
                          <a:solidFill>
                            <a:srgbClr val="1F2937"/>
                          </a:solidFill>
                        </a:rPr>
                        <a:t>Shirin hid</a:t>
                      </a:r>
                    </a:p>
                  </a:txBody>
                  <a:tcPr marL="73152" marR="73152" marT="36576" marB="36576">
                    <a:solidFill>
                      <a:srgbClr val="FFFFFF"/>
                    </a:solidFill>
                  </a:tcPr>
                </a:tc>
              </a:tr>
              <a:tr h="411480">
                <a:tc>
                  <a:txBody>
                    <a:bodyPr/>
                    <a:lstStyle/>
                    <a:p>
                      <a:r>
                        <a:rPr sz="1200" b="0">
                          <a:solidFill>
                            <a:srgbClr val="1F2937"/>
                          </a:solidFill>
                        </a:rPr>
                        <a:t>Amil</a:t>
                      </a:r>
                    </a:p>
                  </a:txBody>
                  <a:tcPr marL="73152" marR="73152" marT="36576" marB="36576">
                    <a:solidFill>
                      <a:srgbClr val="E8EEF6"/>
                    </a:solidFill>
                  </a:tcPr>
                </a:tc>
                <a:tc>
                  <a:txBody>
                    <a:bodyPr/>
                    <a:lstStyle/>
                    <a:p>
                      <a:r>
                        <a:rPr sz="1200" b="0">
                          <a:solidFill>
                            <a:srgbClr val="1F2937"/>
                          </a:solidFill>
                        </a:rPr>
                        <a:t>20–30 ml</a:t>
                      </a:r>
                    </a:p>
                  </a:txBody>
                  <a:tcPr marL="73152" marR="73152" marT="36576" marB="36576">
                    <a:solidFill>
                      <a:srgbClr val="E8EEF6"/>
                    </a:solidFill>
                  </a:tcPr>
                </a:tc>
                <a:tc>
                  <a:txBody>
                    <a:bodyPr/>
                    <a:lstStyle/>
                    <a:p>
                      <a:r>
                        <a:rPr sz="1200" b="0">
                          <a:solidFill>
                            <a:srgbClr val="1F2937"/>
                          </a:solidFill>
                        </a:rPr>
                        <a:t>Sivush moylari hidi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Spirtlar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Etilenglikol va tetraetil qo‘rg‘oshin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Etilenglikol ikki atomli spirt: sarg‘imtir, hidsiz, biroz shirin suyuqlik. Antifriz va tormoz suyuqligida ishlatiladi. Zaharlanish odatda baxtsiz hodisa bo‘ladi.</a:t>
            </a:r>
          </a:p>
          <a:p>
            <a:pPr>
              <a:spcAft>
                <a:spcPts val="1200"/>
              </a:spcAft>
            </a:pPr>
            <a:r>
              <a:rPr sz="2000">
                <a:solidFill>
                  <a:srgbClr val="1F2937"/>
                </a:solidFill>
                <a:latin typeface="Calibri"/>
              </a:rPr>
              <a:t>▸  Etilenglikol alkogoldegidrogenaza ta’sirida oksidlanib, glikol aldegid va oksalat kislotasini hosil qiladi. Bu metabolitlar jigar va buyrakni zaharlaydi.</a:t>
            </a:r>
          </a:p>
          <a:p>
            <a:pPr>
              <a:spcAft>
                <a:spcPts val="1200"/>
              </a:spcAft>
            </a:pPr>
            <a:r>
              <a:rPr sz="2000">
                <a:solidFill>
                  <a:srgbClr val="1F2937"/>
                </a:solidFill>
                <a:latin typeface="Calibri"/>
              </a:rPr>
              <a:t>▸  To‘rt bosqich: mastlik, qisqa yashirin davr, markaziy nerv tizimi (MNT) shikastlanishi, jigar-buyrak shikastlanishi. Letal doza 100-200 ml.</a:t>
            </a:r>
          </a:p>
          <a:p>
            <a:pPr>
              <a:spcAft>
                <a:spcPts val="1200"/>
              </a:spcAft>
            </a:pPr>
            <a:r>
              <a:rPr sz="2000">
                <a:solidFill>
                  <a:srgbClr val="1F2937"/>
                </a:solidFill>
                <a:latin typeface="Calibri"/>
              </a:rPr>
              <a:t>▸  Tetraetil qo‘rg‘oshin olma hidli, yog‘da yaxshi eriydigan suyuqlik; letal doza 10-15 ml. Murdada olma hidi seziladi, ichki a’zolarda 3 oygacha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162, 162-163, 163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spirt va surrogatlar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metil spirtining letal dozasi qancha? Javob: 30-100 ml.</a:t>
            </a:r>
          </a:p>
          <a:p>
            <a:pPr>
              <a:spcAft>
                <a:spcPts val="1200"/>
              </a:spcAft>
            </a:pPr>
            <a:r>
              <a:rPr sz="2200">
                <a:solidFill>
                  <a:srgbClr val="1F2937"/>
                </a:solidFill>
                <a:latin typeface="Calibri"/>
              </a:rPr>
              <a:t>▸  Savol: metanolning toksik metabolitlari qaysilar? Javob: formaldegid va chumoli kislotasi; ular atsidoz va to‘qima nafasining buzilishini chaqiradi.</a:t>
            </a:r>
          </a:p>
          <a:p>
            <a:pPr>
              <a:spcAft>
                <a:spcPts val="1200"/>
              </a:spcAft>
            </a:pPr>
            <a:r>
              <a:rPr sz="2200">
                <a:solidFill>
                  <a:srgbClr val="1F2937"/>
                </a:solidFill>
                <a:latin typeface="Calibri"/>
              </a:rPr>
              <a:t>▸  Savol: epikard ostidagi plakchasimon qon quyilishlar nima deb ataladi? Javob: Kryukov dog‘lari (metanol zaharlanishida).</a:t>
            </a:r>
          </a:p>
          <a:p>
            <a:pPr>
              <a:spcAft>
                <a:spcPts val="1200"/>
              </a:spcAft>
            </a:pPr>
            <a:r>
              <a:rPr sz="2200">
                <a:solidFill>
                  <a:srgbClr val="1F2937"/>
                </a:solidFill>
                <a:latin typeface="Calibri"/>
              </a:rPr>
              <a:t>▸  Diqqat: butil spirtida ichki a’zolardan shirin hid, amil spirtida sivush moylari hidi seziladi. Ularni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bilan bog‘liq o‘lim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“Narkotiklar bilan bog‘liq o‘lim” (DRD) narkotik va psixotrop moddalar bilan bevosita yoki bilvosita bog‘liq o‘limdir: katta doza, uzoq qabul oqibati, o‘z-o‘zini o‘ldirish, baxtsiz hodisa, qotillik.</a:t>
            </a:r>
          </a:p>
          <a:p>
            <a:pPr>
              <a:spcAft>
                <a:spcPts val="1200"/>
              </a:spcAft>
            </a:pPr>
            <a:r>
              <a:rPr sz="2000">
                <a:solidFill>
                  <a:srgbClr val="1F2937"/>
                </a:solidFill>
                <a:latin typeface="Calibri"/>
              </a:rPr>
              <a:t>▸  Moddalar tabiiy (nasha, morfin, kodein, kokain), yarim sintetik (geroin, meskalin, efedron) yoki sintetik (amfetamin, promedol, metadon) bo‘ladi.</a:t>
            </a:r>
          </a:p>
          <a:p>
            <a:pPr>
              <a:spcAft>
                <a:spcPts val="1200"/>
              </a:spcAft>
            </a:pPr>
            <a:r>
              <a:rPr sz="2000">
                <a:solidFill>
                  <a:srgbClr val="1F2937"/>
                </a:solidFill>
                <a:latin typeface="Calibri"/>
              </a:rPr>
              <a:t>▸  Bizning hududda nasha va opiatlar bilan bog‘liq holatlar uchraydi. Kokain iste’moli asosan G‘arbiy yarim shar mamlakatlariga xos.</a:t>
            </a:r>
          </a:p>
          <a:p>
            <a:pPr>
              <a:spcAft>
                <a:spcPts val="1200"/>
              </a:spcAft>
            </a:pPr>
            <a:r>
              <a:rPr sz="2000">
                <a:solidFill>
                  <a:srgbClr val="1F2937"/>
                </a:solidFill>
                <a:latin typeface="Calibri"/>
              </a:rPr>
              <a:t>▸  Opiy ko‘knorining quritilgan sharbati, geroin esa atsetillangan morfin. Nashaning asosiy komponenti tetragidrokannabinol; u tez parchalanadi, shuning uchun o‘lim kam.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 168-169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manbasi, so‘rilishi va chiqarilishi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Opiy — ko‘knori (Papaver somniferum) sharbati; tarkibida morfin, kodein, tebain, narkotin bor.</a:t>
            </a:r>
          </a:p>
          <a:p>
            <a:pPr>
              <a:spcAft>
                <a:spcPts val="800"/>
              </a:spcAft>
            </a:pPr>
            <a:r>
              <a:rPr sz="1800">
                <a:solidFill>
                  <a:srgbClr val="1F2937"/>
                </a:solidFill>
                <a:latin typeface="Calibri"/>
              </a:rPr>
              <a:t>▸  Geroin — opiyning yarim sintetik mahsuli (atsetillangan morfin).</a:t>
            </a:r>
          </a:p>
          <a:p>
            <a:pPr>
              <a:spcAft>
                <a:spcPts val="800"/>
              </a:spcAft>
            </a:pPr>
            <a:r>
              <a:rPr sz="1800">
                <a:solidFill>
                  <a:srgbClr val="1F2937"/>
                </a:solidFill>
                <a:latin typeface="Calibri"/>
              </a:rPr>
              <a:t>▸  Opiatlar jigarda ko‘proq to‘planadi: morfin konsentratsiyasi qondagidan taxminan 5 barobar katta.</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266275"/>
                <a:gridCol w="3021700"/>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Ma’lumot</a:t>
                      </a:r>
                    </a:p>
                  </a:txBody>
                  <a:tcPr marL="73152" marR="73152" marT="36576" marB="36576">
                    <a:solidFill>
                      <a:srgbClr val="0B1F3A"/>
                    </a:solidFill>
                  </a:tcPr>
                </a:tc>
              </a:tr>
              <a:tr h="411480">
                <a:tc>
                  <a:txBody>
                    <a:bodyPr/>
                    <a:lstStyle/>
                    <a:p>
                      <a:r>
                        <a:rPr sz="1300" b="0">
                          <a:solidFill>
                            <a:srgbClr val="1F2937"/>
                          </a:solidFill>
                        </a:rPr>
                        <a:t>Og‘izdan ta’sir boshlanishi</a:t>
                      </a:r>
                    </a:p>
                  </a:txBody>
                  <a:tcPr marL="73152" marR="73152" marT="36576" marB="36576">
                    <a:solidFill>
                      <a:srgbClr val="E8EEF6"/>
                    </a:solidFill>
                  </a:tcPr>
                </a:tc>
                <a:tc>
                  <a:txBody>
                    <a:bodyPr/>
                    <a:lstStyle/>
                    <a:p>
                      <a:r>
                        <a:rPr sz="1300" b="0">
                          <a:solidFill>
                            <a:srgbClr val="1F2937"/>
                          </a:solidFill>
                        </a:rPr>
                        <a:t>20-30 daqiqadan so‘ng</a:t>
                      </a:r>
                    </a:p>
                  </a:txBody>
                  <a:tcPr marL="73152" marR="73152" marT="36576" marB="36576">
                    <a:solidFill>
                      <a:srgbClr val="E8EEF6"/>
                    </a:solidFill>
                  </a:tcPr>
                </a:tc>
              </a:tr>
              <a:tr h="411480">
                <a:tc>
                  <a:txBody>
                    <a:bodyPr/>
                    <a:lstStyle/>
                    <a:p>
                      <a:r>
                        <a:rPr sz="1300" b="0">
                          <a:solidFill>
                            <a:srgbClr val="1F2937"/>
                          </a:solidFill>
                        </a:rPr>
                        <a:t>Teri ostiga in’eksiya</a:t>
                      </a:r>
                    </a:p>
                  </a:txBody>
                  <a:tcPr marL="73152" marR="73152" marT="36576" marB="36576">
                    <a:solidFill>
                      <a:srgbClr val="FFFFFF"/>
                    </a:solidFill>
                  </a:tcPr>
                </a:tc>
                <a:tc>
                  <a:txBody>
                    <a:bodyPr/>
                    <a:lstStyle/>
                    <a:p>
                      <a:r>
                        <a:rPr sz="1300" b="0">
                          <a:solidFill>
                            <a:srgbClr val="1F2937"/>
                          </a:solidFill>
                        </a:rPr>
                        <a:t>10-15 daqiqadan so‘ng</a:t>
                      </a:r>
                    </a:p>
                  </a:txBody>
                  <a:tcPr marL="73152" marR="73152" marT="36576" marB="36576">
                    <a:solidFill>
                      <a:srgbClr val="FFFFFF"/>
                    </a:solidFill>
                  </a:tcPr>
                </a:tc>
              </a:tr>
              <a:tr h="411480">
                <a:tc>
                  <a:txBody>
                    <a:bodyPr/>
                    <a:lstStyle/>
                    <a:p>
                      <a:r>
                        <a:rPr sz="1300" b="0">
                          <a:solidFill>
                            <a:srgbClr val="1F2937"/>
                          </a:solidFill>
                        </a:rPr>
                        <a:t>Chiqarilish yo‘li</a:t>
                      </a:r>
                    </a:p>
                  </a:txBody>
                  <a:tcPr marL="73152" marR="73152" marT="36576" marB="36576">
                    <a:solidFill>
                      <a:srgbClr val="E8EEF6"/>
                    </a:solidFill>
                  </a:tcPr>
                </a:tc>
                <a:tc>
                  <a:txBody>
                    <a:bodyPr/>
                    <a:lstStyle/>
                    <a:p>
                      <a:r>
                        <a:rPr sz="1300" b="0">
                          <a:solidFill>
                            <a:srgbClr val="1F2937"/>
                          </a:solidFill>
                        </a:rPr>
                        <a:t>Buyrak, oshqozon-ichak</a:t>
                      </a:r>
                    </a:p>
                  </a:txBody>
                  <a:tcPr marL="73152" marR="73152" marT="36576" marB="36576">
                    <a:solidFill>
                      <a:srgbClr val="E8EEF6"/>
                    </a:solidFill>
                  </a:tcPr>
                </a:tc>
              </a:tr>
              <a:tr h="411480">
                <a:tc>
                  <a:txBody>
                    <a:bodyPr/>
                    <a:lstStyle/>
                    <a:p>
                      <a:r>
                        <a:rPr sz="1300" b="0">
                          <a:solidFill>
                            <a:srgbClr val="1F2937"/>
                          </a:solidFill>
                        </a:rPr>
                        <a:t>Morfin chiqarilishi</a:t>
                      </a:r>
                    </a:p>
                  </a:txBody>
                  <a:tcPr marL="73152" marR="73152" marT="36576" marB="36576">
                    <a:solidFill>
                      <a:srgbClr val="FFFFFF"/>
                    </a:solidFill>
                  </a:tcPr>
                </a:tc>
                <a:tc>
                  <a:txBody>
                    <a:bodyPr/>
                    <a:lstStyle/>
                    <a:p>
                      <a:r>
                        <a:rPr sz="1300" b="0">
                          <a:solidFill>
                            <a:srgbClr val="1F2937"/>
                          </a:solidFill>
                        </a:rPr>
                        <a:t>Maksimum 8-12 soatda; 3-4 kunda ~90%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Opiatlar toksikokinetikasi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bilan zaharlanish klinikasi va letal dozalar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 ko‘ngil aynishi, qusish, keskin sianoz, qorachiq torayishi, hansirash, karaxtlik kuzatiladi.</a:t>
            </a:r>
          </a:p>
          <a:p>
            <a:pPr>
              <a:spcAft>
                <a:spcPts val="800"/>
              </a:spcAft>
            </a:pPr>
            <a:r>
              <a:rPr sz="1800">
                <a:solidFill>
                  <a:srgbClr val="1F2937"/>
                </a:solidFill>
                <a:latin typeface="Calibri"/>
              </a:rPr>
              <a:t>▸  Keyin koma rivojlanadi; o‘lim nafas olish markazi falajidan sodir bo‘ladi.</a:t>
            </a:r>
          </a:p>
          <a:p>
            <a:pPr>
              <a:spcAft>
                <a:spcPts val="800"/>
              </a:spcAft>
            </a:pPr>
            <a:r>
              <a:rPr sz="1800">
                <a:solidFill>
                  <a:srgbClr val="1F2937"/>
                </a:solidFill>
                <a:latin typeface="Calibri"/>
              </a:rPr>
              <a:t>▸  Morfin murda to‘qimalarida uzoq parchalanmaydi; o‘limdan bir necha oy keyin ham aniqlanishi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82110"/>
                <a:gridCol w="2805864"/>
              </a:tblGrid>
              <a:tr h="411480">
                <a:tc>
                  <a:txBody>
                    <a:bodyPr/>
                    <a:lstStyle/>
                    <a:p>
                      <a:r>
                        <a:rPr sz="1400" b="1">
                          <a:solidFill>
                            <a:srgbClr val="FFFFFF"/>
                          </a:solidFill>
                        </a:rPr>
                        <a:t>Modda, yo‘li</a:t>
                      </a:r>
                    </a:p>
                  </a:txBody>
                  <a:tcPr marL="73152" marR="73152" marT="36576" marB="36576">
                    <a:solidFill>
                      <a:srgbClr val="0B1F3A"/>
                    </a:solidFill>
                  </a:tcPr>
                </a:tc>
                <a:tc>
                  <a:txBody>
                    <a:bodyPr/>
                    <a:lstStyle/>
                    <a:p>
                      <a:r>
                        <a:rPr sz="1400" b="1">
                          <a:solidFill>
                            <a:srgbClr val="FFFFFF"/>
                          </a:solidFill>
                        </a:rPr>
                        <a:t>Letal doza</a:t>
                      </a:r>
                    </a:p>
                  </a:txBody>
                  <a:tcPr marL="73152" marR="73152" marT="36576" marB="36576">
                    <a:solidFill>
                      <a:srgbClr val="0B1F3A"/>
                    </a:solidFill>
                  </a:tcPr>
                </a:tc>
              </a:tr>
              <a:tr h="411480">
                <a:tc>
                  <a:txBody>
                    <a:bodyPr/>
                    <a:lstStyle/>
                    <a:p>
                      <a:r>
                        <a:rPr sz="1300" b="0">
                          <a:solidFill>
                            <a:srgbClr val="1F2937"/>
                          </a:solidFill>
                        </a:rPr>
                        <a:t>Quruq opiy, ichga</a:t>
                      </a:r>
                    </a:p>
                  </a:txBody>
                  <a:tcPr marL="73152" marR="73152" marT="36576" marB="36576">
                    <a:solidFill>
                      <a:srgbClr val="E8EEF6"/>
                    </a:solidFill>
                  </a:tcPr>
                </a:tc>
                <a:tc>
                  <a:txBody>
                    <a:bodyPr/>
                    <a:lstStyle/>
                    <a:p>
                      <a:r>
                        <a:rPr sz="1300" b="0">
                          <a:solidFill>
                            <a:srgbClr val="1F2937"/>
                          </a:solidFill>
                        </a:rPr>
                        <a:t>2-5 g</a:t>
                      </a:r>
                    </a:p>
                  </a:txBody>
                  <a:tcPr marL="73152" marR="73152" marT="36576" marB="36576">
                    <a:solidFill>
                      <a:srgbClr val="E8EEF6"/>
                    </a:solidFill>
                  </a:tcPr>
                </a:tc>
              </a:tr>
              <a:tr h="411480">
                <a:tc>
                  <a:txBody>
                    <a:bodyPr/>
                    <a:lstStyle/>
                    <a:p>
                      <a:r>
                        <a:rPr sz="1300" b="0">
                          <a:solidFill>
                            <a:srgbClr val="1F2937"/>
                          </a:solidFill>
                        </a:rPr>
                        <a:t>Morfin, ichga</a:t>
                      </a:r>
                    </a:p>
                  </a:txBody>
                  <a:tcPr marL="73152" marR="73152" marT="36576" marB="36576">
                    <a:solidFill>
                      <a:srgbClr val="FFFFFF"/>
                    </a:solidFill>
                  </a:tcPr>
                </a:tc>
                <a:tc>
                  <a:txBody>
                    <a:bodyPr/>
                    <a:lstStyle/>
                    <a:p>
                      <a:r>
                        <a:rPr sz="1300" b="0">
                          <a:solidFill>
                            <a:srgbClr val="1F2937"/>
                          </a:solidFill>
                        </a:rPr>
                        <a:t>0,2-0,4 g</a:t>
                      </a:r>
                    </a:p>
                  </a:txBody>
                  <a:tcPr marL="73152" marR="73152" marT="36576" marB="36576">
                    <a:solidFill>
                      <a:srgbClr val="FFFFFF"/>
                    </a:solidFill>
                  </a:tcPr>
                </a:tc>
              </a:tr>
              <a:tr h="411480">
                <a:tc>
                  <a:txBody>
                    <a:bodyPr/>
                    <a:lstStyle/>
                    <a:p>
                      <a:r>
                        <a:rPr sz="1300" b="0">
                          <a:solidFill>
                            <a:srgbClr val="1F2937"/>
                          </a:solidFill>
                        </a:rPr>
                        <a:t>Morfin, parenteral</a:t>
                      </a:r>
                    </a:p>
                  </a:txBody>
                  <a:tcPr marL="73152" marR="73152" marT="36576" marB="36576">
                    <a:solidFill>
                      <a:srgbClr val="E8EEF6"/>
                    </a:solidFill>
                  </a:tcPr>
                </a:tc>
                <a:tc>
                  <a:txBody>
                    <a:bodyPr/>
                    <a:lstStyle/>
                    <a:p>
                      <a:r>
                        <a:rPr sz="1300" b="0">
                          <a:solidFill>
                            <a:srgbClr val="1F2937"/>
                          </a:solidFill>
                        </a:rPr>
                        <a:t>0,1-0,2 g</a:t>
                      </a:r>
                    </a:p>
                  </a:txBody>
                  <a:tcPr marL="73152" marR="73152" marT="36576" marB="36576">
                    <a:solidFill>
                      <a:srgbClr val="E8EEF6"/>
                    </a:solidFill>
                  </a:tcPr>
                </a:tc>
              </a:tr>
              <a:tr h="411480">
                <a:tc>
                  <a:txBody>
                    <a:bodyPr/>
                    <a:lstStyle/>
                    <a:p>
                      <a:r>
                        <a:rPr sz="1300" b="0">
                          <a:solidFill>
                            <a:srgbClr val="1F2937"/>
                          </a:solidFill>
                        </a:rPr>
                        <a:t>Zaharlanish davomiyligi</a:t>
                      </a:r>
                    </a:p>
                  </a:txBody>
                  <a:tcPr marL="73152" marR="73152" marT="36576" marB="36576">
                    <a:solidFill>
                      <a:srgbClr val="FFFFFF"/>
                    </a:solidFill>
                  </a:tcPr>
                </a:tc>
                <a:tc>
                  <a:txBody>
                    <a:bodyPr/>
                    <a:lstStyle/>
                    <a:p>
                      <a:r>
                        <a:rPr sz="1300" b="0">
                          <a:solidFill>
                            <a:srgbClr val="1F2937"/>
                          </a:solidFill>
                        </a:rPr>
                        <a:t>Bir necha soatdan kungacha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Opiatlarning letal dozalari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168-169, 169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Bog‘liqlik, abstinensiya va siydikda aniqlanish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Qayta qabul qilinsa ruhiy bog‘liqlik va tolerantlik (jismoniy bog‘liqlik) rivojlanib, doza oshiriladi.</a:t>
            </a:r>
          </a:p>
          <a:p>
            <a:pPr>
              <a:spcAft>
                <a:spcPts val="800"/>
              </a:spcAft>
            </a:pPr>
            <a:r>
              <a:rPr sz="1800">
                <a:solidFill>
                  <a:srgbClr val="1F2937"/>
                </a:solidFill>
                <a:latin typeface="Calibri"/>
              </a:rPr>
              <a:t>▸  Opiatlarga o‘rganish o‘rtacha 25-30 kunda shakllanadi; doza kuniga 10,0 g gacha ko‘tarilishi mumkin.</a:t>
            </a:r>
          </a:p>
          <a:p>
            <a:pPr>
              <a:spcAft>
                <a:spcPts val="800"/>
              </a:spcAft>
            </a:pPr>
            <a:r>
              <a:rPr sz="1800">
                <a:solidFill>
                  <a:srgbClr val="1F2937"/>
                </a:solidFill>
                <a:latin typeface="Calibri"/>
              </a:rPr>
              <a:t>▸  Qabul to‘xtatilsa, abstinensiya sindromi 5-6 kun davom etadi.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375303"/>
                <a:gridCol w="1912671"/>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Ma’lumot</a:t>
                      </a:r>
                    </a:p>
                  </a:txBody>
                  <a:tcPr marL="73152" marR="73152" marT="36576" marB="36576">
                    <a:solidFill>
                      <a:srgbClr val="0B1F3A"/>
                    </a:solidFill>
                  </a:tcPr>
                </a:tc>
              </a:tr>
              <a:tr h="411480">
                <a:tc>
                  <a:txBody>
                    <a:bodyPr/>
                    <a:lstStyle/>
                    <a:p>
                      <a:r>
                        <a:rPr sz="1300" b="0">
                          <a:solidFill>
                            <a:srgbClr val="1F2937"/>
                          </a:solidFill>
                        </a:rPr>
                        <a:t>Geroin siydikda paydo bo‘lishi</a:t>
                      </a:r>
                    </a:p>
                  </a:txBody>
                  <a:tcPr marL="73152" marR="73152" marT="36576" marB="36576">
                    <a:solidFill>
                      <a:srgbClr val="E8EEF6"/>
                    </a:solidFill>
                  </a:tcPr>
                </a:tc>
                <a:tc>
                  <a:txBody>
                    <a:bodyPr/>
                    <a:lstStyle/>
                    <a:p>
                      <a:r>
                        <a:rPr sz="1300" b="0">
                          <a:solidFill>
                            <a:srgbClr val="1F2937"/>
                          </a:solidFill>
                        </a:rPr>
                        <a:t>2-6 soatdan so‘ng</a:t>
                      </a:r>
                    </a:p>
                  </a:txBody>
                  <a:tcPr marL="73152" marR="73152" marT="36576" marB="36576">
                    <a:solidFill>
                      <a:srgbClr val="E8EEF6"/>
                    </a:solidFill>
                  </a:tcPr>
                </a:tc>
              </a:tr>
              <a:tr h="411480">
                <a:tc>
                  <a:txBody>
                    <a:bodyPr/>
                    <a:lstStyle/>
                    <a:p>
                      <a:r>
                        <a:rPr sz="1300" b="0">
                          <a:solidFill>
                            <a:srgbClr val="1F2937"/>
                          </a:solidFill>
                        </a:rPr>
                        <a:t>Geroin aniqlanish muddati</a:t>
                      </a:r>
                    </a:p>
                  </a:txBody>
                  <a:tcPr marL="73152" marR="73152" marT="36576" marB="36576">
                    <a:solidFill>
                      <a:srgbClr val="FFFFFF"/>
                    </a:solidFill>
                  </a:tcPr>
                </a:tc>
                <a:tc>
                  <a:txBody>
                    <a:bodyPr/>
                    <a:lstStyle/>
                    <a:p>
                      <a:r>
                        <a:rPr sz="1300" b="0">
                          <a:solidFill>
                            <a:srgbClr val="1F2937"/>
                          </a:solidFill>
                        </a:rPr>
                        <a:t>24-72 soat</a:t>
                      </a:r>
                    </a:p>
                  </a:txBody>
                  <a:tcPr marL="73152" marR="73152" marT="36576" marB="36576">
                    <a:solidFill>
                      <a:srgbClr val="FFFFFF"/>
                    </a:solidFill>
                  </a:tcPr>
                </a:tc>
              </a:tr>
              <a:tr h="411480">
                <a:tc>
                  <a:txBody>
                    <a:bodyPr/>
                    <a:lstStyle/>
                    <a:p>
                      <a:r>
                        <a:rPr sz="1300" b="0">
                          <a:solidFill>
                            <a:srgbClr val="1F2937"/>
                          </a:solidFill>
                        </a:rPr>
                        <a:t>Qon namunasi (narkotiklar)</a:t>
                      </a:r>
                    </a:p>
                  </a:txBody>
                  <a:tcPr marL="73152" marR="73152" marT="36576" marB="36576">
                    <a:solidFill>
                      <a:srgbClr val="E8EEF6"/>
                    </a:solidFill>
                  </a:tcPr>
                </a:tc>
                <a:tc>
                  <a:txBody>
                    <a:bodyPr/>
                    <a:lstStyle/>
                    <a:p>
                      <a:r>
                        <a:rPr sz="1300" b="0">
                          <a:solidFill>
                            <a:srgbClr val="1F2937"/>
                          </a:solidFill>
                        </a:rPr>
                        <a:t>15-20 ml</a:t>
                      </a:r>
                    </a:p>
                  </a:txBody>
                  <a:tcPr marL="73152" marR="73152" marT="36576" marB="36576">
                    <a:solidFill>
                      <a:srgbClr val="E8EEF6"/>
                    </a:solidFill>
                  </a:tcPr>
                </a:tc>
              </a:tr>
              <a:tr h="411480">
                <a:tc>
                  <a:txBody>
                    <a:bodyPr/>
                    <a:lstStyle/>
                    <a:p>
                      <a:r>
                        <a:rPr sz="1300" b="0">
                          <a:solidFill>
                            <a:srgbClr val="1F2937"/>
                          </a:solidFill>
                        </a:rPr>
                        <a:t>Siydik namunasi</a:t>
                      </a:r>
                    </a:p>
                  </a:txBody>
                  <a:tcPr marL="73152" marR="73152" marT="36576" marB="36576">
                    <a:solidFill>
                      <a:srgbClr val="FFFFFF"/>
                    </a:solidFill>
                  </a:tcPr>
                </a:tc>
                <a:tc>
                  <a:txBody>
                    <a:bodyPr/>
                    <a:lstStyle/>
                    <a:p>
                      <a:r>
                        <a:rPr sz="1300" b="0">
                          <a:solidFill>
                            <a:srgbClr val="1F2937"/>
                          </a:solidFill>
                        </a:rPr>
                        <a:t>Kamida 200 ml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Geroin va namuna olish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170, 171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iste’molining murdadagi to‘rt guruh belgisi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Birinchi guruh — moddaga xos neyrokimyoviy o‘zgarishlar. Ular faqat tajribada yoki o‘limdan keyin juda qisqa vaqtda aniqlanadi, shuning uchun ekspertiza amaliyotida ahamiyati yo‘q.</a:t>
            </a:r>
          </a:p>
          <a:p>
            <a:pPr>
              <a:spcAft>
                <a:spcPts val="1200"/>
              </a:spcAft>
            </a:pPr>
            <a:r>
              <a:rPr sz="2000">
                <a:solidFill>
                  <a:srgbClr val="1F2937"/>
                </a:solidFill>
                <a:latin typeface="Calibri"/>
              </a:rPr>
              <a:t>▸  Ikkinchi guruh — moddani qayta-qayta qabul qilish izlari: venalar bo‘ylab yaralar va chandiqlar, nosteril eritma asoratlari, o‘pka va jigarda granulemalar.</a:t>
            </a:r>
          </a:p>
          <a:p>
            <a:pPr>
              <a:spcAft>
                <a:spcPts val="1200"/>
              </a:spcAft>
            </a:pPr>
            <a:r>
              <a:rPr sz="2000">
                <a:solidFill>
                  <a:srgbClr val="1F2937"/>
                </a:solidFill>
                <a:latin typeface="Calibri"/>
              </a:rPr>
              <a:t>▸  Uchinchi — in’eksiya bilan bog‘liq infeksiyalar: OITS (orttirilgan immun tanqisligi sindromi), gepatit B, C, D. To‘rtinchi — turmush tarzi izlari: ozg‘inlik, tuberkulyoz, tatuirovka.</a:t>
            </a:r>
          </a:p>
          <a:p>
            <a:pPr>
              <a:spcAft>
                <a:spcPts val="1200"/>
              </a:spcAft>
            </a:pPr>
            <a:r>
              <a:rPr sz="2000">
                <a:solidFill>
                  <a:srgbClr val="1F2937"/>
                </a:solidFill>
                <a:latin typeface="Calibri"/>
              </a:rPr>
              <a:t>▸  Diqqat: bu o‘zgarishlar iste’molni qat’iy isbotlamaydi, ular bilvosita dalil. Voqea tafsiloti, klinik ma’lumot va sud-kimyoviy natija bilan birga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opiatlardan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davolash muassasasiga hushsiz (koma) shaxs keltirildi. Qorachiqlari tor, sianoz bor. Bu belgilar opiatlar bilan zaharlanishga xos.</a:t>
            </a:r>
          </a:p>
          <a:p>
            <a:pPr>
              <a:spcAft>
                <a:spcPts val="1200"/>
              </a:spcAft>
            </a:pPr>
            <a:r>
              <a:rPr sz="2200">
                <a:solidFill>
                  <a:srgbClr val="1F2937"/>
                </a:solidFill>
                <a:latin typeface="Calibri"/>
              </a:rPr>
              <a:t>▸  Savol: qanday namuna olinadi? Javob: iste’mol shubha qilingan shaxsdan 15–20 ml qon va kamida 200 ml siydik, imkon qadar tezroq.</a:t>
            </a:r>
          </a:p>
          <a:p>
            <a:pPr>
              <a:spcAft>
                <a:spcPts val="1200"/>
              </a:spcAft>
            </a:pPr>
            <a:r>
              <a:rPr sz="2200">
                <a:solidFill>
                  <a:srgbClr val="1F2937"/>
                </a:solidFill>
                <a:latin typeface="Calibri"/>
              </a:rPr>
              <a:t>▸  Savol: geroin siydikda qachon topiladi? Javob: qabul qilingandan 2–6 soat o‘tgach boshlab, taxminan 24–72 soat davomida aniqlanadi.</a:t>
            </a:r>
          </a:p>
          <a:p>
            <a:pPr>
              <a:spcAft>
                <a:spcPts val="1200"/>
              </a:spcAft>
            </a:pPr>
            <a:r>
              <a:rPr sz="2200">
                <a:solidFill>
                  <a:srgbClr val="1F2937"/>
                </a:solidFill>
                <a:latin typeface="Calibri"/>
              </a:rPr>
              <a:t>▸  Morfin to‘qimalarda uzoq parchalanmaydi. O‘limdan bir necha oy keyin ham sud-kimyoviy tekshiruvda aniqlanishi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 171, 169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tekshiruvlarining ahamiyati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Soxta musbat natija: zahar zaharlanishsiz ham topilishi mumkin. Sabab — modda dori sifatida berilgani, chirishda hosil bo‘lgani, kasbiy aloqa yoki namuna olishdagi xato.</a:t>
            </a:r>
          </a:p>
          <a:p>
            <a:pPr>
              <a:spcAft>
                <a:spcPts val="1200"/>
              </a:spcAft>
            </a:pPr>
            <a:r>
              <a:rPr sz="2000">
                <a:solidFill>
                  <a:srgbClr val="1F2937"/>
                </a:solidFill>
                <a:latin typeface="Calibri"/>
              </a:rPr>
              <a:t>▸  Soxta manfiy natija: zaharlanish bo‘lsa ham zahar topilmasligi mumkin. Modda tez parchalangan, infuzion davo o‘tkazilgan, vaqt ko‘p o‘tgan yoki usul ishlab chiqilmagan bo‘lishi mumkin.</a:t>
            </a:r>
          </a:p>
          <a:p>
            <a:pPr>
              <a:spcAft>
                <a:spcPts val="1200"/>
              </a:spcAft>
            </a:pPr>
            <a:r>
              <a:rPr sz="2000">
                <a:solidFill>
                  <a:srgbClr val="1F2937"/>
                </a:solidFill>
                <a:latin typeface="Calibri"/>
              </a:rPr>
              <a:t>▸  Zaharlanish alomatli bemor keltirilsa, ob’ektlar imkon qadar tez olinadi: qon, siydik, oshqozon yuvmasi, qusuq massa, axlat, kerak bo‘lsa zahar qoldig‘i yoki idishi.</a:t>
            </a:r>
          </a:p>
          <a:p>
            <a:pPr>
              <a:spcAft>
                <a:spcPts val="1200"/>
              </a:spcAft>
            </a:pPr>
            <a:r>
              <a:rPr sz="2000">
                <a:solidFill>
                  <a:srgbClr val="1F2937"/>
                </a:solidFill>
                <a:latin typeface="Calibri"/>
              </a:rPr>
              <a:t>▸  Xulosa: laboratoriya natijasi voqea tafsiloti, klinik ma’lumot va murdaning makroskopik tekshiruvi bilan birga, tanqidiy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180, 181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metanol ham, etilenglikol ham o‘zi emas, metabolitlari bilan kuchli zaharlaydi. Metanol formaldegid va chumoli kislotasiga, etilenglikol esa oksalat kislotasiga aylanadi. Paratselsning ‘‘doza zaharga aylantiradi’’ iborasi shu yerda yaxshi ko‘rinadi.</a:t>
            </a:r>
          </a:p>
          <a:p>
            <a:pPr>
              <a:spcAft>
                <a:spcPts val="1200"/>
              </a:spcAft>
            </a:pPr>
            <a:r>
              <a:rPr sz="1800">
                <a:solidFill>
                  <a:srgbClr val="1F2937"/>
                </a:solidFill>
                <a:latin typeface="Calibri"/>
              </a:rPr>
              <a:t>▸  Eslab qolish usuli: mastlik darajalari qondagi etil spirti miqdori bo‘yicha beriladi. 0,5–1,5 promille engil, 1,5–2,5 o‘rta, 2,5–3,0 kuchli mastlik. 3,0 dan yuqori bo‘lsa zaharlanish hisoblanadi. Murda qonida 5,0 promille va undan ko‘p bo‘lsa, o‘lim sababi o‘tkir zaharlanishdir.</a:t>
            </a:r>
          </a:p>
          <a:p>
            <a:pPr>
              <a:spcAft>
                <a:spcPts val="1200"/>
              </a:spcAft>
            </a:pPr>
            <a:r>
              <a:rPr sz="1800">
                <a:solidFill>
                  <a:srgbClr val="1F2937"/>
                </a:solidFill>
                <a:latin typeface="Calibri"/>
              </a:rPr>
              <a:t>▸  Qon va siydikdagi alkogol miqdorini solishtirish ichimlik qachon ichilganini taxmin qilishga yordam beradi. Rezorbsiya davrida qondagi miqdor siydikdagidan yuqori bo‘ladi. Eliminatsiya davrida esa siydikdagi miqdor qondagidan yuqori bo‘ladi.</a:t>
            </a:r>
          </a:p>
          <a:p>
            <a:pPr>
              <a:spcAft>
                <a:spcPts val="1200"/>
              </a:spcAft>
            </a:pPr>
            <a:r>
              <a:rPr sz="1800">
                <a:solidFill>
                  <a:srgbClr val="1F2937"/>
                </a:solidFill>
                <a:latin typeface="Calibri"/>
              </a:rPr>
              <a:t>▸  Opiatlar haqida qiziqarli fakt: morfin jigarda qondagiga nisbatan qariyb besh barobar ko‘p to‘planadi. Dastlabki 3-4 kunda uning 90% ga yaqini chiqib ketadi. Biroq murdada u parchalanmaydi, shuning uchun o‘limdan bir necha oy keyin ham sud-kimyo tekshiruvida topilishi mumkin.</a:t>
            </a:r>
          </a:p>
          <a:p>
            <a:pPr>
              <a:spcAft>
                <a:spcPts val="1200"/>
              </a:spcAft>
            </a:pPr>
            <a:r>
              <a:rPr sz="1800">
                <a:solidFill>
                  <a:srgbClr val="1F2937"/>
                </a:solidFill>
                <a:latin typeface="Calibri"/>
              </a:rPr>
              <a:t>▸  Toksikologik tekshiruvda ‘‘uch nuqta’’ qoidasi qo‘llanadi. Namuna zahar kirgan, asosan ta’sir etgan va organizmdan chiqqan joylardan olinadi. Masalan, og‘iz orqali qabul qilingan zaharda oshqozon ichidagi massa, jigarning bir qismi va butun buyrak siydik bilan olinadi.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muolajada dori dozasini belgilashda xato qildi, bemor zaharlandi. Bu zaharlanish qaysi turga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Qasddan qilingan qotillik sifatida zaharlash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Yatrogen kelib chiqishli tasodifiy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Zaharlanish orqali o‘z-o‘zini o‘ldirish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Kasbiy faoliyat bilan bog‘liq zaharlanish turi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Ishchining butun terisiga fosfororganik modda tushdi. Nima uchun zahar teri orqali qonga o‘tishi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Gazsimon holatda bo‘lgani uchun faqat o‘pkadan o‘tadi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mahalliy ta’sir ko‘rsatgani uchun qonga o‘tmaydi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Yog‘da yaxshi erigani uchun shikastlanmagan teridan so‘riladi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Jigardan o‘tmagani uchun so‘rilishi sekinlashadi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Bola va kattalar bir xil miqdordagi zahar qabul qildi, bolada ta’sir kuchliroq bo‘ldi. Bu holat qaysi sabab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Vazni kichikligi va qarshilik tizimi to‘liq shakllanmaganligi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Jinsiga bog‘liq farq va jigar fermentlarining kuchliligi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Oshqozonida massa ko‘pligi va zaharning sekin so‘rilishi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Tolerantlik rivojlanganligi va zaharga o‘rganib qolishi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Paratselsning iborasiga ko‘ra, bir moddani dori yoki zaharga nima aylantiradi?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Moddaning rangi, hidi va ta’mi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Moddaning tabiiy yoki sintetik kelib chiqishi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Moddaning qadimdan ma’lumligi va tarqalishi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Moddaning ma’lum miqdori, ya’ni dozasi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toksikologiya toksikologiyaning boshqa yo‘nalishlaridan qaysi jihati bilan farqlanadi?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Huquqni muhofaza idoralari qo‘ygan vazifalarni hal etadi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Zaharlanishlarning oldini olish choralarini ishlab chiqadi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Jabrlanganlarga malakali tibbiy yordam ko‘rsatishni o‘rgatadi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Zaharlanish sabablarini faqat sanoat sharoitida o‘rganadi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 gazi va karbonat angidridi ikkalasi ham uglerod va kislorod atomlaridan iborat, ammo ularning toksik ta’siri bir xil emas. Bu qaysi omilga misol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Zaharning organizmga kirish yo‘li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Organizmning yoshi va jinsi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Zaharli moddaning kimyoviy tuzilishi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Ta’sir vaqtidagi tashqi sharoit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hodisa joyida dori idishlari, ishlatilgan shpritslar va qusuq moddalarini ko‘zdan kechirdi. Bu diagnostikaning qaysi bosqichiga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Birinchi bosqich: hodisa joyini ko‘zdan kechirish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Ikkinchi bosqich: murdani tashqi va ichki tekshirish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Uchinchi bosqich: qo‘shimcha laboratoriya tekshiruvi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 amal diagnostika bosqichlariga kirmaydi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Og‘iz orqali qabul qilingan zahar asosan jigarga ta’sir etib, siydik bilan chiqariladi. “Uch nuqta” qoidasiga ko‘ra toksikologik tekshiruvga murdadan nima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miyaning uchdan biri va 100-200 ml qon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 massasi va bir metr ingichka ichak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O‘pkaning to‘rtdan biri va o‘t qopi o‘t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Oshqozon massasi, jigar qismi, buyrak siydik bilan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murda dog‘lari yorqin olcha rangda, ichki a’zolardan achchiq bodom hidi keladi. Qaysi zahardan zaharlanishga shubha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 gazi bilan zaharlanishga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Sianidlar bilan zaharlanishga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Metgemoglobin hosil qiluvchi zaharga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Gemoliz chaqiruvchi zaharga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Fosfororganik birikmalar jigarda oksidlanganda ularning toksik xususiyati qanday o‘zgaradi?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Toksik xususiyati kuchayadi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Toksik xususiyati susayadi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Toksik xususiyati o‘zgarmaydi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Toksik xususiyati butunlay yo‘qoladi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Etil spirtining narkotik ta’siri asosan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Orqa miya reflekslarining keskin kuchayishi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 miya po‘stlog‘ining tormozlanishi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tomirlar devorining nekrozga uchrashi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Yurak mushaklarida moddaning to‘planishi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Yigit oz miqdorda spirt ichdi. Qonida spirt juda ko‘p bo‘lmasa ham, kuchli zaharlanish belgilari paydo bo‘ldi. Qaysi xususiyat buni tushuntiradi?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Alkogoldegidrogenaza faolligining juda pastligi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Katalaza fermentining jigarda to‘liq yo‘qligi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Spirtning faqat o‘pka orqali chiqarilishi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Aldegiddegidrogenaza yetishmovchiligi bo‘lishi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Tekshiruvda shaxs distillangan suvga havo chiqardi. Sulfat kislota va kaliy permanganat qo‘shilgach, sinov probirkasida pushti rang yo‘qoldi. Bu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Chiqarilgan havoda alkogol borligini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Organizmda alkogol umuman yo‘qligini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Probirka idishi toza emasligini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Havoda atsetaldegid bo‘lmaganligini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Haydovchining qonida 2,0 promille etil spirti aniqlandi. Amaldagi qoidalarga ko‘ra bu qaysi daraja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darajali mastlik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Kuchli darajali mastlik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O‘rta darajali mastlik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Zaharlanish deb baholanadi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Odam spirtli ichimlik ichgach, bir necha kundan keyin vafot etdi. Qonda spirt past yoki umuman topilmadi. Bunday holatda o‘lim sababi odatda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 5,0 promilledan ortiq spirt borligi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Alkogol fonida yurak kasalligidagi o‘tkir yurak yetishmovchiligi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Yuqori molekulyar spirtlardan o‘tkir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Etil spirtining organizmda to‘planib qolishi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etil spirti o‘rniga metil spirtini (metanol) ichgan. Uning kuchli toksik ta’sirini asosan nima belgilaydi?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Metanolning o‘zgarmagan butun molekulasi kuchli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Oksidlanish metabolitlari: formaldegid va chumoli kislotasi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Metanolning etil spirtiga qaraganda tezroq oksidlanishi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Metanolning organizmdan juda tez chiqib ketishi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Metanoldan o‘lgan shaxs murdasida epikard ostida, ayniqsa chap kameralar sohasida, plakchasimon qon quyilishlar topildi. Ular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Sulema buyragi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Poxmele sindromi alomati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Opistotonus holati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Kryukov dog‘lari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Antifriz (etilenglikol) ichgan shaxsda mastlik va qisqa yashirin davrdan keyin MNT shikastlanishi, so‘ng jigar va buyrak shikastlanishi belgilari paydo bo‘ldi. Bu nechanchi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To‘rtinchi bosqich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Birinchi bosqich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Ikkinchi bosqich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Uchinchi bosqich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Morfinning jigar to‘qimasidagi konsentratsiyasi qondagiga nisbatan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Qondagiga nisbatan taxminan teng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Qondagidan qariyb ikki barobar kam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Qondagidan qariyb besh barobar katta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Qondagidan qariyb yigirma barobar katta bo‘ladi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Geroin iste’mol qilgan shaxsda ko‘ngil aynishi, sianoz, torayган qorachiqlar, so‘ng koma rivojlandi. O‘lim sababi odatda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Yurak qorinchalarining fibrillyasiyasi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olish markazining falaji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O‘tkir jigar-buyrak yetishmovchiligi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bosimining keskin ko‘tarilishi</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Yatrogen kelib chiqishli tasodifiy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Ayrim tasodifiy zaharlanishlar yatrogen bo‘ladi. Bunda tibbiy muolajada dori dozasi noto‘g‘ri belgilanadi yoki bir dori o‘rniga boshqa modda xato qo‘llanadi. Qotillik va o‘z-o‘zini o‘ldirishda zaharlanish qasddan sodir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Yog‘da yaxshi erigani uchun shikastlanmagan teridan so‘riladi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Fosfororganik birikmalar yog‘da yaxshi eriydi. Shu sababli ular shilliq qavatlar orqali ham, shikastlanmagan teri orqali ham so‘rilib, qonga o‘tishi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133-bet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Vazni kichikligi va qarshilik tizimi to‘liq shakllanmaganligi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 kattalarga nisbatan sezgirroq. Bir tomondan ularning vazni kichik, ikkinchi tomondan umumiy qarshilik ko‘rsatish tizimi hali to‘liq shakllanmagan.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Moddaning ma’lum miqdori, ya’ni dozasi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nisbiy tushuncha. Tabiatda mutloq zahar ham, mutloq beziyon modda ham yo‘q. Paratselsga ko‘ra faqat ma’lum doza moddani dori yoki zaharga aylantiradi.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Huquqni muhofaza idoralari qo‘ygan vazifalarni hal etadi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Boshqa toksikologiya turlari sabablarni, tibbiy yordamni va oldini olishni o‘rganadi. Sud-tibbiy toksikologiya esa zaharlanish hollarida huquqni muhofaza etuvchi idoralar qo‘ygan vazifalarni hal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Zaharli moddaning kimyoviy tuzilishi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zaharli modda bilan bog‘liq omillar orasida kimyoviy tuzilish birinchi sanalgan. Is gazi va karbonat angidridi o‘xshash tuzilishga ega bo‘lsa-da, toksik xususiyatlari farq qiladi. Qolgan variantlar zaharlanishdagi boshqa omillar guruhlariga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132-133-bet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Birinchi bosqich: hodisa joyini ko‘zdan kechirish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bosqichda hodisa yoki murda topilgan joy mutaxassis ishtirokida ko‘zdan kechiriladi. Dori idishlari, shpritslar, retseptlar va qusuq moddalarga e’tibor beriladi. Murda tekshiruvi ikkinchi, laboratoriya tekshiruvi uchinchi bosqichga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135-136-bet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Oshqozon massasi, jigar qismi, buyrak siydik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Qoidaga ko‘ra ob’ektlar zahar kirgan, asosan ta’sir etgan va chiqqan joylardan olinadi. Bu holatda oshqozon ichidagi massa, jigarning bir qismi va butun buyrak siydik bilan olinadi. Boshqa variantlar manba noma’lum bo‘lgandagi ro‘yxatdan olingan.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Sianidlar bilan zaharlanishga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Sianid kislotasi yoki tuzlari bilan zaharlanishda murda dog‘lari yorqin olcha rangda bo‘ladi va achchiq bodom hidi seziladi. Is gazida dog‘lar pushti, metgemoglobin hosil qiluvchilarda jigarrang-qo‘ng‘ir, gemolizda sarg‘ish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135-136-bet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Toksik xususiyati kuchayadi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Biotransformatsiya natijasida toksik xususiyat o‘zgarishi mumkin. Fosfororganik birikmalar oksidlanganda toksikligi kuchayadi, gidrolizga uchraganda esa ancha susayadi. Metanol, etanol va etilenglikol oksidlanganda ham kuchliroq toksik moddalar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137-bet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 miya po‘stlog‘ining tormozlanishi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Etil spirtining narkotik ta’siri bosh miya po‘stlog‘i tormozlanishi bilan bog‘liq. Natijada po‘stloq osti markazlari nazorati susayib, ularda qo‘zg‘alish kuzatiladi. Ko‘p miqdorda qabul qilinganda tormozlanish po‘stloq osti, uzunchoq miya va miyachaga o‘tadi.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Aldegiddegidrogenaza yetishmovchiligi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Ayrim shaxslarda fermentlarning atipik shakllari bor. Alkogoldegidrogenaza faolligi juda baland, aldegiddegidrogenaza esa yetishmaydi. Natijada atsetaldegid tez to‘planadi. Shuning uchun spirt konsentratsiyasi juda baland bo‘lmasa ham kuchli intoksikatsiya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157-bet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Chiqarilgan havoda alkogol borligini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Rappoport sinamasida alkogol permanganat bilan oksidlanib atsetaldegidga aylanadi. Marganetsning yetti valentli birikmasi qaytariladi va pushti-qizg‘ish rang rangsizlanadi. Sinov probirkasida rangning yo‘qolishi alkogol mavjudligini bildiradi.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158-159-bet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O‘rta darajali mastlik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0,5–1,5 promille yengil, 1,5–2,5 promille o‘rta, 2,5–3,0 promille kuchli mastlik hisoblanadi. 3,0 promilledan yuqori bo‘lsa zaharlanish deyiladi. 2,0 promille o‘rta darajaga to‘g‘ri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Alkogol fonida yurak kasalligidagi o‘tkir yurak yetishmovchiligi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Ayrim holatlarda o‘lim ichimlikdan bir necha kun keyin yuz beradi. Spirt qonda past bo‘ladi yoki topilmaydi. Sabab odatda alkogol intoksikatsiyasi fonida yurakning ishemik kasalligi yoki surunkali alkogol bilan bog‘liq kardiomiopatiyada o‘tkir yurak yetishmovchiligi.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Oksidlanish metabolitlari: formaldegid va chumoli kislotasi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Metanolning butun molekulasi kuchsiz narkotik ta’sir qiladi. Kuchli toksik ta’sirni alkogoldegidrogenaza va katalaza ta’sirida hosil bo‘lgan formaldegid va chumoli kislotasi beradi. Oksidlanish etil spirtiga nisbatan sekin kechadi, shuning uchun metabolitlar organizmda uzoq saqlanadi.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Kryukov dog‘lari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Metanoldan o‘limda epikard ostidagi (ayniqsa chap kameralar sohasidagi) plakchasimon qon quyilishlar Kryukov dog‘lari deb ataladi. Sulema buyragi simob dixlorid bilan zaharlanishda uchraydi. Poxmele sindromi atsetaldegid ta’siri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162-bet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To‘rtinchi bosqich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Etilenglikol bilan zaharlanishda to‘rt bosqich farqlanadi: mastlik, yashirin davr, MNT shikastlanishi (avval qo‘zg‘alish, keyin so‘nish), so‘ng jigar va buyrak shikastlanishi. Oxirgisi metabolit oksalat kislotasining gepato- va nefrotoksik ta’siri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162-bet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Qondagidan qariyb besh barobar katta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Opiatlar barcha to‘qimalarda, lekin jigarda ko‘proq to‘planadi. Morfinning jigardagi konsentratsiyasi qondagiga nisbatan qariyb besh barobar katta.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168-bet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Nafas olish markazining falaji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Opiatlar bilan zaharlanishda o‘lim nafas olish markazining falajidan sodir bo‘ladi. Yurak qorinchalarining fibrillyasiyasi esa kokainga xos o‘lim sabablaridan biri sifatida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169-bet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83</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