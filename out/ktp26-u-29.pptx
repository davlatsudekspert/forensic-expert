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zaharlanishlar zo‘ravon o‘limda aynan uchinchi o‘rinda turadi? Sud tibbiyoti fanining kelib chiqishi toksikologiya bilan nima uchun bog‘liq? Doskada: dars rejasining uch bo‘limini chizing. Tipik xato: talabalar zaharlanishni faqat qotillik deb o‘ylaydi, vaholanki baxtsiz hodisa va o‘z-o‘zini o‘ldirish ham bor. Dars rejasi bandi mavzu nomidan olingan, shuning uchun uncertain deb belgilangan.</a:t>
            </a:r>
          </a:p>
          <a:p/>
          <a:p>
            <a:r>
              <a:t>Tekshirish kerak (manbada noaniq):</a:t>
            </a:r>
          </a:p>
          <a:p>
            <a:r>
              <a:t>- Dars rejasi: zahar tushunchasi, etil spirti va uning surrogatlari, so‘ng opiatlar bilan zaharlanish.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qaysi moddani kundalik hayotda ham dori, ham zahar deb atash mumkin? Nega «zaharli/zararsiz» degan qat’iy bo‘linish noto‘g‘ri? Doskada: «modda – doza – sharoit – ta’sir» zanjirini chizing. Tipik xato: zaharni moddaning o‘zgarmas xususiyati deb o‘ylash. Eslab qoling: doza + sharoit = zahar yoki dori.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sud-tibbiy toksikolog klinik toksikologdan qaysi savollar bilan farq qiladi? Tergovchi toksikologdan nimani so‘raydi? Doskada: jadvalni daftarga ko‘chirtiring. Tipik xato: sud-tibbiy toksikologiyani davolash fani deb tushunish. Manbada «xususiy tanatologiya» deb yozilgan joy «xususiy toksikologiya» ma’nosida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amalda baxtsiz hodisa ko‘p, qotillik kam uchraydi? 2) Yatrogen zaharlanishga qanday misol keltirasiz? Doskada chizish: uch ustunli sxema (qotillik / o‘z-o‘zini o‘ldirish / baxtsiz hodisa) va har biriga «qasddan» yoki «tasodifan» belgisini qo‘ying. Tipik xato: yatrogen zaharlanishni qasddan sodir etilgan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talabalar javobini tinglang. Muhokama: «Nega bir modda bir sharoitda dori, boshqasida zahar bo‘ladi?» Doskada chizish: ikki ustunli jadval «zahar / zaharlanish» va har biriga bittadan ta’rif yozing. Tipik xato: «zahar» va «zaharlanish» tushunchalarini bir ma’noda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Mahalliy va rezorbtiv zaharning asosiy farqi nimada? 2) Etil spirti va opiatlar qaysi guruhga kiradi? Doskada chizish: jadvalni daftarga ko‘chirib, har guruhga o‘z misolingizni qo‘shing. Tipik xato: etil spirti va opiatlarni destruktiv zaharlar qatoriga qo‘shish; ular funksional zaharlardir.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funksional zaharlarda murdada xos morfologik belgi kam bo‘ladi? Etil spirt va opiat qaysi guruhchaga kiradi? Doskada 4 guruhchali jadvalni chizdiring va har biriga bittadan misol yozdiring. Tipik xato: opiatlarni ham so‘ndiruvchi guruhga qo‘shib yuborish — jadvalda ular qo‘zg‘atuvchilar qatorida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dozada turli odamda turlicha zaharlanish kuzatiladi? Nega ochiq havoda is gazi ta’siri susayadi? Doskada to‘rt omilni strelkalar bilan chizing va har biriga bittadan misol qo‘shing. Tipik xato: tashqi sharoitni barcha zaharlar uchun muhim deb o‘ylash — u faqat ayrim moddalarda ahamiyatli.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eruvchanlik nega toksiklikni belgilaydi? Rasputin misolida zahar nega ta’sir qilmagan? Doskada "modda → muhit/vexikulum → ta’sir" zanjirini chizing. Tipik xato: is gazi (CO) bilan karbonat angidridni (CO2) bir xil zaharli deb hisoblash — manbada ularning toksikligi bir xil emasligi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bolalarda doza vaznga qarab hisoblanadi? 2) Tolerantlik va idiosinkraziya qanday qarama-qarshi hodisalar? Doskada chizing: «organizm omillari» mind-map (vazn, yosh, jins, salomatlik, genetika, tolerantlik). Tipik xato: tolerantlikni idiosinkraziya bilan aralashtirish — birida sezgirlik pasayadi, ikkinchisida ortadi.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to‘g‘ri ichakdan so‘rilgan modda kuchliroq ta’sir qiladi? 2) Qaysi sharoit alkogol zaharlanishiga moyil qiladi? Doskada chizing: kirish yo‘llari → qon → jigar sxemasi (jigardan o‘tadigan va o‘tmaydigan yo‘llar). Tipik xato: barcha shilliq qavatlardan so‘rilishni bir xil deb hisoblash. Qo‘shimcha: Iskandarov-Qo‘ldoshev kitobida (289-bet) past harorat organizmni sovitib, alkogol zaharlanishiga sabab bo‘lishi mumkinligi ham yoziladi — talabalar bilan ikki manbani solishtiring.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element tuzlari (simob, bariy) har xil xavfli? 2) Konsentratsiya nima uchun «dori» va «zahar» chegarasini belgilaydi? Doskada chizing: ikki ustunli jadval «eruvchan — erimaydigan» (sulema/kalomel, bariy xlorid/sulfat). Eslab qoling: eruvchan — qonga o‘tadi, xavfli; erimaydigan — asosan mahalliy. Tipik xato: kalomelni mutlaq zararsiz deb hisoblash — G‘iyosov kitobida (146-bet) kalomel ichakda katta dozada to‘planganda zaharlashi mumkinligi qayd etilgan.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Qizchada nega dastlab ichki qon ketish deb o‘ylashgan? 2) Nembutal holatida yuborish yo‘lining o‘zgarishi nimani o‘zgartiradi? Doskaga chizish: to‘rt guruh omil (zahar, organizm, kirish yo‘li, tashqi muhit) jadvali va har holatni mos ustunga joylash. Tipik xato: bitta klinik belgiga qarab zaharlanishni tasdiqlash yoki rad etish; zahar kuchi faqat dozaga bog‘liq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bosqichlarni birlashtirmay, ketma-ket o‘tkazamiz? 2) Funksional zaharlarda qaysi bosqich ko‘proq yordam beradi? Doskaga chizish: to‘rt tugunli zanjir va har tugun ostiga 2 ta misol dalil. Tipik xato: laboratoriyada zahar topilishi har doim zaharlanishni isbotlaydi deb o‘ylash; murdaga o‘tish, noto‘g‘ri idish yoki dori sifatida kirishi mumkin (Iskandarov, bet 298-299). Yakuniy xulosani ekspert barcha ma’lumotlar yig‘indisiga qarab beradi (bet 298).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bo‘sh idishlar ham tekshiruvga olinadi? 2) Qaysi belgi zahar turiga ishora qiladi (dog‘ rangi, hid)? Doskaga chizish: zahar turi va murda dog‘i rangi juftliklari ro‘yxati. Tipik xato: murdani odatdagidek suv bilan yuvib tekshirish; murda dog‘i rangini yagona dalil deb qabul qilish. Mushak qotishi: strixninda tez va kuchli, xloral gidrat va kurarda sust (G‘iyosov, bet 136).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“Uch nuqta” nima uchun kerak? 2) Nima uchun noma’lum zaharda ko‘p organ olinadi? Doskada chizish: tananing sxemasi va unda uchta nuqta (kirgan joy, ta’sir etgan joy, chiqqan joy). Tipik xato: namunani formalin yoki spirtda qotirib yuborish; “uch nuqta”ni faqat oshqozon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Toksikokinetika va toksikodinamika qanday farqlanadi? 2) Sirka kislotasi misolida uch bosqichli ta’sirni tushuntiring. Doskada chizish: to‘rt tugunli zanjir va ostida birlamchi → keyingi → metatoksik ta’sir strelkalari. Tipik xato: toksikokinetika bilan toksikodinamikani aralashtirish; metatoksik ta’sirni birlamchi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metanol bilan zaharlanishda kechikib og‘ir o‘zgarishlar rivojlanadi? 2) Qaysi modda va qaysi metabolit mos keladi? Doskada chizish: uch ustunli jadval (modda → metabolit → ta’sir). Tipik xato: zaharning o‘zi va metabolitining ta’sirini bir xil deb olish; metabolitlarni chalkashtirish (metanol ≠ atsetaldegid).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sirka kislotasida kuyishdan keyin buyrak zararlanadi? 2) Birlamchi, keyingi va metatoksik ta’sirni sirka misolida ajrating. Doskada: uch bosqichni strelkalar bilan chizdiring (kuyish → gemoliz → gepatit/nefroz). Tipik xato: sirka kislotasini faqat mahalliy ta’sir qiluvchi deb o‘ylash, gemolitik ta’sirni unutish.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uy aroqi toza spirtdan xavfliroq bo‘lishi mumkin? 2) Spirt qanday yo‘llar bilan kiradi? Doskada: etanolning olinish zanjirini yozdiring (bijg‘ish → xom spirt → rektifikatsiya). Tipik xato: sivush moylarini etanolning o‘zi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o‘ldiruvchi doza har kimda har xil? 2) Alkogol mastligidagi qo‘zg‘alishning mexanizmi nima? Doskada: «doza – sezgirlik – o‘lim» sxemasini chizdiring. Tipik xato: mastlikdagi qo‘zg‘alishni qo‘zg‘alish jarayonining kuchayishi deb tushunish; 60% statistikani hozirgi ma’lumot deb olish (manba eski).</a:t>
            </a:r>
          </a:p>
          <a:p/>
          <a:p>
            <a:r>
              <a:t>Tekshirish kerak (manbada noaniq):</a:t>
            </a:r>
          </a:p>
          <a:p>
            <a:r>
              <a:t>- Manba bo‘yicha o‘tkir zaharlanishlar ichida spirt birinchi o‘rinda (taxminan 60%). U yurak-qon tomir kasalliklaridan to‘satdan o‘limga ham yordam beradi.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spirt miqdori qonda boshqa a’zolardagidan ko‘p? 2) Nega murdada qon va siydik birga tekshiriladi? Doskada chizing: ‘qon va siydik konsentratsiyasining vaqt bo‘yicha ikki egri chizig‘i’ (1–2 soatdan keyin kesishishi). Tipik xato: murda qonidagi spirtni to‘liq ichilgan miqdor deb olish, chirishda hosil bo‘lishini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0,3‰ dan past qiymat ta’sir yo‘q deb baholanadi? 2) Qaysi namuna asosiy hisoblanadi va nima uchun? Doskada chizing: promille shkalasini son o‘qi ko‘rinishida, darajalarni rangli bo‘laklarga ajratib. Tipik xato: 3–5‰ va 5–6‰ chegaralarini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atsetaldegid to‘planishi alkogolga nafrat uyg‘otadi? 2) Ekshumatsiyada nega alkogol topilmasligi mumkin? Doskada chizing: etanol → atsetaldegid → sirka kislota zanjirini, tetura ta’sir qiladigan bosqichni belgilab. Tipik xato: tirik shaxs va murda natijalarini bir xil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murda qonidagi spirt natijasi siydik bilan solishtiriladi? 2) Ekshumatsiyada qaysi zaharlar yaxshi saqlanadi, qaysilari yo‘q? Doskada chizish: ikki ustun (qon / siydik) va ularda chirishdagi spirt hosil bo‘lishini belgilang. Tipik xato: murda qonidagi spirtni to‘liq hayotdagi ichishga tenglash. Qo‘shimcha: spirtga shubhada namuna qotiruvchi moddalar (formalin, spirt) bilan qotirilmaydi va laboratoriyaga tez yetkaziladi (Iskandarov, 297-bet).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Tolerantlik va qaramlik qanday farqlanadi? 2) Nima uchun alkogolning tashqi muhit bilan bog‘liq ta’siri turli darslikda har xil yoritilgan? Doskada chizish: tolerantlik -&gt; doza oshishi -&gt; qaramlik -&gt; ichki a’zo shikasti zanjiri. Tipik xato: sovuq muhitni har doim xavfsiz deb o‘ylash. Ikki manba farqi: Giyosov (135-bet) yopiq, issiq, nam muhitni moyillik yaratadi, ochiq va past haroratni ta’sirni susaytiradi deydi; Iskandarov (289-bet) past harorat sababchi bo‘lishi mumkin, deydi. Bu band shu sababli ishonchsiz deb belgilandi. Qo‘shimcha: alkogol boshqa kasalliklardan, ayniqsa yurak-qon tomir tizimi kasalliklaridan to‘satdan o‘limga ham yordam beradi (Baizoldanov, 50-bet).</a:t>
            </a:r>
          </a:p>
          <a:p/>
          <a:p>
            <a:r>
              <a:t>Tekshirish kerak (manbada noaniq):</a:t>
            </a:r>
          </a:p>
          <a:p>
            <a:r>
              <a:t>- Diqqat: bir darslikda yopiq, issiq, nam muhit xavfli, past harorat esa ta’sirni susaytiradi deyiladi; boshqasida sovuq ham xavf omili sanaladi.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yopiq daftarda yozib, keyin tekshiradi. Muhokama: 1) Qon va siydikdagi spirt nisbati ichish vaqtini baholashda qanday yordam beradi? 2) Chirishdagi spirt natijani qanday buzishi mumkin? Doskada chizish: spirt darajalari shkalasi (‰) va chegaralarini belgilang. Tipik xato: qon va siydik qiymatlarini aralashtirib yuborish, hamda chirishda spirt siydikda ham hosil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metanolni ta’mi va hididan ajratib bo‘lmaydi? 2) Etil spirti nega antidot sifatida ishlatiladi? Doskada chizing: metanol → formaldegid → chumoli kislotasi zanjiri va har bosqichga zarar nishonini yozing. Tipik xato: metanolning narkotik ta’siri etanolnikidan kuchli deb o‘ylash; manbada mahalliy ta’sir kuchliroq, narkotik ta’sir kuchsizroq deyiladi. Diqqat: metanol ≠ etanol, o‘xshash hid xavfli.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metabolit ko‘pincha asl moddadan zaharliroq bo‘ladi? 2) Texnik suyuqlikni ichimlik bilan almashtirish xavfi qayerdan kelib chiqadi? Doskada chizing: etilenglikol → oksalat kislotasi → jigar va buyrak zarari. Tipik xato: sirka kislotasi faqat mahalliy kuydiradi deb o‘ylash; manbada uning gemolitik (umumiy) ta’siri ham kuchli ekani aytilgan.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Voqea tafsilotidan boshqa qanday dalillar kerak? 2) Nima uchun murdani kesishdan oldin taxminiy tashxis qo‘yish mumkin, lekin yakuniy xulosa uchun laboratoriya shart? Doskada chizing: zaharlanishni isbotlashning 3 manbasi (voqea joyi va klinika, murda tekshiruvi, laboratoriya). Tipik xato: faqat bitta klinik belgiga tayanib tashxis qo‘yish.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Opiat va opioid farqi nimada? 2) Nega Sertyurner ishi toksikologiya uchun muhim? Doskada: ‘opiy → opiatlar → yarim sintetik’ zanjirini chizdiring. Tipik xato: opiat va opioidni sinonim deb olish. Eslatma: opioidlarga misollar (metadon, fentanil, endorfinlar) Pigolkin va boshq. kitobining 18-betidan olingan.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opiy tarkibi turli mintaqada farq qiladi? 2) Qaysi alkaloidlar narkotik emas? Doskada: aylana diagramma chizib, ulushlarni (42/21/18/12/6) belgilang. Tipik xato: papaverin va noskapinni ham narkotik faol deb hisoblash. Kodein haqidagi ‘kuchsizroq’ izohi kitobning 209-betiga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ichga qabul qilinganda ta’sir sustroq? 2) Siydikdan morfinni topish muddati sud-tibbiy xulosaga qanday ta’sir qiladi? Doskada: kirish yo‘llari bo‘yicha ‘Tmax’ qiymatlarini (2–15; 7,5–20; 30–120 daq) ustun shaklida yozing. Tipik xato: biokiruvchanlikni (100% va 30–40%)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geroin o‘rniga morfin topiladi? 2) Kodein va morfin o‘rtasida qanday farq bor? Doskada: morfin → kodein (metil efir) va morfin → geroin (diatsetil) sxemasini chizdiring. Tipik xato: geroinni morfinning tabiiy alkaloidi deb o‘ylash; u yarim sintetik hosila.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eyforiya takroriy qabulga undaydi? 2) Metadon opiatmi yoki opioidmi? Doskada: retseptor — opiat — eyforiya zanjirini chizdiring. Tipik xato: opiat va opioid terminlarini aralashtirish. Tezkor savol: endorfin nima ma’noni anglatadi (endogen morfin)?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Voqea tahlili: yosh erkak murdasi yonida shprits va qoshiq topildi, boshqa jarohat yo‘q. Savol: qanday belgilar opiat zaharlanishiga shubha uyg‘otadi va nima bilan tasdiqlanadi? Doskada: shubha → umumasfiktik belgilar → kimyoviy va gistologik tasdiq zanjirini chizdiring. Tipik xato: faqat asfiksiya belgilariga qarab tashxis qo‘yish; anjomlar va laboratoriya natijasi ham kerak.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faqat morfin topilishi opiy isboti emas? 2) Soch va tirnoq tahlili nimasi bilan qimmatli? Doskada: jadvalni chizing va har usulning bitta kuchli va bitta zaif tomonini yozdiring. Tipik xato: gerоin ham morfin kabi reaksiya berishini unutish, shuning uchun morfin topilishi alohida turni isbotlamaydi.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Tolerantlik nima uchun dozani oshirishga olib keladi? 2) XNI ni isbotlash ekspertiza uchun nimaga kerak? Doskada: tolerantlik, doza oshishi va abstinensiya zanjirini chizing. Tipik xato: tolerantlik va idiosinkraziyani (sezuvchanlik oshishi)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Past yoki manfiy kimyo natijasi zaharlanishni inkor etadimi? 2) Jigar va miya gistologiyasi qanday yordam beradi? Doskada: dalillar ro‘yxatini (joy, ekspertiza belgilari, kimyo, gistologiya) chizdiring. Tipik xato: manfiy kimyoviy natijani zaharlanish yo‘qligi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Nazorat savollari: 1) Zaharning nisbiyligini Paratsels iborasi bilan tushuntiring. 2) Zaharlar sud-tibbiy tasnifida etil spirti qaysi guruhga kiradi va nega? 3) Metanol va etilenglikol metabolitlari qanday zaharli ta’sir qiladi? 4) Opiat va opioidning farqi nima? 5) Zaharlanish diagnostikasining uch bosqichini sanang. Doskada: zaharlanish diagnostikasining uch bosqichini ketma-ket yozdiring. Tipik xato: talabalar «opiat» va «opioid»ni sinonim deb oladi; laboratoriyada zahar topilishini zaharlanishning to‘liq isboti deb hisoblaydi.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Zaharli ximikatlar tushunchasi. Etil spirti va uning surrogatlari bilan zaharlanish. Opiatlar bilan zaharlanish.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dars maqsadi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omillar ta’sirida sog‘liqning buzilishi va o‘lim holatlari ekspertiza amaliyotida nisbatan keng uchraydi.</a:t>
            </a:r>
          </a:p>
          <a:p>
            <a:pPr>
              <a:spcAft>
                <a:spcPts val="1200"/>
              </a:spcAft>
            </a:pPr>
            <a:r>
              <a:rPr sz="2200">
                <a:solidFill>
                  <a:srgbClr val="1F2937"/>
                </a:solidFill>
                <a:latin typeface="Calibri"/>
              </a:rPr>
              <a:t>▸  Zo‘raki o‘lim tarkibida zaharlanishlar mexanik jarohat va mexanik asfiksiyadan keyin uchinchi o‘rinda turadi.</a:t>
            </a:r>
          </a:p>
          <a:p>
            <a:pPr>
              <a:spcAft>
                <a:spcPts val="1200"/>
              </a:spcAft>
            </a:pPr>
            <a:r>
              <a:rPr sz="2200">
                <a:solidFill>
                  <a:srgbClr val="1F2937"/>
                </a:solidFill>
                <a:latin typeface="Calibri"/>
              </a:rPr>
              <a:t>▸  Sud tibbiyotining fan sifatida shakllanishi aynan sud-tibbiy toksikologiyadan boshlangan.</a:t>
            </a:r>
          </a:p>
          <a:p>
            <a:pPr>
              <a:spcAft>
                <a:spcPts val="1200"/>
              </a:spcAft>
            </a:pPr>
            <a:r>
              <a:rPr sz="2200">
                <a:solidFill>
                  <a:srgbClr val="1F2937"/>
                </a:solidFill>
                <a:latin typeface="Calibri"/>
              </a:rPr>
              <a:t>▸  Dars rejasi: zahar tushunchasi, etil spirti va uning surrogatlari, so‘ng opiatlar bilan zaharlanish.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sog‘liqni buzadigan yoki o‘limga olib keladigan modda. Mutlaq zahar ham, mutlaq beziyon modda ham yo‘q.</a:t>
            </a:r>
          </a:p>
          <a:p>
            <a:pPr>
              <a:spcAft>
                <a:spcPts val="1200"/>
              </a:spcAft>
            </a:pPr>
            <a:r>
              <a:rPr sz="2200">
                <a:solidFill>
                  <a:srgbClr val="1F2937"/>
                </a:solidFill>
                <a:latin typeface="Calibri"/>
              </a:rPr>
              <a:t>▸  Paratsels iborasi: «faqat doza ma’lum bir moddani doriga yoki zaharga aylantiradi». Oz miqdordagi modda ta’siridan sog‘liq buzilishi — zaharlanish.</a:t>
            </a:r>
          </a:p>
          <a:p>
            <a:pPr>
              <a:spcAft>
                <a:spcPts val="1200"/>
              </a:spcAft>
            </a:pPr>
            <a:r>
              <a:rPr sz="2200">
                <a:solidFill>
                  <a:srgbClr val="1F2937"/>
                </a:solidFill>
                <a:latin typeface="Calibri"/>
              </a:rPr>
              <a:t>▸  Sud tibbiyotida zahar — ozgina miqdorda kirsa ham kimyoviy yoki fiziko-kimyoviy xususiyati bilan sog‘liqni buzadigan yoki o‘ldiradigan modda.</a:t>
            </a:r>
          </a:p>
          <a:p>
            <a:pPr>
              <a:spcAft>
                <a:spcPts val="1200"/>
              </a:spcAft>
            </a:pPr>
            <a:r>
              <a:rPr sz="2200">
                <a:solidFill>
                  <a:srgbClr val="1F2937"/>
                </a:solidFill>
                <a:latin typeface="Calibri"/>
              </a:rPr>
              <a:t>▸  Diqqat: xato qilish xavfi — mutlaq zaharli modda yo‘q. Modda faqat ma’lum sharoitda zaharli xususiyat namoyon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Iskandarov A.I., Qo‘ldoshev D.R., Sud tibbiyoti, betlar: 284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Toksikologiya va uning yo‘nalishlari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Toksikologiya zahar va zaharlanishni o‘rganadigan fan; sanoat, harbiy, oziq-ovqat kabi yo‘nalishlari bor.</a:t>
            </a:r>
          </a:p>
          <a:p>
            <a:pPr>
              <a:spcAft>
                <a:spcPts val="800"/>
              </a:spcAft>
            </a:pPr>
            <a:r>
              <a:rPr sz="1800">
                <a:solidFill>
                  <a:srgbClr val="1F2937"/>
                </a:solidFill>
                <a:latin typeface="Calibri"/>
              </a:rPr>
              <a:t>▸  Sud-tibbiy toksikologiya zaharlanishda huquqni muhofaza idoralari qo‘ygan vazifalarni hal etadi.</a:t>
            </a:r>
          </a:p>
          <a:p>
            <a:pPr>
              <a:spcAft>
                <a:spcPts val="800"/>
              </a:spcAft>
            </a:pPr>
            <a:r>
              <a:rPr sz="1800">
                <a:solidFill>
                  <a:srgbClr val="1F2937"/>
                </a:solidFill>
                <a:latin typeface="Calibri"/>
              </a:rPr>
              <a:t>▸  Umumiy toksikologiya ta’sirning umumiy qonuniyatlarini, xususiy — alohida moddalar ta’sirini o‘rganadi.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Toksikologiya yo‘nalishlari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Sanoat, qishloq xo‘jaligi</a:t>
            </a:r>
          </a:p>
          <a:p>
            <a:pPr algn="l">
              <a:spcAft>
                <a:spcPts val="0"/>
              </a:spcAft>
            </a:pPr>
            <a:r>
              <a:rPr sz="1200" b="0">
                <a:solidFill>
                  <a:srgbClr val="1F2937"/>
                </a:solidFill>
                <a:latin typeface="Calibri"/>
              </a:rPr>
              <a:t>Sabablar, yordam, oldini olish</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Harbiy, oziq-ovqat va b.</a:t>
            </a:r>
          </a:p>
          <a:p>
            <a:pPr algn="l">
              <a:spcAft>
                <a:spcPts val="0"/>
              </a:spcAft>
            </a:pPr>
            <a:r>
              <a:rPr sz="1200" b="0">
                <a:solidFill>
                  <a:srgbClr val="1F2937"/>
                </a:solidFill>
                <a:latin typeface="Calibri"/>
              </a:rPr>
              <a:t>Sabablar, yordam, oldini olish</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Sud-tibbiy</a:t>
            </a:r>
          </a:p>
          <a:p>
            <a:pPr algn="l">
              <a:spcAft>
                <a:spcPts val="0"/>
              </a:spcAft>
            </a:pPr>
            <a:r>
              <a:rPr sz="1200" b="0">
                <a:solidFill>
                  <a:srgbClr val="1F2937"/>
                </a:solidFill>
                <a:latin typeface="Calibri"/>
              </a:rPr>
              <a:t>Huquqni muhofaza idoralari vazifalari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Toksikologiya yo‘nalishlari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Iskandarov A.I., Qo‘ldoshev D.R., Sud tibbiyoti, betlar: 284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Zaharlanishlarning kelib chiqish tafsilotlari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Kelib chiqish tafsilotiga ko‘ra zaharlanish uch xil bo‘ladi: qotillik, o‘z-o‘zini o‘ldirish va baxtsiz hodisa.</a:t>
            </a:r>
          </a:p>
          <a:p>
            <a:pPr>
              <a:spcAft>
                <a:spcPts val="800"/>
              </a:spcAft>
            </a:pPr>
            <a:r>
              <a:rPr sz="1600">
                <a:solidFill>
                  <a:srgbClr val="1F2937"/>
                </a:solidFill>
                <a:latin typeface="Calibri"/>
              </a:rPr>
              <a:t>▸  Ekspertiza ma’lumotlarida ko‘pchilikni baxtsiz hodisalar tashkil etadi. Ikkinchi o‘rinda o‘z-o‘zini o‘ldirish turadi.</a:t>
            </a:r>
          </a:p>
          <a:p>
            <a:pPr>
              <a:spcAft>
                <a:spcPts val="800"/>
              </a:spcAft>
            </a:pPr>
            <a:r>
              <a:rPr sz="1600">
                <a:solidFill>
                  <a:srgbClr val="1F2937"/>
                </a:solidFill>
                <a:latin typeface="Calibri"/>
              </a:rPr>
              <a:t>▸  Zaharlash yo‘li bilan qotillik kamdan-kam uchraydi. Qotillik va o‘z-o‘zini o‘ldirishda zahar qasddan, baxtsiz hodisada tasodifan qabul qilinadi.</a:t>
            </a:r>
          </a:p>
          <a:p>
            <a:pPr>
              <a:spcAft>
                <a:spcPts val="800"/>
              </a:spcAft>
            </a:pPr>
            <a:r>
              <a:rPr sz="1600">
                <a:solidFill>
                  <a:srgbClr val="1F2937"/>
                </a:solidFill>
                <a:latin typeface="Calibri"/>
              </a:rPr>
              <a:t>▸  Ayrim tasodifiy zaharlanishlar yatrogen bo‘ladi: dori dozasi noto‘g‘ri belgilanadi yoki bir dori o‘rniga boshqa modda qo‘llanadi.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Zaharlanish tafsilotlari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Qotillik</a:t>
            </a:r>
          </a:p>
          <a:p>
            <a:pPr algn="l">
              <a:spcAft>
                <a:spcPts val="0"/>
              </a:spcAft>
            </a:pPr>
            <a:r>
              <a:rPr sz="1200" b="0">
                <a:solidFill>
                  <a:srgbClr val="1F2937"/>
                </a:solidFill>
                <a:latin typeface="Calibri"/>
              </a:rPr>
              <a:t>Zahar qasddan; kamdan-kam</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O‘z-o‘zini o‘ldirish</a:t>
            </a:r>
          </a:p>
          <a:p>
            <a:pPr algn="l">
              <a:spcAft>
                <a:spcPts val="0"/>
              </a:spcAft>
            </a:pPr>
            <a:r>
              <a:rPr sz="1200" b="0">
                <a:solidFill>
                  <a:srgbClr val="1F2937"/>
                </a:solidFill>
                <a:latin typeface="Calibri"/>
              </a:rPr>
              <a:t>Zahar qasddan; ikkinchi o‘rinda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Baxtsiz hodisa</a:t>
            </a:r>
          </a:p>
          <a:p>
            <a:pPr algn="l">
              <a:spcAft>
                <a:spcPts val="0"/>
              </a:spcAft>
            </a:pPr>
            <a:r>
              <a:rPr sz="1200" b="0">
                <a:solidFill>
                  <a:srgbClr val="1F2937"/>
                </a:solidFill>
                <a:latin typeface="Calibri"/>
              </a:rPr>
              <a:t>Tasodifan; ko‘pchilik  ·  Yatrogen: dori dozasi, noto‘g‘ri dori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Kelib chiqishi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zahar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mutlaq zahar bormi? Javob: yo‘q. Zahar nisbiy, moddani dori yoki zaharga doza aylantiradi (Paratsels).</a:t>
            </a:r>
          </a:p>
          <a:p>
            <a:pPr>
              <a:spcAft>
                <a:spcPts val="1200"/>
              </a:spcAft>
            </a:pPr>
            <a:r>
              <a:rPr sz="2200">
                <a:solidFill>
                  <a:srgbClr val="1F2937"/>
                </a:solidFill>
                <a:latin typeface="Calibri"/>
              </a:rPr>
              <a:t>▸  2-savol: zaharlanish nima? Javob: modda oz miqdorda ta’sir etib, sog‘liqning buzilishiga olib kelishi.</a:t>
            </a:r>
          </a:p>
          <a:p>
            <a:pPr>
              <a:spcAft>
                <a:spcPts val="1200"/>
              </a:spcAft>
            </a:pPr>
            <a:r>
              <a:rPr sz="2200">
                <a:solidFill>
                  <a:srgbClr val="1F2937"/>
                </a:solidFill>
                <a:latin typeface="Calibri"/>
              </a:rPr>
              <a:t>▸  3-savol: zaharlanishlar tafsilot bo‘yicha qaysi turda ko‘p? Javob: baxtsiz hodisalar; qotillik kam uchraydi.</a:t>
            </a:r>
          </a:p>
          <a:p>
            <a:pPr>
              <a:spcAft>
                <a:spcPts val="1200"/>
              </a:spcAft>
            </a:pPr>
            <a:r>
              <a:rPr sz="2200">
                <a:solidFill>
                  <a:srgbClr val="1F2937"/>
                </a:solidFill>
                <a:latin typeface="Calibri"/>
              </a:rPr>
              <a:t>▸  Diqqat: xato qilish xavfi. Zahar (modda) ≠ zaharlanish (shu moddadan sog‘liqning buzilishi).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Zaharli ximikatlar tasnifi: umumiy sxema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Zaharlar asosan mahalliy va asosan umumiy (rezorbtiv) ta’sir etuvchilarga bo‘linadi.</a:t>
            </a:r>
          </a:p>
          <a:p>
            <a:pPr>
              <a:spcAft>
                <a:spcPts val="800"/>
              </a:spcAft>
            </a:pPr>
            <a:r>
              <a:rPr sz="1800">
                <a:solidFill>
                  <a:srgbClr val="1F2937"/>
                </a:solidFill>
                <a:latin typeface="Calibri"/>
              </a:rPr>
              <a:t>▸  Umumiy ta’sir etuvchilar uchta guruhga ajraladi: destruktiv, qon va funksional zaharlar.</a:t>
            </a:r>
          </a:p>
          <a:p>
            <a:pPr>
              <a:spcAft>
                <a:spcPts val="800"/>
              </a:spcAft>
            </a:pPr>
            <a:r>
              <a:rPr sz="1800">
                <a:solidFill>
                  <a:srgbClr val="1F2937"/>
                </a:solidFill>
                <a:latin typeface="Calibri"/>
              </a:rPr>
              <a:t>▸  Funksional zaharlar markaziy nerv tizimini falajlaydi, qo‘zg‘atadi yoki so‘ndiradi.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Ta’siri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Asosan mahalliy: Tegan joyda nekroz chaqiradi</a:t>
            </a:r>
          </a:p>
          <a:p>
            <a:pPr algn="l">
              <a:spcAft>
                <a:spcPts val="700"/>
              </a:spcAft>
            </a:pPr>
            <a:r>
              <a:rPr sz="1500" b="1">
                <a:solidFill>
                  <a:srgbClr val="C9A227"/>
                </a:solidFill>
                <a:latin typeface="Calibri"/>
              </a:rPr>
              <a:t>●  </a:t>
            </a:r>
            <a:r>
              <a:rPr sz="1500" b="0">
                <a:solidFill>
                  <a:srgbClr val="1F2937"/>
                </a:solidFill>
                <a:latin typeface="Calibri"/>
              </a:rPr>
              <a:t>Umumiy: destruktiv: Ichki a’zolar tuzilishini buzadi</a:t>
            </a:r>
          </a:p>
          <a:p>
            <a:pPr algn="l">
              <a:spcAft>
                <a:spcPts val="700"/>
              </a:spcAft>
            </a:pPr>
            <a:r>
              <a:rPr sz="1500" b="1">
                <a:solidFill>
                  <a:srgbClr val="C9A227"/>
                </a:solidFill>
                <a:latin typeface="Calibri"/>
              </a:rPr>
              <a:t>●  </a:t>
            </a:r>
            <a:r>
              <a:rPr sz="1500" b="0">
                <a:solidFill>
                  <a:srgbClr val="1F2937"/>
                </a:solidFill>
                <a:latin typeface="Calibri"/>
              </a:rPr>
              <a:t>Umumiy: qon zaharlari: Gemoglobinotrop, gemolitik va boshqa</a:t>
            </a:r>
          </a:p>
          <a:p>
            <a:pPr algn="l">
              <a:spcAft>
                <a:spcPts val="700"/>
              </a:spcAft>
            </a:pPr>
            <a:r>
              <a:rPr sz="1500" b="1">
                <a:solidFill>
                  <a:srgbClr val="C9A227"/>
                </a:solidFill>
                <a:latin typeface="Calibri"/>
              </a:rPr>
              <a:t>●  </a:t>
            </a:r>
            <a:r>
              <a:rPr sz="1500" b="0">
                <a:solidFill>
                  <a:srgbClr val="1F2937"/>
                </a:solidFill>
                <a:latin typeface="Calibri"/>
              </a:rPr>
              <a:t>Umumiy: funksional: Markaziy nerv tizimi faoliyatini buzadi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Misol</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Asosan mahalliy: Kislotalar, ishqorlar, yod tindirmasi</a:t>
            </a:r>
          </a:p>
          <a:p>
            <a:pPr algn="l">
              <a:spcAft>
                <a:spcPts val="700"/>
              </a:spcAft>
            </a:pPr>
            <a:r>
              <a:rPr sz="1500" b="1">
                <a:solidFill>
                  <a:srgbClr val="C9A227"/>
                </a:solidFill>
                <a:latin typeface="Calibri"/>
              </a:rPr>
              <a:t>●  </a:t>
            </a:r>
            <a:r>
              <a:rPr sz="1500" b="0">
                <a:solidFill>
                  <a:srgbClr val="1F2937"/>
                </a:solidFill>
                <a:latin typeface="Calibri"/>
              </a:rPr>
              <a:t>Umumiy: destruktiv: Simob, qo‘rg‘oshin, margimush, fosfor</a:t>
            </a:r>
          </a:p>
          <a:p>
            <a:pPr algn="l">
              <a:spcAft>
                <a:spcPts val="700"/>
              </a:spcAft>
            </a:pPr>
            <a:r>
              <a:rPr sz="1500" b="1">
                <a:solidFill>
                  <a:srgbClr val="C9A227"/>
                </a:solidFill>
                <a:latin typeface="Calibri"/>
              </a:rPr>
              <a:t>●  </a:t>
            </a:r>
            <a:r>
              <a:rPr sz="1500" b="0">
                <a:solidFill>
                  <a:srgbClr val="1F2937"/>
                </a:solidFill>
                <a:latin typeface="Calibri"/>
              </a:rPr>
              <a:t>Is gazi, metgemoglobin hosil qiluvchilar</a:t>
            </a:r>
          </a:p>
          <a:p>
            <a:pPr algn="l">
              <a:spcAft>
                <a:spcPts val="700"/>
              </a:spcAft>
            </a:pPr>
            <a:r>
              <a:rPr sz="1500" b="1">
                <a:solidFill>
                  <a:srgbClr val="C9A227"/>
                </a:solidFill>
                <a:latin typeface="Calibri"/>
              </a:rPr>
              <a:t>●  </a:t>
            </a:r>
            <a:r>
              <a:rPr sz="1500" b="0">
                <a:solidFill>
                  <a:srgbClr val="1F2937"/>
                </a:solidFill>
                <a:latin typeface="Calibri"/>
              </a:rPr>
              <a:t>Umumiy: funksional: Etil spirti, opiatlar, sianidlar</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Zaharlar tasnifi (Popov, 1990)</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 138-139, 139-140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Funksional zaharlar guruhchalari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Funksional zaharlar markaziy nerv tizimi (MNT) va periferik nerv tizimi (PNT) faoliyatini buzadi.</a:t>
            </a:r>
          </a:p>
          <a:p>
            <a:pPr>
              <a:spcAft>
                <a:spcPts val="800"/>
              </a:spcAft>
            </a:pPr>
            <a:r>
              <a:rPr sz="1800">
                <a:solidFill>
                  <a:srgbClr val="1F2937"/>
                </a:solidFill>
                <a:latin typeface="Calibri"/>
              </a:rPr>
              <a:t>▸  Etil spirt MNT ni so‘ndiruvchi, opiatlar qo‘zg‘atuvchi guruhda; organlarda yaqqol o‘zgarish bo‘lmaydi.</a:t>
            </a:r>
          </a:p>
          <a:p>
            <a:pPr>
              <a:spcAft>
                <a:spcPts val="800"/>
              </a:spcAft>
            </a:pPr>
            <a:r>
              <a:rPr sz="1800">
                <a:solidFill>
                  <a:srgbClr val="1F2937"/>
                </a:solidFill>
                <a:latin typeface="Calibri"/>
              </a:rPr>
              <a:t>▸  Diqqat: sianid MNT ni falajlovchi, strixnin esa qo‘zg‘atuvchi — ikkalasini adashtirmang.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Funksional zaharlar tasnifi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MNT ni falajlovchi</a:t>
            </a:r>
          </a:p>
          <a:p>
            <a:pPr algn="l">
              <a:spcAft>
                <a:spcPts val="0"/>
              </a:spcAft>
            </a:pPr>
            <a:r>
              <a:rPr sz="1200" b="0">
                <a:solidFill>
                  <a:srgbClr val="1F2937"/>
                </a:solidFill>
                <a:latin typeface="Calibri"/>
              </a:rPr>
              <a:t>Sianidlar, fosfororganik, vodorod sulfid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MNT ni qo‘zg‘atuvchi</a:t>
            </a:r>
          </a:p>
          <a:p>
            <a:pPr algn="l">
              <a:spcAft>
                <a:spcPts val="0"/>
              </a:spcAft>
            </a:pPr>
            <a:r>
              <a:rPr sz="1200" b="0">
                <a:solidFill>
                  <a:srgbClr val="1F2937"/>
                </a:solidFill>
                <a:latin typeface="Calibri"/>
              </a:rPr>
              <a:t>Strixnin, kokain, opiatlar, anasha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MNT ni so‘ndiruvchi</a:t>
            </a:r>
          </a:p>
          <a:p>
            <a:pPr algn="l">
              <a:spcAft>
                <a:spcPts val="0"/>
              </a:spcAft>
            </a:pPr>
            <a:r>
              <a:rPr sz="1200" b="0">
                <a:solidFill>
                  <a:srgbClr val="1F2937"/>
                </a:solidFill>
                <a:latin typeface="Calibri"/>
              </a:rPr>
              <a:t>Etil spirt, barbituratlar, trankvilizat.</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PNT ga ta’sir etuvchi</a:t>
            </a:r>
          </a:p>
          <a:p>
            <a:pPr algn="l">
              <a:spcAft>
                <a:spcPts val="0"/>
              </a:spcAft>
            </a:pPr>
            <a:r>
              <a:rPr sz="1200" b="0">
                <a:solidFill>
                  <a:srgbClr val="1F2937"/>
                </a:solidFill>
                <a:latin typeface="Calibri"/>
              </a:rPr>
              <a:t>Xolinergik, adrenoergik, antixolin.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Funksional zaharlar tasnifi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139, 139-140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Zaharlanishda to‘rt guruh omil farqlanadi: zahar, organizm, kirish yo‘li va tashqi sharoit.</a:t>
            </a:r>
          </a:p>
          <a:p>
            <a:pPr>
              <a:spcAft>
                <a:spcPts val="800"/>
              </a:spcAft>
            </a:pPr>
            <a:r>
              <a:rPr sz="1800">
                <a:solidFill>
                  <a:srgbClr val="1F2937"/>
                </a:solidFill>
                <a:latin typeface="Calibri"/>
              </a:rPr>
              <a:t>▸  Zahar qonga qanchalik tez va to‘liq o‘tsa, toksik ta’sir shunchalik kuchli bo‘ladi.</a:t>
            </a:r>
          </a:p>
          <a:p>
            <a:pPr>
              <a:spcAft>
                <a:spcPts val="800"/>
              </a:spcAft>
            </a:pPr>
            <a:r>
              <a:rPr sz="1800">
                <a:solidFill>
                  <a:srgbClr val="1F2937"/>
                </a:solidFill>
                <a:latin typeface="Calibri"/>
              </a:rPr>
              <a:t>▸  Yopiq, issiq, nam muhit alkogol va is gazi bilan zaharlanishga moyillik yaratadi.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Zaharli modda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yo‘li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Tashqi sharoit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Zaharlanish darajasi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Zaharlanish omillari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134-135, 135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Zaharli moddaga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Is gazi va CO2 tuzilishi o‘xshash, lekin toksikligi bir xil emas. Doza va konsentratsiya muhim: 3% sirka eritmasi sirka essensiyasi bilan teng emas.</a:t>
            </a:r>
          </a:p>
          <a:p>
            <a:pPr>
              <a:spcAft>
                <a:spcPts val="800"/>
              </a:spcAft>
            </a:pPr>
            <a:r>
              <a:rPr sz="1600">
                <a:solidFill>
                  <a:srgbClr val="1F2937"/>
                </a:solidFill>
                <a:latin typeface="Calibri"/>
              </a:rPr>
              <a:t>▸  Gaz suyuqdan, suyuq qattiqdan kuchliroq ta’sir qiladi, chunki qonga tezroq o‘tadi. Bariy sulfat erimaydi, bariy xlorid esa eriydi va kuchli zahar hisoblanadi.</a:t>
            </a:r>
          </a:p>
          <a:p>
            <a:pPr>
              <a:spcAft>
                <a:spcPts val="800"/>
              </a:spcAft>
            </a:pPr>
            <a:r>
              <a:rPr sz="1600">
                <a:solidFill>
                  <a:srgbClr val="1F2937"/>
                </a:solidFill>
                <a:latin typeface="Calibri"/>
              </a:rPr>
              <a:t>▸  Zahar ko‘pincha ichimlik yoki ovqatga qo‘shiladi (vexikulum). Margimush ishqoriy, sianidlar kislotali muhitda kuchayadi; og‘ir metallar kumulyatsiyalanadi.</a:t>
            </a:r>
          </a:p>
          <a:p>
            <a:pPr>
              <a:spcAft>
                <a:spcPts val="800"/>
              </a:spcAft>
            </a:pPr>
            <a:r>
              <a:rPr sz="1600">
                <a:solidFill>
                  <a:srgbClr val="1F2937"/>
                </a:solidFill>
                <a:latin typeface="Calibri"/>
              </a:rPr>
              <a:t>▸  Barqarorlik muhim: 1916-yil dekabrda Rasputinga berilgan kaliy sianid uzoq saqlanib, CO2 bilan birikib potashga (K2CO3) aylangan va zaharsiz bo‘lib qolgan.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Zaharli moddaga bog‘liq</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Kimyoviy tuzilish</a:t>
            </a:r>
          </a:p>
          <a:p>
            <a:pPr algn="l">
              <a:spcAft>
                <a:spcPts val="0"/>
              </a:spcAft>
            </a:pPr>
            <a:r>
              <a:rPr sz="1200" b="0">
                <a:solidFill>
                  <a:srgbClr val="1F2937"/>
                </a:solidFill>
                <a:latin typeface="Calibri"/>
              </a:rPr>
              <a:t>CO va CO2 toksikligi bir xil emas</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Doza, konsentratsiya</a:t>
            </a:r>
          </a:p>
          <a:p>
            <a:pPr algn="l">
              <a:spcAft>
                <a:spcPts val="0"/>
              </a:spcAft>
            </a:pPr>
            <a:r>
              <a:rPr sz="1200" b="0">
                <a:solidFill>
                  <a:srgbClr val="1F2937"/>
                </a:solidFill>
                <a:latin typeface="Calibri"/>
              </a:rPr>
              <a:t>3% sirka ≠ sirka essensiyasi</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Agregat holat</a:t>
            </a:r>
          </a:p>
          <a:p>
            <a:pPr algn="l">
              <a:spcAft>
                <a:spcPts val="0"/>
              </a:spcAft>
            </a:pPr>
            <a:r>
              <a:rPr sz="1200" b="0">
                <a:solidFill>
                  <a:srgbClr val="1F2937"/>
                </a:solidFill>
                <a:latin typeface="Calibri"/>
              </a:rPr>
              <a:t>Gaz &gt; suyuq &gt; qattiq</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Eruvchanlik</a:t>
            </a:r>
          </a:p>
          <a:p>
            <a:pPr algn="l">
              <a:spcAft>
                <a:spcPts val="0"/>
              </a:spcAft>
            </a:pPr>
            <a:r>
              <a:rPr sz="1200" b="0">
                <a:solidFill>
                  <a:srgbClr val="1F2937"/>
                </a:solidFill>
                <a:latin typeface="Calibri"/>
              </a:rPr>
              <a:t>Bariy sulfat — erimaydi  ·  Bariy xlorid — kuchli zahar</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Vexikulum, barqarorlik</a:t>
            </a:r>
          </a:p>
          <a:p>
            <a:pPr algn="l">
              <a:spcAft>
                <a:spcPts val="0"/>
              </a:spcAft>
            </a:pPr>
            <a:r>
              <a:rPr sz="1200" b="0">
                <a:solidFill>
                  <a:srgbClr val="1F2937"/>
                </a:solidFill>
                <a:latin typeface="Calibri"/>
              </a:rPr>
              <a:t>Margimush — ishqorda kuchayadi  ·  Rasputin: sianid potashga aylangan</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Moddaga oid omillar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132-133, 133; Iskandarov A.I., Qo‘ldoshev D.R., Sud tibbiyoti, betlar: 286-287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Organizmga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Vazn muhim: dori dozasi 1 kg vaznga hisoblanadi. Bolalar kattalardan sezgirroq — vazni kichik va qarshilik tizimi to‘liq shakllanmagan.</a:t>
            </a:r>
          </a:p>
          <a:p>
            <a:pPr>
              <a:spcAft>
                <a:spcPts val="800"/>
              </a:spcAft>
            </a:pPr>
            <a:r>
              <a:rPr sz="1600">
                <a:solidFill>
                  <a:srgbClr val="1F2937"/>
                </a:solidFill>
                <a:latin typeface="Calibri"/>
              </a:rPr>
              <a:t>▸  Sog‘lom organizm zaharga kuchliroq qarshilik qiladi; yurak, jigar, buyrak kasalligida qarshilik cheklanadi. Jins farqi yo‘q; homiladorlikda sezgirlik ortadi.</a:t>
            </a:r>
          </a:p>
          <a:p>
            <a:pPr>
              <a:spcAft>
                <a:spcPts val="800"/>
              </a:spcAft>
            </a:pPr>
            <a:r>
              <a:rPr sz="1600">
                <a:solidFill>
                  <a:srgbClr val="1F2937"/>
                </a:solidFill>
                <a:latin typeface="Calibri"/>
              </a:rPr>
              <a:t>▸  Xolinesteraza faolligining tug‘ma pastligi miorelaksantlar ta’sirini kuchaytiradi. O‘ta sezgirlik — idiosinkraziya — genetik xususiyatlar bilan tushuntiriladi.</a:t>
            </a:r>
          </a:p>
          <a:p>
            <a:pPr>
              <a:spcAft>
                <a:spcPts val="800"/>
              </a:spcAft>
            </a:pPr>
            <a:r>
              <a:rPr sz="1600">
                <a:solidFill>
                  <a:srgbClr val="1F2937"/>
                </a:solidFill>
                <a:latin typeface="Calibri"/>
              </a:rPr>
              <a:t>▸  Qisqa vaqtda takror ta’sirdan tolerantlik chiqadi. Giyohvand moddalarda ruhiy va jismoniy bog‘liqlik bo‘lib, qabul qilinmasa abstinensiya kuzatiladi.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Organizmga bog‘liq</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Vazn, yosh</a:t>
            </a:r>
          </a:p>
          <a:p>
            <a:pPr algn="l">
              <a:spcAft>
                <a:spcPts val="0"/>
              </a:spcAft>
            </a:pPr>
            <a:r>
              <a:rPr sz="1200" b="0">
                <a:solidFill>
                  <a:srgbClr val="1F2937"/>
                </a:solidFill>
                <a:latin typeface="Calibri"/>
              </a:rPr>
              <a:t>Doza 1 kg vaznga  ·  Bolalar sezgirroq</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Sog‘liq holati</a:t>
            </a:r>
          </a:p>
          <a:p>
            <a:pPr algn="l">
              <a:spcAft>
                <a:spcPts val="0"/>
              </a:spcAft>
            </a:pPr>
            <a:r>
              <a:rPr sz="1200" b="0">
                <a:solidFill>
                  <a:srgbClr val="1F2937"/>
                </a:solidFill>
                <a:latin typeface="Calibri"/>
              </a:rPr>
              <a:t>Yurak, jigar, buyrak kasalligi  ·  Homiladorlikda sezgirlik ortadi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Genetika</a:t>
            </a:r>
          </a:p>
          <a:p>
            <a:pPr algn="l">
              <a:spcAft>
                <a:spcPts val="0"/>
              </a:spcAft>
            </a:pPr>
            <a:r>
              <a:rPr sz="1200" b="0">
                <a:solidFill>
                  <a:srgbClr val="1F2937"/>
                </a:solidFill>
                <a:latin typeface="Calibri"/>
              </a:rPr>
              <a:t>Xolinesteraza pastligi  ·  Idiosinkraziya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Odatlanish</a:t>
            </a:r>
          </a:p>
          <a:p>
            <a:pPr algn="l">
              <a:spcAft>
                <a:spcPts val="0"/>
              </a:spcAft>
            </a:pPr>
            <a:r>
              <a:rPr sz="1200" b="0">
                <a:solidFill>
                  <a:srgbClr val="1F2937"/>
                </a:solidFill>
                <a:latin typeface="Calibri"/>
              </a:rPr>
              <a:t>Tolerantlik  ·  Abstinensiya sindromi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Organizm omillari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133-134, 134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yo‘li va tashqi 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Zahar teri, og‘iz, nafas yo‘llari, to‘g‘ri ichak yoki in’eksiya orqali kiradi. Qonga qanchalik tez va to‘liq o‘tsa, ta’siri shunchalik kuchli bo‘ladi.</a:t>
            </a:r>
          </a:p>
          <a:p>
            <a:pPr>
              <a:spcAft>
                <a:spcPts val="800"/>
              </a:spcAft>
            </a:pPr>
            <a:r>
              <a:rPr sz="1600">
                <a:solidFill>
                  <a:srgbClr val="1F2937"/>
                </a:solidFill>
                <a:latin typeface="Calibri"/>
              </a:rPr>
              <a:t>▸  Yog‘da yaxshi eriydigan moddalar (fosfororganik) shikastlanmagan teri orqali ham so‘riladi. Suvda va yog‘da erimaydiganlar faqat mahalliy ta’sir qiladi.</a:t>
            </a:r>
          </a:p>
          <a:p>
            <a:pPr>
              <a:spcAft>
                <a:spcPts val="800"/>
              </a:spcAft>
            </a:pPr>
            <a:r>
              <a:rPr sz="1600">
                <a:solidFill>
                  <a:srgbClr val="1F2937"/>
                </a:solidFill>
                <a:latin typeface="Calibri"/>
              </a:rPr>
              <a:t>▸  Nafas yo‘llari, to‘g‘ri ichak va qin shilliq qavatidan so‘rilgan moddalar jigardan o‘tmaydi, shuning uchun oshqozon-ichakdagidan kuchliroq ta’sir qiladi.</a:t>
            </a:r>
          </a:p>
          <a:p>
            <a:pPr>
              <a:spcAft>
                <a:spcPts val="800"/>
              </a:spcAft>
            </a:pPr>
            <a:r>
              <a:rPr sz="1600">
                <a:solidFill>
                  <a:srgbClr val="1F2937"/>
                </a:solidFill>
                <a:latin typeface="Calibri"/>
              </a:rPr>
              <a:t>▸  Alkogol va is gazi bilan zaharlanishga yopiq, issiq va nam muhit moyillik yaratadi. Ochiq muhit, past harorat va namlik ularning ta’sirini susaytiradi.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Kirish yo‘li va sharoit</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Kirish yo‘llari</a:t>
            </a:r>
          </a:p>
          <a:p>
            <a:pPr algn="l">
              <a:spcAft>
                <a:spcPts val="0"/>
              </a:spcAft>
            </a:pPr>
            <a:r>
              <a:rPr sz="1200" b="0">
                <a:solidFill>
                  <a:srgbClr val="1F2937"/>
                </a:solidFill>
                <a:latin typeface="Calibri"/>
              </a:rPr>
              <a:t>Teri, og‘iz, nafas yo‘llari  ·  To‘g‘ri ichak, in’eksiya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Teri orqali</a:t>
            </a:r>
          </a:p>
          <a:p>
            <a:pPr algn="l">
              <a:spcAft>
                <a:spcPts val="0"/>
              </a:spcAft>
            </a:pPr>
            <a:r>
              <a:rPr sz="1200" b="0">
                <a:solidFill>
                  <a:srgbClr val="1F2937"/>
                </a:solidFill>
                <a:latin typeface="Calibri"/>
              </a:rPr>
              <a:t>Yog‘da eruvchi (fosfororganik)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Jigardan o‘tmaydi</a:t>
            </a:r>
          </a:p>
          <a:p>
            <a:pPr algn="l">
              <a:spcAft>
                <a:spcPts val="0"/>
              </a:spcAft>
            </a:pPr>
            <a:r>
              <a:rPr sz="1200" b="0">
                <a:solidFill>
                  <a:srgbClr val="1F2937"/>
                </a:solidFill>
                <a:latin typeface="Calibri"/>
              </a:rPr>
              <a:t>Nafas yo‘li, to‘g‘ri ichak, qin  ·  Kuchliroq ta’sir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sharoit</a:t>
            </a:r>
          </a:p>
          <a:p>
            <a:pPr algn="l">
              <a:spcAft>
                <a:spcPts val="0"/>
              </a:spcAft>
            </a:pPr>
            <a:r>
              <a:rPr sz="1200" b="0">
                <a:solidFill>
                  <a:srgbClr val="1F2937"/>
                </a:solidFill>
                <a:latin typeface="Calibri"/>
              </a:rPr>
              <a:t>Yopiq, issiq, nam — moyillik  ·  Ochiq, past harorat — susayadi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Qanchalik tez qonga o‘tsa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134-135, 135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zahar ta’sirini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Diqqat: kalomel ≠ sulema! Darslikda erimaydigan kalomel zararsiz, eruvchan sulema (simob dixlorid) esa kuchli zahar deb qiyoslanadi.</a:t>
            </a:r>
          </a:p>
          <a:p>
            <a:pPr>
              <a:spcAft>
                <a:spcPts val="1200"/>
              </a:spcAft>
            </a:pPr>
            <a:r>
              <a:rPr sz="2200">
                <a:solidFill>
                  <a:srgbClr val="1F2937"/>
                </a:solidFill>
                <a:latin typeface="Calibri"/>
              </a:rPr>
              <a:t>▸  Bariy sulfat suvda erimaydi, shuning uchun oshqozon-ichak rentgenida butqa sifatida beriladi. Suvda eriydigan bariy xlorid esa kuchli zahar hisoblanadi.</a:t>
            </a:r>
          </a:p>
          <a:p>
            <a:pPr>
              <a:spcAft>
                <a:spcPts val="1200"/>
              </a:spcAft>
            </a:pPr>
            <a:r>
              <a:rPr sz="2200">
                <a:solidFill>
                  <a:srgbClr val="1F2937"/>
                </a:solidFill>
                <a:latin typeface="Calibri"/>
              </a:rPr>
              <a:t>▸  Konsentratsiya hal qiladi: 3% sirka kislotasi sirka essensiyasi bilan teng emas. Konsentrlangan fenol kuydiradi, suyultirilgani qonga so‘rilib shikastlaydi.</a:t>
            </a:r>
          </a:p>
          <a:p>
            <a:pPr>
              <a:spcAft>
                <a:spcPts val="1200"/>
              </a:spcAft>
            </a:pPr>
            <a:r>
              <a:rPr sz="2200">
                <a:solidFill>
                  <a:srgbClr val="1F2937"/>
                </a:solidFill>
                <a:latin typeface="Calibri"/>
              </a:rPr>
              <a:t>▸  Suyultirilgan xlorid kislotasi dori sifatida ishlatiladi, uning konsentrlangan eritmasi esa kuchli zahar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286; G‘iyosov Z.A., Sud tibbiyoti: darslik, betlar: 133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zahar ta’siri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3 yoshli qizcha xushsiz, talvasa va og‘zidan ko‘pik-qon kelgan; ichki qon ketishga shubha. Oshqozonda piramidon topilgan: yiqilishdan oldin 10 tabletka ichgan.</a:t>
            </a:r>
          </a:p>
          <a:p>
            <a:pPr>
              <a:spcAft>
                <a:spcPts val="1200"/>
              </a:spcAft>
            </a:pPr>
            <a:r>
              <a:rPr sz="2200">
                <a:solidFill>
                  <a:srgbClr val="1F2937"/>
                </a:solidFill>
                <a:latin typeface="Calibri"/>
              </a:rPr>
              <a:t>▸  15 yoshli qizga nembutalning 10% li eritmasi teri tagiga yuborilgan. 4 ml dan keyin u qisqa muddat xushini yo‘qotgan. Bunda yuborish yo‘li o‘zgartirilgan.</a:t>
            </a:r>
          </a:p>
          <a:p>
            <a:pPr>
              <a:spcAft>
                <a:spcPts val="1200"/>
              </a:spcAft>
            </a:pPr>
            <a:r>
              <a:rPr sz="2200">
                <a:solidFill>
                  <a:srgbClr val="1F2937"/>
                </a:solidFill>
                <a:latin typeface="Calibri"/>
              </a:rPr>
              <a:t>▸  1916-yil dekabrida Rasputinga kaliy sianidi berilgan, lekin u zaharlanmagan. Modda uzoq saqlanib, CO2 bilan birikib potashga aylangan va zaharsiz bo‘lib qolgan.</a:t>
            </a:r>
          </a:p>
          <a:p>
            <a:pPr>
              <a:spcAft>
                <a:spcPts val="1200"/>
              </a:spcAft>
            </a:pPr>
            <a:r>
              <a:rPr sz="2200">
                <a:solidFill>
                  <a:srgbClr val="1F2937"/>
                </a:solidFill>
                <a:latin typeface="Calibri"/>
              </a:rPr>
              <a:t>▸  Savol: har bir holatda qaysi omil hal qiluvchi bo‘lgan: doza, yosh, yuborish yo‘li yoki saqlanish muddati?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Iskandarov A.I., Qo‘ldoshev D.R., Sud tibbiyoti, betlar: 294, 289, 286-287, 286-289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Zaharlanishning sud-tibbiy diagnostikasi: 3 bosqich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bosqich: voqea joyini ko‘zdan kechirish, tibbiy hujjatlar va katamnez bilan tanishish.</a:t>
            </a:r>
          </a:p>
          <a:p>
            <a:pPr>
              <a:spcAft>
                <a:spcPts val="800"/>
              </a:spcAft>
            </a:pPr>
            <a:r>
              <a:rPr sz="1800">
                <a:solidFill>
                  <a:srgbClr val="1F2937"/>
                </a:solidFill>
                <a:latin typeface="Calibri"/>
              </a:rPr>
              <a:t>▸  Ikkinchi bosqich: murdaning tashqi va ichki tekshiruvida zaharlanishni tasdiqlovchi dalillar olinadi.</a:t>
            </a:r>
          </a:p>
          <a:p>
            <a:pPr>
              <a:spcAft>
                <a:spcPts val="800"/>
              </a:spcAft>
            </a:pPr>
            <a:r>
              <a:rPr sz="1800">
                <a:solidFill>
                  <a:srgbClr val="1F2937"/>
                </a:solidFill>
                <a:latin typeface="Calibri"/>
              </a:rPr>
              <a:t>▸  Uchinchi bosqich: gistologik, sud-kimyoviy va boshqa laboratoriya tekshiruvlari o‘tkaziladi.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Voqea joyi, hujjatlar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Murda tekshiruvi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Laboratoriya tekshiruvlari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Yakuniy ekspert xulosasi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Diagnostika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joyi va murdani tekshirish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joyida dori idishlari, o‘ramlar, shpritslar, retseptlar, qusuq va ajratmalar, yot hid e’tiborga olinadi; ashyoviy dalillar laboratoriyaga olinadi.</a:t>
            </a:r>
          </a:p>
          <a:p>
            <a:pPr>
              <a:spcAft>
                <a:spcPts val="1200"/>
              </a:spcAft>
            </a:pPr>
            <a:r>
              <a:rPr sz="2200">
                <a:solidFill>
                  <a:srgbClr val="1F2937"/>
                </a:solidFill>
                <a:latin typeface="Calibri"/>
              </a:rPr>
              <a:t>▸  Qusuq, axlat va oshqozon yuvindisi alohida idishga yig‘ilib o‘raladi. Bo‘sh idishlar ham olinadi, chunki yuvindidan zahar topilishi mumkin.</a:t>
            </a:r>
          </a:p>
          <a:p>
            <a:pPr>
              <a:spcAft>
                <a:spcPts val="1200"/>
              </a:spcAft>
            </a:pPr>
            <a:r>
              <a:rPr sz="2200">
                <a:solidFill>
                  <a:srgbClr val="1F2937"/>
                </a:solidFill>
                <a:latin typeface="Calibri"/>
              </a:rPr>
              <a:t>▸  Murdada in’eksiya izlari, murda dog‘lari rangi, yot hid, mushak qotishi baholanadi. Is gazida dog‘lar pushti, sianidda yorqin olcha, metgemoglobinda qo‘ng‘ir.</a:t>
            </a:r>
          </a:p>
          <a:p>
            <a:pPr>
              <a:spcAft>
                <a:spcPts val="1200"/>
              </a:spcAft>
            </a:pPr>
            <a:r>
              <a:rPr sz="2200">
                <a:solidFill>
                  <a:srgbClr val="1F2937"/>
                </a:solidFill>
                <a:latin typeface="Calibri"/>
              </a:rPr>
              <a:t>▸  Diqqat: zaharlanishga shubha bo‘lsa, murdani yorishda suv va antiseptik ishlatilmaydi, chunki zahar yuvilib ketishi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135-136; Iskandarov A.I., Qo‘ldoshev D.R., Sud tibbiyoti, betlar: 294-295, 296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tekshiruvi va “uch nuqta” qoidasi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Laboratoriya tekshiruvlari ichida eng ko‘p sud-kimyoviy (toksikologik) tekshiruv o‘tkaziladi. Unda nafaqat sifat, balki miqdor ham aniqlanadi.</a:t>
            </a:r>
          </a:p>
          <a:p>
            <a:pPr>
              <a:spcAft>
                <a:spcPts val="1200"/>
              </a:spcAft>
            </a:pPr>
            <a:r>
              <a:rPr sz="2200">
                <a:solidFill>
                  <a:srgbClr val="1F2937"/>
                </a:solidFill>
                <a:latin typeface="Calibri"/>
              </a:rPr>
              <a:t>▸  Zahar ma’lum bo‘lsa, «uch nuqta» qoidasi: zahar kirgan, ta’sir etgan va chiqqan joydan namuna olinadi. Og‘iz orqali kirsa — oshqozon, jigar, buyrak, siydik.</a:t>
            </a:r>
          </a:p>
          <a:p>
            <a:pPr>
              <a:spcAft>
                <a:spcPts val="1200"/>
              </a:spcAft>
            </a:pPr>
            <a:r>
              <a:rPr sz="2200">
                <a:solidFill>
                  <a:srgbClr val="1F2937"/>
                </a:solidFill>
                <a:latin typeface="Calibri"/>
              </a:rPr>
              <a:t>▸  Zahar noma’lum bo‘lsa: miyaning 1/3, o‘pkaning 1/4, jigarning 1/3 o‘t bilan, buyrak, oshqozon massasi, ichak va 100-200 ml qon (alohida idishda) olinadi.</a:t>
            </a:r>
          </a:p>
          <a:p>
            <a:pPr>
              <a:spcAft>
                <a:spcPts val="1200"/>
              </a:spcAft>
            </a:pPr>
            <a:r>
              <a:rPr sz="2200">
                <a:solidFill>
                  <a:srgbClr val="1F2937"/>
                </a:solidFill>
                <a:latin typeface="Calibri"/>
              </a:rPr>
              <a:t>▸  Diqqat: olingan materialni qotiruvchi moddalar (formalin, spirt) bilan qotirish mumkin emas. Spirt va nitritga shubhada namuna tez yetkaziladi.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 Iskandarov A.I., Qo‘ldoshev D.R., Sud tibbiyoti, betlar: 297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Toksikokinetika — zahar kirishi, taqsimlanishi, metabolizmi va chiqarilishi jarayonlari majmui.</a:t>
            </a:r>
          </a:p>
          <a:p>
            <a:pPr>
              <a:spcAft>
                <a:spcPts val="800"/>
              </a:spcAft>
            </a:pPr>
            <a:r>
              <a:rPr sz="1800">
                <a:solidFill>
                  <a:srgbClr val="1F2937"/>
                </a:solidFill>
                <a:latin typeface="Calibri"/>
              </a:rPr>
              <a:t>▸  Toksikodinamika — zahar bilan organizmning o‘zaro ta’siri va javob reaksiyalari majmui.</a:t>
            </a:r>
          </a:p>
          <a:p>
            <a:pPr>
              <a:spcAft>
                <a:spcPts val="800"/>
              </a:spcAft>
            </a:pPr>
            <a:r>
              <a:rPr sz="1800">
                <a:solidFill>
                  <a:srgbClr val="1F2937"/>
                </a:solidFill>
                <a:latin typeface="Calibri"/>
              </a:rPr>
              <a:t>▸  Sirka kislotasi: birlamchi — kuyish, keyingi — gemoliz, metatoksik — toksik gepatit va nefroz.</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Organizmga kirish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Taqsimlanish (a’zo, to‘qima)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Biotransformatsiya (jigar)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Chiqarilish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Toksikokinetika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136-137, 138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Biotransformatsiya: spirtlar metabolitlari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Metanol, etanol, etilenglikol oksidlanganda o‘zidan kuchliroq zaharli moddalar hosil bo‘ladi.</a:t>
            </a:r>
          </a:p>
          <a:p>
            <a:pPr>
              <a:spcAft>
                <a:spcPts val="800"/>
              </a:spcAft>
            </a:pPr>
            <a:r>
              <a:rPr sz="1800">
                <a:solidFill>
                  <a:srgbClr val="1F2937"/>
                </a:solidFill>
                <a:latin typeface="Calibri"/>
              </a:rPr>
              <a:t>▸  Metanol avval narkotik ta’sir qiladi; kardio-, nefro-, neyrotoksik o‘zgarishlar formaldegiddan.</a:t>
            </a:r>
          </a:p>
          <a:p>
            <a:pPr>
              <a:spcAft>
                <a:spcPts val="800"/>
              </a:spcAft>
            </a:pPr>
            <a:r>
              <a:rPr sz="1800">
                <a:solidFill>
                  <a:srgbClr val="1F2937"/>
                </a:solidFill>
                <a:latin typeface="Calibri"/>
              </a:rPr>
              <a:t>▸  Etilenglikolning o‘zi narkotik, metaboliti oksalat kislotasi esa gepato- va nefrotoksik ta’sir ko‘rsatadi.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Spirtlar va metabolitlari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Metil spirti (metanol)</a:t>
            </a:r>
          </a:p>
          <a:p>
            <a:pPr algn="l">
              <a:spcAft>
                <a:spcPts val="0"/>
              </a:spcAft>
            </a:pPr>
            <a:r>
              <a:rPr sz="1200" b="0">
                <a:solidFill>
                  <a:srgbClr val="1F2937"/>
                </a:solidFill>
                <a:latin typeface="Calibri"/>
              </a:rPr>
              <a:t>Formaldegid  ·  Kardio-, nefro-, neyrotoksik</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Etil spirti (etanol)</a:t>
            </a:r>
          </a:p>
          <a:p>
            <a:pPr algn="l">
              <a:spcAft>
                <a:spcPts val="0"/>
              </a:spcAft>
            </a:pPr>
            <a:r>
              <a:rPr sz="1200" b="0">
                <a:solidFill>
                  <a:srgbClr val="1F2937"/>
                </a:solidFill>
                <a:latin typeface="Calibri"/>
              </a:rPr>
              <a:t>Atsetaldegid  ·  Kuchliroq toksik modda hosil bo‘ladi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Etilenglikol</a:t>
            </a:r>
          </a:p>
          <a:p>
            <a:pPr algn="l">
              <a:spcAft>
                <a:spcPts val="0"/>
              </a:spcAft>
            </a:pPr>
            <a:r>
              <a:rPr sz="1200" b="0">
                <a:solidFill>
                  <a:srgbClr val="1F2937"/>
                </a:solidFill>
                <a:latin typeface="Calibri"/>
              </a:rPr>
              <a:t>Oksalat kislotasi  ·  Gepato- va nefrotoksik</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Spirtlar va metabolitlari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137, 138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o‘yuvchi va destruktiv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odam xato bilan sirka essensiyasini (40–80%) ichgan. Og‘iz, qizilo‘ngach va oshqozonda kuchli kuydiruvchi og‘riq, qon aralash qusish boshlangan.</a:t>
            </a:r>
          </a:p>
          <a:p>
            <a:pPr>
              <a:spcAft>
                <a:spcPts val="1200"/>
              </a:spcAft>
            </a:pPr>
            <a:r>
              <a:rPr sz="2000">
                <a:solidFill>
                  <a:srgbClr val="1F2937"/>
                </a:solidFill>
                <a:latin typeface="Calibri"/>
              </a:rPr>
              <a:t>▸  Zaharning ta’siri uch bosqichda: birlamchi — shilliq qavatlarning kimyoviy kuyishi; keyingi — atsidoz tufayli gemoliz; metatoksik — toksik gepatit va nefroz.</a:t>
            </a:r>
          </a:p>
          <a:p>
            <a:pPr>
              <a:spcAft>
                <a:spcPts val="1200"/>
              </a:spcAft>
            </a:pPr>
            <a:r>
              <a:rPr sz="2000">
                <a:solidFill>
                  <a:srgbClr val="1F2937"/>
                </a:solidFill>
                <a:latin typeface="Calibri"/>
              </a:rPr>
              <a:t>▸  Sirka kislotasi boshqa kislotalarga qaraganda kuchli gemolitik; gemoliz gemoglobinuriyali nefroz, o‘tkir buyrak yetishmovchiligi, jigarda nekrozga olib keladi.</a:t>
            </a:r>
          </a:p>
          <a:p>
            <a:pPr>
              <a:spcAft>
                <a:spcPts val="1200"/>
              </a:spcAft>
            </a:pPr>
            <a:r>
              <a:rPr sz="2000">
                <a:solidFill>
                  <a:srgbClr val="1F2937"/>
                </a:solidFill>
                <a:latin typeface="Calibri"/>
              </a:rPr>
              <a:t>▸  Diqqat: sirka kislotasi mahalliy kislotalar guruhida, lekin gemolitik zahar ham. Destruktiv zaharlar (simob, qo‘rg‘oshin) qonga so‘rilgach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141, 138, 142, 139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 xossalari va kirish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Etanol rangsiz, uchuvchan, o‘ziga xos hidli va yonuvchi ta’mli suyuqlik. Suv bilan har qanday nisbatda aralashadi va suv bug‘i bilan haydaladi.</a:t>
            </a:r>
          </a:p>
          <a:p>
            <a:pPr>
              <a:spcAft>
                <a:spcPts val="1200"/>
              </a:spcAft>
            </a:pPr>
            <a:r>
              <a:rPr sz="2200">
                <a:solidFill>
                  <a:srgbClr val="1F2937"/>
                </a:solidFill>
                <a:latin typeface="Calibri"/>
              </a:rPr>
              <a:t>▸  Etanol kraxmalli mahsulotlar, mevalar va shakar bijg‘ishidan olinadi. Xom spirt rektifikatsiya bilan tozalanadi; xom spirt va uy aroqida sivush moylari bo‘ladi.</a:t>
            </a:r>
          </a:p>
          <a:p>
            <a:pPr>
              <a:spcAft>
                <a:spcPts val="1200"/>
              </a:spcAft>
            </a:pPr>
            <a:r>
              <a:rPr sz="2200">
                <a:solidFill>
                  <a:srgbClr val="1F2937"/>
                </a:solidFill>
                <a:latin typeface="Calibri"/>
              </a:rPr>
              <a:t>▸  Sivush moylari organizmda sekin metabolizmga uchraydi. Shuning uchun ularning ta’siri toza etanolga qaraganda uzoqroq davom etadi.</a:t>
            </a:r>
          </a:p>
          <a:p>
            <a:pPr>
              <a:spcAft>
                <a:spcPts val="1200"/>
              </a:spcAft>
            </a:pPr>
            <a:r>
              <a:rPr sz="2200">
                <a:solidFill>
                  <a:srgbClr val="1F2937"/>
                </a:solidFill>
                <a:latin typeface="Calibri"/>
              </a:rPr>
              <a:t>▸  Etanol sanoatda erituvchi, tibbiyotda dezinfeksiya va metanol zaharlanishida detoksikant. Ichish, vena ichiga yuborish yoki bug‘ nafas olish orqali kiradi.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Etanolning tanaga ta’siri va toksikligi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Etanol bosh miya po‘stlog‘iga ta’sir qiladi. Mastlikdagi “qo‘zg‘alish” qo‘zg‘alish kuchayishidan emas, tormozlanish jarayoni susayishidan kelib chiqadi.</a:t>
            </a:r>
          </a:p>
          <a:p>
            <a:pPr>
              <a:spcAft>
                <a:spcPts val="800"/>
              </a:spcAft>
            </a:pPr>
            <a:r>
              <a:rPr sz="1600">
                <a:solidFill>
                  <a:srgbClr val="1F2937"/>
                </a:solidFill>
                <a:latin typeface="Calibri"/>
              </a:rPr>
              <a:t>▸  Katta dozada orqa va uzunchoq miya bosiladi: uzoq chuqur narkoz, reflekslar yo‘qoladi, nafas markazi falajlanib o‘lim yuz berishi mumkin.</a:t>
            </a:r>
          </a:p>
          <a:p>
            <a:pPr>
              <a:spcAft>
                <a:spcPts val="800"/>
              </a:spcAft>
            </a:pPr>
            <a:r>
              <a:rPr sz="1600">
                <a:solidFill>
                  <a:srgbClr val="1F2937"/>
                </a:solidFill>
                <a:latin typeface="Calibri"/>
              </a:rPr>
              <a:t>▸  Taxminiy o‘ldiruvchi doza: 1 kg vaznga 6–8 ml toza spirt (400–500 ml). Sezgirlik, ichimlik kuchi va oshqozon to‘liqligiga qarab 100–150 g dan 600–800 g gacha.</a:t>
            </a:r>
          </a:p>
          <a:p>
            <a:pPr>
              <a:spcAft>
                <a:spcPts val="800"/>
              </a:spcAft>
            </a:pPr>
            <a:r>
              <a:rPr sz="1600">
                <a:solidFill>
                  <a:srgbClr val="1F2937"/>
                </a:solidFill>
                <a:latin typeface="Calibri"/>
              </a:rPr>
              <a:t>▸  Manba bo‘yicha o‘tkir zaharlanishlar ichida spirt birinchi o‘rinda (taxminan 60%). U yurak-qon tomir kasalliklaridan to‘satdan o‘limga ham yordam beradi.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Zaharlanishdagi ulushi</a:t>
            </a:r>
          </a:p>
          <a:p>
            <a:pPr algn="l">
              <a:spcAft>
                <a:spcPts val="100"/>
              </a:spcAft>
            </a:pPr>
            <a:r>
              <a:rPr sz="3000" b="1">
                <a:solidFill>
                  <a:srgbClr val="0B1F3A"/>
                </a:solidFill>
                <a:latin typeface="Calibri"/>
              </a:rPr>
              <a:t>60</a:t>
            </a:r>
            <a:r>
              <a:rPr sz="1500" b="0">
                <a:solidFill>
                  <a:srgbClr val="6B7280"/>
                </a:solidFill>
                <a:latin typeface="Calibri"/>
              </a:rPr>
              <a:t>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O‘ldiruvchi doza (toza)</a:t>
            </a:r>
          </a:p>
          <a:p>
            <a:pPr algn="l">
              <a:spcAft>
                <a:spcPts val="100"/>
              </a:spcAft>
            </a:pPr>
            <a:r>
              <a:rPr sz="3000" b="1">
                <a:solidFill>
                  <a:srgbClr val="0B1F3A"/>
                </a:solidFill>
                <a:latin typeface="Calibri"/>
              </a:rPr>
              <a:t>6–8</a:t>
            </a:r>
            <a:r>
              <a:rPr sz="1500" b="0">
                <a:solidFill>
                  <a:srgbClr val="6B7280"/>
                </a:solidFill>
                <a:latin typeface="Calibri"/>
              </a:rPr>
              <a:t>  ml/kg</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Taxminiy hajm</a:t>
            </a:r>
          </a:p>
          <a:p>
            <a:pPr algn="l">
              <a:spcAft>
                <a:spcPts val="100"/>
              </a:spcAft>
            </a:pPr>
            <a:r>
              <a:rPr sz="3000" b="1">
                <a:solidFill>
                  <a:srgbClr val="0B1F3A"/>
                </a:solidFill>
                <a:latin typeface="Calibri"/>
              </a:rPr>
              <a:t>400–500</a:t>
            </a:r>
            <a:r>
              <a:rPr sz="1500" b="0">
                <a:solidFill>
                  <a:srgbClr val="6B7280"/>
                </a:solidFill>
                <a:latin typeface="Calibri"/>
              </a:rPr>
              <a:t>  ml</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Individual quyi</a:t>
            </a:r>
          </a:p>
          <a:p>
            <a:pPr algn="l">
              <a:spcAft>
                <a:spcPts val="100"/>
              </a:spcAft>
            </a:pPr>
            <a:r>
              <a:rPr sz="3000" b="1">
                <a:solidFill>
                  <a:srgbClr val="0B1F3A"/>
                </a:solidFill>
                <a:latin typeface="Calibri"/>
              </a:rPr>
              <a:t>100–150</a:t>
            </a:r>
            <a:r>
              <a:rPr sz="1500" b="0">
                <a:solidFill>
                  <a:srgbClr val="6B7280"/>
                </a:solidFill>
                <a:latin typeface="Calibri"/>
              </a:rPr>
              <a:t>  g</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Individual yuqori</a:t>
            </a:r>
          </a:p>
          <a:p>
            <a:pPr algn="l">
              <a:spcAft>
                <a:spcPts val="100"/>
              </a:spcAft>
            </a:pPr>
            <a:r>
              <a:rPr sz="3000" b="1">
                <a:solidFill>
                  <a:srgbClr val="0B1F3A"/>
                </a:solidFill>
                <a:latin typeface="Calibri"/>
              </a:rPr>
              <a:t>600–800</a:t>
            </a:r>
            <a:r>
              <a:rPr sz="1500" b="0">
                <a:solidFill>
                  <a:srgbClr val="6B7280"/>
                </a:solidFill>
                <a:latin typeface="Calibri"/>
              </a:rPr>
              <a:t>  g</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Etanol toksikligi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49-50, 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Etanolning taqsimlanishi va qon-siydik nisbati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Etanol to‘qimalarda tekis taqsimlanmaydi: uning miqdori a’zodagi suv miqdoriga to‘g‘ri, yog‘ to‘qimasi miqdoriga esa teskari proporsional.</a:t>
            </a:r>
          </a:p>
          <a:p>
            <a:pPr>
              <a:spcAft>
                <a:spcPts val="800"/>
              </a:spcAft>
            </a:pPr>
            <a:r>
              <a:rPr sz="1600">
                <a:solidFill>
                  <a:srgbClr val="1F2937"/>
                </a:solidFill>
                <a:latin typeface="Calibri"/>
              </a:rPr>
              <a:t>▸  Tana massasining taxminan 65% i suv, qonda suv 75–85%. Shu sababli qonda spirt boshqa a’zolardagidan ko‘p, qon tahlili qabul qilingan miqdorni baholashda muhim.</a:t>
            </a:r>
          </a:p>
          <a:p>
            <a:pPr>
              <a:spcAft>
                <a:spcPts val="800"/>
              </a:spcAft>
            </a:pPr>
            <a:r>
              <a:rPr sz="1600">
                <a:solidFill>
                  <a:srgbClr val="1F2937"/>
                </a:solidFill>
                <a:latin typeface="Calibri"/>
              </a:rPr>
              <a:t>▸  Ichgandan 1–2 soat o‘tgach siydikda spirt qondagidan past bo‘ladi, eliminatsiya davrida esa yuqori. Bu ichishdan o‘tgan vaqtni baholashga yordam beradi.</a:t>
            </a:r>
          </a:p>
          <a:p>
            <a:pPr>
              <a:spcAft>
                <a:spcPts val="800"/>
              </a:spcAft>
            </a:pPr>
            <a:r>
              <a:rPr sz="1600">
                <a:solidFill>
                  <a:srgbClr val="1F2937"/>
                </a:solidFill>
                <a:latin typeface="Calibri"/>
              </a:rPr>
              <a:t>▸  Natija promillada (‰) beriladi. Murda qonida chirish 2,4‰ gacha spirt hosil qilishi mumkin, siydikda hosil bo‘lmaydi; shuning uchun ikkalasi tekshiriladi.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 massasida suv</a:t>
            </a:r>
          </a:p>
          <a:p>
            <a:pPr algn="l">
              <a:spcAft>
                <a:spcPts val="100"/>
              </a:spcAft>
            </a:pPr>
            <a:r>
              <a:rPr sz="3000" b="1">
                <a:solidFill>
                  <a:srgbClr val="0B1F3A"/>
                </a:solidFill>
                <a:latin typeface="Calibri"/>
              </a:rPr>
              <a:t>65</a:t>
            </a:r>
            <a:r>
              <a:rPr sz="1500" b="0">
                <a:solidFill>
                  <a:srgbClr val="6B7280"/>
                </a:solidFill>
                <a:latin typeface="Calibri"/>
              </a:rPr>
              <a:t>  %</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Qon tarkibida suv</a:t>
            </a:r>
          </a:p>
          <a:p>
            <a:pPr algn="l">
              <a:spcAft>
                <a:spcPts val="100"/>
              </a:spcAft>
            </a:pPr>
            <a:r>
              <a:rPr sz="3000" b="1">
                <a:solidFill>
                  <a:srgbClr val="0B1F3A"/>
                </a:solidFill>
                <a:latin typeface="Calibri"/>
              </a:rPr>
              <a:t>75–85</a:t>
            </a:r>
            <a:r>
              <a:rPr sz="1500" b="0">
                <a:solidFill>
                  <a:srgbClr val="6B7280"/>
                </a:solidFill>
                <a:latin typeface="Calibri"/>
              </a:rPr>
              <a:t>  %</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Siydik/qon farqi</a:t>
            </a:r>
          </a:p>
          <a:p>
            <a:pPr algn="l">
              <a:spcAft>
                <a:spcPts val="100"/>
              </a:spcAft>
            </a:pPr>
            <a:r>
              <a:rPr sz="3000" b="1">
                <a:solidFill>
                  <a:srgbClr val="0B1F3A"/>
                </a:solidFill>
                <a:latin typeface="Calibri"/>
              </a:rPr>
              <a:t>1–2</a:t>
            </a:r>
            <a:r>
              <a:rPr sz="1500" b="0">
                <a:solidFill>
                  <a:srgbClr val="6B7280"/>
                </a:solidFill>
                <a:latin typeface="Calibri"/>
              </a:rPr>
              <a:t>  soatdan</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Chirishdan hosil bo‘lgan</a:t>
            </a:r>
          </a:p>
          <a:p>
            <a:pPr algn="l">
              <a:spcAft>
                <a:spcPts val="100"/>
              </a:spcAft>
            </a:pPr>
            <a:r>
              <a:rPr sz="3000" b="1">
                <a:solidFill>
                  <a:srgbClr val="0B1F3A"/>
                </a:solidFill>
                <a:latin typeface="Calibri"/>
              </a:rPr>
              <a:t>2,4 gacha</a:t>
            </a:r>
            <a:r>
              <a:rPr sz="1500" b="0">
                <a:solidFill>
                  <a:srgbClr val="6B7280"/>
                </a:solidFill>
                <a:latin typeface="Calibri"/>
              </a:rPr>
              <a:t>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Etanol taqsimoti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51, 51-52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Mastlik darajalari (promille bo‘yicha)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Mastlik va o‘lim darajasi haqidagi xulosa qondagi etanol natijasiga asoslanadi.</a:t>
            </a:r>
          </a:p>
          <a:p>
            <a:pPr>
              <a:spcAft>
                <a:spcPts val="800"/>
              </a:spcAft>
            </a:pPr>
            <a:r>
              <a:rPr sz="1800">
                <a:solidFill>
                  <a:srgbClr val="1F2937"/>
                </a:solidFill>
                <a:latin typeface="Calibri"/>
              </a:rPr>
              <a:t>▸  Diqqat: 3–5‰ og‘ir zaharlanish, 5–6‰ esa o‘limga olib keluvchi zaharlanish; bu ikki darajani aralashtirmang.</a:t>
            </a:r>
          </a:p>
          <a:p>
            <a:pPr>
              <a:spcAft>
                <a:spcPts val="800"/>
              </a:spcAft>
            </a:pPr>
            <a:r>
              <a:rPr sz="1800">
                <a:solidFill>
                  <a:srgbClr val="1F2937"/>
                </a:solidFill>
                <a:latin typeface="Calibri"/>
              </a:rPr>
              <a:t>▸  Siydik va qon birga tekshiriladi, chunki chirish qonda spirt hosil qilishi mumkin.</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0,3 dan past</a:t>
            </a:r>
          </a:p>
          <a:p>
            <a:pPr algn="l">
              <a:spcAft>
                <a:spcPts val="200"/>
              </a:spcAft>
            </a:pPr>
            <a:r>
              <a:rPr sz="1400" b="0">
                <a:solidFill>
                  <a:srgbClr val="1F2937"/>
                </a:solidFill>
                <a:latin typeface="Calibri"/>
              </a:rPr>
              <a:t>Spirt ta’siri yo‘q deb baholanadi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0,5–1,5 va 1,5–2,5</a:t>
            </a:r>
          </a:p>
          <a:p>
            <a:pPr algn="l">
              <a:spcAft>
                <a:spcPts val="200"/>
              </a:spcAft>
            </a:pPr>
            <a:r>
              <a:rPr sz="1400" b="0">
                <a:solidFill>
                  <a:srgbClr val="1F2937"/>
                </a:solidFill>
                <a:latin typeface="Calibri"/>
              </a:rPr>
              <a:t>Yengil va o‘rta darajali mastlik</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2,5–3,0</a:t>
            </a:r>
          </a:p>
          <a:p>
            <a:pPr algn="l">
              <a:spcAft>
                <a:spcPts val="200"/>
              </a:spcAft>
            </a:pPr>
            <a:r>
              <a:rPr sz="1400" b="0">
                <a:solidFill>
                  <a:srgbClr val="1F2937"/>
                </a:solidFill>
                <a:latin typeface="Calibri"/>
              </a:rPr>
              <a:t>Kuchli mastlik</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3–5 va 5–6</a:t>
            </a:r>
          </a:p>
          <a:p>
            <a:pPr algn="l">
              <a:spcAft>
                <a:spcPts val="200"/>
              </a:spcAft>
            </a:pPr>
            <a:r>
              <a:rPr sz="1400" b="0">
                <a:solidFill>
                  <a:srgbClr val="1F2937"/>
                </a:solidFill>
                <a:latin typeface="Calibri"/>
              </a:rPr>
              <a:t>Og‘ir zaharlanish va o‘lim</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Etanol va holat (qonda)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Etanol metabolizmi va chiqarilishi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600">
                <a:solidFill>
                  <a:srgbClr val="1F2937"/>
                </a:solidFill>
                <a:latin typeface="Calibri"/>
              </a:rPr>
              <a:t>▸  Etanolning 2–10% i o‘zgarmagan holda siydik, nafas, ter, so‘lak va najas orqali chiqadi. Qolgan qismi metabolizmga uchraydi.</a:t>
            </a:r>
          </a:p>
          <a:p>
            <a:pPr>
              <a:spcAft>
                <a:spcPts val="800"/>
              </a:spcAft>
            </a:pPr>
            <a:r>
              <a:rPr sz="1600">
                <a:solidFill>
                  <a:srgbClr val="1F2937"/>
                </a:solidFill>
                <a:latin typeface="Calibri"/>
              </a:rPr>
              <a:t>▸  Bir qismi suv va karbonat angidridgacha, ancha ko‘prog‘i atsetaldegidgacha, so‘ng sirka kislotagacha oksidlanadi.</a:t>
            </a:r>
          </a:p>
          <a:p>
            <a:pPr>
              <a:spcAft>
                <a:spcPts val="800"/>
              </a:spcAft>
            </a:pPr>
            <a:r>
              <a:rPr sz="1600">
                <a:solidFill>
                  <a:srgbClr val="1F2937"/>
                </a:solidFill>
                <a:latin typeface="Calibri"/>
              </a:rPr>
              <a:t>▸  Tetura (antabus) kabi moddalar atsetaldegidning sirka kislotaga o‘tishini to‘xtatadi. Atsetaldegid to‘planib, alkogolga nafrat uyg‘otadi.</a:t>
            </a:r>
          </a:p>
          <a:p>
            <a:pPr>
              <a:spcAft>
                <a:spcPts val="800"/>
              </a:spcAft>
            </a:pPr>
            <a:r>
              <a:rPr sz="1600">
                <a:solidFill>
                  <a:srgbClr val="1F2937"/>
                </a:solidFill>
                <a:latin typeface="Calibri"/>
              </a:rPr>
              <a:t>▸  Alkogol hayotda va o‘limdan keyin tez parchalanadi; margumush yoki strixninga qaraganda, uzoq ko‘milgan murdada topilmasligi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Etanol</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Atsetaldegid</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Sirka kislotasi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Suv va CO2</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2–10% o‘zgarmay chiqadi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Etanol metabolizmi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52; Iskandarov A.I., Qo‘ldoshev D.R., Sud tibbiyoti, betlar: 298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 etanolni aniqlash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Chirishda murda qonida spirt hosil bo‘lishi mumkin: ozgina miqdordan 2,4 ‰ gacha. Siydikda esa chirishdan spirt hosil bo‘lmaydi.</a:t>
            </a:r>
          </a:p>
          <a:p>
            <a:pPr>
              <a:spcAft>
                <a:spcPts val="800"/>
              </a:spcAft>
            </a:pPr>
            <a:r>
              <a:rPr sz="1600">
                <a:solidFill>
                  <a:srgbClr val="1F2937"/>
                </a:solidFill>
                <a:latin typeface="Calibri"/>
              </a:rPr>
              <a:t>▸  Dastlabki 2–3 sutkada spirt alkogoldegidraza fermenti ta’sirida qisman parchalanadi. Mastlik darajasini baholash uchun qon ham, siydik ham tekshiriladi.</a:t>
            </a:r>
          </a:p>
          <a:p>
            <a:pPr>
              <a:spcAft>
                <a:spcPts val="800"/>
              </a:spcAft>
            </a:pPr>
            <a:r>
              <a:rPr sz="1600">
                <a:solidFill>
                  <a:srgbClr val="1F2937"/>
                </a:solidFill>
                <a:latin typeface="Calibri"/>
              </a:rPr>
              <a:t>▸  Ekshumatsiyada alkogol uzoq saqlanmaydi: hayot vaqtida ham, o‘limdan keyin ham tez parchalanadi. Margumush va strixnin esa yaxshi saqlanadi.</a:t>
            </a:r>
          </a:p>
          <a:p>
            <a:pPr>
              <a:spcAft>
                <a:spcPts val="800"/>
              </a:spcAft>
            </a:pPr>
            <a:r>
              <a:rPr sz="1600">
                <a:solidFill>
                  <a:srgbClr val="1F2937"/>
                </a:solidFill>
                <a:latin typeface="Calibri"/>
              </a:rPr>
              <a:t>▸  Diqqat: spirt suv bug‘i bilan haydab ajratiladi. Yodoform reaksiyasi aseton va sut kislotasida ham musbat bo‘ladi, shuning uchun u yagona isbot emas.</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Qon</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Chirishda 2,4‰ gacha hosil bo‘lishi mumkin</a:t>
            </a:r>
          </a:p>
          <a:p>
            <a:pPr algn="l">
              <a:spcAft>
                <a:spcPts val="700"/>
              </a:spcAft>
            </a:pPr>
            <a:r>
              <a:rPr sz="1500" b="1">
                <a:solidFill>
                  <a:srgbClr val="C9A227"/>
                </a:solidFill>
                <a:latin typeface="Calibri"/>
              </a:rPr>
              <a:t>●  </a:t>
            </a:r>
            <a:r>
              <a:rPr sz="1500" b="0">
                <a:solidFill>
                  <a:srgbClr val="1F2937"/>
                </a:solidFill>
                <a:latin typeface="Calibri"/>
              </a:rPr>
              <a:t>2–3 sutkada qisman parchalanadi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Siydik</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Chirishdan spirt hosil bo‘lmaydi</a:t>
            </a:r>
          </a:p>
          <a:p>
            <a:pPr algn="l">
              <a:spcAft>
                <a:spcPts val="700"/>
              </a:spcAft>
            </a:pPr>
            <a:r>
              <a:rPr sz="1500" b="1">
                <a:solidFill>
                  <a:srgbClr val="C9A227"/>
                </a:solidFill>
                <a:latin typeface="Calibri"/>
              </a:rPr>
              <a:t>●  </a:t>
            </a:r>
            <a:r>
              <a:rPr sz="1500" b="0">
                <a:solidFill>
                  <a:srgbClr val="1F2937"/>
                </a:solidFill>
                <a:latin typeface="Calibri"/>
              </a:rPr>
              <a:t>Ikkalasi birga tekshiriladi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Cheklov</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Yodoform reaksiyasi yagona isbot emas</a:t>
            </a:r>
          </a:p>
          <a:p>
            <a:pPr algn="l">
              <a:spcAft>
                <a:spcPts val="700"/>
              </a:spcAft>
            </a:pPr>
            <a:r>
              <a:rPr sz="1500" b="1">
                <a:solidFill>
                  <a:srgbClr val="C9A227"/>
                </a:solidFill>
                <a:latin typeface="Calibri"/>
              </a:rPr>
              <a:t>●  </a:t>
            </a:r>
            <a:r>
              <a:rPr sz="1500" b="0">
                <a:solidFill>
                  <a:srgbClr val="1F2937"/>
                </a:solidFill>
                <a:latin typeface="Calibri"/>
              </a:rPr>
              <a:t>Ekshumatsiyada tez parchalanadi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Murdada etanol</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6-bob, 52-bet, 6-bob, 52–53-bet; Iskandarov A.I., Qo‘ldoshev D.R., Sud tibbiyoti, betlar: 298-bet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alkogolizm va xavf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Takroriy ichishdan tolerantlik paydo bo‘ladi: kichik doza eyforiya bermaydi, doza oshiriladi. So‘ng qaramlik: alkogolsiz azob va qayta ichishga intilish.</a:t>
            </a:r>
          </a:p>
          <a:p>
            <a:pPr>
              <a:spcAft>
                <a:spcPts val="1200"/>
              </a:spcAft>
            </a:pPr>
            <a:r>
              <a:rPr sz="2200">
                <a:solidFill>
                  <a:srgbClr val="1F2937"/>
                </a:solidFill>
                <a:latin typeface="Calibri"/>
              </a:rPr>
              <a:t>▸  Uzoq ichish jigar sirrozi, yurak mushagi va buyrak degeneratsiyasi, qo‘l titrashi, gallyutsinatsiya va alahsirashga (oq alahsirash) olib kelishi mumkin.</a:t>
            </a:r>
          </a:p>
          <a:p>
            <a:pPr>
              <a:spcAft>
                <a:spcPts val="1200"/>
              </a:spcAft>
            </a:pPr>
            <a:r>
              <a:rPr sz="2200">
                <a:solidFill>
                  <a:srgbClr val="1F2937"/>
                </a:solidFill>
                <a:latin typeface="Calibri"/>
              </a:rPr>
              <a:t>▸  Alkogol mastligi maishiy, ishlab chiqarish va transport baxtsiz hodisalarining tez-tez sababi. Qonunbuzarliklarning ko‘pi mast holatda sodir etiladi.</a:t>
            </a:r>
          </a:p>
          <a:p>
            <a:pPr>
              <a:spcAft>
                <a:spcPts val="1200"/>
              </a:spcAft>
            </a:pPr>
            <a:r>
              <a:rPr sz="2200">
                <a:solidFill>
                  <a:srgbClr val="1F2937"/>
                </a:solidFill>
                <a:latin typeface="Calibri"/>
              </a:rPr>
              <a:t>▸  Diqqat: bir darslikda yopiq, issiq, nam muhit xavfli, past harorat esa ta’sirni susaytiradi deyiladi; boshqasida sovuq ham xavf omili sanaladi.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6-bob, 50-bet, 6-bob, 50–51-bet, 6-bob, 51-bet; Iskandarov A.I., Qo‘ldoshev D.R., Sud tibbiyoti, betlar: 289-bet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etanol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qonda 0,3 ‰ dan kam spirt topilsa, qanday xulosa qilinadi? Javob: spirtning organizmga ta’siri yo‘q deb hisoblanadi.</a:t>
            </a:r>
          </a:p>
          <a:p>
            <a:pPr>
              <a:spcAft>
                <a:spcPts val="1200"/>
              </a:spcAft>
            </a:pPr>
            <a:r>
              <a:rPr sz="2200">
                <a:solidFill>
                  <a:srgbClr val="1F2937"/>
                </a:solidFill>
                <a:latin typeface="Calibri"/>
              </a:rPr>
              <a:t>▸  2-savol: qonda qaysi qiymatlar yengil mastlik (0,5–1,5 ‰), o‘rta (1,5–2,5 ‰), kuchli (2,5–3,0 ‰), og‘ir zaharlanish (3–5 ‰) va o‘limga (5–6 ‰) mos?</a:t>
            </a:r>
          </a:p>
          <a:p>
            <a:pPr>
              <a:spcAft>
                <a:spcPts val="1200"/>
              </a:spcAft>
            </a:pPr>
            <a:r>
              <a:rPr sz="2200">
                <a:solidFill>
                  <a:srgbClr val="1F2937"/>
                </a:solidFill>
                <a:latin typeface="Calibri"/>
              </a:rPr>
              <a:t>▸  3-savol: chirishda spirt qonda hosil bo‘ladimi yoki siydikdami? Javob: qonda (2,4 ‰ gacha), siydikda hosil bo‘lmaydi.</a:t>
            </a:r>
          </a:p>
          <a:p>
            <a:pPr>
              <a:spcAft>
                <a:spcPts val="1200"/>
              </a:spcAft>
            </a:pPr>
            <a:r>
              <a:rPr sz="2200">
                <a:solidFill>
                  <a:srgbClr val="1F2937"/>
                </a:solidFill>
                <a:latin typeface="Calibri"/>
              </a:rPr>
              <a:t>▸  4-savol: ichgandan keyingi 1–2 soatda siydikdagi spirt qondagidan balandmi? Javob: biroz past; eliminatsiya davrida esa siydikda yuqori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6-bob, 52-bet, 6-bob, 51-bet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Metil spirti (metanol)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Hid va ta’mi etil spirtiga deyarli o‘xshaydi, shuning uchun adashib ichilgan holatlar ma’lum. O‘ldiruvchi doza ichga 30–100 ml.</a:t>
            </a:r>
          </a:p>
          <a:p>
            <a:pPr>
              <a:spcAft>
                <a:spcPts val="800"/>
              </a:spcAft>
            </a:pPr>
            <a:r>
              <a:rPr sz="1800">
                <a:solidFill>
                  <a:srgbClr val="1F2937"/>
                </a:solidFill>
                <a:latin typeface="Calibri"/>
              </a:rPr>
              <a:t>▸  To‘r parda va ko‘rish nervi shikastlanadi, ba’zan davolanmas ko‘rlik. Buni metabolitlar ta’siri bilan tushuntiradilar.</a:t>
            </a:r>
          </a:p>
          <a:p>
            <a:pPr>
              <a:spcAft>
                <a:spcPts val="800"/>
              </a:spcAft>
            </a:pPr>
            <a:r>
              <a:rPr sz="1800">
                <a:solidFill>
                  <a:srgbClr val="1F2937"/>
                </a:solidFill>
                <a:latin typeface="Calibri"/>
              </a:rPr>
              <a:t>▸  Etil spirti metanol oksidlanishini taxminan 50% sekinlatadi va uning zaharliligini kamaytiradi.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Metanol (metil spirti)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Formaldegid</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Chumoli kislotasi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Atsidoz</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Ko‘rish nervi shikasti, ko‘rlik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Metanol metabolizmi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44-45, 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Boshqa surrogatlar: etilenglikol, dixloretan, sirka kislotasi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Etilenglikolning butun molekulasi narkotik ta’sir qiladi. Metaboliti oksalat kislotasi esa jigar va buyrakni zaharlaydi.</a:t>
            </a:r>
          </a:p>
          <a:p>
            <a:pPr>
              <a:spcAft>
                <a:spcPts val="800"/>
              </a:spcAft>
            </a:pPr>
            <a:r>
              <a:rPr sz="1600">
                <a:solidFill>
                  <a:srgbClr val="1F2937"/>
                </a:solidFill>
                <a:latin typeface="Calibri"/>
              </a:rPr>
              <a:t>▸  Metanol, etanol va etilenglikol oksidlanganda o‘zidan kuchliroq zaharli moddalar hosil bo‘ladi. Etanoldan atsetaldegid hosil bo‘ladi.</a:t>
            </a:r>
          </a:p>
          <a:p>
            <a:pPr>
              <a:spcAft>
                <a:spcPts val="800"/>
              </a:spcAft>
            </a:pPr>
            <a:r>
              <a:rPr sz="1600">
                <a:solidFill>
                  <a:srgbClr val="1F2937"/>
                </a:solidFill>
                <a:latin typeface="Calibri"/>
              </a:rPr>
              <a:t>▸  Sirka kislotasi eritrotsitlarni gemolizga uchratadi. Bu gemoglobinuriyali nefroz va o‘tkir buyrak yetishmovchiligiga olib keladi.</a:t>
            </a:r>
          </a:p>
          <a:p>
            <a:pPr>
              <a:spcAft>
                <a:spcPts val="800"/>
              </a:spcAft>
            </a:pPr>
            <a:r>
              <a:rPr sz="1600">
                <a:solidFill>
                  <a:srgbClr val="1F2937"/>
                </a:solidFill>
                <a:latin typeface="Calibri"/>
              </a:rPr>
              <a:t>▸  Metanol lak va bo‘yoq erituvchisi sifatida ishlatiladi, spirtni denaturatsiya qilishda va antifriz tarkibida uchraydi.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Boshqa surrogatlar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Etilenglikol</a:t>
            </a:r>
          </a:p>
          <a:p>
            <a:pPr algn="l">
              <a:spcAft>
                <a:spcPts val="0"/>
              </a:spcAft>
            </a:pPr>
            <a:r>
              <a:rPr sz="1200" b="0">
                <a:solidFill>
                  <a:srgbClr val="1F2937"/>
                </a:solidFill>
                <a:latin typeface="Calibri"/>
              </a:rPr>
              <a:t>Molekula narkotik ta’sir qiladi  ·  Oksalat kislotasi — jigar, buyrak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Metanol</a:t>
            </a:r>
          </a:p>
          <a:p>
            <a:pPr algn="l">
              <a:spcAft>
                <a:spcPts val="0"/>
              </a:spcAft>
            </a:pPr>
            <a:r>
              <a:rPr sz="1200" b="0">
                <a:solidFill>
                  <a:srgbClr val="1F2937"/>
                </a:solidFill>
                <a:latin typeface="Calibri"/>
              </a:rPr>
              <a:t>Lak, bo‘yoq erituvchisi  ·  Antifriz tarkibida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Sirka kislotasi</a:t>
            </a:r>
          </a:p>
          <a:p>
            <a:pPr algn="l">
              <a:spcAft>
                <a:spcPts val="0"/>
              </a:spcAft>
            </a:pPr>
            <a:r>
              <a:rPr sz="1200" b="0">
                <a:solidFill>
                  <a:srgbClr val="1F2937"/>
                </a:solidFill>
                <a:latin typeface="Calibri"/>
              </a:rPr>
              <a:t>Eritrotsitlar gemolizi  ·  O‘tkir buyrak yetishmovchiligi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Metabolizm</a:t>
            </a:r>
          </a:p>
          <a:p>
            <a:pPr algn="l">
              <a:spcAft>
                <a:spcPts val="0"/>
              </a:spcAft>
            </a:pPr>
            <a:r>
              <a:rPr sz="1200" b="0">
                <a:solidFill>
                  <a:srgbClr val="1F2937"/>
                </a:solidFill>
                <a:latin typeface="Calibri"/>
              </a:rPr>
              <a:t>Oksidlanganda kuchliroq zahar hosil</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Surrogatlar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 137, 142; Baizoldanov T. (Байзолданов Т.)., Токсикологическая химия: учебник, betlar: 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spirt surrogati zaharlanishi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Yuk tashuvchilar maxsus shisha idishdagi reaktivlarni tushirganda, biri “spirt bor” deb bir idishni yashirib qo‘ygan va tushlikdan keyin ichgan.</a:t>
            </a:r>
          </a:p>
          <a:p>
            <a:pPr>
              <a:spcAft>
                <a:spcPts val="1200"/>
              </a:spcAft>
            </a:pPr>
            <a:r>
              <a:rPr sz="2200">
                <a:solidFill>
                  <a:srgbClr val="1F2937"/>
                </a:solidFill>
                <a:latin typeface="Calibri"/>
              </a:rPr>
              <a:t>▸  Ichganlar birdan xushini yo‘qotib, qisqa vaqtda o‘lgan. Voqea tafsiloti o‘limni alkogol surrogatlaridan deb taxmin qilishga asos bo‘lgan.</a:t>
            </a:r>
          </a:p>
          <a:p>
            <a:pPr>
              <a:spcAft>
                <a:spcPts val="1200"/>
              </a:spcAft>
            </a:pPr>
            <a:r>
              <a:rPr sz="2200">
                <a:solidFill>
                  <a:srgbClr val="1F2937"/>
                </a:solidFill>
                <a:latin typeface="Calibri"/>
              </a:rPr>
              <a:t>▸  Murdani tekshirishda dixloretan topilgan. Demak, voqea ko‘rinishi taxminni berdi, laboratoriya uni tasdiqladi.</a:t>
            </a:r>
          </a:p>
          <a:p>
            <a:pPr>
              <a:spcAft>
                <a:spcPts val="1200"/>
              </a:spcAft>
            </a:pPr>
            <a:r>
              <a:rPr sz="2200">
                <a:solidFill>
                  <a:srgbClr val="1F2937"/>
                </a:solidFill>
                <a:latin typeface="Calibri"/>
              </a:rPr>
              <a:t>▸  Savol: voqea joyidagi qaysi ashyoviy dalillar (idish, qoldiq, qusuq) laboratoriyaga yuborilishi shart va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 294-295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 tushunchasi va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Opiatlar — opiydan ajratiladigan morfin, kodein, papaverin, tebain va morfinning yarim sintetik hosilalari.</a:t>
            </a:r>
          </a:p>
          <a:p>
            <a:pPr>
              <a:spcAft>
                <a:spcPts val="800"/>
              </a:spcAft>
            </a:pPr>
            <a:r>
              <a:rPr sz="1800">
                <a:solidFill>
                  <a:srgbClr val="1F2937"/>
                </a:solidFill>
                <a:latin typeface="Calibri"/>
              </a:rPr>
              <a:t>▸  Diqqat: opiat ≠ opioid. Opioid — tuzilishi boshqa, lekin morfin retseptorlari orqali ta’sir qiluvchi modda.</a:t>
            </a:r>
          </a:p>
          <a:p>
            <a:pPr>
              <a:spcAft>
                <a:spcPts val="800"/>
              </a:spcAft>
            </a:pPr>
            <a:r>
              <a:rPr sz="1800">
                <a:solidFill>
                  <a:srgbClr val="1F2937"/>
                </a:solidFill>
                <a:latin typeface="Calibri"/>
              </a:rPr>
              <a:t>▸  Morfin 1806-yilda nemis farmatsevti Sertyurner tomonidan alohida holda ajratilgan birinchi alkaloiddir.</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Opiy va unga yaqin atamalar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Opiy</a:t>
            </a:r>
          </a:p>
          <a:p>
            <a:pPr algn="l">
              <a:spcAft>
                <a:spcPts val="0"/>
              </a:spcAft>
            </a:pPr>
            <a:r>
              <a:rPr sz="1200" b="0">
                <a:solidFill>
                  <a:srgbClr val="1F2937"/>
                </a:solidFill>
                <a:latin typeface="Calibri"/>
              </a:rPr>
              <a:t>Mak koknorining quruq sut shirasi  ·  50 dan ortiq alkaloid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Tabiiy opiatlar</a:t>
            </a:r>
          </a:p>
          <a:p>
            <a:pPr algn="l">
              <a:spcAft>
                <a:spcPts val="0"/>
              </a:spcAft>
            </a:pPr>
            <a:r>
              <a:rPr sz="1200" b="0">
                <a:solidFill>
                  <a:srgbClr val="1F2937"/>
                </a:solidFill>
                <a:latin typeface="Calibri"/>
              </a:rPr>
              <a:t>Opiydan ajratilgan alkaloidlar  ·  Morfin, kodein, papaverin, tebain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Yarim sintetik</a:t>
            </a:r>
          </a:p>
          <a:p>
            <a:pPr algn="l">
              <a:spcAft>
                <a:spcPts val="0"/>
              </a:spcAft>
            </a:pPr>
            <a:r>
              <a:rPr sz="1200" b="0">
                <a:solidFill>
                  <a:srgbClr val="1F2937"/>
                </a:solidFill>
                <a:latin typeface="Calibri"/>
              </a:rPr>
              <a:t>Morfindan olingan hosilalar  ·  Geroin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Opioidlar</a:t>
            </a:r>
          </a:p>
          <a:p>
            <a:pPr algn="l">
              <a:spcAft>
                <a:spcPts val="0"/>
              </a:spcAft>
            </a:pPr>
            <a:r>
              <a:rPr sz="1200" b="0">
                <a:solidFill>
                  <a:srgbClr val="1F2937"/>
                </a:solidFill>
                <a:latin typeface="Calibri"/>
              </a:rPr>
              <a:t>Tuzilishi boshqa, ta’siri morfindek  ·  Metadon, fentanil, endorfinlar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Opiy va unga yaqin atamalar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203, 182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Opiy tarkibi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Opiyda 50 dan ortiq alkaloid bor (massaning 10–20 foizi); jadvaldan tashqari tebain 6 foiz.</a:t>
            </a:r>
          </a:p>
          <a:p>
            <a:pPr>
              <a:spcAft>
                <a:spcPts val="800"/>
              </a:spcAft>
            </a:pPr>
            <a:r>
              <a:rPr sz="1800">
                <a:solidFill>
                  <a:srgbClr val="1F2937"/>
                </a:solidFill>
                <a:latin typeface="Calibri"/>
              </a:rPr>
              <a:t>▸  Narkotik ta’sirga asosan morfin javob beradi; noskapin va papaverinda narkotik faollik yo‘q.</a:t>
            </a:r>
          </a:p>
          <a:p>
            <a:pPr>
              <a:spcAft>
                <a:spcPts val="800"/>
              </a:spcAft>
            </a:pPr>
            <a:r>
              <a:rPr sz="1800">
                <a:solidFill>
                  <a:srgbClr val="1F2937"/>
                </a:solidFill>
                <a:latin typeface="Calibri"/>
              </a:rPr>
              <a:t>▸  Opiy turlari: xom, ishlov berilgan, tibbiy (morfin 9,5–10,5%) va chekishdan qolgan opiy shlaklari.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Morfin</a:t>
            </a:r>
          </a:p>
          <a:p>
            <a:pPr algn="l">
              <a:spcAft>
                <a:spcPts val="100"/>
              </a:spcAft>
            </a:pPr>
            <a:r>
              <a:rPr sz="3000" b="1">
                <a:solidFill>
                  <a:srgbClr val="0B1F3A"/>
                </a:solidFill>
                <a:latin typeface="Calibri"/>
              </a:rPr>
              <a:t>42</a:t>
            </a:r>
            <a:r>
              <a:rPr sz="1500" b="0">
                <a:solidFill>
                  <a:srgbClr val="6B7280"/>
                </a:solidFill>
                <a:latin typeface="Calibri"/>
              </a:rPr>
              <a:t>  %</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Noskapin (narkotin)</a:t>
            </a:r>
          </a:p>
          <a:p>
            <a:pPr algn="l">
              <a:spcAft>
                <a:spcPts val="100"/>
              </a:spcAft>
            </a:pPr>
            <a:r>
              <a:rPr sz="3000" b="1">
                <a:solidFill>
                  <a:srgbClr val="0B1F3A"/>
                </a:solidFill>
                <a:latin typeface="Calibri"/>
              </a:rPr>
              <a:t>21</a:t>
            </a:r>
            <a:r>
              <a:rPr sz="1500" b="0">
                <a:solidFill>
                  <a:srgbClr val="6B7280"/>
                </a:solidFill>
                <a:latin typeface="Calibri"/>
              </a:rPr>
              <a:t>  %</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Papaverin</a:t>
            </a:r>
          </a:p>
          <a:p>
            <a:pPr algn="l">
              <a:spcAft>
                <a:spcPts val="100"/>
              </a:spcAft>
            </a:pPr>
            <a:r>
              <a:rPr sz="3000" b="1">
                <a:solidFill>
                  <a:srgbClr val="0B1F3A"/>
                </a:solidFill>
                <a:latin typeface="Calibri"/>
              </a:rPr>
              <a:t>18</a:t>
            </a:r>
            <a:r>
              <a:rPr sz="1500" b="0">
                <a:solidFill>
                  <a:srgbClr val="6B7280"/>
                </a:solidFill>
                <a:latin typeface="Calibri"/>
              </a:rPr>
              <a:t>  %</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Kodein</a:t>
            </a:r>
          </a:p>
          <a:p>
            <a:pPr algn="l">
              <a:spcAft>
                <a:spcPts val="100"/>
              </a:spcAft>
            </a:pPr>
            <a:r>
              <a:rPr sz="3000" b="1">
                <a:solidFill>
                  <a:srgbClr val="0B1F3A"/>
                </a:solidFill>
                <a:latin typeface="Calibri"/>
              </a:rPr>
              <a:t>12</a:t>
            </a:r>
            <a:r>
              <a:rPr sz="1500" b="0">
                <a:solidFill>
                  <a:srgbClr val="6B7280"/>
                </a:solidFill>
                <a:latin typeface="Calibri"/>
              </a:rPr>
              <a:t>  %</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Opiy alkaloidlari ulushi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204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Morfin va uning farmakokinetikasi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Morfin — narkotik analgetiklarning asosiy vakili: kuchli og‘riqsizlantiradi, eyforiya beradi. Takror qo‘llanganda tez qaramlik (morfinizm) rivojlanadi.</a:t>
            </a:r>
          </a:p>
          <a:p>
            <a:pPr>
              <a:spcAft>
                <a:spcPts val="800"/>
              </a:spcAft>
            </a:pPr>
            <a:r>
              <a:rPr sz="1600">
                <a:solidFill>
                  <a:srgbClr val="1F2937"/>
                </a:solidFill>
                <a:latin typeface="Calibri"/>
              </a:rPr>
              <a:t>▸  Qondagi eng yuqori konsentratsiya: vena ichiga 2–15 daq, mushak ichiga 7,5–20 daq, ichga 30–120 daq. Biokiruvchanlik: vena va mushak ichiga 100%, ichga 30–40%.</a:t>
            </a:r>
          </a:p>
          <a:p>
            <a:pPr>
              <a:spcAft>
                <a:spcPts val="800"/>
              </a:spcAft>
            </a:pPr>
            <a:r>
              <a:rPr sz="1600">
                <a:solidFill>
                  <a:srgbClr val="1F2937"/>
                </a:solidFill>
                <a:latin typeface="Calibri"/>
              </a:rPr>
              <a:t>▸  Morfin tez taqsimlanadi: vena ichiga yuborilgach 6 daqiqada qonda dozaning atigi 7% qoladi. Miyadagi miqdori qondagidan 2–5 marta ko‘p.</a:t>
            </a:r>
          </a:p>
          <a:p>
            <a:pPr>
              <a:spcAft>
                <a:spcPts val="800"/>
              </a:spcAft>
            </a:pPr>
            <a:r>
              <a:rPr sz="1600">
                <a:solidFill>
                  <a:srgbClr val="1F2937"/>
                </a:solidFill>
                <a:latin typeface="Calibri"/>
              </a:rPr>
              <a:t>▸  Asosan glyukuron kislotasi bilan birikib siydik orqali chiqadi: 8 soatda ~50%, 24 soatda ~90% glyukuronid; 72–100 soatdan keyin faqat iz qoladi.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Cho‘qqi, vena ichiga</a:t>
            </a:r>
          </a:p>
          <a:p>
            <a:pPr algn="l">
              <a:spcAft>
                <a:spcPts val="100"/>
              </a:spcAft>
            </a:pPr>
            <a:r>
              <a:rPr sz="3000" b="1">
                <a:solidFill>
                  <a:srgbClr val="0B1F3A"/>
                </a:solidFill>
                <a:latin typeface="Calibri"/>
              </a:rPr>
              <a:t>2–15</a:t>
            </a:r>
            <a:r>
              <a:rPr sz="1500" b="0">
                <a:solidFill>
                  <a:srgbClr val="6B7280"/>
                </a:solidFill>
                <a:latin typeface="Calibri"/>
              </a:rPr>
              <a:t>  daq</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Cho‘qqi, mushak ichiga</a:t>
            </a:r>
          </a:p>
          <a:p>
            <a:pPr algn="l">
              <a:spcAft>
                <a:spcPts val="100"/>
              </a:spcAft>
            </a:pPr>
            <a:r>
              <a:rPr sz="3000" b="1">
                <a:solidFill>
                  <a:srgbClr val="0B1F3A"/>
                </a:solidFill>
                <a:latin typeface="Calibri"/>
              </a:rPr>
              <a:t>7,5–20</a:t>
            </a:r>
            <a:r>
              <a:rPr sz="1500" b="0">
                <a:solidFill>
                  <a:srgbClr val="6B7280"/>
                </a:solidFill>
                <a:latin typeface="Calibri"/>
              </a:rPr>
              <a:t>  daq</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Cho‘qqi, ichga</a:t>
            </a:r>
          </a:p>
          <a:p>
            <a:pPr algn="l">
              <a:spcAft>
                <a:spcPts val="100"/>
              </a:spcAft>
            </a:pPr>
            <a:r>
              <a:rPr sz="3000" b="1">
                <a:solidFill>
                  <a:srgbClr val="0B1F3A"/>
                </a:solidFill>
                <a:latin typeface="Calibri"/>
              </a:rPr>
              <a:t>30–120</a:t>
            </a:r>
            <a:r>
              <a:rPr sz="1500" b="0">
                <a:solidFill>
                  <a:srgbClr val="6B7280"/>
                </a:solidFill>
                <a:latin typeface="Calibri"/>
              </a:rPr>
              <a:t>  daq</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Biokiruvchanlik, ichga</a:t>
            </a:r>
          </a:p>
          <a:p>
            <a:pPr algn="l">
              <a:spcAft>
                <a:spcPts val="100"/>
              </a:spcAft>
            </a:pPr>
            <a:r>
              <a:rPr sz="3000" b="1">
                <a:solidFill>
                  <a:srgbClr val="0B1F3A"/>
                </a:solidFill>
                <a:latin typeface="Calibri"/>
              </a:rPr>
              <a:t>30–40</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Glyukuronid, 24 soatda</a:t>
            </a:r>
          </a:p>
          <a:p>
            <a:pPr algn="l">
              <a:spcAft>
                <a:spcPts val="100"/>
              </a:spcAft>
            </a:pPr>
            <a:r>
              <a:rPr sz="3000" b="1">
                <a:solidFill>
                  <a:srgbClr val="0B1F3A"/>
                </a:solidFill>
                <a:latin typeface="Calibri"/>
              </a:rPr>
              <a:t>≈90</a:t>
            </a:r>
            <a:r>
              <a:rPr sz="1500" b="0">
                <a:solidFill>
                  <a:srgbClr val="6B7280"/>
                </a:solidFill>
                <a:latin typeface="Calibri"/>
              </a:rPr>
              <a:t>  %</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Miya/qon nisbati</a:t>
            </a:r>
          </a:p>
          <a:p>
            <a:pPr algn="l">
              <a:spcAft>
                <a:spcPts val="100"/>
              </a:spcAft>
            </a:pPr>
            <a:r>
              <a:rPr sz="3000" b="1">
                <a:solidFill>
                  <a:srgbClr val="0B1F3A"/>
                </a:solidFill>
                <a:latin typeface="Calibri"/>
              </a:rPr>
              <a:t>2–5</a:t>
            </a:r>
            <a:r>
              <a:rPr sz="1500" b="0">
                <a:solidFill>
                  <a:srgbClr val="6B7280"/>
                </a:solidFill>
                <a:latin typeface="Calibri"/>
              </a:rPr>
              <a:t>  marta</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Morfin farmakokinetikasi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207, 208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Kodein, geroin va boshqa hosilalar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Kodein — morfinning metil efiri, opiy alkaloidlaridan biri. Ta’siri morfinga yaqin, lekin og‘riq qoldirishi va nafasni bostirishi kuchsizroq; yo‘talni bosadi.</a:t>
            </a:r>
          </a:p>
          <a:p>
            <a:pPr>
              <a:spcAft>
                <a:spcPts val="800"/>
              </a:spcAft>
            </a:pPr>
            <a:r>
              <a:rPr sz="1600">
                <a:solidFill>
                  <a:srgbClr val="1F2937"/>
                </a:solidFill>
                <a:latin typeface="Calibri"/>
              </a:rPr>
              <a:t>▸  Geroin (diatsetilmorfin) yashirin laboratoriyalarda morfindan atsetillash orqali olinadi. Toza geroin oq, achchiq ta’mli kukun.</a:t>
            </a:r>
          </a:p>
          <a:p>
            <a:pPr>
              <a:spcAft>
                <a:spcPts val="800"/>
              </a:spcAft>
            </a:pPr>
            <a:r>
              <a:rPr sz="1600">
                <a:solidFill>
                  <a:srgbClr val="1F2937"/>
                </a:solidFill>
                <a:latin typeface="Calibri"/>
              </a:rPr>
              <a:t>▸  Geroin ishqor yoki qizdirish ta’sirida morfin va sirka kislotasiga parchalanadi. Shu sababli tekshiruvda ko‘pincha geroin emas, morfin topiladi.</a:t>
            </a:r>
          </a:p>
          <a:p>
            <a:pPr>
              <a:spcAft>
                <a:spcPts val="800"/>
              </a:spcAft>
            </a:pPr>
            <a:r>
              <a:rPr sz="1600">
                <a:solidFill>
                  <a:srgbClr val="1F2937"/>
                </a:solidFill>
                <a:latin typeface="Calibri"/>
              </a:rPr>
              <a:t>▸  Geroinni 1874 yilda Older Rayt sintez qilgan. U taqiqlanguniga qadar dori sifatida ishlatilgan; hozir eng xavfli keng tarqalgan narkotik.</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Kodein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Morfinning metil efiri</a:t>
            </a:r>
          </a:p>
          <a:p>
            <a:pPr algn="l">
              <a:spcAft>
                <a:spcPts val="700"/>
              </a:spcAft>
            </a:pPr>
            <a:r>
              <a:rPr sz="1500" b="1">
                <a:solidFill>
                  <a:srgbClr val="C9A227"/>
                </a:solidFill>
                <a:latin typeface="Calibri"/>
              </a:rPr>
              <a:t>●  </a:t>
            </a:r>
            <a:r>
              <a:rPr sz="1500" b="0">
                <a:solidFill>
                  <a:srgbClr val="1F2937"/>
                </a:solidFill>
                <a:latin typeface="Calibri"/>
              </a:rPr>
              <a:t>Og‘riq qoldirishi kuchsizroq</a:t>
            </a:r>
          </a:p>
          <a:p>
            <a:pPr algn="l">
              <a:spcAft>
                <a:spcPts val="700"/>
              </a:spcAft>
            </a:pPr>
            <a:r>
              <a:rPr sz="1500" b="1">
                <a:solidFill>
                  <a:srgbClr val="C9A227"/>
                </a:solidFill>
                <a:latin typeface="Calibri"/>
              </a:rPr>
              <a:t>●  </a:t>
            </a:r>
            <a:r>
              <a:rPr sz="1500" b="0">
                <a:solidFill>
                  <a:srgbClr val="1F2937"/>
                </a:solidFill>
                <a:latin typeface="Calibri"/>
              </a:rPr>
              <a:t>Nafasni kamroq bostiradi</a:t>
            </a:r>
          </a:p>
          <a:p>
            <a:pPr algn="l">
              <a:spcAft>
                <a:spcPts val="700"/>
              </a:spcAft>
            </a:pPr>
            <a:r>
              <a:rPr sz="1500" b="1">
                <a:solidFill>
                  <a:srgbClr val="C9A227"/>
                </a:solidFill>
                <a:latin typeface="Calibri"/>
              </a:rPr>
              <a:t>●  </a:t>
            </a:r>
            <a:r>
              <a:rPr sz="1500" b="0">
                <a:solidFill>
                  <a:srgbClr val="1F2937"/>
                </a:solidFill>
                <a:latin typeface="Calibri"/>
              </a:rPr>
              <a:t>Yo‘talni bosadi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Geroin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Diatsetilmorfin (atsetillash)</a:t>
            </a:r>
          </a:p>
          <a:p>
            <a:pPr algn="l">
              <a:spcAft>
                <a:spcPts val="700"/>
              </a:spcAft>
            </a:pPr>
            <a:r>
              <a:rPr sz="1500" b="1">
                <a:solidFill>
                  <a:srgbClr val="C9A227"/>
                </a:solidFill>
                <a:latin typeface="Calibri"/>
              </a:rPr>
              <a:t>●  </a:t>
            </a:r>
            <a:r>
              <a:rPr sz="1500" b="0">
                <a:solidFill>
                  <a:srgbClr val="1F2937"/>
                </a:solidFill>
                <a:latin typeface="Calibri"/>
              </a:rPr>
              <a:t>Toza: oq achchiq kukun</a:t>
            </a:r>
          </a:p>
          <a:p>
            <a:pPr algn="l">
              <a:spcAft>
                <a:spcPts val="700"/>
              </a:spcAft>
            </a:pPr>
            <a:r>
              <a:rPr sz="1500" b="1">
                <a:solidFill>
                  <a:srgbClr val="C9A227"/>
                </a:solidFill>
                <a:latin typeface="Calibri"/>
              </a:rPr>
              <a:t>●  </a:t>
            </a:r>
            <a:r>
              <a:rPr sz="1500" b="0">
                <a:solidFill>
                  <a:srgbClr val="1F2937"/>
                </a:solidFill>
                <a:latin typeface="Calibri"/>
              </a:rPr>
              <a:t>Ishqor, qizdirishda morfinga parchalanadi</a:t>
            </a:r>
          </a:p>
          <a:p>
            <a:pPr algn="l">
              <a:spcAft>
                <a:spcPts val="700"/>
              </a:spcAft>
            </a:pPr>
            <a:r>
              <a:rPr sz="1500" b="1">
                <a:solidFill>
                  <a:srgbClr val="C9A227"/>
                </a:solidFill>
                <a:latin typeface="Calibri"/>
              </a:rPr>
              <a:t>●  </a:t>
            </a:r>
            <a:r>
              <a:rPr sz="1500" b="0">
                <a:solidFill>
                  <a:srgbClr val="1F2937"/>
                </a:solidFill>
                <a:latin typeface="Calibri"/>
              </a:rPr>
              <a:t>1874: Older Rayt sintez qilgan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Hosilalar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209, 217;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Opiatlarning organizmga ta’sir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Narkotiklar miyadagi maxsus retseptorlar bilan bog‘lanadi. Natijada ijobiy his markazlari qo‘zg‘alib, eyforiya va qayta qabul qilish istagi paydo bo‘ladi.</a:t>
            </a:r>
          </a:p>
          <a:p>
            <a:pPr>
              <a:spcAft>
                <a:spcPts val="800"/>
              </a:spcAft>
            </a:pPr>
            <a:r>
              <a:rPr sz="1600">
                <a:solidFill>
                  <a:srgbClr val="1F2937"/>
                </a:solidFill>
                <a:latin typeface="Calibri"/>
              </a:rPr>
              <a:t>▸  Organizmning o‘z opiatsimon peptidlari — enkefalin va endorfinlar bor. Endorfinlar eng ko‘p gipotalamusda; u hissiy reaksiyalar markazi.</a:t>
            </a:r>
          </a:p>
          <a:p>
            <a:pPr>
              <a:spcAft>
                <a:spcPts val="800"/>
              </a:spcAft>
            </a:pPr>
            <a:r>
              <a:rPr sz="1600">
                <a:solidFill>
                  <a:srgbClr val="1F2937"/>
                </a:solidFill>
                <a:latin typeface="Calibri"/>
              </a:rPr>
              <a:t>▸  Opioid retseptorlarning 5 turi ma’lum. Eyforiyaga javobgar mu-retseptorlar ko‘p miqdorda talamusning ayrim yadrolarida topilgan.</a:t>
            </a:r>
          </a:p>
          <a:p>
            <a:pPr>
              <a:spcAft>
                <a:spcPts val="800"/>
              </a:spcAft>
            </a:pPr>
            <a:r>
              <a:rPr sz="1600">
                <a:solidFill>
                  <a:srgbClr val="1F2937"/>
                </a:solidFill>
                <a:latin typeface="Calibri"/>
              </a:rPr>
              <a:t>▸  Diqqat: opiat ≠ opioid. Opiatlar morfinga o‘xshash tuzilmali; opioidlar har qanday tuzilmali, lekin shu retseptorlarga morfin kabi ta’sir qiladi.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Opiat</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Morfinga o‘xshash tuzilma</a:t>
            </a:r>
          </a:p>
          <a:p>
            <a:pPr algn="l">
              <a:spcAft>
                <a:spcPts val="700"/>
              </a:spcAft>
            </a:pPr>
            <a:r>
              <a:rPr sz="1500" b="1">
                <a:solidFill>
                  <a:srgbClr val="C9A227"/>
                </a:solidFill>
                <a:latin typeface="Calibri"/>
              </a:rPr>
              <a:t>●  </a:t>
            </a:r>
            <a:r>
              <a:rPr sz="1500" b="0">
                <a:solidFill>
                  <a:srgbClr val="1F2937"/>
                </a:solidFill>
                <a:latin typeface="Calibri"/>
              </a:rPr>
              <a:t>Tabiiy yoki yarim sintetik</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Opioid</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Har qanday tuzilma</a:t>
            </a:r>
          </a:p>
          <a:p>
            <a:pPr algn="l">
              <a:spcAft>
                <a:spcPts val="700"/>
              </a:spcAft>
            </a:pPr>
            <a:r>
              <a:rPr sz="1500" b="1">
                <a:solidFill>
                  <a:srgbClr val="C9A227"/>
                </a:solidFill>
                <a:latin typeface="Calibri"/>
              </a:rPr>
              <a:t>●  </a:t>
            </a:r>
            <a:r>
              <a:rPr sz="1500" b="0">
                <a:solidFill>
                  <a:srgbClr val="1F2937"/>
                </a:solidFill>
                <a:latin typeface="Calibri"/>
              </a:rPr>
              <a:t>Shu retseptorlarga morfin kabi ta’sir</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Retseptorlar</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5 turi ma’lum</a:t>
            </a:r>
          </a:p>
          <a:p>
            <a:pPr algn="l">
              <a:spcAft>
                <a:spcPts val="700"/>
              </a:spcAft>
            </a:pPr>
            <a:r>
              <a:rPr sz="1500" b="1">
                <a:solidFill>
                  <a:srgbClr val="C9A227"/>
                </a:solidFill>
                <a:latin typeface="Calibri"/>
              </a:rPr>
              <a:t>●  </a:t>
            </a:r>
            <a:r>
              <a:rPr sz="1500" b="0">
                <a:solidFill>
                  <a:srgbClr val="1F2937"/>
                </a:solidFill>
                <a:latin typeface="Calibri"/>
              </a:rPr>
              <a:t>Mu — eyforiya (talamus)</a:t>
            </a:r>
          </a:p>
          <a:p>
            <a:pPr algn="l">
              <a:spcAft>
                <a:spcPts val="700"/>
              </a:spcAft>
            </a:pPr>
            <a:r>
              <a:rPr sz="1500" b="1">
                <a:solidFill>
                  <a:srgbClr val="C9A227"/>
                </a:solidFill>
                <a:latin typeface="Calibri"/>
              </a:rPr>
              <a:t>●  </a:t>
            </a:r>
            <a:r>
              <a:rPr sz="1500" b="0">
                <a:solidFill>
                  <a:srgbClr val="1F2937"/>
                </a:solidFill>
                <a:latin typeface="Calibri"/>
              </a:rPr>
              <a:t>Endorfin: gipotalamus</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Opiat ≠ opioid</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30, 31, 32, 17-18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Opiatlardan o‘tkir zaharlanish: murda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Shubha: voqea joyida shpritslar, ampulalar, qoshiq, metall likopcha va teri ostida in’eksiya izlari topiladi.</a:t>
            </a:r>
          </a:p>
          <a:p>
            <a:pPr>
              <a:spcAft>
                <a:spcPts val="800"/>
              </a:spcAft>
            </a:pPr>
            <a:r>
              <a:rPr sz="1600">
                <a:solidFill>
                  <a:srgbClr val="1F2937"/>
                </a:solidFill>
                <a:latin typeface="Calibri"/>
              </a:rPr>
              <a:t>▸  Umumasfiktik belgilar: suyuq qon, ichki a’zolarning venoz to‘laqonligi, miya va o‘pka shishi, qon quyilishlar. Boshqa o‘lim sababi bo‘lmasligi kerak.</a:t>
            </a:r>
          </a:p>
          <a:p>
            <a:pPr>
              <a:spcAft>
                <a:spcPts val="800"/>
              </a:spcAft>
            </a:pPr>
            <a:r>
              <a:rPr sz="1600">
                <a:solidFill>
                  <a:srgbClr val="1F2937"/>
                </a:solidFill>
                <a:latin typeface="Calibri"/>
              </a:rPr>
              <a:t>▸  Tashxis sud-kimyoviy va sud-gistologik tekshiruv bilan tasdiqlanadi. Moddaning konsentratsiyasi oxirgi qabul vaqtini va dozani baholashga yordam beradi.</a:t>
            </a:r>
          </a:p>
          <a:p>
            <a:pPr>
              <a:spcAft>
                <a:spcPts val="800"/>
              </a:spcAft>
            </a:pPr>
            <a:r>
              <a:rPr sz="1600">
                <a:solidFill>
                  <a:srgbClr val="1F2937"/>
                </a:solidFill>
                <a:latin typeface="Calibri"/>
              </a:rPr>
              <a:t>▸  Diqqat: narkotik tez chiqib ketsa yoki tibbiy yordam ko‘rsatilgan bo‘lsa, kimyoviy tekshiruv uni topmasligi mumkin.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Shubha</a:t>
            </a:r>
          </a:p>
          <a:p>
            <a:pPr algn="l">
              <a:spcAft>
                <a:spcPts val="200"/>
              </a:spcAft>
            </a:pPr>
            <a:r>
              <a:rPr sz="1400" b="0">
                <a:solidFill>
                  <a:srgbClr val="1F2937"/>
                </a:solidFill>
                <a:latin typeface="Calibri"/>
              </a:rPr>
              <a:t>Shpritslar, ampulalar, in’eksiya izlari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Murda belgilari</a:t>
            </a:r>
          </a:p>
          <a:p>
            <a:pPr algn="l">
              <a:spcAft>
                <a:spcPts val="200"/>
              </a:spcAft>
            </a:pPr>
            <a:r>
              <a:rPr sz="1400" b="0">
                <a:solidFill>
                  <a:srgbClr val="1F2937"/>
                </a:solidFill>
                <a:latin typeface="Calibri"/>
              </a:rPr>
              <a:t>Asfiktik belgilar: suyuq qon, miya va o‘pka shishi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Istisno</a:t>
            </a:r>
          </a:p>
          <a:p>
            <a:pPr algn="l">
              <a:spcAft>
                <a:spcPts val="200"/>
              </a:spcAft>
            </a:pPr>
            <a:r>
              <a:rPr sz="1400" b="0">
                <a:solidFill>
                  <a:srgbClr val="1F2937"/>
                </a:solidFill>
                <a:latin typeface="Calibri"/>
              </a:rPr>
              <a:t>Boshqa o‘lim sababi bo‘lmasligi kerak</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Laboratoriya</a:t>
            </a:r>
          </a:p>
          <a:p>
            <a:pPr algn="l">
              <a:spcAft>
                <a:spcPts val="200"/>
              </a:spcAft>
            </a:pPr>
            <a:r>
              <a:rPr sz="1400" b="0">
                <a:solidFill>
                  <a:srgbClr val="1F2937"/>
                </a:solidFill>
                <a:latin typeface="Calibri"/>
              </a:rPr>
              <a:t>Sud-kimyoviy va sud-gistologik tekshiruv</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Cheklov</a:t>
            </a:r>
          </a:p>
          <a:p>
            <a:pPr algn="l">
              <a:spcAft>
                <a:spcPts val="200"/>
              </a:spcAft>
            </a:pPr>
            <a:r>
              <a:rPr sz="1400" b="0">
                <a:solidFill>
                  <a:srgbClr val="1F2937"/>
                </a:solidFill>
                <a:latin typeface="Calibri"/>
              </a:rPr>
              <a:t>Tez chiqsa yoki yordam ko‘rsatilsa, topilmasligi mumkin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Tashxis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10, 10-11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Opiatlarni aniqlash: sud-kimyoviy va gistologik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Opiy isboti uchun morfin, kodein, narkotin va mekon kislotasi topilishi kerak.</a:t>
            </a:r>
          </a:p>
          <a:p>
            <a:pPr>
              <a:spcAft>
                <a:spcPts val="800"/>
              </a:spcAft>
            </a:pPr>
            <a:r>
              <a:rPr sz="1800">
                <a:solidFill>
                  <a:srgbClr val="1F2937"/>
                </a:solidFill>
                <a:latin typeface="Calibri"/>
              </a:rPr>
              <a:t>▸  Mekon kislotasi reaksiyasi uchun namunada kamida 0,05 g opiy bo‘lishi lozim.</a:t>
            </a:r>
          </a:p>
          <a:p>
            <a:pPr>
              <a:spcAft>
                <a:spcPts val="800"/>
              </a:spcAft>
            </a:pPr>
            <a:r>
              <a:rPr sz="1800">
                <a:solidFill>
                  <a:srgbClr val="1F2937"/>
                </a:solidFill>
                <a:latin typeface="Calibri"/>
              </a:rPr>
              <a:t>▸  Mekon kislotasi tez parchalanadi, shuning uchun ayrim mualliflar mekonin ham tekshirilishini talab qiladi.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Beradi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Sud-kimyoviy: Modda turi, oxirgi qabul vaqti, doza</a:t>
            </a:r>
          </a:p>
          <a:p>
            <a:pPr algn="l">
              <a:spcAft>
                <a:spcPts val="700"/>
              </a:spcAft>
            </a:pPr>
            <a:r>
              <a:rPr sz="1500" b="1">
                <a:solidFill>
                  <a:srgbClr val="C9A227"/>
                </a:solidFill>
                <a:latin typeface="Calibri"/>
              </a:rPr>
              <a:t>●  </a:t>
            </a:r>
            <a:r>
              <a:rPr sz="1500" b="0">
                <a:solidFill>
                  <a:srgbClr val="1F2937"/>
                </a:solidFill>
                <a:latin typeface="Calibri"/>
              </a:rPr>
              <a:t>Soch va tirnoq: Surunkali intoksikatsiyani ko‘rsatadi</a:t>
            </a:r>
          </a:p>
          <a:p>
            <a:pPr algn="l">
              <a:spcAft>
                <a:spcPts val="700"/>
              </a:spcAft>
            </a:pPr>
            <a:r>
              <a:rPr sz="1500" b="1">
                <a:solidFill>
                  <a:srgbClr val="C9A227"/>
                </a:solidFill>
                <a:latin typeface="Calibri"/>
              </a:rPr>
              <a:t>●  </a:t>
            </a:r>
            <a:r>
              <a:rPr sz="1500" b="0">
                <a:solidFill>
                  <a:srgbClr val="1F2937"/>
                </a:solidFill>
                <a:latin typeface="Calibri"/>
              </a:rPr>
              <a:t>Gistologik: Morfologik belgilar (jigar, miya)</a:t>
            </a:r>
          </a:p>
          <a:p>
            <a:pPr algn="l">
              <a:spcAft>
                <a:spcPts val="700"/>
              </a:spcAft>
            </a:pPr>
            <a:r>
              <a:rPr sz="1500" b="1">
                <a:solidFill>
                  <a:srgbClr val="C9A227"/>
                </a:solidFill>
                <a:latin typeface="Calibri"/>
              </a:rPr>
              <a:t>●  </a:t>
            </a:r>
            <a:r>
              <a:rPr sz="1500" b="0">
                <a:solidFill>
                  <a:srgbClr val="1F2937"/>
                </a:solidFill>
                <a:latin typeface="Calibri"/>
              </a:rPr>
              <a:t>Mekon kislotasi: FeCl3 bilan qon-qizil rang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Cheklov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Sud-kimyoviy: Tez chiqib ketsa, topilmaydi</a:t>
            </a:r>
          </a:p>
          <a:p>
            <a:pPr algn="l">
              <a:spcAft>
                <a:spcPts val="700"/>
              </a:spcAft>
            </a:pPr>
            <a:r>
              <a:rPr sz="1500" b="1">
                <a:solidFill>
                  <a:srgbClr val="C9A227"/>
                </a:solidFill>
                <a:latin typeface="Calibri"/>
              </a:rPr>
              <a:t>●  </a:t>
            </a:r>
            <a:r>
              <a:rPr sz="1500" b="0">
                <a:solidFill>
                  <a:srgbClr val="1F2937"/>
                </a:solidFill>
                <a:latin typeface="Calibri"/>
              </a:rPr>
              <a:t>Soch va tirnoq: Usullar endi ishlab chiqilmoqda</a:t>
            </a:r>
          </a:p>
          <a:p>
            <a:pPr algn="l">
              <a:spcAft>
                <a:spcPts val="700"/>
              </a:spcAft>
            </a:pPr>
            <a:r>
              <a:rPr sz="1500" b="1">
                <a:solidFill>
                  <a:srgbClr val="C9A227"/>
                </a:solidFill>
                <a:latin typeface="Calibri"/>
              </a:rPr>
              <a:t>●  </a:t>
            </a:r>
            <a:r>
              <a:rPr sz="1500" b="0">
                <a:solidFill>
                  <a:srgbClr val="1F2937"/>
                </a:solidFill>
                <a:latin typeface="Calibri"/>
              </a:rPr>
              <a:t>Gistologik: Kimyo o‘tkazilmasa, yagona imkon</a:t>
            </a:r>
          </a:p>
          <a:p>
            <a:pPr algn="l">
              <a:spcAft>
                <a:spcPts val="700"/>
              </a:spcAft>
            </a:pPr>
            <a:r>
              <a:rPr sz="1500" b="1">
                <a:solidFill>
                  <a:srgbClr val="C9A227"/>
                </a:solidFill>
                <a:latin typeface="Calibri"/>
              </a:rPr>
              <a:t>●  </a:t>
            </a:r>
            <a:r>
              <a:rPr sz="1500" b="0">
                <a:solidFill>
                  <a:srgbClr val="1F2937"/>
                </a:solidFill>
                <a:latin typeface="Calibri"/>
              </a:rPr>
              <a:t>Mekon kislotasi: Qizdirganda rang yo‘qolmasligi kerak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Usullar va cheklovlar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Baizoldanov T. (Байзолданов Т.)., Токсикологическая химия: учебник, betlar: 206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Surunkali opiy intoksikatsiyasi va qaramlik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Doza asta-sekin oshiriladi: morfinistlar 0,01–0,02 g dan 0,3–0,5 g gacha boradi. Qabul to‘xtatilsa, abstinensiya sindromi rivojlanadi.</a:t>
            </a:r>
          </a:p>
          <a:p>
            <a:pPr>
              <a:spcAft>
                <a:spcPts val="1200"/>
              </a:spcAft>
            </a:pPr>
            <a:r>
              <a:rPr sz="2200">
                <a:solidFill>
                  <a:srgbClr val="1F2937"/>
                </a:solidFill>
                <a:latin typeface="Calibri"/>
              </a:rPr>
              <a:t>▸  Narkomaniyada eng spetsifik o‘zgarishlar nerv-endokrin tizimda va jigarda kuzatiladi.</a:t>
            </a:r>
          </a:p>
          <a:p>
            <a:pPr>
              <a:spcAft>
                <a:spcPts val="1200"/>
              </a:spcAft>
            </a:pPr>
            <a:r>
              <a:rPr sz="2200">
                <a:solidFill>
                  <a:srgbClr val="1F2937"/>
                </a:solidFill>
                <a:latin typeface="Calibri"/>
              </a:rPr>
              <a:t>▸  Avstriyada taxminan 30% o‘lim opiatlarning birinchi qabulida bo‘lgan. O‘lgan narkomanlarning 50,9% ida sabab somatik kasalliklardir.</a:t>
            </a:r>
          </a:p>
          <a:p>
            <a:pPr>
              <a:spcAft>
                <a:spcPts val="1200"/>
              </a:spcAft>
            </a:pPr>
            <a:r>
              <a:rPr sz="2200">
                <a:solidFill>
                  <a:srgbClr val="1F2937"/>
                </a:solidFill>
                <a:latin typeface="Calibri"/>
              </a:rPr>
              <a:t>▸  Surunkali narkotik intoksikatsiyani (XNI) aniqlash o‘tkir zaharlanish tashxisini ehtimolga yaqinlashtiradi va o‘lim sababini ajratishga yordam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11, 26-27, 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opiatlardan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yonida shprits, ampula, qoshiq bor; teri ustida in’eksiya izlari topilgan.</a:t>
            </a:r>
          </a:p>
          <a:p>
            <a:pPr>
              <a:spcAft>
                <a:spcPts val="1200"/>
              </a:spcAft>
            </a:pPr>
            <a:r>
              <a:rPr sz="2200">
                <a:solidFill>
                  <a:srgbClr val="1F2937"/>
                </a:solidFill>
                <a:latin typeface="Calibri"/>
              </a:rPr>
              <a:t>▸  Ichki a’zolarda suyuq qon, venoz to‘laqonlik, miya va o‘pka shishi bor; boshqa o‘limga olib keladigan kasallik va jarohat yo‘q.</a:t>
            </a:r>
          </a:p>
          <a:p>
            <a:pPr>
              <a:spcAft>
                <a:spcPts val="1200"/>
              </a:spcAft>
            </a:pPr>
            <a:r>
              <a:rPr sz="2200">
                <a:solidFill>
                  <a:srgbClr val="1F2937"/>
                </a:solidFill>
                <a:latin typeface="Calibri"/>
              </a:rPr>
              <a:t>▸  Sud-kimyoviy natija manfiy yoki past: modda tez chiqib ketgan yoki tibbiy yordam ko‘rsatilgan bo‘lishi mumkin.</a:t>
            </a:r>
          </a:p>
          <a:p>
            <a:pPr>
              <a:spcAft>
                <a:spcPts val="1200"/>
              </a:spcAft>
            </a:pPr>
            <a:r>
              <a:rPr sz="2200">
                <a:solidFill>
                  <a:srgbClr val="1F2937"/>
                </a:solidFill>
                <a:latin typeface="Calibri"/>
              </a:rPr>
              <a:t>▸  Savol: o‘lim sababi o‘tkir intoksikatsiyami yoki XNI asoratimi? Qaysi dalillar buni ajratadi?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betlar: 10, 10-11, 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 nisbiy tushuncha: moddani dori yoki zaharga aylantiradigan narsa dozadir. Mutlaq zahar ham, mutlaq beziyon modda ham yo‘q.</a:t>
            </a:r>
          </a:p>
          <a:p>
            <a:pPr>
              <a:spcAft>
                <a:spcPts val="1200"/>
              </a:spcAft>
            </a:pPr>
            <a:r>
              <a:rPr sz="2000">
                <a:solidFill>
                  <a:srgbClr val="1F2937"/>
                </a:solidFill>
                <a:latin typeface="Calibri"/>
              </a:rPr>
              <a:t>▸  Etil spirti markaziy nerv tizimini so‘ndiruvchi funksional zahar. Metanol va etilenglikol oksidlanganda o‘zidan kuchliroq zaharli metabolitlar hosil bo‘ladi.</a:t>
            </a:r>
          </a:p>
          <a:p>
            <a:pPr>
              <a:spcAft>
                <a:spcPts val="1200"/>
              </a:spcAft>
            </a:pPr>
            <a:r>
              <a:rPr sz="2000">
                <a:solidFill>
                  <a:srgbClr val="1F2937"/>
                </a:solidFill>
                <a:latin typeface="Calibri"/>
              </a:rPr>
              <a:t>▸  Diqqat: opiat ≠ opioid. Opiatlar — morfin, kodein, papaverin va geroin kabi morfinga yaqin moddalar; opioidlar tuzilishi boshqa, ta’siri morfinga o‘xshash.</a:t>
            </a:r>
          </a:p>
          <a:p>
            <a:pPr>
              <a:spcAft>
                <a:spcPts val="1200"/>
              </a:spcAft>
            </a:pPr>
            <a:r>
              <a:rPr sz="2000">
                <a:solidFill>
                  <a:srgbClr val="1F2937"/>
                </a:solidFill>
                <a:latin typeface="Calibri"/>
              </a:rPr>
              <a:t>▸  Zaharlanish diagnostikasi uch bosqichli: hodisa joyi, murda tekshiruvi, laboratoriya. Funksional zaharlarda morfologik o‘zgarish kam, laboratoriya hal qiluvchi.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137, 140, 135-136; Baizoldanov T. (Байзолданов Т.)., Токсикологическая химия: учебник, betlar: 203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hodisa tahlili: 1916-yil dekabrda Rasputinni kaliy sianidi bilan zaharlashga urinishgan. U pishiriq yeb, sharob ichgan, lekin o‘zini yaxshi his qilgan. Sababi: kaliy sianidi uzoq vaqt kislorodsiz joyda turgan, CO2 bilan birikib potashga (K2CO3) aylangan va zaharsiz bo‘lib qolgan. Xulosa: zahar kuchi uning saqlanish muddati va sharoitiga bog‘liq.</a:t>
            </a:r>
          </a:p>
          <a:p>
            <a:pPr>
              <a:spcAft>
                <a:spcPts val="1200"/>
              </a:spcAft>
            </a:pPr>
            <a:r>
              <a:rPr sz="1800">
                <a:solidFill>
                  <a:srgbClr val="1F2937"/>
                </a:solidFill>
                <a:latin typeface="Calibri"/>
              </a:rPr>
              <a:t>▸  Eslab qolish zanjiri: metil spirti → formaldegid → chumoli kislotasi. Ko‘rishning buzilishi va ko‘rlik asosan shu metabolitlar bilan bog‘lanadi. Etil spirti metanolning oksidlanishini taxminan 50% sekinlashtiradi, shuning uchun ikkalasi birga qabul qilinsa metanol zaharliligi kamayadi. Etil spirti metanol zaharlanishida detoksikant sifatida qo‘llanadi.</a:t>
            </a:r>
          </a:p>
          <a:p>
            <a:pPr>
              <a:spcAft>
                <a:spcPts val="1200"/>
              </a:spcAft>
            </a:pPr>
            <a:r>
              <a:rPr sz="1800">
                <a:solidFill>
                  <a:srgbClr val="1F2937"/>
                </a:solidFill>
                <a:latin typeface="Calibri"/>
              </a:rPr>
              <a:t>▸  Qondagi etil spirti miqdorini promille (‰) bilan baholash: 0,3‰ dan kam bo‘lsa ta’sir yo‘q. 0,5–1,5‰ yengil, 1,5–2,5‰ o‘rta, 2,5–3,0‰ kuchli mastlik. 3–5‰ og‘ir zaharlanish, 5–6‰ o‘lim. Diqqat: chirigan murda qonida 2,4‰ gacha spirt hosil bo‘lishi mumkin, siydikda esa hosil bo‘lmaydi. Shuning uchun qon va siydik birga tekshiriladi.</a:t>
            </a:r>
          </a:p>
          <a:p>
            <a:pPr>
              <a:spcAft>
                <a:spcPts val="1200"/>
              </a:spcAft>
            </a:pPr>
            <a:r>
              <a:rPr sz="1800">
                <a:solidFill>
                  <a:srgbClr val="1F2937"/>
                </a:solidFill>
                <a:latin typeface="Calibri"/>
              </a:rPr>
              <a:t>▸  Diqqat: xato qilish xavfi. Geroin (diatsetilmorfin) ishqor ta’sirida yoki oddiy qizdirilganda morfin va sirka kislotasiga parchalanadi. Shuning uchun kimyoviy tekshiruvda geroinning o‘zi emas, ko‘pincha gidroliz mahsuloti — morfin topiladi. Murda materialida geroin izolyatsiya jarayonida gidrolizlanadi.</a:t>
            </a:r>
          </a:p>
          <a:p>
            <a:pPr>
              <a:spcAft>
                <a:spcPts val="1200"/>
              </a:spcAft>
            </a:pPr>
            <a:r>
              <a:rPr sz="1800">
                <a:solidFill>
                  <a:srgbClr val="1F2937"/>
                </a:solidFill>
                <a:latin typeface="Calibri"/>
              </a:rPr>
              <a:t>▸  Voqea tahlili: 17 yoshli qizning ko‘z qorachig‘i keskin kengaygan, «miya ko‘rligi» simulyatsiyasi deb gumon qilingan. Yosh vrach to‘shakdan yashirilgan shisha va pipetka topgan, suyuqlikni mushukning ko‘ziga tomizgan. Qorachiq kengaygani uchun suyuqlik atropin ekani tasdiqlangan. Bu farmakologik tekshiruvga misol.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Zaharli ximikatlar tushunchasi. Etil spirti va uning surrogatlari bilan zaharlanish. Opiat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6. Sud-tibbiy toksikologiya</a:t>
            </a:r>
          </a:p>
          <a:p>
            <a:pPr>
              <a:spcAft>
                <a:spcPts val="800"/>
              </a:spcAft>
            </a:pPr>
            <a:r>
              <a:rPr sz="20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2-qism, 6-bob: distillyatsiya bilan ajratiladigan zaharlar (etanol, metanol, sianid va b.), s.1-93; 2-qism, 9-bob: alkaloidlar, opiatlar (morfin, kodein, geroin), s.181-231</a:t>
            </a:r>
          </a:p>
          <a:p>
            <a:pPr>
              <a:spcAft>
                <a:spcPts val="800"/>
              </a:spcAft>
            </a:pPr>
            <a:r>
              <a:rPr sz="2000">
                <a:solidFill>
                  <a:srgbClr val="1F2937"/>
                </a:solidFill>
                <a:latin typeface="Calibri"/>
              </a:rPr>
              <a:t>▸  Iskandarov A.I., Qo‘ldoshev D.R. Sud tibbiyoti (tibbiyot instituti talabalari uchun), Toshkent. XIII-bob. Sud-tibbiy toksikologiya; bet 284-350</a:t>
            </a:r>
          </a:p>
          <a:p>
            <a:pPr>
              <a:spcAft>
                <a:spcPts val="800"/>
              </a:spcAft>
            </a:pPr>
            <a:r>
              <a:rPr sz="2000">
                <a:solidFill>
                  <a:srgbClr val="1F2937"/>
                </a:solidFill>
                <a:latin typeface="Calibri"/>
              </a:rPr>
              <a:t>▸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М.: Медицина. 2004. 1-bob. Narkomaniyalar epidemiologiyasi, patogenezi va morfologiyasi (Введение, 1.1-1.8; kitob beti 5-88) (1/2); bet 5-60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