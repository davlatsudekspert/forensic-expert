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«Ruhiy kasal odam ham boshqalar bilan bir xil huquqqa egami?» Doskada dars rejasining 4 bo‘limini ketma-ket yozdiring. Tipik xato: talabalar psixiatriyani faqat davolash deb tushunadi, huquqiy tomonini e’tiborsiz qoldiradi.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«Psixiatriya nega boshqa fanlardan farq qiladi?» va «Qonun bilan tartibga solish nega zarur bo‘ldi?» Doskada ‘aqliy – ma’naviy – ijtimoiy’ uchlikni chizdiring. Tipik xato: BMT va Madrid deklaratsiyalari mazmunini manbada bor deb o‘ylash. Bu matn manbada berilmagan, uni qo‘shimcha adabiyotdan tushuntiring.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«Ruhiy kasallik tashxisi fuqaroning huquqini kamaytiradimi?» Doskada 4 moddalik jadvalni talabalar bilan birga to‘ldiring. Tipik xato: 18- va 19-moddalarni aralashtirish: 18-modda tenglik haqida, 19-modda huquqlarning daxlsizligi va sud qarorisiz cheklab bo‘lmasligi haqida.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Ruhiy kasal bemorning sha’ni va shaxsiy hayoti shifoxonada qanday himoyalanishi kerak? 2) Bemor o‘z tibbiy hujjatlari bilan tanishishga haqlimi? Doskada: uch ustunli jadval chizing (24, 27, 30-moddalar) va har biriga bir so‘zli mazmun yozing. Tipik xato: talabalar 27- va 30-moddalarni aralashtiradi, 30-moddani esa faqat sud hujjatlariga tegishli deb o‘ylaydi.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Ruhiy kasallik tashxisi o‘z-o‘zidan huquqni cheklashga asos bo‘ladimi? 2) Cheklashning qonuniy maqsadlari qaysilar? Doskada: zanjir sxemasini o‘zingiz chizing va oxirgi bo‘g‘inga «sud qarori» ni qo‘shing. Tipik xato: talabalar «shifokor qarori» huquqni cheklash uchun yetarli deb hisoblaydi, holbuki cheklash qonunda belgilanadi va sud qarorisiz mumkin emas.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«Kasallik shaklidan qat’i nazar» iborasi ruhiy kasallarga qanday taalluqli? 2) Konstitutsiyaning 18-moddasi bilan sog‘liqni saqlash qonunining 13-moddasi qanday bog‘lanadi? Doskada: ikki qatorli sxema chizing — yuqorida «Konstitutsiya (18-modda)», pastda «Qonun (13-modda)», ularni «kamsitmaslik» deb yozilgan o‘q bilan bog‘lang. Tipik xato: Konstitutsiya moddasi bilan alohida qonun moddasini bir hujjat deb aralashtirish. Eslatma: 13-modda matni OCRda qisman o‘qilmagan, shuning uchun ikkinchi bandni asl nusxadan tekshiring.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 Muhokama: 1) Tashxis o‘zi huquqni cheklash asosi bo‘ladimi? 2) Cheklash qaysi talablarga javob berishi shart? Doskada: «Tashxis ≠ huquqdan mahrumlik» va cheklash shartlarini (qonun, boshqalar huquqi, axloq, jamoat tartibi) yozdiring. Tipik xato: talabalar «xavfli» degan fikrni sud qarori o‘rnida qabul qiladi.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5-6 daq. Muhokama: 1) Nega psixiatriyada suiiste’mol xavfi boshqa sohalardan yuqori? 2) Nega yordamni huquqiy tartibga solish zarur bo‘ldi? Doskada: «psyche + iatros = psixiatriya» yozib, ma’nosini izohlating. Tipik xato: «psixiatriya = faqat izolyatsiya» deb tushunish, aslida asosiy maqsad davolash.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 Muhokama: 1) Pinel islohoti gumanizm bo‘lsa-da, nega paternalizm deyiladi? 2) «Erkinlikka majburlash» bemor avtonomiyasiga qanday zid? Doskada: Pinel zanjirini 5 bosqichda chizdiring. Tipik xato: Pinelni Konolli bilan aralashtirish; Konolli keyinroq har qanday cheklovni istisno qilishni taklif etgan.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Zanjirni yechish bilan «axloqiy davolash» qanday bog‘liq? 2) Nega Konolli bahsi paternalizm asoslariga tegmadi? Doskada: ikki ustunli jadvalni talabalar bilan birga to‘ldiring. Tipik xato: Konollini Pinelning aynan davomi deb o‘ylash, holbuki cheklovga munosabati boshqacha.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Savollarni og‘zaki, juftlikda bering. Muhokama: Zanjirni yechish paternalizmdan voz kechish degani emasmi? Doskada: «Pinel ≠ Konolli» belgisini yozib, ostiga bittadan farqni chizdiring. Tipik xato: ikkala yondashuvni bir xil «erkinlik» deb talqin qilish.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Dorilar nega shifoxonadan chiqishga imkon berdi? 2) Film nega huquq himoyasi ramzi bo‘ldi? Doskada: 1950–1970 oralig‘ida vaqt chizig‘ini chizib, voqealarni joylashtiring. Tipik xato: deinstitutsionalizatsiyani bemorlarni yordamsiz tashlab qo‘yish deb tushunish; u majburan ushlab turishdan voz kechish siyosatidir.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1) Nega shifoxonaning joylashuvi va hajmi bemor huquqlariga ta’sir qiladi? 2) Film kabi san’at asarlari jamoatchilik fikrini qanday o‘zgartiradi? Doskada: «eski shifoxona kamchiliklari» ro‘yxatini tuzdiring (hajm – masofa – xayriya yo‘nalishi). Tipik xato: filmni tibbiy hujjat yoki tarixiy dalil deb qabul qilish; u faqat harakatning bir epizodi.</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«Ijtimoiy yorliq» deganda nima nazarda tutilgan? 2) Tashxis qo‘yish bemorga ham foyda, ham zarar keltirishi mumkinmi? Doskada: «tashxis – yorliq» tezisi va unga qarshi dalillarni ikki ustunda yozdiring. Tipik xato: bu fikrlarni tibbiy fan xulosasi deb o‘ylash. Ular antipsixiatrlarning bahsli qarashlari ekanini alohida ta’kidlang. Eslatma: matn OCR sifatsiz, «oq xalatli» ifodasini asl matn bilan tekshiring.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Dorilardan butunlay voz kechish bemor uchun qanday xavf tug‘diradi? 2) O‘z joniga qasd qilishga to‘sqinlik qilmaslik etik jihatdan nima uchun qabul qilib bo‘lmaydi? Doskada: uch inqilob zanjirini chizdiring va har biriga bir jumla yozdiring. Tipik xato: Pinel islohoti (zanjirlarni olib tashlash) va antipsixiatriyani aralashtirish; ular turli davr va turli g‘oyalar.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daqiqa. Talabalarni ikki guruhga bo‘ling: biri Pinel, ikkinchisi Konolli pozitsiyasini himoya qiladi. Muhokama savollari: 1) Zanjirdan ozod qilish bilan paternalizm bir-biriga zid emasmi? 2) Qonundagi «eng kam cheklovli sharoit» qaysi pozitsiyaga yaqinroq? Doskada: ikki ustunli sxema chizing (Pinel | Konolli), har biriga «erkinlik» va «nazorat» belgilarini yozing. Tipik xato: Pinelni paternalizmga qarshi, deb o‘ylash. Manbada uning islohoti tibbiy paternalizm shiori bo‘lgani aytilgan. Tezkor savol: «Hech qanday cheklov yo‘q» tizimini kim taklif qilgan?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savollari: 1) Rahm-shafqat tamoyili amalda nimada ko‘rinadi? 2) Yordam tarkibida nega tiklash ham bor? Doskada: besh bosqichli zanjirni chizing va har bosqichga bitta misol yozing. Tipik xato: psixiatriya yordamini faqat davolash deb tushunish. Qonunga ko‘ra u tekshiruv, profilaktika, parvarish va tiklashni ham o‘z ichiga oladi. Diqqat: qonun nomi (psixiatriya yordami) bilan narkologik yordam to‘g‘risidagi qonunni (2020) aralashtirmang. Tezkor savol: qonun qaysi yili qabul qilingan va qachon qayta tahrirlangan?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savollari: 1) Nima uchun yuridik maslahat ham kafolatlar ro‘yxatiga kiritilgan? 2) Mehnat terapiyasi va ish o‘rinlari kvotasi bemorni jamiyatga qaytarishga qanday yordam beradi? Doskada: jadvalni ko‘chirib, har guruhga bittadan real vaziyat misolini yozing. Tipik xato: kafolatlarni faqat davolash deb o‘ylash. Manbada ijtimoiy-huquqiy, o‘qitish va joylashtirish ham bor. Tezkor savol: vasiylik va homiylik masalasi qaysi guruhga kiradi?</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Muhokama: 1) Nega davlat faqat davolash bilan cheklanmay, ish va ta’limni ham kafolatlaydi? 2) Ish o‘rinlari kvotasi bemorning ijtimoiy qayta moslashuviga qanday yordam beradi? Doskada chizish: ijtimoiy himoya zanjiri (muassasa, ta’lim, mehnat terapiyasi, ish o‘rni). Tipik xato: ijtimoiy himoyani faqat nafaqa deb tushunish, aslida u ta’lim, mehnat va ish o‘rinlarini ham qamraydi.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«Eng kam cheklovli sharoit» amalda nimani anglatadi? 2) Ma’lumotni «tushunarli shaklda» berish nega muhim? Doskada chizish: to‘rt huquq guruhi bilan jadvalni talabalar bilan birga to‘ldiring. Tipik xato: ruhiy kasallarni fuqarolik huquqlaridan cheklangan deb hisoblash; Konstitutsiyada salomatlik holatiga qarab huquqlarni cheklash yo‘q.</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rozilik oldindan olinishi va undan voz kechish mumkinligi muhim? 2) Bemor o‘zi tanlagan vakil bilan advokatdan farq qiladimi? Doskada chizish: «rozilik, voz kechish, vakil» sxemasi. Tipik xato: rozilikni bir martalik va qaytarib bo‘lmaydigan deb o‘ylash; qonunda uni istalgan bosqichda bekor qilish mumkin.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Nima uchun psixiatriyada sir saqlash ayniqsa muhim? 2) Bemorga o‘z holati haqida axborot berishda uning ruhiy holatini hisobga olish nimani anglatadi? Doskada: «sir» doirasini (murojaat – davolanish – ruhiy holat) uch pog‘onali chizma qiling. Tipik xato: sir faqat tashxisga tegishli deb o‘ylash. Aslida murojaat qilgan faktning o‘zi ham sir hisoblanadi.</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Talabalar juftlikda javob beradi. Muhokama: 1) Nima uchun tajribaga rozilik davolashga rozilikdan alohida? 2) «Istalgan bosqichda voz kechish» huquqi amalda nimani bildiradi? Doskada: ikki ustunli «davolashga rozilik» va «tajribaga rozilik» jadvalini chizing. Tipik xato: davolashga rozilik bergan bemor tajribaga ham rozi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Muqobil usullar haqida aytmaslik nega rozilikni to‘liq bo‘lmagan qiladi? 2) Axborotni ruhiy holatga moslab berish qanday ko‘rinadi? Doskada: zanjirni talabalar o‘zlari ketma-ket chizsin va har bosqichga misol yozsin. Tipik xato: faqat imzo olish rozilik deb hisoblash, vaholanki avval axborot berilishi shart.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rozilikdan oldin vakilga ma’lumot berilishi shart? 2) Ota-onalardan biri tekshiruvga qarshi bo‘lsa, kim qaror qiladi? Doskada: jadvalni (shaxs – davolash – tekshiruv) o‘zlari chizsin. Tipik xato: 20-modda tekshiruvga, 13-modda davolashga tegishli ekanini aralashtirish. Eslatma: narkologiyada 14 yoshdan kattalar yozma rozilikni o‘zlari bera oladi (192-bet).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rozilik talab etilmasa ham qaytmas usullar taqiqlanadi? 2) Bu holat bemor huquqlarini qanday himoya qiladi? Doskada: ‘ruxsat’ va ‘taqiq’ ustunli jadval chizdiring. Tipik xato: rozilik talab etilmasa, har qanday usul mumkin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rad etishdan oldin oqibatlarni tushuntirish kerak? 2) Imzo shifokorni va bemorni qanday himoya qiladi? Doskada: 5 bosqichli zanjirni chizdiring. Tipik xato: rad etish huquqi majburiy davolashda ham amal qiladi deb o‘ylash. Eslatma: imzo qismi OCR matnida to‘liq o‘qilmagan, kitob bilan solishtiring.</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Shifokor mustaqilligi bemor uchun qanday kafolat beradi? 2) Nega komissiyadan farqli xulosa hujjatga qo‘shiladi? Doskaga chizish: tekshiruvga rozilik beruvchilar sxemasi (o‘zi / ota-ona / vakil / vasiylik organi). Tipik xato: mustaqillikni ‘qonundan ham ozod’ deb tushunish. Aslida shifokor qonunga bo‘ysunadi.</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Qaysi huquqlar cheklanishi mumkin va kim tavsiya beradi? 2) Cheklash nima uchun jazo bo‘lmasligi kerak? Doskaga chizish: bemor — bosh shifokor — davlat organi shikoyat zanjiri. Tipik xato: barcha huquqlar mutlaq deb o‘ylash; manbada xat, telefon kabilar shifokor tavsiyasi bilan cheklanishi mumkin.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Vakil roziligi qaysi shaxslar uchun kerak? 2) Rad etish qanday rasmiylashtiriladi va istisnolar qaysilar? Doskaga chizish: qaror daraxti (layoqatli/layoqatsiz → rozilik/rad → hujjat). Tipik xato: vakil roziligi layoqatli kattalar irodasini o‘zgartiradi deb o‘ylash. Manbada bunday norma ko‘rsatilmagan.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Majburiy davolanayotgan odamdan ongli rozilik olish nega qiyin? 2) Bemor manfaati uchun haqiqatni yashirish oqlanadimi? Doskada: 4 tamoyil va 4 me’yorni ikki ustunli ro‘yxat qilib chizing. Tipik xato: xayrixohlikni bemor xohishiga rioya qilish deb tushunish. Aslida bu tamoyilda mustaqillik e’tiborsiz qolish xavfi bor.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Majburiy davolash nega faqat sud qarori bilan qo‘llanadi? 2) Narkologik yordam tibbiy yordamning qaysi turi? Doskada: tushuncha va ma’noni juftlab chizish topshirig‘i bering. Tipik xato: narkologik yordamni faqat davolash deb o‘ylash. U profilaktika, tekshiruv, maslahat, tashxis va reabilitatsiyani ham qamraydi.</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Shifokor rozilik uchun qanday axborot berishi shart (kasallik xususiyati, maqsad, davomiylik, xavf)? 2) Psixoz bartaraf etilgach davolashni davom ettirish uchun nima kerak? Doskada: zanjirni chizib, rozilik talab qilinmaydigan holatlarni qizil bilan belgilang. Tipik xato: rozilliksiz yordamni cheksiz deb o‘ylash. Psixozdan keyin davolash yana ixtiyoriy yozma rozilik asosida davom etadi. Rad etishga majburlash ham mumkin emas.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majburiy davolash faqat sud qarori bilan qo‘llanadi? 2) Doimiy nazorat bilan bemor huquqlari qanday uyg‘unlashadi? Doskada: jadvalni chizing va huquq/majburiyat ustunlarini alohida yozing. Tipik xato: majburiy davolashni shifokor yolg‘iz o‘zi belgilaydi deb o‘ylash; manbada asos sud qaroridir.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davolash usuli jazo vositasi bo‘lmasligi kerak? 2) Maxfiylik qaysi holatlarda cheklanishi mumkin? Doskada: xodimning 4 majburiyatini ustun qilib yozing. Tipik xato: ushbu slayddagi talablarni psixoterapiyaning to‘liq etik kodeksi deb talqin qilish; manbada psixoterapiya mavzusi kengaytirilmagan.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Rozilliksiz yordam qaysi etik tamoyilga zid kelishi mumkin va nega bu holatda ruxsat etilgan? 2) Xavf bartaraf bo‘lgach rozilik talabi nega qaytadi? Doskada: ’xavf → shoshilinch yordam → xavf bartaraf → yozma rozilik’ zanjirini chizing. Tipik xato: psixoz tugagandan keyin ham rozilliksiz davolashni davom ettirish mumkin deb o‘ylash.</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savollari: 1) Pinel islohoti ruhiy bemorlar huquqlariga qanday ta’sir qildi va nega patemalizm xavfi qoldi? 2) Rozilik talab qilinmaydigan hollar qaysilar va nima uchun ular qonunda aniq belgilanadi? Nazorat savollari: a) Ruhiy holati buzilgan shaxsning asosiy huquqlarini sanang. b) Davolashni rad etishda shifokor nimani tushuntirishi shart? c) Majburiy narkologik davolash qachon qo‘llanadi? Mustaqil ish: Konstitutsiyaning 18, 24, 27, 30-moddalari va Psixiatriya yordami to‘g‘risidagi qonunning 7, 13, 14-moddalarini jadvalga joylang (modda – mazmuni – etik tamoyil). Doskada chizish: ’huquqiy asos – rozilik – maxfiylik – minimal cheklov’ to‘rt bosqichli sxema. Tipik xato: majburiy davolashni ’rozilikni umuman talab qilmaydigan’ holat deb tushunish. Aslida u faqat qonunda ko‘rsatilgan hollarda va sud qarori bilan, shuningdek jarrohlik va qaytarilmas usullar qo‘llanmaydi.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Psixiatriya va psixoterapiyada etika: ruhiy kasallar huquqlari, BMT va Madrid deklaratsiyalari, ruhiy salomatlik qonuni (M10)</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dars maqsadi va rejasi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81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Psixiatriya XVIII asr oxirida fan sifatida paydo bo‘ldi va ruhiy bemorlarga yangicha qarashni talab qildi.</a:t>
            </a:r>
          </a:p>
          <a:p>
            <a:pPr>
              <a:spcAft>
                <a:spcPts val="1200"/>
              </a:spcAft>
            </a:pPr>
            <a:r>
              <a:rPr sz="2200">
                <a:solidFill>
                  <a:srgbClr val="1F2937"/>
                </a:solidFill>
                <a:latin typeface="Calibri"/>
              </a:rPr>
              <a:t>▸  Dars to‘rt qismdan iborat: huquqiy asos, tarixiy ko‘rinish, psixiatriya yordami qonuni va narkologiya.</a:t>
            </a:r>
          </a:p>
          <a:p>
            <a:pPr>
              <a:spcAft>
                <a:spcPts val="1200"/>
              </a:spcAft>
            </a:pPr>
            <a:r>
              <a:rPr sz="2200">
                <a:solidFill>
                  <a:srgbClr val="1F2937"/>
                </a:solidFill>
                <a:latin typeface="Calibri"/>
              </a:rPr>
              <a:t>▸  Asosiy mavzular: ruhiy bemor huquqlari, ularning roziligi va majburiy choralarning qonuniy chegarasi.</a:t>
            </a:r>
          </a:p>
          <a:p>
            <a:pPr>
              <a:spcAft>
                <a:spcPts val="1200"/>
              </a:spcAft>
            </a:pPr>
            <a:r>
              <a:rPr sz="2200">
                <a:solidFill>
                  <a:srgbClr val="1F2937"/>
                </a:solidFill>
                <a:latin typeface="Calibri"/>
              </a:rPr>
              <a:t>▸  Kutilayotgan natija: talaba ruhiy va narkologik bemorning huquqlarini sanab, rozilik tartibini tushuntiradi.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182, 181-196, 186-187, 186-192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Nega psixiatriyada etika alohida o‘rin tutadi?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81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Psixiatriya boshqa tibbiyot fanlaridan farqli ravishda insonning aqliy, ma’naviy va ijtimoiy tomonlarini birga hisobga oladi.</a:t>
            </a:r>
          </a:p>
          <a:p>
            <a:pPr>
              <a:spcAft>
                <a:spcPts val="1200"/>
              </a:spcAft>
            </a:pPr>
            <a:r>
              <a:rPr sz="2200">
                <a:solidFill>
                  <a:srgbClr val="1F2937"/>
                </a:solidFill>
                <a:latin typeface="Calibri"/>
              </a:rPr>
              <a:t>▸  Ba’zi davrlarda psixiatriya shifoxonalaridan hokimiyatga qarshi chiqqan sog‘lom odamlarni ajratish uchun foydalanilgan. Shu sababli yordamni huquqiy tartibga solish zarur bo‘ldi.</a:t>
            </a:r>
          </a:p>
          <a:p>
            <a:pPr>
              <a:spcAft>
                <a:spcPts val="1200"/>
              </a:spcAft>
            </a:pPr>
            <a:r>
              <a:rPr sz="2200">
                <a:solidFill>
                  <a:srgbClr val="1F2937"/>
                </a:solidFill>
                <a:latin typeface="Calibri"/>
              </a:rPr>
              <a:t>▸  Manbada Inson huquqlari umumjahon deklaratsiyasining 29-moddasi eslatilgan: huquqni cheklash faqat qonun bilan mumkin. (?)</a:t>
            </a:r>
          </a:p>
          <a:p>
            <a:pPr>
              <a:spcAft>
                <a:spcPts val="1200"/>
              </a:spcAft>
            </a:pPr>
            <a:r>
              <a:rPr sz="2200">
                <a:solidFill>
                  <a:srgbClr val="1F2937"/>
                </a:solidFill>
                <a:latin typeface="Calibri"/>
              </a:rPr>
              <a:t>▸  Diqqat: BMT (Birlashgan Millatlar Tashkiloti) va Madrid deklaratsiyalari matni manbada yo‘q, ular alohida bayon qilinmaydi. (?)</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182, 181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Konstitutsiya: tenglik va huquqlar daxlsizligi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81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Jins, din, ijtimoiy mavqe qanday bo‘lmasin, hamma qonun oldida teng.</a:t>
            </a:r>
          </a:p>
          <a:p>
            <a:pPr>
              <a:spcAft>
                <a:spcPts val="800"/>
              </a:spcAft>
            </a:pPr>
            <a:r>
              <a:rPr sz="1800">
                <a:solidFill>
                  <a:srgbClr val="1F2937"/>
                </a:solidFill>
                <a:latin typeface="Calibri"/>
              </a:rPr>
              <a:t>▸  Konstitutsiya huquqni sog‘liq yoki ijtimoiy holatga qarab cheklashni nazarda tutmaydi.</a:t>
            </a:r>
          </a:p>
          <a:p>
            <a:pPr>
              <a:spcAft>
                <a:spcPts val="800"/>
              </a:spcAft>
            </a:pPr>
            <a:r>
              <a:rPr sz="1800">
                <a:solidFill>
                  <a:srgbClr val="1F2937"/>
                </a:solidFill>
                <a:latin typeface="Calibri"/>
              </a:rPr>
              <a:t>▸  Diqqat: huquq daxlsiz, lekin cheklash faqat qonunda va boshqalar huquqi uchun belgilanadi.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762658"/>
                <a:gridCol w="3525316"/>
              </a:tblGrid>
              <a:tr h="411480">
                <a:tc>
                  <a:txBody>
                    <a:bodyPr/>
                    <a:lstStyle/>
                    <a:p>
                      <a:r>
                        <a:rPr sz="1400" b="1">
                          <a:solidFill>
                            <a:srgbClr val="FFFFFF"/>
                          </a:solidFill>
                        </a:rPr>
                        <a:t>Modda</a:t>
                      </a:r>
                    </a:p>
                  </a:txBody>
                  <a:tcPr marL="73152" marR="73152" marT="36576" marB="36576">
                    <a:solidFill>
                      <a:srgbClr val="0B1F3A"/>
                    </a:solidFill>
                  </a:tcPr>
                </a:tc>
                <a:tc>
                  <a:txBody>
                    <a:bodyPr/>
                    <a:lstStyle/>
                    <a:p>
                      <a:r>
                        <a:rPr sz="1400" b="1">
                          <a:solidFill>
                            <a:srgbClr val="FFFFFF"/>
                          </a:solidFill>
                        </a:rPr>
                        <a:t>Mazmuni</a:t>
                      </a:r>
                    </a:p>
                  </a:txBody>
                  <a:tcPr marL="73152" marR="73152" marT="36576" marB="36576">
                    <a:solidFill>
                      <a:srgbClr val="0B1F3A"/>
                    </a:solidFill>
                  </a:tcPr>
                </a:tc>
              </a:tr>
              <a:tr h="411480">
                <a:tc>
                  <a:txBody>
                    <a:bodyPr/>
                    <a:lstStyle/>
                    <a:p>
                      <a:r>
                        <a:rPr sz="1300" b="0">
                          <a:solidFill>
                            <a:srgbClr val="1F2937"/>
                          </a:solidFill>
                        </a:rPr>
                        <a:t>18-modda</a:t>
                      </a:r>
                    </a:p>
                  </a:txBody>
                  <a:tcPr marL="73152" marR="73152" marT="36576" marB="36576">
                    <a:solidFill>
                      <a:srgbClr val="E8EEF6"/>
                    </a:solidFill>
                  </a:tcPr>
                </a:tc>
                <a:tc>
                  <a:txBody>
                    <a:bodyPr/>
                    <a:lstStyle/>
                    <a:p>
                      <a:r>
                        <a:rPr sz="1300" b="0">
                          <a:solidFill>
                            <a:srgbClr val="1F2937"/>
                          </a:solidFill>
                        </a:rPr>
                        <a:t>Hamma qonun oldida teng</a:t>
                      </a:r>
                    </a:p>
                  </a:txBody>
                  <a:tcPr marL="73152" marR="73152" marT="36576" marB="36576">
                    <a:solidFill>
                      <a:srgbClr val="E8EEF6"/>
                    </a:solidFill>
                  </a:tcPr>
                </a:tc>
              </a:tr>
              <a:tr h="411480">
                <a:tc>
                  <a:txBody>
                    <a:bodyPr/>
                    <a:lstStyle/>
                    <a:p>
                      <a:r>
                        <a:rPr sz="1300" b="0">
                          <a:solidFill>
                            <a:srgbClr val="1F2937"/>
                          </a:solidFill>
                        </a:rPr>
                        <a:t>19-modda</a:t>
                      </a:r>
                    </a:p>
                  </a:txBody>
                  <a:tcPr marL="73152" marR="73152" marT="36576" marB="36576">
                    <a:solidFill>
                      <a:srgbClr val="FFFFFF"/>
                    </a:solidFill>
                  </a:tcPr>
                </a:tc>
                <a:tc>
                  <a:txBody>
                    <a:bodyPr/>
                    <a:lstStyle/>
                    <a:p>
                      <a:r>
                        <a:rPr sz="1300" b="0">
                          <a:solidFill>
                            <a:srgbClr val="1F2937"/>
                          </a:solidFill>
                        </a:rPr>
                        <a:t>Huquqni sudsiz cheklab bo‘lmaydi</a:t>
                      </a:r>
                    </a:p>
                  </a:txBody>
                  <a:tcPr marL="73152" marR="73152" marT="36576" marB="36576">
                    <a:solidFill>
                      <a:srgbClr val="FFFFFF"/>
                    </a:solidFill>
                  </a:tcPr>
                </a:tc>
              </a:tr>
              <a:tr h="411480">
                <a:tc>
                  <a:txBody>
                    <a:bodyPr/>
                    <a:lstStyle/>
                    <a:p>
                      <a:r>
                        <a:rPr sz="1300" b="0">
                          <a:solidFill>
                            <a:srgbClr val="1F2937"/>
                          </a:solidFill>
                        </a:rPr>
                        <a:t>24-modda</a:t>
                      </a:r>
                    </a:p>
                  </a:txBody>
                  <a:tcPr marL="73152" marR="73152" marT="36576" marB="36576">
                    <a:solidFill>
                      <a:srgbClr val="E8EEF6"/>
                    </a:solidFill>
                  </a:tcPr>
                </a:tc>
                <a:tc>
                  <a:txBody>
                    <a:bodyPr/>
                    <a:lstStyle/>
                    <a:p>
                      <a:r>
                        <a:rPr sz="1300" b="0">
                          <a:solidFill>
                            <a:srgbClr val="1F2937"/>
                          </a:solidFill>
                        </a:rPr>
                        <a:t>Yashash huquqi — ajralmas huquq</a:t>
                      </a:r>
                    </a:p>
                  </a:txBody>
                  <a:tcPr marL="73152" marR="73152" marT="36576" marB="36576">
                    <a:solidFill>
                      <a:srgbClr val="E8EEF6"/>
                    </a:solidFill>
                  </a:tcPr>
                </a:tc>
              </a:tr>
              <a:tr h="411480">
                <a:tc>
                  <a:txBody>
                    <a:bodyPr/>
                    <a:lstStyle/>
                    <a:p>
                      <a:r>
                        <a:rPr sz="1300" b="0">
                          <a:solidFill>
                            <a:srgbClr val="1F2937"/>
                          </a:solidFill>
                        </a:rPr>
                        <a:t>27-modda</a:t>
                      </a:r>
                    </a:p>
                  </a:txBody>
                  <a:tcPr marL="73152" marR="73152" marT="36576" marB="36576">
                    <a:solidFill>
                      <a:srgbClr val="FFFFFF"/>
                    </a:solidFill>
                  </a:tcPr>
                </a:tc>
                <a:tc>
                  <a:txBody>
                    <a:bodyPr/>
                    <a:lstStyle/>
                    <a:p>
                      <a:r>
                        <a:rPr sz="1300" b="0">
                          <a:solidFill>
                            <a:srgbClr val="1F2937"/>
                          </a:solidFill>
                        </a:rPr>
                        <a:t>Sha’n va shaxsiy hayot himoyasi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Konstitutsiya moddalari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181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Hayot, sha’n va hujjatlar bilan tanishish huquqi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81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24-modda: yashash huquqi har bir insonning ajralmas huquqi. Inson hayotiga suiqasd qilish eng og‘ir jinoyat hisoblanadi.</a:t>
            </a:r>
          </a:p>
          <a:p>
            <a:pPr>
              <a:spcAft>
                <a:spcPts val="1200"/>
              </a:spcAft>
            </a:pPr>
            <a:r>
              <a:rPr sz="2200">
                <a:solidFill>
                  <a:srgbClr val="1F2937"/>
                </a:solidFill>
                <a:latin typeface="Calibri"/>
              </a:rPr>
              <a:t>▸  27-modda: har kim o‘z sha’ni va obro‘siga tajovuzdan, shaxsiy hayotiga aralashishdan himoyalanish huquqiga ega. Turar joy ham daxlsiz.</a:t>
            </a:r>
          </a:p>
          <a:p>
            <a:pPr>
              <a:spcAft>
                <a:spcPts val="1200"/>
              </a:spcAft>
            </a:pPr>
            <a:r>
              <a:rPr sz="2200">
                <a:solidFill>
                  <a:srgbClr val="1F2937"/>
                </a:solidFill>
                <a:latin typeface="Calibri"/>
              </a:rPr>
              <a:t>▸  30-modda: davlat organlari va mansabdor shaxslar fuqaroga uning huquq va manfaatlariga doir hujjat, qaror va materiallar bilan tanishish imkonini berishi shart.</a:t>
            </a:r>
          </a:p>
          <a:p>
            <a:pPr>
              <a:spcAft>
                <a:spcPts val="1200"/>
              </a:spcAft>
            </a:pPr>
            <a:r>
              <a:rPr sz="2200">
                <a:solidFill>
                  <a:srgbClr val="1F2937"/>
                </a:solidFill>
                <a:latin typeface="Calibri"/>
              </a:rPr>
              <a:t>▸  Diqqat: xato qilish xavfi. 24-modda — hayot, 27-modda — sha’n va shaxsiy hayot, 30-modda — hujjatlar bilan tanishish. Modda raqamlarini aralashtirmang.</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181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Huquqni cheklash qoidasi: faqat qonun bilan</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81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Konstitutsiyada inson huquqlarini uning salomatligi yoki ijtimoiy holatiga qarab cheklash nazarda tutilmagan.</a:t>
            </a:r>
          </a:p>
          <a:p>
            <a:pPr>
              <a:spcAft>
                <a:spcPts val="800"/>
              </a:spcAft>
            </a:pPr>
            <a:r>
              <a:rPr sz="1800">
                <a:solidFill>
                  <a:srgbClr val="1F2937"/>
                </a:solidFill>
                <a:latin typeface="Calibri"/>
              </a:rPr>
              <a:t>▸  Umumjahon deklaratsiyasining 29-moddasiga ko‘ra, huquqni cheklash faqat qonunda belgilanadi.</a:t>
            </a:r>
          </a:p>
          <a:p>
            <a:pPr>
              <a:spcAft>
                <a:spcPts val="800"/>
              </a:spcAft>
            </a:pPr>
            <a:r>
              <a:rPr sz="1800">
                <a:solidFill>
                  <a:srgbClr val="1F2937"/>
                </a:solidFill>
                <a:latin typeface="Calibri"/>
              </a:rPr>
              <a:t>▸  Fuqaro huquqlaridan sud qarorisiz mahrum etish yoki ularni cheklash mumkin emas (19-modda).</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Cheklash zarurati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Faqat qonun bilan</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Maqsad: boshqalar huquqi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Maqsad: axloq, jamoat tartibi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Salomatlik asos bo‘lmaydi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Cheklash zanjiri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181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«Fuqarolar sog‘lig‘ini saqlash to‘g‘risida»gi qonun, 13-modda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81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Qonun 1996-yil 29-avgustda qabul qilingan va «Fuqarolar sog‘lig‘ini saqlash to‘g‘risida» deb ataladi.</a:t>
            </a:r>
          </a:p>
          <a:p>
            <a:pPr>
              <a:spcAft>
                <a:spcPts val="1200"/>
              </a:spcAft>
            </a:pPr>
            <a:r>
              <a:rPr sz="2200">
                <a:solidFill>
                  <a:srgbClr val="1F2937"/>
                </a:solidFill>
                <a:latin typeface="Calibri"/>
              </a:rPr>
              <a:t>▸  13-moddaga ko‘ra, O‘zbekiston fuqarolari salomatlikni saqlash borasida daxlsizlik huquqiga ega (matn OCRda qisman o‘qilmagan). (?)</a:t>
            </a:r>
          </a:p>
          <a:p>
            <a:pPr>
              <a:spcAft>
                <a:spcPts val="1200"/>
              </a:spcAft>
            </a:pPr>
            <a:r>
              <a:rPr sz="2200">
                <a:solidFill>
                  <a:srgbClr val="1F2937"/>
                </a:solidFill>
                <a:latin typeface="Calibri"/>
              </a:rPr>
              <a:t>▸  Davlat kasallikning har qanday shaklidan qat’i nazar, fuqarolarni kamsitishdan himoya qilinishini kafolatlaydi.</a:t>
            </a:r>
          </a:p>
          <a:p>
            <a:pPr>
              <a:spcAft>
                <a:spcPts val="1200"/>
              </a:spcAft>
            </a:pPr>
            <a:r>
              <a:rPr sz="2200">
                <a:solidFill>
                  <a:srgbClr val="1F2937"/>
                </a:solidFill>
                <a:latin typeface="Calibri"/>
              </a:rPr>
              <a:t>▸  Eslab qoling: Konstitutsiyaning 18-moddasiga ko‘ra barcha fuqarolar jinsi, tili, dini, e’tiqodi va ijtimoiy mavqeidan qat’i nazar qonun oldida tengdir.</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182, 181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1: ruhiy tashxis va fuqarolik huquqlari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81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O‘quv misoli: psixiatr kuzatuvidagi fuqaroni qo‘shnilari «xavfli» deb, huquqlarini cheklashni talab qilmoqda. Sud qarori yo‘q.</a:t>
            </a:r>
          </a:p>
          <a:p>
            <a:pPr>
              <a:spcAft>
                <a:spcPts val="1200"/>
              </a:spcAft>
            </a:pPr>
            <a:r>
              <a:rPr sz="2200">
                <a:solidFill>
                  <a:srgbClr val="1F2937"/>
                </a:solidFill>
                <a:latin typeface="Calibri"/>
              </a:rPr>
              <a:t>▸  Konstitutsiyaga ko‘ra fuqarolarning huquq va erkinliklari daxlsiz. Ularni sud qarorisiz olib qo‘yish yoki cheklashga hech kim haqli emas.</a:t>
            </a:r>
          </a:p>
          <a:p>
            <a:pPr>
              <a:spcAft>
                <a:spcPts val="1200"/>
              </a:spcAft>
            </a:pPr>
            <a:r>
              <a:rPr sz="2200">
                <a:solidFill>
                  <a:srgbClr val="1F2937"/>
                </a:solidFill>
                <a:latin typeface="Calibri"/>
              </a:rPr>
              <a:t>▸  Tahlil: Konstitutsiyada huquqlarni sog‘liq yoki ijtimoiy holatga qarab cheklash nazarda tutilmagan. Ruhiy buzilishi bor shaxs ham barcha huquqlarga ega.</a:t>
            </a:r>
          </a:p>
          <a:p>
            <a:pPr>
              <a:spcAft>
                <a:spcPts val="1200"/>
              </a:spcAft>
            </a:pPr>
            <a:r>
              <a:rPr sz="2200">
                <a:solidFill>
                  <a:srgbClr val="1F2937"/>
                </a:solidFill>
                <a:latin typeface="Calibri"/>
              </a:rPr>
              <a:t>▸  Savol: qo‘shnilarning talabi qonuniymi? Huquqni cheklash faqat qonunda, boshqalar huquqi, axloq va jamoat tartibi uchun mumkin.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181, 181, 186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Psixiatriya so‘zi, xurofot va suiiste’mol xavfi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81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So‘z yunoncha «psyche» – jon va «iatros» – shifokordan olingan. Asosiy maqsad – ruhiy kasalliklarni davolash va malakali yordam ko‘rsatish.</a:t>
            </a:r>
          </a:p>
          <a:p>
            <a:pPr>
              <a:spcAft>
                <a:spcPts val="1200"/>
              </a:spcAft>
            </a:pPr>
            <a:r>
              <a:rPr sz="2200">
                <a:solidFill>
                  <a:srgbClr val="1F2937"/>
                </a:solidFill>
                <a:latin typeface="Calibri"/>
              </a:rPr>
              <a:t>▸  Psixiatriya boshqa tibbiyot fanlaridan farqli, insonga aqliy, ma’naviy va ijtimoiy tomonlarini hisobga olib munosabatda bo‘ladi.</a:t>
            </a:r>
          </a:p>
          <a:p>
            <a:pPr>
              <a:spcAft>
                <a:spcPts val="1200"/>
              </a:spcAft>
            </a:pPr>
            <a:r>
              <a:rPr sz="2200">
                <a:solidFill>
                  <a:srgbClr val="1F2937"/>
                </a:solidFill>
                <a:latin typeface="Calibri"/>
              </a:rPr>
              <a:t>▸  Ruhiy kasalliklar haqidagi xurofotlar davom etdi: bemorlarni jamiyatdan butunlay ajratish, hatto jismonan yo‘q qilish haqida hukmlar chiqarilgan.</a:t>
            </a:r>
          </a:p>
          <a:p>
            <a:pPr>
              <a:spcAft>
                <a:spcPts val="1200"/>
              </a:spcAft>
            </a:pPr>
            <a:r>
              <a:rPr sz="2200">
                <a:solidFill>
                  <a:srgbClr val="1F2937"/>
                </a:solidFill>
                <a:latin typeface="Calibri"/>
              </a:rPr>
              <a:t>▸  Ba’zi davrlarda psixiatriya shifoxonalari hokimiyatga qarshi chiqqan sog‘lom odamlarni ajratish uchun ishlatilgan. Shu sabab majburiy yotqizish muammosi dolzarb bo‘ldi.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182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Pinel (1793) va tibbiy paternalizm</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81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1793-yilda Parijda Filipp Pinel bemorlar qadr-qimmatini ko‘tarishni ilgari surib, zanjirlarini yechdi.</a:t>
            </a:r>
          </a:p>
          <a:p>
            <a:pPr>
              <a:spcAft>
                <a:spcPts val="800"/>
              </a:spcAft>
            </a:pPr>
            <a:r>
              <a:rPr sz="1800">
                <a:solidFill>
                  <a:srgbClr val="1F2937"/>
                </a:solidFill>
                <a:latin typeface="Calibri"/>
              </a:rPr>
              <a:t>▸  U bemorlarni bolalarga, shifoxonani oilaga o‘xshatdi; bu tibbiy paternalizm shiori bo‘ldi.</a:t>
            </a:r>
          </a:p>
          <a:p>
            <a:pPr>
              <a:spcAft>
                <a:spcPts val="800"/>
              </a:spcAft>
            </a:pPr>
            <a:r>
              <a:rPr sz="1800">
                <a:solidFill>
                  <a:srgbClr val="1F2937"/>
                </a:solidFill>
                <a:latin typeface="Calibri"/>
              </a:rPr>
              <a:t>▸  Paternalizm – «axloqiy davolash»: shifokor bemorni «erkinlikka majburlaydi».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1793: zanjirlarni yechish</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Bemor – bola, shifoxona – oila</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Shifokor – ota-ona roli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«Axloqiy davolash»</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«Erkinlikka majburlash»</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Pinel yondashuvi zanjiri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182, 183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Pinel va Konolli yondashuvlari taqqosi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81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Pinel 1793-yilda Parijda bemorlar zanjirini yechib, ularning qadr-qimmatini ko‘tarishni ilgari surdi.</a:t>
            </a:r>
          </a:p>
          <a:p>
            <a:pPr>
              <a:spcAft>
                <a:spcPts val="800"/>
              </a:spcAft>
            </a:pPr>
            <a:r>
              <a:rPr sz="1800">
                <a:solidFill>
                  <a:srgbClr val="1F2937"/>
                </a:solidFill>
                <a:latin typeface="Calibri"/>
              </a:rPr>
              <a:t>▸  Pinel «axloqiy davolash»da shifokor bemorga erkinlikni o‘rgatadi; vaqtincha izolyatsiya ruxsat etilgan.</a:t>
            </a:r>
          </a:p>
          <a:p>
            <a:pPr>
              <a:spcAft>
                <a:spcPts val="800"/>
              </a:spcAft>
            </a:pPr>
            <a:r>
              <a:rPr sz="1800">
                <a:solidFill>
                  <a:srgbClr val="1F2937"/>
                </a:solidFill>
                <a:latin typeface="Calibri"/>
              </a:rPr>
              <a:t>▸  Konolli har qanday cheklovni rad etdi, lekin paternalizm doktrinasi asoslari muhokama qilinmadi.</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092081"/>
                <a:gridCol w="2184163"/>
                <a:gridCol w="2011729"/>
              </a:tblGrid>
              <a:tr h="411480">
                <a:tc>
                  <a:txBody>
                    <a:bodyPr/>
                    <a:lstStyle/>
                    <a:p>
                      <a:r>
                        <a:rPr sz="1300" b="1">
                          <a:solidFill>
                            <a:srgbClr val="FFFFFF"/>
                          </a:solidFill>
                        </a:rPr>
                        <a:t>Mezon</a:t>
                      </a:r>
                    </a:p>
                  </a:txBody>
                  <a:tcPr marL="73152" marR="73152" marT="36576" marB="36576">
                    <a:solidFill>
                      <a:srgbClr val="0B1F3A"/>
                    </a:solidFill>
                  </a:tcPr>
                </a:tc>
                <a:tc>
                  <a:txBody>
                    <a:bodyPr/>
                    <a:lstStyle/>
                    <a:p>
                      <a:r>
                        <a:rPr sz="1300" b="1">
                          <a:solidFill>
                            <a:srgbClr val="FFFFFF"/>
                          </a:solidFill>
                        </a:rPr>
                        <a:t>Pinel</a:t>
                      </a:r>
                    </a:p>
                  </a:txBody>
                  <a:tcPr marL="73152" marR="73152" marT="36576" marB="36576">
                    <a:solidFill>
                      <a:srgbClr val="0B1F3A"/>
                    </a:solidFill>
                  </a:tcPr>
                </a:tc>
                <a:tc>
                  <a:txBody>
                    <a:bodyPr/>
                    <a:lstStyle/>
                    <a:p>
                      <a:r>
                        <a:rPr sz="1300" b="1">
                          <a:solidFill>
                            <a:srgbClr val="FFFFFF"/>
                          </a:solidFill>
                        </a:rPr>
                        <a:t>Konolli</a:t>
                      </a:r>
                    </a:p>
                  </a:txBody>
                  <a:tcPr marL="73152" marR="73152" marT="36576" marB="36576">
                    <a:solidFill>
                      <a:srgbClr val="0B1F3A"/>
                    </a:solidFill>
                  </a:tcPr>
                </a:tc>
              </a:tr>
              <a:tr h="411480">
                <a:tc>
                  <a:txBody>
                    <a:bodyPr/>
                    <a:lstStyle/>
                    <a:p>
                      <a:r>
                        <a:rPr sz="1200" b="0">
                          <a:solidFill>
                            <a:srgbClr val="1F2937"/>
                          </a:solidFill>
                        </a:rPr>
                        <a:t>Davr</a:t>
                      </a:r>
                    </a:p>
                  </a:txBody>
                  <a:tcPr marL="73152" marR="73152" marT="36576" marB="36576">
                    <a:solidFill>
                      <a:srgbClr val="E8EEF6"/>
                    </a:solidFill>
                  </a:tcPr>
                </a:tc>
                <a:tc>
                  <a:txBody>
                    <a:bodyPr/>
                    <a:lstStyle/>
                    <a:p>
                      <a:r>
                        <a:rPr sz="1200" b="0">
                          <a:solidFill>
                            <a:srgbClr val="1F2937"/>
                          </a:solidFill>
                        </a:rPr>
                        <a:t>1793-yil, Parij</a:t>
                      </a:r>
                    </a:p>
                  </a:txBody>
                  <a:tcPr marL="73152" marR="73152" marT="36576" marB="36576">
                    <a:solidFill>
                      <a:srgbClr val="E8EEF6"/>
                    </a:solidFill>
                  </a:tcPr>
                </a:tc>
                <a:tc>
                  <a:txBody>
                    <a:bodyPr/>
                    <a:lstStyle/>
                    <a:p>
                      <a:r>
                        <a:rPr sz="1200" b="0">
                          <a:solidFill>
                            <a:srgbClr val="1F2937"/>
                          </a:solidFill>
                        </a:rPr>
                        <a:t>Pineldan taxminan 50 yil keyin</a:t>
                      </a:r>
                    </a:p>
                  </a:txBody>
                  <a:tcPr marL="73152" marR="73152" marT="36576" marB="36576">
                    <a:solidFill>
                      <a:srgbClr val="E8EEF6"/>
                    </a:solidFill>
                  </a:tcPr>
                </a:tc>
              </a:tr>
              <a:tr h="411480">
                <a:tc>
                  <a:txBody>
                    <a:bodyPr/>
                    <a:lstStyle/>
                    <a:p>
                      <a:r>
                        <a:rPr sz="1200" b="0">
                          <a:solidFill>
                            <a:srgbClr val="1F2937"/>
                          </a:solidFill>
                        </a:rPr>
                        <a:t>Asosiy g‘oya</a:t>
                      </a:r>
                    </a:p>
                  </a:txBody>
                  <a:tcPr marL="73152" marR="73152" marT="36576" marB="36576">
                    <a:solidFill>
                      <a:srgbClr val="FFFFFF"/>
                    </a:solidFill>
                  </a:tcPr>
                </a:tc>
                <a:tc>
                  <a:txBody>
                    <a:bodyPr/>
                    <a:lstStyle/>
                    <a:p>
                      <a:r>
                        <a:rPr sz="1200" b="0">
                          <a:solidFill>
                            <a:srgbClr val="1F2937"/>
                          </a:solidFill>
                        </a:rPr>
                        <a:t>Zanjirlarni olib tashlash, qadr-qimmat</a:t>
                      </a:r>
                    </a:p>
                  </a:txBody>
                  <a:tcPr marL="73152" marR="73152" marT="36576" marB="36576">
                    <a:solidFill>
                      <a:srgbClr val="FFFFFF"/>
                    </a:solidFill>
                  </a:tcPr>
                </a:tc>
                <a:tc>
                  <a:txBody>
                    <a:bodyPr/>
                    <a:lstStyle/>
                    <a:p>
                      <a:r>
                        <a:rPr sz="1200" b="0">
                          <a:solidFill>
                            <a:srgbClr val="1F2937"/>
                          </a:solidFill>
                        </a:rPr>
                        <a:t>Har qanday cheklovni istisno qilish</a:t>
                      </a:r>
                    </a:p>
                  </a:txBody>
                  <a:tcPr marL="73152" marR="73152" marT="36576" marB="36576">
                    <a:solidFill>
                      <a:srgbClr val="FFFFFF"/>
                    </a:solidFill>
                  </a:tcPr>
                </a:tc>
              </a:tr>
              <a:tr h="411480">
                <a:tc>
                  <a:txBody>
                    <a:bodyPr/>
                    <a:lstStyle/>
                    <a:p>
                      <a:r>
                        <a:rPr sz="1200" b="0">
                          <a:solidFill>
                            <a:srgbClr val="1F2937"/>
                          </a:solidFill>
                        </a:rPr>
                        <a:t>Cheklovga munosabat</a:t>
                      </a:r>
                    </a:p>
                  </a:txBody>
                  <a:tcPr marL="73152" marR="73152" marT="36576" marB="36576">
                    <a:solidFill>
                      <a:srgbClr val="E8EEF6"/>
                    </a:solidFill>
                  </a:tcPr>
                </a:tc>
                <a:tc>
                  <a:txBody>
                    <a:bodyPr/>
                    <a:lstStyle/>
                    <a:p>
                      <a:r>
                        <a:rPr sz="1200" b="0">
                          <a:solidFill>
                            <a:srgbClr val="1F2937"/>
                          </a:solidFill>
                        </a:rPr>
                        <a:t>Vaqtincha izolyatsiya ruxsat etilgan</a:t>
                      </a:r>
                    </a:p>
                  </a:txBody>
                  <a:tcPr marL="73152" marR="73152" marT="36576" marB="36576">
                    <a:solidFill>
                      <a:srgbClr val="E8EEF6"/>
                    </a:solidFill>
                  </a:tcPr>
                </a:tc>
                <a:tc>
                  <a:txBody>
                    <a:bodyPr/>
                    <a:lstStyle/>
                    <a:p>
                      <a:r>
                        <a:rPr sz="1200" b="0">
                          <a:solidFill>
                            <a:srgbClr val="1F2937"/>
                          </a:solidFill>
                        </a:rPr>
                        <a:t>«Hech qanday cheklov yo‘q»</a:t>
                      </a:r>
                    </a:p>
                  </a:txBody>
                  <a:tcPr marL="73152" marR="73152" marT="36576" marB="36576">
                    <a:solidFill>
                      <a:srgbClr val="E8EEF6"/>
                    </a:solidFill>
                  </a:tcPr>
                </a:tc>
              </a:tr>
              <a:tr h="411480">
                <a:tc>
                  <a:txBody>
                    <a:bodyPr/>
                    <a:lstStyle/>
                    <a:p>
                      <a:r>
                        <a:rPr sz="1200" b="0">
                          <a:solidFill>
                            <a:srgbClr val="1F2937"/>
                          </a:solidFill>
                        </a:rPr>
                        <a:t>Paternalizm</a:t>
                      </a:r>
                    </a:p>
                  </a:txBody>
                  <a:tcPr marL="73152" marR="73152" marT="36576" marB="36576">
                    <a:solidFill>
                      <a:srgbClr val="FFFFFF"/>
                    </a:solidFill>
                  </a:tcPr>
                </a:tc>
                <a:tc>
                  <a:txBody>
                    <a:bodyPr/>
                    <a:lstStyle/>
                    <a:p>
                      <a:r>
                        <a:rPr sz="1200" b="0">
                          <a:solidFill>
                            <a:srgbClr val="1F2937"/>
                          </a:solidFill>
                        </a:rPr>
                        <a:t>Uning shiori va asosiga aylandi</a:t>
                      </a:r>
                    </a:p>
                  </a:txBody>
                  <a:tcPr marL="73152" marR="73152" marT="36576" marB="36576">
                    <a:solidFill>
                      <a:srgbClr val="FFFFFF"/>
                    </a:solidFill>
                  </a:tcPr>
                </a:tc>
                <a:tc>
                  <a:txBody>
                    <a:bodyPr/>
                    <a:lstStyle/>
                    <a:p>
                      <a:r>
                        <a:rPr sz="1200" b="0">
                          <a:solidFill>
                            <a:srgbClr val="1F2937"/>
                          </a:solidFill>
                        </a:rPr>
                        <a:t>Asoslari muhokama qilinmadi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Pinel va Konolli: solishtirish</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182, 182-183, 183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1: tarix va paternalizm</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81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1: Pinel 1793-yilda Parij shifoxonasida nima qildi? Javob: ruhiy bemorlarni zanjirdan ozod qilib, qadr-qimmat g‘oyasini ilgari surdi.</a:t>
            </a:r>
          </a:p>
          <a:p>
            <a:pPr>
              <a:spcAft>
                <a:spcPts val="1200"/>
              </a:spcAft>
            </a:pPr>
            <a:r>
              <a:rPr sz="2200">
                <a:solidFill>
                  <a:srgbClr val="1F2937"/>
                </a:solidFill>
                <a:latin typeface="Calibri"/>
              </a:rPr>
              <a:t>▸  Savol 2: Konolli nimani taklif qildi? Javob: ruhiy kasallarga nisbatan har qanday cheklov choralarini istisno qilishni, ya’ni «hech qanday cheklov yo‘q» tizimini.</a:t>
            </a:r>
          </a:p>
          <a:p>
            <a:pPr>
              <a:spcAft>
                <a:spcPts val="1200"/>
              </a:spcAft>
            </a:pPr>
            <a:r>
              <a:rPr sz="2200">
                <a:solidFill>
                  <a:srgbClr val="1F2937"/>
                </a:solidFill>
                <a:latin typeface="Calibri"/>
              </a:rPr>
              <a:t>▸  Savol 3: Bahslarda qaysi doktrina asoslari muhokama qilinmadi? Javob: tibbiy paternalizm doktrinasi asoslari.</a:t>
            </a:r>
          </a:p>
          <a:p>
            <a:pPr>
              <a:spcAft>
                <a:spcPts val="1200"/>
              </a:spcAft>
            </a:pPr>
            <a:r>
              <a:rPr sz="2200">
                <a:solidFill>
                  <a:srgbClr val="1F2937"/>
                </a:solidFill>
                <a:latin typeface="Calibri"/>
              </a:rPr>
              <a:t>▸  Diqqat: xato qilish xavfi. Pinel ≠ Konolli: Pinel nazoratli axloqiy davolash va vaqtincha izolyatsiyaga yo‘l qo‘ydi; Konolli cheklovni butunlay rad etdi.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182, 183, 182-183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Deinstitutsionalizatsiya: vaqt chizig‘i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81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1955-yilda Jahon sog‘liqni saqlash tashkiloti (JSST) ekspertlari izolyatsiyasiz davolashni yoqladi.</a:t>
            </a:r>
          </a:p>
          <a:p>
            <a:pPr>
              <a:spcAft>
                <a:spcPts val="800"/>
              </a:spcAft>
            </a:pPr>
            <a:r>
              <a:rPr sz="1800">
                <a:solidFill>
                  <a:srgbClr val="1F2937"/>
                </a:solidFill>
                <a:latin typeface="Calibri"/>
              </a:rPr>
              <a:t>▸  Eski shifoxonalar kattaligi, uzoqligi va davolashdan ko‘ra xayriyaga yo‘nalgani uchun tanqid qilindi.</a:t>
            </a:r>
          </a:p>
          <a:p>
            <a:pPr>
              <a:spcAft>
                <a:spcPts val="800"/>
              </a:spcAft>
            </a:pPr>
            <a:r>
              <a:rPr sz="1800">
                <a:solidFill>
                  <a:srgbClr val="1F2937"/>
                </a:solidFill>
                <a:latin typeface="Calibri"/>
              </a:rPr>
              <a:t>▸  M. Foremanning «Kuku uyasi ustidan uchib o‘tdi» filmi huquqiy himoya harakatining mashhur epizodi bo‘ldi.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010062"/>
                <a:gridCol w="2020125"/>
                <a:gridCol w="2257787"/>
              </a:tblGrid>
              <a:tr h="411480">
                <a:tc>
                  <a:txBody>
                    <a:bodyPr/>
                    <a:lstStyle/>
                    <a:p>
                      <a:r>
                        <a:rPr sz="1300" b="1">
                          <a:solidFill>
                            <a:srgbClr val="FFFFFF"/>
                          </a:solidFill>
                        </a:rPr>
                        <a:t>Davr / omil</a:t>
                      </a:r>
                    </a:p>
                  </a:txBody>
                  <a:tcPr marL="73152" marR="73152" marT="36576" marB="36576">
                    <a:solidFill>
                      <a:srgbClr val="0B1F3A"/>
                    </a:solidFill>
                  </a:tcPr>
                </a:tc>
                <a:tc>
                  <a:txBody>
                    <a:bodyPr/>
                    <a:lstStyle/>
                    <a:p>
                      <a:r>
                        <a:rPr sz="1300" b="1">
                          <a:solidFill>
                            <a:srgbClr val="FFFFFF"/>
                          </a:solidFill>
                        </a:rPr>
                        <a:t>Voqea</a:t>
                      </a:r>
                    </a:p>
                  </a:txBody>
                  <a:tcPr marL="73152" marR="73152" marT="36576" marB="36576">
                    <a:solidFill>
                      <a:srgbClr val="0B1F3A"/>
                    </a:solidFill>
                  </a:tcPr>
                </a:tc>
                <a:tc>
                  <a:txBody>
                    <a:bodyPr/>
                    <a:lstStyle/>
                    <a:p>
                      <a:r>
                        <a:rPr sz="1300" b="1">
                          <a:solidFill>
                            <a:srgbClr val="FFFFFF"/>
                          </a:solidFill>
                        </a:rPr>
                        <a:t>Mazmuni</a:t>
                      </a:r>
                    </a:p>
                  </a:txBody>
                  <a:tcPr marL="73152" marR="73152" marT="36576" marB="36576">
                    <a:solidFill>
                      <a:srgbClr val="0B1F3A"/>
                    </a:solidFill>
                  </a:tcPr>
                </a:tc>
              </a:tr>
              <a:tr h="411480">
                <a:tc>
                  <a:txBody>
                    <a:bodyPr/>
                    <a:lstStyle/>
                    <a:p>
                      <a:r>
                        <a:rPr sz="1200" b="0">
                          <a:solidFill>
                            <a:srgbClr val="1F2937"/>
                          </a:solidFill>
                        </a:rPr>
                        <a:t>1950-yillar</a:t>
                      </a:r>
                    </a:p>
                  </a:txBody>
                  <a:tcPr marL="73152" marR="73152" marT="36576" marB="36576">
                    <a:solidFill>
                      <a:srgbClr val="E8EEF6"/>
                    </a:solidFill>
                  </a:tcPr>
                </a:tc>
                <a:tc>
                  <a:txBody>
                    <a:bodyPr/>
                    <a:lstStyle/>
                    <a:p>
                      <a:r>
                        <a:rPr sz="1200" b="0">
                          <a:solidFill>
                            <a:srgbClr val="1F2937"/>
                          </a:solidFill>
                        </a:rPr>
                        <a:t>Shifoxonalar inqirozi boshlandi</a:t>
                      </a:r>
                    </a:p>
                  </a:txBody>
                  <a:tcPr marL="73152" marR="73152" marT="36576" marB="36576">
                    <a:solidFill>
                      <a:srgbClr val="E8EEF6"/>
                    </a:solidFill>
                  </a:tcPr>
                </a:tc>
                <a:tc>
                  <a:txBody>
                    <a:bodyPr/>
                    <a:lstStyle/>
                    <a:p>
                      <a:r>
                        <a:rPr sz="1200" b="0">
                          <a:solidFill>
                            <a:srgbClr val="1F2937"/>
                          </a:solidFill>
                        </a:rPr>
                        <a:t>G‘arbda paternalizm inqirozi</a:t>
                      </a:r>
                    </a:p>
                  </a:txBody>
                  <a:tcPr marL="73152" marR="73152" marT="36576" marB="36576">
                    <a:solidFill>
                      <a:srgbClr val="E8EEF6"/>
                    </a:solidFill>
                  </a:tcPr>
                </a:tc>
              </a:tr>
              <a:tr h="411480">
                <a:tc>
                  <a:txBody>
                    <a:bodyPr/>
                    <a:lstStyle/>
                    <a:p>
                      <a:r>
                        <a:rPr sz="1200" b="0">
                          <a:solidFill>
                            <a:srgbClr val="1F2937"/>
                          </a:solidFill>
                        </a:rPr>
                        <a:t>1955</a:t>
                      </a:r>
                    </a:p>
                  </a:txBody>
                  <a:tcPr marL="73152" marR="73152" marT="36576" marB="36576">
                    <a:solidFill>
                      <a:srgbClr val="FFFFFF"/>
                    </a:solidFill>
                  </a:tcPr>
                </a:tc>
                <a:tc>
                  <a:txBody>
                    <a:bodyPr/>
                    <a:lstStyle/>
                    <a:p>
                      <a:r>
                        <a:rPr sz="1200" b="0">
                          <a:solidFill>
                            <a:srgbClr val="1F2937"/>
                          </a:solidFill>
                        </a:rPr>
                        <a:t>JSST ekspertlar qo‘mitasi</a:t>
                      </a:r>
                    </a:p>
                  </a:txBody>
                  <a:tcPr marL="73152" marR="73152" marT="36576" marB="36576">
                    <a:solidFill>
                      <a:srgbClr val="FFFFFF"/>
                    </a:solidFill>
                  </a:tcPr>
                </a:tc>
                <a:tc>
                  <a:txBody>
                    <a:bodyPr/>
                    <a:lstStyle/>
                    <a:p>
                      <a:r>
                        <a:rPr sz="1200" b="0">
                          <a:solidFill>
                            <a:srgbClr val="1F2937"/>
                          </a:solidFill>
                        </a:rPr>
                        <a:t>Izolyatsiyasiz davolashni kengaytirish</a:t>
                      </a:r>
                    </a:p>
                  </a:txBody>
                  <a:tcPr marL="73152" marR="73152" marT="36576" marB="36576">
                    <a:solidFill>
                      <a:srgbClr val="FFFFFF"/>
                    </a:solidFill>
                  </a:tcPr>
                </a:tc>
              </a:tr>
              <a:tr h="411480">
                <a:tc>
                  <a:txBody>
                    <a:bodyPr/>
                    <a:lstStyle/>
                    <a:p>
                      <a:r>
                        <a:rPr sz="1200" b="0">
                          <a:solidFill>
                            <a:srgbClr val="1F2937"/>
                          </a:solidFill>
                        </a:rPr>
                        <a:t>1960–70-yillar</a:t>
                      </a:r>
                    </a:p>
                  </a:txBody>
                  <a:tcPr marL="73152" marR="73152" marT="36576" marB="36576">
                    <a:solidFill>
                      <a:srgbClr val="E8EEF6"/>
                    </a:solidFill>
                  </a:tcPr>
                </a:tc>
                <a:tc>
                  <a:txBody>
                    <a:bodyPr/>
                    <a:lstStyle/>
                    <a:p>
                      <a:r>
                        <a:rPr sz="1200" b="0">
                          <a:solidFill>
                            <a:srgbClr val="1F2937"/>
                          </a:solidFill>
                        </a:rPr>
                        <a:t>Amerikada deinstitutsionalizatsiya</a:t>
                      </a:r>
                    </a:p>
                  </a:txBody>
                  <a:tcPr marL="73152" marR="73152" marT="36576" marB="36576">
                    <a:solidFill>
                      <a:srgbClr val="E8EEF6"/>
                    </a:solidFill>
                  </a:tcPr>
                </a:tc>
                <a:tc>
                  <a:txBody>
                    <a:bodyPr/>
                    <a:lstStyle/>
                    <a:p>
                      <a:r>
                        <a:rPr sz="1200" b="0">
                          <a:solidFill>
                            <a:srgbClr val="1F2937"/>
                          </a:solidFill>
                        </a:rPr>
                        <a:t>Majburan ushlab turishdan voz kechish</a:t>
                      </a:r>
                    </a:p>
                  </a:txBody>
                  <a:tcPr marL="73152" marR="73152" marT="36576" marB="36576">
                    <a:solidFill>
                      <a:srgbClr val="E8EEF6"/>
                    </a:solidFill>
                  </a:tcPr>
                </a:tc>
              </a:tr>
              <a:tr h="411480">
                <a:tc>
                  <a:txBody>
                    <a:bodyPr/>
                    <a:lstStyle/>
                    <a:p>
                      <a:r>
                        <a:rPr sz="1200" b="0">
                          <a:solidFill>
                            <a:srgbClr val="1F2937"/>
                          </a:solidFill>
                        </a:rPr>
                        <a:t>Omil</a:t>
                      </a:r>
                    </a:p>
                  </a:txBody>
                  <a:tcPr marL="73152" marR="73152" marT="36576" marB="36576">
                    <a:solidFill>
                      <a:srgbClr val="FFFFFF"/>
                    </a:solidFill>
                  </a:tcPr>
                </a:tc>
                <a:tc>
                  <a:txBody>
                    <a:bodyPr/>
                    <a:lstStyle/>
                    <a:p>
                      <a:r>
                        <a:rPr sz="1200" b="0">
                          <a:solidFill>
                            <a:srgbClr val="1F2937"/>
                          </a:solidFill>
                        </a:rPr>
                        <a:t>Psixotrop dorilar keng qo‘llanildi</a:t>
                      </a:r>
                    </a:p>
                  </a:txBody>
                  <a:tcPr marL="73152" marR="73152" marT="36576" marB="36576">
                    <a:solidFill>
                      <a:srgbClr val="FFFFFF"/>
                    </a:solidFill>
                  </a:tcPr>
                </a:tc>
                <a:tc>
                  <a:txBody>
                    <a:bodyPr/>
                    <a:lstStyle/>
                    <a:p>
                      <a:r>
                        <a:rPr sz="1200" b="0">
                          <a:solidFill>
                            <a:srgbClr val="1F2937"/>
                          </a:solidFill>
                        </a:rPr>
                        <a:t>Siyosatning asosiy sababi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Deinstitutsionalizatsiya bosqichlari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183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Eski shifoxonalar tanqidi va «Kuku uyasi» filmi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81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Eski psixiatriya shifoxonalari ulkan hajmi uchun tanqid qilindi.</a:t>
            </a:r>
          </a:p>
          <a:p>
            <a:pPr>
              <a:spcAft>
                <a:spcPts val="1200"/>
              </a:spcAft>
            </a:pPr>
            <a:r>
              <a:rPr sz="2200">
                <a:solidFill>
                  <a:srgbClr val="1F2937"/>
                </a:solidFill>
                <a:latin typeface="Calibri"/>
              </a:rPr>
              <a:t>▸  Ko‘pchilik bemorlarning doimiy yashash joyidan shifoxona uzoqda bo‘lgan.</a:t>
            </a:r>
          </a:p>
          <a:p>
            <a:pPr>
              <a:spcAft>
                <a:spcPts val="1200"/>
              </a:spcAft>
            </a:pPr>
            <a:r>
              <a:rPr sz="2200">
                <a:solidFill>
                  <a:srgbClr val="1F2937"/>
                </a:solidFill>
                <a:latin typeface="Calibri"/>
              </a:rPr>
              <a:t>▸  Faoliyat davolash va reabilitatsiyadan ko‘ra ko‘proq xayriya va yordam ko‘rsatishga yo‘naltirilgan edi.</a:t>
            </a:r>
          </a:p>
          <a:p>
            <a:pPr>
              <a:spcAft>
                <a:spcPts val="1200"/>
              </a:spcAft>
            </a:pPr>
            <a:r>
              <a:rPr sz="2200">
                <a:solidFill>
                  <a:srgbClr val="1F2937"/>
                </a:solidFill>
                <a:latin typeface="Calibri"/>
              </a:rPr>
              <a:t>▸  M. Foremanning «Kuku uyasi ustidan uchib o‘tdi» filmi ruhiy bemorlar huquqlarini himoya qilish harakatining mashhur epizodiga aylandi.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183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Antipsixiatriya g‘oyalari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81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1960-yillarda Yevropada, so‘ngra Amerikada psixiatriya atrofida keskin bahslar bo‘ldi; antipsixiatriya shu davrda shakllandi.</a:t>
            </a:r>
          </a:p>
          <a:p>
            <a:pPr>
              <a:spcAft>
                <a:spcPts val="1200"/>
              </a:spcAft>
            </a:pPr>
            <a:r>
              <a:rPr sz="2200">
                <a:solidFill>
                  <a:srgbClr val="1F2937"/>
                </a:solidFill>
                <a:latin typeface="Calibri"/>
              </a:rPr>
              <a:t>▸  Ular «ruhiy kasallik» yo‘q, faqat «makroijtimoiy inqirozli vaziyatlar» bor, degan fikrni ilgari surdi.</a:t>
            </a:r>
          </a:p>
          <a:p>
            <a:pPr>
              <a:spcAft>
                <a:spcPts val="1200"/>
              </a:spcAft>
            </a:pPr>
            <a:r>
              <a:rPr sz="2200">
                <a:solidFill>
                  <a:srgbClr val="1F2937"/>
                </a:solidFill>
                <a:latin typeface="Calibri"/>
              </a:rPr>
              <a:t>▸  Psixiatrik tashxis (asosan shizofreniya) ularning fikricha «ijtimoiy yorliq»; bemorlar emas, «g‘ayritabiiy shaxslar» bor.</a:t>
            </a:r>
          </a:p>
          <a:p>
            <a:pPr>
              <a:spcAft>
                <a:spcPts val="1200"/>
              </a:spcAft>
            </a:pPr>
            <a:r>
              <a:rPr sz="2200">
                <a:solidFill>
                  <a:srgbClr val="1F2937"/>
                </a:solidFill>
                <a:latin typeface="Calibri"/>
              </a:rPr>
              <a:t>▸  Ularning ta’kidlashicha, psixiatrlar shifokor emas, balki «oq xalatli politsiyachilar». (?)</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183, 183-184, 184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Antipsixiatriya amaliyoti va «uchinchi inqilob»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81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Eksperimentlar (Buyuk Britaniya, Germaniya va b.) shifoxonalarning institutsional tartibini rad etdi.</a:t>
            </a:r>
          </a:p>
          <a:p>
            <a:pPr>
              <a:spcAft>
                <a:spcPts val="800"/>
              </a:spcAft>
            </a:pPr>
            <a:r>
              <a:rPr sz="1800">
                <a:solidFill>
                  <a:srgbClr val="1F2937"/>
                </a:solidFill>
                <a:latin typeface="Calibri"/>
              </a:rPr>
              <a:t>▸  Psixotrop va sedativ dorilardan foydalanish bekor qilindi.</a:t>
            </a:r>
          </a:p>
          <a:p>
            <a:pPr>
              <a:spcAft>
                <a:spcPts val="800"/>
              </a:spcAft>
            </a:pPr>
            <a:r>
              <a:rPr sz="1800">
                <a:solidFill>
                  <a:srgbClr val="1F2937"/>
                </a:solidFill>
                <a:latin typeface="Calibri"/>
              </a:rPr>
              <a:t>▸  Ayrim antipsixiatrlar o‘z joniga qasd qilish istagiga ham to‘sqinlik qilishni shart deb bilmadi.</a:t>
            </a:r>
          </a:p>
        </p:txBody>
      </p:sp>
      <p:sp>
        <p:nvSpPr>
          <p:cNvPr id="9" name="Rounded Rectangle 8"/>
          <p:cNvSpPr/>
          <p:nvPr/>
        </p:nvSpPr>
        <p:spPr>
          <a:xfrm>
            <a:off x="6263640" y="1463040"/>
            <a:ext cx="5287975" cy="7772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Sehrgarlik sudlariga qarshi</a:t>
            </a:r>
          </a:p>
        </p:txBody>
      </p:sp>
      <p:sp>
        <p:nvSpPr>
          <p:cNvPr id="10" name="Down Arrow 9"/>
          <p:cNvSpPr/>
          <p:nvPr/>
        </p:nvSpPr>
        <p:spPr>
          <a:xfrm>
            <a:off x="8770467" y="2258568"/>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532888"/>
            <a:ext cx="5287975" cy="7772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Pinel islohoti</a:t>
            </a:r>
          </a:p>
        </p:txBody>
      </p:sp>
      <p:sp>
        <p:nvSpPr>
          <p:cNvPr id="12" name="Down Arrow 11"/>
          <p:cNvSpPr/>
          <p:nvPr/>
        </p:nvSpPr>
        <p:spPr>
          <a:xfrm>
            <a:off x="8770467" y="332841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602736"/>
            <a:ext cx="5287975" cy="7772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Antipsixiatriya — 3-inqilob</a:t>
            </a:r>
          </a:p>
        </p:txBody>
      </p:sp>
      <p:sp>
        <p:nvSpPr>
          <p:cNvPr id="14" name="TextBox 13"/>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Uch inqilob zanjiri</a:t>
            </a:r>
          </a:p>
        </p:txBody>
      </p:sp>
      <p:sp>
        <p:nvSpPr>
          <p:cNvPr id="15" name="TextBox 14"/>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184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2: cheklash va erkinlik muvozanati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81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Vaziyat: 1793-yilda Parij shifoxonasida shifokor Filipp Pinel ruhiy bemorlarni zanjirdan ozod qildi va ularning qadr-qimmatini ko‘tarish g‘oyasini ilgari surdi.</a:t>
            </a:r>
          </a:p>
          <a:p>
            <a:pPr>
              <a:spcAft>
                <a:spcPts val="1200"/>
              </a:spcAft>
            </a:pPr>
            <a:r>
              <a:rPr sz="2000">
                <a:solidFill>
                  <a:srgbClr val="1F2937"/>
                </a:solidFill>
                <a:latin typeface="Calibri"/>
              </a:rPr>
              <a:t>▸  Pinel bemorlarni bolalarga o‘xshatgan. «Axloqiy davolash»da shifokor alohida rol o‘ynagan. Bu tibbiy paternalizm (shifokor bemor o‘rniga qaror qilishi) edi.</a:t>
            </a:r>
          </a:p>
          <a:p>
            <a:pPr>
              <a:spcAft>
                <a:spcPts val="1200"/>
              </a:spcAft>
            </a:pPr>
            <a:r>
              <a:rPr sz="2000">
                <a:solidFill>
                  <a:srgbClr val="1F2937"/>
                </a:solidFill>
                <a:latin typeface="Calibri"/>
              </a:rPr>
              <a:t>▸  Taxminan 50 yildan keyin ingliz shifokori Jon Konolli har qanday cheklov choralarini istisno etishni taklif qildi. Uning tizimi «Hech qanday cheklov yo‘q» deb nomlangan.</a:t>
            </a:r>
          </a:p>
          <a:p>
            <a:pPr>
              <a:spcAft>
                <a:spcPts val="1200"/>
              </a:spcAft>
            </a:pPr>
            <a:r>
              <a:rPr sz="2000">
                <a:solidFill>
                  <a:srgbClr val="1F2937"/>
                </a:solidFill>
                <a:latin typeface="Calibri"/>
              </a:rPr>
              <a:t>▸  Savol: bemorning erkinligi va xavfsizligi to‘qnashsa, qaysi yondashuv axloqiyroq? Hozirgi qonun yordamni «eng kam cheklovli sharoitda» berishni talab qiladi.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182, 182-183, 183, 186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Psixiatriya yordami to‘g‘risidagi qonun: tamoyillar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81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Qonun 2002-yilda qabul qilingan, 2021-yil 13-avgustda qayta tahrirdan chiqqan.</a:t>
            </a:r>
          </a:p>
          <a:p>
            <a:pPr>
              <a:spcAft>
                <a:spcPts val="800"/>
              </a:spcAft>
            </a:pPr>
            <a:r>
              <a:rPr sz="1800">
                <a:solidFill>
                  <a:srgbClr val="1F2937"/>
                </a:solidFill>
                <a:latin typeface="Calibri"/>
              </a:rPr>
              <a:t>▸  Maqsad: aholiga psixiatriya yordami ko‘rsatish sohasidagi munosabatlarni tartibga solish (1-modda).</a:t>
            </a:r>
          </a:p>
          <a:p>
            <a:pPr>
              <a:spcAft>
                <a:spcPts val="800"/>
              </a:spcAft>
            </a:pPr>
            <a:r>
              <a:rPr sz="1800">
                <a:solidFill>
                  <a:srgbClr val="1F2937"/>
                </a:solidFill>
                <a:latin typeface="Calibri"/>
              </a:rPr>
              <a:t>▸  Tamoyillar: qonuniylik, rahm-shafqat, insonparvarlik va fuqaro huquq hamda erkinliklariga rioya.</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Tekshiruv (ko‘rik)</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Profilaktika</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Tashxis va davolash</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Parvarishlash</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Tibbiy-ijtimoiy tiklash</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Psixiatriya yordami tarkibi (4-modda)</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184, 185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5-modda: davlat kafolatlari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81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Psixiatriya yordami va ijtimoiy himoya uchun 5-modda bo‘yicha kafolatlarni davlat beradi.</a:t>
            </a:r>
          </a:p>
          <a:p>
            <a:pPr>
              <a:spcAft>
                <a:spcPts val="800"/>
              </a:spcAft>
            </a:pPr>
            <a:r>
              <a:rPr sz="1800">
                <a:solidFill>
                  <a:srgbClr val="1F2937"/>
                </a:solidFill>
                <a:latin typeface="Calibri"/>
              </a:rPr>
              <a:t>▸  Kafolatlar orasida shoshilinch yordam va favqulodda vaziyatlardagi psixiatriya yordami bor.</a:t>
            </a:r>
          </a:p>
          <a:p>
            <a:pPr>
              <a:spcAft>
                <a:spcPts val="800"/>
              </a:spcAft>
            </a:pPr>
            <a:r>
              <a:rPr sz="1800">
                <a:solidFill>
                  <a:srgbClr val="1F2937"/>
                </a:solidFill>
                <a:latin typeface="Calibri"/>
              </a:rPr>
              <a:t>▸  Davlat muassasalar quradi, mehnat terapiyasi korxonalarini tashkil etadi, ish o‘rinlari kvotasini belgilaydi.</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1510850"/>
                <a:gridCol w="3777125"/>
              </a:tblGrid>
              <a:tr h="411480">
                <a:tc>
                  <a:txBody>
                    <a:bodyPr/>
                    <a:lstStyle/>
                    <a:p>
                      <a:r>
                        <a:rPr sz="1400" b="1">
                          <a:solidFill>
                            <a:srgbClr val="FFFFFF"/>
                          </a:solidFill>
                        </a:rPr>
                        <a:t>Yo‘nalish</a:t>
                      </a:r>
                    </a:p>
                  </a:txBody>
                  <a:tcPr marL="73152" marR="73152" marT="36576" marB="36576">
                    <a:solidFill>
                      <a:srgbClr val="0B1F3A"/>
                    </a:solidFill>
                  </a:tcPr>
                </a:tc>
                <a:tc>
                  <a:txBody>
                    <a:bodyPr/>
                    <a:lstStyle/>
                    <a:p>
                      <a:r>
                        <a:rPr sz="1400" b="1">
                          <a:solidFill>
                            <a:srgbClr val="FFFFFF"/>
                          </a:solidFill>
                        </a:rPr>
                        <a:t>Kafolat mazmuni</a:t>
                      </a:r>
                    </a:p>
                  </a:txBody>
                  <a:tcPr marL="73152" marR="73152" marT="36576" marB="36576">
                    <a:solidFill>
                      <a:srgbClr val="0B1F3A"/>
                    </a:solidFill>
                  </a:tcPr>
                </a:tc>
              </a:tr>
              <a:tr h="411480">
                <a:tc>
                  <a:txBody>
                    <a:bodyPr/>
                    <a:lstStyle/>
                    <a:p>
                      <a:r>
                        <a:rPr sz="1300" b="0">
                          <a:solidFill>
                            <a:srgbClr val="1F2937"/>
                          </a:solidFill>
                        </a:rPr>
                        <a:t>Tibbiy</a:t>
                      </a:r>
                    </a:p>
                  </a:txBody>
                  <a:tcPr marL="73152" marR="73152" marT="36576" marB="36576">
                    <a:solidFill>
                      <a:srgbClr val="E8EEF6"/>
                    </a:solidFill>
                  </a:tcPr>
                </a:tc>
                <a:tc>
                  <a:txBody>
                    <a:bodyPr/>
                    <a:lstStyle/>
                    <a:p>
                      <a:r>
                        <a:rPr sz="1300" b="0">
                          <a:solidFill>
                            <a:srgbClr val="1F2937"/>
                          </a:solidFill>
                        </a:rPr>
                        <a:t>Shoshilinch, maslahat, davolash, tiklash</a:t>
                      </a:r>
                    </a:p>
                  </a:txBody>
                  <a:tcPr marL="73152" marR="73152" marT="36576" marB="36576">
                    <a:solidFill>
                      <a:srgbClr val="E8EEF6"/>
                    </a:solidFill>
                  </a:tcPr>
                </a:tc>
              </a:tr>
              <a:tr h="411480">
                <a:tc>
                  <a:txBody>
                    <a:bodyPr/>
                    <a:lstStyle/>
                    <a:p>
                      <a:r>
                        <a:rPr sz="1300" b="0">
                          <a:solidFill>
                            <a:srgbClr val="1F2937"/>
                          </a:solidFill>
                        </a:rPr>
                        <a:t>Ekspertiza</a:t>
                      </a:r>
                    </a:p>
                  </a:txBody>
                  <a:tcPr marL="73152" marR="73152" marT="36576" marB="36576">
                    <a:solidFill>
                      <a:srgbClr val="FFFFFF"/>
                    </a:solidFill>
                  </a:tcPr>
                </a:tc>
                <a:tc>
                  <a:txBody>
                    <a:bodyPr/>
                    <a:lstStyle/>
                    <a:p>
                      <a:r>
                        <a:rPr sz="1300" b="0">
                          <a:solidFill>
                            <a:srgbClr val="1F2937"/>
                          </a:solidFill>
                        </a:rPr>
                        <a:t>Ekspertiza; vaqtincha mehnatga layoqatsizlik</a:t>
                      </a:r>
                    </a:p>
                  </a:txBody>
                  <a:tcPr marL="73152" marR="73152" marT="36576" marB="36576">
                    <a:solidFill>
                      <a:srgbClr val="FFFFFF"/>
                    </a:solidFill>
                  </a:tcPr>
                </a:tc>
              </a:tr>
              <a:tr h="411480">
                <a:tc>
                  <a:txBody>
                    <a:bodyPr/>
                    <a:lstStyle/>
                    <a:p>
                      <a:r>
                        <a:rPr sz="1300" b="0">
                          <a:solidFill>
                            <a:srgbClr val="1F2937"/>
                          </a:solidFill>
                        </a:rPr>
                        <a:t>Ijtimoiy-huquqiy</a:t>
                      </a:r>
                    </a:p>
                  </a:txBody>
                  <a:tcPr marL="73152" marR="73152" marT="36576" marB="36576">
                    <a:solidFill>
                      <a:srgbClr val="E8EEF6"/>
                    </a:solidFill>
                  </a:tcPr>
                </a:tc>
                <a:tc>
                  <a:txBody>
                    <a:bodyPr/>
                    <a:lstStyle/>
                    <a:p>
                      <a:r>
                        <a:rPr sz="1300" b="0">
                          <a:solidFill>
                            <a:srgbClr val="1F2937"/>
                          </a:solidFill>
                        </a:rPr>
                        <a:t>Ishga joylash, vasiylik, yuridik maslahat</a:t>
                      </a:r>
                    </a:p>
                  </a:txBody>
                  <a:tcPr marL="73152" marR="73152" marT="36576" marB="36576">
                    <a:solidFill>
                      <a:srgbClr val="E8EEF6"/>
                    </a:solidFill>
                  </a:tcPr>
                </a:tc>
              </a:tr>
              <a:tr h="411480">
                <a:tc>
                  <a:txBody>
                    <a:bodyPr/>
                    <a:lstStyle/>
                    <a:p>
                      <a:r>
                        <a:rPr sz="1300" b="0">
                          <a:solidFill>
                            <a:srgbClr val="1F2937"/>
                          </a:solidFill>
                        </a:rPr>
                        <a:t>Ijtimoiy-maishiy</a:t>
                      </a:r>
                    </a:p>
                  </a:txBody>
                  <a:tcPr marL="73152" marR="73152" marT="36576" marB="36576">
                    <a:solidFill>
                      <a:srgbClr val="FFFFFF"/>
                    </a:solidFill>
                  </a:tcPr>
                </a:tc>
                <a:tc>
                  <a:txBody>
                    <a:bodyPr/>
                    <a:lstStyle/>
                    <a:p>
                      <a:r>
                        <a:rPr sz="1300" b="0">
                          <a:solidFill>
                            <a:srgbClr val="1F2937"/>
                          </a:solidFill>
                        </a:rPr>
                        <a:t>Joylashtirish, o‘qitish, favqulodda yordam</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Kafolatlar guruhlari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185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Ijtimoiy himoya chora-tadbirlari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81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Davlat statsionarda ham, kasalxonadan tashqarida ham psixiatriya yordami ko‘rsatadigan barcha turdagi muassasalarni barpo etadi.</a:t>
            </a:r>
          </a:p>
          <a:p>
            <a:pPr>
              <a:spcAft>
                <a:spcPts val="1200"/>
              </a:spcAft>
            </a:pPr>
            <a:r>
              <a:rPr sz="2200">
                <a:solidFill>
                  <a:srgbClr val="1F2937"/>
                </a:solidFill>
                <a:latin typeface="Calibri"/>
              </a:rPr>
              <a:t>▸  Voyaga yetmaganlarning umumiy va kasb-hunar ta’limi tashkil etiladi. Mehnat terapiyasi korxonalari, yangi kasblarga o‘qitish va yengillashtirilgan sexlar quriladi.</a:t>
            </a:r>
          </a:p>
          <a:p>
            <a:pPr>
              <a:spcAft>
                <a:spcPts val="1200"/>
              </a:spcAft>
            </a:pPr>
            <a:r>
              <a:rPr sz="2200">
                <a:solidFill>
                  <a:srgbClr val="1F2937"/>
                </a:solidFill>
                <a:latin typeface="Calibri"/>
              </a:rPr>
              <a:t>▸  Ruhiy holati buzilgan nogironlarni ishga joylashtirish uchun korxona va muassasalarda ish o‘rinlarining majburiy kvotalari belgilanadi.</a:t>
            </a:r>
          </a:p>
          <a:p>
            <a:pPr>
              <a:spcAft>
                <a:spcPts val="1200"/>
              </a:spcAft>
            </a:pPr>
            <a:r>
              <a:rPr sz="2200">
                <a:solidFill>
                  <a:srgbClr val="1F2937"/>
                </a:solidFill>
                <a:latin typeface="Calibri"/>
              </a:rPr>
              <a:t>▸  Bunday nogironlarga ish beradigan tashkilotlar uchun rag‘batlantirish usullari qo‘llanadi. Ijtimoiy qo‘llab-quvvatlash uchun zarur boshqa choralar ham ko‘riladi.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185, 186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7-modda: ruhiy holati buzilgan shaxs huquqlari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81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7-modda ruhiy yordam olayotgan shaxslarga Konstitutsiyadagi huquqlardan tashqari alohida huquqlar ham beradi.</a:t>
            </a:r>
          </a:p>
          <a:p>
            <a:pPr>
              <a:spcAft>
                <a:spcPts val="800"/>
              </a:spcAft>
            </a:pPr>
            <a:r>
              <a:rPr sz="1800">
                <a:solidFill>
                  <a:srgbClr val="1F2937"/>
                </a:solidFill>
                <a:latin typeface="Calibri"/>
              </a:rPr>
              <a:t>▸  Tibbiy zarurat bo‘lsa, davolashning barcha turlaridan, jumladan sanatoriy-kurortdan foydalanish mumkin.</a:t>
            </a:r>
          </a:p>
          <a:p>
            <a:pPr>
              <a:spcAft>
                <a:spcPts val="800"/>
              </a:spcAft>
            </a:pPr>
            <a:r>
              <a:rPr sz="1800">
                <a:solidFill>
                  <a:srgbClr val="1F2937"/>
                </a:solidFill>
                <a:latin typeface="Calibri"/>
              </a:rPr>
              <a:t>▸  Diqqat: ruhiy holat buzilishi Konstitutsiyaviy huquqlarni kamaytirmaydi, bemor ularning hammasiga ega.</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1510850"/>
                <a:gridCol w="3777125"/>
              </a:tblGrid>
              <a:tr h="411480">
                <a:tc>
                  <a:txBody>
                    <a:bodyPr/>
                    <a:lstStyle/>
                    <a:p>
                      <a:r>
                        <a:rPr sz="1400" b="1">
                          <a:solidFill>
                            <a:srgbClr val="FFFFFF"/>
                          </a:solidFill>
                        </a:rPr>
                        <a:t>Guruh</a:t>
                      </a:r>
                    </a:p>
                  </a:txBody>
                  <a:tcPr marL="73152" marR="73152" marT="36576" marB="36576">
                    <a:solidFill>
                      <a:srgbClr val="0B1F3A"/>
                    </a:solidFill>
                  </a:tcPr>
                </a:tc>
                <a:tc>
                  <a:txBody>
                    <a:bodyPr/>
                    <a:lstStyle/>
                    <a:p>
                      <a:r>
                        <a:rPr sz="1400" b="1">
                          <a:solidFill>
                            <a:srgbClr val="FFFFFF"/>
                          </a:solidFill>
                        </a:rPr>
                        <a:t>Mazmuni</a:t>
                      </a:r>
                    </a:p>
                  </a:txBody>
                  <a:tcPr marL="73152" marR="73152" marT="36576" marB="36576">
                    <a:solidFill>
                      <a:srgbClr val="0B1F3A"/>
                    </a:solidFill>
                  </a:tcPr>
                </a:tc>
              </a:tr>
              <a:tr h="411480">
                <a:tc>
                  <a:txBody>
                    <a:bodyPr/>
                    <a:lstStyle/>
                    <a:p>
                      <a:r>
                        <a:rPr sz="1300" b="0">
                          <a:solidFill>
                            <a:srgbClr val="1F2937"/>
                          </a:solidFill>
                        </a:rPr>
                        <a:t>Konstitutsiyaviy</a:t>
                      </a:r>
                    </a:p>
                  </a:txBody>
                  <a:tcPr marL="73152" marR="73152" marT="36576" marB="36576">
                    <a:solidFill>
                      <a:srgbClr val="E8EEF6"/>
                    </a:solidFill>
                  </a:tcPr>
                </a:tc>
                <a:tc>
                  <a:txBody>
                    <a:bodyPr/>
                    <a:lstStyle/>
                    <a:p>
                      <a:r>
                        <a:rPr sz="1300" b="0">
                          <a:solidFill>
                            <a:srgbClr val="1F2937"/>
                          </a:solidFill>
                        </a:rPr>
                        <a:t>Fuqarolarning barcha huquq va erkinliklari</a:t>
                      </a:r>
                    </a:p>
                  </a:txBody>
                  <a:tcPr marL="73152" marR="73152" marT="36576" marB="36576">
                    <a:solidFill>
                      <a:srgbClr val="E8EEF6"/>
                    </a:solidFill>
                  </a:tcPr>
                </a:tc>
              </a:tr>
              <a:tr h="411480">
                <a:tc>
                  <a:txBody>
                    <a:bodyPr/>
                    <a:lstStyle/>
                    <a:p>
                      <a:r>
                        <a:rPr sz="1300" b="0">
                          <a:solidFill>
                            <a:srgbClr val="1F2937"/>
                          </a:solidFill>
                        </a:rPr>
                        <a:t>Muomala</a:t>
                      </a:r>
                    </a:p>
                  </a:txBody>
                  <a:tcPr marL="73152" marR="73152" marT="36576" marB="36576">
                    <a:solidFill>
                      <a:srgbClr val="FFFFFF"/>
                    </a:solidFill>
                  </a:tcPr>
                </a:tc>
                <a:tc>
                  <a:txBody>
                    <a:bodyPr/>
                    <a:lstStyle/>
                    <a:p>
                      <a:r>
                        <a:rPr sz="1300" b="0">
                          <a:solidFill>
                            <a:srgbClr val="1F2937"/>
                          </a:solidFill>
                        </a:rPr>
                        <a:t>Mehribon, qadr-qimmatni kamsitmaydigan</a:t>
                      </a:r>
                    </a:p>
                  </a:txBody>
                  <a:tcPr marL="73152" marR="73152" marT="36576" marB="36576">
                    <a:solidFill>
                      <a:srgbClr val="FFFFFF"/>
                    </a:solidFill>
                  </a:tcPr>
                </a:tc>
              </a:tr>
              <a:tr h="411480">
                <a:tc>
                  <a:txBody>
                    <a:bodyPr/>
                    <a:lstStyle/>
                    <a:p>
                      <a:r>
                        <a:rPr sz="1300" b="0">
                          <a:solidFill>
                            <a:srgbClr val="1F2937"/>
                          </a:solidFill>
                        </a:rPr>
                        <a:t>Axborot</a:t>
                      </a:r>
                    </a:p>
                  </a:txBody>
                  <a:tcPr marL="73152" marR="73152" marT="36576" marB="36576">
                    <a:solidFill>
                      <a:srgbClr val="E8EEF6"/>
                    </a:solidFill>
                  </a:tcPr>
                </a:tc>
                <a:tc>
                  <a:txBody>
                    <a:bodyPr/>
                    <a:lstStyle/>
                    <a:p>
                      <a:r>
                        <a:rPr sz="1300" b="0">
                          <a:solidFill>
                            <a:srgbClr val="1F2937"/>
                          </a:solidFill>
                        </a:rPr>
                        <a:t>Huquq, holat va davolash usullari haqida</a:t>
                      </a:r>
                    </a:p>
                  </a:txBody>
                  <a:tcPr marL="73152" marR="73152" marT="36576" marB="36576">
                    <a:solidFill>
                      <a:srgbClr val="E8EEF6"/>
                    </a:solidFill>
                  </a:tcPr>
                </a:tc>
              </a:tr>
              <a:tr h="411480">
                <a:tc>
                  <a:txBody>
                    <a:bodyPr/>
                    <a:lstStyle/>
                    <a:p>
                      <a:r>
                        <a:rPr sz="1300" b="0">
                          <a:solidFill>
                            <a:srgbClr val="1F2937"/>
                          </a:solidFill>
                        </a:rPr>
                        <a:t>Sharoit</a:t>
                      </a:r>
                    </a:p>
                  </a:txBody>
                  <a:tcPr marL="73152" marR="73152" marT="36576" marB="36576">
                    <a:solidFill>
                      <a:srgbClr val="FFFFFF"/>
                    </a:solidFill>
                  </a:tcPr>
                </a:tc>
                <a:tc>
                  <a:txBody>
                    <a:bodyPr/>
                    <a:lstStyle/>
                    <a:p>
                      <a:r>
                        <a:rPr sz="1300" b="0">
                          <a:solidFill>
                            <a:srgbClr val="1F2937"/>
                          </a:solidFill>
                        </a:rPr>
                        <a:t>Eng kam cheklovli, sanitariya talabiga mos</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Huquq guruhlari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186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Tajribaga rozilik, mutaxassis va vakil huquqi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81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Bemor tibbiy vosita va usullarni sinash, ilmiy tadqiqot yoki o‘quv jarayoni obyekti bo‘lishga, foto-video olinishga oldindan rozilik beradi.</a:t>
            </a:r>
          </a:p>
          <a:p>
            <a:pPr>
              <a:spcAft>
                <a:spcPts val="1200"/>
              </a:spcAft>
            </a:pPr>
            <a:r>
              <a:rPr sz="2200">
                <a:solidFill>
                  <a:srgbClr val="1F2937"/>
                </a:solidFill>
                <a:latin typeface="Calibri"/>
              </a:rPr>
              <a:t>▸  Bunday rozilikdan istalgan bosqichda voz kechish mumkin.</a:t>
            </a:r>
          </a:p>
          <a:p>
            <a:pPr>
              <a:spcAft>
                <a:spcPts val="1200"/>
              </a:spcAft>
            </a:pPr>
            <a:r>
              <a:rPr sz="2200">
                <a:solidFill>
                  <a:srgbClr val="1F2937"/>
                </a:solidFill>
                <a:latin typeface="Calibri"/>
              </a:rPr>
              <a:t>▸  Bemor talabiga ko‘ra istalgan mutaxassis tibbiy komissiyada ishlashga taklif etiladi. U advokat yoki qonuniy vakil yordamini ham olishi mumkin.</a:t>
            </a:r>
          </a:p>
          <a:p>
            <a:pPr>
              <a:spcAft>
                <a:spcPts val="1200"/>
              </a:spcAft>
            </a:pPr>
            <a:r>
              <a:rPr sz="2200">
                <a:solidFill>
                  <a:srgbClr val="1F2937"/>
                </a:solidFill>
                <a:latin typeface="Calibri"/>
              </a:rPr>
              <a:t>▸  9-modda: fuqaro o‘z huquqlarini himoya qilish uchun xohlagan vakilini tanlashga haqli. Vakillik qonunchilikdagi tartibda rasmiylashtiriladi.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186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Shifokor siri (11-modda)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81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Ruhiy holat buzilgani, psixiatriya yordamiga murojaat qilgani va shunday muassasada davolangani shifokor siri hisoblanadi.</a:t>
            </a:r>
          </a:p>
          <a:p>
            <a:pPr>
              <a:spcAft>
                <a:spcPts val="1200"/>
              </a:spcAft>
            </a:pPr>
            <a:r>
              <a:rPr sz="2200">
                <a:solidFill>
                  <a:srgbClr val="1F2937"/>
                </a:solidFill>
                <a:latin typeface="Calibri"/>
              </a:rPr>
              <a:t>▸  Ruhiy salomatlik holatiga oid boshqa ma’lumotlar ham qonun bilan qo‘riqlanadigan shifokor siri sanaladi.</a:t>
            </a:r>
          </a:p>
          <a:p>
            <a:pPr>
              <a:spcAft>
                <a:spcPts val="1200"/>
              </a:spcAft>
            </a:pPr>
            <a:r>
              <a:rPr sz="2200">
                <a:solidFill>
                  <a:srgbClr val="1F2937"/>
                </a:solidFill>
                <a:latin typeface="Calibri"/>
              </a:rPr>
              <a:t>▸  Bemor yoki uning qonuniy vakili iltimos qilsa, huquq va manfaatlarini amalga oshirishi uchun unga axborot berilishi mumkin.</a:t>
            </a:r>
          </a:p>
          <a:p>
            <a:pPr>
              <a:spcAft>
                <a:spcPts val="1200"/>
              </a:spcAft>
            </a:pPr>
            <a:r>
              <a:rPr sz="2200">
                <a:solidFill>
                  <a:srgbClr val="1F2937"/>
                </a:solidFill>
                <a:latin typeface="Calibri"/>
              </a:rPr>
              <a:t>▸  Axborot tushunarli shaklda va bemorning ruhiy holati hisobga olingan holda beriladi.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187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2: huquqlar va sir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81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1-savol: 7-moddaga ko‘ra ruhiy holati buzilgan shaxs yordam olishda qanday huquqlarga ega? Kamida uchtasini ayting.</a:t>
            </a:r>
          </a:p>
          <a:p>
            <a:pPr>
              <a:spcAft>
                <a:spcPts val="1200"/>
              </a:spcAft>
            </a:pPr>
            <a:r>
              <a:rPr sz="2200">
                <a:solidFill>
                  <a:srgbClr val="1F2937"/>
                </a:solidFill>
                <a:latin typeface="Calibri"/>
              </a:rPr>
              <a:t>▸  2-savol: qaysi ma’lumotlar shifokor siri hisoblanadi va ular kimning iltimosiga ko‘ra berilishi mumkin?</a:t>
            </a:r>
          </a:p>
          <a:p>
            <a:pPr>
              <a:spcAft>
                <a:spcPts val="1200"/>
              </a:spcAft>
            </a:pPr>
            <a:r>
              <a:rPr sz="2200">
                <a:solidFill>
                  <a:srgbClr val="1F2937"/>
                </a:solidFill>
                <a:latin typeface="Calibri"/>
              </a:rPr>
              <a:t>▸  3-savol: tibbiy usulni sinash, ilmiy tadqiqot yoki suratga olish uchun rozilik qachon beriladi va uni qaytarib olish mumkinmi?</a:t>
            </a:r>
          </a:p>
          <a:p>
            <a:pPr>
              <a:spcAft>
                <a:spcPts val="1200"/>
              </a:spcAft>
            </a:pPr>
            <a:r>
              <a:rPr sz="2200">
                <a:solidFill>
                  <a:srgbClr val="1F2937"/>
                </a:solidFill>
                <a:latin typeface="Calibri"/>
              </a:rPr>
              <a:t>▸  Diqqat: xato qilish xavfi! Davolashga rozilik ≠ tajribaga rozilik. Majburiy tartibda ham tibbiy vositalar sinovi o‘tkazilmaydi.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186, 187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Axborotlangan rozilik (13-modda)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81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Shifokor bemorga holati, davolash maqsadi, usullari va muqobil usullarini tushunarli shaklda aytishi shart.</a:t>
            </a:r>
          </a:p>
          <a:p>
            <a:pPr>
              <a:spcAft>
                <a:spcPts val="800"/>
              </a:spcAft>
            </a:pPr>
            <a:r>
              <a:rPr sz="1800">
                <a:solidFill>
                  <a:srgbClr val="1F2937"/>
                </a:solidFill>
                <a:latin typeface="Calibri"/>
              </a:rPr>
              <a:t>▸  Davolash muddati, xavf, salbiy ta’sirlar va kutilayotgan natija ham aytiladi; bemorning ruhiy holati hisobga olinadi.</a:t>
            </a:r>
          </a:p>
          <a:p>
            <a:pPr>
              <a:spcAft>
                <a:spcPts val="800"/>
              </a:spcAft>
            </a:pPr>
            <a:r>
              <a:rPr sz="1800">
                <a:solidFill>
                  <a:srgbClr val="1F2937"/>
                </a:solidFill>
                <a:latin typeface="Calibri"/>
              </a:rPr>
              <a:t>▸  Axborot berilgani tibbiy hujjatga yoziladi; 14 yoshgacha bo‘lganlar uchun rozilikni qonuniy vakil beradi.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Holat va ruhiy holat tavsifi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Maqsad, usullar, muqobillar</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Muddat, xavf, salbiy ta’sir</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Kutilayotgan natija</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Hujjatga yozib qo‘yiladi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Rozilik olish zanjiri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187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Kim rozilik beradi? Voyaga yetmagan va layoqatsiz</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81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14 yoshgacha bo‘lganlar va muomalaga layoqatsiz deb topilganlar uchun davolashga rozilikni qonuniy vakil beradi.</a:t>
            </a:r>
          </a:p>
          <a:p>
            <a:pPr>
              <a:spcAft>
                <a:spcPts val="800"/>
              </a:spcAft>
            </a:pPr>
            <a:r>
              <a:rPr sz="1800">
                <a:solidFill>
                  <a:srgbClr val="1F2937"/>
                </a:solidFill>
                <a:latin typeface="Calibri"/>
              </a:rPr>
              <a:t>▸  Vakil shifokor ma’lumot bergandan keyingina rozilik beradi. Ma’lumot berilgani tibbiy hujjatga yoziladi.</a:t>
            </a:r>
          </a:p>
          <a:p>
            <a:pPr>
              <a:spcAft>
                <a:spcPts val="800"/>
              </a:spcAft>
            </a:pPr>
            <a:r>
              <a:rPr sz="1800">
                <a:solidFill>
                  <a:srgbClr val="1F2937"/>
                </a:solidFill>
                <a:latin typeface="Calibri"/>
              </a:rPr>
              <a:t>▸  Psixiatrik tekshiruv ham so‘rov yoki rozilik bilan o‘tadi: 14 yoshgacha ota-ona yoki vakil, layoqatsizda vakil.</a:t>
            </a:r>
          </a:p>
        </p:txBody>
      </p:sp>
      <p:graphicFrame>
        <p:nvGraphicFramePr>
          <p:cNvPr id="9" name="Table 8"/>
          <p:cNvGraphicFramePr>
            <a:graphicFrameLocks noGrp="1"/>
          </p:cNvGraphicFramePr>
          <p:nvPr/>
        </p:nvGraphicFramePr>
        <p:xfrm>
          <a:off x="6263640" y="1463040"/>
          <a:ext cx="5287973" cy="1645920"/>
        </p:xfrm>
        <a:graphic>
          <a:graphicData uri="http://schemas.openxmlformats.org/drawingml/2006/table">
            <a:tbl>
              <a:tblPr firstRow="1" bandRow="1">
                <a:tableStyleId>{5C22544A-7EE6-4342-B048-85BDC9FD1C3A}</a:tableStyleId>
              </a:tblPr>
              <a:tblGrid>
                <a:gridCol w="1709244"/>
                <a:gridCol w="1549002"/>
                <a:gridCol w="2029727"/>
              </a:tblGrid>
              <a:tr h="411480">
                <a:tc>
                  <a:txBody>
                    <a:bodyPr/>
                    <a:lstStyle/>
                    <a:p>
                      <a:r>
                        <a:rPr sz="1300" b="1">
                          <a:solidFill>
                            <a:srgbClr val="FFFFFF"/>
                          </a:solidFill>
                        </a:rPr>
                        <a:t>Shaxs</a:t>
                      </a:r>
                    </a:p>
                  </a:txBody>
                  <a:tcPr marL="73152" marR="73152" marT="36576" marB="36576">
                    <a:solidFill>
                      <a:srgbClr val="0B1F3A"/>
                    </a:solidFill>
                  </a:tcPr>
                </a:tc>
                <a:tc>
                  <a:txBody>
                    <a:bodyPr/>
                    <a:lstStyle/>
                    <a:p>
                      <a:r>
                        <a:rPr sz="1300" b="1">
                          <a:solidFill>
                            <a:srgbClr val="FFFFFF"/>
                          </a:solidFill>
                        </a:rPr>
                        <a:t>Davolash</a:t>
                      </a:r>
                    </a:p>
                  </a:txBody>
                  <a:tcPr marL="73152" marR="73152" marT="36576" marB="36576">
                    <a:solidFill>
                      <a:srgbClr val="0B1F3A"/>
                    </a:solidFill>
                  </a:tcPr>
                </a:tc>
                <a:tc>
                  <a:txBody>
                    <a:bodyPr/>
                    <a:lstStyle/>
                    <a:p>
                      <a:r>
                        <a:rPr sz="1300" b="1">
                          <a:solidFill>
                            <a:srgbClr val="FFFFFF"/>
                          </a:solidFill>
                        </a:rPr>
                        <a:t>Tekshiruv</a:t>
                      </a:r>
                    </a:p>
                  </a:txBody>
                  <a:tcPr marL="73152" marR="73152" marT="36576" marB="36576">
                    <a:solidFill>
                      <a:srgbClr val="0B1F3A"/>
                    </a:solidFill>
                  </a:tcPr>
                </a:tc>
              </a:tr>
              <a:tr h="411480">
                <a:tc>
                  <a:txBody>
                    <a:bodyPr/>
                    <a:lstStyle/>
                    <a:p>
                      <a:r>
                        <a:rPr sz="1200" b="0">
                          <a:solidFill>
                            <a:srgbClr val="1F2937"/>
                          </a:solidFill>
                        </a:rPr>
                        <a:t>14 yoshgacha voyaga yetmagan</a:t>
                      </a:r>
                    </a:p>
                  </a:txBody>
                  <a:tcPr marL="73152" marR="73152" marT="36576" marB="36576">
                    <a:solidFill>
                      <a:srgbClr val="E8EEF6"/>
                    </a:solidFill>
                  </a:tcPr>
                </a:tc>
                <a:tc>
                  <a:txBody>
                    <a:bodyPr/>
                    <a:lstStyle/>
                    <a:p>
                      <a:r>
                        <a:rPr sz="1200" b="0">
                          <a:solidFill>
                            <a:srgbClr val="1F2937"/>
                          </a:solidFill>
                        </a:rPr>
                        <a:t>Qonuniy vakil beradi</a:t>
                      </a:r>
                    </a:p>
                  </a:txBody>
                  <a:tcPr marL="73152" marR="73152" marT="36576" marB="36576">
                    <a:solidFill>
                      <a:srgbClr val="E8EEF6"/>
                    </a:solidFill>
                  </a:tcPr>
                </a:tc>
                <a:tc>
                  <a:txBody>
                    <a:bodyPr/>
                    <a:lstStyle/>
                    <a:p>
                      <a:r>
                        <a:rPr sz="1200" b="0">
                          <a:solidFill>
                            <a:srgbClr val="1F2937"/>
                          </a:solidFill>
                        </a:rPr>
                        <a:t>Ota-ona yoki vakil iltimosi/roziligi</a:t>
                      </a:r>
                    </a:p>
                  </a:txBody>
                  <a:tcPr marL="73152" marR="73152" marT="36576" marB="36576">
                    <a:solidFill>
                      <a:srgbClr val="E8EEF6"/>
                    </a:solidFill>
                  </a:tcPr>
                </a:tc>
              </a:tr>
              <a:tr h="411480">
                <a:tc>
                  <a:txBody>
                    <a:bodyPr/>
                    <a:lstStyle/>
                    <a:p>
                      <a:r>
                        <a:rPr sz="1200" b="0">
                          <a:solidFill>
                            <a:srgbClr val="1F2937"/>
                          </a:solidFill>
                        </a:rPr>
                        <a:t>Layoqatsiz deb topilgan</a:t>
                      </a:r>
                    </a:p>
                  </a:txBody>
                  <a:tcPr marL="73152" marR="73152" marT="36576" marB="36576">
                    <a:solidFill>
                      <a:srgbClr val="FFFFFF"/>
                    </a:solidFill>
                  </a:tcPr>
                </a:tc>
                <a:tc>
                  <a:txBody>
                    <a:bodyPr/>
                    <a:lstStyle/>
                    <a:p>
                      <a:r>
                        <a:rPr sz="1200" b="0">
                          <a:solidFill>
                            <a:srgbClr val="1F2937"/>
                          </a:solidFill>
                        </a:rPr>
                        <a:t>Qonuniy vakil beradi</a:t>
                      </a:r>
                    </a:p>
                  </a:txBody>
                  <a:tcPr marL="73152" marR="73152" marT="36576" marB="36576">
                    <a:solidFill>
                      <a:srgbClr val="FFFFFF"/>
                    </a:solidFill>
                  </a:tcPr>
                </a:tc>
                <a:tc>
                  <a:txBody>
                    <a:bodyPr/>
                    <a:lstStyle/>
                    <a:p>
                      <a:r>
                        <a:rPr sz="1200" b="0">
                          <a:solidFill>
                            <a:srgbClr val="1F2937"/>
                          </a:solidFill>
                        </a:rPr>
                        <a:t>Vakil iltimosi yoki roziligi bilan</a:t>
                      </a:r>
                    </a:p>
                  </a:txBody>
                  <a:tcPr marL="73152" marR="73152" marT="36576" marB="36576">
                    <a:solidFill>
                      <a:srgbClr val="FFFFFF"/>
                    </a:solidFill>
                  </a:tcPr>
                </a:tc>
              </a:tr>
              <a:tr h="411480">
                <a:tc>
                  <a:txBody>
                    <a:bodyPr/>
                    <a:lstStyle/>
                    <a:p>
                      <a:r>
                        <a:rPr sz="1200" b="0">
                          <a:solidFill>
                            <a:srgbClr val="1F2937"/>
                          </a:solidFill>
                        </a:rPr>
                        <a:t>Ota-ona e’tirozi yoki vakil yo‘q</a:t>
                      </a:r>
                    </a:p>
                  </a:txBody>
                  <a:tcPr marL="73152" marR="73152" marT="36576" marB="36576">
                    <a:solidFill>
                      <a:srgbClr val="E8EEF6"/>
                    </a:solidFill>
                  </a:tcPr>
                </a:tc>
                <a:tc>
                  <a:txBody>
                    <a:bodyPr/>
                    <a:lstStyle/>
                    <a:p>
                      <a:r>
                        <a:rPr sz="1200" b="0">
                          <a:solidFill>
                            <a:srgbClr val="1F2937"/>
                          </a:solidFill>
                        </a:rPr>
                        <a:t>Bu qoida tekshiruvga tegishli</a:t>
                      </a:r>
                    </a:p>
                  </a:txBody>
                  <a:tcPr marL="73152" marR="73152" marT="36576" marB="36576">
                    <a:solidFill>
                      <a:srgbClr val="E8EEF6"/>
                    </a:solidFill>
                  </a:tcPr>
                </a:tc>
                <a:tc>
                  <a:txBody>
                    <a:bodyPr/>
                    <a:lstStyle/>
                    <a:p>
                      <a:r>
                        <a:rPr sz="1200" b="0">
                          <a:solidFill>
                            <a:srgbClr val="1F2937"/>
                          </a:solidFill>
                        </a:rPr>
                        <a:t>Vasiylik organi qarori; sudga shikoyat</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Rozilik kimdan olinadi (13 va 20-moddalar)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187, 188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Rozilliksiz davolash chegarasi va taqiqlar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81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Rozilliksiz davolash faqat qonunda belgilangan holda: tibbiy majburlov yoki g‘ayriixtiyoriy yotqizishda.</a:t>
            </a:r>
          </a:p>
          <a:p>
            <a:pPr>
              <a:spcAft>
                <a:spcPts val="800"/>
              </a:spcAft>
            </a:pPr>
            <a:r>
              <a:rPr sz="1800">
                <a:solidFill>
                  <a:srgbClr val="1F2937"/>
                </a:solidFill>
                <a:latin typeface="Calibri"/>
              </a:rPr>
              <a:t>▸  Bunday shaxslarda jarrohlik va qaytmas oqibat keltiradigan boshqa usullar qo‘llanmaydi.</a:t>
            </a:r>
          </a:p>
          <a:p>
            <a:pPr>
              <a:spcAft>
                <a:spcPts val="800"/>
              </a:spcAft>
            </a:pPr>
            <a:r>
              <a:rPr sz="1800">
                <a:solidFill>
                  <a:srgbClr val="1F2937"/>
                </a:solidFill>
                <a:latin typeface="Calibri"/>
              </a:rPr>
              <a:t>▸  Ularda tibbiy vosita va usullarning sinovlarini o‘tkazish ham mumkin emas.</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3070437"/>
                <a:gridCol w="2217537"/>
              </a:tblGrid>
              <a:tr h="411480">
                <a:tc>
                  <a:txBody>
                    <a:bodyPr/>
                    <a:lstStyle/>
                    <a:p>
                      <a:r>
                        <a:rPr sz="1400" b="1">
                          <a:solidFill>
                            <a:srgbClr val="FFFFFF"/>
                          </a:solidFill>
                        </a:rPr>
                        <a:t>Chora</a:t>
                      </a:r>
                    </a:p>
                  </a:txBody>
                  <a:tcPr marL="73152" marR="73152" marT="36576" marB="36576">
                    <a:solidFill>
                      <a:srgbClr val="0B1F3A"/>
                    </a:solidFill>
                  </a:tcPr>
                </a:tc>
                <a:tc>
                  <a:txBody>
                    <a:bodyPr/>
                    <a:lstStyle/>
                    <a:p>
                      <a:r>
                        <a:rPr sz="1400" b="1">
                          <a:solidFill>
                            <a:srgbClr val="FFFFFF"/>
                          </a:solidFill>
                        </a:rPr>
                        <a:t>Holat</a:t>
                      </a:r>
                    </a:p>
                  </a:txBody>
                  <a:tcPr marL="73152" marR="73152" marT="36576" marB="36576">
                    <a:solidFill>
                      <a:srgbClr val="0B1F3A"/>
                    </a:solidFill>
                  </a:tcPr>
                </a:tc>
              </a:tr>
              <a:tr h="411480">
                <a:tc>
                  <a:txBody>
                    <a:bodyPr/>
                    <a:lstStyle/>
                    <a:p>
                      <a:r>
                        <a:rPr sz="1300" b="0">
                          <a:solidFill>
                            <a:srgbClr val="1F2937"/>
                          </a:solidFill>
                        </a:rPr>
                        <a:t>Majburlov, g‘ayriixtiyoriy yotqizish</a:t>
                      </a:r>
                    </a:p>
                  </a:txBody>
                  <a:tcPr marL="73152" marR="73152" marT="36576" marB="36576">
                    <a:solidFill>
                      <a:srgbClr val="E8EEF6"/>
                    </a:solidFill>
                  </a:tcPr>
                </a:tc>
                <a:tc>
                  <a:txBody>
                    <a:bodyPr/>
                    <a:lstStyle/>
                    <a:p>
                      <a:r>
                        <a:rPr sz="1300" b="0">
                          <a:solidFill>
                            <a:srgbClr val="1F2937"/>
                          </a:solidFill>
                        </a:rPr>
                        <a:t>Ruxsat: rozilik shart emas</a:t>
                      </a:r>
                    </a:p>
                  </a:txBody>
                  <a:tcPr marL="73152" marR="73152" marT="36576" marB="36576">
                    <a:solidFill>
                      <a:srgbClr val="E8EEF6"/>
                    </a:solidFill>
                  </a:tcPr>
                </a:tc>
              </a:tr>
              <a:tr h="411480">
                <a:tc>
                  <a:txBody>
                    <a:bodyPr/>
                    <a:lstStyle/>
                    <a:p>
                      <a:r>
                        <a:rPr sz="1300" b="0">
                          <a:solidFill>
                            <a:srgbClr val="1F2937"/>
                          </a:solidFill>
                        </a:rPr>
                        <a:t>Jarrohlik usullari</a:t>
                      </a:r>
                    </a:p>
                  </a:txBody>
                  <a:tcPr marL="73152" marR="73152" marT="36576" marB="36576">
                    <a:solidFill>
                      <a:srgbClr val="FFFFFF"/>
                    </a:solidFill>
                  </a:tcPr>
                </a:tc>
                <a:tc>
                  <a:txBody>
                    <a:bodyPr/>
                    <a:lstStyle/>
                    <a:p>
                      <a:r>
                        <a:rPr sz="1300" b="0">
                          <a:solidFill>
                            <a:srgbClr val="1F2937"/>
                          </a:solidFill>
                        </a:rPr>
                        <a:t>Taqiq</a:t>
                      </a:r>
                    </a:p>
                  </a:txBody>
                  <a:tcPr marL="73152" marR="73152" marT="36576" marB="36576">
                    <a:solidFill>
                      <a:srgbClr val="FFFFFF"/>
                    </a:solidFill>
                  </a:tcPr>
                </a:tc>
              </a:tr>
              <a:tr h="411480">
                <a:tc>
                  <a:txBody>
                    <a:bodyPr/>
                    <a:lstStyle/>
                    <a:p>
                      <a:r>
                        <a:rPr sz="1300" b="0">
                          <a:solidFill>
                            <a:srgbClr val="1F2937"/>
                          </a:solidFill>
                        </a:rPr>
                        <a:t>Qaytmas oqibatli usullar</a:t>
                      </a:r>
                    </a:p>
                  </a:txBody>
                  <a:tcPr marL="73152" marR="73152" marT="36576" marB="36576">
                    <a:solidFill>
                      <a:srgbClr val="E8EEF6"/>
                    </a:solidFill>
                  </a:tcPr>
                </a:tc>
                <a:tc>
                  <a:txBody>
                    <a:bodyPr/>
                    <a:lstStyle/>
                    <a:p>
                      <a:r>
                        <a:rPr sz="1300" b="0">
                          <a:solidFill>
                            <a:srgbClr val="1F2937"/>
                          </a:solidFill>
                        </a:rPr>
                        <a:t>Taqiq</a:t>
                      </a:r>
                    </a:p>
                  </a:txBody>
                  <a:tcPr marL="73152" marR="73152" marT="36576" marB="36576">
                    <a:solidFill>
                      <a:srgbClr val="E8EEF6"/>
                    </a:solidFill>
                  </a:tcPr>
                </a:tc>
              </a:tr>
              <a:tr h="411480">
                <a:tc>
                  <a:txBody>
                    <a:bodyPr/>
                    <a:lstStyle/>
                    <a:p>
                      <a:r>
                        <a:rPr sz="1300" b="0">
                          <a:solidFill>
                            <a:srgbClr val="1F2937"/>
                          </a:solidFill>
                        </a:rPr>
                        <a:t>Tibbiy vosita/usul sinovlari</a:t>
                      </a:r>
                    </a:p>
                  </a:txBody>
                  <a:tcPr marL="73152" marR="73152" marT="36576" marB="36576">
                    <a:solidFill>
                      <a:srgbClr val="FFFFFF"/>
                    </a:solidFill>
                  </a:tcPr>
                </a:tc>
                <a:tc>
                  <a:txBody>
                    <a:bodyPr/>
                    <a:lstStyle/>
                    <a:p>
                      <a:r>
                        <a:rPr sz="1300" b="0">
                          <a:solidFill>
                            <a:srgbClr val="1F2937"/>
                          </a:solidFill>
                        </a:rPr>
                        <a:t>Taqiq</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Ruxsat va taqiq (13-modda)</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187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Davolanishni rad etish (14-modda)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81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Bemor yoki qonuniy vakili taklif etilgan davolanishni rad etish yoki to‘xtatish huquqiga ega.</a:t>
            </a:r>
          </a:p>
          <a:p>
            <a:pPr>
              <a:spcAft>
                <a:spcPts val="800"/>
              </a:spcAft>
            </a:pPr>
            <a:r>
              <a:rPr sz="1800">
                <a:solidFill>
                  <a:srgbClr val="1F2937"/>
                </a:solidFill>
                <a:latin typeface="Calibri"/>
              </a:rPr>
              <a:t>▸  Istisno: 13-modda to‘rtinchi qismidagi holatlar (majburlov, g‘ayriixtiyoriy yotqizish).</a:t>
            </a:r>
          </a:p>
          <a:p>
            <a:pPr>
              <a:spcAft>
                <a:spcPts val="800"/>
              </a:spcAft>
            </a:pPr>
            <a:r>
              <a:rPr sz="1800">
                <a:solidFill>
                  <a:srgbClr val="1F2937"/>
                </a:solidFill>
                <a:latin typeface="Calibri"/>
              </a:rPr>
              <a:t>▸  Rad etganga oqibatlar tushuntiriladi, hujjatga yoziladi va imzo bilan tasdiqlanadi. (?)</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Rad etish yoki to‘xtatish</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Oqibatlari tushuntiriladi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Oqibatlar hujjatga yoziladi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Bemor/vakil imzo qo‘yadi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Shifokor-psixiatr imzo qo‘yadi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Rad etish tartibi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187, 187-188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Shifokor mustaqilligi va psixiatrik tekshiruv</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81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Psixiatriya yordami paytida shifokor-psixiatr mustaqil qaror qabul qiladi. U faqat shifokorlik burchi va qonunga bo‘ysunadi (18-modda).</a:t>
            </a:r>
          </a:p>
          <a:p>
            <a:pPr>
              <a:spcAft>
                <a:spcPts val="1200"/>
              </a:spcAft>
            </a:pPr>
            <a:r>
              <a:rPr sz="2000">
                <a:solidFill>
                  <a:srgbClr val="1F2937"/>
                </a:solidFill>
                <a:latin typeface="Calibri"/>
              </a:rPr>
              <a:t>▸  Psixiatrning fikri tibbiy komissiya qaroriga mos kelmasa, u o‘z xulosasini berishga haqli. Bu xulosa tibbiy hujjatlarga qo‘shib qo‘yiladi.</a:t>
            </a:r>
          </a:p>
          <a:p>
            <a:pPr>
              <a:spcAft>
                <a:spcPts val="1200"/>
              </a:spcAft>
            </a:pPr>
            <a:r>
              <a:rPr sz="2000">
                <a:solidFill>
                  <a:srgbClr val="1F2937"/>
                </a:solidFill>
                <a:latin typeface="Calibri"/>
              </a:rPr>
              <a:t>▸  Tekshiruv ruhiy buzilish va yordam zarurligini aniqlash uchun o‘tkaziladi. U tekshiriluvchining iltimosi yoki roziligi bilan, 14 yoshgacha va layoqatsizlarda esa qonuniy vakil bilan bo‘ladi (20-modda).</a:t>
            </a:r>
          </a:p>
          <a:p>
            <a:pPr>
              <a:spcAft>
                <a:spcPts val="1200"/>
              </a:spcAft>
            </a:pPr>
            <a:r>
              <a:rPr sz="2000">
                <a:solidFill>
                  <a:srgbClr val="1F2937"/>
                </a:solidFill>
                <a:latin typeface="Calibri"/>
              </a:rPr>
              <a:t>▸  Ota-onadan biri e’tiroz bildirsa yoki qonuniy vakil bo‘lmasa, vasiylik va homiylik organi qaror qiladi. Bu qaror ustidan sudga shikoyat qilish mumkin.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188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Statsionardagi bemorlar huquqlari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81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Joylashtirish asoslari, maqsadlari, huquqlari va ichki qoidalar bemorga tushuntiriladi. Bu tibbiy hujjatga yoziladi.</a:t>
            </a:r>
          </a:p>
          <a:p>
            <a:pPr>
              <a:spcAft>
                <a:spcPts val="800"/>
              </a:spcAft>
            </a:pPr>
            <a:r>
              <a:rPr sz="1800">
                <a:solidFill>
                  <a:srgbClr val="1F2937"/>
                </a:solidFill>
                <a:latin typeface="Calibri"/>
              </a:rPr>
              <a:t>▸  Xat, telefon, jo‘natma va tashrif huquqlari shifokor tavsiyasi bilan cheklanishi mumkin.</a:t>
            </a:r>
          </a:p>
          <a:p>
            <a:pPr>
              <a:spcAft>
                <a:spcPts val="800"/>
              </a:spcAft>
            </a:pPr>
            <a:r>
              <a:rPr sz="1800">
                <a:solidFill>
                  <a:srgbClr val="1F2937"/>
                </a:solidFill>
                <a:latin typeface="Calibri"/>
              </a:rPr>
              <a:t>▸  Gazeta obunasi va telefon kabi pullik xizmatlar bemorning o‘z mablag‘i hisobidan to‘lanadi.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930530"/>
                <a:gridCol w="3357444"/>
              </a:tblGrid>
              <a:tr h="411480">
                <a:tc>
                  <a:txBody>
                    <a:bodyPr/>
                    <a:lstStyle/>
                    <a:p>
                      <a:r>
                        <a:rPr sz="1400" b="1">
                          <a:solidFill>
                            <a:srgbClr val="FFFFFF"/>
                          </a:solidFill>
                        </a:rPr>
                        <a:t>Huquq</a:t>
                      </a:r>
                    </a:p>
                  </a:txBody>
                  <a:tcPr marL="73152" marR="73152" marT="36576" marB="36576">
                    <a:solidFill>
                      <a:srgbClr val="0B1F3A"/>
                    </a:solidFill>
                  </a:tcPr>
                </a:tc>
                <a:tc>
                  <a:txBody>
                    <a:bodyPr/>
                    <a:lstStyle/>
                    <a:p>
                      <a:r>
                        <a:rPr sz="1400" b="1">
                          <a:solidFill>
                            <a:srgbClr val="FFFFFF"/>
                          </a:solidFill>
                        </a:rPr>
                        <a:t>Mazmuni</a:t>
                      </a:r>
                    </a:p>
                  </a:txBody>
                  <a:tcPr marL="73152" marR="73152" marT="36576" marB="36576">
                    <a:solidFill>
                      <a:srgbClr val="0B1F3A"/>
                    </a:solidFill>
                  </a:tcPr>
                </a:tc>
              </a:tr>
              <a:tr h="411480">
                <a:tc>
                  <a:txBody>
                    <a:bodyPr/>
                    <a:lstStyle/>
                    <a:p>
                      <a:r>
                        <a:rPr sz="1300" b="0">
                          <a:solidFill>
                            <a:srgbClr val="1F2937"/>
                          </a:solidFill>
                        </a:rPr>
                        <a:t>Murojaat va shikoyat</a:t>
                      </a:r>
                    </a:p>
                  </a:txBody>
                  <a:tcPr marL="73152" marR="73152" marT="36576" marB="36576">
                    <a:solidFill>
                      <a:srgbClr val="E8EEF6"/>
                    </a:solidFill>
                  </a:tcPr>
                </a:tc>
                <a:tc>
                  <a:txBody>
                    <a:bodyPr/>
                    <a:lstStyle/>
                    <a:p>
                      <a:r>
                        <a:rPr sz="1300" b="0">
                          <a:solidFill>
                            <a:srgbClr val="1F2937"/>
                          </a:solidFill>
                        </a:rPr>
                        <a:t>Bosh shifokor, bo‘lim mudiri, davlat organlari</a:t>
                      </a:r>
                    </a:p>
                  </a:txBody>
                  <a:tcPr marL="73152" marR="73152" marT="36576" marB="36576">
                    <a:solidFill>
                      <a:srgbClr val="E8EEF6"/>
                    </a:solidFill>
                  </a:tcPr>
                </a:tc>
              </a:tr>
              <a:tr h="411480">
                <a:tc>
                  <a:txBody>
                    <a:bodyPr/>
                    <a:lstStyle/>
                    <a:p>
                      <a:r>
                        <a:rPr sz="1300" b="0">
                          <a:solidFill>
                            <a:srgbClr val="1F2937"/>
                          </a:solidFill>
                        </a:rPr>
                        <a:t>Ruhoniy bilan uchrashuv</a:t>
                      </a:r>
                    </a:p>
                  </a:txBody>
                  <a:tcPr marL="73152" marR="73152" marT="36576" marB="36576">
                    <a:solidFill>
                      <a:srgbClr val="FFFFFF"/>
                    </a:solidFill>
                  </a:tcPr>
                </a:tc>
                <a:tc>
                  <a:txBody>
                    <a:bodyPr/>
                    <a:lstStyle/>
                    <a:p>
                      <a:r>
                        <a:rPr sz="1300" b="0">
                          <a:solidFill>
                            <a:srgbClr val="1F2937"/>
                          </a:solidFill>
                        </a:rPr>
                        <a:t>Yolg‘iz uchrashish huquqi</a:t>
                      </a:r>
                    </a:p>
                  </a:txBody>
                  <a:tcPr marL="73152" marR="73152" marT="36576" marB="36576">
                    <a:solidFill>
                      <a:srgbClr val="FFFFFF"/>
                    </a:solidFill>
                  </a:tcPr>
                </a:tc>
              </a:tr>
              <a:tr h="411480">
                <a:tc>
                  <a:txBody>
                    <a:bodyPr/>
                    <a:lstStyle/>
                    <a:p>
                      <a:r>
                        <a:rPr sz="1300" b="0">
                          <a:solidFill>
                            <a:srgbClr val="1F2937"/>
                          </a:solidFill>
                        </a:rPr>
                        <a:t>Ta’lim va mehnat haqi</a:t>
                      </a:r>
                    </a:p>
                  </a:txBody>
                  <a:tcPr marL="73152" marR="73152" marT="36576" marB="36576">
                    <a:solidFill>
                      <a:srgbClr val="E8EEF6"/>
                    </a:solidFill>
                  </a:tcPr>
                </a:tc>
                <a:tc>
                  <a:txBody>
                    <a:bodyPr/>
                    <a:lstStyle/>
                    <a:p>
                      <a:r>
                        <a:rPr sz="1300" b="0">
                          <a:solidFill>
                            <a:srgbClr val="1F2937"/>
                          </a:solidFill>
                        </a:rPr>
                        <a:t>18 yoshgacha ta’lim; mehnat uchun teng haq</a:t>
                      </a:r>
                    </a:p>
                  </a:txBody>
                  <a:tcPr marL="73152" marR="73152" marT="36576" marB="36576">
                    <a:solidFill>
                      <a:srgbClr val="E8EEF6"/>
                    </a:solidFill>
                  </a:tcPr>
                </a:tc>
              </a:tr>
              <a:tr h="411480">
                <a:tc>
                  <a:txBody>
                    <a:bodyPr/>
                    <a:lstStyle/>
                    <a:p>
                      <a:r>
                        <a:rPr sz="1300" b="0">
                          <a:solidFill>
                            <a:srgbClr val="1F2937"/>
                          </a:solidFill>
                        </a:rPr>
                        <a:t>Xat va telefon</a:t>
                      </a:r>
                    </a:p>
                  </a:txBody>
                  <a:tcPr marL="73152" marR="73152" marT="36576" marB="36576">
                    <a:solidFill>
                      <a:srgbClr val="FFFFFF"/>
                    </a:solidFill>
                  </a:tcPr>
                </a:tc>
                <a:tc>
                  <a:txBody>
                    <a:bodyPr/>
                    <a:lstStyle/>
                    <a:p>
                      <a:r>
                        <a:rPr sz="1300" b="0">
                          <a:solidFill>
                            <a:srgbClr val="1F2937"/>
                          </a:solidFill>
                        </a:rPr>
                        <a:t>Xat, telefon, tashrif; cheklanishi mumkin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Statsionar huquqlari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188, 189</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3: rozilik va rad etish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81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davolanayotgan bemor davolanishni rad etdi, uning qonuniy vakili esa davolanishga rozilik bildirmoqda.</a:t>
            </a:r>
          </a:p>
          <a:p>
            <a:pPr>
              <a:spcAft>
                <a:spcPts val="1200"/>
              </a:spcAft>
            </a:pPr>
            <a:r>
              <a:rPr sz="2200">
                <a:solidFill>
                  <a:srgbClr val="1F2937"/>
                </a:solidFill>
                <a:latin typeface="Calibri"/>
              </a:rPr>
              <a:t>▸  Rozilikni vakil 14 yoshgacha bo‘lgan yoki layoqatsiz deb topilgan shaxs uchun, ma’lumot berilgach, beradi. Bemor yoki vakil davolanishni rad etishga ham haqli.</a:t>
            </a:r>
          </a:p>
          <a:p>
            <a:pPr>
              <a:spcAft>
                <a:spcPts val="1200"/>
              </a:spcAft>
            </a:pPr>
            <a:r>
              <a:rPr sz="2200">
                <a:solidFill>
                  <a:srgbClr val="1F2937"/>
                </a:solidFill>
                <a:latin typeface="Calibri"/>
              </a:rPr>
              <a:t>▸  Rad etishda shifokor oqibatlarni tushuntiradi, bu hujjatga yoziladi va imzolanadi. Istisno: majburlov choralari va g‘ayriixtiyoriy statsionar.</a:t>
            </a:r>
          </a:p>
          <a:p>
            <a:pPr>
              <a:spcAft>
                <a:spcPts val="1200"/>
              </a:spcAft>
            </a:pPr>
            <a:r>
              <a:rPr sz="2200">
                <a:solidFill>
                  <a:srgbClr val="1F2937"/>
                </a:solidFill>
                <a:latin typeface="Calibri"/>
              </a:rPr>
              <a:t>▸  Savol: layoqatli bemor rad etsa, vakilning roziligi hal qiluvchimi? Manbada bunday to‘qnashuv aniq yozilmagan, xulosa mantiqiy. (?)</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187, 188, 187-188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Narkologiyaning etik tamoyillari va normalari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81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Narkologiyada to‘rt tamoyil ajratiladi: shaxsiy qaramlik, zarar yetkazmaslik, xayrixohlik va adolat.</a:t>
            </a:r>
          </a:p>
          <a:p>
            <a:pPr>
              <a:spcAft>
                <a:spcPts val="800"/>
              </a:spcAft>
            </a:pPr>
            <a:r>
              <a:rPr sz="1800">
                <a:solidFill>
                  <a:srgbClr val="1F2937"/>
                </a:solidFill>
                <a:latin typeface="Calibri"/>
              </a:rPr>
              <a:t>▸  Bioetik me’yorlar: rostgo‘ylik, xolislik, maxfiylik va kompetentlik (professionalizm).</a:t>
            </a:r>
          </a:p>
          <a:p>
            <a:pPr>
              <a:spcAft>
                <a:spcPts val="800"/>
              </a:spcAft>
            </a:pPr>
            <a:r>
              <a:rPr sz="1800">
                <a:solidFill>
                  <a:srgbClr val="1F2937"/>
                </a:solidFill>
                <a:latin typeface="Calibri"/>
              </a:rPr>
              <a:t>▸  Diqqat: xayrixohlik ≠ bemor mustaqilligi. Narkolog qadriyatni o‘zi tanlasa, bemor qaramligi e’tibordan chetda qoladi.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641095"/>
                <a:gridCol w="3646879"/>
              </a:tblGrid>
              <a:tr h="411480">
                <a:tc>
                  <a:txBody>
                    <a:bodyPr/>
                    <a:lstStyle/>
                    <a:p>
                      <a:r>
                        <a:rPr sz="1400" b="1">
                          <a:solidFill>
                            <a:srgbClr val="FFFFFF"/>
                          </a:solidFill>
                        </a:rPr>
                        <a:t>Tamoyil</a:t>
                      </a:r>
                    </a:p>
                  </a:txBody>
                  <a:tcPr marL="73152" marR="73152" marT="36576" marB="36576">
                    <a:solidFill>
                      <a:srgbClr val="0B1F3A"/>
                    </a:solidFill>
                  </a:tcPr>
                </a:tc>
                <a:tc>
                  <a:txBody>
                    <a:bodyPr/>
                    <a:lstStyle/>
                    <a:p>
                      <a:r>
                        <a:rPr sz="1400" b="1">
                          <a:solidFill>
                            <a:srgbClr val="FFFFFF"/>
                          </a:solidFill>
                        </a:rPr>
                        <a:t>Asosiy muammo</a:t>
                      </a:r>
                    </a:p>
                  </a:txBody>
                  <a:tcPr marL="73152" marR="73152" marT="36576" marB="36576">
                    <a:solidFill>
                      <a:srgbClr val="0B1F3A"/>
                    </a:solidFill>
                  </a:tcPr>
                </a:tc>
              </a:tr>
              <a:tr h="411480">
                <a:tc>
                  <a:txBody>
                    <a:bodyPr/>
                    <a:lstStyle/>
                    <a:p>
                      <a:r>
                        <a:rPr sz="1300" b="0">
                          <a:solidFill>
                            <a:srgbClr val="1F2937"/>
                          </a:solidFill>
                        </a:rPr>
                        <a:t>Shaxsiy qaramlik</a:t>
                      </a:r>
                    </a:p>
                  </a:txBody>
                  <a:tcPr marL="73152" marR="73152" marT="36576" marB="36576">
                    <a:solidFill>
                      <a:srgbClr val="E8EEF6"/>
                    </a:solidFill>
                  </a:tcPr>
                </a:tc>
                <a:tc>
                  <a:txBody>
                    <a:bodyPr/>
                    <a:lstStyle/>
                    <a:p>
                      <a:r>
                        <a:rPr sz="1300" b="0">
                          <a:solidFill>
                            <a:srgbClr val="1F2937"/>
                          </a:solidFill>
                        </a:rPr>
                        <a:t>Ongli rozilik berish qiyin bo‘lishi mumkin</a:t>
                      </a:r>
                    </a:p>
                  </a:txBody>
                  <a:tcPr marL="73152" marR="73152" marT="36576" marB="36576">
                    <a:solidFill>
                      <a:srgbClr val="E8EEF6"/>
                    </a:solidFill>
                  </a:tcPr>
                </a:tc>
              </a:tr>
              <a:tr h="411480">
                <a:tc>
                  <a:txBody>
                    <a:bodyPr/>
                    <a:lstStyle/>
                    <a:p>
                      <a:r>
                        <a:rPr sz="1300" b="0">
                          <a:solidFill>
                            <a:srgbClr val="1F2937"/>
                          </a:solidFill>
                        </a:rPr>
                        <a:t>Zarar yetkazmaslik</a:t>
                      </a:r>
                    </a:p>
                  </a:txBody>
                  <a:tcPr marL="73152" marR="73152" marT="36576" marB="36576">
                    <a:solidFill>
                      <a:srgbClr val="FFFFFF"/>
                    </a:solidFill>
                  </a:tcPr>
                </a:tc>
                <a:tc>
                  <a:txBody>
                    <a:bodyPr/>
                    <a:lstStyle/>
                    <a:p>
                      <a:r>
                        <a:rPr sz="1300" b="0">
                          <a:solidFill>
                            <a:srgbClr val="1F2937"/>
                          </a:solidFill>
                        </a:rPr>
                        <a:t>Ba’zi dorilar samarasi to‘liq isbotlanmagan</a:t>
                      </a:r>
                    </a:p>
                  </a:txBody>
                  <a:tcPr marL="73152" marR="73152" marT="36576" marB="36576">
                    <a:solidFill>
                      <a:srgbClr val="FFFFFF"/>
                    </a:solidFill>
                  </a:tcPr>
                </a:tc>
              </a:tr>
              <a:tr h="411480">
                <a:tc>
                  <a:txBody>
                    <a:bodyPr/>
                    <a:lstStyle/>
                    <a:p>
                      <a:r>
                        <a:rPr sz="1300" b="0">
                          <a:solidFill>
                            <a:srgbClr val="1F2937"/>
                          </a:solidFill>
                        </a:rPr>
                        <a:t>Xayrixohlik</a:t>
                      </a:r>
                    </a:p>
                  </a:txBody>
                  <a:tcPr marL="73152" marR="73152" marT="36576" marB="36576">
                    <a:solidFill>
                      <a:srgbClr val="E8EEF6"/>
                    </a:solidFill>
                  </a:tcPr>
                </a:tc>
                <a:tc>
                  <a:txBody>
                    <a:bodyPr/>
                    <a:lstStyle/>
                    <a:p>
                      <a:r>
                        <a:rPr sz="1300" b="0">
                          <a:solidFill>
                            <a:srgbClr val="1F2937"/>
                          </a:solidFill>
                        </a:rPr>
                        <a:t>Bemor mustaqilligi nazardan chetda qoladi</a:t>
                      </a:r>
                    </a:p>
                  </a:txBody>
                  <a:tcPr marL="73152" marR="73152" marT="36576" marB="36576">
                    <a:solidFill>
                      <a:srgbClr val="E8EEF6"/>
                    </a:solidFill>
                  </a:tcPr>
                </a:tc>
              </a:tr>
              <a:tr h="411480">
                <a:tc>
                  <a:txBody>
                    <a:bodyPr/>
                    <a:lstStyle/>
                    <a:p>
                      <a:r>
                        <a:rPr sz="1300" b="0">
                          <a:solidFill>
                            <a:srgbClr val="1F2937"/>
                          </a:solidFill>
                        </a:rPr>
                        <a:t>Adolat</a:t>
                      </a:r>
                    </a:p>
                  </a:txBody>
                  <a:tcPr marL="73152" marR="73152" marT="36576" marB="36576">
                    <a:solidFill>
                      <a:srgbClr val="FFFFFF"/>
                    </a:solidFill>
                  </a:tcPr>
                </a:tc>
                <a:tc>
                  <a:txBody>
                    <a:bodyPr/>
                    <a:lstStyle/>
                    <a:p>
                      <a:r>
                        <a:rPr sz="1300" b="0">
                          <a:solidFill>
                            <a:srgbClr val="1F2937"/>
                          </a:solidFill>
                        </a:rPr>
                        <a:t>Bemorlarni ijtimoiy jihatdan himoyalash</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Narkologiya tamoyillari va ularning muammosi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189-190, 190, 189</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Narkologik yordam qonuni (2020) va asosiy tushunchalar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81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Qonun 2020-yil 22-iyulda qayta tahrirdan chiqdi; u narkologik yordam munosabatlarini tartibga soladi.</a:t>
            </a:r>
          </a:p>
          <a:p>
            <a:pPr>
              <a:spcAft>
                <a:spcPts val="800"/>
              </a:spcAft>
            </a:pPr>
            <a:r>
              <a:rPr sz="1800">
                <a:solidFill>
                  <a:srgbClr val="1F2937"/>
                </a:solidFill>
                <a:latin typeface="Calibri"/>
              </a:rPr>
              <a:t>▸  4-modda tamoyillari: maxfiylik, ijtimoiy himoyalanganlik, shafqat, insonparvarlik; birinchisi matnda noaniq. (?)</a:t>
            </a:r>
          </a:p>
          <a:p>
            <a:pPr>
              <a:spcAft>
                <a:spcPts val="800"/>
              </a:spcAft>
            </a:pPr>
            <a:r>
              <a:rPr sz="1800">
                <a:solidFill>
                  <a:srgbClr val="1F2937"/>
                </a:solidFill>
                <a:latin typeface="Calibri"/>
              </a:rPr>
              <a:t>▸  Narkologik kasallik ruhiy, jismoniy va ijtimoiy oqibatlar bilan tavsiflanadigan surunkali kasallikdir.</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702907"/>
                <a:gridCol w="3585067"/>
              </a:tblGrid>
              <a:tr h="411480">
                <a:tc>
                  <a:txBody>
                    <a:bodyPr/>
                    <a:lstStyle/>
                    <a:p>
                      <a:r>
                        <a:rPr sz="1400" b="1">
                          <a:solidFill>
                            <a:srgbClr val="FFFFFF"/>
                          </a:solidFill>
                        </a:rPr>
                        <a:t>Tushuncha</a:t>
                      </a:r>
                    </a:p>
                  </a:txBody>
                  <a:tcPr marL="73152" marR="73152" marT="36576" marB="36576">
                    <a:solidFill>
                      <a:srgbClr val="0B1F3A"/>
                    </a:solidFill>
                  </a:tcPr>
                </a:tc>
                <a:tc>
                  <a:txBody>
                    <a:bodyPr/>
                    <a:lstStyle/>
                    <a:p>
                      <a:r>
                        <a:rPr sz="1400" b="1">
                          <a:solidFill>
                            <a:srgbClr val="FFFFFF"/>
                          </a:solidFill>
                        </a:rPr>
                        <a:t>Ma’nosi</a:t>
                      </a:r>
                    </a:p>
                  </a:txBody>
                  <a:tcPr marL="73152" marR="73152" marT="36576" marB="36576">
                    <a:solidFill>
                      <a:srgbClr val="0B1F3A"/>
                    </a:solidFill>
                  </a:tcPr>
                </a:tc>
              </a:tr>
              <a:tr h="411480">
                <a:tc>
                  <a:txBody>
                    <a:bodyPr/>
                    <a:lstStyle/>
                    <a:p>
                      <a:r>
                        <a:rPr sz="1300" b="0">
                          <a:solidFill>
                            <a:srgbClr val="1F2937"/>
                          </a:solidFill>
                        </a:rPr>
                        <a:t>Majburiy davolash</a:t>
                      </a:r>
                    </a:p>
                  </a:txBody>
                  <a:tcPr marL="73152" marR="73152" marT="36576" marB="36576">
                    <a:solidFill>
                      <a:srgbClr val="E8EEF6"/>
                    </a:solidFill>
                  </a:tcPr>
                </a:tc>
                <a:tc>
                  <a:txBody>
                    <a:bodyPr/>
                    <a:lstStyle/>
                    <a:p>
                      <a:r>
                        <a:rPr sz="1300" b="0">
                          <a:solidFill>
                            <a:srgbClr val="1F2937"/>
                          </a:solidFill>
                        </a:rPr>
                        <a:t>Sud qarori asosida maxsus muassasada</a:t>
                      </a:r>
                    </a:p>
                  </a:txBody>
                  <a:tcPr marL="73152" marR="73152" marT="36576" marB="36576">
                    <a:solidFill>
                      <a:srgbClr val="E8EEF6"/>
                    </a:solidFill>
                  </a:tcPr>
                </a:tc>
              </a:tr>
              <a:tr h="411480">
                <a:tc>
                  <a:txBody>
                    <a:bodyPr/>
                    <a:lstStyle/>
                    <a:p>
                      <a:r>
                        <a:rPr sz="1300" b="0">
                          <a:solidFill>
                            <a:srgbClr val="1F2937"/>
                          </a:solidFill>
                        </a:rPr>
                        <a:t>Narkologik yordam</a:t>
                      </a:r>
                    </a:p>
                  </a:txBody>
                  <a:tcPr marL="73152" marR="73152" marT="36576" marB="36576">
                    <a:solidFill>
                      <a:srgbClr val="FFFFFF"/>
                    </a:solidFill>
                  </a:tcPr>
                </a:tc>
                <a:tc>
                  <a:txBody>
                    <a:bodyPr/>
                    <a:lstStyle/>
                    <a:p>
                      <a:r>
                        <a:rPr sz="1300" b="0">
                          <a:solidFill>
                            <a:srgbClr val="1F2937"/>
                          </a:solidFill>
                        </a:rPr>
                        <a:t>Profilaktika, davolash, reabilitatsiya</a:t>
                      </a:r>
                    </a:p>
                  </a:txBody>
                  <a:tcPr marL="73152" marR="73152" marT="36576" marB="36576">
                    <a:solidFill>
                      <a:srgbClr val="FFFFFF"/>
                    </a:solidFill>
                  </a:tcPr>
                </a:tc>
              </a:tr>
              <a:tr h="411480">
                <a:tc>
                  <a:txBody>
                    <a:bodyPr/>
                    <a:lstStyle/>
                    <a:p>
                      <a:r>
                        <a:rPr sz="1300" b="0">
                          <a:solidFill>
                            <a:srgbClr val="1F2937"/>
                          </a:solidFill>
                        </a:rPr>
                        <a:t>Narkologik kasallik</a:t>
                      </a:r>
                    </a:p>
                  </a:txBody>
                  <a:tcPr marL="73152" marR="73152" marT="36576" marB="36576">
                    <a:solidFill>
                      <a:srgbClr val="E8EEF6"/>
                    </a:solidFill>
                  </a:tcPr>
                </a:tc>
                <a:tc>
                  <a:txBody>
                    <a:bodyPr/>
                    <a:lstStyle/>
                    <a:p>
                      <a:r>
                        <a:rPr sz="1300" b="0">
                          <a:solidFill>
                            <a:srgbClr val="1F2937"/>
                          </a:solidFill>
                        </a:rPr>
                        <a:t>Psixoaktiv moddalarga patologik ruju qo‘yish</a:t>
                      </a:r>
                    </a:p>
                  </a:txBody>
                  <a:tcPr marL="73152" marR="73152" marT="36576" marB="36576">
                    <a:solidFill>
                      <a:srgbClr val="E8EEF6"/>
                    </a:solidFill>
                  </a:tcPr>
                </a:tc>
              </a:tr>
              <a:tr h="411480">
                <a:tc>
                  <a:txBody>
                    <a:bodyPr/>
                    <a:lstStyle/>
                    <a:p>
                      <a:r>
                        <a:rPr sz="1300" b="0">
                          <a:solidFill>
                            <a:srgbClr val="1F2937"/>
                          </a:solidFill>
                        </a:rPr>
                        <a:t>Narkologik bemor</a:t>
                      </a:r>
                    </a:p>
                  </a:txBody>
                  <a:tcPr marL="73152" marR="73152" marT="36576" marB="36576">
                    <a:solidFill>
                      <a:srgbClr val="FFFFFF"/>
                    </a:solidFill>
                  </a:tcPr>
                </a:tc>
                <a:tc>
                  <a:txBody>
                    <a:bodyPr/>
                    <a:lstStyle/>
                    <a:p>
                      <a:r>
                        <a:rPr sz="1300" b="0">
                          <a:solidFill>
                            <a:srgbClr val="1F2937"/>
                          </a:solidFill>
                        </a:rPr>
                        <a:t>Tashxis narkolog shifokor tomonidan qo‘yilgan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Qonundagi asosiy tushunchalar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190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Narkologik bemor huquqlari va yozma rozilik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81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Huquqlar: axborot olish, davolash rejasida qatnashish, yozma shartnoma tuzish va davolashni rad etish.</a:t>
            </a:r>
          </a:p>
          <a:p>
            <a:pPr>
              <a:spcAft>
                <a:spcPts val="800"/>
              </a:spcAft>
            </a:pPr>
            <a:r>
              <a:rPr sz="1800">
                <a:solidFill>
                  <a:srgbClr val="1F2937"/>
                </a:solidFill>
                <a:latin typeface="Calibri"/>
              </a:rPr>
              <a:t>▸  14 yoshdan katta voyaga yetmaganlar yozma rozilikni o‘zlari beradi yoki rad etadi.</a:t>
            </a:r>
          </a:p>
          <a:p>
            <a:pPr>
              <a:spcAft>
                <a:spcPts val="800"/>
              </a:spcAft>
            </a:pPr>
            <a:r>
              <a:rPr sz="1800">
                <a:solidFill>
                  <a:srgbClr val="1F2937"/>
                </a:solidFill>
                <a:latin typeface="Calibri"/>
              </a:rPr>
              <a:t>▸  Rozilliksiz yordam: xavfli psixoz yoki kechiktirib bo‘lmas hayotiy ko‘rsatma bo‘lganda.</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Shifokor axborot beradi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Yozma rozilik olinadi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Hujjatga qo‘shib qo‘yiladi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Davolash amalga oshiriladi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Istalgan bosqichda rad etish</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Yozma rozilik zanjiri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191, 192</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Majburiy davolash: asoslar, shartlar va huquqlar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81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Chiqish faqat davolash-tashxis tadbirlari yoki mehnat terapiyasi uchun, muassasa xodimlari kuzatuvida ruxsat etiladi.</a:t>
            </a:r>
          </a:p>
          <a:p>
            <a:pPr>
              <a:spcAft>
                <a:spcPts val="800"/>
              </a:spcAft>
            </a:pPr>
            <a:r>
              <a:rPr sz="1800">
                <a:solidFill>
                  <a:srgbClr val="1F2937"/>
                </a:solidFill>
                <a:latin typeface="Calibri"/>
              </a:rPr>
              <a:t>▸  Huquqlar: qarindoshlar bilan uchrashuv, cheklovsiz xat, kunlik sayr, diniy urf-odat, shikoyat qilish.</a:t>
            </a:r>
          </a:p>
          <a:p>
            <a:pPr>
              <a:spcAft>
                <a:spcPts val="800"/>
              </a:spcAft>
            </a:pPr>
            <a:r>
              <a:rPr sz="1800">
                <a:solidFill>
                  <a:srgbClr val="1F2937"/>
                </a:solidFill>
                <a:latin typeface="Calibri"/>
              </a:rPr>
              <a:t>▸  Majburiyatlar: ichki tartibga rioya, buyurilgan davoni qabul qilish, mol-mulk va tozalikni asrash.</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1510850"/>
                <a:gridCol w="3777125"/>
              </a:tblGrid>
              <a:tr h="411480">
                <a:tc>
                  <a:txBody>
                    <a:bodyPr/>
                    <a:lstStyle/>
                    <a:p>
                      <a:r>
                        <a:rPr sz="1400" b="1">
                          <a:solidFill>
                            <a:srgbClr val="FFFFFF"/>
                          </a:solidFill>
                        </a:rPr>
                        <a:t>Jihat</a:t>
                      </a:r>
                    </a:p>
                  </a:txBody>
                  <a:tcPr marL="73152" marR="73152" marT="36576" marB="36576">
                    <a:solidFill>
                      <a:srgbClr val="0B1F3A"/>
                    </a:solidFill>
                  </a:tcPr>
                </a:tc>
                <a:tc>
                  <a:txBody>
                    <a:bodyPr/>
                    <a:lstStyle/>
                    <a:p>
                      <a:r>
                        <a:rPr sz="1400" b="1">
                          <a:solidFill>
                            <a:srgbClr val="FFFFFF"/>
                          </a:solidFill>
                        </a:rPr>
                        <a:t>Qoida</a:t>
                      </a:r>
                    </a:p>
                  </a:txBody>
                  <a:tcPr marL="73152" marR="73152" marT="36576" marB="36576">
                    <a:solidFill>
                      <a:srgbClr val="0B1F3A"/>
                    </a:solidFill>
                  </a:tcPr>
                </a:tc>
              </a:tr>
              <a:tr h="411480">
                <a:tc>
                  <a:txBody>
                    <a:bodyPr/>
                    <a:lstStyle/>
                    <a:p>
                      <a:r>
                        <a:rPr sz="1300" b="0">
                          <a:solidFill>
                            <a:srgbClr val="1F2937"/>
                          </a:solidFill>
                        </a:rPr>
                        <a:t>Asos</a:t>
                      </a:r>
                    </a:p>
                  </a:txBody>
                  <a:tcPr marL="73152" marR="73152" marT="36576" marB="36576">
                    <a:solidFill>
                      <a:srgbClr val="E8EEF6"/>
                    </a:solidFill>
                  </a:tcPr>
                </a:tc>
                <a:tc>
                  <a:txBody>
                    <a:bodyPr/>
                    <a:lstStyle/>
                    <a:p>
                      <a:r>
                        <a:rPr sz="1300" b="0">
                          <a:solidFill>
                            <a:srgbClr val="1F2937"/>
                          </a:solidFill>
                        </a:rPr>
                        <a:t>Sud qarori (25-modda)</a:t>
                      </a:r>
                    </a:p>
                  </a:txBody>
                  <a:tcPr marL="73152" marR="73152" marT="36576" marB="36576">
                    <a:solidFill>
                      <a:srgbClr val="E8EEF6"/>
                    </a:solidFill>
                  </a:tcPr>
                </a:tc>
              </a:tr>
              <a:tr h="411480">
                <a:tc>
                  <a:txBody>
                    <a:bodyPr/>
                    <a:lstStyle/>
                    <a:p>
                      <a:r>
                        <a:rPr sz="1300" b="0">
                          <a:solidFill>
                            <a:srgbClr val="1F2937"/>
                          </a:solidFill>
                        </a:rPr>
                        <a:t>Shart</a:t>
                      </a:r>
                    </a:p>
                  </a:txBody>
                  <a:tcPr marL="73152" marR="73152" marT="36576" marB="36576">
                    <a:solidFill>
                      <a:srgbClr val="FFFFFF"/>
                    </a:solidFill>
                  </a:tcPr>
                </a:tc>
                <a:tc>
                  <a:txBody>
                    <a:bodyPr/>
                    <a:lstStyle/>
                    <a:p>
                      <a:r>
                        <a:rPr sz="1300" b="0">
                          <a:solidFill>
                            <a:srgbClr val="1F2937"/>
                          </a:solidFill>
                        </a:rPr>
                        <a:t>Oldindan ogohlantirish + qayta javobgarlik</a:t>
                      </a:r>
                    </a:p>
                  </a:txBody>
                  <a:tcPr marL="73152" marR="73152" marT="36576" marB="36576">
                    <a:solidFill>
                      <a:srgbClr val="FFFFFF"/>
                    </a:solidFill>
                  </a:tcPr>
                </a:tc>
              </a:tr>
              <a:tr h="411480">
                <a:tc>
                  <a:txBody>
                    <a:bodyPr/>
                    <a:lstStyle/>
                    <a:p>
                      <a:r>
                        <a:rPr sz="1300" b="0">
                          <a:solidFill>
                            <a:srgbClr val="1F2937"/>
                          </a:solidFill>
                        </a:rPr>
                        <a:t>Nazorat</a:t>
                      </a:r>
                    </a:p>
                  </a:txBody>
                  <a:tcPr marL="73152" marR="73152" marT="36576" marB="36576">
                    <a:solidFill>
                      <a:srgbClr val="E8EEF6"/>
                    </a:solidFill>
                  </a:tcPr>
                </a:tc>
                <a:tc>
                  <a:txBody>
                    <a:bodyPr/>
                    <a:lstStyle/>
                    <a:p>
                      <a:r>
                        <a:rPr sz="1300" b="0">
                          <a:solidFill>
                            <a:srgbClr val="1F2937"/>
                          </a:solidFill>
                        </a:rPr>
                        <a:t>Doimiy; o‘zboshimcha ketish istisno</a:t>
                      </a:r>
                    </a:p>
                  </a:txBody>
                  <a:tcPr marL="73152" marR="73152" marT="36576" marB="36576">
                    <a:solidFill>
                      <a:srgbClr val="E8EEF6"/>
                    </a:solidFill>
                  </a:tcPr>
                </a:tc>
              </a:tr>
              <a:tr h="411480">
                <a:tc>
                  <a:txBody>
                    <a:bodyPr/>
                    <a:lstStyle/>
                    <a:p>
                      <a:r>
                        <a:rPr sz="1300" b="0">
                          <a:solidFill>
                            <a:srgbClr val="1F2937"/>
                          </a:solidFill>
                        </a:rPr>
                        <a:t>Palata</a:t>
                      </a:r>
                    </a:p>
                  </a:txBody>
                  <a:tcPr marL="73152" marR="73152" marT="36576" marB="36576">
                    <a:solidFill>
                      <a:srgbClr val="FFFFFF"/>
                    </a:solidFill>
                  </a:tcPr>
                </a:tc>
                <a:tc>
                  <a:txBody>
                    <a:bodyPr/>
                    <a:lstStyle/>
                    <a:p>
                      <a:r>
                        <a:rPr sz="1300" b="0">
                          <a:solidFill>
                            <a:srgbClr val="1F2937"/>
                          </a:solidFill>
                        </a:rPr>
                        <a:t>Har o‘ringa kamida 6 m²; ko‘pi bilan 4 o‘rin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Majburiy davolash bir qarashda</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194, 195, 195-196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Tibbiyot xodimlari majburiyatlari; psixoterapiya izohi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81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Xodim bemorga Konstitutsiya va qonunda mustahkamlangan huquqlari haqida to‘liq axborot berishi hamda uning huquq va qonuniy manfaatlariga rioya etishi shart.</a:t>
            </a:r>
          </a:p>
          <a:p>
            <a:pPr>
              <a:spcAft>
                <a:spcPts val="1200"/>
              </a:spcAft>
            </a:pPr>
            <a:r>
              <a:rPr sz="2000">
                <a:solidFill>
                  <a:srgbClr val="1F2937"/>
                </a:solidFill>
                <a:latin typeface="Calibri"/>
              </a:rPr>
              <a:t>▸  Davolashda faqat O‘zbekiston Respublikasi Sog‘liqni saqlash vazirligi ruxsat etgan vosita va usullar qo‘llanadi. Ular jazo vositasi bo‘la olmaydi.</a:t>
            </a:r>
          </a:p>
          <a:p>
            <a:pPr>
              <a:spcAft>
                <a:spcPts val="1200"/>
              </a:spcAft>
            </a:pPr>
            <a:r>
              <a:rPr sz="2000">
                <a:solidFill>
                  <a:srgbClr val="1F2937"/>
                </a:solidFill>
                <a:latin typeface="Calibri"/>
              </a:rPr>
              <a:t>▸  Xodim tekshiruv va davolashda olingan axborotni oshkor etmaydi (qonundagi holatlar bundan mustasno), bemor xavfsizligini ta’minlaydi va malakasini doimiy oshiradi.</a:t>
            </a:r>
          </a:p>
          <a:p>
            <a:pPr>
              <a:spcAft>
                <a:spcPts val="1200"/>
              </a:spcAft>
            </a:pPr>
            <a:r>
              <a:rPr sz="2000">
                <a:solidFill>
                  <a:srgbClr val="1F2937"/>
                </a:solidFill>
                <a:latin typeface="Calibri"/>
              </a:rPr>
              <a:t>▸  Psixoterapiya: manbada alohida bo‘lim yo‘q. Faqat psixoterapevtik texnologiyalar haqidagi ma’lumot kasallik tarixi yoki ambulatoriya kartasiga kiritilishi aytilgan. (?)</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196, 193, 196, 193</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4 va tezkor savol: narkologiya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81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psixoaktiv modda oqibatida o‘ziga va atrofdagilarga bevosita xavfli psixoz boshlandi; yozma rozilik olish imkoni yo‘q.</a:t>
            </a:r>
          </a:p>
          <a:p>
            <a:pPr>
              <a:spcAft>
                <a:spcPts val="1200"/>
              </a:spcAft>
            </a:pPr>
            <a:r>
              <a:rPr sz="2200">
                <a:solidFill>
                  <a:srgbClr val="1F2937"/>
                </a:solidFill>
                <a:latin typeface="Calibri"/>
              </a:rPr>
              <a:t>▸  Savol: qachon va kim qaror qiladi? Xavfli psixozda yoki kechiktirib bo‘lmaydigan holatda; qarorni ko‘rikdan o‘tkazgan narkolog yoki psixiatr qabul qiladi.</a:t>
            </a:r>
          </a:p>
          <a:p>
            <a:pPr>
              <a:spcAft>
                <a:spcPts val="1200"/>
              </a:spcAft>
            </a:pPr>
            <a:r>
              <a:rPr sz="2200">
                <a:solidFill>
                  <a:srgbClr val="1F2937"/>
                </a:solidFill>
                <a:latin typeface="Calibri"/>
              </a:rPr>
              <a:t>▸  Diqqat: rozilliksiz shoshilinch yordam ≠ sud qarori bilan majburiy davolash; asoslari va tartibi har xil.</a:t>
            </a:r>
          </a:p>
          <a:p>
            <a:pPr>
              <a:spcAft>
                <a:spcPts val="1200"/>
              </a:spcAft>
            </a:pPr>
            <a:r>
              <a:rPr sz="2200">
                <a:solidFill>
                  <a:srgbClr val="1F2937"/>
                </a:solidFill>
                <a:latin typeface="Calibri"/>
              </a:rPr>
              <a:t>▸  Tezkor savol 3: psixoz bartaraf etilgach davolash qanday davom etadi? Javob: bemor yoki qonuniy vakilning ixtiyoriy yozma roziligi bilan.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192, 192-193, 192-194, 193</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asosiy etik tamoyillar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81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Konstitutsiya sog‘lig‘i sababli huquqlarni cheklashga yo‘l qo‘ymaydi. Ruhiy yordam qonuniylik, rahm-shafqat va insonparvarlik tamoyillariga asoslanadi.</a:t>
            </a:r>
          </a:p>
          <a:p>
            <a:pPr>
              <a:spcAft>
                <a:spcPts val="1200"/>
              </a:spcAft>
            </a:pPr>
            <a:r>
              <a:rPr sz="2000">
                <a:solidFill>
                  <a:srgbClr val="1F2937"/>
                </a:solidFill>
                <a:latin typeface="Calibri"/>
              </a:rPr>
              <a:t>▸  Pinel bemorlarni zanjirdan ozod qildi, ammo tibbiy patemalizm saqlandi. Ba’zan shifoxonalar sog‘lom odamlarni ajratishga ishlatildi, shu sabab huquqiy tartib zarur bo‘ldi.</a:t>
            </a:r>
          </a:p>
          <a:p>
            <a:pPr>
              <a:spcAft>
                <a:spcPts val="1200"/>
              </a:spcAft>
            </a:pPr>
            <a:r>
              <a:rPr sz="2000">
                <a:solidFill>
                  <a:srgbClr val="1F2937"/>
                </a:solidFill>
                <a:latin typeface="Calibri"/>
              </a:rPr>
              <a:t>▸  Davolashga tushunarli axborot asosida rozilik olinadi, bemor rad etishi mumkin. Ruhiy holat haqidagi ma’lumot shifokor siri hisoblanadi. Majburiy choralar faqat qonunda belgilangan hollarda qo‘llanadi.</a:t>
            </a:r>
          </a:p>
          <a:p>
            <a:pPr>
              <a:spcAft>
                <a:spcPts val="1200"/>
              </a:spcAft>
            </a:pPr>
            <a:r>
              <a:rPr sz="2000">
                <a:solidFill>
                  <a:srgbClr val="1F2937"/>
                </a:solidFill>
                <a:latin typeface="Calibri"/>
              </a:rPr>
              <a:t>▸  Yordam eng kam cheklovli sharoitda va imkon qadar yashash joyida beriladi. Majburiy narkologik davolash faqat sud qarori asosida qo‘llanadi.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181, 185, 182-183, 187, 186, 190</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81</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Tarixiy qarama-qarshilik: 1793-yilda Parijda Filipp Pinel ruhiy bemorlarning zanjirlarini olib tashlab, ularga insoniy munosabatni boshladi. Taxminan 50 yil o‘tgach, ingliz shifokori Jon Konolli har qanday cheklovni butunlay rad etishni taklif qildi (“hech qanday cheklov yo‘q”). Munozarada savol: bemorni himoya qilish uchun cheklov qachon kerak?</a:t>
            </a:r>
          </a:p>
          <a:p>
            <a:pPr>
              <a:spcAft>
                <a:spcPts val="1200"/>
              </a:spcAft>
            </a:pPr>
            <a:r>
              <a:rPr sz="1800">
                <a:solidFill>
                  <a:srgbClr val="1F2937"/>
                </a:solidFill>
                <a:latin typeface="Calibri"/>
              </a:rPr>
              <a:t>▸  Madaniy misol: M. Foremanning “Kuku uyasi ustidan uchib o‘tdi” filmi ruhiy bemorlar huquqlarini himoya qilishga qaratilgan keng harakatning mashhur epizodiga aylandi. Talabalarga topshiriq: filmdagi vaziyatlarni bemorning roziligi va qadr-qimmati nuqtayi nazaridan tahlil qiling.</a:t>
            </a:r>
          </a:p>
          <a:p>
            <a:pPr>
              <a:spcAft>
                <a:spcPts val="1200"/>
              </a:spcAft>
            </a:pPr>
            <a:r>
              <a:rPr sz="1800">
                <a:solidFill>
                  <a:srgbClr val="1F2937"/>
                </a:solidFill>
                <a:latin typeface="Calibri"/>
              </a:rPr>
              <a:t>▸  Eslab qolish usuli: “psixiatriya” so‘zi yunoncha psyche (jon) va iatros (shifokor) so‘zlaridan olingan, ya’ni “jon shifokori”. Shu bois psixiatr bemorga aqliy, ma‘naviy va ijtimoiy tomonlarini hisobga olib munosabatda bo‘ladi.</a:t>
            </a:r>
          </a:p>
          <a:p>
            <a:pPr>
              <a:spcAft>
                <a:spcPts val="1200"/>
              </a:spcAft>
            </a:pPr>
            <a:r>
              <a:rPr sz="1800">
                <a:solidFill>
                  <a:srgbClr val="1F2937"/>
                </a:solidFill>
                <a:latin typeface="Calibri"/>
              </a:rPr>
              <a:t>▸  Antipsixiatriya harakati o‘zini “psixiatriyadagi uchinchi inqilob” deb atagan. Ularning hisobicha birinchisi “sehrgarlik sudlari”ga qarshi, ikkinchisi Pinel islohoti edi. Bu harakat 1970–80-yillarda ruhiy bemorlarning fuqarolik huquqlarini himoya qilish g‘oyasini kuchaytirgan.</a:t>
            </a:r>
          </a:p>
          <a:p>
            <a:pPr>
              <a:spcAft>
                <a:spcPts val="1200"/>
              </a:spcAft>
            </a:pPr>
            <a:r>
              <a:rPr sz="1800">
                <a:solidFill>
                  <a:srgbClr val="1F2937"/>
                </a:solidFill>
                <a:latin typeface="Calibri"/>
              </a:rPr>
              <a:t>▸  Diqqat, chegara qoidasi: majburiy chora yoki g‘ayriixtiyoriy yotqizish holatida ham davolash bemor roziligisiz o‘tkazilishi mumkin. Biroq jarrohlik usullari, qaytmas oqibat keltiradigan usullar va tibbiy vositalar sinovi taqiqlanadi. Qonun nomi: “Psixiatriya yordami to‘g‘risida”gi qonun, 13-modda.</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377440"/>
            <a:ext cx="10911535" cy="1280160"/>
          </a:xfrm>
          <a:prstGeom prst="rect">
            <a:avLst/>
          </a:prstGeom>
          <a:noFill/>
        </p:spPr>
        <p:txBody>
          <a:bodyPr wrap="square" anchor="ctr">
            <a:spAutoFit/>
          </a:bodyPr>
          <a:lstStyle/>
          <a:p>
            <a:r>
              <a:rPr sz="4400" b="1">
                <a:solidFill>
                  <a:srgbClr val="FFFFFF"/>
                </a:solidFill>
                <a:latin typeface="Georgia"/>
              </a:rPr>
              <a:t>Bilimingizni sinang</a:t>
            </a:r>
          </a:p>
        </p:txBody>
      </p:sp>
      <p:sp>
        <p:nvSpPr>
          <p:cNvPr id="4" name="TextBox 3"/>
          <p:cNvSpPr txBox="1"/>
          <p:nvPr/>
        </p:nvSpPr>
        <p:spPr>
          <a:xfrm>
            <a:off x="640080" y="3749039"/>
            <a:ext cx="10911535" cy="548640"/>
          </a:xfrm>
          <a:prstGeom prst="rect">
            <a:avLst/>
          </a:prstGeom>
          <a:noFill/>
        </p:spPr>
        <p:txBody>
          <a:bodyPr wrap="square">
            <a:spAutoFit/>
          </a:bodyPr>
          <a:lstStyle/>
          <a:p>
            <a:r>
              <a:rPr sz="2200" b="0">
                <a:solidFill>
                  <a:srgbClr val="C9A227"/>
                </a:solidFill>
                <a:latin typeface="Calibri"/>
              </a:rPr>
              <a:t>20 ta test savoli</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81</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Bemorga ruhiy tashxis qo‘yilgach, shifoxona ma’muriyati uni barcha huquqlaridan mahrum etmoqchi. Konstitutsiya tahlili bo‘yicha bu qanday baholanadi?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Ruhiy tashxis huquqlarni cheklash uchun yetarli asosdir</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Sog‘liq holatiga qarab huquqni cheklash Konstitutsiyada yo‘q</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Huquqlar faqat shifokor qarori bilan cheklanishi mumkin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Cheklash faqat bemor oilasining roziligi bilan mumkin</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42 / 81</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Fuqaro o‘z huquq va manfaatlariga daxldor hujjat va qarorlar bilan tanishmoqchi. Konstitutsiyaning 30-moddasiga ko‘ra davlat organlari nima qilishi lozim?</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Hujjatlarni faqat sud so‘rovi bilan ko‘rsatishi lozim</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Tanishish imkoniyatini bermaslikka haqli bo‘lishi lozim</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Hujjatlarni faqat vakil orqali taqdim etishi lozim</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Tanishib chiqish imkoniyatini yaratib berishi lozim</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43 / 81</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Ruhiy bemor kasalligi sababli kamsitilmoqda. 1996-yil 29-avgustdagi qonunning 13-moddasiga ko‘ra davlat nimani kafolatlaydi?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Kasallik shaklidan qat’i nazar kamsitishdan himoyani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Faqat og‘ir kasallikda kamsitishdan himoyani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Kamsitilganda faqat pul tovoni to‘lanishini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Kasallarning alohida ro‘yxatga olinishini</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44 / 81</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Frantsuz shifokori Filipp Pinel 1793-yilda Parij shifoxonasida qanday islohot o‘tkazdi?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Hech qanday cheklovsiz tizimni to‘liq joriy etdi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Bemorlarni jamiyatdan butunlay ajratishni talab qildi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Bemorlar qadrini ko‘tarib, zanjirlarini olib tashladi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Shifoxonalarni deinstitutsionalizatsiya qilishni boshladi</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45 / 81</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Ayrim davrlarda psixiatriya shifoxonalari hokimiyatga qarshi chiqqan sog‘lom odamlarni ajratish uchun ishlatilgan. Bu holat tibbiyotda nimaga ehtiyoj tug‘dirdi?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Shifoxonalarni butunlay yopish zaruratiga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Psixiatriya yordamini huquqiy tartibga solishga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Bemorlarni jamiyatdan to‘liq ajratishga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Dori vositalarini keng qo‘llash zaruratiga</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46 / 81</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1793-yilda Parijdagi shifoxonada shifokor bemorlarni zanjirdan ozod qildi. U bemorlarni bolalarga o‘xshatib, o‘zini ularga rahbar deb bildi va vaqtincha izolyatsiyani saqlab qoldi. Bu qaysi yondashuvga mos keladi?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Konolli yondashuvi: hech qanday cheklovsiz davolash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Pinel yondashuvi: zanjirsiz, ammo paternalistik rahbarlik</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Antipsixiatriya: shifoxona tartibini butunlay yo‘q qilish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Deinstitutsionalizatsiya: bemorlarni shifoxonadan chiqarish</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47 / 81</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1960–70-yillarda AQShda shifoxona rahbari ruhiy kasallarni shifoxonada majburan ushlab turmaslik siyosatini olib bormoqda. Bu qanday siyosat deb ataladi?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Terapevtik paternalizmni mustahkamlash siyosati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Antipsixiatrik tajribalar o‘tkazish siyosati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Majburiy yotqizishni kengaytirish siyosati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Deinstitutsionalizatsiya siyosati</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48 / 81</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Konferensiyada ma’ruzachi shunday dedi: «Ruhiy kasallik yo‘q, shizofreniya tashxisi esa ijtimoiy yorliq, psixiatrlar oq xalatli politsiyachilar». Bu qaysi oqim g‘oyasi?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Antipsixiatriya oqimi g‘oyasi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Tibbiy paternalizm doktrinasi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Deinstitutsionalizatsiya siyosati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Konollining cheklovsiz tizimi</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49 / 81</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Qadimgi psixiatriya shifoxonalari katta hajmi va bemorlar yashash joyidan uzoqligi bilan tanqid qilindi. Ularning umumiy faoliyat yo‘nalishi esa nimada tanqid qilindi?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Faqat yangi dori vositalariga tayanib ishlashda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Bemorlarni juda erta shifoxonadan chiqarishda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Reabilitatsiyadan ko‘ra ko‘proq xayriya va yordamga qaratilganda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Bemorlarga haddan ortiq huquq berib yuborganda</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50 / 81</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Ruhiy holati buzilgan nogiron shaxs ishga joylashishda qiynalmoqda. «Psixiatriya yordami to‘g‘risida»gi qonunga ko‘ra, davlat uni ishga joylashtirish uchun qaysi chorani belgilaydi?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Barcha uchun ish haqini teng qilib belgilashni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Ish o‘rinlarining majburiy kvotalarini belgilashni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Ishga joylashishni faqat sud orqali hal qilishni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Nogironlarni mehnatdan butunlay ozod etishni</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51 / 81</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Ruhiy holati buzilgan bemor yangi dori vositasini sinash va videoga olishda ishtirok etishga taklif qilindi. Qonunga ko‘ra u qanday huquqqa ega?</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Faqat vakil rozilik bersa, o‘zi voz kecha olmaydi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Oldindan rozilik berish va istalgan bosqichda voz kechish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Rozilikni faqat tadqiqot boshlanishidan oldin qaytarish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Rozilik talab etilmaydi, shifokor qarori yetarli bo‘ladi</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52 / 81</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Shaxsning ruhiy buzilishi borligi, psixiatrga murojaat etgani va muassasada davolangani haqidagi ma’lumotlar qonunga ko‘ra nima hisoblanadi?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Ochiq statistik ma’lumot, uni erkin tarqatish mumkin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Faqat ish joyi rahbariga ma’lum qilinadigan axborot</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Yaqinlarning so‘rovi bilan beriladigan oddiy ma’lumot</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Qonun bilan qo‘riqlanadigan shifokor siri hisoblanadi</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53 / 81</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Ruhiy holati buzilgan bemor taklif etilgan davolanishni rad etdi. Qonunga ko‘ra shifokor uchun qaysi harakat majburiy?</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Rad etishning mumkin bo‘lgan oqibatlarini tushuntirishi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Bemorni majburan yotqizish to‘g‘risida qaror chiqarishi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Rad etish uchun sudning oldindan ruxsatini so‘rashi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Arizani qabul qilmay, davolashni davom ettirishi</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54 / 81</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O‘n ikki yoshli bolaga psixiatrik davolash tavsiya etildi. Davolanishga rozilikni kim beradi?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Bolaning o‘zi, ota-onasiga aytmasdan mustaqil ravishda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Maktab o‘qituvchisi, axborotdan keyin yozma ravishda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Bolaning qonuniy vakillari, axborot olingandan keyin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Faqat bosh shifokor, vakillar fikrini so‘ramasdan</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55 / 81</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Bemor qonunda nazarda tutilgan asoslarga ko‘ra g‘ayriixtiyoriy tartibda stasionarga yotqizildi. Unga nisbatan qaysi usulni qo‘llashga yo‘l qo‘yilmaydi?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Dori vositasini shifokor nazoratida buyurish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Ruhiy buzilishni davolash uchun jarrohlik usullari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Huquqlarini tushuntirib, hujjatga yozib qo‘yish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Tibbiy komissiya xulosasini ko‘rib chiqish</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56 / 81</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Psixiatr tibbiy komissiya qaroriga qo‘shilmadi. Qonunga ko‘ra u nima qilishga haqli?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Komissiya qarorini o‘zi bekor qilib, bemorni statsionardan chiqarishga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O‘z xulosasini berishga; u tibbiy hujjatlarga qo‘shib qo‘yiladi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Faqat bosh shifokor ruxsati bilan alohida xulosa yozishga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Qarorni so‘zsiz bajarib, o‘z fikrini bildirmay qo‘yishga</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57 / 81</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Alkogol psixozi bor bemor o‘zi va atrofdagilar uchun bevosita xavf tug‘dirmoqda, yozma roziligi yo‘q. Shifokor qanday harakat qiladi?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Yozma roziliksiz yordam ko‘rsatadi; psixoz tugagach davolashni ixtiyoriy yozma rozilik bilan davom ettiradi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Faqat qarindoshlarning og‘zaki roziligi bilan yordam ko‘rsatishga ruxsat oladi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Yordam ko‘rsatmaydi va bemor ahvoli o‘z-o‘zidan yaxshilanishini kutadi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Yordam ko‘rsatadi va psixoz tugagach ham davolashni majburiy davom ettiradi</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58 / 81</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Fuqaro mast holda bir yil ichida ikki marta ma’muriy huquqbuzarlik qildi va ogohlantirilgan edi. Majburiy davolashga kimning qarori asos bo‘ladi?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Ichki ishlar organi xodimining yozma farmoyishi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Davolovchi narkolog shifokorning yakka tartibdagi qarori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Harbiy-tibbiy komissiyaning umumiy xulosasi asosidagi qaror</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Suyning qarori asosida qo‘llanadigan hukm</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59 / 81</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Statsionardagi bemor xat yozish va telefondan foydalanishni so‘radi. Bu huquqlar qanday holatda cheklanishi mumkin?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Faqat bemorning o‘zi cheklashni so‘ragan taqdirda cheklanadi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Qarindoshlari talab qilsa, shifokorsiz ham darhol cheklanadi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Bemor va boshqalar sog‘lig‘i yoki xavfsizligi uchun shifokor tavsiyasi bilan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Hech qanday holatda cheklanmaydi, qonun mutlaq kafolat beradi</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60 / 81</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Narkolog bemor hayoti va sog‘lig‘ini qadriyat deb o‘zi hal qiladi, bemorning o‘z-o‘zini boshqarishini e’tiborsiz qoldiradi. Bu qaysi tamoyilga xos muammo?</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Adolat tamoyili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Xayrixohlik tamoyili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Zarar yetkazmaslik tamoyili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Shaxsiy qaramlik tamoyili</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61 / 81</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Sog‘liq holatiga qarab huquqni cheklash Konstitutsiyada yo‘q</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Konstitutsiya normalari tahlili inson huquqlarini, shu jumladan sog‘lig‘i va ijtimoiy holatiga qarab cheklash nazarda tutilmaganini ko‘rsatadi. Boshqa variantlar manbada yo‘q.</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181-bet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62 / 81</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Tanishib chiqish imkoniyatini yaratib berishi lozim</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30-moddaga ko‘ra davlat organlari, jamoat birlashmalari va mansabdor shaxslar fuqarolarga huquq va manfaatlariga daxldor hujjatlar bilan tanishish imkoniyatini yaratib berishi kerak.</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181-bet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3: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63 / 81</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Kasallik shaklidan qat’i nazar kamsitishdan himoyani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13-modda: davlat fuqarolarni kasallikning har qanday shaklidan qat’i nazar, kamsitishlardan himoya qilinishini kafolatlaydi.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182-bet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4: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64 / 81</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Bemorlar qadrini ko‘tarib, zanjirlarini olib tashladi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Pinel «ruhiy bemorlar qadr-qimmatini ko‘tarish» g‘oyasini ilgari surdi va bemorlar zanjirlarini olib tashladi. «Hech qanday cheklov yo‘q» g‘oyasi 50 yil keyin Konolliga tegishli.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182-bet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5: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65 / 81</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Psixiatriya yordamini huquqiy tartibga solishga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Suiiste’mol holatlari oqibatida tibbiyotda psixiatriya yordami ko‘rsatilishini huquqiy tartibga solish zarurati paydo bo‘ldi; majburiy yotqizish muammosi ham dolzarb bo‘ldi.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182-bet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6: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66 / 81</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Pinel yondashuvi: zanjirsiz, ammo paternalistik rahbarlik</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Filipp Pinel 1793-yilda bemorlarni zanjirdan ozod qildi va bemorlarini bolalarga taqqosladi. Uning islohoti tibbiy paternalizm shiori bo‘ldi. Vaqtincha izolyatsiya bilan «ozodlikka majburlash» g‘oyasi ham unga xos edi. Jon Konolli esa taxminan 50 yildan keyin har qanday cheklovni istisno qilishni taklif qildi.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182-183-bet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7: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67 / 81</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Deinstitutsionalizatsiya siyosati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AQSH psixiatriyasida 1960–70-yillarda ruhiy kasallarni «deinstitutsionalizatsiya qilish» siyosati olib borildi, ya’ni ularni shifoxonalarda majburan ushlab turishdan voz kechildi. Asosiy sabab psixotrop dori vositalarining keng qo‘llanilishi edi. 1955-yilda JSST (Jahon sog‘liqni saqlash tashkiloti) ekspertlar qo‘mitasi ham izolyatsiyasiz davolashni kengaytirishni zarur deb bildi.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183-bet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8: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68 / 81</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Antipsixiatriya oqimi g‘oyasi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Antipsixiatrlar ruhiy kasallik emas, «makrososial inqirozli vaziyatlar» mavjudligini aytgan. Ular psixiatrik tashxisni, asosan shizofreniyani, «ijtimoiy yorliq» deb hisoblagan. Psixiatrlarni shifokor emas, «oq xalatli politsiyachilar» deb atagan. Bu ko‘rinish 1960-yillardagi antipsixiatriya harakatiga xos.</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183-184-bet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9: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69 / 81</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Reabilitatsiyadan ko‘ra ko‘proq xayriya va yordamga qaratilganda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Manbada qadimgi shifoxonalar ulkan hajmi va bemorlarning doimiy yashash joyidan uzoqligi uchun tanqid qilingani aytilgan. Ayniqsa, faoliyatning umumiy yo‘nalishi bemorlarni davolash va reabilitatsiya qilishdan ko‘ra ko‘proq xayriya va yordam ko‘rsatishga qaratilgani tanqid qilingan.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183-bet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10: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70 / 81</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Ish o‘rinlarining majburiy kvotalarini belgilashni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Qonun 5-moddasiga ko‘ra, davlat ruhiy holati buzilgan nogiron shaxslarni ishga joylashtirish uchun turli ixtisoslashgan korxonalar, muassasalar va tashkilotlarda ish o‘rinlarining majburiy kvotalarini belgilaydi. Bunday nogironlarni ishga olgan ish beruvchilarni rag‘batlantirish usullari ham qo‘llanadi.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185-186-bet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11: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71 / 81</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Oldindan rozilik berish va istalgan bosqichda voz kechish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7-moddaga ko‘ra bemor tibbiy vosita va usullarni sinash, ilmiy tadqiqot yoki o‘quv jarayoni obyekti bo‘lishga, shuningdek foto, video yoki kinosuratga olinishga oldindan rozilik beradi. U istalgan bosqichda bu rozilikdan voz kechishi mumkin.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186-bet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12: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72 / 81</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Qonun bilan qo‘riqlanadigan shifokor siri hisoblanadi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11-moddaga ko‘ra bu ma’lumotlar, shuningdek ruhiy salomatlik holatiga oid boshqa ma’lumotlar qonun bilan qo‘riqlanadigan shifokor siri hisoblanadi. Bemorning yoki vakilining iltimosiga ko‘ra unga o‘z holati haqida ma’lumot berilishi mumkin.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186-187-bet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13: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73 / 81</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Rad etishning mumkin bo‘lgan oqibatlarini tushuntirishi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14-moddaga ko‘ra davolanishni rad etayotgan shaxsga yoki uning qonuniy vakiliga rad etish qanday oqibatlarga olib kelishi mumkinligi tushuntiriladi. Bu tibbiy hujjatda qayd etiladi va imzo bilan tasdiqlanadi.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187-188-bet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14: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74 / 81</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Bolaning qonuniy vakillari, axborot olingandan keyin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13-moddaga ko‘ra o‘n to‘rt yoshgacha bo‘lgan voyaga yetmagan shaxs, shuningdek layoqatsiz deb topilgan shaxs uchun rozilikni qonuniy vakillar beradi. Ular oldin davolash haqidagi axborot bilan tanishtiriladi.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187-bet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15: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75 / 81</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Ruhiy buzilishni davolash uchun jarrohlik usullari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13-moddaga ko‘ra g‘ayriixtiyoriy yotqizilganda davolash rozilik talab etilmasligi mumkin. Biroq bunday shaxslarga jarrohlik usullarini, qaytarib bo‘lmaydigan oqibatlar keltiradigan usullarni qo‘llash va tibbiy vosita sinovlarini o‘tkazish taqiqlanadi.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187-bet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16: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76 / 81</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O‘z xulosasini berishga; u tibbiy hujjatlarga qo‘shib qo‘yiladi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Psixiatriya ‘‘Psixiatriya yordami to‘g‘risida’’gi qonunning 18-moddasiga ko‘ra, shifokor psixiatr mustaqil qaror qabul qiladi. Fikri komissiya qaroriga mos kelmasa, u o‘z xulosasini berishga haqli va bu xulosa tibbiy hujjatlarga qo‘shiladi. Komissiya qarorini bekor qilish yoki jim turish haqida qonunda aytilmagan.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188-bet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17: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77 / 81</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Yozma roziliksiz yordam ko‘rsatadi; psixoz tugagach davolashni ixtiyoriy yozma rozilik bilan davom ettiradi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Narkologik yordam qonuniga ko‘ra, o‘zi va atrofdagilar uchun bevosita xavf soluvchi alkogolli yoki zaharlanish psixozida yozma roziliksiz yordam ko‘rsatish mumkin. Psixoz bartaraf etilgach, davolashni davom ettirish bemorning yoki qonuniy vakilining ixtiyoriy yozma roziligi asosida amalga oshiriladi (19-modda).</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192-193-bet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18: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78 / 81</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Suyning qarori asosida qo‘llanadigan hukm</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Majburiy davolash narkologik kasallikka chalingan, jamoat tartibini buzgan, bir yil ichida bir martadan ortiq ma’muriy javobgarlikka tortilgan va ogohlantirilgan shaxsga nisbatan sud qarori asosida qo‘llanadi (25-modda). Narkolog yoki ichki ishlar organi bunday qaror chiqarmaydi.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194-bet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19: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79 / 81</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Bemor va boshqalar sog‘lig‘i yoki xavfsizligi uchun shifokor tavsiyasi bilan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Qonunga ko‘ra, statsionar bemori xat yozish va olish, telefondan foydalanish, tashrif buyuruvchilarni qabul qilish huquqiga ega. Bu huquqlar bemor va boshqa shaxslarning sog‘lig‘i yoki xavfsizligi manfaatlarini ko‘zlab, shifokor tavsiyasiga ko‘ra cheklanishi mumkin.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189-bet</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20: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80 / 81</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Xayrixohlik tamoyili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Darslikda xayrixohlik tamoyili shunday ta’riflanadi: narkolog bemor hayoti va sog‘lig‘ini axloqiy qadriyat sifatida mustaqil tanlaydi, bemorning o‘zini o‘zi boshqarishini e’tiborsiz qoldiradi. Zarar yetkazmaslik tamoyili esa dorilarning samaradorligi yetarli isbotlanmaganligi bilan bog‘liq xavfga tegishli.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189-bet</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Foydalanilgan manbalar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Psixiatriya va psixoterapiyada etika: ruhiy kasallar huquqlari, BMT va Madrid deklaratsiya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81 / 81</a:t>
            </a:r>
          </a:p>
        </p:txBody>
      </p:sp>
      <p:sp>
        <p:nvSpPr>
          <p:cNvPr id="8" name="TextBox 7"/>
          <p:cNvSpPr txBox="1"/>
          <p:nvPr/>
        </p:nvSpPr>
        <p:spPr>
          <a:xfrm>
            <a:off x="640080" y="1463040"/>
            <a:ext cx="10911535" cy="4572000"/>
          </a:xfrm>
          <a:prstGeom prst="rect">
            <a:avLst/>
          </a:prstGeom>
          <a:noFill/>
        </p:spPr>
        <p:txBody>
          <a:bodyPr wrap="square">
            <a:spAutoFit/>
          </a:bodyPr>
          <a:lstStyle/>
          <a:p>
            <a:pPr>
              <a:spcAft>
                <a:spcPts val="1200"/>
              </a:spcAft>
            </a:pPr>
            <a:r>
              <a:rPr sz="2000">
                <a:solidFill>
                  <a:srgbClr val="1F2937"/>
                </a:solidFill>
                <a:latin typeface="Calibri"/>
              </a:rPr>
              <a:t>▸  G‘iyosov Z.A., Indiaminov S.I. Bioetika (o‘quv qo‘llanma), Samarqand. 2022. XVII bob (psixiatriya, narkologiya), kitob betlari 181-196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