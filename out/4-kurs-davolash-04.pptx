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davolash fakulteti talabasiga transport travmasi bo‘yicha ekspertiza bilimi kerak? 2) Mexanik jarohatning qaysi turlarini eslaysiz? Doskada: mavzu rejasini 2 ustunga chizing (mexanik jarohatlar | transport travmasi). Tipik xato: transport travmasini mexanik jarohatlardan butunlay alohida hodisa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Sirkulyar va varaqsimon arra yarasini nima bilan farqlaysiz? 2) Suyakning arralama yuzasi arra haqida nima deydi? Doskada: uchta arra turi uchun yara va suyak yuzasini sxematik chizing. Tipik xato: kuchli zarb yarasini sirkulyar arra yarasi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transport travmasi fanning alohida qismi qilingan? 2) Jabrlanganning kiyim-boshi va poyafzaliga nega e’tibor beriladi (ehtiyotkorlik bilan echish, quritish, huquqni muhofaza qiluvchilarga topshirish)? Doskada: ta’rif sxemasini chizing (tashqi qism + ichki qism + yiqilish). Tipik xato: transport travmasini faqat avtomobil bilan cheklash.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transport travmasi iqtisodiy yukka aylanadi? 2) O‘lim va tirik shaxslar ekspertizasidagi ulushlar nega farq qiladi? Doskada: jadvaldagi to‘rt ko‘rsatkichni ustun shaklida chizdiring. Tipik xato: 60-65 % (o‘lim holatlari) bilan 20-25 % (tirik shaxslar ekspertizasi)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avtotravma eng ko‘p uchraydi? 2) Murakkab travmaga yana qanday misol keltirish mumkin (avtomobil-traktor)? Doskada: sakkiz turni o‘zingiz guruhlab chizing. Tipik xato: murakkab travmani bir transportdagi bir necha jarohat deb tushunish; u turli transport vositalari to‘qnashuvidir.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Kiyimni qirqib tashlash yoki yuvib yuborish nega xato? 2) Ekspertiza materiallari profilaktikaga qanday xizmat qiladi? Doskada: kiyimni olishdan topshirishgacha bo‘lgan qadamlar zanjirini chizdiring. Tipik xato: talabalar kiyim-poyafzalni muhim dalil sifatida ko‘rmaydi va uni tashlab yuboradi.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transport travmasi 60-yillardan sud tibbiyotining alohida qismi sifatida ajratilgan? 2) Nima uchun transport travmasi turlarining ko‘pchiligi baxtsiz hodisa bo‘ladi? Doskada chizish: transport travmasi turlari (avtomobil, mototsikl, velosiped, traktor, rels, aviatsion, suv) daraxt sxemasi. Tipik xato: 60-65% (o‘lim holatlari) va 20-25% (tirik shaxslar ekspertizasi) ko‘rsatkichlarini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Tur va variantni bilish vrach uchun nima uchun muhim? 2) Qaysi mexanizmlar har bir turda yetakchi? Doskada chizish: olti turni raqamlab yozing va har biriga bitta mexanizmni bog‘lang. Tipik xato: murakkab avtotravma (5-6-tur) bilan murakkab transport travmasini (turli transport to‘qnashuvi)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shilinma va qontalash avtotravmani isbotlamaydi? 2) Old oyna siniqlaridan olingan yara qanday jarohatga o‘xshab ketadi? Doskada chizish: to‘rt guruhni diagnostik qiymati bo‘yicha pog‘onasimon (yuqoridan pastga) joylashtiring. Tipik xato: xos va spetsifik jarohatni bir narsa deb o‘ylash; spetsifik jarohat avtomobilning aniq qismini ko‘rsatadi, xos jarohat esa turga yoki fazaga mos bo‘ladi.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shilinma bo‘yicha avtotravma haqida xulosa qilib bo‘lmaydi? 2) Old oyna siniqlaridan olingan yara qaysi yaraga o‘xshaydi? Doskada chizish: avtotravma jarohatlarining to‘rt guruhi (spetsifik, xos, xos bo‘lmagan, imitatsion) ro‘yxati. Tipik xato: xos bo‘lmagan jarohatni imitatsion jarohat bilan aralashtirish. Birinchisida o‘xshashlik umuman yo‘q, ikkinchisida boshqa hodisa jarohatiga o‘xshashlik bor.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Fara shaklidagi iz ekspertga nimani aytib beradi? 2) Bu iz bo‘lsa, boshqa jarohatlar haqida nima deyish mumkin? Doskada chizish: fara shaklidagi shilinma va qontalashning sodda eskizi, yoniga guruh nomi. Tipik xato: kontakt jarohatni xos jarohat bilan aralashtirish. Xos jarohat mexanizm yoki faza bilan bog‘liq, spetsifik jarohat esa avtomobil qismining shaklini aks ettiradi.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yosh bolalarda ikkinchi faza kuzatilmaydi? 2) Past tezlikda qaysi faza tushib qolishi mumkin va nega? Doskada chizish: to‘rt fazali zanjir, har fazaga bitta xos jarohat turini yozish. Tipik xato: fazalar tartibini aralashtirish yoki ikkinchi fazani barcha to‘qnashuvlarda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yengil va yuk avtomobilida sinish joyi har xil? 2) Bamper-jarohat bo‘yicha qanday ma’lumot olinadi? Doskada: oyoq va bamperni yon tomondan chizib, uchburchak sinish asosini zarb tomonida belgilang. Tipik xato: uchburchak asosini qarama-qarshi tomonga qo‘yish yoki “qamchisimon” sinishni oyoq jarohati deb o‘ylash (u bo‘yin umurtqalarida bo‘ladi).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yosh bolalarda ikkinchi faza bo‘lmaydi? 2) Parallel shilinmalar yo‘nalishi nimani ko‘rsatadi? Doskada: to‘rt fazani strelkalar bilan zanjir qilib chizing va har biriga jarohat joyini yozing. Tipik xato: 3-fazadagi jarohatlarni birinchi ta’sir tomonida deb yozish (aslida qarama-qarshi tomonda).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Sinish shakli va balandligidan qanday xulosa chiqariladi? 2) Halqasimon sinish qaysi sharoitda mumkin? Doskada: uchburchak sinishni chizib, asos va uchini belgilang. Tipik xato: bitta belgiga qarab avtomobil turini aniq deb aytish; xulosa jarohatlar majmuiga asoslanishi kerak.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To‘liq va noto‘liq bosib o‘tishni nima farqlaydi? 2) Nega eng og‘ir jarohatlar siqilish mexanizmidan kelib chiqadi? Doskada: besh fazali zanjirni chizib, har faza yoniga qisqa izoh yozdiring. Tipik xato: talabalar to‘liq va noto‘liq bosib o‘tishni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Protektor izi bo‘yicha nimani aniqlash mumkin? 2) Kiyimdagi iz nega ko‘proq qoplanma shaklida bo‘ladi? Doskada: jadvalni chizib, pozitiv va negativ izning sxemasini ko‘rsatdiring. Tipik xato: negativ izni ham shilinma deb yozish, aslida u faqat qontalash.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g‘ildirak tushayotgan tomonda jarohat kamroq bo‘ladi? 2) Qaysi sohada ichki a’zolar siljishi kutiladi? Doskada: tana sxemasini chizib, g‘ildirak chiqqan va tushgan tomonni belgilatib, har sohaga asosiy jarohatni yozdiring. Tipik xato: to‘rtinchi fazada har doim jarohat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savollarga kitobga qaramay javob beradi. Muhokama: nega bamper-jarohat bo‘yicha avtomobil rusumi va tezligi haqida fikr yuritish mumkin? G‘ildirak tanadan 20 km/soat va undan yuqori tezlikda “sakrab tushsa”, to‘rtinchi fazada jarohat bo‘lmasligi mumkinligini ham eslating (bet 65). Doskada: bamper-sinish uchburchagini chizdiring va asosini belgilating. Tipik xato: pozitiv va negativ izni almashtirib yuborish; 4 va 5 fazani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haydovchining ko‘krakidagi yarim oysimon iz qaysi detalga mos keladi? Nima uchun jarohatlar ko‘proq chap tomonda joylashadi? Doskada: to‘rt fazali zanjirni chizib, har bir fazaga mos jarohatni yozdiring. Tipik xato: 3-fazani faqat bo‘yin egilishi deb o‘ylash — unda bosh rulning tepa qismi va old oynaga ham uriladi.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oldingi o‘rindiq eng xavfli o‘rin hisoblanadi? Kamar qachon himoya vositasidan zarar omiliga aylanadi? Doskada: avtomobil salonining yuqoridan ko‘rinishini chizib, o‘rindiqlarni xavf darajasi bo‘yicha raqamlang. Tipik xato: kamar faqat himoya qiladi deb o‘ylash; diagonal kamar jarohatlarini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asosiy jarohatlar aynan ikkinchi fazada hosil bo‘ladi? Tana qaysi qismi bilan tushsa qanday suyaklar sinadi? Doskada: uch fazali zanjirni chizing va har fazaga bitta jarohat turini yozing. Tipik xato: bevosita va bilvosita jarohatni aralashtirish, uchinchi fazani unutish.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ikki hodisani farqlovchi asosiy belgi nima? Siqilishda nega asosiy jarohatlar ikkinchi fazada bo‘ladi? Doskada: ikki ustunli solishtirish (tushish va yiqilish) chizing, yo‘lkasimon shilinmani belgilang. Tipik xato: yo‘lkasimon shilinmani faqat yiqilishga xos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jabrlanuvchining avtomobil ichidagi o‘rnini aniqlash nega muhim? Oldingi o‘rindiq yo‘lovchisida jarohatlar qanday farq qiladi? Doskada: avtomobil salonining ustdan ko‘rinishini chizib, jarohat joylarini belgilang. Tipik xato: faqat bitta belgiga tayanib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mototsikl travmasi mavsumiy? 2) Murakkab mototsikl travmasi nimani bildiradi? Doskada: 5 turni ketma-ket zanjir ko‘rinishida chizdiring. Diqqat: xato qilish xavfi, mototsiklda haydovchi va yo‘lovchi har doim shikastlanishi mumkin, avtotravmada esa bunday emas. Tipik xato: turlar sonini avtotravma (6 ta)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mototsiklda to‘rtinchi faza kuzatilmaydi? 2) G‘ildirak bilan bosib o‘tishda jarohat nega yengilroq? Doskada: ikki ustunli solishtirish jadvalini talabalar bilan to‘ldiring. Diqqat: avtomobilning to‘rtinchi fazasi (sirpanish) ≠ mototsikl travmasi. Tipik xato: mototsikldagi yoysimon shilinmalarni avtotravmadagi bamper-jarohat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g‘ildirak toji qaychisimon ta’sir ko‘rsatadi? 2) Rels travmasi turlari avtotravma turlaridan nimasi bilan farq qiladi? Doskada: g‘ildirak, rels boshchasi va tojning kesimini chizib, tananing joylashuvini belgilang. Tipik xato: rels boshchasi va g‘ildirak toji o‘lchamlarini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“T”-simon shilinma g‘ildirakning qaysi tomonida hosil bo‘ladi va nega? 2) Bosilish va shilinish yo‘lkasini qanday farqlaysiz? Doskada: g‘ildirak toji, rels boshchasi, “T” shilinma, bosilish va shilinish yo‘lkalarini sxematik chizdiring. Qo‘shimcha: “T” shilinma va bosilish yo‘lkasi orasida ingichka shikastlanmagan teri sohasi qoladi (72-bet). Tipik xato: bosilish yo‘lkasi bilan shilinish yo‘lkasini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Ajralish chetlarining relsga va g‘ildirakka qaragan tomonlari qanday farqlanadi? 2) Ponasimon defekt qanday hosil bo‘ladi? Doskada: bo‘lingan tana qismlarini va ajralish chetlarining shaklini chizdiring. Tipik xato: tekis chetni g‘ildirak tomoniga, tishsimon chetni rels tomoniga bog‘lash.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Faqat iz moddalariga qarab xulosa qilish yetarlimi? 2) Tananing g‘ildirak va relsga nisbatan holatini qaysi belgilar ko‘rsatadi? Doskada: talabalar topgan belgilarni “xos belgi” ustuniga yozsin. Tipik xato: bitta belgiga tayanib xulosa chiqarish; shilinish va bosilish yo‘lkalarini, ajralish chetlarini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o‘rmalovchi traktorda to‘rtinchi faza bo‘lmaydi? 2) Zanjir tishlari tanani qanday jarohatlaydi? Doskada: traktorning oltita turini ro‘yxat qilib yozing va g‘ildirakli/o‘rmalovchi ustunli jadval chizing. Tipik xato: o‘rmalovchi traktor uchun ham avtomobildagi barcha fazalarni sanash. Diqqat: g‘ildirakli traktor fazalari avtotravmadan farq qilmaydi, o‘rmalovchiniki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Parvozda apparatni tark etish qaysi hollarda kuzatiladi (parashyut, katapulta)? 2) Nima uchun uchuvchining tibbiy hujjatlari ham o‘rganiladi? Doskada: to‘rt turni ketma-ketlikda chizing va har biriga bittadan misol yozing. Tipik xato: aviatravmani faqat erga qulash deb tushunish. Diqqat: ekipaj a’zolari ham, erdagi shaxslar ham shikastlanishi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Nog‘ora parda yorilishi va o‘rta quloqdagi qon quyilish nimadan dalolat beradi? 2) Nima uchun termik jarohat yo‘lovchilarda ko‘proq? Doskada: dekompressiyaning ikki turini (portlash va balandlik) balandlik shkalasida chizing. Tipik xato: portlash dekompressiyasi bilan balandlik dekompressiyasini aralashtirish. Diqqat: portlash dekompressiyasi ≠ balandlik dekompressiyasi (balandlik emfizemasi).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Quloq belgilari nima uchun germetizatsiya buzilganidan dalolat beradi? 2) Uchuvchi tanasida yana nimalar tekshiriladi? Doskada: ikki dekompressiyani balandlik (8 km va 19 km) va asosiy belgisi bilan yonma-yon chizdirish. Tipik xato: portlash va balandlik dekompressiyasini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Nazorat savollari (bob oxiridan): transport travmasi nima? Nima uchun g‘ildirak tanadan tushadigan tomonda jarohat kam bo‘ladi? Rels travmasida bosilish va shilinish yo‘lkalari qanday hosil bo‘ladi? Doskada: transport turlarining jadvalini (tur soni, faza soni) talabalar bilan to‘ldirish. Tipik xato: tur va fazani aralashtirish; kiyimni yirtib yoki ho‘l holda topshirish.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Mexanik jarohatlar. Transport travmasi.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mexanik jarohatlar va transport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Mashg‘ulot mexanik jarohatlarni takrorlashdan boshlanadi. Nazorat savollari jarohat tushunchasi, omillar, tasnif va jarohatning hayotiyligini qamrab oladi.</a:t>
            </a:r>
          </a:p>
          <a:p>
            <a:pPr>
              <a:spcAft>
                <a:spcPts val="1200"/>
              </a:spcAft>
            </a:pPr>
            <a:r>
              <a:rPr sz="2200">
                <a:solidFill>
                  <a:srgbClr val="1F2937"/>
                </a:solidFill>
                <a:latin typeface="Calibri"/>
              </a:rPr>
              <a:t>▸  Mexanik jarohatlar bo‘yicha o‘tmas jismlar, shilinma, qontalash, suyak deformatsiyasi, balandlikdan yiqilish, kesma, sanchma va chopma yaralar so‘raladi.</a:t>
            </a:r>
          </a:p>
          <a:p>
            <a:pPr>
              <a:spcAft>
                <a:spcPts val="1200"/>
              </a:spcAft>
            </a:pPr>
            <a:r>
              <a:rPr sz="2200">
                <a:solidFill>
                  <a:srgbClr val="1F2937"/>
                </a:solidFill>
                <a:latin typeface="Calibri"/>
              </a:rPr>
              <a:t>▸  Keyingi bob transport travmasiga bag‘ishlangan. U avtomobil, mototsikl, rels, traktor va aviatsion travmani o‘z ichiga oladi.</a:t>
            </a:r>
          </a:p>
          <a:p>
            <a:pPr>
              <a:spcAft>
                <a:spcPts val="1200"/>
              </a:spcAft>
            </a:pPr>
            <a:r>
              <a:rPr sz="2200">
                <a:solidFill>
                  <a:srgbClr val="1F2937"/>
                </a:solidFill>
                <a:latin typeface="Calibri"/>
              </a:rPr>
              <a:t>▸  Transport travmasi bo‘yicha nazorat savollaridan biri shifokor faoliyatida bu bilimlarning ahamiyatini so‘raydi. Tibbiy yordam bilan ekspertiza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55, 55-56, 57, 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Arralama yaralar: shaklning arraga bog‘liqligi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Arralama yaralar ichida va chetlarida yumshoq to‘qimaning mayda zarralari hamda suyak qipiqlari bo‘ladi.</a:t>
            </a:r>
          </a:p>
          <a:p>
            <a:pPr>
              <a:spcAft>
                <a:spcPts val="800"/>
              </a:spcAft>
            </a:pPr>
            <a:r>
              <a:rPr sz="1800">
                <a:solidFill>
                  <a:srgbClr val="1F2937"/>
                </a:solidFill>
                <a:latin typeface="Calibri"/>
              </a:rPr>
              <a:t>▸  Arralama oralig‘i arra varag‘ining qalinligidan kattaroq bo‘ladi.</a:t>
            </a:r>
          </a:p>
          <a:p>
            <a:pPr>
              <a:spcAft>
                <a:spcPts val="800"/>
              </a:spcAft>
            </a:pPr>
            <a:r>
              <a:rPr sz="1800">
                <a:solidFill>
                  <a:srgbClr val="1F2937"/>
                </a:solidFill>
                <a:latin typeface="Calibri"/>
              </a:rPr>
              <a:t>▸  Diqqat: sirkulyar arra aylanma, varaqsimon arra oldinga-orqaga harakat qiladi; izlari farq qiladi.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890606"/>
                <a:gridCol w="2226515"/>
                <a:gridCol w="2170852"/>
              </a:tblGrid>
              <a:tr h="411480">
                <a:tc>
                  <a:txBody>
                    <a:bodyPr/>
                    <a:lstStyle/>
                    <a:p>
                      <a:r>
                        <a:rPr sz="1300" b="1">
                          <a:solidFill>
                            <a:srgbClr val="FFFFFF"/>
                          </a:solidFill>
                        </a:rPr>
                        <a:t>Arra turi</a:t>
                      </a:r>
                    </a:p>
                  </a:txBody>
                  <a:tcPr marL="73152" marR="73152" marT="36576" marB="36576">
                    <a:solidFill>
                      <a:srgbClr val="0B1F3A"/>
                    </a:solidFill>
                  </a:tcPr>
                </a:tc>
                <a:tc>
                  <a:txBody>
                    <a:bodyPr/>
                    <a:lstStyle/>
                    <a:p>
                      <a:r>
                        <a:rPr sz="1300" b="1">
                          <a:solidFill>
                            <a:srgbClr val="FFFFFF"/>
                          </a:solidFill>
                        </a:rPr>
                        <a:t>Yara belgisi</a:t>
                      </a:r>
                    </a:p>
                  </a:txBody>
                  <a:tcPr marL="73152" marR="73152" marT="36576" marB="36576">
                    <a:solidFill>
                      <a:srgbClr val="0B1F3A"/>
                    </a:solidFill>
                  </a:tcPr>
                </a:tc>
                <a:tc>
                  <a:txBody>
                    <a:bodyPr/>
                    <a:lstStyle/>
                    <a:p>
                      <a:r>
                        <a:rPr sz="1300" b="1">
                          <a:solidFill>
                            <a:srgbClr val="FFFFFF"/>
                          </a:solidFill>
                        </a:rPr>
                        <a:t>Qo‘shimcha belgi</a:t>
                      </a:r>
                    </a:p>
                  </a:txBody>
                  <a:tcPr marL="73152" marR="73152" marT="36576" marB="36576">
                    <a:solidFill>
                      <a:srgbClr val="0B1F3A"/>
                    </a:solidFill>
                  </a:tcPr>
                </a:tc>
              </a:tr>
              <a:tr h="411480">
                <a:tc>
                  <a:txBody>
                    <a:bodyPr/>
                    <a:lstStyle/>
                    <a:p>
                      <a:r>
                        <a:rPr sz="1200" b="0">
                          <a:solidFill>
                            <a:srgbClr val="1F2937"/>
                          </a:solidFill>
                        </a:rPr>
                        <a:t>Arra bilan zarb</a:t>
                      </a:r>
                    </a:p>
                  </a:txBody>
                  <a:tcPr marL="73152" marR="73152" marT="36576" marB="36576">
                    <a:solidFill>
                      <a:srgbClr val="E8EEF6"/>
                    </a:solidFill>
                  </a:tcPr>
                </a:tc>
                <a:tc>
                  <a:txBody>
                    <a:bodyPr/>
                    <a:lstStyle/>
                    <a:p>
                      <a:r>
                        <a:rPr sz="1200" b="0">
                          <a:solidFill>
                            <a:srgbClr val="1F2937"/>
                          </a:solidFill>
                        </a:rPr>
                        <a:t>Mayda sanchma yoki sanchma-kesma yaralar</a:t>
                      </a:r>
                    </a:p>
                  </a:txBody>
                  <a:tcPr marL="73152" marR="73152" marT="36576" marB="36576">
                    <a:solidFill>
                      <a:srgbClr val="E8EEF6"/>
                    </a:solidFill>
                  </a:tcPr>
                </a:tc>
                <a:tc>
                  <a:txBody>
                    <a:bodyPr/>
                    <a:lstStyle/>
                    <a:p>
                      <a:r>
                        <a:rPr sz="1200" b="0">
                          <a:solidFill>
                            <a:srgbClr val="1F2937"/>
                          </a:solidFill>
                        </a:rPr>
                        <a:t>Kuchli zarbda tubida to‘qima boylamlari</a:t>
                      </a:r>
                    </a:p>
                  </a:txBody>
                  <a:tcPr marL="73152" marR="73152" marT="36576" marB="36576">
                    <a:solidFill>
                      <a:srgbClr val="E8EEF6"/>
                    </a:solidFill>
                  </a:tcPr>
                </a:tc>
              </a:tr>
              <a:tr h="411480">
                <a:tc>
                  <a:txBody>
                    <a:bodyPr/>
                    <a:lstStyle/>
                    <a:p>
                      <a:r>
                        <a:rPr sz="1200" b="0">
                          <a:solidFill>
                            <a:srgbClr val="1F2937"/>
                          </a:solidFill>
                        </a:rPr>
                        <a:t>Sirkulyar arra</a:t>
                      </a:r>
                    </a:p>
                  </a:txBody>
                  <a:tcPr marL="73152" marR="73152" marT="36576" marB="36576">
                    <a:solidFill>
                      <a:srgbClr val="FFFFFF"/>
                    </a:solidFill>
                  </a:tcPr>
                </a:tc>
                <a:tc>
                  <a:txBody>
                    <a:bodyPr/>
                    <a:lstStyle/>
                    <a:p>
                      <a:r>
                        <a:rPr sz="1200" b="0">
                          <a:solidFill>
                            <a:srgbClr val="1F2937"/>
                          </a:solidFill>
                        </a:rPr>
                        <a:t>Chetlari notekis, tishli, mayda laxtakli</a:t>
                      </a:r>
                    </a:p>
                  </a:txBody>
                  <a:tcPr marL="73152" marR="73152" marT="36576" marB="36576">
                    <a:solidFill>
                      <a:srgbClr val="FFFFFF"/>
                    </a:solidFill>
                  </a:tcPr>
                </a:tc>
                <a:tc>
                  <a:txBody>
                    <a:bodyPr/>
                    <a:lstStyle/>
                    <a:p>
                      <a:r>
                        <a:rPr sz="1200" b="0">
                          <a:solidFill>
                            <a:srgbClr val="1F2937"/>
                          </a:solidFill>
                        </a:rPr>
                        <a:t>Suyakda tekis yuza, yoysimon izlar</a:t>
                      </a:r>
                    </a:p>
                  </a:txBody>
                  <a:tcPr marL="73152" marR="73152" marT="36576" marB="36576">
                    <a:solidFill>
                      <a:srgbClr val="FFFFFF"/>
                    </a:solidFill>
                  </a:tcPr>
                </a:tc>
              </a:tr>
              <a:tr h="411480">
                <a:tc>
                  <a:txBody>
                    <a:bodyPr/>
                    <a:lstStyle/>
                    <a:p>
                      <a:r>
                        <a:rPr sz="1200" b="0">
                          <a:solidFill>
                            <a:srgbClr val="1F2937"/>
                          </a:solidFill>
                        </a:rPr>
                        <a:t>Varaqsimon arra</a:t>
                      </a:r>
                    </a:p>
                  </a:txBody>
                  <a:tcPr marL="73152" marR="73152" marT="36576" marB="36576">
                    <a:solidFill>
                      <a:srgbClr val="E8EEF6"/>
                    </a:solidFill>
                  </a:tcPr>
                </a:tc>
                <a:tc>
                  <a:txBody>
                    <a:bodyPr/>
                    <a:lstStyle/>
                    <a:p>
                      <a:r>
                        <a:rPr sz="1200" b="0">
                          <a:solidFill>
                            <a:srgbClr val="1F2937"/>
                          </a:solidFill>
                        </a:rPr>
                        <a:t>Chiziqsimon, chetlari mayda tishli, notekis</a:t>
                      </a:r>
                    </a:p>
                  </a:txBody>
                  <a:tcPr marL="73152" marR="73152" marT="36576" marB="36576">
                    <a:solidFill>
                      <a:srgbClr val="E8EEF6"/>
                    </a:solidFill>
                  </a:tcPr>
                </a:tc>
                <a:tc>
                  <a:txBody>
                    <a:bodyPr/>
                    <a:lstStyle/>
                    <a:p>
                      <a:r>
                        <a:rPr sz="1200" b="0">
                          <a:solidFill>
                            <a:srgbClr val="1F2937"/>
                          </a:solidFill>
                        </a:rPr>
                        <a:t>Suyakda parallel burtma va ariqchalar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Arra turlari va izlari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Transport travmasi: ta’rif va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Transport travmasi harakatdagi transport vositasining tashqi va ichki qismlaridan hamda undan yiqilishda olingan jarohatlar majmuidir.</a:t>
            </a:r>
          </a:p>
          <a:p>
            <a:pPr>
              <a:spcAft>
                <a:spcPts val="1200"/>
              </a:spcAft>
            </a:pPr>
            <a:r>
              <a:rPr sz="2200">
                <a:solidFill>
                  <a:srgbClr val="1F2937"/>
                </a:solidFill>
                <a:latin typeface="Calibri"/>
              </a:rPr>
              <a:t>▸  O‘tgan asrning 60-yillaridan u sud tibbiyotining alohida qismi bo‘ldi: jarohat mexanizmi va ekspertizada o‘ziga xosliklar bor.</a:t>
            </a:r>
          </a:p>
          <a:p>
            <a:pPr>
              <a:spcAft>
                <a:spcPts val="1200"/>
              </a:spcAft>
            </a:pPr>
            <a:r>
              <a:rPr sz="2200">
                <a:solidFill>
                  <a:srgbClr val="1F2937"/>
                </a:solidFill>
                <a:latin typeface="Calibri"/>
              </a:rPr>
              <a:t>▸  Ko‘pincha bu baxtsiz hodisa. Ba’zan o‘z-o‘zini o‘ldirish yoki unga urinish bo‘ladi; transport bilan qotillik esa kazuistika.</a:t>
            </a:r>
          </a:p>
          <a:p>
            <a:pPr>
              <a:spcAft>
                <a:spcPts val="1200"/>
              </a:spcAft>
            </a:pPr>
            <a:r>
              <a:rPr sz="2200">
                <a:solidFill>
                  <a:srgbClr val="1F2937"/>
                </a:solidFill>
                <a:latin typeface="Calibri"/>
              </a:rPr>
              <a:t>▸  Mexanik jarohatdan o‘lim holatlarining 60-65% i transport travmasiga to‘g‘ri keladi. Ekspertizalarning 90% idan ortig‘i avtotravmadir.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Transport travmasi statistikasi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Jahon sog‘liqni saqlash tashkiloti (JSST) bo‘yicha yiliga 1,2 mln dan ziyod kishi halok bo‘ladi.</a:t>
            </a:r>
          </a:p>
          <a:p>
            <a:pPr>
              <a:spcAft>
                <a:spcPts val="800"/>
              </a:spcAft>
            </a:pPr>
            <a:r>
              <a:rPr sz="1800">
                <a:solidFill>
                  <a:srgbClr val="1F2937"/>
                </a:solidFill>
                <a:latin typeface="Calibri"/>
              </a:rPr>
              <a:t>▸  Jahon banki hisobi: moddiy ziyon barcha mamlakatlar yalpi ichki mahsulotining 1,5-2,0 % ini tashkil etadi.</a:t>
            </a:r>
          </a:p>
          <a:p>
            <a:pPr>
              <a:spcAft>
                <a:spcPts val="800"/>
              </a:spcAft>
            </a:pPr>
            <a:r>
              <a:rPr sz="1800">
                <a:solidFill>
                  <a:srgbClr val="1F2937"/>
                </a:solidFill>
                <a:latin typeface="Calibri"/>
              </a:rPr>
              <a:t>▸  Ekspertizada transport travmasi mexanik jarohatdan o‘limning 60-65 % ini beradi.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93874"/>
                <a:gridCol w="2594100"/>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Qiymat</a:t>
                      </a:r>
                    </a:p>
                  </a:txBody>
                  <a:tcPr marL="73152" marR="73152" marT="36576" marB="36576">
                    <a:solidFill>
                      <a:srgbClr val="0B1F3A"/>
                    </a:solidFill>
                  </a:tcPr>
                </a:tc>
              </a:tr>
              <a:tr h="411480">
                <a:tc>
                  <a:txBody>
                    <a:bodyPr/>
                    <a:lstStyle/>
                    <a:p>
                      <a:r>
                        <a:rPr sz="1300" b="0">
                          <a:solidFill>
                            <a:srgbClr val="1F2937"/>
                          </a:solidFill>
                        </a:rPr>
                        <a:t>Halok bo‘lganlar (yiliga)</a:t>
                      </a:r>
                    </a:p>
                  </a:txBody>
                  <a:tcPr marL="73152" marR="73152" marT="36576" marB="36576">
                    <a:solidFill>
                      <a:srgbClr val="E8EEF6"/>
                    </a:solidFill>
                  </a:tcPr>
                </a:tc>
                <a:tc>
                  <a:txBody>
                    <a:bodyPr/>
                    <a:lstStyle/>
                    <a:p>
                      <a:r>
                        <a:rPr sz="1300" b="0">
                          <a:solidFill>
                            <a:srgbClr val="1F2937"/>
                          </a:solidFill>
                        </a:rPr>
                        <a:t>1,2 mln dan ziyod</a:t>
                      </a:r>
                    </a:p>
                  </a:txBody>
                  <a:tcPr marL="73152" marR="73152" marT="36576" marB="36576">
                    <a:solidFill>
                      <a:srgbClr val="E8EEF6"/>
                    </a:solidFill>
                  </a:tcPr>
                </a:tc>
              </a:tr>
              <a:tr h="411480">
                <a:tc>
                  <a:txBody>
                    <a:bodyPr/>
                    <a:lstStyle/>
                    <a:p>
                      <a:r>
                        <a:rPr sz="1300" b="0">
                          <a:solidFill>
                            <a:srgbClr val="1F2937"/>
                          </a:solidFill>
                        </a:rPr>
                        <a:t>Jarohat olganlar (yiliga)</a:t>
                      </a:r>
                    </a:p>
                  </a:txBody>
                  <a:tcPr marL="73152" marR="73152" marT="36576" marB="36576">
                    <a:solidFill>
                      <a:srgbClr val="FFFFFF"/>
                    </a:solidFill>
                  </a:tcPr>
                </a:tc>
                <a:tc>
                  <a:txBody>
                    <a:bodyPr/>
                    <a:lstStyle/>
                    <a:p>
                      <a:r>
                        <a:rPr sz="1300" b="0">
                          <a:solidFill>
                            <a:srgbClr val="1F2937"/>
                          </a:solidFill>
                        </a:rPr>
                        <a:t>50 mln dan ortiq</a:t>
                      </a:r>
                    </a:p>
                  </a:txBody>
                  <a:tcPr marL="73152" marR="73152" marT="36576" marB="36576">
                    <a:solidFill>
                      <a:srgbClr val="FFFFFF"/>
                    </a:solidFill>
                  </a:tcPr>
                </a:tc>
              </a:tr>
              <a:tr h="411480">
                <a:tc>
                  <a:txBody>
                    <a:bodyPr/>
                    <a:lstStyle/>
                    <a:p>
                      <a:r>
                        <a:rPr sz="1300" b="0">
                          <a:solidFill>
                            <a:srgbClr val="1F2937"/>
                          </a:solidFill>
                        </a:rPr>
                        <a:t>Mexanik jarohatdan o‘lim</a:t>
                      </a:r>
                    </a:p>
                  </a:txBody>
                  <a:tcPr marL="73152" marR="73152" marT="36576" marB="36576">
                    <a:solidFill>
                      <a:srgbClr val="E8EEF6"/>
                    </a:solidFill>
                  </a:tcPr>
                </a:tc>
                <a:tc>
                  <a:txBody>
                    <a:bodyPr/>
                    <a:lstStyle/>
                    <a:p>
                      <a:r>
                        <a:rPr sz="1300" b="0">
                          <a:solidFill>
                            <a:srgbClr val="1F2937"/>
                          </a:solidFill>
                        </a:rPr>
                        <a:t>60-65 % transport travmasi</a:t>
                      </a:r>
                    </a:p>
                  </a:txBody>
                  <a:tcPr marL="73152" marR="73152" marT="36576" marB="36576">
                    <a:solidFill>
                      <a:srgbClr val="E8EEF6"/>
                    </a:solidFill>
                  </a:tcPr>
                </a:tc>
              </a:tr>
              <a:tr h="411480">
                <a:tc>
                  <a:txBody>
                    <a:bodyPr/>
                    <a:lstStyle/>
                    <a:p>
                      <a:r>
                        <a:rPr sz="1300" b="0">
                          <a:solidFill>
                            <a:srgbClr val="1F2937"/>
                          </a:solidFill>
                        </a:rPr>
                        <a:t>Tirik shaxslar ekspertizasi</a:t>
                      </a:r>
                    </a:p>
                  </a:txBody>
                  <a:tcPr marL="73152" marR="73152" marT="36576" marB="36576">
                    <a:solidFill>
                      <a:srgbClr val="FFFFFF"/>
                    </a:solidFill>
                  </a:tcPr>
                </a:tc>
                <a:tc>
                  <a:txBody>
                    <a:bodyPr/>
                    <a:lstStyle/>
                    <a:p>
                      <a:r>
                        <a:rPr sz="1300" b="0">
                          <a:solidFill>
                            <a:srgbClr val="1F2937"/>
                          </a:solidFill>
                        </a:rPr>
                        <a:t>20-25 % transport travmasi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ko‘rsatkichlar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Transport travmasining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Transport travmasi — harakatdagi transport qismlaridan va undan yiqilishda olingan jarohatlar majmui.</a:t>
            </a:r>
          </a:p>
          <a:p>
            <a:pPr>
              <a:spcAft>
                <a:spcPts val="800"/>
              </a:spcAft>
            </a:pPr>
            <a:r>
              <a:rPr sz="1800">
                <a:solidFill>
                  <a:srgbClr val="1F2937"/>
                </a:solidFill>
                <a:latin typeface="Calibri"/>
              </a:rPr>
              <a:t>▸  Avtomobil travmasi eng ko‘p uchraydi: ekspertizalarning 90 % idan ortig‘ini tashkil etadi.</a:t>
            </a:r>
          </a:p>
          <a:p>
            <a:pPr>
              <a:spcAft>
                <a:spcPts val="800"/>
              </a:spcAft>
            </a:pPr>
            <a:r>
              <a:rPr sz="1800">
                <a:solidFill>
                  <a:srgbClr val="1F2937"/>
                </a:solidFill>
                <a:latin typeface="Calibri"/>
              </a:rPr>
              <a:t>▸  Turli transport vositalari to‘qnashuvi murakkab travma deyiladi, masalan mototsikl-avtomobil.</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Turlari</a:t>
                      </a:r>
                    </a:p>
                  </a:txBody>
                  <a:tcPr marL="73152" marR="73152" marT="36576" marB="36576">
                    <a:solidFill>
                      <a:srgbClr val="0B1F3A"/>
                    </a:solidFill>
                  </a:tcPr>
                </a:tc>
              </a:tr>
              <a:tr h="411480">
                <a:tc>
                  <a:txBody>
                    <a:bodyPr/>
                    <a:lstStyle/>
                    <a:p>
                      <a:r>
                        <a:rPr sz="1300" b="0">
                          <a:solidFill>
                            <a:srgbClr val="1F2937"/>
                          </a:solidFill>
                        </a:rPr>
                        <a:t>Yo‘l transporti</a:t>
                      </a:r>
                    </a:p>
                  </a:txBody>
                  <a:tcPr marL="73152" marR="73152" marT="36576" marB="36576">
                    <a:solidFill>
                      <a:srgbClr val="E8EEF6"/>
                    </a:solidFill>
                  </a:tcPr>
                </a:tc>
                <a:tc>
                  <a:txBody>
                    <a:bodyPr/>
                    <a:lstStyle/>
                    <a:p>
                      <a:r>
                        <a:rPr sz="1300" b="0">
                          <a:solidFill>
                            <a:srgbClr val="1F2937"/>
                          </a:solidFill>
                        </a:rPr>
                        <a:t>avtomobil, mototsikl, velosiped, traktor</a:t>
                      </a:r>
                    </a:p>
                  </a:txBody>
                  <a:tcPr marL="73152" marR="73152" marT="36576" marB="36576">
                    <a:solidFill>
                      <a:srgbClr val="E8EEF6"/>
                    </a:solidFill>
                  </a:tcPr>
                </a:tc>
              </a:tr>
              <a:tr h="411480">
                <a:tc>
                  <a:txBody>
                    <a:bodyPr/>
                    <a:lstStyle/>
                    <a:p>
                      <a:r>
                        <a:rPr sz="1300" b="0">
                          <a:solidFill>
                            <a:srgbClr val="1F2937"/>
                          </a:solidFill>
                        </a:rPr>
                        <a:t>Rels transporti</a:t>
                      </a:r>
                    </a:p>
                  </a:txBody>
                  <a:tcPr marL="73152" marR="73152" marT="36576" marB="36576">
                    <a:solidFill>
                      <a:srgbClr val="FFFFFF"/>
                    </a:solidFill>
                  </a:tcPr>
                </a:tc>
                <a:tc>
                  <a:txBody>
                    <a:bodyPr/>
                    <a:lstStyle/>
                    <a:p>
                      <a:r>
                        <a:rPr sz="1300" b="0">
                          <a:solidFill>
                            <a:srgbClr val="1F2937"/>
                          </a:solidFill>
                        </a:rPr>
                        <a:t>rels travmasi</a:t>
                      </a:r>
                    </a:p>
                  </a:txBody>
                  <a:tcPr marL="73152" marR="73152" marT="36576" marB="36576">
                    <a:solidFill>
                      <a:srgbClr val="FFFFFF"/>
                    </a:solidFill>
                  </a:tcPr>
                </a:tc>
              </a:tr>
              <a:tr h="411480">
                <a:tc>
                  <a:txBody>
                    <a:bodyPr/>
                    <a:lstStyle/>
                    <a:p>
                      <a:r>
                        <a:rPr sz="1300" b="0">
                          <a:solidFill>
                            <a:srgbClr val="1F2937"/>
                          </a:solidFill>
                        </a:rPr>
                        <a:t>Havo va suv</a:t>
                      </a:r>
                    </a:p>
                  </a:txBody>
                  <a:tcPr marL="73152" marR="73152" marT="36576" marB="36576">
                    <a:solidFill>
                      <a:srgbClr val="E8EEF6"/>
                    </a:solidFill>
                  </a:tcPr>
                </a:tc>
                <a:tc>
                  <a:txBody>
                    <a:bodyPr/>
                    <a:lstStyle/>
                    <a:p>
                      <a:r>
                        <a:rPr sz="1300" b="0">
                          <a:solidFill>
                            <a:srgbClr val="1F2937"/>
                          </a:solidFill>
                        </a:rPr>
                        <a:t>aviatsion, suv transporti</a:t>
                      </a:r>
                    </a:p>
                  </a:txBody>
                  <a:tcPr marL="73152" marR="73152" marT="36576" marB="36576">
                    <a:solidFill>
                      <a:srgbClr val="E8EEF6"/>
                    </a:solidFill>
                  </a:tcPr>
                </a:tc>
              </a:tr>
              <a:tr h="411480">
                <a:tc>
                  <a:txBody>
                    <a:bodyPr/>
                    <a:lstStyle/>
                    <a:p>
                      <a:r>
                        <a:rPr sz="1300" b="0">
                          <a:solidFill>
                            <a:srgbClr val="1F2937"/>
                          </a:solidFill>
                        </a:rPr>
                        <a:t>Murakkab</a:t>
                      </a:r>
                    </a:p>
                  </a:txBody>
                  <a:tcPr marL="73152" marR="73152" marT="36576" marB="36576">
                    <a:solidFill>
                      <a:srgbClr val="FFFFFF"/>
                    </a:solidFill>
                  </a:tcPr>
                </a:tc>
                <a:tc>
                  <a:txBody>
                    <a:bodyPr/>
                    <a:lstStyle/>
                    <a:p>
                      <a:r>
                        <a:rPr sz="1300" b="0">
                          <a:solidFill>
                            <a:srgbClr val="1F2937"/>
                          </a:solidFill>
                        </a:rPr>
                        <a:t>turli transport turlarining to‘qnashuvi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Turlar guruhi (o‘quv sxema)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Kiyim-bosh va tibbiy yordam bosqichidagi vazifalar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Vrach jarohatlarni to‘liq tekshirib tavsiflaydi, shuningdek jabrlanganning kiyim-boshi va poyafzaliga ham e’tibor beradi.</a:t>
            </a:r>
          </a:p>
          <a:p>
            <a:pPr>
              <a:spcAft>
                <a:spcPts val="1200"/>
              </a:spcAft>
            </a:pPr>
            <a:r>
              <a:rPr sz="2200">
                <a:solidFill>
                  <a:srgbClr val="1F2937"/>
                </a:solidFill>
                <a:latin typeface="Calibri"/>
              </a:rPr>
              <a:t>▸  Kiyim va poyafzalda hodisani tekshirish uchun muhim jarohat va ifloslanish alomatlari bo‘lishi mumkin.</a:t>
            </a:r>
          </a:p>
          <a:p>
            <a:pPr>
              <a:spcAft>
                <a:spcPts val="1200"/>
              </a:spcAft>
            </a:pPr>
            <a:r>
              <a:rPr sz="2200">
                <a:solidFill>
                  <a:srgbClr val="1F2937"/>
                </a:solidFill>
                <a:latin typeface="Calibri"/>
              </a:rPr>
              <a:t>▸  Ular ehtiyotkorlik bilan echiladi, kerak bo‘lsa xona sharoitida quritilib, qog‘oz o‘ramga solinadi va huquqni muhofaza etuvchi idoralar xodimlariga topshiriladi.</a:t>
            </a:r>
          </a:p>
          <a:p>
            <a:pPr>
              <a:spcAft>
                <a:spcPts val="1200"/>
              </a:spcAft>
            </a:pPr>
            <a:r>
              <a:rPr sz="2200">
                <a:solidFill>
                  <a:srgbClr val="1F2937"/>
                </a:solidFill>
                <a:latin typeface="Calibri"/>
              </a:rPr>
              <a:t>▸  Ekspertiza materiallari tahlili asosida travmatizmni kamaytirishga qaratilgan chora-tadbirlar uchun taklif va tavsiyalar beriladi.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 57-58, 58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transport travmasi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transport travmasi nima? Javob: harakatdagi transport vositasining tashqi va ichki qismlaridan hamda undan yiqilishdan olingan jarohatlar majmui.</a:t>
            </a:r>
          </a:p>
          <a:p>
            <a:pPr>
              <a:spcAft>
                <a:spcPts val="1200"/>
              </a:spcAft>
            </a:pPr>
            <a:r>
              <a:rPr sz="2200">
                <a:solidFill>
                  <a:srgbClr val="1F2937"/>
                </a:solidFill>
                <a:latin typeface="Calibri"/>
              </a:rPr>
              <a:t>▸  Savol: ulushi qancha? Mexanik jarohatdan o‘limning 60-65%i, tirik shaxslar ekspertizasida mexanik jarohatlarning 20-25%i transport travmasiga to‘g‘ri keladi.</a:t>
            </a:r>
          </a:p>
          <a:p>
            <a:pPr>
              <a:spcAft>
                <a:spcPts val="1200"/>
              </a:spcAft>
            </a:pPr>
            <a:r>
              <a:rPr sz="2200">
                <a:solidFill>
                  <a:srgbClr val="1F2937"/>
                </a:solidFill>
                <a:latin typeface="Calibri"/>
              </a:rPr>
              <a:t>▸  Savol: ekspertizalarning 90%idan ortig‘ini qaysi tur tashkil etadi? Javob: avtomobil travmasi; boshqa turlar ancha kam uchraydi.</a:t>
            </a:r>
          </a:p>
          <a:p>
            <a:pPr>
              <a:spcAft>
                <a:spcPts val="1200"/>
              </a:spcAft>
            </a:pPr>
            <a:r>
              <a:rPr sz="2200">
                <a:solidFill>
                  <a:srgbClr val="1F2937"/>
                </a:solidFill>
                <a:latin typeface="Calibri"/>
              </a:rPr>
              <a:t>▸  Diqqat: turli transport vositalarining to‘qnashuvida olingan jarohat murakkab transport travmasi deyiladi (masalan, mototsikl-avtomobil).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Avtotravma tasnifi (Matishev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Matishev va boshqalar (1968) tasnifi bo‘yicha avtotravmaning olti turi farqlanadi.</a:t>
            </a:r>
          </a:p>
          <a:p>
            <a:pPr>
              <a:spcAft>
                <a:spcPts val="800"/>
              </a:spcAft>
            </a:pPr>
            <a:r>
              <a:rPr sz="1800">
                <a:solidFill>
                  <a:srgbClr val="1F2937"/>
                </a:solidFill>
                <a:latin typeface="Calibri"/>
              </a:rPr>
              <a:t>▸  Jarohatlar zarb, siqilish, cho‘zilish, ishqalanish va chayqalish mexanizmlari bo‘yicha hosil bo‘ladi.</a:t>
            </a:r>
          </a:p>
          <a:p>
            <a:pPr>
              <a:spcAft>
                <a:spcPts val="800"/>
              </a:spcAft>
            </a:pPr>
            <a:r>
              <a:rPr sz="1800">
                <a:solidFill>
                  <a:srgbClr val="1F2937"/>
                </a:solidFill>
                <a:latin typeface="Calibri"/>
              </a:rPr>
              <a:t>▸  Har bir tur turli variantlarda kuzatiladi; jarohatlar tur bilan birga variantga ham bog‘liq.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993826"/>
                <a:gridCol w="3294148"/>
              </a:tblGrid>
              <a:tr h="411480">
                <a:tc>
                  <a:txBody>
                    <a:bodyPr/>
                    <a:lstStyle/>
                    <a:p>
                      <a:r>
                        <a:rPr sz="1400" b="1">
                          <a:solidFill>
                            <a:srgbClr val="FFFFFF"/>
                          </a:solidFill>
                        </a:rPr>
                        <a:t>Tur</a:t>
                      </a:r>
                    </a:p>
                  </a:txBody>
                  <a:tcPr marL="73152" marR="73152" marT="36576" marB="36576">
                    <a:solidFill>
                      <a:srgbClr val="0B1F3A"/>
                    </a:solidFill>
                  </a:tcPr>
                </a:tc>
                <a:tc>
                  <a:txBody>
                    <a:bodyPr/>
                    <a:lstStyle/>
                    <a:p>
                      <a:r>
                        <a:rPr sz="1400" b="1">
                          <a:solidFill>
                            <a:srgbClr val="FFFFFF"/>
                          </a:solidFill>
                        </a:rPr>
                        <a:t>Mohiyati</a:t>
                      </a:r>
                    </a:p>
                  </a:txBody>
                  <a:tcPr marL="73152" marR="73152" marT="36576" marB="36576">
                    <a:solidFill>
                      <a:srgbClr val="0B1F3A"/>
                    </a:solidFill>
                  </a:tcPr>
                </a:tc>
              </a:tr>
              <a:tr h="411480">
                <a:tc>
                  <a:txBody>
                    <a:bodyPr/>
                    <a:lstStyle/>
                    <a:p>
                      <a:r>
                        <a:rPr sz="1300" b="0">
                          <a:solidFill>
                            <a:srgbClr val="1F2937"/>
                          </a:solidFill>
                        </a:rPr>
                        <a:t>1. To‘qnashuv</a:t>
                      </a:r>
                    </a:p>
                  </a:txBody>
                  <a:tcPr marL="73152" marR="73152" marT="36576" marB="36576">
                    <a:solidFill>
                      <a:srgbClr val="E8EEF6"/>
                    </a:solidFill>
                  </a:tcPr>
                </a:tc>
                <a:tc>
                  <a:txBody>
                    <a:bodyPr/>
                    <a:lstStyle/>
                    <a:p>
                      <a:r>
                        <a:rPr sz="1300" b="0">
                          <a:solidFill>
                            <a:srgbClr val="1F2937"/>
                          </a:solidFill>
                        </a:rPr>
                        <a:t>Avtomobil bilan to‘qnashuv</a:t>
                      </a:r>
                    </a:p>
                  </a:txBody>
                  <a:tcPr marL="73152" marR="73152" marT="36576" marB="36576">
                    <a:solidFill>
                      <a:srgbClr val="E8EEF6"/>
                    </a:solidFill>
                  </a:tcPr>
                </a:tc>
              </a:tr>
              <a:tr h="411480">
                <a:tc>
                  <a:txBody>
                    <a:bodyPr/>
                    <a:lstStyle/>
                    <a:p>
                      <a:r>
                        <a:rPr sz="1300" b="0">
                          <a:solidFill>
                            <a:srgbClr val="1F2937"/>
                          </a:solidFill>
                        </a:rPr>
                        <a:t>2. Bosib o‘tish</a:t>
                      </a:r>
                    </a:p>
                  </a:txBody>
                  <a:tcPr marL="73152" marR="73152" marT="36576" marB="36576">
                    <a:solidFill>
                      <a:srgbClr val="FFFFFF"/>
                    </a:solidFill>
                  </a:tcPr>
                </a:tc>
                <a:tc>
                  <a:txBody>
                    <a:bodyPr/>
                    <a:lstStyle/>
                    <a:p>
                      <a:r>
                        <a:rPr sz="1300" b="0">
                          <a:solidFill>
                            <a:srgbClr val="1F2937"/>
                          </a:solidFill>
                        </a:rPr>
                        <a:t>Avtomobil g‘ildiraklari bilan</a:t>
                      </a:r>
                    </a:p>
                  </a:txBody>
                  <a:tcPr marL="73152" marR="73152" marT="36576" marB="36576">
                    <a:solidFill>
                      <a:srgbClr val="FFFFFF"/>
                    </a:solidFill>
                  </a:tcPr>
                </a:tc>
              </a:tr>
              <a:tr h="411480">
                <a:tc>
                  <a:txBody>
                    <a:bodyPr/>
                    <a:lstStyle/>
                    <a:p>
                      <a:r>
                        <a:rPr sz="1300" b="0">
                          <a:solidFill>
                            <a:srgbClr val="1F2937"/>
                          </a:solidFill>
                        </a:rPr>
                        <a:t>3-4. Ichida, tushish</a:t>
                      </a:r>
                    </a:p>
                  </a:txBody>
                  <a:tcPr marL="73152" marR="73152" marT="36576" marB="36576">
                    <a:solidFill>
                      <a:srgbClr val="E8EEF6"/>
                    </a:solidFill>
                  </a:tcPr>
                </a:tc>
                <a:tc>
                  <a:txBody>
                    <a:bodyPr/>
                    <a:lstStyle/>
                    <a:p>
                      <a:r>
                        <a:rPr sz="1300" b="0">
                          <a:solidFill>
                            <a:srgbClr val="1F2937"/>
                          </a:solidFill>
                        </a:rPr>
                        <a:t>Salonda shikastlanish; yiqilish</a:t>
                      </a:r>
                    </a:p>
                  </a:txBody>
                  <a:tcPr marL="73152" marR="73152" marT="36576" marB="36576">
                    <a:solidFill>
                      <a:srgbClr val="E8EEF6"/>
                    </a:solidFill>
                  </a:tcPr>
                </a:tc>
              </a:tr>
              <a:tr h="411480">
                <a:tc>
                  <a:txBody>
                    <a:bodyPr/>
                    <a:lstStyle/>
                    <a:p>
                      <a:r>
                        <a:rPr sz="1300" b="0">
                          <a:solidFill>
                            <a:srgbClr val="1F2937"/>
                          </a:solidFill>
                        </a:rPr>
                        <a:t>5-6. Qisilish, murakkab</a:t>
                      </a:r>
                    </a:p>
                  </a:txBody>
                  <a:tcPr marL="73152" marR="73152" marT="36576" marB="36576">
                    <a:solidFill>
                      <a:srgbClr val="FFFFFF"/>
                    </a:solidFill>
                  </a:tcPr>
                </a:tc>
                <a:tc>
                  <a:txBody>
                    <a:bodyPr/>
                    <a:lstStyle/>
                    <a:p>
                      <a:r>
                        <a:rPr sz="1300" b="0">
                          <a:solidFill>
                            <a:srgbClr val="1F2937"/>
                          </a:solidFill>
                        </a:rPr>
                        <a:t>Qisilish; ikki va undan ko‘p tur birga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Avtotravma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Avtotravmada jarohat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xos jarohat turga mos; xos bo‘lmagani bo‘yicha avtotravma haqida to‘xtam qilib bo‘lmaydi.</a:t>
            </a:r>
          </a:p>
          <a:p>
            <a:pPr>
              <a:spcAft>
                <a:spcPts val="800"/>
              </a:spcAft>
            </a:pPr>
            <a:r>
              <a:rPr sz="1800">
                <a:solidFill>
                  <a:srgbClr val="1F2937"/>
                </a:solidFill>
                <a:latin typeface="Calibri"/>
              </a:rPr>
              <a:t>▸  Spetsifik jarohatlar kontakt jarohat ham deyiladi; ular bo‘yicha ba’zan konkret avtomobilni aniqlash mumkin.</a:t>
            </a:r>
          </a:p>
          <a:p>
            <a:pPr>
              <a:spcAft>
                <a:spcPts val="800"/>
              </a:spcAft>
            </a:pPr>
            <a:r>
              <a:rPr sz="1800">
                <a:solidFill>
                  <a:srgbClr val="1F2937"/>
                </a:solidFill>
                <a:latin typeface="Calibri"/>
              </a:rPr>
              <a:t>▸  Guruhlash mexanizmni, avtotravma turini va ba’zan fazasini aniqlashga yordam beradi.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95383"/>
                <a:gridCol w="2177401"/>
                <a:gridCol w="2115190"/>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Belgisi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Spetsifik</a:t>
                      </a:r>
                    </a:p>
                  </a:txBody>
                  <a:tcPr marL="73152" marR="73152" marT="36576" marB="36576">
                    <a:solidFill>
                      <a:srgbClr val="E8EEF6"/>
                    </a:solidFill>
                  </a:tcPr>
                </a:tc>
                <a:tc>
                  <a:txBody>
                    <a:bodyPr/>
                    <a:lstStyle/>
                    <a:p>
                      <a:r>
                        <a:rPr sz="1200" b="0">
                          <a:solidFill>
                            <a:srgbClr val="1F2937"/>
                          </a:solidFill>
                        </a:rPr>
                        <a:t>Avtomobil qismi shakliga mos</a:t>
                      </a:r>
                    </a:p>
                  </a:txBody>
                  <a:tcPr marL="73152" marR="73152" marT="36576" marB="36576">
                    <a:solidFill>
                      <a:srgbClr val="E8EEF6"/>
                    </a:solidFill>
                  </a:tcPr>
                </a:tc>
                <a:tc>
                  <a:txBody>
                    <a:bodyPr/>
                    <a:lstStyle/>
                    <a:p>
                      <a:r>
                        <a:rPr sz="1200" b="0">
                          <a:solidFill>
                            <a:srgbClr val="1F2937"/>
                          </a:solidFill>
                        </a:rPr>
                        <a:t>Fara, old bezak, protektor izi</a:t>
                      </a:r>
                    </a:p>
                  </a:txBody>
                  <a:tcPr marL="73152" marR="73152" marT="36576" marB="36576">
                    <a:solidFill>
                      <a:srgbClr val="E8EEF6"/>
                    </a:solidFill>
                  </a:tcPr>
                </a:tc>
              </a:tr>
              <a:tr h="411480">
                <a:tc>
                  <a:txBody>
                    <a:bodyPr/>
                    <a:lstStyle/>
                    <a:p>
                      <a:r>
                        <a:rPr sz="1200" b="0">
                          <a:solidFill>
                            <a:srgbClr val="1F2937"/>
                          </a:solidFill>
                        </a:rPr>
                        <a:t>Xos</a:t>
                      </a:r>
                    </a:p>
                  </a:txBody>
                  <a:tcPr marL="73152" marR="73152" marT="36576" marB="36576">
                    <a:solidFill>
                      <a:srgbClr val="FFFFFF"/>
                    </a:solidFill>
                  </a:tcPr>
                </a:tc>
                <a:tc>
                  <a:txBody>
                    <a:bodyPr/>
                    <a:lstStyle/>
                    <a:p>
                      <a:r>
                        <a:rPr sz="1200" b="0">
                          <a:solidFill>
                            <a:srgbClr val="1F2937"/>
                          </a:solidFill>
                        </a:rPr>
                        <a:t>Tur yoki fazaga mos</a:t>
                      </a:r>
                    </a:p>
                  </a:txBody>
                  <a:tcPr marL="73152" marR="73152" marT="36576" marB="36576">
                    <a:solidFill>
                      <a:srgbClr val="FFFFFF"/>
                    </a:solidFill>
                  </a:tcPr>
                </a:tc>
                <a:tc>
                  <a:txBody>
                    <a:bodyPr/>
                    <a:lstStyle/>
                    <a:p>
                      <a:r>
                        <a:rPr sz="1200" b="0">
                          <a:solidFill>
                            <a:srgbClr val="1F2937"/>
                          </a:solidFill>
                        </a:rPr>
                        <a:t>Bamper-jarohat, qamchisimon sinish</a:t>
                      </a:r>
                    </a:p>
                  </a:txBody>
                  <a:tcPr marL="73152" marR="73152" marT="36576" marB="36576">
                    <a:solidFill>
                      <a:srgbClr val="FFFFFF"/>
                    </a:solidFill>
                  </a:tcPr>
                </a:tc>
              </a:tr>
              <a:tr h="411480">
                <a:tc>
                  <a:txBody>
                    <a:bodyPr/>
                    <a:lstStyle/>
                    <a:p>
                      <a:r>
                        <a:rPr sz="1200" b="0">
                          <a:solidFill>
                            <a:srgbClr val="1F2937"/>
                          </a:solidFill>
                        </a:rPr>
                        <a:t>Xos bo‘lmagan</a:t>
                      </a:r>
                    </a:p>
                  </a:txBody>
                  <a:tcPr marL="73152" marR="73152" marT="36576" marB="36576">
                    <a:solidFill>
                      <a:srgbClr val="E8EEF6"/>
                    </a:solidFill>
                  </a:tcPr>
                </a:tc>
                <a:tc>
                  <a:txBody>
                    <a:bodyPr/>
                    <a:lstStyle/>
                    <a:p>
                      <a:r>
                        <a:rPr sz="1200" b="0">
                          <a:solidFill>
                            <a:srgbClr val="1F2937"/>
                          </a:solidFill>
                        </a:rPr>
                        <a:t>Avtotravma haqida xulosa berilmaydi</a:t>
                      </a:r>
                    </a:p>
                  </a:txBody>
                  <a:tcPr marL="73152" marR="73152" marT="36576" marB="36576">
                    <a:solidFill>
                      <a:srgbClr val="E8EEF6"/>
                    </a:solidFill>
                  </a:tcPr>
                </a:tc>
                <a:tc>
                  <a:txBody>
                    <a:bodyPr/>
                    <a:lstStyle/>
                    <a:p>
                      <a:r>
                        <a:rPr sz="1200" b="0">
                          <a:solidFill>
                            <a:srgbClr val="1F2937"/>
                          </a:solidFill>
                        </a:rPr>
                        <a:t>Shilinma, qontalash, ayrim yaralar</a:t>
                      </a:r>
                    </a:p>
                  </a:txBody>
                  <a:tcPr marL="73152" marR="73152" marT="36576" marB="36576">
                    <a:solidFill>
                      <a:srgbClr val="E8EEF6"/>
                    </a:solidFill>
                  </a:tcPr>
                </a:tc>
              </a:tr>
              <a:tr h="411480">
                <a:tc>
                  <a:txBody>
                    <a:bodyPr/>
                    <a:lstStyle/>
                    <a:p>
                      <a:r>
                        <a:rPr sz="1200" b="0">
                          <a:solidFill>
                            <a:srgbClr val="1F2937"/>
                          </a:solidFill>
                        </a:rPr>
                        <a:t>Imitatsion</a:t>
                      </a:r>
                    </a:p>
                  </a:txBody>
                  <a:tcPr marL="73152" marR="73152" marT="36576" marB="36576">
                    <a:solidFill>
                      <a:srgbClr val="FFFFFF"/>
                    </a:solidFill>
                  </a:tcPr>
                </a:tc>
                <a:tc>
                  <a:txBody>
                    <a:bodyPr/>
                    <a:lstStyle/>
                    <a:p>
                      <a:r>
                        <a:rPr sz="1200" b="0">
                          <a:solidFill>
                            <a:srgbClr val="1F2937"/>
                          </a:solidFill>
                        </a:rPr>
                        <a:t>Boshqa hodisadagiga o‘xshaydi</a:t>
                      </a:r>
                    </a:p>
                  </a:txBody>
                  <a:tcPr marL="73152" marR="73152" marT="36576" marB="36576">
                    <a:solidFill>
                      <a:srgbClr val="FFFFFF"/>
                    </a:solidFill>
                  </a:tcPr>
                </a:tc>
                <a:tc>
                  <a:txBody>
                    <a:bodyPr/>
                    <a:lstStyle/>
                    <a:p>
                      <a:r>
                        <a:rPr sz="1200" b="0">
                          <a:solidFill>
                            <a:srgbClr val="1F2937"/>
                          </a:solidFill>
                        </a:rPr>
                        <a:t>Old oyna siniqlaridan kesma yara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Jarohat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60,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xos bo‘lmagan va imitatsion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Xos bo‘lmagan jarohatlar (shilinma, qontalash, ayrim yaralar) spetsifik ham, xos ham belgiga ega emas. Ular bo‘yicha avtotravma haqida xulosa qilib bo‘lmaydi.</a:t>
            </a:r>
          </a:p>
          <a:p>
            <a:pPr>
              <a:spcAft>
                <a:spcPts val="1200"/>
              </a:spcAft>
            </a:pPr>
            <a:r>
              <a:rPr sz="2200">
                <a:solidFill>
                  <a:srgbClr val="1F2937"/>
                </a:solidFill>
                <a:latin typeface="Calibri"/>
              </a:rPr>
              <a:t>▸  Imitatsion jarohatlar boshqa hodisalardagi jarohatlarga o‘xshaydi. Old oyna siniqlaridan kesma yoki sanchma-kesma yaralar hosil bo‘ladi.</a:t>
            </a:r>
          </a:p>
          <a:p>
            <a:pPr>
              <a:spcAft>
                <a:spcPts val="1200"/>
              </a:spcAft>
            </a:pPr>
            <a:r>
              <a:rPr sz="2200">
                <a:solidFill>
                  <a:srgbClr val="1F2937"/>
                </a:solidFill>
                <a:latin typeface="Calibri"/>
              </a:rPr>
              <a:t>▸  Tashqariga bo‘rtib turgan boltlardan olingan jarohat sanchma yarani eslatadi. Shuning uchun uni boshqa hodisa jarohati bilan adashtirish mumkin.</a:t>
            </a:r>
          </a:p>
          <a:p>
            <a:pPr>
              <a:spcAft>
                <a:spcPts val="1200"/>
              </a:spcAft>
            </a:pPr>
            <a:r>
              <a:rPr sz="2200">
                <a:solidFill>
                  <a:srgbClr val="1F2937"/>
                </a:solidFill>
                <a:latin typeface="Calibri"/>
              </a:rPr>
              <a:t>▸  Diqqat: shilinma, qontalash yoki yara topilishi avtotravmani o‘zi isbotlamaydi. Jarohatlarni guruhlash mexanizmni aniqlash uchun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avtotravma jarohatlari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jabrlanganning tanasida fara shakliga mos shilinma va qontalash topilgan. Savol: bu jarohat qaysi guruhga kiradi?</a:t>
            </a:r>
          </a:p>
          <a:p>
            <a:pPr>
              <a:spcAft>
                <a:spcPts val="1200"/>
              </a:spcAft>
            </a:pPr>
            <a:r>
              <a:rPr sz="2200">
                <a:solidFill>
                  <a:srgbClr val="1F2937"/>
                </a:solidFill>
                <a:latin typeface="Calibri"/>
              </a:rPr>
              <a:t>▸  Javob: bu spetsifik (kontakt) jarohat. U avtomobilning ma’lum qismi (fara, old bezak, shina protektori) ta’siridan hosil bo‘ladi.</a:t>
            </a:r>
          </a:p>
          <a:p>
            <a:pPr>
              <a:spcAft>
                <a:spcPts val="1200"/>
              </a:spcAft>
            </a:pPr>
            <a:r>
              <a:rPr sz="2200">
                <a:solidFill>
                  <a:srgbClr val="1F2937"/>
                </a:solidFill>
                <a:latin typeface="Calibri"/>
              </a:rPr>
              <a:t>▸  Shakli, o‘lchami va rasmi avtomobilning kontaktda bo‘lgan qismiga mos keladi. Shu bo‘yicha travma turi, ba’zan konkret avtomobil aniqlanadi.</a:t>
            </a:r>
          </a:p>
          <a:p>
            <a:pPr>
              <a:spcAft>
                <a:spcPts val="1200"/>
              </a:spcAft>
            </a:pPr>
            <a:r>
              <a:rPr sz="2200">
                <a:solidFill>
                  <a:srgbClr val="1F2937"/>
                </a:solidFill>
                <a:latin typeface="Calibri"/>
              </a:rPr>
              <a:t>▸  Savol: qolgan uch guruhdan (xos, xos bo‘lmagan, imitatsion) farqini qanday izohlaysiz? Bunday izlar odatda birinchi fazada, zarbda paydo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61,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Piyoda va avtomobil to‘qnashuvi: to‘rt faza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Aksariyat hollarda piyodaning avtomobil old qismi bilan to‘qnashuvida to‘rt faza farqlanadi.</a:t>
            </a:r>
          </a:p>
          <a:p>
            <a:pPr>
              <a:spcAft>
                <a:spcPts val="800"/>
              </a:spcAft>
            </a:pPr>
            <a:r>
              <a:rPr sz="1800">
                <a:solidFill>
                  <a:srgbClr val="1F2937"/>
                </a:solidFill>
                <a:latin typeface="Calibri"/>
              </a:rPr>
              <a:t>▸  Yuk avtomobili, vagon kuzovli va yon qism bilan to‘qnashuvda hamda yosh bolalarda ikkinchi faza bo‘lmaydi.</a:t>
            </a:r>
          </a:p>
          <a:p>
            <a:pPr>
              <a:spcAft>
                <a:spcPts val="800"/>
              </a:spcAft>
            </a:pPr>
            <a:r>
              <a:rPr sz="1800">
                <a:solidFill>
                  <a:srgbClr val="1F2937"/>
                </a:solidFill>
                <a:latin typeface="Calibri"/>
              </a:rPr>
              <a:t>▸  Tezlik past bo‘lsa to‘rtinchi faza bo‘lmasligi mumkin; sirpanishda parallel shilinmalar hosil bo‘ladi.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Avtomobil qismi bilan zarb</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Avtomobilga yiqilish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Uloqtirilish va erga tushish</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Erda sirpanish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Fazalar ketma-ketligi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61, 61-62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Birinchi faza: bamper-jarohatlar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Bamper ta’sirida odatda ko‘ndalang joylashgan shilinma, qontalash yoki yara hosil bo‘ladi. Bu jarohatlar bamper-jarohat deyiladi.</a:t>
            </a:r>
          </a:p>
          <a:p>
            <a:pPr>
              <a:spcAft>
                <a:spcPts val="1200"/>
              </a:spcAft>
            </a:pPr>
            <a:r>
              <a:rPr sz="2200">
                <a:solidFill>
                  <a:srgbClr val="1F2937"/>
                </a:solidFill>
                <a:latin typeface="Calibri"/>
              </a:rPr>
              <a:t>▸  Oyoq suyagi sinishi bamper balandligi va tezlikka bog‘liq. Yengil avtomobilda boldir suyaklari, yuk avtomobilida son suyaklari sinadi.</a:t>
            </a:r>
          </a:p>
          <a:p>
            <a:pPr>
              <a:spcAft>
                <a:spcPts val="1200"/>
              </a:spcAft>
            </a:pPr>
            <a:r>
              <a:rPr sz="2200">
                <a:solidFill>
                  <a:srgbClr val="1F2937"/>
                </a:solidFill>
                <a:latin typeface="Calibri"/>
              </a:rPr>
              <a:t>▸  Bamper-sinish odatda uchburchak shaklda bo‘ladi, asosi birlamchi zarb tomonida turadi. Bamper ingichka va tezlik 55–60 km/soatdan katta bo‘lsa, halqasimon sinish ham mumkin.</a:t>
            </a:r>
          </a:p>
          <a:p>
            <a:pPr>
              <a:spcAft>
                <a:spcPts val="1200"/>
              </a:spcAft>
            </a:pPr>
            <a:r>
              <a:rPr sz="2200">
                <a:solidFill>
                  <a:srgbClr val="1F2937"/>
                </a:solidFill>
                <a:latin typeface="Calibri"/>
              </a:rPr>
              <a:t>▸  Diqqat: uchburchak asosi zarb tomonida bo‘ladi, buni teskari aytmang. Shu fazada bo‘yin umurtqalarining “qamchisimon” sinishi ham uchrashi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2–4-fazalarda jarohatlar va fazalar o‘tkazilishi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Yuk avtomobili, vagon kuzovli mashina va avtomobilning yon qismi bilan to‘qnashuvda ikkinchi faza kuzatilmaydi.</a:t>
            </a:r>
          </a:p>
          <a:p>
            <a:pPr>
              <a:spcAft>
                <a:spcPts val="800"/>
              </a:spcAft>
            </a:pPr>
            <a:r>
              <a:rPr sz="1800">
                <a:solidFill>
                  <a:srgbClr val="1F2937"/>
                </a:solidFill>
                <a:latin typeface="Calibri"/>
              </a:rPr>
              <a:t>▸  Yosh bolalarda dastlabki zarb og‘irlik markazidan yuqoriga tushgani uchun ikkinchi faza bo‘lmaydi.</a:t>
            </a:r>
          </a:p>
          <a:p>
            <a:pPr>
              <a:spcAft>
                <a:spcPts val="800"/>
              </a:spcAft>
            </a:pPr>
            <a:r>
              <a:rPr sz="1800">
                <a:solidFill>
                  <a:srgbClr val="1F2937"/>
                </a:solidFill>
                <a:latin typeface="Calibri"/>
              </a:rPr>
              <a:t>▸  Tezlik past bo‘lsa, to‘rtinchi faza bo‘lmasligi mumkin.</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098800"/>
                <a:gridCol w="2747000"/>
                <a:gridCol w="1442175"/>
              </a:tblGrid>
              <a:tr h="411480">
                <a:tc>
                  <a:txBody>
                    <a:bodyPr/>
                    <a:lstStyle/>
                    <a:p>
                      <a:r>
                        <a:rPr sz="1300" b="1">
                          <a:solidFill>
                            <a:srgbClr val="FFFFFF"/>
                          </a:solidFill>
                        </a:rPr>
                        <a:t>Faza</a:t>
                      </a:r>
                    </a:p>
                  </a:txBody>
                  <a:tcPr marL="73152" marR="73152" marT="36576" marB="36576">
                    <a:solidFill>
                      <a:srgbClr val="0B1F3A"/>
                    </a:solidFill>
                  </a:tcPr>
                </a:tc>
                <a:tc>
                  <a:txBody>
                    <a:bodyPr/>
                    <a:lstStyle/>
                    <a:p>
                      <a:r>
                        <a:rPr sz="1300" b="1">
                          <a:solidFill>
                            <a:srgbClr val="FFFFFF"/>
                          </a:solidFill>
                        </a:rPr>
                        <a:t>Jarohat joyi</a:t>
                      </a:r>
                    </a:p>
                  </a:txBody>
                  <a:tcPr marL="73152" marR="73152" marT="36576" marB="36576">
                    <a:solidFill>
                      <a:srgbClr val="0B1F3A"/>
                    </a:solidFill>
                  </a:tcPr>
                </a:tc>
                <a:tc>
                  <a:txBody>
                    <a:bodyPr/>
                    <a:lstStyle/>
                    <a:p>
                      <a:r>
                        <a:rPr sz="1300" b="1">
                          <a:solidFill>
                            <a:srgbClr val="FFFFFF"/>
                          </a:solidFill>
                        </a:rPr>
                        <a:t>Mexanizm</a:t>
                      </a:r>
                    </a:p>
                  </a:txBody>
                  <a:tcPr marL="73152" marR="73152" marT="36576" marB="36576">
                    <a:solidFill>
                      <a:srgbClr val="0B1F3A"/>
                    </a:solidFill>
                  </a:tcPr>
                </a:tc>
              </a:tr>
              <a:tr h="411480">
                <a:tc>
                  <a:txBody>
                    <a:bodyPr/>
                    <a:lstStyle/>
                    <a:p>
                      <a:r>
                        <a:rPr sz="1200" b="0">
                          <a:solidFill>
                            <a:srgbClr val="1F2937"/>
                          </a:solidFill>
                        </a:rPr>
                        <a:t>2-faza</a:t>
                      </a:r>
                    </a:p>
                  </a:txBody>
                  <a:tcPr marL="73152" marR="73152" marT="36576" marB="36576">
                    <a:solidFill>
                      <a:srgbClr val="E8EEF6"/>
                    </a:solidFill>
                  </a:tcPr>
                </a:tc>
                <a:tc>
                  <a:txBody>
                    <a:bodyPr/>
                    <a:lstStyle/>
                    <a:p>
                      <a:r>
                        <a:rPr sz="1200" b="0">
                          <a:solidFill>
                            <a:srgbClr val="1F2937"/>
                          </a:solidFill>
                        </a:rPr>
                        <a:t>Birinchi ta’sir tomonida; bosh, ko‘krak</a:t>
                      </a:r>
                    </a:p>
                  </a:txBody>
                  <a:tcPr marL="73152" marR="73152" marT="36576" marB="36576">
                    <a:solidFill>
                      <a:srgbClr val="E8EEF6"/>
                    </a:solidFill>
                  </a:tcPr>
                </a:tc>
                <a:tc>
                  <a:txBody>
                    <a:bodyPr/>
                    <a:lstStyle/>
                    <a:p>
                      <a:r>
                        <a:rPr sz="1200" b="0">
                          <a:solidFill>
                            <a:srgbClr val="1F2937"/>
                          </a:solidFill>
                        </a:rPr>
                        <a:t>Zarb, chayqalish</a:t>
                      </a:r>
                    </a:p>
                  </a:txBody>
                  <a:tcPr marL="73152" marR="73152" marT="36576" marB="36576">
                    <a:solidFill>
                      <a:srgbClr val="E8EEF6"/>
                    </a:solidFill>
                  </a:tcPr>
                </a:tc>
              </a:tr>
              <a:tr h="411480">
                <a:tc>
                  <a:txBody>
                    <a:bodyPr/>
                    <a:lstStyle/>
                    <a:p>
                      <a:r>
                        <a:rPr sz="1200" b="0">
                          <a:solidFill>
                            <a:srgbClr val="1F2937"/>
                          </a:solidFill>
                        </a:rPr>
                        <a:t>3-faza</a:t>
                      </a:r>
                    </a:p>
                  </a:txBody>
                  <a:tcPr marL="73152" marR="73152" marT="36576" marB="36576">
                    <a:solidFill>
                      <a:srgbClr val="FFFFFF"/>
                    </a:solidFill>
                  </a:tcPr>
                </a:tc>
                <a:tc>
                  <a:txBody>
                    <a:bodyPr/>
                    <a:lstStyle/>
                    <a:p>
                      <a:r>
                        <a:rPr sz="1200" b="0">
                          <a:solidFill>
                            <a:srgbClr val="1F2937"/>
                          </a:solidFill>
                        </a:rPr>
                        <a:t>Birinchi ta’sirga qarama-qarshi tomonda</a:t>
                      </a:r>
                    </a:p>
                  </a:txBody>
                  <a:tcPr marL="73152" marR="73152" marT="36576" marB="36576">
                    <a:solidFill>
                      <a:srgbClr val="FFFFFF"/>
                    </a:solidFill>
                  </a:tcPr>
                </a:tc>
                <a:tc>
                  <a:txBody>
                    <a:bodyPr/>
                    <a:lstStyle/>
                    <a:p>
                      <a:r>
                        <a:rPr sz="1200" b="0">
                          <a:solidFill>
                            <a:srgbClr val="1F2937"/>
                          </a:solidFill>
                        </a:rPr>
                        <a:t>Erga zarb, chayqalish</a:t>
                      </a:r>
                    </a:p>
                  </a:txBody>
                  <a:tcPr marL="73152" marR="73152" marT="36576" marB="36576">
                    <a:solidFill>
                      <a:srgbClr val="FFFFFF"/>
                    </a:solidFill>
                  </a:tcPr>
                </a:tc>
              </a:tr>
              <a:tr h="411480">
                <a:tc>
                  <a:txBody>
                    <a:bodyPr/>
                    <a:lstStyle/>
                    <a:p>
                      <a:r>
                        <a:rPr sz="1200" b="0">
                          <a:solidFill>
                            <a:srgbClr val="1F2937"/>
                          </a:solidFill>
                        </a:rPr>
                        <a:t>4-faza</a:t>
                      </a:r>
                    </a:p>
                  </a:txBody>
                  <a:tcPr marL="73152" marR="73152" marT="36576" marB="36576">
                    <a:solidFill>
                      <a:srgbClr val="E8EEF6"/>
                    </a:solidFill>
                  </a:tcPr>
                </a:tc>
                <a:tc>
                  <a:txBody>
                    <a:bodyPr/>
                    <a:lstStyle/>
                    <a:p>
                      <a:r>
                        <a:rPr sz="1200" b="0">
                          <a:solidFill>
                            <a:srgbClr val="1F2937"/>
                          </a:solidFill>
                        </a:rPr>
                        <a:t>Sirpanish yo‘nalishiga mos parallel shilinma</a:t>
                      </a:r>
                    </a:p>
                  </a:txBody>
                  <a:tcPr marL="73152" marR="73152" marT="36576" marB="36576">
                    <a:solidFill>
                      <a:srgbClr val="E8EEF6"/>
                    </a:solidFill>
                  </a:tcPr>
                </a:tc>
                <a:tc>
                  <a:txBody>
                    <a:bodyPr/>
                    <a:lstStyle/>
                    <a:p>
                      <a:r>
                        <a:rPr sz="1200" b="0">
                          <a:solidFill>
                            <a:srgbClr val="1F2937"/>
                          </a:solidFill>
                        </a:rPr>
                        <a:t>Erda sirpanish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2–4-fazalar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bamper-sinish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harakatdagi avtomobil bilan to‘qnashgan piyodada boldir suyaklari sinishi va oyoqda ko‘ndalang shilinma aniqlandi.</a:t>
            </a:r>
          </a:p>
          <a:p>
            <a:pPr>
              <a:spcAft>
                <a:spcPts val="1200"/>
              </a:spcAft>
            </a:pPr>
            <a:r>
              <a:rPr sz="2200">
                <a:solidFill>
                  <a:srgbClr val="1F2937"/>
                </a:solidFill>
                <a:latin typeface="Calibri"/>
              </a:rPr>
              <a:t>▸  Sinish uchburchak shaklda ekani aniqlandi. Uning asosi qaysi tomonda bo‘lsa, birlamchi zarb shu tomondan tushgan deb fikr yuritiladi.</a:t>
            </a:r>
          </a:p>
          <a:p>
            <a:pPr>
              <a:spcAft>
                <a:spcPts val="1200"/>
              </a:spcAft>
            </a:pPr>
            <a:r>
              <a:rPr sz="2200">
                <a:solidFill>
                  <a:srgbClr val="1F2937"/>
                </a:solidFill>
                <a:latin typeface="Calibri"/>
              </a:rPr>
              <a:t>▸  Boldir suyagi sinishi yengil avtomobilga mos keladi. Son suyagi sinsa, yuk avtomobili haqida o‘ylanadi.</a:t>
            </a:r>
          </a:p>
          <a:p>
            <a:pPr>
              <a:spcAft>
                <a:spcPts val="1200"/>
              </a:spcAft>
            </a:pPr>
            <a:r>
              <a:rPr sz="2200">
                <a:solidFill>
                  <a:srgbClr val="1F2937"/>
                </a:solidFill>
                <a:latin typeface="Calibri"/>
              </a:rPr>
              <a:t>▸  Savol: bamper-jarohatlar bo‘yicha yana nimalar haqida fikr yuritish mumkin? Javob: avtomobil rusumi, tezlik, birlamchi ta’sir sohasi va piyoda holati.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G‘ildirak bilan bosib o‘tish: turlari va fazalari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to‘liq ≠ noto‘liq. To‘liq o‘tishda g‘ildirak tanani kesib o‘tadi, noto‘liq o‘tishda tanaga chiqadi xolos.</a:t>
            </a:r>
          </a:p>
          <a:p>
            <a:pPr>
              <a:spcAft>
                <a:spcPts val="800"/>
              </a:spcAft>
            </a:pPr>
            <a:r>
              <a:rPr sz="1800">
                <a:solidFill>
                  <a:srgbClr val="1F2937"/>
                </a:solidFill>
                <a:latin typeface="Calibri"/>
              </a:rPr>
              <a:t>▸  Bosib o‘tish yo‘nalishi tana o‘qiga nisbatan ko‘ndalang, egri yoki uzunasiga bo‘lishi mumkin.</a:t>
            </a:r>
          </a:p>
          <a:p>
            <a:pPr>
              <a:spcAft>
                <a:spcPts val="800"/>
              </a:spcAft>
            </a:pPr>
            <a:r>
              <a:rPr sz="1800">
                <a:solidFill>
                  <a:srgbClr val="1F2937"/>
                </a:solidFill>
                <a:latin typeface="Calibri"/>
              </a:rPr>
              <a:t>▸  Og‘ir jarohatlar asosan tananing g‘ildirak va yer orasida siqilishidan hosil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G‘ildirak tanaga uriladi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G‘ildirak bilan siljish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G‘ildirak tanaga chiqadi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G‘ildirak tanadan tushadi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Tananing ikkilamchi siljishi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Bosib o‘tishning besh fazasi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Protektor izlari: pozitiv va negativ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amaliyotda spetsifik jarohatlardan shina protektorining bosma izlari ko‘proq uchraydi.</a:t>
            </a:r>
          </a:p>
          <a:p>
            <a:pPr>
              <a:spcAft>
                <a:spcPts val="800"/>
              </a:spcAft>
            </a:pPr>
            <a:r>
              <a:rPr sz="1800">
                <a:solidFill>
                  <a:srgbClr val="1F2937"/>
                </a:solidFill>
                <a:latin typeface="Calibri"/>
              </a:rPr>
              <a:t>▸  Izlar tanada jarohat izi (qontalash, shilinma), kiyimda qoplanma iz (ifloslanish) ko‘rinishida bo‘ladi.</a:t>
            </a:r>
          </a:p>
          <a:p>
            <a:pPr>
              <a:spcAft>
                <a:spcPts val="800"/>
              </a:spcAft>
            </a:pPr>
            <a:r>
              <a:rPr sz="1800">
                <a:solidFill>
                  <a:srgbClr val="1F2937"/>
                </a:solidFill>
                <a:latin typeface="Calibri"/>
              </a:rPr>
              <a:t>▸  Diqqat: pozitiv ≠ negativ iz. Biri bo‘rtib turgan qismdan, ikkinchisi botiq qismdan hosil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70982"/>
                <a:gridCol w="2476646"/>
                <a:gridCol w="1740346"/>
              </a:tblGrid>
              <a:tr h="411480">
                <a:tc>
                  <a:txBody>
                    <a:bodyPr/>
                    <a:lstStyle/>
                    <a:p>
                      <a:r>
                        <a:rPr sz="1300" b="1">
                          <a:solidFill>
                            <a:srgbClr val="FFFFFF"/>
                          </a:solidFill>
                        </a:rPr>
                        <a:t>Iz turi</a:t>
                      </a:r>
                    </a:p>
                  </a:txBody>
                  <a:tcPr marL="73152" marR="73152" marT="36576" marB="36576">
                    <a:solidFill>
                      <a:srgbClr val="0B1F3A"/>
                    </a:solidFill>
                  </a:tcPr>
                </a:tc>
                <a:tc>
                  <a:txBody>
                    <a:bodyPr/>
                    <a:lstStyle/>
                    <a:p>
                      <a:r>
                        <a:rPr sz="1300" b="1">
                          <a:solidFill>
                            <a:srgbClr val="FFFFFF"/>
                          </a:solidFill>
                        </a:rPr>
                        <a:t>Hosil bo‘lishi</a:t>
                      </a:r>
                    </a:p>
                  </a:txBody>
                  <a:tcPr marL="73152" marR="73152" marT="36576" marB="36576">
                    <a:solidFill>
                      <a:srgbClr val="0B1F3A"/>
                    </a:solidFill>
                  </a:tcPr>
                </a:tc>
                <a:tc>
                  <a:txBody>
                    <a:bodyPr/>
                    <a:lstStyle/>
                    <a:p>
                      <a:r>
                        <a:rPr sz="1300" b="1">
                          <a:solidFill>
                            <a:srgbClr val="FFFFFF"/>
                          </a:solidFill>
                        </a:rPr>
                        <a:t>Ko‘rinishi</a:t>
                      </a:r>
                    </a:p>
                  </a:txBody>
                  <a:tcPr marL="73152" marR="73152" marT="36576" marB="36576">
                    <a:solidFill>
                      <a:srgbClr val="0B1F3A"/>
                    </a:solidFill>
                  </a:tcPr>
                </a:tc>
              </a:tr>
              <a:tr h="411480">
                <a:tc>
                  <a:txBody>
                    <a:bodyPr/>
                    <a:lstStyle/>
                    <a:p>
                      <a:r>
                        <a:rPr sz="1200" b="0">
                          <a:solidFill>
                            <a:srgbClr val="1F2937"/>
                          </a:solidFill>
                        </a:rPr>
                        <a:t>Pozitiv iz</a:t>
                      </a:r>
                    </a:p>
                  </a:txBody>
                  <a:tcPr marL="73152" marR="73152" marT="36576" marB="36576">
                    <a:solidFill>
                      <a:srgbClr val="E8EEF6"/>
                    </a:solidFill>
                  </a:tcPr>
                </a:tc>
                <a:tc>
                  <a:txBody>
                    <a:bodyPr/>
                    <a:lstStyle/>
                    <a:p>
                      <a:r>
                        <a:rPr sz="1200" b="0">
                          <a:solidFill>
                            <a:srgbClr val="1F2937"/>
                          </a:solidFill>
                        </a:rPr>
                        <a:t>Protektorning bo‘rtib turgan qismidan</a:t>
                      </a:r>
                    </a:p>
                  </a:txBody>
                  <a:tcPr marL="73152" marR="73152" marT="36576" marB="36576">
                    <a:solidFill>
                      <a:srgbClr val="E8EEF6"/>
                    </a:solidFill>
                  </a:tcPr>
                </a:tc>
                <a:tc>
                  <a:txBody>
                    <a:bodyPr/>
                    <a:lstStyle/>
                    <a:p>
                      <a:r>
                        <a:rPr sz="1200" b="0">
                          <a:solidFill>
                            <a:srgbClr val="1F2937"/>
                          </a:solidFill>
                        </a:rPr>
                        <a:t>Shilinma va qontalash</a:t>
                      </a:r>
                    </a:p>
                  </a:txBody>
                  <a:tcPr marL="73152" marR="73152" marT="36576" marB="36576">
                    <a:solidFill>
                      <a:srgbClr val="E8EEF6"/>
                    </a:solidFill>
                  </a:tcPr>
                </a:tc>
              </a:tr>
              <a:tr h="411480">
                <a:tc>
                  <a:txBody>
                    <a:bodyPr/>
                    <a:lstStyle/>
                    <a:p>
                      <a:r>
                        <a:rPr sz="1200" b="0">
                          <a:solidFill>
                            <a:srgbClr val="1F2937"/>
                          </a:solidFill>
                        </a:rPr>
                        <a:t>Negativ iz</a:t>
                      </a:r>
                    </a:p>
                  </a:txBody>
                  <a:tcPr marL="73152" marR="73152" marT="36576" marB="36576">
                    <a:solidFill>
                      <a:srgbClr val="FFFFFF"/>
                    </a:solidFill>
                  </a:tcPr>
                </a:tc>
                <a:tc>
                  <a:txBody>
                    <a:bodyPr/>
                    <a:lstStyle/>
                    <a:p>
                      <a:r>
                        <a:rPr sz="1200" b="0">
                          <a:solidFill>
                            <a:srgbClr val="1F2937"/>
                          </a:solidFill>
                        </a:rPr>
                        <a:t>Protektorning botiq qismidan</a:t>
                      </a:r>
                    </a:p>
                  </a:txBody>
                  <a:tcPr marL="73152" marR="73152" marT="36576" marB="36576">
                    <a:solidFill>
                      <a:srgbClr val="FFFFFF"/>
                    </a:solidFill>
                  </a:tcPr>
                </a:tc>
                <a:tc>
                  <a:txBody>
                    <a:bodyPr/>
                    <a:lstStyle/>
                    <a:p>
                      <a:r>
                        <a:rPr sz="1200" b="0">
                          <a:solidFill>
                            <a:srgbClr val="1F2937"/>
                          </a:solidFill>
                        </a:rPr>
                        <a:t>Faqat qontalash</a:t>
                      </a:r>
                    </a:p>
                  </a:txBody>
                  <a:tcPr marL="73152" marR="73152" marT="36576" marB="36576">
                    <a:solidFill>
                      <a:srgbClr val="FFFFFF"/>
                    </a:solidFill>
                  </a:tcPr>
                </a:tc>
              </a:tr>
              <a:tr h="411480">
                <a:tc>
                  <a:txBody>
                    <a:bodyPr/>
                    <a:lstStyle/>
                    <a:p>
                      <a:r>
                        <a:rPr sz="1200" b="0">
                          <a:solidFill>
                            <a:srgbClr val="1F2937"/>
                          </a:solidFill>
                        </a:rPr>
                        <a:t>Qoplanma iz</a:t>
                      </a:r>
                    </a:p>
                  </a:txBody>
                  <a:tcPr marL="73152" marR="73152" marT="36576" marB="36576">
                    <a:solidFill>
                      <a:srgbClr val="E8EEF6"/>
                    </a:solidFill>
                  </a:tcPr>
                </a:tc>
                <a:tc>
                  <a:txBody>
                    <a:bodyPr/>
                    <a:lstStyle/>
                    <a:p>
                      <a:r>
                        <a:rPr sz="1200" b="0">
                          <a:solidFill>
                            <a:srgbClr val="1F2937"/>
                          </a:solidFill>
                        </a:rPr>
                        <a:t>Turli ifloslanishlar hisobiga</a:t>
                      </a:r>
                    </a:p>
                  </a:txBody>
                  <a:tcPr marL="73152" marR="73152" marT="36576" marB="36576">
                    <a:solidFill>
                      <a:srgbClr val="E8EEF6"/>
                    </a:solidFill>
                  </a:tcPr>
                </a:tc>
                <a:tc>
                  <a:txBody>
                    <a:bodyPr/>
                    <a:lstStyle/>
                    <a:p>
                      <a:r>
                        <a:rPr sz="1200" b="0">
                          <a:solidFill>
                            <a:srgbClr val="1F2937"/>
                          </a:solidFill>
                        </a:rPr>
                        <a:t>Kiyimda asosan shu shaklda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Protektor izlarini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G‘ildirak bosib o‘tganda tana sohalaridagi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Boshni bosib o‘tganda kalla va yuz suyaklari ko‘plab sinadi, miya majaqlanadi, quloq suprasi to‘liq yoki qisman ajralishi mumkin.</a:t>
            </a:r>
          </a:p>
          <a:p>
            <a:pPr>
              <a:spcAft>
                <a:spcPts val="1200"/>
              </a:spcAft>
            </a:pPr>
            <a:r>
              <a:rPr sz="2200">
                <a:solidFill>
                  <a:srgbClr val="1F2937"/>
                </a:solidFill>
                <a:latin typeface="Calibri"/>
              </a:rPr>
              <a:t>▸  Ko‘krakda qobirg‘alar ikki tomonlama ko‘p chiziq bo‘yicha sinadi; chalqancha holatda kurak suyagi va umurtqa orqa o‘siqlari ham sinadi.</a:t>
            </a:r>
          </a:p>
          <a:p>
            <a:pPr>
              <a:spcAft>
                <a:spcPts val="1200"/>
              </a:spcAft>
            </a:pPr>
            <a:r>
              <a:rPr sz="2200">
                <a:solidFill>
                  <a:srgbClr val="1F2937"/>
                </a:solidFill>
                <a:latin typeface="Calibri"/>
              </a:rPr>
              <a:t>▸  Qorin sohasida ichki a’zolar shikastlanadi va siljiydi; tosda suyaklar ko‘plab sinadi; oyoqlarda suyaklarning siniqli sinishi kuzatiladi.</a:t>
            </a:r>
          </a:p>
          <a:p>
            <a:pPr>
              <a:spcAft>
                <a:spcPts val="1200"/>
              </a:spcAft>
            </a:pPr>
            <a:r>
              <a:rPr sz="2200">
                <a:solidFill>
                  <a:srgbClr val="1F2937"/>
                </a:solidFill>
                <a:latin typeface="Calibri"/>
              </a:rPr>
              <a:t>▸  G‘ildirak chiqqan tomonda shikast jiddiyroq. Tezlik 20 km/soat va undan yuqori bo‘lsa g‘ildirak ‘sakrab tushadi’, 4-fazada jarohat bo‘lmasligi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64, 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piyoda va g‘ildirak jarohatlari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piyoda to‘qnashuvida nechta faza bor? Javob: to‘rtta — zarb, avtomobilga yiqilish, uloqtirilish va erga tushish, erda sirpanish.</a:t>
            </a:r>
          </a:p>
          <a:p>
            <a:pPr>
              <a:spcAft>
                <a:spcPts val="1200"/>
              </a:spcAft>
            </a:pPr>
            <a:r>
              <a:rPr sz="2200">
                <a:solidFill>
                  <a:srgbClr val="1F2937"/>
                </a:solidFill>
                <a:latin typeface="Calibri"/>
              </a:rPr>
              <a:t>▸  Savol: bamper-sinish qanday shaklda? Javob: uchburchak, asosi birlamchi zarb tomonda. Yengil avtomobilda boldir, yuk avtomobilida son sinadi.</a:t>
            </a:r>
          </a:p>
          <a:p>
            <a:pPr>
              <a:spcAft>
                <a:spcPts val="1200"/>
              </a:spcAft>
            </a:pPr>
            <a:r>
              <a:rPr sz="2200">
                <a:solidFill>
                  <a:srgbClr val="1F2937"/>
                </a:solidFill>
                <a:latin typeface="Calibri"/>
              </a:rPr>
              <a:t>▸  Savol: protektorning pozitiv va negativ izi nimasi bilan farq qiladi? Javob: pozitiv iz — shilinma-qontalash, negativ iz — faqat qontalash.</a:t>
            </a:r>
          </a:p>
          <a:p>
            <a:pPr>
              <a:spcAft>
                <a:spcPts val="1200"/>
              </a:spcAft>
            </a:pPr>
            <a:r>
              <a:rPr sz="2200">
                <a:solidFill>
                  <a:srgbClr val="1F2937"/>
                </a:solidFill>
                <a:latin typeface="Calibri"/>
              </a:rPr>
              <a:t>▸  Diqqat: xato qilish xavfi! Piyoda to‘qnashuvida 4 faza, g‘ildirak bosib o‘tishida 5 faza bo‘ladi — ularni adashtirmang.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61, 63, 61,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Avtomobil ichida shikastlanish: haydovchi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Jarohatlar tananing old va chap yuzalarida; chap eshik detallaridan shilinma va qontalash hosil bo‘ladi.</a:t>
            </a:r>
          </a:p>
          <a:p>
            <a:pPr>
              <a:spcAft>
                <a:spcPts val="800"/>
              </a:spcAft>
            </a:pPr>
            <a:r>
              <a:rPr sz="1800">
                <a:solidFill>
                  <a:srgbClr val="1F2937"/>
                </a:solidFill>
                <a:latin typeface="Calibri"/>
              </a:rPr>
              <a:t>▸  Rulga urilganda ko‘krakda yarim oysimon shilinma, iyakda lat yara, to‘sh va qobirg‘alar sinishi mumkin.</a:t>
            </a:r>
          </a:p>
          <a:p>
            <a:pPr>
              <a:spcAft>
                <a:spcPts val="800"/>
              </a:spcAft>
            </a:pPr>
            <a:r>
              <a:rPr sz="1800">
                <a:solidFill>
                  <a:srgbClr val="1F2937"/>
                </a:solidFill>
                <a:latin typeface="Calibri"/>
              </a:rPr>
              <a:t>▸  Poyafzal tagida pedal bosma izi bo‘ladi; katta tezlikda ensa suyagi halqasimon sinishi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Oyoq panelga uriladi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Ko‘krak rulga uriladi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Bo‘yin egiladi, bosh uriladi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Tana va bo‘yin orqaga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Haydovchida jarohat fazalari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Yo‘lovchilar va xavfsizlik kamari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Oldingi o‘rindiq yo‘lovchisining tanasi mahkamlanmagan: jarohat haydovchidagidan og‘irroq, bu salondagi eng xavfli o‘rin. Old oyna siniqlaridan yuzda kesma yaralar bo‘ladi.</a:t>
            </a:r>
          </a:p>
          <a:p>
            <a:pPr>
              <a:spcAft>
                <a:spcPts val="1200"/>
              </a:spcAft>
            </a:pPr>
            <a:r>
              <a:rPr sz="2000">
                <a:solidFill>
                  <a:srgbClr val="1F2937"/>
                </a:solidFill>
                <a:latin typeface="Calibri"/>
              </a:rPr>
              <a:t>▸  Orqa o‘rindiq yo‘lovchilari kamroq shikastlanadi: oldingi o‘rindiq orqasiga urilish va tana chayqalishidan. Katta tezlikda ular oldinga otilib ketishi mumkin.</a:t>
            </a:r>
          </a:p>
          <a:p>
            <a:pPr>
              <a:spcAft>
                <a:spcPts val="1200"/>
              </a:spcAft>
            </a:pPr>
            <a:r>
              <a:rPr sz="2000">
                <a:solidFill>
                  <a:srgbClr val="1F2937"/>
                </a:solidFill>
                <a:latin typeface="Calibri"/>
              </a:rPr>
              <a:t>▸  Tezlik keskin oshganda yoki pasayganda boshning tanaga nisbatan harakati tufayli bo‘yin umurtqalarining “qamchisimon” sinishi mumkin.</a:t>
            </a:r>
          </a:p>
          <a:p>
            <a:pPr>
              <a:spcAft>
                <a:spcPts val="1200"/>
              </a:spcAft>
            </a:pPr>
            <a:r>
              <a:rPr sz="2000">
                <a:solidFill>
                  <a:srgbClr val="1F2937"/>
                </a:solidFill>
                <a:latin typeface="Calibri"/>
              </a:rPr>
              <a:t>▸  Diqqat: kamar himoya qiladi, ammo tezlik belgilangandan oshsa o‘zi shikastlovchi omil bo‘ladi: bo‘yin boylamlari yorilishi, 2-bo‘yin umurtqasi yoylari sinishi, keksalarda to‘sh va qobirg‘a sinishi.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66,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Avtomobildan tushib ketish: uch faza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fazada shilinma, qontalash, ba’zan lat va yirtma yaralar – bevosita jarohatlar hosil bo‘ladi.</a:t>
            </a:r>
          </a:p>
          <a:p>
            <a:pPr>
              <a:spcAft>
                <a:spcPts val="800"/>
              </a:spcAft>
            </a:pPr>
            <a:r>
              <a:rPr sz="1800">
                <a:solidFill>
                  <a:srgbClr val="1F2937"/>
                </a:solidFill>
                <a:latin typeface="Calibri"/>
              </a:rPr>
              <a:t>▸  Asosiy jarohatlar ikkinchi fazada vujudga keladi va tana erga qaysi qismi bilan tushishiga bog‘liq.</a:t>
            </a:r>
          </a:p>
          <a:p>
            <a:pPr>
              <a:spcAft>
                <a:spcPts val="800"/>
              </a:spcAft>
            </a:pPr>
            <a:r>
              <a:rPr sz="1800">
                <a:solidFill>
                  <a:srgbClr val="1F2937"/>
                </a:solidFill>
                <a:latin typeface="Calibri"/>
              </a:rPr>
              <a:t>▸  Boshga tushsa kalla-yuz suyaklari sinadi; ko‘krakka tushsa qobirg‘alar, dumbaga tushsa tos sinadi.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Avtomobil qismlariga urilish</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Tananing erga tushishi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Erda inersiya bilan siljish</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Avtomobildan tushish fazalari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67, 67-68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Tushish va yiqilish farqi; siqilish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Uchinchi fazada tana inersiya bo‘yicha erda siljiydi va parallel yo‘lkasimon shilinmalar hosil bo‘ladi.</a:t>
            </a:r>
          </a:p>
          <a:p>
            <a:pPr>
              <a:spcAft>
                <a:spcPts val="1200"/>
              </a:spcAft>
            </a:pPr>
            <a:r>
              <a:rPr sz="2200">
                <a:solidFill>
                  <a:srgbClr val="1F2937"/>
                </a:solidFill>
                <a:latin typeface="Calibri"/>
              </a:rPr>
              <a:t>▸  Harakatdagi avtomobildan tushish balandlikdan yiqilishdan aynan shu fazadagi jarohatlar mavjudligi bilan farqlanadi.</a:t>
            </a:r>
          </a:p>
          <a:p>
            <a:pPr>
              <a:spcAft>
                <a:spcPts val="1200"/>
              </a:spcAft>
            </a:pPr>
            <a:r>
              <a:rPr sz="2200">
                <a:solidFill>
                  <a:srgbClr val="1F2937"/>
                </a:solidFill>
                <a:latin typeface="Calibri"/>
              </a:rPr>
              <a:t>▸  Diqqat: xato qilish xavfi! Avtomobildan tushish ≠ balandlikdan yiqilish: ikkalasida ham bevosita va bilvosita jarohat bor.</a:t>
            </a:r>
          </a:p>
          <a:p>
            <a:pPr>
              <a:spcAft>
                <a:spcPts val="1200"/>
              </a:spcAft>
            </a:pPr>
            <a:r>
              <a:rPr sz="2200">
                <a:solidFill>
                  <a:srgbClr val="1F2937"/>
                </a:solidFill>
                <a:latin typeface="Calibri"/>
              </a:rPr>
              <a:t>▸  Avtomobil qismlari va boshqa jismlar orasida siqilishda ikki faza bor: tashqi qismlar bilan zarb, so‘ng tananing siqilishi.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68, 67-68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avtomobil ichidagi jarohat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halokatdan keyin ko‘krakda yarim oysimon shilinma va qontalash, iyakda lat yara aniqlandi.</a:t>
            </a:r>
          </a:p>
          <a:p>
            <a:pPr>
              <a:spcAft>
                <a:spcPts val="1200"/>
              </a:spcAft>
            </a:pPr>
            <a:r>
              <a:rPr sz="2200">
                <a:solidFill>
                  <a:srgbClr val="1F2937"/>
                </a:solidFill>
                <a:latin typeface="Calibri"/>
              </a:rPr>
              <a:t>▸  Bunday belgilar rulga urilishga mos keladi, shuning uchun jabrlanuvchi ehtimol haydovchi bo‘lgan.</a:t>
            </a:r>
          </a:p>
          <a:p>
            <a:pPr>
              <a:spcAft>
                <a:spcPts val="1200"/>
              </a:spcAft>
            </a:pPr>
            <a:r>
              <a:rPr sz="2200">
                <a:solidFill>
                  <a:srgbClr val="1F2937"/>
                </a:solidFill>
                <a:latin typeface="Calibri"/>
              </a:rPr>
              <a:t>▸  Haydovchida jarohatlar tananing old va chap yuzasida bo‘ladi; chap old eshik detallaridan shilinma va qontalash hosil bo‘ladi.</a:t>
            </a:r>
          </a:p>
          <a:p>
            <a:pPr>
              <a:spcAft>
                <a:spcPts val="1200"/>
              </a:spcAft>
            </a:pPr>
            <a:r>
              <a:rPr sz="2200">
                <a:solidFill>
                  <a:srgbClr val="1F2937"/>
                </a:solidFill>
                <a:latin typeface="Calibri"/>
              </a:rPr>
              <a:t>▸  Savol: yana qaysi belgi tasdiqlaydi? Masalan, poyafzal tagida pedal izlari yoki chap oyoq suyaklarining sinishi.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Mototsikl travmasi: turlari va mavsumiyligi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amaliyotda mototsikl travmasi avtotravmaga nisbatan ancha kam uchraydi.</a:t>
            </a:r>
          </a:p>
          <a:p>
            <a:pPr>
              <a:spcAft>
                <a:spcPts val="800"/>
              </a:spcAft>
            </a:pPr>
            <a:r>
              <a:rPr sz="1800">
                <a:solidFill>
                  <a:srgbClr val="1F2937"/>
                </a:solidFill>
                <a:latin typeface="Calibri"/>
              </a:rPr>
              <a:t>▸  Mavsumiylik xos: asosan kech bahor, yoz va erta kuz oylarida kuzatiladi.</a:t>
            </a:r>
          </a:p>
          <a:p>
            <a:pPr>
              <a:spcAft>
                <a:spcPts val="800"/>
              </a:spcAft>
            </a:pPr>
            <a:r>
              <a:rPr sz="1800">
                <a:solidFill>
                  <a:srgbClr val="1F2937"/>
                </a:solidFill>
                <a:latin typeface="Calibri"/>
              </a:rPr>
              <a:t>▸  Mototsikl noturg‘un, shuning uchun haydovchi va yo‘lovchi barcha holatlarda shikastlanishi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Piyoda bilan to‘qnashuv</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G‘ildirak bilan bosib o‘tish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Mototsikldan yiqilish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Boshqa jism bilan to‘qnashuv</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Murakkab mototsikl travmasi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Mototsikl travmasining 5 turi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Mototsikl va avtotravma: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Mototsikl piyoda bilan to‘qnashganda zarb g‘ildirak, rul, richag va zinapoyadan etkaziladi.</a:t>
            </a:r>
          </a:p>
          <a:p>
            <a:pPr>
              <a:spcAft>
                <a:spcPts val="800"/>
              </a:spcAft>
            </a:pPr>
            <a:r>
              <a:rPr sz="1800">
                <a:solidFill>
                  <a:srgbClr val="1F2937"/>
                </a:solidFill>
                <a:latin typeface="Calibri"/>
              </a:rPr>
              <a:t>▸  Piyodada oyoq, tos, qorinda shilinma, qontalash, lat-yirtma yara; yiqilishdan keyin kalla-miya jarohati.</a:t>
            </a:r>
          </a:p>
          <a:p>
            <a:pPr>
              <a:spcAft>
                <a:spcPts val="800"/>
              </a:spcAft>
            </a:pPr>
            <a:r>
              <a:rPr sz="1800">
                <a:solidFill>
                  <a:srgbClr val="1F2937"/>
                </a:solidFill>
                <a:latin typeface="Calibri"/>
              </a:rPr>
              <a:t>▸  Aravachadagi yo‘lovchida oshiq-boldir va tizza bo‘g‘imlari shikastlanadi.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92616"/>
                <a:gridCol w="1703903"/>
                <a:gridCol w="229145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Avtotravma</a:t>
                      </a:r>
                    </a:p>
                  </a:txBody>
                  <a:tcPr marL="73152" marR="73152" marT="36576" marB="36576">
                    <a:solidFill>
                      <a:srgbClr val="0B1F3A"/>
                    </a:solidFill>
                  </a:tcPr>
                </a:tc>
                <a:tc>
                  <a:txBody>
                    <a:bodyPr/>
                    <a:lstStyle/>
                    <a:p>
                      <a:r>
                        <a:rPr sz="1300" b="1">
                          <a:solidFill>
                            <a:srgbClr val="FFFFFF"/>
                          </a:solidFill>
                        </a:rPr>
                        <a:t>Mototsikl</a:t>
                      </a:r>
                    </a:p>
                  </a:txBody>
                  <a:tcPr marL="73152" marR="73152" marT="36576" marB="36576">
                    <a:solidFill>
                      <a:srgbClr val="0B1F3A"/>
                    </a:solidFill>
                  </a:tcPr>
                </a:tc>
              </a:tr>
              <a:tr h="411480">
                <a:tc>
                  <a:txBody>
                    <a:bodyPr/>
                    <a:lstStyle/>
                    <a:p>
                      <a:r>
                        <a:rPr sz="1200" b="0">
                          <a:solidFill>
                            <a:srgbClr val="1F2937"/>
                          </a:solidFill>
                        </a:rPr>
                        <a:t>Haydovchi, yo‘lovchi</a:t>
                      </a:r>
                    </a:p>
                  </a:txBody>
                  <a:tcPr marL="73152" marR="73152" marT="36576" marB="36576">
                    <a:solidFill>
                      <a:srgbClr val="E8EEF6"/>
                    </a:solidFill>
                  </a:tcPr>
                </a:tc>
                <a:tc>
                  <a:txBody>
                    <a:bodyPr/>
                    <a:lstStyle/>
                    <a:p>
                      <a:r>
                        <a:rPr sz="1200" b="0">
                          <a:solidFill>
                            <a:srgbClr val="1F2937"/>
                          </a:solidFill>
                        </a:rPr>
                        <a:t>Barcha holatda emas</a:t>
                      </a:r>
                    </a:p>
                  </a:txBody>
                  <a:tcPr marL="73152" marR="73152" marT="36576" marB="36576">
                    <a:solidFill>
                      <a:srgbClr val="E8EEF6"/>
                    </a:solidFill>
                  </a:tcPr>
                </a:tc>
                <a:tc>
                  <a:txBody>
                    <a:bodyPr/>
                    <a:lstStyle/>
                    <a:p>
                      <a:r>
                        <a:rPr sz="1200" b="0">
                          <a:solidFill>
                            <a:srgbClr val="1F2937"/>
                          </a:solidFill>
                        </a:rPr>
                        <a:t>Barcha holatda shikastlanishi mumkin</a:t>
                      </a:r>
                    </a:p>
                  </a:txBody>
                  <a:tcPr marL="73152" marR="73152" marT="36576" marB="36576">
                    <a:solidFill>
                      <a:srgbClr val="E8EEF6"/>
                    </a:solidFill>
                  </a:tcPr>
                </a:tc>
              </a:tr>
              <a:tr h="411480">
                <a:tc>
                  <a:txBody>
                    <a:bodyPr/>
                    <a:lstStyle/>
                    <a:p>
                      <a:r>
                        <a:rPr sz="1200" b="0">
                          <a:solidFill>
                            <a:srgbClr val="1F2937"/>
                          </a:solidFill>
                        </a:rPr>
                        <a:t>To‘qnashuv fazalari</a:t>
                      </a:r>
                    </a:p>
                  </a:txBody>
                  <a:tcPr marL="73152" marR="73152" marT="36576" marB="36576">
                    <a:solidFill>
                      <a:srgbClr val="FFFFFF"/>
                    </a:solidFill>
                  </a:tcPr>
                </a:tc>
                <a:tc>
                  <a:txBody>
                    <a:bodyPr/>
                    <a:lstStyle/>
                    <a:p>
                      <a:r>
                        <a:rPr sz="1200" b="0">
                          <a:solidFill>
                            <a:srgbClr val="1F2937"/>
                          </a:solidFill>
                        </a:rPr>
                        <a:t>Erda sirpanish fazasi bor</a:t>
                      </a:r>
                    </a:p>
                  </a:txBody>
                  <a:tcPr marL="73152" marR="73152" marT="36576" marB="36576">
                    <a:solidFill>
                      <a:srgbClr val="FFFFFF"/>
                    </a:solidFill>
                  </a:tcPr>
                </a:tc>
                <a:tc>
                  <a:txBody>
                    <a:bodyPr/>
                    <a:lstStyle/>
                    <a:p>
                      <a:r>
                        <a:rPr sz="1200" b="0">
                          <a:solidFill>
                            <a:srgbClr val="1F2937"/>
                          </a:solidFill>
                        </a:rPr>
                        <a:t>Erda sirpanish fazasi kuzatilmaydi</a:t>
                      </a:r>
                    </a:p>
                  </a:txBody>
                  <a:tcPr marL="73152" marR="73152" marT="36576" marB="36576">
                    <a:solidFill>
                      <a:srgbClr val="FFFFFF"/>
                    </a:solidFill>
                  </a:tcPr>
                </a:tc>
              </a:tr>
              <a:tr h="411480">
                <a:tc>
                  <a:txBody>
                    <a:bodyPr/>
                    <a:lstStyle/>
                    <a:p>
                      <a:r>
                        <a:rPr sz="1200" b="0">
                          <a:solidFill>
                            <a:srgbClr val="1F2937"/>
                          </a:solidFill>
                        </a:rPr>
                        <a:t>Oyoqdagi xos jarohat</a:t>
                      </a:r>
                    </a:p>
                  </a:txBody>
                  <a:tcPr marL="73152" marR="73152" marT="36576" marB="36576">
                    <a:solidFill>
                      <a:srgbClr val="E8EEF6"/>
                    </a:solidFill>
                  </a:tcPr>
                </a:tc>
                <a:tc>
                  <a:txBody>
                    <a:bodyPr/>
                    <a:lstStyle/>
                    <a:p>
                      <a:r>
                        <a:rPr sz="1200" b="0">
                          <a:solidFill>
                            <a:srgbClr val="1F2937"/>
                          </a:solidFill>
                        </a:rPr>
                        <a:t>Bamper-jarohatlar</a:t>
                      </a:r>
                    </a:p>
                  </a:txBody>
                  <a:tcPr marL="73152" marR="73152" marT="36576" marB="36576">
                    <a:solidFill>
                      <a:srgbClr val="E8EEF6"/>
                    </a:solidFill>
                  </a:tcPr>
                </a:tc>
                <a:tc>
                  <a:txBody>
                    <a:bodyPr/>
                    <a:lstStyle/>
                    <a:p>
                      <a:r>
                        <a:rPr sz="1200" b="0">
                          <a:solidFill>
                            <a:srgbClr val="1F2937"/>
                          </a:solidFill>
                        </a:rPr>
                        <a:t>Boldir-son yuzalarida yoysimon shilinma</a:t>
                      </a:r>
                    </a:p>
                  </a:txBody>
                  <a:tcPr marL="73152" marR="73152" marT="36576" marB="36576">
                    <a:solidFill>
                      <a:srgbClr val="E8EEF6"/>
                    </a:solidFill>
                  </a:tcPr>
                </a:tc>
              </a:tr>
              <a:tr h="411480">
                <a:tc>
                  <a:txBody>
                    <a:bodyPr/>
                    <a:lstStyle/>
                    <a:p>
                      <a:r>
                        <a:rPr sz="1200" b="0">
                          <a:solidFill>
                            <a:srgbClr val="1F2937"/>
                          </a:solidFill>
                        </a:rPr>
                        <a:t>G‘ildirak bilan o‘tish</a:t>
                      </a:r>
                    </a:p>
                  </a:txBody>
                  <a:tcPr marL="73152" marR="73152" marT="36576" marB="36576">
                    <a:solidFill>
                      <a:srgbClr val="FFFFFF"/>
                    </a:solidFill>
                  </a:tcPr>
                </a:tc>
                <a:tc>
                  <a:txBody>
                    <a:bodyPr/>
                    <a:lstStyle/>
                    <a:p>
                      <a:r>
                        <a:rPr sz="1200" b="0">
                          <a:solidFill>
                            <a:srgbClr val="1F2937"/>
                          </a:solidFill>
                        </a:rPr>
                        <a:t>Ko‘lami va og‘irligi kattaroq</a:t>
                      </a:r>
                    </a:p>
                  </a:txBody>
                  <a:tcPr marL="73152" marR="73152" marT="36576" marB="36576">
                    <a:solidFill>
                      <a:srgbClr val="FFFFFF"/>
                    </a:solidFill>
                  </a:tcPr>
                </a:tc>
                <a:tc>
                  <a:txBody>
                    <a:bodyPr/>
                    <a:lstStyle/>
                    <a:p>
                      <a:r>
                        <a:rPr sz="1200" b="0">
                          <a:solidFill>
                            <a:srgbClr val="1F2937"/>
                          </a:solidFill>
                        </a:rPr>
                        <a:t>Massa kichik, jarohat yengilroq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Avtotravma va mototsikl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69, 70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Rels travmasi: turlari va g‘ildirak-rels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Rels travmasi harakatdagi temir yo‘l transporti (lokomotiv, elektrovoz, vagon) jarohatlari majmuidir; tramvay va relsli moslamalar ham kirishi mumkin.</a:t>
            </a:r>
          </a:p>
          <a:p>
            <a:pPr>
              <a:spcAft>
                <a:spcPts val="1200"/>
              </a:spcAft>
            </a:pPr>
            <a:r>
              <a:rPr sz="2200">
                <a:solidFill>
                  <a:srgbClr val="1F2937"/>
                </a:solidFill>
                <a:latin typeface="Calibri"/>
              </a:rPr>
              <a:t>▸  Oltita tur: to‘qnashuv, g‘ildirak bilan bosib o‘tish, yiqilish, transport ichida shikastlanish, siqilish va murakkab travma.</a:t>
            </a:r>
          </a:p>
          <a:p>
            <a:pPr>
              <a:spcAft>
                <a:spcPts val="1200"/>
              </a:spcAft>
            </a:pPr>
            <a:r>
              <a:rPr sz="2200">
                <a:solidFill>
                  <a:srgbClr val="1F2937"/>
                </a:solidFill>
                <a:latin typeface="Calibri"/>
              </a:rPr>
              <a:t>▸  Rels boshchasi kengligi 7–7,5 sm, g‘ildirakning relslar oralig‘iga qaragan ichki tarafidagi toj (reborda) kengligi 2,8–3,0 sm.</a:t>
            </a:r>
          </a:p>
          <a:p>
            <a:pPr>
              <a:spcAft>
                <a:spcPts val="1200"/>
              </a:spcAft>
            </a:pPr>
            <a:r>
              <a:rPr sz="2200">
                <a:solidFill>
                  <a:srgbClr val="1F2937"/>
                </a:solidFill>
                <a:latin typeface="Calibri"/>
              </a:rPr>
              <a:t>▸  Tana g‘ildirak va rels orasida qolsa, 1 kv. sm.ga 5 tonna va undan ortiq kuch ta’sir qiladi; soha majaqlanadi, toj qaychisimon ajratib, tana bo‘linadi.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70, 70-71, 71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Rels travmasi: ‘T’-simon shilinma va bosilish yo‘lkasi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Teri g‘ildirak toji va rels boshchasi orasida qisilib, “T”-simon shilinma (“chimchi” belgisi) hosil qiladi.</a:t>
            </a:r>
          </a:p>
          <a:p>
            <a:pPr>
              <a:spcAft>
                <a:spcPts val="800"/>
              </a:spcAft>
            </a:pPr>
            <a:r>
              <a:rPr sz="1800">
                <a:solidFill>
                  <a:srgbClr val="1F2937"/>
                </a:solidFill>
                <a:latin typeface="Calibri"/>
              </a:rPr>
              <a:t>▸  “T” shilinma tananing g‘ildirakka qaragan, relslar oralig‘i tomonida, g‘ildirak chiqayotgan sohada bo‘ladi.</a:t>
            </a:r>
          </a:p>
          <a:p>
            <a:pPr>
              <a:spcAft>
                <a:spcPts val="800"/>
              </a:spcAft>
            </a:pPr>
            <a:r>
              <a:rPr sz="1800">
                <a:solidFill>
                  <a:srgbClr val="1F2937"/>
                </a:solidFill>
                <a:latin typeface="Calibri"/>
              </a:rPr>
              <a:t>▸  Diqqat: bosilish yo‘lkasi bir tekis shilinma; shilinish yo‘lkasi esa chetda joylashgan, notekis, tirnalmali.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40346"/>
                <a:gridCol w="1070982"/>
                <a:gridCol w="2476646"/>
              </a:tblGrid>
              <a:tr h="411480">
                <a:tc>
                  <a:txBody>
                    <a:bodyPr/>
                    <a:lstStyle/>
                    <a:p>
                      <a:r>
                        <a:rPr sz="1300" b="1">
                          <a:solidFill>
                            <a:srgbClr val="FFFFFF"/>
                          </a:solidFill>
                        </a:rPr>
                        <a:t>Yo‘lka</a:t>
                      </a:r>
                    </a:p>
                  </a:txBody>
                  <a:tcPr marL="73152" marR="73152" marT="36576" marB="36576">
                    <a:solidFill>
                      <a:srgbClr val="0B1F3A"/>
                    </a:solidFill>
                  </a:tcPr>
                </a:tc>
                <a:tc>
                  <a:txBody>
                    <a:bodyPr/>
                    <a:lstStyle/>
                    <a:p>
                      <a:r>
                        <a:rPr sz="1300" b="1">
                          <a:solidFill>
                            <a:srgbClr val="FFFFFF"/>
                          </a:solidFill>
                        </a:rPr>
                        <a:t>Kengligi</a:t>
                      </a:r>
                    </a:p>
                  </a:txBody>
                  <a:tcPr marL="73152" marR="73152" marT="36576" marB="36576">
                    <a:solidFill>
                      <a:srgbClr val="0B1F3A"/>
                    </a:solidFill>
                  </a:tcPr>
                </a:tc>
                <a:tc>
                  <a:txBody>
                    <a:bodyPr/>
                    <a:lstStyle/>
                    <a:p>
                      <a:r>
                        <a:rPr sz="1300" b="1">
                          <a:solidFill>
                            <a:srgbClr val="FFFFFF"/>
                          </a:solidFill>
                        </a:rPr>
                        <a:t>Xususiyati</a:t>
                      </a:r>
                    </a:p>
                  </a:txBody>
                  <a:tcPr marL="73152" marR="73152" marT="36576" marB="36576">
                    <a:solidFill>
                      <a:srgbClr val="0B1F3A"/>
                    </a:solidFill>
                  </a:tcPr>
                </a:tc>
              </a:tr>
              <a:tr h="411480">
                <a:tc>
                  <a:txBody>
                    <a:bodyPr/>
                    <a:lstStyle/>
                    <a:p>
                      <a:r>
                        <a:rPr sz="1200" b="0">
                          <a:solidFill>
                            <a:srgbClr val="1F2937"/>
                          </a:solidFill>
                        </a:rPr>
                        <a:t>Bosilish, g‘ildirak tomoni</a:t>
                      </a:r>
                    </a:p>
                  </a:txBody>
                  <a:tcPr marL="73152" marR="73152" marT="36576" marB="36576">
                    <a:solidFill>
                      <a:srgbClr val="E8EEF6"/>
                    </a:solidFill>
                  </a:tcPr>
                </a:tc>
                <a:tc>
                  <a:txBody>
                    <a:bodyPr/>
                    <a:lstStyle/>
                    <a:p>
                      <a:r>
                        <a:rPr sz="1200" b="0">
                          <a:solidFill>
                            <a:srgbClr val="1F2937"/>
                          </a:solidFill>
                        </a:rPr>
                        <a:t>12–14 sm</a:t>
                      </a:r>
                    </a:p>
                  </a:txBody>
                  <a:tcPr marL="73152" marR="73152" marT="36576" marB="36576">
                    <a:solidFill>
                      <a:srgbClr val="E8EEF6"/>
                    </a:solidFill>
                  </a:tcPr>
                </a:tc>
                <a:tc>
                  <a:txBody>
                    <a:bodyPr/>
                    <a:lstStyle/>
                    <a:p>
                      <a:r>
                        <a:rPr sz="1200" b="0">
                          <a:solidFill>
                            <a:srgbClr val="1F2937"/>
                          </a:solidFill>
                        </a:rPr>
                        <a:t>Yumshoq, oqimtir; keyin to‘q-qo‘ng‘ir</a:t>
                      </a:r>
                    </a:p>
                  </a:txBody>
                  <a:tcPr marL="73152" marR="73152" marT="36576" marB="36576">
                    <a:solidFill>
                      <a:srgbClr val="E8EEF6"/>
                    </a:solidFill>
                  </a:tcPr>
                </a:tc>
              </a:tr>
              <a:tr h="411480">
                <a:tc>
                  <a:txBody>
                    <a:bodyPr/>
                    <a:lstStyle/>
                    <a:p>
                      <a:r>
                        <a:rPr sz="1200" b="0">
                          <a:solidFill>
                            <a:srgbClr val="1F2937"/>
                          </a:solidFill>
                        </a:rPr>
                        <a:t>Bosilish, rels tomoni</a:t>
                      </a:r>
                    </a:p>
                  </a:txBody>
                  <a:tcPr marL="73152" marR="73152" marT="36576" marB="36576">
                    <a:solidFill>
                      <a:srgbClr val="FFFFFF"/>
                    </a:solidFill>
                  </a:tcPr>
                </a:tc>
                <a:tc>
                  <a:txBody>
                    <a:bodyPr/>
                    <a:lstStyle/>
                    <a:p>
                      <a:r>
                        <a:rPr sz="1200" b="0">
                          <a:solidFill>
                            <a:srgbClr val="1F2937"/>
                          </a:solidFill>
                        </a:rPr>
                        <a:t>7–8 sm</a:t>
                      </a:r>
                    </a:p>
                  </a:txBody>
                  <a:tcPr marL="73152" marR="73152" marT="36576" marB="36576">
                    <a:solidFill>
                      <a:srgbClr val="FFFFFF"/>
                    </a:solidFill>
                  </a:tcPr>
                </a:tc>
                <a:tc>
                  <a:txBody>
                    <a:bodyPr/>
                    <a:lstStyle/>
                    <a:p>
                      <a:r>
                        <a:rPr sz="1200" b="0">
                          <a:solidFill>
                            <a:srgbClr val="1F2937"/>
                          </a:solidFill>
                        </a:rPr>
                        <a:t>Yumshoq, oqimtir; keyin to‘q-qo‘ng‘ir</a:t>
                      </a:r>
                    </a:p>
                  </a:txBody>
                  <a:tcPr marL="73152" marR="73152" marT="36576" marB="36576">
                    <a:solidFill>
                      <a:srgbClr val="FFFFFF"/>
                    </a:solidFill>
                  </a:tcPr>
                </a:tc>
              </a:tr>
              <a:tr h="411480">
                <a:tc>
                  <a:txBody>
                    <a:bodyPr/>
                    <a:lstStyle/>
                    <a:p>
                      <a:r>
                        <a:rPr sz="1200" b="0">
                          <a:solidFill>
                            <a:srgbClr val="1F2937"/>
                          </a:solidFill>
                        </a:rPr>
                        <a:t>Shilinish yo‘lkasi</a:t>
                      </a:r>
                    </a:p>
                  </a:txBody>
                  <a:tcPr marL="73152" marR="73152" marT="36576" marB="36576">
                    <a:solidFill>
                      <a:srgbClr val="E8EEF6"/>
                    </a:solidFill>
                  </a:tcPr>
                </a:tc>
                <a:tc>
                  <a:txBody>
                    <a:bodyPr/>
                    <a:lstStyle/>
                    <a:p>
                      <a:r>
                        <a:rPr sz="1200" b="0">
                          <a:solidFill>
                            <a:srgbClr val="1F2937"/>
                          </a:solidFill>
                        </a:rPr>
                        <a:t>2–15 sm</a:t>
                      </a:r>
                    </a:p>
                  </a:txBody>
                  <a:tcPr marL="73152" marR="73152" marT="36576" marB="36576">
                    <a:solidFill>
                      <a:srgbClr val="E8EEF6"/>
                    </a:solidFill>
                  </a:tcPr>
                </a:tc>
                <a:tc>
                  <a:txBody>
                    <a:bodyPr/>
                    <a:lstStyle/>
                    <a:p>
                      <a:r>
                        <a:rPr sz="1200" b="0">
                          <a:solidFill>
                            <a:srgbClr val="1F2937"/>
                          </a:solidFill>
                        </a:rPr>
                        <a:t>G‘ildirak tarafida kengroq; notekis</a:t>
                      </a:r>
                    </a:p>
                  </a:txBody>
                  <a:tcPr marL="73152" marR="73152" marT="36576" marB="36576">
                    <a:solidFill>
                      <a:srgbClr val="E8EEF6"/>
                    </a:solidFill>
                  </a:tcPr>
                </a:tc>
              </a:tr>
              <a:tr h="411480">
                <a:tc>
                  <a:txBody>
                    <a:bodyPr/>
                    <a:lstStyle/>
                    <a:p>
                      <a:r>
                        <a:rPr sz="1200" b="0">
                          <a:solidFill>
                            <a:srgbClr val="1F2937"/>
                          </a:solidFill>
                        </a:rPr>
                        <a:t>Yengil vagon g‘ildiragi</a:t>
                      </a:r>
                    </a:p>
                  </a:txBody>
                  <a:tcPr marL="73152" marR="73152" marT="36576" marB="36576">
                    <a:solidFill>
                      <a:srgbClr val="FFFFFF"/>
                    </a:solidFill>
                  </a:tcPr>
                </a:tc>
                <a:tc>
                  <a:txBody>
                    <a:bodyPr/>
                    <a:lstStyle/>
                    <a:p>
                      <a:r>
                        <a:rPr sz="1200" b="0">
                          <a:solidFill>
                            <a:srgbClr val="1F2937"/>
                          </a:solidFill>
                        </a:rPr>
                        <a:t>2–4 sm (teri)</a:t>
                      </a:r>
                    </a:p>
                  </a:txBody>
                  <a:tcPr marL="73152" marR="73152" marT="36576" marB="36576">
                    <a:solidFill>
                      <a:srgbClr val="FFFFFF"/>
                    </a:solidFill>
                  </a:tcPr>
                </a:tc>
                <a:tc>
                  <a:txBody>
                    <a:bodyPr/>
                    <a:lstStyle/>
                    <a:p>
                      <a:r>
                        <a:rPr sz="1200" b="0">
                          <a:solidFill>
                            <a:srgbClr val="1F2937"/>
                          </a:solidFill>
                        </a:rPr>
                        <a:t>Faqat g‘ildirak toji hisobiga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Yo‘lkalar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Rels travmasi: tananing bo‘linishi va iz moddalari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Tana ajralganda g‘ildirak tomonidagi bosilish yo‘lkasi ham ikkiga bo‘linadi: ingichka qismi (2–3 sm) relslar oralig‘ida, keng qismi (5–10 sm) relsdan tashqarida.</a:t>
            </a:r>
          </a:p>
          <a:p>
            <a:pPr>
              <a:spcAft>
                <a:spcPts val="1200"/>
              </a:spcAft>
            </a:pPr>
            <a:r>
              <a:rPr sz="2000">
                <a:solidFill>
                  <a:srgbClr val="1F2937"/>
                </a:solidFill>
                <a:latin typeface="Calibri"/>
              </a:rPr>
              <a:t>▸  Rels tarafida ajralish chetlari nisbatan tekis. Relsdan tashqarida esa terining burchaksimon laxtaklaridan yirik tishsimon bo‘ladi; burchaklar harakat tomoniga qaraydi.</a:t>
            </a:r>
          </a:p>
          <a:p>
            <a:pPr>
              <a:spcAft>
                <a:spcPts val="1200"/>
              </a:spcAft>
            </a:pPr>
            <a:r>
              <a:rPr sz="2000">
                <a:solidFill>
                  <a:srgbClr val="1F2937"/>
                </a:solidFill>
                <a:latin typeface="Calibri"/>
              </a:rPr>
              <a:t>▸  Suyak sinishining relsdan tashqari chekkasi tekis, relslar oralig‘idagisi egri; orasida mayda bo‘laklar bor. Majaqlangan to‘qimalar hisobiga ponasimon defekt hosil bo‘ladi.</a:t>
            </a:r>
          </a:p>
          <a:p>
            <a:pPr>
              <a:spcAft>
                <a:spcPts val="1200"/>
              </a:spcAft>
            </a:pPr>
            <a:r>
              <a:rPr sz="2000">
                <a:solidFill>
                  <a:srgbClr val="1F2937"/>
                </a:solidFill>
                <a:latin typeface="Calibri"/>
              </a:rPr>
              <a:t>▸  Kiyim va tanada moy, ballast moddalar, ko‘mir zarralari izlari bo‘lishi rels travmasi uchun xosdir.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72-73, 73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rels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tanasi ikki qismga bo‘lingan, kiyimi va terisida moy hamda ko‘mir zarralari izlari bor.</a:t>
            </a:r>
          </a:p>
          <a:p>
            <a:pPr>
              <a:spcAft>
                <a:spcPts val="1200"/>
              </a:spcAft>
            </a:pPr>
            <a:r>
              <a:rPr sz="2200">
                <a:solidFill>
                  <a:srgbClr val="1F2937"/>
                </a:solidFill>
                <a:latin typeface="Calibri"/>
              </a:rPr>
              <a:t>▸  Savol: qaysi belgilar rels travmasini ko‘rsatadi? Moy, ballast va ko‘mir izlari bu turdagi travma uchun xos hisoblanadi.</a:t>
            </a:r>
          </a:p>
          <a:p>
            <a:pPr>
              <a:spcAft>
                <a:spcPts val="1200"/>
              </a:spcAft>
            </a:pPr>
            <a:r>
              <a:rPr sz="2200">
                <a:solidFill>
                  <a:srgbClr val="1F2937"/>
                </a:solidFill>
                <a:latin typeface="Calibri"/>
              </a:rPr>
              <a:t>▸  Bo‘linish sababi: g‘ildirak va rels orasida to‘qimalar majaqlanadi, g‘ildirak tojining qaychisimon ta’siri ularni ajratadi.</a:t>
            </a:r>
          </a:p>
          <a:p>
            <a:pPr>
              <a:spcAft>
                <a:spcPts val="1200"/>
              </a:spcAft>
            </a:pPr>
            <a:r>
              <a:rPr sz="2200">
                <a:solidFill>
                  <a:srgbClr val="1F2937"/>
                </a:solidFill>
                <a:latin typeface="Calibri"/>
              </a:rPr>
              <a:t>▸  Qo‘shimcha tekshiruv: rels tarafidagi chet tekis, g‘ildirak tomonida burchaksimon tishli laxtaklar bo‘lishi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73, 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Traktor travmasi: g‘ildirakli va o‘rmalovchi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Traktor travmasi kam uchraydi, asosan qishloq joylarida; uning oltita turi avtotravmaga o‘xshash.</a:t>
            </a:r>
          </a:p>
          <a:p>
            <a:pPr>
              <a:spcAft>
                <a:spcPts val="800"/>
              </a:spcAft>
            </a:pPr>
            <a:r>
              <a:rPr sz="1800">
                <a:solidFill>
                  <a:srgbClr val="1F2937"/>
                </a:solidFill>
                <a:latin typeface="Calibri"/>
              </a:rPr>
              <a:t>▸  O‘rmalovchi traktorda zanjir tishlari kiyim va tanani ilib, traktor tagiga tortadi.</a:t>
            </a:r>
          </a:p>
          <a:p>
            <a:pPr>
              <a:spcAft>
                <a:spcPts val="800"/>
              </a:spcAft>
            </a:pPr>
            <a:r>
              <a:rPr sz="1800">
                <a:solidFill>
                  <a:srgbClr val="1F2937"/>
                </a:solidFill>
                <a:latin typeface="Calibri"/>
              </a:rPr>
              <a:t>▸  Zanjir tishlarining solishtirma ta’siri katta bo‘lgani uchun jiddiy jarohatlar hosil bo‘ladi.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G‘ildirakli</a:t>
                      </a:r>
                    </a:p>
                  </a:txBody>
                  <a:tcPr marL="73152" marR="73152" marT="36576" marB="36576">
                    <a:solidFill>
                      <a:srgbClr val="0B1F3A"/>
                    </a:solidFill>
                  </a:tcPr>
                </a:tc>
                <a:tc>
                  <a:txBody>
                    <a:bodyPr/>
                    <a:lstStyle/>
                    <a:p>
                      <a:r>
                        <a:rPr sz="1300" b="1">
                          <a:solidFill>
                            <a:srgbClr val="FFFFFF"/>
                          </a:solidFill>
                        </a:rPr>
                        <a:t>O‘rmalovchi</a:t>
                      </a:r>
                    </a:p>
                  </a:txBody>
                  <a:tcPr marL="73152" marR="73152" marT="36576" marB="36576">
                    <a:solidFill>
                      <a:srgbClr val="0B1F3A"/>
                    </a:solidFill>
                  </a:tcPr>
                </a:tc>
              </a:tr>
              <a:tr h="411480">
                <a:tc>
                  <a:txBody>
                    <a:bodyPr/>
                    <a:lstStyle/>
                    <a:p>
                      <a:r>
                        <a:rPr sz="1200" b="0">
                          <a:solidFill>
                            <a:srgbClr val="1F2937"/>
                          </a:solidFill>
                        </a:rPr>
                        <a:t>Fazalar</a:t>
                      </a:r>
                    </a:p>
                  </a:txBody>
                  <a:tcPr marL="73152" marR="73152" marT="36576" marB="36576">
                    <a:solidFill>
                      <a:srgbClr val="E8EEF6"/>
                    </a:solidFill>
                  </a:tcPr>
                </a:tc>
                <a:tc>
                  <a:txBody>
                    <a:bodyPr/>
                    <a:lstStyle/>
                    <a:p>
                      <a:r>
                        <a:rPr sz="1200" b="0">
                          <a:solidFill>
                            <a:srgbClr val="1F2937"/>
                          </a:solidFill>
                        </a:rPr>
                        <a:t>Avtotravmaga o‘xshash</a:t>
                      </a:r>
                    </a:p>
                  </a:txBody>
                  <a:tcPr marL="73152" marR="73152" marT="36576" marB="36576">
                    <a:solidFill>
                      <a:srgbClr val="E8EEF6"/>
                    </a:solidFill>
                  </a:tcPr>
                </a:tc>
                <a:tc>
                  <a:txBody>
                    <a:bodyPr/>
                    <a:lstStyle/>
                    <a:p>
                      <a:r>
                        <a:rPr sz="1200" b="0">
                          <a:solidFill>
                            <a:srgbClr val="1F2937"/>
                          </a:solidFill>
                        </a:rPr>
                        <a:t>To‘qnashuvda 4-, bosib o‘tishda 2-faza yo‘q</a:t>
                      </a:r>
                    </a:p>
                  </a:txBody>
                  <a:tcPr marL="73152" marR="73152" marT="36576" marB="36576">
                    <a:solidFill>
                      <a:srgbClr val="E8EEF6"/>
                    </a:solidFill>
                  </a:tcPr>
                </a:tc>
              </a:tr>
              <a:tr h="411480">
                <a:tc>
                  <a:txBody>
                    <a:bodyPr/>
                    <a:lstStyle/>
                    <a:p>
                      <a:r>
                        <a:rPr sz="1200" b="0">
                          <a:solidFill>
                            <a:srgbClr val="1F2937"/>
                          </a:solidFill>
                        </a:rPr>
                        <a:t>Izlar</a:t>
                      </a:r>
                    </a:p>
                  </a:txBody>
                  <a:tcPr marL="73152" marR="73152" marT="36576" marB="36576">
                    <a:solidFill>
                      <a:srgbClr val="FFFFFF"/>
                    </a:solidFill>
                  </a:tcPr>
                </a:tc>
                <a:tc>
                  <a:txBody>
                    <a:bodyPr/>
                    <a:lstStyle/>
                    <a:p>
                      <a:r>
                        <a:rPr sz="1200" b="0">
                          <a:solidFill>
                            <a:srgbClr val="1F2937"/>
                          </a:solidFill>
                        </a:rPr>
                        <a:t>Protektor izi avtomobilnikidan farq qiladi</a:t>
                      </a:r>
                    </a:p>
                  </a:txBody>
                  <a:tcPr marL="73152" marR="73152" marT="36576" marB="36576">
                    <a:solidFill>
                      <a:srgbClr val="FFFFFF"/>
                    </a:solidFill>
                  </a:tcPr>
                </a:tc>
                <a:tc>
                  <a:txBody>
                    <a:bodyPr/>
                    <a:lstStyle/>
                    <a:p>
                      <a:r>
                        <a:rPr sz="1200" b="0">
                          <a:solidFill>
                            <a:srgbClr val="1F2937"/>
                          </a:solidFill>
                        </a:rPr>
                        <a:t>Kiyimda zanjir traklariga mos iflos izi</a:t>
                      </a:r>
                    </a:p>
                  </a:txBody>
                  <a:tcPr marL="73152" marR="73152" marT="36576" marB="36576">
                    <a:solidFill>
                      <a:srgbClr val="FFFFFF"/>
                    </a:solidFill>
                  </a:tcPr>
                </a:tc>
              </a:tr>
              <a:tr h="411480">
                <a:tc>
                  <a:txBody>
                    <a:bodyPr/>
                    <a:lstStyle/>
                    <a:p>
                      <a:r>
                        <a:rPr sz="1200" b="0">
                          <a:solidFill>
                            <a:srgbClr val="1F2937"/>
                          </a:solidFill>
                        </a:rPr>
                        <a:t>Jarohat</a:t>
                      </a:r>
                    </a:p>
                  </a:txBody>
                  <a:tcPr marL="73152" marR="73152" marT="36576" marB="36576">
                    <a:solidFill>
                      <a:srgbClr val="E8EEF6"/>
                    </a:solidFill>
                  </a:tcPr>
                </a:tc>
                <a:tc>
                  <a:txBody>
                    <a:bodyPr/>
                    <a:lstStyle/>
                    <a:p>
                      <a:r>
                        <a:rPr sz="1200" b="0">
                          <a:solidFill>
                            <a:srgbClr val="1F2937"/>
                          </a:solidFill>
                        </a:rPr>
                        <a:t>Massa va g‘ildirak o‘lchamiga bog‘liq</a:t>
                      </a:r>
                    </a:p>
                  </a:txBody>
                  <a:tcPr marL="73152" marR="73152" marT="36576" marB="36576">
                    <a:solidFill>
                      <a:srgbClr val="E8EEF6"/>
                    </a:solidFill>
                  </a:tcPr>
                </a:tc>
                <a:tc>
                  <a:txBody>
                    <a:bodyPr/>
                    <a:lstStyle/>
                    <a:p>
                      <a:r>
                        <a:rPr sz="1200" b="0">
                          <a:solidFill>
                            <a:srgbClr val="1F2937"/>
                          </a:solidFill>
                        </a:rPr>
                        <a:t>Shilinma, qontalash, yirtma yara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G‘ildirakli va o‘rmalovchi traktor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74, 75, 74-75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Aviatravma: turlari va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Sabablari: texnik nosozlik, meteorologik omillar, ekspluatatsiya va xizmat qoidalarini buzish.</a:t>
            </a:r>
          </a:p>
          <a:p>
            <a:pPr>
              <a:spcAft>
                <a:spcPts val="800"/>
              </a:spcAft>
            </a:pPr>
            <a:r>
              <a:rPr sz="1800">
                <a:solidFill>
                  <a:srgbClr val="1F2937"/>
                </a:solidFill>
                <a:latin typeface="Calibri"/>
              </a:rPr>
              <a:t>▸  Sakkiz omil: kuch, havo oqimi, dekompressiya, o‘tmas jismlar, portlash to‘lqini, termik, tashqi qismlar</a:t>
            </a:r>
          </a:p>
          <a:p>
            <a:pPr>
              <a:spcAft>
                <a:spcPts val="800"/>
              </a:spcAft>
            </a:pPr>
            <a:r>
              <a:rPr sz="1800">
                <a:solidFill>
                  <a:srgbClr val="1F2937"/>
                </a:solidFill>
                <a:latin typeface="Calibri"/>
              </a:rPr>
              <a:t>▸  Aviatravma favqulodda hodisa; mutaxassislar tekshiradi, murdalarni identifikatsiya qilish muhim.</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Parvozda apparat ichida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Parvozda apparatni tark etish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Erga urilishda shikastlanish</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Erda apparatdan shikastlanish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Aviatravmaning to‘rt turi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75, 76, 78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Aviatravma omillari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Portlash to‘lqini apparat va tanalarni emiradi; erda portlaganda bo‘laklar 500 m radiusgacha sochiladi.</a:t>
            </a:r>
          </a:p>
          <a:p>
            <a:pPr>
              <a:spcAft>
                <a:spcPts val="800"/>
              </a:spcAft>
            </a:pPr>
            <a:r>
              <a:rPr sz="1800">
                <a:solidFill>
                  <a:srgbClr val="1F2937"/>
                </a:solidFill>
                <a:latin typeface="Calibri"/>
              </a:rPr>
              <a:t>▸  Termik omil yong‘inda kuyish beradi; yonilg‘i baklari o‘rtada, shuning uchun yo‘lovchilarda ko‘proq.</a:t>
            </a:r>
          </a:p>
          <a:p>
            <a:pPr>
              <a:spcAft>
                <a:spcPts val="800"/>
              </a:spcAft>
            </a:pPr>
            <a:r>
              <a:rPr sz="1800">
                <a:solidFill>
                  <a:srgbClr val="1F2937"/>
                </a:solidFill>
                <a:latin typeface="Calibri"/>
              </a:rPr>
              <a:t>▸  Toksik ta’sir: yonish natijasida is gazi, formaldegid, vinilxlorid va dvigatel gazlari bilan zaharlanish.</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Omil</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r>
              <a:tr h="411480">
                <a:tc>
                  <a:txBody>
                    <a:bodyPr/>
                    <a:lstStyle/>
                    <a:p>
                      <a:r>
                        <a:rPr sz="1200" b="0">
                          <a:solidFill>
                            <a:srgbClr val="1F2937"/>
                          </a:solidFill>
                        </a:rPr>
                        <a:t>Dinamik kuch</a:t>
                      </a:r>
                    </a:p>
                  </a:txBody>
                  <a:tcPr marL="73152" marR="73152" marT="36576" marB="36576">
                    <a:solidFill>
                      <a:srgbClr val="E8EEF6"/>
                    </a:solidFill>
                  </a:tcPr>
                </a:tc>
                <a:tc>
                  <a:txBody>
                    <a:bodyPr/>
                    <a:lstStyle/>
                    <a:p>
                      <a:r>
                        <a:rPr sz="1200" b="0">
                          <a:solidFill>
                            <a:srgbClr val="1F2937"/>
                          </a:solidFill>
                        </a:rPr>
                        <a:t>Tez ko‘tarilishda miya qon ta’minoti buziladi</a:t>
                      </a:r>
                    </a:p>
                  </a:txBody>
                  <a:tcPr marL="73152" marR="73152" marT="36576" marB="36576">
                    <a:solidFill>
                      <a:srgbClr val="E8EEF6"/>
                    </a:solidFill>
                  </a:tcPr>
                </a:tc>
                <a:tc>
                  <a:txBody>
                    <a:bodyPr/>
                    <a:lstStyle/>
                    <a:p>
                      <a:r>
                        <a:rPr sz="1200" b="0">
                          <a:solidFill>
                            <a:srgbClr val="1F2937"/>
                          </a:solidFill>
                        </a:rPr>
                        <a:t>Hush yo‘qolishi, ichki a’zolar siljishi</a:t>
                      </a:r>
                    </a:p>
                  </a:txBody>
                  <a:tcPr marL="73152" marR="73152" marT="36576" marB="36576">
                    <a:solidFill>
                      <a:srgbClr val="E8EEF6"/>
                    </a:solidFill>
                  </a:tcPr>
                </a:tc>
              </a:tr>
              <a:tr h="411480">
                <a:tc>
                  <a:txBody>
                    <a:bodyPr/>
                    <a:lstStyle/>
                    <a:p>
                      <a:r>
                        <a:rPr sz="1200" b="0">
                          <a:solidFill>
                            <a:srgbClr val="1F2937"/>
                          </a:solidFill>
                        </a:rPr>
                        <a:t>Zarb kuch</a:t>
                      </a:r>
                    </a:p>
                  </a:txBody>
                  <a:tcPr marL="73152" marR="73152" marT="36576" marB="36576">
                    <a:solidFill>
                      <a:srgbClr val="FFFFFF"/>
                    </a:solidFill>
                  </a:tcPr>
                </a:tc>
                <a:tc>
                  <a:txBody>
                    <a:bodyPr/>
                    <a:lstStyle/>
                    <a:p>
                      <a:r>
                        <a:rPr sz="1200" b="0">
                          <a:solidFill>
                            <a:srgbClr val="1F2937"/>
                          </a:solidFill>
                        </a:rPr>
                        <a:t>Katapulta, qattiq qo‘nish: vertikal kuch</a:t>
                      </a:r>
                    </a:p>
                  </a:txBody>
                  <a:tcPr marL="73152" marR="73152" marT="36576" marB="36576">
                    <a:solidFill>
                      <a:srgbClr val="FFFFFF"/>
                    </a:solidFill>
                  </a:tcPr>
                </a:tc>
                <a:tc>
                  <a:txBody>
                    <a:bodyPr/>
                    <a:lstStyle/>
                    <a:p>
                      <a:r>
                        <a:rPr sz="1200" b="0">
                          <a:solidFill>
                            <a:srgbClr val="1F2937"/>
                          </a:solidFill>
                        </a:rPr>
                        <a:t>Umurtqa, kalla, oyoq-qo‘l sinishi</a:t>
                      </a:r>
                    </a:p>
                  </a:txBody>
                  <a:tcPr marL="73152" marR="73152" marT="36576" marB="36576">
                    <a:solidFill>
                      <a:srgbClr val="FFFFFF"/>
                    </a:solidFill>
                  </a:tcPr>
                </a:tc>
              </a:tr>
              <a:tr h="411480">
                <a:tc>
                  <a:txBody>
                    <a:bodyPr/>
                    <a:lstStyle/>
                    <a:p>
                      <a:r>
                        <a:rPr sz="1200" b="0">
                          <a:solidFill>
                            <a:srgbClr val="1F2937"/>
                          </a:solidFill>
                        </a:rPr>
                        <a:t>Havo oqimi</a:t>
                      </a:r>
                    </a:p>
                  </a:txBody>
                  <a:tcPr marL="73152" marR="73152" marT="36576" marB="36576">
                    <a:solidFill>
                      <a:srgbClr val="E8EEF6"/>
                    </a:solidFill>
                  </a:tcPr>
                </a:tc>
                <a:tc>
                  <a:txBody>
                    <a:bodyPr/>
                    <a:lstStyle/>
                    <a:p>
                      <a:r>
                        <a:rPr sz="1200" b="0">
                          <a:solidFill>
                            <a:srgbClr val="1F2937"/>
                          </a:solidFill>
                        </a:rPr>
                        <a:t>Tezlik 800 km/soat va undan ortiq</a:t>
                      </a:r>
                    </a:p>
                  </a:txBody>
                  <a:tcPr marL="73152" marR="73152" marT="36576" marB="36576">
                    <a:solidFill>
                      <a:srgbClr val="E8EEF6"/>
                    </a:solidFill>
                  </a:tcPr>
                </a:tc>
                <a:tc>
                  <a:txBody>
                    <a:bodyPr/>
                    <a:lstStyle/>
                    <a:p>
                      <a:r>
                        <a:rPr sz="1200" b="0">
                          <a:solidFill>
                            <a:srgbClr val="1F2937"/>
                          </a:solidFill>
                        </a:rPr>
                        <a:t>Og‘iz yorilishi, ko‘z, o‘pka barotravmasi</a:t>
                      </a:r>
                    </a:p>
                  </a:txBody>
                  <a:tcPr marL="73152" marR="73152" marT="36576" marB="36576">
                    <a:solidFill>
                      <a:srgbClr val="E8EEF6"/>
                    </a:solidFill>
                  </a:tcPr>
                </a:tc>
              </a:tr>
              <a:tr h="411480">
                <a:tc>
                  <a:txBody>
                    <a:bodyPr/>
                    <a:lstStyle/>
                    <a:p>
                      <a:r>
                        <a:rPr sz="1200" b="0">
                          <a:solidFill>
                            <a:srgbClr val="1F2937"/>
                          </a:solidFill>
                        </a:rPr>
                        <a:t>Dekompressiya</a:t>
                      </a:r>
                    </a:p>
                  </a:txBody>
                  <a:tcPr marL="73152" marR="73152" marT="36576" marB="36576">
                    <a:solidFill>
                      <a:srgbClr val="FFFFFF"/>
                    </a:solidFill>
                  </a:tcPr>
                </a:tc>
                <a:tc>
                  <a:txBody>
                    <a:bodyPr/>
                    <a:lstStyle/>
                    <a:p>
                      <a:r>
                        <a:rPr sz="1200" b="0">
                          <a:solidFill>
                            <a:srgbClr val="1F2937"/>
                          </a:solidFill>
                        </a:rPr>
                        <a:t>8 km+ portlash; 19 km+ balandlik</a:t>
                      </a:r>
                    </a:p>
                  </a:txBody>
                  <a:tcPr marL="73152" marR="73152" marT="36576" marB="36576">
                    <a:solidFill>
                      <a:srgbClr val="FFFFFF"/>
                    </a:solidFill>
                  </a:tcPr>
                </a:tc>
                <a:tc>
                  <a:txBody>
                    <a:bodyPr/>
                    <a:lstStyle/>
                    <a:p>
                      <a:r>
                        <a:rPr sz="1200" b="0">
                          <a:solidFill>
                            <a:srgbClr val="1F2937"/>
                          </a:solidFill>
                        </a:rPr>
                        <a:t>Nog‘ora parda yorilishi; gaz pufakchalari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omillar va ularning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77, 78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va tezkor savol: aviatravma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8 km dan baland uchayotgan samolyot kabinasida germetizatsiya buzilgan, samolyot qulagan, ekipaj va yo‘lovchilar halok bo‘lgan.</a:t>
            </a:r>
          </a:p>
          <a:p>
            <a:pPr>
              <a:spcAft>
                <a:spcPts val="1200"/>
              </a:spcAft>
            </a:pPr>
            <a:r>
              <a:rPr sz="2000">
                <a:solidFill>
                  <a:srgbClr val="1F2937"/>
                </a:solidFill>
                <a:latin typeface="Calibri"/>
              </a:rPr>
              <a:t>▸  Murdalarda chekka suyaklari tekshiriladi. Nog‘ora pardasining yorilishi va o‘rta hamda ichki quloq bo‘shliqlaridagi qon quyilishi sababni, ya’ni germetizatsiya buzilganini ko‘rsatadi.</a:t>
            </a:r>
          </a:p>
          <a:p>
            <a:pPr>
              <a:spcAft>
                <a:spcPts val="1200"/>
              </a:spcAft>
            </a:pPr>
            <a:r>
              <a:rPr sz="2000">
                <a:solidFill>
                  <a:srgbClr val="1F2937"/>
                </a:solidFill>
                <a:latin typeface="Calibri"/>
              </a:rPr>
              <a:t>▸  Diqqat: xato qilish xavfi! Portlash dekompressiyasi (8 km dan baland, germetizatsiya buzilishi) ≠ balandlik dekompressiyasi (19 km va undan baland, himoyasiz parvoz, to‘qimada gaz pufakchalari).</a:t>
            </a:r>
          </a:p>
          <a:p>
            <a:pPr>
              <a:spcAft>
                <a:spcPts val="1200"/>
              </a:spcAft>
            </a:pPr>
            <a:r>
              <a:rPr sz="2000">
                <a:solidFill>
                  <a:srgbClr val="1F2937"/>
                </a:solidFill>
                <a:latin typeface="Calibri"/>
              </a:rPr>
              <a:t>▸  Tezkor savol: nima uchun ekipaj murdalarini identifikatsiya qilish muhim? Uchuvchi tanasida sog‘lig‘i va toksik moddalar ham tekshiriladi.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77, 78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transport travmasi va vrach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Transport travmasi harakatdagi vositaning tashqi va ichki qismlaridan hamda undan yiqilishdan olingan jarohatlar majmuidir. Ekspertizalarning 90% dan ortig‘i avtotravmaga to‘g‘ri keladi.</a:t>
            </a:r>
          </a:p>
          <a:p>
            <a:pPr>
              <a:spcAft>
                <a:spcPts val="1200"/>
              </a:spcAft>
            </a:pPr>
            <a:r>
              <a:rPr sz="2000">
                <a:solidFill>
                  <a:srgbClr val="1F2937"/>
                </a:solidFill>
                <a:latin typeface="Calibri"/>
              </a:rPr>
              <a:t>▸  Avtotravmaning 6 turi bor. Piyoda bilan to‘qnashuvda 4 faza, g‘ildirak bosib o‘tishda 5 faza ajratiladi. Fazani bilish jarohat mexanizmini aniqlashga yordam beradi.</a:t>
            </a:r>
          </a:p>
          <a:p>
            <a:pPr>
              <a:spcAft>
                <a:spcPts val="1200"/>
              </a:spcAft>
            </a:pPr>
            <a:r>
              <a:rPr sz="2000">
                <a:solidFill>
                  <a:srgbClr val="1F2937"/>
                </a:solidFill>
                <a:latin typeface="Calibri"/>
              </a:rPr>
              <a:t>▸  Mototsikl travmasida 5 tur, rels va traktor travmasida 6 tur, aviatravmada 4 tur farqlanadi. Har birida jarohat transport qismining tuzilishiga bog‘liq.</a:t>
            </a:r>
          </a:p>
          <a:p>
            <a:pPr>
              <a:spcAft>
                <a:spcPts val="1200"/>
              </a:spcAft>
            </a:pPr>
            <a:r>
              <a:rPr sz="2000">
                <a:solidFill>
                  <a:srgbClr val="1F2937"/>
                </a:solidFill>
                <a:latin typeface="Calibri"/>
              </a:rPr>
              <a:t>▸  Vrach jarohatlarni to‘liq tavsiflaydi. Kiyim-poyafzalni ehtiyotkorlik bilan echib, quritib, qog‘ozga o‘rab, huquqni muhofaza idoralariga topshiradi.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57, 58, 61, 63, 70, 71, 74, 75, 57, 58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avtotravmadagi jarohatlarning to‘rt guruhi — spetsifik, xos, xos bo‘lmagan, imitatsion. Qisqacha «S–X–X–I». Spetsifik jarohat avtomobilning aniq qismini ko‘rsatadi, imitatsion jarohat esa boshqa hodisadagi jarohatga o‘xshab ketadi.</a:t>
            </a:r>
          </a:p>
          <a:p>
            <a:pPr>
              <a:spcAft>
                <a:spcPts val="1200"/>
              </a:spcAft>
            </a:pPr>
            <a:r>
              <a:rPr sz="1800">
                <a:solidFill>
                  <a:srgbClr val="1F2937"/>
                </a:solidFill>
                <a:latin typeface="Calibri"/>
              </a:rPr>
              <a:t>▸  Rels travmasida g‘ildirak tanaga chiqayotgan joyda «T» shaklidagi shilinma («chimchi» belgisi) hosil bo‘ladi. U tananing g‘ildirakka qaragan, relslar oralig‘i tomonidagi yuzasida bo‘ladi.</a:t>
            </a:r>
          </a:p>
          <a:p>
            <a:pPr>
              <a:spcAft>
                <a:spcPts val="1200"/>
              </a:spcAft>
            </a:pPr>
            <a:r>
              <a:rPr sz="1800">
                <a:solidFill>
                  <a:srgbClr val="1F2937"/>
                </a:solidFill>
                <a:latin typeface="Calibri"/>
              </a:rPr>
              <a:t>▸  Raqamlarda transport travmasi: mexanik jarohatlardan o‘lim holatlarining 60–65 foizi unga to‘g‘ri keladi. Transport travmasi bo‘yicha o‘tkazilgan ekspertizalarning 90 foizdan ortig‘ini avtomobil travmasi tashkil etadi.</a:t>
            </a:r>
          </a:p>
          <a:p>
            <a:pPr>
              <a:spcAft>
                <a:spcPts val="1200"/>
              </a:spcAft>
            </a:pPr>
            <a:r>
              <a:rPr sz="1800">
                <a:solidFill>
                  <a:srgbClr val="1F2937"/>
                </a:solidFill>
                <a:latin typeface="Calibri"/>
              </a:rPr>
              <a:t>▸  Hodisa tahlili: bosib o‘tish tezligi 20 km/soat va undan katta bo‘lsa, g‘ildirak tanadan «sakrab tushadi». Shu sababli to‘rtinchi fazada hech qanday jarohat bo‘lmasligi mumkin. Jarohat yo‘qligi bosib o‘tilmaganini isbotlamaydi.</a:t>
            </a:r>
          </a:p>
          <a:p>
            <a:pPr>
              <a:spcAft>
                <a:spcPts val="1200"/>
              </a:spcAft>
            </a:pPr>
            <a:r>
              <a:rPr sz="1800">
                <a:solidFill>
                  <a:srgbClr val="1F2937"/>
                </a:solidFill>
                <a:latin typeface="Calibri"/>
              </a:rPr>
              <a:t>▸  Qiziqarli fakt: avtomobilning oldingi o‘rindig‘idagi yo‘lovchining tanasi mahkamlanmagani uchun u ichkaridagi eng xavfli joy hisoblanadi. Xavfsizlik kamari ham tezlik oshganda o‘zi shikastlovchi omilga aylanishi mumkin.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Suyakning arralama yuzasida arra varag‘ining xususiyatlariga mos, parallel joylashgan burtma va ariqchalar topildi. Yara chiziqsimon, chetlari mayda tishli. Bu qaysi harakatda hosil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Varaqsimon arraning oldinga-orqaga harakatida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Sirkulyar arraning aylanma harakatida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Chopma qurolning bir martalik zarbida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Sanchma-kesma qurolning sanchilishida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mexanik jarohatlardan o‘lim holatlarining tahlilini o‘tkazmoqda. Sud-tibbiy ekspertiza ma’lumotlariga ko‘ra, bu holatlarning qancha qismi transport travmasiga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20-25 foizi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60-65 foizi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90 foizdan ortig‘i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1,5-2,0 foizi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Yo‘lda mototsikl va avtomobil to‘qnashdi, mototsikl haydovchisi jarohat oldi. Sud tibbiyoti bunday shikastlanishni qanday nomlaydi?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Oddiy mototsikl travmasi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Aviatsion transport travmasi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Murakkab transport travmasi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Oddiy avtomobil travmasi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Yo‘l-transport hodisasi jabrlanuvchisining kiyim-boshi ehtiyotkorlik bilan echildi. Vrach keyin nima qilishi lozim?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Kiyimni yuvib tozalab, qarindoshlariga qaytarishi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Kiyimni darhol tashlab yuborishi, chunki tibbiy ahamiyati yo‘q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Kiyimni quyoshda quritib, shifoxona omboriga topshirishi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Kiyimni zarur bo‘lsa xonada quritib, qog‘oz o‘ramga solib, huquqni muhofaza idoralariga topshirishi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A.A.Matishev va boshqalarning tasnifi (1968) bo‘yicha avtotravmaning nechta turi farqlanadi?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To‘rtta tur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Oltita tur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Beshta tur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Yettita tur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Avtohalokatda jabrlanganning yuzida old oyna siniqlaridan hosil bo‘lgan kesma yaralar topildi. Bu jarohatlar avtotravmaning qaysi guruhiga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Spetsifik (kontakt) jarohatlar guruhiga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Xos jarohatlar guruhiga sanaladi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Imitatsion jarohatlar guruhiga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Xos bo‘lmagan jarohatlar guruhiga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Piyoda yuk avtomobilining old qismi bilan to‘qnashdi. Piyodalar to‘qnashuvining to‘rt fazasidan qaysi biri bu holatda kuzatilmaydi?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Tananing avtomobilga yiqilishi fazasi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Avtomobil qismlari bilan zarb fazasi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Tananing uloqtirilishi va erga tushishi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Tananing erda sirpanishi fazasi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Jabrlanganning boldir suyagida uchburchak shaklli bamper-sinish aniqlandi. Uchburchakning asosi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Zarbga qarama-qarshi tomonni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Tananing erga tushgan tomonini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Avtomobilning harakat yo‘nalishini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Birlamchi zarb bo‘lgan tomonni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yerdagi sirpanish yo‘nalishiga mos parallel yo‘lkasimon shilinmalar aniqlandi. Ular piyoda–avtomobil to‘qnashuvining qaysi fazasida hosil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Birinchi fazada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To‘rtinchi fazada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Uchinchi fazada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Ikkinchi fazada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Ekspertiza paytida avtomobil g‘ildiragi tanani kesib o‘tmagan, faqat tanaga chiqib qolgani aniqlandi. Bu bosib o‘tishning qaysi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To‘liq bosib o‘tish turi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Egri yo‘nalishdagi bosib o‘tish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Noto‘liq bosib o‘tish turi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Ko‘ndalang bosib o‘tish turi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Jabrlanganning tanasida g‘ildirak shinasi protektorining izi topildi. Iz faqat qontalash ko‘rinishida va shinaning botiq qismidan hosil bo‘lgan. Bu qanday iz?</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Pozitiv iz: shilinma bilan qontalash birga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Negativ iz: faqat qontalash ko‘rinishida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Qoplanma iz: ifloslanish ko‘rinishida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Bamper-jarohat: ko‘ndalang shilinma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Avtomobil g‘ildiragi jabrlanganning ko‘krak qafasi sohasidan o‘tgan. Ekspertiza qaysi jarohatni kutishi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Quloq supralarining to‘liq ajralishi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Oyoq suyaklarining siniqli sinishi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Bo‘yin umurtqalarining qamchisimon sinishi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Qobirg‘alarning ikki tomonlama ko‘p chiziqli sinishi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Avtomobil haydovchisining ko‘kragida yarim oysimon shilinma va qontalashlar, iyagida lat yara aniqlandi. Bu jarohatlar qaysi ta’sirdan hosil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Ko‘krakning rulga urilishidan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Oyoqlarning panelga urilishidan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Xavfsizlik kamarining siqishidan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Tananing erda sirpanishidan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To‘qnashuv paytida avtomobil ichidagi qaysi o‘rin eng xavfli joy deb tan olingan?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Haydovchi o‘rindig‘i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Orqa o‘rindiqning o‘rtasi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Oldingi o‘rindiq yo‘lovchisining o‘rni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Orqa o‘rindiqning chap tomoni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Jabrlanganning harakatdagi avtomobildan tushib ketgani gumon qilinmoqda. Tanada parallel yo‘lkasimon shilinmalar bor. Bu jarohat uni balandlikdan yiqilishdan nima bilan farqlaydi?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Tananing erga tushish fazasida hosil bo‘lishi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Tananing erda inersiya bilan siljish fazasida hosil bo‘lishi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Tananing avtomobil qismlariga urilish fazasida hosil bo‘lishi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Bevosita va bilvosita sinishlar mavjudligi bilan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Rels travmasida tananing g‘ildirakka qaragan, relslar oralig‘i tomonida “T” shaklidagi shilinma topildi. Bu shilinma g‘ildirakning qaysi sohasiga mos joyda hosil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g‘ildirak tanadan tushayotgan sohada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g‘ildirak tanaga chiqayotgan sohada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g‘ildirakka teskari tomondagi sohada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rels tashqarisidagi yon yuza sohasida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Mototsikl travmasi sud-tibbiy amaliyotda asosan qaysi davrda ko‘proq kuzatiladi?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qish va erta bahor oylarida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yoz oxiri va kech kuz oylarida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butun yil davomida bir tekis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kech bahor, yoz va erta kuz oylarida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Rels g‘ildiraklari bosib o‘tishi natijasida tana ikki qismga bo‘lingan. Ajralish chetlari nisbatan tekis bo‘lgan tomon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rels tarafidagi ajralish chetlari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g‘ildirak tarafidagi ajralish chetlari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 tomondagi ajralish chetlari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relsdan tashqaridagi qismning chetlari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Jabrlanganning kiyimida shakli va o‘lchami zanjir traklariga mos ifloslanish izlari, tanasida shilinma, qontalash va yirtma yaralar topildi. Bu qaysi travma turiga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g‘ildirakli traktor bilan to‘qnashuv</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traktor kabinasida shikastlanish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o‘rmalovchi traktor bilan bosib o‘tish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harakatdagi traktordan yiqilib tushish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Samolyot 8 km dan baland uchganda halokatga uchradi. Murdada nog‘ora pardasi yorilgan, o‘rta va ichki quloq bo‘shliqlarida qon quyilishlar bor. Bu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yong‘in natijasidagi termik ta’sirdan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balandlik dekompressiyasi (emfizema)dan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portlash to‘lqinining mexanik ta’siridan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kabina germetizatsiyasi buzilganligidan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Varaqsimon arraning oldinga-orqaga harakatida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Varaqsimon arra oldinga-orqaga harakatlanganda yara chiziqsimon bo‘lib, chetlari mayda tishli va notekis bo‘ladi. Suyakning arralama yuzasida esa parallel burtma va ariqchalar paydo bo‘ladi. Sirkulyar arrada suyak yuzasi nisbatan tekis bo‘lib, yoysimon izlar qoladi.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55-bet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Taxminan 60-65 foizi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Mexanik jarohatlardan o‘lim holatlarining 60-65 foizi transport travmasiga to‘g‘ri keladi. 20-25 foiz esa tirik shaxslar ekspertizasidagi ulushdir. 90 foizdan ortig‘i transport travmasi ichida avtomobil travmasining ulushidir.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57-bet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Murakkab transport travmasi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Shikastlanish turli xil transport vositalarining to‘qnashuvida olinsa, murakkab transport travmasi deyiladi. Mototsikl-avtomobil travmasi shunday holatga misol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57-bet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Kiyimni zarur bo‘lsa xonada quritib, qog‘oz o‘ramga solib, huquqni muhofaza idoralariga topshirishi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Kiyim-bosh va poyafzalda hodisani tekshirish uchun muhim jarohat va ifloslanish alomatlari bo‘lishi mumkin. Shuning uchun ularni ehtiyotkorlik bilan echib, zarur bo‘lsa xonada quritib, qog‘oz o‘ramga solish va huquqni muhofaza etuvchi idoralarga taqdim qilish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57-58-bet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Oltita tur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Matishev tasnifida avtotravmaning olti turi bor: avtomobil bilan to‘qnashuv, g‘ildiraklar bilan bosib o‘tish, avtomobil ichida shikastlanish, avtomobildan yiqilish, qisilish va murakkab avtotravma. Beshta tur mototsikl travmasiga, to‘rtta tur aviatravmaga xosdir.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58-bet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Imitatsion jarohatlar guruhiga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Imitatsion jarohatlar boshqa hodisalardagi jarohatlarga o‘xshaydi. Old oyna siniqlaridan olingan jarohatlar kesma yoki sanchma-kesma yaralarni eslatadi. Shu sababli ular imitatsion guruhga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60-bet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Tananing avtomobilga yiqilishi fazasi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Yuk avtomobillari, vagon rusumidagi kuzovli avtomobillar va avtomobilning yon qismi bilan to‘qnashuvda ikkinchi faza (tananing avtomobilga yiqilishi) kuzatilmaydi.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61-bet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Birlamchi zarb bo‘lgan tomonni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Bamper-sinish odatda uchburchak shaklida bo‘ladi va uning asosi birlamchi zarb tomonida joylashadi. Bu zarb tomonini aniqlashga yordam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61-bet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To‘rtinchi fazada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To‘rtinchi fazada tana erda sirpanadi va sirpanish yo‘nalishiga mos parallel shilinmalar vujudga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62-bet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Noto‘liq bosib o‘tish turi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To‘liq bosib o‘tishda g‘ildirak tanani kesib o‘tadi, noto‘liq bosib o‘tishda esa faqat tanaga chiqadi. Ko‘ndalang va egri esa yo‘nalish turlaridir.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63-bet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Negativ iz: faqat qontalash ko‘rinishida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Protektorning bo‘rtib turgan qismlaridan pozitiv izlar hosil bo‘ladi va ular shilinma-qontalash ko‘rinishida bo‘ladi. Botiq qismlardan negativ izlar hosil bo‘ladi va ular faqat qontalash ko‘rinishida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3. Transport travmasi, 63-bet-bet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Qobirg‘alarning ikki tomonlama ko‘p chiziqli sinishi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G‘ildirak ko‘krak sohasidan o‘tganda qobirg‘alar ikki tomonlama ko‘p chiziqlar bo‘yicha sinadi. Quloq supralarining ajralishi bosh sohasi bosib o‘tilganda, siniqli sinishlar esa oyoqlar bosib o‘tilganda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3. Transport travmasi, 64-65-bet-bet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Ko‘krakning rulga urilishidan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Haydovchida ko‘krakning rulga urilishi ikkinchi fazada kuzatiladi. Rulga urilishdan ko‘krakda yarim oysimon shilinma va qontalash, iyakda lat yara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3. Transport travmasi, 66-bet-bet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Oldingi o‘rindiq yo‘lovchisining o‘rni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Oldingi o‘rindiq yo‘lovchisining tanasi fiksatsiya qilinmagan. Shu sababli unda shikastlanish haydovchiga nisbatan jiddiyroq bo‘ladi va bu o‘rin eng xavfli joy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3. Transport travmasi, 66-bet-bet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Tananing erda inersiya bilan siljish fazasida hosil bo‘lishi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Avtomobildan tushib ketishning uchinchi fazasida tana inersiya bo‘yicha erda siljiydi va parallel yo‘lkasimon shilinmalar hosil bo‘ladi. Aynan shu faza jarohatlari tushib ketishni balandlikdan yiqilishdan farqlaydi.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Bob 3. Transport travmasi, 67-68-bet-bet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g‘ildirak tanaga chiqayotgan sohada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G‘ildirak toji va rels boshchasining ichki qirrasi orasida qisilgan terida ishqalanishdan “T” shaklidagi shilinma (“chimchi” belgisi) hosil bo‘ladi. U doim tananing g‘ildirakka qaragan, relslar oralig‘idagi tomonida, g‘ildirak tanaga chiqayotgan sohada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72-bet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kech bahor, yoz va erta kuz oylarida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Mototsikl travmasi mavsumiylik xususiyatiga ega. U asosan kech bahor, yoz va erta kuz oylarida kuzatiladi. Avtotravmaga nisbatan esa ancha kam uchraydi.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69-bet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rels tarafidagi ajralish chetlari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Tana bo‘linganda rels tarafida ajralish chetlari nisbatan tekis bo‘ladi. Relsdan tashqaridagi qismning g‘ildirakka qaragan tomonida esa chetlar terining burchaksimon laxtaklari hisobiga yirik tishsimon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o‘rmalovchi traktor bilan bosib o‘tish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O‘rmalovchi traktor bosib o‘tganda kiyimda zanjir traklarining shakli, o‘lchami va tuzilishiga mos ifloslanish izlari qoladi. Tanada shilinma, qontalash va yirtma yaralar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75-bet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kabina germetizatsiyasi buzilganligidan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Murdalarda chakka suyaklarining tekshiruvi muhim. Nog‘ora pardasining yorilishi va o‘rta hamda ichki quloqdagi qon quyilishlar falokat sababi germetizatsiyaning buzilishi ekanligini ko‘rsatadi. Katta balandlikda bunday buzilish portlash dekompressiyasini keltirib chiqaradi.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77-bet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jarohatlar. Transport travmasi.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3. Transport travmasi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