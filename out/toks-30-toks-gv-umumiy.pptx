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sud-kimyogari uchun nega huquqiy ro‘yxatlarni bilish zarur? Doskada: reja 6 qadamda. Tipik xato: ro‘yxatlarni doimiy deb hisoblash — ular Vazirlar Mahkamasi tomonidan o‘zgartiriladi, amaldagi tahrirni lex.uz dan tekshiring.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«chinlik» va «miqdor» tushunchalari nimasi bilan farq qiladi? Doskada: fan nimani o‘rganishini 3 so‘z bilan yozing. Tipik xato: fanni faqat huquqiy emas, kimyoviy-analitik fan sifatida ham ko‘rishni unutish.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ekspress tahlil nima uchun klinik jihatdan muhim? Doskada: 4 vazifa. Tipik xato: hujjatlarni rasmiylashtirishni ekspertizaning ikkinchi darajali qismi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metabolizmni bilish tahlil ob’ektini tanlashga qanday ta’sir qiladi? Doskada: vazifalar ro‘yxati. Tipik xato: faqat asl moddani qidirib, metabolitlarni e’tiborsiz qoldirish.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nega Markaziy Osiyo tranzit yo‘nalishi sifatida tilga olinadi? Doskada: 18 mln va 200 mln. Tipik xato: kitob ko‘rsatgan statistikani amaldagi deb taqdim etish — bu kitob nashridagi ma’lumot.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narkomaniya va toksikomaniya orasidagi farq nima? Doskada: uch atama va ta’rif. Tipik xato: polinarkomaniyani bir moddaga qaramlik deb tushunish.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tarixiy manbalar zamonaviy ekspertizada nimani o‘zgartiradi? Doskada: Misr -&gt; Gerodot -&gt; Gippokrat -&gt; Ibn Sino vaqt chizig‘i. Tipik xato: Ibn Sino iqtibosining aniq maqola raqamini adashtirish.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soch va tirnoq nima uchun ob’ekt sifatida muhim? (kitob sabab ko‘rsatmagan, muhokama uchun savol). Doskada: uch toifa ob’ekt. Tipik xato: o‘simlik ob’ektlariga farmakognoziya bilimini qo‘llamaslik.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qaysi usul skrining, qaysi tasdiqlash uchun mos? Doskada: 8 usul ro‘yxati (kimyoviy, mikrokristalloskopik, xromatografik, fotometrik, fluoressensiya, biologik, immunotahlil, elektrokimyoviy). Tipik xato: bitta usul natijasi bilan xulosa chiqarish.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farmakognoziya bilimi nashani tekshirishda qanday yordam beradi? Doskada: fanlararo bog‘liqlik sxemasi. Tipik xato: kimyoviy tahlilni boshqa fanlardan ajratib qarash.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uch konvensiya bir-birini qanday to‘ldiradi? Doskada: 1961 - GV, 1971 - PM, 1988 - noqonuniy muomalaga qarshi. Tipik xato: yilni qo‘shilish yili (1995) bilan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milliy markaz qanday vazifani bajaradi? Doskada: 1999 -&gt; 2000 vaqt chizig‘i. Tipik xato: Qonun va Farmon sanalarini aralashtirish.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ekspert xulosasi qaysi moddalar bo‘yicha ish uchun dalil bo‘ladi? Doskada: 270, 271, 273. Eslatma: kitob matnida shu moddalar bir joyda «jinoyat protsessual kodeksi» deb atalgan — bu Jinoyat kodeksi bo‘lishi kerak; amaldagi tahrirni lex.uz dan tekshiring.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faoliyat turlari alohida bo‘limda? Doskada: bo‘limlar va modda raqamlari. Tipik xato: 6 bo‘lim va 46 moddani 8 bo‘lim va 48 modda bilan chalkashtirish.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narkologik yordam bo‘limi ekspertiza bilan qanday bog‘langan? Doskada: moddalar yig‘indisi 4+5+14+9+11+3=46. Tipik xato: bo‘limlardagi modda sonini (9, 11, 3) noto‘g‘ri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ro‘yxatlarning soni nega o‘zgarib turadi? Doskada: I-IV ro‘yxat va sonlari. Slaydda 2018 yil 878-son qaror bo‘yicha sonlar (I — 246). Kitobning boshqa betida: ilovalar (161-172-betlar) 2015 yil 330-son qaror bo‘yicha berilgan, I ro‘yxatda 238 ta, IV ro‘yxatda 26 ta modda.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sertifikat va ruxsatnoma qanday farq qiladi? Doskada: olib kirish/chiqish - sertifikat; tranzit - ruxsatnoma. Tipik xato: kitobda 1-7-ilovalar rus tilidagi matnda berilgani sababli ularni o‘zbekcha ko‘rinishda ko‘chirish.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ro‘yxatlar nima uchun qaror ilovasi sifatida tasdiqlanadi? Doskada: ilova raqami -&gt; ro‘yxat raqami. Tipik xato: 4-ilovani I ro‘yxat emas, II ro‘yxat deb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namoyonda va prekursor orasidagi farq nima? Doskada: to‘rt ta’rif. Tipik xato: namoyondani avtomatik ravishda nazoratdagi modda deb hisoblash — ro‘yxatga kiritilganligi shart.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«muomala» nima uchun bunchalik keng ta’riflangan? Doskada: muomala bosqichlari. Tipik xato: faqat sotishni muomala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2 daqiqa.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opiat va opioid atamalari farqi tuzilishga qarab belgilanadi. Doskada: opiatlar (morfin, kodein, geroin, 6-MAM) va opioidlar (promedol, metadon, fentanil). Eslatma: kitobda opioidlar qatorida fensiklidin ham tilga olingan (p.15); bu moddani alohida ko‘rib chiqing, slaydga kiritilmadi.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morfin va papaverin qaysi guruhchaga kiradi? (keyingi ma’ruzada). Doskada: izoxinolin yadrosi va ikki guruhcha. Tipik xato: guruhchalarni nomi bo‘yicha emas, ketma-ketlik bo‘yicha eslab qolish.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geroin va uning metaboliti bir ro‘yxatda? Doskada: 3-MAM va 6-MAM. Eslatma: ro‘yxat 2015 yil qarori ilovasi (book p.162-167); I ro‘yxatdagi tartib raqamlar ilovada (330-son, 2015) 1-238. Tipik xato: morfinni I ro‘yxatda qidirish — u II ro‘yxatda.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koka bargi va ekgonin I ro‘yxatda, kokain esa II ro‘yxatda? Doskada: tabiiy xomashyo va yarim sintetik/sintetik moddalar. Tipik xato: kokainni I ro‘yxatga kiritish.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bu moddalarning umumiy belgisi nima? Doskada: guruh nomi va misollar. Tipik xato: LSD ni faqat «dori» deb o‘ylash — I ro‘yxatga kiritilgan.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nima uchun yangi sintetik kannabinoidlar ro‘yxatni doim kengaytiradi? Doskada: AM-, RCS-, UR-, AKB- kodlari. Eslatma: kitobda ba’zi kodlar «JWN-» deb yozilgan (bosma xatosi bo‘lishi mumkin) — slaydga ko‘chirilmadi. Tipik xato: kodlarni tuzilishsiz yodlash.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II ro‘yxatdagi moddalar nima uchun «cheklangan», «taqiqlangan» emas? Doskada: morfin, kodein, kokain, fentanil, promedol. Tipik xato: promedolni trimeperidin bilan bir modda emasligini o‘ylash.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foiz va mg chegaralari qo‘yiladi? Doskada: 0,1% kokain; 0,2% morfin; 8 mg/80 mg kodein. Tipik xato: kitobdagi bu bandlar rus tilida translit bilan yozilgan, ularni to‘liq tarjima qilib berishda chegara sonlarini o‘zgartirmang.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III ro‘yxatdagi moddalar ma’ruzalarda qaysi bo‘limlarga mos keladi? Doskada: barbituratlar -&gt; 26-ma’ruza; benzodiazepinlar -&gt; 29-ma’ruza. Tipik xato: fenazepam va xlordiazepoksidni III ro‘yxatdan chiqarib qo‘yish.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droperidol va ketamin nega psixotrop moddalar ro‘yxatida? Doskada: III ro‘yxatning bir necha guruhi. Tipik xato: ro‘yxatdagi moddani faqat tibbiyot nuqtasidan ko‘rish — muomalasi nazoratga olingan.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nega konsentratsiya chegarasi qo‘yiladi? Doskada: jadvalni to‘ldiring. Qo‘shimcha: kaliy permanganat, sirka angidridi, piperidin, safrol, qizil fosfor ham ro‘yxatda (p.172). Tipik xato: chegaradan past konsentratsiyani nazoratdan tashqari deb xulosa qilish — bu huquqiy masala, ekspert emas.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bu prekursorlar qaysi giyohvand moddalar sintezida ishlatiladi? (39-40-ma’ruzalarda). Doskada: prekursor -&gt; mahsulot juftliklari. Tipik xato: ro‘yxatdagi barcha moddalarni bir xil xavfli deb hisoblash.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aniqlanish davri ekspertiza tayinlash muddatiga qanday ta’sir qiladi? Doskada: jadvalni to‘ldiring (fensiklidin: 4-6 soat; 7-14 kun). Manba: malaka materiali №042 (kitobda bu jadval yo‘q; bir martalik iste’mol uchun). Cutoff (chegaraviy) qiymatlar jadvali shu faylda matn sifatida chiqmagan, shuning uchun slaydga kiritilmadi.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ro‘yxatni bilish ekspert xulosasiga qanday ta’sir qiladi? Doskada: butun sxema — konvensiya -&gt; qonun -&gt; VM ro‘yxati -&gt; ekspertiza. Tipik xato: eski ro‘yxat tahririga tayanish.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Nazorat savollari 1-7. Talabalar o‘z so‘zlari bilan javob beradi.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Nazorat savollari 8-12.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Giyohvandlik vositalari, psixotrop moddalar va prekursorlar: xalqaro konvensiyalar, O‘zR qonuni (1999), VM ro‘yxatlari, tasnif; siydikda aniqlash muddatlari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Ma’ruza rejasi va tayanch iboralar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Giyohvandlik vositalari, psixotrop moddalar va prekursorlar: xalqaro konvensiyalar, O‘zR 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fan maqsadi va usullari -&gt; xalqaro konvensiyalar -&gt; O‘zbekiston qonuni -&gt; VM ro‘yxatlari -&gt; tasnif va atamalar -&gt; siydikda aniqlanish muddatlari.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Tayanch iboralar: giyohvandlik vositalari (GV), psixotrop moddalar (PM), prekursorlar, muomala, I-IV ro‘yxat, narkomaniya, toksikomaniya.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Ilovalar (160-172-betlar): Vazirlar Mahkamasi qarori va nazorat ro‘yxatlari.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8-16, 159-160, 161-172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Fanning maqsadi va ahamiyati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Giyohvandlik vositalari, psixotrop moddalar va prekursorlar: xalqaro konvensiyalar, O‘zR 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Giyohvand moddalar tahlili farmatsevtika ixtisosligidagi mutaxassislik fani bo‘lib, GV va PM xossalarini, organizm va murdadagi taqdirini o‘rganadi.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Fan biologik ob’ekt yoki suyuqliklardan ajratib olish, yangi tahlil usullarini ishlab chiqish, chinlik va miqdorni aniqlash bilan shug‘ullanadi.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Fanning asosiy maqsadi — turli darajadagi surunkali va o‘tkir zaharlanishlarni aniqlash va ularning oldini olish choralarini o‘rgatish.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Giyohvand moddalar tahlili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Ob’ekt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GV va PM xossalari  ·  Organizm va murdadagi taqdiri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Ajratib olish  ·  Yangi tahlil usullari  ·  Chinlik va miqdor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Maqsad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Zaharlanishlarni aniqlash  ·  Oldini olish choralari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Fan maqsadi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8, 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Amaliy analitik ekspertiza vazifalari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Giyohvandlik vositalari, psixotrop moddalar va prekursorlar: xalqaro konvensiyalar, O‘zR 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Ashyoviy dalillar va biologik ob’ektlardan GV va PM ni ajratib olish va tahlilga tayyorlash.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Ajratib olingan moddalarni kimyoviy va fizik-kimyoviy usullarda tahlil qilish, zarur hujjatlarni rasmiylashtirish.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Ajralmalardan GV va PM chinligi hamda miqdorini aniqlash.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O‘tkir zaharlanishlarda sabablarni aniqlash uchun tezkor ekspress tahlil usullarini qo‘llash.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Ajratib olish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Tahlilga tayyorlash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Kimyoviy, fizik-kimyoviy tahlil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Chinlik va miqdor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Hujjatlarni rasmiylashtirish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Ekspertiza bosqichlari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8-9, 8, 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Fanning vazifalari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Giyohvandlik vositalari, psixotrop moddalar va prekursorlar: xalqaro konvensiyalar, O‘zR 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Namunalardan GV va PM ni ajratib olish usullarini ishlab chiqish va mavjudlarini takomillashtirish.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Ajratilgan namunalarni yot moddalardan tozalash usullarini ishlab chiqish.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GV, PM va prekursorlarning fizik va kimyoviy xossalarini o‘rganish; sezgir, xususiy kimyoviy va fizik-kimyoviy usullarni ishlab chiqish.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GV va PM ning organizmda metabolizmini va ularning tahlil usullarini o‘rganish.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Fan vazifalari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Ajratish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Usullarni ishlab chiqish  ·  Takomillashtirish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Tozalash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Yot moddalardan tozalash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Xossalar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GV, PM, prekursorlar xossalari  ·  Sezgir usullar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Metabolizm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Organizmda metabolizm  ·  Tahlil usullari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Vazifalar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Muammoning dolzarbligi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Giyohvandlik vositalari, psixotrop moddalar va prekursorlar: xalqaro konvensiyalar, O‘zR 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BMT ma’lumotiga ko‘ra dunyoda 18 mln kishi geroin, 200 mln dan ziyod kishi turli giyohvand moddalarni iste’mol qiladi.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Birinchi Prezident BMT Bosh Assambleyasining 48-sessiyasida (1993 yil 28 sentabr) narkobiznesga qarshi sa’y-harakatlarni kuchaytirishga chaqirgan.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Rivojlangan davlatlarda giyohvandlik vositalari bilan bog‘liq jinoyatlar ko‘paymoqda.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Geroin iste’molchilari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18 mln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Boshqa GV (iste’mol)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&gt;200 mln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BMT 48-sessiya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1993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118104"/>
            <a:ext cx="2973171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3209544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3118104"/>
            <a:ext cx="2863443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Sana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28 sentabr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BMT ma’lumoti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9,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Asosiy tushunchalar: qaramlik turlari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Giyohvandlik vositalari, psixotrop moddalar va prekursorlar: xalqaro konvensiyalar, O‘zR 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Giyohvandlik (narkomaniya) — giyohvandlik vositalariga ruhiy-jismoniy qaramlik bilan bog‘liq kasallik.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Polinarkomaniya — ikki yoki undan ortiq xil giyohvandlik vositalarini surunkali qabul qilish.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Toksikomaniya (zaharvandlik) — psixotrop va dorilik xususiyati yo‘q, ruhiyatga faol ta’sir etuvchi moddalarga ruhiy-jismoniy qaramlik.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Giyohvandlik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GV ga ruhiy-jismoniy qaramlik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Kasallik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23378" y="1417320"/>
            <a:ext cx="1945538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Polinarkomaniya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23378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2 va undan ko‘p GV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Surunkali qabul qilish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06076" y="1417320"/>
            <a:ext cx="1945538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Toksikomaniya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06076" y="2020824"/>
            <a:ext cx="1945538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PM va dorilik xususiyatisiz moddalar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Ruhiy-jismoniy qaramlik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Qaramlik turlari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160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Tarixiy ma’lumot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Giyohvandlik vositalari, psixotrop moddalar va prekursorlar: xalqaro konvensiyalar, O‘zR 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Giyohvand moddalardan foydalanish qadim zamonlardan ma’lum: diniy marosimlarda, butlarga sig‘inishda va xalq tabobatida ishlatilgan.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Misrda nasha giyohvand modda sifatida ishlatilgan; Gerodot O‘rta Osiyo ko‘chmanchilari o‘tga nasha tashlab, hididan mast bo‘lganini yozgan.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Gippokrat asarlarida hind nashasi Evropaga skiflar tomonidan Troyan urushigacha keltirilgani qayd etilgan.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Ibn Sino «Tib qonunlari»ning 2-jildida nashaning salbiy ta’sirini ko‘rsatgan (634- va 689-maqolalar).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Qadimgi diniy marosimlar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Misr: nasha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Gerodot: nasha tutuni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Gippokrat: skiflar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Ibn Sino: Tib qonunlari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Tarixiy ma’lumot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Fan ob’ektlari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Giyohvandlik vositalari, psixotrop moddalar va prekursorlar: xalqaro konvensiyalar, O‘zR 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O‘simlik mahsulotlari (nasha, ko‘knori va boshqalar), ularning ekstraktlari hamda namunalari.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Qattiq substansiyalar (kukunlar), tabletka va drajelar, in’eksion eritmalar.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Biologik namunalar: qon, peshob, sochlar, tirnoq, organlar va boshqalar.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Fan ob’ektlari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O‘simlik mahsuloti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Nasha, ko‘knori  ·  Ekstraktlar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Qattiq/suyuq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Kukunlar  ·  Tabletka, drajelar  ·  In’eksion eritmalar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Biologik namuna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Qon, peshob  ·  Soch, tirnoq, organlar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Ob’ektlar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Tahlil bosqichlari va usullari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Giyohvandlik vositalari, psixotrop moddalar va prekursorlar: xalqaro konvensiyalar, O‘zR 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Bosqichlar: namuna olish, yot moddalardan tozalash, sifat va miqdoriy tahlil.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Yana: fluoressensiya, biologik usullar, immunotahlil, elektrokimyoviy usullar.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51480"/>
                <a:gridCol w="233649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Usul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Misol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Kimyoviy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rang hosil qiluvchi, cho‘ktiruvchi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Mikrokristalloskopik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kristallar shaklini tekshirish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Xromatografik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YuQX, GSX, GelX, YuSSX, GX-MS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Fotometrik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FEK, UB- va IQ-SF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Asosiy usullar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10, 10-11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Boshqa fanlar bilan bog‘liqligi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Giyohvandlik vositalari, psixotrop moddalar va prekursorlar: xalqaro konvensiyalar, O‘zR 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Farmakologiya, narkologiya va toksikologiya GV va PM ning odam hamda hayvon a’zolariga ta’sirini o‘rganadi.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Sifat va miqdorni aniqlashda analitik, organik, farmasevtik kimyo usullaridan foydalaniladi.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Metabolitlarni o‘rganishda toksikologik, biologik, analitik va farmasevtik kimyoga tayaniladi.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Ba’zi o‘simlik mahsulotlari giyohvand moddalarning asosi bo‘lgani uchun kimyogar farmakognoziyadan chuqur bilimga ega bo‘lishi kerak.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Bog‘liq fanlar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Ta’sirni o‘rganadi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Farmakologiya  ·  Narkologiya  ·  Toksikologiya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Tahlil usullari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Analitik, organik kimyo  ·  Farmasevtik kimyo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O‘simlik asosi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Farmakognoziya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Fanlararo bog‘liqlik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BMT konvensiyalari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Giyohvandlik vositalari, psixotrop moddalar va prekursorlar: xalqaro konvensiyalar, O‘zR 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Mamlakatimiz 1995 yilda BMT ning quyidagi konvensiyalariga qo‘shildi.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30 dan ortiq davlat bilan hamkorlik bo‘yicha bitimlar imzolangan.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6807"/>
                <a:gridCol w="3721167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Yil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Konvensiya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1961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Giyohvandlik vositalari haqidagi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1971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Psixotrop moddalar haqidagi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1988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Noqonuniy ayirboshlashga qarshi kurash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Xalqaro konvensiyalar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Hamkorlik va milliy qonunchilik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Giyohvandlik vositalari, psixotrop moddalar va prekursorlar: xalqaro konvensiyalar, O‘zR 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Hukumatlararo bitimlar Rossiya, Ukraina, Belorus, Moldova, Gruziya, Ozarbayjon, Qozog‘iston, Turkmaniston, Tojikiston, AQSh, Turkiya, Pokiston bilan tuzilgan.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1999 yil 19 avgustda «Giyohvandlik vositalari va psixotrop moddalar to‘g‘risida»gi Qonun qabul qilindi.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Prezidentning 2000 yil 15 dekabrdagi PQ-175/2 Farmoni; VM huzurida Giyohvand moddalarni nazorat qilish axborot-tahlil milliy markazi tashkil etildi.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1995: BMT konvensiyalari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30+ davlat bilan bitimlar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1999: Qonun (19 avgust)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2000: PQ-175/2 Farmon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Milliy axborot-tahlil markazi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Qonunchilik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11, 11-12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Jinoyat javobgarligi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Giyohvandlik vositalari, psixotrop moddalar va prekursorlar: xalqaro konvensiyalar, O‘zR 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Jinoyat kodeksining 270, 271, 273, 274, 275, 276-moddalari GV yoki PM bilan qonunga xilof muomalaga bag‘ishlangan.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270-modda — taqiqlangan ekinlarni etishtirish; 271-modda — GV yoki PM ni qonunga xilof egallash.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273-modda — GV yoki PM ni tashish maqsadida qonunga xilof tayyorlash, olish, saqlash va tashish.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1999-2000 yillarda tegishli jinoyatlar 17,9 foizga o‘sgan, 2003 yilga kelib 9,4 foizga kamaygan.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1999-2000, o‘sish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17,9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2003 yilga kelib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−9,4</a:t>
            </a:r>
            <a:r>
              <a:rPr sz="1500" b="0">
                <a:solidFill>
                  <a:srgbClr val="6B7280"/>
                </a:solidFill>
                <a:latin typeface="Calibri"/>
              </a:rPr>
              <a:t>  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Moddalar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270-276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270-modda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ekin etishtirish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273-modda</a:t>
            </a:r>
          </a:p>
          <a:p>
            <a:pPr algn="l">
              <a:spcAft>
                <a:spcPts val="100"/>
              </a:spcAft>
            </a:pPr>
            <a:r>
              <a:rPr sz="2900" b="1">
                <a:solidFill>
                  <a:srgbClr val="0B1F3A"/>
                </a:solidFill>
                <a:latin typeface="Calibri"/>
              </a:rPr>
              <a:t>tashish uchun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Jinoyatlar dinamikasi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Qonun tuzilishi: I-III bo‘limlar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Giyohvandlik vositalari, psixotrop moddalar va prekursorlar: xalqaro konvensiyalar, O‘zR 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№813-I Qonun BMT ning uchta konvensiyasiga mutanosib ishlab chiqilgan.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Qonun 6 ta bo‘lim va 46 moddadan iborat.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9002"/>
                <a:gridCol w="1658972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Bo‘lim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Moddalar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I. Umumiy qoidalar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1-4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II. Muomala bilan bog‘liq faoliyat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5-9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III. Faoliyat turlarining shartlari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10-23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Qonun bo‘limlari (1)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Qonun tuzilishi: IV-VI bo‘limlar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Giyohvandlik vositalari, psixotrop moddalar va prekursorlar: xalqaro konvensiyalar, O‘zR 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IV bo‘lim GV, PM va prekursorlardan foydalanishni tartibga soladi.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 bo‘lim noqonuniy muomalaga monelik qilishga, VI bo‘lim narkologik yordamga bag‘ishlangan.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5823"/>
                <a:gridCol w="1692152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Bo‘lim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Moddalar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IV. Foydalanish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24-32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V. Qonunga xilof muomalaga monelik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33-43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VI. Narkologik yordam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44-46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Qonun bo‘limlari (2)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13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Qonun tuzilishi: umumiy ko‘rinish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Giyohvandlik vositalari, psixotrop moddalar va prekursorlar: xalqaro konvensiyalar, O‘zR 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1999 yil 19 avgustdagi №813-I Qonun 6 ta bo‘lim va 46 moddadan tashkil topgan.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Qonun BMT ning 1961, 1971 va 1988 yillardagi uchta konvensiyasiga mutanosib ishlab chiqilgan.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Eng katta bo‘lim III bo‘lim (10-23-moddalar, 14 modda); eng kichigi VI bo‘lim (44-46, 3 modda).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Qonun №813-I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722120"/>
            <a:ext cx="0" cy="341376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72212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 bo‘lim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Umumiy qoidalar  ·  1-4-moddalar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40487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100072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100072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II bo‘lim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1F2937"/>
                </a:solidFill>
                <a:latin typeface="Calibri"/>
              </a:rPr>
              <a:t>Muomalada bo‘lish bilan faoliyat  ·  5-9-moddalar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08762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2782824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2782824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III bo‘lim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1F2937"/>
                </a:solidFill>
                <a:latin typeface="Calibri"/>
              </a:rPr>
              <a:t>Faoliyat turlari shartlari  ·  10-23-moddalar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377037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3465576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3465576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IV bo‘lim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Foydalanish  ·  24-32-moddalar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612380" y="445312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772400" y="4148328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0" y="4148328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V bo‘lim</a:t>
            </a:r>
          </a:p>
          <a:p>
            <a:pPr algn="l">
              <a:spcAft>
                <a:spcPts val="0"/>
              </a:spcAft>
            </a:pPr>
            <a:r>
              <a:rPr sz="1000" b="0">
                <a:solidFill>
                  <a:srgbClr val="1F2937"/>
                </a:solidFill>
                <a:latin typeface="Calibri"/>
              </a:rPr>
              <a:t>Qonunga xilof muomalaga monelik  ·  33-43-moddalar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612380" y="513588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7772400" y="4831080"/>
            <a:ext cx="3779215" cy="609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772400" y="4831080"/>
            <a:ext cx="3779215" cy="60960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VI bo‘lim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Narkologik yordam  ·  44-46-moddalar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6 bo‘lim, 46 modda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Nazoratdagi moddalar ro‘yxatlari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Giyohvandlik vositalari, psixotrop moddalar va prekursorlar: xalqaro konvensiyalar, O‘zR 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VM ning 2018 yil 27 oktabrdagi 878-son qaroriga ko‘ra moddalar to‘rt ro‘yxatga kiritiladi.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Ro‘yxatlar Vazirlar Mahkamasi tomonidan belgilangan tartibda tasdiqlanadi va matbuotda e’lon qilinadi.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38320"/>
                <a:gridCol w="2211335"/>
                <a:gridCol w="1538320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Ro‘yxat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Mazmuni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Soni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taqiqlangan GV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246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cheklangan GV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51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III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cheklangan PM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85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IV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cheklangan prekursorlar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29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VM 878-son (2018) bo‘yicha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13, 14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VM qarori: kirish, chiqish va tranzit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Giyohvandlik vositalari, psixotrop moddalar va prekursorlar: xalqaro konvensiyalar, O‘zR 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Qarorda GV, PM va prekursorlarni O‘zbekiston hududiga olib kirish, olib chiqish va tranzit tarzida o‘tkazish tartibi belgilangan (330-son, 2015 yil 12 noyabr).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Olib kirish/chiqish uchun sertifikat; tranzit uchun ruxsatnoma; yopiq bojxona omboriga joylashtirish uchun ruxsatnoma olish tartibi ilovalarda berilgan.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Narkotik moddalarini nazorat qilish bo‘yicha davlat komissiyasi tegishli tartibga rioya etilishini qat’iy nazorat qiladi.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550408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80760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Olib kirish/chiqish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Sertifikat olinadi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688171" y="2162556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18523" y="1417320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Tranzit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Ruxsatnoma kerak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550408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Bojxona ombori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Yopiq turdagi omborga ruxsatnoma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3493008"/>
            <a:ext cx="2973171" cy="194767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688171" y="4238244"/>
            <a:ext cx="457200" cy="457200"/>
          </a:xfrm>
          <a:prstGeom prst="ellipse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18523" y="3493008"/>
            <a:ext cx="2259939" cy="1947672"/>
          </a:xfrm>
          <a:prstGeom prst="rect">
            <a:avLst/>
          </a:prstGeom>
          <a:noFill/>
        </p:spPr>
        <p:txBody>
          <a:bodyPr wrap="square" anchor="ctr" lIns="18288" rIns="18288" tIns="36576" bIns="36576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B1F3A"/>
                </a:solidFill>
                <a:latin typeface="Calibri"/>
              </a:rPr>
              <a:t>Nazorat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F2937"/>
                </a:solidFill>
                <a:latin typeface="Calibri"/>
              </a:rPr>
              <a:t>Narkotik moddalarni nazorat qilish davlat komissiyasi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Qaror talablari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161-162, 161, 162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Qaror ilovalari tarkibi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Giyohvandlik vositalari, psixotrop moddalar va prekursorlar: xalqaro konvensiyalar, O‘zR 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1-3-ilovalar: sertifikat va ruxsatnomalar olishning ruxsat berish tartib-taomillari to‘g‘risidagi nizomlar.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4-ilova — I ro‘yxat (taqiqlangan GV), 5-ilova — II ro‘yxat (cheklangan GV).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6-ilova — III ro‘yxat (cheklangan PM), 7-ilova — IV ro‘yxat (cheklangan prekursorlar).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Qaror ilovalari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1-3-ilovalar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Sertifikat va ruxsatnoma nizomlari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4-5-ilovalar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I ro‘yxat (taqiqlangan GV)  ·  II ro‘yxat (cheklangan GV)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6-7-ilovalar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III ro‘yxat (cheklangan PM)  ·  IV ro‘yxat (prekursorlar)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Ilovalar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161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Giyohvandlik vositalari va psixotrop moddalar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Giyohvandlik vositalari, psixotrop moddalar va prekursorlar: xalqaro konvensiyalar, O‘zR 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Giyohvandlik vositalari — GV ro‘yxatiga kiritilgan, muomalasi nazoratga olinadigan moddalar, giyohvandlik moddali preparatlar va o‘simliklar.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Psixotrop moddalar — PM ro‘yxatiga kiritilgan va muomalasi nazoratga olinadigan sintetik yoki tabiiy moddalar.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Prekursorlar — GV va PM tayyorlash uchun foydalaniladigan, prekursorlar ro‘yxatiga kiritilgan moddalar.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1F2937"/>
                </a:solidFill>
                <a:latin typeface="Calibri"/>
              </a:rPr>
              <a:t>▸  Namoyondalar — tuzilishi va xossalariga ko‘ra GV va PM ga o‘xshash, ruhiyatga faol ta’sir etuvchi moddalar.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Atamalar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1892808"/>
            <a:ext cx="0" cy="3072384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1892808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GV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Ro‘yxatga kiritilgan  ·  Muomalasi nazoratda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291693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441448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441448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PM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Ro‘yxatga kiritilgan  ·  Sintetik yoki tabiiy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394106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3465576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3465576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Prekursorlar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GV va PM tayyorlash uchun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612380" y="4965192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772400" y="4489704"/>
            <a:ext cx="3779215" cy="95097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0" y="4489704"/>
            <a:ext cx="3779215" cy="950976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Namoyondalar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GV ga o‘xshash, ruhiyatga faol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Asosiy atamalar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159-160, 160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Muomala va noqonuniy egallash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Giyohvandlik vositalari, psixotrop moddalar va prekursorlar: xalqaro konvensiyalar, O‘zR 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Preparat — tarkibida bitta yoki bir nechta GV yoki PM bo‘lgan moddalarning har qanday fizik holatdagi aralashmasi.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Muomala — olib kirish (chiqish), tranzit, saqlash, realizatsiya, taqsimlash, olish, tashish, ishlab chiqarish, foydalanish, yo‘q qilish, o‘simlik etishtirish.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Noqonuniy egallash — o‘g‘rilik, firibgarlik, o‘zlashtirish, talonchilik, mansabni suiste’mol qilish, tovlamachilik, bosqinchilik yo‘li bilan olish.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Muomala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Olib kirish/chiqish, tranzit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Saqlash, realizatsiya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Ishlab chiqarish, yo‘q qilish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Noqonuniy egallash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O‘g‘rilik, firibgarlik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Talonchilik, bosqinchilik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Tovlamachilik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Atamalar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160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Ekish, etishtirish va vakolatli organlar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Giyohvandlik vositalari, psixotrop moddalar va prekursorlar: xalqaro konvensiyalar, O‘zR 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Giyohvandlik vositali o‘simliklarni ekish — ularning urug‘ini maxsus tayyorlangan yerga sepish yoki ko‘chatini o‘tqazish.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Etishtirish — har qanday yerda ekilgan yoki o‘zi unib chiqqan o‘simliklarni parvarish qilish (sug‘orish, chopish, o‘g‘it berish).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Maxsus vakolatli organlar VM belgilagan vakolatlarga muvofiq muomala sohasida boshqaruv va nazoratni amalga oshiradi.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Ekish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Urug‘ni yerga sepish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Ko‘chat o‘tqazish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Etishtirish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Sug‘orish, chopish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O‘g‘it berish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O‘zi unib chiqqan o‘simlikni ham parvarishlash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Ekish va etishtirish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160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Opiatlar va opioidlar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Giyohvandlik vositalari, psixotrop moddalar va prekursorlar: xalqaro konvensiyalar, O‘zR 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Opiatlar — tuzilishiga ko‘ra morfinga o‘xshash GV: morfin, kodein, geroin (diasetilmorfin) va uning asosiy metaboliti 6-monoasetilmorfin (6-MAM).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Geroin kuchli giyohvandlik vositasi bo‘lib, asetillash reaksiyasi yordamida morfindan sintezlanadi.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Opioidlar — morfinga o‘xshash ta’sir ko‘rsatadigan, lekin boshqa guruhga mansub sintetik vositalar: promedol, metadon, fentanil va boshqalar.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86887" cy="54864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Opiatlar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Morfinga o‘xshash, undan olinadigan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Morfin, kodein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Geroin, 6-MAM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564727" y="1417320"/>
            <a:ext cx="2986887" cy="548640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Opioidlar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564727" y="2020824"/>
            <a:ext cx="2986887" cy="3419856"/>
          </a:xfrm>
          <a:prstGeom prst="rect">
            <a:avLst/>
          </a:prstGeom>
          <a:solidFill>
            <a:srgbClr val="E8EEF6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36576" bIns="36576"/>
          <a:lstStyle/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Morfinga o‘xshash ta’sir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Boshqa kimyoviy guruh</a:t>
            </a:r>
          </a:p>
          <a:p>
            <a:pPr algn="l">
              <a:spcAft>
                <a:spcPts val="700"/>
              </a:spcAft>
            </a:pPr>
            <a:r>
              <a:rPr sz="1500" b="1">
                <a:solidFill>
                  <a:srgbClr val="C9A227"/>
                </a:solidFill>
                <a:latin typeface="Calibri"/>
              </a:rPr>
              <a:t>●  </a:t>
            </a:r>
            <a:r>
              <a:rPr sz="1500" b="0">
                <a:solidFill>
                  <a:srgbClr val="1F2937"/>
                </a:solidFill>
                <a:latin typeface="Calibri"/>
              </a:rPr>
              <a:t>Promedol, metadon, fentanil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Opiatlar va opioidlar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Opiy alkaloidlari tuzilishi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Giyohvandlik vositalari, psixotrop moddalar va prekursorlar: xalqaro konvensiyalar, O‘zR 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Narkologik ahamiyatga ega alkaloidlarning bu guruhiga asosan opiy alkaloidlari kiradi.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Ular molekulalarida izoxinolin yadrosini saqlaydi.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9295"/>
                <a:gridCol w="3448679"/>
              </a:tblGrid>
              <a:tr h="86868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Guruhcha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Tuzilish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fenantrenizoxinolin hosilalari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benzilizoxinolin hosilalari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Izoxinolin hosilalari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 ro‘yxat: opiy va opioid guruhlari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Giyohvandlik vositalari, psixotrop moddalar va prekursorlar: xalqaro konvensiyalar, O‘zR 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Geroin (diasetilmorfin), 3-monoasetilmorfin va 6-monoasetilmorfin I ro‘yxatga kiritilgan.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Metadon (fenadon), petidin, oksikodon, oksimorfon, gidromorfon, dezomorfin va boshqa opioidlar ham shu ro‘yxatda.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Opiy (tibbiy) — ko‘knori shirasi; Papaver somniferum L o‘simlik turi; asetilangan opiy; ko‘knori poyasi va uning ekstrakti.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I ro‘yxat: opiy va opioid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Geroin guruhi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Geroin (diasetilmorfin)  ·  3- va 6-monoasetilmorfin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Opioidlar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Metadon, petidin  ·  Oksikodon, gidromorfon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Opiy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Ko‘knori shirasi  ·  Asetilangan opiy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 ro‘yxat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163-164, 162-165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 ro‘yxat: nasha, koka, katinon guruhi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Giyohvandlik vositalari, psixotrop moddalar va prekursorlar: xalqaro konvensiyalar, O‘zR 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Gashish (anasha, kannabis smolasi), kannabis (marixuana), kannabis moyi va tetragidrokannabinol (barcha izomerlari).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Koka bargi, kokain butasi, ekgonin.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Katin (d-norpsevdoefedrin), katinon (l-alfa-aminopropiofenon), efedron, KAT o‘simligi.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Efedrin va psevdoefedrin yoki ularni saqlovchi preparatlardan tayyorlangan mahsulotlar.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I ro‘yxat: nasha, koka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Kannabis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Gashish, marixuana  ·  Kannabis moyi, THC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Koka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Koka bargi  ·  Ekgonin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Katinon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Katin, katinon  ·  Efedron, KAT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 ro‘yxat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162-165, 163-165, 163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 ro‘yxat: amfetaminlar va gallyusinogenlar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Giyohvandlik vositalari, psixotrop moddalar va prekursorlar: xalqaro konvensiyalar, O‘zR 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Metamfetamin, deksamfetamin, MDA, MDMA, MBDB, DOB, DMA, TMA, PMA, STP (DOM).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LSD (d-lizergid) va lizergin kislotasi preparatlari; psilotsin, psilotsibin va ularni saqlovchi qo‘ziqorinlar.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Meskalin, DMT, DET, fensiklidin, etriptamin, 2S-V (4-brom-2,5-dimetoksifenetilamin).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I ro‘yxat: sintetik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Amfetaminlar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Metamfetamin, MDMA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Gallyusinogen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LSD, psilotsin  ·  Meskalin, DMT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Boshqa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Fensiklidin  ·  2S-V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 ro‘yxat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163-165, 164-165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 ro‘yxat: sintetik kannabinoidlar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Giyohvandlik vositalari, psixotrop moddalar va prekursorlar: xalqaro konvensiyalar, O‘zR 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 ro‘yxat oxirida kannabimimetiklar va ularga o‘xshash laboratoriya kodli birikmalar keltirilgan: AM-2201, RCS-4, UR-144, AKB-48, CP-47,497 va boshqalar.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Yana: MAM-2201, WIN-55,212-2, CB-13, STS-135, 5FUR-144, URB-597, JTE-907 va boshqalar.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2018 yil 878-son qarorga ko‘ra I ro‘yxatda (taqiqlangan GV) 246 ta modda ko‘rsatilgan.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I ro‘yxat (hammasi)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246</a:t>
            </a:r>
            <a:r>
              <a:rPr sz="1100" b="0">
                <a:solidFill>
                  <a:srgbClr val="6B7280"/>
                </a:solidFill>
                <a:latin typeface="Calibri"/>
              </a:rPr>
              <a:t>  ta modda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32522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532522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42250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Qaror sanasi</a:t>
            </a:r>
          </a:p>
          <a:p>
            <a:pPr algn="l">
              <a:spcAft>
                <a:spcPts val="100"/>
              </a:spcAft>
            </a:pPr>
            <a:r>
              <a:rPr sz="2300" b="1">
                <a:solidFill>
                  <a:srgbClr val="0B1F3A"/>
                </a:solidFill>
                <a:latin typeface="Calibri"/>
              </a:rPr>
              <a:t>27.10.2018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24364" y="1417320"/>
            <a:ext cx="1927250" cy="15544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624364" y="1508760"/>
            <a:ext cx="64008" cy="13716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734092" y="1417320"/>
            <a:ext cx="1817522" cy="1554480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Qaror raqami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878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Kannabinoidlar va jami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165-167, 166-167, 13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II ro‘yxat: cheklangan giyohvandlik vositalari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Giyohvandlik vositalari, psixotrop moddalar va prekursorlar: xalqaro konvensiyalar, O‘zR 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Morfin (gidroxlorid, sulfat), kodein (fosfat), omnopon, kokain (gidroxlorid), buprenorfin, butorfanol, pentazotsin.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Fentanil, alfentanil, sufentanil, remifentanil, trimeperidin (promedol), etilmorfin (dionin), tilidin, tebain, fenmetrazin.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Amobarbital, etaminal-natriy (pentobarbital), glutetimid, amfepramon, levamfetamin.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II ro‘yxat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Opioidlar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Morfin, kodein  ·  Buprenorfin, butorfanol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Sintetik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Fentanil, alfentanil  ·  Promedol, dionin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Boshqa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Amobarbital, glutetimid  ·  Amfepramon, levamfetamin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II ro‘yxat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168, 168-169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II ro‘yxat: preparatlar uchun chegaralar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Giyohvandlik vositalari, psixotrop moddalar va prekursorlar: xalqaro konvensiyalar, O‘zR 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30-band: kokain 0,1% dan, morfin 0,2% dan oshmaydigan preparatlar (boshqa ingredientlar bilan birikmada, narkotikni oson ajratib bo‘lmaydigan).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Kombinirlangan preparatlar: kodein 8 mg dan ortiq (qattiq dozaga) yoki 80 mg dan ortiq (100 ml yoki 100 g suyuq shaklga).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Difenoksin preparatlari: bir dozada 0,5 mg dan ko‘p bo‘lmagan difenoksin va atropin sulfat; difenoksilat: 2,5 mg dan ko‘p bo‘lmagan.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40680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50408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Kokain preparati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0,1</a:t>
            </a:r>
            <a:r>
              <a:rPr sz="1500" b="0">
                <a:solidFill>
                  <a:srgbClr val="6B7280"/>
                </a:solidFill>
                <a:latin typeface="Calibri"/>
              </a:rPr>
              <a:t>  % gacha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578443" y="1417320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578443" y="1508760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8171" y="1417320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Morfin preparati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0,2</a:t>
            </a:r>
            <a:r>
              <a:rPr sz="1500" b="0">
                <a:solidFill>
                  <a:srgbClr val="6B7280"/>
                </a:solidFill>
                <a:latin typeface="Calibri"/>
              </a:rPr>
              <a:t>  % gacha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40680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40680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50408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Kodein (qattiq doza)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&gt;8</a:t>
            </a:r>
            <a:r>
              <a:rPr sz="1500" b="0">
                <a:solidFill>
                  <a:srgbClr val="6B7280"/>
                </a:solidFill>
                <a:latin typeface="Calibri"/>
              </a:rPr>
              <a:t>  mg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78443" y="2807208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578443" y="2898648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8171" y="2807208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Kodein (suyuq)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&gt;80</a:t>
            </a:r>
            <a:r>
              <a:rPr sz="1500" b="0">
                <a:solidFill>
                  <a:srgbClr val="6B7280"/>
                </a:solidFill>
                <a:latin typeface="Calibri"/>
              </a:rPr>
              <a:t>  mg/100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40680" y="4197096"/>
            <a:ext cx="2973171" cy="1243584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E8EEF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40680" y="4288536"/>
            <a:ext cx="64008" cy="106070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550408" y="4197096"/>
            <a:ext cx="2863443" cy="1243584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Difenoksin</a:t>
            </a:r>
          </a:p>
          <a:p>
            <a:pPr algn="l">
              <a:spcAft>
                <a:spcPts val="100"/>
              </a:spcAft>
            </a:pPr>
            <a:r>
              <a:rPr sz="3000" b="1">
                <a:solidFill>
                  <a:srgbClr val="0B1F3A"/>
                </a:solidFill>
                <a:latin typeface="Calibri"/>
              </a:rPr>
              <a:t>0,5</a:t>
            </a:r>
            <a:r>
              <a:rPr sz="1500" b="0">
                <a:solidFill>
                  <a:srgbClr val="6B7280"/>
                </a:solidFill>
                <a:latin typeface="Calibri"/>
              </a:rPr>
              <a:t>  mg gacha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Preparatlar chegarasi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168, 169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III ro‘yxat: barbituratlar va benzodiazepinlar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Giyohvandlik vositalari, psixotrop moddalar va prekursorlar: xalqaro konvensiyalar, O‘zR 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32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Barbituratlar: barbital, barbital-natriya, fenobarbital, allobarbital, butobarbital, butalbital, siklobarbital, tiopental-natriya.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Benzodiazepinlar: diazepam, nitrazepam, xlordiazepoksid, oksazepam, fenazepam, alprazolam, klonazepam, lorazepam, midazolam, temazepam.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Boshqa uxlatuvchilar va trankvilizatorlar: meprobamat, zolpidem, GNB, natriya oksibutirat.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III ro‘yxat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Barbituratlar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Barbital, fenobarbital  ·  Butalbital, tiopental-natriy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Benzodiazepinlar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Diazepam, nitrazepam  ·  Alprazolam, klonazepam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Uxlatuvchi/trankvilizator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Meprobamat, zolpidem  ·  GNB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III ro‘yxat (1)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170-171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III ro‘yxat: stimulyatorlar va boshqalar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Giyohvandlik vositalari, psixotrop moddalar va prekursorlar: xalqaro konvensiyalar, O‘zR 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33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Ketamin, droperidol, galotan, klonidin gidroxlorid, trigeksifenidil gidroxlorid, feprosidnin gidroxlorid.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Fentermin, fenkamfamin, pirovaleron, pemolin, pipradrol, mazindol, benzfetamin, etilamfetamin.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Efedrin gidroxlorid, psevdoefedrin va uning kombinirlangan dori vositalari (10 mg dan ortiq bir dozada), levometamfetamin, metamfetamin ratsemati.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III ro‘yxat: boshqalar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Anestetiklar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Ketamin, droperidol  ·  Galotan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Stimulyatorlar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Fentermin, pirovaleron  ·  Pemolin, mazindol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Efedrin guruhi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Efedrin gidroxlorid  ·  Psevdoefedrin (&gt;10 mg)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III ro‘yxat (2)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170-171, 171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IV ro‘yxat: kimyoviy prekursorlar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Giyohvandlik vositalari, psixotrop moddalar va prekursorlar: xalqaro konvensiyalar, O‘zR 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34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Har bir prekursor sinonimlari bilan keltirilgan; ayrimlariga konsentratsiya chegarasi qo‘yilgan.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0610"/>
                <a:gridCol w="3557365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Prekursor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Chegara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Aseton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60% va ko‘p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Sulfat kislota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45% va ko‘p (tuzlari bundan mustasno)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Xlorid kislota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15% va ko‘p (tuzlari bundan mustasno)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Toluol / etil efir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70% va ko‘p / 45% va ko‘p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Konsentratsiya chegarasi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171-172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IV ro‘yxat: alkaloid va aminlar prekursorlari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Giyohvandlik vositalari, psixotrop moddalar va prekursorlar: xalqaro konvensiyalar, O‘zR 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35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45720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Efedrin, psevdoefedrin, fenilpropanolamin (norefedrin) va efedra o‘ti (efedrin saqlovchi).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Ergotamin, ergometrin va lizergin kislotasi; antranil kislota va N-asetilantranil kislota.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Fenilsirka kislota, fenil-2-propanon, 3,4-metilendioksifenil-2-propanon, safrol, izosafrol, piperonal.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Sirka angidridi, propion angidridi, kaliy permanganat, piperidin, metiletilketon, qizil fosfor.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40680" y="2788920"/>
            <a:ext cx="2011680" cy="1280160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IV ro‘yxat: prekursorlar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5236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7612380" y="2063496"/>
            <a:ext cx="0" cy="2731008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7612380" y="2063496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7772400" y="1417320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0" y="1417320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Alkaloid, amin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Efedrin, psevdoefedrin  ·  Ergotamin, ergometrin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7612380" y="3429000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7772400" y="2782824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2782824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Kislotalar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Antranil kislota  ·  Fenilsirka kislota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612380" y="4794504"/>
            <a:ext cx="160020" cy="0"/>
          </a:xfrm>
          <a:prstGeom prst="line">
            <a:avLst/>
          </a:prstGeom>
          <a:ln w="25400">
            <a:solidFill>
              <a:srgbClr val="C9A22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7772400" y="4148328"/>
            <a:ext cx="3779215" cy="1292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9A22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0" y="4148328"/>
            <a:ext cx="3779215" cy="1292352"/>
          </a:xfrm>
          <a:prstGeom prst="rect">
            <a:avLst/>
          </a:prstGeom>
          <a:noFill/>
        </p:spPr>
        <p:txBody>
          <a:bodyPr wrap="square" anchor="ctr" tIns="36576" bIns="36576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0B1F3A"/>
                </a:solidFill>
                <a:latin typeface="Calibri"/>
              </a:rPr>
              <a:t>Kimyoviy</a:t>
            </a:r>
          </a:p>
          <a:p>
            <a:pPr algn="l">
              <a:spcAft>
                <a:spcPts val="0"/>
              </a:spcAft>
            </a:pPr>
            <a:r>
              <a:rPr sz="1200" b="0">
                <a:solidFill>
                  <a:srgbClr val="1F2937"/>
                </a:solidFill>
                <a:latin typeface="Calibri"/>
              </a:rPr>
              <a:t>Sirka angidridi  ·  Kaliy permanganat  ·  Piperidin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40680" y="5486400"/>
            <a:ext cx="61109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7280"/>
                </a:solidFill>
                <a:latin typeface="Calibri"/>
              </a:rPr>
              <a:t>IV ro‘yxat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171-172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Siydikda aniqlash muddatlari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Giyohvandlik vositalari, psixotrop moddalar va prekursorlar: xalqaro konvensiyalar, O‘zR 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36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 martalik iste’moldan keyin siydikda aniqlanish vaqt oraliqlari (CDRH, 1997).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Fensiklidin: iste’moldan 4-6 soatdan keyin aniqlanadi va 7-14 kun davomida topilishi mumkin.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5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7859"/>
                <a:gridCol w="1680058"/>
                <a:gridCol w="1680058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Modda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Boshlanishi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Davomiyligi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Kannabinoidlar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1-3 soat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1-7 kun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Geroin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2-6 soat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24-72 soat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Metamfetamin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4-6 soat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48-72 soat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Kokain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2-6 soat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48-72 soat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Siydikda musbat natija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Malaka materiali №042 (TFI Toksikologik kimyo kafedrasi)., Siydikda giyohvand moddalarni aniqlash vaqt oraliqlari, betlar: jadval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va nazorat savollari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Giyohvandlik vositalari, psixotrop moddalar va prekursorlar: xalqaro konvensiyalar, O‘zR 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37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GV, PM va prekursorlar 1961, 1971, 1988 yillardagi BMT konvensiyalari, 1999 yilgi Qonun va VM qarorlari bilan tartibga solinadi.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Nazoratdagi moddalar I (taqiqlangan GV), II (cheklangan GV), III (cheklangan PM), IV (cheklangan prekursorlar) ro‘yxatlarga ajratiladi.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Nazorat savollari: GV, PM, prekursor, narkomaniya, toksikomaniya, polinarkomaniya nima? Fan ob’ektlari va usullari? Qaysi xalqaro va milliy hujjatlar mavjud?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11-13, 13-14, 14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Nazorat savollari: fan va tushunchalar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Giyohvandlik vositalari, psixotrop moddalar va prekursorlar: xalqaro konvensiyalar, O‘zR 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38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Giyohvand moddalar tahlili fanining ahamiyati va vazifalari qanday?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Giyohvandlik vositalari, psixotrop moddalar va prekursorlar deganda qanday moddalar tushuniladi?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Fan ob’ektlari va ularga qo‘yilgan talablar; fanda qo‘llaniladigan tahlil usullari qaysilar?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14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Nazorat savollari: hujjatlar va qaramlik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Giyohvandlik vositalari, psixotrop moddalar va prekursorlar: xalqaro konvensiyalar, O‘zR 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39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Qaysi xalqaro normativ hujjatlarni bilasiz va O‘zbekistonda qanday normativ hujjatlar mavjud?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Narkomaniya deganda nimani tushunasiz?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Toksikomaniya deganda nimani tushunasiz?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Polinarkomaniya nima?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Zulfikariyeva D.A., Usmanaliyeva Z.U., Nurmatova M.I., Giyohvand moddalar tahlili. O‘quv qo‘llanma. Toshkent, betlar: 14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Giyohvandlik vositalari, psixotrop moddalar va prekursorlar: xalqaro konvensiyalar, O‘zR 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40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Birinchi Prezident I.Karimov 1993 yil 28 sentabrda BMT Bosh Assambleyasining 48-sessiyasida narkobiznesga qarshi umumiy sa’y-harakatlarni kuchaytirish zarurligini ta’kidlagan.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Ibn Sino «Tib qonunlari»ning 2-jildida nashaning salbiy ta’sirini ko‘rsatgan: 634-maqolada urug‘ni ko‘p iste’mol qilish haqida, 689-maqolada a’zolarni susaytirishi haqida.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O‘zbekiston Respublikasi Jinoyat kodeksining 270, 271, 273, 274, 275, 276-moddalari GV va PM bilan qonunga xilof muomalaga bag‘ishlangan.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Fensiklidin siydikda iste’moldan 4-6 soat o‘tgach aniqlanadi va 7-14 kun davomida topilishi mumkin.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Giyohvandlik vositalari, psixotrop moddalar va prekursorlar: xalqaro konvensiyalar, O‘zR 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41 / 41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Zulfikariyeva D.A., Usmanaliyeva Z.U., Nurmatova M.I. Giyohvand moddalar tahlili. O‘quv qo‘llanma. Toshkent, 2024. b. 8-16, 159-172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Malaka materiali №042 (TFI Toksikologik kimyo kafedrasi). Siydikda giyohvand moddalarni aniqlash vaqt oraliqlari (Guidance for Industry, CDRH, 1997). qo‘shimcha ma’lumot (kitobda bo‘lmagan joylar uchun)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