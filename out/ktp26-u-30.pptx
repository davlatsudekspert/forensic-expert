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savoli: nima uchun zaharlanishlar zo‘raki o‘limda uchinchi o‘rinda turadi, birinchi ikkitasi qaysilar? Doskada chizish: zo‘raki o‘lim sabablarining uch pog‘onali tartibi (1-mexanik jarohat, 2-mexanik asfiksiya, 3-zaharlanish). Tipik xato: talaba zaharlanishni zo‘raki o‘limning eng ko‘p uchraydigan sababi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savoli: dori vositasi qanday holatda zaharga aylanadi? Tezkor savol: «Mutlaq zahar» bormi? Doskada chizish: «doza» o‘qi bo‘ylab dori, zahar zonalari. Tipik xato: zahar va zaharlanish tushunchalarini aralashtirish (zahar - modda, zaharlanish - sog‘liq buzilishi).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savoli: sud-tibbiy toksikolog va klinik toksikolog vazifalari nimasi bilan farq qiladi? Doskada chizish: toksikologiya yo‘nalishlari daraxti (6 ta shox) va sud-tibbiy shoxning alohida vazifasi. Tipik xato: sud-tibbiy toksikologiyaning vazifasini davolash va oldini olish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aksariyat zaharlanish baxtsiz hodisa hisoblanadi? 2) Yatrogen zaharlanish qaysi turga kiradi? Doskada: 3 ustunli jadvalni (tur, qasd, uchrashi) talabalar bilan birga chizing. Tipik xato: yatrogen zaharlanishni qasddan sodir etilgan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Yatrogen holatda zaharlanish nega tasodifiy hisoblanadi? 2) Dozani belgilashdagi xato bilan dorini almashtirish xatosi nimasi bilan o‘xshash? Doskada: qasddan va tasodifan ustunlari bo‘yicha turlarni guruhlang. Tipik xato: shifokor xatosini avtomatik qasddan qilingan harakat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bolalar kattalarga nisbatan sezgirroq? 2) Kirish yo‘li toksik ta’sirga qanday ta’sir qiladi? Doskada: to‘rt omilning markazda zaharlanish bo‘lgan sxemasini chizing. Tipik xato: faqat dozani muhim omil deb hisoblab, organizm va yo‘lni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xil modda boshqa muhitda boshqacha ta’sir qiladi? Konsentratsiya va eruvchanlik nima uchun muhim? Doskada chizish: «zahar → omillar (tuzilish, doza, holat, eruvchanlik, barqarorlik)» sxemasi. Tipik xato: o‘xshash kimyoviy tuzilish bir xil toksiklikni beradi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bolalar zaharga sezgirroq? Tolerantlik va bog‘liqlik qanday farqlanadi? Doskada chizish: «organizm omillari» ro‘yxati (vazn, yosh, salomatlik, oshqozon, genetika, tolerantlik). Tipik xato: tolerantlikni ham bog‘liqlik bilan, idiosinkraziyani esa oddiy sezgirlik bilan aralashtirish. Giyohvandlikda ruhiy va jismoniy bog‘liqlik, tark etganda abstinensiya sindromi. Diqqat: tolerantlik ≠ bog‘liqlik. Takroriy qabul tolerantlikni (o‘rganib qolish) keltiradi: uyqu dorilari, analgetiklar. Genetika ham muhim: xolinesteraza tug‘ma pastligi miorelaksantlar ta’sirini kuchaytiradi; idiosinkraziya ham genetik.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nafas yo‘li orqali kirgan zahar og‘iz orqali kirganidan kuchliroq ta’sir qilishi mumkin? Yopiq muhit qaysi zaharlanishlarda xavfli? Doskada chizish: kirish yo‘llari va «jigardan o‘tadi / o‘tmaydi» strelkalari. Tipik xato: barcha kirish yo‘llarini bir xil kuchda deb hisoblash. Ochiq muhit, past harorat va namlik ta’sirni susaytiradi. Tashqi sharoit ayrim moddalarda muhim: yopiq, issiq, nam muhit alkogol va is gazi bilan zaharlanishga moyillik yaratadi.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Funksional zaharlarda murdada xos o‘zgarish bo‘lmasa, qaysi bosqich dalil beradi? 2) “Uch nuqta” qoidasi nimani anglatadi? Doskada chizish: uch bosqichni strelkalar bilan chizib, har biriga bittadan misol yozing. Tipik xato: laboratoriya natijasini boshqa ma’lumotlarsiz, yakka holda baholash.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rangga qarab zaharni faqat taxmin qilish mumkin, aniq tasdiqlash mumkin emas? 2) Mushak qotishi tezligi qaysi zaharlarni ajratishga yordam beradi? Doskada chizish: jadvalni ko‘chirib, har bir qatorga rangli belgi qo‘ying. Tipik xato: sianid (olcha rang) bilan is gazini (pushti)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aynan kirgan, ta’sir etgan va chiqqan joydan namuna olinadi? 2) Zahar noma’lum bo‘lsa, nega ko‘p a’zo olinadi? Doskada: og‘iz orqali zaharlanish uchun “uch nuqta”ni (oshqozon – jigar – buyrak) strelkalar bilan chizdiring. Diqqat, xato xavfi: “uch nuqta” zahar ma’lum bo‘lgandagi qoida, manba noma’lum bo‘lsa a’zolar ro‘yxati kengroq. Tipik xato: qonni boshqa a’zolar bilan bitta idishga solish (har biri alohida idishda olinadi).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Zahar qancha tez qonga o‘tsa, nega toksikligi kuchliroq? 2) Sirka kislotasi misolida birlamchi, keyingi va metatoksik ta’sirni sanang. Doskada: 4 bosqichli zanjirni chizib, har bosqichga bittadan misol yozdiring (masalan, uchuvchan moddalar o‘pka orqali chiqadi). Tipik xato: toksikokinetika (zahar bilan nima bo‘ladi) va toksikodinamika (organizm zaharga qanday javob beradi)ni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Metanol sekin oksidlangani uchun nega organizmda uzoqroq qoladi va toksikligi kuchayadi? 2) Nega etil spirti o‘rniga metanol ichish xavfli? Doskada: metil spirti → formaldegid, etilenglikol → oksalat kislotasi sxemasini chizdiring. Tipik xato: dastlabki moddaning o‘zi eng zaharli deb o‘ylash, aslida kuchli toksiklik metabolitlarga bog‘liq.</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zahar uch xil ta’sir ko‘rsatadi? 2) Bu bosqichlar sud-tibbiy diagnostikada nimani bildiradi? Doskada chizish: uchta ketma-ket quti (birlamchi → keyingi → metatoksik) va ularning ostiga a’zolarni yozing. Tipik xato: talabalar gepatit va nefrozni birlamchi ta’sir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Mahalliy va rezorbtiv zaharni nima ajratadi? 2) Nega funksional zaharlarda murdada o‘zgarish kam bo‘ladi? Doskada chizish: tasnif daraxti (zaharlar → mahalliy / umumiy → uch guruh). Tipik xato: is gazini funksional zahar deb yozish, aslida u gemoglobinotrop (gemotrop) guruhga kiradi.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kislotada nekroz quruq bo‘ladi? 2) Murdada oqmalarning joylashuvi nimani ko‘rsatadi? Doskada chizish: ‘kislota → H⁺ ioni → suvsizlanish → quruq nekroz → strup’ zanjiri. Tipik xato: kislota va ishqor nekrozini aralashtirish; ishqorda nekroz kollikvatsion (yumshoq) bo‘ladi.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sirka kislotasida buyrak shikastlanishi gemoliz bilan bog‘liq? 2) Fenol siydigi nega rangini o‘zgartiradi? Doskada chizish: sirka kislotasi zanjiri (kuyish — gemoliz — nefroz). Tipik xato: sirka kislotasini faqat mahalliy ta’sir deb o‘ylash, rezorbtiv (gemolitik) ta’sirni unutish. Xingidrin tufayli siydik havoda yashil-jigarrang bo‘ladi. Fenoldan o‘lim dastlabki soatlarda nafas markazi falajidan, bir necha kundan so‘ng buyrak yoki nafas yetishmovchiligidan bo‘ladi. U og‘iz, nafas yo‘llari va butun teri orqali kiradi. Qisqa muddatda markaziy nerv tizimi (MNT) shikastlanadi, koma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Kislota va ishqor nekrozi nimasi bilan farqlanadi? 2) Nega nashatir spirti va alkogol aralashmasi xavfli? Doskada chizish: jadvalni daftarga ko‘chirib, har modda yoniga xos belgini yozdirish. Tipik xato: formalin zaharlanishida shilliq qavat o‘zgarmasligini yallig‘lanish yo‘q deb tushunish — bu fiksatsiya.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juftlikda savollarga javob beradi, javoblar slaydni ochmasdan so‘raladi. Muhokama: nega letal doza konsentratsiyaga bog‘liq? Doskada chizish: ikki ustunli kislota/ishqor nekrozi taqqoslash jadvali. Tipik xato: kislota va ishqorning letal doza birliklarini (ml va g)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sof simob ichilganda zaharlamaydi, bug‘i esa xavfli? 2) “Sulema dizenteriyasi” va “sulema buyragi” qanday ko‘rinadi? Doskada chizish: sulema va organik simob ta’sirini ikki ustunda (ichak-buyrak va nerv tizimi) solishtiring. Qo‘shimcha raqamlar: sulemaning letal dozasi 0,1–0,3 g, kalomelniki 2,0–3,0 g; simob suyak va buyrakda to‘planadi, murdada o‘nlab yillardan keyin ham topiladi. Tipik xato: sulema (simob dixlorid) bilan kalomelni (simob xlorid) aralashtirish. Kalomel suvda yomon eriydi va ilgari surgi dori bo‘lgan.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Margimushning ichak turi bilan paralitik turi qaysi belgilari bilan farqlanadi? 2) Tetraetilqo‘rg‘oshin nega teri orqali ham zaharlaydi (yog‘da yaxshi eriydi)? Doskada chizish: margimush zaharlanishining ikki turini ikki shoxli sxemada yozing (kirish yo‘li, belgilar, o‘lim sababi). Qo‘shimcha: talliy tuzlari osh tuziga o‘xshaydi, asosan baxtsiz hodisa bo‘ladi, ammo qotillikda ham ishlatilgan. Diqqat: qo‘rg‘oshinda ichak-buyrak zarari simobdagiga qaraganda kuchsizroq. Tipik xato: margimushning uch valentli birikmalarini besh valentlilardan kuchsizroq deb o‘ylash. Aslida uch valentlilari zaharliroq.</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bunday zaharlanish oilaviy yoki guruhiy tusda uchraydi? 2) Tashxisda anamnez va toksikologik tekshiruvning o‘rni qanday? Doskada chizish: vaqt chizig‘i (yashirin davr, umumiy belgilar, nerv tizimi belgilari). Javob: organik simob; neyrotoksik ta’sir kuchliroq, buyrak va yo‘g‘on ichak zarari kuchsizroq. Tipik xato: organik simobni anorganik sulema bilan aralashtirib, stomatit va “sulema buyragi”ni kutish.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is gazi bilan zaharlanishda qonda kislorod bor, lekin to‘qima kislorodsiz qoladi? 2) Nega murda dog‘lari pushti bo‘ladi? Doskada: gemoglobin → karboksigemoglobin → gipoksiya zanjirini chizing. Tipik xato: is gazini karbonat angidrid bilan aralashtirish. Eslatma: dastlabki belgilar karboksigemoglobin 25-30% dan oshganda, 60% dan oshganda o‘lim kuzatiladi. Yashinsimon shaklda u faqat chap qorincha va aorta boshlang‘ich qismidagi qonda topiladi.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sinamada normal qon qorayadi, is gazli qon esa o‘zgarmaydi? 2) Nega namunani imkon qadar erta olish kerak? Doskada: normal va is gazli qonning ishqor qo‘shilgandagi rangini yonma-yon chizing. Tipik xato: dastlabki sinamani yakuniy tashxis deb hisoblash. Aslida uni spektrofotometriya tasdiqlaydi. Tezkor savol: spektroskopiyada normal qonga gidrosulfit qo‘shilsa, yutish yo‘lagi nechtaga aylanadi? (Bittaga.)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Karboksigemoglobin va metgemoglobin ta’sirini solishtiring. 2) Nega nitrat nitritdan kuchsizroq zahar? Doskada: nitrat → nitrit → metgemoglobin → gemik gipoksiya zanjirini chizing. Tipik xato: nitrobenzol va sianidlarning achchiq bodom hidini farqlamaslik. Qo‘shimcha: 1-2 kundan so‘ng anemiya va gemoglobinuriyali nefroz bo‘lsa ham, qonda metgemoglobin topilmasligi mumkin.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Sianidda qonda kislorod yetarli bo‘lsa ham nega gipoksiya bo‘ladi? 2) Vodorod sulfid hodisa joyida nega ko‘pincha cheklangan muhitda uchraydi? Doskada chizing: sian anioni → sitoxromoksidaza temiri → to‘qima nafasining to‘xtashi. Tipik xato: achchiq bodom hidini faqat sianidga xos deb hisoblash (nitrobenzolda ham bor). Eslab qolish: sianid — olcha rang va achchiq bodom; vodorod sulfid — palag‘da tuxum hidi va olcha-qizil qon. Sianid kabi sitoxrom temirini bog‘laydi; 1% va undan ko‘pida yashinsimon shakl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FOB nega shikastlanmagan teri orqali ham so‘riladi? 2) Kech o‘limda toksikologik tekshiruv manfiy bo‘lsa, qaysi ko‘rsatkich diagnozga yordam beradi? Doskada chizing: FOB → xolinesteraza so‘nishi → atsetilxolin ortishi → xolinergik qo‘zg‘alish. Tipik xato: FOB ning mahalliy ta’sirini kuchli deb o‘ylash (u kuchsiz yoki umuman bo‘lmaydi). Tezkor savol: murdada qorachiq qanday?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daqiqa. Muhokama: 1) Rezorbsiya va eliminatsiya davrlarida qon va siydikdagi spirt konsentratsiyasi qanday farqlanadi? 2) Nega ayrim shaxslarda past promilleda ham kuchli intoksikatsiya bo‘lishi mumkin? Doskada chizing: etil spirti → atsetaldegid → sirka kislotasi → suv va CO2. Tipik xato: 3,0 promilledan yuqori konsentratsiyani ham mastlik deb baholash (u zaharlanish hisoblanadi). Eslab qolish: 0,5 – 1,5 – 2,5 – 3,0 chegaralarini ketma-ket yodlang.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P har holatda har xil, o‘rtacha qiymat qachon olinadi (0,13-0,15)? Nega namunalar imkon qadar erta olinadi? Doskada formula belgilarini (A, R, r, Ct, P, T) yozib, har birini izohlang. Tipik xato: Rappoport (marganets, pushti rang yo‘qoladi) bilan Moxov-Shinkarenko (xrom, sariqdan yashilga) sinamalarini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2-3 kishilik guruhda javob beradi. Muhokama: sud-kimyo natijasini boshqa ma’lumotlar bilan qanday baholaymiz? Yurak kasalligi alkogol bilan qanday bog‘lanadi? Doskada vaqt chizig‘ini chizing: ichimlik, bir necha kun, o‘lim. Tipik xato: faqat qondagi promillega qarab sabab haqida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metanol yashirin bosqichdan keyin og‘ir kechadi (metabolitlar)? Etilenglikolning metaboliti qaysi a’zolarga ta’sir qiladi? Doskada metanol zanjirini chizing. Tipik xato: etil va metil spirt ta’sirini aralashtirish. Ko‘rish buzilishi metanolga xos.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alkogol bilan birga qabul qilish xavfli? 2) Nega faqat sifat tekshiruvi yetarli emas? Doskada: uyqu dorilari guruhlarini va letal dozalar qatorini chizdiring. Tipik xato: murdada uyqu dorisiga xos o‘zgarish bo‘ladi deb o‘ylash (darslikda xos o‘zgarish topilmaydi, oshqozonda tabletka qoldig‘i bo‘lishi mumkin). Dori terapevtik dozada ham topilishi mumkin, shuning uchun sifat bilan birga miqdoriy sud-kimyoviy tekshiruv zarur.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kuchsiz ta’sir (nur, tovush) strixninda yangi xurujni chaqiradi? 2) Nega bolalar strixninga sezgirroq? Doskada: strixnin klinikasi bosqichlarini (mushak tortilishi → tonik talvasa → opistotonus) chizdiring. Tipik xato: strixninda hush yo‘qoladi deb o‘ylash — darslikda hush saqlangan holda talvasa xuruji qayd etilgan. Murdada mushak qotishi tez va kuchli rivojlanadi. Letal doza: kattalarda 0,1–0,3 g, kichik bolalarda 0,005 g. O‘lim nafas mushaklari talvasasi yoki nafas markazi falajidan; strixnin murdada oylab saqlanadi. Hush saqlangan holda tonik talvasa xurujlari, yuz ko‘karadi, tana yoysimon (opistotonus) shaklga kiradi.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Atropin va pilokarpin belgilari nega qarama-qarshi? 2) Nega bu zaharlanishlarda sud-kimyoviy tekshiruv hal qiluvchi? Doskada: jadvalni o‘quvchilar bilan birga to‘ldiring. Tipik xato: klofelin va atropinni aralashtirish. Eslatma: atropin murdada bir necha oy saqlanadi; paxikarpin va miorelaksantlarda murdada xos belgi yo‘q; klofelin bolalarda 0,004 g va undan kam dozada ham o‘ldirishi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Nega klofelin zaharlanishida sud-kimyoviy tekshiruv hal qiluvchi? 2) Atropin va pilokarpinni qorachiq hamda ter-so‘lak ajralishi bo‘yicha qanday farqlaysiz? Doskada: ikki ustunli taqqoslash (atropin | pilokarpin) — qorachiq, og‘iz, ter, puls. Tipik xato: qorachiq belgisini ikkala modda uchun bir xil deb olish. Talabalar javobini keyin tekshiring.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DRD tushunchasi nega faqat zaharlanishdan o‘limni emas, bilvosita holatlarni ham qamraydi? 2) Prekursorlar ro‘yxati nega nazoratda? Doskada: tasnif jadvalini (tabiiy / yarim sintetik / sintetik) chizdiring. Tipik xato: geroinni tabiiy modda deb hisoblash — u opiyning yarim sintetik mahsuloti. Qo‘shimcha: nasha va opiatlar sedativ, kokain va amfetaminlar qo‘zg‘atuvchi ta’sir qiladi.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Nasha zaharlanishi nega odatda o‘limga olib kelmaydi, narkokurerda esa nega xavfli? 2) Spayslar nashadan nimasi bilan farq qiladi? Doskada: namuna olish ro‘yxatini (qon, siydik, so‘lak, barmoq yuvmasi) hajmlari bilan yozdiring. Tipik xato: spaysni tabiiy nasha deb o‘ylash — unda sintetik kannabinoid bor. Eslatma: kannabinoidlar siydikda 1–3 soatdan keyin aniqlana boshlaydi (jadval 6.2).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nega opiat va kokaindan o‘lim mexanizmi har xil? Qaysi modda o‘rganib qolishga tezroq olib keladi? Doskaga jadvalni ko‘chirtiring va opiat bilan kokainni ta’sir bo‘yicha qarama-qarshi qo‘ying. Tipik xato: morfinning ichga va parenteral letal dozalarini aralashtirish. Qo‘shimcha: opiatlarga o‘rganib qolish o‘rtacha 25-30 kunda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nega murdadagi belgilar bo‘yicha qat’iy xulosa qilib bo‘lmaydi? Tirik shaxsdan namuna nega tezroq olinishi kerak? Doskaga to‘rt guruh o‘zgarishni ro‘yxat qilib yozing (spetsifik, takroriy kirish, infeksiya, turmush tarzi). Tipik xato: in’eksiya izlarini narkotik iste’molining qat’iy isboti deb hisoblash. Eslatma: kannabinoidlarni aniqlash uchun 10 ml qon, 10 ml siydik, 10 ml so‘lak olinadi.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7-8 daqiqa. Muhokama: nega botulizm uy konservalari bilan bog‘liq? Soxta manfiy natija qanday sabablardan chiqadi? Doskaga bakterial va nobakterial turlarning tasnif sxemasini chizdiring. Tipik xato: toksikoinfeksiya va intoksikatsiyani aralashtirish. Eslatma: botulizmda yashirin davr qancha qisqa bo‘lsa, zaharlanish shuncha og‘ir kechadi.</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«zahar topilmadi» degani zaharlanish bo‘lmagan degani emas? 2) Nima uchun «zahar topildi» natijasi yolg‘iz o‘zi yetarli emas? Doskada chizish: diagnostikaning uch bosqichi zanjiri (joy → murda → laboratoriya). Tipik xato: talabalar laboratoriya natijasini voqea tafsilotlari va klinikadan ajratib, yakka o‘zi hal qiluvchi deb baholaydi.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Nasha preparatlari bilan zaharlanish. Turli dori moddalari bilan zaharlanish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uning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Kimyoviy omillar ta’sirida sog‘liqning buzilishi va o‘lim holatlari sud-tibbiy ekspertiza amaliyotida nisbatan keng uchraydi.</a:t>
            </a:r>
          </a:p>
          <a:p>
            <a:pPr>
              <a:spcAft>
                <a:spcPts val="1200"/>
              </a:spcAft>
            </a:pPr>
            <a:r>
              <a:rPr sz="2200">
                <a:solidFill>
                  <a:srgbClr val="1F2937"/>
                </a:solidFill>
                <a:latin typeface="Calibri"/>
              </a:rPr>
              <a:t>▸  Zo‘raki o‘lim tarkibida zaharlanishlar mexanik jarohatlar va mexanik asfiksiyadan keyin uchinchi o‘rinni egallaydi.</a:t>
            </a:r>
          </a:p>
          <a:p>
            <a:pPr>
              <a:spcAft>
                <a:spcPts val="1200"/>
              </a:spcAft>
            </a:pPr>
            <a:r>
              <a:rPr sz="2200">
                <a:solidFill>
                  <a:srgbClr val="1F2937"/>
                </a:solidFill>
                <a:latin typeface="Calibri"/>
              </a:rPr>
              <a:t>▸  BMT ma’lumotiga ko‘ra, dunyoda 130–190 million kishi nasha preparatlarini iste’mol qiladi. Muammo tibbiy va ijtimoiy ahamiyatga ega.</a:t>
            </a:r>
          </a:p>
          <a:p>
            <a:pPr>
              <a:spcAft>
                <a:spcPts val="1200"/>
              </a:spcAft>
            </a:pPr>
            <a:r>
              <a:rPr sz="2200">
                <a:solidFill>
                  <a:srgbClr val="1F2937"/>
                </a:solidFill>
                <a:latin typeface="Calibri"/>
              </a:rPr>
              <a:t>▸  Dars maqsadi: nasha va boshqa narkotik vositalar hamda uyqu dorilari, atropin, klofelin kabi dori moddalari bilan zaharlanishni o‘rganish.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167, 163–170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miqdori sog‘liqni buzadigan yoki o‘limga olib keladigan modda zahar deyiladi.</a:t>
            </a:r>
          </a:p>
          <a:p>
            <a:pPr>
              <a:spcAft>
                <a:spcPts val="1200"/>
              </a:spcAft>
            </a:pPr>
            <a:r>
              <a:rPr sz="2200">
                <a:solidFill>
                  <a:srgbClr val="1F2937"/>
                </a:solidFill>
                <a:latin typeface="Calibri"/>
              </a:rPr>
              <a:t>▸  Tabiatda mutlaq zahar yo‘q, mutlaq beziyon modda ham yo‘q.</a:t>
            </a:r>
          </a:p>
          <a:p>
            <a:pPr>
              <a:spcAft>
                <a:spcPts val="1200"/>
              </a:spcAft>
            </a:pPr>
            <a:r>
              <a:rPr sz="2200">
                <a:solidFill>
                  <a:srgbClr val="1F2937"/>
                </a:solidFill>
                <a:latin typeface="Calibri"/>
              </a:rPr>
              <a:t>▸  Paratsels iborasi: faqat doza ma’lum bir moddani dorigami yoki zaharga aylantiradi.</a:t>
            </a:r>
          </a:p>
          <a:p>
            <a:pPr>
              <a:spcAft>
                <a:spcPts val="1200"/>
              </a:spcAft>
            </a:pPr>
            <a:r>
              <a:rPr sz="2200">
                <a:solidFill>
                  <a:srgbClr val="1F2937"/>
                </a:solidFill>
                <a:latin typeface="Calibri"/>
              </a:rPr>
              <a:t>▸  Diqqat: xato qilish xavfi. Dori va zahar alohida guruh emas, ularni doza farqlaydi. Oz miqdordagi modda ta’siridagi sog‘liq buzilishi zaharlanish deyiladi.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Toksikologiya va uning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Toksikologiya zahar va zaharlanishlarni o‘rganadigan fan. Yo‘nalishlari: sanoat, qishloq xo‘jaligi, harbiy, oziq-ovqat, maishiy va sud-tibbiy toksikologiya.</a:t>
            </a:r>
          </a:p>
          <a:p>
            <a:pPr>
              <a:spcAft>
                <a:spcPts val="1200"/>
              </a:spcAft>
            </a:pPr>
            <a:r>
              <a:rPr sz="2200">
                <a:solidFill>
                  <a:srgbClr val="1F2937"/>
                </a:solidFill>
                <a:latin typeface="Calibri"/>
              </a:rPr>
              <a:t>▸  Boshqa turlar asosan zaharlanish sabablari, jabrlanganga malakali tibbiy yordam va zaharlanishning oldini olishni o‘rganadi.</a:t>
            </a:r>
          </a:p>
          <a:p>
            <a:pPr>
              <a:spcAft>
                <a:spcPts val="1200"/>
              </a:spcAft>
            </a:pPr>
            <a:r>
              <a:rPr sz="2200">
                <a:solidFill>
                  <a:srgbClr val="1F2937"/>
                </a:solidFill>
                <a:latin typeface="Calibri"/>
              </a:rPr>
              <a:t>▸  Sud-tibbiy toksikologiya zaharlanish holatlarida huquqni muhofaza etuvchi idoralar qo‘ygan vazifalarni hal etadi.</a:t>
            </a:r>
          </a:p>
          <a:p>
            <a:pPr>
              <a:spcAft>
                <a:spcPts val="1200"/>
              </a:spcAft>
            </a:pPr>
            <a:r>
              <a:rPr sz="2200">
                <a:solidFill>
                  <a:srgbClr val="1F2937"/>
                </a:solidFill>
                <a:latin typeface="Calibri"/>
              </a:rPr>
              <a:t>▸  Sud tibbiyotining fan sifatida shakllanishi aynan sud-tibbiy toksikologiyadan boshlangan.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Zaharlanishlarning kelib chiqish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 qotillik, o‘z-o‘zini o‘ldirish yoki baxtsiz hodisa tarzida bo‘lishi mumkin.</a:t>
            </a:r>
          </a:p>
          <a:p>
            <a:pPr>
              <a:spcAft>
                <a:spcPts val="800"/>
              </a:spcAft>
            </a:pPr>
            <a:r>
              <a:rPr sz="1800">
                <a:solidFill>
                  <a:srgbClr val="1F2937"/>
                </a:solidFill>
                <a:latin typeface="Calibri"/>
              </a:rPr>
              <a:t>▸  Ekspertiza ma’lumotlarida aksariyat holat baxtsiz hodisa, keyin o‘z-o‘zini o‘ldirish; qotillik kam uchraydi.</a:t>
            </a:r>
          </a:p>
          <a:p>
            <a:pPr>
              <a:spcAft>
                <a:spcPts val="800"/>
              </a:spcAft>
            </a:pPr>
            <a:r>
              <a:rPr sz="1800">
                <a:solidFill>
                  <a:srgbClr val="1F2937"/>
                </a:solidFill>
                <a:latin typeface="Calibri"/>
              </a:rPr>
              <a:t>▸  Yatrogen zaharlanish tibbiy muolajada doza xatosi yoki bir dori o‘rniga boshqasini qo‘llashdan kelib chiqadi.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52492"/>
                <a:gridCol w="1900366"/>
                <a:gridCol w="1735116"/>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Qasd</a:t>
                      </a:r>
                    </a:p>
                  </a:txBody>
                  <a:tcPr marL="73152" marR="73152" marT="36576" marB="36576">
                    <a:solidFill>
                      <a:srgbClr val="0B1F3A"/>
                    </a:solidFill>
                  </a:tcPr>
                </a:tc>
                <a:tc>
                  <a:txBody>
                    <a:bodyPr/>
                    <a:lstStyle/>
                    <a:p>
                      <a:r>
                        <a:rPr sz="1600" b="1">
                          <a:solidFill>
                            <a:srgbClr val="FFFFFF"/>
                          </a:solidFill>
                        </a:rPr>
                        <a:t>Uchrashi</a:t>
                      </a:r>
                    </a:p>
                  </a:txBody>
                  <a:tcPr marL="73152" marR="73152" marT="36576" marB="36576">
                    <a:solidFill>
                      <a:srgbClr val="0B1F3A"/>
                    </a:solidFill>
                  </a:tcPr>
                </a:tc>
              </a:tr>
              <a:tr h="614476">
                <a:tc>
                  <a:txBody>
                    <a:bodyPr/>
                    <a:lstStyle/>
                    <a:p>
                      <a:r>
                        <a:rPr sz="1500" b="0">
                          <a:solidFill>
                            <a:srgbClr val="1F2937"/>
                          </a:solidFill>
                        </a:rPr>
                        <a:t>Baxtsiz hodisa</a:t>
                      </a:r>
                    </a:p>
                  </a:txBody>
                  <a:tcPr marL="73152" marR="73152" marT="36576" marB="36576">
                    <a:solidFill>
                      <a:srgbClr val="E8EEF6"/>
                    </a:solidFill>
                  </a:tcPr>
                </a:tc>
                <a:tc>
                  <a:txBody>
                    <a:bodyPr/>
                    <a:lstStyle/>
                    <a:p>
                      <a:r>
                        <a:rPr sz="1500" b="0">
                          <a:solidFill>
                            <a:srgbClr val="1F2937"/>
                          </a:solidFill>
                        </a:rPr>
                        <a:t>Tasodifan</a:t>
                      </a:r>
                    </a:p>
                  </a:txBody>
                  <a:tcPr marL="73152" marR="73152" marT="36576" marB="36576">
                    <a:solidFill>
                      <a:srgbClr val="E8EEF6"/>
                    </a:solidFill>
                  </a:tcPr>
                </a:tc>
                <a:tc>
                  <a:txBody>
                    <a:bodyPr/>
                    <a:lstStyle/>
                    <a:p>
                      <a:r>
                        <a:rPr sz="1500" b="0">
                          <a:solidFill>
                            <a:srgbClr val="1F2937"/>
                          </a:solidFill>
                        </a:rPr>
                        <a:t>Aksariyat holatlar</a:t>
                      </a:r>
                    </a:p>
                  </a:txBody>
                  <a:tcPr marL="73152" marR="73152" marT="36576" marB="36576">
                    <a:solidFill>
                      <a:srgbClr val="E8EEF6"/>
                    </a:solidFill>
                  </a:tcPr>
                </a:tc>
              </a:tr>
              <a:tr h="614476">
                <a:tc>
                  <a:txBody>
                    <a:bodyPr/>
                    <a:lstStyle/>
                    <a:p>
                      <a:r>
                        <a:rPr sz="1500" b="0">
                          <a:solidFill>
                            <a:srgbClr val="1F2937"/>
                          </a:solidFill>
                        </a:rPr>
                        <a:t>O‘z-o‘zini o‘ldirish</a:t>
                      </a:r>
                    </a:p>
                  </a:txBody>
                  <a:tcPr marL="73152" marR="73152" marT="36576" marB="36576">
                    <a:solidFill>
                      <a:srgbClr val="FFFFFF"/>
                    </a:solidFill>
                  </a:tcPr>
                </a:tc>
                <a:tc>
                  <a:txBody>
                    <a:bodyPr/>
                    <a:lstStyle/>
                    <a:p>
                      <a:r>
                        <a:rPr sz="1500" b="0">
                          <a:solidFill>
                            <a:srgbClr val="1F2937"/>
                          </a:solidFill>
                        </a:rPr>
                        <a:t>Qasddan</a:t>
                      </a:r>
                    </a:p>
                  </a:txBody>
                  <a:tcPr marL="73152" marR="73152" marT="36576" marB="36576">
                    <a:solidFill>
                      <a:srgbClr val="FFFFFF"/>
                    </a:solidFill>
                  </a:tcPr>
                </a:tc>
                <a:tc>
                  <a:txBody>
                    <a:bodyPr/>
                    <a:lstStyle/>
                    <a:p>
                      <a:r>
                        <a:rPr sz="1500" b="0">
                          <a:solidFill>
                            <a:srgbClr val="1F2937"/>
                          </a:solidFill>
                        </a:rPr>
                        <a:t>Ikkinchi o‘rinda</a:t>
                      </a:r>
                    </a:p>
                  </a:txBody>
                  <a:tcPr marL="73152" marR="73152" marT="36576" marB="36576">
                    <a:solidFill>
                      <a:srgbClr val="FFFFFF"/>
                    </a:solidFill>
                  </a:tcPr>
                </a:tc>
              </a:tr>
              <a:tr h="614476">
                <a:tc>
                  <a:txBody>
                    <a:bodyPr/>
                    <a:lstStyle/>
                    <a:p>
                      <a:r>
                        <a:rPr sz="1500" b="0">
                          <a:solidFill>
                            <a:srgbClr val="1F2937"/>
                          </a:solidFill>
                        </a:rPr>
                        <a:t>Qotillik</a:t>
                      </a:r>
                    </a:p>
                  </a:txBody>
                  <a:tcPr marL="73152" marR="73152" marT="36576" marB="36576">
                    <a:solidFill>
                      <a:srgbClr val="E8EEF6"/>
                    </a:solidFill>
                  </a:tcPr>
                </a:tc>
                <a:tc>
                  <a:txBody>
                    <a:bodyPr/>
                    <a:lstStyle/>
                    <a:p>
                      <a:r>
                        <a:rPr sz="1500" b="0">
                          <a:solidFill>
                            <a:srgbClr val="1F2937"/>
                          </a:solidFill>
                        </a:rPr>
                        <a:t>Qasddan</a:t>
                      </a:r>
                    </a:p>
                  </a:txBody>
                  <a:tcPr marL="73152" marR="73152" marT="36576" marB="36576">
                    <a:solidFill>
                      <a:srgbClr val="E8EEF6"/>
                    </a:solidFill>
                  </a:tcPr>
                </a:tc>
                <a:tc>
                  <a:txBody>
                    <a:bodyPr/>
                    <a:lstStyle/>
                    <a:p>
                      <a:r>
                        <a:rPr sz="1500" b="0">
                          <a:solidFill>
                            <a:srgbClr val="1F2937"/>
                          </a:solidFill>
                        </a:rPr>
                        <a:t>Kamdan-kam</a:t>
                      </a:r>
                    </a:p>
                  </a:txBody>
                  <a:tcPr marL="73152" marR="73152" marT="36576" marB="36576">
                    <a:solidFill>
                      <a:srgbClr val="E8EEF6"/>
                    </a:solidFill>
                  </a:tcPr>
                </a:tc>
              </a:tr>
              <a:tr h="614476">
                <a:tc>
                  <a:txBody>
                    <a:bodyPr/>
                    <a:lstStyle/>
                    <a:p>
                      <a:r>
                        <a:rPr sz="1500" b="0">
                          <a:solidFill>
                            <a:srgbClr val="1F2937"/>
                          </a:solidFill>
                        </a:rPr>
                        <a:t>Yatrogen</a:t>
                      </a:r>
                    </a:p>
                  </a:txBody>
                  <a:tcPr marL="73152" marR="73152" marT="36576" marB="36576">
                    <a:solidFill>
                      <a:srgbClr val="FFFFFF"/>
                    </a:solidFill>
                  </a:tcPr>
                </a:tc>
                <a:tc>
                  <a:txBody>
                    <a:bodyPr/>
                    <a:lstStyle/>
                    <a:p>
                      <a:r>
                        <a:rPr sz="1500" b="0">
                          <a:solidFill>
                            <a:srgbClr val="1F2937"/>
                          </a:solidFill>
                        </a:rPr>
                        <a:t>Tasodifan (tibbiy xato)</a:t>
                      </a:r>
                    </a:p>
                  </a:txBody>
                  <a:tcPr marL="73152" marR="73152" marT="36576" marB="36576">
                    <a:solidFill>
                      <a:srgbClr val="FFFFFF"/>
                    </a:solidFill>
                  </a:tcPr>
                </a:tc>
                <a:tc>
                  <a:txBody>
                    <a:bodyPr/>
                    <a:lstStyle/>
                    <a:p>
                      <a:r>
                        <a:rPr sz="1500" b="0">
                          <a:solidFill>
                            <a:srgbClr val="1F2937"/>
                          </a:solidFill>
                        </a:rPr>
                        <a:t>Baxtsiz hodisa ichida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Zaharlanish turlari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yatrogen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tibbiy muolajada dori dozasi noto‘g‘ri belgilangan yoki bir dori o‘rniga boshqa modda qo‘llangan, bemor zaharlangan.</a:t>
            </a:r>
          </a:p>
          <a:p>
            <a:pPr>
              <a:spcAft>
                <a:spcPts val="1200"/>
              </a:spcAft>
            </a:pPr>
            <a:r>
              <a:rPr sz="2200">
                <a:solidFill>
                  <a:srgbClr val="1F2937"/>
                </a:solidFill>
                <a:latin typeface="Calibri"/>
              </a:rPr>
              <a:t>▸  Manbaga ko‘ra bunday zaharlanish tasodifan yuz beradi va yatrogen kelib chiqishli baxtsiz hodisalar qatoriga kiradi.</a:t>
            </a:r>
          </a:p>
          <a:p>
            <a:pPr>
              <a:spcAft>
                <a:spcPts val="1200"/>
              </a:spcAft>
            </a:pPr>
            <a:r>
              <a:rPr sz="2200">
                <a:solidFill>
                  <a:srgbClr val="1F2937"/>
                </a:solidFill>
                <a:latin typeface="Calibri"/>
              </a:rPr>
              <a:t>▸  Savol: bu holat qotillik yoki o‘z-o‘zini o‘ldirishdan nimasi bilan farq qiladi? Javob: zaharlanish qasddan emas, tasodifan yuz bergan.</a:t>
            </a:r>
          </a:p>
          <a:p>
            <a:pPr>
              <a:spcAft>
                <a:spcPts val="1200"/>
              </a:spcAft>
            </a:pPr>
            <a:r>
              <a:rPr sz="2200">
                <a:solidFill>
                  <a:srgbClr val="1F2937"/>
                </a:solidFill>
                <a:latin typeface="Calibri"/>
              </a:rPr>
              <a:t>▸  Diqqat: xato qilish xavfi — qasddan zaharlanish (qotillik, o‘z-o‘zini o‘ldirish) ≠ tasodifiy zaharlanish (baxtsiz hodisa, yatrogen).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Zaharlanishga ta’sir etuvchi to‘rt omil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Zaharlanishda to‘rt guruh omil farqlanadi: modda, organizm, kirish yo‘li va tashqi shart-sharoit.</a:t>
            </a:r>
          </a:p>
          <a:p>
            <a:pPr>
              <a:spcAft>
                <a:spcPts val="800"/>
              </a:spcAft>
            </a:pPr>
            <a:r>
              <a:rPr sz="1800">
                <a:solidFill>
                  <a:srgbClr val="1F2937"/>
                </a:solidFill>
                <a:latin typeface="Calibri"/>
              </a:rPr>
              <a:t>▸  Nafas yo‘li va to‘g‘ri ichakdan so‘rilgan modda jigardan o‘tmay, kuchliroq ta’sir qiladi.</a:t>
            </a:r>
          </a:p>
          <a:p>
            <a:pPr>
              <a:spcAft>
                <a:spcPts val="800"/>
              </a:spcAft>
            </a:pPr>
            <a:r>
              <a:rPr sz="1800">
                <a:solidFill>
                  <a:srgbClr val="1F2937"/>
                </a:solidFill>
                <a:latin typeface="Calibri"/>
              </a:rPr>
              <a:t>▸  Diqqat: is gazi ≠ karbonat angidrid — tuzilishi o‘xshash bo‘lsa-da, toksikligi bir xil emas.</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Ta’sir etuvchi omillar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Zaharli modda</a:t>
            </a:r>
          </a:p>
          <a:p>
            <a:pPr algn="l">
              <a:spcAft>
                <a:spcPts val="0"/>
              </a:spcAft>
            </a:pPr>
            <a:r>
              <a:rPr sz="1200" b="0">
                <a:solidFill>
                  <a:srgbClr val="1F2937"/>
                </a:solidFill>
                <a:latin typeface="Calibri"/>
              </a:rPr>
              <a:t>Kimyoviy tuzilish  ·  Doza, eruvchanlik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Organizm</a:t>
            </a:r>
          </a:p>
          <a:p>
            <a:pPr algn="l">
              <a:spcAft>
                <a:spcPts val="0"/>
              </a:spcAft>
            </a:pPr>
            <a:r>
              <a:rPr sz="1200" b="0">
                <a:solidFill>
                  <a:srgbClr val="1F2937"/>
                </a:solidFill>
                <a:latin typeface="Calibri"/>
              </a:rPr>
              <a:t>Vazn, yosh  ·  Salomatlik, genetika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Kirish yo‘li</a:t>
            </a:r>
          </a:p>
          <a:p>
            <a:pPr algn="l">
              <a:spcAft>
                <a:spcPts val="0"/>
              </a:spcAft>
            </a:pPr>
            <a:r>
              <a:rPr sz="1200" b="0">
                <a:solidFill>
                  <a:srgbClr val="1F2937"/>
                </a:solidFill>
                <a:latin typeface="Calibri"/>
              </a:rPr>
              <a:t>Teri, og‘iz, nafas  ·  To‘g‘ri ichak, in’eksiya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sharoit</a:t>
            </a:r>
          </a:p>
          <a:p>
            <a:pPr algn="l">
              <a:spcAft>
                <a:spcPts val="0"/>
              </a:spcAft>
            </a:pPr>
            <a:r>
              <a:rPr sz="1200" b="0">
                <a:solidFill>
                  <a:srgbClr val="1F2937"/>
                </a:solidFill>
                <a:latin typeface="Calibri"/>
              </a:rPr>
              <a:t>Yopiq, issiq, nam muhit  ·  Alkogol, is gazi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Zaharlanishga ta’sir etuvchi to‘rt omil guruhi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135, 132–133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Zaharli modda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Moddaning kimyoviy tuzilishi xususiyatini belgilaydi. Is gazi va karbonat angidrid ikkalasi uglerod va kisloroddan iborat, lekin toksikligi bir xil emas.</a:t>
            </a:r>
          </a:p>
          <a:p>
            <a:pPr>
              <a:spcAft>
                <a:spcPts val="1200"/>
              </a:spcAft>
            </a:pPr>
            <a:r>
              <a:rPr sz="2000">
                <a:solidFill>
                  <a:srgbClr val="1F2937"/>
                </a:solidFill>
                <a:latin typeface="Calibri"/>
              </a:rPr>
              <a:t>▸  Doza va konsentratsiya ahamiyatli: dorining terapevtik, toksik, letal dozalari farqlanadi. 3% sirka eritmasini sirka essensiyasi bilan taqqoslab bo‘lmaydi.</a:t>
            </a:r>
          </a:p>
          <a:p>
            <a:pPr>
              <a:spcAft>
                <a:spcPts val="1200"/>
              </a:spcAft>
            </a:pPr>
            <a:r>
              <a:rPr sz="2000">
                <a:solidFill>
                  <a:srgbClr val="1F2937"/>
                </a:solidFill>
                <a:latin typeface="Calibri"/>
              </a:rPr>
              <a:t>▸  Gaz suyuqdan, suyuq qattiqdan kuchliroq ta’sir qiladi, chunki qonga tezroq o‘tadi. Bariy sulfat erimaydi, bariy xlorid esa eriydi va kuchli zahar.</a:t>
            </a:r>
          </a:p>
          <a:p>
            <a:pPr>
              <a:spcAft>
                <a:spcPts val="1200"/>
              </a:spcAft>
            </a:pPr>
            <a:r>
              <a:rPr sz="2000">
                <a:solidFill>
                  <a:srgbClr val="1F2937"/>
                </a:solidFill>
                <a:latin typeface="Calibri"/>
              </a:rPr>
              <a:t>▸  Dorining ta’siri saqlanish muddati va sharoitiga bog‘liq.</a:t>
            </a:r>
          </a:p>
          <a:p>
            <a:pPr>
              <a:spcAft>
                <a:spcPts val="1200"/>
              </a:spcAft>
            </a:pPr>
            <a:r>
              <a:rPr sz="2000">
                <a:solidFill>
                  <a:srgbClr val="1F2937"/>
                </a:solidFill>
                <a:latin typeface="Calibri"/>
              </a:rPr>
              <a:t>▸  Zahar tashuvchi modda (vexikulum) ta’sirni o‘zgartiradi; og‘ir metallar organizmda to‘planadi (kumulyatsiya).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132–133, 133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Tana vazni muhim: bir xil miqdor har xil vaznda bir xil ta’sir qilmaydi, shuning uchun doza 1 kg vaznga hisoblanadi.</a:t>
            </a:r>
          </a:p>
          <a:p>
            <a:pPr>
              <a:spcAft>
                <a:spcPts val="1200"/>
              </a:spcAft>
            </a:pPr>
            <a:r>
              <a:rPr sz="2200">
                <a:solidFill>
                  <a:srgbClr val="1F2937"/>
                </a:solidFill>
                <a:latin typeface="Calibri"/>
              </a:rPr>
              <a:t>▸  Homiladorlikda sezgirlik ortadi, jinsga ko‘ra farq yo‘q.</a:t>
            </a:r>
          </a:p>
          <a:p>
            <a:pPr>
              <a:spcAft>
                <a:spcPts val="1200"/>
              </a:spcAft>
            </a:pPr>
            <a:r>
              <a:rPr sz="2200">
                <a:solidFill>
                  <a:srgbClr val="1F2937"/>
                </a:solidFill>
                <a:latin typeface="Calibri"/>
              </a:rPr>
              <a:t>▸  Bolalar kattalarga nisbatan sezgirroq: vazni kichik, umumiy qarshilik tizimi to‘liq shakllanmagan.</a:t>
            </a:r>
          </a:p>
          <a:p>
            <a:pPr>
              <a:spcAft>
                <a:spcPts val="1200"/>
              </a:spcAft>
            </a:pPr>
            <a:r>
              <a:rPr sz="2200">
                <a:solidFill>
                  <a:srgbClr val="1F2937"/>
                </a:solidFill>
                <a:latin typeface="Calibri"/>
              </a:rPr>
              <a:t>▸  Sog‘lom organizm kuchliroq qarshilik qiladi, yurak, jigar, buyrak kasalligida zaiflashadi.</a:t>
            </a:r>
          </a:p>
          <a:p>
            <a:pPr>
              <a:spcAft>
                <a:spcPts val="1200"/>
              </a:spcAft>
            </a:pPr>
            <a:r>
              <a:rPr sz="2200">
                <a:solidFill>
                  <a:srgbClr val="1F2937"/>
                </a:solidFill>
                <a:latin typeface="Calibri"/>
              </a:rPr>
              <a:t>▸  Oshqozondagi massa zaharning ta’sirini va qonga so‘rilishini o‘zgartiradi.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133–134, 134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yo‘li va tashqi shart-sharoit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teri, og‘iz, nafas yo‘llari, to‘g‘ri ichak yoki in’eksiya orqali kiradi. Qonga qanchalik tez va to‘liq o‘tsa, toksik ta’sir shunchalik kuchli bo‘ladi.</a:t>
            </a:r>
          </a:p>
          <a:p>
            <a:pPr>
              <a:spcAft>
                <a:spcPts val="1200"/>
              </a:spcAft>
            </a:pPr>
            <a:r>
              <a:rPr sz="2200">
                <a:solidFill>
                  <a:srgbClr val="1F2937"/>
                </a:solidFill>
                <a:latin typeface="Calibri"/>
              </a:rPr>
              <a:t>▸  Suvda va yog‘da erimaydigan moddalar faqat mahalliy ta’sir qiladi.</a:t>
            </a:r>
          </a:p>
          <a:p>
            <a:pPr>
              <a:spcAft>
                <a:spcPts val="1200"/>
              </a:spcAft>
            </a:pPr>
            <a:r>
              <a:rPr sz="2200">
                <a:solidFill>
                  <a:srgbClr val="1F2937"/>
                </a:solidFill>
                <a:latin typeface="Calibri"/>
              </a:rPr>
              <a:t>▸  Yog‘da yaxshi eriydiganlar (fosfororganik birikmalar) shilliq qavat va shikastlanmagan teri orqali ham so‘riladi.</a:t>
            </a:r>
          </a:p>
          <a:p>
            <a:pPr>
              <a:spcAft>
                <a:spcPts val="1200"/>
              </a:spcAft>
            </a:pPr>
            <a:r>
              <a:rPr sz="2200">
                <a:solidFill>
                  <a:srgbClr val="1F2937"/>
                </a:solidFill>
                <a:latin typeface="Calibri"/>
              </a:rPr>
              <a:t>▸  Nafas yo‘llari, to‘g‘ri ichak va qin shilliq qavatidan so‘rilgan moddalar jigardan o‘tmaydi.</a:t>
            </a:r>
          </a:p>
          <a:p>
            <a:pPr>
              <a:spcAft>
                <a:spcPts val="1200"/>
              </a:spcAft>
            </a:pPr>
            <a:r>
              <a:rPr sz="2200">
                <a:solidFill>
                  <a:srgbClr val="1F2937"/>
                </a:solidFill>
                <a:latin typeface="Calibri"/>
              </a:rPr>
              <a:t>▸  Shu sabab ular oshqozon-ichakdan so‘rilganlarga nisbatan kuchliroq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134–135, 135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sud-tibbiy diagnostikasi: 3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1-bosqich: hodisa joyi va tibbiy hujjatlar; in’eksiya izi, yot hid, idish va shpritslarga e’tibor beriladi.</a:t>
            </a:r>
          </a:p>
          <a:p>
            <a:pPr>
              <a:spcAft>
                <a:spcPts val="800"/>
              </a:spcAft>
            </a:pPr>
            <a:r>
              <a:rPr sz="1800">
                <a:solidFill>
                  <a:srgbClr val="1F2937"/>
                </a:solidFill>
                <a:latin typeface="Calibri"/>
              </a:rPr>
              <a:t>▸  2-bosqich: murdaning tashqi va ichki tekshiruvi; teri rangi, murda dog‘lari, mushak qotishi baholanadi.</a:t>
            </a:r>
          </a:p>
          <a:p>
            <a:pPr>
              <a:spcAft>
                <a:spcPts val="800"/>
              </a:spcAft>
            </a:pPr>
            <a:r>
              <a:rPr sz="1800">
                <a:solidFill>
                  <a:srgbClr val="1F2937"/>
                </a:solidFill>
                <a:latin typeface="Calibri"/>
              </a:rPr>
              <a:t>▸  3-bosqich: qo‘shimcha laboratoriya tekshiruvlari; eng ko‘p sud-kimyoviy, namuna “uch nuqta” qoidasi bilan olinadi.</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Hodisa joyi, hujjatlar</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Murda tekshiruvi</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Laboratoriya tekshiruvi</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Diagnostika ketma-ketligi</a:t>
            </a:r>
          </a:p>
        </p:txBody>
      </p:sp>
      <p:sp>
        <p:nvSpPr>
          <p:cNvPr id="15" name="TextBox 1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135-136, 136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Murdadagi belgilar: dog‘lar rangi va hid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Sianidda ichki a’zolardan achchiq bodom hidi, sirka kislotasida o‘tkir spetsifik hid seziladi.</a:t>
            </a:r>
          </a:p>
          <a:p>
            <a:pPr>
              <a:spcAft>
                <a:spcPts val="800"/>
              </a:spcAft>
            </a:pPr>
            <a:r>
              <a:rPr sz="1800">
                <a:solidFill>
                  <a:srgbClr val="1F2937"/>
                </a:solidFill>
                <a:latin typeface="Calibri"/>
              </a:rPr>
              <a:t>▸  Strixnin kabi talvasa zaharlarida mushak qotishi tez va kuchli rivojlanadi.</a:t>
            </a:r>
          </a:p>
          <a:p>
            <a:pPr>
              <a:spcAft>
                <a:spcPts val="800"/>
              </a:spcAft>
            </a:pPr>
            <a:r>
              <a:rPr sz="1800">
                <a:solidFill>
                  <a:srgbClr val="1F2937"/>
                </a:solidFill>
                <a:latin typeface="Calibri"/>
              </a:rPr>
              <a:t>▸  Xloral gidrat, kurare, miorelaksantlarda mushak qotishi, aksincha, sust va kuchsiz bo‘ladi.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3214259"/>
                <a:gridCol w="2073715"/>
              </a:tblGrid>
              <a:tr h="614476">
                <a:tc>
                  <a:txBody>
                    <a:bodyPr/>
                    <a:lstStyle/>
                    <a:p>
                      <a:r>
                        <a:rPr sz="1800" b="1">
                          <a:solidFill>
                            <a:srgbClr val="FFFFFF"/>
                          </a:solidFill>
                        </a:rPr>
                        <a:t>Zahar</a:t>
                      </a:r>
                    </a:p>
                  </a:txBody>
                  <a:tcPr marL="73152" marR="73152" marT="36576" marB="36576">
                    <a:solidFill>
                      <a:srgbClr val="0B1F3A"/>
                    </a:solidFill>
                  </a:tcPr>
                </a:tc>
                <a:tc>
                  <a:txBody>
                    <a:bodyPr/>
                    <a:lstStyle/>
                    <a:p>
                      <a:r>
                        <a:rPr sz="1800" b="1">
                          <a:solidFill>
                            <a:srgbClr val="FFFFFF"/>
                          </a:solidFill>
                        </a:rPr>
                        <a:t>Dog‘ rangi</a:t>
                      </a:r>
                    </a:p>
                  </a:txBody>
                  <a:tcPr marL="73152" marR="73152" marT="36576" marB="36576">
                    <a:solidFill>
                      <a:srgbClr val="0B1F3A"/>
                    </a:solidFill>
                  </a:tcPr>
                </a:tc>
              </a:tr>
              <a:tr h="614476">
                <a:tc>
                  <a:txBody>
                    <a:bodyPr/>
                    <a:lstStyle/>
                    <a:p>
                      <a:r>
                        <a:rPr sz="1700" b="0">
                          <a:solidFill>
                            <a:srgbClr val="1F2937"/>
                          </a:solidFill>
                        </a:rPr>
                        <a:t>Is gazi</a:t>
                      </a:r>
                    </a:p>
                  </a:txBody>
                  <a:tcPr marL="73152" marR="73152" marT="36576" marB="36576">
                    <a:solidFill>
                      <a:srgbClr val="E8EEF6"/>
                    </a:solidFill>
                  </a:tcPr>
                </a:tc>
                <a:tc>
                  <a:txBody>
                    <a:bodyPr/>
                    <a:lstStyle/>
                    <a:p>
                      <a:r>
                        <a:rPr sz="1700" b="0">
                          <a:solidFill>
                            <a:srgbClr val="1F2937"/>
                          </a:solidFill>
                        </a:rPr>
                        <a:t>Pushti</a:t>
                      </a:r>
                    </a:p>
                  </a:txBody>
                  <a:tcPr marL="73152" marR="73152" marT="36576" marB="36576">
                    <a:solidFill>
                      <a:srgbClr val="E8EEF6"/>
                    </a:solidFill>
                  </a:tcPr>
                </a:tc>
              </a:tr>
              <a:tr h="614476">
                <a:tc>
                  <a:txBody>
                    <a:bodyPr/>
                    <a:lstStyle/>
                    <a:p>
                      <a:r>
                        <a:rPr sz="1700" b="0">
                          <a:solidFill>
                            <a:srgbClr val="1F2937"/>
                          </a:solidFill>
                        </a:rPr>
                        <a:t>Sianid kislotasi va tuzlari</a:t>
                      </a:r>
                    </a:p>
                  </a:txBody>
                  <a:tcPr marL="73152" marR="73152" marT="36576" marB="36576">
                    <a:solidFill>
                      <a:srgbClr val="FFFFFF"/>
                    </a:solidFill>
                  </a:tcPr>
                </a:tc>
                <a:tc>
                  <a:txBody>
                    <a:bodyPr/>
                    <a:lstStyle/>
                    <a:p>
                      <a:r>
                        <a:rPr sz="1700" b="0">
                          <a:solidFill>
                            <a:srgbClr val="1F2937"/>
                          </a:solidFill>
                        </a:rPr>
                        <a:t>Yorqin olcha rang</a:t>
                      </a:r>
                    </a:p>
                  </a:txBody>
                  <a:tcPr marL="73152" marR="73152" marT="36576" marB="36576">
                    <a:solidFill>
                      <a:srgbClr val="FFFFFF"/>
                    </a:solidFill>
                  </a:tcPr>
                </a:tc>
              </a:tr>
              <a:tr h="614476">
                <a:tc>
                  <a:txBody>
                    <a:bodyPr/>
                    <a:lstStyle/>
                    <a:p>
                      <a:r>
                        <a:rPr sz="1700" b="0">
                          <a:solidFill>
                            <a:srgbClr val="1F2937"/>
                          </a:solidFill>
                        </a:rPr>
                        <a:t>Metgemoglobin hosil qiluvchilar</a:t>
                      </a:r>
                    </a:p>
                  </a:txBody>
                  <a:tcPr marL="73152" marR="73152" marT="36576" marB="36576">
                    <a:solidFill>
                      <a:srgbClr val="E8EEF6"/>
                    </a:solidFill>
                  </a:tcPr>
                </a:tc>
                <a:tc>
                  <a:txBody>
                    <a:bodyPr/>
                    <a:lstStyle/>
                    <a:p>
                      <a:r>
                        <a:rPr sz="1700" b="0">
                          <a:solidFill>
                            <a:srgbClr val="1F2937"/>
                          </a:solidFill>
                        </a:rPr>
                        <a:t>Jigar rang, qo‘ng‘ir</a:t>
                      </a:r>
                    </a:p>
                  </a:txBody>
                  <a:tcPr marL="73152" marR="73152" marT="36576" marB="36576">
                    <a:solidFill>
                      <a:srgbClr val="E8EEF6"/>
                    </a:solidFill>
                  </a:tcPr>
                </a:tc>
              </a:tr>
              <a:tr h="614476">
                <a:tc>
                  <a:txBody>
                    <a:bodyPr/>
                    <a:lstStyle/>
                    <a:p>
                      <a:r>
                        <a:rPr sz="1700" b="0">
                          <a:solidFill>
                            <a:srgbClr val="1F2937"/>
                          </a:solidFill>
                        </a:rPr>
                        <a:t>Gemoliz chaqiruvchilar</a:t>
                      </a:r>
                    </a:p>
                  </a:txBody>
                  <a:tcPr marL="73152" marR="73152" marT="36576" marB="36576">
                    <a:solidFill>
                      <a:srgbClr val="FFFFFF"/>
                    </a:solidFill>
                  </a:tcPr>
                </a:tc>
                <a:tc>
                  <a:txBody>
                    <a:bodyPr/>
                    <a:lstStyle/>
                    <a:p>
                      <a:r>
                        <a:rPr sz="1700" b="0">
                          <a:solidFill>
                            <a:srgbClr val="1F2937"/>
                          </a:solidFill>
                        </a:rPr>
                        <a:t>Sarg‘ish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Murda dog‘lari rangi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“Uch nuqta” qoidasi va material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Zaharlovchi modda ma’lum bo‘lsa, namuna “uch nuqta” qoidasi bo‘yicha olinadi: zahar kirgan, asosan ta’sir etgan va organizmdan chiqqan joydan.</a:t>
            </a:r>
          </a:p>
          <a:p>
            <a:pPr>
              <a:spcAft>
                <a:spcPts val="1200"/>
              </a:spcAft>
            </a:pPr>
            <a:r>
              <a:rPr sz="2000">
                <a:solidFill>
                  <a:srgbClr val="1F2937"/>
                </a:solidFill>
                <a:latin typeface="Calibri"/>
              </a:rPr>
              <a:t>▸  Misol: zahar og‘iz orqali kirib, jigarga ta’sir etsa va siydik bilan chiqsa, oshqozon massasi, jigarning bir qismi va butun buyrak siydik bilan olinadi.</a:t>
            </a:r>
          </a:p>
          <a:p>
            <a:pPr>
              <a:spcAft>
                <a:spcPts val="1200"/>
              </a:spcAft>
            </a:pPr>
            <a:r>
              <a:rPr sz="2000">
                <a:solidFill>
                  <a:srgbClr val="1F2937"/>
                </a:solidFill>
                <a:latin typeface="Calibri"/>
              </a:rPr>
              <a:t>▸  Manba noma’lum bo‘lsa olinadi: bosh miyaning uchdan biri, o‘pkaning to‘rtdan biri, jigarning uchdan biri o‘t qopi va o‘t bilan, butun buyrak siydik bilan.</a:t>
            </a:r>
          </a:p>
          <a:p>
            <a:pPr>
              <a:spcAft>
                <a:spcPts val="1200"/>
              </a:spcAft>
            </a:pPr>
            <a:r>
              <a:rPr sz="2000">
                <a:solidFill>
                  <a:srgbClr val="1F2937"/>
                </a:solidFill>
                <a:latin typeface="Calibri"/>
              </a:rPr>
              <a:t>▸  Yana oshqozon massasi, bir metr ingichka va yo‘g‘on ichak, 100–200 ml qon (har biri alohida idishda). Chuqur chirishda 1,5–2,0 kg “o‘rta sinama”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Toksikokinetika: zaharning kirishi, taqsimlanishi, metabolizmi va chiqarilishi jarayonlari majmui.</a:t>
            </a:r>
          </a:p>
          <a:p>
            <a:pPr>
              <a:spcAft>
                <a:spcPts val="800"/>
              </a:spcAft>
            </a:pPr>
            <a:r>
              <a:rPr sz="1800">
                <a:solidFill>
                  <a:srgbClr val="1F2937"/>
                </a:solidFill>
                <a:latin typeface="Calibri"/>
              </a:rPr>
              <a:t>▸  Biotransformatsiya asosan jigarda: oksidlanish, qaytarilish, gidroliz, sintez; toksiklik o‘zgarishi mumkin.</a:t>
            </a:r>
          </a:p>
          <a:p>
            <a:pPr>
              <a:spcAft>
                <a:spcPts val="800"/>
              </a:spcAft>
            </a:pPr>
            <a:r>
              <a:rPr sz="1800">
                <a:solidFill>
                  <a:srgbClr val="1F2937"/>
                </a:solidFill>
                <a:latin typeface="Calibri"/>
              </a:rPr>
              <a:t>▸  Toksikodinamikada birlamchi, keyingi va metatoksik ta’sirlar farqlanadi; sirka kislotasida kuyish, gemoliz, gepatit.</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Organizmga kirish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Taqsimlanish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Biotransformatsiya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Chiqarilish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Toksikokinetika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136-137, 137, 138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Metanol va etilenglikol metabolitlari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Metanol va etilenglikolning o‘zidan ko‘ra, oksidlanganda hosil bo‘ladigan metabolitlari kuchliroq zaharli.</a:t>
            </a:r>
          </a:p>
          <a:p>
            <a:pPr>
              <a:spcAft>
                <a:spcPts val="800"/>
              </a:spcAft>
            </a:pPr>
            <a:r>
              <a:rPr sz="1800">
                <a:solidFill>
                  <a:srgbClr val="1F2937"/>
                </a:solidFill>
                <a:latin typeface="Calibri"/>
              </a:rPr>
              <a:t>▸  Metanolning butun molekulasi kuchsiz narkotik; kardio-, nefro-, neyrotoksik o‘zgarishlar formaldegid ta’siri.</a:t>
            </a:r>
          </a:p>
          <a:p>
            <a:pPr>
              <a:spcAft>
                <a:spcPts val="800"/>
              </a:spcAft>
            </a:pPr>
            <a:r>
              <a:rPr sz="1800">
                <a:solidFill>
                  <a:srgbClr val="1F2937"/>
                </a:solidFill>
                <a:latin typeface="Calibri"/>
              </a:rPr>
              <a:t>▸  Etilenglikol narkotik ta’sir etadi; metaboliti oksalat kislotasi jigar va buyrakni zaharlaydi.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Metil spirti</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Metabolit: formaldegid</a:t>
            </a:r>
          </a:p>
          <a:p>
            <a:pPr algn="l">
              <a:spcAft>
                <a:spcPts val="700"/>
              </a:spcAft>
            </a:pPr>
            <a:r>
              <a:rPr sz="1500" b="1">
                <a:solidFill>
                  <a:srgbClr val="C9A227"/>
                </a:solidFill>
                <a:latin typeface="Calibri"/>
              </a:rPr>
              <a:t>●  </a:t>
            </a:r>
            <a:r>
              <a:rPr sz="1500" b="0">
                <a:solidFill>
                  <a:srgbClr val="1F2937"/>
                </a:solidFill>
                <a:latin typeface="Calibri"/>
              </a:rPr>
              <a:t>Kardio-, nefro-, neyrotoksik</a:t>
            </a:r>
          </a:p>
          <a:p>
            <a:pPr algn="l">
              <a:spcAft>
                <a:spcPts val="700"/>
              </a:spcAft>
            </a:pPr>
            <a:r>
              <a:rPr sz="1500" b="1">
                <a:solidFill>
                  <a:srgbClr val="C9A227"/>
                </a:solidFill>
                <a:latin typeface="Calibri"/>
              </a:rPr>
              <a:t>●  </a:t>
            </a:r>
            <a:r>
              <a:rPr sz="1500" b="0">
                <a:solidFill>
                  <a:srgbClr val="1F2937"/>
                </a:solidFill>
                <a:latin typeface="Calibri"/>
              </a:rPr>
              <a:t>Metabolit: chumoli kislotasi</a:t>
            </a:r>
          </a:p>
          <a:p>
            <a:pPr algn="l">
              <a:spcAft>
                <a:spcPts val="700"/>
              </a:spcAft>
            </a:pPr>
            <a:r>
              <a:rPr sz="1500" b="1">
                <a:solidFill>
                  <a:srgbClr val="C9A227"/>
                </a:solidFill>
                <a:latin typeface="Calibri"/>
              </a:rPr>
              <a:t>●  </a:t>
            </a:r>
            <a:r>
              <a:rPr sz="1500" b="0">
                <a:solidFill>
                  <a:srgbClr val="1F2937"/>
                </a:solidFill>
                <a:latin typeface="Calibri"/>
              </a:rPr>
              <a:t>Atsidoz, to‘qima nafasi buziladi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Etilenglikol</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Metabolit: oksalat kislotasi</a:t>
            </a:r>
          </a:p>
          <a:p>
            <a:pPr algn="l">
              <a:spcAft>
                <a:spcPts val="700"/>
              </a:spcAft>
            </a:pPr>
            <a:r>
              <a:rPr sz="1500" b="1">
                <a:solidFill>
                  <a:srgbClr val="C9A227"/>
                </a:solidFill>
                <a:latin typeface="Calibri"/>
              </a:rPr>
              <a:t>●  </a:t>
            </a:r>
            <a:r>
              <a:rPr sz="1500" b="0">
                <a:solidFill>
                  <a:srgbClr val="1F2937"/>
                </a:solidFill>
                <a:latin typeface="Calibri"/>
              </a:rPr>
              <a:t>Gepato- va nefrotoksik</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Etil spirti</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Metabolit: atsetaldegid</a:t>
            </a:r>
          </a:p>
          <a:p>
            <a:pPr algn="l">
              <a:spcAft>
                <a:spcPts val="700"/>
              </a:spcAft>
            </a:pPr>
            <a:r>
              <a:rPr sz="1500" b="1">
                <a:solidFill>
                  <a:srgbClr val="C9A227"/>
                </a:solidFill>
                <a:latin typeface="Calibri"/>
              </a:rPr>
              <a:t>●  </a:t>
            </a:r>
            <a:r>
              <a:rPr sz="1500" b="0">
                <a:solidFill>
                  <a:srgbClr val="1F2937"/>
                </a:solidFill>
                <a:latin typeface="Calibri"/>
              </a:rPr>
              <a:t>Bosh og‘rig‘i, qusish (“poxmele”)</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Spirtlar metabolitlari va ta’siri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137, 138, 161, 138, 162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sirka kislotasi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jabrlanganga sirka kislotasi ichirilgan. Og‘iz bo‘shlig‘i, qizilo‘ngach va oshqozon shilliq qavatlari kimyoviy kuygan (birlamchi ta’sir).</a:t>
            </a:r>
          </a:p>
          <a:p>
            <a:pPr>
              <a:spcAft>
                <a:spcPts val="1200"/>
              </a:spcAft>
            </a:pPr>
            <a:r>
              <a:rPr sz="2200">
                <a:solidFill>
                  <a:srgbClr val="1F2937"/>
                </a:solidFill>
                <a:latin typeface="Calibri"/>
              </a:rPr>
              <a:t>▸  Keyinchalik atsidoz tufayli eritrotsitlar gemolizi rivojlangan. Bu keyingi toksik ta’sir hisoblanadi.</a:t>
            </a:r>
          </a:p>
          <a:p>
            <a:pPr>
              <a:spcAft>
                <a:spcPts val="1200"/>
              </a:spcAft>
            </a:pPr>
            <a:r>
              <a:rPr sz="2200">
                <a:solidFill>
                  <a:srgbClr val="1F2937"/>
                </a:solidFill>
                <a:latin typeface="Calibri"/>
              </a:rPr>
              <a:t>▸  Ma’lum vaqt o‘tgach toksik gepatit va toksik nefroz paydo bo‘lgan. Bu metatoksik ta’sirdir.</a:t>
            </a:r>
          </a:p>
          <a:p>
            <a:pPr>
              <a:spcAft>
                <a:spcPts val="1200"/>
              </a:spcAft>
            </a:pPr>
            <a:r>
              <a:rPr sz="2200">
                <a:solidFill>
                  <a:srgbClr val="1F2937"/>
                </a:solidFill>
                <a:latin typeface="Calibri"/>
              </a:rPr>
              <a:t>▸  Savol: har bir bosqichni qaysi ta’sir turiga kiritasiz va nima uchun? Diqqat: birlamchi ≠ metatoksik ta’sir.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Popov tasnifi bo‘yicha zaharlar asosan mahalliy va asosan umumiy ta’sir etuvchilarga bo‘linadi.</a:t>
            </a:r>
          </a:p>
          <a:p>
            <a:pPr>
              <a:spcAft>
                <a:spcPts val="800"/>
              </a:spcAft>
            </a:pPr>
            <a:r>
              <a:rPr sz="1800">
                <a:solidFill>
                  <a:srgbClr val="1F2937"/>
                </a:solidFill>
                <a:latin typeface="Calibri"/>
              </a:rPr>
              <a:t>▸  Umumiy ta’sirlilar qonga so‘rilgach ta’sir qiladi, shuning uchun ularni rezorbtiv zaharlar ham deyishadi.</a:t>
            </a:r>
          </a:p>
          <a:p>
            <a:pPr>
              <a:spcAft>
                <a:spcPts val="800"/>
              </a:spcAft>
            </a:pPr>
            <a:r>
              <a:rPr sz="1800">
                <a:solidFill>
                  <a:srgbClr val="1F2937"/>
                </a:solidFill>
                <a:latin typeface="Calibri"/>
              </a:rPr>
              <a:t>▸  Rezorbtiv zaharlar destruktiv, gemotrop (qon) va funksional guruhlarga ajratiladi.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Zaharlar tasnifi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Mahalliy</a:t>
            </a:r>
          </a:p>
          <a:p>
            <a:pPr algn="l">
              <a:spcAft>
                <a:spcPts val="0"/>
              </a:spcAft>
            </a:pPr>
            <a:r>
              <a:rPr sz="1200" b="0">
                <a:solidFill>
                  <a:srgbClr val="1F2937"/>
                </a:solidFill>
                <a:latin typeface="Calibri"/>
              </a:rPr>
              <a:t>Kontakt joyida nekroz  ·  Kislota, ishqor, permanganat</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Destruktiv</a:t>
            </a:r>
          </a:p>
          <a:p>
            <a:pPr algn="l">
              <a:spcAft>
                <a:spcPts val="0"/>
              </a:spcAft>
            </a:pPr>
            <a:r>
              <a:rPr sz="1200" b="0">
                <a:solidFill>
                  <a:srgbClr val="1F2937"/>
                </a:solidFill>
                <a:latin typeface="Calibri"/>
              </a:rPr>
              <a:t>To‘qima strukturasi buziladi  ·  Simob, qo‘rg‘oshin, margimush</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Gemotrop</a:t>
            </a:r>
          </a:p>
          <a:p>
            <a:pPr algn="l">
              <a:spcAft>
                <a:spcPts val="0"/>
              </a:spcAft>
            </a:pPr>
            <a:r>
              <a:rPr sz="1200" b="0">
                <a:solidFill>
                  <a:srgbClr val="1F2937"/>
                </a:solidFill>
                <a:latin typeface="Calibri"/>
              </a:rPr>
              <a:t>Qon tarkibiga ta’sir  ·  Is gazi, arsin, dikumarin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Funksional</a:t>
            </a:r>
          </a:p>
          <a:p>
            <a:pPr algn="l">
              <a:spcAft>
                <a:spcPts val="0"/>
              </a:spcAft>
            </a:pPr>
            <a:r>
              <a:rPr sz="1200" b="0">
                <a:solidFill>
                  <a:srgbClr val="1F2937"/>
                </a:solidFill>
                <a:latin typeface="Calibri"/>
              </a:rPr>
              <a:t>Nerv faoliyati buziladi  ·  Sianid, strixnin, spirt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Zaharlarning sud-tibbiy guruhlari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138-139, 138, 138-140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O‘yuvchi moddalar: kislotalar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Erkin vodorod ionlari to‘qimani suvsizlantirib, oqsilni ivitadi: koagulyatsion (quruq) nekroz va qo‘ng‘ir-qora quruq strup hosil bo‘ladi.</a:t>
            </a:r>
          </a:p>
          <a:p>
            <a:pPr>
              <a:spcAft>
                <a:spcPts val="1200"/>
              </a:spcAft>
            </a:pPr>
            <a:r>
              <a:rPr sz="2200">
                <a:solidFill>
                  <a:srgbClr val="1F2937"/>
                </a:solidFill>
                <a:latin typeface="Calibri"/>
              </a:rPr>
              <a:t>▸  Klinika: qizilo‘ngach va oshqozonda kuchli og‘riq, qonli qusuq. Dastlabki soatlarda shok, asfiksiya yoki ichki qon ketishdan o‘lim mumkin.</a:t>
            </a:r>
          </a:p>
          <a:p>
            <a:pPr>
              <a:spcAft>
                <a:spcPts val="1200"/>
              </a:spcAft>
            </a:pPr>
            <a:r>
              <a:rPr sz="2200">
                <a:solidFill>
                  <a:srgbClr val="1F2937"/>
                </a:solidFill>
                <a:latin typeface="Calibri"/>
              </a:rPr>
              <a:t>▸  Letal doza: sulfat va nitrat kislota 5–10 ml, xlorid 15–20 ml, sirka essensiyasi 20–40 ml, karbol kislota 10–30 ml.</a:t>
            </a:r>
          </a:p>
          <a:p>
            <a:pPr>
              <a:spcAft>
                <a:spcPts val="1200"/>
              </a:spcAft>
            </a:pPr>
            <a:r>
              <a:rPr sz="2200">
                <a:solidFill>
                  <a:srgbClr val="1F2937"/>
                </a:solidFill>
                <a:latin typeface="Calibri"/>
              </a:rPr>
              <a:t>▸  Murdada og‘iz atrofida pergamentdek zich sarg‘ish-kulrang oqmalar bor. Sulfat kislotada oshqozon shilliq qavati qo‘ng‘ir-qora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140-141, 141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Sirka kislotasi va fenol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Sirka kislotasi mahalliy kuyishdan tashqari rezorbtiv, ayniqsa gemolitik ta’sir ko‘rsatadi.</a:t>
            </a:r>
          </a:p>
          <a:p>
            <a:pPr>
              <a:spcAft>
                <a:spcPts val="1200"/>
              </a:spcAft>
            </a:pPr>
            <a:r>
              <a:rPr sz="2200">
                <a:solidFill>
                  <a:srgbClr val="1F2937"/>
                </a:solidFill>
                <a:latin typeface="Calibri"/>
              </a:rPr>
              <a:t>▸  Gemoliz gemoglobinuriyali nefrozga va o‘tkir buyrak yetishmovchiligiga olib keladi.</a:t>
            </a:r>
          </a:p>
          <a:p>
            <a:pPr>
              <a:spcAft>
                <a:spcPts val="1200"/>
              </a:spcAft>
            </a:pPr>
            <a:r>
              <a:rPr sz="2200">
                <a:solidFill>
                  <a:srgbClr val="1F2937"/>
                </a:solidFill>
                <a:latin typeface="Calibri"/>
              </a:rPr>
              <a:t>▸  Dastlab o‘lim ekzotoksik shok yoki hiqildoq shishishidan kelib chiqqan asfiksiyadan bo‘ladi. Keyin ichki qon ketish, buyrak yetishmovchiligi, pnevmoniya.</a:t>
            </a:r>
          </a:p>
          <a:p>
            <a:pPr>
              <a:spcAft>
                <a:spcPts val="1200"/>
              </a:spcAft>
            </a:pPr>
            <a:r>
              <a:rPr sz="2200">
                <a:solidFill>
                  <a:srgbClr val="1F2937"/>
                </a:solidFill>
                <a:latin typeface="Calibri"/>
              </a:rPr>
              <a:t>▸  Murdada o‘tkir sirka hidi seziladi.</a:t>
            </a:r>
          </a:p>
          <a:p>
            <a:pPr>
              <a:spcAft>
                <a:spcPts val="1200"/>
              </a:spcAft>
            </a:pPr>
            <a:r>
              <a:rPr sz="2200">
                <a:solidFill>
                  <a:srgbClr val="1F2937"/>
                </a:solidFill>
                <a:latin typeface="Calibri"/>
              </a:rPr>
              <a:t>▸  Fenol (90% li eritmasi — karbol kislotasi) butun molekulasi bilan ta’sir qiladigan kuchli nerv-protoplazmatik zahar.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Ishqorlar, ammoniy gidroksid va boshqa o‘yuvchilar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Ishqorlar to‘qima oqsilini eritib, kollikvatsion nekroz beradi. Soha ushlab ko‘rilganda yumshoq, shishgan, sirpanuvchan bo‘ladi.</a:t>
            </a:r>
          </a:p>
          <a:p>
            <a:pPr>
              <a:spcAft>
                <a:spcPts val="800"/>
              </a:spcAft>
            </a:pPr>
            <a:r>
              <a:rPr sz="1800">
                <a:solidFill>
                  <a:srgbClr val="1F2937"/>
                </a:solidFill>
                <a:latin typeface="Calibri"/>
              </a:rPr>
              <a:t>▸  Nashatir spirtining mahalliy ta’siri kuchsiz, lekin qonga so‘rilib, nafas markazini buzadi. Alkogol bilan birga ichilsa xavfli.</a:t>
            </a:r>
          </a:p>
          <a:p>
            <a:pPr>
              <a:spcAft>
                <a:spcPts val="800"/>
              </a:spcAft>
            </a:pPr>
            <a:r>
              <a:rPr sz="1800">
                <a:solidFill>
                  <a:srgbClr val="1F2937"/>
                </a:solidFill>
                <a:latin typeface="Calibri"/>
              </a:rPr>
              <a:t>▸  Letal doza: kaliy va natriy gidroksid 10-15 g, ammoniy gidroksid (nashatir spirti) 25-40 ml.</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1668477"/>
                <a:gridCol w="1927859"/>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Xos belgi</a:t>
                      </a:r>
                    </a:p>
                  </a:txBody>
                  <a:tcPr marL="73152" marR="73152" marT="36576" marB="36576">
                    <a:solidFill>
                      <a:srgbClr val="0B1F3A"/>
                    </a:solidFill>
                  </a:tcPr>
                </a:tc>
                <a:tc>
                  <a:txBody>
                    <a:bodyPr/>
                    <a:lstStyle/>
                    <a:p>
                      <a:r>
                        <a:rPr sz="1600" b="1">
                          <a:solidFill>
                            <a:srgbClr val="FFFFFF"/>
                          </a:solidFill>
                        </a:rPr>
                        <a:t>Letal doza</a:t>
                      </a:r>
                    </a:p>
                  </a:txBody>
                  <a:tcPr marL="73152" marR="73152" marT="36576" marB="36576">
                    <a:solidFill>
                      <a:srgbClr val="0B1F3A"/>
                    </a:solidFill>
                  </a:tcPr>
                </a:tc>
              </a:tr>
              <a:tr h="614476">
                <a:tc>
                  <a:txBody>
                    <a:bodyPr/>
                    <a:lstStyle/>
                    <a:p>
                      <a:r>
                        <a:rPr sz="1500" b="0">
                          <a:solidFill>
                            <a:srgbClr val="1F2937"/>
                          </a:solidFill>
                        </a:rPr>
                        <a:t>Formalin (37-40%)</a:t>
                      </a:r>
                    </a:p>
                  </a:txBody>
                  <a:tcPr marL="73152" marR="73152" marT="36576" marB="36576">
                    <a:solidFill>
                      <a:srgbClr val="E8EEF6"/>
                    </a:solidFill>
                  </a:tcPr>
                </a:tc>
                <a:tc>
                  <a:txBody>
                    <a:bodyPr/>
                    <a:lstStyle/>
                    <a:p>
                      <a:r>
                        <a:rPr sz="1500" b="0">
                          <a:solidFill>
                            <a:srgbClr val="1F2937"/>
                          </a:solidFill>
                        </a:rPr>
                        <a:t>Shilliq qavat fiksatsiyalangan</a:t>
                      </a:r>
                    </a:p>
                  </a:txBody>
                  <a:tcPr marL="73152" marR="73152" marT="36576" marB="36576">
                    <a:solidFill>
                      <a:srgbClr val="E8EEF6"/>
                    </a:solidFill>
                  </a:tcPr>
                </a:tc>
                <a:tc>
                  <a:txBody>
                    <a:bodyPr/>
                    <a:lstStyle/>
                    <a:p>
                      <a:r>
                        <a:rPr sz="1500" b="0">
                          <a:solidFill>
                            <a:srgbClr val="1F2937"/>
                          </a:solidFill>
                        </a:rPr>
                        <a:t>Manbada ko‘rsatilmagan</a:t>
                      </a:r>
                    </a:p>
                  </a:txBody>
                  <a:tcPr marL="73152" marR="73152" marT="36576" marB="36576">
                    <a:solidFill>
                      <a:srgbClr val="E8EEF6"/>
                    </a:solidFill>
                  </a:tcPr>
                </a:tc>
              </a:tr>
              <a:tr h="614476">
                <a:tc>
                  <a:txBody>
                    <a:bodyPr/>
                    <a:lstStyle/>
                    <a:p>
                      <a:r>
                        <a:rPr sz="1500" b="0">
                          <a:solidFill>
                            <a:srgbClr val="1F2937"/>
                          </a:solidFill>
                        </a:rPr>
                        <a:t>Kaliy permanganat</a:t>
                      </a:r>
                    </a:p>
                  </a:txBody>
                  <a:tcPr marL="73152" marR="73152" marT="36576" marB="36576">
                    <a:solidFill>
                      <a:srgbClr val="FFFFFF"/>
                    </a:solidFill>
                  </a:tcPr>
                </a:tc>
                <a:tc>
                  <a:txBody>
                    <a:bodyPr/>
                    <a:lstStyle/>
                    <a:p>
                      <a:r>
                        <a:rPr sz="1500" b="0">
                          <a:solidFill>
                            <a:srgbClr val="1F2937"/>
                          </a:solidFill>
                        </a:rPr>
                        <a:t>Jigarrang-qizgish strup</a:t>
                      </a:r>
                    </a:p>
                  </a:txBody>
                  <a:tcPr marL="73152" marR="73152" marT="36576" marB="36576">
                    <a:solidFill>
                      <a:srgbClr val="FFFFFF"/>
                    </a:solidFill>
                  </a:tcPr>
                </a:tc>
                <a:tc>
                  <a:txBody>
                    <a:bodyPr/>
                    <a:lstStyle/>
                    <a:p>
                      <a:r>
                        <a:rPr sz="1500" b="0">
                          <a:solidFill>
                            <a:srgbClr val="1F2937"/>
                          </a:solidFill>
                        </a:rPr>
                        <a:t>15-20 g, og‘iz orqali</a:t>
                      </a:r>
                    </a:p>
                  </a:txBody>
                  <a:tcPr marL="73152" marR="73152" marT="36576" marB="36576">
                    <a:solidFill>
                      <a:srgbClr val="FFFFFF"/>
                    </a:solidFill>
                  </a:tcPr>
                </a:tc>
              </a:tr>
              <a:tr h="614476">
                <a:tc>
                  <a:txBody>
                    <a:bodyPr/>
                    <a:lstStyle/>
                    <a:p>
                      <a:r>
                        <a:rPr sz="1500" b="0">
                          <a:solidFill>
                            <a:srgbClr val="1F2937"/>
                          </a:solidFill>
                        </a:rPr>
                        <a:t>Vodorod peroksid</a:t>
                      </a:r>
                    </a:p>
                  </a:txBody>
                  <a:tcPr marL="73152" marR="73152" marT="36576" marB="36576">
                    <a:solidFill>
                      <a:srgbClr val="E8EEF6"/>
                    </a:solidFill>
                  </a:tcPr>
                </a:tc>
                <a:tc>
                  <a:txBody>
                    <a:bodyPr/>
                    <a:lstStyle/>
                    <a:p>
                      <a:r>
                        <a:rPr sz="1500" b="0">
                          <a:solidFill>
                            <a:srgbClr val="1F2937"/>
                          </a:solidFill>
                        </a:rPr>
                        <a:t>Shilliq qavat oqimtir, ko‘piklangan</a:t>
                      </a:r>
                    </a:p>
                  </a:txBody>
                  <a:tcPr marL="73152" marR="73152" marT="36576" marB="36576">
                    <a:solidFill>
                      <a:srgbClr val="E8EEF6"/>
                    </a:solidFill>
                  </a:tcPr>
                </a:tc>
                <a:tc>
                  <a:txBody>
                    <a:bodyPr/>
                    <a:lstStyle/>
                    <a:p>
                      <a:r>
                        <a:rPr sz="1500" b="0">
                          <a:solidFill>
                            <a:srgbClr val="1F2937"/>
                          </a:solidFill>
                        </a:rPr>
                        <a:t>33% li eritmadan 100 ml</a:t>
                      </a:r>
                    </a:p>
                  </a:txBody>
                  <a:tcPr marL="73152" marR="73152" marT="36576" marB="36576">
                    <a:solidFill>
                      <a:srgbClr val="E8EEF6"/>
                    </a:solidFill>
                  </a:tcPr>
                </a:tc>
              </a:tr>
              <a:tr h="614476">
                <a:tc>
                  <a:txBody>
                    <a:bodyPr/>
                    <a:lstStyle/>
                    <a:p>
                      <a:r>
                        <a:rPr sz="1500" b="0">
                          <a:solidFill>
                            <a:srgbClr val="1F2937"/>
                          </a:solidFill>
                        </a:rPr>
                        <a:t>Yod preparatlari</a:t>
                      </a:r>
                    </a:p>
                  </a:txBody>
                  <a:tcPr marL="73152" marR="73152" marT="36576" marB="36576">
                    <a:solidFill>
                      <a:srgbClr val="FFFFFF"/>
                    </a:solidFill>
                  </a:tcPr>
                </a:tc>
                <a:tc>
                  <a:txBody>
                    <a:bodyPr/>
                    <a:lstStyle/>
                    <a:p>
                      <a:r>
                        <a:rPr sz="1500" b="0">
                          <a:solidFill>
                            <a:srgbClr val="1F2937"/>
                          </a:solidFill>
                        </a:rPr>
                        <a:t>Qo‘ng‘ir rangdagi strup</a:t>
                      </a:r>
                    </a:p>
                  </a:txBody>
                  <a:tcPr marL="73152" marR="73152" marT="36576" marB="36576">
                    <a:solidFill>
                      <a:srgbClr val="FFFFFF"/>
                    </a:solidFill>
                  </a:tcPr>
                </a:tc>
                <a:tc>
                  <a:txBody>
                    <a:bodyPr/>
                    <a:lstStyle/>
                    <a:p>
                      <a:r>
                        <a:rPr sz="1500" b="0">
                          <a:solidFill>
                            <a:srgbClr val="1F2937"/>
                          </a:solidFill>
                        </a:rPr>
                        <a:t>Manbada ko‘rsatilmagan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Boshqa o‘yuvchi moddalar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143, 142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o‘yuvchi 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kislota va ishqor nekrozi nimasi bilan farq qiladi? Javob: kislotada koagulyasion (quruq) nekroz, ishqorda kollikvatsion, yumshoq va sirpanuvchan nekroz.</a:t>
            </a:r>
          </a:p>
          <a:p>
            <a:pPr>
              <a:spcAft>
                <a:spcPts val="1200"/>
              </a:spcAft>
            </a:pPr>
            <a:r>
              <a:rPr sz="2200">
                <a:solidFill>
                  <a:srgbClr val="1F2937"/>
                </a:solidFill>
                <a:latin typeface="Calibri"/>
              </a:rPr>
              <a:t>▸  Savol: konsentrlangan sulfat va nitrat kislotasining letal dozasi? Javob: 5-10 ml. Xlorid kislotasi uchun 15-20 ml.</a:t>
            </a:r>
          </a:p>
          <a:p>
            <a:pPr>
              <a:spcAft>
                <a:spcPts val="1200"/>
              </a:spcAft>
            </a:pPr>
            <a:r>
              <a:rPr sz="2200">
                <a:solidFill>
                  <a:srgbClr val="1F2937"/>
                </a:solidFill>
                <a:latin typeface="Calibri"/>
              </a:rPr>
              <a:t>▸  Savol: sirka essensiyasi (40-80%) va karbol kislotasining letal dozasi? Javob: sirka essensiyasi 20-40 ml, karbol kislotasi 10-30 ml.</a:t>
            </a:r>
          </a:p>
          <a:p>
            <a:pPr>
              <a:spcAft>
                <a:spcPts val="1200"/>
              </a:spcAft>
            </a:pPr>
            <a:r>
              <a:rPr sz="2200">
                <a:solidFill>
                  <a:srgbClr val="1F2937"/>
                </a:solidFill>
                <a:latin typeface="Calibri"/>
              </a:rPr>
              <a:t>▸  Savol: kaliy permanganat va nashatir spirtining letal dozasi? Javob: kaliy permanganat 15-20 g (og‘iz orqali), nashatir spirti 25-40 ml.</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140, 143, 141, 142, 144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Destruktiv zaharlar: simob birikmalari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Sof simob metalli ichilganda erimasligi sababli zaharlamaydi, lekin mayda dispers yoki bug‘ holatida nafas yo‘llari orqali kuchli zaharlaydi.</a:t>
            </a:r>
          </a:p>
          <a:p>
            <a:pPr>
              <a:spcAft>
                <a:spcPts val="1200"/>
              </a:spcAft>
            </a:pPr>
            <a:r>
              <a:rPr sz="2200">
                <a:solidFill>
                  <a:srgbClr val="1F2937"/>
                </a:solidFill>
                <a:latin typeface="Calibri"/>
              </a:rPr>
              <a:t>▸  Sulema (simob dixlorid) suvda yaxshi eriydi, antiseptik sifatida ishlatiladi. Oqsillar bilan simob albuminatlari hosil qilib, hujayra almashinuvini buzadi.</a:t>
            </a:r>
          </a:p>
          <a:p>
            <a:pPr>
              <a:spcAft>
                <a:spcPts val="1200"/>
              </a:spcAft>
            </a:pPr>
            <a:r>
              <a:rPr sz="2200">
                <a:solidFill>
                  <a:srgbClr val="1F2937"/>
                </a:solidFill>
                <a:latin typeface="Calibri"/>
              </a:rPr>
              <a:t>▸  Murdada yo‘g‘on ichakda iflos-kulrang yaralar (“sulema dizenteriyasi”), buyrak kattalashgan, po‘stloq qavati qalin (“sulema buyragi”).</a:t>
            </a:r>
          </a:p>
          <a:p>
            <a:pPr>
              <a:spcAft>
                <a:spcPts val="1200"/>
              </a:spcAft>
            </a:pPr>
            <a:r>
              <a:rPr sz="2200">
                <a:solidFill>
                  <a:srgbClr val="1F2937"/>
                </a:solidFill>
                <a:latin typeface="Calibri"/>
              </a:rPr>
              <a:t>▸  Organik simob (granozan, merkuzan) odatda surunkali zaharlaydi: stomatit yo‘q, buyrak va ichak kuchsizroq, neyrotoksik ta’sir kuchliroq.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145, 146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Qo‘rg‘oshin, talliy va margimush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Qo‘rg‘oshinda nerv tizimi jiddiyroq, ichak va buyrak kuchsizroq shikastlanadi; kamqonlik rivojlanadi.</a:t>
            </a:r>
          </a:p>
          <a:p>
            <a:pPr>
              <a:spcAft>
                <a:spcPts val="800"/>
              </a:spcAft>
            </a:pPr>
            <a:r>
              <a:rPr sz="1800">
                <a:solidFill>
                  <a:srgbClr val="1F2937"/>
                </a:solidFill>
                <a:latin typeface="Calibri"/>
              </a:rPr>
              <a:t>▸  Margimushning oshqozon-ichak turida qusish, vabosimon ich ketishi bo‘ladi; o‘lim 1–2-kunda.</a:t>
            </a:r>
          </a:p>
          <a:p>
            <a:pPr>
              <a:spcAft>
                <a:spcPts val="800"/>
              </a:spcAft>
            </a:pPr>
            <a:r>
              <a:rPr sz="1800">
                <a:solidFill>
                  <a:srgbClr val="1F2937"/>
                </a:solidFill>
                <a:latin typeface="Calibri"/>
              </a:rPr>
              <a:t>▸  Paralitik turda ensefalopatiya, koma; o‘lim nafas va yurak-qon tomir markazlari falajidan.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636520"/>
                <a:gridCol w="487375"/>
                <a:gridCol w="2164080"/>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Asosiy ta’sir</a:t>
                      </a:r>
                    </a:p>
                  </a:txBody>
                  <a:tcPr marL="73152" marR="73152" marT="36576" marB="36576">
                    <a:solidFill>
                      <a:srgbClr val="0B1F3A"/>
                    </a:solidFill>
                  </a:tcPr>
                </a:tc>
                <a:tc>
                  <a:txBody>
                    <a:bodyPr/>
                    <a:lstStyle/>
                    <a:p>
                      <a:r>
                        <a:rPr sz="1600" b="1">
                          <a:solidFill>
                            <a:srgbClr val="FFFFFF"/>
                          </a:solidFill>
                        </a:rPr>
                        <a:t>Xos belgi</a:t>
                      </a:r>
                    </a:p>
                  </a:txBody>
                  <a:tcPr marL="73152" marR="73152" marT="36576" marB="36576">
                    <a:solidFill>
                      <a:srgbClr val="0B1F3A"/>
                    </a:solidFill>
                  </a:tcPr>
                </a:tc>
              </a:tr>
              <a:tr h="614476">
                <a:tc>
                  <a:txBody>
                    <a:bodyPr/>
                    <a:lstStyle/>
                    <a:p>
                      <a:r>
                        <a:rPr sz="1500" b="0">
                          <a:solidFill>
                            <a:srgbClr val="1F2937"/>
                          </a:solidFill>
                        </a:rPr>
                        <a:t>Qo‘rg‘oshin</a:t>
                      </a:r>
                    </a:p>
                  </a:txBody>
                  <a:tcPr marL="73152" marR="73152" marT="36576" marB="36576">
                    <a:solidFill>
                      <a:srgbClr val="E8EEF6"/>
                    </a:solidFill>
                  </a:tcPr>
                </a:tc>
                <a:tc>
                  <a:txBody>
                    <a:bodyPr/>
                    <a:lstStyle/>
                    <a:p>
                      <a:r>
                        <a:rPr sz="1500" b="0">
                          <a:solidFill>
                            <a:srgbClr val="1F2937"/>
                          </a:solidFill>
                        </a:rPr>
                        <a:t>Nerv tizimi shikastlanishi</a:t>
                      </a:r>
                    </a:p>
                  </a:txBody>
                  <a:tcPr marL="73152" marR="73152" marT="36576" marB="36576">
                    <a:solidFill>
                      <a:srgbClr val="E8EEF6"/>
                    </a:solidFill>
                  </a:tcPr>
                </a:tc>
                <a:tc>
                  <a:txBody>
                    <a:bodyPr/>
                    <a:lstStyle/>
                    <a:p>
                      <a:r>
                        <a:rPr sz="1500" b="0">
                          <a:solidFill>
                            <a:srgbClr val="1F2937"/>
                          </a:solidFill>
                        </a:rPr>
                        <a:t>Kamqonlik, talvasa, paresteziya</a:t>
                      </a:r>
                    </a:p>
                  </a:txBody>
                  <a:tcPr marL="73152" marR="73152" marT="36576" marB="36576">
                    <a:solidFill>
                      <a:srgbClr val="E8EEF6"/>
                    </a:solidFill>
                  </a:tcPr>
                </a:tc>
              </a:tr>
              <a:tr h="614476">
                <a:tc>
                  <a:txBody>
                    <a:bodyPr/>
                    <a:lstStyle/>
                    <a:p>
                      <a:r>
                        <a:rPr sz="1500" b="0">
                          <a:solidFill>
                            <a:srgbClr val="1F2937"/>
                          </a:solidFill>
                        </a:rPr>
                        <a:t>Tetraetilqo‘rg‘oshin</a:t>
                      </a:r>
                    </a:p>
                  </a:txBody>
                  <a:tcPr marL="73152" marR="73152" marT="36576" marB="36576">
                    <a:solidFill>
                      <a:srgbClr val="FFFFFF"/>
                    </a:solidFill>
                  </a:tcPr>
                </a:tc>
                <a:tc>
                  <a:txBody>
                    <a:bodyPr/>
                    <a:lstStyle/>
                    <a:p>
                      <a:r>
                        <a:rPr sz="1500" b="0">
                          <a:solidFill>
                            <a:srgbClr val="1F2937"/>
                          </a:solidFill>
                        </a:rPr>
                        <a:t>Ferment bloki, atsetilxolin to‘planadi</a:t>
                      </a:r>
                    </a:p>
                  </a:txBody>
                  <a:tcPr marL="73152" marR="73152" marT="36576" marB="36576">
                    <a:solidFill>
                      <a:srgbClr val="FFFFFF"/>
                    </a:solidFill>
                  </a:tcPr>
                </a:tc>
                <a:tc>
                  <a:txBody>
                    <a:bodyPr/>
                    <a:lstStyle/>
                    <a:p>
                      <a:r>
                        <a:rPr sz="1500" b="0">
                          <a:solidFill>
                            <a:srgbClr val="1F2937"/>
                          </a:solidFill>
                        </a:rPr>
                        <a:t>Psixoz, gallyusinatsiya, koma</a:t>
                      </a:r>
                    </a:p>
                  </a:txBody>
                  <a:tcPr marL="73152" marR="73152" marT="36576" marB="36576">
                    <a:solidFill>
                      <a:srgbClr val="FFFFFF"/>
                    </a:solidFill>
                  </a:tcPr>
                </a:tc>
              </a:tr>
              <a:tr h="614476">
                <a:tc>
                  <a:txBody>
                    <a:bodyPr/>
                    <a:lstStyle/>
                    <a:p>
                      <a:r>
                        <a:rPr sz="1500" b="0">
                          <a:solidFill>
                            <a:srgbClr val="1F2937"/>
                          </a:solidFill>
                        </a:rPr>
                        <a:t>Talliy</a:t>
                      </a:r>
                    </a:p>
                  </a:txBody>
                  <a:tcPr marL="73152" marR="73152" marT="36576" marB="36576">
                    <a:solidFill>
                      <a:srgbClr val="E8EEF6"/>
                    </a:solidFill>
                  </a:tcPr>
                </a:tc>
                <a:tc>
                  <a:txBody>
                    <a:bodyPr/>
                    <a:lstStyle/>
                    <a:p>
                      <a:r>
                        <a:rPr sz="1500" b="0">
                          <a:solidFill>
                            <a:srgbClr val="1F2937"/>
                          </a:solidFill>
                        </a:rPr>
                        <a:t>Gastroenterit, polineyropatiya</a:t>
                      </a:r>
                    </a:p>
                  </a:txBody>
                  <a:tcPr marL="73152" marR="73152" marT="36576" marB="36576">
                    <a:solidFill>
                      <a:srgbClr val="E8EEF6"/>
                    </a:solidFill>
                  </a:tcPr>
                </a:tc>
                <a:tc>
                  <a:txBody>
                    <a:bodyPr/>
                    <a:lstStyle/>
                    <a:p>
                      <a:r>
                        <a:rPr sz="1500" b="0">
                          <a:solidFill>
                            <a:srgbClr val="1F2937"/>
                          </a:solidFill>
                        </a:rPr>
                        <a:t>Alopetsiya, ataksiya</a:t>
                      </a:r>
                    </a:p>
                  </a:txBody>
                  <a:tcPr marL="73152" marR="73152" marT="36576" marB="36576">
                    <a:solidFill>
                      <a:srgbClr val="E8EEF6"/>
                    </a:solidFill>
                  </a:tcPr>
                </a:tc>
              </a:tr>
              <a:tr h="614476">
                <a:tc>
                  <a:txBody>
                    <a:bodyPr/>
                    <a:lstStyle/>
                    <a:p>
                      <a:r>
                        <a:rPr sz="1500" b="0">
                          <a:solidFill>
                            <a:srgbClr val="1F2937"/>
                          </a:solidFill>
                        </a:rPr>
                        <a:t>Margimush</a:t>
                      </a:r>
                    </a:p>
                  </a:txBody>
                  <a:tcPr marL="73152" marR="73152" marT="36576" marB="36576">
                    <a:solidFill>
                      <a:srgbClr val="FFFFFF"/>
                    </a:solidFill>
                  </a:tcPr>
                </a:tc>
                <a:tc>
                  <a:txBody>
                    <a:bodyPr/>
                    <a:lstStyle/>
                    <a:p>
                      <a:r>
                        <a:rPr sz="1500" b="0">
                          <a:solidFill>
                            <a:srgbClr val="1F2937"/>
                          </a:solidFill>
                        </a:rPr>
                        <a:t>Ichak yoki paralitik tur</a:t>
                      </a:r>
                    </a:p>
                  </a:txBody>
                  <a:tcPr marL="73152" marR="73152" marT="36576" marB="36576">
                    <a:solidFill>
                      <a:srgbClr val="FFFFFF"/>
                    </a:solidFill>
                  </a:tcPr>
                </a:tc>
                <a:tc>
                  <a:txBody>
                    <a:bodyPr/>
                    <a:lstStyle/>
                    <a:p>
                      <a:r>
                        <a:rPr sz="1500" b="0">
                          <a:solidFill>
                            <a:srgbClr val="1F2937"/>
                          </a:solidFill>
                        </a:rPr>
                        <a:t>Letal doza 0,1–0,2 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Og‘ir metallar solishtiruvi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147, 148, 148–149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og‘ir metall zaharlanishi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oila granozan bilan ishlov berilgan dondan tayyorlangan unni uzoq muddat iste’mol qilgan. Zahar oz-ozdan to‘planadi.</a:t>
            </a:r>
          </a:p>
          <a:p>
            <a:pPr>
              <a:spcAft>
                <a:spcPts val="1200"/>
              </a:spcAft>
            </a:pPr>
            <a:r>
              <a:rPr sz="2200">
                <a:solidFill>
                  <a:srgbClr val="1F2937"/>
                </a:solidFill>
                <a:latin typeface="Calibri"/>
              </a:rPr>
              <a:t>▸  Dastlab oylar davomida belgilar bo‘lmaydi (yashirin davr). Keyin quvvatsizlik, uyqusizlik, og‘izda metall ta’mi, qusish, ozish paydo bo‘ladi.</a:t>
            </a:r>
          </a:p>
          <a:p>
            <a:pPr>
              <a:spcAft>
                <a:spcPts val="1200"/>
              </a:spcAft>
            </a:pPr>
            <a:r>
              <a:rPr sz="2200">
                <a:solidFill>
                  <a:srgbClr val="1F2937"/>
                </a:solidFill>
                <a:latin typeface="Calibri"/>
              </a:rPr>
              <a:t>▸  So‘ngra ataksiya, ko‘rish buzilishi, ensefalopatiya, bradikardiya, qorinda og‘riq va ich ketishi qo‘shiladi.</a:t>
            </a:r>
          </a:p>
          <a:p>
            <a:pPr>
              <a:spcAft>
                <a:spcPts val="1200"/>
              </a:spcAft>
            </a:pPr>
            <a:r>
              <a:rPr sz="2200">
                <a:solidFill>
                  <a:srgbClr val="1F2937"/>
                </a:solidFill>
                <a:latin typeface="Calibri"/>
              </a:rPr>
              <a:t>▸  Savol: bu qaysi simob birikmasi guruhi va nega stomatit hamda og‘ir buyrak zarari kutilmaydi?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zaharlari: is gazi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 gazi organik moddalar to‘liq yonmaganda hosil bo‘ladi, rangsiz va hidsiz. Yong‘in, nosoz pech yoki yopiq xonadagi dvigatel paytida zaharlaydi.</a:t>
            </a:r>
          </a:p>
          <a:p>
            <a:pPr>
              <a:spcAft>
                <a:spcPts val="1200"/>
              </a:spcAft>
            </a:pPr>
            <a:r>
              <a:rPr sz="2200">
                <a:solidFill>
                  <a:srgbClr val="1F2937"/>
                </a:solidFill>
                <a:latin typeface="Calibri"/>
              </a:rPr>
              <a:t>▸  U gemoglobin bilan turg‘un karboksigemoglobin hosil qiladi. Gemoglobin kislorod tashiy olmaydi va gipoksiya rivojlanadi.</a:t>
            </a:r>
          </a:p>
          <a:p>
            <a:pPr>
              <a:spcAft>
                <a:spcPts val="1200"/>
              </a:spcAft>
            </a:pPr>
            <a:r>
              <a:rPr sz="2200">
                <a:solidFill>
                  <a:srgbClr val="1F2937"/>
                </a:solidFill>
                <a:latin typeface="Calibri"/>
              </a:rPr>
              <a:t>▸  Belgilar asta-sekin avj oladi: bosh og‘rig‘i, quloqda shovqin, qusish. Keyin hush yo‘qoladi va talvasali koma boshlanadi.</a:t>
            </a:r>
          </a:p>
          <a:p>
            <a:pPr>
              <a:spcAft>
                <a:spcPts val="1200"/>
              </a:spcAft>
            </a:pPr>
            <a:r>
              <a:rPr sz="2200">
                <a:solidFill>
                  <a:srgbClr val="1F2937"/>
                </a:solidFill>
                <a:latin typeface="Calibri"/>
              </a:rPr>
              <a:t>▸  Yashinsimon shaklda havodagi is gazi 1% dan ortiq bo‘ladi, o‘lim soniyalarda yuz beradi. Murdada dog‘lar va qon pushti-qizg‘ish rangda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150, 150-151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 gazini aniqlash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Dastlabki sinamalar murakkab jihoz talab qilmaydi, murdada ham, klinikada ham qo‘llanadi.</a:t>
            </a:r>
          </a:p>
          <a:p>
            <a:pPr>
              <a:spcAft>
                <a:spcPts val="800"/>
              </a:spcAft>
            </a:pPr>
            <a:r>
              <a:rPr sz="1800">
                <a:solidFill>
                  <a:srgbClr val="1F2937"/>
                </a:solidFill>
                <a:latin typeface="Calibri"/>
              </a:rPr>
              <a:t>▸  Tashxisni tasdiqlash uchun karboksigemoglobinning miqdoriy spektrofotometrik tekshiruvi zarur.</a:t>
            </a:r>
          </a:p>
          <a:p>
            <a:pPr>
              <a:spcAft>
                <a:spcPts val="800"/>
              </a:spcAft>
            </a:pPr>
            <a:r>
              <a:rPr sz="1800">
                <a:solidFill>
                  <a:srgbClr val="1F2937"/>
                </a:solidFill>
                <a:latin typeface="Calibri"/>
              </a:rPr>
              <a:t>▸  O‘lim tez yuz bersa yoki jabrlangan toza havoda bo‘lsa, natija past yoki manfiy bo‘lishi mumkin. Qonni erta oling.</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Goppe-Zeyler</a:t>
            </a:r>
          </a:p>
          <a:p>
            <a:pPr algn="l">
              <a:spcAft>
                <a:spcPts val="200"/>
              </a:spcAft>
            </a:pPr>
            <a:r>
              <a:rPr sz="1400" b="0">
                <a:solidFill>
                  <a:srgbClr val="1F2937"/>
                </a:solidFill>
                <a:latin typeface="Calibri"/>
              </a:rPr>
              <a:t>Ishqor 33%: qon rangi o‘zgarmaydi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Libman</a:t>
            </a:r>
          </a:p>
          <a:p>
            <a:pPr algn="l">
              <a:spcAft>
                <a:spcPts val="200"/>
              </a:spcAft>
            </a:pPr>
            <a:r>
              <a:rPr sz="1400" b="0">
                <a:solidFill>
                  <a:srgbClr val="1F2937"/>
                </a:solidFill>
                <a:latin typeface="Calibri"/>
              </a:rPr>
              <a:t>Formaldegid: qon rangi o‘zgarmaydi</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Spektroskopiya</a:t>
            </a:r>
          </a:p>
          <a:p>
            <a:pPr algn="l">
              <a:spcAft>
                <a:spcPts val="200"/>
              </a:spcAft>
            </a:pPr>
            <a:r>
              <a:rPr sz="1400" b="0">
                <a:solidFill>
                  <a:srgbClr val="1F2937"/>
                </a:solidFill>
                <a:latin typeface="Calibri"/>
              </a:rPr>
              <a:t>Natriy gidrosulfit: ikki yo‘lak o‘zgarmaydi</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Spektrofotometriya</a:t>
            </a:r>
          </a:p>
          <a:p>
            <a:pPr algn="l">
              <a:spcAft>
                <a:spcPts val="200"/>
              </a:spcAft>
            </a:pPr>
            <a:r>
              <a:rPr sz="1400" b="0">
                <a:solidFill>
                  <a:srgbClr val="1F2937"/>
                </a:solidFill>
                <a:latin typeface="Calibri"/>
              </a:rPr>
              <a:t>Miqdoriy o‘lchov, tashxisni tasdiqlaydi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 gazini aniqlash sinamalari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Metgemoglobin hosil qiluvchi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Guruhga nitrat va nitritlar, nitrobenzol, anilin, kaliy xlorat, gidroxinon kiradi. Zaharlanish odatda baxtsiz hodisa bo‘ladi.</a:t>
            </a:r>
          </a:p>
          <a:p>
            <a:pPr>
              <a:spcAft>
                <a:spcPts val="1200"/>
              </a:spcAft>
            </a:pPr>
            <a:r>
              <a:rPr sz="2200">
                <a:solidFill>
                  <a:srgbClr val="1F2937"/>
                </a:solidFill>
                <a:latin typeface="Calibri"/>
              </a:rPr>
              <a:t>▸  Metgemoglobinda uch valentli temir gidroksil bilan bog‘langan, shuning uchun kislorod tashilmaydi. Belgilar 30% dan boshlanadi, 70% dan oshsa o‘lim yuz beradi.</a:t>
            </a:r>
          </a:p>
          <a:p>
            <a:pPr>
              <a:spcAft>
                <a:spcPts val="1200"/>
              </a:spcAft>
            </a:pPr>
            <a:r>
              <a:rPr sz="2200">
                <a:solidFill>
                  <a:srgbClr val="1F2937"/>
                </a:solidFill>
                <a:latin typeface="Calibri"/>
              </a:rPr>
              <a:t>▸  Klinika: hansirash, sianoz, bosh og‘rig‘i, kollaps. Nitratlar ichakda nitritga aylangandagina ta’sir qiladi, shuning uchun kuchsizroq.</a:t>
            </a:r>
          </a:p>
          <a:p>
            <a:pPr>
              <a:spcAft>
                <a:spcPts val="1200"/>
              </a:spcAft>
            </a:pPr>
            <a:r>
              <a:rPr sz="2200">
                <a:solidFill>
                  <a:srgbClr val="1F2937"/>
                </a:solidFill>
                <a:latin typeface="Calibri"/>
              </a:rPr>
              <a:t>▸  Murdada dog‘lar ko‘kimtir-kulrang yoki qo‘ng‘ir, qon jigarrang. Nitrobenzolda achchiq bodom, anilinda aromatik hid keladi.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Funksional zaharlar: sianid va vodorod sulfid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Sian anioni sitoxromoksidazadagi temirni bog‘laydi. Qonda kislorod yetarli bo‘lsa ham to‘qima gipoksiyasi, nafas va yurak markazlari falaji rivojlanadi.</a:t>
            </a:r>
          </a:p>
          <a:p>
            <a:pPr>
              <a:spcAft>
                <a:spcPts val="1200"/>
              </a:spcAft>
            </a:pPr>
            <a:r>
              <a:rPr sz="2200">
                <a:solidFill>
                  <a:srgbClr val="1F2937"/>
                </a:solidFill>
                <a:latin typeface="Calibri"/>
              </a:rPr>
              <a:t>▸  Katta dozada hush birinchi daqiqada yo‘qoladi, qorachiq kengayadi, talvasadan so‘ng o‘lim yuz beradi. Ho‘l meva danagi mag‘izi ham sianid hosil qilishi mumkin.</a:t>
            </a:r>
          </a:p>
          <a:p>
            <a:pPr>
              <a:spcAft>
                <a:spcPts val="1200"/>
              </a:spcAft>
            </a:pPr>
            <a:r>
              <a:rPr sz="2200">
                <a:solidFill>
                  <a:srgbClr val="1F2937"/>
                </a:solidFill>
                <a:latin typeface="Calibri"/>
              </a:rPr>
              <a:t>▸  Murdada dog‘lar olcha rang-qizg‘ish, bo‘shliqlar, o‘pka va miyadan achchiq bodom hidi keladi.</a:t>
            </a:r>
          </a:p>
          <a:p>
            <a:pPr>
              <a:spcAft>
                <a:spcPts val="1200"/>
              </a:spcAft>
            </a:pPr>
            <a:r>
              <a:rPr sz="2200">
                <a:solidFill>
                  <a:srgbClr val="1F2937"/>
                </a:solidFill>
                <a:latin typeface="Calibri"/>
              </a:rPr>
              <a:t>▸  Diqqat: hid tez yo‘qolishi mumkin, nitrobenzolda esa uzoq saqlanadi.</a:t>
            </a:r>
          </a:p>
          <a:p>
            <a:pPr>
              <a:spcAft>
                <a:spcPts val="1200"/>
              </a:spcAft>
            </a:pPr>
            <a:r>
              <a:rPr sz="2200">
                <a:solidFill>
                  <a:srgbClr val="1F2937"/>
                </a:solidFill>
                <a:latin typeface="Calibri"/>
              </a:rPr>
              <a:t>▸  Vodorod sulfid palag‘da tuxum hidli gaz bo‘lib, shaxta va kanalizatsiyada to‘planadi.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153, 153-154, 154, 154-155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Fosfororganik birikmalar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Fosfororganik birikmalar (FOB) xolinesterazani so‘ndirib, atsetilxolinni to‘playdi.</a:t>
            </a:r>
          </a:p>
          <a:p>
            <a:pPr>
              <a:spcAft>
                <a:spcPts val="800"/>
              </a:spcAft>
            </a:pPr>
            <a:r>
              <a:rPr sz="1800">
                <a:solidFill>
                  <a:srgbClr val="1F2937"/>
                </a:solidFill>
                <a:latin typeface="Calibri"/>
              </a:rPr>
              <a:t>▸  Murdada qorachiq toraygan, mushak qotishi tez va kuchli, nafas yo‘llarida shilliq ko‘p bo‘ladi.</a:t>
            </a:r>
          </a:p>
          <a:p>
            <a:pPr>
              <a:spcAft>
                <a:spcPts val="800"/>
              </a:spcAft>
            </a:pPr>
            <a:r>
              <a:rPr sz="1800">
                <a:solidFill>
                  <a:srgbClr val="1F2937"/>
                </a:solidFill>
                <a:latin typeface="Calibri"/>
              </a:rPr>
              <a:t>▸  Dastlabki kunda sud-kimyo va xolinesteraza tekshiruvi; kechda FOB topilmasa, ferment aktivligi past bo‘ladi.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795916"/>
                <a:gridCol w="3492058"/>
              </a:tblGrid>
              <a:tr h="768096">
                <a:tc>
                  <a:txBody>
                    <a:bodyPr/>
                    <a:lstStyle/>
                    <a:p>
                      <a:r>
                        <a:rPr sz="1800" b="1">
                          <a:solidFill>
                            <a:srgbClr val="FFFFFF"/>
                          </a:solidFill>
                        </a:rPr>
                        <a:t>Kirish yo‘li</a:t>
                      </a:r>
                    </a:p>
                  </a:txBody>
                  <a:tcPr marL="73152" marR="73152" marT="36576" marB="36576">
                    <a:solidFill>
                      <a:srgbClr val="0B1F3A"/>
                    </a:solidFill>
                  </a:tcPr>
                </a:tc>
                <a:tc>
                  <a:txBody>
                    <a:bodyPr/>
                    <a:lstStyle/>
                    <a:p>
                      <a:r>
                        <a:rPr sz="1800" b="1">
                          <a:solidFill>
                            <a:srgbClr val="FFFFFF"/>
                          </a:solidFill>
                        </a:rPr>
                        <a:t>Dastlabki belgi</a:t>
                      </a:r>
                    </a:p>
                  </a:txBody>
                  <a:tcPr marL="73152" marR="73152" marT="36576" marB="36576">
                    <a:solidFill>
                      <a:srgbClr val="0B1F3A"/>
                    </a:solidFill>
                  </a:tcPr>
                </a:tc>
              </a:tr>
              <a:tr h="768096">
                <a:tc>
                  <a:txBody>
                    <a:bodyPr/>
                    <a:lstStyle/>
                    <a:p>
                      <a:r>
                        <a:rPr sz="1700" b="0">
                          <a:solidFill>
                            <a:srgbClr val="1F2937"/>
                          </a:solidFill>
                        </a:rPr>
                        <a:t>Teri orqali</a:t>
                      </a:r>
                    </a:p>
                  </a:txBody>
                  <a:tcPr marL="73152" marR="73152" marT="36576" marB="36576">
                    <a:solidFill>
                      <a:srgbClr val="E8EEF6"/>
                    </a:solidFill>
                  </a:tcPr>
                </a:tc>
                <a:tc>
                  <a:txBody>
                    <a:bodyPr/>
                    <a:lstStyle/>
                    <a:p>
                      <a:r>
                        <a:rPr sz="1700" b="0">
                          <a:solidFill>
                            <a:srgbClr val="1F2937"/>
                          </a:solidFill>
                        </a:rPr>
                        <a:t>Mushaklarning joyli fibrillyasiyasi</a:t>
                      </a:r>
                    </a:p>
                  </a:txBody>
                  <a:tcPr marL="73152" marR="73152" marT="36576" marB="36576">
                    <a:solidFill>
                      <a:srgbClr val="E8EEF6"/>
                    </a:solidFill>
                  </a:tcPr>
                </a:tc>
              </a:tr>
              <a:tr h="768096">
                <a:tc>
                  <a:txBody>
                    <a:bodyPr/>
                    <a:lstStyle/>
                    <a:p>
                      <a:r>
                        <a:rPr sz="1700" b="0">
                          <a:solidFill>
                            <a:srgbClr val="1F2937"/>
                          </a:solidFill>
                        </a:rPr>
                        <a:t>Og‘iz orqali</a:t>
                      </a:r>
                    </a:p>
                  </a:txBody>
                  <a:tcPr marL="73152" marR="73152" marT="36576" marB="36576">
                    <a:solidFill>
                      <a:srgbClr val="FFFFFF"/>
                    </a:solidFill>
                  </a:tcPr>
                </a:tc>
                <a:tc>
                  <a:txBody>
                    <a:bodyPr/>
                    <a:lstStyle/>
                    <a:p>
                      <a:r>
                        <a:rPr sz="1700" b="0">
                          <a:solidFill>
                            <a:srgbClr val="1F2937"/>
                          </a:solidFill>
                        </a:rPr>
                        <a:t>Gastroenterit: qusish, ich ketishi</a:t>
                      </a:r>
                    </a:p>
                  </a:txBody>
                  <a:tcPr marL="73152" marR="73152" marT="36576" marB="36576">
                    <a:solidFill>
                      <a:srgbClr val="FFFFFF"/>
                    </a:solidFill>
                  </a:tcPr>
                </a:tc>
              </a:tr>
              <a:tr h="768096">
                <a:tc>
                  <a:txBody>
                    <a:bodyPr/>
                    <a:lstStyle/>
                    <a:p>
                      <a:r>
                        <a:rPr sz="1700" b="0">
                          <a:solidFill>
                            <a:srgbClr val="1F2937"/>
                          </a:solidFill>
                        </a:rPr>
                        <a:t>Nafas yo‘llari</a:t>
                      </a:r>
                    </a:p>
                  </a:txBody>
                  <a:tcPr marL="73152" marR="73152" marT="36576" marB="36576">
                    <a:solidFill>
                      <a:srgbClr val="E8EEF6"/>
                    </a:solidFill>
                  </a:tcPr>
                </a:tc>
                <a:tc>
                  <a:txBody>
                    <a:bodyPr/>
                    <a:lstStyle/>
                    <a:p>
                      <a:r>
                        <a:rPr sz="1700" b="0">
                          <a:solidFill>
                            <a:srgbClr val="1F2937"/>
                          </a:solidFill>
                        </a:rPr>
                        <a:t>Hansirash, mioz</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Kirish yo‘li va dastlabki belgi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155, 156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 toksikokinetika va mastlik darajalari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So‘rilish (rezorbsiya) 1–2 soat; 20% oshqozonda, 80% ichakda so‘riladi. To‘la oshqozonda sekinlashadi.</a:t>
            </a:r>
          </a:p>
          <a:p>
            <a:pPr>
              <a:spcAft>
                <a:spcPts val="800"/>
              </a:spcAft>
            </a:pPr>
            <a:r>
              <a:rPr sz="1800">
                <a:solidFill>
                  <a:srgbClr val="1F2937"/>
                </a:solidFill>
                <a:latin typeface="Calibri"/>
              </a:rPr>
              <a:t>▸  Etil spirti atsetaldegidga, so‘ng sirka kislotasiga oksidlanadi; atsetaldegid “poxmele” sindromini beradi.</a:t>
            </a:r>
          </a:p>
          <a:p>
            <a:pPr>
              <a:spcAft>
                <a:spcPts val="800"/>
              </a:spcAft>
            </a:pPr>
            <a:r>
              <a:rPr sz="1800">
                <a:solidFill>
                  <a:srgbClr val="1F2937"/>
                </a:solidFill>
                <a:latin typeface="Calibri"/>
              </a:rPr>
              <a:t>▸  Vidmark konstantasi o‘rtacha 0,13–0,15 promille/soat; murda qonida ≥5,0 promille — o‘lim sababi.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Yengil darajali mastlik</a:t>
            </a:r>
          </a:p>
          <a:p>
            <a:pPr algn="l">
              <a:spcAft>
                <a:spcPts val="100"/>
              </a:spcAft>
            </a:pPr>
            <a:r>
              <a:rPr sz="3000" b="1">
                <a:solidFill>
                  <a:srgbClr val="0B1F3A"/>
                </a:solidFill>
                <a:latin typeface="Calibri"/>
              </a:rPr>
              <a:t>0,5–1,5</a:t>
            </a:r>
            <a:r>
              <a:rPr sz="1500" b="0">
                <a:solidFill>
                  <a:srgbClr val="6B7280"/>
                </a:solidFill>
                <a:latin typeface="Calibri"/>
              </a:rPr>
              <a:t>  ‰</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O‘rta darajali mastlik</a:t>
            </a:r>
          </a:p>
          <a:p>
            <a:pPr algn="l">
              <a:spcAft>
                <a:spcPts val="100"/>
              </a:spcAft>
            </a:pPr>
            <a:r>
              <a:rPr sz="3000" b="1">
                <a:solidFill>
                  <a:srgbClr val="0B1F3A"/>
                </a:solidFill>
                <a:latin typeface="Calibri"/>
              </a:rPr>
              <a:t>1,5–2,5</a:t>
            </a:r>
            <a:r>
              <a:rPr sz="1500" b="0">
                <a:solidFill>
                  <a:srgbClr val="6B7280"/>
                </a:solidFill>
                <a:latin typeface="Calibri"/>
              </a:rPr>
              <a:t>  ‰</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Kuchli darajali mastlik</a:t>
            </a:r>
          </a:p>
          <a:p>
            <a:pPr algn="l">
              <a:spcAft>
                <a:spcPts val="100"/>
              </a:spcAft>
            </a:pPr>
            <a:r>
              <a:rPr sz="3000" b="1">
                <a:solidFill>
                  <a:srgbClr val="0B1F3A"/>
                </a:solidFill>
                <a:latin typeface="Calibri"/>
              </a:rPr>
              <a:t>2,5–3,0</a:t>
            </a:r>
            <a:r>
              <a:rPr sz="1500" b="0">
                <a:solidFill>
                  <a:srgbClr val="6B7280"/>
                </a:solidFill>
                <a:latin typeface="Calibri"/>
              </a:rPr>
              <a:t>  ‰</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Zaharlanish</a:t>
            </a:r>
          </a:p>
          <a:p>
            <a:pPr algn="l">
              <a:spcAft>
                <a:spcPts val="100"/>
              </a:spcAft>
            </a:pPr>
            <a:r>
              <a:rPr sz="3000" b="1">
                <a:solidFill>
                  <a:srgbClr val="0B1F3A"/>
                </a:solidFill>
                <a:latin typeface="Calibri"/>
              </a:rPr>
              <a:t>&gt;3,0</a:t>
            </a:r>
            <a:r>
              <a:rPr sz="1500" b="0">
                <a:solidFill>
                  <a:srgbClr val="6B7280"/>
                </a:solidFill>
                <a:latin typeface="Calibri"/>
              </a:rPr>
              <a:t>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Mastlik darajalari (qondagi promille)</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157, 159-160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spirtini aniqlash va Vidmark formulasi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Rappoport sinamasida spirt permanganatni rangsizlantiradi. Moxov-Shinkarenko sinamasida sariq rang yashilga o‘tadi.</a:t>
            </a:r>
          </a:p>
          <a:p>
            <a:pPr>
              <a:spcAft>
                <a:spcPts val="800"/>
              </a:spcAft>
            </a:pPr>
            <a:r>
              <a:rPr sz="1800">
                <a:solidFill>
                  <a:srgbClr val="1F2937"/>
                </a:solidFill>
                <a:latin typeface="Calibri"/>
              </a:rPr>
              <a:t>▸  Sinamalar qonda 0,3-0,4 promilleda ham payqaydi. Diabet va kariesda soxta musbat natija bo‘lishi mumkin.</a:t>
            </a:r>
          </a:p>
          <a:p>
            <a:pPr>
              <a:spcAft>
                <a:spcPts val="800"/>
              </a:spcAft>
            </a:pPr>
            <a:r>
              <a:rPr sz="1800">
                <a:solidFill>
                  <a:srgbClr val="1F2937"/>
                </a:solidFill>
                <a:latin typeface="Calibri"/>
              </a:rPr>
              <a:t>▸  Formula: A = R·r·(Ct + pT). Reduksiya omili r erkakda o‘rtacha 0,68, ayolda 0,55.</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Eliminatsiya boshi</a:t>
            </a:r>
          </a:p>
          <a:p>
            <a:pPr algn="l">
              <a:spcAft>
                <a:spcPts val="100"/>
              </a:spcAft>
            </a:pPr>
            <a:r>
              <a:rPr sz="2300" b="1">
                <a:solidFill>
                  <a:srgbClr val="0B1F3A"/>
                </a:solidFill>
                <a:latin typeface="Calibri"/>
              </a:rPr>
              <a:t>0,10–0,13</a:t>
            </a:r>
            <a:r>
              <a:rPr sz="1100" b="0">
                <a:solidFill>
                  <a:srgbClr val="6B7280"/>
                </a:solidFill>
                <a:latin typeface="Calibri"/>
              </a:rPr>
              <a:t>  ‰/soat</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O‘rtacha yuklama</a:t>
            </a:r>
          </a:p>
          <a:p>
            <a:pPr algn="l">
              <a:spcAft>
                <a:spcPts val="100"/>
              </a:spcAft>
            </a:pPr>
            <a:r>
              <a:rPr sz="2300" b="1">
                <a:solidFill>
                  <a:srgbClr val="0B1F3A"/>
                </a:solidFill>
                <a:latin typeface="Calibri"/>
              </a:rPr>
              <a:t>0,15–0,18</a:t>
            </a:r>
            <a:r>
              <a:rPr sz="1100" b="0">
                <a:solidFill>
                  <a:srgbClr val="6B7280"/>
                </a:solidFill>
                <a:latin typeface="Calibri"/>
              </a:rPr>
              <a:t>  ‰/soat</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Kuchli yuklama</a:t>
            </a:r>
          </a:p>
          <a:p>
            <a:pPr algn="l">
              <a:spcAft>
                <a:spcPts val="100"/>
              </a:spcAft>
            </a:pPr>
            <a:r>
              <a:rPr sz="2300" b="1">
                <a:solidFill>
                  <a:srgbClr val="0B1F3A"/>
                </a:solidFill>
                <a:latin typeface="Calibri"/>
              </a:rPr>
              <a:t>0,20–0,24</a:t>
            </a:r>
            <a:r>
              <a:rPr sz="1100" b="0">
                <a:solidFill>
                  <a:srgbClr val="6B7280"/>
                </a:solidFill>
                <a:latin typeface="Calibri"/>
              </a:rPr>
              <a:t>  ‰/soat</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Uyqu va koma</a:t>
            </a:r>
          </a:p>
          <a:p>
            <a:pPr algn="l">
              <a:spcAft>
                <a:spcPts val="100"/>
              </a:spcAft>
            </a:pPr>
            <a:r>
              <a:rPr sz="2300" b="1">
                <a:solidFill>
                  <a:srgbClr val="0B1F3A"/>
                </a:solidFill>
                <a:latin typeface="Calibri"/>
              </a:rPr>
              <a:t>0,10–0,12; &lt;0,10</a:t>
            </a:r>
            <a:r>
              <a:rPr sz="1100" b="0">
                <a:solidFill>
                  <a:srgbClr val="6B7280"/>
                </a:solidFill>
                <a:latin typeface="Calibri"/>
              </a:rPr>
              <a:t>  ‰/soat</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Vidmark konstantasi (P)</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158-159, 159, 160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alkogol bilan bog‘liq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Ayrim holatlarda o‘lim ichimlikdan bir necha kun o‘tib sodir bo‘ladi. Qonda spirt past bo‘lishi yoki umuman topilmasligi mumkin.</a:t>
            </a:r>
          </a:p>
          <a:p>
            <a:pPr>
              <a:spcAft>
                <a:spcPts val="1200"/>
              </a:spcAft>
            </a:pPr>
            <a:r>
              <a:rPr sz="2200">
                <a:solidFill>
                  <a:srgbClr val="1F2937"/>
                </a:solidFill>
                <a:latin typeface="Calibri"/>
              </a:rPr>
              <a:t>▸  Bunday o‘limda sabab odatda alkogol fonidagi yurakning ishemik kasalligi yoki kardiomiopatiyada o‘tkir yurak yetishmovchiligi bo‘ladi.</a:t>
            </a:r>
          </a:p>
          <a:p>
            <a:pPr>
              <a:spcAft>
                <a:spcPts val="1200"/>
              </a:spcAft>
            </a:pPr>
            <a:r>
              <a:rPr sz="2200">
                <a:solidFill>
                  <a:srgbClr val="1F2937"/>
                </a:solidFill>
                <a:latin typeface="Calibri"/>
              </a:rPr>
              <a:t>▸  Vaziyat: ichimlikdan bir necha kun o‘tib vafot etgan shaxs qonida spirt juda oz topildi, yurak kasalligi bor edi.</a:t>
            </a:r>
          </a:p>
          <a:p>
            <a:pPr>
              <a:spcAft>
                <a:spcPts val="1200"/>
              </a:spcAft>
            </a:pPr>
            <a:r>
              <a:rPr sz="2200">
                <a:solidFill>
                  <a:srgbClr val="1F2937"/>
                </a:solidFill>
                <a:latin typeface="Calibri"/>
              </a:rPr>
              <a:t>▸  Savol: qonda spirt oz bo‘lsa, alkogol o‘limga aloqasiz deyish mumkinmi? Diqqat: past konsentratsiya ≠ ta’sir yo‘q.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Spirt surrogatlari: metanol, yuqori spirtlar, etilenglikol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Metanol metabolitlari (formaldegid, chumoli kislotasi) kuchli toksik. Letal doza 30-100 ml.</a:t>
            </a:r>
          </a:p>
          <a:p>
            <a:pPr>
              <a:spcAft>
                <a:spcPts val="800"/>
              </a:spcAft>
            </a:pPr>
            <a:r>
              <a:rPr sz="1800">
                <a:solidFill>
                  <a:srgbClr val="1F2937"/>
                </a:solidFill>
                <a:latin typeface="Calibri"/>
              </a:rPr>
              <a:t>▸  Propil, butil, amil spirtlari: koma, keyin nafas falaji. Letal doza 300, 200-250, 20-30 ml.</a:t>
            </a:r>
          </a:p>
          <a:p>
            <a:pPr>
              <a:spcAft>
                <a:spcPts val="800"/>
              </a:spcAft>
            </a:pPr>
            <a:r>
              <a:rPr sz="1800">
                <a:solidFill>
                  <a:srgbClr val="1F2937"/>
                </a:solidFill>
                <a:latin typeface="Calibri"/>
              </a:rPr>
              <a:t>▸  Etilenglikol to‘rt bosqichli: mastlik, yashirin davr, nerv tizimi, jigar-buyrak; letal 100-200 ml.</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Qisqa mastlik, chuqur uyqu</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Yashirin bosqich: ahvol yaxshi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Bosh og‘rig‘i, qusish, og‘riq</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Ko‘rish buzilishi → ko‘rlik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markazi falaji (2-3 kun)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Metanol zaharlanishi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161, 162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Uyqu dorilari (barbituratlar)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Uyqu dorilariga barbitur kislotasi hosilalari (lyuminal, veronal, nembutal), noksiron va tetridin kiradi.</a:t>
            </a:r>
          </a:p>
          <a:p>
            <a:pPr>
              <a:spcAft>
                <a:spcPts val="1200"/>
              </a:spcAft>
            </a:pPr>
            <a:r>
              <a:rPr sz="2200">
                <a:solidFill>
                  <a:srgbClr val="1F2937"/>
                </a:solidFill>
                <a:latin typeface="Calibri"/>
              </a:rPr>
              <a:t>▸  Trankvilizatorlar (elenium, seduksen, meprobamat) ham uyqu chaqiradi.</a:t>
            </a:r>
          </a:p>
          <a:p>
            <a:pPr>
              <a:spcAft>
                <a:spcPts val="1200"/>
              </a:spcAft>
            </a:pPr>
            <a:r>
              <a:rPr sz="2200">
                <a:solidFill>
                  <a:srgbClr val="1F2937"/>
                </a:solidFill>
                <a:latin typeface="Calibri"/>
              </a:rPr>
              <a:t>▸  Ular markaziy nerv tizimini (MNT) so‘ndiradi. Klinika: chuqur uyqu, bosim va harorat pasayishi, nafas buzilishi, koma. O‘lim nafas markazi falajidan.</a:t>
            </a:r>
          </a:p>
          <a:p>
            <a:pPr>
              <a:spcAft>
                <a:spcPts val="1200"/>
              </a:spcAft>
            </a:pPr>
            <a:r>
              <a:rPr sz="2200">
                <a:solidFill>
                  <a:srgbClr val="1F2937"/>
                </a:solidFill>
                <a:latin typeface="Calibri"/>
              </a:rPr>
              <a:t>▸  Letal dozalar: barbamil va nembutal — 1,0–2,0 g, medinal va tetridin — 3,0–5,0 g, noksiron — 5,0–10 g. Keksalarda kamroq miqdor ham o‘limga olib kelishi mumkin.</a:t>
            </a:r>
          </a:p>
          <a:p>
            <a:pPr>
              <a:spcAft>
                <a:spcPts val="1200"/>
              </a:spcAft>
            </a:pPr>
            <a:r>
              <a:rPr sz="2200">
                <a:solidFill>
                  <a:srgbClr val="1F2937"/>
                </a:solidFill>
                <a:latin typeface="Calibri"/>
              </a:rPr>
              <a:t>▸  Diqqat: alkogol yoki boshqa sedativlar ta’sirni kuchaytiradi.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163, 163-164, 164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MNTni qo‘zg‘atuvchi zaharlar: strixnin, psixotoniklar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Psixotoniklar (kofein, fenamin, fenatin) MNT oliy sohalari tonusini ko‘taradi.</a:t>
            </a:r>
          </a:p>
          <a:p>
            <a:pPr>
              <a:spcAft>
                <a:spcPts val="1200"/>
              </a:spcAft>
            </a:pPr>
            <a:r>
              <a:rPr sz="2200">
                <a:solidFill>
                  <a:srgbClr val="1F2937"/>
                </a:solidFill>
                <a:latin typeface="Calibri"/>
              </a:rPr>
              <a:t>▸  Katta dozada titrash, talvasa, taxikardiya, bosim oshishi va alahsirash bilan o‘tkir psixoz chiqadi.</a:t>
            </a:r>
          </a:p>
          <a:p>
            <a:pPr>
              <a:spcAft>
                <a:spcPts val="1200"/>
              </a:spcAft>
            </a:pPr>
            <a:r>
              <a:rPr sz="2200">
                <a:solidFill>
                  <a:srgbClr val="1F2937"/>
                </a:solidFill>
                <a:latin typeface="Calibri"/>
              </a:rPr>
              <a:t>▸  Antidepressantlar (imizin, indopan, kuredal) monoaminooksidaza ingibitorlari.</a:t>
            </a:r>
          </a:p>
          <a:p>
            <a:pPr>
              <a:spcAft>
                <a:spcPts val="1200"/>
              </a:spcAft>
            </a:pPr>
            <a:r>
              <a:rPr sz="2200">
                <a:solidFill>
                  <a:srgbClr val="1F2937"/>
                </a:solidFill>
                <a:latin typeface="Calibri"/>
              </a:rPr>
              <a:t>▸  Toksik dozada bosh og‘rig‘i, qusish, harorat va bosim ko‘tarilishi, ritm buzilishi. Muntazam qabulda bog‘liqlik rivojlanadi.</a:t>
            </a:r>
          </a:p>
          <a:p>
            <a:pPr>
              <a:spcAft>
                <a:spcPts val="1200"/>
              </a:spcAft>
            </a:pPr>
            <a:r>
              <a:rPr sz="2200">
                <a:solidFill>
                  <a:srgbClr val="1F2937"/>
                </a:solidFill>
                <a:latin typeface="Calibri"/>
              </a:rPr>
              <a:t>▸  Strixnin — chilibuxa urug‘idagi alkaloid, orqa miya qo‘zg‘aluvchanligini oshiradi.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164, 165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MNT va PNTga ta’sir etuvchi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Bu guruh moddalar nerv oxirlarida impuls o‘tishiga, ya’ni mediatorlarga ta’sir etadi.</a:t>
            </a:r>
          </a:p>
          <a:p>
            <a:pPr>
              <a:spcAft>
                <a:spcPts val="800"/>
              </a:spcAft>
            </a:pPr>
            <a:r>
              <a:rPr sz="1800">
                <a:solidFill>
                  <a:srgbClr val="1F2937"/>
                </a:solidFill>
                <a:latin typeface="Calibri"/>
              </a:rPr>
              <a:t>▸  Miorelaksantlar nerv-mushak sinapsida impulsni to‘sadi; o‘lim nafas mushaklari falajidan, xos belgi yo‘q.</a:t>
            </a:r>
          </a:p>
          <a:p>
            <a:pPr>
              <a:spcAft>
                <a:spcPts val="800"/>
              </a:spcAft>
            </a:pPr>
            <a:r>
              <a:rPr sz="1800">
                <a:solidFill>
                  <a:srgbClr val="1F2937"/>
                </a:solidFill>
                <a:latin typeface="Calibri"/>
              </a:rPr>
              <a:t>▸  Diqqat: atropin qorachiqni kengaytiradi, pilokarpin toraytiradi — chalkashtirmang.</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MNT va PNT zaharlari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Atropin</a:t>
            </a:r>
          </a:p>
          <a:p>
            <a:pPr algn="l">
              <a:spcAft>
                <a:spcPts val="0"/>
              </a:spcAft>
            </a:pPr>
            <a:r>
              <a:rPr sz="1200" b="0">
                <a:solidFill>
                  <a:srgbClr val="1F2937"/>
                </a:solidFill>
                <a:latin typeface="Calibri"/>
              </a:rPr>
              <a:t>Qorachiq kengayadi, alahsirash  ·  Letal doza 0,1 g (atropin sulfat)</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Pilokarpin</a:t>
            </a:r>
          </a:p>
          <a:p>
            <a:pPr algn="l">
              <a:spcAft>
                <a:spcPts val="0"/>
              </a:spcAft>
            </a:pPr>
            <a:r>
              <a:rPr sz="1200" b="0">
                <a:solidFill>
                  <a:srgbClr val="1F2937"/>
                </a:solidFill>
                <a:latin typeface="Calibri"/>
              </a:rPr>
              <a:t>Qorachiq torayadi, ter, so‘lak  ·  Letal doza 0,06 g</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Paxikarpin</a:t>
            </a:r>
          </a:p>
          <a:p>
            <a:pPr algn="l">
              <a:spcAft>
                <a:spcPts val="0"/>
              </a:spcAft>
            </a:pPr>
            <a:r>
              <a:rPr sz="1200" b="0">
                <a:solidFill>
                  <a:srgbClr val="1F2937"/>
                </a:solidFill>
                <a:latin typeface="Calibri"/>
              </a:rPr>
              <a:t>Talvasa, ko‘rish buzilishi, kollaps  ·  Letal doza 1,0–2,0 g</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Klofelin</a:t>
            </a:r>
          </a:p>
          <a:p>
            <a:pPr algn="l">
              <a:spcAft>
                <a:spcPts val="0"/>
              </a:spcAft>
            </a:pPr>
            <a:r>
              <a:rPr sz="1200" b="0">
                <a:solidFill>
                  <a:srgbClr val="1F2937"/>
                </a:solidFill>
                <a:latin typeface="Calibri"/>
              </a:rPr>
              <a:t>Bosim tushadi, bradikardiya, uyqu  ·  Kattalar 0,005–0,01 g</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Asosiy moddalar solishtirmasi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166-167, 167, 166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dori zaharlanishlari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ichimlikka klofelin (alfa-adrenoblokator) qo‘shib berilgan. So‘nggi davrda bunday qasddan zaharlash holatlari ko‘paymoqda.</a:t>
            </a:r>
          </a:p>
          <a:p>
            <a:pPr>
              <a:spcAft>
                <a:spcPts val="1200"/>
              </a:spcAft>
            </a:pPr>
            <a:r>
              <a:rPr sz="2200">
                <a:solidFill>
                  <a:srgbClr val="1F2937"/>
                </a:solidFill>
                <a:latin typeface="Calibri"/>
              </a:rPr>
              <a:t>▸  Belgilar: bosh aylanishi, keskin holsizlik, uyquchanlik, qon bosimining turg‘un pasayishi, bradikardiya, hushning yo‘qolishi.</a:t>
            </a:r>
          </a:p>
          <a:p>
            <a:pPr>
              <a:spcAft>
                <a:spcPts val="1200"/>
              </a:spcAft>
            </a:pPr>
            <a:r>
              <a:rPr sz="2200">
                <a:solidFill>
                  <a:srgbClr val="1F2937"/>
                </a:solidFill>
                <a:latin typeface="Calibri"/>
              </a:rPr>
              <a:t>▸  Kattalar uchun letal doza 0,005–0,01 g.</a:t>
            </a:r>
          </a:p>
          <a:p>
            <a:pPr>
              <a:spcAft>
                <a:spcPts val="1200"/>
              </a:spcAft>
            </a:pPr>
            <a:r>
              <a:rPr sz="2200">
                <a:solidFill>
                  <a:srgbClr val="1F2937"/>
                </a:solidFill>
                <a:latin typeface="Calibri"/>
              </a:rPr>
              <a:t>▸  Diqqat: xato qilish xavfi! Atropin ≠ pilokarpin. Atropinda qorachiq kengayadi, pilokarpinda esa torayadi.</a:t>
            </a:r>
          </a:p>
          <a:p>
            <a:pPr>
              <a:spcAft>
                <a:spcPts val="1200"/>
              </a:spcAft>
            </a:pPr>
            <a:r>
              <a:rPr sz="2200">
                <a:solidFill>
                  <a:srgbClr val="1F2937"/>
                </a:solidFill>
                <a:latin typeface="Calibri"/>
              </a:rPr>
              <a:t>▸  Tezkor savol: qorachiq keng, og‘iz va tomoq quruq, yuz qizargan, alahsirash bor. Qaysi modda? Pilokarpinda ter va so‘lak ko‘p ajraladi.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167, 166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 va psixotrop moddalar: umumiy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Birlashgan Millatlar Tashkiloti (BMT) ma’lumoti: nasha — 130–190 mln, geroin — 11,3 mln kishi iste’mol qiladi.</a:t>
            </a:r>
          </a:p>
          <a:p>
            <a:pPr>
              <a:spcAft>
                <a:spcPts val="800"/>
              </a:spcAft>
            </a:pPr>
            <a:r>
              <a:rPr sz="1800">
                <a:solidFill>
                  <a:srgbClr val="1F2937"/>
                </a:solidFill>
                <a:latin typeface="Calibri"/>
              </a:rPr>
              <a:t>▸  DRD — narkotiklar bilan bog‘liq o‘lim: zaharlanish, o‘z-o‘zini o‘ldirish, baxtsiz hodisa, qotillik.</a:t>
            </a:r>
          </a:p>
          <a:p>
            <a:pPr>
              <a:spcAft>
                <a:spcPts val="800"/>
              </a:spcAft>
            </a:pPr>
            <a:r>
              <a:rPr sz="1800">
                <a:solidFill>
                  <a:srgbClr val="1F2937"/>
                </a:solidFill>
                <a:latin typeface="Calibri"/>
              </a:rPr>
              <a:t>▸  Prekursorlar — narkotik tayyorlashda ishlatiladigan moddalar: kaliy permanganat, atseton, efedrin.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Narkotiklar (kelib chiqishi)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Tabiiy</a:t>
            </a:r>
          </a:p>
          <a:p>
            <a:pPr algn="l">
              <a:spcAft>
                <a:spcPts val="0"/>
              </a:spcAft>
            </a:pPr>
            <a:r>
              <a:rPr sz="1200" b="0">
                <a:solidFill>
                  <a:srgbClr val="1F2937"/>
                </a:solidFill>
                <a:latin typeface="Calibri"/>
              </a:rPr>
              <a:t>nasha, morfin  ·  kodein, kokain</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Yarim sintetik</a:t>
            </a:r>
          </a:p>
          <a:p>
            <a:pPr algn="l">
              <a:spcAft>
                <a:spcPts val="0"/>
              </a:spcAft>
            </a:pPr>
            <a:r>
              <a:rPr sz="1200" b="0">
                <a:solidFill>
                  <a:srgbClr val="1F2937"/>
                </a:solidFill>
                <a:latin typeface="Calibri"/>
              </a:rPr>
              <a:t>geroin, meskalin  ·  efedron</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Sintetik</a:t>
            </a:r>
          </a:p>
          <a:p>
            <a:pPr algn="l">
              <a:spcAft>
                <a:spcPts val="0"/>
              </a:spcAft>
            </a:pPr>
            <a:r>
              <a:rPr sz="1200" b="0">
                <a:solidFill>
                  <a:srgbClr val="1F2937"/>
                </a:solidFill>
                <a:latin typeface="Calibri"/>
              </a:rPr>
              <a:t>amfetamin, promedol  ·  metadon, sombrevin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Kelib chiqishi bo‘yicha tasnif</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167, 168, 171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Nasha preparatlari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Asosiy narkotik komponenti — tetragidrokannabinol. Chekiladi yoki og‘iz orqali qabul qilinadi; qorachiq kengayadi, nistagm, taxikardiya, qon bosimi ko‘tariladi.</a:t>
            </a:r>
          </a:p>
          <a:p>
            <a:pPr>
              <a:spcAft>
                <a:spcPts val="1200"/>
              </a:spcAft>
            </a:pPr>
            <a:r>
              <a:rPr sz="2000">
                <a:solidFill>
                  <a:srgbClr val="1F2937"/>
                </a:solidFill>
                <a:latin typeface="Calibri"/>
              </a:rPr>
              <a:t>▸  Nasha tez parchalanadi, shuning uchun zaharlanish odatda o‘lim bilan tugamaydi. Narkokurer oshqozon-ichakda tashigan o‘ram buzilsa, o‘lim mumkin.</a:t>
            </a:r>
          </a:p>
          <a:p>
            <a:pPr>
              <a:spcAft>
                <a:spcPts val="1200"/>
              </a:spcAft>
            </a:pPr>
            <a:r>
              <a:rPr sz="2000">
                <a:solidFill>
                  <a:srgbClr val="1F2937"/>
                </a:solidFill>
                <a:latin typeface="Calibri"/>
              </a:rPr>
              <a:t>▸  Spayslar — o‘simlikka sintetik kannabinoid qo‘shilgan chekiladigan aralashma. Nashadan kuchliroq va davomiyroq ta’sir qiladi; titrash, talvasa, gallyusinatsiya.</a:t>
            </a:r>
          </a:p>
          <a:p>
            <a:pPr>
              <a:spcAft>
                <a:spcPts val="1200"/>
              </a:spcAft>
            </a:pPr>
            <a:r>
              <a:rPr sz="2000">
                <a:solidFill>
                  <a:srgbClr val="1F2937"/>
                </a:solidFill>
                <a:latin typeface="Calibri"/>
              </a:rPr>
              <a:t>▸  Kannabinoid uchun 10 ml qon, 10 ml siydik, 10 ml so‘lak va qo‘l barmoqlaridan yuvma olinadi.</a:t>
            </a:r>
          </a:p>
          <a:p>
            <a:pPr>
              <a:spcAft>
                <a:spcPts val="1200"/>
              </a:spcAft>
            </a:pPr>
            <a:r>
              <a:rPr sz="2000">
                <a:solidFill>
                  <a:srgbClr val="1F2937"/>
                </a:solidFill>
                <a:latin typeface="Calibri"/>
              </a:rPr>
              <a:t>▸  Barmoqlar spirtli paxta bilan artiladi, quritilib, qopchaga solinadi.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169, 170, 171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 kokain va amfetaminlar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Opiatlar qonga tez so‘riladi, jigarda ko‘proq to‘planadi. Morfinning 90% ga yaqini dastlabki 3-4 kunda chiqadi.</a:t>
            </a:r>
          </a:p>
          <a:p>
            <a:pPr>
              <a:spcAft>
                <a:spcPts val="800"/>
              </a:spcAft>
            </a:pPr>
            <a:r>
              <a:rPr sz="1800">
                <a:solidFill>
                  <a:srgbClr val="1F2937"/>
                </a:solidFill>
                <a:latin typeface="Calibri"/>
              </a:rPr>
              <a:t>▸  Diqqat: opiatda eyforiya tinchlantiradi, kokainda qo‘zg‘alish bilan kechadi; kokaindan o‘lim fibrillyasiyadan ham bo‘ladi.</a:t>
            </a:r>
          </a:p>
          <a:p>
            <a:pPr>
              <a:spcAft>
                <a:spcPts val="800"/>
              </a:spcAft>
            </a:pPr>
            <a:r>
              <a:rPr sz="1800">
                <a:solidFill>
                  <a:srgbClr val="1F2937"/>
                </a:solidFill>
                <a:latin typeface="Calibri"/>
              </a:rPr>
              <a:t>▸  Amfetaminlar kokainga o‘xshash, lekin kuchsizroq va davomiyroq; takror qabul qilish bog‘liqlik beradi.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2222513"/>
                <a:gridCol w="1373822"/>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Ta’sir</a:t>
                      </a:r>
                    </a:p>
                  </a:txBody>
                  <a:tcPr marL="73152" marR="73152" marT="36576" marB="36576">
                    <a:solidFill>
                      <a:srgbClr val="0B1F3A"/>
                    </a:solidFill>
                  </a:tcPr>
                </a:tc>
                <a:tc>
                  <a:txBody>
                    <a:bodyPr/>
                    <a:lstStyle/>
                    <a:p>
                      <a:r>
                        <a:rPr sz="1600" b="1">
                          <a:solidFill>
                            <a:srgbClr val="FFFFFF"/>
                          </a:solidFill>
                        </a:rPr>
                        <a:t>Letal doza</a:t>
                      </a:r>
                    </a:p>
                  </a:txBody>
                  <a:tcPr marL="73152" marR="73152" marT="36576" marB="36576">
                    <a:solidFill>
                      <a:srgbClr val="0B1F3A"/>
                    </a:solidFill>
                  </a:tcPr>
                </a:tc>
              </a:tr>
              <a:tr h="614476">
                <a:tc>
                  <a:txBody>
                    <a:bodyPr/>
                    <a:lstStyle/>
                    <a:p>
                      <a:r>
                        <a:rPr sz="1500" b="0">
                          <a:solidFill>
                            <a:srgbClr val="1F2937"/>
                          </a:solidFill>
                        </a:rPr>
                        <a:t>Quruq opiy (ichga)</a:t>
                      </a:r>
                    </a:p>
                  </a:txBody>
                  <a:tcPr marL="73152" marR="73152" marT="36576" marB="36576">
                    <a:solidFill>
                      <a:srgbClr val="E8EEF6"/>
                    </a:solidFill>
                  </a:tcPr>
                </a:tc>
                <a:tc>
                  <a:txBody>
                    <a:bodyPr/>
                    <a:lstStyle/>
                    <a:p>
                      <a:r>
                        <a:rPr sz="1500" b="0">
                          <a:solidFill>
                            <a:srgbClr val="1F2937"/>
                          </a:solidFill>
                        </a:rPr>
                        <a:t>Koma, nafas markazi falaji</a:t>
                      </a:r>
                    </a:p>
                  </a:txBody>
                  <a:tcPr marL="73152" marR="73152" marT="36576" marB="36576">
                    <a:solidFill>
                      <a:srgbClr val="E8EEF6"/>
                    </a:solidFill>
                  </a:tcPr>
                </a:tc>
                <a:tc>
                  <a:txBody>
                    <a:bodyPr/>
                    <a:lstStyle/>
                    <a:p>
                      <a:r>
                        <a:rPr sz="1500" b="0">
                          <a:solidFill>
                            <a:srgbClr val="1F2937"/>
                          </a:solidFill>
                        </a:rPr>
                        <a:t>2-5 g</a:t>
                      </a:r>
                    </a:p>
                  </a:txBody>
                  <a:tcPr marL="73152" marR="73152" marT="36576" marB="36576">
                    <a:solidFill>
                      <a:srgbClr val="E8EEF6"/>
                    </a:solidFill>
                  </a:tcPr>
                </a:tc>
              </a:tr>
              <a:tr h="614476">
                <a:tc>
                  <a:txBody>
                    <a:bodyPr/>
                    <a:lstStyle/>
                    <a:p>
                      <a:r>
                        <a:rPr sz="1500" b="0">
                          <a:solidFill>
                            <a:srgbClr val="1F2937"/>
                          </a:solidFill>
                        </a:rPr>
                        <a:t>Morfin (ichga)</a:t>
                      </a:r>
                    </a:p>
                  </a:txBody>
                  <a:tcPr marL="73152" marR="73152" marT="36576" marB="36576">
                    <a:solidFill>
                      <a:srgbClr val="FFFFFF"/>
                    </a:solidFill>
                  </a:tcPr>
                </a:tc>
                <a:tc>
                  <a:txBody>
                    <a:bodyPr/>
                    <a:lstStyle/>
                    <a:p>
                      <a:r>
                        <a:rPr sz="1500" b="0">
                          <a:solidFill>
                            <a:srgbClr val="1F2937"/>
                          </a:solidFill>
                        </a:rPr>
                        <a:t>Qorachiq torayadi, koma</a:t>
                      </a:r>
                    </a:p>
                  </a:txBody>
                  <a:tcPr marL="73152" marR="73152" marT="36576" marB="36576">
                    <a:solidFill>
                      <a:srgbClr val="FFFFFF"/>
                    </a:solidFill>
                  </a:tcPr>
                </a:tc>
                <a:tc>
                  <a:txBody>
                    <a:bodyPr/>
                    <a:lstStyle/>
                    <a:p>
                      <a:r>
                        <a:rPr sz="1500" b="0">
                          <a:solidFill>
                            <a:srgbClr val="1F2937"/>
                          </a:solidFill>
                        </a:rPr>
                        <a:t>0,2-0,4 g</a:t>
                      </a:r>
                    </a:p>
                  </a:txBody>
                  <a:tcPr marL="73152" marR="73152" marT="36576" marB="36576">
                    <a:solidFill>
                      <a:srgbClr val="FFFFFF"/>
                    </a:solidFill>
                  </a:tcPr>
                </a:tc>
              </a:tr>
              <a:tr h="614476">
                <a:tc>
                  <a:txBody>
                    <a:bodyPr/>
                    <a:lstStyle/>
                    <a:p>
                      <a:r>
                        <a:rPr sz="1500" b="0">
                          <a:solidFill>
                            <a:srgbClr val="1F2937"/>
                          </a:solidFill>
                        </a:rPr>
                        <a:t>Morfin (parenteral)</a:t>
                      </a:r>
                    </a:p>
                  </a:txBody>
                  <a:tcPr marL="73152" marR="73152" marT="36576" marB="36576">
                    <a:solidFill>
                      <a:srgbClr val="E8EEF6"/>
                    </a:solidFill>
                  </a:tcPr>
                </a:tc>
                <a:tc>
                  <a:txBody>
                    <a:bodyPr/>
                    <a:lstStyle/>
                    <a:p>
                      <a:r>
                        <a:rPr sz="1500" b="0">
                          <a:solidFill>
                            <a:srgbClr val="1F2937"/>
                          </a:solidFill>
                        </a:rPr>
                        <a:t>Xuddi shunday ta’sir</a:t>
                      </a:r>
                    </a:p>
                  </a:txBody>
                  <a:tcPr marL="73152" marR="73152" marT="36576" marB="36576">
                    <a:solidFill>
                      <a:srgbClr val="E8EEF6"/>
                    </a:solidFill>
                  </a:tcPr>
                </a:tc>
                <a:tc>
                  <a:txBody>
                    <a:bodyPr/>
                    <a:lstStyle/>
                    <a:p>
                      <a:r>
                        <a:rPr sz="1500" b="0">
                          <a:solidFill>
                            <a:srgbClr val="1F2937"/>
                          </a:solidFill>
                        </a:rPr>
                        <a:t>0,1-0,2 g</a:t>
                      </a:r>
                    </a:p>
                  </a:txBody>
                  <a:tcPr marL="73152" marR="73152" marT="36576" marB="36576">
                    <a:solidFill>
                      <a:srgbClr val="E8EEF6"/>
                    </a:solidFill>
                  </a:tcPr>
                </a:tc>
              </a:tr>
              <a:tr h="614476">
                <a:tc>
                  <a:txBody>
                    <a:bodyPr/>
                    <a:lstStyle/>
                    <a:p>
                      <a:r>
                        <a:rPr sz="1500" b="0">
                          <a:solidFill>
                            <a:srgbClr val="1F2937"/>
                          </a:solidFill>
                        </a:rPr>
                        <a:t>Ekstazi (MDMA)</a:t>
                      </a:r>
                    </a:p>
                  </a:txBody>
                  <a:tcPr marL="73152" marR="73152" marT="36576" marB="36576">
                    <a:solidFill>
                      <a:srgbClr val="FFFFFF"/>
                    </a:solidFill>
                  </a:tcPr>
                </a:tc>
                <a:tc>
                  <a:txBody>
                    <a:bodyPr/>
                    <a:lstStyle/>
                    <a:p>
                      <a:r>
                        <a:rPr sz="1500" b="0">
                          <a:solidFill>
                            <a:srgbClr val="1F2937"/>
                          </a:solidFill>
                        </a:rPr>
                        <a:t>MNTni qo‘zg‘atadi</a:t>
                      </a:r>
                    </a:p>
                  </a:txBody>
                  <a:tcPr marL="73152" marR="73152" marT="36576" marB="36576">
                    <a:solidFill>
                      <a:srgbClr val="FFFFFF"/>
                    </a:solidFill>
                  </a:tcPr>
                </a:tc>
                <a:tc>
                  <a:txBody>
                    <a:bodyPr/>
                    <a:lstStyle/>
                    <a:p>
                      <a:r>
                        <a:rPr sz="1500" b="0">
                          <a:solidFill>
                            <a:srgbClr val="1F2937"/>
                          </a:solidFill>
                        </a:rPr>
                        <a:t>500 mg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Letal dozalar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168-169, 169, 170-171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Narkotiklar: siydikda aniqlash va murda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Murdadagi o‘zgarishlar to‘rt guruhga bo‘linadi; spetsifik neyrokimyoviy o‘zgarishlar amaliyotda ahamiyatsiz.</a:t>
            </a:r>
          </a:p>
          <a:p>
            <a:pPr>
              <a:spcAft>
                <a:spcPts val="800"/>
              </a:spcAft>
            </a:pPr>
            <a:r>
              <a:rPr sz="1800">
                <a:solidFill>
                  <a:srgbClr val="1F2937"/>
                </a:solidFill>
                <a:latin typeface="Calibri"/>
              </a:rPr>
              <a:t>▸  Venalar bo‘ylab mayda yara-chandiqlar va in’eksiyadan yuqqan infeksiyalar (gepatit va b.) aniqlanadi.</a:t>
            </a:r>
          </a:p>
          <a:p>
            <a:pPr>
              <a:spcAft>
                <a:spcPts val="800"/>
              </a:spcAft>
            </a:pPr>
            <a:r>
              <a:rPr sz="1800">
                <a:solidFill>
                  <a:srgbClr val="1F2937"/>
                </a:solidFill>
                <a:latin typeface="Calibri"/>
              </a:rPr>
              <a:t>▸  Bu belgilar bilvosita dalil: voqea tafsiloti va sud-kimyoviy natijalar bilan birga baholanadi.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927859"/>
                <a:gridCol w="1680058"/>
                <a:gridCol w="1680058"/>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Boshlanishi</a:t>
                      </a:r>
                    </a:p>
                  </a:txBody>
                  <a:tcPr marL="73152" marR="73152" marT="36576" marB="36576">
                    <a:solidFill>
                      <a:srgbClr val="0B1F3A"/>
                    </a:solidFill>
                  </a:tcPr>
                </a:tc>
                <a:tc>
                  <a:txBody>
                    <a:bodyPr/>
                    <a:lstStyle/>
                    <a:p>
                      <a:r>
                        <a:rPr sz="1600" b="1">
                          <a:solidFill>
                            <a:srgbClr val="FFFFFF"/>
                          </a:solidFill>
                        </a:rPr>
                        <a:t>Davomiyligi</a:t>
                      </a:r>
                    </a:p>
                  </a:txBody>
                  <a:tcPr marL="73152" marR="73152" marT="36576" marB="36576">
                    <a:solidFill>
                      <a:srgbClr val="0B1F3A"/>
                    </a:solidFill>
                  </a:tcPr>
                </a:tc>
              </a:tr>
              <a:tr h="614476">
                <a:tc>
                  <a:txBody>
                    <a:bodyPr/>
                    <a:lstStyle/>
                    <a:p>
                      <a:r>
                        <a:rPr sz="1500" b="0">
                          <a:solidFill>
                            <a:srgbClr val="1F2937"/>
                          </a:solidFill>
                        </a:rPr>
                        <a:t>Kannabinoidlar</a:t>
                      </a:r>
                    </a:p>
                  </a:txBody>
                  <a:tcPr marL="73152" marR="73152" marT="36576" marB="36576">
                    <a:solidFill>
                      <a:srgbClr val="E8EEF6"/>
                    </a:solidFill>
                  </a:tcPr>
                </a:tc>
                <a:tc>
                  <a:txBody>
                    <a:bodyPr/>
                    <a:lstStyle/>
                    <a:p>
                      <a:r>
                        <a:rPr sz="1500" b="0">
                          <a:solidFill>
                            <a:srgbClr val="1F2937"/>
                          </a:solidFill>
                        </a:rPr>
                        <a:t>1-3 soat</a:t>
                      </a:r>
                    </a:p>
                  </a:txBody>
                  <a:tcPr marL="73152" marR="73152" marT="36576" marB="36576">
                    <a:solidFill>
                      <a:srgbClr val="E8EEF6"/>
                    </a:solidFill>
                  </a:tcPr>
                </a:tc>
                <a:tc>
                  <a:txBody>
                    <a:bodyPr/>
                    <a:lstStyle/>
                    <a:p>
                      <a:r>
                        <a:rPr sz="1500" b="0">
                          <a:solidFill>
                            <a:srgbClr val="1F2937"/>
                          </a:solidFill>
                        </a:rPr>
                        <a:t>24-168 soat</a:t>
                      </a:r>
                    </a:p>
                  </a:txBody>
                  <a:tcPr marL="73152" marR="73152" marT="36576" marB="36576">
                    <a:solidFill>
                      <a:srgbClr val="E8EEF6"/>
                    </a:solidFill>
                  </a:tcPr>
                </a:tc>
              </a:tr>
              <a:tr h="614476">
                <a:tc>
                  <a:txBody>
                    <a:bodyPr/>
                    <a:lstStyle/>
                    <a:p>
                      <a:r>
                        <a:rPr sz="1500" b="0">
                          <a:solidFill>
                            <a:srgbClr val="1F2937"/>
                          </a:solidFill>
                        </a:rPr>
                        <a:t>Geroin</a:t>
                      </a:r>
                    </a:p>
                  </a:txBody>
                  <a:tcPr marL="73152" marR="73152" marT="36576" marB="36576">
                    <a:solidFill>
                      <a:srgbClr val="FFFFFF"/>
                    </a:solidFill>
                  </a:tcPr>
                </a:tc>
                <a:tc>
                  <a:txBody>
                    <a:bodyPr/>
                    <a:lstStyle/>
                    <a:p>
                      <a:r>
                        <a:rPr sz="1500" b="0">
                          <a:solidFill>
                            <a:srgbClr val="1F2937"/>
                          </a:solidFill>
                        </a:rPr>
                        <a:t>2-6 soat</a:t>
                      </a:r>
                    </a:p>
                  </a:txBody>
                  <a:tcPr marL="73152" marR="73152" marT="36576" marB="36576">
                    <a:solidFill>
                      <a:srgbClr val="FFFFFF"/>
                    </a:solidFill>
                  </a:tcPr>
                </a:tc>
                <a:tc>
                  <a:txBody>
                    <a:bodyPr/>
                    <a:lstStyle/>
                    <a:p>
                      <a:r>
                        <a:rPr sz="1500" b="0">
                          <a:solidFill>
                            <a:srgbClr val="1F2937"/>
                          </a:solidFill>
                        </a:rPr>
                        <a:t>24-72 soat</a:t>
                      </a:r>
                    </a:p>
                  </a:txBody>
                  <a:tcPr marL="73152" marR="73152" marT="36576" marB="36576">
                    <a:solidFill>
                      <a:srgbClr val="FFFFFF"/>
                    </a:solidFill>
                  </a:tcPr>
                </a:tc>
              </a:tr>
              <a:tr h="614476">
                <a:tc>
                  <a:txBody>
                    <a:bodyPr/>
                    <a:lstStyle/>
                    <a:p>
                      <a:r>
                        <a:rPr sz="1500" b="0">
                          <a:solidFill>
                            <a:srgbClr val="1F2937"/>
                          </a:solidFill>
                        </a:rPr>
                        <a:t>Kokain</a:t>
                      </a:r>
                    </a:p>
                  </a:txBody>
                  <a:tcPr marL="73152" marR="73152" marT="36576" marB="36576">
                    <a:solidFill>
                      <a:srgbClr val="E8EEF6"/>
                    </a:solidFill>
                  </a:tcPr>
                </a:tc>
                <a:tc>
                  <a:txBody>
                    <a:bodyPr/>
                    <a:lstStyle/>
                    <a:p>
                      <a:r>
                        <a:rPr sz="1500" b="0">
                          <a:solidFill>
                            <a:srgbClr val="1F2937"/>
                          </a:solidFill>
                        </a:rPr>
                        <a:t>2-6 soat</a:t>
                      </a:r>
                    </a:p>
                  </a:txBody>
                  <a:tcPr marL="73152" marR="73152" marT="36576" marB="36576">
                    <a:solidFill>
                      <a:srgbClr val="E8EEF6"/>
                    </a:solidFill>
                  </a:tcPr>
                </a:tc>
                <a:tc>
                  <a:txBody>
                    <a:bodyPr/>
                    <a:lstStyle/>
                    <a:p>
                      <a:r>
                        <a:rPr sz="1500" b="0">
                          <a:solidFill>
                            <a:srgbClr val="1F2937"/>
                          </a:solidFill>
                        </a:rPr>
                        <a:t>48-72 soat</a:t>
                      </a:r>
                    </a:p>
                  </a:txBody>
                  <a:tcPr marL="73152" marR="73152" marT="36576" marB="36576">
                    <a:solidFill>
                      <a:srgbClr val="E8EEF6"/>
                    </a:solidFill>
                  </a:tcPr>
                </a:tc>
              </a:tr>
              <a:tr h="614476">
                <a:tc>
                  <a:txBody>
                    <a:bodyPr/>
                    <a:lstStyle/>
                    <a:p>
                      <a:r>
                        <a:rPr sz="1500" b="0">
                          <a:solidFill>
                            <a:srgbClr val="1F2937"/>
                          </a:solidFill>
                        </a:rPr>
                        <a:t>Fensiklidin</a:t>
                      </a:r>
                    </a:p>
                  </a:txBody>
                  <a:tcPr marL="73152" marR="73152" marT="36576" marB="36576">
                    <a:solidFill>
                      <a:srgbClr val="FFFFFF"/>
                    </a:solidFill>
                  </a:tcPr>
                </a:tc>
                <a:tc>
                  <a:txBody>
                    <a:bodyPr/>
                    <a:lstStyle/>
                    <a:p>
                      <a:r>
                        <a:rPr sz="1500" b="0">
                          <a:solidFill>
                            <a:srgbClr val="1F2937"/>
                          </a:solidFill>
                        </a:rPr>
                        <a:t>4-6 soat</a:t>
                      </a:r>
                    </a:p>
                  </a:txBody>
                  <a:tcPr marL="73152" marR="73152" marT="36576" marB="36576">
                    <a:solidFill>
                      <a:srgbClr val="FFFFFF"/>
                    </a:solidFill>
                  </a:tcPr>
                </a:tc>
                <a:tc>
                  <a:txBody>
                    <a:bodyPr/>
                    <a:lstStyle/>
                    <a:p>
                      <a:r>
                        <a:rPr sz="1500" b="0">
                          <a:solidFill>
                            <a:srgbClr val="1F2937"/>
                          </a:solidFill>
                        </a:rPr>
                        <a:t>7-14 kun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Siydikda aniqlanish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Ovqatdan zaharlanish va laboratoriya tekshiruvlari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Tayyor ovqatga tashqaridan zahar qo‘shilsa, bu ovqatdan zaharlanish hisoblanmaydi.</a:t>
            </a:r>
          </a:p>
          <a:p>
            <a:pPr>
              <a:spcAft>
                <a:spcPts val="800"/>
              </a:spcAft>
            </a:pPr>
            <a:r>
              <a:rPr sz="1800">
                <a:solidFill>
                  <a:srgbClr val="1F2937"/>
                </a:solidFill>
                <a:latin typeface="Calibri"/>
              </a:rPr>
              <a:t>▸  Soxta musbat: dori, chirish jarayoni yoki kasbiy ta’sir tufayli zahar topilishi mumkin.</a:t>
            </a:r>
          </a:p>
          <a:p>
            <a:pPr>
              <a:spcAft>
                <a:spcPts val="800"/>
              </a:spcAft>
            </a:pPr>
            <a:r>
              <a:rPr sz="1800">
                <a:solidFill>
                  <a:srgbClr val="1F2937"/>
                </a:solidFill>
                <a:latin typeface="Calibri"/>
              </a:rPr>
              <a:t>▸  Soxta manfiy: zahar tez parchalansa, infuziya o‘tkazilsa yoki ob’ekt noto‘g‘ri olinsa zahar topilmaydi.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164080"/>
                <a:gridCol w="723595"/>
                <a:gridCol w="2400300"/>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c>
                  <a:txBody>
                    <a:bodyPr/>
                    <a:lstStyle/>
                    <a:p>
                      <a:r>
                        <a:rPr sz="1600" b="1">
                          <a:solidFill>
                            <a:srgbClr val="FFFFFF"/>
                          </a:solidFill>
                        </a:rPr>
                        <a:t>Xususiyat</a:t>
                      </a:r>
                    </a:p>
                  </a:txBody>
                  <a:tcPr marL="73152" marR="73152" marT="36576" marB="36576">
                    <a:solidFill>
                      <a:srgbClr val="0B1F3A"/>
                    </a:solidFill>
                  </a:tcPr>
                </a:tc>
              </a:tr>
              <a:tr h="614476">
                <a:tc>
                  <a:txBody>
                    <a:bodyPr/>
                    <a:lstStyle/>
                    <a:p>
                      <a:r>
                        <a:rPr sz="1500" b="0">
                          <a:solidFill>
                            <a:srgbClr val="1F2937"/>
                          </a:solidFill>
                        </a:rPr>
                        <a:t>Toksikoinfeksiya</a:t>
                      </a:r>
                    </a:p>
                  </a:txBody>
                  <a:tcPr marL="73152" marR="73152" marT="36576" marB="36576">
                    <a:solidFill>
                      <a:srgbClr val="E8EEF6"/>
                    </a:solidFill>
                  </a:tcPr>
                </a:tc>
                <a:tc>
                  <a:txBody>
                    <a:bodyPr/>
                    <a:lstStyle/>
                    <a:p>
                      <a:r>
                        <a:rPr sz="1500" b="0">
                          <a:solidFill>
                            <a:srgbClr val="1F2937"/>
                          </a:solidFill>
                        </a:rPr>
                        <a:t>Salmonella, ichak tayoqchasi</a:t>
                      </a:r>
                    </a:p>
                  </a:txBody>
                  <a:tcPr marL="73152" marR="73152" marT="36576" marB="36576">
                    <a:solidFill>
                      <a:srgbClr val="E8EEF6"/>
                    </a:solidFill>
                  </a:tcPr>
                </a:tc>
                <a:tc>
                  <a:txBody>
                    <a:bodyPr/>
                    <a:lstStyle/>
                    <a:p>
                      <a:r>
                        <a:rPr sz="1500" b="0">
                          <a:solidFill>
                            <a:srgbClr val="1F2937"/>
                          </a:solidFill>
                        </a:rPr>
                        <a:t>Gastroenterokolit, suvsizlanish</a:t>
                      </a:r>
                    </a:p>
                  </a:txBody>
                  <a:tcPr marL="73152" marR="73152" marT="36576" marB="36576">
                    <a:solidFill>
                      <a:srgbClr val="E8EEF6"/>
                    </a:solidFill>
                  </a:tcPr>
                </a:tc>
              </a:tr>
              <a:tr h="614476">
                <a:tc>
                  <a:txBody>
                    <a:bodyPr/>
                    <a:lstStyle/>
                    <a:p>
                      <a:r>
                        <a:rPr sz="1500" b="0">
                          <a:solidFill>
                            <a:srgbClr val="1F2937"/>
                          </a:solidFill>
                        </a:rPr>
                        <a:t>Intoksikatsiya</a:t>
                      </a:r>
                    </a:p>
                  </a:txBody>
                  <a:tcPr marL="73152" marR="73152" marT="36576" marB="36576">
                    <a:solidFill>
                      <a:srgbClr val="FFFFFF"/>
                    </a:solidFill>
                  </a:tcPr>
                </a:tc>
                <a:tc>
                  <a:txBody>
                    <a:bodyPr/>
                    <a:lstStyle/>
                    <a:p>
                      <a:r>
                        <a:rPr sz="1500" b="0">
                          <a:solidFill>
                            <a:srgbClr val="1F2937"/>
                          </a:solidFill>
                        </a:rPr>
                        <a:t>Botulizm (konserva)</a:t>
                      </a:r>
                    </a:p>
                  </a:txBody>
                  <a:tcPr marL="73152" marR="73152" marT="36576" marB="36576">
                    <a:solidFill>
                      <a:srgbClr val="FFFFFF"/>
                    </a:solidFill>
                  </a:tcPr>
                </a:tc>
                <a:tc>
                  <a:txBody>
                    <a:bodyPr/>
                    <a:lstStyle/>
                    <a:p>
                      <a:r>
                        <a:rPr sz="1500" b="0">
                          <a:solidFill>
                            <a:srgbClr val="1F2937"/>
                          </a:solidFill>
                        </a:rPr>
                        <a:t>Botulotoksin; falajlar, nafas buziladi</a:t>
                      </a:r>
                    </a:p>
                  </a:txBody>
                  <a:tcPr marL="73152" marR="73152" marT="36576" marB="36576">
                    <a:solidFill>
                      <a:srgbClr val="FFFFFF"/>
                    </a:solidFill>
                  </a:tcPr>
                </a:tc>
              </a:tr>
              <a:tr h="614476">
                <a:tc>
                  <a:txBody>
                    <a:bodyPr/>
                    <a:lstStyle/>
                    <a:p>
                      <a:r>
                        <a:rPr sz="1500" b="0">
                          <a:solidFill>
                            <a:srgbClr val="1F2937"/>
                          </a:solidFill>
                        </a:rPr>
                        <a:t>Zaharli qo‘ziqorin</a:t>
                      </a:r>
                    </a:p>
                  </a:txBody>
                  <a:tcPr marL="73152" marR="73152" marT="36576" marB="36576">
                    <a:solidFill>
                      <a:srgbClr val="E8EEF6"/>
                    </a:solidFill>
                  </a:tcPr>
                </a:tc>
                <a:tc>
                  <a:txBody>
                    <a:bodyPr/>
                    <a:lstStyle/>
                    <a:p>
                      <a:r>
                        <a:rPr sz="1500" b="0">
                          <a:solidFill>
                            <a:srgbClr val="1F2937"/>
                          </a:solidFill>
                        </a:rPr>
                        <a:t>Blednaya poganka</a:t>
                      </a:r>
                    </a:p>
                  </a:txBody>
                  <a:tcPr marL="73152" marR="73152" marT="36576" marB="36576">
                    <a:solidFill>
                      <a:srgbClr val="E8EEF6"/>
                    </a:solidFill>
                  </a:tcPr>
                </a:tc>
                <a:tc>
                  <a:txBody>
                    <a:bodyPr/>
                    <a:lstStyle/>
                    <a:p>
                      <a:r>
                        <a:rPr sz="1500" b="0">
                          <a:solidFill>
                            <a:srgbClr val="1F2937"/>
                          </a:solidFill>
                        </a:rPr>
                        <a:t>6-24 soatda boshlanadi, vabosimon</a:t>
                      </a:r>
                    </a:p>
                  </a:txBody>
                  <a:tcPr marL="73152" marR="73152" marT="36576" marB="36576">
                    <a:solidFill>
                      <a:srgbClr val="E8EEF6"/>
                    </a:solidFill>
                  </a:tcPr>
                </a:tc>
              </a:tr>
              <a:tr h="614476">
                <a:tc>
                  <a:txBody>
                    <a:bodyPr/>
                    <a:lstStyle/>
                    <a:p>
                      <a:r>
                        <a:rPr sz="1500" b="0">
                          <a:solidFill>
                            <a:srgbClr val="1F2937"/>
                          </a:solidFill>
                        </a:rPr>
                        <a:t>Zaharli o‘simlik</a:t>
                      </a:r>
                    </a:p>
                  </a:txBody>
                  <a:tcPr marL="73152" marR="73152" marT="36576" marB="36576">
                    <a:solidFill>
                      <a:srgbClr val="FFFFFF"/>
                    </a:solidFill>
                  </a:tcPr>
                </a:tc>
                <a:tc>
                  <a:txBody>
                    <a:bodyPr/>
                    <a:lstStyle/>
                    <a:p>
                      <a:r>
                        <a:rPr sz="1500" b="0">
                          <a:solidFill>
                            <a:srgbClr val="1F2937"/>
                          </a:solidFill>
                        </a:rPr>
                        <a:t>Krasavka, sikuta</a:t>
                      </a:r>
                    </a:p>
                  </a:txBody>
                  <a:tcPr marL="73152" marR="73152" marT="36576" marB="36576">
                    <a:solidFill>
                      <a:srgbClr val="FFFFFF"/>
                    </a:solidFill>
                  </a:tcPr>
                </a:tc>
                <a:tc>
                  <a:txBody>
                    <a:bodyPr/>
                    <a:lstStyle/>
                    <a:p>
                      <a:r>
                        <a:rPr sz="1500" b="0">
                          <a:solidFill>
                            <a:srgbClr val="1F2937"/>
                          </a:solidFill>
                        </a:rPr>
                        <a:t>Murdada xos o‘zgarish bo‘lmaydi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Ovqatdan zaharlanish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172-173, 180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Zaharlanish diagnostikasi uch bosqichga tayanadi: hodisa joyi va tibbiy hujjatlarni ko‘rish, murda tekshiruvi, so‘ng laboratoriya tekshiruvlari.</a:t>
            </a:r>
          </a:p>
          <a:p>
            <a:pPr>
              <a:spcAft>
                <a:spcPts val="1200"/>
              </a:spcAft>
            </a:pPr>
            <a:r>
              <a:rPr sz="2000">
                <a:solidFill>
                  <a:srgbClr val="1F2937"/>
                </a:solidFill>
                <a:latin typeface="Calibri"/>
              </a:rPr>
              <a:t>▸  Funksional zaharlar (uyqu dorilari, nasha, opiatlar) murdada xos o‘zgarish qoldirmasligi mumkin. Asos — voqea tafsiloti, klinika va sud-kimyoviy natijalar.</a:t>
            </a:r>
          </a:p>
          <a:p>
            <a:pPr>
              <a:spcAft>
                <a:spcPts val="1200"/>
              </a:spcAft>
            </a:pPr>
            <a:r>
              <a:rPr sz="2000">
                <a:solidFill>
                  <a:srgbClr val="1F2937"/>
                </a:solidFill>
                <a:latin typeface="Calibri"/>
              </a:rPr>
              <a:t>▸  Sud-kimyoviy natija doim boshqa ma’lumotlar bilan birga baholanadi.</a:t>
            </a:r>
          </a:p>
          <a:p>
            <a:pPr>
              <a:spcAft>
                <a:spcPts val="1200"/>
              </a:spcAft>
            </a:pPr>
            <a:r>
              <a:rPr sz="2000">
                <a:solidFill>
                  <a:srgbClr val="1F2937"/>
                </a:solidFill>
                <a:latin typeface="Calibri"/>
              </a:rPr>
              <a:t>▸  Zahar zaharlanishsiz ham topilishi mumkin: dori, chirish, kasbiy aloqa yoki namuna xatosi tufayli.</a:t>
            </a:r>
          </a:p>
          <a:p>
            <a:pPr>
              <a:spcAft>
                <a:spcPts val="1200"/>
              </a:spcAft>
            </a:pPr>
            <a:r>
              <a:rPr sz="2000">
                <a:solidFill>
                  <a:srgbClr val="1F2937"/>
                </a:solidFill>
                <a:latin typeface="Calibri"/>
              </a:rPr>
              <a:t>▸  Zahar zaharlanishda ham topilmasligi mumkin: modda tez parchalansa, infuzion davolash bo‘lsa yoki vaqt o‘tsa. Shuning uchun namunalar imkon qadar tez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135-136, 153; 172, 180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45</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Fakt: Paratselsning mashhur iborasi bo‘yicha moddani dori yoki zahar qiladigan narsa uning dozasidir. Tabiatda mutlaq zahar ham, mutlaq beziyon modda ham yo‘q. Shuning uchun dori moddalarida terapevtik, toksik va letal dozalar farqlanadi.</a:t>
            </a:r>
          </a:p>
          <a:p>
            <a:pPr>
              <a:spcAft>
                <a:spcPts val="1200"/>
              </a:spcAft>
            </a:pPr>
            <a:r>
              <a:rPr sz="1800">
                <a:solidFill>
                  <a:srgbClr val="1F2937"/>
                </a:solidFill>
                <a:latin typeface="Calibri"/>
              </a:rPr>
              <a:t>▸  Eslab qolish usuli (murda dog‘lari rangi): is gazi – pushti, sianidlar – yorqin olcha rang, metgemoglobin hosil qiluvchilar – jigarrang-qo‘ng‘ir, gemoliz chaqiruvchilar – sarg‘ish. Rang bo‘yicha zaharni taxmin qilish mumkin, lekin diagnoz laboratoriya bilan tasdiqlanadi.</a:t>
            </a:r>
          </a:p>
          <a:p>
            <a:pPr>
              <a:spcAft>
                <a:spcPts val="1200"/>
              </a:spcAft>
            </a:pPr>
            <a:r>
              <a:rPr sz="1800">
                <a:solidFill>
                  <a:srgbClr val="1F2937"/>
                </a:solidFill>
                <a:latin typeface="Calibri"/>
              </a:rPr>
              <a:t>▸  Hodisa tahlili: metanol etil spirtiga o‘xshab ketgani uchun u o‘rniga ichilib qolishi mumkin. Dastlab qisqa muddatli yengil mastlik bo‘ladi, keyin bir necha soatdan kungacha yashirin bosqich keladi va ahvol vaqtincha yaxshilanadi. So‘ng metabolitlar (formaldegid, chumoli kislotasi) atsidoz va ko‘rishning yo‘qolishini keltirib chiqaradi. Yashirin bosqichdagi yaxshilanish xavf o‘tdi degani emas.</a:t>
            </a:r>
          </a:p>
          <a:p>
            <a:pPr>
              <a:spcAft>
                <a:spcPts val="1200"/>
              </a:spcAft>
            </a:pPr>
            <a:r>
              <a:rPr sz="1800">
                <a:solidFill>
                  <a:srgbClr val="1F2937"/>
                </a:solidFill>
                <a:latin typeface="Calibri"/>
              </a:rPr>
              <a:t>▸  Diqqat: is gazi bilan zaharlanishda qondagi karboksigemoglobin tekshiruvi soxta manfiy bo‘lishi mumkin. Katta konsentratsiyada o‘lim tez yuz bersa yoki jabrlangan o‘limdan oldin toza havoda bo‘lsa, uning miqdori past chiqadi. Shu sababli tibbiy muassasada qon namunasini imkon qadar erta olish kerak.</a:t>
            </a:r>
          </a:p>
          <a:p>
            <a:pPr>
              <a:spcAft>
                <a:spcPts val="1200"/>
              </a:spcAft>
            </a:pPr>
            <a:r>
              <a:rPr sz="1800">
                <a:solidFill>
                  <a:srgbClr val="1F2937"/>
                </a:solidFill>
                <a:latin typeface="Calibri"/>
              </a:rPr>
              <a:t>▸  Fakt: “narkotiklar bilan bog‘liq o‘lim” (DRD) faqat katta dozadan zaharlanishni anglatmaydi. U uzoq qabul qilish oqibatidagi o‘zgarishlardan o‘limni, o‘z-o‘zini o‘ldirishni, baxtsiz hodisalarni va qotillikni ham o‘z ichiga oladi.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Nasha preparatlari bilan zaharlanish. Turli dori moddalari bilan zaharlanish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45</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6. Sud-tibbiy toksikologiya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