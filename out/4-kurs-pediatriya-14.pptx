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tirik shaxslar ekspertizasi eng ko‘p o‘tkaziladi? 2) Jinoiy, fuqarolik va ma’muriy ishlarga misol keltiring. Doskada: ekspertiza tayinlanadigan uch turdagi ishni (jinoiy, fuqarolik, ma’muriy) uch ustun qilib yozdiring. Tipik xato: tirik shaxs ekspertizasini faqat jinoiy ishlarga xos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Simulyasiya bilan dissimulyasiya qanday farq qiladi? 2) Qaysi hollarda ekspertiza davolash muassasasida o‘tishi mumkin? Doskada: jadvaldagi to‘rt yo‘nalishni ko‘chirib, har biriga bittadan misol yozdiring. Tipik xato: yoshni aniqlashni jinsiy holatlar guruhiga kiritish; manbada u alohida band.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xulosada tasniflovchi belgi ko‘rsatilishi shart? 2) Jarohat muddatini bilish nimaga kerak? Doskada: beshta masalani zanjir shaklida chizdiring. Tipik xato: faqat og‘irlik darajasini aniqlash bilan cheklanish; ekspert avval turi, quroli, mexanizmi va muddatini ham aniqlaydi.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bir jarohatga bir necha mezon qo‘llanishi mumkin? 2) 21 kun chegarasi qaysi darajalarni ajratadi? Doskada: uch pog‘onali narvon chizing (yengil – o‘rtacha – og‘ir), har pog‘onaga kun va foiz chegarasini yozing. Tipik xato: 6 va 21 kun chegaralarini chalkashtirish; ‘yengil’ va ‘qisqa muddatli yengil’ni bir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Pediatr bemorni ‘og‘ir ahvolda’ deb yozsa, bu jarohatni avtomatik ‘og‘ir’ qiladimi? 2) Nega ikki baholash maqsadi har xil? Doskada: bir bemordan ikki o‘q (klinik va sud-tibbiy) chizing. Tipik xato: klinik tashxis og‘irligini to‘g‘ridan-to‘g‘ri sud-tibbiy darajaga ko‘chirish.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davolash natijasi og‘irlik bahosini o‘zgartirmaydi? 2) Tahdid bilan jarohat o‘rtasidagi bog‘liqlik nega tasodifiy bo‘lmasligi kerak? Doskada: 5 tugunli zanjirni chizib, ‘yordam’ tugunini ajratib ko‘rsating. Tipik xato: bemor tuzalib ketgani uchun jarohatni ‘og‘ir emas’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kasbiy mehnat qobiliyati og‘irlik mezoni emas? Foizlar va kunlar nimasi bilan farqlanadi? Doskada: uch pog‘onali foiz shkalasini (10% va 33% chegaralari bilan) chizdiring. Tipik xato: umumiy va kasbiy mehnat qobiliyatini aralashtirish; 33% chegarasini o‘rtacha og‘ir deb olish.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tibbiy yordamga murojaat qilmagan shaxsda sog‘liq buzilishi bo‘lmaydi deyish to‘g‘rimi? Davolanish muddati nega buzilish davomiyligi bilan mos kelmasligi mumkin? Doskada: 6 va 21 kun chegaralari belgilangan vaqt chizig‘ini chizdiring. Tipik xato: aynan 21 kunni o‘rtacha og‘ir deb baholash (o‘rtacha og‘ir — 21 kundan ortiq).</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talabalarga navbat bilan bering, javobni yopib turing. Muhokama: bir jarohatda ikki mezon qo‘llash mumkin bo‘lsa, qaysi biri tanlanadi? Doskada: mezonlar nomi va o‘lchov birligi (foiz/kun) juftliklarini yozdiring. Tipik xato: foiz va kun chegaralarini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ko‘z yo‘qolishi og‘ir, bir quloq esa o‘rtacha og‘ir hisoblanadi? Bir ko‘zi ko‘rmaydigan odamda ikkinchi ko‘z shikastlansa nima o‘zgaradi? Doskada: yuqoridagi jadvalni chizdiring. Tipik xato: bir quloq yo‘qolishini ham og‘ir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kaft yo‘qolishi nega butun qo‘l yo‘qolishiga tenglashtiriladi? Pediatriya uchun: bola jarohatida nasl qoldirish funksiyasi qanday ahamiyatga ega? Doskada: erkak va ayolda nasl qoldirish funksiyalarini ikki ustunda yozdiring. Tipik xato: bitta buyrak yo‘qolishini o‘rtacha og‘ir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homiladorlik uzilishi ayolning oldingi kasalligi bilan bog‘liq bo‘lsa, baho qanday bo‘ladi? Badburushlikning mavjudligini kim aniqlaydi (sud), ekspertiza nimani baholaydi (silliqlanish xususiyatini)? Doskada: sabab-oqibat zanjirini chizdiring: jarohat → buzilish. Tipik xato: sababiy bog‘liqlikni tekshirmasdan og‘ir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bir nechta mezondan og‘irrog‘i tanlanadi? 2) Kech murojaat nega baholashga ta’sir qilmaydi? Doskada: to‘rt qoidani ustun ko‘rinishida yozing (bitta mezon / og‘irroq mezon / ko‘p jarohat / baho berilmaydigan holat). Tipik xato: davolanish muddati cho‘zilganini avtomatik og‘irroq daraja deb hisoblash. Diqqat: klinik ahvol og‘irligi ≠ sud-tibbiy og‘irlik darajasi, natijalari mos kelmasligi mumkin (278-bet).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Birinchi javobda qaysi mezon ishlatildi? 2) Ikkinchi holatda nega mezon almashdi? Doskada: 6 kun – 21 kun chegarasini sonlar o‘qi ko‘rinishida chizdiring. Tipik xato: bir ko‘zning yo‘qolishini sog‘liq buzilish davomiyligi bo‘yicha baholash (bu faqat ko‘rish qobiliyati bo‘lmagan ko‘z uchun qo‘llanadi). Vaziyat o‘quv maqsadida soddalashtirilgan.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Simulyant nega uzoq kuzatuvda ushlanadi? 2) Nima uchun diagnoz aniqlanmaguncha davo tayinlash tavsiya etilmaydi (davo kasallik mavjudligining bilvosita tasdig‘i bo‘ladi)? Aniqlash usuli: ma’lum vaqt kuzatish, ayrim tekshiruvlarni ogohlantirmasdan, to‘satdan va takroran o‘tkazish (285-bet). Doskada: simulyasiya – aggravatsiya – dissimulyasiya farqini 3 qatorli sxemada yozdiring. Tipik xato: simulyasiyani aggravatsiya bilan aralashtirish (aggravatsiyada kasallik yoki travma haqiqatan bor, belgilari kuchaytiriladi).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Davoni ongli ravishda qabul qilmaslik qaysi tushunchaga kiradi? 2) Nega dissimulyasiya aynan sog‘liqqa alohida talab qo‘yiladigan kasblarda uchraydi? Doskada: uch tushunchaning jadvalini chizdiring. Eslab qoling (o‘qituvchi taklifi, manbada yo‘q): simulyasiya — ‘ko‘rsat’, aggravatsiya — ‘oshir’, dissimulyasiya — ‘yashir’. Diqqat: simulyasiya ≠ dissimulyasiya, ular bir-biriga qarama-qarshi. Tipik xato: aggravatsiyani simulyasiya bilan aralashtirish, chunki aggravatsiyada kasallik haqiqatan bor.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ichki a’zolarning sun’iy kasalliklari kamroq uchraydi? 2) Sun’iy to‘g‘ri ichak tushishini chin tushishdan qaysi belgi farqlaydi? Doskada: teri, ichki a’zolar, ko‘z-quloq ustunlari bo‘yicha usul va oqibatni yozdiring. Tipik xato: sun’iy kasallikni haqiqiy kasallik deb baholash; ajratish belgisi — jarohat izlari va usulning mosligi.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baxtsiz hodisada barmoqlar odatda bir sathda uziladi? 2) Tergov eksperimenti ekspertizaga nima beradi? Doskada: qo‘l va kaft sxemasini chizib, o‘zini shikastlashga xos yaralarni belgilang. Tipik xato: bitta belgiga qarab xulosa chiqarish; belgilar majmuiga baho beriladi. Keyingi bo‘limga o‘tishdan oldin 1 ta Voqea tahlili o‘tkazing.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simulyantni aniqlashda nega tekshiruv to‘satdan va takroran o‘tkaziladi? (2) o‘ziga jarohat yetkazishga xos qaysi belgilar bor (jarohat joyi, amputatsiya sathi, tomoni)? Doskada chizish: simulyasiya – aggravatsiya – dissimulyasiya uchun uchta ustunli taqqoslash jadvali. Tipik xato: dissimulyasiyani simulyasiya bilan aralashtirish; a’zobuzarlikni baxtsiz hodisa jarohati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soxta germafroditizm chin turiga qaraganda ko‘proq uchraydi? (2) tashqi belgi va jinsiy bez mos kelmasa, qaysi tekshiruv hal qiluvchi? Doskada chizish: jadvalni o‘zlari daftarga ko‘chirib, har turga bitta misol yozishsin. Tipik xato: soxta germafroditizmda bez va tashqi belgilarni teskari yozish (masalan, soxta erkakda tuxumdon deb belgilash).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antropometrik o‘lchamlar mutlaq emas, nisbiy deb hisoblanadi? (2) bugungi jinoyat amaliyotida jinsiy yetuklikni aniqlash nega avvalgidek ahamiyatli emas? Doskada chizish: tos o‘lchamlari (26-27, 29, 17-18 sm) bilan bo‘y va ko‘krak aylanasi me’yorlari jadvali. Tipik xato: 14, 16 va 18 yosh chegaralarini aralashtirish va ‘kamida’ so‘zini unutib raqamlarni aniq qiymat deb yozish.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Parda tuzilishi: asos, erkin chet, teshik (shakli shu belgilarga qarab aniqlanadi), 290-bet. Shakllar: odatdagi (halqasimon, yarim oysimon va b.), g‘ayrioddiy, juda kam uchraydigan. To‘liq yoriq asosgacha yetadi, noto‘liq yetmaydi. Muhokama: 1) Nega muddat faqat dastlabki haftalarda aniqlanadi? 2) Yoriqni tabiiy o‘yiqdan qanday farqlaysiz? Doskada: parda soat siferblati sxemasini chizib, 5–7 oralig‘ini belgilang. Tipik xato: yoriq va tabiiy o‘yiqni aralashtirish; parda butunligi buzilishini faqat jinsiy aloqa bilan bog‘lash.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yopiq kitob bilan bering, keyin javobni bandlardan tekshiring. Muhokama: nima uchun maniy namunasini tez olish zarur? Doskada: 0–3 hafta vaqt chizig‘ini chizib, chandiq paydo bo‘lish nuqtasini belgilang. Tipik xato: 3 hafta chegarasini va maniyning 3–5 kunlik saqlanishini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Qo‘shimcha: ayolda qin atreziyasi, aplaziyasi va vaginizm jinsiy aloqaga to‘sqinlik qilishi mumkin; tor tos tabiiy tug‘ishga to‘sqinlik qiladi (292–293-betlar). Muhokama: 1) Impotensiya va urug‘lantirish qobiliyatining yo‘qligi nima bilan farq qiladi? 2) Qaysi hollarda bu ekspertiza tayinlanadi (tan jarohati, nikohni bekor qilish, alimentlar)? Doskada: erkak va ayol uchun nasl qoldirish tarkibiy qismlarini ikki ustunda chizing. Tipik xato: impotensiyani bepushtlik bilan bir deb o‘ylash. Eslatma: darslikdagi azospermiya, nekrospermiya, astenospermiya ta’riflarini zamonaviy andrologiya ta’riflari bilan solishtirib tekshiring.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Homiladorlikning ishonchli belgilari bilan taxminiy belgilari qanday farq qiladi? 2) Tug‘ruqdan keyingi vaqt o‘tgan sari nima uchun muddatni aniqlash qiyinlashadi? Doskada chizish: ikki ustunli ro‘yxat — «taxminiy belgilar» va «ishonchli belgilar». Tipik xato: bachadon bo‘yinchasi tashqi teshigi shaklini teskari eslash (tug‘gan — yoriqsimon, tug‘magan — dumaloq). Diqqat: sut bezlaridagi o‘zgarish ishonchli belgi emas.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Jinoiy abortda ekspert qaysi uch savolga javob izlaydi (homiladorlik va uzilish bo‘lganmi, usul, oqibat)? 2) Usulga qarab jinsiy a’zolarda qanday izlar kutiladi? Doskada chizish: «usul → iz → asorat» zanjiri. Tipik xato: tibbiy abort bilan jinoiy abortni faqat «kim o‘tkazgan» bo‘yicha farqlash; tibbiy abortning o‘zi ham qoida va muddatga bog‘liq. Diqqat: abort (22 haftagacha) ≠ erta tug‘ruq.</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Talabalar 2-3 kishilik guruhda ishlaydi. Muhokama: 1) Nima uchun kech davrda tug‘ruq muddatini aniq aytib bo‘lmaydi? 2) Jinsiy holatlar bo‘yicha ekspertiza qaysi mutaxassislar ishtirokida o‘tkaziladi (akusher-ginekolog)? Doskada chizish: vaziyat → belgi → xulosa jadvali. Tipik xato: kech davrda aniq muddat ko‘rsatish. Bo‘lim (12.3) bo‘yicha qisqa takrorlash: jins, yetuklik, bokiralik, nasl qoldirish qobiliyati, homiladorlik, tug‘ruq, abort.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Nima uchun “nomusga tegish” huquqiy tushuncha hisoblanadi va ekspert nimani isbotlaydi? 2) Surtma olishni kechiktirish natijaga qanday ta’sir qiladi (vaqt o‘tsa, spermatozoid topilishi ehtimoli kamayadi)? Doskada: 5 bosqichli zanjirni chizdiring. Ojizlik sabablarini yozdiring: ruhiy kasallik, travma, jismoniy nuqson, yosh yoki qarilik, mastlik. Tipik xato: qin yoki oraliq shikasti zo‘rlikning mutlaq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119-modda va 120-moddaning farqi nimada? 2) Nima uchun ekspertizada passiv qatnashchining so‘rovi va proktolog maslahati muhim? Doskada: “zo‘rliksiz — 120-modda” va “zo‘rlik bilan — 119-modda” ustunlarini chizdiring. Tipik xato: to‘g‘ri ichak kasalliklari izlarini muntazam passiv aloqa belgisi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fahsh harakatlari oilaga, yoshlarga va axloqqa qarshi jinoyatlar guruhiga kiritilgan? 2) 113-moddada tibbiyot xodimining javobgarligi qachon yuzaga keladi? Doskada: jadvalni chizib, ikki moddani solishtirdiring. Tipik xato: 113-moddani jinsiy erkinlikka qarshi jinoyat deb o‘ylash. Aslida u hayot yoki sog‘liq uchun xavfli jinoyatlar guruhiga kiradi. OIV — odam immunitet tanqisligi virusi.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Surtma nima uchun shoshilinch olinadi? Javob: vaqt o‘tgan sari spermatozoidlarning topilish ehtimoli kamayadi. (2) Gumondorda qanday izlar bo‘lishi mumkin? Javob: himoya va kurash natijasidagi qontalash, shilinma, tishlanma, ayolga tegishli qon va soch. Doskada: ekspert harakatlari ketma-ketligini (materiallar, so‘rov, anamnez, ko‘rik, namuna) chizdiring. Tipik xato: qo‘rqitish ob’ektiv iz qoldirmaydi, shuning uchun izning yo‘qligi jinoyat bo‘lmaganini isbotlamaydi; 118 va 119-moddalarni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ko‘rikdan oldin hujjatlar o‘rganiladi? (2) Qaysi hollarda qo‘shimcha mutaxassis maslahati kerak? Doskada: algoritmni 6 qadam bilan chizdiring (1-tafsilot, 2-tibbiy hujjatlar, 3-so‘rov, 4-ko‘rik, 5-qo‘shimcha tekshiruv va maslahat, 6-xulosa); diagrammada dastlabki ikki bosqich birlashtirilgan. Tipik xato: bosqichlar tartibini buzish, ya’ni so‘rovsiz yoki hujjatsiz ko‘rikdan boshlash.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tibbiy hujjatlarning asl nusxasi talab qilinadi? (2) Balog‘atga yetmagan va muomalaga layoqatsiz shaxs ko‘rigida kim ishtirok etadi? Javob: birinchisida ota-ona yoki pedagog, ikkinchisida qonuniy vakil. Doskada: shaxsni tasdiqlash hujjatlari va ishtirokchilar jadvalini chizdiring. Tipik xato: jinsiy holatlarda fotosurat talabini unutish; suratga olishga shaxs ruxsatini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Muhokama: (1) Nega o‘zga jins ko‘rigida tergovchi chiqib turadi? (2) Pediatr bolani ko‘rikka tayyorlashda ota-onaga nimani tushuntiradi? Doskada chizish: uch ustunli sodda jadval (kim ko‘riladi – kim ishtirok etadi). Tipik xato: talabalar balog‘atga yetmaganlar uchun ota-ona o‘rniga faqat tergovchi yetarli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hujjatlarni ko‘rikdan oldin o‘rganish muhim? (2) Ota-ona ishtiroki bolaning so‘rovida qanday ahamiyatga ega? Doskada chizish: ekspertiza algoritmining 6 bosqichini ketma-ket yozing. Tipik xato: so‘rovni ko‘rikdan keyin o‘tkazish yoki tibbiy hujjat nusxasi bilan cheklanish.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Sud-tibbiy og‘irlik klinik og‘irlikdan nimasi bilan farq qiladi? (2) Pediatr hujjatlarni to‘ldirishda qaysi xatolardan qochishi kerak? Doskada chizish: uch darajali og‘irlik shkalasini kun va foiz chegaralari bilan chizing. Tipik xato: klinik og‘irlikni sud-tibbiy og‘irlik bilan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№6. Maʻruza: Tirik shaxslarning sud-tibbiy ekspertizasi.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tirik shaxslar ekspertizasi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Tirik shaxslarning sud-tibbiy ekspertizalari amaliyotda eng ko‘p o‘tkaziladigan ekspertizalar turiga kiradi.</a:t>
            </a:r>
          </a:p>
          <a:p>
            <a:pPr>
              <a:spcAft>
                <a:spcPts val="1200"/>
              </a:spcAft>
            </a:pPr>
            <a:r>
              <a:rPr sz="2200">
                <a:solidFill>
                  <a:srgbClr val="1F2937"/>
                </a:solidFill>
                <a:latin typeface="Calibri"/>
              </a:rPr>
              <a:t>▸  Ular jinoiy, fuqarolik va ma’muriy ishlar bo‘yicha tayinlanadi.</a:t>
            </a:r>
          </a:p>
          <a:p>
            <a:pPr>
              <a:spcAft>
                <a:spcPts val="1200"/>
              </a:spcAft>
            </a:pPr>
            <a:r>
              <a:rPr sz="2200">
                <a:solidFill>
                  <a:srgbClr val="1F2937"/>
                </a:solidFill>
                <a:latin typeface="Calibri"/>
              </a:rPr>
              <a:t>▸  Sud-tibbiy muassasalar ishidagi eng ko‘p ekspertizalar tan jarohatlari yetkazilishi bilan bog‘liq.</a:t>
            </a:r>
          </a:p>
          <a:p>
            <a:pPr>
              <a:spcAft>
                <a:spcPts val="1200"/>
              </a:spcAft>
            </a:pPr>
            <a:r>
              <a:rPr sz="2200">
                <a:solidFill>
                  <a:srgbClr val="1F2937"/>
                </a:solidFill>
                <a:latin typeface="Calibri"/>
              </a:rPr>
              <a:t>▸  Tan jarohatlari ekspertizasi Jinoyat kodeksiga mos “Tan jarohatlarining og‘irlik darajasini sud-tibbiy aniqlash qoidalari” bo‘yicha o‘tkaziladi.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275–276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tayinlanadigan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Besh yo‘nalishda tayinlanadi: jarohat, jinsiy holat, jinsiy jinoyat, salomatlik, yosh.</a:t>
            </a:r>
          </a:p>
          <a:p>
            <a:pPr>
              <a:spcAft>
                <a:spcPts val="800"/>
              </a:spcAft>
            </a:pPr>
            <a:r>
              <a:rPr sz="1800">
                <a:solidFill>
                  <a:srgbClr val="1F2937"/>
                </a:solidFill>
                <a:latin typeface="Calibri"/>
              </a:rPr>
              <a:t>▸  Salomatlik holati: simulyasiya, dissimulyasiya, aggravatsiya, sun’iy kasallik va o‘ziga jarohat aniqlanadi.</a:t>
            </a:r>
          </a:p>
          <a:p>
            <a:pPr>
              <a:spcAft>
                <a:spcPts val="800"/>
              </a:spcAft>
            </a:pPr>
            <a:r>
              <a:rPr sz="1800">
                <a:solidFill>
                  <a:srgbClr val="1F2937"/>
                </a:solidFill>
                <a:latin typeface="Calibri"/>
              </a:rPr>
              <a:t>▸  Ambulatoriya, tuman, shahar, tumanlararo bo‘limlarda; zarur bo‘lsa davolash muassasalarida ham.</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Turi</a:t>
                      </a:r>
                    </a:p>
                  </a:txBody>
                  <a:tcPr marL="73152" marR="73152" marT="36576" marB="36576">
                    <a:solidFill>
                      <a:srgbClr val="0B1F3A"/>
                    </a:solidFill>
                  </a:tcPr>
                </a:tc>
                <a:tc>
                  <a:txBody>
                    <a:bodyPr/>
                    <a:lstStyle/>
                    <a:p>
                      <a:r>
                        <a:rPr sz="1400" b="1">
                          <a:solidFill>
                            <a:srgbClr val="FFFFFF"/>
                          </a:solidFill>
                        </a:rPr>
                        <a:t>Maqsad</a:t>
                      </a:r>
                    </a:p>
                  </a:txBody>
                  <a:tcPr marL="73152" marR="73152" marT="36576" marB="36576">
                    <a:solidFill>
                      <a:srgbClr val="0B1F3A"/>
                    </a:solidFill>
                  </a:tcPr>
                </a:tc>
              </a:tr>
              <a:tr h="411480">
                <a:tc>
                  <a:txBody>
                    <a:bodyPr/>
                    <a:lstStyle/>
                    <a:p>
                      <a:r>
                        <a:rPr sz="1300" b="0">
                          <a:solidFill>
                            <a:srgbClr val="1F2937"/>
                          </a:solidFill>
                        </a:rPr>
                        <a:t>Tan jarohatlari</a:t>
                      </a:r>
                    </a:p>
                  </a:txBody>
                  <a:tcPr marL="73152" marR="73152" marT="36576" marB="36576">
                    <a:solidFill>
                      <a:srgbClr val="E8EEF6"/>
                    </a:solidFill>
                  </a:tcPr>
                </a:tc>
                <a:tc>
                  <a:txBody>
                    <a:bodyPr/>
                    <a:lstStyle/>
                    <a:p>
                      <a:r>
                        <a:rPr sz="1300" b="0">
                          <a:solidFill>
                            <a:srgbClr val="1F2937"/>
                          </a:solidFill>
                        </a:rPr>
                        <a:t>Xarakteri va og‘irlik darajasi</a:t>
                      </a:r>
                    </a:p>
                  </a:txBody>
                  <a:tcPr marL="73152" marR="73152" marT="36576" marB="36576">
                    <a:solidFill>
                      <a:srgbClr val="E8EEF6"/>
                    </a:solidFill>
                  </a:tcPr>
                </a:tc>
              </a:tr>
              <a:tr h="411480">
                <a:tc>
                  <a:txBody>
                    <a:bodyPr/>
                    <a:lstStyle/>
                    <a:p>
                      <a:r>
                        <a:rPr sz="1300" b="0">
                          <a:solidFill>
                            <a:srgbClr val="1F2937"/>
                          </a:solidFill>
                        </a:rPr>
                        <a:t>Jinsiy holatlar</a:t>
                      </a:r>
                    </a:p>
                  </a:txBody>
                  <a:tcPr marL="73152" marR="73152" marT="36576" marB="36576">
                    <a:solidFill>
                      <a:srgbClr val="FFFFFF"/>
                    </a:solidFill>
                  </a:tcPr>
                </a:tc>
                <a:tc>
                  <a:txBody>
                    <a:bodyPr/>
                    <a:lstStyle/>
                    <a:p>
                      <a:r>
                        <a:rPr sz="1300" b="0">
                          <a:solidFill>
                            <a:srgbClr val="1F2937"/>
                          </a:solidFill>
                        </a:rPr>
                        <a:t>Jins, bokiralik, yetuklik, homiladorlik</a:t>
                      </a:r>
                    </a:p>
                  </a:txBody>
                  <a:tcPr marL="73152" marR="73152" marT="36576" marB="36576">
                    <a:solidFill>
                      <a:srgbClr val="FFFFFF"/>
                    </a:solidFill>
                  </a:tcPr>
                </a:tc>
              </a:tr>
              <a:tr h="411480">
                <a:tc>
                  <a:txBody>
                    <a:bodyPr/>
                    <a:lstStyle/>
                    <a:p>
                      <a:r>
                        <a:rPr sz="1300" b="0">
                          <a:solidFill>
                            <a:srgbClr val="1F2937"/>
                          </a:solidFill>
                        </a:rPr>
                        <a:t>Jinsiy jinoyatlar</a:t>
                      </a:r>
                    </a:p>
                  </a:txBody>
                  <a:tcPr marL="73152" marR="73152" marT="36576" marB="36576">
                    <a:solidFill>
                      <a:srgbClr val="E8EEF6"/>
                    </a:solidFill>
                  </a:tcPr>
                </a:tc>
                <a:tc>
                  <a:txBody>
                    <a:bodyPr/>
                    <a:lstStyle/>
                    <a:p>
                      <a:r>
                        <a:rPr sz="1300" b="0">
                          <a:solidFill>
                            <a:srgbClr val="1F2937"/>
                          </a:solidFill>
                        </a:rPr>
                        <a:t>Zo‘rlash, besoqolbozlik, fahsh harakatlari</a:t>
                      </a:r>
                    </a:p>
                  </a:txBody>
                  <a:tcPr marL="73152" marR="73152" marT="36576" marB="36576">
                    <a:solidFill>
                      <a:srgbClr val="E8EEF6"/>
                    </a:solidFill>
                  </a:tcPr>
                </a:tc>
              </a:tr>
              <a:tr h="411480">
                <a:tc>
                  <a:txBody>
                    <a:bodyPr/>
                    <a:lstStyle/>
                    <a:p>
                      <a:r>
                        <a:rPr sz="1300" b="0">
                          <a:solidFill>
                            <a:srgbClr val="1F2937"/>
                          </a:solidFill>
                        </a:rPr>
                        <a:t>Salomatlik va yosh</a:t>
                      </a:r>
                    </a:p>
                  </a:txBody>
                  <a:tcPr marL="73152" marR="73152" marT="36576" marB="36576">
                    <a:solidFill>
                      <a:srgbClr val="FFFFFF"/>
                    </a:solidFill>
                  </a:tcPr>
                </a:tc>
                <a:tc>
                  <a:txBody>
                    <a:bodyPr/>
                    <a:lstStyle/>
                    <a:p>
                      <a:r>
                        <a:rPr sz="1300" b="0">
                          <a:solidFill>
                            <a:srgbClr val="1F2937"/>
                          </a:solidFill>
                        </a:rPr>
                        <a:t>Sog‘liq holati, simulyasiya, yosh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yo‘nalishlari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275–276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 jarohatlari: hal etiladigan masalalar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Jinoyat kodeksi va og‘irlik darajasini aniqlash qoidalariga muvofiq o‘tkaziladi.</a:t>
            </a:r>
          </a:p>
          <a:p>
            <a:pPr>
              <a:spcAft>
                <a:spcPts val="800"/>
              </a:spcAft>
            </a:pPr>
            <a:r>
              <a:rPr sz="1800">
                <a:solidFill>
                  <a:srgbClr val="1F2937"/>
                </a:solidFill>
                <a:latin typeface="Calibri"/>
              </a:rPr>
              <a:t>▸  Og‘irlik darajasi tasniflovchi belgini ko‘rsatgan holda aniqlanadi.</a:t>
            </a:r>
          </a:p>
          <a:p>
            <a:pPr>
              <a:spcAft>
                <a:spcPts val="800"/>
              </a:spcAft>
            </a:pPr>
            <a:r>
              <a:rPr sz="1800">
                <a:solidFill>
                  <a:srgbClr val="1F2937"/>
                </a:solidFill>
                <a:latin typeface="Calibri"/>
              </a:rPr>
              <a:t>▸  Barcha ma’lumotlar “Ekspert xulosasi”da qayd etilishi lozim.</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Turi va joylashuvi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Jarohat quroli yoki vosita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Hosil bo‘lish mexanizmi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Yetkazilish muddati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Og‘irlik darajasi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Hal etiladigan masalalar</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275–276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 jarohatlarining yuridik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Jinoyat kodeksi jarohatlarni og‘ir, o‘rtacha og‘ir va yengil darajalarga ajratadi.</a:t>
            </a:r>
          </a:p>
          <a:p>
            <a:pPr>
              <a:spcAft>
                <a:spcPts val="800"/>
              </a:spcAft>
            </a:pPr>
            <a:r>
              <a:rPr sz="1800">
                <a:solidFill>
                  <a:srgbClr val="1F2937"/>
                </a:solidFill>
                <a:latin typeface="Calibri"/>
              </a:rPr>
              <a:t>▸  Og‘ir jarohat (104-modda): hayot xavfi, funksiya yo‘qolishi, homila uzilishi, ruhiy buzilish, badburushlik.</a:t>
            </a:r>
          </a:p>
          <a:p>
            <a:pPr>
              <a:spcAft>
                <a:spcPts val="800"/>
              </a:spcAft>
            </a:pPr>
            <a:r>
              <a:rPr sz="1800">
                <a:solidFill>
                  <a:srgbClr val="1F2937"/>
                </a:solidFill>
                <a:latin typeface="Calibri"/>
              </a:rPr>
              <a:t>▸  Yengil jarohat (109-modda) ikki turga bo‘linadi: oddiy yengil va sog‘liq qisqa muddat buzilgan yengil.</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39537"/>
                <a:gridCol w="1070982"/>
                <a:gridCol w="2677455"/>
              </a:tblGrid>
              <a:tr h="411480">
                <a:tc>
                  <a:txBody>
                    <a:bodyPr/>
                    <a:lstStyle/>
                    <a:p>
                      <a:r>
                        <a:rPr sz="1300" b="1">
                          <a:solidFill>
                            <a:srgbClr val="FFFFFF"/>
                          </a:solidFill>
                        </a:rPr>
                        <a:t>Daraja</a:t>
                      </a:r>
                    </a:p>
                  </a:txBody>
                  <a:tcPr marL="73152" marR="73152" marT="36576" marB="36576">
                    <a:solidFill>
                      <a:srgbClr val="0B1F3A"/>
                    </a:solidFill>
                  </a:tcPr>
                </a:tc>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Asosiy belgi</a:t>
                      </a:r>
                    </a:p>
                  </a:txBody>
                  <a:tcPr marL="73152" marR="73152" marT="36576" marB="36576">
                    <a:solidFill>
                      <a:srgbClr val="0B1F3A"/>
                    </a:solidFill>
                  </a:tcPr>
                </a:tc>
              </a:tr>
              <a:tr h="411480">
                <a:tc>
                  <a:txBody>
                    <a:bodyPr/>
                    <a:lstStyle/>
                    <a:p>
                      <a:r>
                        <a:rPr sz="1200" b="0">
                          <a:solidFill>
                            <a:srgbClr val="1F2937"/>
                          </a:solidFill>
                        </a:rPr>
                        <a:t>Og‘ir</a:t>
                      </a:r>
                    </a:p>
                  </a:txBody>
                  <a:tcPr marL="73152" marR="73152" marT="36576" marB="36576">
                    <a:solidFill>
                      <a:srgbClr val="E8EEF6"/>
                    </a:solidFill>
                  </a:tcPr>
                </a:tc>
                <a:tc>
                  <a:txBody>
                    <a:bodyPr/>
                    <a:lstStyle/>
                    <a:p>
                      <a:r>
                        <a:rPr sz="1200" b="0">
                          <a:solidFill>
                            <a:srgbClr val="1F2937"/>
                          </a:solidFill>
                        </a:rPr>
                        <a:t>104</a:t>
                      </a:r>
                    </a:p>
                  </a:txBody>
                  <a:tcPr marL="73152" marR="73152" marT="36576" marB="36576">
                    <a:solidFill>
                      <a:srgbClr val="E8EEF6"/>
                    </a:solidFill>
                  </a:tcPr>
                </a:tc>
                <a:tc>
                  <a:txBody>
                    <a:bodyPr/>
                    <a:lstStyle/>
                    <a:p>
                      <a:r>
                        <a:rPr sz="1200" b="0">
                          <a:solidFill>
                            <a:srgbClr val="1F2937"/>
                          </a:solidFill>
                        </a:rPr>
                        <a:t>Hayot xavfi; mehnat qobiliyati 33% va ko‘p yo‘qotilishi</a:t>
                      </a:r>
                    </a:p>
                  </a:txBody>
                  <a:tcPr marL="73152" marR="73152" marT="36576" marB="36576">
                    <a:solidFill>
                      <a:srgbClr val="E8EEF6"/>
                    </a:solidFill>
                  </a:tcPr>
                </a:tc>
              </a:tr>
              <a:tr h="411480">
                <a:tc>
                  <a:txBody>
                    <a:bodyPr/>
                    <a:lstStyle/>
                    <a:p>
                      <a:r>
                        <a:rPr sz="1200" b="0">
                          <a:solidFill>
                            <a:srgbClr val="1F2937"/>
                          </a:solidFill>
                        </a:rPr>
                        <a:t>O‘rtacha og‘ir</a:t>
                      </a:r>
                    </a:p>
                  </a:txBody>
                  <a:tcPr marL="73152" marR="73152" marT="36576" marB="36576">
                    <a:solidFill>
                      <a:srgbClr val="FFFFFF"/>
                    </a:solidFill>
                  </a:tcPr>
                </a:tc>
                <a:tc>
                  <a:txBody>
                    <a:bodyPr/>
                    <a:lstStyle/>
                    <a:p>
                      <a:r>
                        <a:rPr sz="1200" b="0">
                          <a:solidFill>
                            <a:srgbClr val="1F2937"/>
                          </a:solidFill>
                        </a:rPr>
                        <a:t>105</a:t>
                      </a:r>
                    </a:p>
                  </a:txBody>
                  <a:tcPr marL="73152" marR="73152" marT="36576" marB="36576">
                    <a:solidFill>
                      <a:srgbClr val="FFFFFF"/>
                    </a:solidFill>
                  </a:tcPr>
                </a:tc>
                <a:tc>
                  <a:txBody>
                    <a:bodyPr/>
                    <a:lstStyle/>
                    <a:p>
                      <a:r>
                        <a:rPr sz="1200" b="0">
                          <a:solidFill>
                            <a:srgbClr val="1F2937"/>
                          </a:solidFill>
                        </a:rPr>
                        <a:t>21 kundan ortiq; 10–33% yo‘qotish</a:t>
                      </a:r>
                    </a:p>
                  </a:txBody>
                  <a:tcPr marL="73152" marR="73152" marT="36576" marB="36576">
                    <a:solidFill>
                      <a:srgbClr val="FFFFFF"/>
                    </a:solidFill>
                  </a:tcPr>
                </a:tc>
              </a:tr>
              <a:tr h="411480">
                <a:tc>
                  <a:txBody>
                    <a:bodyPr/>
                    <a:lstStyle/>
                    <a:p>
                      <a:r>
                        <a:rPr sz="1200" b="0">
                          <a:solidFill>
                            <a:srgbClr val="1F2937"/>
                          </a:solidFill>
                        </a:rPr>
                        <a:t>Yengil (qisqa muddatli)</a:t>
                      </a:r>
                    </a:p>
                  </a:txBody>
                  <a:tcPr marL="73152" marR="73152" marT="36576" marB="36576">
                    <a:solidFill>
                      <a:srgbClr val="E8EEF6"/>
                    </a:solidFill>
                  </a:tcPr>
                </a:tc>
                <a:tc>
                  <a:txBody>
                    <a:bodyPr/>
                    <a:lstStyle/>
                    <a:p>
                      <a:r>
                        <a:rPr sz="1200" b="0">
                          <a:solidFill>
                            <a:srgbClr val="1F2937"/>
                          </a:solidFill>
                        </a:rPr>
                        <a:t>109</a:t>
                      </a:r>
                    </a:p>
                  </a:txBody>
                  <a:tcPr marL="73152" marR="73152" marT="36576" marB="36576">
                    <a:solidFill>
                      <a:srgbClr val="E8EEF6"/>
                    </a:solidFill>
                  </a:tcPr>
                </a:tc>
                <a:tc>
                  <a:txBody>
                    <a:bodyPr/>
                    <a:lstStyle/>
                    <a:p>
                      <a:r>
                        <a:rPr sz="1200" b="0">
                          <a:solidFill>
                            <a:srgbClr val="1F2937"/>
                          </a:solidFill>
                        </a:rPr>
                        <a:t>6 kundan ortiq, 21 kungacha; 10% gacha</a:t>
                      </a:r>
                    </a:p>
                  </a:txBody>
                  <a:tcPr marL="73152" marR="73152" marT="36576" marB="36576">
                    <a:solidFill>
                      <a:srgbClr val="E8EEF6"/>
                    </a:solidFill>
                  </a:tcPr>
                </a:tc>
              </a:tr>
              <a:tr h="411480">
                <a:tc>
                  <a:txBody>
                    <a:bodyPr/>
                    <a:lstStyle/>
                    <a:p>
                      <a:r>
                        <a:rPr sz="1200" b="0">
                          <a:solidFill>
                            <a:srgbClr val="1F2937"/>
                          </a:solidFill>
                        </a:rPr>
                        <a:t>Yengil</a:t>
                      </a:r>
                    </a:p>
                  </a:txBody>
                  <a:tcPr marL="73152" marR="73152" marT="36576" marB="36576">
                    <a:solidFill>
                      <a:srgbClr val="FFFFFF"/>
                    </a:solidFill>
                  </a:tcPr>
                </a:tc>
                <a:tc>
                  <a:txBody>
                    <a:bodyPr/>
                    <a:lstStyle/>
                    <a:p>
                      <a:r>
                        <a:rPr sz="1200" b="0">
                          <a:solidFill>
                            <a:srgbClr val="1F2937"/>
                          </a:solidFill>
                        </a:rPr>
                        <a:t>109</a:t>
                      </a:r>
                    </a:p>
                  </a:txBody>
                  <a:tcPr marL="73152" marR="73152" marT="36576" marB="36576">
                    <a:solidFill>
                      <a:srgbClr val="FFFFFF"/>
                    </a:solidFill>
                  </a:tcPr>
                </a:tc>
                <a:tc>
                  <a:txBody>
                    <a:bodyPr/>
                    <a:lstStyle/>
                    <a:p>
                      <a:r>
                        <a:rPr sz="1200" b="0">
                          <a:solidFill>
                            <a:srgbClr val="1F2937"/>
                          </a:solidFill>
                        </a:rPr>
                        <a:t>Sog‘liq 6 kungacha buzilgan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Og‘irlik darajalari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276, 276-277, 277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va klinik baholash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og‘irlik darajasi va klinikadagi ahvol og‘irligi bir xil tushuncha emas.</a:t>
            </a:r>
          </a:p>
          <a:p>
            <a:pPr>
              <a:spcAft>
                <a:spcPts val="800"/>
              </a:spcAft>
            </a:pPr>
            <a:r>
              <a:rPr sz="1800">
                <a:solidFill>
                  <a:srgbClr val="1F2937"/>
                </a:solidFill>
                <a:latin typeface="Calibri"/>
              </a:rPr>
              <a:t>▸  Ikkala baholashning maqsadi va mezonlari turlicha, shu sabab natijalar mos kelmasligi mumkin.</a:t>
            </a:r>
          </a:p>
          <a:p>
            <a:pPr>
              <a:spcAft>
                <a:spcPts val="800"/>
              </a:spcAft>
            </a:pPr>
            <a:r>
              <a:rPr sz="1800">
                <a:solidFill>
                  <a:srgbClr val="1F2937"/>
                </a:solidFill>
                <a:latin typeface="Calibri"/>
              </a:rPr>
              <a:t>▸  Diqqat: klinik ‘og‘ir ahvol’ ≠ sud-tibbiy ‘og‘ir tan jarohati’.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 xil shikastlanish holati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Sud-tibbiy baho: o‘z mezonlari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Klinik baho: boshqa maqsad</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Natijalar mos kelmasligi mumkin</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baholash yo‘li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Mezon: hayot uchun xavf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Hayotga bevosita tahdid soladigan yoki tahdidli holat keltiradigan jarohatlar hayot uchun xavfli sanaladi.</a:t>
            </a:r>
          </a:p>
          <a:p>
            <a:pPr>
              <a:spcAft>
                <a:spcPts val="800"/>
              </a:spcAft>
            </a:pPr>
            <a:r>
              <a:rPr sz="1800">
                <a:solidFill>
                  <a:srgbClr val="1F2937"/>
                </a:solidFill>
                <a:latin typeface="Calibri"/>
              </a:rPr>
              <a:t>▸  Misol: bo‘shliqqa o‘tuvchi yaralar, kalla suyagi sinishi, og‘ir miya lat eyishi, yirik arteriya jarohati.</a:t>
            </a:r>
          </a:p>
          <a:p>
            <a:pPr>
              <a:spcAft>
                <a:spcPts val="800"/>
              </a:spcAft>
            </a:pPr>
            <a:r>
              <a:rPr sz="1800">
                <a:solidFill>
                  <a:srgbClr val="1F2937"/>
                </a:solidFill>
                <a:latin typeface="Calibri"/>
              </a:rPr>
              <a:t>▸  Tibbiy yordam tahdidni bartaraf etsa ham, jarohat hayot uchun xavfli deb baholanaveradi.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Jarohat yetkazilishi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Hayotga tahdid yuzaga keladi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Tahdid jarohat bilan bog‘liq</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Yordam tahdidni yo‘qotsa ham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Baho: og‘ir tan jarohati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 xavfini baholash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278, 279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Mezon: umumiy mehnat qobiliyati yo‘qotilishi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Umumiy mehnat qobiliyati — o‘z-o‘ziga xizmat qilish va malaka talab qilmaydigan ishlarni bajara olish qobiliyati.</a:t>
            </a:r>
          </a:p>
          <a:p>
            <a:pPr>
              <a:spcAft>
                <a:spcPts val="800"/>
              </a:spcAft>
            </a:pPr>
            <a:r>
              <a:rPr sz="1800">
                <a:solidFill>
                  <a:srgbClr val="1F2937"/>
                </a:solidFill>
                <a:latin typeface="Calibri"/>
              </a:rPr>
              <a:t>▸  Diqqat: umumiy ≠ kasbiy; og‘irlikda faqat umumiy qobiliyat olinadi, kasbiy — fuqarolik ishlarida.</a:t>
            </a:r>
          </a:p>
          <a:p>
            <a:pPr>
              <a:spcAft>
                <a:spcPts val="800"/>
              </a:spcAft>
            </a:pPr>
            <a:r>
              <a:rPr sz="1800">
                <a:solidFill>
                  <a:srgbClr val="1F2937"/>
                </a:solidFill>
                <a:latin typeface="Calibri"/>
              </a:rPr>
              <a:t>▸  Vaqtincha yo‘qotish kunlarda, turg‘un yo‘qotish foizlarda ifodalanadi; 120 kundan ortiq buzilish shartli turg‘un sanaladi.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3040585"/>
                <a:gridCol w="2247389"/>
              </a:tblGrid>
              <a:tr h="411480">
                <a:tc>
                  <a:txBody>
                    <a:bodyPr/>
                    <a:lstStyle/>
                    <a:p>
                      <a:r>
                        <a:rPr sz="1400" b="1">
                          <a:solidFill>
                            <a:srgbClr val="FFFFFF"/>
                          </a:solidFill>
                        </a:rPr>
                        <a:t>Og‘irlik</a:t>
                      </a:r>
                    </a:p>
                  </a:txBody>
                  <a:tcPr marL="73152" marR="73152" marT="36576" marB="36576">
                    <a:solidFill>
                      <a:srgbClr val="0B1F3A"/>
                    </a:solidFill>
                  </a:tcPr>
                </a:tc>
                <a:tc>
                  <a:txBody>
                    <a:bodyPr/>
                    <a:lstStyle/>
                    <a:p>
                      <a:r>
                        <a:rPr sz="1400" b="1">
                          <a:solidFill>
                            <a:srgbClr val="FFFFFF"/>
                          </a:solidFill>
                        </a:rPr>
                        <a:t>Yo‘qotish</a:t>
                      </a:r>
                    </a:p>
                  </a:txBody>
                  <a:tcPr marL="73152" marR="73152" marT="36576" marB="36576">
                    <a:solidFill>
                      <a:srgbClr val="0B1F3A"/>
                    </a:solidFill>
                  </a:tcPr>
                </a:tc>
              </a:tr>
              <a:tr h="411480">
                <a:tc>
                  <a:txBody>
                    <a:bodyPr/>
                    <a:lstStyle/>
                    <a:p>
                      <a:r>
                        <a:rPr sz="1300" b="0">
                          <a:solidFill>
                            <a:srgbClr val="1F2937"/>
                          </a:solidFill>
                        </a:rPr>
                        <a:t>Og‘ir</a:t>
                      </a:r>
                    </a:p>
                  </a:txBody>
                  <a:tcPr marL="73152" marR="73152" marT="36576" marB="36576">
                    <a:solidFill>
                      <a:srgbClr val="E8EEF6"/>
                    </a:solidFill>
                  </a:tcPr>
                </a:tc>
                <a:tc>
                  <a:txBody>
                    <a:bodyPr/>
                    <a:lstStyle/>
                    <a:p>
                      <a:r>
                        <a:rPr sz="1300" b="0">
                          <a:solidFill>
                            <a:srgbClr val="1F2937"/>
                          </a:solidFill>
                        </a:rPr>
                        <a:t>33% va undan ko‘p</a:t>
                      </a:r>
                    </a:p>
                  </a:txBody>
                  <a:tcPr marL="73152" marR="73152" marT="36576" marB="36576">
                    <a:solidFill>
                      <a:srgbClr val="E8EEF6"/>
                    </a:solidFill>
                  </a:tcPr>
                </a:tc>
              </a:tr>
              <a:tr h="411480">
                <a:tc>
                  <a:txBody>
                    <a:bodyPr/>
                    <a:lstStyle/>
                    <a:p>
                      <a:r>
                        <a:rPr sz="1300" b="0">
                          <a:solidFill>
                            <a:srgbClr val="1F2937"/>
                          </a:solidFill>
                        </a:rPr>
                        <a:t>O‘rtacha og‘ir</a:t>
                      </a:r>
                    </a:p>
                  </a:txBody>
                  <a:tcPr marL="73152" marR="73152" marT="36576" marB="36576">
                    <a:solidFill>
                      <a:srgbClr val="FFFFFF"/>
                    </a:solidFill>
                  </a:tcPr>
                </a:tc>
                <a:tc>
                  <a:txBody>
                    <a:bodyPr/>
                    <a:lstStyle/>
                    <a:p>
                      <a:r>
                        <a:rPr sz="1300" b="0">
                          <a:solidFill>
                            <a:srgbClr val="1F2937"/>
                          </a:solidFill>
                        </a:rPr>
                        <a:t>10% dan 33% gacha</a:t>
                      </a:r>
                    </a:p>
                  </a:txBody>
                  <a:tcPr marL="73152" marR="73152" marT="36576" marB="36576">
                    <a:solidFill>
                      <a:srgbClr val="FFFFFF"/>
                    </a:solidFill>
                  </a:tcPr>
                </a:tc>
              </a:tr>
              <a:tr h="411480">
                <a:tc>
                  <a:txBody>
                    <a:bodyPr/>
                    <a:lstStyle/>
                    <a:p>
                      <a:r>
                        <a:rPr sz="1300" b="0">
                          <a:solidFill>
                            <a:srgbClr val="1F2937"/>
                          </a:solidFill>
                        </a:rPr>
                        <a:t>Yengil (qisqa muddatli)</a:t>
                      </a:r>
                    </a:p>
                  </a:txBody>
                  <a:tcPr marL="73152" marR="73152" marT="36576" marB="36576">
                    <a:solidFill>
                      <a:srgbClr val="E8EEF6"/>
                    </a:solidFill>
                  </a:tcPr>
                </a:tc>
                <a:tc>
                  <a:txBody>
                    <a:bodyPr/>
                    <a:lstStyle/>
                    <a:p>
                      <a:r>
                        <a:rPr sz="1300" b="0">
                          <a:solidFill>
                            <a:srgbClr val="1F2937"/>
                          </a:solidFill>
                        </a:rPr>
                        <a:t>10% gacha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Yo‘qotish foizi va og‘irlik darajasi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279, 279–280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Mezon: sog‘liq buzilishi davomiyligi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Sog‘liq buzilishi davomiyligi sud-tibbiy amaliyotda eng ko‘p qo‘llaniladigan mezondir.</a:t>
            </a:r>
          </a:p>
          <a:p>
            <a:pPr>
              <a:spcAft>
                <a:spcPts val="800"/>
              </a:spcAft>
            </a:pPr>
            <a:r>
              <a:rPr sz="1800">
                <a:solidFill>
                  <a:srgbClr val="1F2937"/>
                </a:solidFill>
                <a:latin typeface="Calibri"/>
              </a:rPr>
              <a:t>▸  Muddat ob’ektiv tibbiy ma’lumotlar asosida kunlarda belgilanadi.</a:t>
            </a:r>
          </a:p>
          <a:p>
            <a:pPr>
              <a:spcAft>
                <a:spcPts val="800"/>
              </a:spcAft>
            </a:pPr>
            <a:r>
              <a:rPr sz="1800">
                <a:solidFill>
                  <a:srgbClr val="1F2937"/>
                </a:solidFill>
                <a:latin typeface="Calibri"/>
              </a:rPr>
              <a:t>▸  Diqqat: davolanish muddati ≠ buzilish davomiyligi; kech murojaat sabab cho‘zilish hisobga olinmaydi.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419920"/>
                <a:gridCol w="2868054"/>
              </a:tblGrid>
              <a:tr h="411480">
                <a:tc>
                  <a:txBody>
                    <a:bodyPr/>
                    <a:lstStyle/>
                    <a:p>
                      <a:r>
                        <a:rPr sz="1400" b="1">
                          <a:solidFill>
                            <a:srgbClr val="FFFFFF"/>
                          </a:solidFill>
                        </a:rPr>
                        <a:t>Davomiyligi</a:t>
                      </a:r>
                    </a:p>
                  </a:txBody>
                  <a:tcPr marL="73152" marR="73152" marT="36576" marB="36576">
                    <a:solidFill>
                      <a:srgbClr val="0B1F3A"/>
                    </a:solidFill>
                  </a:tcPr>
                </a:tc>
                <a:tc>
                  <a:txBody>
                    <a:bodyPr/>
                    <a:lstStyle/>
                    <a:p>
                      <a:r>
                        <a:rPr sz="1400" b="1">
                          <a:solidFill>
                            <a:srgbClr val="FFFFFF"/>
                          </a:solidFill>
                        </a:rPr>
                        <a:t>Baho</a:t>
                      </a:r>
                    </a:p>
                  </a:txBody>
                  <a:tcPr marL="73152" marR="73152" marT="36576" marB="36576">
                    <a:solidFill>
                      <a:srgbClr val="0B1F3A"/>
                    </a:solidFill>
                  </a:tcPr>
                </a:tc>
              </a:tr>
              <a:tr h="411480">
                <a:tc>
                  <a:txBody>
                    <a:bodyPr/>
                    <a:lstStyle/>
                    <a:p>
                      <a:r>
                        <a:rPr sz="1300" b="0">
                          <a:solidFill>
                            <a:srgbClr val="1F2937"/>
                          </a:solidFill>
                        </a:rPr>
                        <a:t>6 kungacha</a:t>
                      </a:r>
                    </a:p>
                  </a:txBody>
                  <a:tcPr marL="73152" marR="73152" marT="36576" marB="36576">
                    <a:solidFill>
                      <a:srgbClr val="E8EEF6"/>
                    </a:solidFill>
                  </a:tcPr>
                </a:tc>
                <a:tc>
                  <a:txBody>
                    <a:bodyPr/>
                    <a:lstStyle/>
                    <a:p>
                      <a:r>
                        <a:rPr sz="1300" b="0">
                          <a:solidFill>
                            <a:srgbClr val="1F2937"/>
                          </a:solidFill>
                        </a:rPr>
                        <a:t>Yengil</a:t>
                      </a:r>
                    </a:p>
                  </a:txBody>
                  <a:tcPr marL="73152" marR="73152" marT="36576" marB="36576">
                    <a:solidFill>
                      <a:srgbClr val="E8EEF6"/>
                    </a:solidFill>
                  </a:tcPr>
                </a:tc>
              </a:tr>
              <a:tr h="411480">
                <a:tc>
                  <a:txBody>
                    <a:bodyPr/>
                    <a:lstStyle/>
                    <a:p>
                      <a:r>
                        <a:rPr sz="1300" b="0">
                          <a:solidFill>
                            <a:srgbClr val="1F2937"/>
                          </a:solidFill>
                        </a:rPr>
                        <a:t>6 kundan ortiq, 21 kungacha</a:t>
                      </a:r>
                    </a:p>
                  </a:txBody>
                  <a:tcPr marL="73152" marR="73152" marT="36576" marB="36576">
                    <a:solidFill>
                      <a:srgbClr val="FFFFFF"/>
                    </a:solidFill>
                  </a:tcPr>
                </a:tc>
                <a:tc>
                  <a:txBody>
                    <a:bodyPr/>
                    <a:lstStyle/>
                    <a:p>
                      <a:r>
                        <a:rPr sz="1300" b="0">
                          <a:solidFill>
                            <a:srgbClr val="1F2937"/>
                          </a:solidFill>
                        </a:rPr>
                        <a:t>Yengil (qisqa muddatli buzilish)</a:t>
                      </a:r>
                    </a:p>
                  </a:txBody>
                  <a:tcPr marL="73152" marR="73152" marT="36576" marB="36576">
                    <a:solidFill>
                      <a:srgbClr val="FFFFFF"/>
                    </a:solidFill>
                  </a:tcPr>
                </a:tc>
              </a:tr>
              <a:tr h="411480">
                <a:tc>
                  <a:txBody>
                    <a:bodyPr/>
                    <a:lstStyle/>
                    <a:p>
                      <a:r>
                        <a:rPr sz="1300" b="0">
                          <a:solidFill>
                            <a:srgbClr val="1F2937"/>
                          </a:solidFill>
                        </a:rPr>
                        <a:t>21 kundan ortiq</a:t>
                      </a:r>
                    </a:p>
                  </a:txBody>
                  <a:tcPr marL="73152" marR="73152" marT="36576" marB="36576">
                    <a:solidFill>
                      <a:srgbClr val="E8EEF6"/>
                    </a:solidFill>
                  </a:tcPr>
                </a:tc>
                <a:tc>
                  <a:txBody>
                    <a:bodyPr/>
                    <a:lstStyle/>
                    <a:p>
                      <a:r>
                        <a:rPr sz="1300" b="0">
                          <a:solidFill>
                            <a:srgbClr val="1F2937"/>
                          </a:solidFill>
                        </a:rPr>
                        <a:t>O‘rtacha og‘ir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Kunlar chegarasi va baho</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280, 281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og‘irlik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sog‘liq buzilishi necha kundan oshsa, jarohat o‘rtacha og‘ir bo‘ladi? Javob: 21 kundan ortiq.</a:t>
            </a:r>
          </a:p>
          <a:p>
            <a:pPr>
              <a:spcAft>
                <a:spcPts val="1200"/>
              </a:spcAft>
            </a:pPr>
            <a:r>
              <a:rPr sz="2200">
                <a:solidFill>
                  <a:srgbClr val="1F2937"/>
                </a:solidFill>
                <a:latin typeface="Calibri"/>
              </a:rPr>
              <a:t>▸  Savol 2: umumiy mehnat qobiliyatining qancha qismi turg‘un yo‘qotilsa, jarohat og‘ir bo‘ladi? Javob: 33% va undan ko‘p.</a:t>
            </a:r>
          </a:p>
          <a:p>
            <a:pPr>
              <a:spcAft>
                <a:spcPts val="1200"/>
              </a:spcAft>
            </a:pPr>
            <a:r>
              <a:rPr sz="2200">
                <a:solidFill>
                  <a:srgbClr val="1F2937"/>
                </a:solidFill>
                <a:latin typeface="Calibri"/>
              </a:rPr>
              <a:t>▸  Savol 3: 10% gacha va 10–33% gacha yo‘qotish qaysi darajalarga mos? Javob: yengil (qisqa muddatli) va o‘rtacha og‘ir.</a:t>
            </a:r>
          </a:p>
          <a:p>
            <a:pPr>
              <a:spcAft>
                <a:spcPts val="1200"/>
              </a:spcAft>
            </a:pPr>
            <a:r>
              <a:rPr sz="2200">
                <a:solidFill>
                  <a:srgbClr val="1F2937"/>
                </a:solidFill>
                <a:latin typeface="Calibri"/>
              </a:rPr>
              <a:t>▸  Savol 4: qaysi mezon foizda, qaysi biri kunda ifodalanadi? Javob: turg‘un yo‘qotish — foizda; buzilish davomiyligi — kunda.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281, 280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Ko‘rish, so‘zlash, eshitish yo‘qotilishi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Ikkala ko‘zda qaytmas ko‘rlik yoki ko‘rish o‘tkirligi 0,04 va undan past bo‘lsa, jarohat og‘ir hisoblanadi.</a:t>
            </a:r>
          </a:p>
          <a:p>
            <a:pPr>
              <a:spcAft>
                <a:spcPts val="800"/>
              </a:spcAft>
            </a:pPr>
            <a:r>
              <a:rPr sz="1800">
                <a:solidFill>
                  <a:srgbClr val="1F2937"/>
                </a:solidFill>
                <a:latin typeface="Calibri"/>
              </a:rPr>
              <a:t>▸  Ikkala quloqda to‘liq karlik yoki nutqni quloqdan 3-5 sm da eshitmaslik og‘ir; bir quloq yo‘qolsa o‘rtacha og‘ir.</a:t>
            </a:r>
          </a:p>
          <a:p>
            <a:pPr>
              <a:spcAft>
                <a:spcPts val="800"/>
              </a:spcAft>
            </a:pPr>
            <a:r>
              <a:rPr sz="1800">
                <a:solidFill>
                  <a:srgbClr val="1F2937"/>
                </a:solidFill>
                <a:latin typeface="Calibri"/>
              </a:rPr>
              <a:t>▸  Diqqat: ko‘rmaydigan ko‘z yo‘qolsa, og‘irlik sog‘liq buzilishi davomiyligiga qarab aniqlanadi.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Shikast</a:t>
                      </a:r>
                    </a:p>
                  </a:txBody>
                  <a:tcPr marL="73152" marR="73152" marT="36576" marB="36576">
                    <a:solidFill>
                      <a:srgbClr val="0B1F3A"/>
                    </a:solidFill>
                  </a:tcPr>
                </a:tc>
                <a:tc>
                  <a:txBody>
                    <a:bodyPr/>
                    <a:lstStyle/>
                    <a:p>
                      <a:r>
                        <a:rPr sz="1400" b="1">
                          <a:solidFill>
                            <a:srgbClr val="FFFFFF"/>
                          </a:solidFill>
                        </a:rPr>
                        <a:t>Baho</a:t>
                      </a:r>
                    </a:p>
                  </a:txBody>
                  <a:tcPr marL="73152" marR="73152" marT="36576" marB="36576">
                    <a:solidFill>
                      <a:srgbClr val="0B1F3A"/>
                    </a:solidFill>
                  </a:tcPr>
                </a:tc>
              </a:tr>
              <a:tr h="411480">
                <a:tc>
                  <a:txBody>
                    <a:bodyPr/>
                    <a:lstStyle/>
                    <a:p>
                      <a:r>
                        <a:rPr sz="1300" b="0">
                          <a:solidFill>
                            <a:srgbClr val="1F2937"/>
                          </a:solidFill>
                        </a:rPr>
                        <a:t>Ikkala ko‘zda to‘liq ko‘rlik</a:t>
                      </a:r>
                    </a:p>
                  </a:txBody>
                  <a:tcPr marL="73152" marR="73152" marT="36576" marB="36576">
                    <a:solidFill>
                      <a:srgbClr val="E8EEF6"/>
                    </a:solidFill>
                  </a:tcPr>
                </a:tc>
                <a:tc>
                  <a:txBody>
                    <a:bodyPr/>
                    <a:lstStyle/>
                    <a:p>
                      <a:r>
                        <a:rPr sz="1300" b="0">
                          <a:solidFill>
                            <a:srgbClr val="1F2937"/>
                          </a:solidFill>
                        </a:rPr>
                        <a:t>Og‘ir</a:t>
                      </a:r>
                    </a:p>
                  </a:txBody>
                  <a:tcPr marL="73152" marR="73152" marT="36576" marB="36576">
                    <a:solidFill>
                      <a:srgbClr val="E8EEF6"/>
                    </a:solidFill>
                  </a:tcPr>
                </a:tc>
              </a:tr>
              <a:tr h="411480">
                <a:tc>
                  <a:txBody>
                    <a:bodyPr/>
                    <a:lstStyle/>
                    <a:p>
                      <a:r>
                        <a:rPr sz="1300" b="0">
                          <a:solidFill>
                            <a:srgbClr val="1F2937"/>
                          </a:solidFill>
                        </a:rPr>
                        <a:t>Sog‘ bir ko‘zning yo‘qolishi</a:t>
                      </a:r>
                    </a:p>
                  </a:txBody>
                  <a:tcPr marL="73152" marR="73152" marT="36576" marB="36576">
                    <a:solidFill>
                      <a:srgbClr val="FFFFFF"/>
                    </a:solidFill>
                  </a:tcPr>
                </a:tc>
                <a:tc>
                  <a:txBody>
                    <a:bodyPr/>
                    <a:lstStyle/>
                    <a:p>
                      <a:r>
                        <a:rPr sz="1300" b="0">
                          <a:solidFill>
                            <a:srgbClr val="1F2937"/>
                          </a:solidFill>
                        </a:rPr>
                        <a:t>Og‘ir (mehnat qobiliyati &gt; 1/3)</a:t>
                      </a:r>
                    </a:p>
                  </a:txBody>
                  <a:tcPr marL="73152" marR="73152" marT="36576" marB="36576">
                    <a:solidFill>
                      <a:srgbClr val="FFFFFF"/>
                    </a:solidFill>
                  </a:tcPr>
                </a:tc>
              </a:tr>
              <a:tr h="411480">
                <a:tc>
                  <a:txBody>
                    <a:bodyPr/>
                    <a:lstStyle/>
                    <a:p>
                      <a:r>
                        <a:rPr sz="1300" b="0">
                          <a:solidFill>
                            <a:srgbClr val="1F2937"/>
                          </a:solidFill>
                        </a:rPr>
                        <a:t>Til butunlay yoki yarmi yo‘q</a:t>
                      </a:r>
                    </a:p>
                  </a:txBody>
                  <a:tcPr marL="73152" marR="73152" marT="36576" marB="36576">
                    <a:solidFill>
                      <a:srgbClr val="E8EEF6"/>
                    </a:solidFill>
                  </a:tcPr>
                </a:tc>
                <a:tc>
                  <a:txBody>
                    <a:bodyPr/>
                    <a:lstStyle/>
                    <a:p>
                      <a:r>
                        <a:rPr sz="1300" b="0">
                          <a:solidFill>
                            <a:srgbClr val="1F2937"/>
                          </a:solidFill>
                        </a:rPr>
                        <a:t>Og‘ir</a:t>
                      </a:r>
                    </a:p>
                  </a:txBody>
                  <a:tcPr marL="73152" marR="73152" marT="36576" marB="36576">
                    <a:solidFill>
                      <a:srgbClr val="E8EEF6"/>
                    </a:solidFill>
                  </a:tcPr>
                </a:tc>
              </a:tr>
              <a:tr h="411480">
                <a:tc>
                  <a:txBody>
                    <a:bodyPr/>
                    <a:lstStyle/>
                    <a:p>
                      <a:r>
                        <a:rPr sz="1300" b="0">
                          <a:solidFill>
                            <a:srgbClr val="1F2937"/>
                          </a:solidFill>
                        </a:rPr>
                        <a:t>Bir quloqda eshitish yo‘qolishi</a:t>
                      </a:r>
                    </a:p>
                  </a:txBody>
                  <a:tcPr marL="73152" marR="73152" marT="36576" marB="36576">
                    <a:solidFill>
                      <a:srgbClr val="FFFFFF"/>
                    </a:solidFill>
                  </a:tcPr>
                </a:tc>
                <a:tc>
                  <a:txBody>
                    <a:bodyPr/>
                    <a:lstStyle/>
                    <a:p>
                      <a:r>
                        <a:rPr sz="1300" b="0">
                          <a:solidFill>
                            <a:srgbClr val="1F2937"/>
                          </a:solidFill>
                        </a:rPr>
                        <a:t>O‘rtacha og‘ir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Yo‘qotilish va baho</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281, 282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A’zo va nasl qoldirish qobiliyatining yo‘qotilishi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Qo‘l yoki oyoq yo‘qotilishi — ularning uzilishi yoki faoliyatining turg‘un yo‘qolishi (falajlik). Kaft va tovon qo‘l-oyoqqa tenglashtiriladi.</a:t>
            </a:r>
          </a:p>
          <a:p>
            <a:pPr>
              <a:spcAft>
                <a:spcPts val="1200"/>
              </a:spcAft>
            </a:pPr>
            <a:r>
              <a:rPr sz="2200">
                <a:solidFill>
                  <a:srgbClr val="1F2937"/>
                </a:solidFill>
                <a:latin typeface="Calibri"/>
              </a:rPr>
              <a:t>▸  Erkakda nasl qoldirish — jinsiy aloqa va urug‘lantirish. Ayolda — aloqa, urug‘lanish, homilani saqlash va tug‘ish.</a:t>
            </a:r>
          </a:p>
          <a:p>
            <a:pPr>
              <a:spcAft>
                <a:spcPts val="1200"/>
              </a:spcAft>
            </a:pPr>
            <a:r>
              <a:rPr sz="2200">
                <a:solidFill>
                  <a:srgbClr val="1F2937"/>
                </a:solidFill>
                <a:latin typeface="Calibri"/>
              </a:rPr>
              <a:t>▸  Shu funksiyalarni bajarishga monelik qiladigan holat paydo bo‘lsa, nasl qoldirish qobiliyati yo‘qotilgan hisoblanadi.</a:t>
            </a:r>
          </a:p>
          <a:p>
            <a:pPr>
              <a:spcAft>
                <a:spcPts val="1200"/>
              </a:spcAft>
            </a:pPr>
            <a:r>
              <a:rPr sz="2200">
                <a:solidFill>
                  <a:srgbClr val="1F2937"/>
                </a:solidFill>
                <a:latin typeface="Calibri"/>
              </a:rPr>
              <a:t>▸  A’zo yoki funksiyani yo‘qotgan shikast, shuningdek bitta urug‘don, tuxumdon yoki buyrak yo‘qolishi og‘ir tan jarohatidir.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Homiladorlik uzilishi, ruhiy buzilish, badburushlik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Uzilish va jarohat o‘rtasida to‘g‘ridan-to‘g‘ri sabab-oqibat bog‘liqligi bo‘lsagina og‘ir baholanadi.</a:t>
            </a:r>
          </a:p>
          <a:p>
            <a:pPr>
              <a:spcAft>
                <a:spcPts val="800"/>
              </a:spcAft>
            </a:pPr>
            <a:r>
              <a:rPr sz="1800">
                <a:solidFill>
                  <a:srgbClr val="1F2937"/>
                </a:solidFill>
                <a:latin typeface="Calibri"/>
              </a:rPr>
              <a:t>▸  Ruhiy buzilish ham jarohat bilan bevosita sababiy bog‘liq bo‘lsa, og‘ir tan jarohati hisoblanadi.</a:t>
            </a:r>
          </a:p>
          <a:p>
            <a:pPr>
              <a:spcAft>
                <a:spcPts val="800"/>
              </a:spcAft>
            </a:pPr>
            <a:r>
              <a:rPr sz="1800">
                <a:solidFill>
                  <a:srgbClr val="1F2937"/>
                </a:solidFill>
                <a:latin typeface="Calibri"/>
              </a:rPr>
              <a:t>▸  Silliqlanmaydigan badburushlik vaqt yoki davo bilan yo‘qolmaydi; uni bartaraf etish uchun jarrohlik kerak.</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440603"/>
                <a:gridCol w="2847371"/>
              </a:tblGrid>
              <a:tr h="411480">
                <a:tc>
                  <a:txBody>
                    <a:bodyPr/>
                    <a:lstStyle/>
                    <a:p>
                      <a:r>
                        <a:rPr sz="1400" b="1">
                          <a:solidFill>
                            <a:srgbClr val="FFFFFF"/>
                          </a:solidFill>
                        </a:rPr>
                        <a:t>Mezon</a:t>
                      </a:r>
                    </a:p>
                  </a:txBody>
                  <a:tcPr marL="73152" marR="73152" marT="36576" marB="36576">
                    <a:solidFill>
                      <a:srgbClr val="0B1F3A"/>
                    </a:solidFill>
                  </a:tcPr>
                </a:tc>
                <a:tc>
                  <a:txBody>
                    <a:bodyPr/>
                    <a:lstStyle/>
                    <a:p>
                      <a:r>
                        <a:rPr sz="1400" b="1">
                          <a:solidFill>
                            <a:srgbClr val="FFFFFF"/>
                          </a:solidFill>
                        </a:rPr>
                        <a:t>Jalb qilinadi</a:t>
                      </a:r>
                    </a:p>
                  </a:txBody>
                  <a:tcPr marL="73152" marR="73152" marT="36576" marB="36576">
                    <a:solidFill>
                      <a:srgbClr val="0B1F3A"/>
                    </a:solidFill>
                  </a:tcPr>
                </a:tc>
              </a:tr>
              <a:tr h="411480">
                <a:tc>
                  <a:txBody>
                    <a:bodyPr/>
                    <a:lstStyle/>
                    <a:p>
                      <a:r>
                        <a:rPr sz="1300" b="0">
                          <a:solidFill>
                            <a:srgbClr val="1F2937"/>
                          </a:solidFill>
                        </a:rPr>
                        <a:t>Homiladorlik uzilishi</a:t>
                      </a:r>
                    </a:p>
                  </a:txBody>
                  <a:tcPr marL="73152" marR="73152" marT="36576" marB="36576">
                    <a:solidFill>
                      <a:srgbClr val="E8EEF6"/>
                    </a:solidFill>
                  </a:tcPr>
                </a:tc>
                <a:tc>
                  <a:txBody>
                    <a:bodyPr/>
                    <a:lstStyle/>
                    <a:p>
                      <a:r>
                        <a:rPr sz="1300" b="0">
                          <a:solidFill>
                            <a:srgbClr val="1F2937"/>
                          </a:solidFill>
                        </a:rPr>
                        <a:t>Akusher-ginekolog</a:t>
                      </a:r>
                    </a:p>
                  </a:txBody>
                  <a:tcPr marL="73152" marR="73152" marT="36576" marB="36576">
                    <a:solidFill>
                      <a:srgbClr val="E8EEF6"/>
                    </a:solidFill>
                  </a:tcPr>
                </a:tc>
              </a:tr>
              <a:tr h="411480">
                <a:tc>
                  <a:txBody>
                    <a:bodyPr/>
                    <a:lstStyle/>
                    <a:p>
                      <a:r>
                        <a:rPr sz="1300" b="0">
                          <a:solidFill>
                            <a:srgbClr val="1F2937"/>
                          </a:solidFill>
                        </a:rPr>
                        <a:t>Ruhiy buzilish</a:t>
                      </a:r>
                    </a:p>
                  </a:txBody>
                  <a:tcPr marL="73152" marR="73152" marT="36576" marB="36576">
                    <a:solidFill>
                      <a:srgbClr val="FFFFFF"/>
                    </a:solidFill>
                  </a:tcPr>
                </a:tc>
                <a:tc>
                  <a:txBody>
                    <a:bodyPr/>
                    <a:lstStyle/>
                    <a:p>
                      <a:r>
                        <a:rPr sz="1300" b="0">
                          <a:solidFill>
                            <a:srgbClr val="1F2937"/>
                          </a:solidFill>
                        </a:rPr>
                        <a:t>Sud-psixiatr; nevrolog, neyroxirurg</a:t>
                      </a:r>
                    </a:p>
                  </a:txBody>
                  <a:tcPr marL="73152" marR="73152" marT="36576" marB="36576">
                    <a:solidFill>
                      <a:srgbClr val="FFFFFF"/>
                    </a:solidFill>
                  </a:tcPr>
                </a:tc>
              </a:tr>
              <a:tr h="411480">
                <a:tc>
                  <a:txBody>
                    <a:bodyPr/>
                    <a:lstStyle/>
                    <a:p>
                      <a:r>
                        <a:rPr sz="1300" b="0">
                          <a:solidFill>
                            <a:srgbClr val="1F2937"/>
                          </a:solidFill>
                        </a:rPr>
                        <a:t>Silliqlanmaydigan badburushlik</a:t>
                      </a:r>
                    </a:p>
                  </a:txBody>
                  <a:tcPr marL="73152" marR="73152" marT="36576" marB="36576">
                    <a:solidFill>
                      <a:srgbClr val="E8EEF6"/>
                    </a:solidFill>
                  </a:tcPr>
                </a:tc>
                <a:tc>
                  <a:txBody>
                    <a:bodyPr/>
                    <a:lstStyle/>
                    <a:p>
                      <a:r>
                        <a:rPr sz="1300" b="0">
                          <a:solidFill>
                            <a:srgbClr val="1F2937"/>
                          </a:solidFill>
                        </a:rPr>
                        <a:t>Plastik jarroh, kosmetolog</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Mezon va mutaxassis</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282-283, 283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Mezonlarni qo‘llash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Daraja aniqlashda tibbiy mezonlardan bittasi yetarli. Bir necha mezon bo‘lsa, og‘irroq darajaga mos mezon bo‘yicha baholanadi.</a:t>
            </a:r>
          </a:p>
          <a:p>
            <a:pPr>
              <a:spcAft>
                <a:spcPts val="1200"/>
              </a:spcAft>
            </a:pPr>
            <a:r>
              <a:rPr sz="2200">
                <a:solidFill>
                  <a:srgbClr val="1F2937"/>
                </a:solidFill>
                <a:latin typeface="Calibri"/>
              </a:rPr>
              <a:t>▸  Bir hodisadagi ko‘p jarohat bir-birining kechishini og‘irlashtirsa, daraja majmui uchun umumiy beriladi. Turli muddatda yetkazilgan jarohatlar alohida baholanadi.</a:t>
            </a:r>
          </a:p>
          <a:p>
            <a:pPr>
              <a:spcAft>
                <a:spcPts val="1200"/>
              </a:spcAft>
            </a:pPr>
            <a:r>
              <a:rPr sz="2200">
                <a:solidFill>
                  <a:srgbClr val="1F2937"/>
                </a:solidFill>
                <a:latin typeface="Calibri"/>
              </a:rPr>
              <a:t>▸  Faqat yangi jarohat bilan sababiy bog‘liq oqibatlar hisobga olinadi. Yosh, kasalliklar yoki tibbiy yordam nuqsonlari (kech murojaat) sabab yomonlashuv hisobga olinmaydi.</a:t>
            </a:r>
          </a:p>
          <a:p>
            <a:pPr>
              <a:spcAft>
                <a:spcPts val="1200"/>
              </a:spcAft>
            </a:pPr>
            <a:r>
              <a:rPr sz="2200">
                <a:solidFill>
                  <a:srgbClr val="1F2937"/>
                </a:solidFill>
                <a:latin typeface="Calibri"/>
              </a:rPr>
              <a:t>▸  Jarohat mohiyatini aniqlash imkoni bo‘lmasa yoki oqibati mavhum bo‘lsa, og‘irlik darajasi aniqlanmaydi.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283, 284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tan jarohatini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jabrlanuvchida sog‘liqning buzilishi 10 kun davom etgan, boshqa mezon aniqlanmagan. Savol: jarohat qaysi darajaga kiradi?</a:t>
            </a:r>
          </a:p>
          <a:p>
            <a:pPr>
              <a:spcAft>
                <a:spcPts val="1200"/>
              </a:spcAft>
            </a:pPr>
            <a:r>
              <a:rPr sz="2200">
                <a:solidFill>
                  <a:srgbClr val="1F2937"/>
                </a:solidFill>
                <a:latin typeface="Calibri"/>
              </a:rPr>
              <a:t>▸  Javob: olti kundan ortiq, ammo 21 kundan ko‘p emas, shuning uchun sog‘liqning qisqa muddatga buzilishiga olib kelgan yengil tan jarohati.</a:t>
            </a:r>
          </a:p>
          <a:p>
            <a:pPr>
              <a:spcAft>
                <a:spcPts val="1200"/>
              </a:spcAft>
            </a:pPr>
            <a:r>
              <a:rPr sz="2200">
                <a:solidFill>
                  <a:srgbClr val="1F2937"/>
                </a:solidFill>
                <a:latin typeface="Calibri"/>
              </a:rPr>
              <a:t>▸  Savol: shu shaxsda jarohatgacha sog‘ bo‘lgan bir ko‘zning ko‘rishi to‘liq yo‘qolgan bo‘lsa, baho o‘zgaradimi?</a:t>
            </a:r>
          </a:p>
          <a:p>
            <a:pPr>
              <a:spcAft>
                <a:spcPts val="1200"/>
              </a:spcAft>
            </a:pPr>
            <a:r>
              <a:rPr sz="2200">
                <a:solidFill>
                  <a:srgbClr val="1F2937"/>
                </a:solidFill>
                <a:latin typeface="Calibri"/>
              </a:rPr>
              <a:t>▸  Javob: ha. Bir ko‘zning yo‘qolishi mehnat qobiliyatining uchdan biridan ortig‘ini yo‘qotadi, bu og‘ir jarohat. Og‘irroq mezon tanlanadi.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281, 281, 283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Salomatlik holatini aniqlash va simulyasiya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Ekspertiza kasallik shubhasi tufayli shaxs chaqiriqqa kelmaganda, gumondor yoki ayblanuvchining sud-tergov harakatlarida ishtirok etish imkonini aniqlash uchun tayinlanadi.</a:t>
            </a:r>
          </a:p>
          <a:p>
            <a:pPr>
              <a:spcAft>
                <a:spcPts val="1200"/>
              </a:spcAft>
            </a:pPr>
            <a:r>
              <a:rPr sz="2000">
                <a:solidFill>
                  <a:srgbClr val="1F2937"/>
                </a:solidFill>
                <a:latin typeface="Calibri"/>
              </a:rPr>
              <a:t>▸  U komission tartibda klinitsist-mutaxassislar bilan o‘tkaziladi: tibbiy hujjatlar o‘rganiladi, shaxs har tomonlama tekshiriladi, ba’zan statsionarda kuzatiladi.</a:t>
            </a:r>
          </a:p>
          <a:p>
            <a:pPr>
              <a:spcAft>
                <a:spcPts val="1200"/>
              </a:spcAft>
            </a:pPr>
            <a:r>
              <a:rPr sz="2000">
                <a:solidFill>
                  <a:srgbClr val="1F2937"/>
                </a:solidFill>
                <a:latin typeface="Calibri"/>
              </a:rPr>
              <a:t>▸  Simulyasiya — sog‘lom shaxsning mavjud bo‘lmagan kasallikni bor deb ko‘rsatishi. U turli usullar bilan kasallikning subyektiv va ob’ektiv belgilarini taqlid qiladi.</a:t>
            </a:r>
          </a:p>
          <a:p>
            <a:pPr>
              <a:spcAft>
                <a:spcPts val="1200"/>
              </a:spcAft>
            </a:pPr>
            <a:r>
              <a:rPr sz="2000">
                <a:solidFill>
                  <a:srgbClr val="1F2937"/>
                </a:solidFill>
                <a:latin typeface="Calibri"/>
              </a:rPr>
              <a:t>▸  Simulyant ahvolini og‘irroq ko‘rsatadi, shikoyatlari ob’ektiv belgilarga mos kelmaydi. Masalan, achchiq choydan taxikardiya chaqirib yurak kasalligini taqlid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284, 285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Aggravatsiya va dissimulyasiya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Aggravatsiya — mavjud kasallik yoki travma belgilarini og‘irroq qilib ko‘rsatish; asosan sub’ektiv belgilar.</a:t>
            </a:r>
          </a:p>
          <a:p>
            <a:pPr>
              <a:spcAft>
                <a:spcPts val="800"/>
              </a:spcAft>
            </a:pPr>
            <a:r>
              <a:rPr sz="1800">
                <a:solidFill>
                  <a:srgbClr val="1F2937"/>
                </a:solidFill>
                <a:latin typeface="Calibri"/>
              </a:rPr>
              <a:t>▸  Simulyasiya va aggravatsiya qasddan (maqsadli, jazodan qutulish) yoki patologik (maqsadsiz) bo‘ladi.</a:t>
            </a:r>
          </a:p>
          <a:p>
            <a:pPr>
              <a:spcAft>
                <a:spcPts val="800"/>
              </a:spcAft>
            </a:pPr>
            <a:r>
              <a:rPr sz="1800">
                <a:solidFill>
                  <a:srgbClr val="1F2937"/>
                </a:solidFill>
                <a:latin typeface="Calibri"/>
              </a:rPr>
              <a:t>▸  Dissimulyasiya — kasallik yoki jarohatni qasddan yashirish; simulyasiyaning aksi, kamroq uchraydi.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40084"/>
                <a:gridCol w="1997679"/>
                <a:gridCol w="2350211"/>
              </a:tblGrid>
              <a:tr h="411480">
                <a:tc>
                  <a:txBody>
                    <a:bodyPr/>
                    <a:lstStyle/>
                    <a:p>
                      <a:r>
                        <a:rPr sz="1300" b="1">
                          <a:solidFill>
                            <a:srgbClr val="FFFFFF"/>
                          </a:solidFill>
                        </a:rPr>
                        <a:t>Tushuncha</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Belgi / misol</a:t>
                      </a:r>
                    </a:p>
                  </a:txBody>
                  <a:tcPr marL="73152" marR="73152" marT="36576" marB="36576">
                    <a:solidFill>
                      <a:srgbClr val="0B1F3A"/>
                    </a:solidFill>
                  </a:tcPr>
                </a:tc>
              </a:tr>
              <a:tr h="411480">
                <a:tc>
                  <a:txBody>
                    <a:bodyPr/>
                    <a:lstStyle/>
                    <a:p>
                      <a:r>
                        <a:rPr sz="1200" b="0">
                          <a:solidFill>
                            <a:srgbClr val="1F2937"/>
                          </a:solidFill>
                        </a:rPr>
                        <a:t>Simulyasiya</a:t>
                      </a:r>
                    </a:p>
                  </a:txBody>
                  <a:tcPr marL="73152" marR="73152" marT="36576" marB="36576">
                    <a:solidFill>
                      <a:srgbClr val="E8EEF6"/>
                    </a:solidFill>
                  </a:tcPr>
                </a:tc>
                <a:tc>
                  <a:txBody>
                    <a:bodyPr/>
                    <a:lstStyle/>
                    <a:p>
                      <a:r>
                        <a:rPr sz="1200" b="0">
                          <a:solidFill>
                            <a:srgbClr val="1F2937"/>
                          </a:solidFill>
                        </a:rPr>
                        <a:t>Yo‘q kasallikni bor deb ko‘rsatish</a:t>
                      </a:r>
                    </a:p>
                  </a:txBody>
                  <a:tcPr marL="73152" marR="73152" marT="36576" marB="36576">
                    <a:solidFill>
                      <a:srgbClr val="E8EEF6"/>
                    </a:solidFill>
                  </a:tcPr>
                </a:tc>
                <a:tc>
                  <a:txBody>
                    <a:bodyPr/>
                    <a:lstStyle/>
                    <a:p>
                      <a:r>
                        <a:rPr sz="1200" b="0">
                          <a:solidFill>
                            <a:srgbClr val="1F2937"/>
                          </a:solidFill>
                        </a:rPr>
                        <a:t>Shikoyat ob’ektiv belgiga mos kelmaydi</a:t>
                      </a:r>
                    </a:p>
                  </a:txBody>
                  <a:tcPr marL="73152" marR="73152" marT="36576" marB="36576">
                    <a:solidFill>
                      <a:srgbClr val="E8EEF6"/>
                    </a:solidFill>
                  </a:tcPr>
                </a:tc>
              </a:tr>
              <a:tr h="411480">
                <a:tc>
                  <a:txBody>
                    <a:bodyPr/>
                    <a:lstStyle/>
                    <a:p>
                      <a:r>
                        <a:rPr sz="1200" b="0">
                          <a:solidFill>
                            <a:srgbClr val="1F2937"/>
                          </a:solidFill>
                        </a:rPr>
                        <a:t>Aggravatsiya</a:t>
                      </a:r>
                    </a:p>
                  </a:txBody>
                  <a:tcPr marL="73152" marR="73152" marT="36576" marB="36576">
                    <a:solidFill>
                      <a:srgbClr val="FFFFFF"/>
                    </a:solidFill>
                  </a:tcPr>
                </a:tc>
                <a:tc>
                  <a:txBody>
                    <a:bodyPr/>
                    <a:lstStyle/>
                    <a:p>
                      <a:r>
                        <a:rPr sz="1200" b="0">
                          <a:solidFill>
                            <a:srgbClr val="1F2937"/>
                          </a:solidFill>
                        </a:rPr>
                        <a:t>Bor kasallikni og‘irroq ko‘rsatish</a:t>
                      </a:r>
                    </a:p>
                  </a:txBody>
                  <a:tcPr marL="73152" marR="73152" marT="36576" marB="36576">
                    <a:solidFill>
                      <a:srgbClr val="FFFFFF"/>
                    </a:solidFill>
                  </a:tcPr>
                </a:tc>
                <a:tc>
                  <a:txBody>
                    <a:bodyPr/>
                    <a:lstStyle/>
                    <a:p>
                      <a:r>
                        <a:rPr sz="1200" b="0">
                          <a:solidFill>
                            <a:srgbClr val="1F2937"/>
                          </a:solidFill>
                        </a:rPr>
                        <a:t>Ob’ektiv va sub’ektiv belgi taqqoslanadi</a:t>
                      </a:r>
                    </a:p>
                  </a:txBody>
                  <a:tcPr marL="73152" marR="73152" marT="36576" marB="36576">
                    <a:solidFill>
                      <a:srgbClr val="FFFFFF"/>
                    </a:solidFill>
                  </a:tcPr>
                </a:tc>
              </a:tr>
              <a:tr h="411480">
                <a:tc>
                  <a:txBody>
                    <a:bodyPr/>
                    <a:lstStyle/>
                    <a:p>
                      <a:r>
                        <a:rPr sz="1200" b="0">
                          <a:solidFill>
                            <a:srgbClr val="1F2937"/>
                          </a:solidFill>
                        </a:rPr>
                        <a:t>Dissimulyasiya</a:t>
                      </a:r>
                    </a:p>
                  </a:txBody>
                  <a:tcPr marL="73152" marR="73152" marT="36576" marB="36576">
                    <a:solidFill>
                      <a:srgbClr val="E8EEF6"/>
                    </a:solidFill>
                  </a:tcPr>
                </a:tc>
                <a:tc>
                  <a:txBody>
                    <a:bodyPr/>
                    <a:lstStyle/>
                    <a:p>
                      <a:r>
                        <a:rPr sz="1200" b="0">
                          <a:solidFill>
                            <a:srgbClr val="1F2937"/>
                          </a:solidFill>
                        </a:rPr>
                        <a:t>Kasallikni qasddan yashirish</a:t>
                      </a:r>
                    </a:p>
                  </a:txBody>
                  <a:tcPr marL="73152" marR="73152" marT="36576" marB="36576">
                    <a:solidFill>
                      <a:srgbClr val="E8EEF6"/>
                    </a:solidFill>
                  </a:tcPr>
                </a:tc>
                <a:tc>
                  <a:txBody>
                    <a:bodyPr/>
                    <a:lstStyle/>
                    <a:p>
                      <a:r>
                        <a:rPr sz="1200" b="0">
                          <a:solidFill>
                            <a:srgbClr val="1F2937"/>
                          </a:solidFill>
                        </a:rPr>
                        <a:t>Uchuvchi, g‘avvos, haydovchi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tushunchani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285, 286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Sun’iy kasalliklar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Maqsadi simulyasiyaga o‘xshaydi, ammo hayotga jiddiy tahdid solmaydigan usullar qo‘llanadi. Ichki a’zolarda kamroq uchraydi.</a:t>
            </a:r>
          </a:p>
          <a:p>
            <a:pPr>
              <a:spcAft>
                <a:spcPts val="1200"/>
              </a:spcAft>
            </a:pPr>
            <a:r>
              <a:rPr sz="2200">
                <a:solidFill>
                  <a:srgbClr val="1F2937"/>
                </a:solidFill>
                <a:latin typeface="Calibri"/>
              </a:rPr>
              <a:t>▸  Teri: qo‘l-oyoqni siqib boylash yoki yengil zarbalar shish beradi. Teri ostiga parafin, vazelin yuborilsa o‘sma paydo bo‘ladi.</a:t>
            </a:r>
          </a:p>
          <a:p>
            <a:pPr>
              <a:spcAft>
                <a:spcPts val="1200"/>
              </a:spcAft>
            </a:pPr>
            <a:r>
              <a:rPr sz="2200">
                <a:solidFill>
                  <a:srgbClr val="1F2937"/>
                </a:solidFill>
                <a:latin typeface="Calibri"/>
              </a:rPr>
              <a:t>▸  Ichki a’zolar: ko‘p surgi dori yoki sovun eritmasi — gastroenterit; ko‘p osh tuzi — nefrozo-nefrit; efedrin — gipertoniya alomati.</a:t>
            </a:r>
          </a:p>
          <a:p>
            <a:pPr>
              <a:spcAft>
                <a:spcPts val="1200"/>
              </a:spcAft>
            </a:pPr>
            <a:r>
              <a:rPr sz="2200">
                <a:solidFill>
                  <a:srgbClr val="1F2937"/>
                </a:solidFill>
                <a:latin typeface="Calibri"/>
              </a:rPr>
              <a:t>▸  Ko‘zga chang, kislota tushirilsa — konyunktivit, keratit; quloqqa yot jism solinadi. Sun’iy to‘g‘ri ichak tushishida orqa teshikda jarohat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286, 286-287, 287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A’zobuzarlik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A’zobuzarlik — maqsadli, qasddan o‘ziga shikast yetkazish (masalan, harbiy xizmatdan qochish uchun).</a:t>
            </a:r>
          </a:p>
          <a:p>
            <a:pPr>
              <a:spcAft>
                <a:spcPts val="800"/>
              </a:spcAft>
            </a:pPr>
            <a:r>
              <a:rPr sz="1800">
                <a:solidFill>
                  <a:srgbClr val="1F2937"/>
                </a:solidFill>
                <a:latin typeface="Calibri"/>
              </a:rPr>
              <a:t>▸  Jarohat ko‘pincha qo‘l, ayniqsa kaft sohasida; o‘tkir yoki o‘qotar qurol bilan, odatda o‘zi yetkazadi.</a:t>
            </a:r>
          </a:p>
          <a:p>
            <a:pPr>
              <a:spcAft>
                <a:spcPts val="800"/>
              </a:spcAft>
            </a:pPr>
            <a:r>
              <a:rPr sz="1800">
                <a:solidFill>
                  <a:srgbClr val="1F2937"/>
                </a:solidFill>
                <a:latin typeface="Calibri"/>
              </a:rPr>
              <a:t>▸  Tergov eksperimenti: shaxs bayon etgan vaziyat voqeaga yaqin sharoitda tekshiriladi.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Joylashuvi</a:t>
                      </a:r>
                    </a:p>
                  </a:txBody>
                  <a:tcPr marL="73152" marR="73152" marT="36576" marB="36576">
                    <a:solidFill>
                      <a:srgbClr val="E8EEF6"/>
                    </a:solidFill>
                  </a:tcPr>
                </a:tc>
                <a:tc>
                  <a:txBody>
                    <a:bodyPr/>
                    <a:lstStyle/>
                    <a:p>
                      <a:r>
                        <a:rPr sz="1300" b="0">
                          <a:solidFill>
                            <a:srgbClr val="1F2937"/>
                          </a:solidFill>
                        </a:rPr>
                        <a:t>Qo‘li yetadigan soha, qo‘lda ko‘proq chap</a:t>
                      </a:r>
                    </a:p>
                  </a:txBody>
                  <a:tcPr marL="73152" marR="73152" marT="36576" marB="36576">
                    <a:solidFill>
                      <a:srgbClr val="E8EEF6"/>
                    </a:solidFill>
                  </a:tcPr>
                </a:tc>
              </a:tr>
              <a:tr h="411480">
                <a:tc>
                  <a:txBody>
                    <a:bodyPr/>
                    <a:lstStyle/>
                    <a:p>
                      <a:r>
                        <a:rPr sz="1300" b="0">
                          <a:solidFill>
                            <a:srgbClr val="1F2937"/>
                          </a:solidFill>
                        </a:rPr>
                        <a:t>Takroriy ta’sir</a:t>
                      </a:r>
                    </a:p>
                  </a:txBody>
                  <a:tcPr marL="73152" marR="73152" marT="36576" marB="36576">
                    <a:solidFill>
                      <a:srgbClr val="FFFFFF"/>
                    </a:solidFill>
                  </a:tcPr>
                </a:tc>
                <a:tc>
                  <a:txBody>
                    <a:bodyPr/>
                    <a:lstStyle/>
                    <a:p>
                      <a:r>
                        <a:rPr sz="1300" b="0">
                          <a:solidFill>
                            <a:srgbClr val="1F2937"/>
                          </a:solidFill>
                        </a:rPr>
                        <a:t>Yaqin joyda bir nechta yuzaki yara</a:t>
                      </a:r>
                    </a:p>
                  </a:txBody>
                  <a:tcPr marL="73152" marR="73152" marT="36576" marB="36576">
                    <a:solidFill>
                      <a:srgbClr val="FFFFFF"/>
                    </a:solidFill>
                  </a:tcPr>
                </a:tc>
              </a:tr>
              <a:tr h="411480">
                <a:tc>
                  <a:txBody>
                    <a:bodyPr/>
                    <a:lstStyle/>
                    <a:p>
                      <a:r>
                        <a:rPr sz="1300" b="0">
                          <a:solidFill>
                            <a:srgbClr val="1F2937"/>
                          </a:solidFill>
                        </a:rPr>
                        <a:t>Amputatsiya</a:t>
                      </a:r>
                    </a:p>
                  </a:txBody>
                  <a:tcPr marL="73152" marR="73152" marT="36576" marB="36576">
                    <a:solidFill>
                      <a:srgbClr val="E8EEF6"/>
                    </a:solidFill>
                  </a:tcPr>
                </a:tc>
                <a:tc>
                  <a:txBody>
                    <a:bodyPr/>
                    <a:lstStyle/>
                    <a:p>
                      <a:r>
                        <a:rPr sz="1300" b="0">
                          <a:solidFill>
                            <a:srgbClr val="1F2937"/>
                          </a:solidFill>
                        </a:rPr>
                        <a:t>Barmoqlar turli sathda kesilgan</a:t>
                      </a:r>
                    </a:p>
                  </a:txBody>
                  <a:tcPr marL="73152" marR="73152" marT="36576" marB="36576">
                    <a:solidFill>
                      <a:srgbClr val="E8EEF6"/>
                    </a:solidFill>
                  </a:tcPr>
                </a:tc>
              </a:tr>
              <a:tr h="411480">
                <a:tc>
                  <a:txBody>
                    <a:bodyPr/>
                    <a:lstStyle/>
                    <a:p>
                      <a:r>
                        <a:rPr sz="1300" b="0">
                          <a:solidFill>
                            <a:srgbClr val="1F2937"/>
                          </a:solidFill>
                        </a:rPr>
                        <a:t>O‘qotar qurol</a:t>
                      </a:r>
                    </a:p>
                  </a:txBody>
                  <a:tcPr marL="73152" marR="73152" marT="36576" marB="36576">
                    <a:solidFill>
                      <a:srgbClr val="FFFFFF"/>
                    </a:solidFill>
                  </a:tcPr>
                </a:tc>
                <a:tc>
                  <a:txBody>
                    <a:bodyPr/>
                    <a:lstStyle/>
                    <a:p>
                      <a:r>
                        <a:rPr sz="1300" b="0">
                          <a:solidFill>
                            <a:srgbClr val="1F2937"/>
                          </a:solidFill>
                        </a:rPr>
                        <a:t>Odatda tirab yoki yaqin masofadan otish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O‘zini shikastlash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287, 287-288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simulyasiya va a’zobuzarlik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 harbiy xizmatga chaqiriluvchi hech narsa ishlatmay eshitishi pasayganini ko‘rsatadi. Shikoyati ob’ektiv tekshiruv natijalariga mos kelmaydi.</a:t>
            </a:r>
          </a:p>
          <a:p>
            <a:pPr>
              <a:spcAft>
                <a:spcPts val="1200"/>
              </a:spcAft>
            </a:pPr>
            <a:r>
              <a:rPr sz="2200">
                <a:solidFill>
                  <a:srgbClr val="1F2937"/>
                </a:solidFill>
                <a:latin typeface="Calibri"/>
              </a:rPr>
              <a:t>▸  Savol 1: bu simulyasiyami yoki dissimulyasiyami? Simulyasiyada bo‘lmagan kasallik ko‘rsatiladi, dissimulyasiyada mavjud kasallik yashiriladi.</a:t>
            </a:r>
          </a:p>
          <a:p>
            <a:pPr>
              <a:spcAft>
                <a:spcPts val="1200"/>
              </a:spcAft>
            </a:pPr>
            <a:r>
              <a:rPr sz="2200">
                <a:solidFill>
                  <a:srgbClr val="1F2937"/>
                </a:solidFill>
                <a:latin typeface="Calibri"/>
              </a:rPr>
              <a:t>▸  Vaziyat 2: qo‘l kaftida asosiy jarohat yonida bir nechta yuzaki kesma yaralar va barmoqlarning turli sathdagi amputatsiyasi bor. Savol 2: bu nimadan dalolat beradi?</a:t>
            </a:r>
          </a:p>
          <a:p>
            <a:pPr>
              <a:spcAft>
                <a:spcPts val="1200"/>
              </a:spcAft>
            </a:pPr>
            <a:r>
              <a:rPr sz="2200">
                <a:solidFill>
                  <a:srgbClr val="1F2937"/>
                </a:solidFill>
                <a:latin typeface="Calibri"/>
              </a:rPr>
              <a:t>▸  Diqqat: simulyasiya ≠ aggravatsiya. Simulyasiyada kasallik yo‘q, aggravatsiyada mavjud kasallik yoki travma belgilari og‘irroq ko‘rsatiladi.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284-285, 285-286, 287, 285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Hujjat berish, nikoh, aliment, jinsiy jinoyat ishlarida jinsga shubha bo‘lsa, ekspertiza zarur.</a:t>
            </a:r>
          </a:p>
          <a:p>
            <a:pPr>
              <a:spcAft>
                <a:spcPts val="800"/>
              </a:spcAft>
            </a:pPr>
            <a:r>
              <a:rPr sz="1800">
                <a:solidFill>
                  <a:srgbClr val="1F2937"/>
                </a:solidFill>
                <a:latin typeface="Calibri"/>
              </a:rPr>
              <a:t>▸  Germafroditizm – bir odamda ikki jinsga xos a’zolar bo‘lishi; amaliyotda soxta turi ko‘proq uchraydi.</a:t>
            </a:r>
          </a:p>
          <a:p>
            <a:pPr>
              <a:spcAft>
                <a:spcPts val="800"/>
              </a:spcAft>
            </a:pPr>
            <a:r>
              <a:rPr sz="1800">
                <a:solidFill>
                  <a:srgbClr val="1F2937"/>
                </a:solidFill>
                <a:latin typeface="Calibri"/>
              </a:rPr>
              <a:t>▸  Anamnez, tibbiy hujjatlar, antropometriya, laboratoriya; leykotsit xromosomasi genetik jinsni ko‘rsatadi.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262800"/>
                <a:gridCol w="1815275"/>
                <a:gridCol w="2209900"/>
              </a:tblGrid>
              <a:tr h="411480">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Jinsiy bez</a:t>
                      </a:r>
                    </a:p>
                  </a:txBody>
                  <a:tcPr marL="73152" marR="73152" marT="36576" marB="36576">
                    <a:solidFill>
                      <a:srgbClr val="0B1F3A"/>
                    </a:solidFill>
                  </a:tcPr>
                </a:tc>
                <a:tc>
                  <a:txBody>
                    <a:bodyPr/>
                    <a:lstStyle/>
                    <a:p>
                      <a:r>
                        <a:rPr sz="1300" b="1">
                          <a:solidFill>
                            <a:srgbClr val="FFFFFF"/>
                          </a:solidFill>
                        </a:rPr>
                        <a:t>Tashqi belgi</a:t>
                      </a:r>
                    </a:p>
                  </a:txBody>
                  <a:tcPr marL="73152" marR="73152" marT="36576" marB="36576">
                    <a:solidFill>
                      <a:srgbClr val="0B1F3A"/>
                    </a:solidFill>
                  </a:tcPr>
                </a:tc>
              </a:tr>
              <a:tr h="411480">
                <a:tc>
                  <a:txBody>
                    <a:bodyPr/>
                    <a:lstStyle/>
                    <a:p>
                      <a:r>
                        <a:rPr sz="1200" b="0">
                          <a:solidFill>
                            <a:srgbClr val="1F2937"/>
                          </a:solidFill>
                        </a:rPr>
                        <a:t>Chin</a:t>
                      </a:r>
                    </a:p>
                  </a:txBody>
                  <a:tcPr marL="73152" marR="73152" marT="36576" marB="36576">
                    <a:solidFill>
                      <a:srgbClr val="E8EEF6"/>
                    </a:solidFill>
                  </a:tcPr>
                </a:tc>
                <a:tc>
                  <a:txBody>
                    <a:bodyPr/>
                    <a:lstStyle/>
                    <a:p>
                      <a:r>
                        <a:rPr sz="1200" b="0">
                          <a:solidFill>
                            <a:srgbClr val="1F2937"/>
                          </a:solidFill>
                        </a:rPr>
                        <a:t>Erkak va ayol bezi</a:t>
                      </a:r>
                    </a:p>
                  </a:txBody>
                  <a:tcPr marL="73152" marR="73152" marT="36576" marB="36576">
                    <a:solidFill>
                      <a:srgbClr val="E8EEF6"/>
                    </a:solidFill>
                  </a:tcPr>
                </a:tc>
                <a:tc>
                  <a:txBody>
                    <a:bodyPr/>
                    <a:lstStyle/>
                    <a:p>
                      <a:r>
                        <a:rPr sz="1200" b="0">
                          <a:solidFill>
                            <a:srgbClr val="1F2937"/>
                          </a:solidFill>
                        </a:rPr>
                        <a:t>Erkakka yoki ayolga o‘xshash</a:t>
                      </a:r>
                    </a:p>
                  </a:txBody>
                  <a:tcPr marL="73152" marR="73152" marT="36576" marB="36576">
                    <a:solidFill>
                      <a:srgbClr val="E8EEF6"/>
                    </a:solidFill>
                  </a:tcPr>
                </a:tc>
              </a:tr>
              <a:tr h="411480">
                <a:tc>
                  <a:txBody>
                    <a:bodyPr/>
                    <a:lstStyle/>
                    <a:p>
                      <a:r>
                        <a:rPr sz="1200" b="0">
                          <a:solidFill>
                            <a:srgbClr val="1F2937"/>
                          </a:solidFill>
                        </a:rPr>
                        <a:t>Soxta erkak</a:t>
                      </a:r>
                    </a:p>
                  </a:txBody>
                  <a:tcPr marL="73152" marR="73152" marT="36576" marB="36576">
                    <a:solidFill>
                      <a:srgbClr val="FFFFFF"/>
                    </a:solidFill>
                  </a:tcPr>
                </a:tc>
                <a:tc>
                  <a:txBody>
                    <a:bodyPr/>
                    <a:lstStyle/>
                    <a:p>
                      <a:r>
                        <a:rPr sz="1200" b="0">
                          <a:solidFill>
                            <a:srgbClr val="1F2937"/>
                          </a:solidFill>
                        </a:rPr>
                        <a:t>Yorg‘oq (spermatogenez)</a:t>
                      </a:r>
                    </a:p>
                  </a:txBody>
                  <a:tcPr marL="73152" marR="73152" marT="36576" marB="36576">
                    <a:solidFill>
                      <a:srgbClr val="FFFFFF"/>
                    </a:solidFill>
                  </a:tcPr>
                </a:tc>
                <a:tc>
                  <a:txBody>
                    <a:bodyPr/>
                    <a:lstStyle/>
                    <a:p>
                      <a:r>
                        <a:rPr sz="1200" b="0">
                          <a:solidFill>
                            <a:srgbClr val="1F2937"/>
                          </a:solidFill>
                        </a:rPr>
                        <a:t>Ayolga o‘xshash belgilar</a:t>
                      </a:r>
                    </a:p>
                  </a:txBody>
                  <a:tcPr marL="73152" marR="73152" marT="36576" marB="36576">
                    <a:solidFill>
                      <a:srgbClr val="FFFFFF"/>
                    </a:solidFill>
                  </a:tcPr>
                </a:tc>
              </a:tr>
              <a:tr h="411480">
                <a:tc>
                  <a:txBody>
                    <a:bodyPr/>
                    <a:lstStyle/>
                    <a:p>
                      <a:r>
                        <a:rPr sz="1200" b="0">
                          <a:solidFill>
                            <a:srgbClr val="1F2937"/>
                          </a:solidFill>
                        </a:rPr>
                        <a:t>Soxta ayol</a:t>
                      </a:r>
                    </a:p>
                  </a:txBody>
                  <a:tcPr marL="73152" marR="73152" marT="36576" marB="36576">
                    <a:solidFill>
                      <a:srgbClr val="E8EEF6"/>
                    </a:solidFill>
                  </a:tcPr>
                </a:tc>
                <a:tc>
                  <a:txBody>
                    <a:bodyPr/>
                    <a:lstStyle/>
                    <a:p>
                      <a:r>
                        <a:rPr sz="1200" b="0">
                          <a:solidFill>
                            <a:srgbClr val="1F2937"/>
                          </a:solidFill>
                        </a:rPr>
                        <a:t>Tuxumdon (ovogenez)</a:t>
                      </a:r>
                    </a:p>
                  </a:txBody>
                  <a:tcPr marL="73152" marR="73152" marT="36576" marB="36576">
                    <a:solidFill>
                      <a:srgbClr val="E8EEF6"/>
                    </a:solidFill>
                  </a:tcPr>
                </a:tc>
                <a:tc>
                  <a:txBody>
                    <a:bodyPr/>
                    <a:lstStyle/>
                    <a:p>
                      <a:r>
                        <a:rPr sz="1200" b="0">
                          <a:solidFill>
                            <a:srgbClr val="1F2937"/>
                          </a:solidFill>
                        </a:rPr>
                        <a:t>Erkakka o‘xshash belgilar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Germafroditizm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yetuklikni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Jinsiy yetuklik – salomatlikka va keyingi rivojlanishga ziyon yetkazmay jinsiy hayot olib borish imkonini beradigan rivojlanish darajasi. Qizlarda jinsiy aloqa, homiladorlik, tug‘ish va emizish qobiliyati kiradi.</a:t>
            </a:r>
          </a:p>
          <a:p>
            <a:pPr>
              <a:spcAft>
                <a:spcPts val="1200"/>
              </a:spcAft>
            </a:pPr>
            <a:r>
              <a:rPr sz="2000">
                <a:solidFill>
                  <a:srgbClr val="1F2937"/>
                </a:solidFill>
                <a:latin typeface="Calibri"/>
              </a:rPr>
              <a:t>▸  14 yoshgacha shaxs yetilmagan hisoblanadi; masala 14 yoshdan nikoh yoshigacha davrda paydo bo‘ladi. Jinoyat kodeksida javobgarlik yoshga bog‘langan: 118-119-moddalarda 18 va 14, 128-129-moddalarda 16 yosh.</a:t>
            </a:r>
          </a:p>
          <a:p>
            <a:pPr>
              <a:spcAft>
                <a:spcPts val="1200"/>
              </a:spcAft>
            </a:pPr>
            <a:r>
              <a:rPr sz="2000">
                <a:solidFill>
                  <a:srgbClr val="1F2937"/>
                </a:solidFill>
                <a:latin typeface="Calibri"/>
              </a:rPr>
              <a:t>▸  Me’yor: tana bo‘yi tik holatda kamida 150 sm, o‘tirganda 80 sm, ko‘krak aylanasi 78-80 sm. Tos: yonbosh o‘siqlari 26-27, katta ko‘stlar 29, tashqi konyugata 17-18 sm.</a:t>
            </a:r>
          </a:p>
          <a:p>
            <a:pPr>
              <a:spcAft>
                <a:spcPts val="1200"/>
              </a:spcAft>
            </a:pPr>
            <a:r>
              <a:rPr sz="2000">
                <a:solidFill>
                  <a:srgbClr val="1F2937"/>
                </a:solidFill>
                <a:latin typeface="Calibri"/>
              </a:rPr>
              <a:t>▸  Ko‘rsatkichlar nisbiy: kichikroq o‘lchamda ham tug‘ish mumkin, akseleratsiyada 14 yoshgacha kattaroq bo‘lishi mumkin. Ekspertiza akusher-ginekolog ishtirokida, klinik va laboratoriya tekshiruvi bilan o‘tkaziladi.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Bokiralikni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Bokiralik qizlik pardasining anatomik butunligi bilan belgilanadi; parda shakllari 3 guruhga bo‘linadi.</a:t>
            </a:r>
          </a:p>
          <a:p>
            <a:pPr>
              <a:spcAft>
                <a:spcPts val="800"/>
              </a:spcAft>
            </a:pPr>
            <a:r>
              <a:rPr sz="1800">
                <a:solidFill>
                  <a:srgbClr val="1F2937"/>
                </a:solidFill>
                <a:latin typeface="Calibri"/>
              </a:rPr>
              <a:t>▸  Defloratsiya odatda birinchi jinsiy aloqada bo‘ladi, ammo barmoq, jism yoki operatsiyadan ham bo‘lishi mumkin.</a:t>
            </a:r>
          </a:p>
          <a:p>
            <a:pPr>
              <a:spcAft>
                <a:spcPts val="800"/>
              </a:spcAft>
            </a:pPr>
            <a:r>
              <a:rPr sz="1800">
                <a:solidFill>
                  <a:srgbClr val="1F2937"/>
                </a:solidFill>
                <a:latin typeface="Calibri"/>
              </a:rPr>
              <a:t>▸  Diqqat: yoriq ≠ tabiiy o‘yiq. Yoriq ko‘pincha soat siferblatida 5–7 oralig‘ida; o‘yiq odatda asosgacha yetmaydi.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20450"/>
                <a:gridCol w="3467524"/>
              </a:tblGrid>
              <a:tr h="411480">
                <a:tc>
                  <a:txBody>
                    <a:bodyPr/>
                    <a:lstStyle/>
                    <a:p>
                      <a:r>
                        <a:rPr sz="1400" b="1">
                          <a:solidFill>
                            <a:srgbClr val="FFFFFF"/>
                          </a:solidFill>
                        </a:rPr>
                        <a:t>Muddat</a:t>
                      </a:r>
                    </a:p>
                  </a:txBody>
                  <a:tcPr marL="73152" marR="73152" marT="36576" marB="36576">
                    <a:solidFill>
                      <a:srgbClr val="0B1F3A"/>
                    </a:solidFill>
                  </a:tcPr>
                </a:tc>
                <a:tc>
                  <a:txBody>
                    <a:bodyPr/>
                    <a:lstStyle/>
                    <a:p>
                      <a:r>
                        <a:rPr sz="1400" b="1">
                          <a:solidFill>
                            <a:srgbClr val="FFFFFF"/>
                          </a:solidFill>
                        </a:rPr>
                        <a:t>Yoriq holati</a:t>
                      </a:r>
                    </a:p>
                  </a:txBody>
                  <a:tcPr marL="73152" marR="73152" marT="36576" marB="36576">
                    <a:solidFill>
                      <a:srgbClr val="0B1F3A"/>
                    </a:solidFill>
                  </a:tcPr>
                </a:tc>
              </a:tr>
              <a:tr h="411480">
                <a:tc>
                  <a:txBody>
                    <a:bodyPr/>
                    <a:lstStyle/>
                    <a:p>
                      <a:r>
                        <a:rPr sz="1300" b="0">
                          <a:solidFill>
                            <a:srgbClr val="1F2937"/>
                          </a:solidFill>
                        </a:rPr>
                        <a:t>Dastlab</a:t>
                      </a:r>
                    </a:p>
                  </a:txBody>
                  <a:tcPr marL="73152" marR="73152" marT="36576" marB="36576">
                    <a:solidFill>
                      <a:srgbClr val="E8EEF6"/>
                    </a:solidFill>
                  </a:tcPr>
                </a:tc>
                <a:tc>
                  <a:txBody>
                    <a:bodyPr/>
                    <a:lstStyle/>
                    <a:p>
                      <a:r>
                        <a:rPr sz="1300" b="0">
                          <a:solidFill>
                            <a:srgbClr val="1F2937"/>
                          </a:solidFill>
                        </a:rPr>
                        <a:t>Qonash, shish, qon laxtalari</a:t>
                      </a:r>
                    </a:p>
                  </a:txBody>
                  <a:tcPr marL="73152" marR="73152" marT="36576" marB="36576">
                    <a:solidFill>
                      <a:srgbClr val="E8EEF6"/>
                    </a:solidFill>
                  </a:tcPr>
                </a:tc>
              </a:tr>
              <a:tr h="411480">
                <a:tc>
                  <a:txBody>
                    <a:bodyPr/>
                    <a:lstStyle/>
                    <a:p>
                      <a:r>
                        <a:rPr sz="1300" b="0">
                          <a:solidFill>
                            <a:srgbClr val="1F2937"/>
                          </a:solidFill>
                        </a:rPr>
                        <a:t>Keyinroq</a:t>
                      </a:r>
                    </a:p>
                  </a:txBody>
                  <a:tcPr marL="73152" marR="73152" marT="36576" marB="36576">
                    <a:solidFill>
                      <a:srgbClr val="FFFFFF"/>
                    </a:solidFill>
                  </a:tcPr>
                </a:tc>
                <a:tc>
                  <a:txBody>
                    <a:bodyPr/>
                    <a:lstStyle/>
                    <a:p>
                      <a:r>
                        <a:rPr sz="1300" b="0">
                          <a:solidFill>
                            <a:srgbClr val="1F2937"/>
                          </a:solidFill>
                        </a:rPr>
                        <a:t>Shish kamayadi, oqimtir qoplama</a:t>
                      </a:r>
                    </a:p>
                  </a:txBody>
                  <a:tcPr marL="73152" marR="73152" marT="36576" marB="36576">
                    <a:solidFill>
                      <a:srgbClr val="FFFFFF"/>
                    </a:solidFill>
                  </a:tcPr>
                </a:tc>
              </a:tr>
              <a:tr h="411480">
                <a:tc>
                  <a:txBody>
                    <a:bodyPr/>
                    <a:lstStyle/>
                    <a:p>
                      <a:r>
                        <a:rPr sz="1300" b="0">
                          <a:solidFill>
                            <a:srgbClr val="1F2937"/>
                          </a:solidFill>
                        </a:rPr>
                        <a:t>1-hafta oxiri</a:t>
                      </a:r>
                    </a:p>
                  </a:txBody>
                  <a:tcPr marL="73152" marR="73152" marT="36576" marB="36576">
                    <a:solidFill>
                      <a:srgbClr val="E8EEF6"/>
                    </a:solidFill>
                  </a:tcPr>
                </a:tc>
                <a:tc>
                  <a:txBody>
                    <a:bodyPr/>
                    <a:lstStyle/>
                    <a:p>
                      <a:r>
                        <a:rPr sz="1300" b="0">
                          <a:solidFill>
                            <a:srgbClr val="1F2937"/>
                          </a:solidFill>
                        </a:rPr>
                        <a:t>Granulyasion to‘qima qoplay boshlaydi</a:t>
                      </a:r>
                    </a:p>
                  </a:txBody>
                  <a:tcPr marL="73152" marR="73152" marT="36576" marB="36576">
                    <a:solidFill>
                      <a:srgbClr val="E8EEF6"/>
                    </a:solidFill>
                  </a:tcPr>
                </a:tc>
              </a:tr>
              <a:tr h="411480">
                <a:tc>
                  <a:txBody>
                    <a:bodyPr/>
                    <a:lstStyle/>
                    <a:p>
                      <a:r>
                        <a:rPr sz="1300" b="0">
                          <a:solidFill>
                            <a:srgbClr val="1F2937"/>
                          </a:solidFill>
                        </a:rPr>
                        <a:t>2-hafta oxiri–3-hafta</a:t>
                      </a:r>
                    </a:p>
                  </a:txBody>
                  <a:tcPr marL="73152" marR="73152" marT="36576" marB="36576">
                    <a:solidFill>
                      <a:srgbClr val="FFFFFF"/>
                    </a:solidFill>
                  </a:tcPr>
                </a:tc>
                <a:tc>
                  <a:txBody>
                    <a:bodyPr/>
                    <a:lstStyle/>
                    <a:p>
                      <a:r>
                        <a:rPr sz="1300" b="0">
                          <a:solidFill>
                            <a:srgbClr val="1F2937"/>
                          </a:solidFill>
                        </a:rPr>
                        <a:t>Chandiq hosil bo‘ladi, yallig‘lanish ketadi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Parda yorig‘ining bitishi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290, 291, 292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bokiralik va yetuklik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parda butunligi buzilgan muddatni qachongacha aniqlash mumkin? Javob: dastlabki haftalarda; uch haftadan so‘ng bu masalani hal etib bo‘lmaydi.</a:t>
            </a:r>
          </a:p>
          <a:p>
            <a:pPr>
              <a:spcAft>
                <a:spcPts val="1200"/>
              </a:spcAft>
            </a:pPr>
            <a:r>
              <a:rPr sz="2200">
                <a:solidFill>
                  <a:srgbClr val="1F2937"/>
                </a:solidFill>
                <a:latin typeface="Calibri"/>
              </a:rPr>
              <a:t>▸  Savol: bokiralikka shubha bo‘lsa, kimga qisqa muddatda murojaat qilinadi? Javob: sud-tibbiy ekspertlarga, akusher-ginekologlarga emas.</a:t>
            </a:r>
          </a:p>
          <a:p>
            <a:pPr>
              <a:spcAft>
                <a:spcPts val="1200"/>
              </a:spcAft>
            </a:pPr>
            <a:r>
              <a:rPr sz="2200">
                <a:solidFill>
                  <a:srgbClr val="1F2937"/>
                </a:solidFill>
                <a:latin typeface="Calibri"/>
              </a:rPr>
              <a:t>▸  Savol: maniy qinda necha kun saqlanadi? Javob: odatda 3–5 kun; namuna qancha tez olinsa, natija shuncha ishonchli.</a:t>
            </a:r>
          </a:p>
          <a:p>
            <a:pPr>
              <a:spcAft>
                <a:spcPts val="1200"/>
              </a:spcAft>
            </a:pPr>
            <a:r>
              <a:rPr sz="2200">
                <a:solidFill>
                  <a:srgbClr val="1F2937"/>
                </a:solidFill>
                <a:latin typeface="Calibri"/>
              </a:rPr>
              <a:t>▸  Savol: eski yoriqning chetlari qanday bo‘ladi? Javob: nisbatan qalin, chandiqlangan.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291, 292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Nasl qoldirish qobiliyatini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Erkakda nasl qoldirish — jinsiy aloqa qilish va urug‘lantirish; ayolda — jinsiy aloqa, homilador bo‘lish va tug‘ish imkoniyati.</a:t>
            </a:r>
          </a:p>
          <a:p>
            <a:pPr>
              <a:spcAft>
                <a:spcPts val="1200"/>
              </a:spcAft>
            </a:pPr>
            <a:r>
              <a:rPr sz="2000">
                <a:solidFill>
                  <a:srgbClr val="1F2937"/>
                </a:solidFill>
                <a:latin typeface="Calibri"/>
              </a:rPr>
              <a:t>▸  Impotensiya markaziy nerv tizimi va endokrin kasalliklari, tashqi jinsiy a’zo nuqsonlari bilan bog‘liq; nevrotik reaksiyadan funksional impotensiya ham bo‘ladi.</a:t>
            </a:r>
          </a:p>
          <a:p>
            <a:pPr>
              <a:spcAft>
                <a:spcPts val="1200"/>
              </a:spcAft>
            </a:pPr>
            <a:r>
              <a:rPr sz="2000">
                <a:solidFill>
                  <a:srgbClr val="1F2937"/>
                </a:solidFill>
                <a:latin typeface="Calibri"/>
              </a:rPr>
              <a:t>▸  Urug‘lantirish qobiliyati eyakulyat laboratoriya tekshiruvi bilan baholanadi. Azospermiya, nekrospermiya, astenospermiya topilsa, bu qobiliyat inkor etiladi.</a:t>
            </a:r>
          </a:p>
          <a:p>
            <a:pPr>
              <a:spcAft>
                <a:spcPts val="1200"/>
              </a:spcAft>
            </a:pPr>
            <a:r>
              <a:rPr sz="2000">
                <a:solidFill>
                  <a:srgbClr val="1F2937"/>
                </a:solidFill>
                <a:latin typeface="Calibri"/>
              </a:rPr>
              <a:t>▸  Homilador bo‘lishga yosh (balog‘atgacha, menopauza), jinsiy a’zo kasalliklari, rivojlanish nuqsonlari, o‘smalar va bachadon, nay yoki tuxumdonni olib tashlash to‘sqinlik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292, 292–293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Homiladorlik va bo‘lib o‘tgan tug‘ruqni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Kechayotgan homiladorlikda hayz to‘xtaydi, sut bezlari kattalashadi, so‘rg‘ich atrofi to‘qlashadi (2-oydan). Bachadon o‘lchami, shakli va zichligi o‘zgaradi.</a:t>
            </a:r>
          </a:p>
          <a:p>
            <a:pPr>
              <a:spcAft>
                <a:spcPts val="1200"/>
              </a:spcAft>
            </a:pPr>
            <a:r>
              <a:rPr sz="2000">
                <a:solidFill>
                  <a:srgbClr val="1F2937"/>
                </a:solidFill>
                <a:latin typeface="Calibri"/>
              </a:rPr>
              <a:t>▸  Laboratoriyada homiladorlik gormoni — xorial gonadotropin aniqlanadi. Ikkinchi yarmida qorinda oqimtir chiziqlar va o‘rta chiziqda pigmentatsiya paydo bo‘ladi.</a:t>
            </a:r>
          </a:p>
          <a:p>
            <a:pPr>
              <a:spcAft>
                <a:spcPts val="1200"/>
              </a:spcAft>
            </a:pPr>
            <a:r>
              <a:rPr sz="2000">
                <a:solidFill>
                  <a:srgbClr val="1F2937"/>
                </a:solidFill>
                <a:latin typeface="Calibri"/>
              </a:rPr>
              <a:t>▸  Ishonchli belgilar: auskultatsiyada homila yuragi urishi, palpatsiya va ultratovushda homila qismlari va qimirlashi. Muddat akusherlikdagidek aniqlanadi.</a:t>
            </a:r>
          </a:p>
          <a:p>
            <a:pPr>
              <a:spcAft>
                <a:spcPts val="1200"/>
              </a:spcAft>
            </a:pPr>
            <a:r>
              <a:rPr sz="2000">
                <a:solidFill>
                  <a:srgbClr val="1F2937"/>
                </a:solidFill>
                <a:latin typeface="Calibri"/>
              </a:rPr>
              <a:t>▸  Tug‘ruqdan keyin dastlab sut bezlari shishgan, bachadon bo‘yinchasi ochiq bo‘ladi. Tug‘gan ayolda tashqi teshik yoriqsimon, tug‘magan ayolda odatda dumaloq. Keyinroq faqat tug‘ruq bo‘lganini aytish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293, 293-294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Abortni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Abort — homiladorlikning 22 haftasigacha uzilishi. U o‘z-o‘zidan yoki sun’iy bo‘lishi mumkin.</a:t>
            </a:r>
          </a:p>
          <a:p>
            <a:pPr>
              <a:spcAft>
                <a:spcPts val="800"/>
              </a:spcAft>
            </a:pPr>
            <a:r>
              <a:rPr sz="1800">
                <a:solidFill>
                  <a:srgbClr val="1F2937"/>
                </a:solidFill>
                <a:latin typeface="Calibri"/>
              </a:rPr>
              <a:t>▸  Izlar usulga mos: mexanikda shilinma, qontalash; kimyoviyda kimyoviy kuyish; termikda termik kuyish.</a:t>
            </a:r>
          </a:p>
          <a:p>
            <a:pPr>
              <a:spcAft>
                <a:spcPts val="800"/>
              </a:spcAft>
            </a:pPr>
            <a:r>
              <a:rPr sz="1800">
                <a:solidFill>
                  <a:srgbClr val="1F2937"/>
                </a:solidFill>
                <a:latin typeface="Calibri"/>
              </a:rPr>
              <a:t>▸  Jinoiy abort asoratlari: havo emboliyasi, travmatik shok, o‘tkir qon ketish, perforatsiya, zaharlanish.</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Tibbiy abort</a:t>
                      </a:r>
                    </a:p>
                  </a:txBody>
                  <a:tcPr marL="73152" marR="73152" marT="36576" marB="36576">
                    <a:solidFill>
                      <a:srgbClr val="0B1F3A"/>
                    </a:solidFill>
                  </a:tcPr>
                </a:tc>
                <a:tc>
                  <a:txBody>
                    <a:bodyPr/>
                    <a:lstStyle/>
                    <a:p>
                      <a:r>
                        <a:rPr sz="1300" b="1">
                          <a:solidFill>
                            <a:srgbClr val="FFFFFF"/>
                          </a:solidFill>
                        </a:rPr>
                        <a:t>Jinoiy abort</a:t>
                      </a:r>
                    </a:p>
                  </a:txBody>
                  <a:tcPr marL="73152" marR="73152" marT="36576" marB="36576">
                    <a:solidFill>
                      <a:srgbClr val="0B1F3A"/>
                    </a:solidFill>
                  </a:tcPr>
                </a:tc>
              </a:tr>
              <a:tr h="411480">
                <a:tc>
                  <a:txBody>
                    <a:bodyPr/>
                    <a:lstStyle/>
                    <a:p>
                      <a:r>
                        <a:rPr sz="1200" b="0">
                          <a:solidFill>
                            <a:srgbClr val="1F2937"/>
                          </a:solidFill>
                        </a:rPr>
                        <a:t>Kim o‘tkazadi</a:t>
                      </a:r>
                    </a:p>
                  </a:txBody>
                  <a:tcPr marL="73152" marR="73152" marT="36576" marB="36576">
                    <a:solidFill>
                      <a:srgbClr val="E8EEF6"/>
                    </a:solidFill>
                  </a:tcPr>
                </a:tc>
                <a:tc>
                  <a:txBody>
                    <a:bodyPr/>
                    <a:lstStyle/>
                    <a:p>
                      <a:r>
                        <a:rPr sz="1200" b="0">
                          <a:solidFill>
                            <a:srgbClr val="1F2937"/>
                          </a:solidFill>
                        </a:rPr>
                        <a:t>Akusher-ginekolog, tibbiyot muassasasida</a:t>
                      </a:r>
                    </a:p>
                  </a:txBody>
                  <a:tcPr marL="73152" marR="73152" marT="36576" marB="36576">
                    <a:solidFill>
                      <a:srgbClr val="E8EEF6"/>
                    </a:solidFill>
                  </a:tcPr>
                </a:tc>
                <a:tc>
                  <a:txBody>
                    <a:bodyPr/>
                    <a:lstStyle/>
                    <a:p>
                      <a:r>
                        <a:rPr sz="1200" b="0">
                          <a:solidFill>
                            <a:srgbClr val="1F2937"/>
                          </a:solidFill>
                        </a:rPr>
                        <a:t>Tayyorgarligi yo‘q xodim yoki oddiy shaxs</a:t>
                      </a:r>
                    </a:p>
                  </a:txBody>
                  <a:tcPr marL="73152" marR="73152" marT="36576" marB="36576">
                    <a:solidFill>
                      <a:srgbClr val="E8EEF6"/>
                    </a:solidFill>
                  </a:tcPr>
                </a:tc>
              </a:tr>
              <a:tr h="411480">
                <a:tc>
                  <a:txBody>
                    <a:bodyPr/>
                    <a:lstStyle/>
                    <a:p>
                      <a:r>
                        <a:rPr sz="1200" b="0">
                          <a:solidFill>
                            <a:srgbClr val="1F2937"/>
                          </a:solidFill>
                        </a:rPr>
                        <a:t>Asos</a:t>
                      </a:r>
                    </a:p>
                  </a:txBody>
                  <a:tcPr marL="73152" marR="73152" marT="36576" marB="36576">
                    <a:solidFill>
                      <a:srgbClr val="FFFFFF"/>
                    </a:solidFill>
                  </a:tcPr>
                </a:tc>
                <a:tc>
                  <a:txBody>
                    <a:bodyPr/>
                    <a:lstStyle/>
                    <a:p>
                      <a:r>
                        <a:rPr sz="1200" b="0">
                          <a:solidFill>
                            <a:srgbClr val="1F2937"/>
                          </a:solidFill>
                        </a:rPr>
                        <a:t>12 haftagacha xohish; keyin ko‘rsatma bilan</a:t>
                      </a:r>
                    </a:p>
                  </a:txBody>
                  <a:tcPr marL="73152" marR="73152" marT="36576" marB="36576">
                    <a:solidFill>
                      <a:srgbClr val="FFFFFF"/>
                    </a:solidFill>
                  </a:tcPr>
                </a:tc>
                <a:tc>
                  <a:txBody>
                    <a:bodyPr/>
                    <a:lstStyle/>
                    <a:p>
                      <a:r>
                        <a:rPr sz="1200" b="0">
                          <a:solidFill>
                            <a:srgbClr val="1F2937"/>
                          </a:solidFill>
                        </a:rPr>
                        <a:t>JK 114-modda bo‘yicha jinoiy javobgarlik</a:t>
                      </a:r>
                    </a:p>
                  </a:txBody>
                  <a:tcPr marL="73152" marR="73152" marT="36576" marB="36576">
                    <a:solidFill>
                      <a:srgbClr val="FFFFFF"/>
                    </a:solidFill>
                  </a:tcPr>
                </a:tc>
              </a:tr>
              <a:tr h="411480">
                <a:tc>
                  <a:txBody>
                    <a:bodyPr/>
                    <a:lstStyle/>
                    <a:p>
                      <a:r>
                        <a:rPr sz="1200" b="0">
                          <a:solidFill>
                            <a:srgbClr val="1F2937"/>
                          </a:solidFill>
                        </a:rPr>
                        <a:t>Usul</a:t>
                      </a:r>
                    </a:p>
                  </a:txBody>
                  <a:tcPr marL="73152" marR="73152" marT="36576" marB="36576">
                    <a:solidFill>
                      <a:srgbClr val="E8EEF6"/>
                    </a:solidFill>
                  </a:tcPr>
                </a:tc>
                <a:tc>
                  <a:txBody>
                    <a:bodyPr/>
                    <a:lstStyle/>
                    <a:p>
                      <a:r>
                        <a:rPr sz="1200" b="0">
                          <a:solidFill>
                            <a:srgbClr val="1F2937"/>
                          </a:solidFill>
                        </a:rPr>
                        <a:t>Qoidaga rioya, tekshiruv va kuzatuv</a:t>
                      </a:r>
                    </a:p>
                  </a:txBody>
                  <a:tcPr marL="73152" marR="73152" marT="36576" marB="36576">
                    <a:solidFill>
                      <a:srgbClr val="E8EEF6"/>
                    </a:solidFill>
                  </a:tcPr>
                </a:tc>
                <a:tc>
                  <a:txBody>
                    <a:bodyPr/>
                    <a:lstStyle/>
                    <a:p>
                      <a:r>
                        <a:rPr sz="1200" b="0">
                          <a:solidFill>
                            <a:srgbClr val="1F2937"/>
                          </a:solidFill>
                        </a:rPr>
                        <a:t>Mexanik, kimyoviy, termik, ba’zan elektr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Tibbiy va jinoiy abort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294, 295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jinsiy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 ayolda jinoiy abort gumon qilinmoqda. Ko‘rikda qin va bachadonda shilinma, qontalash, shilliq qavatga qon quyilishlari topildi.</a:t>
            </a:r>
          </a:p>
          <a:p>
            <a:pPr>
              <a:spcAft>
                <a:spcPts val="1200"/>
              </a:spcAft>
            </a:pPr>
            <a:r>
              <a:rPr sz="2200">
                <a:solidFill>
                  <a:srgbClr val="1F2937"/>
                </a:solidFill>
                <a:latin typeface="Calibri"/>
              </a:rPr>
              <a:t>▸  Savol 1: qaysi usul ishlatilgan bo‘lishi mumkin? Javob: mexanik usul. Kimyoviy usulda kimyoviy kuyish va zaharlanish alomatlari kutilardi.</a:t>
            </a:r>
          </a:p>
          <a:p>
            <a:pPr>
              <a:spcAft>
                <a:spcPts val="1200"/>
              </a:spcAft>
            </a:pPr>
            <a:r>
              <a:rPr sz="2200">
                <a:solidFill>
                  <a:srgbClr val="1F2937"/>
                </a:solidFill>
                <a:latin typeface="Calibri"/>
              </a:rPr>
              <a:t>▸  Vaziyat 2: tug‘ruqdan ancha vaqt o‘tgan. Bachadon bo‘yinchasi tashqi teshigi yoriqsimon, qizlik pardasi o‘rnida mirtasimon so‘rg‘ichlar, qorin terisida mayda chandiqlar bor.</a:t>
            </a:r>
          </a:p>
          <a:p>
            <a:pPr>
              <a:spcAft>
                <a:spcPts val="1200"/>
              </a:spcAft>
            </a:pPr>
            <a:r>
              <a:rPr sz="2200">
                <a:solidFill>
                  <a:srgbClr val="1F2937"/>
                </a:solidFill>
                <a:latin typeface="Calibri"/>
              </a:rPr>
              <a:t>▸  Savol 2: ekspert nimani qayd eta oladi? Javob: faqat tug‘ruq bo‘lganini. Keyingi davrda aniq muddatni hal etish imkoniyati cheklanadi.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295, 294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Nomusga tegish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118-modda: xohishiga qarshi zo‘rlik, qo‘rqitish yoki ojizlikdan foydalanib jinsiy aloqa qilish.</a:t>
            </a:r>
          </a:p>
          <a:p>
            <a:pPr>
              <a:spcAft>
                <a:spcPts val="800"/>
              </a:spcAft>
            </a:pPr>
            <a:r>
              <a:rPr sz="1800">
                <a:solidFill>
                  <a:srgbClr val="1F2937"/>
                </a:solidFill>
                <a:latin typeface="Calibri"/>
              </a:rPr>
              <a:t>▸  Zo‘rlikda qontalash, shilinma (son ichki yuzasi, jinsiy a’zolar), qizlik pardasi yorig‘i, maniy izlari topiladi.</a:t>
            </a:r>
          </a:p>
          <a:p>
            <a:pPr>
              <a:spcAft>
                <a:spcPts val="800"/>
              </a:spcAft>
            </a:pPr>
            <a:r>
              <a:rPr sz="1800">
                <a:solidFill>
                  <a:srgbClr val="1F2937"/>
                </a:solidFill>
                <a:latin typeface="Calibri"/>
              </a:rPr>
              <a:t>▸  Diqqat: qo‘rqitish iz qoldirmaydi, qin shikasti esa jinsiy hayotli ayollarda ham bo‘lishi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Qaror va bayonnomani o‘rganish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So‘rov va ginekologik anamnez</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Ko‘rik: jarohat, ojizlik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Maniy izi: tez surtma, bosma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Laboratoriya tekshiruvi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295, 296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Besoqolbozlik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120-modda: erkakning erkak bilan zo‘rliksiz jinsiy ehtiyojini qondirishi. Aktiv va passiv qatnashchining ikkalasi ham javobgar.</a:t>
            </a:r>
          </a:p>
          <a:p>
            <a:pPr>
              <a:spcAft>
                <a:spcPts val="1200"/>
              </a:spcAft>
            </a:pPr>
            <a:r>
              <a:rPr sz="2000">
                <a:solidFill>
                  <a:srgbClr val="1F2937"/>
                </a:solidFill>
                <a:latin typeface="Calibri"/>
              </a:rPr>
              <a:t>▸  Aktiv qatnashchida olat va qov sohasida ikkinchi erkakka tegishli qon, soch, axlat zarralari, moysimon modda topilishi mumkin. Ular toj egatchasida uzoq saqlanadi.</a:t>
            </a:r>
          </a:p>
          <a:p>
            <a:pPr>
              <a:spcAft>
                <a:spcPts val="1200"/>
              </a:spcAft>
            </a:pPr>
            <a:r>
              <a:rPr sz="2000">
                <a:solidFill>
                  <a:srgbClr val="1F2937"/>
                </a:solidFill>
                <a:latin typeface="Calibri"/>
              </a:rPr>
              <a:t>▸  Passiv qatnashchida orqa teshik va to‘g‘ri ichakda shilinma, qon quyilishi, yoriqlar bo‘ladi. Muntazam aloqada sfinkter zaiflashadi, burmalar silliqlashadi.</a:t>
            </a:r>
          </a:p>
          <a:p>
            <a:pPr>
              <a:spcAft>
                <a:spcPts val="1200"/>
              </a:spcAft>
            </a:pPr>
            <a:r>
              <a:rPr sz="2000">
                <a:solidFill>
                  <a:srgbClr val="1F2937"/>
                </a:solidFill>
                <a:latin typeface="Calibri"/>
              </a:rPr>
              <a:t>▸  Diqqat: qabziyat, proktit, bavosil kabi kasalliklar belgilari noto‘g‘ri talqin qilinishi mumkin. Zo‘rlik bo‘lsa, faqat aktiv shaxs 119-modda bo‘yicha javob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297, 297–298, 298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Fahsh harakatlari, tanosil kasalliklari va OIV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129-modda: 16 yoshgacha shaxsga nisbatan shahvoniy uyatsiz-buzuq harakatlar. Jarohat izi bo‘lmasligi ham mumkin.</a:t>
            </a:r>
          </a:p>
          <a:p>
            <a:pPr>
              <a:spcAft>
                <a:spcPts val="800"/>
              </a:spcAft>
            </a:pPr>
            <a:r>
              <a:rPr sz="1800">
                <a:solidFill>
                  <a:srgbClr val="1F2937"/>
                </a:solidFill>
                <a:latin typeface="Calibri"/>
              </a:rPr>
              <a:t>▸  113-modda: tanosil kasalligi yoki OIV (odam immunitet tanqisligi virusi)ni bila turib yuqtirish — jinoyat.</a:t>
            </a:r>
          </a:p>
          <a:p>
            <a:pPr>
              <a:spcAft>
                <a:spcPts val="800"/>
              </a:spcAft>
            </a:pPr>
            <a:r>
              <a:rPr sz="1800">
                <a:solidFill>
                  <a:srgbClr val="1F2937"/>
                </a:solidFill>
                <a:latin typeface="Calibri"/>
              </a:rPr>
              <a:t>▸  Ekspertiza dermatovenerolog va OIV bo‘yicha mutaxassis ishtirokida; kech bosqichdagi shaxs jinoyat sub’ekti.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44538"/>
                <a:gridCol w="1893225"/>
                <a:gridCol w="2350211"/>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Fahsh</a:t>
                      </a:r>
                    </a:p>
                  </a:txBody>
                  <a:tcPr marL="73152" marR="73152" marT="36576" marB="36576">
                    <a:solidFill>
                      <a:srgbClr val="0B1F3A"/>
                    </a:solidFill>
                  </a:tcPr>
                </a:tc>
                <a:tc>
                  <a:txBody>
                    <a:bodyPr/>
                    <a:lstStyle/>
                    <a:p>
                      <a:r>
                        <a:rPr sz="1300" b="1">
                          <a:solidFill>
                            <a:srgbClr val="FFFFFF"/>
                          </a:solidFill>
                        </a:rPr>
                        <a:t>Tanosil/OIV</a:t>
                      </a:r>
                    </a:p>
                  </a:txBody>
                  <a:tcPr marL="73152" marR="73152" marT="36576" marB="36576">
                    <a:solidFill>
                      <a:srgbClr val="0B1F3A"/>
                    </a:solidFill>
                  </a:tcPr>
                </a:tc>
              </a:tr>
              <a:tr h="411480">
                <a:tc>
                  <a:txBody>
                    <a:bodyPr/>
                    <a:lstStyle/>
                    <a:p>
                      <a:r>
                        <a:rPr sz="1200" b="0">
                          <a:solidFill>
                            <a:srgbClr val="1F2937"/>
                          </a:solidFill>
                        </a:rPr>
                        <a:t>Modda</a:t>
                      </a:r>
                    </a:p>
                  </a:txBody>
                  <a:tcPr marL="73152" marR="73152" marT="36576" marB="36576">
                    <a:solidFill>
                      <a:srgbClr val="E8EEF6"/>
                    </a:solidFill>
                  </a:tcPr>
                </a:tc>
                <a:tc>
                  <a:txBody>
                    <a:bodyPr/>
                    <a:lstStyle/>
                    <a:p>
                      <a:r>
                        <a:rPr sz="1200" b="0">
                          <a:solidFill>
                            <a:srgbClr val="1F2937"/>
                          </a:solidFill>
                        </a:rPr>
                        <a:t>129-modda</a:t>
                      </a:r>
                    </a:p>
                  </a:txBody>
                  <a:tcPr marL="73152" marR="73152" marT="36576" marB="36576">
                    <a:solidFill>
                      <a:srgbClr val="E8EEF6"/>
                    </a:solidFill>
                  </a:tcPr>
                </a:tc>
                <a:tc>
                  <a:txBody>
                    <a:bodyPr/>
                    <a:lstStyle/>
                    <a:p>
                      <a:r>
                        <a:rPr sz="1200" b="0">
                          <a:solidFill>
                            <a:srgbClr val="1F2937"/>
                          </a:solidFill>
                        </a:rPr>
                        <a:t>113-modda</a:t>
                      </a:r>
                    </a:p>
                  </a:txBody>
                  <a:tcPr marL="73152" marR="73152" marT="36576" marB="36576">
                    <a:solidFill>
                      <a:srgbClr val="E8EEF6"/>
                    </a:solidFill>
                  </a:tcPr>
                </a:tc>
              </a:tr>
              <a:tr h="411480">
                <a:tc>
                  <a:txBody>
                    <a:bodyPr/>
                    <a:lstStyle/>
                    <a:p>
                      <a:r>
                        <a:rPr sz="1200" b="0">
                          <a:solidFill>
                            <a:srgbClr val="1F2937"/>
                          </a:solidFill>
                        </a:rPr>
                        <a:t>Guruh</a:t>
                      </a:r>
                    </a:p>
                  </a:txBody>
                  <a:tcPr marL="73152" marR="73152" marT="36576" marB="36576">
                    <a:solidFill>
                      <a:srgbClr val="FFFFFF"/>
                    </a:solidFill>
                  </a:tcPr>
                </a:tc>
                <a:tc>
                  <a:txBody>
                    <a:bodyPr/>
                    <a:lstStyle/>
                    <a:p>
                      <a:r>
                        <a:rPr sz="1200" b="0">
                          <a:solidFill>
                            <a:srgbClr val="1F2937"/>
                          </a:solidFill>
                        </a:rPr>
                        <a:t>Oila, yoshlar, axloqqa qarshi</a:t>
                      </a:r>
                    </a:p>
                  </a:txBody>
                  <a:tcPr marL="73152" marR="73152" marT="36576" marB="36576">
                    <a:solidFill>
                      <a:srgbClr val="FFFFFF"/>
                    </a:solidFill>
                  </a:tcPr>
                </a:tc>
                <a:tc>
                  <a:txBody>
                    <a:bodyPr/>
                    <a:lstStyle/>
                    <a:p>
                      <a:r>
                        <a:rPr sz="1200" b="0">
                          <a:solidFill>
                            <a:srgbClr val="1F2937"/>
                          </a:solidFill>
                        </a:rPr>
                        <a:t>Hayot yoki sog‘liq uchun xavfli</a:t>
                      </a:r>
                    </a:p>
                  </a:txBody>
                  <a:tcPr marL="73152" marR="73152" marT="36576" marB="36576">
                    <a:solidFill>
                      <a:srgbClr val="FFFFFF"/>
                    </a:solidFill>
                  </a:tcPr>
                </a:tc>
              </a:tr>
              <a:tr h="411480">
                <a:tc>
                  <a:txBody>
                    <a:bodyPr/>
                    <a:lstStyle/>
                    <a:p>
                      <a:r>
                        <a:rPr sz="1200" b="0">
                          <a:solidFill>
                            <a:srgbClr val="1F2937"/>
                          </a:solidFill>
                        </a:rPr>
                        <a:t>Belgilar</a:t>
                      </a:r>
                    </a:p>
                  </a:txBody>
                  <a:tcPr marL="73152" marR="73152" marT="36576" marB="36576">
                    <a:solidFill>
                      <a:srgbClr val="E8EEF6"/>
                    </a:solidFill>
                  </a:tcPr>
                </a:tc>
                <a:tc>
                  <a:txBody>
                    <a:bodyPr/>
                    <a:lstStyle/>
                    <a:p>
                      <a:r>
                        <a:rPr sz="1200" b="0">
                          <a:solidFill>
                            <a:srgbClr val="1F2937"/>
                          </a:solidFill>
                        </a:rPr>
                        <a:t>Qizarish, shilinma, qontalash</a:t>
                      </a:r>
                    </a:p>
                  </a:txBody>
                  <a:tcPr marL="73152" marR="73152" marT="36576" marB="36576">
                    <a:solidFill>
                      <a:srgbClr val="E8EEF6"/>
                    </a:solidFill>
                  </a:tcPr>
                </a:tc>
                <a:tc>
                  <a:txBody>
                    <a:bodyPr/>
                    <a:lstStyle/>
                    <a:p>
                      <a:r>
                        <a:rPr sz="1200" b="0">
                          <a:solidFill>
                            <a:srgbClr val="1F2937"/>
                          </a:solidFill>
                        </a:rPr>
                        <a:t>Kasallik va yuqish manbai aniqlanadi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Fahsh va 113-modda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298, 299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jinsiy jinoyatlar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ayol nomusga tegish gumoni bilan ko‘rikka keltirildi. Ekspertga tayinlash qarori, hodisa joyi bayonnomasi va tibbiy hujjatlar berilgan.</a:t>
            </a:r>
          </a:p>
          <a:p>
            <a:pPr>
              <a:spcAft>
                <a:spcPts val="1200"/>
              </a:spcAft>
            </a:pPr>
            <a:r>
              <a:rPr sz="2200">
                <a:solidFill>
                  <a:srgbClr val="1F2937"/>
                </a:solidFill>
                <a:latin typeface="Calibri"/>
              </a:rPr>
              <a:t>▸  Ekspert avval shu materiallar bilan tanishadi, so‘ng ayoldan hodisa tafsilotini so‘raydi va ginekologik anamnez (hayz, so‘nggi aloqa, homiladorlik) yig‘adi.</a:t>
            </a:r>
          </a:p>
          <a:p>
            <a:pPr>
              <a:spcAft>
                <a:spcPts val="1200"/>
              </a:spcAft>
            </a:pPr>
            <a:r>
              <a:rPr sz="2200">
                <a:solidFill>
                  <a:srgbClr val="1F2937"/>
                </a:solidFill>
                <a:latin typeface="Calibri"/>
              </a:rPr>
              <a:t>▸  Diqqat: 118-modda — nomusga tegish; 119-modda — jinsiy ehtiyojni g‘ayritabiiy usulda qondirish. Ikkalasini aralashtirmang.</a:t>
            </a:r>
          </a:p>
          <a:p>
            <a:pPr>
              <a:spcAft>
                <a:spcPts val="1200"/>
              </a:spcAft>
            </a:pPr>
            <a:r>
              <a:rPr sz="2200">
                <a:solidFill>
                  <a:srgbClr val="1F2937"/>
                </a:solidFill>
                <a:latin typeface="Calibri"/>
              </a:rPr>
              <a:t>▸  Savol: nega qin ichidan surtma va tashqi sohalardan bosmalar voqeadan so‘ng imkon qadar tez olinadi? Gumondorni ham ko‘rikdan o‘tkazish kerakmi?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295, 295, 297, 296, 297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o‘tkazishning umumiy algoritmi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 Jinoyat va Fuqarolik kodekslari, protsessual kodekslar, “Sud ekspertizasi to‘g‘risida”gi qonun va Yo‘riqnoma.</a:t>
            </a:r>
          </a:p>
          <a:p>
            <a:pPr>
              <a:spcAft>
                <a:spcPts val="800"/>
              </a:spcAft>
            </a:pPr>
            <a:r>
              <a:rPr sz="1800">
                <a:solidFill>
                  <a:srgbClr val="1F2937"/>
                </a:solidFill>
                <a:latin typeface="Calibri"/>
              </a:rPr>
              <a:t>▸  Tartib va metodika hodisa xususiyati hamda ekspertiza oldiga qo‘yilgan vazifalarga qarab belgilanadi.</a:t>
            </a:r>
          </a:p>
          <a:p>
            <a:pPr>
              <a:spcAft>
                <a:spcPts val="800"/>
              </a:spcAft>
            </a:pPr>
            <a:r>
              <a:rPr sz="1800">
                <a:solidFill>
                  <a:srgbClr val="1F2937"/>
                </a:solidFill>
                <a:latin typeface="Calibri"/>
              </a:rPr>
              <a:t>▸  Hodisa tafsiloti avvalo ekspertiza tayinlash qarori yoki ajrimdagi ma’lumotlardan o‘rganiladi.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Tafsilot va tibbiy hujjatlar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So‘rov</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Qo‘shimcha tekshiruv</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xulosasi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Olti bosqichli algoritm</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299, 300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Hujjatlar, shaxsni tasdiqlash, so‘rov va ko‘rik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So‘rovda shikast qachon, qayerda, kim tomonidan, nima bilan va necha marta ta’sir etgani aniqlanadi.</a:t>
            </a:r>
          </a:p>
          <a:p>
            <a:pPr>
              <a:spcAft>
                <a:spcPts val="800"/>
              </a:spcAft>
            </a:pPr>
            <a:r>
              <a:rPr sz="1800">
                <a:solidFill>
                  <a:srgbClr val="1F2937"/>
                </a:solidFill>
                <a:latin typeface="Calibri"/>
              </a:rPr>
              <a:t>▸  Ko‘rik asboblar (o‘lchagich, lupa) bilan o‘tkaziladi; jarohat faqat shaxsning ruxsati bilan suratga olinadi.</a:t>
            </a:r>
          </a:p>
          <a:p>
            <a:pPr>
              <a:spcAft>
                <a:spcPts val="800"/>
              </a:spcAft>
            </a:pPr>
            <a:r>
              <a:rPr sz="1800">
                <a:solidFill>
                  <a:srgbClr val="1F2937"/>
                </a:solidFill>
                <a:latin typeface="Calibri"/>
              </a:rPr>
              <a:t>▸  Tayinlovchi ishtirok etishi mumkin; o‘zga jins yalang‘ochlanganda tergovchi xonadan chiqib turadi.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826755"/>
                <a:gridCol w="3461220"/>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Tartib</a:t>
                      </a:r>
                    </a:p>
                  </a:txBody>
                  <a:tcPr marL="73152" marR="73152" marT="36576" marB="36576">
                    <a:solidFill>
                      <a:srgbClr val="0B1F3A"/>
                    </a:solidFill>
                  </a:tcPr>
                </a:tc>
              </a:tr>
              <a:tr h="411480">
                <a:tc>
                  <a:txBody>
                    <a:bodyPr/>
                    <a:lstStyle/>
                    <a:p>
                      <a:r>
                        <a:rPr sz="1300" b="0">
                          <a:solidFill>
                            <a:srgbClr val="1F2937"/>
                          </a:solidFill>
                        </a:rPr>
                        <a:t>Tibbiy hujjat</a:t>
                      </a:r>
                    </a:p>
                  </a:txBody>
                  <a:tcPr marL="73152" marR="73152" marT="36576" marB="36576">
                    <a:solidFill>
                      <a:srgbClr val="E8EEF6"/>
                    </a:solidFill>
                  </a:tcPr>
                </a:tc>
                <a:tc>
                  <a:txBody>
                    <a:bodyPr/>
                    <a:lstStyle/>
                    <a:p>
                      <a:r>
                        <a:rPr sz="1300" b="0">
                          <a:solidFill>
                            <a:srgbClr val="1F2937"/>
                          </a:solidFill>
                        </a:rPr>
                        <a:t>Asl nusxa; tayinlovchi javob beradi</a:t>
                      </a:r>
                    </a:p>
                  </a:txBody>
                  <a:tcPr marL="73152" marR="73152" marT="36576" marB="36576">
                    <a:solidFill>
                      <a:srgbClr val="E8EEF6"/>
                    </a:solidFill>
                  </a:tcPr>
                </a:tc>
              </a:tr>
              <a:tr h="411480">
                <a:tc>
                  <a:txBody>
                    <a:bodyPr/>
                    <a:lstStyle/>
                    <a:p>
                      <a:r>
                        <a:rPr sz="1300" b="0">
                          <a:solidFill>
                            <a:srgbClr val="1F2937"/>
                          </a:solidFill>
                        </a:rPr>
                        <a:t>Shaxsni tasdiqlash</a:t>
                      </a:r>
                    </a:p>
                  </a:txBody>
                  <a:tcPr marL="73152" marR="73152" marT="36576" marB="36576">
                    <a:solidFill>
                      <a:srgbClr val="FFFFFF"/>
                    </a:solidFill>
                  </a:tcPr>
                </a:tc>
                <a:tc>
                  <a:txBody>
                    <a:bodyPr/>
                    <a:lstStyle/>
                    <a:p>
                      <a:r>
                        <a:rPr sz="1300" b="0">
                          <a:solidFill>
                            <a:srgbClr val="1F2937"/>
                          </a:solidFill>
                        </a:rPr>
                        <a:t>Pasport, harbiy bilet yoki guvohnoma</a:t>
                      </a:r>
                    </a:p>
                  </a:txBody>
                  <a:tcPr marL="73152" marR="73152" marT="36576" marB="36576">
                    <a:solidFill>
                      <a:srgbClr val="FFFFFF"/>
                    </a:solidFill>
                  </a:tcPr>
                </a:tc>
              </a:tr>
              <a:tr h="411480">
                <a:tc>
                  <a:txBody>
                    <a:bodyPr/>
                    <a:lstStyle/>
                    <a:p>
                      <a:r>
                        <a:rPr sz="1300" b="0">
                          <a:solidFill>
                            <a:srgbClr val="1F2937"/>
                          </a:solidFill>
                        </a:rPr>
                        <a:t>Jinsiy holatlar</a:t>
                      </a:r>
                    </a:p>
                  </a:txBody>
                  <a:tcPr marL="73152" marR="73152" marT="36576" marB="36576">
                    <a:solidFill>
                      <a:srgbClr val="E8EEF6"/>
                    </a:solidFill>
                  </a:tcPr>
                </a:tc>
                <a:tc>
                  <a:txBody>
                    <a:bodyPr/>
                    <a:lstStyle/>
                    <a:p>
                      <a:r>
                        <a:rPr sz="1300" b="0">
                          <a:solidFill>
                            <a:srgbClr val="1F2937"/>
                          </a:solidFill>
                        </a:rPr>
                        <a:t>Hujjatdan tashqari 2 ta fotosurat</a:t>
                      </a:r>
                    </a:p>
                  </a:txBody>
                  <a:tcPr marL="73152" marR="73152" marT="36576" marB="36576">
                    <a:solidFill>
                      <a:srgbClr val="E8EEF6"/>
                    </a:solidFill>
                  </a:tcPr>
                </a:tc>
              </a:tr>
              <a:tr h="411480">
                <a:tc>
                  <a:txBody>
                    <a:bodyPr/>
                    <a:lstStyle/>
                    <a:p>
                      <a:r>
                        <a:rPr sz="1300" b="0">
                          <a:solidFill>
                            <a:srgbClr val="1F2937"/>
                          </a:solidFill>
                        </a:rPr>
                        <a:t>Balog‘atga yetmagan</a:t>
                      </a:r>
                    </a:p>
                  </a:txBody>
                  <a:tcPr marL="73152" marR="73152" marT="36576" marB="36576">
                    <a:solidFill>
                      <a:srgbClr val="FFFFFF"/>
                    </a:solidFill>
                  </a:tcPr>
                </a:tc>
                <a:tc>
                  <a:txBody>
                    <a:bodyPr/>
                    <a:lstStyle/>
                    <a:p>
                      <a:r>
                        <a:rPr sz="1300" b="0">
                          <a:solidFill>
                            <a:srgbClr val="1F2937"/>
                          </a:solidFill>
                        </a:rPr>
                        <a:t>Ota-ona yoki pedagog ishtirokida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Hujjat va ishtirok tartibi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300, 300, 301, 301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ko‘rikda ishtirok etish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Ekspertiza tayinlagan shaxs ko‘rikda ishtirok etishi mumkin. Faqat o‘zga jinsdagi shaxs yalang‘ochlanib ko‘rilsa, tergovchi ko‘rik xonasidan chiqib turadi.</a:t>
            </a:r>
          </a:p>
          <a:p>
            <a:pPr>
              <a:spcAft>
                <a:spcPts val="1200"/>
              </a:spcAft>
            </a:pPr>
            <a:r>
              <a:rPr sz="2200">
                <a:solidFill>
                  <a:srgbClr val="1F2937"/>
                </a:solidFill>
                <a:latin typeface="Calibri"/>
              </a:rPr>
              <a:t>▸  Balog‘atga yetmaganlar ko‘rigi ota-onasi yoki pedagoglari ishtirokida, muomalaga layoqatsizlar ko‘rigi esa qonuniy vakil ishtirokida o‘tkaziladi.</a:t>
            </a:r>
          </a:p>
          <a:p>
            <a:pPr>
              <a:spcAft>
                <a:spcPts val="1200"/>
              </a:spcAft>
            </a:pPr>
            <a:r>
              <a:rPr sz="2200">
                <a:solidFill>
                  <a:srgbClr val="1F2937"/>
                </a:solidFill>
                <a:latin typeface="Calibri"/>
              </a:rPr>
              <a:t>▸  Davolanayotgan bemor ko‘rigi faqat sog‘lig‘i ruxsat bersa, tayinlagan shaxs yoki vakili va davolovchi vrach ishtirokida o‘tadi. Bu kasallik tarixida qayd etiladi.</a:t>
            </a:r>
          </a:p>
          <a:p>
            <a:pPr>
              <a:spcAft>
                <a:spcPts val="1200"/>
              </a:spcAft>
            </a:pPr>
            <a:r>
              <a:rPr sz="2200">
                <a:solidFill>
                  <a:srgbClr val="1F2937"/>
                </a:solidFill>
                <a:latin typeface="Calibri"/>
              </a:rPr>
              <a:t>▸  Savol: balog‘atga yetmagan bolani ko‘rikka olib kelganda kim ishtirok etishi shart va nima uchun?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ekspertiza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tergovchi balog‘atga yetmagan qizning jarohati bo‘yicha ekspertiza tayinladi. Ota-onasi hamrohlik qilmoqda, tibbiy hujjatning faqat nusxasi keltirilgan.</a:t>
            </a:r>
          </a:p>
          <a:p>
            <a:pPr>
              <a:spcAft>
                <a:spcPts val="1200"/>
              </a:spcAft>
            </a:pPr>
            <a:r>
              <a:rPr sz="2200">
                <a:solidFill>
                  <a:srgbClr val="1F2937"/>
                </a:solidFill>
                <a:latin typeface="Calibri"/>
              </a:rPr>
              <a:t>▸  Savol: ekspert qaysi izchillikda ishlaydi va hujjat nusxasining o‘zi yetarlimi?</a:t>
            </a:r>
          </a:p>
          <a:p>
            <a:pPr>
              <a:spcAft>
                <a:spcPts val="1200"/>
              </a:spcAft>
            </a:pPr>
            <a:r>
              <a:rPr sz="2200">
                <a:solidFill>
                  <a:srgbClr val="1F2937"/>
                </a:solidFill>
                <a:latin typeface="Calibri"/>
              </a:rPr>
              <a:t>▸  Javob: hodisa tafsiloti, tibbiy hujjatlar, shaxs so‘rovi, ko‘rik, zarur bo‘lsa qo‘shimcha tekshiruv yoki maslahat, so‘ng ekspert xulosasi.</a:t>
            </a:r>
          </a:p>
          <a:p>
            <a:pPr>
              <a:spcAft>
                <a:spcPts val="1200"/>
              </a:spcAft>
            </a:pPr>
            <a:r>
              <a:rPr sz="2200">
                <a:solidFill>
                  <a:srgbClr val="1F2937"/>
                </a:solidFill>
                <a:latin typeface="Calibri"/>
              </a:rPr>
              <a:t>▸  Diqqat: xato qilish xavfi! Tibbiy hujjatlarning asl nusxasi talab etiladi. Ishonchliligi uchun ekspertiza tayinlagan shaxs javob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300-301, 299-300, 300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Tan jarohati og‘ir, o‘rtacha og‘ir yoki yengil bo‘ladi. Mezonlar: hayot uchun xavf, sog‘liq buzilishi davomiyligi (6 va 21 kun) va mehnat qobiliyati yo‘qotilishi (10% va 33%).</a:t>
            </a:r>
          </a:p>
          <a:p>
            <a:pPr>
              <a:spcAft>
                <a:spcPts val="1200"/>
              </a:spcAft>
            </a:pPr>
            <a:r>
              <a:rPr sz="2000">
                <a:solidFill>
                  <a:srgbClr val="1F2937"/>
                </a:solidFill>
                <a:latin typeface="Calibri"/>
              </a:rPr>
              <a:t>▸  Bitta mezon yetarli. Bir nechta mezon bo‘lsa, og‘irrog‘i qo‘llanadi. Shaxsning individual xususiyatlari va tibbiy yordam nuqsonlari og‘irlikni belgilashda hisobga olinmaydi.</a:t>
            </a:r>
          </a:p>
          <a:p>
            <a:pPr>
              <a:spcAft>
                <a:spcPts val="1200"/>
              </a:spcAft>
            </a:pPr>
            <a:r>
              <a:rPr sz="2000">
                <a:solidFill>
                  <a:srgbClr val="1F2937"/>
                </a:solidFill>
                <a:latin typeface="Calibri"/>
              </a:rPr>
              <a:t>▸  Simulyatsiya – bo‘lmagan kasallikni bor deb ko‘rsatish, aggravatsiya – mavjudini og‘irroq ko‘rsatish, dissimulyatsiya – kasallikni yashirish. Bular komissiyada tekshiriladi.</a:t>
            </a:r>
          </a:p>
          <a:p>
            <a:pPr>
              <a:spcAft>
                <a:spcPts val="1200"/>
              </a:spcAft>
            </a:pPr>
            <a:r>
              <a:rPr sz="2000">
                <a:solidFill>
                  <a:srgbClr val="1F2937"/>
                </a:solidFill>
                <a:latin typeface="Calibri"/>
              </a:rPr>
              <a:t>▸  Pediatr uchun: tibbiy hujjatni xolis va to‘liq yozish, bolani ota-onasi bilan ko‘rikka yo‘llash, bokiralikka shubhada imkon qadar tezroq sud-tibbiy ekspertga murojaat qilish.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276-281, 283-284, 285-286, 291-292, 300-301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Simulyantlar kasallikni “tayyorlab” ko‘rsatadi. Achchiq choy yoki kofe taxikardiya va hansirash beradi, tekshiruvdan oldin askorbin kislotasi oshqozon sokining nordonligini oshiradi. Shuning uchun ayrim tekshiruvlar to‘satdan va takroran o‘tkaziladi.</a:t>
            </a:r>
          </a:p>
          <a:p>
            <a:pPr>
              <a:spcAft>
                <a:spcPts val="1200"/>
              </a:spcAft>
            </a:pPr>
            <a:r>
              <a:rPr sz="1800">
                <a:solidFill>
                  <a:srgbClr val="1F2937"/>
                </a:solidFill>
                <a:latin typeface="Calibri"/>
              </a:rPr>
              <a:t>▸  Eslab qolish usuli: SIMULYASIYA – yo‘q kasallikni “bor” deydi; AGGRAVATSIYA – bor kasallikni “og‘irroq” qilib ko‘rsatadi; DISSIMULYASIYA – bor kasallikni “yashiradi”. Dissimulyasiya simulyasiyaning aksi.</a:t>
            </a:r>
          </a:p>
          <a:p>
            <a:pPr>
              <a:spcAft>
                <a:spcPts val="1200"/>
              </a:spcAft>
            </a:pPr>
            <a:r>
              <a:rPr sz="1800">
                <a:solidFill>
                  <a:srgbClr val="1F2937"/>
                </a:solidFill>
                <a:latin typeface="Calibri"/>
              </a:rPr>
              <a:t>▸  Hodisa tahlili: qizlik pardasidagi yangi yoriq chetlari bir necha kun qonaydi va shishadi. Ikkinchi haftaning oxiri – uchinchi haftada chandiq hosil bo‘ladi. Uch haftadan keyin yoriq muddatini aniqlab bo‘lmaydi. Shu sababli sud-tibbiy ekspertga imkon qadar tez murojaat qilinadi.</a:t>
            </a:r>
          </a:p>
          <a:p>
            <a:pPr>
              <a:spcAft>
                <a:spcPts val="1200"/>
              </a:spcAft>
            </a:pPr>
            <a:r>
              <a:rPr sz="1800">
                <a:solidFill>
                  <a:srgbClr val="1F2937"/>
                </a:solidFill>
                <a:latin typeface="Calibri"/>
              </a:rPr>
              <a:t>▸  Ikki organ – ikki xil baho: ikkala ko‘zda to‘liq ko‘rlik yoki bir ko‘zda ko‘rishning to‘liq yo‘qolishi og‘ir jarohat. Bir quloqda eshitishning yo‘qolishi umumiy mehnat qobiliyatining uchdan biridan kamini yo‘qotadi va o‘rtacha og‘ir hisoblanadi.</a:t>
            </a:r>
          </a:p>
          <a:p>
            <a:pPr>
              <a:spcAft>
                <a:spcPts val="1200"/>
              </a:spcAft>
            </a:pPr>
            <a:r>
              <a:rPr sz="1800">
                <a:solidFill>
                  <a:srgbClr val="1F2937"/>
                </a:solidFill>
                <a:latin typeface="Calibri"/>
              </a:rPr>
              <a:t>▸  Eslab qolish usuli: sog‘liq buzilishi muddati bo‘yicha 6 va 21 kun chegara. 6 kungacha – yengil. 6 kundan ortiq, 21 kundan oshmasa – qisqa muddatli buzilishga olib kelgan yengil. 21 kundan ortiq – o‘rtacha og‘ir. Sud-tibbiy va klinik baho bir xil emas.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Shikastlangan shaxsda hayotga tahdid soluvchi holat paydo bo‘lgan, ammo shifokorlar yordami bilan bu tahdid bartaraf etilgan. Bu holat jarohat og‘irligini baholashga qanday ta’sir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Jarohat og‘irligi bir daraja pasaytirilib baholanadi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Tahdid bartaraf etilgani baholashda inobatga olinmaydi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Jarohat faqat yengil tan jarohati deb hisoblanadi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Og‘irlik darajasi umuman aniqlanmasdan qoldiriladi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Jabrlanuvchida shikastlanish tufayli sog‘liqning buzilishi 25 kun davom etgan, mehnat qobiliyati turg‘un yo‘qotilmagan. Jarohat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Sog‘liqning qisqa muddatga buzilishiga olib kelgan yengil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Sog‘liq buzilishisiz kechgan oddiy yengil tan jarohati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Hayot uchun xavfli bo‘lgan og‘ir darajadagi tan jarohati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O‘rtacha og‘ir tan jarohati deb baholanadi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Shikastlanish natijasida jabrlanuvchining umumiy mehnat qobiliyati 20 foizga turg‘un yo‘qotildi. Jarohatning og‘irlik darajasi qanday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O‘rtacha og‘ir tan jarohati deb baholanadi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Og‘ir tan jarohati deb baholanadi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Sog‘liqning qisqa muddatga buzilishiga olib kelgan yengil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Oddiy yengil tan jarohati deb baholanadi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Nima uchun jarohat og‘irligining sud-tibbiy bahosi klinik bahoga mos kelmasligi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Klinik baholash faqat jarohat turiga asoslanadi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Sud-tibbiy baholash faqat davolanish muddatiga tayanadi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 baholashning maqsadi va mezonlari turlicha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Ikkalasi bir xil, farq faqat ekspert xatosidan kelib chiqadi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Quyidagilardan qaysi biri tirik shaxslarning sud-tibbiy ekspertizasi tayinlanadigan holatlarga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Murdaning o‘lim sababini aniqlash masalasi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Shaxsning yoshini aniqlash masalasi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 turini kimyoviy aniqlash masalasi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Hodisa joyini ko‘zdan kechirish masalasi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Jabrlanuvchining bir qulog‘ida eshitish qobiliyati jarohatdan so‘ng qayta tiklanmas yo‘qolgan, ikkinchi qulog‘i sog‘. Jarohat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Og‘ir tan jarohati sifatida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O‘rtacha og‘ir tan jarohati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Yengil tan jarohati sifatida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Qisqa muddatli yengil jarohat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Jabrlanuvchiga yetkazilgan jarohat tufayli sog‘lom bo‘lgan bitta buyrak olib tashlandi. Jarohat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O‘rtacha og‘ir tan jarohati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Yengil tan jarohati sifatida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Og‘ir tan jarohati sifatida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Qisqa muddatli yengil jarohat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Ayol urilgandan so‘ng erta tug‘ruq boshlandi va noyetuk, lekin hayotga layoqatli tirik go‘dak tug‘ildi. Og‘irlik darajasi qanday aniqlanadi?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og‘ir jarohat deb baholanadi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yengil jarohat deb baholanadi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Baholash umuman o‘tkazib bo‘lmaydi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Boshqa mezonlar bo‘yicha aniqlanadi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Jabrlanuvchida bir jarohat bo‘yicha ikki mezon bor: sog‘liq buzilishi o‘rtacha og‘ir, homiladorlik uzilishi esa og‘ir darajaga mos. Og‘irlik qaysi mezon bo‘yicha aniqlanadi?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Og‘irroq darajaga mos mezonga ko‘ra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Yengilroq darajaga mos mezonga ko‘ra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Eng birinchi aniqlangan mezonga ko‘ra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Mezonlarning o‘rtacha darajasiga ko‘ra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Yo‘l-transport hodisasida aybdor haydovchi javobgarlikdan qutulish uchun mastlik holatini yashirmoqda. Bu qaysi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Simulyasiya holati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Aggravatsiya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Dissimulyasiya holati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Sun’iy kasallik holati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Qizlik pardasi yorig‘ida yallig‘lanish alomatlari kamaygan, yoriq chetlari granulyasion to‘qima bilan qoplana boshlagan. Jarohat qaysi muddatga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Dastlabki kunlar: shish va qon laxtalari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Ikkinchi hafta oxiri: yoriq chetida chandiq hosil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Birinchi hafta oxiri: granulyasion to‘qima paydo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Uch haftadan keyin: muddatni aniq belgilash oson bo‘ladi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Shaxsda faoliyat ko‘rsatayotgan yorg‘oq bor va spermatogenez aniqlanadi, ammo tashqi belgilari ayollarnikiga o‘xshaydi (kichik jinsiy olat, ko‘krak bezlari kattalashgan). Bu qanday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Soxta erkak germafroditizm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Chin germafroditizm, ikki xil bez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Soxta ayol germafroditizm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Kriptorxizm bilan cheklangan holat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13 yoshli qizda akseleratsiya tufayli tos o‘lchamlari kattaroq chiqdi. Ekspertiza amaliyotida u odatda qanday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Jinsiy yetuk, chunki tos o‘lchamlari yetarli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Yetukligi faqat menstruatsiya borligi bilan belgilanadi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Yetukligi faqat ikkilamchi belgilar bilan belgilanadi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Odatda jinsiy jihatdan yetilmagan hisoblanadi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Erkakning eyakulyatini laboratoriyada tekshirishda spermatozoidlar umuman topilmadi. Bu holat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Nekrospermiya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Azospermiya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Astenospermiya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Impotensiya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Ayolda bachadon bo‘yinchasining tashqi teshigi yoriqsimon, qizlik pardasi o‘rnida mirtasimon so‘rg‘ichlar bor. Kech davrda bu belgilar nimani tasdiqlaydi?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Tug‘ruqdan keyingi muddatni aniq hisoblash mumkinligini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Kechayotgan homiladorlikning ishonchli belgisini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Tug‘ruq bo‘lib o‘tganini, muddatini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Qizlik pardasi butunligi saqlanganini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Nomusga tegish gumon qilingan ayoldan qin surtmasi va tashqi sohalardan bosma qachon olinishi lozim?</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Voqeadan bir hafta o‘tgach, ayol tinchlangan paytda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Voqeadan so‘ng imkon qadar qisqa vaqt ichida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 majlisi boshlanishidan oldin, istalgan vaqtda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qizlik pardasi tekshirib bo‘lingandan keyin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Ikki erkak o‘zaro rozilik bilan, zo‘rliksiz jinsiy aloqa qildi. Kodeksning 120-moddasiga ko‘ra jinoyat sub’ekti kim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aktiv qatnashchi javobgarlikka tortiladi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passiv qatnashchi javobgarlikka tortiladi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Hech biri, chunki zo‘rlik ishlatilmagan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Aktiv va passiv qatnashchining ikkovi ham</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O‘n besh yoshli qizning oldida kattalar yalang‘ochlanib, unga pornografik film ko‘rsatgan. Bu harakat qanday nomlanadi?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Fahsh harakatlari (uyatsiz-buzuq harakatlar)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Nomusga tegish (zo‘rlik bilan jinsiy aloqa)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Besoqolbozlik (erkak bilan erkak aloqasi)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Tanosil kasalligini bila turib yuqtirish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Tanosil kasalliklari yoki OIV-infeksiyasini tarqatish Jinoyat kodeksida qaysi jinoyatlar guruhiga kiritilgan?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Jinsiy erkinlikka qarshi jinoyatlar guruhiga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Oilaga, yoshlarga va ahloqqa qarshi jinoyatlar guruhiga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Hayot yoki sog‘liq uchun xavfli jinoyatlar guruhiga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Mansab vakolatiga qarshi jinoyatlar guruhiga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13 yoshli o‘quvchi qizning sud-tibbiy ko‘rigi o‘tkazilmoqda. Ko‘rik kimning ishtirokida o‘tkazilishi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ekspertiza tayinlagan tergovchi ishtirokida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Ota-onasi yoki pedagoglari ishtirokida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Hech qanday vakilsiz, faqat ekspert ishtirokida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davolash muassasasi bo‘lim mudiri ishtirokida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Tahdid bartaraf etilgani baholashda inobatga olinmaydi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Tibbiy yordam bilan hayotga tahdidning bartaraf etilishi jarohatni hayot uchun xavfli deb baholashda hisobga olinmaydi. Muhimi, tahdid jarohat bilan bevosita bog‘liq bo‘lishi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279-bet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O‘rtacha og‘ir tan jarohati deb baholanadi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Sog‘liqning buzilishi yigirma bir kundan ortiq davom etsa, jarohat o‘rtacha og‘ir hisoblanadi. 6–21 kun oralig‘i esa qisqa muddatli buzilishga olib kelgan yengil jarohatga mos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281-bet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O‘rtacha og‘ir tan jarohati deb baholanadi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Umumiy mehnat qobiliyatining o‘n foizdan o‘ttiz uch foizgacha turg‘un yo‘qotilishi o‘rtacha og‘ir jarohat belgisi hisoblanadi. O‘n foizgacha bo‘lsa, yengil jarohat deyiladi.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280-bet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Ikkala baholashning maqsadi va mezonlari turlicha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Sud-tibbiy va klinik baholash bir xil tushuncha emas. Ularning maqsadi va mezonlari farq qilgani uchun natijalari bir-biriga mos kelmasligi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278-bet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Shaxsning yoshini aniqlash masalasi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Tirik shaxslar ekspertizasi tan jarohatlari, jinsiy holatlar, salomatlik holati va yoshni aniqlash kabi hollarda tayinlanadi. Qolgan variantlar murda yoki hodisa joyi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276-bet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O‘rtacha og‘ir tan jarohati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Og‘ir jarohat deb baholash uchun ikkala quloqda to‘liq karlik kerak. Bir quloqning eshitishi yo‘qolsa, umumiy mehnat qobiliyatining uchdan biridan kamrog‘i yo‘qoladi. Shu sababli bunday jarohat o‘rtacha og‘ir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282-bet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Og‘ir tan jarohati sifatida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Biron-bir a’zo yoki uning funksiyasining yo‘qotilishiga olib kelgan shikastlanishlar og‘ir tan jarohati hisoblanadi. Bitta urug‘don, tuxumdon yoki buyrakning yo‘qotilishi ham shu qatorga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282-bet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Boshqa mezonlar bo‘yicha aniqlanadi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Homiladorlikning uzilishi mezoni faqat o‘lik yoki hayotga layoqatsiz go‘dak tug‘ilganda qo‘llanadi. Hayotga layoqatli go‘dak tug‘ilsa, og‘irlik boshqa mezonlar bo‘yicha aniqlanadi. Bular hayot uchun xavf, sog‘liq buzilishi davomiyligi va mehnat qobiliyati yo‘qotilishi.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282-bet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Og‘irroq darajaga mos mezonga ko‘ra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Og‘irlik darajasini aniqlash uchun mezonlardan birining mavjudligi yetarli. Bir necha mezon qo‘llash mumkin bo‘lsa, og‘irroq darajaga mos mezon tanlanadi.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283-bet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Dissimulyasiya holati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Dissimulyasiya kasallik yoki boshqa patologik holatni yashirish maqsadida qasddan qilinadi. Bunga javobgarlikdan qutulish uchun haydovchining mastligini yashirishi misol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286-bet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Birinchi hafta oxiri: granulyasion to‘qima paydo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haftaning oxirida yallig‘lanish kamayadi va yoriq chetlari granulyasion to‘qima bilan qoplana boshlaydi. Dastlabki kunlarda shish va qon laxtalari kuzatiladi. Chandiq ikkinchi hafta oxiri – uchinchi haftada hosil bo‘ladi. Uch haftadan keyin muddatni aniqlab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291-bet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Soxta erkak germafroditizm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Soxta erkak germafroditizmda yorg‘oq ishlaydi, ya’ni spermatogenez bor, tashqi belgilar esa ayolga o‘xshaydi. Chin germafroditizmda ham erkak, ham ayol jinsiy bezlari bo‘ladi. Soxta ayol germafroditizmda tuxumdon ishlaydi, tashqi belgilar erkakka o‘xshaydi.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288-bet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Odatda jinsiy jihatdan yetilmagan hisoblanadi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14 yoshga to‘lmagan shaxslar odatda jinsiy yetilmagan hisoblanadi. Akseleratsiya tufayli bunday qizlarda kattaroq ko‘rsatkichlar bo‘lishi mumkin. Yetuklik esa bitta belgi bilan emas, belgilar majmui bilan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289-bet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Azospermiya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Eyakulyatda spermatozoidlarning umuman bo‘lmasligi azospermiya deyiladi va urug‘lantirish qobiliyatini inkor etadi. Impotensiya esa jinsiy aloqa qilishga monelikdir, urug‘lantirishga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292-bet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Tug‘ruq bo‘lib o‘tganini, muddatini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Kech davrda yoriqsimon tashqi teshik, mirtasimon so‘rg‘ichlar va qin shilliq qavatining silliqlanishi faqat tug‘ruq bo‘lganini qayd etishga imkon beradi. Muddatni aniq hal etish imkoni cheklanadi.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294-bet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Voqeadan so‘ng imkon qadar qisqa vaqt ichida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Vaqt o‘tgan sari laboratoriya tekshiruvining samaradorligi, xususan spermatozoidlarning topilish ehtimoli kamayadi. Shu sababli surtma va bosmalar voqeadan keyin imkon qadar tez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296-bet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Aktiv va passiv qatnashchining ikkovi ham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120-modda zo‘rliksiz besoqolbozlikni nazarda tutadi, aktiv va passiv qatnashchilar ikkovi ham jinoiy javobgarlikka tortiladi. Zo‘rlik ishlatilsa, faqat aktiv qatnashchi 119-modda bo‘yicha javob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297-298-bet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Fahsh harakatlari (uyatsiz-buzuq harakatlar)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Fahsh harakatlari 16 yoshga to‘lmagan shaxslarga nisbatan uyatsiz-buzuq harakatlarni sodir qilishdir. Yalang‘ochlanish va pornografik tasvir ko‘rsatish shu harakatlar qatoriga kiradi, javobgarlik 129-moddada belgilangan.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298-bet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Hayot yoki sog‘liq uchun xavfli jinoyatlar guruhiga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Nomusga tegish va besoqolbozlik jinsiy erkinlikka qarshi jinoyat sanaladi. Tanosil kasalliklari va OIV/OITSni tarqatish (113-modda) esa hayot yoki sog‘liq uchun xavfli jinoyatlar guruhiga kiritilgan.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299-bet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Ota-onasi yoki pedagoglari ishtirokida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Balog‘atga yetmagan shaxslarning ko‘rigi ota-onasi yoki pedagoglari ishtirokida o‘tkaziladi. Muomalaga layoqatsizlarniki esa qonuniy vakili ishtirokida bajariladi.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301-bet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 Maʻruza: Tirik shaxslarning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12. Tirik shaxslar sud-tibbiy ekspertizasi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