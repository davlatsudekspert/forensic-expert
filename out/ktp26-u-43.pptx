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etanol zaharlanishdan o‘limda yetakchi? Alkogol mastligi boshqa o‘lim turlariga qanday moyillik yaratadi? Doskada: ma’ruza rejasi (zahar tushunchasi → toksikologiya → etanol → patomorfologiya) ni chizing. Tipik xato: alkogol bilan bog‘liq o‘limni faqat o‘tkir zaharlanishdan o‘lim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modda ham dori, ham zahar bo‘lishi mumkin? Nega organizmda hosil bo‘lgan moddalar sud-tibbiy zaharlanish hisoblanmaydi? Doskada: doza → dori / zahar chizig‘ini chizing. Diqqat: xato qilish xavfi — zahar ≠ zaharlanish (zahar modda, zaharlanish esa sog‘liq buzilishi). Tipik xato: endogen alkogolni zahar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tibbiy va sud-tibbiy toksikologiyaning maqsadi nimada farq qiladi? Harbiy va oziq-ovqat yo‘nalishlarini talabalar o‘zlari tushuntirsin. Doskada: ikki ustunli solishtirish jadvalini (tibbiy ≠ sud-tibbiy) chizing. Tipik xato: sud-tibbiy toksikologiyani faqat davolash bilan bog‘lash.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ekspertizada baxtsiz hodisa ustun, qotillik esa kam? Alkogolik odamdagi zaharlanish qaysi turga kiradi? Doskada jadvalning 4 qatorini chizdiring va har biriga o‘z misolingizni yozdiring. Tipik xato: qotillikni eng ko‘p uchraydigan tur deb o‘ylash; yatrogen zaharlanishni qasddan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bir xil miqdordagi zahar ikki odamga turlicha ta’sir qiladi? Nima uchun alkogol bilan zaharlanishda muhit ahamiyatli? Doskada to‘rt omilni to‘rt ustun qilib chizib, har biriga bittadan misol yozdiring. Tipik xato: faqat zahar miqdoriga e’tibor berib, organizm va muhit omillarini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96% spirt va pivoning ta’siri bir xil emas? Nima uchun letal dozani aniq bir raqam deb bo‘lmaydi? Doskada ‘doza → qondagi konsentratsiya → ta’sir’ zanjirini chizdiring. Qo‘shimcha: Paratsels fikriga ko‘ra, moddani doriga yoki zaharga doza aylantiradi. Tipik xato: oshqozondagi moddani qondagi konsentratsiya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osh tuzi ham katta miqdorda zaharga aylanishi mumkin? 2) Nega darslikdagi dozalar faqat taxminiy hisoblanadi? Doskada: to‘rt doza turini ketma-ket «zinapoya» shaklida chizdiring. Tipik xato: talabalar toksik va o‘lim dozalarini aralashtiradi; sud tibbiyotidagi ta’rif umumiy toksikologiyadagidan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bolalar zaharga sezgirroq? 2) Tolerantlik bilan bog‘liqlik qanday farqlanadi? Doskada: «omil → ta’sir» ikki ustunli ro‘yxat tuzing (vazn, yosh, kasallik, genetika). Tipik xato: tolerantlikni immunitet yoki zaharga «chidamlilik» deb tushunish; u ko‘pincha bog‘liqlik bilan birga keladi.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uy samogoni zavod spirtiga qaraganda xavfliroq? 2) Haydash spirtni qanday o‘zgartiradi? Doskada: «bijg‘ish → haydash → sivush moylari» zanjirini chizdiring. Tipik xato: sivush moylarini etanolning o‘zi deb o‘ylash; ular alohida zaharli aralashma.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70% li spirt bakteritsid sifatida yaxshi ishlaydi, undan kuchli spirt esa yomon? 2) Spirt oshqozon shilliq qavatini qanday zararlaydi? Doskada: konsentratsiya o‘qi bo‘ylab ta’sir turlarini chizing. Tipik xato: yuqori konsentratsiya doim kuchliroq bakteritsid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mast odam avval qo‘zg‘aluvchan ko‘rinadi? 2) Qaysi markazlarning buzilishi o‘limga olib keladi? Doskada: miya sathlarini (po‘stloq, po‘stloq osti, uzunchoq miya) pastga qarab tormozlanish o‘qi bilan chizing. Tipik xato: spirtni qo‘zg‘atuvchi modda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Individual sezgirlikni belgilovchi kamida 3 omilni ayting (spirt kuchi, ichish tezligi, oshqozon to‘lishi, yosh). 2) Nega ekspertiza xulosasida o‘lim dozasiga emas, qondagi konsentratsiyaga tayaniladi? Doskada: ’och qoringa’ va ’to‘q qoringa’ uchun qondagi konsentratsiya egri chiziqlarini vaqt o‘qida chizing. Tipik xato: jadvaldagi dozani har bir odam uchun qat’iy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oshqozon to‘la bo‘lganda qondagi cho‘qqi kechroq paydo bo‘ladi? 2) Rezorbsiya davri sud-tibbiy baholashda nimaga kerak? Doskada: oshqozon va ichak sxemasini chizib, 20% va 80% ni belgilang. Tipik xato: rezorbsiya (so‘rilish) bilan eliminatsiya (ajralish) davrini aralashtirish. Tezkor savol: rezorbsiya davri necha soat davom etadi?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shampan vinosi mastlikni tezlashtiradi? 2) Ovqatdan keyin ichilgan spirt qonda qachon cho‘qqiga chiqadi? Doskada: ikki ustunli ‘tezlatadi/sekinlatadi’ jadvalini talabalar o‘zlari to‘ldirsin. Diqqat: xato qilish xavfi — kartoshka bilan sekinlashishni ‘spirt kamayadi’ deb tushunmang, faqat so‘rilish kechikadi. Manbalarda gipoatsid gastrit ta’siri farqlanishi mumkin (G‘iyosov: qisqartiradi; Tagaev: anatsid gastrit tezlatadi) — bu ikki manbada mos keladi. Tezkor savol: qaysi ovqat so‘rilishni eng kuchli sekinlatadi?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Atsetaldegid nega ‘poxmele’ alomatlarini beradi? 2) Fermentning atipik shakli bo‘lsa, kichik dozada ham nega kuchli zaharlanish bo‘lishi mumkin? Doskada: zanjirni oqlar bilan chizib, har o‘q ustiga fermentni yozing. Tipik xato: atsetaldegid bilan sirka kislotasini aralashtirish; toksik oraliq modda — atsetaldegid. Tezkor savol: metabolizmning ikkinchi bosqichida qaysi ferment ishlaydi va qayerda?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atsetaldegid spirtning o‘zidan ko‘ra ko‘proq noxush alomat beradi? 2) Qon spirti past bo‘lsa-da o‘lim bo‘lsa, ekspert nimaga e’tibor beradi? Doskada: spirt → atsetaldegid → sirka kislotasi → CO2 + H2O zanjirini chizing, ferment nomlarini yozing. Qo‘shimcha (Baizoldanov, 52-bet): tetura (antabus) atsetaldegidning sirka kislotasiga o‘tishini kechiktiradi, u to‘planib, alkogolga nafrat uyg‘otadi. Tipik xato: alkogoldegidrogenaza va aldegiddegidrogenazani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Qon va siydikdagi spirtni taqqoslash ichimlik vaqtini qanday taxmin qildiradi? 2) Nega faqat bitta namuna yetarli emas? Doskada: qon va siydik konsentratsiyasi egri chiziqlarini (rezorbsiya va eliminatsiya davri) chizing, kesishish joyini belgilang. Tipik xato: eliminatsiya davrida qon darajasi siydikdan baland deb o‘ylash (aksincha). Manbada Vidmark konstantasining son qiymati to‘liq berilmagan, uni to‘qimang.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Murda qonida topilgan 1‰ spirt hayotlik mastligini isbotlaydimi? Nega siydik tekshiruvi kerak? 2) Qaysi holatlarda endogen alkogol ko‘payadi? Doskada: ‘Qon + siydik’ juftligi va chirish ta’sirini bitta sxemada ko‘rsating. Qo‘shimcha (Pigolkin va b., 226-bet): endogen etanol atsetaldegidning depo va transport shakli, ruhiy-emotsional qulaylikda ishtirok etadi. Tipik xato: murda qonidagi spirtning hammasini ichilgan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jigar fermentlari yetishmasa katalaza ulushi ortadi? 2) Atsetaldegid to‘plansa qanday alomatlar chiqadi? Doskada chizing: etanol → atsetaldegid → sirka kislotasi → suv va CO2, fermentlarni strelka ustiga yozing. Tipik xato: atsetaldegid va sirka kislotasini aralashtirish, shuningdek rezorbsiya (so‘rilish) bilan eliminatsiyani (ajralish)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Qon va siydik nisbati ichimlik vaqti haqida nima deydi? 2) Nega bitta namuna yetarli emas, tirik shaxslarda bir necha marta olish tavsiya etiladi? Doskada jadvalni chizib, har bir qatorga “yuqoriga/pastga” strelkalarini qo‘ying. Tipik xato: davrni faqat siydikka qarab aniqlash; qon va siydik birga taqqoslanadi.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Surunkali zaharlanish o‘tkir zaharlanishdan nimasi bilan farq qiladi? 2) Nega surunkali holatda dozani oshirishga ehtiyoj paydo bo‘ladi? Doskada chizing: “kichik doza × ko‘p marta → yashirin davr → sekin klinika”. Tipik xato: surunkali zaharlanishni faqat katta bir martalik dozaga bog‘lash va tolerantlikni zararsizlik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tolerantlik xavfsizlik degani emas? 2) Doza oshirish zarurati qaramlikka qanday bog‘liq? Doskada: 5 tugunli zanjirni chizdiring va har tugunga bittadan misol yozdiring. Qo‘shimcha: Pigolkin (198-242 betlar oralig‘i) bo‘yicha o‘rganib qolish asosida moddani metabolizmga uchratuvchi fermentlar faolligining oshishi yotadi. Diqqat: xato qilish xavfi: tolerantlik ≠ qaramlik. Tolerantlik dozaga moslashish, qaramlik esa ruhiy va jismoniy bog‘liqlik. Tipik xato: ‘ko‘p ichib ham mast bo‘lmaydi, demak zarari yo‘q’ deb o‘ylash. Manbada alkogolizmning rasmiy bosqichlari berilmagan, shuning uchun faqat ketma-ketlik ko‘rsatildi.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aynan jigar, yurak va buyrak zarar ko‘radi? 2) Yuzdagi tomir kengayishi tashqi ko‘rikda nimani eslatadi? Doskada: odam siluetini chizib, to‘rtta a’zoni belgilang. Tipik xato: surunkali va o‘tkir zaharlanish belgilarini aralashtirish. Manbada bu bo‘lim qisqa berilgan, mikroskopik tafsilotlar kiritilmadi.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‘Poxmele’dagi gallyusinatsiya va ‘oq alahsirash’ qanday farqlanadi? 2) Sud-tibbiy ekspert nega alkogolizm anamnezini so‘raydi? Doskada: ikki ustunli solishtirish (poxmele va alkogol deliriysi) chizdiring. Diqqat: xato qilish xavfi: poxmele sindromi ≠ oq alahsirash. Birinchisi ichishdan keyin atsetaldegid ta’siridagi holat, ikkinchisi surunkali alkogolizmdagi ruhiy buzilish. Tipik xato: ikkalasini bir narsa deb yozish. Manbada alkogol deliriysining klinik kechishi batafsil berilmagan.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Ko‘nikish (tolerantlik) nima uchun xavfsizlikni bildirmaydi? 2) Surunkali zaharlanish o‘tkirdan nimasi bilan farq qiladi? Doskada: «kichik doza × uzoq vaqt → ko‘nikish → qaramlik → a’zolar degeneratsiyasi» zanjirini chizdiring. Tipik xato: talabalar ko‘nikishni «organizm himoyalangan» deb tushunadi. Aslida dozani oshirish zaharlanish xavfini oshiradi. Eslatma: manbalarda jinsiy bezlar o‘zgarishining mikroskopik tavsifi yo‘q.</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jigar spirt ta’siriga eng ko‘p uchraydigan a’zo? 2) Atsetaldegid qanday noxush alomatlar beradi? Doskada metabolizm zanjirini chizdiring va jigar bosqichini belgilang. Tipik xato: shilliq qavat o‘zgarishi va jigar distrofiyasini faqat surunkali ichishga bog‘lash. Manbada ular zaharlanishlarning umumiy belgisi sifatida berilgan, shuning uchun band «uncertain». Etanol uchun jigarning mikroskopik belgilari berilgan manbalarda batafsil yo‘q; ko‘rgazmali preparat ishlating.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spirt zaharlanishida o‘lim nafas markazi falajidan bo‘ladi? 2) Konyunktivadagi nuqtali qon quyilish nimadan dalolat beradi (asfiksiya hodisalari)? Doskada jadvalni ko‘chiring va har qatorga «surunkali» yoki «o‘tkir» belgisini qo‘ying. Tipik xato: miya shishi va to‘laqonligini spirtga xos deb yozish; manbada bu umumiy gipoksiya belgisi sifatida berilgan (uncertain). Konyunktivadagi qon quyilish (Tagaev, 840-bet) o‘lim oldidan asfiksiya hodisalarini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Ko‘rinadigan jarohatsiz murdada nimaga e’tibor beriladi? 2) Surunkali ichkilikning qaysi a’zolardagi o‘zgarishlari o‘lim sababi bo‘lishi mumkin? Doskada: o‘lim sababini aniqlash bosqichlari (hodisa joyi – murda – laboratoriya) sxemasini chizdiring. Tipik xato: surunkali alkogolizmni har doim o‘lim sababi deb olish; sabab dalillar bilan asoslanadi.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mastlik o‘lim bilan tugamagan holatlarda ham sud-tibbiy jihatdan muhim? 2) Qaysi hodisalarda alkogol moyillik yaratadi? Doskada: ikki ustunli ro‘yxat – “to‘g‘ridan-to‘g‘ri sabab” va “bilvosita moyillik”. Tipik xato: ikki tushunchani aralashtirish va statistik raqamni boshqa ko‘rsatkichlar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Sinergizm va antagonizm farqi nima? 2) Nega metil spirti toksikligi etanol qo‘shilganda kamayadi? Doskada: jadvalni ko‘chirib, har qatorga “kuchayadi/susayadi” belgisini qo‘ying. Tipik xato: metil spirti bilan etanolni birga ichish xavfsiz deb o‘ylash; manbada faqat toksiklik pasayishi aytilgan, zaharlanish xavfi yo‘qolmaydi.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funksional zaharlarda tibbiy hujjatlar muhim? (2) Murdada xos o‘zgarish topilmasa nima qilinadi? Doskada: 3 bosqichli zanjirni chizdiring. Tipik xato: talabalar laboratoriya natijasini yagona dalil deb hisoblaydi; xulosa uch bosqich dalillariga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chirigan murdada qon natijasiga ehtiyotkorlik bilan yondashiladi? (2) Siydik tekshiruvi qanday yordam beradi? Doskada: promille shkalasini chizing. Tipik xato: promille bilan foizni adashtirish (1‰ = mingdan bir ulush). Diqqat: 0,3‰ gacha — ta’sir yo‘q deb xulosa qilinadi.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Soxta musbat qaysi kasalliklarda mumkin? (2) Nega idish to‘la bo‘lishi va ichida havo bo‘lmasligi kerak? Doskada: ikki sinamaning rang o‘zgarishini chizing. Tipik xato: sinama natijasini miqdoriy deb hisoblash; sinamalar sifat usuli, miqdor gaz-xromatografiyada aniqlanadi.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musbat natija yolg‘iz o‘zi alkogol ichilganini isbotlamaydi? 2) Jasadda nega qon bilan birga siydik ham tekshiriladi? Doskada: «qon – siydik – chirish» uch ustunli sodda taqqoslash chizing. Tipik xato: jasad qonidagi barcha alkogolni hayotda ichilgan deb hisoblash. Qo‘shimcha: manfiy natija qusish, oshqozon yuvilishi yoki antidot terapiyasi tufayli ham chiqishi mumkin (Tagaev, 849).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Endogen va chirish alkogolini qanday farqlaymiz? 2) Nima uchun natijani qon va siydik bilan birga baholaymiz? Doskada: jadvalni talabalar bilan to‘ldiring. Tipik xato: endogen va jasad alkogolini aralashtirish. Eslatma: G‘iyosov darsligida endogen alkogol 0,3-0,4 promillegacha yetishi mumkinligi ham keltirilgan (158-bet), manbalar raqamlari farq qiladi; ularni taqqoslang.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Surunkali alkogol intoksikatsiyasi, patomorfologik namoyon bo'lishlar</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Zaharlanishdan o‘lim holatlari ichida etil spirtidan zaharlanish yetakchi o‘rinni egallaydi (sud-tibbiy ekspertiza ma’lumotlari bo‘yicha).</a:t>
            </a:r>
          </a:p>
          <a:p>
            <a:pPr>
              <a:spcAft>
                <a:spcPts val="1200"/>
              </a:spcAft>
            </a:pPr>
            <a:r>
              <a:rPr sz="2200">
                <a:solidFill>
                  <a:srgbClr val="1F2937"/>
                </a:solidFill>
                <a:latin typeface="Calibri"/>
              </a:rPr>
              <a:t>▸  Zo‘raki o‘lim tarkibida zaharlanishlar mexanik jarohatlar va mexanik asfiksiyadan keyin uchinchi o‘rinda turadi.</a:t>
            </a:r>
          </a:p>
          <a:p>
            <a:pPr>
              <a:spcAft>
                <a:spcPts val="1200"/>
              </a:spcAft>
            </a:pPr>
            <a:r>
              <a:rPr sz="2200">
                <a:solidFill>
                  <a:srgbClr val="1F2937"/>
                </a:solidFill>
                <a:latin typeface="Calibri"/>
              </a:rPr>
              <a:t>▸  Uzoq muddatli ichkilikbozlik surunkali zaharlanishga (alkogolizm) olib keladi: jigar sirrozi, yurak va buyrak o‘zgarishlari mumkin.</a:t>
            </a:r>
          </a:p>
          <a:p>
            <a:pPr>
              <a:spcAft>
                <a:spcPts val="1200"/>
              </a:spcAft>
            </a:pPr>
            <a:r>
              <a:rPr sz="2200">
                <a:solidFill>
                  <a:srgbClr val="1F2937"/>
                </a:solidFill>
                <a:latin typeface="Calibri"/>
              </a:rPr>
              <a:t>▸  Alkogol mastligi o‘limga bilvosita moyillik yaratadi (alkogol bilan bog‘liq o‘lim). Jahon sog‘liqni saqlash tashkiloti: 2,5 millionga yaqin holat.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158, 132; Baizoldanov T. (Байзолданов Т.)., Токсикологическая химия: учебник, betlar: 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sog‘liqni buzadigan yoki o‘limga olib keladigan modda. Mutlaq zahar ham, mutlaq beziyon modda ham yo‘q.</a:t>
            </a:r>
          </a:p>
          <a:p>
            <a:pPr>
              <a:spcAft>
                <a:spcPts val="1200"/>
              </a:spcAft>
            </a:pPr>
            <a:r>
              <a:rPr sz="2200">
                <a:solidFill>
                  <a:srgbClr val="1F2937"/>
                </a:solidFill>
                <a:latin typeface="Calibri"/>
              </a:rPr>
              <a:t>▸  Paratsels iborasi: faqat doza ma’lum bir moddani dori yoki zaharga aylantiradi.</a:t>
            </a:r>
          </a:p>
          <a:p>
            <a:pPr>
              <a:spcAft>
                <a:spcPts val="1200"/>
              </a:spcAft>
            </a:pPr>
            <a:r>
              <a:rPr sz="2200">
                <a:solidFill>
                  <a:srgbClr val="1F2937"/>
                </a:solidFill>
                <a:latin typeface="Calibri"/>
              </a:rPr>
              <a:t>▸  Sud-tibbiy nuqtai nazardan zahar faqat tashqaridan kirgan modda. Organizmning o‘zida hosil bo‘lgan moddalar zaharlanishga kirmaydi.</a:t>
            </a:r>
          </a:p>
          <a:p>
            <a:pPr>
              <a:spcAft>
                <a:spcPts val="1200"/>
              </a:spcAft>
            </a:pPr>
            <a:r>
              <a:rPr sz="2200">
                <a:solidFill>
                  <a:srgbClr val="1F2937"/>
                </a:solidFill>
                <a:latin typeface="Calibri"/>
              </a:rPr>
              <a:t>▸  Kimyoviy travma atamasini fransuz sud tibbiyotchisi Tardye taklif qilgan. U zaharlanishni boshqa jarohatlar kabi ko‘rgan.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Тагаев Н.Н. (Tagaev N.N.)., Судебная медицина: учебник, betlar: 823, 824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Boshqa toksikologiya turlari sabablar, tibbiy yordam va profilaktika masalalarini o‘rganadi.</a:t>
            </a:r>
          </a:p>
          <a:p>
            <a:pPr>
              <a:spcAft>
                <a:spcPts val="800"/>
              </a:spcAft>
            </a:pPr>
            <a:r>
              <a:rPr sz="1800">
                <a:solidFill>
                  <a:srgbClr val="1F2937"/>
                </a:solidFill>
                <a:latin typeface="Calibri"/>
              </a:rPr>
              <a:t>▸  Sud-tibbiy toksikologiya huquqni muhofaza etuvchi idoralar qo‘ygan vazifalarni hal etadi.</a:t>
            </a:r>
          </a:p>
          <a:p>
            <a:pPr>
              <a:spcAft>
                <a:spcPts val="800"/>
              </a:spcAft>
            </a:pPr>
            <a:r>
              <a:rPr sz="1800">
                <a:solidFill>
                  <a:srgbClr val="1F2937"/>
                </a:solidFill>
                <a:latin typeface="Calibri"/>
              </a:rPr>
              <a:t>▸  Sud tibbiyotining fan sifatida shakllanishi sud-tibbiy toksikologiyadan boshlangan.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Yo‘nalish</a:t>
                      </a:r>
                    </a:p>
                  </a:txBody>
                  <a:tcPr marL="73152" marR="73152" marT="36576" marB="36576">
                    <a:solidFill>
                      <a:srgbClr val="0B1F3A"/>
                    </a:solidFill>
                  </a:tcPr>
                </a:tc>
                <a:tc>
                  <a:txBody>
                    <a:bodyPr/>
                    <a:lstStyle/>
                    <a:p>
                      <a:r>
                        <a:rPr sz="1400" b="1">
                          <a:solidFill>
                            <a:srgbClr val="FFFFFF"/>
                          </a:solidFill>
                        </a:rPr>
                        <a:t>Asosiy vazifa</a:t>
                      </a:r>
                    </a:p>
                  </a:txBody>
                  <a:tcPr marL="73152" marR="73152" marT="36576" marB="36576">
                    <a:solidFill>
                      <a:srgbClr val="0B1F3A"/>
                    </a:solidFill>
                  </a:tcPr>
                </a:tc>
              </a:tr>
              <a:tr h="411480">
                <a:tc>
                  <a:txBody>
                    <a:bodyPr/>
                    <a:lstStyle/>
                    <a:p>
                      <a:r>
                        <a:rPr sz="1300" b="0">
                          <a:solidFill>
                            <a:srgbClr val="1F2937"/>
                          </a:solidFill>
                        </a:rPr>
                        <a:t>Sanoat (kasbiy)</a:t>
                      </a:r>
                    </a:p>
                  </a:txBody>
                  <a:tcPr marL="73152" marR="73152" marT="36576" marB="36576">
                    <a:solidFill>
                      <a:srgbClr val="E8EEF6"/>
                    </a:solidFill>
                  </a:tcPr>
                </a:tc>
                <a:tc>
                  <a:txBody>
                    <a:bodyPr/>
                    <a:lstStyle/>
                    <a:p>
                      <a:r>
                        <a:rPr sz="1300" b="0">
                          <a:solidFill>
                            <a:srgbClr val="1F2937"/>
                          </a:solidFill>
                        </a:rPr>
                        <a:t>Sanoat moddalarining ishchilarga ta’siri</a:t>
                      </a:r>
                    </a:p>
                  </a:txBody>
                  <a:tcPr marL="73152" marR="73152" marT="36576" marB="36576">
                    <a:solidFill>
                      <a:srgbClr val="E8EEF6"/>
                    </a:solidFill>
                  </a:tcPr>
                </a:tc>
              </a:tr>
              <a:tr h="411480">
                <a:tc>
                  <a:txBody>
                    <a:bodyPr/>
                    <a:lstStyle/>
                    <a:p>
                      <a:r>
                        <a:rPr sz="1300" b="0">
                          <a:solidFill>
                            <a:srgbClr val="1F2937"/>
                          </a:solidFill>
                        </a:rPr>
                        <a:t>Qishloq xo‘jaligi</a:t>
                      </a:r>
                    </a:p>
                  </a:txBody>
                  <a:tcPr marL="73152" marR="73152" marT="36576" marB="36576">
                    <a:solidFill>
                      <a:srgbClr val="FFFFFF"/>
                    </a:solidFill>
                  </a:tcPr>
                </a:tc>
                <a:tc>
                  <a:txBody>
                    <a:bodyPr/>
                    <a:lstStyle/>
                    <a:p>
                      <a:r>
                        <a:rPr sz="1300" b="0">
                          <a:solidFill>
                            <a:srgbClr val="1F2937"/>
                          </a:solidFill>
                        </a:rPr>
                        <a:t>Zararkunanda zaharlarini o‘rganish</a:t>
                      </a:r>
                    </a:p>
                  </a:txBody>
                  <a:tcPr marL="73152" marR="73152" marT="36576" marB="36576">
                    <a:solidFill>
                      <a:srgbClr val="FFFFFF"/>
                    </a:solidFill>
                  </a:tcPr>
                </a:tc>
              </a:tr>
              <a:tr h="411480">
                <a:tc>
                  <a:txBody>
                    <a:bodyPr/>
                    <a:lstStyle/>
                    <a:p>
                      <a:r>
                        <a:rPr sz="1300" b="0">
                          <a:solidFill>
                            <a:srgbClr val="1F2937"/>
                          </a:solidFill>
                        </a:rPr>
                        <a:t>Tibbiy</a:t>
                      </a:r>
                    </a:p>
                  </a:txBody>
                  <a:tcPr marL="73152" marR="73152" marT="36576" marB="36576">
                    <a:solidFill>
                      <a:srgbClr val="E8EEF6"/>
                    </a:solidFill>
                  </a:tcPr>
                </a:tc>
                <a:tc>
                  <a:txBody>
                    <a:bodyPr/>
                    <a:lstStyle/>
                    <a:p>
                      <a:r>
                        <a:rPr sz="1300" b="0">
                          <a:solidFill>
                            <a:srgbClr val="1F2937"/>
                          </a:solidFill>
                        </a:rPr>
                        <a:t>Oldini olish, davolash, antidot yaratish</a:t>
                      </a:r>
                    </a:p>
                  </a:txBody>
                  <a:tcPr marL="73152" marR="73152" marT="36576" marB="36576">
                    <a:solidFill>
                      <a:srgbClr val="E8EEF6"/>
                    </a:solidFill>
                  </a:tcPr>
                </a:tc>
              </a:tr>
              <a:tr h="411480">
                <a:tc>
                  <a:txBody>
                    <a:bodyPr/>
                    <a:lstStyle/>
                    <a:p>
                      <a:r>
                        <a:rPr sz="1300" b="0">
                          <a:solidFill>
                            <a:srgbClr val="1F2937"/>
                          </a:solidFill>
                        </a:rPr>
                        <a:t>Sud-tibbiy</a:t>
                      </a:r>
                    </a:p>
                  </a:txBody>
                  <a:tcPr marL="73152" marR="73152" marT="36576" marB="36576">
                    <a:solidFill>
                      <a:srgbClr val="FFFFFF"/>
                    </a:solidFill>
                  </a:tcPr>
                </a:tc>
                <a:tc>
                  <a:txBody>
                    <a:bodyPr/>
                    <a:lstStyle/>
                    <a:p>
                      <a:r>
                        <a:rPr sz="1300" b="0">
                          <a:solidFill>
                            <a:srgbClr val="1F2937"/>
                          </a:solidFill>
                        </a:rPr>
                        <a:t>Zahar topish, zaharlanishni isbotlash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Toksikologiya yo‘nalishlari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kelib chiqish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 qotillik, o‘z-o‘zini o‘ldirish yoki baxtsiz hodisa ko‘rinishida bo‘lishi mumkin.</a:t>
            </a:r>
          </a:p>
          <a:p>
            <a:pPr>
              <a:spcAft>
                <a:spcPts val="800"/>
              </a:spcAft>
            </a:pPr>
            <a:r>
              <a:rPr sz="1800">
                <a:solidFill>
                  <a:srgbClr val="1F2937"/>
                </a:solidFill>
                <a:latin typeface="Calibri"/>
              </a:rPr>
              <a:t>▸  Ekspertiza ma’lumotlarida baxtsiz hodisalar ko‘p, keyingi o‘rinda o‘z-o‘zini o‘ldirish; qotillik kam.</a:t>
            </a:r>
          </a:p>
          <a:p>
            <a:pPr>
              <a:spcAft>
                <a:spcPts val="800"/>
              </a:spcAft>
            </a:pPr>
            <a:r>
              <a:rPr sz="1800">
                <a:solidFill>
                  <a:srgbClr val="1F2937"/>
                </a:solidFill>
                <a:latin typeface="Calibri"/>
              </a:rPr>
              <a:t>▸  Odatiy zaharlanish: alkogolik, narkoman, toksikoman euforiya uchun ataylab zahar qabul qiladi.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61450"/>
                <a:gridCol w="2043081"/>
                <a:gridCol w="2283443"/>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Qasddan</a:t>
                      </a:r>
                    </a:p>
                  </a:txBody>
                  <a:tcPr marL="73152" marR="73152" marT="36576" marB="36576">
                    <a:solidFill>
                      <a:srgbClr val="E8EEF6"/>
                    </a:solidFill>
                  </a:tcPr>
                </a:tc>
                <a:tc>
                  <a:txBody>
                    <a:bodyPr/>
                    <a:lstStyle/>
                    <a:p>
                      <a:r>
                        <a:rPr sz="1200" b="0">
                          <a:solidFill>
                            <a:srgbClr val="1F2937"/>
                          </a:solidFill>
                        </a:rPr>
                        <a:t>Qotillik yoki o‘z-o‘zini o‘ldirish</a:t>
                      </a:r>
                    </a:p>
                  </a:txBody>
                  <a:tcPr marL="73152" marR="73152" marT="36576" marB="36576">
                    <a:solidFill>
                      <a:srgbClr val="E8EEF6"/>
                    </a:solidFill>
                  </a:tcPr>
                </a:tc>
                <a:tc>
                  <a:txBody>
                    <a:bodyPr/>
                    <a:lstStyle/>
                    <a:p>
                      <a:r>
                        <a:rPr sz="1200" b="0">
                          <a:solidFill>
                            <a:srgbClr val="1F2937"/>
                          </a:solidFill>
                        </a:rPr>
                        <a:t>Qasd bilan zahar berish yoki ichish</a:t>
                      </a:r>
                    </a:p>
                  </a:txBody>
                  <a:tcPr marL="73152" marR="73152" marT="36576" marB="36576">
                    <a:solidFill>
                      <a:srgbClr val="E8EEF6"/>
                    </a:solidFill>
                  </a:tcPr>
                </a:tc>
              </a:tr>
              <a:tr h="411480">
                <a:tc>
                  <a:txBody>
                    <a:bodyPr/>
                    <a:lstStyle/>
                    <a:p>
                      <a:r>
                        <a:rPr sz="1200" b="0">
                          <a:solidFill>
                            <a:srgbClr val="1F2937"/>
                          </a:solidFill>
                        </a:rPr>
                        <a:t>Tasodifiy</a:t>
                      </a:r>
                    </a:p>
                  </a:txBody>
                  <a:tcPr marL="73152" marR="73152" marT="36576" marB="36576">
                    <a:solidFill>
                      <a:srgbClr val="FFFFFF"/>
                    </a:solidFill>
                  </a:tcPr>
                </a:tc>
                <a:tc>
                  <a:txBody>
                    <a:bodyPr/>
                    <a:lstStyle/>
                    <a:p>
                      <a:r>
                        <a:rPr sz="1200" b="0">
                          <a:solidFill>
                            <a:srgbClr val="1F2937"/>
                          </a:solidFill>
                        </a:rPr>
                        <a:t>Baxtsiz hodisa</a:t>
                      </a:r>
                    </a:p>
                  </a:txBody>
                  <a:tcPr marL="73152" marR="73152" marT="36576" marB="36576">
                    <a:solidFill>
                      <a:srgbClr val="FFFFFF"/>
                    </a:solidFill>
                  </a:tcPr>
                </a:tc>
                <a:tc>
                  <a:txBody>
                    <a:bodyPr/>
                    <a:lstStyle/>
                    <a:p>
                      <a:r>
                        <a:rPr sz="1200" b="0">
                          <a:solidFill>
                            <a:srgbClr val="1F2937"/>
                          </a:solidFill>
                        </a:rPr>
                        <a:t>Zaharni noto‘g‘ri saqlash, xato ichish</a:t>
                      </a:r>
                    </a:p>
                  </a:txBody>
                  <a:tcPr marL="73152" marR="73152" marT="36576" marB="36576">
                    <a:solidFill>
                      <a:srgbClr val="FFFFFF"/>
                    </a:solidFill>
                  </a:tcPr>
                </a:tc>
              </a:tr>
              <a:tr h="411480">
                <a:tc>
                  <a:txBody>
                    <a:bodyPr/>
                    <a:lstStyle/>
                    <a:p>
                      <a:r>
                        <a:rPr sz="1200" b="0">
                          <a:solidFill>
                            <a:srgbClr val="1F2937"/>
                          </a:solidFill>
                        </a:rPr>
                        <a:t>Yatrogen</a:t>
                      </a:r>
                    </a:p>
                  </a:txBody>
                  <a:tcPr marL="73152" marR="73152" marT="36576" marB="36576">
                    <a:solidFill>
                      <a:srgbClr val="E8EEF6"/>
                    </a:solidFill>
                  </a:tcPr>
                </a:tc>
                <a:tc>
                  <a:txBody>
                    <a:bodyPr/>
                    <a:lstStyle/>
                    <a:p>
                      <a:r>
                        <a:rPr sz="1200" b="0">
                          <a:solidFill>
                            <a:srgbClr val="1F2937"/>
                          </a:solidFill>
                        </a:rPr>
                        <a:t>Tibbiy xato</a:t>
                      </a:r>
                    </a:p>
                  </a:txBody>
                  <a:tcPr marL="73152" marR="73152" marT="36576" marB="36576">
                    <a:solidFill>
                      <a:srgbClr val="E8EEF6"/>
                    </a:solidFill>
                  </a:tcPr>
                </a:tc>
                <a:tc>
                  <a:txBody>
                    <a:bodyPr/>
                    <a:lstStyle/>
                    <a:p>
                      <a:r>
                        <a:rPr sz="1200" b="0">
                          <a:solidFill>
                            <a:srgbClr val="1F2937"/>
                          </a:solidFill>
                        </a:rPr>
                        <a:t>Doza xatosi, bir dori o‘rniga boshqasi</a:t>
                      </a:r>
                    </a:p>
                  </a:txBody>
                  <a:tcPr marL="73152" marR="73152" marT="36576" marB="36576">
                    <a:solidFill>
                      <a:srgbClr val="E8EEF6"/>
                    </a:solidFill>
                  </a:tcPr>
                </a:tc>
              </a:tr>
              <a:tr h="411480">
                <a:tc>
                  <a:txBody>
                    <a:bodyPr/>
                    <a:lstStyle/>
                    <a:p>
                      <a:r>
                        <a:rPr sz="1200" b="0">
                          <a:solidFill>
                            <a:srgbClr val="1F2937"/>
                          </a:solidFill>
                        </a:rPr>
                        <a:t>Odatiy</a:t>
                      </a:r>
                    </a:p>
                  </a:txBody>
                  <a:tcPr marL="73152" marR="73152" marT="36576" marB="36576">
                    <a:solidFill>
                      <a:srgbClr val="FFFFFF"/>
                    </a:solidFill>
                  </a:tcPr>
                </a:tc>
                <a:tc>
                  <a:txBody>
                    <a:bodyPr/>
                    <a:lstStyle/>
                    <a:p>
                      <a:r>
                        <a:rPr sz="1200" b="0">
                          <a:solidFill>
                            <a:srgbClr val="1F2937"/>
                          </a:solidFill>
                        </a:rPr>
                        <a:t>Euforiya uchun qabul</a:t>
                      </a:r>
                    </a:p>
                  </a:txBody>
                  <a:tcPr marL="73152" marR="73152" marT="36576" marB="36576">
                    <a:solidFill>
                      <a:srgbClr val="FFFFFF"/>
                    </a:solidFill>
                  </a:tcPr>
                </a:tc>
                <a:tc>
                  <a:txBody>
                    <a:bodyPr/>
                    <a:lstStyle/>
                    <a:p>
                      <a:r>
                        <a:rPr sz="1200" b="0">
                          <a:solidFill>
                            <a:srgbClr val="1F2937"/>
                          </a:solidFill>
                        </a:rPr>
                        <a:t>Alkogolizm, narkomaniya, toksikomaniya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Zaharlanish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Тагаев Н.Н. (Tagaev N.N.)., Судебная медицина: учебник, betlar: 835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ta’siriga ta’sir etuvchi to‘rt omil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Zaharli modda: kimyoviy tuzilishi, miqdori, agregat holati, eruvchanligi va barqarorligi ahamiyatli.</a:t>
            </a:r>
          </a:p>
          <a:p>
            <a:pPr>
              <a:spcAft>
                <a:spcPts val="800"/>
              </a:spcAft>
            </a:pPr>
            <a:r>
              <a:rPr sz="1800">
                <a:solidFill>
                  <a:srgbClr val="1F2937"/>
                </a:solidFill>
                <a:latin typeface="Calibri"/>
              </a:rPr>
              <a:t>▸  Organizm: tana massasi, yosh, salomatlik, oshqozondagi massa va genetik xususiyatlar ta’sir qiladi.</a:t>
            </a:r>
          </a:p>
          <a:p>
            <a:pPr>
              <a:spcAft>
                <a:spcPts val="800"/>
              </a:spcAft>
            </a:pPr>
            <a:r>
              <a:rPr sz="1800">
                <a:solidFill>
                  <a:srgbClr val="1F2937"/>
                </a:solidFill>
                <a:latin typeface="Calibri"/>
              </a:rPr>
              <a:t>▸  Qonga tez o‘tgan zahar kuchliroq ta’sir qiladi; alkogolga yopiq, issiq, nam muhit moyillik yaratadi.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Zaharli modda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yo‘li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Tashqi sharoit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Zaharlanish natijasi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Omillar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132-133, 133-134, 134-135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Doza va konsentratsiya: spirt misolida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 xil 0,5 g doza turli moddada indifferent, davolovchi, toksik yoki o‘limli bo‘lishi mumkin.</a:t>
            </a:r>
          </a:p>
          <a:p>
            <a:pPr>
              <a:spcAft>
                <a:spcPts val="800"/>
              </a:spcAft>
            </a:pPr>
            <a:r>
              <a:rPr sz="1800">
                <a:solidFill>
                  <a:srgbClr val="1F2937"/>
                </a:solidFill>
                <a:latin typeface="Calibri"/>
              </a:rPr>
              <a:t>▸  Konsentratsiya muhim: 50 g 96% spirt, shuncha 40% aroq yoki 6% pivo odamga turlicha ta’sir qiladi.</a:t>
            </a:r>
          </a:p>
          <a:p>
            <a:pPr>
              <a:spcAft>
                <a:spcPts val="800"/>
              </a:spcAft>
            </a:pPr>
            <a:r>
              <a:rPr sz="1800">
                <a:solidFill>
                  <a:srgbClr val="1F2937"/>
                </a:solidFill>
                <a:latin typeface="Calibri"/>
              </a:rPr>
              <a:t>▸  Zaharlaydigan — qonda aylanayotgan modda; sekin so‘rilsa, katta doza ham o‘ldirmasligi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81933"/>
                <a:gridCol w="2003020"/>
                <a:gridCol w="2003020"/>
              </a:tblGrid>
              <a:tr h="411480">
                <a:tc>
                  <a:txBody>
                    <a:bodyPr/>
                    <a:lstStyle/>
                    <a:p>
                      <a:r>
                        <a:rPr sz="1300" b="1">
                          <a:solidFill>
                            <a:srgbClr val="FFFFFF"/>
                          </a:solidFill>
                        </a:rPr>
                        <a:t>Doza</a:t>
                      </a:r>
                    </a:p>
                  </a:txBody>
                  <a:tcPr marL="73152" marR="73152" marT="36576" marB="36576">
                    <a:solidFill>
                      <a:srgbClr val="0B1F3A"/>
                    </a:solidFill>
                  </a:tcPr>
                </a:tc>
                <a:tc>
                  <a:txBody>
                    <a:bodyPr/>
                    <a:lstStyle/>
                    <a:p>
                      <a:r>
                        <a:rPr sz="1300" b="1">
                          <a:solidFill>
                            <a:srgbClr val="FFFFFF"/>
                          </a:solidFill>
                        </a:rPr>
                        <a:t>Ma’nosi</a:t>
                      </a:r>
                    </a:p>
                  </a:txBody>
                  <a:tcPr marL="73152" marR="73152" marT="36576" marB="36576">
                    <a:solidFill>
                      <a:srgbClr val="0B1F3A"/>
                    </a:solidFill>
                  </a:tcPr>
                </a:tc>
                <a:tc>
                  <a:txBody>
                    <a:bodyPr/>
                    <a:lstStyle/>
                    <a:p>
                      <a:r>
                        <a:rPr sz="1300" b="1">
                          <a:solidFill>
                            <a:srgbClr val="FFFFFF"/>
                          </a:solidFill>
                        </a:rPr>
                        <a:t>0,5 g misoli</a:t>
                      </a:r>
                    </a:p>
                  </a:txBody>
                  <a:tcPr marL="73152" marR="73152" marT="36576" marB="36576">
                    <a:solidFill>
                      <a:srgbClr val="0B1F3A"/>
                    </a:solidFill>
                  </a:tcPr>
                </a:tc>
              </a:tr>
              <a:tr h="411480">
                <a:tc>
                  <a:txBody>
                    <a:bodyPr/>
                    <a:lstStyle/>
                    <a:p>
                      <a:r>
                        <a:rPr sz="1200" b="0">
                          <a:solidFill>
                            <a:srgbClr val="1F2937"/>
                          </a:solidFill>
                        </a:rPr>
                        <a:t>Indifferent</a:t>
                      </a:r>
                    </a:p>
                  </a:txBody>
                  <a:tcPr marL="73152" marR="73152" marT="36576" marB="36576">
                    <a:solidFill>
                      <a:srgbClr val="E8EEF6"/>
                    </a:solidFill>
                  </a:tcPr>
                </a:tc>
                <a:tc>
                  <a:txBody>
                    <a:bodyPr/>
                    <a:lstStyle/>
                    <a:p>
                      <a:r>
                        <a:rPr sz="1200" b="0">
                          <a:solidFill>
                            <a:srgbClr val="1F2937"/>
                          </a:solidFill>
                        </a:rPr>
                        <a:t>Sezilarli buzilish yo‘q</a:t>
                      </a:r>
                    </a:p>
                  </a:txBody>
                  <a:tcPr marL="73152" marR="73152" marT="36576" marB="36576">
                    <a:solidFill>
                      <a:srgbClr val="E8EEF6"/>
                    </a:solidFill>
                  </a:tcPr>
                </a:tc>
                <a:tc>
                  <a:txBody>
                    <a:bodyPr/>
                    <a:lstStyle/>
                    <a:p>
                      <a:r>
                        <a:rPr sz="1200" b="0">
                          <a:solidFill>
                            <a:srgbClr val="1F2937"/>
                          </a:solidFill>
                        </a:rPr>
                        <a:t>Osh tuzi, ichimlik sodasi</a:t>
                      </a:r>
                    </a:p>
                  </a:txBody>
                  <a:tcPr marL="73152" marR="73152" marT="36576" marB="36576">
                    <a:solidFill>
                      <a:srgbClr val="E8EEF6"/>
                    </a:solidFill>
                  </a:tcPr>
                </a:tc>
              </a:tr>
              <a:tr h="411480">
                <a:tc>
                  <a:txBody>
                    <a:bodyPr/>
                    <a:lstStyle/>
                    <a:p>
                      <a:r>
                        <a:rPr sz="1200" b="0">
                          <a:solidFill>
                            <a:srgbClr val="1F2937"/>
                          </a:solidFill>
                        </a:rPr>
                        <a:t>Terapevtik</a:t>
                      </a:r>
                    </a:p>
                  </a:txBody>
                  <a:tcPr marL="73152" marR="73152" marT="36576" marB="36576">
                    <a:solidFill>
                      <a:srgbClr val="FFFFFF"/>
                    </a:solidFill>
                  </a:tcPr>
                </a:tc>
                <a:tc>
                  <a:txBody>
                    <a:bodyPr/>
                    <a:lstStyle/>
                    <a:p>
                      <a:r>
                        <a:rPr sz="1200" b="0">
                          <a:solidFill>
                            <a:srgbClr val="1F2937"/>
                          </a:solidFill>
                        </a:rPr>
                        <a:t>Davolash uchun miqdor</a:t>
                      </a:r>
                    </a:p>
                  </a:txBody>
                  <a:tcPr marL="73152" marR="73152" marT="36576" marB="36576">
                    <a:solidFill>
                      <a:srgbClr val="FFFFFF"/>
                    </a:solidFill>
                  </a:tcPr>
                </a:tc>
                <a:tc>
                  <a:txBody>
                    <a:bodyPr/>
                    <a:lstStyle/>
                    <a:p>
                      <a:r>
                        <a:rPr sz="1200" b="0">
                          <a:solidFill>
                            <a:srgbClr val="1F2937"/>
                          </a:solidFill>
                        </a:rPr>
                        <a:t>Analgin</a:t>
                      </a:r>
                    </a:p>
                  </a:txBody>
                  <a:tcPr marL="73152" marR="73152" marT="36576" marB="36576">
                    <a:solidFill>
                      <a:srgbClr val="FFFFFF"/>
                    </a:solidFill>
                  </a:tcPr>
                </a:tc>
              </a:tr>
              <a:tr h="411480">
                <a:tc>
                  <a:txBody>
                    <a:bodyPr/>
                    <a:lstStyle/>
                    <a:p>
                      <a:r>
                        <a:rPr sz="1200" b="0">
                          <a:solidFill>
                            <a:srgbClr val="1F2937"/>
                          </a:solidFill>
                        </a:rPr>
                        <a:t>Toksik</a:t>
                      </a:r>
                    </a:p>
                  </a:txBody>
                  <a:tcPr marL="73152" marR="73152" marT="36576" marB="36576">
                    <a:solidFill>
                      <a:srgbClr val="E8EEF6"/>
                    </a:solidFill>
                  </a:tcPr>
                </a:tc>
                <a:tc>
                  <a:txBody>
                    <a:bodyPr/>
                    <a:lstStyle/>
                    <a:p>
                      <a:r>
                        <a:rPr sz="1200" b="0">
                          <a:solidFill>
                            <a:srgbClr val="1F2937"/>
                          </a:solidFill>
                        </a:rPr>
                        <a:t>Sog‘liq buzilishi</a:t>
                      </a:r>
                    </a:p>
                  </a:txBody>
                  <a:tcPr marL="73152" marR="73152" marT="36576" marB="36576">
                    <a:solidFill>
                      <a:srgbClr val="E8EEF6"/>
                    </a:solidFill>
                  </a:tcPr>
                </a:tc>
                <a:tc>
                  <a:txBody>
                    <a:bodyPr/>
                    <a:lstStyle/>
                    <a:p>
                      <a:r>
                        <a:rPr sz="1200" b="0">
                          <a:solidFill>
                            <a:srgbClr val="1F2937"/>
                          </a:solidFill>
                        </a:rPr>
                        <a:t>Kokain</a:t>
                      </a:r>
                    </a:p>
                  </a:txBody>
                  <a:tcPr marL="73152" marR="73152" marT="36576" marB="36576">
                    <a:solidFill>
                      <a:srgbClr val="E8EEF6"/>
                    </a:solidFill>
                  </a:tcPr>
                </a:tc>
              </a:tr>
              <a:tr h="411480">
                <a:tc>
                  <a:txBody>
                    <a:bodyPr/>
                    <a:lstStyle/>
                    <a:p>
                      <a:r>
                        <a:rPr sz="1200" b="0">
                          <a:solidFill>
                            <a:srgbClr val="1F2937"/>
                          </a:solidFill>
                        </a:rPr>
                        <a:t>Letal</a:t>
                      </a:r>
                    </a:p>
                  </a:txBody>
                  <a:tcPr marL="73152" marR="73152" marT="36576" marB="36576">
                    <a:solidFill>
                      <a:srgbClr val="FFFFFF"/>
                    </a:solidFill>
                  </a:tcPr>
                </a:tc>
                <a:tc>
                  <a:txBody>
                    <a:bodyPr/>
                    <a:lstStyle/>
                    <a:p>
                      <a:r>
                        <a:rPr sz="1200" b="0">
                          <a:solidFill>
                            <a:srgbClr val="1F2937"/>
                          </a:solidFill>
                        </a:rPr>
                        <a:t>O‘lim keltiradigan miqdor</a:t>
                      </a:r>
                    </a:p>
                  </a:txBody>
                  <a:tcPr marL="73152" marR="73152" marT="36576" marB="36576">
                    <a:solidFill>
                      <a:srgbClr val="FFFFFF"/>
                    </a:solidFill>
                  </a:tcPr>
                </a:tc>
                <a:tc>
                  <a:txBody>
                    <a:bodyPr/>
                    <a:lstStyle/>
                    <a:p>
                      <a:r>
                        <a:rPr sz="1200" b="0">
                          <a:solidFill>
                            <a:srgbClr val="1F2937"/>
                          </a:solidFill>
                        </a:rPr>
                        <a:t>Morfin, atropin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Doza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zahar va doza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nega zahar «nisbiy» tushuncha? Javob: mutlaq zahar ham, mutlaq beziyon modda ham yo‘q. Paratselsga ko‘ra, moddani dori yoki zahar qiladigan narsa doza.</a:t>
            </a:r>
          </a:p>
          <a:p>
            <a:pPr>
              <a:spcAft>
                <a:spcPts val="1200"/>
              </a:spcAft>
            </a:pPr>
            <a:r>
              <a:rPr sz="2000">
                <a:solidFill>
                  <a:srgbClr val="1F2937"/>
                </a:solidFill>
                <a:latin typeface="Calibri"/>
              </a:rPr>
              <a:t>▸  2-savol: dozaning qanday turlari bor? Javob: indifferent (sezilarli buzilish bermaydi), terapevtik, toksik (sog‘liq buzilishini beradi) va o‘lim dozasi.</a:t>
            </a:r>
          </a:p>
          <a:p>
            <a:pPr>
              <a:spcAft>
                <a:spcPts val="1200"/>
              </a:spcAft>
            </a:pPr>
            <a:r>
              <a:rPr sz="2000">
                <a:solidFill>
                  <a:srgbClr val="1F2937"/>
                </a:solidFill>
                <a:latin typeface="Calibri"/>
              </a:rPr>
              <a:t>▸  3-savol: sud tibbiyotida o‘lim dozasi nima? Javob: odamda o‘limga olib keladigan minimal miqdor. Umumiy toksikologiyada esa tajriba hayvonlarining yarmi halok bo‘ladigan miqdor.</a:t>
            </a:r>
          </a:p>
          <a:p>
            <a:pPr>
              <a:spcAft>
                <a:spcPts val="1200"/>
              </a:spcAft>
            </a:pPr>
            <a:r>
              <a:rPr sz="2000">
                <a:solidFill>
                  <a:srgbClr val="1F2937"/>
                </a:solidFill>
                <a:latin typeface="Calibri"/>
              </a:rPr>
              <a:t>▸  Diqqat: xato qilish xavfi! Darslikdagi dozalar faqat taxminiy, chunki individual sezgirlik turlicha. «Toksik doza ≠ o‘lim dozasi».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Тагаев Н.Н. (Tagaev N.N.)., Судебная медицина: учебник, betlar: 825-826; Пиголкин Ю.И., Баринов Е.Х., Богомолов Д.В., Богомолова И.Н., Судебная медицина: учебник для вузов, betlar: 198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omillari va tolerantlik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Tana vazni muhim: bir xil miqdor turli vazndagilarga bir xil ta’sir qilmaydi, shu sabab doza 1 kg vaznga hisoblanadi.</a:t>
            </a:r>
          </a:p>
          <a:p>
            <a:pPr>
              <a:spcAft>
                <a:spcPts val="1200"/>
              </a:spcAft>
            </a:pPr>
            <a:r>
              <a:rPr sz="2000">
                <a:solidFill>
                  <a:srgbClr val="1F2937"/>
                </a:solidFill>
                <a:latin typeface="Calibri"/>
              </a:rPr>
              <a:t>▸  Bolalar kattalarga nisbatan sezgirroq. Homiladorlikda ayollar sezgirligi ortadi. Yurak, jigar, buyrak kasalligida organizmning qarshiligi pasayadi.</a:t>
            </a:r>
          </a:p>
          <a:p>
            <a:pPr>
              <a:spcAft>
                <a:spcPts val="1200"/>
              </a:spcAft>
            </a:pPr>
            <a:r>
              <a:rPr sz="2000">
                <a:solidFill>
                  <a:srgbClr val="1F2937"/>
                </a:solidFill>
                <a:latin typeface="Calibri"/>
              </a:rPr>
              <a:t>▸  Genetik xususiyatlar: xolinesteraza faolligining tug‘ma pastligi va glyukoza-6-fosfatdegidrogenaza (G6PD) yetishmovchiligi sezgirlikni oshiradi. O‘ta sezgirlik idiosinkraziya deyiladi.</a:t>
            </a:r>
          </a:p>
          <a:p>
            <a:pPr>
              <a:spcAft>
                <a:spcPts val="1200"/>
              </a:spcAft>
            </a:pPr>
            <a:r>
              <a:rPr sz="2000">
                <a:solidFill>
                  <a:srgbClr val="1F2937"/>
                </a:solidFill>
                <a:latin typeface="Calibri"/>
              </a:rPr>
              <a:t>▸  Takroriy ta’sirda tolerantlik (o‘rganib qolish) paydo bo‘ladi. Ruhiy-jismoniy bog‘liqlikda modda qabul qilinmasa abstinensiya sindromi kuzatiladi (narkomaniya, toksikomaniya).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133-134, 134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spirtining fizik-kimyoviy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Etil spirti rangsiz, tiniq, uchuvchan, o‘ziga xos hidli va kuydiruvchi mazali suyuqlik. Narkotik ta’siri bosh miya po‘stlog‘ining tormozlanishi bilan bog‘liq.</a:t>
            </a:r>
          </a:p>
          <a:p>
            <a:pPr>
              <a:spcAft>
                <a:spcPts val="1200"/>
              </a:spcAft>
            </a:pPr>
            <a:r>
              <a:rPr sz="2000">
                <a:solidFill>
                  <a:srgbClr val="1F2937"/>
                </a:solidFill>
                <a:latin typeface="Calibri"/>
              </a:rPr>
              <a:t>▸  Spirt kraxmalli mahsulotlarni bijg‘itish va haydash yoki sintez yo‘li bilan olinadi. Haydashda konsentratsiyasi ortadi. Suv bilan har qanday nisbatda aralashadi.</a:t>
            </a:r>
          </a:p>
          <a:p>
            <a:pPr>
              <a:spcAft>
                <a:spcPts val="1200"/>
              </a:spcAft>
            </a:pPr>
            <a:r>
              <a:rPr sz="2000">
                <a:solidFill>
                  <a:srgbClr val="1F2937"/>
                </a:solidFill>
                <a:latin typeface="Calibri"/>
              </a:rPr>
              <a:t>▸  Spirt tayyorlashda zaharli sivush moylari hosil bo‘ladi. Yomon tozalangan spirt bilan qabul qilinsa, ular etanol ta’sirini kuchaytiradi va uzoqroq cho‘zadi.</a:t>
            </a:r>
          </a:p>
          <a:p>
            <a:pPr>
              <a:spcAft>
                <a:spcPts val="1200"/>
              </a:spcAft>
            </a:pPr>
            <a:r>
              <a:rPr sz="2000">
                <a:solidFill>
                  <a:srgbClr val="1F2937"/>
                </a:solidFill>
                <a:latin typeface="Calibri"/>
              </a:rPr>
              <a:t>▸  Xom spirt va uy samogonida sivush moylari bo‘ladi, ular sekin metabolizlanadi. Izoamil spirti etanoldan 10-12 marta zaharliroq.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156; Тагаев Н.Н. (Tagaev N.N.)., Судебная медицина: учебник, betlar: 850; Baizoldanov T. (Байзолданов Т.)., Токсикологическая химия: учебник, betlar: 49, 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spirtining to‘qimalarga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Spirt konsentratsiyasi 20% dan oshsa, hujayra protoplazmasi suvsizlanadi va ivib qoladi.</a:t>
            </a:r>
          </a:p>
          <a:p>
            <a:pPr>
              <a:spcAft>
                <a:spcPts val="800"/>
              </a:spcAft>
            </a:pPr>
            <a:r>
              <a:rPr sz="1800">
                <a:solidFill>
                  <a:srgbClr val="1F2937"/>
                </a:solidFill>
                <a:latin typeface="Calibri"/>
              </a:rPr>
              <a:t>▸  Mahalliy ta’sir darajasi konsentratsiyaga, tushgan joyga va ta’sir davomiyligiga bog‘liq.</a:t>
            </a:r>
          </a:p>
          <a:p>
            <a:pPr>
              <a:spcAft>
                <a:spcPts val="800"/>
              </a:spcAft>
            </a:pPr>
            <a:r>
              <a:rPr sz="1800">
                <a:solidFill>
                  <a:srgbClr val="1F2937"/>
                </a:solidFill>
                <a:latin typeface="Calibri"/>
              </a:rPr>
              <a:t>▸  Oshqozonda spirt shilliq qavatni qizartiradi; ko‘p bo‘lsa epiteliy to‘kilib, qavat eroziyaga uchraydi.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62658"/>
                <a:gridCol w="3525316"/>
              </a:tblGrid>
              <a:tr h="411480">
                <a:tc>
                  <a:txBody>
                    <a:bodyPr/>
                    <a:lstStyle/>
                    <a:p>
                      <a:r>
                        <a:rPr sz="1400" b="1">
                          <a:solidFill>
                            <a:srgbClr val="FFFFFF"/>
                          </a:solidFill>
                        </a:rPr>
                        <a:t>Konsentratsiya</a:t>
                      </a:r>
                    </a:p>
                  </a:txBody>
                  <a:tcPr marL="73152" marR="73152" marT="36576" marB="36576">
                    <a:solidFill>
                      <a:srgbClr val="0B1F3A"/>
                    </a:solidFill>
                  </a:tcPr>
                </a:tc>
                <a:tc>
                  <a:txBody>
                    <a:bodyPr/>
                    <a:lstStyle/>
                    <a:p>
                      <a:r>
                        <a:rPr sz="1400" b="1">
                          <a:solidFill>
                            <a:srgbClr val="FFFFFF"/>
                          </a:solidFill>
                        </a:rPr>
                        <a:t>Ta’sir</a:t>
                      </a:r>
                    </a:p>
                  </a:txBody>
                  <a:tcPr marL="73152" marR="73152" marT="36576" marB="36576">
                    <a:solidFill>
                      <a:srgbClr val="0B1F3A"/>
                    </a:solidFill>
                  </a:tcPr>
                </a:tc>
              </a:tr>
              <a:tr h="411480">
                <a:tc>
                  <a:txBody>
                    <a:bodyPr/>
                    <a:lstStyle/>
                    <a:p>
                      <a:r>
                        <a:rPr sz="1300" b="0">
                          <a:solidFill>
                            <a:srgbClr val="1F2937"/>
                          </a:solidFill>
                        </a:rPr>
                        <a:t>20% dan yuqori</a:t>
                      </a:r>
                    </a:p>
                  </a:txBody>
                  <a:tcPr marL="73152" marR="73152" marT="36576" marB="36576">
                    <a:solidFill>
                      <a:srgbClr val="E8EEF6"/>
                    </a:solidFill>
                  </a:tcPr>
                </a:tc>
                <a:tc>
                  <a:txBody>
                    <a:bodyPr/>
                    <a:lstStyle/>
                    <a:p>
                      <a:r>
                        <a:rPr sz="1300" b="0">
                          <a:solidFill>
                            <a:srgbClr val="1F2937"/>
                          </a:solidFill>
                        </a:rPr>
                        <a:t>Degidratatsiya, protoplazma ivishi</a:t>
                      </a:r>
                    </a:p>
                  </a:txBody>
                  <a:tcPr marL="73152" marR="73152" marT="36576" marB="36576">
                    <a:solidFill>
                      <a:srgbClr val="E8EEF6"/>
                    </a:solidFill>
                  </a:tcPr>
                </a:tc>
              </a:tr>
              <a:tr h="411480">
                <a:tc>
                  <a:txBody>
                    <a:bodyPr/>
                    <a:lstStyle/>
                    <a:p>
                      <a:r>
                        <a:rPr sz="1300" b="0">
                          <a:solidFill>
                            <a:srgbClr val="1F2937"/>
                          </a:solidFill>
                        </a:rPr>
                        <a:t>Taxminan 70%</a:t>
                      </a:r>
                    </a:p>
                  </a:txBody>
                  <a:tcPr marL="73152" marR="73152" marT="36576" marB="36576">
                    <a:solidFill>
                      <a:srgbClr val="FFFFFF"/>
                    </a:solidFill>
                  </a:tcPr>
                </a:tc>
                <a:tc>
                  <a:txBody>
                    <a:bodyPr/>
                    <a:lstStyle/>
                    <a:p>
                      <a:r>
                        <a:rPr sz="1300" b="0">
                          <a:solidFill>
                            <a:srgbClr val="1F2937"/>
                          </a:solidFill>
                        </a:rPr>
                        <a:t>Bakteritsid, og‘riqsizlantiradi</a:t>
                      </a:r>
                    </a:p>
                  </a:txBody>
                  <a:tcPr marL="73152" marR="73152" marT="36576" marB="36576">
                    <a:solidFill>
                      <a:srgbClr val="FFFFFF"/>
                    </a:solidFill>
                  </a:tcPr>
                </a:tc>
              </a:tr>
              <a:tr h="411480">
                <a:tc>
                  <a:txBody>
                    <a:bodyPr/>
                    <a:lstStyle/>
                    <a:p>
                      <a:r>
                        <a:rPr sz="1300" b="0">
                          <a:solidFill>
                            <a:srgbClr val="1F2937"/>
                          </a:solidFill>
                        </a:rPr>
                        <a:t>Undan ham yuqori</a:t>
                      </a:r>
                    </a:p>
                  </a:txBody>
                  <a:tcPr marL="73152" marR="73152" marT="36576" marB="36576">
                    <a:solidFill>
                      <a:srgbClr val="E8EEF6"/>
                    </a:solidFill>
                  </a:tcPr>
                </a:tc>
                <a:tc>
                  <a:txBody>
                    <a:bodyPr/>
                    <a:lstStyle/>
                    <a:p>
                      <a:r>
                        <a:rPr sz="1300" b="0">
                          <a:solidFill>
                            <a:srgbClr val="1F2937"/>
                          </a:solidFill>
                        </a:rPr>
                        <a:t>Oqsil denaturatsiyasi, kirishi yomon</a:t>
                      </a:r>
                    </a:p>
                  </a:txBody>
                  <a:tcPr marL="73152" marR="73152" marT="36576" marB="36576">
                    <a:solidFill>
                      <a:srgbClr val="E8EEF6"/>
                    </a:solidFill>
                  </a:tcPr>
                </a:tc>
              </a:tr>
              <a:tr h="411480">
                <a:tc>
                  <a:txBody>
                    <a:bodyPr/>
                    <a:lstStyle/>
                    <a:p>
                      <a:r>
                        <a:rPr sz="1300" b="0">
                          <a:solidFill>
                            <a:srgbClr val="1F2937"/>
                          </a:solidFill>
                        </a:rPr>
                        <a:t>Og‘izdan, kuchsiz</a:t>
                      </a:r>
                    </a:p>
                  </a:txBody>
                  <a:tcPr marL="73152" marR="73152" marT="36576" marB="36576">
                    <a:solidFill>
                      <a:srgbClr val="FFFFFF"/>
                    </a:solidFill>
                  </a:tcPr>
                </a:tc>
                <a:tc>
                  <a:txBody>
                    <a:bodyPr/>
                    <a:lstStyle/>
                    <a:p>
                      <a:r>
                        <a:rPr sz="1300" b="0">
                          <a:solidFill>
                            <a:srgbClr val="1F2937"/>
                          </a:solidFill>
                        </a:rPr>
                        <a:t>Shilliq qavat qizarishi, so‘lak ko‘payishi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Konsentratsiya va mahalliy ta’sir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850, 851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Markaziy nerv tizimiga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Spirt avval bosh miya po‘stlog‘ini tormozlaydi, shu sababli po‘stloq osti markazlari nazoratdan chiqadi.</a:t>
            </a:r>
          </a:p>
          <a:p>
            <a:pPr>
              <a:spcAft>
                <a:spcPts val="800"/>
              </a:spcAft>
            </a:pPr>
            <a:r>
              <a:rPr sz="1800">
                <a:solidFill>
                  <a:srgbClr val="1F2937"/>
                </a:solidFill>
                <a:latin typeface="Calibri"/>
              </a:rPr>
              <a:t>▸  Ko‘p ichilsa tormozlanish po‘stloq osti, uzunchoq miya, miyachaga o‘tadi; nafas va yurak-qon tomir markazlari buziladi.</a:t>
            </a:r>
          </a:p>
          <a:p>
            <a:pPr>
              <a:spcAft>
                <a:spcPts val="800"/>
              </a:spcAft>
            </a:pPr>
            <a:r>
              <a:rPr sz="1800">
                <a:solidFill>
                  <a:srgbClr val="1F2937"/>
                </a:solidFill>
                <a:latin typeface="Calibri"/>
              </a:rPr>
              <a:t>▸  Mastlikdagi qo‘zg‘alish kuchayish emas, tormozlanish susayishi natijasidir.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Po‘stloq tormozlanadi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Eyforiya, qo‘zg‘alish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Uyquchanlik, nutq buzilishi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markazi falaji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Mastlik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156; Baizoldanov T. (Байзолданов Т.)., Токсикологическая химия: учебник, betlar: 49-50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o‘tkir mastlik va ichki a’zolar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ikki kishi bir xil miqdorda spirt ichdi, biri och qoringa, biri to‘q qoringa. Qaysi birida qondagi cho‘qqi erta bo‘ladi?</a:t>
            </a:r>
          </a:p>
          <a:p>
            <a:pPr>
              <a:spcAft>
                <a:spcPts val="1200"/>
              </a:spcAft>
            </a:pPr>
            <a:r>
              <a:rPr sz="2200">
                <a:solidFill>
                  <a:srgbClr val="1F2937"/>
                </a:solidFill>
                <a:latin typeface="Calibri"/>
              </a:rPr>
              <a:t>▸  Qondagi eng yuqori konsentratsiya och qoringa 40–90 daqiqada, oshqozon to‘lganda 90–180 daqiqada kuzatiladi.</a:t>
            </a:r>
          </a:p>
          <a:p>
            <a:pPr>
              <a:spcAft>
                <a:spcPts val="1200"/>
              </a:spcAft>
            </a:pPr>
            <a:r>
              <a:rPr sz="2200">
                <a:solidFill>
                  <a:srgbClr val="1F2937"/>
                </a:solidFill>
                <a:latin typeface="Calibri"/>
              </a:rPr>
              <a:t>▸  O‘lim dozasi 6–8 ml/kg toza spirt yoki 200–300 ml 96% spirt deyiladi, lekin bu faqat taxminiy ko‘rsatkich.</a:t>
            </a:r>
          </a:p>
          <a:p>
            <a:pPr>
              <a:spcAft>
                <a:spcPts val="1200"/>
              </a:spcAft>
            </a:pPr>
            <a:r>
              <a:rPr sz="2200">
                <a:solidFill>
                  <a:srgbClr val="1F2937"/>
                </a:solidFill>
                <a:latin typeface="Calibri"/>
              </a:rPr>
              <a:t>▸  Ba’zilar 100–150 g toza spirtdan o‘ladi, boshqalar 600–800 g dan keyin ham tirik qoladi. Nega bitta o‘lim dozasi yo‘q?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851, 850; Baizoldanov T. (Байзолданов Т.)., Токсикологическая химия: учебник, betlar: 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so‘rilish (rezorbsiya)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Etil spirtining taxminan 20% i oshqozonda, 80% i ichakda qonga so‘riladi.</a:t>
            </a:r>
          </a:p>
          <a:p>
            <a:pPr>
              <a:spcAft>
                <a:spcPts val="800"/>
              </a:spcAft>
            </a:pPr>
            <a:r>
              <a:rPr sz="1800">
                <a:solidFill>
                  <a:srgbClr val="1F2937"/>
                </a:solidFill>
                <a:latin typeface="Calibri"/>
              </a:rPr>
              <a:t>▸  Rezorbsiya davri odatda 1–2 soat davom etadi.</a:t>
            </a:r>
          </a:p>
          <a:p>
            <a:pPr>
              <a:spcAft>
                <a:spcPts val="800"/>
              </a:spcAft>
            </a:pPr>
            <a:r>
              <a:rPr sz="1800">
                <a:solidFill>
                  <a:srgbClr val="1F2937"/>
                </a:solidFill>
                <a:latin typeface="Calibri"/>
              </a:rPr>
              <a:t>▸  Oshqozon to‘la bo‘lsa, spirtning bir qismi bog‘lanib qoladi va so‘rilish kechikadi.</a:t>
            </a:r>
          </a:p>
        </p:txBody>
      </p:sp>
      <p:graphicFrame>
        <p:nvGraphicFramePr>
          <p:cNvPr id="9" name="Table 8"/>
          <p:cNvGraphicFramePr>
            <a:graphicFrameLocks noGrp="1"/>
          </p:cNvGraphicFramePr>
          <p:nvPr/>
        </p:nvGraphicFramePr>
        <p:xfrm>
          <a:off x="6263640" y="1463040"/>
          <a:ext cx="5287973" cy="1234440"/>
        </p:xfrm>
        <a:graphic>
          <a:graphicData uri="http://schemas.openxmlformats.org/drawingml/2006/table">
            <a:tbl>
              <a:tblPr firstRow="1" bandRow="1">
                <a:tableStyleId>{5C22544A-7EE6-4342-B048-85BDC9FD1C3A}</a:tableStyleId>
              </a:tblPr>
              <a:tblGrid>
                <a:gridCol w="1658972"/>
                <a:gridCol w="1658972"/>
                <a:gridCol w="1970029"/>
              </a:tblGrid>
              <a:tr h="411480">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Bog‘lanish</a:t>
                      </a:r>
                    </a:p>
                  </a:txBody>
                  <a:tcPr marL="73152" marR="73152" marT="36576" marB="36576">
                    <a:solidFill>
                      <a:srgbClr val="0B1F3A"/>
                    </a:solidFill>
                  </a:tcPr>
                </a:tc>
                <a:tc>
                  <a:txBody>
                    <a:bodyPr/>
                    <a:lstStyle/>
                    <a:p>
                      <a:r>
                        <a:rPr sz="1300" b="1">
                          <a:solidFill>
                            <a:srgbClr val="FFFFFF"/>
                          </a:solidFill>
                        </a:rPr>
                        <a:t>Qonda cho‘qqi</a:t>
                      </a:r>
                    </a:p>
                  </a:txBody>
                  <a:tcPr marL="73152" marR="73152" marT="36576" marB="36576">
                    <a:solidFill>
                      <a:srgbClr val="0B1F3A"/>
                    </a:solidFill>
                  </a:tcPr>
                </a:tc>
              </a:tr>
              <a:tr h="411480">
                <a:tc>
                  <a:txBody>
                    <a:bodyPr/>
                    <a:lstStyle/>
                    <a:p>
                      <a:r>
                        <a:rPr sz="1200" b="0">
                          <a:solidFill>
                            <a:srgbClr val="1F2937"/>
                          </a:solidFill>
                        </a:rPr>
                        <a:t>Och qoringa</a:t>
                      </a:r>
                    </a:p>
                  </a:txBody>
                  <a:tcPr marL="73152" marR="73152" marT="36576" marB="36576">
                    <a:solidFill>
                      <a:srgbClr val="E8EEF6"/>
                    </a:solidFill>
                  </a:tcPr>
                </a:tc>
                <a:tc>
                  <a:txBody>
                    <a:bodyPr/>
                    <a:lstStyle/>
                    <a:p>
                      <a:r>
                        <a:rPr sz="1200" b="0">
                          <a:solidFill>
                            <a:srgbClr val="1F2937"/>
                          </a:solidFill>
                        </a:rPr>
                        <a:t>~5%, qaytmaydi</a:t>
                      </a:r>
                    </a:p>
                  </a:txBody>
                  <a:tcPr marL="73152" marR="73152" marT="36576" marB="36576">
                    <a:solidFill>
                      <a:srgbClr val="E8EEF6"/>
                    </a:solidFill>
                  </a:tcPr>
                </a:tc>
                <a:tc>
                  <a:txBody>
                    <a:bodyPr/>
                    <a:lstStyle/>
                    <a:p>
                      <a:r>
                        <a:rPr sz="1200" b="0">
                          <a:solidFill>
                            <a:srgbClr val="1F2937"/>
                          </a:solidFill>
                        </a:rPr>
                        <a:t>40–90 daqiqa</a:t>
                      </a:r>
                    </a:p>
                  </a:txBody>
                  <a:tcPr marL="73152" marR="73152" marT="36576" marB="36576">
                    <a:solidFill>
                      <a:srgbClr val="E8EEF6"/>
                    </a:solidFill>
                  </a:tcPr>
                </a:tc>
              </a:tr>
              <a:tr h="411480">
                <a:tc>
                  <a:txBody>
                    <a:bodyPr/>
                    <a:lstStyle/>
                    <a:p>
                      <a:r>
                        <a:rPr sz="1200" b="0">
                          <a:solidFill>
                            <a:srgbClr val="1F2937"/>
                          </a:solidFill>
                        </a:rPr>
                        <a:t>Oshqozon to‘la</a:t>
                      </a:r>
                    </a:p>
                  </a:txBody>
                  <a:tcPr marL="73152" marR="73152" marT="36576" marB="36576">
                    <a:solidFill>
                      <a:srgbClr val="FFFFFF"/>
                    </a:solidFill>
                  </a:tcPr>
                </a:tc>
                <a:tc>
                  <a:txBody>
                    <a:bodyPr/>
                    <a:lstStyle/>
                    <a:p>
                      <a:r>
                        <a:rPr sz="1200" b="0">
                          <a:solidFill>
                            <a:srgbClr val="1F2937"/>
                          </a:solidFill>
                        </a:rPr>
                        <a:t>~40%, vaqtincha</a:t>
                      </a:r>
                    </a:p>
                  </a:txBody>
                  <a:tcPr marL="73152" marR="73152" marT="36576" marB="36576">
                    <a:solidFill>
                      <a:srgbClr val="FFFFFF"/>
                    </a:solidFill>
                  </a:tcPr>
                </a:tc>
                <a:tc>
                  <a:txBody>
                    <a:bodyPr/>
                    <a:lstStyle/>
                    <a:p>
                      <a:r>
                        <a:rPr sz="1200" b="0">
                          <a:solidFill>
                            <a:srgbClr val="1F2937"/>
                          </a:solidFill>
                        </a:rPr>
                        <a:t>90–180 daqiqa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Oshqozon to‘laligi va so‘rilish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So‘rilish tezligiga ta’sir etuvchi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Tezlik spirt konsentratsiyasi, oshqozon bo‘shalishi va qon bilan ta’minlanishga bog‘liq.</a:t>
            </a:r>
          </a:p>
          <a:p>
            <a:pPr>
              <a:spcAft>
                <a:spcPts val="800"/>
              </a:spcAft>
            </a:pPr>
            <a:r>
              <a:rPr sz="1800">
                <a:solidFill>
                  <a:srgbClr val="1F2937"/>
                </a:solidFill>
                <a:latin typeface="Calibri"/>
              </a:rPr>
              <a:t>▸  Kartoshka spirt so‘rilishini eng kuchli sekinlatadi, undan keyin go‘sht va yog‘.</a:t>
            </a:r>
          </a:p>
          <a:p>
            <a:pPr>
              <a:spcAft>
                <a:spcPts val="800"/>
              </a:spcAft>
            </a:pPr>
            <a:r>
              <a:rPr sz="1800">
                <a:solidFill>
                  <a:srgbClr val="1F2937"/>
                </a:solidFill>
                <a:latin typeface="Calibri"/>
              </a:rPr>
              <a:t>▸  Takroriy qabul va gazli ichimliklar so‘rilishni tezlashtiradi; kuchli stress sekinlatadi.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84712"/>
                <a:gridCol w="2033836"/>
                <a:gridCol w="2169425"/>
              </a:tblGrid>
              <a:tr h="411480">
                <a:tc>
                  <a:txBody>
                    <a:bodyPr/>
                    <a:lstStyle/>
                    <a:p>
                      <a:r>
                        <a:rPr sz="1300" b="1">
                          <a:solidFill>
                            <a:srgbClr val="FFFFFF"/>
                          </a:solidFill>
                        </a:rPr>
                        <a:t>Omil</a:t>
                      </a:r>
                    </a:p>
                  </a:txBody>
                  <a:tcPr marL="73152" marR="73152" marT="36576" marB="36576">
                    <a:solidFill>
                      <a:srgbClr val="0B1F3A"/>
                    </a:solidFill>
                  </a:tcPr>
                </a:tc>
                <a:tc>
                  <a:txBody>
                    <a:bodyPr/>
                    <a:lstStyle/>
                    <a:p>
                      <a:r>
                        <a:rPr sz="1300" b="1">
                          <a:solidFill>
                            <a:srgbClr val="FFFFFF"/>
                          </a:solidFill>
                        </a:rPr>
                        <a:t>Tezlatadi</a:t>
                      </a:r>
                    </a:p>
                  </a:txBody>
                  <a:tcPr marL="73152" marR="73152" marT="36576" marB="36576">
                    <a:solidFill>
                      <a:srgbClr val="0B1F3A"/>
                    </a:solidFill>
                  </a:tcPr>
                </a:tc>
                <a:tc>
                  <a:txBody>
                    <a:bodyPr/>
                    <a:lstStyle/>
                    <a:p>
                      <a:r>
                        <a:rPr sz="1300" b="1">
                          <a:solidFill>
                            <a:srgbClr val="FFFFFF"/>
                          </a:solidFill>
                        </a:rPr>
                        <a:t>Sekinlatadi</a:t>
                      </a:r>
                    </a:p>
                  </a:txBody>
                  <a:tcPr marL="73152" marR="73152" marT="36576" marB="36576">
                    <a:solidFill>
                      <a:srgbClr val="0B1F3A"/>
                    </a:solidFill>
                  </a:tcPr>
                </a:tc>
              </a:tr>
              <a:tr h="411480">
                <a:tc>
                  <a:txBody>
                    <a:bodyPr/>
                    <a:lstStyle/>
                    <a:p>
                      <a:r>
                        <a:rPr sz="1200" b="0">
                          <a:solidFill>
                            <a:srgbClr val="1F2937"/>
                          </a:solidFill>
                        </a:rPr>
                        <a:t>Oshqozon</a:t>
                      </a:r>
                    </a:p>
                  </a:txBody>
                  <a:tcPr marL="73152" marR="73152" marT="36576" marB="36576">
                    <a:solidFill>
                      <a:srgbClr val="E8EEF6"/>
                    </a:solidFill>
                  </a:tcPr>
                </a:tc>
                <a:tc>
                  <a:txBody>
                    <a:bodyPr/>
                    <a:lstStyle/>
                    <a:p>
                      <a:r>
                        <a:rPr sz="1200" b="0">
                          <a:solidFill>
                            <a:srgbClr val="1F2937"/>
                          </a:solidFill>
                        </a:rPr>
                        <a:t>Bo‘sh; gipoatsid gastrit</a:t>
                      </a:r>
                    </a:p>
                  </a:txBody>
                  <a:tcPr marL="73152" marR="73152" marT="36576" marB="36576">
                    <a:solidFill>
                      <a:srgbClr val="E8EEF6"/>
                    </a:solidFill>
                  </a:tcPr>
                </a:tc>
                <a:tc>
                  <a:txBody>
                    <a:bodyPr/>
                    <a:lstStyle/>
                    <a:p>
                      <a:r>
                        <a:rPr sz="1200" b="0">
                          <a:solidFill>
                            <a:srgbClr val="1F2937"/>
                          </a:solidFill>
                        </a:rPr>
                        <a:t>To‘la; giperatsid gastrit</a:t>
                      </a:r>
                    </a:p>
                  </a:txBody>
                  <a:tcPr marL="73152" marR="73152" marT="36576" marB="36576">
                    <a:solidFill>
                      <a:srgbClr val="E8EEF6"/>
                    </a:solidFill>
                  </a:tcPr>
                </a:tc>
              </a:tr>
              <a:tr h="411480">
                <a:tc>
                  <a:txBody>
                    <a:bodyPr/>
                    <a:lstStyle/>
                    <a:p>
                      <a:r>
                        <a:rPr sz="1200" b="0">
                          <a:solidFill>
                            <a:srgbClr val="1F2937"/>
                          </a:solidFill>
                        </a:rPr>
                        <a:t>Ovqat</a:t>
                      </a:r>
                    </a:p>
                  </a:txBody>
                  <a:tcPr marL="73152" marR="73152" marT="36576" marB="36576">
                    <a:solidFill>
                      <a:srgbClr val="FFFFFF"/>
                    </a:solidFill>
                  </a:tcPr>
                </a:tc>
                <a:tc>
                  <a:txBody>
                    <a:bodyPr/>
                    <a:lstStyle/>
                    <a:p>
                      <a:r>
                        <a:rPr sz="1200" b="0">
                          <a:solidFill>
                            <a:srgbClr val="1F2937"/>
                          </a:solidFill>
                        </a:rPr>
                        <a:t>Suyuq va ko‘p ovqat</a:t>
                      </a:r>
                    </a:p>
                  </a:txBody>
                  <a:tcPr marL="73152" marR="73152" marT="36576" marB="36576">
                    <a:solidFill>
                      <a:srgbClr val="FFFFFF"/>
                    </a:solidFill>
                  </a:tcPr>
                </a:tc>
                <a:tc>
                  <a:txBody>
                    <a:bodyPr/>
                    <a:lstStyle/>
                    <a:p>
                      <a:r>
                        <a:rPr sz="1200" b="0">
                          <a:solidFill>
                            <a:srgbClr val="1F2937"/>
                          </a:solidFill>
                        </a:rPr>
                        <a:t>Qattiq, oqsilga boy; kartoshka</a:t>
                      </a:r>
                    </a:p>
                  </a:txBody>
                  <a:tcPr marL="73152" marR="73152" marT="36576" marB="36576">
                    <a:solidFill>
                      <a:srgbClr val="FFFFFF"/>
                    </a:solidFill>
                  </a:tcPr>
                </a:tc>
              </a:tr>
              <a:tr h="411480">
                <a:tc>
                  <a:txBody>
                    <a:bodyPr/>
                    <a:lstStyle/>
                    <a:p>
                      <a:r>
                        <a:rPr sz="1200" b="0">
                          <a:solidFill>
                            <a:srgbClr val="1F2937"/>
                          </a:solidFill>
                        </a:rPr>
                        <a:t>Boshqa</a:t>
                      </a:r>
                    </a:p>
                  </a:txBody>
                  <a:tcPr marL="73152" marR="73152" marT="36576" marB="36576">
                    <a:solidFill>
                      <a:srgbClr val="E8EEF6"/>
                    </a:solidFill>
                  </a:tcPr>
                </a:tc>
                <a:tc>
                  <a:txBody>
                    <a:bodyPr/>
                    <a:lstStyle/>
                    <a:p>
                      <a:r>
                        <a:rPr sz="1200" b="0">
                          <a:solidFill>
                            <a:srgbClr val="1F2937"/>
                          </a:solidFill>
                        </a:rPr>
                        <a:t>Gazli ichimlik; takroriy qabul</a:t>
                      </a:r>
                    </a:p>
                  </a:txBody>
                  <a:tcPr marL="73152" marR="73152" marT="36576" marB="36576">
                    <a:solidFill>
                      <a:srgbClr val="E8EEF6"/>
                    </a:solidFill>
                  </a:tcPr>
                </a:tc>
                <a:tc>
                  <a:txBody>
                    <a:bodyPr/>
                    <a:lstStyle/>
                    <a:p>
                      <a:r>
                        <a:rPr sz="1200" b="0">
                          <a:solidFill>
                            <a:srgbClr val="1F2937"/>
                          </a:solidFill>
                        </a:rPr>
                        <a:t>Kuchli stress, salbiy his-tuyg‘u</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So‘rilishni o‘zgartiruvchi omillar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851, 852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 metabolizmi: ikki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alkogoldegidrogenaza etanolni atsetaldegidga aylantiradi; ferment jigarda eng faol.</a:t>
            </a:r>
          </a:p>
          <a:p>
            <a:pPr>
              <a:spcAft>
                <a:spcPts val="800"/>
              </a:spcAft>
            </a:pPr>
            <a:r>
              <a:rPr sz="1800">
                <a:solidFill>
                  <a:srgbClr val="1F2937"/>
                </a:solidFill>
                <a:latin typeface="Calibri"/>
              </a:rPr>
              <a:t>▸  2-bosqich: mitoxondriyadagi aldegiddegidrogenaza atsetaldegidni sirka kislotasiga oksidlaydi.</a:t>
            </a:r>
          </a:p>
          <a:p>
            <a:pPr>
              <a:spcAft>
                <a:spcPts val="800"/>
              </a:spcAft>
            </a:pPr>
            <a:r>
              <a:rPr sz="1800">
                <a:solidFill>
                  <a:srgbClr val="1F2937"/>
                </a:solidFill>
                <a:latin typeface="Calibri"/>
              </a:rPr>
              <a:t>▸  Mushak katalazasi ham spirtni oksidlaydi; jigar fermenti yetishmasa, uning ulushi ortadi.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Etil spirti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Atsetaldegid — toksik</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Sirka kislotasi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Karbonat angidrid va suv</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Etanolning oksidlanish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Atsetaldegid va ferment atipiyasi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Etil spirti avval alkogoldegidrogenaza ta’sirida atsetaldegidga aylanadi. Keyin mitoxondriyadagi aldegiddegidrogenaza uni sirka kislotasiga o‘tkazadi.</a:t>
            </a:r>
          </a:p>
          <a:p>
            <a:pPr>
              <a:spcAft>
                <a:spcPts val="1200"/>
              </a:spcAft>
            </a:pPr>
            <a:r>
              <a:rPr sz="2200">
                <a:solidFill>
                  <a:srgbClr val="1F2937"/>
                </a:solidFill>
                <a:latin typeface="Calibri"/>
              </a:rPr>
              <a:t>▸  Atsetaldegid toksik: bosh og‘rig‘i, holsizlik, ko‘ngil aynishi, qusish, bosim ko‘tarilishi, taxikardiya. Bu “poxmele” sindromi.</a:t>
            </a:r>
          </a:p>
          <a:p>
            <a:pPr>
              <a:spcAft>
                <a:spcPts val="1200"/>
              </a:spcAft>
            </a:pPr>
            <a:r>
              <a:rPr sz="2200">
                <a:solidFill>
                  <a:srgbClr val="1F2937"/>
                </a:solidFill>
                <a:latin typeface="Calibri"/>
              </a:rPr>
              <a:t>▸  Ba’zi shaxslarda alkogoldegidrogenaza juda faol, aldegiddegidrogenaza esa yetishmaydi. Natijada atsetaldegid tez to‘planadi.</a:t>
            </a:r>
          </a:p>
          <a:p>
            <a:pPr>
              <a:spcAft>
                <a:spcPts val="1200"/>
              </a:spcAft>
            </a:pPr>
            <a:r>
              <a:rPr sz="2200">
                <a:solidFill>
                  <a:srgbClr val="1F2937"/>
                </a:solidFill>
                <a:latin typeface="Calibri"/>
              </a:rPr>
              <a:t>▸  Diqqat: xato qilish xavfi! Bunday shaxslarda qonda spirt kam bo‘lsa ham kuchli intoksikatsiya, ba’zan o‘lim bo‘lishi mumkin. Qon darajasi har doim og‘irlikni ko‘rsatmaydi.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Ajralish (eliminatsiya) va Vidmark konstantasi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Etil spirtining taxminan 90% i organizmda o‘zlashtiriladi. Qolgani siydik va o‘pka orqali o‘zgarmagan holda chiqariladi.</a:t>
            </a:r>
          </a:p>
          <a:p>
            <a:pPr>
              <a:spcAft>
                <a:spcPts val="1200"/>
              </a:spcAft>
            </a:pPr>
            <a:r>
              <a:rPr sz="2200">
                <a:solidFill>
                  <a:srgbClr val="1F2937"/>
                </a:solidFill>
                <a:latin typeface="Calibri"/>
              </a:rPr>
              <a:t>▸  Eliminatsiya davrida qondagi spirt kamayadi, siydikda esa baland bo‘ladi. Siydikda ko‘p bo‘lib, qonda yana oshsa, spirt takroran qabul qilingan.</a:t>
            </a:r>
          </a:p>
          <a:p>
            <a:pPr>
              <a:spcAft>
                <a:spcPts val="1200"/>
              </a:spcAft>
            </a:pPr>
            <a:r>
              <a:rPr sz="2200">
                <a:solidFill>
                  <a:srgbClr val="1F2937"/>
                </a:solidFill>
                <a:latin typeface="Calibri"/>
              </a:rPr>
              <a:t>▸  Bir soatda konsentratsiyaning pasayishi shartli ravishda E.M.P. Vidmark konstantasi bilan ifodalanadi.</a:t>
            </a:r>
          </a:p>
          <a:p>
            <a:pPr>
              <a:spcAft>
                <a:spcPts val="1200"/>
              </a:spcAft>
            </a:pPr>
            <a:r>
              <a:rPr sz="2200">
                <a:solidFill>
                  <a:srgbClr val="1F2937"/>
                </a:solidFill>
                <a:latin typeface="Calibri"/>
              </a:rPr>
              <a:t>▸  O‘rtacha bir soatda 7–9 ml etil spirti yonadi. Kuchli mushak ishi katalaza orqali oksidlanishni tezlatib, ajralishni tezlashtiradi.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 159; Тагаев Н.Н. (Tagaev N.N.)., Судебная медицина: учебник, betlar: 852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Endogen alkogol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Organizmda doim endogen alkogol bor, uning miqdori 0,3–0,4 promillegacha yetishi mumkin. U energiya manbai bo‘lib, stressga moslashishga yordam beradi.</a:t>
            </a:r>
          </a:p>
          <a:p>
            <a:pPr>
              <a:spcAft>
                <a:spcPts val="1200"/>
              </a:spcAft>
            </a:pPr>
            <a:r>
              <a:rPr sz="2200">
                <a:solidFill>
                  <a:srgbClr val="1F2937"/>
                </a:solidFill>
                <a:latin typeface="Calibri"/>
              </a:rPr>
              <a:t>▸  Boshqa darslikda normadagi qiymat 0,018–0,03‰ deb berilgan; gipoksiyada ko‘payadi. Manbalar o‘rtasida farq bor, shuning uchun raqamlarni ehtiyotkorlik bilan ishlating. (?)</a:t>
            </a:r>
          </a:p>
          <a:p>
            <a:pPr>
              <a:spcAft>
                <a:spcPts val="1200"/>
              </a:spcAft>
            </a:pPr>
            <a:r>
              <a:rPr sz="2200">
                <a:solidFill>
                  <a:srgbClr val="1F2937"/>
                </a:solidFill>
                <a:latin typeface="Calibri"/>
              </a:rPr>
              <a:t>▸  Qandli diabet, surunkali obstruktiv bronxit, MNT, jigar va buyrakning ayrim kasalliklarida endogen alkogol odatdagidan ko‘p bo‘ladi.</a:t>
            </a:r>
          </a:p>
          <a:p>
            <a:pPr>
              <a:spcAft>
                <a:spcPts val="1200"/>
              </a:spcAft>
            </a:pPr>
            <a:r>
              <a:rPr sz="2200">
                <a:solidFill>
                  <a:srgbClr val="1F2937"/>
                </a:solidFill>
                <a:latin typeface="Calibri"/>
              </a:rPr>
              <a:t>▸  Murda chiriganda qonda 2,4‰ gacha spirt hosil bo‘lishi mumkin, siydikda esa hosil bo‘lmaydi. Shuning uchun qon va siydik birga tekshiriladi.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156, 156-157; Тагаев Н.Н. (Tagaev N.N.)., Судебная медицина: учебник, betlar: 850; Baizoldanov T. (Байзолданов Т.)., Токсикологическая химия: учебник, betlar: 52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so‘rilish va metabolizm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rezorbsiya davri odatda qancha davom etadi? Javob: 1–2 soat; shu davrda alkogol qonga so‘riladi.</a:t>
            </a:r>
          </a:p>
          <a:p>
            <a:pPr>
              <a:spcAft>
                <a:spcPts val="1200"/>
              </a:spcAft>
            </a:pPr>
            <a:r>
              <a:rPr sz="2200">
                <a:solidFill>
                  <a:srgbClr val="1F2937"/>
                </a:solidFill>
                <a:latin typeface="Calibri"/>
              </a:rPr>
              <a:t>▸  Savol: etil spirtining qancha qismi organizmda o‘zlashtiriladi? Javob: 90%; qolgani siydik va o‘pka orqali o‘zgarmay chiqadi.</a:t>
            </a:r>
          </a:p>
          <a:p>
            <a:pPr>
              <a:spcAft>
                <a:spcPts val="1200"/>
              </a:spcAft>
            </a:pPr>
            <a:r>
              <a:rPr sz="2200">
                <a:solidFill>
                  <a:srgbClr val="1F2937"/>
                </a:solidFill>
                <a:latin typeface="Calibri"/>
              </a:rPr>
              <a:t>▸  Savol: metabolizm ketma-ketligi qanday? Javob: alkogoldegidrogenaza → atsetaldegid; aldegiddegidrogenaza → sirka kislotasi → suv va karbonat angidrid.</a:t>
            </a:r>
          </a:p>
          <a:p>
            <a:pPr>
              <a:spcAft>
                <a:spcPts val="1200"/>
              </a:spcAft>
            </a:pPr>
            <a:r>
              <a:rPr sz="2200">
                <a:solidFill>
                  <a:srgbClr val="1F2937"/>
                </a:solidFill>
                <a:latin typeface="Calibri"/>
              </a:rPr>
              <a:t>▸  Diqqat: atsetaldegid ≠ sirka kislotasi. Atsetaldegid birinchi, toksik oraliq mahsulot; u “poxmele” sindromiga sabab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qon va siydikdagi alkogol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Vaziyat: qonda spirt siydikdagidan baland va ko‘tarilmoqda. Qaysi davr? Javob: rezorbsiya.</a:t>
            </a:r>
          </a:p>
          <a:p>
            <a:pPr>
              <a:spcAft>
                <a:spcPts val="800"/>
              </a:spcAft>
            </a:pPr>
            <a:r>
              <a:rPr sz="1800">
                <a:solidFill>
                  <a:srgbClr val="1F2937"/>
                </a:solidFill>
                <a:latin typeface="Calibri"/>
              </a:rPr>
              <a:t>▸  Boshqa holat: siydikda spirt baland, qonda esa pasaymoqda. Bu eliminatsiya davri.</a:t>
            </a:r>
          </a:p>
          <a:p>
            <a:pPr>
              <a:spcAft>
                <a:spcPts val="800"/>
              </a:spcAft>
            </a:pPr>
            <a:r>
              <a:rPr sz="1800">
                <a:solidFill>
                  <a:srgbClr val="1F2937"/>
                </a:solidFill>
                <a:latin typeface="Calibri"/>
              </a:rPr>
              <a:t>▸  Siydikda baland bo‘lib, qonda yana oshsa — alkogol takroran qabul qilingan.</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596369"/>
                <a:gridCol w="2095235"/>
                <a:gridCol w="1596369"/>
              </a:tblGrid>
              <a:tr h="411480">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Qon</a:t>
                      </a:r>
                    </a:p>
                  </a:txBody>
                  <a:tcPr marL="73152" marR="73152" marT="36576" marB="36576">
                    <a:solidFill>
                      <a:srgbClr val="0B1F3A"/>
                    </a:solidFill>
                  </a:tcPr>
                </a:tc>
                <a:tc>
                  <a:txBody>
                    <a:bodyPr/>
                    <a:lstStyle/>
                    <a:p>
                      <a:r>
                        <a:rPr sz="1300" b="1">
                          <a:solidFill>
                            <a:srgbClr val="FFFFFF"/>
                          </a:solidFill>
                        </a:rPr>
                        <a:t>Siydik</a:t>
                      </a:r>
                    </a:p>
                  </a:txBody>
                  <a:tcPr marL="73152" marR="73152" marT="36576" marB="36576">
                    <a:solidFill>
                      <a:srgbClr val="0B1F3A"/>
                    </a:solidFill>
                  </a:tcPr>
                </a:tc>
              </a:tr>
              <a:tr h="411480">
                <a:tc>
                  <a:txBody>
                    <a:bodyPr/>
                    <a:lstStyle/>
                    <a:p>
                      <a:r>
                        <a:rPr sz="1200" b="0">
                          <a:solidFill>
                            <a:srgbClr val="1F2937"/>
                          </a:solidFill>
                        </a:rPr>
                        <a:t>Rezorbsiya</a:t>
                      </a:r>
                    </a:p>
                  </a:txBody>
                  <a:tcPr marL="73152" marR="73152" marT="36576" marB="36576">
                    <a:solidFill>
                      <a:srgbClr val="E8EEF6"/>
                    </a:solidFill>
                  </a:tcPr>
                </a:tc>
                <a:tc>
                  <a:txBody>
                    <a:bodyPr/>
                    <a:lstStyle/>
                    <a:p>
                      <a:r>
                        <a:rPr sz="1200" b="0">
                          <a:solidFill>
                            <a:srgbClr val="1F2937"/>
                          </a:solidFill>
                        </a:rPr>
                        <a:t>Baland, ko‘tarilmoqda</a:t>
                      </a:r>
                    </a:p>
                  </a:txBody>
                  <a:tcPr marL="73152" marR="73152" marT="36576" marB="36576">
                    <a:solidFill>
                      <a:srgbClr val="E8EEF6"/>
                    </a:solidFill>
                  </a:tcPr>
                </a:tc>
                <a:tc>
                  <a:txBody>
                    <a:bodyPr/>
                    <a:lstStyle/>
                    <a:p>
                      <a:r>
                        <a:rPr sz="1200" b="0">
                          <a:solidFill>
                            <a:srgbClr val="1F2937"/>
                          </a:solidFill>
                        </a:rPr>
                        <a:t>Qondan past</a:t>
                      </a:r>
                    </a:p>
                  </a:txBody>
                  <a:tcPr marL="73152" marR="73152" marT="36576" marB="36576">
                    <a:solidFill>
                      <a:srgbClr val="E8EEF6"/>
                    </a:solidFill>
                  </a:tcPr>
                </a:tc>
              </a:tr>
              <a:tr h="411480">
                <a:tc>
                  <a:txBody>
                    <a:bodyPr/>
                    <a:lstStyle/>
                    <a:p>
                      <a:r>
                        <a:rPr sz="1200" b="0">
                          <a:solidFill>
                            <a:srgbClr val="1F2937"/>
                          </a:solidFill>
                        </a:rPr>
                        <a:t>Eliminatsiya</a:t>
                      </a:r>
                    </a:p>
                  </a:txBody>
                  <a:tcPr marL="73152" marR="73152" marT="36576" marB="36576">
                    <a:solidFill>
                      <a:srgbClr val="FFFFFF"/>
                    </a:solidFill>
                  </a:tcPr>
                </a:tc>
                <a:tc>
                  <a:txBody>
                    <a:bodyPr/>
                    <a:lstStyle/>
                    <a:p>
                      <a:r>
                        <a:rPr sz="1200" b="0">
                          <a:solidFill>
                            <a:srgbClr val="1F2937"/>
                          </a:solidFill>
                        </a:rPr>
                        <a:t>Pasaya boshlaydi</a:t>
                      </a:r>
                    </a:p>
                  </a:txBody>
                  <a:tcPr marL="73152" marR="73152" marT="36576" marB="36576">
                    <a:solidFill>
                      <a:srgbClr val="FFFFFF"/>
                    </a:solidFill>
                  </a:tcPr>
                </a:tc>
                <a:tc>
                  <a:txBody>
                    <a:bodyPr/>
                    <a:lstStyle/>
                    <a:p>
                      <a:r>
                        <a:rPr sz="1200" b="0">
                          <a:solidFill>
                            <a:srgbClr val="1F2937"/>
                          </a:solidFill>
                        </a:rPr>
                        <a:t>Baland</a:t>
                      </a:r>
                    </a:p>
                  </a:txBody>
                  <a:tcPr marL="73152" marR="73152" marT="36576" marB="36576">
                    <a:solidFill>
                      <a:srgbClr val="FFFFFF"/>
                    </a:solidFill>
                  </a:tcPr>
                </a:tc>
              </a:tr>
              <a:tr h="411480">
                <a:tc>
                  <a:txBody>
                    <a:bodyPr/>
                    <a:lstStyle/>
                    <a:p>
                      <a:r>
                        <a:rPr sz="1200" b="0">
                          <a:solidFill>
                            <a:srgbClr val="1F2937"/>
                          </a:solidFill>
                        </a:rPr>
                        <a:t>Takroriy qabul</a:t>
                      </a:r>
                    </a:p>
                  </a:txBody>
                  <a:tcPr marL="73152" marR="73152" marT="36576" marB="36576">
                    <a:solidFill>
                      <a:srgbClr val="E8EEF6"/>
                    </a:solidFill>
                  </a:tcPr>
                </a:tc>
                <a:tc>
                  <a:txBody>
                    <a:bodyPr/>
                    <a:lstStyle/>
                    <a:p>
                      <a:r>
                        <a:rPr sz="1200" b="0">
                          <a:solidFill>
                            <a:srgbClr val="1F2937"/>
                          </a:solidFill>
                        </a:rPr>
                        <a:t>Qonda yana oshadi</a:t>
                      </a:r>
                    </a:p>
                  </a:txBody>
                  <a:tcPr marL="73152" marR="73152" marT="36576" marB="36576">
                    <a:solidFill>
                      <a:srgbClr val="E8EEF6"/>
                    </a:solidFill>
                  </a:tcPr>
                </a:tc>
                <a:tc>
                  <a:txBody>
                    <a:bodyPr/>
                    <a:lstStyle/>
                    <a:p>
                      <a:r>
                        <a:rPr sz="1200" b="0">
                          <a:solidFill>
                            <a:srgbClr val="1F2937"/>
                          </a:solidFill>
                        </a:rPr>
                        <a:t>Siydikda baland</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 va siydik: davrlar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alkogol intoksikatsiyasi: tushuncha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Surunkali zaharlanish kichik dozalarning uzoq vaqt takroran qabul qilinishidan yuzaga keladi. Har bir doza o‘sha paytda yaqqol belgi bermaydi.</a:t>
            </a:r>
          </a:p>
          <a:p>
            <a:pPr>
              <a:spcAft>
                <a:spcPts val="1200"/>
              </a:spcAft>
            </a:pPr>
            <a:r>
              <a:rPr sz="2200">
                <a:solidFill>
                  <a:srgbClr val="1F2937"/>
                </a:solidFill>
                <a:latin typeface="Calibri"/>
              </a:rPr>
              <a:t>▸  Yashirin davr uzunligi moddaga bog‘liq. Klinika sekin boshlanadi va ba’zan boshqa kasalliklarga o‘xshab atipik kechadi.</a:t>
            </a:r>
          </a:p>
          <a:p>
            <a:pPr>
              <a:spcAft>
                <a:spcPts val="1200"/>
              </a:spcAft>
            </a:pPr>
            <a:r>
              <a:rPr sz="2200">
                <a:solidFill>
                  <a:srgbClr val="1F2937"/>
                </a:solidFill>
                <a:latin typeface="Calibri"/>
              </a:rPr>
              <a:t>▸  Spirtni uzoq suiiste’mol qilish surunkali zaharlanishga (alkogolizm) olib keladi. Takror qabul ko‘nikishni rivojlantiradi: kichik doza avvalgi eyforiyani bermaydi.</a:t>
            </a:r>
          </a:p>
          <a:p>
            <a:pPr>
              <a:spcAft>
                <a:spcPts val="1200"/>
              </a:spcAft>
            </a:pPr>
            <a:r>
              <a:rPr sz="2200">
                <a:solidFill>
                  <a:srgbClr val="1F2937"/>
                </a:solidFill>
                <a:latin typeface="Calibri"/>
              </a:rPr>
              <a:t>▸  Alkogolizm odatiy zaharlanishlar qatoriga kiradi: alkogolli, narkomanlar va toksikomanlar eyforiya uchun zaharni ongli qabul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833, 835; Baizoldanov T. (Байзолданов Т.)., Токсикологическая химия: учебник, betlar: 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Tolerantlik, qaramlik va alkogolizm rivojlanishi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Takroriy ichishda oz doza avvalgi eyforiyani bermaydi, shuning uchun dozani oshirishga to‘g‘ri keladi.</a:t>
            </a:r>
          </a:p>
          <a:p>
            <a:pPr>
              <a:spcAft>
                <a:spcPts val="800"/>
              </a:spcAft>
            </a:pPr>
            <a:r>
              <a:rPr sz="1800">
                <a:solidFill>
                  <a:srgbClr val="1F2937"/>
                </a:solidFill>
                <a:latin typeface="Calibri"/>
              </a:rPr>
              <a:t>▸  Tolerantlik bilan birga ruhiy va jismoniy bog‘liqlik shakllanadi, moddani ko‘proq qabul qilishga intilish paydo bo‘ladi.</a:t>
            </a:r>
          </a:p>
          <a:p>
            <a:pPr>
              <a:spcAft>
                <a:spcPts val="800"/>
              </a:spcAft>
            </a:pPr>
            <a:r>
              <a:rPr sz="1800">
                <a:solidFill>
                  <a:srgbClr val="1F2937"/>
                </a:solidFill>
                <a:latin typeface="Calibri"/>
              </a:rPr>
              <a:t>▸  Alkogolga qaramlikda ichilmasa og‘ir kechinmalar bo‘ladi va qayta ichishga kuchli istak paydo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Takroriy alkogol qabul qilish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Tolerantlik (o‘rganib qolish)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Ruhiy va jismoniy bog‘liqlik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Alkogolizm (qaramlik)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Ichilmasa: abstinensiya sindromi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Qaramlik rivojlanish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50-51; G‘iyosov Z.A., Sud tibbiyoti: darslik, betlar: 134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intoksikatsiyada organlar zararlanishi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Uzoq ichish jigar sirrozi, yurak mushagi va buyrak degeneratsiyasiga olib kelishi mumkin.</a:t>
            </a:r>
          </a:p>
          <a:p>
            <a:pPr>
              <a:spcAft>
                <a:spcPts val="800"/>
              </a:spcAft>
            </a:pPr>
            <a:r>
              <a:rPr sz="1800">
                <a:solidFill>
                  <a:srgbClr val="1F2937"/>
                </a:solidFill>
                <a:latin typeface="Calibri"/>
              </a:rPr>
              <a:t>▸  Yuz, ayniqsa burun qon tomirlari doimiy kengayadi; titroq (tremor) kuzatiladi.</a:t>
            </a:r>
          </a:p>
          <a:p>
            <a:pPr>
              <a:spcAft>
                <a:spcPts val="800"/>
              </a:spcAft>
            </a:pPr>
            <a:r>
              <a:rPr sz="1800">
                <a:solidFill>
                  <a:srgbClr val="1F2937"/>
                </a:solidFill>
                <a:latin typeface="Calibri"/>
              </a:rPr>
              <a:t>▸  Jinsiy bezlar ham o‘zgaradi: alkogoliklardan aqliy va jismoniy zaif bolalar tug‘ilishi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97911"/>
                <a:gridCol w="3490063"/>
              </a:tblGrid>
              <a:tr h="411480">
                <a:tc>
                  <a:txBody>
                    <a:bodyPr/>
                    <a:lstStyle/>
                    <a:p>
                      <a:r>
                        <a:rPr sz="1400" b="1">
                          <a:solidFill>
                            <a:srgbClr val="FFFFFF"/>
                          </a:solidFill>
                        </a:rPr>
                        <a:t>A’zo</a:t>
                      </a:r>
                    </a:p>
                  </a:txBody>
                  <a:tcPr marL="73152" marR="73152" marT="36576" marB="36576">
                    <a:solidFill>
                      <a:srgbClr val="0B1F3A"/>
                    </a:solidFill>
                  </a:tcPr>
                </a:tc>
                <a:tc>
                  <a:txBody>
                    <a:bodyPr/>
                    <a:lstStyle/>
                    <a:p>
                      <a:r>
                        <a:rPr sz="1400" b="1">
                          <a:solidFill>
                            <a:srgbClr val="FFFFFF"/>
                          </a:solidFill>
                        </a:rPr>
                        <a:t>O‘zgarish</a:t>
                      </a:r>
                    </a:p>
                  </a:txBody>
                  <a:tcPr marL="73152" marR="73152" marT="36576" marB="36576">
                    <a:solidFill>
                      <a:srgbClr val="0B1F3A"/>
                    </a:solidFill>
                  </a:tcPr>
                </a:tc>
              </a:tr>
              <a:tr h="411480">
                <a:tc>
                  <a:txBody>
                    <a:bodyPr/>
                    <a:lstStyle/>
                    <a:p>
                      <a:r>
                        <a:rPr sz="1300" b="0">
                          <a:solidFill>
                            <a:srgbClr val="1F2937"/>
                          </a:solidFill>
                        </a:rPr>
                        <a:t>Jigar</a:t>
                      </a:r>
                    </a:p>
                  </a:txBody>
                  <a:tcPr marL="73152" marR="73152" marT="36576" marB="36576">
                    <a:solidFill>
                      <a:srgbClr val="E8EEF6"/>
                    </a:solidFill>
                  </a:tcPr>
                </a:tc>
                <a:tc>
                  <a:txBody>
                    <a:bodyPr/>
                    <a:lstStyle/>
                    <a:p>
                      <a:r>
                        <a:rPr sz="1300" b="0">
                          <a:solidFill>
                            <a:srgbClr val="1F2937"/>
                          </a:solidFill>
                        </a:rPr>
                        <a:t>Sirroz</a:t>
                      </a:r>
                    </a:p>
                  </a:txBody>
                  <a:tcPr marL="73152" marR="73152" marT="36576" marB="36576">
                    <a:solidFill>
                      <a:srgbClr val="E8EEF6"/>
                    </a:solidFill>
                  </a:tcPr>
                </a:tc>
              </a:tr>
              <a:tr h="411480">
                <a:tc>
                  <a:txBody>
                    <a:bodyPr/>
                    <a:lstStyle/>
                    <a:p>
                      <a:r>
                        <a:rPr sz="1300" b="0">
                          <a:solidFill>
                            <a:srgbClr val="1F2937"/>
                          </a:solidFill>
                        </a:rPr>
                        <a:t>Yurak mushagi</a:t>
                      </a:r>
                    </a:p>
                  </a:txBody>
                  <a:tcPr marL="73152" marR="73152" marT="36576" marB="36576">
                    <a:solidFill>
                      <a:srgbClr val="FFFFFF"/>
                    </a:solidFill>
                  </a:tcPr>
                </a:tc>
                <a:tc>
                  <a:txBody>
                    <a:bodyPr/>
                    <a:lstStyle/>
                    <a:p>
                      <a:r>
                        <a:rPr sz="1300" b="0">
                          <a:solidFill>
                            <a:srgbClr val="1F2937"/>
                          </a:solidFill>
                        </a:rPr>
                        <a:t>Degeneratsiya (qayta tug‘ilish)</a:t>
                      </a:r>
                    </a:p>
                  </a:txBody>
                  <a:tcPr marL="73152" marR="73152" marT="36576" marB="36576">
                    <a:solidFill>
                      <a:srgbClr val="FFFFFF"/>
                    </a:solidFill>
                  </a:tcPr>
                </a:tc>
              </a:tr>
              <a:tr h="411480">
                <a:tc>
                  <a:txBody>
                    <a:bodyPr/>
                    <a:lstStyle/>
                    <a:p>
                      <a:r>
                        <a:rPr sz="1300" b="0">
                          <a:solidFill>
                            <a:srgbClr val="1F2937"/>
                          </a:solidFill>
                        </a:rPr>
                        <a:t>Buyrak</a:t>
                      </a:r>
                    </a:p>
                  </a:txBody>
                  <a:tcPr marL="73152" marR="73152" marT="36576" marB="36576">
                    <a:solidFill>
                      <a:srgbClr val="E8EEF6"/>
                    </a:solidFill>
                  </a:tcPr>
                </a:tc>
                <a:tc>
                  <a:txBody>
                    <a:bodyPr/>
                    <a:lstStyle/>
                    <a:p>
                      <a:r>
                        <a:rPr sz="1300" b="0">
                          <a:solidFill>
                            <a:srgbClr val="1F2937"/>
                          </a:solidFill>
                        </a:rPr>
                        <a:t>Degeneratsiya</a:t>
                      </a:r>
                    </a:p>
                  </a:txBody>
                  <a:tcPr marL="73152" marR="73152" marT="36576" marB="36576">
                    <a:solidFill>
                      <a:srgbClr val="E8EEF6"/>
                    </a:solidFill>
                  </a:tcPr>
                </a:tc>
              </a:tr>
              <a:tr h="411480">
                <a:tc>
                  <a:txBody>
                    <a:bodyPr/>
                    <a:lstStyle/>
                    <a:p>
                      <a:r>
                        <a:rPr sz="1300" b="0">
                          <a:solidFill>
                            <a:srgbClr val="1F2937"/>
                          </a:solidFill>
                        </a:rPr>
                        <a:t>Yuz qon tomirlari</a:t>
                      </a:r>
                    </a:p>
                  </a:txBody>
                  <a:tcPr marL="73152" marR="73152" marT="36576" marB="36576">
                    <a:solidFill>
                      <a:srgbClr val="FFFFFF"/>
                    </a:solidFill>
                  </a:tcPr>
                </a:tc>
                <a:tc>
                  <a:txBody>
                    <a:bodyPr/>
                    <a:lstStyle/>
                    <a:p>
                      <a:r>
                        <a:rPr sz="1300" b="0">
                          <a:solidFill>
                            <a:srgbClr val="1F2937"/>
                          </a:solidFill>
                        </a:rPr>
                        <a:t>Doimiy kengayish, ayniqsa burunda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Surunkali ichishdagi o‘zgarishlar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50-51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Nerv-ruhiy buzilishlar: gallyusinatsiya va alkogol deliriysi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Surunkali alkogolizmda gallyusinatsiyalar va bezovta (jahldor) alahsirash — ‘oq alahsirash’ rivojlanishi mumkin.</a:t>
            </a:r>
          </a:p>
          <a:p>
            <a:pPr>
              <a:spcAft>
                <a:spcPts val="1200"/>
              </a:spcAft>
            </a:pPr>
            <a:r>
              <a:rPr sz="2200">
                <a:solidFill>
                  <a:srgbClr val="1F2937"/>
                </a:solidFill>
                <a:latin typeface="Calibri"/>
              </a:rPr>
              <a:t>▸  Ichishdan keyingi ‘poxmele’ sindromida atsetaldegid sabab bosh og‘rig‘i, qusish, taxikardiya, ba’zan eshitish va ko‘rish gallyusinatsiyalari bo‘ladi.</a:t>
            </a:r>
          </a:p>
          <a:p>
            <a:pPr>
              <a:spcAft>
                <a:spcPts val="1200"/>
              </a:spcAft>
            </a:pPr>
            <a:r>
              <a:rPr sz="2200">
                <a:solidFill>
                  <a:srgbClr val="1F2937"/>
                </a:solidFill>
                <a:latin typeface="Calibri"/>
              </a:rPr>
              <a:t>▸  Alkogolli mastlik ko‘pincha baxtsiz hodisalar va ko‘plab huquqbuzarliklar sababi; alkogolizm katta ijtimoiy yovuzlik.</a:t>
            </a:r>
          </a:p>
          <a:p>
            <a:pPr>
              <a:spcAft>
                <a:spcPts val="1200"/>
              </a:spcAft>
            </a:pPr>
            <a:r>
              <a:rPr sz="2200">
                <a:solidFill>
                  <a:srgbClr val="1F2937"/>
                </a:solidFill>
                <a:latin typeface="Calibri"/>
              </a:rPr>
              <a:t>▸  Alkogol boshqa kasalliklardan, avvalo yurak-qon tomir kasalliklaridan, to‘satdan o‘lim ehtimolini ham oshiradi.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50-51, 51, 50; G‘iyosov Z.A., Sud tibbiyoti: darslik, betlar: 157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bezlar va nasl uchun oqibatlar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Surunkali zaharlanish kichik dozalarni uzoq muddat takroran qabul qilishdan kelib chiqadi. Har bir doza o‘zi darhol belgi bermaydi.</a:t>
            </a:r>
          </a:p>
          <a:p>
            <a:pPr>
              <a:spcAft>
                <a:spcPts val="1200"/>
              </a:spcAft>
            </a:pPr>
            <a:r>
              <a:rPr sz="2200">
                <a:solidFill>
                  <a:srgbClr val="1F2937"/>
                </a:solidFill>
                <a:latin typeface="Calibri"/>
              </a:rPr>
              <a:t>▸  Takroriy ichish ko‘nikishni keltiradi: eyforiya uchun doza oshiriladi. So‘ng ichishga qaramlik, ya’ni alkogolizm shakllanadi.</a:t>
            </a:r>
          </a:p>
          <a:p>
            <a:pPr>
              <a:spcAft>
                <a:spcPts val="1200"/>
              </a:spcAft>
            </a:pPr>
            <a:r>
              <a:rPr sz="2200">
                <a:solidFill>
                  <a:srgbClr val="1F2937"/>
                </a:solidFill>
                <a:latin typeface="Calibri"/>
              </a:rPr>
              <a:t>▸  Uzoq vaqt ichish oqibatida erkak va ayol jinsiy bezlari degeneratsiyaga (buzilib, o‘zgarib ketishga) uchraydi.</a:t>
            </a:r>
          </a:p>
          <a:p>
            <a:pPr>
              <a:spcAft>
                <a:spcPts val="1200"/>
              </a:spcAft>
            </a:pPr>
            <a:r>
              <a:rPr sz="2200">
                <a:solidFill>
                  <a:srgbClr val="1F2937"/>
                </a:solidFill>
                <a:latin typeface="Calibri"/>
              </a:rPr>
              <a:t>▸  Natijada alkogolizm bilan og‘rigan ota-onalardan aqliy va jismoniy kam rivojlangan bolalar tug‘ilishi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833; Baizoldanov T. (Байзолданов Т.)., Токсикологическая химия: учебник, betlar: 50, 50-51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Patomorfologiya: oshqozon-ichak va jigar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Spirt shilliq qavat epiteliysini yemiradi; qavat silliq, eroziyalangan va distrofiyaga uchragan bo‘ladi. (?)</a:t>
            </a:r>
          </a:p>
          <a:p>
            <a:pPr>
              <a:spcAft>
                <a:spcPts val="800"/>
              </a:spcAft>
            </a:pPr>
            <a:r>
              <a:rPr sz="1800">
                <a:solidFill>
                  <a:srgbClr val="1F2937"/>
                </a:solidFill>
                <a:latin typeface="Calibri"/>
              </a:rPr>
              <a:t>▸  Zaharlanishlarda jigarda oqsil va yog‘ distrofiyasi, nekroz o‘choqlari uchraydi (umumiy belgi). (?)</a:t>
            </a:r>
          </a:p>
          <a:p>
            <a:pPr>
              <a:spcAft>
                <a:spcPts val="800"/>
              </a:spcAft>
            </a:pPr>
            <a:r>
              <a:rPr sz="1800">
                <a:solidFill>
                  <a:srgbClr val="1F2937"/>
                </a:solidFill>
                <a:latin typeface="Calibri"/>
              </a:rPr>
              <a:t>▸  Uzoq davom etgan ichish jigar sirroziga olib kelishi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Etil spirti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Alkogoldegidrogenaza (jigar)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Atsetaldegid (toksik)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Sirka kislotasi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Suv va karbonat angidrid</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Etanolning jigarda metabolizmi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851, 845; Baizoldanov T. (Байзолданов Т.)., Токсикологическая химия: учебник, betlar: 50-51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Patomorfologiya: yurak, buyrak va bosh miya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Uzoq spirt ichish yurak mushagi va buyrak to‘qimasining degeneratsiyasiga olib kelishi mumkin.</a:t>
            </a:r>
          </a:p>
          <a:p>
            <a:pPr>
              <a:spcAft>
                <a:spcPts val="800"/>
              </a:spcAft>
            </a:pPr>
            <a:r>
              <a:rPr sz="1800">
                <a:solidFill>
                  <a:srgbClr val="1F2937"/>
                </a:solidFill>
                <a:latin typeface="Calibri"/>
              </a:rPr>
              <a:t>▸  Ko‘p spirtda tormozlanish po‘stloqdan uzunchoq miya, miyachaga o‘tadi; nafas va yurak markazlari buziladi.</a:t>
            </a:r>
          </a:p>
          <a:p>
            <a:pPr>
              <a:spcAft>
                <a:spcPts val="800"/>
              </a:spcAft>
            </a:pPr>
            <a:r>
              <a:rPr sz="1800">
                <a:solidFill>
                  <a:srgbClr val="1F2937"/>
                </a:solidFill>
                <a:latin typeface="Calibri"/>
              </a:rPr>
              <a:t>▸  Gipoksiya belgilari: miya to‘laqonligi va shishi, mayda qon quyilishlar (spirt uchun alohida yozilmagan). (?)</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38320"/>
                <a:gridCol w="3749655"/>
              </a:tblGrid>
              <a:tr h="411480">
                <a:tc>
                  <a:txBody>
                    <a:bodyPr/>
                    <a:lstStyle/>
                    <a:p>
                      <a:r>
                        <a:rPr sz="1400" b="1">
                          <a:solidFill>
                            <a:srgbClr val="FFFFFF"/>
                          </a:solidFill>
                        </a:rPr>
                        <a:t>A’zo</a:t>
                      </a:r>
                    </a:p>
                  </a:txBody>
                  <a:tcPr marL="73152" marR="73152" marT="36576" marB="36576">
                    <a:solidFill>
                      <a:srgbClr val="0B1F3A"/>
                    </a:solidFill>
                  </a:tcPr>
                </a:tc>
                <a:tc>
                  <a:txBody>
                    <a:bodyPr/>
                    <a:lstStyle/>
                    <a:p>
                      <a:r>
                        <a:rPr sz="1400" b="1">
                          <a:solidFill>
                            <a:srgbClr val="FFFFFF"/>
                          </a:solidFill>
                        </a:rPr>
                        <a:t>Belgi</a:t>
                      </a:r>
                    </a:p>
                  </a:txBody>
                  <a:tcPr marL="73152" marR="73152" marT="36576" marB="36576">
                    <a:solidFill>
                      <a:srgbClr val="0B1F3A"/>
                    </a:solidFill>
                  </a:tcPr>
                </a:tc>
              </a:tr>
              <a:tr h="411480">
                <a:tc>
                  <a:txBody>
                    <a:bodyPr/>
                    <a:lstStyle/>
                    <a:p>
                      <a:r>
                        <a:rPr sz="1300" b="0">
                          <a:solidFill>
                            <a:srgbClr val="1F2937"/>
                          </a:solidFill>
                        </a:rPr>
                        <a:t>Yurak</a:t>
                      </a:r>
                    </a:p>
                  </a:txBody>
                  <a:tcPr marL="73152" marR="73152" marT="36576" marB="36576">
                    <a:solidFill>
                      <a:srgbClr val="E8EEF6"/>
                    </a:solidFill>
                  </a:tcPr>
                </a:tc>
                <a:tc>
                  <a:txBody>
                    <a:bodyPr/>
                    <a:lstStyle/>
                    <a:p>
                      <a:r>
                        <a:rPr sz="1300" b="0">
                          <a:solidFill>
                            <a:srgbClr val="1F2937"/>
                          </a:solidFill>
                        </a:rPr>
                        <a:t>Miokard degeneratsiyasi</a:t>
                      </a:r>
                    </a:p>
                  </a:txBody>
                  <a:tcPr marL="73152" marR="73152" marT="36576" marB="36576">
                    <a:solidFill>
                      <a:srgbClr val="E8EEF6"/>
                    </a:solidFill>
                  </a:tcPr>
                </a:tc>
              </a:tr>
              <a:tr h="411480">
                <a:tc>
                  <a:txBody>
                    <a:bodyPr/>
                    <a:lstStyle/>
                    <a:p>
                      <a:r>
                        <a:rPr sz="1300" b="0">
                          <a:solidFill>
                            <a:srgbClr val="1F2937"/>
                          </a:solidFill>
                        </a:rPr>
                        <a:t>Buyrak</a:t>
                      </a:r>
                    </a:p>
                  </a:txBody>
                  <a:tcPr marL="73152" marR="73152" marT="36576" marB="36576">
                    <a:solidFill>
                      <a:srgbClr val="FFFFFF"/>
                    </a:solidFill>
                  </a:tcPr>
                </a:tc>
                <a:tc>
                  <a:txBody>
                    <a:bodyPr/>
                    <a:lstStyle/>
                    <a:p>
                      <a:r>
                        <a:rPr sz="1300" b="0">
                          <a:solidFill>
                            <a:srgbClr val="1F2937"/>
                          </a:solidFill>
                        </a:rPr>
                        <a:t>Buyrak to‘qimasi degeneratsiyasi</a:t>
                      </a:r>
                    </a:p>
                  </a:txBody>
                  <a:tcPr marL="73152" marR="73152" marT="36576" marB="36576">
                    <a:solidFill>
                      <a:srgbClr val="FFFFFF"/>
                    </a:solidFill>
                  </a:tcPr>
                </a:tc>
              </a:tr>
              <a:tr h="411480">
                <a:tc>
                  <a:txBody>
                    <a:bodyPr/>
                    <a:lstStyle/>
                    <a:p>
                      <a:r>
                        <a:rPr sz="1300" b="0">
                          <a:solidFill>
                            <a:srgbClr val="1F2937"/>
                          </a:solidFill>
                        </a:rPr>
                        <a:t>Bosh miya</a:t>
                      </a:r>
                    </a:p>
                  </a:txBody>
                  <a:tcPr marL="73152" marR="73152" marT="36576" marB="36576">
                    <a:solidFill>
                      <a:srgbClr val="E8EEF6"/>
                    </a:solidFill>
                  </a:tcPr>
                </a:tc>
                <a:tc>
                  <a:txBody>
                    <a:bodyPr/>
                    <a:lstStyle/>
                    <a:p>
                      <a:r>
                        <a:rPr sz="1300" b="0">
                          <a:solidFill>
                            <a:srgbClr val="1F2937"/>
                          </a:solidFill>
                        </a:rPr>
                        <a:t>Po‘stloq va uzunchoq miya tormozlanishi</a:t>
                      </a:r>
                    </a:p>
                  </a:txBody>
                  <a:tcPr marL="73152" marR="73152" marT="36576" marB="36576">
                    <a:solidFill>
                      <a:srgbClr val="E8EEF6"/>
                    </a:solidFill>
                  </a:tcPr>
                </a:tc>
              </a:tr>
              <a:tr h="411480">
                <a:tc>
                  <a:txBody>
                    <a:bodyPr/>
                    <a:lstStyle/>
                    <a:p>
                      <a:r>
                        <a:rPr sz="1300" b="0">
                          <a:solidFill>
                            <a:srgbClr val="1F2937"/>
                          </a:solidFill>
                        </a:rPr>
                        <a:t>Ko‘z</a:t>
                      </a:r>
                    </a:p>
                  </a:txBody>
                  <a:tcPr marL="73152" marR="73152" marT="36576" marB="36576">
                    <a:solidFill>
                      <a:srgbClr val="FFFFFF"/>
                    </a:solidFill>
                  </a:tcPr>
                </a:tc>
                <a:tc>
                  <a:txBody>
                    <a:bodyPr/>
                    <a:lstStyle/>
                    <a:p>
                      <a:r>
                        <a:rPr sz="1300" b="0">
                          <a:solidFill>
                            <a:srgbClr val="1F2937"/>
                          </a:solidFill>
                        </a:rPr>
                        <a:t>Konyunktivada nuqtali qon quyilish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A’zolar va belgilar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50-51; G‘iyosov Z.A., Sud tibbiyoti: darslik, betlar: 156; Пиголкин Ю.И., Баринов Е.Х., Богомолов Д.В., Богомолова И.Н., Судебная медицина: учебник для вузов, betlar: 198-242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surunkali alkogolizmda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ko‘p yillik ichkilikbozlik bilan kasal erkak uyida o‘lik topildi, ko‘rinadigan jarohat yo‘q. Zaharlanishga shubha qilinadi.</a:t>
            </a:r>
          </a:p>
          <a:p>
            <a:pPr>
              <a:spcAft>
                <a:spcPts val="1200"/>
              </a:spcAft>
            </a:pPr>
            <a:r>
              <a:rPr sz="2200">
                <a:solidFill>
                  <a:srgbClr val="1F2937"/>
                </a:solidFill>
                <a:latin typeface="Calibri"/>
              </a:rPr>
              <a:t>▸  Uzoq muddat ichkilik jigar sirrozi, yurak mushagi va buyrak o‘zgarishlariga, tremor va alkogol deliriysiga olib kelishi mumkin.</a:t>
            </a:r>
          </a:p>
          <a:p>
            <a:pPr>
              <a:spcAft>
                <a:spcPts val="1200"/>
              </a:spcAft>
            </a:pPr>
            <a:r>
              <a:rPr sz="2200">
                <a:solidFill>
                  <a:srgbClr val="1F2937"/>
                </a:solidFill>
                <a:latin typeface="Calibri"/>
              </a:rPr>
              <a:t>▸  Alkogol boshqa kasalliklardan, ayniqsa yurak-qon tomir kasalliklaridan to‘satdan o‘limga ham sabab bo‘ladi.</a:t>
            </a:r>
          </a:p>
          <a:p>
            <a:pPr>
              <a:spcAft>
                <a:spcPts val="1200"/>
              </a:spcAft>
            </a:pPr>
            <a:r>
              <a:rPr sz="2200">
                <a:solidFill>
                  <a:srgbClr val="1F2937"/>
                </a:solidFill>
                <a:latin typeface="Calibri"/>
              </a:rPr>
              <a:t>▸  Savol: o‘lim alkogoldan zaharlanishdanmi yoki mastlik moyillik yaratgan holatdanmi? Qon va siydikdagi etil spirti miqdori nimani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838; Baizoldanov T. (Байзолданов Т.)., Токсикологическая химия: учебник, betlar: 50-51, 50; G‘iyosov Z.A., Sud tibbiyoti: darslik, betlar: 158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Alkogol bilan bog‘liq o‘lim va ijtimoiy ahamiyat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Zaharlanishdan sodir bo‘lgan o‘lim holatlari ichida etil spirtidan zaharlanish yetakchi o‘rinni egallaydi.</a:t>
            </a:r>
          </a:p>
          <a:p>
            <a:pPr>
              <a:spcAft>
                <a:spcPts val="1200"/>
              </a:spcAft>
            </a:pPr>
            <a:r>
              <a:rPr sz="2200">
                <a:solidFill>
                  <a:srgbClr val="1F2937"/>
                </a:solidFill>
                <a:latin typeface="Calibri"/>
              </a:rPr>
              <a:t>▸  Mastlik surunkali kasallikdan nozo‘raki o‘lim, baxtsiz hodisa, o‘z joniga qasd va qotillikda bilvosita moyillik yaratuvchi omil hisoblanadi.</a:t>
            </a:r>
          </a:p>
          <a:p>
            <a:pPr>
              <a:spcAft>
                <a:spcPts val="1200"/>
              </a:spcAft>
            </a:pPr>
            <a:r>
              <a:rPr sz="2200">
                <a:solidFill>
                  <a:srgbClr val="1F2937"/>
                </a:solidFill>
                <a:latin typeface="Calibri"/>
              </a:rPr>
              <a:t>▸  Jahon sog‘liqni saqlash tashkiloti (JSST) ma’lumotiga ko‘ra, “alkogol bilan bog‘liq o‘lim” so‘nggi yillarda 2,5 millionga yaqin holatda kuzatilgan.</a:t>
            </a:r>
          </a:p>
          <a:p>
            <a:pPr>
              <a:spcAft>
                <a:spcPts val="1200"/>
              </a:spcAft>
            </a:pPr>
            <a:r>
              <a:rPr sz="2200">
                <a:solidFill>
                  <a:srgbClr val="1F2937"/>
                </a:solidFill>
                <a:latin typeface="Calibri"/>
              </a:rPr>
              <a:t>▸  Diqqat: “alkogol bilan bog‘liq o‘lim” ≠ alkogoldan zaharlanib o‘lim. Birinchisida mastlik faqat bilvosita omil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Boshqa zaharlar bilan o‘zaro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Alkogol barbituratlar va is gazining ta’sirini kuchaytiradi (sinergizm).</a:t>
            </a:r>
          </a:p>
          <a:p>
            <a:pPr>
              <a:spcAft>
                <a:spcPts val="800"/>
              </a:spcAft>
            </a:pPr>
            <a:r>
              <a:rPr sz="1800">
                <a:solidFill>
                  <a:srgbClr val="1F2937"/>
                </a:solidFill>
                <a:latin typeface="Calibri"/>
              </a:rPr>
              <a:t>▸  Metil spirti bilan birga ichilsa, uning oksidlanishi taxminan 50% sekinlashadi, toksikligi kamayadi.</a:t>
            </a:r>
          </a:p>
          <a:p>
            <a:pPr>
              <a:spcAft>
                <a:spcPts val="800"/>
              </a:spcAft>
            </a:pPr>
            <a:r>
              <a:rPr sz="1800">
                <a:solidFill>
                  <a:srgbClr val="1F2937"/>
                </a:solidFill>
                <a:latin typeface="Calibri"/>
              </a:rPr>
              <a:t>▸  Mastlikni “bartaraf qilish” uchun ichilgan nashatir spirti alkogol bilan qo‘shilib, xavf tug‘diradi.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01655"/>
                <a:gridCol w="2359250"/>
                <a:gridCol w="1627069"/>
              </a:tblGrid>
              <a:tr h="411480">
                <a:tc>
                  <a:txBody>
                    <a:bodyPr/>
                    <a:lstStyle/>
                    <a:p>
                      <a:r>
                        <a:rPr sz="1300" b="1">
                          <a:solidFill>
                            <a:srgbClr val="FFFFFF"/>
                          </a:solidFill>
                        </a:rPr>
                        <a:t>Zahar</a:t>
                      </a:r>
                    </a:p>
                  </a:txBody>
                  <a:tcPr marL="73152" marR="73152" marT="36576" marB="36576">
                    <a:solidFill>
                      <a:srgbClr val="0B1F3A"/>
                    </a:solidFill>
                  </a:tcPr>
                </a:tc>
                <a:tc>
                  <a:txBody>
                    <a:bodyPr/>
                    <a:lstStyle/>
                    <a:p>
                      <a:r>
                        <a:rPr sz="1300" b="1">
                          <a:solidFill>
                            <a:srgbClr val="FFFFFF"/>
                          </a:solidFill>
                        </a:rPr>
                        <a:t>Alkogol bilan</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Barbituratlar</a:t>
                      </a:r>
                    </a:p>
                  </a:txBody>
                  <a:tcPr marL="73152" marR="73152" marT="36576" marB="36576">
                    <a:solidFill>
                      <a:srgbClr val="E8EEF6"/>
                    </a:solidFill>
                  </a:tcPr>
                </a:tc>
                <a:tc>
                  <a:txBody>
                    <a:bodyPr/>
                    <a:lstStyle/>
                    <a:p>
                      <a:r>
                        <a:rPr sz="1200" b="0">
                          <a:solidFill>
                            <a:srgbClr val="1F2937"/>
                          </a:solidFill>
                        </a:rPr>
                        <a:t>Ta’sir kuchayadi</a:t>
                      </a:r>
                    </a:p>
                  </a:txBody>
                  <a:tcPr marL="73152" marR="73152" marT="36576" marB="36576">
                    <a:solidFill>
                      <a:srgbClr val="E8EEF6"/>
                    </a:solidFill>
                  </a:tcPr>
                </a:tc>
                <a:tc>
                  <a:txBody>
                    <a:bodyPr/>
                    <a:lstStyle/>
                    <a:p>
                      <a:r>
                        <a:rPr sz="1200" b="0">
                          <a:solidFill>
                            <a:srgbClr val="1F2937"/>
                          </a:solidFill>
                        </a:rPr>
                        <a:t>Sinergizm</a:t>
                      </a:r>
                    </a:p>
                  </a:txBody>
                  <a:tcPr marL="73152" marR="73152" marT="36576" marB="36576">
                    <a:solidFill>
                      <a:srgbClr val="E8EEF6"/>
                    </a:solidFill>
                  </a:tcPr>
                </a:tc>
              </a:tr>
              <a:tr h="411480">
                <a:tc>
                  <a:txBody>
                    <a:bodyPr/>
                    <a:lstStyle/>
                    <a:p>
                      <a:r>
                        <a:rPr sz="1200" b="0">
                          <a:solidFill>
                            <a:srgbClr val="1F2937"/>
                          </a:solidFill>
                        </a:rPr>
                        <a:t>Is gazi</a:t>
                      </a:r>
                    </a:p>
                  </a:txBody>
                  <a:tcPr marL="73152" marR="73152" marT="36576" marB="36576">
                    <a:solidFill>
                      <a:srgbClr val="FFFFFF"/>
                    </a:solidFill>
                  </a:tcPr>
                </a:tc>
                <a:tc>
                  <a:txBody>
                    <a:bodyPr/>
                    <a:lstStyle/>
                    <a:p>
                      <a:r>
                        <a:rPr sz="1200" b="0">
                          <a:solidFill>
                            <a:srgbClr val="1F2937"/>
                          </a:solidFill>
                        </a:rPr>
                        <a:t>Ta’sir kuchayadi</a:t>
                      </a:r>
                    </a:p>
                  </a:txBody>
                  <a:tcPr marL="73152" marR="73152" marT="36576" marB="36576">
                    <a:solidFill>
                      <a:srgbClr val="FFFFFF"/>
                    </a:solidFill>
                  </a:tcPr>
                </a:tc>
                <a:tc>
                  <a:txBody>
                    <a:bodyPr/>
                    <a:lstStyle/>
                    <a:p>
                      <a:r>
                        <a:rPr sz="1200" b="0">
                          <a:solidFill>
                            <a:srgbClr val="1F2937"/>
                          </a:solidFill>
                        </a:rPr>
                        <a:t>Og‘irroq zaharlanish</a:t>
                      </a:r>
                    </a:p>
                  </a:txBody>
                  <a:tcPr marL="73152" marR="73152" marT="36576" marB="36576">
                    <a:solidFill>
                      <a:srgbClr val="FFFFFF"/>
                    </a:solidFill>
                  </a:tcPr>
                </a:tc>
              </a:tr>
              <a:tr h="411480">
                <a:tc>
                  <a:txBody>
                    <a:bodyPr/>
                    <a:lstStyle/>
                    <a:p>
                      <a:r>
                        <a:rPr sz="1200" b="0">
                          <a:solidFill>
                            <a:srgbClr val="1F2937"/>
                          </a:solidFill>
                        </a:rPr>
                        <a:t>Metil spirti</a:t>
                      </a:r>
                    </a:p>
                  </a:txBody>
                  <a:tcPr marL="73152" marR="73152" marT="36576" marB="36576">
                    <a:solidFill>
                      <a:srgbClr val="E8EEF6"/>
                    </a:solidFill>
                  </a:tcPr>
                </a:tc>
                <a:tc>
                  <a:txBody>
                    <a:bodyPr/>
                    <a:lstStyle/>
                    <a:p>
                      <a:r>
                        <a:rPr sz="1200" b="0">
                          <a:solidFill>
                            <a:srgbClr val="1F2937"/>
                          </a:solidFill>
                        </a:rPr>
                        <a:t>Oksidlanish ~50% sekinlashadi</a:t>
                      </a:r>
                    </a:p>
                  </a:txBody>
                  <a:tcPr marL="73152" marR="73152" marT="36576" marB="36576">
                    <a:solidFill>
                      <a:srgbClr val="E8EEF6"/>
                    </a:solidFill>
                  </a:tcPr>
                </a:tc>
                <a:tc>
                  <a:txBody>
                    <a:bodyPr/>
                    <a:lstStyle/>
                    <a:p>
                      <a:r>
                        <a:rPr sz="1200" b="0">
                          <a:solidFill>
                            <a:srgbClr val="1F2937"/>
                          </a:solidFill>
                        </a:rPr>
                        <a:t>Toksiklik kamayadi</a:t>
                      </a:r>
                    </a:p>
                  </a:txBody>
                  <a:tcPr marL="73152" marR="73152" marT="36576" marB="36576">
                    <a:solidFill>
                      <a:srgbClr val="E8EEF6"/>
                    </a:solidFill>
                  </a:tcPr>
                </a:tc>
              </a:tr>
              <a:tr h="411480">
                <a:tc>
                  <a:txBody>
                    <a:bodyPr/>
                    <a:lstStyle/>
                    <a:p>
                      <a:r>
                        <a:rPr sz="1200" b="0">
                          <a:solidFill>
                            <a:srgbClr val="1F2937"/>
                          </a:solidFill>
                        </a:rPr>
                        <a:t>Nashatir spirti</a:t>
                      </a:r>
                    </a:p>
                  </a:txBody>
                  <a:tcPr marL="73152" marR="73152" marT="36576" marB="36576">
                    <a:solidFill>
                      <a:srgbClr val="FFFFFF"/>
                    </a:solidFill>
                  </a:tcPr>
                </a:tc>
                <a:tc>
                  <a:txBody>
                    <a:bodyPr/>
                    <a:lstStyle/>
                    <a:p>
                      <a:r>
                        <a:rPr sz="1200" b="0">
                          <a:solidFill>
                            <a:srgbClr val="1F2937"/>
                          </a:solidFill>
                        </a:rPr>
                        <a:t>Toksik ta’sirlar qo‘shiladi</a:t>
                      </a:r>
                    </a:p>
                  </a:txBody>
                  <a:tcPr marL="73152" marR="73152" marT="36576" marB="36576">
                    <a:solidFill>
                      <a:srgbClr val="FFFFFF"/>
                    </a:solidFill>
                  </a:tcPr>
                </a:tc>
                <a:tc>
                  <a:txBody>
                    <a:bodyPr/>
                    <a:lstStyle/>
                    <a:p>
                      <a:r>
                        <a:rPr sz="1200" b="0">
                          <a:solidFill>
                            <a:srgbClr val="1F2937"/>
                          </a:solidFill>
                        </a:rPr>
                        <a:t>Sog‘liq uchun xavf</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Alkogolning boshqa zaharlar bilan ta’siri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829; Baizoldanov T. (Байзолданов Т.)., Токсикологическая химия: учебник, betlar: 45; G‘iyosov Z.A., Sud tibbiyoti: darslik, betlar: 143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diagnostika: uch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hodisa joyi ko‘rigi, tibbiy hujjatlar; funksional zaharlarda hujjatlar muhim dalil.</a:t>
            </a:r>
          </a:p>
          <a:p>
            <a:pPr>
              <a:spcAft>
                <a:spcPts val="800"/>
              </a:spcAft>
            </a:pPr>
            <a:r>
              <a:rPr sz="1800">
                <a:solidFill>
                  <a:srgbClr val="1F2937"/>
                </a:solidFill>
                <a:latin typeface="Calibri"/>
              </a:rPr>
              <a:t>▸  2-bosqich: murda tekshiruvi — teri, murda dog‘lari rangi, yot hid, mushak qotishi baholanadi.</a:t>
            </a:r>
          </a:p>
          <a:p>
            <a:pPr>
              <a:spcAft>
                <a:spcPts val="800"/>
              </a:spcAft>
            </a:pPr>
            <a:r>
              <a:rPr sz="1800">
                <a:solidFill>
                  <a:srgbClr val="1F2937"/>
                </a:solidFill>
                <a:latin typeface="Calibri"/>
              </a:rPr>
              <a:t>▸  3-bosqich: gistologik, sud-kimyoviy, biokimyoviy va boshqa laboratoriya tekshiruvlari o‘tkaziladi.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Hodisa joyi ko‘rigi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hujjatlar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Murda tekshiruvi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Laboratoriya tekshiruvi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Diagnostika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135, 135-136, 136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Mastlik darajasini baholash: promille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Qondagi etil spirti promille (‰) bilan ifodalanadi; 0,3‰ dan kam bo‘lsa, ta’sir yo‘q deyiladi.</a:t>
            </a:r>
          </a:p>
          <a:p>
            <a:pPr>
              <a:spcAft>
                <a:spcPts val="800"/>
              </a:spcAft>
            </a:pPr>
            <a:r>
              <a:rPr sz="1800">
                <a:solidFill>
                  <a:srgbClr val="1F2937"/>
                </a:solidFill>
                <a:latin typeface="Calibri"/>
              </a:rPr>
              <a:t>▸  Chirishda murda qonida 2,4‰ gacha spirt hosil bo‘lishi mumkin; siydikda hosil bo‘lmaydi.</a:t>
            </a:r>
          </a:p>
          <a:p>
            <a:pPr>
              <a:spcAft>
                <a:spcPts val="800"/>
              </a:spcAft>
            </a:pPr>
            <a:r>
              <a:rPr sz="1800">
                <a:solidFill>
                  <a:srgbClr val="1F2937"/>
                </a:solidFill>
                <a:latin typeface="Calibri"/>
              </a:rPr>
              <a:t>▸  Shu sabab mastlik darajasi qon va siydikni birga tekshirib baholanadi.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320356"/>
                <a:gridCol w="1967618"/>
              </a:tblGrid>
              <a:tr h="411480">
                <a:tc>
                  <a:txBody>
                    <a:bodyPr/>
                    <a:lstStyle/>
                    <a:p>
                      <a:r>
                        <a:rPr sz="1400" b="1">
                          <a:solidFill>
                            <a:srgbClr val="FFFFFF"/>
                          </a:solidFill>
                        </a:rPr>
                        <a:t>Daraja</a:t>
                      </a:r>
                    </a:p>
                  </a:txBody>
                  <a:tcPr marL="73152" marR="73152" marT="36576" marB="36576">
                    <a:solidFill>
                      <a:srgbClr val="0B1F3A"/>
                    </a:solidFill>
                  </a:tcPr>
                </a:tc>
                <a:tc>
                  <a:txBody>
                    <a:bodyPr/>
                    <a:lstStyle/>
                    <a:p>
                      <a:r>
                        <a:rPr sz="1400" b="1">
                          <a:solidFill>
                            <a:srgbClr val="FFFFFF"/>
                          </a:solidFill>
                        </a:rPr>
                        <a:t>Qondagi ‰</a:t>
                      </a:r>
                    </a:p>
                  </a:txBody>
                  <a:tcPr marL="73152" marR="73152" marT="36576" marB="36576">
                    <a:solidFill>
                      <a:srgbClr val="0B1F3A"/>
                    </a:solidFill>
                  </a:tcPr>
                </a:tc>
              </a:tr>
              <a:tr h="411480">
                <a:tc>
                  <a:txBody>
                    <a:bodyPr/>
                    <a:lstStyle/>
                    <a:p>
                      <a:r>
                        <a:rPr sz="1300" b="0">
                          <a:solidFill>
                            <a:srgbClr val="1F2937"/>
                          </a:solidFill>
                        </a:rPr>
                        <a:t>Yengil mastlik</a:t>
                      </a:r>
                    </a:p>
                  </a:txBody>
                  <a:tcPr marL="73152" marR="73152" marT="36576" marB="36576">
                    <a:solidFill>
                      <a:srgbClr val="E8EEF6"/>
                    </a:solidFill>
                  </a:tcPr>
                </a:tc>
                <a:tc>
                  <a:txBody>
                    <a:bodyPr/>
                    <a:lstStyle/>
                    <a:p>
                      <a:r>
                        <a:rPr sz="1300" b="0">
                          <a:solidFill>
                            <a:srgbClr val="1F2937"/>
                          </a:solidFill>
                        </a:rPr>
                        <a:t>0,5–1,5</a:t>
                      </a:r>
                    </a:p>
                  </a:txBody>
                  <a:tcPr marL="73152" marR="73152" marT="36576" marB="36576">
                    <a:solidFill>
                      <a:srgbClr val="E8EEF6"/>
                    </a:solidFill>
                  </a:tcPr>
                </a:tc>
              </a:tr>
              <a:tr h="411480">
                <a:tc>
                  <a:txBody>
                    <a:bodyPr/>
                    <a:lstStyle/>
                    <a:p>
                      <a:r>
                        <a:rPr sz="1300" b="0">
                          <a:solidFill>
                            <a:srgbClr val="1F2937"/>
                          </a:solidFill>
                        </a:rPr>
                        <a:t>O‘rta mastlik</a:t>
                      </a:r>
                    </a:p>
                  </a:txBody>
                  <a:tcPr marL="73152" marR="73152" marT="36576" marB="36576">
                    <a:solidFill>
                      <a:srgbClr val="FFFFFF"/>
                    </a:solidFill>
                  </a:tcPr>
                </a:tc>
                <a:tc>
                  <a:txBody>
                    <a:bodyPr/>
                    <a:lstStyle/>
                    <a:p>
                      <a:r>
                        <a:rPr sz="1300" b="0">
                          <a:solidFill>
                            <a:srgbClr val="1F2937"/>
                          </a:solidFill>
                        </a:rPr>
                        <a:t>1,5–2,5</a:t>
                      </a:r>
                    </a:p>
                  </a:txBody>
                  <a:tcPr marL="73152" marR="73152" marT="36576" marB="36576">
                    <a:solidFill>
                      <a:srgbClr val="FFFFFF"/>
                    </a:solidFill>
                  </a:tcPr>
                </a:tc>
              </a:tr>
              <a:tr h="411480">
                <a:tc>
                  <a:txBody>
                    <a:bodyPr/>
                    <a:lstStyle/>
                    <a:p>
                      <a:r>
                        <a:rPr sz="1300" b="0">
                          <a:solidFill>
                            <a:srgbClr val="1F2937"/>
                          </a:solidFill>
                        </a:rPr>
                        <a:t>Kuchli mastlik</a:t>
                      </a:r>
                    </a:p>
                  </a:txBody>
                  <a:tcPr marL="73152" marR="73152" marT="36576" marB="36576">
                    <a:solidFill>
                      <a:srgbClr val="E8EEF6"/>
                    </a:solidFill>
                  </a:tcPr>
                </a:tc>
                <a:tc>
                  <a:txBody>
                    <a:bodyPr/>
                    <a:lstStyle/>
                    <a:p>
                      <a:r>
                        <a:rPr sz="1300" b="0">
                          <a:solidFill>
                            <a:srgbClr val="1F2937"/>
                          </a:solidFill>
                        </a:rPr>
                        <a:t>2,5–3,0</a:t>
                      </a:r>
                    </a:p>
                  </a:txBody>
                  <a:tcPr marL="73152" marR="73152" marT="36576" marB="36576">
                    <a:solidFill>
                      <a:srgbClr val="E8EEF6"/>
                    </a:solidFill>
                  </a:tcPr>
                </a:tc>
              </a:tr>
              <a:tr h="411480">
                <a:tc>
                  <a:txBody>
                    <a:bodyPr/>
                    <a:lstStyle/>
                    <a:p>
                      <a:r>
                        <a:rPr sz="1300" b="0">
                          <a:solidFill>
                            <a:srgbClr val="1F2937"/>
                          </a:solidFill>
                        </a:rPr>
                        <a:t>Og‘ir zaharlanish / o‘limli</a:t>
                      </a:r>
                    </a:p>
                  </a:txBody>
                  <a:tcPr marL="73152" marR="73152" marT="36576" marB="36576">
                    <a:solidFill>
                      <a:srgbClr val="FFFFFF"/>
                    </a:solidFill>
                  </a:tcPr>
                </a:tc>
                <a:tc>
                  <a:txBody>
                    <a:bodyPr/>
                    <a:lstStyle/>
                    <a:p>
                      <a:r>
                        <a:rPr sz="1300" b="0">
                          <a:solidFill>
                            <a:srgbClr val="1F2937"/>
                          </a:solidFill>
                        </a:rPr>
                        <a:t>3–5 / 5–6</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Qondagi spirt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Baizoldanov T. (Байзолданов Т.)., Токсикологическая химия: учебник, betlar: 51-52, 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Alkogolni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Sinamalar 0,3–0,4‰ ni sezadi; karies, o‘pka kasalligi, diabetda soxta musbat bo‘lishi mumkin.</a:t>
            </a:r>
          </a:p>
          <a:p>
            <a:pPr>
              <a:spcAft>
                <a:spcPts val="800"/>
              </a:spcAft>
            </a:pPr>
            <a:r>
              <a:rPr sz="1800">
                <a:solidFill>
                  <a:srgbClr val="1F2937"/>
                </a:solidFill>
                <a:latin typeface="Calibri"/>
              </a:rPr>
              <a:t>▸  Miqdoriy aniqlashda hozir asosan gaz-xromatografik usul qo‘llanadi.</a:t>
            </a:r>
          </a:p>
          <a:p>
            <a:pPr>
              <a:spcAft>
                <a:spcPts val="800"/>
              </a:spcAft>
            </a:pPr>
            <a:r>
              <a:rPr sz="1800">
                <a:solidFill>
                  <a:srgbClr val="1F2937"/>
                </a:solidFill>
                <a:latin typeface="Calibri"/>
              </a:rPr>
              <a:t>▸  Namuna: murdada vena qoni va siydik; tirikda bir necha marta, har biri kamida 5 ml, havosiz.</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412058"/>
                <a:gridCol w="2875916"/>
              </a:tblGrid>
              <a:tr h="411480">
                <a:tc>
                  <a:txBody>
                    <a:bodyPr/>
                    <a:lstStyle/>
                    <a:p>
                      <a:r>
                        <a:rPr sz="1400" b="1">
                          <a:solidFill>
                            <a:srgbClr val="FFFFFF"/>
                          </a:solidFill>
                        </a:rPr>
                        <a:t>Usul</a:t>
                      </a:r>
                    </a:p>
                  </a:txBody>
                  <a:tcPr marL="73152" marR="73152" marT="36576" marB="36576">
                    <a:solidFill>
                      <a:srgbClr val="0B1F3A"/>
                    </a:solidFill>
                  </a:tcPr>
                </a:tc>
                <a:tc>
                  <a:txBody>
                    <a:bodyPr/>
                    <a:lstStyle/>
                    <a:p>
                      <a:r>
                        <a:rPr sz="1400" b="1">
                          <a:solidFill>
                            <a:srgbClr val="FFFFFF"/>
                          </a:solidFill>
                        </a:rPr>
                        <a:t>Natija</a:t>
                      </a:r>
                    </a:p>
                  </a:txBody>
                  <a:tcPr marL="73152" marR="73152" marT="36576" marB="36576">
                    <a:solidFill>
                      <a:srgbClr val="0B1F3A"/>
                    </a:solidFill>
                  </a:tcPr>
                </a:tc>
              </a:tr>
              <a:tr h="411480">
                <a:tc>
                  <a:txBody>
                    <a:bodyPr/>
                    <a:lstStyle/>
                    <a:p>
                      <a:r>
                        <a:rPr sz="1300" b="0">
                          <a:solidFill>
                            <a:srgbClr val="1F2937"/>
                          </a:solidFill>
                        </a:rPr>
                        <a:t>Rappoport sinamasi</a:t>
                      </a:r>
                    </a:p>
                  </a:txBody>
                  <a:tcPr marL="73152" marR="73152" marT="36576" marB="36576">
                    <a:solidFill>
                      <a:srgbClr val="E8EEF6"/>
                    </a:solidFill>
                  </a:tcPr>
                </a:tc>
                <a:tc>
                  <a:txBody>
                    <a:bodyPr/>
                    <a:lstStyle/>
                    <a:p>
                      <a:r>
                        <a:rPr sz="1300" b="0">
                          <a:solidFill>
                            <a:srgbClr val="1F2937"/>
                          </a:solidFill>
                        </a:rPr>
                        <a:t>Pushti rang rangsizlanadi</a:t>
                      </a:r>
                    </a:p>
                  </a:txBody>
                  <a:tcPr marL="73152" marR="73152" marT="36576" marB="36576">
                    <a:solidFill>
                      <a:srgbClr val="E8EEF6"/>
                    </a:solidFill>
                  </a:tcPr>
                </a:tc>
              </a:tr>
              <a:tr h="411480">
                <a:tc>
                  <a:txBody>
                    <a:bodyPr/>
                    <a:lstStyle/>
                    <a:p>
                      <a:r>
                        <a:rPr sz="1300" b="0">
                          <a:solidFill>
                            <a:srgbClr val="1F2937"/>
                          </a:solidFill>
                        </a:rPr>
                        <a:t>Moxov–Shinkarenko sinamasi</a:t>
                      </a:r>
                    </a:p>
                  </a:txBody>
                  <a:tcPr marL="73152" marR="73152" marT="36576" marB="36576">
                    <a:solidFill>
                      <a:srgbClr val="FFFFFF"/>
                    </a:solidFill>
                  </a:tcPr>
                </a:tc>
                <a:tc>
                  <a:txBody>
                    <a:bodyPr/>
                    <a:lstStyle/>
                    <a:p>
                      <a:r>
                        <a:rPr sz="1300" b="0">
                          <a:solidFill>
                            <a:srgbClr val="1F2937"/>
                          </a:solidFill>
                        </a:rPr>
                        <a:t>Sariq-olov rang yashilga o‘tadi</a:t>
                      </a:r>
                    </a:p>
                  </a:txBody>
                  <a:tcPr marL="73152" marR="73152" marT="36576" marB="36576">
                    <a:solidFill>
                      <a:srgbClr val="FFFFFF"/>
                    </a:solidFill>
                  </a:tcPr>
                </a:tc>
              </a:tr>
              <a:tr h="411480">
                <a:tc>
                  <a:txBody>
                    <a:bodyPr/>
                    <a:lstStyle/>
                    <a:p>
                      <a:r>
                        <a:rPr sz="1300" b="0">
                          <a:solidFill>
                            <a:srgbClr val="1F2937"/>
                          </a:solidFill>
                        </a:rPr>
                        <a:t>Gaz-xromatografiya</a:t>
                      </a:r>
                    </a:p>
                  </a:txBody>
                  <a:tcPr marL="73152" marR="73152" marT="36576" marB="36576">
                    <a:solidFill>
                      <a:srgbClr val="E8EEF6"/>
                    </a:solidFill>
                  </a:tcPr>
                </a:tc>
                <a:tc>
                  <a:txBody>
                    <a:bodyPr/>
                    <a:lstStyle/>
                    <a:p>
                      <a:r>
                        <a:rPr sz="1300" b="0">
                          <a:solidFill>
                            <a:srgbClr val="1F2937"/>
                          </a:solidFill>
                        </a:rPr>
                        <a:t>Miqdoriy aniqlash usuli</a:t>
                      </a:r>
                    </a:p>
                  </a:txBody>
                  <a:tcPr marL="73152" marR="73152" marT="36576" marB="36576">
                    <a:solidFill>
                      <a:srgbClr val="E8EEF6"/>
                    </a:solidFill>
                  </a:tcPr>
                </a:tc>
              </a:tr>
              <a:tr h="411480">
                <a:tc>
                  <a:txBody>
                    <a:bodyPr/>
                    <a:lstStyle/>
                    <a:p>
                      <a:r>
                        <a:rPr sz="1300" b="0">
                          <a:solidFill>
                            <a:srgbClr val="1F2937"/>
                          </a:solidFill>
                        </a:rPr>
                        <a:t>Namuna olish</a:t>
                      </a:r>
                    </a:p>
                  </a:txBody>
                  <a:tcPr marL="73152" marR="73152" marT="36576" marB="36576">
                    <a:solidFill>
                      <a:srgbClr val="FFFFFF"/>
                    </a:solidFill>
                  </a:tcPr>
                </a:tc>
                <a:tc>
                  <a:txBody>
                    <a:bodyPr/>
                    <a:lstStyle/>
                    <a:p>
                      <a:r>
                        <a:rPr sz="1300" b="0">
                          <a:solidFill>
                            <a:srgbClr val="1F2937"/>
                          </a:solidFill>
                        </a:rPr>
                        <a:t>Vena qoni, siydik; idish to‘la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va natija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158-159, 159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natijalarini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Alkogol topilgan natija yolg‘iz o‘zi isbot emas, topilmagan natija esa alkogolni inkor etmaydi. Butun holat birga tahlil qilinadi.</a:t>
            </a:r>
          </a:p>
          <a:p>
            <a:pPr>
              <a:spcAft>
                <a:spcPts val="1200"/>
              </a:spcAft>
            </a:pPr>
            <a:r>
              <a:rPr sz="2200">
                <a:solidFill>
                  <a:srgbClr val="1F2937"/>
                </a:solidFill>
                <a:latin typeface="Calibri"/>
              </a:rPr>
              <a:t>▸  Jasad chirishida qonda etanol hosil bo‘lishi mumkin: ozgina miqdordan 2,4 promillegacha. Dastlabki 2-3 sutkada ferment uni qisman parchalaydi.</a:t>
            </a:r>
          </a:p>
          <a:p>
            <a:pPr>
              <a:spcAft>
                <a:spcPts val="1200"/>
              </a:spcAft>
            </a:pPr>
            <a:r>
              <a:rPr sz="2200">
                <a:solidFill>
                  <a:srgbClr val="1F2937"/>
                </a:solidFill>
                <a:latin typeface="Calibri"/>
              </a:rPr>
              <a:t>▸  Jasad siydigida etanol hosil bo‘lmaydi. Shuning uchun mastlik darajasini baholashda qon va siydik birga tekshiriladi.</a:t>
            </a:r>
          </a:p>
          <a:p>
            <a:pPr>
              <a:spcAft>
                <a:spcPts val="1200"/>
              </a:spcAft>
            </a:pPr>
            <a:r>
              <a:rPr sz="2200">
                <a:solidFill>
                  <a:srgbClr val="1F2937"/>
                </a:solidFill>
                <a:latin typeface="Calibri"/>
              </a:rPr>
              <a:t>▸  Rezorbsiyada qondagi alkogol siydikdagidan yuqori, eliminatsiyada esa siydikda yuqori bo‘ladi. Siydik yuqori bo‘lib qon ortsa, qayta qabul qilingan.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849; Baizoldanov T. (Байзолданов Т.)., Токсикологическая химия: учебник, betlar: 51-52, 52; G‘iyosov Z.A., Sud tibbiyoti: darslik, betlar: 159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Natija yolg‘iz baholanmaydi: qon, siydik va hodisa tafsilotlari birga tahlil qilinadi.</a:t>
            </a:r>
          </a:p>
          <a:p>
            <a:pPr>
              <a:spcAft>
                <a:spcPts val="800"/>
              </a:spcAft>
            </a:pPr>
            <a:r>
              <a:rPr sz="1800">
                <a:solidFill>
                  <a:srgbClr val="1F2937"/>
                </a:solidFill>
                <a:latin typeface="Calibri"/>
              </a:rPr>
              <a:t>▸  Diqqat: endogen alkogol ≠ jasad chirishida hosil bo‘lgan alkogol; miqdori va kelib chiqishi farq qiladi.</a:t>
            </a:r>
          </a:p>
          <a:p>
            <a:pPr>
              <a:spcAft>
                <a:spcPts val="800"/>
              </a:spcAft>
            </a:pPr>
            <a:r>
              <a:rPr sz="1800">
                <a:solidFill>
                  <a:srgbClr val="1F2937"/>
                </a:solidFill>
                <a:latin typeface="Calibri"/>
              </a:rPr>
              <a:t>▸  Eslab qoling: «Qon shubhali bo‘lsa, siydikka qarang» — siydikda chirishdan etanol hosil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26197"/>
                <a:gridCol w="1226197"/>
                <a:gridCol w="2835580"/>
              </a:tblGrid>
              <a:tr h="411480">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Miqdor</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Endogen</a:t>
                      </a:r>
                    </a:p>
                  </a:txBody>
                  <a:tcPr marL="73152" marR="73152" marT="36576" marB="36576">
                    <a:solidFill>
                      <a:srgbClr val="E8EEF6"/>
                    </a:solidFill>
                  </a:tcPr>
                </a:tc>
                <a:tc>
                  <a:txBody>
                    <a:bodyPr/>
                    <a:lstStyle/>
                    <a:p>
                      <a:r>
                        <a:rPr sz="1200" b="0">
                          <a:solidFill>
                            <a:srgbClr val="1F2937"/>
                          </a:solidFill>
                        </a:rPr>
                        <a:t>0,018–0,03 ‰</a:t>
                      </a:r>
                    </a:p>
                  </a:txBody>
                  <a:tcPr marL="73152" marR="73152" marT="36576" marB="36576">
                    <a:solidFill>
                      <a:srgbClr val="E8EEF6"/>
                    </a:solidFill>
                  </a:tcPr>
                </a:tc>
                <a:tc>
                  <a:txBody>
                    <a:bodyPr/>
                    <a:lstStyle/>
                    <a:p>
                      <a:r>
                        <a:rPr sz="1200" b="0">
                          <a:solidFill>
                            <a:srgbClr val="1F2937"/>
                          </a:solidFill>
                        </a:rPr>
                        <a:t>Normada organizmda bo‘ladi</a:t>
                      </a:r>
                    </a:p>
                  </a:txBody>
                  <a:tcPr marL="73152" marR="73152" marT="36576" marB="36576">
                    <a:solidFill>
                      <a:srgbClr val="E8EEF6"/>
                    </a:solidFill>
                  </a:tcPr>
                </a:tc>
              </a:tr>
              <a:tr h="411480">
                <a:tc>
                  <a:txBody>
                    <a:bodyPr/>
                    <a:lstStyle/>
                    <a:p>
                      <a:r>
                        <a:rPr sz="1200" b="0">
                          <a:solidFill>
                            <a:srgbClr val="1F2937"/>
                          </a:solidFill>
                        </a:rPr>
                        <a:t>Chirish</a:t>
                      </a:r>
                    </a:p>
                  </a:txBody>
                  <a:tcPr marL="73152" marR="73152" marT="36576" marB="36576">
                    <a:solidFill>
                      <a:srgbClr val="FFFFFF"/>
                    </a:solidFill>
                  </a:tcPr>
                </a:tc>
                <a:tc>
                  <a:txBody>
                    <a:bodyPr/>
                    <a:lstStyle/>
                    <a:p>
                      <a:r>
                        <a:rPr sz="1200" b="0">
                          <a:solidFill>
                            <a:srgbClr val="1F2937"/>
                          </a:solidFill>
                        </a:rPr>
                        <a:t>2,4 ‰ gacha</a:t>
                      </a:r>
                    </a:p>
                  </a:txBody>
                  <a:tcPr marL="73152" marR="73152" marT="36576" marB="36576">
                    <a:solidFill>
                      <a:srgbClr val="FFFFFF"/>
                    </a:solidFill>
                  </a:tcPr>
                </a:tc>
                <a:tc>
                  <a:txBody>
                    <a:bodyPr/>
                    <a:lstStyle/>
                    <a:p>
                      <a:r>
                        <a:rPr sz="1200" b="0">
                          <a:solidFill>
                            <a:srgbClr val="1F2937"/>
                          </a:solidFill>
                        </a:rPr>
                        <a:t>Jasad qonida hosil bo‘ladi</a:t>
                      </a:r>
                    </a:p>
                  </a:txBody>
                  <a:tcPr marL="73152" marR="73152" marT="36576" marB="36576">
                    <a:solidFill>
                      <a:srgbClr val="FFFFFF"/>
                    </a:solidFill>
                  </a:tcPr>
                </a:tc>
              </a:tr>
              <a:tr h="411480">
                <a:tc>
                  <a:txBody>
                    <a:bodyPr/>
                    <a:lstStyle/>
                    <a:p>
                      <a:r>
                        <a:rPr sz="1200" b="0">
                          <a:solidFill>
                            <a:srgbClr val="1F2937"/>
                          </a:solidFill>
                        </a:rPr>
                        <a:t>Ta’sirsiz</a:t>
                      </a:r>
                    </a:p>
                  </a:txBody>
                  <a:tcPr marL="73152" marR="73152" marT="36576" marB="36576">
                    <a:solidFill>
                      <a:srgbClr val="E8EEF6"/>
                    </a:solidFill>
                  </a:tcPr>
                </a:tc>
                <a:tc>
                  <a:txBody>
                    <a:bodyPr/>
                    <a:lstStyle/>
                    <a:p>
                      <a:r>
                        <a:rPr sz="1200" b="0">
                          <a:solidFill>
                            <a:srgbClr val="1F2937"/>
                          </a:solidFill>
                        </a:rPr>
                        <a:t>0,3 ‰ dan past</a:t>
                      </a:r>
                    </a:p>
                  </a:txBody>
                  <a:tcPr marL="73152" marR="73152" marT="36576" marB="36576">
                    <a:solidFill>
                      <a:srgbClr val="E8EEF6"/>
                    </a:solidFill>
                  </a:tcPr>
                </a:tc>
                <a:tc>
                  <a:txBody>
                    <a:bodyPr/>
                    <a:lstStyle/>
                    <a:p>
                      <a:r>
                        <a:rPr sz="1200" b="0">
                          <a:solidFill>
                            <a:srgbClr val="1F2937"/>
                          </a:solidFill>
                        </a:rPr>
                        <a:t>Organizmga ta’sir yo‘q deb baholanadi</a:t>
                      </a:r>
                    </a:p>
                  </a:txBody>
                  <a:tcPr marL="73152" marR="73152" marT="36576" marB="36576">
                    <a:solidFill>
                      <a:srgbClr val="E8EEF6"/>
                    </a:solidFill>
                  </a:tcPr>
                </a:tc>
              </a:tr>
              <a:tr h="411480">
                <a:tc>
                  <a:txBody>
                    <a:bodyPr/>
                    <a:lstStyle/>
                    <a:p>
                      <a:r>
                        <a:rPr sz="1200" b="0">
                          <a:solidFill>
                            <a:srgbClr val="1F2937"/>
                          </a:solidFill>
                        </a:rPr>
                        <a:t>Jasad siydigi</a:t>
                      </a:r>
                    </a:p>
                  </a:txBody>
                  <a:tcPr marL="73152" marR="73152" marT="36576" marB="36576">
                    <a:solidFill>
                      <a:srgbClr val="FFFFFF"/>
                    </a:solidFill>
                  </a:tcPr>
                </a:tc>
                <a:tc>
                  <a:txBody>
                    <a:bodyPr/>
                    <a:lstStyle/>
                    <a:p>
                      <a:r>
                        <a:rPr sz="1200" b="0">
                          <a:solidFill>
                            <a:srgbClr val="1F2937"/>
                          </a:solidFill>
                        </a:rPr>
                        <a:t>—</a:t>
                      </a:r>
                    </a:p>
                  </a:txBody>
                  <a:tcPr marL="73152" marR="73152" marT="36576" marB="36576">
                    <a:solidFill>
                      <a:srgbClr val="FFFFFF"/>
                    </a:solidFill>
                  </a:tcPr>
                </a:tc>
                <a:tc>
                  <a:txBody>
                    <a:bodyPr/>
                    <a:lstStyle/>
                    <a:p>
                      <a:r>
                        <a:rPr sz="1200" b="0">
                          <a:solidFill>
                            <a:srgbClr val="1F2937"/>
                          </a:solidFill>
                        </a:rPr>
                        <a:t>Etanol hosil bo‘lmaydi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Alkogol manbalarini farqlash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Тагаев Н.Н. (Tagaev N.N.)., Судебная медицина: учебник, betlar: 849, 850; Baizoldanov T. (Байзолданов Т.)., Токсикологическая химия: учебник, betlar: 52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79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Surunkali alkogolizm kasallik ko‘rinishida: odam spirtga o‘rganib qoladi, kichik dozalar avvalgi eyforiyani bermay qo‘yadi, shuning uchun dozani oshiradi. So‘ng ruhiy tortishish va alkogol qaramlik shakllanadi. Uzoq iste’molda jigar sirrozi, yurak mushagi va buyraklarning degeneratsiyasi, qo‘l titrashi, gallyusinatsiya va “oq isitma” (alkogolli delirium) rivojlanishi mumkin.</a:t>
            </a:r>
          </a:p>
          <a:p>
            <a:pPr>
              <a:spcAft>
                <a:spcPts val="1200"/>
              </a:spcAft>
            </a:pPr>
            <a:r>
              <a:rPr sz="1800">
                <a:solidFill>
                  <a:srgbClr val="1F2937"/>
                </a:solidFill>
                <a:latin typeface="Calibri"/>
              </a:rPr>
              <a:t>▸  Hodisa tahlili uchun yodda tuting: murda qonida etil spirti chirish natijasida ham paydo bo‘lishi mumkin (ozgina miqdordan 2,4‰ gacha), siydikda esa bunday hosil bo‘lish kuzatilmaydi. Shuning uchun mastlik darajasini baholashda spirt qon va siydikda birga tekshiriladi. Qondagi natijaga yolg‘iz tayanib xulosa qilib bo‘lmaydi.</a:t>
            </a:r>
          </a:p>
          <a:p>
            <a:pPr>
              <a:spcAft>
                <a:spcPts val="1200"/>
              </a:spcAft>
            </a:pPr>
            <a:r>
              <a:rPr sz="1800">
                <a:solidFill>
                  <a:srgbClr val="1F2937"/>
                </a:solidFill>
                <a:latin typeface="Calibri"/>
              </a:rPr>
              <a:t>▸  Eslab qolish usuli “poxmele”: etil spirti jigarda avval atsetaldegidga, keyin sirka kislotasiga aylanadi. Toksik oraliq modda atsetaldegid bosh og‘rig‘i, ko‘ngil aynishi, qusish, taxikardiya va ba’zan gallyusinatsiyalarga sabab bo‘ladi. Ayrim kishilarda aldegiddegidrogenaza yetishmaydi, atsetaldegid tez to‘planadi va intoksikatsiya qondagi spirt kam bo‘lsa ham kuchli bo‘ladi.</a:t>
            </a:r>
          </a:p>
          <a:p>
            <a:pPr>
              <a:spcAft>
                <a:spcPts val="1200"/>
              </a:spcAft>
            </a:pPr>
            <a:r>
              <a:rPr sz="1800">
                <a:solidFill>
                  <a:srgbClr val="1F2937"/>
                </a:solidFill>
                <a:latin typeface="Calibri"/>
              </a:rPr>
              <a:t>▸  Diqqat: xavfli xato. Ba’zan alkogol mastligini “bartaraf qilish” uchun nashatir spirti ichiladi. Nashatir spirti va alkogolning toksik ta’sirlari qo‘shilib, sog‘liq uchun jiddiy xavf tug‘diradi. Nashatir spirti bilan zaharlanganda murda ichki a’zolaridan ammiak hidi keladi.</a:t>
            </a:r>
          </a:p>
          <a:p>
            <a:pPr>
              <a:spcAft>
                <a:spcPts val="1200"/>
              </a:spcAft>
            </a:pPr>
            <a:r>
              <a:rPr sz="1800">
                <a:solidFill>
                  <a:srgbClr val="1F2937"/>
                </a:solidFill>
                <a:latin typeface="Calibri"/>
              </a:rPr>
              <a:t>▸  Alkogol boshqa zaharlar ta’sirini kuchaytiradi: sinergizm tufayli u barbituratlar va uglerod oksidi (is gazi) ta’sirini oshiradi, zaharlanish og‘irroq kechadi. Shu sababli surunkali alkogolga qaram kishida aralash zaharlanish ehtimolini doim hisobga oling.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Paratselsning iborasiga ko‘ra, moddani doriga yoki zaharga aylantiradigan omil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Moddaning agregat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Moddaning ma’lum dozasi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Moddaning kirish yo‘li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Moddaning kimyoviy tuzilishi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bir xil odamga bir xil sharoitda 50 g toza 96% spirt va shuncha miqdordagi 40% aroq ta’sirini taqqoslamoqda. Farqni qaysi omil tushuntiradi?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Zaharning organizmga kirish yo‘li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Odamning tana massasi va jinsi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Oshqozonning ovqat bilan to‘liqligi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Spirtning konsentratsiyasi, ya’ni to‘yinish darajasi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xil miqdordagi zaharli modda katta yoshli odamga va bolaga ta’sir etdi. Bola ancha sezgirroq bo‘ldi.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vazni kichikligi va umumiy qarshilik tizimi to‘liq shakllanmaganligi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Zaharning bolalarda yog‘da erimasligi va to‘planmasligi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Bolalarda jigarning kattalar jigaridan ancha katta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Bolalarning jinsiy jihatdan kattalardan farq qilishi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giyohvand moddani uzoq vaqt qabul qilib, bog‘liqlik hosil qildi, so‘ng uni birdan qabul qilmay qo‘ydi. Unda qaysi holat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Idiosinkraziya, ya’ni moddaga o‘ta sezgirlik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Kumulyatsiya, ya’ni moddaning to‘planishi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Abstinensiya sindromi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Yatrogen zaharlanish holati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Zaharlanish holatida tergovchi huquqni muhofaza etuvchi idora vazifalarini hal etishni so‘radi. Qaysi toksikologiya yo‘nalishi shu bilan shug‘ullanadi?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Sanoat toksikologiyasi yo‘nalishi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Sud-tibbiy toksikologiya yo‘nalishi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Qishloq xo‘jaligi toksikologiyasi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Oziq-ovqat toksikologiyasi yo‘nalishi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kishi bir xil miqdorda alkogol ichdi. Kimda rezorbsiya (so‘rilish) davri odatda davomiyroq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Och qoringa ichgan kishida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Oshqozoni to‘la ichgan kishida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Tireotoksikozli kishida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Gipoatsid gastritli kishida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Etil spirti metabolizmining birinchi bosqichida alkogoldegidrogenaza ta’sirida qaysi modda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Formaldegid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Sirka kislotasi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Oksalat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Atsetaldegid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kishi oz miqdorda ichgan bo‘lsa-da kuchli intoksikatsiya alomatlari paydo bo‘ldi. Qonda spirt miqdori unchalik baland emas. Tekshiruvda alkogoldegidrogenaza aktivligi juda yuqori, aldegiddegidrogenaza esa yetishmovchi. Alomatlarning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Atsetaldegidning organizmda tez to‘planishi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Etil spirtining jigarda yig‘ilib qolishi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Etil spirtining siydik bilan chiqmay qolishi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Katalaza fermentining mutlaq yetishmasligi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Kishi ichgandan so‘ng avval juda gapirib, qo‘zg‘algan holatda bo‘ldi. Bu dastlabki qo‘zg‘alish (eyforiya) nima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Po‘stloq osti markazlarining bevosita qo‘zg‘alishi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Uzunchoq miya nafas markazining falajlanishi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Po‘stloq tormozlanishi va po‘stloq osti nazoratining susayishi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Miyacha va orqa miya faoliyatining kuchayishi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Tibbiyot xodimi etanolning to‘qimalarga ta’sirini o‘rganmoqda. Qaysi o‘rtacha konsentratsiyada etil spirti aniq bakterisid (mikroblarni o‘ldiruvchi) ta’sir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 foizli eritmada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70 foizli eritmada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96 foizli eritmada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40 foizli eritmada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E.M.P. Vidmark konstantasi eliminatsiya davrida nimani ifodalaydi?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Alkogolning oshqozondan qonga so‘rilish tezligini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soatda qondagi alkogol miqdorining pasayishini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Siydikdagi alkogol miqdorining bir soatlik ortishini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Oshqozondagi massa bilan bog‘langan alkogol ulushini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ekspertizasida siydikdagi etil spirti miqdori baland, qondagi konsentratsiya esa yana oshayotgani aniqlandi. Bu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Alkogol faqat bir marta qabul qilinganidan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Rezorbsiya davri endigina boshlanganidan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Alkogol organizmda endogen hosil bo‘lganidan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Alkogol takroran qabul qilinganidan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ko‘p yillar ichgan. Avvalgi kichik dozalar endi eyforiya bermaydi, shu sabab dozani oshiradi. Bu holat nima deb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Alkogolga tolerantlik (odatlanish) rivojlanishi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Alkogolga idiosinkraziya rivojlanishi holati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Alkogolning to‘qimalarda kumulyatsiyasi holati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Alkogol bilan o‘tkir zaharlanish bosqichi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Ko‘p yillar ichgan shaxs murdasi tekshirilmoqda. Manbada surunkali alkogolizm oqibati sifatida jigarda qanday o‘zgarish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Jigarning o‘tkir sariq atrofiyasi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Jigarda ishqoriy gematin cho‘kishi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Jigar sirrozi rivojlanishi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Jigarda koagulyasion nekroz o‘choqlari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Surunkali ichuvchida ko‘rish gallyusinatsiyalari va shiddatli alahsirash kuzatildi. Manbada bu holat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Kataton stupor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Alkogol deliriysi (oq isitma)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Toksik ensefalopatiya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Qo‘rg‘oshinli psixoz holati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Surunkali alkogolizm bilan og‘rigan er-xotin farzand ko‘rmoqda. Darslikka ko‘ra, alkogolning nasl uchun qaysi oqibati ta’kidlanadi?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Bolalar alkogolga chidamli bo‘lib tug‘iladi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Nasl uchun hech qanday oqibat kuzatilmaydi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Bolalar aqliy va jismoniy kamquvvat tug‘iladi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Bolalar faqat ko‘rish nuqsoni bilan tug‘iladi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Uzoq yillar alkogol suiiste’mol qilgan shaxs murdasida jigarda qaysi o‘zgarish surunkali alkogolizm oqibati sifatida ko‘rsatiladi?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Jigarning sirrozi rivojlanishi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Jigarning o‘tkir sariq atrofiyasi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Jigarda mayda kistalar hosil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Jigar tuzilishining o‘zgarmay qolishi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qonidan olingan namunada etil spirti 2,0 promille aniqlandi, chirish belgisi yo‘q. Manbadagi tasnif bo‘yicha mastlik darajasi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Yengil darajadagi mastlik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Kuchli darajadagi mastlik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 darajadagi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O‘rtacha darajadagi mastlik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Chirigan murdaning qonida spirt topildi, siydikda esa aniqlanmadi. Manbaga ko‘ra, eng to‘g‘ri xulosa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Spirt qondan siydikka butunlay o‘tib ketgan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Qondagi spirt chirishdan hosil bo‘lishi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Siydikda ham spirt chirishdan albatta hosil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Qondagi natija doim ichilgan spirtni isbotlaydi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Shubhalanilgan shaxs nafasi suvli probirkaga yuborildi. Sulfat kislota va kaliy permanganat qo‘shilgach pushti-qizg‘ish rang yo‘qoldi. Bu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Qonda karboksigemoglobin borligini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Nazorat probirkasi buzilganligini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Chiqarilgan havoda alkogol borligini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Siydikda atsetaldegid yo‘qligini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Moddaning ma’lum dozasi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zahar nisbiy tushuncha ekani aytiladi. Paratselsning iborasi bo‘yicha moddani doriga yoki zaharga «faqat doza» aylantiradi. Tabiatda mutloq zahar ham, mutloq beziyon modda ham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Spirtning konsentratsiyasi, ya’ni to‘yinish darajasi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Tagaev darsligida zaharning miqdori bilan birga konsentratsiyasi ham ahamiyatli ekani aytiladi. 50 g 96% spirt shuncha miqdordagi 40% aroq yoki 6% pivodan boshqacha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Тагаев Н.Н. (Tagaev N.N.)., Судебная медицина: учебник, 826-bet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Tana vazni kichikligi va umumiy qarshilik tizimi to‘liq shakllanmaganligi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G‘iyosov darsligida bolalarning kattalarga nisbatan sezgirligi ikki sabab bilan izohlanadi: vazni kichikligi va umumiy qarshilik ko‘rsatish tizimining to‘liq shakllanmaganligi.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Abstinensiya sindromi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Ruhiy va jismoniy bog‘liqlik shakllangan bo‘lsa, modda qabul qilinmaganda abstinensiya sindromi kuzatiladi. Narkomaniya va toksikomaniya shunga misol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Sud-tibbiy toksikologiya yo‘nalishi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Boshqa yo‘nalishlar asosan sabablar, tibbiy yordam va oldini olishni o‘rganadi. Sud-tibbiy toksikologiya esa huquqni muhofaza etuvchi idoralar qo‘ygan vazifalarni hal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Oshqozoni to‘la ichgan kishida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Oshqozon to‘la bo‘lganda spirtning bir qismi vaqtincha bog‘lanadi va qonga kechroq so‘riladi, shu sababli rezorbsiya davomiyroq bo‘ladi. Oshqozonning bo‘sh bo‘lishi, gipoatsid gastrit va tireotoksikoz esa bu davrni qisqartiradi.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157-bet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Atsetaldegid</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Birinchi bosqichda etil spirti alkogoldegidrogenaza ta’sirida atsetaldegidga aylanadi. Ikkinchi bosqichda atsetaldegid aldegiddegidrogenaza yordamida oksidlanib sirka kislotasiga o‘tadi, keyin suv va karbonat angidridga aylanadi.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157-bet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Atsetaldegidning organizmda tez to‘planishi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Fermentlarning atipik shaklida spirt atsetaldegidga tez aylanadi, lekin atsetaldegid sekin oksidlanadi. Natijada toksik atsetaldegid to‘planadi, intoksikatsiya kuchayadi va qonda spirt miqdori baland bo‘lmaganda ham ba’zan o‘lim yuz berishi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157-bet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Po‘stloq tormozlanishi va po‘stloq osti nazoratining susayishi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Etil spirtining narkotik ta’siri bosh miya po‘stlog‘ining tormozlanishi bilan bog‘liq. Po‘stloq osti markazlari ustidan nazorat susayadi va ularda qo‘zg‘alish kuzatiladi. Ko‘p miqdorda ichilganda tormozlanish pastki bo‘limlarga o‘tadi.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70 foizli eritmada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20 foizdan yuqori konsentratsiyada spirt protoplazmani suvsizlantiradi va ivitadi, o‘rtacha (70 foiz) konsentratsiyada esa aniq bakterisid ta’sir ko‘rsatadi deyilgan. Undan ham konsentrlangan spirt oqsillarni denaturatsiyalaydi va to‘qimaga yomon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Тагаев Н.Н. (Tagaev N.N.)., Судебная медицина: учебник, 850-bet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Bir soatda qondagi alkogol miqdorining pasayishini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Eliminatsiya davrida qondagi etil spirti konsentratsiyasi pasaya boshlaydi. Vaqt birligida (bir soatda) bu pasayish shartli ravishda Vidmark konstantasi deb ataladi.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158-bet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Alkogol takroran qabul qilinganidan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Siydikda spirt miqdori baland bo‘lgan holda qondagi konsentratsiyaning oshishi alkogol takroriy qabul qilinganini ko‘rsatadi. Odatdagi eliminatsiyada qonda miqdor pasayadi.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158-bet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Alkogolga tolerantlik (odatlanish) rivojlanishi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Alkogolni takroran qabul qilish odatlanishga olib keladi: kichik dozalar avvalgi eyforiyani bermaydi, shuning uchun vaqt o‘tib yuqoriroq doza kerak bo‘ladi. Keyin qaramlik va alkogolizm shakllanadi.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50-bet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Jigar sirrozi rivojlanishi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Alkogolni uzoq suiiste’mol qilish natijasida jigar sirrozi, yurak mushagi va buyraklarning degeneratsiyasi kabi og‘ir buzilishlar rivojlanishi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50-bet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Alkogol deliriysi (oq isitma)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Uzoq muddat alkogol ichishning oqibatlari orasida gallyusinatsiyalar va shiddatli alahsirash sanalgan. Bu holat «oq isitma» deb nomlanadi.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51-bet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Bolalar aqliy va jismoniy kamquvvat tug‘iladi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uzoq muddatli alkogol qabul qilish erkak va ayol jinsiy bezlarining degeneratsiyasiga olib kelishi aytilgan. Natijada alkogolizm bilan og‘riganlardan aqliy va jismoniy kamquvvat bolalar tug‘iladi. Boshqa variantlar manbada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51-bet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Jigarning sirrozi rivojlanishi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alkogolni uzoq muddat qabul qilish jigar sirrozi, yurak mushagi va buyraklarning degeneratsiyasiga olib kelishi aytilgan. Qolgan variantlar manbada surunkali alkogolizm oqibati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50-bet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O‘rtacha darajadagi mastlik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qonda 0,5–1,5‰ yengil, 1,5–2,5‰ o‘rtacha, 2,5–3,0‰ kuchli mastlikka mos keladi. 3–5‰ og‘ir zaharlanish hisoblanadi. 2,0‰ o‘rtacha mastlik oralig‘iga tushadi.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52-bet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Qondagi spirt chirishdan hosil bo‘lishi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murda qonida chirish paytida ozdan 2,4‰ gacha etil spirti hosil bo‘lishi mumkinligi aytilgan. Murda siydigida esa spirt hosil bo‘lmaydi. Shu sababli mastlik darajasi baholashda qon va siydik birga tekshiriladi.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52-bet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Chiqarilgan havoda alkogol borligini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A.M. Rappoport sinamasida alkogol oksidlanib atsetaldegidga aylanadi. Marganetsning yetti valentli birikmasi qaytarilib, pushti-qizg‘ish rang rangsizlanadi. Sinov probirkasida rangning yo‘qolishi alkogol mavjudligidan dalolat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alkogol intoksikatsiyasi, patomorfologik namoyon bo'lishlar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79</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6. Sud-tibbiy toksikologiya (qisman mos)</a:t>
            </a:r>
          </a:p>
          <a:p>
            <a:pPr>
              <a:spcAft>
                <a:spcPts val="1200"/>
              </a:spcAft>
            </a:pPr>
            <a:r>
              <a:rPr sz="20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2-qism, 6-bob: distillyatsiya bilan ajratiladigan zaharlar (etanol, metanol, sianid va b.), s.1-93</a:t>
            </a:r>
          </a:p>
          <a:p>
            <a:pPr>
              <a:spcAft>
                <a:spcPts val="1200"/>
              </a:spcAft>
            </a:pPr>
            <a:r>
              <a:rPr sz="2000">
                <a:solidFill>
                  <a:srgbClr val="1F2937"/>
                </a:solidFill>
                <a:latin typeface="Calibri"/>
              </a:rPr>
              <a:t>▸  Тагаев Н.Н. (Tagaev N.N.). Судебная медицина: учебник, Харьков: Факт (egasi taqdim etgan; yopiq foydalanish). 2003. 24-26-boblar. Kimyoviy travma va zaharlanishlar: zahar tasnifi, etanol, uglerod oksidi (1/2); bet 822-874</a:t>
            </a:r>
          </a:p>
          <a:p>
            <a:pPr>
              <a:spcAft>
                <a:spcPts val="1200"/>
              </a:spcAft>
            </a:pPr>
            <a:r>
              <a:rPr sz="20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10-bob. Zaharlanishlarning sud-tibbiy diagnostikasi (kitob beti 198-242); bet 198-242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