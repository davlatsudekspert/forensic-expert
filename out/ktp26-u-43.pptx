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alkogolni sud-tibbiy toksikologiyada alohida o‘rganamiz? Surunkali iste’mol o‘limning bevosita sababi bo‘lmasa ham qanday rol o‘ynaydi? Doskada: mavzu rejasining qisqa sxemasini chizing (umumiy asos → etil spirti → morfologik belgilar). Tipik xato: manbada bo‘lmagan surunkali alkogolizm morfologiyasini (masalan, jigar sirrozi) manbaga tayanmay aytib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etil spirti ham dozaga qarab «dori» yoki «zahar» bo‘lishi mumkin? Sud-tibbiy toksikologiya vazifasi klinik toksikologiyadan nimasi bilan farq qiladi? Doskada: Paratsels iborasini va toksikologiya yo‘nalishlarini ro‘yxat ko‘rinishida yozdiring. Tipik xato: sud-tibbiy toksikologiyaning vazifasini faqat davolash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baxtsiz hodisalar ko‘pchilikni tashkil etadi? Yatrogen zaharlanishga misol keltiring. Doskada: uch turni «qasddan / tasodifan» ustunlariga ajratib chizing. Tipik xato: qotillik yo‘li bilan zaharlashni eng ko‘p uchraydigan tur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 xil doza turli odamlarda turlicha ta’sir qiladi? Qonga so‘rilish tezligi toksiklikka qanday ta’sir qiladi? Doskada to‘rt omil guruhini markazga qaratilgan strelkalar bilan chizdiring. Tipik xato: faqat modda miqdoriga e’tibor berib, organizm va sharoitni unutish.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tolerantlik va ruhiy-jismoniy bog‘liqlik qanday farqlanadi? Surunkali iste’molchida spirt miqdori nima uchun tezroq kamayadi? Doskada tolerantlik → doza oshishi → abstinensiya zanjirini chizdiring. Tipik xato: tolerantlikni zaharga chidamlilik, ya’ni xavfsizlik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to‘la oshqozonda mastlik sekinroq rivojlanadi? Yopiq issiq xonada alkogol ta’siri nima uchun kuchayadi? Doskada ‘och qoringa’ va ‘to‘la oshqozon’ ustunli solishtirma jadval chizdiring. Tipik xato: bog‘langan spirtni butunlay so‘rilmaydi deb hisoblash; vaqtincha bog‘lanish keyin so‘rilishini kechiktiradi.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 talabalarga navbat bilan beriladi, javoblar kitobsiz aytiladi. Muhokama: nega bir xil dozada turli odamlarda ta’sir turlicha bo‘ladi? Doskada 4 omil guruhini markazga ‘zaharlanish’ so‘zini qo‘yib, 4 ta o‘q bilan chizing. Tipik xato: tolerantlikni idiosinkraziya bilan, bog‘liqlikni abstinensiya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tolerantlik qon tahlili natijasiga qanday ta’sir qiladi? Nega namunalar imkon qadar erta olinishi kerak? Doskada oddiy va tolerant shaxs uchun spirt kamayish tezligini ikki xil qiyalikli chiziq bilan chizdiring. Tipik xato: barcha shaxslar uchun bitta konstantani qo‘llash. Eslatma: vaziyat o‘quv maqsadida tuzilgan, kitobda aynan bunday holat keltirilmagan.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funksional zaharlarda nega tibbiy hujjatlar va laboratoriya natijalari muhim? “Uch nuqta” nimani anglatadi? Doskada 3 ta bosqichni o‘q bilan bog‘lab, har biriga 2-3 ta kalit so‘z yozing. Tipik xato: faqat murda ko‘rigi yoki faqat laboratoriya natijasiga tayanish.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namuna faqat bitta a’zodan emas, uch joydan olinadi? 2) Zahar noma’lum bo‘lganda nima uchun ro‘yxat kengayadi? Doskada: “kirgan – ta’sir etgan – chiqqan” uch nuqtali sxemani chizdiring. Tipik xato: zahar ma’lum va noma’lum holatlardagi namuna ro‘yxatlarini aralashtirish; qonni boshqa namunalar bilan bitta idishga solish.”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Metabolit asl moddadan kuchliroq zaharli bo‘lsa, klinika qanday o‘zgaradi? 2) Nega toksikodinamika toksikokinetikasiz tushunilmaydi? Doskada: sxemaga metanol→formaldegid va etilenglikol→oksalat kislotasi misollarini qo‘shib chizdiring. Tipik xato: toksikokinetika (zahar bilan nima bo‘ladi) va toksikodinamika (organizm nima qiladi) tushunchalarini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etil spirti funksional zaharlar qatoriga kiradi? 2) Mahalliy va umumiy ta’sir qanday farqlanadi? Doskada: tasnif daraxtini (mahalliy / umumiy → destruktiv, qon, funksional) chizing va etil spirtini MNT ni so‘ndiruvchilar shoxiga qo‘ying. Tipik xato: etil spirtini destruktiv yoki mahalliy zaharlar qatoriga kiritish.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faqat joyni ko‘rish bilan zaharlanishni tasdiqlab bo‘lmaydi? 2) Laboratoriyaga nimalar yuboriladi? Doskada 3 bosqichni ketma-ket strelka bilan chizdiring. Tipik xato: 3-bosqichni birinchi qilib qo‘yish yoki murdadagi o‘zgarishlarni zaharlanishning qat’iy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mast odam avval qo‘zg‘aladi, keyin uxlaydi? 2) Qaysi markazlar falaji o‘limga olib keladi? Doskada miya pog‘onalarini (po‘stloq → po‘stloq osti → uzunchoq miya) pastga yo‘nalgan strelka bilan chizdiring. Tipik xato: alkogolni “qo‘zg‘atuvchi zahar” deb atash.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Endogen alkogol nima uchun kerak? 2) Qaysi holatlarda uning miqdori ko‘payadi, qaysilarida kamayadi? Doskada ikki ustunli ro‘yxat chizdiring: “kamayadi” va “ko‘payadi”. Tipik xato: 0,3-0,4 promillegacha bo‘lgan tabiiy miqdorni mastlik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nega to‘la oshqozonda mastlik kechroq rivojlanadi? Oshqozon massasi spirtni bog‘lashi qanday ahamiyatga ega? Doskada chizing: oshqozon (20%) va ichak (80%) sxemasi, ostida och va to‘q oshqozon uchun bog‘lanish foizlari. Tipik xato: doimiy va vaqtincha defitsitni aralashtirish; 5% va 40% bog‘langan ulush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stress holatida rezorbsiya nega cho‘ziladi? Gipoatsid va giperatsid gastritni qaysi biri tezlatishini tushuntiring. Doskada chizing: ikki ustunli ro‘yxat (qisqartiruvchi va uzaytiruvchi omillar). Tipik xato: gipoatsid va giperatsid gastritni almashtirib yuborish; rezorbsiya bilan eliminatsiyani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Savollarni talabalarga javobni yashirgan holda o‘qing, keyin birga tekshiring. Muhokama: chiqarilish yo‘llari sud-tibbiy tekshiruvda nimaga kerak? Doskada chizing: spirtning kirishi va chiqish yo‘llari strelkali sxemasi. Tipik xato: 5% va 40% ni bir-biriga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jigarda ferment faolligi yuqori? 2) Katalaza qachon ko‘proq ishtirok etadi? Doskada: 5 tugunli zanjirni fermentlar nomi bilan chizdiring. Tipik xato: alkogoldegidrogenaza bilan aldegiddegidrogenazani adashtirish (birinchisi etanolni, ikkinchisi atsetaldegidni oksidlaydi).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Poxmele sindromi qaysi modda ta’siri bilan bog‘liq? 2) Atipik fermentlar atsetaldegid to‘planishiga qanday olib keladi? Doskada: oddiy va atipik holatni ikki ustunda solishtiring. Tipik xato: poxmele sindromini etanolning o‘zi chaqiradi deb o‘ylash (manbada sabab atsetaldegid).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ferment yetishmovchiligi atsetaldegid to‘planishiga sabab? 2) Ekspert xulosasida qo‘shimcha nimalarni hisobga olish kerak? Doskada: voqea tahlilidagi sabab–oqibat zanjirini chizdiring. Tipik xato: intoksikatsiya og‘irligini faqat qondagi etil spirti miqdori bilan o‘lchash.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mastlik surunkali kasallikdan o‘lim yoki baxtsiz hodisaga moyillik yaratadi? 2) “Alkogol bilan bog‘liq o‘lim” bilan “alkogoldan zaharlanishdan o‘lim” nimasi bilan farq qiladi? Doskaga chizish: klinik bosqichlar zanjirini chizing (eyforiya → uyquchanlik, nutq va harakat buzilishi → qusish → koma). Tipik xato: talabalar hamma alkogol bilan bog‘liq o‘limni bevosita zaharlanishdan deb o‘ylaydi. Diqqat: bilvosita moyillik ≠ bevosita zaharlanish.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3,0 promilledan yuqori “zaharlanish”, 5,0 va undan ko‘p esa “o‘lim sababi” — farqi nimada? 2) Nega yuqori spirtlar aralashganda o‘lim past qiymatda ham bo‘lishi mumkin? Doskaga chizish: 0 dan 5,0 gacha son o‘qini chizib, chegaralarni (0,5; 1,5; 2,5; 3,0; 5,0) belgilang. Tipik xato: 3,0 promilledan yuqori qiymatni darhol o‘lim sababi deb olish. Diqqat: 3,0 (zaharlanish) ≠ 5,0 (o‘limga sabab).</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sinama natijasini hamisha boshqa ma’lumotlar bilan birga baholaymiz? 2) Soxta musbat natija qaysi kasalliklarda bo‘lishi mumkin? Doskaga chizish: Rappoport sinamasi tartibini chizing (ikki probirka 2 ml suv; biriga 20–30 soniya havo chiqariladi, ikkinchisi nazorat; keyin kislota va permanganat; sinovdagi rang yo‘qolishi = alkogol). Tipik xato: sinama alkogol miqdorini beradi deb o‘ylash; u faqat sifat sinamasi. Miqdoriy aniqlash asosan gaz-xromatografik usulda amalga oshiriladi.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tirik shaxsdan namunani bir necha marta olish kerak? 2) Qon va siydikdagi miqdorlarni solishtirish nimani ko‘rsatadi? Doskada: rezorbsiya va eliminatsiya uchun qon va siydik egri chiziqlarini yonma-yon chizdiring. Tipik xato: rezorbsiya bilan eliminatsiya davrlarida qon–siydik nisbatini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Surunkali iste’molchida P nega yuqoriroq chiqadi? 2) Uyqu va komada P nega pastroq? Doskada: jadvaldagi to‘rt qiymatni o‘sish tartibida bitta o‘q bo‘ylab joylashtiring. Tipik xato: P ni doimiy son deb o‘ylash; u holatga qarab o‘zgaradi.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ozg‘in odamlarda r balandroq? 2) P ni noto‘g‘ri tanlash natijaga qanday ta’sir qiladi? Doskada: formulani yozib, har bir belgi tagiga ma’nosini yozing. Tipik xato: T ni ichimlik ichilgan paytdan namuna olingan paytgacha emas, boshqa vaqt deb olish.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ketma-ket so‘rang, talabalar javobni daftarga yozsin. Muhokama: nega 3,0 promille chegarasi mastlik bilan zaharlanishni ajratadi? Nega yuqori molekulyar spirtlar bo‘lsa, o‘lim pastroq konsentratsiyada ham mumkin? Doskada chizing: promille shkalasi (0,5 – 1,5 – 2,5 – 3,0 – 5,0) va har chegaraga nom yozing. Tipik xato: mastlik darajalarini zaharlanish chegarasi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Raqamlarni o‘zingiz to‘qimang; talabalar formuladagi har bir belgini ayta olishi kifoya. Muhokama: p ni qaysi holatlarda oshirib yoki kamaytirib olish kerak (uyqu, koma, jismoniy yuklama, tolerantlik)? Doskada chizing: formula va har belgining ma’nosi. Tipik xato: T ni daqiqada olish yoki r ni jinsga qaramay bir xil olish.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spetsifik belgi yo‘q bo‘lsa, o‘lim sababini qanday isbotlaymiz? Nega boshqa o‘limga olib keluvchi holatlar istisno qilinadi? Doskada chizing: tashqi belgilar (chap) va ichki belgilar (o‘ng) ikki ustunli ro‘yxati. Tipik xato: ko‘kimtirlik, ekximoz va to‘laqonlikni faqat alkogolga xos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qonda spirt topilmasa ham alkogolning roli bo‘lishi mumkin? 2) Kardiomiopatiya bilan yurakning ishemik kasalligini qanday farqlaysiz? Doskaga chizing: «ichimlik – bir necha kun – o‘tkir yurak yetishmovchiligi» vaqt chizig‘i. Tipik xato: o‘lim sababini faqat qondagi promille bilan belgilash. Manbada surunkali alkogolizmning boshqa a’zolardagi o‘zgarishlari yo‘qligini talabalarga ochiq ayting.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Gistologik va sud-kimyoviy tekshiruv bir-birini qanday to‘ldiradi? 2) Soxta musbat va soxta manfiy natija qanday sabablardan chiqadi? Doskaga chizing: «murda – namuna (qon, siydik) – laboratoriya – boshqa ma’lumotlar bilan baholash» zanjiri. Tipik xato: laboratoriya natijasini voqea tafsilotidan alohida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metanolning yashirin bosqichi xavfli? 2) Metabolit zaharliligi toksikodinamikaga qanday misol bo‘ladi? Doskaga jadvalni ko‘chiring va har qatorga bitta metabolitni yozing. Tipik xato: metanolni etil spirti kabi xos o‘zgarishsiz deb o‘ylash. Eslatma: jadvaldagi letal dozalar 156, 161 va 163-betlarda berilgan.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Metanolning yashirin bosqichi nega xavfli? 2) Etilenglikol kechki o‘limda qaysi a’zolar zarar ko‘radi? Doskada chizing: ikki ustunli taqqoslash (metanol | etilenglikol) — dog‘lar, nerv, a’zo shikasti. Tipik xato: Kryukov dog‘larini etil spirtiga xos deb o‘ylash va yashirin bosqichni tuzalish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faqat sinama natijasiga tayanib xulosa qilib bo‘lmaydi? 2) Etanol va metanol zaharlanishini murdada qanday farqlaysiz? Doskada chizing: ‘uch qadam’ sxemasi — voqea joyi, murda tekshiruvi, laboratoriya. Tipik xato: etanol va metanolni bir xil deb olish, sifat sinamasini miqdoriy dalil deb hisoblash. Eslatma: manbada surunkali alkogol intoksikatsiyasining a’zolardagi morfologiyasi (jigar, miya) batafsil berilmagan, shuning uchun u haqda kitobdan tashqari ma’lumot kiritilmadi.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Surunkali alkogol intoksikatsiyasi, patomorfologik namoyon bo'lishlar</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manba doirasi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Zaharlanishdan o‘lim holatlari ichida etil spirtidan zaharlanish yetakchi o‘rinni egallaydi.</a:t>
            </a:r>
          </a:p>
          <a:p>
            <a:pPr>
              <a:spcAft>
                <a:spcPts val="1200"/>
              </a:spcAft>
            </a:pPr>
            <a:r>
              <a:rPr sz="2200">
                <a:solidFill>
                  <a:srgbClr val="1F2937"/>
                </a:solidFill>
                <a:latin typeface="Calibri"/>
              </a:rPr>
              <a:t>▸  Zo‘raki o‘lim tarkibida zaharlanishlar mexanik jarohatlar va mexanik asfiksiyadan keyin uchinchi o‘rinda turadi.</a:t>
            </a:r>
          </a:p>
          <a:p>
            <a:pPr>
              <a:spcAft>
                <a:spcPts val="1200"/>
              </a:spcAft>
            </a:pPr>
            <a:r>
              <a:rPr sz="2200">
                <a:solidFill>
                  <a:srgbClr val="1F2937"/>
                </a:solidFill>
                <a:latin typeface="Calibri"/>
              </a:rPr>
              <a:t>▸  Alkogolni surunkali iste’mol qilish bilan bog‘liq kardiomiopatiyada o‘lim o‘tkir yurak yetishmovchiligidan bo‘lishi mumkin. Bunda qonda spirt kam yoki umuman bo‘lmasligi mumkin.</a:t>
            </a:r>
          </a:p>
          <a:p>
            <a:pPr>
              <a:spcAft>
                <a:spcPts val="1200"/>
              </a:spcAft>
            </a:pPr>
            <a:r>
              <a:rPr sz="2200">
                <a:solidFill>
                  <a:srgbClr val="1F2937"/>
                </a:solidFill>
                <a:latin typeface="Calibri"/>
              </a:rPr>
              <a:t>▸  Manbada surunkali alkogol intoksikatsiyasining morfologiyasi alohida bo‘lim sifatida berilmagan. Shu sababli avval umumiy toksikologik asos, so‘ng alkogol bo‘yicha ma’lumotlar beriladi.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158, 132, 160, 132-162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 nisbiy tushuncha: oz miqdori sog‘liqni buzadigan yoki o‘limga olib keladigan modda. Mutlaq zahar ham, mutlaq zararsiz modda ham yo‘q.</a:t>
            </a:r>
          </a:p>
          <a:p>
            <a:pPr>
              <a:spcAft>
                <a:spcPts val="1200"/>
              </a:spcAft>
            </a:pPr>
            <a:r>
              <a:rPr sz="2000">
                <a:solidFill>
                  <a:srgbClr val="1F2937"/>
                </a:solidFill>
                <a:latin typeface="Calibri"/>
              </a:rPr>
              <a:t>▸  Paratsels iborasi: faqat doza moddani dori yoki zaharga aylantiradi. Oz miqdordagi modda ta’siridan sog‘liq buzilishi zaharlanish deyiladi.</a:t>
            </a:r>
          </a:p>
          <a:p>
            <a:pPr>
              <a:spcAft>
                <a:spcPts val="1200"/>
              </a:spcAft>
            </a:pPr>
            <a:r>
              <a:rPr sz="2000">
                <a:solidFill>
                  <a:srgbClr val="1F2937"/>
                </a:solidFill>
                <a:latin typeface="Calibri"/>
              </a:rPr>
              <a:t>▸  Toksikologiya zahar va zaharlanishni o‘rganadi. Uning sanoat, qishloq xo‘jaligi, harbiy, oziq-ovqat, maishiy va sud-tibbiy yo‘nalishlari bor.</a:t>
            </a:r>
          </a:p>
          <a:p>
            <a:pPr>
              <a:spcAft>
                <a:spcPts val="1200"/>
              </a:spcAft>
            </a:pPr>
            <a:r>
              <a:rPr sz="2000">
                <a:solidFill>
                  <a:srgbClr val="1F2937"/>
                </a:solidFill>
                <a:latin typeface="Calibri"/>
              </a:rPr>
              <a:t>▸  Diqqat: boshqa yo‘nalishlar sabab, tibbiy yordam va oldini olishni o‘rgansa, sud-tibbiy toksikologiya huquqni muhofaza idoralari vazifalarini hal qiladi. Sud tibbiyoti fan sifatida undan boshlangan.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 turlari: qotillik, o‘z-o‘zini o‘ldirish, baxtsiz hodisa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Hodisa tafsilotiga ko‘ra zaharlanishlar uch xil bo‘ladi: qotillik, o‘z-o‘zini o‘ldirish va baxtsiz hodisa.</a:t>
            </a:r>
          </a:p>
          <a:p>
            <a:pPr>
              <a:spcAft>
                <a:spcPts val="1200"/>
              </a:spcAft>
            </a:pPr>
            <a:r>
              <a:rPr sz="2200">
                <a:solidFill>
                  <a:srgbClr val="1F2937"/>
                </a:solidFill>
                <a:latin typeface="Calibri"/>
              </a:rPr>
              <a:t>▸  Sud-tibbiy ekspertiza ma’lumotlariga ko‘ra aksariyat holat baxtsiz hodisa. Keyingi o‘rinda zaharlanib o‘z-o‘zini o‘ldirish turadi, qotillik kam uchraydi.</a:t>
            </a:r>
          </a:p>
          <a:p>
            <a:pPr>
              <a:spcAft>
                <a:spcPts val="1200"/>
              </a:spcAft>
            </a:pPr>
            <a:r>
              <a:rPr sz="2200">
                <a:solidFill>
                  <a:srgbClr val="1F2937"/>
                </a:solidFill>
                <a:latin typeface="Calibri"/>
              </a:rPr>
              <a:t>▸  Qotillik va o‘z-o‘zini o‘ldirishda zaharlanish qasddan sodir etiladi, baxtsiz hodisada esa tasodifan yuz beradi.</a:t>
            </a:r>
          </a:p>
          <a:p>
            <a:pPr>
              <a:spcAft>
                <a:spcPts val="1200"/>
              </a:spcAft>
            </a:pPr>
            <a:r>
              <a:rPr sz="2200">
                <a:solidFill>
                  <a:srgbClr val="1F2937"/>
                </a:solidFill>
                <a:latin typeface="Calibri"/>
              </a:rPr>
              <a:t>▸  Ayrim tasodifiy zaharlanishlar yatrogen bo‘ladi: tibbiy muolajada dori dozasini belgilashda xato yoki bir dori o‘rniga boshqa moddani ishlatish.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Zaharlanishga ta’sir etuvchi to‘rt omil guruhi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 to‘rt omil guruhiga bog‘liq: modda, organizm, kirish yo‘li va tashqi sharoit.</a:t>
            </a:r>
          </a:p>
          <a:p>
            <a:pPr>
              <a:spcAft>
                <a:spcPts val="800"/>
              </a:spcAft>
            </a:pPr>
            <a:r>
              <a:rPr sz="1800">
                <a:solidFill>
                  <a:srgbClr val="1F2937"/>
                </a:solidFill>
                <a:latin typeface="Calibri"/>
              </a:rPr>
              <a:t>▸  Modda omillari: tuzilishi, miqdori, konsentratsiyasi, agregat holati, eruvchanligi, barqarorligi.</a:t>
            </a:r>
          </a:p>
          <a:p>
            <a:pPr>
              <a:spcAft>
                <a:spcPts val="800"/>
              </a:spcAft>
            </a:pPr>
            <a:r>
              <a:rPr sz="1800">
                <a:solidFill>
                  <a:srgbClr val="1F2937"/>
                </a:solidFill>
                <a:latin typeface="Calibri"/>
              </a:rPr>
              <a:t>▸  Diqqat: is gazi va karbonat angidridi tuzilishi o‘xshash, ammo toksikligi bir xil emas.</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Zaharli modda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 holati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yo‘li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 sharoit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Zaharlanish darajasi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Omillar sxemasi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132-133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omillari: tolerantlik va bog‘liqlik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Tana vazni muhim: bir xil miqdor turli vaznli odamlarda bir xil ta’sir qilmaydi. Bolalar sezgirroq, chunki vazni kichik va qarshilik tizimi to‘liq shakllanmagan.</a:t>
            </a:r>
          </a:p>
          <a:p>
            <a:pPr>
              <a:spcAft>
                <a:spcPts val="1200"/>
              </a:spcAft>
            </a:pPr>
            <a:r>
              <a:rPr sz="2000">
                <a:solidFill>
                  <a:srgbClr val="1F2937"/>
                </a:solidFill>
                <a:latin typeface="Calibri"/>
              </a:rPr>
              <a:t>▸  Sog‘lom organizm zaharga kuchliroq qarshilik ko‘rsatadi; yurak, jigar, buyrak kasalliklarida bu qobiliyat cheklanadi. Genetik xususiyatlar sezgirlikni o‘zgartirishi mumkin.</a:t>
            </a:r>
          </a:p>
          <a:p>
            <a:pPr>
              <a:spcAft>
                <a:spcPts val="1200"/>
              </a:spcAft>
            </a:pPr>
            <a:r>
              <a:rPr sz="2000">
                <a:solidFill>
                  <a:srgbClr val="1F2937"/>
                </a:solidFill>
                <a:latin typeface="Calibri"/>
              </a:rPr>
              <a:t>▸  Takroriy qabulda tolerantlik (o‘rganib qolish) rivojlanadi. Giyohvand moddalarda ruhiy va jismoniy bog‘liqlik, qabul qilinmasa abstinensiya sindromi kuzatiladi.</a:t>
            </a:r>
          </a:p>
          <a:p>
            <a:pPr>
              <a:spcAft>
                <a:spcPts val="1200"/>
              </a:spcAft>
            </a:pPr>
            <a:r>
              <a:rPr sz="2000">
                <a:solidFill>
                  <a:srgbClr val="1F2937"/>
                </a:solidFill>
                <a:latin typeface="Calibri"/>
              </a:rPr>
              <a:t>▸  Alkogolga tolerantlik (asosan surunkali iste’molchilarda) bo‘lsa, spirt qondan tezroq kamayadi: Vidmark konstantasi 0,3-0,4 promillega yetadi.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133-134, 134, 159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Tashqi sharoit va oshqozon tarkibining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Alkogol va is gazi bilan zaharlanishga yopiq, issiq, nam muhit moyillik yaratadi. Ochiq muhit, past harorat va namlik ta’sirni susaytiradi.</a:t>
            </a:r>
          </a:p>
          <a:p>
            <a:pPr>
              <a:spcAft>
                <a:spcPts val="1200"/>
              </a:spcAft>
            </a:pPr>
            <a:r>
              <a:rPr sz="2200">
                <a:solidFill>
                  <a:srgbClr val="1F2937"/>
                </a:solidFill>
                <a:latin typeface="Calibri"/>
              </a:rPr>
              <a:t>▸  Bu omillar faqat ayrim moddalarda ahamiyatli. Kasbiy zaharlanishlarda va vodorod sulfidda cheklangan muhit (masalan, kanalizatsiya quduqlari) muhim.</a:t>
            </a:r>
          </a:p>
          <a:p>
            <a:pPr>
              <a:spcAft>
                <a:spcPts val="1200"/>
              </a:spcAft>
            </a:pPr>
            <a:r>
              <a:rPr sz="2200">
                <a:solidFill>
                  <a:srgbClr val="1F2937"/>
                </a:solidFill>
                <a:latin typeface="Calibri"/>
              </a:rPr>
              <a:t>▸  Oshqozondagi massaning tarkibi va miqdori zaharning ta’sirini o‘zgartiradi, uni vaqtincha yoki doimiy bog‘lab, qonga so‘rilishiga ta’sir qiladi.</a:t>
            </a:r>
          </a:p>
          <a:p>
            <a:pPr>
              <a:spcAft>
                <a:spcPts val="1200"/>
              </a:spcAft>
            </a:pPr>
            <a:r>
              <a:rPr sz="2200">
                <a:solidFill>
                  <a:srgbClr val="1F2937"/>
                </a:solidFill>
                <a:latin typeface="Calibri"/>
              </a:rPr>
              <a:t>▸  Etil spirtida och qoringa ~5% bog‘lanib so‘rilmaydi; to‘la oshqozonda ~40% vaqtincha bog‘lanadi va so‘rilish kechikadi.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134, 157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zaharlanish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zaharlanish vujudga kelishida qaysi to‘rt omil guruhi farqlanadi? Javob: zahar, organizm, kirish yo‘li va tashqi sharoit.</a:t>
            </a:r>
          </a:p>
          <a:p>
            <a:pPr>
              <a:spcAft>
                <a:spcPts val="1200"/>
              </a:spcAft>
            </a:pPr>
            <a:r>
              <a:rPr sz="2200">
                <a:solidFill>
                  <a:srgbClr val="1F2937"/>
                </a:solidFill>
                <a:latin typeface="Calibri"/>
              </a:rPr>
              <a:t>▸  Savol: tolerantlik nima? Javob: moddaning qisqa vaqt oralig‘ida takroran ta’sir etishi natijasida organizmning unga o‘rganib qolishi.</a:t>
            </a:r>
          </a:p>
          <a:p>
            <a:pPr>
              <a:spcAft>
                <a:spcPts val="1200"/>
              </a:spcAft>
            </a:pPr>
            <a:r>
              <a:rPr sz="2200">
                <a:solidFill>
                  <a:srgbClr val="1F2937"/>
                </a:solidFill>
                <a:latin typeface="Calibri"/>
              </a:rPr>
              <a:t>▸  Savol: abstinensiya sindromi qachon paydo bo‘ladi? Javob: ruhiy va jismoniy bog‘liqlik shakllangach, modda qabul qilinmaganda.</a:t>
            </a:r>
          </a:p>
          <a:p>
            <a:pPr>
              <a:spcAft>
                <a:spcPts val="1200"/>
              </a:spcAft>
            </a:pPr>
            <a:r>
              <a:rPr sz="2200">
                <a:solidFill>
                  <a:srgbClr val="1F2937"/>
                </a:solidFill>
                <a:latin typeface="Calibri"/>
              </a:rPr>
              <a:t>▸  Diqqat: xato qilish xavfi. Tolerantlik ≠ idiosinkraziya. Idiosinkraziya moddaga o‘ta sezgirlikdir va genetik xususiyatlar bilan tushuntiriladi.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takroriy qabul va tolerantlik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misoli): shaxs alkogolni uzoq muddat muntazam ichadi, doza oshib boradi. Tibbiy ko‘rik uchun qon namunalari bir necha marta olingan. (?)</a:t>
            </a:r>
          </a:p>
          <a:p>
            <a:pPr>
              <a:spcAft>
                <a:spcPts val="1200"/>
              </a:spcAft>
            </a:pPr>
            <a:r>
              <a:rPr sz="2200">
                <a:solidFill>
                  <a:srgbClr val="1F2937"/>
                </a:solidFill>
                <a:latin typeface="Calibri"/>
              </a:rPr>
              <a:t>▸  Tahlil: alkogolga tolerantlikda Vidmark konstantasi balandroq bo‘ladi, soatiga taxminan 0,3-0,4 promille, ya’ni spirt tezroq kamayadi.</a:t>
            </a:r>
          </a:p>
          <a:p>
            <a:pPr>
              <a:spcAft>
                <a:spcPts val="1200"/>
              </a:spcAft>
            </a:pPr>
            <a:r>
              <a:rPr sz="2200">
                <a:solidFill>
                  <a:srgbClr val="1F2937"/>
                </a:solidFill>
                <a:latin typeface="Calibri"/>
              </a:rPr>
              <a:t>▸  Tolerantlik bilan birga ruhiy va jismoniy bog‘liqlik tufayli moddani ko‘proq qabul qilishga intilish paydo bo‘ladi. Qabul to‘xtasa, abstinensiya kuzatiladi.</a:t>
            </a:r>
          </a:p>
          <a:p>
            <a:pPr>
              <a:spcAft>
                <a:spcPts val="1200"/>
              </a:spcAft>
            </a:pPr>
            <a:r>
              <a:rPr sz="2200">
                <a:solidFill>
                  <a:srgbClr val="1F2937"/>
                </a:solidFill>
                <a:latin typeface="Calibri"/>
              </a:rPr>
              <a:t>▸  Savol: nega bunday shaxsda konstantani individual aniqlash kerak? Imkon bo‘lmasa, o‘rtacha 0,13-0,15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159, 134, 160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sud-tibbiy diagnostikasi: 3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hodisa joyi mutaxassis ishtirokida ko‘riladi, tibbiy hujjatlar bilan tanishiladi.</a:t>
            </a:r>
          </a:p>
          <a:p>
            <a:pPr>
              <a:spcAft>
                <a:spcPts val="800"/>
              </a:spcAft>
            </a:pPr>
            <a:r>
              <a:rPr sz="1800">
                <a:solidFill>
                  <a:srgbClr val="1F2937"/>
                </a:solidFill>
                <a:latin typeface="Calibri"/>
              </a:rPr>
              <a:t>▸  2-bosqich: murdada teri, murda dog‘lari rangi, in’eksiya izi, yot hid va mushak qotishi baholanadi.</a:t>
            </a:r>
          </a:p>
          <a:p>
            <a:pPr>
              <a:spcAft>
                <a:spcPts val="800"/>
              </a:spcAft>
            </a:pPr>
            <a:r>
              <a:rPr sz="1800">
                <a:solidFill>
                  <a:srgbClr val="1F2937"/>
                </a:solidFill>
                <a:latin typeface="Calibri"/>
              </a:rPr>
              <a:t>▸  3-bosqich: sud-kimyoviy tekshiruv eng ko‘p o‘tkaziladi, namuna “uch nuqta” qoidasi bilan olinadi.</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Hodisa joyi va hujjatlar</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Murdaning tashqi-ichki ko‘rigi</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Laboratoriya tekshiruvlari</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Diagnostika zanjiri</a:t>
            </a:r>
          </a:p>
        </p:txBody>
      </p:sp>
      <p:sp>
        <p:nvSpPr>
          <p:cNvPr id="15" name="TextBox 14"/>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136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“Uch nuqta” qoidasi va material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Namunalar “uch nuqta” qoidasi bo‘yicha olinadi: zahar kirgan, asosan ta’sir etgan va organizmdan chiqqan joylardan.</a:t>
            </a:r>
          </a:p>
          <a:p>
            <a:pPr>
              <a:spcAft>
                <a:spcPts val="1200"/>
              </a:spcAft>
            </a:pPr>
            <a:r>
              <a:rPr sz="2200">
                <a:solidFill>
                  <a:srgbClr val="1F2937"/>
                </a:solidFill>
                <a:latin typeface="Calibri"/>
              </a:rPr>
              <a:t>▸  Masalan, zahar og‘iz orqali kirib jigarga ta’sir etsa va siydik bilan chiqsa: oshqozon massasi, jigar bo‘lagi, butun buyrak siydik bilan olinadi.</a:t>
            </a:r>
          </a:p>
          <a:p>
            <a:pPr>
              <a:spcAft>
                <a:spcPts val="1200"/>
              </a:spcAft>
            </a:pPr>
            <a:r>
              <a:rPr sz="2200">
                <a:solidFill>
                  <a:srgbClr val="1F2937"/>
                </a:solidFill>
                <a:latin typeface="Calibri"/>
              </a:rPr>
              <a:t>▸  Zahar noma’lum bo‘lsa: miyaning 1/3, o‘pkaning 1/4, jigarning 1/3 qismi (o‘t qopi, o‘t bilan), butun buyrak siydik bilan, oshqozon massasi, bir metrdan ingichka va yo‘g‘on ichak, 100-200 ml qon (alohida idishda).</a:t>
            </a:r>
          </a:p>
          <a:p>
            <a:pPr>
              <a:spcAft>
                <a:spcPts val="1200"/>
              </a:spcAft>
            </a:pPr>
            <a:r>
              <a:rPr sz="2200">
                <a:solidFill>
                  <a:srgbClr val="1F2937"/>
                </a:solidFill>
                <a:latin typeface="Calibri"/>
              </a:rPr>
              <a:t>▸  Chuqur chirishda ko‘krak va qorin bo‘shliqlari ichki a’zolari aralashmasidan 1,5-2,0 kg “o‘rta sinama”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va 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Toksikokinetika — zaharning kirishi, taqsimlanishi, metabolizmi va chiqarilishi jarayonlari majmui.</a:t>
            </a:r>
          </a:p>
          <a:p>
            <a:pPr>
              <a:spcAft>
                <a:spcPts val="800"/>
              </a:spcAft>
            </a:pPr>
            <a:r>
              <a:rPr sz="1800">
                <a:solidFill>
                  <a:srgbClr val="1F2937"/>
                </a:solidFill>
                <a:latin typeface="Calibri"/>
              </a:rPr>
              <a:t>▸  Biotransformatsiya asosan jigarda; metanol, etanol, etilenglikol metabolitlari ko‘proq zaharli.</a:t>
            </a:r>
          </a:p>
          <a:p>
            <a:pPr>
              <a:spcAft>
                <a:spcPts val="800"/>
              </a:spcAft>
            </a:pPr>
            <a:r>
              <a:rPr sz="1800">
                <a:solidFill>
                  <a:srgbClr val="1F2937"/>
                </a:solidFill>
                <a:latin typeface="Calibri"/>
              </a:rPr>
              <a:t>▸  Toksikodinamika — organizmning zahar va metabolitlariga javob reaksiyalari; toksikokinetikaga bog‘liq.</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Organizmga kirish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Taqsimlanish a’zolarda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Biotransformatsiya (jigar)</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Chiqarilish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Toksikodinamika: javob</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 organizmda yo‘li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136-137, 137, 138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tasnifi: etil spirtining o‘rni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Zaharlar shartli ravishda ikki guruhga bo‘linadi: asosan mahalliy va asosan umumiy ta’sir etuvchilar.</a:t>
            </a:r>
          </a:p>
          <a:p>
            <a:pPr>
              <a:spcAft>
                <a:spcPts val="1200"/>
              </a:spcAft>
            </a:pPr>
            <a:r>
              <a:rPr sz="2200">
                <a:solidFill>
                  <a:srgbClr val="1F2937"/>
                </a:solidFill>
                <a:latin typeface="Calibri"/>
              </a:rPr>
              <a:t>▸  Mahalliy zaharlar (kislota, ishqor, yod tindirmasi, vodorod peroksid, kaliy permanganat) kontakt joyida to‘qima nekrozini chaqiradi.</a:t>
            </a:r>
          </a:p>
          <a:p>
            <a:pPr>
              <a:spcAft>
                <a:spcPts val="1200"/>
              </a:spcAft>
            </a:pPr>
            <a:r>
              <a:rPr sz="2200">
                <a:solidFill>
                  <a:srgbClr val="1F2937"/>
                </a:solidFill>
                <a:latin typeface="Calibri"/>
              </a:rPr>
              <a:t>▸  Umumiy ta’sirlilar qonga so‘rilgach ta’sir qiladi: destruktiv, qon va funksional zaharlar. Funksional zaharlar nerv tizimi faoliyatini buzadi.</a:t>
            </a:r>
          </a:p>
          <a:p>
            <a:pPr>
              <a:spcAft>
                <a:spcPts val="1200"/>
              </a:spcAft>
            </a:pPr>
            <a:r>
              <a:rPr sz="2200">
                <a:solidFill>
                  <a:srgbClr val="1F2937"/>
                </a:solidFill>
                <a:latin typeface="Calibri"/>
              </a:rPr>
              <a:t>▸  Funksional zaharlarning markaziy nerv tizimini (MNT) so‘ndiruvchi guruhiga etil va boshqa spirtlar, uyqu dorilari, trankvilizatorlar kiradi.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138, 138-139, 140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zaharlanishga shubha va diagnostika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Faraz qilaylik, xonada murda topildi, yonida bo‘sh idish va qusuq izlari bor. Alkogol zaharlanishiga shubha qilinadi. Qaysi bosqichda qanday dalil yig‘iladi?</a:t>
            </a:r>
          </a:p>
          <a:p>
            <a:pPr>
              <a:spcAft>
                <a:spcPts val="1200"/>
              </a:spcAft>
            </a:pPr>
            <a:r>
              <a:rPr sz="2000">
                <a:solidFill>
                  <a:srgbClr val="1F2937"/>
                </a:solidFill>
                <a:latin typeface="Calibri"/>
              </a:rPr>
              <a:t>▸  1-bosqich: mutaxassis bilan joyni ko‘zdan kechirish. Yot hid, dori idishlari, shpritslar, ajratma va qusuq e’tiborga olinadi, ashyoviy dalillar olinadi, hujjatlar o‘rganiladi.</a:t>
            </a:r>
          </a:p>
          <a:p>
            <a:pPr>
              <a:spcAft>
                <a:spcPts val="1200"/>
              </a:spcAft>
            </a:pPr>
            <a:r>
              <a:rPr sz="2000">
                <a:solidFill>
                  <a:srgbClr val="1F2937"/>
                </a:solidFill>
                <a:latin typeface="Calibri"/>
              </a:rPr>
              <a:t>▸  2-bosqich: murdaning tashqi va ichki tekshiruvi. Teri va shilliq qavat holati, in’eksiya izlari, yot hid, murda dog‘lari rangi, mushak qotishi baholanadi.</a:t>
            </a:r>
          </a:p>
          <a:p>
            <a:pPr>
              <a:spcAft>
                <a:spcPts val="1200"/>
              </a:spcAft>
            </a:pPr>
            <a:r>
              <a:rPr sz="2000">
                <a:solidFill>
                  <a:srgbClr val="1F2937"/>
                </a:solidFill>
                <a:latin typeface="Calibri"/>
              </a:rPr>
              <a:t>▸  3-bosqich: laboratoriya tekshiruvlari. Eng ko‘p sud-kimyoviy tekshiruv o‘tkaziladi, u sifat va miqdorni aniqlashi kerak. Namuna “uch nuqta” qoidasi bo‘yicha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135-136, 136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 xossalari va narkotik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Etil spirti rangsiz, tiniq, uchuvchan suyuqlik. O‘ziga xos hidi va kuydiruvchi mazasi bor.</a:t>
            </a:r>
          </a:p>
          <a:p>
            <a:pPr>
              <a:spcAft>
                <a:spcPts val="1200"/>
              </a:spcAft>
            </a:pPr>
            <a:r>
              <a:rPr sz="2200">
                <a:solidFill>
                  <a:srgbClr val="1F2937"/>
                </a:solidFill>
                <a:latin typeface="Calibri"/>
              </a:rPr>
              <a:t>▸  Narkotik ta’siri bosh miya po‘stlog‘ining tormozlanishiga bog‘liq. Natijada po‘stloq osti markazlari nazorati susayib, ularda qo‘zg‘alish kuzatiladi.</a:t>
            </a:r>
          </a:p>
          <a:p>
            <a:pPr>
              <a:spcAft>
                <a:spcPts val="1200"/>
              </a:spcAft>
            </a:pPr>
            <a:r>
              <a:rPr sz="2200">
                <a:solidFill>
                  <a:srgbClr val="1F2937"/>
                </a:solidFill>
                <a:latin typeface="Calibri"/>
              </a:rPr>
              <a:t>▸  Ko‘p miqdorda tormozlanish po‘stloq osti, uzunchoq miya va miyachaga o‘tadi. Toksik ta’sir nafas hamda yurak-qon tomir markazlari buzilishida namoyon bo‘ladi.</a:t>
            </a:r>
          </a:p>
          <a:p>
            <a:pPr>
              <a:spcAft>
                <a:spcPts val="1200"/>
              </a:spcAft>
            </a:pPr>
            <a:r>
              <a:rPr sz="2200">
                <a:solidFill>
                  <a:srgbClr val="1F2937"/>
                </a:solidFill>
                <a:latin typeface="Calibri"/>
              </a:rPr>
              <a:t>▸  Diqqat: qo‘zg‘alish spirtning o‘zi chaqirgan emas, po‘stloq tormozlanishi oqibati. Etil spirtining letal dozasi 250-300 ml.</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Endogen alkogol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Organizmda odatda endogen alkogol bo‘ladi. Turli manbalarga ko‘ra uning konsentratsiyasi 0,3-0,4 promillegacha yetishi mumkin.</a:t>
            </a:r>
          </a:p>
          <a:p>
            <a:pPr>
              <a:spcAft>
                <a:spcPts val="1200"/>
              </a:spcAft>
            </a:pPr>
            <a:r>
              <a:rPr sz="2200">
                <a:solidFill>
                  <a:srgbClr val="1F2937"/>
                </a:solidFill>
                <a:latin typeface="Calibri"/>
              </a:rPr>
              <a:t>▸  U energiya manbai bo‘lib, stress holatlari bilan kurashish va turli ta’sir, sharoitlarga moslashish uchun kerak.</a:t>
            </a:r>
          </a:p>
          <a:p>
            <a:pPr>
              <a:spcAft>
                <a:spcPts val="1200"/>
              </a:spcAft>
            </a:pPr>
            <a:r>
              <a:rPr sz="2200">
                <a:solidFill>
                  <a:srgbClr val="1F2937"/>
                </a:solidFill>
                <a:latin typeface="Calibri"/>
              </a:rPr>
              <a:t>▸  Kuchli ruhiy ta’sirlanish, travma, sovuq yeyish va jismoniy zo‘riqishda miqdori kamayadi. Ijobiy emotsiya va gipoksiyada, aksincha, ko‘payadi.</a:t>
            </a:r>
          </a:p>
          <a:p>
            <a:pPr>
              <a:spcAft>
                <a:spcPts val="1200"/>
              </a:spcAft>
            </a:pPr>
            <a:r>
              <a:rPr sz="2200">
                <a:solidFill>
                  <a:srgbClr val="1F2937"/>
                </a:solidFill>
                <a:latin typeface="Calibri"/>
              </a:rPr>
              <a:t>▸  Qandli diabet, surunkali obstruktiv bronxit, markaziy nerv tizimi (MNT), jigar va buyrakning ayrim kasalliklarida miqdori odatdagidan ko‘p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156, 156-157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So‘rilish: oshqozon, ichak va bog‘lanish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Etil spirtining taxminan 20% oshqozonda, 80% ichakda qonga so‘riladi.</a:t>
            </a:r>
          </a:p>
          <a:p>
            <a:pPr>
              <a:spcAft>
                <a:spcPts val="800"/>
              </a:spcAft>
            </a:pPr>
            <a:r>
              <a:rPr sz="1800">
                <a:solidFill>
                  <a:srgbClr val="1F2937"/>
                </a:solidFill>
                <a:latin typeface="Calibri"/>
              </a:rPr>
              <a:t>▸  Qonga so‘rilgan sari uning qondagi konsentratsiyasi ko‘tarila boshlaydi.</a:t>
            </a:r>
          </a:p>
          <a:p>
            <a:pPr>
              <a:spcAft>
                <a:spcPts val="800"/>
              </a:spcAft>
            </a:pPr>
            <a:r>
              <a:rPr sz="1800">
                <a:solidFill>
                  <a:srgbClr val="1F2937"/>
                </a:solidFill>
                <a:latin typeface="Calibri"/>
              </a:rPr>
              <a:t>▸  Diqqat: doimiy defitsit tiklanmaydi, vaqtincha defitsit esa so‘rilishni faqat kechiktiradi.</a:t>
            </a:r>
          </a:p>
        </p:txBody>
      </p:sp>
      <p:graphicFrame>
        <p:nvGraphicFramePr>
          <p:cNvPr id="9" name="Table 8"/>
          <p:cNvGraphicFramePr>
            <a:graphicFrameLocks noGrp="1"/>
          </p:cNvGraphicFramePr>
          <p:nvPr/>
        </p:nvGraphicFramePr>
        <p:xfrm>
          <a:off x="6263640" y="1463040"/>
          <a:ext cx="5287974" cy="1234440"/>
        </p:xfrm>
        <a:graphic>
          <a:graphicData uri="http://schemas.openxmlformats.org/drawingml/2006/table">
            <a:tbl>
              <a:tblPr firstRow="1" bandRow="1">
                <a:tableStyleId>{5C22544A-7EE6-4342-B048-85BDC9FD1C3A}</a:tableStyleId>
              </a:tblPr>
              <a:tblGrid>
                <a:gridCol w="1301655"/>
                <a:gridCol w="1627069"/>
                <a:gridCol w="2359250"/>
              </a:tblGrid>
              <a:tr h="411480">
                <a:tc>
                  <a:txBody>
                    <a:bodyPr/>
                    <a:lstStyle/>
                    <a:p>
                      <a:r>
                        <a:rPr sz="1300" b="1">
                          <a:solidFill>
                            <a:srgbClr val="FFFFFF"/>
                          </a:solidFill>
                        </a:rPr>
                        <a:t>Holat</a:t>
                      </a:r>
                    </a:p>
                  </a:txBody>
                  <a:tcPr marL="73152" marR="73152" marT="36576" marB="36576">
                    <a:solidFill>
                      <a:srgbClr val="0B1F3A"/>
                    </a:solidFill>
                  </a:tcPr>
                </a:tc>
                <a:tc>
                  <a:txBody>
                    <a:bodyPr/>
                    <a:lstStyle/>
                    <a:p>
                      <a:r>
                        <a:rPr sz="1300" b="1">
                          <a:solidFill>
                            <a:srgbClr val="FFFFFF"/>
                          </a:solidFill>
                        </a:rPr>
                        <a:t>Qonga o‘tmaydi</a:t>
                      </a:r>
                    </a:p>
                  </a:txBody>
                  <a:tcPr marL="73152" marR="73152" marT="36576" marB="36576">
                    <a:solidFill>
                      <a:srgbClr val="0B1F3A"/>
                    </a:solidFill>
                  </a:tcPr>
                </a:tc>
                <a:tc>
                  <a:txBody>
                    <a:bodyPr/>
                    <a:lstStyle/>
                    <a:p>
                      <a:r>
                        <a:rPr sz="1300" b="1">
                          <a:solidFill>
                            <a:srgbClr val="FFFFFF"/>
                          </a:solidFill>
                        </a:rPr>
                        <a:t>Defitsit turi</a:t>
                      </a:r>
                    </a:p>
                  </a:txBody>
                  <a:tcPr marL="73152" marR="73152" marT="36576" marB="36576">
                    <a:solidFill>
                      <a:srgbClr val="0B1F3A"/>
                    </a:solidFill>
                  </a:tcPr>
                </a:tc>
              </a:tr>
              <a:tr h="411480">
                <a:tc>
                  <a:txBody>
                    <a:bodyPr/>
                    <a:lstStyle/>
                    <a:p>
                      <a:r>
                        <a:rPr sz="1200" b="0">
                          <a:solidFill>
                            <a:srgbClr val="1F2937"/>
                          </a:solidFill>
                        </a:rPr>
                        <a:t>Och qoringa</a:t>
                      </a:r>
                    </a:p>
                  </a:txBody>
                  <a:tcPr marL="73152" marR="73152" marT="36576" marB="36576">
                    <a:solidFill>
                      <a:srgbClr val="E8EEF6"/>
                    </a:solidFill>
                  </a:tcPr>
                </a:tc>
                <a:tc>
                  <a:txBody>
                    <a:bodyPr/>
                    <a:lstStyle/>
                    <a:p>
                      <a:r>
                        <a:rPr sz="1200" b="0">
                          <a:solidFill>
                            <a:srgbClr val="1F2937"/>
                          </a:solidFill>
                        </a:rPr>
                        <a:t>~5%</a:t>
                      </a:r>
                    </a:p>
                  </a:txBody>
                  <a:tcPr marL="73152" marR="73152" marT="36576" marB="36576">
                    <a:solidFill>
                      <a:srgbClr val="E8EEF6"/>
                    </a:solidFill>
                  </a:tcPr>
                </a:tc>
                <a:tc>
                  <a:txBody>
                    <a:bodyPr/>
                    <a:lstStyle/>
                    <a:p>
                      <a:r>
                        <a:rPr sz="1200" b="0">
                          <a:solidFill>
                            <a:srgbClr val="1F2937"/>
                          </a:solidFill>
                        </a:rPr>
                        <a:t>Doimiy (tiklanmaydi)</a:t>
                      </a:r>
                    </a:p>
                  </a:txBody>
                  <a:tcPr marL="73152" marR="73152" marT="36576" marB="36576">
                    <a:solidFill>
                      <a:srgbClr val="E8EEF6"/>
                    </a:solidFill>
                  </a:tcPr>
                </a:tc>
              </a:tr>
              <a:tr h="411480">
                <a:tc>
                  <a:txBody>
                    <a:bodyPr/>
                    <a:lstStyle/>
                    <a:p>
                      <a:r>
                        <a:rPr sz="1200" b="0">
                          <a:solidFill>
                            <a:srgbClr val="1F2937"/>
                          </a:solidFill>
                        </a:rPr>
                        <a:t>To‘la oshqozon</a:t>
                      </a:r>
                    </a:p>
                  </a:txBody>
                  <a:tcPr marL="73152" marR="73152" marT="36576" marB="36576">
                    <a:solidFill>
                      <a:srgbClr val="FFFFFF"/>
                    </a:solidFill>
                  </a:tcPr>
                </a:tc>
                <a:tc>
                  <a:txBody>
                    <a:bodyPr/>
                    <a:lstStyle/>
                    <a:p>
                      <a:r>
                        <a:rPr sz="1200" b="0">
                          <a:solidFill>
                            <a:srgbClr val="1F2937"/>
                          </a:solidFill>
                        </a:rPr>
                        <a:t>~40%</a:t>
                      </a:r>
                    </a:p>
                  </a:txBody>
                  <a:tcPr marL="73152" marR="73152" marT="36576" marB="36576">
                    <a:solidFill>
                      <a:srgbClr val="FFFFFF"/>
                    </a:solidFill>
                  </a:tcPr>
                </a:tc>
                <a:tc>
                  <a:txBody>
                    <a:bodyPr/>
                    <a:lstStyle/>
                    <a:p>
                      <a:r>
                        <a:rPr sz="1200" b="0">
                          <a:solidFill>
                            <a:srgbClr val="1F2937"/>
                          </a:solidFill>
                        </a:rPr>
                        <a:t>Vaqtincha (kechroq so‘riladi)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Oshqozon holati va bog‘lanish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157, 137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Rezorbsiya va eliminatsiya davrlari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Rezorbsiya (so‘rilish) davri odatda 1–2 soat davom etadi, so‘ngra ajralish (eliminatsiya) davri keladi.</a:t>
            </a:r>
          </a:p>
          <a:p>
            <a:pPr>
              <a:spcAft>
                <a:spcPts val="1200"/>
              </a:spcAft>
            </a:pPr>
            <a:r>
              <a:rPr sz="2200">
                <a:solidFill>
                  <a:srgbClr val="1F2937"/>
                </a:solidFill>
                <a:latin typeface="Calibri"/>
              </a:rPr>
              <a:t>▸  Qisqartiradi: bo‘sh oshqozon, gipoatsid gastrit, kuchli modda almashinuvi (tireotoksikoz), giperkapniya.</a:t>
            </a:r>
          </a:p>
          <a:p>
            <a:pPr>
              <a:spcAft>
                <a:spcPts val="1200"/>
              </a:spcAft>
            </a:pPr>
            <a:r>
              <a:rPr sz="2200">
                <a:solidFill>
                  <a:srgbClr val="1F2937"/>
                </a:solidFill>
                <a:latin typeface="Calibri"/>
              </a:rPr>
              <a:t>▸  Uzaytiradi: to‘la oshqozon, giperatsid gastrit va stress (pilorik qism spazmi, motor funksiyaning susayishi).</a:t>
            </a:r>
          </a:p>
          <a:p>
            <a:pPr>
              <a:spcAft>
                <a:spcPts val="1200"/>
              </a:spcAft>
            </a:pPr>
            <a:r>
              <a:rPr sz="2200">
                <a:solidFill>
                  <a:srgbClr val="1F2937"/>
                </a:solidFill>
                <a:latin typeface="Calibri"/>
              </a:rPr>
              <a:t>▸  Spirtning taxminan 90% i organizmda o‘zlashtiriladi, qolgani siydik va o‘pka orqali o‘zgarmagan holda chiqariladi.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toksikokinetika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so‘rilish ulushi oshqozonda va ichakda qancha? Javob: oshqozonda 20%, ichakda 80%.</a:t>
            </a:r>
          </a:p>
          <a:p>
            <a:pPr>
              <a:spcAft>
                <a:spcPts val="1200"/>
              </a:spcAft>
            </a:pPr>
            <a:r>
              <a:rPr sz="2200">
                <a:solidFill>
                  <a:srgbClr val="1F2937"/>
                </a:solidFill>
                <a:latin typeface="Calibri"/>
              </a:rPr>
              <a:t>▸  Savol: rezorbsiya davri odatda qancha davom etadi? Javob: 1–2 soat.</a:t>
            </a:r>
          </a:p>
          <a:p>
            <a:pPr>
              <a:spcAft>
                <a:spcPts val="1200"/>
              </a:spcAft>
            </a:pPr>
            <a:r>
              <a:rPr sz="2200">
                <a:solidFill>
                  <a:srgbClr val="1F2937"/>
                </a:solidFill>
                <a:latin typeface="Calibri"/>
              </a:rPr>
              <a:t>▸  Savol: to‘la oshqozonda spirtning qancha qismi vaqtincha bog‘lanadi? Javob: taxminan 40%.</a:t>
            </a:r>
          </a:p>
          <a:p>
            <a:pPr>
              <a:spcAft>
                <a:spcPts val="1200"/>
              </a:spcAft>
            </a:pPr>
            <a:r>
              <a:rPr sz="2200">
                <a:solidFill>
                  <a:srgbClr val="1F2937"/>
                </a:solidFill>
                <a:latin typeface="Calibri"/>
              </a:rPr>
              <a:t>▸  Savol: spirt qaysi bezlar orqali ham chiqariladi? Javob: sut va so‘lak bezlari orqali.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157, 138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 metabolizmi: ikki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Birinchi bosqich: alkogoldegidrogenaza etanolni atsetaldegidga aylantiradi; ferment jigarda eng faol.</a:t>
            </a:r>
          </a:p>
          <a:p>
            <a:pPr>
              <a:spcAft>
                <a:spcPts val="800"/>
              </a:spcAft>
            </a:pPr>
            <a:r>
              <a:rPr sz="1800">
                <a:solidFill>
                  <a:srgbClr val="1F2937"/>
                </a:solidFill>
                <a:latin typeface="Calibri"/>
              </a:rPr>
              <a:t>▸  Skelet mushaklaridagi katalaza ham ishtirok etadi; jigarda ferment yetishmasa, uning ulushi ortadi.</a:t>
            </a:r>
          </a:p>
          <a:p>
            <a:pPr>
              <a:spcAft>
                <a:spcPts val="800"/>
              </a:spcAft>
            </a:pPr>
            <a:r>
              <a:rPr sz="1800">
                <a:solidFill>
                  <a:srgbClr val="1F2937"/>
                </a:solidFill>
                <a:latin typeface="Calibri"/>
              </a:rPr>
              <a:t>▸  Ikkinchi bosqich: mitoxondriyada aldegiddegidrogenaza atsetaldegidni sirka kislotasiga oksidlaydi.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Etil spirti (etanol)</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Alkogoldegidrogenaza (jigar)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Atsetaldegid (toksik)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Aldegiddegidrogenaza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Sirka kislotasi → suv va CO2</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Etanol oksidlanish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Atsetaldegid toksikligi va atipik fermentlar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Atsetaldegid toksik: MNT (markaziy nerv tizimi), nafas va yurak-qon tomir tizimlari faoliyatini buzadi.</a:t>
            </a:r>
          </a:p>
          <a:p>
            <a:pPr>
              <a:spcAft>
                <a:spcPts val="1200"/>
              </a:spcAft>
            </a:pPr>
            <a:r>
              <a:rPr sz="2200">
                <a:solidFill>
                  <a:srgbClr val="1F2937"/>
                </a:solidFill>
                <a:latin typeface="Calibri"/>
              </a:rPr>
              <a:t>▸  Alomatlar: bosh og‘rig‘i, holsizlik, ko‘ngil aynishi, qusish, bosimning ko‘tarilishi, taxikardiya, ba’zan gallyusinatsiyalar — “poxmele” sindromi.</a:t>
            </a:r>
          </a:p>
          <a:p>
            <a:pPr>
              <a:spcAft>
                <a:spcPts val="1200"/>
              </a:spcAft>
            </a:pPr>
            <a:r>
              <a:rPr sz="2200">
                <a:solidFill>
                  <a:srgbClr val="1F2937"/>
                </a:solidFill>
                <a:latin typeface="Calibri"/>
              </a:rPr>
              <a:t>▸  Ayrim shaxslarda fermentlarning atipik shakli bor: alkogoldegidrogenaza faolligi juda baland, aldegiddegidrogenaza esa yetishmaydi.</a:t>
            </a:r>
          </a:p>
          <a:p>
            <a:pPr>
              <a:spcAft>
                <a:spcPts val="1200"/>
              </a:spcAft>
            </a:pPr>
            <a:r>
              <a:rPr sz="2200">
                <a:solidFill>
                  <a:srgbClr val="1F2937"/>
                </a:solidFill>
                <a:latin typeface="Calibri"/>
              </a:rPr>
              <a:t>▸  Natijada organizmda atsetaldegid tez to‘planadi va intoksikatsiya kuchli kechadi.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past konsentratsiya, og‘ir holat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Faraz qilaylik: shaxs spirtli ichimlik ichgan, qonida spirt juda baland emas, lekin kuchli intoksikatsiya alomatlari bor.</a:t>
            </a:r>
          </a:p>
          <a:p>
            <a:pPr>
              <a:spcAft>
                <a:spcPts val="1200"/>
              </a:spcAft>
            </a:pPr>
            <a:r>
              <a:rPr sz="2200">
                <a:solidFill>
                  <a:srgbClr val="1F2937"/>
                </a:solidFill>
                <a:latin typeface="Calibri"/>
              </a:rPr>
              <a:t>▸  Manbaga ko‘ra, bunday xususiyatli shaxslarda qonda spirt juda baland bo‘lmasa ham, kuchli intoksikatsiya, ba’zan o‘lim ham yuz berishi mumkin.</a:t>
            </a:r>
          </a:p>
          <a:p>
            <a:pPr>
              <a:spcAft>
                <a:spcPts val="1200"/>
              </a:spcAft>
            </a:pPr>
            <a:r>
              <a:rPr sz="2200">
                <a:solidFill>
                  <a:srgbClr val="1F2937"/>
                </a:solidFill>
                <a:latin typeface="Calibri"/>
              </a:rPr>
              <a:t>▸  Tahlil: alkogoldegidrogenaza faolligi baland, aldegiddegidrogenaza yetishmaydi, shuning uchun atsetaldegid tez to‘planadi.</a:t>
            </a:r>
          </a:p>
          <a:p>
            <a:pPr>
              <a:spcAft>
                <a:spcPts val="1200"/>
              </a:spcAft>
            </a:pPr>
            <a:r>
              <a:rPr sz="2200">
                <a:solidFill>
                  <a:srgbClr val="1F2937"/>
                </a:solidFill>
                <a:latin typeface="Calibri"/>
              </a:rPr>
              <a:t>▸  Savol: nega bunday holatda faqat qondagi spirt miqdoriga qarab xulosa qilish noto‘g‘ri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ko‘rinish va “alkogol bilan bog‘liq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Avval bosh miya po‘stlog‘i tormozlanadi: eyforiya va psixo-motor qo‘zg‘alish kuzatiladi.</a:t>
            </a:r>
          </a:p>
          <a:p>
            <a:pPr>
              <a:spcAft>
                <a:spcPts val="1200"/>
              </a:spcAft>
            </a:pPr>
            <a:r>
              <a:rPr sz="2200">
                <a:solidFill>
                  <a:srgbClr val="1F2937"/>
                </a:solidFill>
                <a:latin typeface="Calibri"/>
              </a:rPr>
              <a:t>▸  Keyin uyquchanlik, harakat va nutq buzilishi qo‘shiladi. Ko‘p miqdorda ko‘ngil aynishi, qusish va ba’zan koma rivojlanadi.</a:t>
            </a:r>
          </a:p>
          <a:p>
            <a:pPr>
              <a:spcAft>
                <a:spcPts val="1200"/>
              </a:spcAft>
            </a:pPr>
            <a:r>
              <a:rPr sz="2200">
                <a:solidFill>
                  <a:srgbClr val="1F2937"/>
                </a:solidFill>
                <a:latin typeface="Calibri"/>
              </a:rPr>
              <a:t>▸  Zaharlanishdan o‘lim holatlari ichida etil spirtidan zaharlanish yetakchi o‘rinni egallaydi. Mastlik o‘limga bilvosita moyillik yaratadi.</a:t>
            </a:r>
          </a:p>
          <a:p>
            <a:pPr>
              <a:spcAft>
                <a:spcPts val="1200"/>
              </a:spcAft>
            </a:pPr>
            <a:r>
              <a:rPr sz="2200">
                <a:solidFill>
                  <a:srgbClr val="1F2937"/>
                </a:solidFill>
                <a:latin typeface="Calibri"/>
              </a:rPr>
              <a:t>▸  Shu sababli “alkogol bilan bog‘liq o‘lim” tushunchasi kiritilgan. Jahon sog‘liqni saqlash tashkiloti (JSST) bo‘yicha so‘nggi yillarda 2,5 millionga yaqin holat.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Mastlik darajalari va zaharlanish chegarasi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Mastlik darajasi asosan qondagi spirt konsentratsiyasi (promille) bo‘yicha aniqlanadi.</a:t>
            </a:r>
          </a:p>
          <a:p>
            <a:pPr>
              <a:spcAft>
                <a:spcPts val="800"/>
              </a:spcAft>
            </a:pPr>
            <a:r>
              <a:rPr sz="1800">
                <a:solidFill>
                  <a:srgbClr val="1F2937"/>
                </a:solidFill>
                <a:latin typeface="Calibri"/>
              </a:rPr>
              <a:t>▸  Murdadan olingan qonda 5,0 promille va undan ko‘p bo‘lsa, o‘lim sababi etil spirti bilan o‘tkir zaharlanish.</a:t>
            </a:r>
          </a:p>
          <a:p>
            <a:pPr>
              <a:spcAft>
                <a:spcPts val="800"/>
              </a:spcAft>
            </a:pPr>
            <a:r>
              <a:rPr sz="1800">
                <a:solidFill>
                  <a:srgbClr val="1F2937"/>
                </a:solidFill>
                <a:latin typeface="Calibri"/>
              </a:rPr>
              <a:t>▸  Yuqori molekulyar spirtlar bo‘lsa, o‘lim 4,0 promilledan past qiymatda ham yuz berishi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Promille</a:t>
                      </a:r>
                    </a:p>
                  </a:txBody>
                  <a:tcPr marL="73152" marR="73152" marT="36576" marB="36576">
                    <a:solidFill>
                      <a:srgbClr val="0B1F3A"/>
                    </a:solidFill>
                  </a:tcPr>
                </a:tc>
                <a:tc>
                  <a:txBody>
                    <a:bodyPr/>
                    <a:lstStyle/>
                    <a:p>
                      <a:r>
                        <a:rPr sz="1400" b="1">
                          <a:solidFill>
                            <a:srgbClr val="FFFFFF"/>
                          </a:solidFill>
                        </a:rPr>
                        <a:t>Baho</a:t>
                      </a:r>
                    </a:p>
                  </a:txBody>
                  <a:tcPr marL="73152" marR="73152" marT="36576" marB="36576">
                    <a:solidFill>
                      <a:srgbClr val="0B1F3A"/>
                    </a:solidFill>
                  </a:tcPr>
                </a:tc>
              </a:tr>
              <a:tr h="411480">
                <a:tc>
                  <a:txBody>
                    <a:bodyPr/>
                    <a:lstStyle/>
                    <a:p>
                      <a:r>
                        <a:rPr sz="1300" b="0">
                          <a:solidFill>
                            <a:srgbClr val="1F2937"/>
                          </a:solidFill>
                        </a:rPr>
                        <a:t>0,5–1,5</a:t>
                      </a:r>
                    </a:p>
                  </a:txBody>
                  <a:tcPr marL="73152" marR="73152" marT="36576" marB="36576">
                    <a:solidFill>
                      <a:srgbClr val="E8EEF6"/>
                    </a:solidFill>
                  </a:tcPr>
                </a:tc>
                <a:tc>
                  <a:txBody>
                    <a:bodyPr/>
                    <a:lstStyle/>
                    <a:p>
                      <a:r>
                        <a:rPr sz="1300" b="0">
                          <a:solidFill>
                            <a:srgbClr val="1F2937"/>
                          </a:solidFill>
                        </a:rPr>
                        <a:t>Yengil mastlik</a:t>
                      </a:r>
                    </a:p>
                  </a:txBody>
                  <a:tcPr marL="73152" marR="73152" marT="36576" marB="36576">
                    <a:solidFill>
                      <a:srgbClr val="E8EEF6"/>
                    </a:solidFill>
                  </a:tcPr>
                </a:tc>
              </a:tr>
              <a:tr h="411480">
                <a:tc>
                  <a:txBody>
                    <a:bodyPr/>
                    <a:lstStyle/>
                    <a:p>
                      <a:r>
                        <a:rPr sz="1300" b="0">
                          <a:solidFill>
                            <a:srgbClr val="1F2937"/>
                          </a:solidFill>
                        </a:rPr>
                        <a:t>1,5–2,5</a:t>
                      </a:r>
                    </a:p>
                  </a:txBody>
                  <a:tcPr marL="73152" marR="73152" marT="36576" marB="36576">
                    <a:solidFill>
                      <a:srgbClr val="FFFFFF"/>
                    </a:solidFill>
                  </a:tcPr>
                </a:tc>
                <a:tc>
                  <a:txBody>
                    <a:bodyPr/>
                    <a:lstStyle/>
                    <a:p>
                      <a:r>
                        <a:rPr sz="1300" b="0">
                          <a:solidFill>
                            <a:srgbClr val="1F2937"/>
                          </a:solidFill>
                        </a:rPr>
                        <a:t>O‘rta mastlik</a:t>
                      </a:r>
                    </a:p>
                  </a:txBody>
                  <a:tcPr marL="73152" marR="73152" marT="36576" marB="36576">
                    <a:solidFill>
                      <a:srgbClr val="FFFFFF"/>
                    </a:solidFill>
                  </a:tcPr>
                </a:tc>
              </a:tr>
              <a:tr h="411480">
                <a:tc>
                  <a:txBody>
                    <a:bodyPr/>
                    <a:lstStyle/>
                    <a:p>
                      <a:r>
                        <a:rPr sz="1300" b="0">
                          <a:solidFill>
                            <a:srgbClr val="1F2937"/>
                          </a:solidFill>
                        </a:rPr>
                        <a:t>2,5–3,0</a:t>
                      </a:r>
                    </a:p>
                  </a:txBody>
                  <a:tcPr marL="73152" marR="73152" marT="36576" marB="36576">
                    <a:solidFill>
                      <a:srgbClr val="E8EEF6"/>
                    </a:solidFill>
                  </a:tcPr>
                </a:tc>
                <a:tc>
                  <a:txBody>
                    <a:bodyPr/>
                    <a:lstStyle/>
                    <a:p>
                      <a:r>
                        <a:rPr sz="1300" b="0">
                          <a:solidFill>
                            <a:srgbClr val="1F2937"/>
                          </a:solidFill>
                        </a:rPr>
                        <a:t>Kuchli mastlik</a:t>
                      </a:r>
                    </a:p>
                  </a:txBody>
                  <a:tcPr marL="73152" marR="73152" marT="36576" marB="36576">
                    <a:solidFill>
                      <a:srgbClr val="E8EEF6"/>
                    </a:solidFill>
                  </a:tcPr>
                </a:tc>
              </a:tr>
              <a:tr h="411480">
                <a:tc>
                  <a:txBody>
                    <a:bodyPr/>
                    <a:lstStyle/>
                    <a:p>
                      <a:r>
                        <a:rPr sz="1300" b="0">
                          <a:solidFill>
                            <a:srgbClr val="1F2937"/>
                          </a:solidFill>
                        </a:rPr>
                        <a:t>3,0 dan yuqori</a:t>
                      </a:r>
                    </a:p>
                  </a:txBody>
                  <a:tcPr marL="73152" marR="73152" marT="36576" marB="36576">
                    <a:solidFill>
                      <a:srgbClr val="FFFFFF"/>
                    </a:solidFill>
                  </a:tcPr>
                </a:tc>
                <a:tc>
                  <a:txBody>
                    <a:bodyPr/>
                    <a:lstStyle/>
                    <a:p>
                      <a:r>
                        <a:rPr sz="1300" b="0">
                          <a:solidFill>
                            <a:srgbClr val="1F2937"/>
                          </a:solidFill>
                        </a:rPr>
                        <a:t>Zaharlanish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Mastlik darajalari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spirtini sifat aniqlash: Rappoport va Moxov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Ikkala sinama chiqarilgan havodagi alkogolning oksidlanib, atsetaldegidga aylanishiga asoslangan.</a:t>
            </a:r>
          </a:p>
          <a:p>
            <a:pPr>
              <a:spcAft>
                <a:spcPts val="800"/>
              </a:spcAft>
            </a:pPr>
            <a:r>
              <a:rPr sz="1800">
                <a:solidFill>
                  <a:srgbClr val="1F2937"/>
                </a:solidFill>
                <a:latin typeface="Calibri"/>
              </a:rPr>
              <a:t>▸  Sezgir: qonda 0,3–0,4 promille alkogolni ham payqaydi, soxta manfiy natija bermaydi.</a:t>
            </a:r>
          </a:p>
          <a:p>
            <a:pPr>
              <a:spcAft>
                <a:spcPts val="800"/>
              </a:spcAft>
            </a:pPr>
            <a:r>
              <a:rPr sz="1800">
                <a:solidFill>
                  <a:srgbClr val="1F2937"/>
                </a:solidFill>
                <a:latin typeface="Calibri"/>
              </a:rPr>
              <a:t>▸  Tish kariesi, o‘pkaning surunkali kasalliklari va qandli diabetda soxta musbat natija bo‘lishi mumkin.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95383"/>
                <a:gridCol w="2115190"/>
                <a:gridCol w="2177401"/>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Rappoport</a:t>
                      </a:r>
                    </a:p>
                  </a:txBody>
                  <a:tcPr marL="73152" marR="73152" marT="36576" marB="36576">
                    <a:solidFill>
                      <a:srgbClr val="0B1F3A"/>
                    </a:solidFill>
                  </a:tcPr>
                </a:tc>
                <a:tc>
                  <a:txBody>
                    <a:bodyPr/>
                    <a:lstStyle/>
                    <a:p>
                      <a:r>
                        <a:rPr sz="1300" b="1">
                          <a:solidFill>
                            <a:srgbClr val="FFFFFF"/>
                          </a:solidFill>
                        </a:rPr>
                        <a:t>Moxov sinamasi</a:t>
                      </a:r>
                    </a:p>
                  </a:txBody>
                  <a:tcPr marL="73152" marR="73152" marT="36576" marB="36576">
                    <a:solidFill>
                      <a:srgbClr val="0B1F3A"/>
                    </a:solidFill>
                  </a:tcPr>
                </a:tc>
              </a:tr>
              <a:tr h="411480">
                <a:tc>
                  <a:txBody>
                    <a:bodyPr/>
                    <a:lstStyle/>
                    <a:p>
                      <a:r>
                        <a:rPr sz="1200" b="0">
                          <a:solidFill>
                            <a:srgbClr val="1F2937"/>
                          </a:solidFill>
                        </a:rPr>
                        <a:t>Reaktiv</a:t>
                      </a:r>
                    </a:p>
                  </a:txBody>
                  <a:tcPr marL="73152" marR="73152" marT="36576" marB="36576">
                    <a:solidFill>
                      <a:srgbClr val="E8EEF6"/>
                    </a:solidFill>
                  </a:tcPr>
                </a:tc>
                <a:tc>
                  <a:txBody>
                    <a:bodyPr/>
                    <a:lstStyle/>
                    <a:p>
                      <a:r>
                        <a:rPr sz="1200" b="0">
                          <a:solidFill>
                            <a:srgbClr val="1F2937"/>
                          </a:solidFill>
                        </a:rPr>
                        <a:t>Sulfat kislota + kaliy permanganat</a:t>
                      </a:r>
                    </a:p>
                  </a:txBody>
                  <a:tcPr marL="73152" marR="73152" marT="36576" marB="36576">
                    <a:solidFill>
                      <a:srgbClr val="E8EEF6"/>
                    </a:solidFill>
                  </a:tcPr>
                </a:tc>
                <a:tc>
                  <a:txBody>
                    <a:bodyPr/>
                    <a:lstStyle/>
                    <a:p>
                      <a:r>
                        <a:rPr sz="1200" b="0">
                          <a:solidFill>
                            <a:srgbClr val="1F2937"/>
                          </a:solidFill>
                        </a:rPr>
                        <a:t>Bixromat kislotasi + sulfat kislota</a:t>
                      </a:r>
                    </a:p>
                  </a:txBody>
                  <a:tcPr marL="73152" marR="73152" marT="36576" marB="36576">
                    <a:solidFill>
                      <a:srgbClr val="E8EEF6"/>
                    </a:solidFill>
                  </a:tcPr>
                </a:tc>
              </a:tr>
              <a:tr h="411480">
                <a:tc>
                  <a:txBody>
                    <a:bodyPr/>
                    <a:lstStyle/>
                    <a:p>
                      <a:r>
                        <a:rPr sz="1200" b="0">
                          <a:solidFill>
                            <a:srgbClr val="1F2937"/>
                          </a:solidFill>
                        </a:rPr>
                        <a:t>Kimyoviy o‘tish</a:t>
                      </a:r>
                    </a:p>
                  </a:txBody>
                  <a:tcPr marL="73152" marR="73152" marT="36576" marB="36576">
                    <a:solidFill>
                      <a:srgbClr val="FFFFFF"/>
                    </a:solidFill>
                  </a:tcPr>
                </a:tc>
                <a:tc>
                  <a:txBody>
                    <a:bodyPr/>
                    <a:lstStyle/>
                    <a:p>
                      <a:r>
                        <a:rPr sz="1200" b="0">
                          <a:solidFill>
                            <a:srgbClr val="1F2937"/>
                          </a:solidFill>
                        </a:rPr>
                        <a:t>Marganets 7 → 2 valentlik</a:t>
                      </a:r>
                    </a:p>
                  </a:txBody>
                  <a:tcPr marL="73152" marR="73152" marT="36576" marB="36576">
                    <a:solidFill>
                      <a:srgbClr val="FFFFFF"/>
                    </a:solidFill>
                  </a:tcPr>
                </a:tc>
                <a:tc>
                  <a:txBody>
                    <a:bodyPr/>
                    <a:lstStyle/>
                    <a:p>
                      <a:r>
                        <a:rPr sz="1200" b="0">
                          <a:solidFill>
                            <a:srgbClr val="1F2937"/>
                          </a:solidFill>
                        </a:rPr>
                        <a:t>Xrom 6 → 3 valentlik</a:t>
                      </a:r>
                    </a:p>
                  </a:txBody>
                  <a:tcPr marL="73152" marR="73152" marT="36576" marB="36576">
                    <a:solidFill>
                      <a:srgbClr val="FFFFFF"/>
                    </a:solidFill>
                  </a:tcPr>
                </a:tc>
              </a:tr>
              <a:tr h="411480">
                <a:tc>
                  <a:txBody>
                    <a:bodyPr/>
                    <a:lstStyle/>
                    <a:p>
                      <a:r>
                        <a:rPr sz="1200" b="0">
                          <a:solidFill>
                            <a:srgbClr val="1F2937"/>
                          </a:solidFill>
                        </a:rPr>
                        <a:t>Rang o‘zgarishi</a:t>
                      </a:r>
                    </a:p>
                  </a:txBody>
                  <a:tcPr marL="73152" marR="73152" marT="36576" marB="36576">
                    <a:solidFill>
                      <a:srgbClr val="E8EEF6"/>
                    </a:solidFill>
                  </a:tcPr>
                </a:tc>
                <a:tc>
                  <a:txBody>
                    <a:bodyPr/>
                    <a:lstStyle/>
                    <a:p>
                      <a:r>
                        <a:rPr sz="1200" b="0">
                          <a:solidFill>
                            <a:srgbClr val="1F2937"/>
                          </a:solidFill>
                        </a:rPr>
                        <a:t>Pushti-qizg‘ish rang yo‘qoladi</a:t>
                      </a:r>
                    </a:p>
                  </a:txBody>
                  <a:tcPr marL="73152" marR="73152" marT="36576" marB="36576">
                    <a:solidFill>
                      <a:srgbClr val="E8EEF6"/>
                    </a:solidFill>
                  </a:tcPr>
                </a:tc>
                <a:tc>
                  <a:txBody>
                    <a:bodyPr/>
                    <a:lstStyle/>
                    <a:p>
                      <a:r>
                        <a:rPr sz="1200" b="0">
                          <a:solidFill>
                            <a:srgbClr val="1F2937"/>
                          </a:solidFill>
                        </a:rPr>
                        <a:t>Sariq-olov rang yashilga o‘tadi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sinama taqqoslash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158–159, 159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Namuna olish va qon–siydik nisbati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Murdadan spirtni aniqlash uchun periferik venalardan qon va siydik namunasi olinadi. Tirik shaxsda ular ma’lum vaqt oralig‘ida bir necha marta olinadi.</a:t>
            </a:r>
          </a:p>
          <a:p>
            <a:pPr>
              <a:spcAft>
                <a:spcPts val="1200"/>
              </a:spcAft>
            </a:pPr>
            <a:r>
              <a:rPr sz="2200">
                <a:solidFill>
                  <a:srgbClr val="1F2937"/>
                </a:solidFill>
                <a:latin typeface="Calibri"/>
              </a:rPr>
              <a:t>▸  Har bir namuna kamida 5 ml bo‘lishi, idish to‘la va ichida havo qolmasligi kerak. Olingan vaqti yozilgan namuna sovutkichda bir necha kun saqlanadi.</a:t>
            </a:r>
          </a:p>
          <a:p>
            <a:pPr>
              <a:spcAft>
                <a:spcPts val="1200"/>
              </a:spcAft>
            </a:pPr>
            <a:r>
              <a:rPr sz="2200">
                <a:solidFill>
                  <a:srgbClr val="1F2937"/>
                </a:solidFill>
                <a:latin typeface="Calibri"/>
              </a:rPr>
              <a:t>▸  Rezorbsiya (so‘rilish) davrida qondagi spirt siydikdagidan baland va o‘sib boradi. Eliminatsiya (ajralish) davrida qonda pasayadi, siydikda esa baland bo‘ladi.</a:t>
            </a:r>
          </a:p>
          <a:p>
            <a:pPr>
              <a:spcAft>
                <a:spcPts val="1200"/>
              </a:spcAft>
            </a:pPr>
            <a:r>
              <a:rPr sz="2200">
                <a:solidFill>
                  <a:srgbClr val="1F2937"/>
                </a:solidFill>
                <a:latin typeface="Calibri"/>
              </a:rPr>
              <a:t>▸  Diqqat: siydikda spirt baland turib, qondagi miqdor yana oshsa, bu alkogol takror qabul qilinganidan dalolat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159, 159-160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Vidmark konstantasi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Vidmark konstantasi (P) eliminatsiya davrida qondagi spirt bir soatda qancha pasayishini ko‘rsatadi.</a:t>
            </a:r>
          </a:p>
          <a:p>
            <a:pPr>
              <a:spcAft>
                <a:spcPts val="800"/>
              </a:spcAft>
            </a:pPr>
            <a:r>
              <a:rPr sz="1800">
                <a:solidFill>
                  <a:srgbClr val="1F2937"/>
                </a:solidFill>
                <a:latin typeface="Calibri"/>
              </a:rPr>
              <a:t>▸  Uyqu va komada qiymat past; sovuq urishda hamda surunkali iste’molchilarda (tolerantlik) yuqori bo‘ladi.</a:t>
            </a:r>
          </a:p>
          <a:p>
            <a:pPr>
              <a:spcAft>
                <a:spcPts val="800"/>
              </a:spcAft>
            </a:pPr>
            <a:r>
              <a:rPr sz="1800">
                <a:solidFill>
                  <a:srgbClr val="1F2937"/>
                </a:solidFill>
                <a:latin typeface="Calibri"/>
              </a:rPr>
              <a:t>▸  Har bir holat uchun P alohida aniqlanadi. Imkon bo‘lmasa, o‘rtacha 0,13–0,15 olinadi.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3365075"/>
                <a:gridCol w="1922900"/>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Qiymat</a:t>
                      </a:r>
                    </a:p>
                  </a:txBody>
                  <a:tcPr marL="73152" marR="73152" marT="36576" marB="36576">
                    <a:solidFill>
                      <a:srgbClr val="0B1F3A"/>
                    </a:solidFill>
                  </a:tcPr>
                </a:tc>
              </a:tr>
              <a:tr h="411480">
                <a:tc>
                  <a:txBody>
                    <a:bodyPr/>
                    <a:lstStyle/>
                    <a:p>
                      <a:r>
                        <a:rPr sz="1300" b="0">
                          <a:solidFill>
                            <a:srgbClr val="1F2937"/>
                          </a:solidFill>
                        </a:rPr>
                        <a:t>Eliminatsiya davrining boshi</a:t>
                      </a:r>
                    </a:p>
                  </a:txBody>
                  <a:tcPr marL="73152" marR="73152" marT="36576" marB="36576">
                    <a:solidFill>
                      <a:srgbClr val="E8EEF6"/>
                    </a:solidFill>
                  </a:tcPr>
                </a:tc>
                <a:tc>
                  <a:txBody>
                    <a:bodyPr/>
                    <a:lstStyle/>
                    <a:p>
                      <a:r>
                        <a:rPr sz="1300" b="0">
                          <a:solidFill>
                            <a:srgbClr val="1F2937"/>
                          </a:solidFill>
                        </a:rPr>
                        <a:t>0,10–0,13</a:t>
                      </a:r>
                    </a:p>
                  </a:txBody>
                  <a:tcPr marL="73152" marR="73152" marT="36576" marB="36576">
                    <a:solidFill>
                      <a:srgbClr val="E8EEF6"/>
                    </a:solidFill>
                  </a:tcPr>
                </a:tc>
              </a:tr>
              <a:tr h="411480">
                <a:tc>
                  <a:txBody>
                    <a:bodyPr/>
                    <a:lstStyle/>
                    <a:p>
                      <a:r>
                        <a:rPr sz="1300" b="0">
                          <a:solidFill>
                            <a:srgbClr val="1F2937"/>
                          </a:solidFill>
                        </a:rPr>
                        <a:t>O‘rtacha jismoniy yuklama</a:t>
                      </a:r>
                    </a:p>
                  </a:txBody>
                  <a:tcPr marL="73152" marR="73152" marT="36576" marB="36576">
                    <a:solidFill>
                      <a:srgbClr val="FFFFFF"/>
                    </a:solidFill>
                  </a:tcPr>
                </a:tc>
                <a:tc>
                  <a:txBody>
                    <a:bodyPr/>
                    <a:lstStyle/>
                    <a:p>
                      <a:r>
                        <a:rPr sz="1300" b="0">
                          <a:solidFill>
                            <a:srgbClr val="1F2937"/>
                          </a:solidFill>
                        </a:rPr>
                        <a:t>0,15–0,18</a:t>
                      </a:r>
                    </a:p>
                  </a:txBody>
                  <a:tcPr marL="73152" marR="73152" marT="36576" marB="36576">
                    <a:solidFill>
                      <a:srgbClr val="FFFFFF"/>
                    </a:solidFill>
                  </a:tcPr>
                </a:tc>
              </a:tr>
              <a:tr h="411480">
                <a:tc>
                  <a:txBody>
                    <a:bodyPr/>
                    <a:lstStyle/>
                    <a:p>
                      <a:r>
                        <a:rPr sz="1300" b="0">
                          <a:solidFill>
                            <a:srgbClr val="1F2937"/>
                          </a:solidFill>
                        </a:rPr>
                        <a:t>Kuchli jismoniy yuklama</a:t>
                      </a:r>
                    </a:p>
                  </a:txBody>
                  <a:tcPr marL="73152" marR="73152" marT="36576" marB="36576">
                    <a:solidFill>
                      <a:srgbClr val="E8EEF6"/>
                    </a:solidFill>
                  </a:tcPr>
                </a:tc>
                <a:tc>
                  <a:txBody>
                    <a:bodyPr/>
                    <a:lstStyle/>
                    <a:p>
                      <a:r>
                        <a:rPr sz="1300" b="0">
                          <a:solidFill>
                            <a:srgbClr val="1F2937"/>
                          </a:solidFill>
                        </a:rPr>
                        <a:t>0,20–0,24</a:t>
                      </a:r>
                    </a:p>
                  </a:txBody>
                  <a:tcPr marL="73152" marR="73152" marT="36576" marB="36576">
                    <a:solidFill>
                      <a:srgbClr val="E8EEF6"/>
                    </a:solidFill>
                  </a:tcPr>
                </a:tc>
              </a:tr>
              <a:tr h="411480">
                <a:tc>
                  <a:txBody>
                    <a:bodyPr/>
                    <a:lstStyle/>
                    <a:p>
                      <a:r>
                        <a:rPr sz="1300" b="0">
                          <a:solidFill>
                            <a:srgbClr val="1F2937"/>
                          </a:solidFill>
                        </a:rPr>
                        <a:t>Alkogolga tolerantlik</a:t>
                      </a:r>
                    </a:p>
                  </a:txBody>
                  <a:tcPr marL="73152" marR="73152" marT="36576" marB="36576">
                    <a:solidFill>
                      <a:srgbClr val="FFFFFF"/>
                    </a:solidFill>
                  </a:tcPr>
                </a:tc>
                <a:tc>
                  <a:txBody>
                    <a:bodyPr/>
                    <a:lstStyle/>
                    <a:p>
                      <a:r>
                        <a:rPr sz="1300" b="0">
                          <a:solidFill>
                            <a:srgbClr val="1F2937"/>
                          </a:solidFill>
                        </a:rPr>
                        <a:t>0,3–0,4</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 qiymatlari (promille/soat)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159, 159-160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Vidmark–Balyakin formulasi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 — 100 gradusli spirt hisobida qabul qilingan miqdor; R — tana vazni (kg); r — reduksiya omili.</a:t>
            </a:r>
          </a:p>
          <a:p>
            <a:pPr>
              <a:spcAft>
                <a:spcPts val="800"/>
              </a:spcAft>
            </a:pPr>
            <a:r>
              <a:rPr sz="1800">
                <a:solidFill>
                  <a:srgbClr val="1F2937"/>
                </a:solidFill>
                <a:latin typeface="Calibri"/>
              </a:rPr>
              <a:t>▸  Ct — qondagi spirt; P — Vidmark konstantasi; T — ichish va namuna olish oralig‘i (soat).</a:t>
            </a:r>
          </a:p>
          <a:p>
            <a:pPr>
              <a:spcAft>
                <a:spcPts val="800"/>
              </a:spcAft>
            </a:pPr>
            <a:r>
              <a:rPr sz="1800">
                <a:solidFill>
                  <a:srgbClr val="1F2937"/>
                </a:solidFill>
                <a:latin typeface="Calibri"/>
              </a:rPr>
              <a:t>▸  Formula: A = R·r·(Ct + P·T). Avval qavs ichi hisoblanadi, so‘ng natija R va r ga ko‘paytiriladi.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2870615"/>
                <a:gridCol w="2417360"/>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r</a:t>
                      </a:r>
                    </a:p>
                  </a:txBody>
                  <a:tcPr marL="73152" marR="73152" marT="36576" marB="36576">
                    <a:solidFill>
                      <a:srgbClr val="0B1F3A"/>
                    </a:solidFill>
                  </a:tcPr>
                </a:tc>
              </a:tr>
              <a:tr h="411480">
                <a:tc>
                  <a:txBody>
                    <a:bodyPr/>
                    <a:lstStyle/>
                    <a:p>
                      <a:r>
                        <a:rPr sz="1300" b="0">
                          <a:solidFill>
                            <a:srgbClr val="1F2937"/>
                          </a:solidFill>
                        </a:rPr>
                        <a:t>Erkaklar (o‘rtacha)</a:t>
                      </a:r>
                    </a:p>
                  </a:txBody>
                  <a:tcPr marL="73152" marR="73152" marT="36576" marB="36576">
                    <a:solidFill>
                      <a:srgbClr val="E8EEF6"/>
                    </a:solidFill>
                  </a:tcPr>
                </a:tc>
                <a:tc>
                  <a:txBody>
                    <a:bodyPr/>
                    <a:lstStyle/>
                    <a:p>
                      <a:r>
                        <a:rPr sz="1300" b="0">
                          <a:solidFill>
                            <a:srgbClr val="1F2937"/>
                          </a:solidFill>
                        </a:rPr>
                        <a:t>0,68</a:t>
                      </a:r>
                    </a:p>
                  </a:txBody>
                  <a:tcPr marL="73152" marR="73152" marT="36576" marB="36576">
                    <a:solidFill>
                      <a:srgbClr val="E8EEF6"/>
                    </a:solidFill>
                  </a:tcPr>
                </a:tc>
              </a:tr>
              <a:tr h="411480">
                <a:tc>
                  <a:txBody>
                    <a:bodyPr/>
                    <a:lstStyle/>
                    <a:p>
                      <a:r>
                        <a:rPr sz="1300" b="0">
                          <a:solidFill>
                            <a:srgbClr val="1F2937"/>
                          </a:solidFill>
                        </a:rPr>
                        <a:t>Ayollar</a:t>
                      </a:r>
                    </a:p>
                  </a:txBody>
                  <a:tcPr marL="73152" marR="73152" marT="36576" marB="36576">
                    <a:solidFill>
                      <a:srgbClr val="FFFFFF"/>
                    </a:solidFill>
                  </a:tcPr>
                </a:tc>
                <a:tc>
                  <a:txBody>
                    <a:bodyPr/>
                    <a:lstStyle/>
                    <a:p>
                      <a:r>
                        <a:rPr sz="1300" b="0">
                          <a:solidFill>
                            <a:srgbClr val="1F2937"/>
                          </a:solidFill>
                        </a:rPr>
                        <a:t>0,55</a:t>
                      </a:r>
                    </a:p>
                  </a:txBody>
                  <a:tcPr marL="73152" marR="73152" marT="36576" marB="36576">
                    <a:solidFill>
                      <a:srgbClr val="FFFFFF"/>
                    </a:solidFill>
                  </a:tcPr>
                </a:tc>
              </a:tr>
              <a:tr h="411480">
                <a:tc>
                  <a:txBody>
                    <a:bodyPr/>
                    <a:lstStyle/>
                    <a:p>
                      <a:r>
                        <a:rPr sz="1300" b="0">
                          <a:solidFill>
                            <a:srgbClr val="1F2937"/>
                          </a:solidFill>
                        </a:rPr>
                        <a:t>Ozg‘in odamlar</a:t>
                      </a:r>
                    </a:p>
                  </a:txBody>
                  <a:tcPr marL="73152" marR="73152" marT="36576" marB="36576">
                    <a:solidFill>
                      <a:srgbClr val="E8EEF6"/>
                    </a:solidFill>
                  </a:tcPr>
                </a:tc>
                <a:tc>
                  <a:txBody>
                    <a:bodyPr/>
                    <a:lstStyle/>
                    <a:p>
                      <a:r>
                        <a:rPr sz="1300" b="0">
                          <a:solidFill>
                            <a:srgbClr val="1F2937"/>
                          </a:solidFill>
                        </a:rPr>
                        <a:t>0,70–0,75</a:t>
                      </a:r>
                    </a:p>
                  </a:txBody>
                  <a:tcPr marL="73152" marR="73152" marT="36576" marB="36576">
                    <a:solidFill>
                      <a:srgbClr val="E8EEF6"/>
                    </a:solidFill>
                  </a:tcPr>
                </a:tc>
              </a:tr>
              <a:tr h="411480">
                <a:tc>
                  <a:txBody>
                    <a:bodyPr/>
                    <a:lstStyle/>
                    <a:p>
                      <a:r>
                        <a:rPr sz="1300" b="0">
                          <a:solidFill>
                            <a:srgbClr val="1F2937"/>
                          </a:solidFill>
                        </a:rPr>
                        <a:t>To‘la odamlar</a:t>
                      </a:r>
                    </a:p>
                  </a:txBody>
                  <a:tcPr marL="73152" marR="73152" marT="36576" marB="36576">
                    <a:solidFill>
                      <a:srgbClr val="FFFFFF"/>
                    </a:solidFill>
                  </a:tcPr>
                </a:tc>
                <a:tc>
                  <a:txBody>
                    <a:bodyPr/>
                    <a:lstStyle/>
                    <a:p>
                      <a:r>
                        <a:rPr sz="1300" b="0">
                          <a:solidFill>
                            <a:srgbClr val="1F2937"/>
                          </a:solidFill>
                        </a:rPr>
                        <a:t>0,55–0,65</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Reduksiya omili (r)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diagnostika va hisoblash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reduksiya omili erkaklarda va ayollarda o‘rtacha qancha? Javob: erkaklarda 0,68, ayollarda 0,55. Ozg‘inlarda yuqoriroq, to‘laroqlarda pastroq bo‘ladi.</a:t>
            </a:r>
          </a:p>
          <a:p>
            <a:pPr>
              <a:spcAft>
                <a:spcPts val="1200"/>
              </a:spcAft>
            </a:pPr>
            <a:r>
              <a:rPr sz="2200">
                <a:solidFill>
                  <a:srgbClr val="1F2937"/>
                </a:solidFill>
                <a:latin typeface="Calibri"/>
              </a:rPr>
              <a:t>▸  Savol: qonda 0,5–1,5 promille qaysi mastlik darajasi? Javob: yengil. 1,5–2,5 promille o‘rta, 2,5–3,0 promille kuchli daraja hisoblanadi.</a:t>
            </a:r>
          </a:p>
          <a:p>
            <a:pPr>
              <a:spcAft>
                <a:spcPts val="1200"/>
              </a:spcAft>
            </a:pPr>
            <a:r>
              <a:rPr sz="2200">
                <a:solidFill>
                  <a:srgbClr val="1F2937"/>
                </a:solidFill>
                <a:latin typeface="Calibri"/>
              </a:rPr>
              <a:t>▸  Savol: Vidmark konstantasi (p) nimani bildiradi? Javob: eliminatsiya davrida qondagi spirt konsentratsiyasining bir soatdagi pasayishini.</a:t>
            </a:r>
          </a:p>
          <a:p>
            <a:pPr>
              <a:spcAft>
                <a:spcPts val="1200"/>
              </a:spcAft>
            </a:pPr>
            <a:r>
              <a:rPr sz="2200">
                <a:solidFill>
                  <a:srgbClr val="1F2937"/>
                </a:solidFill>
                <a:latin typeface="Calibri"/>
              </a:rPr>
              <a:t>▸  Diqqat: mastlik ≠ zaharlanish. 3,0 promilledan yuqori bo‘lsa zaharlanish deyiladi; murdada 5,0 promille va undan ko‘p bo‘lsa o‘lim sababi hisoblanadi.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160, 159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spirt miqdorini hisoblash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shaxs ichimlik ichgan, bir necha soatdan so‘ng undan qon namunasi olingan. Qabul qilingan spirt miqdorini baholash kerak.</a:t>
            </a:r>
          </a:p>
          <a:p>
            <a:pPr>
              <a:spcAft>
                <a:spcPts val="1200"/>
              </a:spcAft>
            </a:pPr>
            <a:r>
              <a:rPr sz="2200">
                <a:solidFill>
                  <a:srgbClr val="1F2937"/>
                </a:solidFill>
                <a:latin typeface="Calibri"/>
              </a:rPr>
              <a:t>▸  Formula: A = R·r·(Ct + pT). Bunda A — 100 gradusli spirt, R — vazn (kg), r — reduksiya omili, Ct — qondagi spirt, p — Vidmark konstantasi, T — soat.</a:t>
            </a:r>
          </a:p>
          <a:p>
            <a:pPr>
              <a:spcAft>
                <a:spcPts val="1200"/>
              </a:spcAft>
            </a:pPr>
            <a:r>
              <a:rPr sz="2200">
                <a:solidFill>
                  <a:srgbClr val="1F2937"/>
                </a:solidFill>
                <a:latin typeface="Calibri"/>
              </a:rPr>
              <a:t>▸  r erkaklarda 0,68, ayollarda 0,55. p har holat uchun alohida aniqlanadi. Imkon bo‘lmasa, o‘rtacha 0,13–0,15 olinadi.</a:t>
            </a:r>
          </a:p>
          <a:p>
            <a:pPr>
              <a:spcAft>
                <a:spcPts val="1200"/>
              </a:spcAft>
            </a:pPr>
            <a:r>
              <a:rPr sz="2200">
                <a:solidFill>
                  <a:srgbClr val="1F2937"/>
                </a:solidFill>
                <a:latin typeface="Calibri"/>
              </a:rPr>
              <a:t>▸  Savol: namuna nega imkon qadar ertaroq olinishi kerak va p ni qanday tanlaysiz? Vaqt o‘tishi bilan konsentratsiya o‘zgaradi.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tekshiruvi: tashqi va ichki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Etil spirti bilan o‘tkir zaharlanishdan o‘lgan murdada biron-bir spetsifik o‘zgarish aniqlanmaydi.</a:t>
            </a:r>
          </a:p>
          <a:p>
            <a:pPr>
              <a:spcAft>
                <a:spcPts val="1200"/>
              </a:spcAft>
            </a:pPr>
            <a:r>
              <a:rPr sz="2200">
                <a:solidFill>
                  <a:srgbClr val="1F2937"/>
                </a:solidFill>
                <a:latin typeface="Calibri"/>
              </a:rPr>
              <a:t>▸  Tashqi tekshiruvda yuz ko‘kimtir va shishinqiragan bo‘ladi. Subkon’yunktival ekximozlar (ko‘z shilliq qavati ostida qon quyilishlar) topiladi.</a:t>
            </a:r>
          </a:p>
          <a:p>
            <a:pPr>
              <a:spcAft>
                <a:spcPts val="1200"/>
              </a:spcAft>
            </a:pPr>
            <a:r>
              <a:rPr sz="2200">
                <a:solidFill>
                  <a:srgbClr val="1F2937"/>
                </a:solidFill>
                <a:latin typeface="Calibri"/>
              </a:rPr>
              <a:t>▸  Ichki tekshiruvda bo‘shliqlardan spetsifik hid seziladi. Bosh miya va ichki a’zolar to‘laqon, bosh miya shishgan bo‘ladi.</a:t>
            </a:r>
          </a:p>
          <a:p>
            <a:pPr>
              <a:spcAft>
                <a:spcPts val="1200"/>
              </a:spcAft>
            </a:pPr>
            <a:r>
              <a:rPr sz="2200">
                <a:solidFill>
                  <a:srgbClr val="1F2937"/>
                </a:solidFill>
                <a:latin typeface="Calibri"/>
              </a:rPr>
              <a:t>▸  Ichki a’zolarda va seroz pardalar ostida mayda nuqtasimon qon quyilishlar bo‘ladi, siydik qopi to‘la. Tashxis sud-kimyo va gistologik tekshiruvga tayanadi.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160, 160-161, 161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Kechikkan o‘lim va surunkali iste’mol oqibatlari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Ayrim holatda o‘lim ichimlikdan bir necha kun keyin yuz beradi. Qonda etil spirti past konsentratsiyada topiladi yoki umuman topilmaydi.</a:t>
            </a:r>
          </a:p>
          <a:p>
            <a:pPr>
              <a:spcAft>
                <a:spcPts val="1200"/>
              </a:spcAft>
            </a:pPr>
            <a:r>
              <a:rPr sz="2200">
                <a:solidFill>
                  <a:srgbClr val="1F2937"/>
                </a:solidFill>
                <a:latin typeface="Calibri"/>
              </a:rPr>
              <a:t>▸  Bunday o‘lim odatda intoksikatsiya fonidagi yurakning ishemik kasalligida yoki surunkali iste’mol keltirgan kardiomiopatiyada, o‘tkir yurak yetishmovchiligidan bo‘ladi.</a:t>
            </a:r>
          </a:p>
          <a:p>
            <a:pPr>
              <a:spcAft>
                <a:spcPts val="1200"/>
              </a:spcAft>
            </a:pPr>
            <a:r>
              <a:rPr sz="2200">
                <a:solidFill>
                  <a:srgbClr val="1F2937"/>
                </a:solidFill>
                <a:latin typeface="Calibri"/>
              </a:rPr>
              <a:t>▸  Diqqat: qonda 5,0 promille va undan ko‘p etil spirti o‘tkir zaharlanish sababi hisoblanadi. Kechikkan o‘limda esa bunday ko‘rsatkich shart emas.</a:t>
            </a:r>
          </a:p>
          <a:p>
            <a:pPr>
              <a:spcAft>
                <a:spcPts val="1200"/>
              </a:spcAft>
            </a:pPr>
            <a:r>
              <a:rPr sz="2200">
                <a:solidFill>
                  <a:srgbClr val="1F2937"/>
                </a:solidFill>
                <a:latin typeface="Calibri"/>
              </a:rPr>
              <a:t>▸  Manbada surunkali alkogolizmning jigar va miyadagi o‘zgarishlari batafsil berilmagan. Bu bo‘lim manba bo‘yicha cheklangan.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Gistologik va sud-kimyoviy tekshiruvlarning roli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Gistologik tekshiruv makroskopik tekshiruvni to‘ldiradi va ichki a’zolardagi mikroskopik o‘zgarishlarni aniqlashga imkon beradi.</a:t>
            </a:r>
          </a:p>
          <a:p>
            <a:pPr>
              <a:spcAft>
                <a:spcPts val="1200"/>
              </a:spcAft>
            </a:pPr>
            <a:r>
              <a:rPr sz="2200">
                <a:solidFill>
                  <a:srgbClr val="1F2937"/>
                </a:solidFill>
                <a:latin typeface="Calibri"/>
              </a:rPr>
              <a:t>▸  Makro- va mikroskopik tekshiruvda o‘limga olib kelishi mumkin bo‘lgan boshqa kasalliklar istisno qilinadi. Moyillik yaratuvchi o‘zgarishlar o‘rganiladi.</a:t>
            </a:r>
          </a:p>
          <a:p>
            <a:pPr>
              <a:spcAft>
                <a:spcPts val="1200"/>
              </a:spcAft>
            </a:pPr>
            <a:r>
              <a:rPr sz="2200">
                <a:solidFill>
                  <a:srgbClr val="1F2937"/>
                </a:solidFill>
                <a:latin typeface="Calibri"/>
              </a:rPr>
              <a:t>▸  Murdadan periferik venalardan qon va siydik olinadi. Etil spirti miqdori odatda promilleda ifodalanadi.</a:t>
            </a:r>
          </a:p>
          <a:p>
            <a:pPr>
              <a:spcAft>
                <a:spcPts val="1200"/>
              </a:spcAft>
            </a:pPr>
            <a:r>
              <a:rPr sz="2200">
                <a:solidFill>
                  <a:srgbClr val="1F2937"/>
                </a:solidFill>
                <a:latin typeface="Calibri"/>
              </a:rPr>
              <a:t>▸  Diqqat: sud-kimyoviy natija boshqa ma’lumotlar bilan birga baholanadi. Tez parchalanish, infuzion muolaja, uzoq vaqt o‘tishi yoki namuna olish xatosi zaharni ko‘rsatmay qo‘yishi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180, 161, 159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Spirt surrogatlari: etanol, metanol, etilenglikol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Metanolning o‘zi kuchsiz narkotik ta’sir qiladi. Kuchli zaharlilik formaldegid va chumoli kislotasi metabolitlaridan kelib chiqadi.</a:t>
            </a:r>
          </a:p>
          <a:p>
            <a:pPr>
              <a:spcAft>
                <a:spcPts val="800"/>
              </a:spcAft>
            </a:pPr>
            <a:r>
              <a:rPr sz="1800">
                <a:solidFill>
                  <a:srgbClr val="1F2937"/>
                </a:solidFill>
                <a:latin typeface="Calibri"/>
              </a:rPr>
              <a:t>▸  Etilenglikol metabolitlari jigar va buyrakka zarar yetkazadi. Organizmdan oksalatlar ko‘rinishida chiqadi.</a:t>
            </a:r>
          </a:p>
          <a:p>
            <a:pPr>
              <a:spcAft>
                <a:spcPts val="800"/>
              </a:spcAft>
            </a:pPr>
            <a:r>
              <a:rPr sz="1800">
                <a:solidFill>
                  <a:srgbClr val="1F2937"/>
                </a:solidFill>
                <a:latin typeface="Calibri"/>
              </a:rPr>
              <a:t>▸  Diqqat: metanol rangi, hidi va ta’mi bo‘yicha etil spirtiga o‘xshaydi, shuning uchun adashib ichiladi.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881329"/>
                <a:gridCol w="2203322"/>
                <a:gridCol w="2203322"/>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Metabolit; letal doza</a:t>
                      </a:r>
                    </a:p>
                  </a:txBody>
                  <a:tcPr marL="73152" marR="73152" marT="36576" marB="36576">
                    <a:solidFill>
                      <a:srgbClr val="0B1F3A"/>
                    </a:solidFill>
                  </a:tcPr>
                </a:tc>
                <a:tc>
                  <a:txBody>
                    <a:bodyPr/>
                    <a:lstStyle/>
                    <a:p>
                      <a:r>
                        <a:rPr sz="1300" b="1">
                          <a:solidFill>
                            <a:srgbClr val="FFFFFF"/>
                          </a:solidFill>
                        </a:rPr>
                        <a:t>Asosiy belgi</a:t>
                      </a:r>
                    </a:p>
                  </a:txBody>
                  <a:tcPr marL="73152" marR="73152" marT="36576" marB="36576">
                    <a:solidFill>
                      <a:srgbClr val="0B1F3A"/>
                    </a:solidFill>
                  </a:tcPr>
                </a:tc>
              </a:tr>
              <a:tr h="411480">
                <a:tc>
                  <a:txBody>
                    <a:bodyPr/>
                    <a:lstStyle/>
                    <a:p>
                      <a:r>
                        <a:rPr sz="1200" b="0">
                          <a:solidFill>
                            <a:srgbClr val="1F2937"/>
                          </a:solidFill>
                        </a:rPr>
                        <a:t>Etanol</a:t>
                      </a:r>
                    </a:p>
                  </a:txBody>
                  <a:tcPr marL="73152" marR="73152" marT="36576" marB="36576">
                    <a:solidFill>
                      <a:srgbClr val="E8EEF6"/>
                    </a:solidFill>
                  </a:tcPr>
                </a:tc>
                <a:tc>
                  <a:txBody>
                    <a:bodyPr/>
                    <a:lstStyle/>
                    <a:p>
                      <a:r>
                        <a:rPr sz="1200" b="0">
                          <a:solidFill>
                            <a:srgbClr val="1F2937"/>
                          </a:solidFill>
                        </a:rPr>
                        <a:t>Atsetaldegid; 250–300 ml</a:t>
                      </a:r>
                    </a:p>
                  </a:txBody>
                  <a:tcPr marL="73152" marR="73152" marT="36576" marB="36576">
                    <a:solidFill>
                      <a:srgbClr val="E8EEF6"/>
                    </a:solidFill>
                  </a:tcPr>
                </a:tc>
                <a:tc>
                  <a:txBody>
                    <a:bodyPr/>
                    <a:lstStyle/>
                    <a:p>
                      <a:r>
                        <a:rPr sz="1200" b="0">
                          <a:solidFill>
                            <a:srgbClr val="1F2937"/>
                          </a:solidFill>
                        </a:rPr>
                        <a:t>Xos belgi yo‘q; to‘laqonlik, miya shishi</a:t>
                      </a:r>
                    </a:p>
                  </a:txBody>
                  <a:tcPr marL="73152" marR="73152" marT="36576" marB="36576">
                    <a:solidFill>
                      <a:srgbClr val="E8EEF6"/>
                    </a:solidFill>
                  </a:tcPr>
                </a:tc>
              </a:tr>
              <a:tr h="411480">
                <a:tc>
                  <a:txBody>
                    <a:bodyPr/>
                    <a:lstStyle/>
                    <a:p>
                      <a:r>
                        <a:rPr sz="1200" b="0">
                          <a:solidFill>
                            <a:srgbClr val="1F2937"/>
                          </a:solidFill>
                        </a:rPr>
                        <a:t>Metanol</a:t>
                      </a:r>
                    </a:p>
                  </a:txBody>
                  <a:tcPr marL="73152" marR="73152" marT="36576" marB="36576">
                    <a:solidFill>
                      <a:srgbClr val="FFFFFF"/>
                    </a:solidFill>
                  </a:tcPr>
                </a:tc>
                <a:tc>
                  <a:txBody>
                    <a:bodyPr/>
                    <a:lstStyle/>
                    <a:p>
                      <a:r>
                        <a:rPr sz="1200" b="0">
                          <a:solidFill>
                            <a:srgbClr val="1F2937"/>
                          </a:solidFill>
                        </a:rPr>
                        <a:t>Formaldegid, chumoli kislotasi; 30–100 ml</a:t>
                      </a:r>
                    </a:p>
                  </a:txBody>
                  <a:tcPr marL="73152" marR="73152" marT="36576" marB="36576">
                    <a:solidFill>
                      <a:srgbClr val="FFFFFF"/>
                    </a:solidFill>
                  </a:tcPr>
                </a:tc>
                <a:tc>
                  <a:txBody>
                    <a:bodyPr/>
                    <a:lstStyle/>
                    <a:p>
                      <a:r>
                        <a:rPr sz="1200" b="0">
                          <a:solidFill>
                            <a:srgbClr val="1F2937"/>
                          </a:solidFill>
                        </a:rPr>
                        <a:t>Epikardda Kryukov dog‘lari; ko‘rish nervi</a:t>
                      </a:r>
                    </a:p>
                  </a:txBody>
                  <a:tcPr marL="73152" marR="73152" marT="36576" marB="36576">
                    <a:solidFill>
                      <a:srgbClr val="FFFFFF"/>
                    </a:solidFill>
                  </a:tcPr>
                </a:tc>
              </a:tr>
              <a:tr h="411480">
                <a:tc>
                  <a:txBody>
                    <a:bodyPr/>
                    <a:lstStyle/>
                    <a:p>
                      <a:r>
                        <a:rPr sz="1200" b="0">
                          <a:solidFill>
                            <a:srgbClr val="1F2937"/>
                          </a:solidFill>
                        </a:rPr>
                        <a:t>Etilenglikol</a:t>
                      </a:r>
                    </a:p>
                  </a:txBody>
                  <a:tcPr marL="73152" marR="73152" marT="36576" marB="36576">
                    <a:solidFill>
                      <a:srgbClr val="E8EEF6"/>
                    </a:solidFill>
                  </a:tcPr>
                </a:tc>
                <a:tc>
                  <a:txBody>
                    <a:bodyPr/>
                    <a:lstStyle/>
                    <a:p>
                      <a:r>
                        <a:rPr sz="1200" b="0">
                          <a:solidFill>
                            <a:srgbClr val="1F2937"/>
                          </a:solidFill>
                        </a:rPr>
                        <a:t>Oksalat kislotasi; 100–200 ml</a:t>
                      </a:r>
                    </a:p>
                  </a:txBody>
                  <a:tcPr marL="73152" marR="73152" marT="36576" marB="36576">
                    <a:solidFill>
                      <a:srgbClr val="E8EEF6"/>
                    </a:solidFill>
                  </a:tcPr>
                </a:tc>
                <a:tc>
                  <a:txBody>
                    <a:bodyPr/>
                    <a:lstStyle/>
                    <a:p>
                      <a:r>
                        <a:rPr sz="1200" b="0">
                          <a:solidFill>
                            <a:srgbClr val="1F2937"/>
                          </a:solidFill>
                        </a:rPr>
                        <a:t>Toksik gepatit, nefroz, nekronefroz</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Surrogatlar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161, 162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Metanol va etilenglikol: morfologik farqlar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Metanolda yurak epikardi ostida, ayniqsa chap kameralar sohasida, plakchasimon qon quyilishlar (Kryukov dog‘lari) bo‘ladi. Ko‘rish nervida qon quyilishi va shishish topiladi.</a:t>
            </a:r>
          </a:p>
          <a:p>
            <a:pPr>
              <a:spcAft>
                <a:spcPts val="1200"/>
              </a:spcAft>
            </a:pPr>
            <a:r>
              <a:rPr sz="2000">
                <a:solidFill>
                  <a:srgbClr val="1F2937"/>
                </a:solidFill>
                <a:latin typeface="Calibri"/>
              </a:rPr>
              <a:t>▸  Metanolda yashirin bosqich bir necha soatdan kungacha davom etadi, ahvol yaxshilanadi. Etilenglikolda 4 bosqich bor: mastlik, qisqa yashirin davr, MNT shikasti, jigar-buyrak shikasti.</a:t>
            </a:r>
          </a:p>
          <a:p>
            <a:pPr>
              <a:spcAft>
                <a:spcPts val="1200"/>
              </a:spcAft>
            </a:pPr>
            <a:r>
              <a:rPr sz="2000">
                <a:solidFill>
                  <a:srgbClr val="1F2937"/>
                </a:solidFill>
                <a:latin typeface="Calibri"/>
              </a:rPr>
              <a:t>▸  Etilenglikolda erta o‘limda ichki a’zolar to‘laqon, tarqoq diapedez qon quyilishlar bo‘ladi. Kechroq o‘limda toksik gepatit va nefroz (nekronefroz) aniqlanadi.</a:t>
            </a:r>
          </a:p>
          <a:p>
            <a:pPr>
              <a:spcAft>
                <a:spcPts val="1200"/>
              </a:spcAft>
            </a:pPr>
            <a:r>
              <a:rPr sz="2000">
                <a:solidFill>
                  <a:srgbClr val="1F2937"/>
                </a:solidFill>
                <a:latin typeface="Calibri"/>
              </a:rPr>
              <a:t>▸  Yuqori molekulyar spirtlarda (propil, butil, amil) o‘zgarishlar spetsifik emas. Miyadagi o‘zgarishlar yurakdagidan yaqqolroq; butilda shirin hid, amilda sivush moyi hidi seziladi.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162, 161-162, 163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xatolar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Etil spirtidan o‘tkir zaharlanishda xos belgi yo‘q: miya shishi, to‘laqonlik, nuqtasimon qon quyilishlar. Surunkali iste’molda kardiomiopatiya fonida o‘lim past spirt bilan ham bo‘lishi mumkin.</a:t>
            </a:r>
          </a:p>
          <a:p>
            <a:pPr>
              <a:spcAft>
                <a:spcPts val="1200"/>
              </a:spcAft>
            </a:pPr>
            <a:r>
              <a:rPr sz="2000">
                <a:solidFill>
                  <a:srgbClr val="1F2937"/>
                </a:solidFill>
                <a:latin typeface="Calibri"/>
              </a:rPr>
              <a:t>▸  Diqqat: etanol ≠ metanol. Metanolning metabolitlari (formaldegid, chumoli kislotasi) kuchli zaharli, oksidlanishi sekin. Letal doza: etil spirti 250-300 ml, metanol 30-100 ml.</a:t>
            </a:r>
          </a:p>
          <a:p>
            <a:pPr>
              <a:spcAft>
                <a:spcPts val="1200"/>
              </a:spcAft>
            </a:pPr>
            <a:r>
              <a:rPr sz="2000">
                <a:solidFill>
                  <a:srgbClr val="1F2937"/>
                </a:solidFill>
                <a:latin typeface="Calibri"/>
              </a:rPr>
              <a:t>▸  Diqqat: sifat ≠ miqdoriy tekshiruv. Rappoport va Moxov sinamalari sifat sinamasi, ayrim kasalliklarda soxta musbat beradi. Miqdorni gaz-xromatografiya aniqlaydi.</a:t>
            </a:r>
          </a:p>
          <a:p>
            <a:pPr>
              <a:spcAft>
                <a:spcPts val="1200"/>
              </a:spcAft>
            </a:pPr>
            <a:r>
              <a:rPr sz="2000">
                <a:solidFill>
                  <a:srgbClr val="1F2937"/>
                </a:solidFill>
                <a:latin typeface="Calibri"/>
              </a:rPr>
              <a:t>▸  Keyingi mavzuga ko‘prik: laboratoriya natijalari hamisha voqea tafsilotlari va murda tekshiruvi bilan birga, tanqidiy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160-161, 156, 161, 159, 180-181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79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Qiziqarli fakt: Jahon sog‘liqni saqlash tashkiloti ma’lumotiga ko‘ra, so‘nggi yillarda “alkogol bilan bog‘liq o‘lim” taxminan 2,5 million holatda kuzatiladi. Bu tushunchaga mastlik bilvosita moyillik yaratgan o‘limlar ham kiradi: baxtsiz hodisa, o‘z-o‘zini o‘ldirish, qotillik, surunkali kasallikdan o‘lim.</a:t>
            </a:r>
          </a:p>
          <a:p>
            <a:pPr>
              <a:spcAft>
                <a:spcPts val="1200"/>
              </a:spcAft>
            </a:pPr>
            <a:r>
              <a:rPr sz="1800">
                <a:solidFill>
                  <a:srgbClr val="1F2937"/>
                </a:solidFill>
                <a:latin typeface="Calibri"/>
              </a:rPr>
              <a:t>▸  Hodisa tahlili: o‘lim spirtli ichimlikdan bir necha kun keyin yuz berdi, qonda etil spirti juda oz yoki umuman yo‘q. Sabab ko‘pincha alkogol fonidagi yurakning ishemik kasalligi yoki surunkali ichishdan kelib chiqqan kardiomiopatiyada o‘tkir yurak yetishmovchiligi bo‘ladi. Xulosa: qondagi spirt kam bo‘lishi alkogolni sabab sifatida inkor etmaydi.</a:t>
            </a:r>
          </a:p>
          <a:p>
            <a:pPr>
              <a:spcAft>
                <a:spcPts val="1200"/>
              </a:spcAft>
            </a:pPr>
            <a:r>
              <a:rPr sz="1800">
                <a:solidFill>
                  <a:srgbClr val="1F2937"/>
                </a:solidFill>
                <a:latin typeface="Calibri"/>
              </a:rPr>
              <a:t>▸  Eslab qolish zanjiri: etil spirti → atsetaldegid → sirka kislotasi → suv va karbonat angidrid. Birinchi bosqichni alkogoldegidrogenaza, ikkinchisini aldegiddegidrogenaza bajaradi. Zaharli oraliq mahsulot atsetaldegid “poxmele” belgilarini beradi. Fermentlarning atipik shakllarida u tez to‘planadi va spirt miqdori kam bo‘lsa ham intoksikatsiya kuchli o‘tadi.</a:t>
            </a:r>
          </a:p>
          <a:p>
            <a:pPr>
              <a:spcAft>
                <a:spcPts val="1200"/>
              </a:spcAft>
            </a:pPr>
            <a:r>
              <a:rPr sz="1800">
                <a:solidFill>
                  <a:srgbClr val="1F2937"/>
                </a:solidFill>
                <a:latin typeface="Calibri"/>
              </a:rPr>
              <a:t>▸  Tolerantlik hisobga ta’sir qiladi: Vidmark konstantasi odatda 0,13–0,15 promille/soat. Alkogolga tolerantlik bo‘lganda, asosan surunkali iste’mol qiluvchilarda, u 0,3–0,4 gacha oshadi. Demak surunkali ichuvchida spirt tezroq kamayadi, shuning uchun namunani imkon qadar erta olish kerak.</a:t>
            </a:r>
          </a:p>
          <a:p>
            <a:pPr>
              <a:spcAft>
                <a:spcPts val="1200"/>
              </a:spcAft>
            </a:pPr>
            <a:r>
              <a:rPr sz="1800">
                <a:solidFill>
                  <a:srgbClr val="1F2937"/>
                </a:solidFill>
                <a:latin typeface="Calibri"/>
              </a:rPr>
              <a:t>▸  Eslab qolish: mastlik darajalari qondagi promille bo‘yicha — 0,5–1,5 yengil, 1,5–2,5 o‘rta, 2,5–3,0 kuchli, 3,0 dan yuqori zaharlanish. Murdadan olingan qonda 5,0 promille va undan ko‘p bo‘lsa, o‘tkir zaharlanish o‘lim sababi hisoblanadi. Yuqori molekulyar spirtlar bo‘lsa, 4,0 dan past miqdorda ham o‘lim mumkin.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Manbaga ko‘ra, zaharlanishning vujudga kelishida ahamiyatli bo‘lgan to‘rt omil guruhi qaysi qatorda to‘g‘ri berilgan?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Zaharli modda, vaqt, shifokor malakasi va hodisa joyi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Zaharli modda, organizm, kirish yo‘li va tashqi sharoit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Organizm, ovqat tarkibi, laboratoriya usuli va doza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Kirish yo‘li, murda holati, dalil turi va tashqi sharoit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bir yil davomidagi zaharlanish holatlarini turlarga ajratmoqda. Sud-tibbiy ekspertiza ma’lumotlariga ko‘ra qaysi tur aksariyatni tashkil etadi?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Qasddan sodir etilgan qotillik holatlari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Zaharlanish orqali o‘z-o‘zini o‘ldirish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Barcha uch tur taxminan bir xil uchraydi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Tasodifan yuz beradigan baxtsiz hodisalar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uyqu dorisini qisqa vaqt oralig‘ida takror qabul qildi va dorining ta’siri susaydi. Bu holat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Tolerantlik — o‘rganib qolish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Idiosinkraziya — o‘ta sezgirlik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Abstinensiya — mahrumlik sindromi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Kumulyasiya — to‘planib qolish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Ikki kishi bir xil miqdorda alkogol ichdi. Biri yopiq, issiq va nam xonada, ikkinchisi ochiq havoda, past haroratda bo‘ldi. Zaharlanishga moyillik qaysi birida yuqori?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Ochiq havodagi shaxsda zaharlanishga moyillik kuchayadi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Ikkala shaxsda ham tashqi sharoit ta’sir ko‘rsatmaydi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Yopiq, issiq va nam xonadagi shaxsda moyillik yuqori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past haroratdagi shaxsda alkogol ta’siri kuchayadi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Zahar og‘iz orqali qabul qilinganda oshqozonda ovqat massasi bor edi. Bu holat zaharga nisbatan nimaga ta’sir qilishi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zaharning rangini o‘zgartirishi mumkin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Toksik ta’sirni va qonga so‘rilishini o‘zgartirishi mumkin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Zaharning kimyoviy formulasini o‘zgartirishi mumkin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Zaharni organizmdan darhol chiqarib yuborishi mumkin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 ekspert murdani ko‘zdan kechirib, in’eksiya izlari, teri va shilliq qavat holati, murda dog‘larining rangi va yot hidga e’tibor berdi. Bu zaharlanish diagnostikasining qaysi bosqichi?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Birinchi bosqich: hodisa joyini ko‘zdan kechirish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Ikkinchi bosqich: murdaning tashqi va ichki tekshiruvi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Uchinchi bosqich: qo‘shimcha laboratoriya tekshiruvlari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Bosqichlarga bo‘linmaydigan yagona umumiy tekshiruv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Og‘iz orqali qabul qilingan zahar asosan jigarga ta’sir etgan va siydik bilan chiqqan. “Uch nuqta” qoidasiga ko‘ra toksikologik tekshiruvga murdadan nima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Bosh miyaning uchdan bir qismi va o‘pkaning to‘rtdan bir qismi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100-200 ml qon va bir metr ingichka ichak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Oshqozondagi massa, jigarning bir qismi va siydikli butun buyrak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Ko‘krak-qorin bo‘shlig‘i a’zolari aralashmasidan 1,5-2,0 kg “o‘rta sinama”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Sirka kislotasidan zaharlanishda atsidoz tufayli eritrotsitlar gemolizi yuz berdi. Toksikodinamikada bu qaysi ta’sirga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Birlamchi toksik ta’sir, ya’ni mahalliy kimyoviy kuyish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Metatoksik ta’sir, ya’ni toksik gepatit va nefroz</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Zaharning biotransformatsiyasi, ya’ni jigarda oksidlanishi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Keyingi toksik ta’sir, ya’ni atsidozdan keyingi gemoliz</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V.L. Popov tasnifiga ko‘ra etil spirti zaharlarning qaysi guruhchasiga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Funksional zaharlar: markaziy nerv tizimini so‘ndiruvchilar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Destruktiv zaharlar: simob va qo‘rg‘oshin kabilar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Gemotrop zaharlar: karboksigemoglobin hosil qiluvchilar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Asosan mahalliy ta’sir etuvchi zaharlar: kislotalar va ishqorlar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Shaxs spirtli ichimlikni to‘la oshqozonda ichdi. Etil spirtining taxminan qancha qismi vaqtincha bog‘lanib, qonga so‘rilishi kechikadi?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Taxminan 20%</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Taxminan 40%</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Taxminan 5%</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Taxminan 80%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Shaxs spirtli ichimlikni oshqozoni bo‘sh holda ichdi. Uning rezorbsiya davri qanday o‘zgaradi?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Odatdagidan davomiyroq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Odatdagidan qisqaroq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Umuman boshlanmaydi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Hech qanday o‘zgarmaydi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Etil spirtining metabolizmi birinchi bosqichida qaysi modda hosil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Sirka kislotasi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Formaldegid</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Chumoli kislotasi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Atsetaldegid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Shaxsda qonda spirt miqdori juda baland bo‘lmasa-da, kuchli intoksikatsiya kuzatildi. Unda alkogoldegidrogenaza faolligi baland, aldegiddegidrogenaza esa yetishmaydi. Intoksikatsiya nega kuchaydi?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Atsetaldegidning organizmda tez to‘planishi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Etil spirtining jigarda sekin parchalanishi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Etil spirtining o‘pka orqali tez chiqishi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Qonda endogen alkogolning ko‘payib ketishi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Tirik shaxsda qonda 2,0 promille etil spirti aniqlandi. Mastlik darajasi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Yengil darajali mastlik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Kuchli darajali mastlik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O‘rta darajali mastlik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Etil spirti bilan zaharlanish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A.M. Rappoport sinamasida sinov probirkasida pushti-qizg‘ish rang yo‘qoldi. Bu nimadan dalolat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Qonda spirt 3,0 promilledan balandligidan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Chiqarilgan havoda alkogol mavjudligidan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Siydikda metanol mavjudligidan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Nazorat probirkasi noto‘g‘ri tayyorlanganidan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Tirik shaxsdan vaqt oralig‘i bilan namuna olishning imkoni bo‘lmasa, Vidmark konstantasi (P) uchun qaysi o‘rtacha ko‘rsatkich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0,20–0,24 promille har soatda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0,13–0,15 promille har soatda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0,30–0,40 promille har soatda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0,10–0,12 promille har soatda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Siydikda etil spirti konsentratsiyasi baland, qondagi konsentratsiya esa yana oshib bormoqda. Bu nimadan dalolat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Alkogol bir marta qabul qilinib, rezorbsiya davri endi boshlanganidan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Eliminatsiya davri oxiriga yetib, qondagi spirt tugayotganidan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Alkogol o‘rniga spirt surrogati iste’mol qilinganidan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Alkogol takroriy qabul qilinganidan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Vidmark–Balyakin formulasida to‘la tanali odamning reduksiya omili (r) ozg‘in odamnikiga nisbatan qanday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Pastroq, taxminan 0,55–0,65 atrofida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Balandroq, taxminan 0,70–0,75 atrofida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Ayollarnikidan ham past, taxminan 0,30 atrofida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Ozg‘in odamnikiga teng, taxminan 0,68 atrofida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tekshiruvida epikard ostida plakchasimon qon quyilishlar (Kryukov dog‘lari) va ko‘rish nervida shishish aniqlandi. Qaysi surrogat bilan zaharlanishga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Etilenglikol bilan zaharlanishga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Butil spirti bilan zaharlanishga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Metil spirti bilan zaharlanishga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Amil spirti bilan zaharlanishga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spirtli ichimlik ichgandan bir necha kun o‘tib vafot etdi, qonda etil spirti topilmadi. Odatda o‘lim sababi nima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O‘tkir yurak yetishmovchiligi (ishemik kasallik yoki kardiomiopatiya fonida)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Nafas olish markazining etanol ta’siridan to‘g‘ridan-to‘g‘ri falaji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Atsetaldegid to‘planishidan kelib chiqqan o‘tkir buyrak yetishmovchiligi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Yuqori molekulyar spirtlardan rivojlangan bosh miya komasi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Zaharli modda, organizm, kirish yo‘li va tashqi sharoit</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Darslikda zaharlanishda to‘rt guruh omil farqlanadi: zaharli modda, organizm, zaharning organizmga kirish yo‘li hamda zahar ta’siri vaqtidagi tashqi shart-sharoit. Boshqa variantlarda bu guruhlarga kirmaydigan unsurlar (vaqt, laboratoriya usuli, dalil turi) aralashtirilgan.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Tasodifan yuz beradigan baxtsiz hodisalar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Sud-tibbiy ekspertiza ma’lumotlari bo‘yicha zaharlanishlarning aksariyatini baxtsiz hodisalar tashkil etadi. Keyingi o‘rinda zaharlanish orqali o‘z-o‘zini o‘ldirish turadi. Zaharlash yo‘li bilan qotillik kamdan-kam kuzatiladi.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Tolerantlik — o‘rganib qolish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Zaharli moddaning qisqa vaqt oralig‘ida takror ta’siri organizmda unga nisbatan tolerantlikni (o‘rganib qolishni) keltirib chiqarishi mumkin. Tibbiyotda bu uyqu dorilari, analgetiklar va gipotenziv preparatlarda kuzatiladi. Abstinensiya esa modda qabul qilinmaganda paydo bo‘ladi, idiosinkraziya esa genetik o‘ta sezgirlikdir.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Yopiq, issiq va nam xonadagi shaxsda moyillik yuqori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Alkogol va is gazi bilan zaharlanishga yopiq, harorati baland, namligi katta muhit moyillik yaratadi. Ochiq muhit va havoning past harorati bu moddalarning ta’sirini susaytiradi.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Toksik ta’sirni va qonga so‘rilishini o‘zgartirishi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Oshqozondagi massaning mavjudligi, tarkibi va miqdori zaharning toksik ta’sirini, shuningdek uning qonga so‘rilishini (vaqtincha yoki doimiy bog‘lash orqali) o‘zgartirishi mumkin. Boshqa variantlar manbada ko‘rsatilmagan.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Ikkinchi bosqich: murdaning tashqi va ichki tekshiruvi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Zaharlanish diagnostikasi uch bosqichli. Birinchisi hodisa joyini ko‘zdan kechirish va hujjatlar bilan tanishish. Ikkinchisi murdani tashqi va ichki tekshirish, bunda teri, in’eksiya izlari, hid va murda dog‘lari baholanadi. Uchinchisi laboratoriya tekshiruvlari.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135-136-bet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Oshqozondagi massa, jigarning bir qismi va siydikli butun buyrak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Qoidaga ko‘ra namuna zahar kirgan, asosan ta’sir etgan va chiqqan joylardan olinadi. Bu holatda: kirgan joy oshqozon massasi, ta’sir etgan joy jigar, chiqqan joy siydikli buyrak. Boshqa to‘plamlar zahar manbai noma’lum bo‘lganda yoki chuqur chirishda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Keyingi toksik ta’sir, ya’ni atsidozdan keyingi gemoliz</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Sirka kislotasi avval og‘iz bo‘shlig‘i, qizilo‘ngach va oshqozon shilliq qavatini kuydiradi (birlamchi ta’sir). Atsidoz tufayli gemoliz keyingi toksik ta’sir hisoblanadi. Keyin toksik gepatit va nefroz rivojlanadi (metatoksik ta’sir).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138-bet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Funksional zaharlar: markaziy nerv tizimini so‘ndiruvchilar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Tasnifda etil va boshqa spirtlar asosan umumiy ta’sir etuvchi, funksional zaharlarning markaziy nerv tizimini so‘ndiruvchi guruhchasiga kiritilgan. Ularning narkotik ta’siri bosh miya po‘stlog‘ining tormozlanishi bilan bog‘liq.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139-140, 156-bet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Taxminan 40%</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Oshqozon to‘la bo‘lganda etil spirtining taxminan 40% vaqtincha bog‘lanadi va so‘rilish kechroq bo‘ladi (vaqtincha defitsit). Och qoringa taxminan 5% bog‘lanib, qonga so‘rilmaydi (tiklanmaydigan defitsit). 20% va 80% esa spirtning oshqozon va ichakda so‘rilish ulushlari.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157-bet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Odatdagidan qisqaroq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Oshqozonning bo‘sh bo‘lishi rezorbsiya davrini qisqartiradi. Oshqozon to‘la bo‘lganda esa bu davr davomiyroq bo‘ladi. Rezorbsiya davri odatda 1-2 soat davom etadi.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157-bet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Atsetaldegid</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Birinchi bosqichda alkogoldegidrogenaza ta’sirida etil spirti atsetaldegidga aylanadi. Ikkinchi bosqichda atsetaldegid aldegiddegidrogenaza ta’sirida sirka kislotasiga oksidlanadi. Formaldegid esa metanol metabolitidir.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157-bet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Atsetaldegidning organizmda tez to‘planishi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Atipik fermentlarda spirt atsetaldegidga tez aylanadi, ammo atsetaldegid sekin oksidlanadi. Natijada toksik atsetaldegid to‘planadi. Shuning uchun qonda spirt konsentratsiyasi baland bo‘lmasa ham kuchli intoksikatsiya, ba’zan o‘lim ham yuz berishi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157-bet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O‘rta darajali mastlik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Qonda 0,5-1,5 promille yengil, 1,5-2,5 promille o‘rta, 2,5-3,0 promille kuchli mastlik hisoblanadi. 2,0 promille o‘rta daraja oralig‘iga to‘g‘ri keladi. 3,0 promilledan yuqori bo‘lsa, zaharlanish deb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160-bet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Chiqarilgan havoda alkogol mavjudligidan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Sinamada kaliy permanganat alkogol ta’sirida qaytariladi va marganets sulfatga o‘tadi. Shu sababli rang to‘liq yoki qisman yo‘qoladi. Sinov probirkasida rang yo‘qolishi chiqarilgan havoda alkogol borligini bildiradi. Bu sifat sinamasi bo‘lib, miqdorni ko‘rsatmaydi.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158-159-bet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0,13–0,15 promille har soatda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Har bir holat uchun P ko‘rsatkichi alohida aniqlangani ma’qul. Buning imkoni bo‘lmasa, o‘rtacha 0,13–0,15 olinadi. 0,20–0,24 kuchli jismoniy yuklamaga, 0,10–0,12 uyquga xos, 0,30–0,40 esa alkogolga tolerantlikda uchraydi.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160-bet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Alkogol takroriy qabul qilinganidan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Eliminatsiya davrida qonda spirt kamayadi, siydikda baland bo‘ladi. Siydikda baland bo‘lgan holda qondagi miqdorning ortishi alkogol takroran qabul qilinganini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159-bet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Pastroq, taxminan 0,55–0,65 atrofida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Reduksiya omili erkaklarda o‘rtacha 0,68, ayollarda 0,55. Ozg‘in odamlarda u balandroq (0,70–0,75), to‘la odamlarda aksincha pastroq (0,55–0,65)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160-bet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Metil spirti bilan zaharlanishga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Metanol bilan zaharlanishda epikard ostida (ayniqsa chap kameralar sohasida) plakchasimon qon quyilishlar va ko‘rish nervida qon quyilishi, shishish topiladi. Etilenglikolda esa toksik gepatit va nefroz (nekronefroz)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162-bet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O‘tkir yurak yetishmovchiligi (ishemik kasallik yoki kardiomiopatiya fonida)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O‘lim spirt ichilgandan bir necha kundan keyin sodir bo‘lsa, etil spirti qonda past bo‘lishi yoki bo‘lmasligi mumkin. Bunda o‘lim odatda alkogol fonidagi yurak ishemik kasalligi yoki surunkali iste’moldagi kardiomiopatiyada o‘tkir yurak yetishmovchiligidan yuz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160-bet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Surunkali alkogol intoksikatsiyasi, patomorfologik namoyon bo'lishlar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79</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6. Sud-tibbiy toksikologiya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