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jismoniy zo‘riqishda havo ehtiyoji keskin ortadi? 2) Klinitsist vrach asfiksiya mexanizmini nega bilishi shart? Doskada: kislorodning organizmga kirish yo‘llari (nafas a’zolari ~99%, teri va ichak-oshqozon qolgani) sxemasini chizdiring. Tipik xato: kislorodning asosiy ulushi teri orqali olinadi deb o‘ylash. Dars rejasi: gipoksiya turlari, mexanik asfiksiya tasnifi, hayotiy kechishi, umumiy belgilar, keyin har bir tur.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Respirator gipoksiyaning bevosita shakliga qanday holatlar kiradi (bo‘yin qisilishi, nafas yo‘llari yopilishi)? 2) Nima uchun sud tibbiyotida faqat tez rivojlanuvchi turlar muhim? Doskada: ekzogen va endogen turlar daraxtini chizdiring. Diqqat: gipoksik ≠ giperkapnik: birinchisida kislorod oz, ikkinchisida karbonat angidrid ham ortadi. Tipik xato: gemik gipoksiyani sirkulyator bilan aralashtirish (gemik – gemoglobin, sirkulyator – qon aylanishi).  Tezkor savol: markaziy nerv tizimida to‘qima nafasi to‘xtasa, necha daqiqada qaytmas o‘zgarish bo‘ladi? (5–10 daq.)</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Gipoksiya va asfiksiya o‘rtasida qanday farq bor? 2) Strangulyatsion va kompression asfiksiya nimasi bilan farqlanadi? Doskada: mexanik asfiksiya tasnifi jadvalini ko‘chirib chizdiring. Diqqat: asfiksiya ≠ gipoksiya (asfiksiyada gipoksiya giperkapniya bilan birga bo‘ladi). Tipik xato: cho‘kishni qisilish turiga kiritish (u yopilish asfiksiyasining turi). Tezkor savol: strangulyatsion asfiksiyada qaysi a’zolar qisiladi?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bunday holatlarda hodisa joyini sinchiklab ko‘rish hal qiluvchi? 2) Qaysi ashyolar autoasfiksiofiliyani tasdiqlaydi? Doskada chizish: hodisa joyidagi ashyolar va murdadagi belgilar ro‘yxati (ikki ustun). Tipik xato: sirtmoq topilgan har bir holatni avtomatik o‘z-o‘zini o‘ldirish deb baholash; manbada bu holatlar baxtsiz hodisa sifatida baholanishi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Gipoksiya va asfiksiya o‘rtasidagi farq nima (asfiksiyada gipoksiya giperkapniya bilan birga)? 2) Hodisa joyidagi qaysi ashyolar baholashga yordam beradi? Doskada chizish: ‘asfiksiya = gipoksiya + giperkapniya’ sxemasi. Eslab qoling: ‘asfiksiya’ grekcha a – inkor, sphygmos – puls, ya’ni pulsning yo‘qligi. Tipik xato: gipoksiyani asfiksiya bilan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Preasfiktik davrda nega asfiksiya belgilari hali rivojlanmaydi? 2) Talvasalar tufayli tananing jismlarga urilishidan hosil bo‘lgan jarohatlarni o‘zga shaxs jarohatlaridan farqlash nega zarur? Doskada chizish: ikki hansirash bosqichi uchun ‘bosim va puls’ strelkalari (yuqoriga/pastga). Tipik xato: inspirator va ekspirator bosqichlardagi arterial va venoz bosim o‘zgarishini almashtirib yuborish. Siydik, maniy, axlat ajralishi ekspirator bosqichda klonik talvasalar bilan kuzatilishi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nafas markazi falajlanganda ham yurak bir muddat uradi? 2) Terminal bosqichda qon bosimi qanday o‘zgaradi? Doskada: 5 tugunli zanjirni davomiyliklari bilan chizdiring. Tipik xato: terminal nafas olishni inspirator hansirash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reflektor to‘xtashda murdada asfiksiya belgilari topilmasligi mumkin? 2) Nega bosqichlar davomiyligi shartli deb hisoblanadi? Doskada: reflektor to‘xtash yo‘lini (retseptor – nerv – yurak) sxema qilib chizdiring. Tipik xato: 30 soniyagacha to‘xtashda ham to‘liq asfiktik belgilar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 ekspirator hansirash bosqichi. Muhokama: 1) Talvasalar paytidagi jarohatlarni o‘zga shaxs yetkazgan jarohatdan qanday farqlash kerak? 2) Preasfiktik davrda organizm qanday moslashadi? Doskada: ikki bosqichni (inspirator va ekspirator) bosim va puls bo‘yicha solishtiring. Tipik xato: bosqichlarning bosim va puls o‘zgarishini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koma davrida talvasalar tonikdan tonik-klonikka o‘tadi? 2) Karaxtlik davri komadan nimasi bilan farq qiladi? Doskada: 4 davrli zanjirni chizib, har davr tagiga asosiy belgisini yozing. Tipik xato: karaxtlik davrini komaning bosqichi deb adashtirish. Karaxtlik komadan chiqish davridir, talvasalar bo‘lmaydi.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o‘pka shishi dastlabki soatlarda noxush belgi hisoblanadi? 2) Postasfiktik gastroenteropatiya qanday asoratlarga olib keladi? Doskada: o‘lim sabablarini vaqt o‘qida (minut-soat, sutka, kechroq) chizing. Tipik xato: o‘lim sababini barcha muddatlarda bir xil deb o‘ylash. Sababi muddatga qarab o‘zgaradi.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 dezorientatsiya va xotira buzilishi davri (3-davr). Muhokama: 1) Mutanosib yordam ko‘rsatilganda yengil holatlar qancha vaqtda izsiz yo‘qoladi, og‘ir holatlarda nimalar qoladi? 2) Klinitsist tibbiy hujjatga nimalarni yozishi kerak? Doskada: 4 davrni chizib, bemor holatini mos davrga belgilang. Tipik xato: konfabulyatsiyani yolg‘on gapirish deb baholash. Bu xotira bo‘shlig‘ini anglamagan holda to‘ldirishdir.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sianoz murda holatiga qarab o‘zgaradi? 2) Ekximozlar qaysi bosqichda va nima uchun paydo bo‘ladi? Doskada: hansirash bosqichidagi bosim o‘zgarishidan tashqi belgilargacha sxema chizdiring. Tipik xato: midriazni doimiy va aniq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qon suyuq va to‘q qizil bo‘ladi? 2) Nega yurakning o‘ng yarmi ko‘proq to‘ladi? Doskada: kichik qon aylanish doirasida bosim oshishidan asfiktik yurak va venoz to‘laqonlikkacha zanjir chizdiring. Tipik xato: asfiktik yurak sababini chap qorincha zaifligi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bitta belgi bilan tashxis qo‘yib bo‘lmaydi? 2) Sabinskiy belgisi qaysi davr o‘zgarishini aks ettiradi? Doskada: Tarde dog‘lari joylashuvi va diagnostik majmua tarkibini chizdiring. Tipik xato: Tarde dog‘larini asfiksiyaning yagona isboti deb olish. Tezkor savol: qaysi belgilar nisbatan patognomik?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bitta belgiga tayanib asfiksiya tashxisi qo‘yilmaydi? 2) Murdaning yotish holati sianozga qanday ta’sir qiladi? Doskaga chizish: murdaning chalqancha va yuztuban yotgandagi qon oqimi sxemasi. Tipik xato: sianozni asfiksiyaning aniq (patognomik)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yotgan holatdagi osilish ham o‘limga olib kelishi mumkin? 2) Osilishning aksariyat hollarda o‘lim tafsilotlari qanday baholanadi? Doskaga chizish: tipik va notipik osilish turlarini sxema qilib chizing. Tipik xato: faqat erkin osilgan holatni osilish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sirtmoqni olishda tugunni buzmaslik kerak? 2) Tugunning atipik joylashuvi qanday ahamiyatga ega? Doskaga chizish: bo‘yinda tugunning tipik va atipik joylarini sxema qiling. Tipik xato: sirtmoqni tugunning o‘zidan kesib, tugunni buzib qo‘yish.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osilishda o‘lim bitta sabab bilan tushuntirilmaydi? 2) Yurakning reflektor to‘xtashi qaysi nerv tuzilmalari bilan bog‘liq? Doskada chizish: bo‘yin kesimi va qisilayotgan tuzilmalar (havo yo‘li, venalar, arteriyalar, nervlar) sxemasi. Tipik xato: osilishda o‘lim faqat havo yo‘lining to‘liq yopilishidan deb o‘ylash. Manbaga ko‘ra havo yo‘li ko‘pincha faqat torayadi.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Egatning qaysi belgilari sirtmoq bilan taqqoslash uchun kerak? 2) Nega tugunni buzmasdan, qarama-qarshi tomondan kesiladi? Doskada chizish: bo‘yin va egat yo‘nalishi (tipik va atipik) sxemasi. Tipik xato: tipik va atipik atamalarini tugun joyi emas, egat chuqurligi bilan bog‘lash. Jadval 5.5 dagi sakkiz mezonni talabalar bilan birga sanab chiqing.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daqiqa. Muhokama: 1) Egat hayotiyligi qaysi holatlarda ayniqsa muhim? 2) Cho‘zilish belgilari nega sirtmoq bilan bo‘g‘ishda uchramaydi? Doskada chizish: Bokarius sinamasi bosqichlari (teri laxtagi, yog‘dan tozalash, ikki oynacha orasida yorug‘likda ko‘rish). Tipik xato: Kasper belgisini chalkashtirish. Osilishda bu mis sim belgisi; cho‘kishda esa yurak chap kameralaridagi qonning ochroq bo‘lishi. Tezkor savol: Amyuss belgisi nimani bildiradi?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Egatning qaysi xususiyatlari (joyi, yo‘nalishi, kengligi, chuqurligi) sirtmoq turini aniqlashga yordam beradi? 2) Bokarius sinamasida hayotiylikni nima tasdiqlaydi (egat burmachasida to‘laqonlik, qon quyilish)? Doskada chizish: bo‘yin sxemasida tipik va atipik egat joyini, til osti suyagi sathini belgilang. Tipik xato: yumshoq sirtmoqda tashqi egat ko‘rinmasa, osilishni inkor qilish. Bunda ichki tekshiruvdagi “mis sim belgisi”ni (Kasper) eslatish kerak.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bo‘g‘ishda yurak reflektor to‘xtashi ko‘proq uchraydi? 2) Cho‘zilish belgilari nima uchun faqat osilishda bo‘ladi? Doskada chizish: ikki ustunli jadvalni talabalar o‘zlari to‘ldirsin. Tipik xato: “Osilish ≠ bo‘g‘ish” farqini unutib, egat yo‘nalishini aralashtirish. Osilishda qiyshiq va yuqori, bo‘g‘ishda gorizontal va pastroq.</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qo‘l bilan bo‘g‘ishda ichki jarohatlar tashqisidan ustun? 2) Pozitsion asfiksiyada tashxis nimaga tayanadi? Doskada chizish: bo‘yin old va orqa yuzasida old tomondan ikki qo‘l bilan bo‘g‘ishdagi barmoq izlarining joyini belgilang. Tipik xato: bo‘yin burmasini strangulyatsion egat deb qabul qilish, vaholanki ichki tekshiruvda burma proeksiyasida faqat oqimtir yo‘lka va ayrim qon quyilishlar topiladi.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Qarshilik bo‘lmaganda nega xos belgi topilmaydi? 2) Qaysi holatlar yot jism aspiratsiyasiga moyillik yaratadi? Doskada: obturatsion asfiksiyaning ikki turini (teshiklar, yo‘llar) va ularning sabablarini sxema qilib chizing. Tipik xato: nafas teshiklari yopilishini nafas yo‘llari yopilishi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Reanimatsiya qusuqning nafas yo‘liga tushishiga qanday ta’sir qiladi? 2) Hodisa joyi ma’lumotlari tashxisda nima beradi? Doskada: aspiratsiya hayotiy va o‘limdan keyingi bo‘lgan holatlarini ikki ustunda taqqoslang. Tipik xato: faqat qusuq topilganiga qarab obturatsiya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Cho‘kish turi nimaga bog‘liq? 2) Nega umumasfiktik belgilar cho‘kishning barcha turlarida bo‘lishi mumkin? Doskada: chin va asfiktik cho‘kishda suvning nafas yo‘llaridagi yo‘lini chizing. Tipik xato: asfiktik cho‘kishda suv umuman bo‘lmaydi deb o‘ylash; aslida suv ko‘proq oshqozonga o‘tadi.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asfiktik cho‘kishda o‘pka quruq, chin cho‘kishda xamirsimon? 2) Havo emboliyasini aniqlashda nega chap qorincha teshiladi? Doskada: laringospazm va suv yo‘lini ikki tarmoqli sxema qilib chizdiring. Tipik xato: Rasskazov-Lukomskiy-Paltauf dog‘larini Tarde dog‘lari bilan aralashtirish (ular epikard ostida bo‘lmaydi). Qo‘shimcha belgilar: Moro (qorin bo‘shlig‘ida ~100 ml suyuqlik), Sveshnikov (kalla asosida 5-15 ml suyuqlik), limfogemiya.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Chuchuk va sho‘r suvda qon tarkibi qanday o‘zgaradi? 2) Nega suvdagi to‘satdan o‘limni «sinkopal cho‘kish» emas, to‘satdan o‘lim deyish to‘g‘riroq? Doskada: osmotik bosim yo‘nalishini strelkalar bilan chizdiring (chuchuk va sho‘r suv). Tipik xato: sho‘r suvda ham chin cho‘kishdagi kabi qon suyulishini kutish (aksincha, qon quyuqlashadi).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o‘pkada topilgan diatom hayotiylikni isbotlamaydi? 2) Nega murda topilgan havzadan suv namunasi olinadi? Doskada: diatomning qon aylanishi orqali parenximatoz a’zolargacha yo‘lini chizdiring. Qo‘shimcha ma’lumot: plankton odatda 15-50 mk, ba’zan 200 mk gacha; krioskopik, refraktometrik va elektr o‘tkazuvchanlik tekshiruvlari yurakning chap va o‘ng kameralaridagi qonni taqqoslashga asoslanadi; bakteriyalar: Pseudomonas putida, P. fluorescens. Tipik xato: o‘pkadagi planktonni hayotiylik belgisi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Teridagi o‘zgarishlar murdaning suvda yotgan muddatini qanday ko‘rsatadi? 2) Suvdan chiqqan murdadagi jarohatni hayotiy va o‘limdan keyingisidan qanday farqlaymiz? Doskada: kunlar bo‘yicha teri o‘zgarishlari (soatlar – 2-5 kun – 5-8 kun – 2-3 hafta) chizig‘ini chizdiring. Tipik xato: suvda yotganlik belgilarini o‘lim sababi (cho‘kish) belgisi deb hisoblash. Bu belgilar o‘lim sababi bilan bog‘liq emas.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Javob: A – chin (aspiratsion), B – asfiktik cho‘kish; asfiktik turda kalla asosi bo‘shlig‘idagi suyuqlik tekshiriladi. Muhokama: 1) Nega asfiktik turda suv alveolalargacha yetmaydi (laringospazm)? 2) Nega o‘pkadagi planktonning o‘zi yetarli emas? Doskada: ikki ustunli taqqoslash (ko‘pik, o‘pka, plankton) chizdiring. Tipik xato: o‘pkada plankton topilsa, chin cho‘kish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faqat ko‘krak qisilishi faqat qorin qisilishidan xavfliroq (yurak, diafragma harakati)? 2) Olomon halokatida o‘lim sababini aniqlashda qanday raqobatli sabablar bor? Doskada: ko‘krak va qorin qisilishining turlari bo‘yicha o‘lim tezligi tartibini chizdiring. Tipik xato: Olive-Danjer (ekximotik niqob) va Lakkasan (karmin shishishi) belgilarini aralashtirish. Birinchisi teri va ko‘z shilliq pardasida, ikkinchisi o‘pkada bo‘ladi.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bolalar uchun xavfli karbonat angidrid chegarasi pastroq? 2) Quduqda topilgan murdada toksik moddalar rolini qanday baholaysiz? Doskada: yopiq muhitda O2 pasayishi va CO2 ortishini ikki qarama-qarshi strelka bilan chizing. Tipik xato: o‘limni faqat kislorod tanqisligi bilan izohlash, karbonat angidrid rolini unutish. Qo‘shimcha: autoasfiksiofiliyada qopcha usuli baxtsiz hodisa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belgilar tur uchun xos, qaysilari barcha asfiksiyada umumiy? 2) Nega klinitsist uchun postasfiktik o‘zgarishlar va to‘liq tibbiy hujjatlar muhim (tugallanmagan asfiksiyada yordam ko‘rsatish, jarohat og‘irligi va o‘lim sababini aniqlash; G‘iyosov, 109-110-betlar)? Doskada: uch tur bo‘yicha tasniflash daraxtini chizing va har turga bittadan xos belgi yozing. Tipik xato: umumasfiktik belgilarni bitta o‘zi asfiksiya isboti deb hisoblash. Javob: bolalarda 2,0-2,5%, kattalarda o‘lim odatda 8-10% 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Mexanik asfiksiya.</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mexanik asfiksiya va mashg‘ulot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 uchun muhitda yetarli kislorod bo‘lishi va organizm uni o‘zlashtirishi asosiy shartlardan biridir.</a:t>
            </a:r>
          </a:p>
          <a:p>
            <a:pPr>
              <a:spcAft>
                <a:spcPts val="1200"/>
              </a:spcAft>
            </a:pPr>
            <a:r>
              <a:rPr sz="2200">
                <a:solidFill>
                  <a:srgbClr val="1F2937"/>
                </a:solidFill>
                <a:latin typeface="Calibri"/>
              </a:rPr>
              <a:t>▸  Kislorodning 98,5–99,0% nafas a’zolari orqali, qolgani teri, oshqozon va ichaklar orqali olinadi.</a:t>
            </a:r>
          </a:p>
          <a:p>
            <a:pPr>
              <a:spcAft>
                <a:spcPts val="1200"/>
              </a:spcAft>
            </a:pPr>
            <a:r>
              <a:rPr sz="2200">
                <a:solidFill>
                  <a:srgbClr val="1F2937"/>
                </a:solidFill>
                <a:latin typeface="Calibri"/>
              </a:rPr>
              <a:t>▸  Tinch holatda bir minutda 6–8 l havo kerak; jismoniy zo‘riqishda ehtiyoj ba’zan 10–20 barobar ortadi.</a:t>
            </a:r>
          </a:p>
          <a:p>
            <a:pPr>
              <a:spcAft>
                <a:spcPts val="1200"/>
              </a:spcAft>
            </a:pPr>
            <a:r>
              <a:rPr sz="2200">
                <a:solidFill>
                  <a:srgbClr val="1F2937"/>
                </a:solidFill>
                <a:latin typeface="Calibri"/>
              </a:rPr>
              <a:t>▸  Tugallanmagan asfiksiyada bemorlarga tibbiy muassasada yordam beriladi, shuning uchun klinitsist ham mexanizmni bilishi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103, 109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 turlari va rivojlanish jadalligi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Ekzogen: gipoksik, giperoksik, giperkapnik; oxirgisida karbonat angidrid ko‘payadi.</a:t>
            </a:r>
          </a:p>
          <a:p>
            <a:pPr>
              <a:spcAft>
                <a:spcPts val="800"/>
              </a:spcAft>
            </a:pPr>
            <a:r>
              <a:rPr sz="1800">
                <a:solidFill>
                  <a:srgbClr val="1F2937"/>
                </a:solidFill>
                <a:latin typeface="Calibri"/>
              </a:rPr>
              <a:t>▸  Endogen: respirator, sirkulyator, gemik, sitotoksik va fiziologik turlar.</a:t>
            </a:r>
          </a:p>
          <a:p>
            <a:pPr>
              <a:spcAft>
                <a:spcPts val="800"/>
              </a:spcAft>
            </a:pPr>
            <a:r>
              <a:rPr sz="1800">
                <a:solidFill>
                  <a:srgbClr val="1F2937"/>
                </a:solidFill>
                <a:latin typeface="Calibri"/>
              </a:rPr>
              <a:t>▸  Sud tibbiyotida yashinsimon va o‘tkir turlar ko‘p uchraydigan ekspertiza obyektidir.</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2417360"/>
                <a:gridCol w="2870615"/>
              </a:tblGrid>
              <a:tr h="411480">
                <a:tc>
                  <a:txBody>
                    <a:bodyPr/>
                    <a:lstStyle/>
                    <a:p>
                      <a:r>
                        <a:rPr sz="1400" b="1">
                          <a:solidFill>
                            <a:srgbClr val="FFFFFF"/>
                          </a:solidFill>
                        </a:rPr>
                        <a:t>Shakl</a:t>
                      </a:r>
                    </a:p>
                  </a:txBody>
                  <a:tcPr marL="73152" marR="73152" marT="36576" marB="36576">
                    <a:solidFill>
                      <a:srgbClr val="0B1F3A"/>
                    </a:solidFill>
                  </a:tcPr>
                </a:tc>
                <a:tc>
                  <a:txBody>
                    <a:bodyPr/>
                    <a:lstStyle/>
                    <a:p>
                      <a:r>
                        <a:rPr sz="1400" b="1">
                          <a:solidFill>
                            <a:srgbClr val="FFFFFF"/>
                          </a:solidFill>
                        </a:rPr>
                        <a:t>Davomiyligi</a:t>
                      </a:r>
                    </a:p>
                  </a:txBody>
                  <a:tcPr marL="73152" marR="73152" marT="36576" marB="36576">
                    <a:solidFill>
                      <a:srgbClr val="0B1F3A"/>
                    </a:solidFill>
                  </a:tcPr>
                </a:tc>
              </a:tr>
              <a:tr h="411480">
                <a:tc>
                  <a:txBody>
                    <a:bodyPr/>
                    <a:lstStyle/>
                    <a:p>
                      <a:r>
                        <a:rPr sz="1300" b="0">
                          <a:solidFill>
                            <a:srgbClr val="1F2937"/>
                          </a:solidFill>
                        </a:rPr>
                        <a:t>Yashinsimon</a:t>
                      </a:r>
                    </a:p>
                  </a:txBody>
                  <a:tcPr marL="73152" marR="73152" marT="36576" marB="36576">
                    <a:solidFill>
                      <a:srgbClr val="E8EEF6"/>
                    </a:solidFill>
                  </a:tcPr>
                </a:tc>
                <a:tc>
                  <a:txBody>
                    <a:bodyPr/>
                    <a:lstStyle/>
                    <a:p>
                      <a:r>
                        <a:rPr sz="1300" b="0">
                          <a:solidFill>
                            <a:srgbClr val="1F2937"/>
                          </a:solidFill>
                        </a:rPr>
                        <a:t>soniyalarda</a:t>
                      </a:r>
                    </a:p>
                  </a:txBody>
                  <a:tcPr marL="73152" marR="73152" marT="36576" marB="36576">
                    <a:solidFill>
                      <a:srgbClr val="E8EEF6"/>
                    </a:solidFill>
                  </a:tcPr>
                </a:tc>
              </a:tr>
              <a:tr h="411480">
                <a:tc>
                  <a:txBody>
                    <a:bodyPr/>
                    <a:lstStyle/>
                    <a:p>
                      <a:r>
                        <a:rPr sz="1300" b="0">
                          <a:solidFill>
                            <a:srgbClr val="1F2937"/>
                          </a:solidFill>
                        </a:rPr>
                        <a:t>O‘tkir</a:t>
                      </a:r>
                    </a:p>
                  </a:txBody>
                  <a:tcPr marL="73152" marR="73152" marT="36576" marB="36576">
                    <a:solidFill>
                      <a:srgbClr val="FFFFFF"/>
                    </a:solidFill>
                  </a:tcPr>
                </a:tc>
                <a:tc>
                  <a:txBody>
                    <a:bodyPr/>
                    <a:lstStyle/>
                    <a:p>
                      <a:r>
                        <a:rPr sz="1300" b="0">
                          <a:solidFill>
                            <a:srgbClr val="1F2937"/>
                          </a:solidFill>
                        </a:rPr>
                        <a:t>daqiqalarda</a:t>
                      </a:r>
                    </a:p>
                  </a:txBody>
                  <a:tcPr marL="73152" marR="73152" marT="36576" marB="36576">
                    <a:solidFill>
                      <a:srgbClr val="FFFFFF"/>
                    </a:solidFill>
                  </a:tcPr>
                </a:tc>
              </a:tr>
              <a:tr h="411480">
                <a:tc>
                  <a:txBody>
                    <a:bodyPr/>
                    <a:lstStyle/>
                    <a:p>
                      <a:r>
                        <a:rPr sz="1300" b="0">
                          <a:solidFill>
                            <a:srgbClr val="1F2937"/>
                          </a:solidFill>
                        </a:rPr>
                        <a:t>Biroz o‘tkir</a:t>
                      </a:r>
                    </a:p>
                  </a:txBody>
                  <a:tcPr marL="73152" marR="73152" marT="36576" marB="36576">
                    <a:solidFill>
                      <a:srgbClr val="E8EEF6"/>
                    </a:solidFill>
                  </a:tcPr>
                </a:tc>
                <a:tc>
                  <a:txBody>
                    <a:bodyPr/>
                    <a:lstStyle/>
                    <a:p>
                      <a:r>
                        <a:rPr sz="1300" b="0">
                          <a:solidFill>
                            <a:srgbClr val="1F2937"/>
                          </a:solidFill>
                        </a:rPr>
                        <a:t>soatlarda</a:t>
                      </a:r>
                    </a:p>
                  </a:txBody>
                  <a:tcPr marL="73152" marR="73152" marT="36576" marB="36576">
                    <a:solidFill>
                      <a:srgbClr val="E8EEF6"/>
                    </a:solidFill>
                  </a:tcPr>
                </a:tc>
              </a:tr>
              <a:tr h="411480">
                <a:tc>
                  <a:txBody>
                    <a:bodyPr/>
                    <a:lstStyle/>
                    <a:p>
                      <a:r>
                        <a:rPr sz="1300" b="0">
                          <a:solidFill>
                            <a:srgbClr val="1F2937"/>
                          </a:solidFill>
                        </a:rPr>
                        <a:t>Surunkali</a:t>
                      </a:r>
                    </a:p>
                  </a:txBody>
                  <a:tcPr marL="73152" marR="73152" marT="36576" marB="36576">
                    <a:solidFill>
                      <a:srgbClr val="FFFFFF"/>
                    </a:solidFill>
                  </a:tcPr>
                </a:tc>
                <a:tc>
                  <a:txBody>
                    <a:bodyPr/>
                    <a:lstStyle/>
                    <a:p>
                      <a:r>
                        <a:rPr sz="1300" b="0">
                          <a:solidFill>
                            <a:srgbClr val="1F2937"/>
                          </a:solidFill>
                        </a:rPr>
                        <a:t>kun, hafta, oylarda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Rivojlanish jadalligi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103, 104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Asfiksiya va mexanik asfiksiya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Asfiksiya grekcha “pulsning yo‘qligi” ma’nosini bildiradi (a – inkor, sphygmos – puls).</a:t>
            </a:r>
          </a:p>
          <a:p>
            <a:pPr>
              <a:spcAft>
                <a:spcPts val="800"/>
              </a:spcAft>
            </a:pPr>
            <a:r>
              <a:rPr sz="1800">
                <a:solidFill>
                  <a:srgbClr val="1F2937"/>
                </a:solidFill>
                <a:latin typeface="Calibri"/>
              </a:rPr>
              <a:t>▸  Asfiksiyada kislorod kamayib, karbonat angidrid ortadi (gipoksiya + giperkapniya birga).</a:t>
            </a:r>
          </a:p>
          <a:p>
            <a:pPr>
              <a:spcAft>
                <a:spcPts val="800"/>
              </a:spcAft>
            </a:pPr>
            <a:r>
              <a:rPr sz="1800">
                <a:solidFill>
                  <a:srgbClr val="1F2937"/>
                </a:solidFill>
                <a:latin typeface="Calibri"/>
              </a:rPr>
              <a:t>▸  Mexanik omildan tashqi nafas buzilishi – mexanik asfiksiya; uch turi farqlanadi.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99706"/>
                <a:gridCol w="3588268"/>
              </a:tblGrid>
              <a:tr h="411480">
                <a:tc>
                  <a:txBody>
                    <a:bodyPr/>
                    <a:lstStyle/>
                    <a:p>
                      <a:r>
                        <a:rPr sz="1400" b="1">
                          <a:solidFill>
                            <a:srgbClr val="FFFFFF"/>
                          </a:solidFill>
                        </a:rPr>
                        <a:t>Tur</a:t>
                      </a:r>
                    </a:p>
                  </a:txBody>
                  <a:tcPr marL="73152" marR="73152" marT="36576" marB="36576">
                    <a:solidFill>
                      <a:srgbClr val="0B1F3A"/>
                    </a:solidFill>
                  </a:tcPr>
                </a:tc>
                <a:tc>
                  <a:txBody>
                    <a:bodyPr/>
                    <a:lstStyle/>
                    <a:p>
                      <a:r>
                        <a:rPr sz="1400" b="1">
                          <a:solidFill>
                            <a:srgbClr val="FFFFFF"/>
                          </a:solidFill>
                        </a:rPr>
                        <a:t>Ko‘rinishlari</a:t>
                      </a:r>
                    </a:p>
                  </a:txBody>
                  <a:tcPr marL="73152" marR="73152" marT="36576" marB="36576">
                    <a:solidFill>
                      <a:srgbClr val="0B1F3A"/>
                    </a:solidFill>
                  </a:tcPr>
                </a:tc>
              </a:tr>
              <a:tr h="411480">
                <a:tc>
                  <a:txBody>
                    <a:bodyPr/>
                    <a:lstStyle/>
                    <a:p>
                      <a:r>
                        <a:rPr sz="1300" b="0">
                          <a:solidFill>
                            <a:srgbClr val="1F2937"/>
                          </a:solidFill>
                        </a:rPr>
                        <a:t>Qisilishdan</a:t>
                      </a:r>
                    </a:p>
                  </a:txBody>
                  <a:tcPr marL="73152" marR="73152" marT="36576" marB="36576">
                    <a:solidFill>
                      <a:srgbClr val="E8EEF6"/>
                    </a:solidFill>
                  </a:tcPr>
                </a:tc>
                <a:tc>
                  <a:txBody>
                    <a:bodyPr/>
                    <a:lstStyle/>
                    <a:p>
                      <a:r>
                        <a:rPr sz="1300" b="0">
                          <a:solidFill>
                            <a:srgbClr val="1F2937"/>
                          </a:solidFill>
                        </a:rPr>
                        <a:t>bo‘yin va ko‘krak-qorin qisilishi</a:t>
                      </a:r>
                    </a:p>
                  </a:txBody>
                  <a:tcPr marL="73152" marR="73152" marT="36576" marB="36576">
                    <a:solidFill>
                      <a:srgbClr val="E8EEF6"/>
                    </a:solidFill>
                  </a:tcPr>
                </a:tc>
              </a:tr>
              <a:tr h="411480">
                <a:tc>
                  <a:txBody>
                    <a:bodyPr/>
                    <a:lstStyle/>
                    <a:p>
                      <a:r>
                        <a:rPr sz="1300" b="0">
                          <a:solidFill>
                            <a:srgbClr val="1F2937"/>
                          </a:solidFill>
                        </a:rPr>
                        <a:t>Yopilishdan</a:t>
                      </a:r>
                    </a:p>
                  </a:txBody>
                  <a:tcPr marL="73152" marR="73152" marT="36576" marB="36576">
                    <a:solidFill>
                      <a:srgbClr val="FFFFFF"/>
                    </a:solidFill>
                  </a:tcPr>
                </a:tc>
                <a:tc>
                  <a:txBody>
                    <a:bodyPr/>
                    <a:lstStyle/>
                    <a:p>
                      <a:r>
                        <a:rPr sz="1300" b="0">
                          <a:solidFill>
                            <a:srgbClr val="1F2937"/>
                          </a:solidFill>
                        </a:rPr>
                        <a:t>nafas teshiklari, yo‘llari, cho‘kish</a:t>
                      </a:r>
                    </a:p>
                  </a:txBody>
                  <a:tcPr marL="73152" marR="73152" marT="36576" marB="36576">
                    <a:solidFill>
                      <a:srgbClr val="FFFFFF"/>
                    </a:solidFill>
                  </a:tcPr>
                </a:tc>
              </a:tr>
              <a:tr h="411480">
                <a:tc>
                  <a:txBody>
                    <a:bodyPr/>
                    <a:lstStyle/>
                    <a:p>
                      <a:r>
                        <a:rPr sz="1300" b="0">
                          <a:solidFill>
                            <a:srgbClr val="1F2937"/>
                          </a:solidFill>
                        </a:rPr>
                        <a:t>Cheklangan muhitda</a:t>
                      </a:r>
                    </a:p>
                  </a:txBody>
                  <a:tcPr marL="73152" marR="73152" marT="36576" marB="36576">
                    <a:solidFill>
                      <a:srgbClr val="E8EEF6"/>
                    </a:solidFill>
                  </a:tcPr>
                </a:tc>
                <a:tc>
                  <a:txBody>
                    <a:bodyPr/>
                    <a:lstStyle/>
                    <a:p>
                      <a:r>
                        <a:rPr sz="1300" b="0">
                          <a:solidFill>
                            <a:srgbClr val="1F2937"/>
                          </a:solidFill>
                        </a:rPr>
                        <a:t>yopiq muhitda kislorod kamayishi</a:t>
                      </a:r>
                    </a:p>
                  </a:txBody>
                  <a:tcPr marL="73152" marR="73152" marT="36576" marB="36576">
                    <a:solidFill>
                      <a:srgbClr val="E8EEF6"/>
                    </a:solidFill>
                  </a:tcPr>
                </a:tc>
              </a:tr>
              <a:tr h="411480">
                <a:tc>
                  <a:txBody>
                    <a:bodyPr/>
                    <a:lstStyle/>
                    <a:p>
                      <a:r>
                        <a:rPr sz="1300" b="0">
                          <a:solidFill>
                            <a:srgbClr val="1F2937"/>
                          </a:solidFill>
                        </a:rPr>
                        <a:t>Qo‘shimcha holat</a:t>
                      </a:r>
                    </a:p>
                  </a:txBody>
                  <a:tcPr marL="73152" marR="73152" marT="36576" marB="36576">
                    <a:solidFill>
                      <a:srgbClr val="FFFFFF"/>
                    </a:solidFill>
                  </a:tcPr>
                </a:tc>
                <a:tc>
                  <a:txBody>
                    <a:bodyPr/>
                    <a:lstStyle/>
                    <a:p>
                      <a:r>
                        <a:rPr sz="1300" b="0">
                          <a:solidFill>
                            <a:srgbClr val="1F2937"/>
                          </a:solidFill>
                        </a:rPr>
                        <a:t>autoasfiksiofiliya (seksual asfiksiya)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Mexanik asfiksiya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104, 104–105, 105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Autoasfiksiofiliya (seksual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Autoasfiksiofiliyada jinsiy qo‘zg‘alish gipoksiya va giperkapniya sharoitida yuz beradi. Orgazm spontan yoki onanizm natijasida paydo bo‘ladi.</a:t>
            </a:r>
          </a:p>
          <a:p>
            <a:pPr>
              <a:spcAft>
                <a:spcPts val="1200"/>
              </a:spcAft>
            </a:pPr>
            <a:r>
              <a:rPr sz="2000">
                <a:solidFill>
                  <a:srgbClr val="1F2937"/>
                </a:solidFill>
                <a:latin typeface="Calibri"/>
              </a:rPr>
              <a:t>▸  Hodisa ko‘pincha jinsiy chetlanishga moyil o‘rta yoshdagi yolg‘iz erkaklarda uchraydi. Ba’zan yosh erkaklarda ham kuzatiladi.</a:t>
            </a:r>
          </a:p>
          <a:p>
            <a:pPr>
              <a:spcAft>
                <a:spcPts val="1200"/>
              </a:spcAft>
            </a:pPr>
            <a:r>
              <a:rPr sz="2000">
                <a:solidFill>
                  <a:srgbClr val="1F2937"/>
                </a:solidFill>
                <a:latin typeface="Calibri"/>
              </a:rPr>
              <a:t>▸  Xos belgi: asfiktik jarayon qo‘l, oyoq yoki turli moslamalar bilan boshqariladi. Ko‘pincha bo‘yin sirtmoq bilan qisiladi yoki boshga polietilen qopcha kiyiladi.</a:t>
            </a:r>
          </a:p>
          <a:p>
            <a:pPr>
              <a:spcAft>
                <a:spcPts val="1200"/>
              </a:spcAft>
            </a:pPr>
            <a:r>
              <a:rPr sz="2000">
                <a:solidFill>
                  <a:srgbClr val="1F2937"/>
                </a:solidFill>
                <a:latin typeface="Calibri"/>
              </a:rPr>
              <a:t>▸  O‘lim bilan tugasa, baxtsiz hodisa deb baholanadi. Joyda pornografik rasmlar, jinsiy a’zo imitatorlari, boshqa jins kiyimi topilishi, murdada yalang‘ochlanish va onanizm belgilari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105, 105-106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gipoksiya va asfiksiya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yolg‘iz yashovchi o‘rta yoshdagi erkak xonasida bo‘ynida sirtmoq bilan topildi. Yonida pornografik rasmlar bor.</a:t>
            </a:r>
          </a:p>
          <a:p>
            <a:pPr>
              <a:spcAft>
                <a:spcPts val="1200"/>
              </a:spcAft>
            </a:pPr>
            <a:r>
              <a:rPr sz="2200">
                <a:solidFill>
                  <a:srgbClr val="1F2937"/>
                </a:solidFill>
                <a:latin typeface="Calibri"/>
              </a:rPr>
              <a:t>▸  Murdada jinsiy a’zolar yalang‘ochlangan, onanizmga xos belgilar bor. Sirtmoqni qo‘l yoki moslama bilan boshqarish mumkin bo‘lgan.</a:t>
            </a:r>
          </a:p>
          <a:p>
            <a:pPr>
              <a:spcAft>
                <a:spcPts val="1200"/>
              </a:spcAft>
            </a:pPr>
            <a:r>
              <a:rPr sz="2200">
                <a:solidFill>
                  <a:srgbClr val="1F2937"/>
                </a:solidFill>
                <a:latin typeface="Calibri"/>
              </a:rPr>
              <a:t>▸  Asfiksiya: tashqi nafas buzilishidan kislorod tanqisligi va karbonat angidrid ko‘payishi. Gipoksiya giperkapniya bilan birga kechadi.</a:t>
            </a:r>
          </a:p>
          <a:p>
            <a:pPr>
              <a:spcAft>
                <a:spcPts val="1200"/>
              </a:spcAft>
            </a:pPr>
            <a:r>
              <a:rPr sz="2200">
                <a:solidFill>
                  <a:srgbClr val="1F2937"/>
                </a:solidFill>
                <a:latin typeface="Calibri"/>
              </a:rPr>
              <a:t>▸  Savol: bu hodisani qanday baholaysiz? Qaysi belgilar autoasfiksiofiliyaga ishora qiladi va nima uchun joyni sinchiklab ko‘rish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106, 105-106, 104-105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Preasfiktik davr va hansirash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Preasfiktik davr o‘rtacha 20-30 sek. davom etadi: nafas qisqa to‘xtaydi, keyin maromi sekinlashadi.</a:t>
            </a:r>
          </a:p>
          <a:p>
            <a:pPr>
              <a:spcAft>
                <a:spcPts val="800"/>
              </a:spcAft>
            </a:pPr>
            <a:r>
              <a:rPr sz="1800">
                <a:solidFill>
                  <a:srgbClr val="1F2937"/>
                </a:solidFill>
                <a:latin typeface="Calibri"/>
              </a:rPr>
              <a:t>▸  Kompensatsiya: aylanayotgan qon ko‘payadi, suyuqlashadi va hayotiy a’zolar foydasiga qayta taqsimlanadi.</a:t>
            </a:r>
          </a:p>
          <a:p>
            <a:pPr>
              <a:spcAft>
                <a:spcPts val="800"/>
              </a:spcAft>
            </a:pPr>
            <a:r>
              <a:rPr sz="1800">
                <a:solidFill>
                  <a:srgbClr val="1F2937"/>
                </a:solidFill>
                <a:latin typeface="Calibri"/>
              </a:rPr>
              <a:t>▸  Diqqat: inspiratorda arterial bosim pasayadi, ekspiratorda ko‘tariladi. Adashtirmang.</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10062"/>
                <a:gridCol w="2138956"/>
                <a:gridCol w="2138956"/>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Inspirator</a:t>
                      </a:r>
                    </a:p>
                  </a:txBody>
                  <a:tcPr marL="73152" marR="73152" marT="36576" marB="36576">
                    <a:solidFill>
                      <a:srgbClr val="0B1F3A"/>
                    </a:solidFill>
                  </a:tcPr>
                </a:tc>
                <a:tc>
                  <a:txBody>
                    <a:bodyPr/>
                    <a:lstStyle/>
                    <a:p>
                      <a:r>
                        <a:rPr sz="1300" b="1">
                          <a:solidFill>
                            <a:srgbClr val="FFFFFF"/>
                          </a:solidFill>
                        </a:rPr>
                        <a:t>Ekspirator</a:t>
                      </a:r>
                    </a:p>
                  </a:txBody>
                  <a:tcPr marL="73152" marR="73152" marT="36576" marB="36576">
                    <a:solidFill>
                      <a:srgbClr val="0B1F3A"/>
                    </a:solidFill>
                  </a:tcPr>
                </a:tc>
              </a:tr>
              <a:tr h="411480">
                <a:tc>
                  <a:txBody>
                    <a:bodyPr/>
                    <a:lstStyle/>
                    <a:p>
                      <a:r>
                        <a:rPr sz="1200" b="0">
                          <a:solidFill>
                            <a:srgbClr val="1F2937"/>
                          </a:solidFill>
                        </a:rPr>
                        <a:t>Nafas</a:t>
                      </a:r>
                    </a:p>
                  </a:txBody>
                  <a:tcPr marL="73152" marR="73152" marT="36576" marB="36576">
                    <a:solidFill>
                      <a:srgbClr val="E8EEF6"/>
                    </a:solidFill>
                  </a:tcPr>
                </a:tc>
                <a:tc>
                  <a:txBody>
                    <a:bodyPr/>
                    <a:lstStyle/>
                    <a:p>
                      <a:r>
                        <a:rPr sz="1200" b="0">
                          <a:solidFill>
                            <a:srgbClr val="1F2937"/>
                          </a:solidFill>
                        </a:rPr>
                        <a:t>Olish tezlashadi, davomiyroq</a:t>
                      </a:r>
                    </a:p>
                  </a:txBody>
                  <a:tcPr marL="73152" marR="73152" marT="36576" marB="36576">
                    <a:solidFill>
                      <a:srgbClr val="E8EEF6"/>
                    </a:solidFill>
                  </a:tcPr>
                </a:tc>
                <a:tc>
                  <a:txBody>
                    <a:bodyPr/>
                    <a:lstStyle/>
                    <a:p>
                      <a:r>
                        <a:rPr sz="1200" b="0">
                          <a:solidFill>
                            <a:srgbClr val="1F2937"/>
                          </a:solidFill>
                        </a:rPr>
                        <a:t>Chiqarish kuchli, davomiyroq</a:t>
                      </a:r>
                    </a:p>
                  </a:txBody>
                  <a:tcPr marL="73152" marR="73152" marT="36576" marB="36576">
                    <a:solidFill>
                      <a:srgbClr val="E8EEF6"/>
                    </a:solidFill>
                  </a:tcPr>
                </a:tc>
              </a:tr>
              <a:tr h="411480">
                <a:tc>
                  <a:txBody>
                    <a:bodyPr/>
                    <a:lstStyle/>
                    <a:p>
                      <a:r>
                        <a:rPr sz="1200" b="0">
                          <a:solidFill>
                            <a:srgbClr val="1F2937"/>
                          </a:solidFill>
                        </a:rPr>
                        <a:t>Plevra bosimi</a:t>
                      </a:r>
                    </a:p>
                  </a:txBody>
                  <a:tcPr marL="73152" marR="73152" marT="36576" marB="36576">
                    <a:solidFill>
                      <a:srgbClr val="FFFFFF"/>
                    </a:solidFill>
                  </a:tcPr>
                </a:tc>
                <a:tc>
                  <a:txBody>
                    <a:bodyPr/>
                    <a:lstStyle/>
                    <a:p>
                      <a:r>
                        <a:rPr sz="1200" b="0">
                          <a:solidFill>
                            <a:srgbClr val="1F2937"/>
                          </a:solidFill>
                        </a:rPr>
                        <a:t>Keskin pasayadi</a:t>
                      </a:r>
                    </a:p>
                  </a:txBody>
                  <a:tcPr marL="73152" marR="73152" marT="36576" marB="36576">
                    <a:solidFill>
                      <a:srgbClr val="FFFFFF"/>
                    </a:solidFill>
                  </a:tcPr>
                </a:tc>
                <a:tc>
                  <a:txBody>
                    <a:bodyPr/>
                    <a:lstStyle/>
                    <a:p>
                      <a:r>
                        <a:rPr sz="1200" b="0">
                          <a:solidFill>
                            <a:srgbClr val="1F2937"/>
                          </a:solidFill>
                        </a:rPr>
                        <a:t>Ortadi, ko‘krak kichrayadi</a:t>
                      </a:r>
                    </a:p>
                  </a:txBody>
                  <a:tcPr marL="73152" marR="73152" marT="36576" marB="36576">
                    <a:solidFill>
                      <a:srgbClr val="FFFFFF"/>
                    </a:solidFill>
                  </a:tcPr>
                </a:tc>
              </a:tr>
              <a:tr h="411480">
                <a:tc>
                  <a:txBody>
                    <a:bodyPr/>
                    <a:lstStyle/>
                    <a:p>
                      <a:r>
                        <a:rPr sz="1200" b="0">
                          <a:solidFill>
                            <a:srgbClr val="1F2937"/>
                          </a:solidFill>
                        </a:rPr>
                        <a:t>Qon bosimi</a:t>
                      </a:r>
                    </a:p>
                  </a:txBody>
                  <a:tcPr marL="73152" marR="73152" marT="36576" marB="36576">
                    <a:solidFill>
                      <a:srgbClr val="E8EEF6"/>
                    </a:solidFill>
                  </a:tcPr>
                </a:tc>
                <a:tc>
                  <a:txBody>
                    <a:bodyPr/>
                    <a:lstStyle/>
                    <a:p>
                      <a:r>
                        <a:rPr sz="1200" b="0">
                          <a:solidFill>
                            <a:srgbClr val="1F2937"/>
                          </a:solidFill>
                        </a:rPr>
                        <a:t>Arterial pasayadi, venoz ortadi</a:t>
                      </a:r>
                    </a:p>
                  </a:txBody>
                  <a:tcPr marL="73152" marR="73152" marT="36576" marB="36576">
                    <a:solidFill>
                      <a:srgbClr val="E8EEF6"/>
                    </a:solidFill>
                  </a:tcPr>
                </a:tc>
                <a:tc>
                  <a:txBody>
                    <a:bodyPr/>
                    <a:lstStyle/>
                    <a:p>
                      <a:r>
                        <a:rPr sz="1200" b="0">
                          <a:solidFill>
                            <a:srgbClr val="1F2937"/>
                          </a:solidFill>
                        </a:rPr>
                        <a:t>Arterial ko‘tariladi, venoz kamayadi</a:t>
                      </a:r>
                    </a:p>
                  </a:txBody>
                  <a:tcPr marL="73152" marR="73152" marT="36576" marB="36576">
                    <a:solidFill>
                      <a:srgbClr val="E8EEF6"/>
                    </a:solidFill>
                  </a:tcPr>
                </a:tc>
              </a:tr>
              <a:tr h="411480">
                <a:tc>
                  <a:txBody>
                    <a:bodyPr/>
                    <a:lstStyle/>
                    <a:p>
                      <a:r>
                        <a:rPr sz="1200" b="0">
                          <a:solidFill>
                            <a:srgbClr val="1F2937"/>
                          </a:solidFill>
                        </a:rPr>
                        <a:t>Puls, talvasa</a:t>
                      </a:r>
                    </a:p>
                  </a:txBody>
                  <a:tcPr marL="73152" marR="73152" marT="36576" marB="36576">
                    <a:solidFill>
                      <a:srgbClr val="FFFFFF"/>
                    </a:solidFill>
                  </a:tcPr>
                </a:tc>
                <a:tc>
                  <a:txBody>
                    <a:bodyPr/>
                    <a:lstStyle/>
                    <a:p>
                      <a:r>
                        <a:rPr sz="1200" b="0">
                          <a:solidFill>
                            <a:srgbClr val="1F2937"/>
                          </a:solidFill>
                        </a:rPr>
                        <a:t>Puls sekin; 40-60 sek.da hush ketadi</a:t>
                      </a:r>
                    </a:p>
                  </a:txBody>
                  <a:tcPr marL="73152" marR="73152" marT="36576" marB="36576">
                    <a:solidFill>
                      <a:srgbClr val="FFFFFF"/>
                    </a:solidFill>
                  </a:tcPr>
                </a:tc>
                <a:tc>
                  <a:txBody>
                    <a:bodyPr/>
                    <a:lstStyle/>
                    <a:p>
                      <a:r>
                        <a:rPr sz="1200" b="0">
                          <a:solidFill>
                            <a:srgbClr val="1F2937"/>
                          </a:solidFill>
                        </a:rPr>
                        <a:t>Puls tez; kuchli klonik talvasa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Hansirash bosqichlari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Nafas to‘xtashidan klinik o‘limgacha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Nafasning qisqa to‘xtashi 30–40 soniya davom etadi; mushaklar bo‘shashadi, reflekslar so‘na boshlaydi.</a:t>
            </a:r>
          </a:p>
          <a:p>
            <a:pPr>
              <a:spcAft>
                <a:spcPts val="800"/>
              </a:spcAft>
            </a:pPr>
            <a:r>
              <a:rPr sz="1800">
                <a:solidFill>
                  <a:srgbClr val="1F2937"/>
                </a:solidFill>
                <a:latin typeface="Calibri"/>
              </a:rPr>
              <a:t>▸  Terminal nafas: noritmik, turli chuqurlikdagi harakatlar, og‘iz ochiladi; 5 daqiqagacha davom etadi.</a:t>
            </a:r>
          </a:p>
          <a:p>
            <a:pPr>
              <a:spcAft>
                <a:spcPts val="800"/>
              </a:spcAft>
            </a:pPr>
            <a:r>
              <a:rPr sz="1800">
                <a:solidFill>
                  <a:srgbClr val="1F2937"/>
                </a:solidFill>
                <a:latin typeface="Calibri"/>
              </a:rPr>
              <a:t>▸  To‘liq to‘xtashda nafas markazi falajlanadi; yurak yana 3–10 daqiqa urishi, so‘ng klinik o‘lim boshlanishi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Nafasning qisqa to‘xtashi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Terminal nafas olish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Nafasning to‘liq to‘xtashi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Yurak urishi (3–10 daq)</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Klinik o‘lim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Bosqichlar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106, 106-107, 107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Yurakning reflektor to‘xtashi va Minovichi tajribasi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Mexanik asfiksiyadan o‘limda bosh miya gipoksiyasi bilan birga yurakning to‘xtashi ham muhim ahamiyatga ega.</a:t>
            </a:r>
          </a:p>
          <a:p>
            <a:pPr>
              <a:spcAft>
                <a:spcPts val="1200"/>
              </a:spcAft>
            </a:pPr>
            <a:r>
              <a:rPr sz="2200">
                <a:solidFill>
                  <a:srgbClr val="1F2937"/>
                </a:solidFill>
                <a:latin typeface="Calibri"/>
              </a:rPr>
              <a:t>▸  Reflektor to‘xtash karotid sinus, hiqildoq, traxeya, bronxlar retseptorlari ta’sirlanishi yoki adashgan va yuqori hiqildoq nervi shikastlanishidan bo‘ladi.</a:t>
            </a:r>
          </a:p>
          <a:p>
            <a:pPr>
              <a:spcAft>
                <a:spcPts val="1200"/>
              </a:spcAft>
            </a:pPr>
            <a:r>
              <a:rPr sz="2200">
                <a:solidFill>
                  <a:srgbClr val="1F2937"/>
                </a:solidFill>
                <a:latin typeface="Calibri"/>
              </a:rPr>
              <a:t>▸  Yurak 30 soniyagacha to‘xtasa, umumasfiktik belgilar ulgurmaydi va murda tekshiruvida aniqlanmasligi mumkin.</a:t>
            </a:r>
          </a:p>
          <a:p>
            <a:pPr>
              <a:spcAft>
                <a:spcPts val="1200"/>
              </a:spcAft>
            </a:pPr>
            <a:r>
              <a:rPr sz="2200">
                <a:solidFill>
                  <a:srgbClr val="1F2937"/>
                </a:solidFill>
                <a:latin typeface="Calibri"/>
              </a:rPr>
              <a:t>▸  Bosqichlar ma’lumoti shartli, taxminiy. N. Minovichi 1905-yilda assistentlari yordamida o‘zida osilish tajribasini o‘tkazgan.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asfiksiya kechishi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Preasfiktik davr o‘rtacha 20–30 soniya: nafas qisqa to‘xtaydi, so‘ng sekinlashadi; moslashuv tufayli belgilar rivojlanmaydi.</a:t>
            </a:r>
          </a:p>
          <a:p>
            <a:pPr>
              <a:spcAft>
                <a:spcPts val="1200"/>
              </a:spcAft>
            </a:pPr>
            <a:r>
              <a:rPr sz="2200">
                <a:solidFill>
                  <a:srgbClr val="1F2937"/>
                </a:solidFill>
                <a:latin typeface="Calibri"/>
              </a:rPr>
              <a:t>▸  Inspirator hansirashda nafas olish uzayadi, arterial bosim pasayadi, venoz bosim ortadi, puls sekinlashadi.</a:t>
            </a:r>
          </a:p>
          <a:p>
            <a:pPr>
              <a:spcAft>
                <a:spcPts val="1200"/>
              </a:spcAft>
            </a:pPr>
            <a:r>
              <a:rPr sz="2200">
                <a:solidFill>
                  <a:srgbClr val="1F2937"/>
                </a:solidFill>
                <a:latin typeface="Calibri"/>
              </a:rPr>
              <a:t>▸  Ekspirator hansirashda nafas chiqarish kuchayadi, arterial bosim ko‘tariladi, puls tezlashadi, klonik talvasalar bo‘ladi.</a:t>
            </a:r>
          </a:p>
          <a:p>
            <a:pPr>
              <a:spcAft>
                <a:spcPts val="1200"/>
              </a:spcAft>
            </a:pPr>
            <a:r>
              <a:rPr sz="2200">
                <a:solidFill>
                  <a:srgbClr val="1F2937"/>
                </a:solidFill>
                <a:latin typeface="Calibri"/>
              </a:rPr>
              <a:t>▸  Diqqat: inspirator ≠ ekspirator. Savol: qaysi bosqichda arterial bosim ko‘tarilib, puls tezlashadi?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Postasfiktik holat davrlari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Asfiksiya o‘limsiz tugasa, organizmda bir qator o‘zgarishlar qoladi. Ularning majmuyi postasfiktik holat deyiladi.</a:t>
            </a:r>
          </a:p>
          <a:p>
            <a:pPr>
              <a:spcAft>
                <a:spcPts val="800"/>
              </a:spcAft>
            </a:pPr>
            <a:r>
              <a:rPr sz="1800">
                <a:solidFill>
                  <a:srgbClr val="1F2937"/>
                </a:solidFill>
                <a:latin typeface="Calibri"/>
              </a:rPr>
              <a:t>▸  Koma bosqichlari: atoniya va arefleksiya, keyin detserebratsion rigidlik, oxirida tonik-klonik talvasalar.</a:t>
            </a:r>
          </a:p>
          <a:p>
            <a:pPr>
              <a:spcAft>
                <a:spcPts val="800"/>
              </a:spcAft>
            </a:pPr>
            <a:r>
              <a:rPr sz="1800">
                <a:solidFill>
                  <a:srgbClr val="1F2937"/>
                </a:solidFill>
                <a:latin typeface="Calibri"/>
              </a:rPr>
              <a:t>▸  Karaxtlikda hush asta tiklanadi: sopor, chuqur va yengil karaxtlik, so‘ng uyquchanlik.</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Asfiktik koma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Karaxtlik</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Dezorientatsiya va amneziya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Qoldiq oqibatlar</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Postasfiktik holat davrlari ketma-ketligi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107, 108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Postasfiktik oqibatlar va o‘lim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Vegetativ buzilishlar: terining giperesteziyasi, gipergidroz, “qorachiqlar o‘yini”, qusish, ixtiyorsiz siydik va axlat ajralishi.</a:t>
            </a:r>
          </a:p>
          <a:p>
            <a:pPr>
              <a:spcAft>
                <a:spcPts val="1200"/>
              </a:spcAft>
            </a:pPr>
            <a:r>
              <a:rPr sz="2000">
                <a:solidFill>
                  <a:srgbClr val="1F2937"/>
                </a:solidFill>
                <a:latin typeface="Calibri"/>
              </a:rPr>
              <a:t>▸  Asfiksiya 3 daqiqa va undan uzoq bo‘lsa, turg‘un gipotoniya, ichki a’zolar ishemiyasi, ba’zan miokard infarkti kuzatiladi. Dastlabki soatlarda o‘pka shishi noxush prognostik belgi.</a:t>
            </a:r>
          </a:p>
          <a:p>
            <a:pPr>
              <a:spcAft>
                <a:spcPts val="1200"/>
              </a:spcAft>
            </a:pPr>
            <a:r>
              <a:rPr sz="2000">
                <a:solidFill>
                  <a:srgbClr val="1F2937"/>
                </a:solidFill>
                <a:latin typeface="Calibri"/>
              </a:rPr>
              <a:t>▸  Jigarda gepatotsitlar distrofiyasi, buyrakda shok o‘zgarishlari, oshqozon-ichakda eroziya va yaralar bo‘ladi. Asorat: o‘tkir yetishmovchilik, perforatsiya, peritonit yoki ichki qon ketish.</a:t>
            </a:r>
          </a:p>
          <a:p>
            <a:pPr>
              <a:spcAft>
                <a:spcPts val="1200"/>
              </a:spcAft>
            </a:pPr>
            <a:r>
              <a:rPr sz="2000">
                <a:solidFill>
                  <a:srgbClr val="1F2937"/>
                </a:solidFill>
                <a:latin typeface="Calibri"/>
              </a:rPr>
              <a:t>▸  O‘lim sababi: dastlabki minut va soatlarda asfiktik koma, birinchi sutkada o‘pka va miya shishi, keyinroq gipostatik pnevmoniya.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qutqarilgan jabrlanuvchi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suvda cho‘kayotgan shaxs qutqarib olindi. Asfiktik ta’sir o‘limsiz tugadi, uni tibbiy muassasaga olib kelishdi.</a:t>
            </a:r>
          </a:p>
          <a:p>
            <a:pPr>
              <a:spcAft>
                <a:spcPts val="1200"/>
              </a:spcAft>
            </a:pPr>
            <a:r>
              <a:rPr sz="2200">
                <a:solidFill>
                  <a:srgbClr val="1F2937"/>
                </a:solidFill>
                <a:latin typeface="Calibri"/>
              </a:rPr>
              <a:t>▸  Ko‘rik: hushi tiklangan, lekin zamon va makonda chalkashadi, xotiradagi bo‘shliqni soxta xotira bilan to‘ldiradi, retrograd amneziya bor.</a:t>
            </a:r>
          </a:p>
          <a:p>
            <a:pPr>
              <a:spcAft>
                <a:spcPts val="1200"/>
              </a:spcAft>
            </a:pPr>
            <a:r>
              <a:rPr sz="2200">
                <a:solidFill>
                  <a:srgbClr val="1F2937"/>
                </a:solidFill>
                <a:latin typeface="Calibri"/>
              </a:rPr>
              <a:t>▸  Savol: bu postasfiktik holatning qaysi davri? Mutanosib yordam ko‘rsatilmasa, qanday qoldiq oqibatlar qolishi mumkin?</a:t>
            </a:r>
          </a:p>
          <a:p>
            <a:pPr>
              <a:spcAft>
                <a:spcPts val="1200"/>
              </a:spcAft>
            </a:pPr>
            <a:r>
              <a:rPr sz="2200">
                <a:solidFill>
                  <a:srgbClr val="1F2937"/>
                </a:solidFill>
                <a:latin typeface="Calibri"/>
              </a:rPr>
              <a:t>▸  Tibbiy hujjatlar to‘laqonli ma’lumot saqlasa, tana jarohati og‘irligini yoki o‘lim sababini aniqlashda juda muhim.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107, 108, 109, 110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asfiksiyaning umumiy belgilari: tashqi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Yuz va bo‘yin sianozi hansirash vaqtidagi talvasalarda paydo bo‘ladi, lekin turg‘un emas. Murda chalqancha yotsa, qon pastga oqib, ko‘kimtirlik yo‘qolishi mumkin.</a:t>
            </a:r>
          </a:p>
          <a:p>
            <a:pPr>
              <a:spcAft>
                <a:spcPts val="1200"/>
              </a:spcAft>
            </a:pPr>
            <a:r>
              <a:rPr sz="2000">
                <a:solidFill>
                  <a:srgbClr val="1F2937"/>
                </a:solidFill>
                <a:latin typeface="Calibri"/>
              </a:rPr>
              <a:t>▸  Ko‘lamli ko‘kimtir-binafsha murda dog‘lari o‘limdan so‘ng bir soatgacha tez paydo bo‘ladi: qon suyuq va karbonat angidridga to‘yingan. Fonida mayda qon quyilishlar bo‘lishi mumkin.</a:t>
            </a:r>
          </a:p>
          <a:p>
            <a:pPr>
              <a:spcAft>
                <a:spcPts val="1200"/>
              </a:spcAft>
            </a:pPr>
            <a:r>
              <a:rPr sz="2000">
                <a:solidFill>
                  <a:srgbClr val="1F2937"/>
                </a:solidFill>
                <a:latin typeface="Calibri"/>
              </a:rPr>
              <a:t>▸  Ko‘z konyunktivasida mayda qon quyilishlar (subkonyunktival ekximozlar) hansirashda bosim keskin o‘zgarishidan chiqadi. Midriaz (qorachiq kengayishi) noturg‘un belgi: katexolaminlar ta’siri.</a:t>
            </a:r>
          </a:p>
          <a:p>
            <a:pPr>
              <a:spcAft>
                <a:spcPts val="1200"/>
              </a:spcAft>
            </a:pPr>
            <a:r>
              <a:rPr sz="2000">
                <a:solidFill>
                  <a:srgbClr val="1F2937"/>
                </a:solidFill>
                <a:latin typeface="Calibri"/>
              </a:rPr>
              <a:t>▸  Talvasada silliq mushaklar qisqarib, ixtiyorsiz siydik va axlat ajraladi; erkaklarda sperma, ayollarda bachadon bo‘yni shilliq tiqini chiqadi.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Umumiy belgilar: ichki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Yurakning o‘ng kameralari chapga nisbatan qonga ko‘proq to‘ladi (asfiktik yurak).</a:t>
            </a:r>
          </a:p>
          <a:p>
            <a:pPr>
              <a:spcAft>
                <a:spcPts val="800"/>
              </a:spcAft>
            </a:pPr>
            <a:r>
              <a:rPr sz="1800">
                <a:solidFill>
                  <a:srgbClr val="1F2937"/>
                </a:solidFill>
                <a:latin typeface="Calibri"/>
              </a:rPr>
              <a:t>▸  O‘pkalarning qisman emfizemasi hansirash bosqichlarida vujudga keladi.</a:t>
            </a:r>
          </a:p>
          <a:p>
            <a:pPr>
              <a:spcAft>
                <a:spcPts val="800"/>
              </a:spcAft>
            </a:pPr>
            <a:r>
              <a:rPr sz="1800">
                <a:solidFill>
                  <a:srgbClr val="1F2937"/>
                </a:solidFill>
                <a:latin typeface="Calibri"/>
              </a:rPr>
              <a:t>▸  Tarde dog‘lari o‘pka bo‘laklari oralig‘i, diafragmal plevra va yurakning orqa yuzasida ko‘proq topiladi.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62658"/>
                <a:gridCol w="3525316"/>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Sababi</a:t>
                      </a:r>
                    </a:p>
                  </a:txBody>
                  <a:tcPr marL="73152" marR="73152" marT="36576" marB="36576">
                    <a:solidFill>
                      <a:srgbClr val="0B1F3A"/>
                    </a:solidFill>
                  </a:tcPr>
                </a:tc>
              </a:tr>
              <a:tr h="411480">
                <a:tc>
                  <a:txBody>
                    <a:bodyPr/>
                    <a:lstStyle/>
                    <a:p>
                      <a:r>
                        <a:rPr sz="1300" b="0">
                          <a:solidFill>
                            <a:srgbClr val="1F2937"/>
                          </a:solidFill>
                        </a:rPr>
                        <a:t>To‘q qizil suyuq qon</a:t>
                      </a:r>
                    </a:p>
                  </a:txBody>
                  <a:tcPr marL="73152" marR="73152" marT="36576" marB="36576">
                    <a:solidFill>
                      <a:srgbClr val="E8EEF6"/>
                    </a:solidFill>
                  </a:tcPr>
                </a:tc>
                <a:tc>
                  <a:txBody>
                    <a:bodyPr/>
                    <a:lstStyle/>
                    <a:p>
                      <a:r>
                        <a:rPr sz="1300" b="0">
                          <a:solidFill>
                            <a:srgbClr val="1F2937"/>
                          </a:solidFill>
                        </a:rPr>
                        <a:t>Giperkapniya; fibrinogenaza faolligi ↑</a:t>
                      </a:r>
                    </a:p>
                  </a:txBody>
                  <a:tcPr marL="73152" marR="73152" marT="36576" marB="36576">
                    <a:solidFill>
                      <a:srgbClr val="E8EEF6"/>
                    </a:solidFill>
                  </a:tcPr>
                </a:tc>
              </a:tr>
              <a:tr h="411480">
                <a:tc>
                  <a:txBody>
                    <a:bodyPr/>
                    <a:lstStyle/>
                    <a:p>
                      <a:r>
                        <a:rPr sz="1300" b="0">
                          <a:solidFill>
                            <a:srgbClr val="1F2937"/>
                          </a:solidFill>
                        </a:rPr>
                        <a:t>Asfiktik yurak</a:t>
                      </a:r>
                    </a:p>
                  </a:txBody>
                  <a:tcPr marL="73152" marR="73152" marT="36576" marB="36576">
                    <a:solidFill>
                      <a:srgbClr val="FFFFFF"/>
                    </a:solidFill>
                  </a:tcPr>
                </a:tc>
                <a:tc>
                  <a:txBody>
                    <a:bodyPr/>
                    <a:lstStyle/>
                    <a:p>
                      <a:r>
                        <a:rPr sz="1300" b="0">
                          <a:solidFill>
                            <a:srgbClr val="1F2937"/>
                          </a:solidFill>
                        </a:rPr>
                        <a:t>Kichik doira bosimi ↑, nafas oldin to‘xtaydi</a:t>
                      </a:r>
                    </a:p>
                  </a:txBody>
                  <a:tcPr marL="73152" marR="73152" marT="36576" marB="36576">
                    <a:solidFill>
                      <a:srgbClr val="FFFFFF"/>
                    </a:solidFill>
                  </a:tcPr>
                </a:tc>
              </a:tr>
              <a:tr h="411480">
                <a:tc>
                  <a:txBody>
                    <a:bodyPr/>
                    <a:lstStyle/>
                    <a:p>
                      <a:r>
                        <a:rPr sz="1300" b="0">
                          <a:solidFill>
                            <a:srgbClr val="1F2937"/>
                          </a:solidFill>
                        </a:rPr>
                        <a:t>Venoz to‘laqonlik</a:t>
                      </a:r>
                    </a:p>
                  </a:txBody>
                  <a:tcPr marL="73152" marR="73152" marT="36576" marB="36576">
                    <a:solidFill>
                      <a:srgbClr val="E8EEF6"/>
                    </a:solidFill>
                  </a:tcPr>
                </a:tc>
                <a:tc>
                  <a:txBody>
                    <a:bodyPr/>
                    <a:lstStyle/>
                    <a:p>
                      <a:r>
                        <a:rPr sz="1300" b="0">
                          <a:solidFill>
                            <a:srgbClr val="1F2937"/>
                          </a:solidFill>
                        </a:rPr>
                        <a:t>Kichik doira gipertenziyasi</a:t>
                      </a:r>
                    </a:p>
                  </a:txBody>
                  <a:tcPr marL="73152" marR="73152" marT="36576" marB="36576">
                    <a:solidFill>
                      <a:srgbClr val="E8EEF6"/>
                    </a:solidFill>
                  </a:tcPr>
                </a:tc>
              </a:tr>
              <a:tr h="411480">
                <a:tc>
                  <a:txBody>
                    <a:bodyPr/>
                    <a:lstStyle/>
                    <a:p>
                      <a:r>
                        <a:rPr sz="1300" b="0">
                          <a:solidFill>
                            <a:srgbClr val="1F2937"/>
                          </a:solidFill>
                        </a:rPr>
                        <a:t>Tarde dog‘lari</a:t>
                      </a:r>
                    </a:p>
                  </a:txBody>
                  <a:tcPr marL="73152" marR="73152" marT="36576" marB="36576">
                    <a:solidFill>
                      <a:srgbClr val="FFFFFF"/>
                    </a:solidFill>
                  </a:tcPr>
                </a:tc>
                <a:tc>
                  <a:txBody>
                    <a:bodyPr/>
                    <a:lstStyle/>
                    <a:p>
                      <a:r>
                        <a:rPr sz="1300" b="0">
                          <a:solidFill>
                            <a:srgbClr val="1F2937"/>
                          </a:solidFill>
                        </a:rPr>
                        <a:t>Bosim ↑, tomir o‘tkazuvchanligi ↑, so‘rish ↑</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Ichki belgi va sababi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110, 111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Tarde dog‘lari, Sabinskiy belgisi, diagnostik majmua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Tarde dog‘lari — visseral plevra va epikard ostidagi diametri 2-3 mm to‘q qizil qon quyilishlar (rasm 5.1). Ular inspirator hansirashda hosil bo‘ladi.</a:t>
            </a:r>
          </a:p>
          <a:p>
            <a:pPr>
              <a:spcAft>
                <a:spcPts val="1200"/>
              </a:spcAft>
            </a:pPr>
            <a:r>
              <a:rPr sz="2200">
                <a:solidFill>
                  <a:srgbClr val="1F2937"/>
                </a:solidFill>
                <a:latin typeface="Calibri"/>
              </a:rPr>
              <a:t>▸  Bu o‘zgarishlar mexanik asfiksiyaga spetsifik emas, boshqa tez o‘limlarda ham chiqadi. Shu sababli ular alohida emas, majmua sifatida baholanadi.</a:t>
            </a:r>
          </a:p>
          <a:p>
            <a:pPr>
              <a:spcAft>
                <a:spcPts val="1200"/>
              </a:spcAft>
            </a:pPr>
            <a:r>
              <a:rPr sz="2200">
                <a:solidFill>
                  <a:srgbClr val="1F2937"/>
                </a:solidFill>
                <a:latin typeface="Calibri"/>
              </a:rPr>
              <a:t>▸  Asfiktik yurak, kamqonlik va qisqargan taloq nisbatan patognomik (o‘ziga xos). Sabinskiy belgisi preasfiktik davrda depodan qon chiqarilishidan kelib chiqadi.</a:t>
            </a:r>
          </a:p>
          <a:p>
            <a:pPr>
              <a:spcAft>
                <a:spcPts val="1200"/>
              </a:spcAft>
            </a:pPr>
            <a:r>
              <a:rPr sz="2200">
                <a:solidFill>
                  <a:srgbClr val="1F2937"/>
                </a:solidFill>
                <a:latin typeface="Calibri"/>
              </a:rPr>
              <a:t>▸  Diqqat: xato qilish xavfi! Yuz ko‘kimtirligi ≠ asfiksiya isboti: yuzi bilan pastga yotgan murdada asfiksiyasiz ham ko‘kimtir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111, 110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umumiy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mexanik asfiksiyaning umumiy belgilari faqat shu o‘limga xosmi? Yo‘q, ular tez o‘limning boshqa turlarida ham uchraydi.</a:t>
            </a:r>
          </a:p>
          <a:p>
            <a:pPr>
              <a:spcAft>
                <a:spcPts val="1200"/>
              </a:spcAft>
            </a:pPr>
            <a:r>
              <a:rPr sz="2200">
                <a:solidFill>
                  <a:srgbClr val="1F2937"/>
                </a:solidFill>
                <a:latin typeface="Calibri"/>
              </a:rPr>
              <a:t>▸  Tarde dog‘lari: visseral plevra va epikard ostidagi mayda (2-3 mm) to‘q qizil qon quyilishlar. Ko‘proq o‘pka bo‘laklari oralig‘i, diafragmal plevra va yurak orqa yuzasida bo‘ladi.</a:t>
            </a:r>
          </a:p>
          <a:p>
            <a:pPr>
              <a:spcAft>
                <a:spcPts val="1200"/>
              </a:spcAft>
            </a:pPr>
            <a:r>
              <a:rPr sz="2200">
                <a:solidFill>
                  <a:srgbClr val="1F2937"/>
                </a:solidFill>
                <a:latin typeface="Calibri"/>
              </a:rPr>
              <a:t>▸  Yuz va bo‘yin sianozi turg‘un belgi emas. Murda chalqancha yotsa, qon pastga oqib tushib, sianoz yo‘qolishi mumkin.</a:t>
            </a:r>
          </a:p>
          <a:p>
            <a:pPr>
              <a:spcAft>
                <a:spcPts val="1200"/>
              </a:spcAft>
            </a:pPr>
            <a:r>
              <a:rPr sz="2200">
                <a:solidFill>
                  <a:srgbClr val="1F2937"/>
                </a:solidFill>
                <a:latin typeface="Calibri"/>
              </a:rPr>
              <a:t>▸  Diqqat: xato qilish xavfi. Yuzi pastga qarab yotgan murdada asfiksiyasiz ham yuz ko‘kimtir bo‘ladi. Shuning uchun belgilar alohida emas, majmua sifatida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111, 110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Strangulyatsion asfiksiya va osilish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Strangulyatsion asfiksiya bo‘yin a’zolarining qisilishi bilan bog‘liq. Mexanik asfiksiyadan o‘lim holatlarining uchdan ikki qismidan ortig‘i shu turga to‘g‘ri keladi.</a:t>
            </a:r>
          </a:p>
          <a:p>
            <a:pPr>
              <a:spcAft>
                <a:spcPts val="1200"/>
              </a:spcAft>
            </a:pPr>
            <a:r>
              <a:rPr sz="2000">
                <a:solidFill>
                  <a:srgbClr val="1F2937"/>
                </a:solidFill>
                <a:latin typeface="Calibri"/>
              </a:rPr>
              <a:t>▸  Osilish mexanik asfiksiyaning eng ko‘p uchraydigan turi bo‘lib, asfiksiyadan o‘limning 65-70% ini tashkil etadi. Ko‘pincha o‘z-o‘zini o‘ldirish usuli bo‘ladi.</a:t>
            </a:r>
          </a:p>
          <a:p>
            <a:pPr>
              <a:spcAft>
                <a:spcPts val="1200"/>
              </a:spcAft>
            </a:pPr>
            <a:r>
              <a:rPr sz="2000">
                <a:solidFill>
                  <a:srgbClr val="1F2937"/>
                </a:solidFill>
                <a:latin typeface="Calibri"/>
              </a:rPr>
              <a:t>▸  Tipik (to‘liq) osilishda tana sirtmoqda erkin osilib turadi. Notipik osilishda tananing bir qismi tayanchga ega: tik, o‘tirgan yoki yotgan holat.</a:t>
            </a:r>
          </a:p>
          <a:p>
            <a:pPr>
              <a:spcAft>
                <a:spcPts val="1200"/>
              </a:spcAft>
            </a:pPr>
            <a:r>
              <a:rPr sz="2000">
                <a:solidFill>
                  <a:srgbClr val="1F2937"/>
                </a:solidFill>
                <a:latin typeface="Calibri"/>
              </a:rPr>
              <a:t>▸  Sirtmoqni tortish uchun katta kuch shart emas. Tizzaga tayanib osilganda tana massasining 20% iga teng, yotgan holda esa boshning massasiga (4-5 kg) teng kuch yetadi.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111, 112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Sirtmoq materiali, halqasi va tuguni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Sirtmoq materiali bo‘yicha uch guruh: yumshoq (sochiq, sharf, galstuk), yarim qattiq (arqon, kamar) va qattiq (sim, zanjir).</a:t>
            </a:r>
          </a:p>
          <a:p>
            <a:pPr>
              <a:spcAft>
                <a:spcPts val="1200"/>
              </a:spcAft>
            </a:pPr>
            <a:r>
              <a:rPr sz="2200">
                <a:solidFill>
                  <a:srgbClr val="1F2937"/>
                </a:solidFill>
                <a:latin typeface="Calibri"/>
              </a:rPr>
              <a:t>▸  Sirtmoq halqasi bir, ikki yoki ko‘p o‘ramli bo‘ladi. O‘zgaruvchanligi bo‘yicha sirpanuvchan va sirpanmas sirtmoqlar farqlanadi.</a:t>
            </a:r>
          </a:p>
          <a:p>
            <a:pPr>
              <a:spcAft>
                <a:spcPts val="1200"/>
              </a:spcAft>
            </a:pPr>
            <a:r>
              <a:rPr sz="2200">
                <a:solidFill>
                  <a:srgbClr val="1F2937"/>
                </a:solidFill>
                <a:latin typeface="Calibri"/>
              </a:rPr>
              <a:t>▸  Tugun kriminalistik ahamiyatga ega: u sirtmoqni tayyorlagan shaxsning kasbiy ko‘nikmasidan dalolat berishi mumkin. Shuning uchun sirtmoq tugunga qarama-qarshi tomondan kesib olinadi.</a:t>
            </a:r>
          </a:p>
          <a:p>
            <a:pPr>
              <a:spcAft>
                <a:spcPts val="1200"/>
              </a:spcAft>
            </a:pPr>
            <a:r>
              <a:rPr sz="2200">
                <a:solidFill>
                  <a:srgbClr val="1F2937"/>
                </a:solidFill>
                <a:latin typeface="Calibri"/>
              </a:rPr>
              <a:t>▸  Tugunning joylashuvi tipik (orqa sohada) yoki atipik (old, yon sohalarda) bo‘ladi. Tugunsiz, universal sirtmoqda ham osilish ro‘y berishi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Osilishda o‘lim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Bo‘yin qisilganda til asosi halqum devoriga siljiydi va havo yo‘li torayadi. Havo yo‘li faqat ayrim holatlarda butunlay yopiladi.</a:t>
            </a:r>
          </a:p>
          <a:p>
            <a:pPr>
              <a:spcAft>
                <a:spcPts val="1200"/>
              </a:spcAft>
            </a:pPr>
            <a:r>
              <a:rPr sz="2000">
                <a:solidFill>
                  <a:srgbClr val="1F2937"/>
                </a:solidFill>
                <a:latin typeface="Calibri"/>
              </a:rPr>
              <a:t>▸  Bo‘yinturuq venalar qisilib, miyadan qon oqishi qiyinlashadi. Umurtqa arteriyalari orqali qon kirib turadi, kalla ichi bosimi keskin oshadi va miya faoliyati buziladi.</a:t>
            </a:r>
          </a:p>
          <a:p>
            <a:pPr>
              <a:spcAft>
                <a:spcPts val="1200"/>
              </a:spcAft>
            </a:pPr>
            <a:r>
              <a:rPr sz="2000">
                <a:solidFill>
                  <a:srgbClr val="1F2937"/>
                </a:solidFill>
                <a:latin typeface="Calibri"/>
              </a:rPr>
              <a:t>▸  Adashgan nerv, yuqori hiqildoq nervi va sinokarotid tugun sohasi qisiladi yoki cho‘ziladi. Yurak-qon tomir kasalligida bu yurakning reflektor to‘xtashiga olib kelishi mumkin.</a:t>
            </a:r>
          </a:p>
          <a:p>
            <a:pPr>
              <a:spcAft>
                <a:spcPts val="1200"/>
              </a:spcAft>
            </a:pPr>
            <a:r>
              <a:rPr sz="2000">
                <a:solidFill>
                  <a:srgbClr val="1F2937"/>
                </a:solidFill>
                <a:latin typeface="Calibri"/>
              </a:rPr>
              <a:t>▸  Tugun atipik joylashsa qizilo‘ngach to‘liq berkilmaydi: qusish va massaning aspiratsiyasi kuzatiladi. Keskin tipik osilishda orqa miya va disklar yorilishi hal qiluvchi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113, 113–114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Strangulyatsion egat va uning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Egat shilinma ko‘rinishida bo‘lib, sirtmoq xususiyatiga bog‘liq. Joyi, yo‘nalishi, kengligi, chuqurligi, relefi, zichligi o‘rganiladi.</a:t>
            </a:r>
          </a:p>
          <a:p>
            <a:pPr>
              <a:spcAft>
                <a:spcPts val="800"/>
              </a:spcAft>
            </a:pPr>
            <a:r>
              <a:rPr sz="1800">
                <a:solidFill>
                  <a:srgbClr val="1F2937"/>
                </a:solidFill>
                <a:latin typeface="Calibri"/>
              </a:rPr>
              <a:t>▸  Qattiq sirtmoq zichroq va chuqurroq egat qoldiradi. Tugunga qarama-qarshi tomonda egat yaqqolroq bo‘ladi.</a:t>
            </a:r>
          </a:p>
          <a:p>
            <a:pPr>
              <a:spcAft>
                <a:spcPts val="800"/>
              </a:spcAft>
            </a:pPr>
            <a:r>
              <a:rPr sz="1800">
                <a:solidFill>
                  <a:srgbClr val="1F2937"/>
                </a:solidFill>
                <a:latin typeface="Calibri"/>
              </a:rPr>
              <a:t>▸  Universal sirtmoqda uchlari tutashgan egat hosil bo‘ladi. Tugun tomonida uchlari ochiq bo‘lishi, tugun izi qolishi mumkin.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57595"/>
                <a:gridCol w="2643987"/>
                <a:gridCol w="158639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Tipik osilish</a:t>
                      </a:r>
                    </a:p>
                  </a:txBody>
                  <a:tcPr marL="73152" marR="73152" marT="36576" marB="36576">
                    <a:solidFill>
                      <a:srgbClr val="0B1F3A"/>
                    </a:solidFill>
                  </a:tcPr>
                </a:tc>
                <a:tc>
                  <a:txBody>
                    <a:bodyPr/>
                    <a:lstStyle/>
                    <a:p>
                      <a:r>
                        <a:rPr sz="1300" b="1">
                          <a:solidFill>
                            <a:srgbClr val="FFFFFF"/>
                          </a:solidFill>
                        </a:rPr>
                        <a:t>Atipik osilish</a:t>
                      </a:r>
                    </a:p>
                  </a:txBody>
                  <a:tcPr marL="73152" marR="73152" marT="36576" marB="36576">
                    <a:solidFill>
                      <a:srgbClr val="0B1F3A"/>
                    </a:solidFill>
                  </a:tcPr>
                </a:tc>
              </a:tr>
              <a:tr h="411480">
                <a:tc>
                  <a:txBody>
                    <a:bodyPr/>
                    <a:lstStyle/>
                    <a:p>
                      <a:r>
                        <a:rPr sz="1200" b="0">
                          <a:solidFill>
                            <a:srgbClr val="1F2937"/>
                          </a:solidFill>
                        </a:rPr>
                        <a:t>Egat joyi</a:t>
                      </a:r>
                    </a:p>
                  </a:txBody>
                  <a:tcPr marL="73152" marR="73152" marT="36576" marB="36576">
                    <a:solidFill>
                      <a:srgbClr val="E8EEF6"/>
                    </a:solidFill>
                  </a:tcPr>
                </a:tc>
                <a:tc>
                  <a:txBody>
                    <a:bodyPr/>
                    <a:lstStyle/>
                    <a:p>
                      <a:r>
                        <a:rPr sz="1200" b="0">
                          <a:solidFill>
                            <a:srgbClr val="1F2937"/>
                          </a:solidFill>
                        </a:rPr>
                        <a:t>Bo‘yin yuqorisi, til osti suyagidan baland</a:t>
                      </a:r>
                    </a:p>
                  </a:txBody>
                  <a:tcPr marL="73152" marR="73152" marT="36576" marB="36576">
                    <a:solidFill>
                      <a:srgbClr val="E8EEF6"/>
                    </a:solidFill>
                  </a:tcPr>
                </a:tc>
                <a:tc>
                  <a:txBody>
                    <a:bodyPr/>
                    <a:lstStyle/>
                    <a:p>
                      <a:r>
                        <a:rPr sz="1200" b="0">
                          <a:solidFill>
                            <a:srgbClr val="1F2937"/>
                          </a:solidFill>
                        </a:rPr>
                        <a:t>Bo‘yinning pastroq qismi</a:t>
                      </a:r>
                    </a:p>
                  </a:txBody>
                  <a:tcPr marL="73152" marR="73152" marT="36576" marB="36576">
                    <a:solidFill>
                      <a:srgbClr val="E8EEF6"/>
                    </a:solidFill>
                  </a:tcPr>
                </a:tc>
              </a:tr>
              <a:tr h="411480">
                <a:tc>
                  <a:txBody>
                    <a:bodyPr/>
                    <a:lstStyle/>
                    <a:p>
                      <a:r>
                        <a:rPr sz="1200" b="0">
                          <a:solidFill>
                            <a:srgbClr val="1F2937"/>
                          </a:solidFill>
                        </a:rPr>
                        <a:t>Yo‘nalishi</a:t>
                      </a:r>
                    </a:p>
                  </a:txBody>
                  <a:tcPr marL="73152" marR="73152" marT="36576" marB="36576">
                    <a:solidFill>
                      <a:srgbClr val="FFFFFF"/>
                    </a:solidFill>
                  </a:tcPr>
                </a:tc>
                <a:tc>
                  <a:txBody>
                    <a:bodyPr/>
                    <a:lstStyle/>
                    <a:p>
                      <a:r>
                        <a:rPr sz="1200" b="0">
                          <a:solidFill>
                            <a:srgbClr val="1F2937"/>
                          </a:solidFill>
                        </a:rPr>
                        <a:t>Qiyshiq-vertikal</a:t>
                      </a:r>
                    </a:p>
                  </a:txBody>
                  <a:tcPr marL="73152" marR="73152" marT="36576" marB="36576">
                    <a:solidFill>
                      <a:srgbClr val="FFFFFF"/>
                    </a:solidFill>
                  </a:tcPr>
                </a:tc>
                <a:tc>
                  <a:txBody>
                    <a:bodyPr/>
                    <a:lstStyle/>
                    <a:p>
                      <a:r>
                        <a:rPr sz="1200" b="0">
                          <a:solidFill>
                            <a:srgbClr val="1F2937"/>
                          </a:solidFill>
                        </a:rPr>
                        <a:t>Vertikallik kamayadi</a:t>
                      </a:r>
                    </a:p>
                  </a:txBody>
                  <a:tcPr marL="73152" marR="73152" marT="36576" marB="36576">
                    <a:solidFill>
                      <a:srgbClr val="FFFFFF"/>
                    </a:solidFill>
                  </a:tcPr>
                </a:tc>
              </a:tr>
              <a:tr h="411480">
                <a:tc>
                  <a:txBody>
                    <a:bodyPr/>
                    <a:lstStyle/>
                    <a:p>
                      <a:r>
                        <a:rPr sz="1200" b="0">
                          <a:solidFill>
                            <a:srgbClr val="1F2937"/>
                          </a:solidFill>
                        </a:rPr>
                        <a:t>Tugun joyi</a:t>
                      </a:r>
                    </a:p>
                  </a:txBody>
                  <a:tcPr marL="73152" marR="73152" marT="36576" marB="36576">
                    <a:solidFill>
                      <a:srgbClr val="E8EEF6"/>
                    </a:solidFill>
                  </a:tcPr>
                </a:tc>
                <a:tc>
                  <a:txBody>
                    <a:bodyPr/>
                    <a:lstStyle/>
                    <a:p>
                      <a:r>
                        <a:rPr sz="1200" b="0">
                          <a:solidFill>
                            <a:srgbClr val="1F2937"/>
                          </a:solidFill>
                        </a:rPr>
                        <a:t>Orqa sohada</a:t>
                      </a:r>
                    </a:p>
                  </a:txBody>
                  <a:tcPr marL="73152" marR="73152" marT="36576" marB="36576">
                    <a:solidFill>
                      <a:srgbClr val="E8EEF6"/>
                    </a:solidFill>
                  </a:tcPr>
                </a:tc>
                <a:tc>
                  <a:txBody>
                    <a:bodyPr/>
                    <a:lstStyle/>
                    <a:p>
                      <a:r>
                        <a:rPr sz="1200" b="0">
                          <a:solidFill>
                            <a:srgbClr val="1F2937"/>
                          </a:solidFill>
                        </a:rPr>
                        <a:t>Old yoki yon sohada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Tipik va atipik osilishda egat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114, 115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Osilishdagi qo‘shimcha belgilar va egat hayotiyligi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Yumshoq sirtmoqda teri egati ko‘rinmasa, ichki tekshiruvda oqimtir yo‘lka topiladi (Kasper belgisi). Halqum orti qon quyilishi — Bruardel belgisi.</a:t>
            </a:r>
          </a:p>
          <a:p>
            <a:pPr>
              <a:spcAft>
                <a:spcPts val="1200"/>
              </a:spcAft>
            </a:pPr>
            <a:r>
              <a:rPr sz="2200">
                <a:solidFill>
                  <a:srgbClr val="1F2937"/>
                </a:solidFill>
                <a:latin typeface="Calibri"/>
              </a:rPr>
              <a:t>▸  Cho‘zilish belgilari: Amyuss — uyqu arteriyasi intimasi yorilishi; Martin — arteriya tashqi qavatiga, Valxer — to‘sh-o‘mrov-so‘rg‘ichsimon mushak uchiga, Simon — disklarga qon quyilishi.</a:t>
            </a:r>
          </a:p>
          <a:p>
            <a:pPr>
              <a:spcAft>
                <a:spcPts val="1200"/>
              </a:spcAft>
            </a:pPr>
            <a:r>
              <a:rPr sz="2200">
                <a:solidFill>
                  <a:srgbClr val="1F2937"/>
                </a:solidFill>
                <a:latin typeface="Calibri"/>
              </a:rPr>
              <a:t>▸  Bu jarohatlar asosan semiz odamlarda va tipik siltab osilishda kuzatiladi.</a:t>
            </a:r>
          </a:p>
          <a:p>
            <a:pPr>
              <a:spcAft>
                <a:spcPts val="1200"/>
              </a:spcAft>
            </a:pPr>
            <a:r>
              <a:rPr sz="2200">
                <a:solidFill>
                  <a:srgbClr val="1F2937"/>
                </a:solidFill>
                <a:latin typeface="Calibri"/>
              </a:rPr>
              <a:t>▸  Hayotiylik: Bokarius sinamasida egat burmachasida to‘laqonlik, qon quyilish. Mikroskopda Neyding (qon aylanishi buzilishi) va Kasyanov (reaktiv yallig‘lanish) belgilari.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115–116, 116, 116–117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osilish holati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osilgan murdaning bo‘ynida tor, chuqur, qiyshiq egat bor, sirtmoq tuguni orqada. Bu tipik joylashuv hisoblanadi.</a:t>
            </a:r>
          </a:p>
          <a:p>
            <a:pPr>
              <a:spcAft>
                <a:spcPts val="1200"/>
              </a:spcAft>
            </a:pPr>
            <a:r>
              <a:rPr sz="2200">
                <a:solidFill>
                  <a:srgbClr val="1F2937"/>
                </a:solidFill>
                <a:latin typeface="Calibri"/>
              </a:rPr>
              <a:t>▸  Tipik osilishda egat til osti suyagidan yuqorida, qiyshiq-vertikal bo‘ladi. Atipikda egat pastroq, vertikalligi kamroq.</a:t>
            </a:r>
          </a:p>
          <a:p>
            <a:pPr>
              <a:spcAft>
                <a:spcPts val="1200"/>
              </a:spcAft>
            </a:pPr>
            <a:r>
              <a:rPr sz="2200">
                <a:solidFill>
                  <a:srgbClr val="1F2937"/>
                </a:solidFill>
                <a:latin typeface="Calibri"/>
              </a:rPr>
              <a:t>▸  Qattiq sirtmoq zichroq va chuqurroq egat qoldiradi. Tugunga qarama-qarshi tomonda egat yaqqolroq va chuqurroq bo‘ladi.</a:t>
            </a:r>
          </a:p>
          <a:p>
            <a:pPr>
              <a:spcAft>
                <a:spcPts val="1200"/>
              </a:spcAft>
            </a:pPr>
            <a:r>
              <a:rPr sz="2200">
                <a:solidFill>
                  <a:srgbClr val="1F2937"/>
                </a:solidFill>
                <a:latin typeface="Calibri"/>
              </a:rPr>
              <a:t>▸  Savol: egatning hayotiyligini qaysi usul bilan aniqlaysiz? Egatni sirtmoq bilan qanday taqqoslaysiz?</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112, 115, 114, 115, 115, 114, 116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Sirtmoq bilan bo‘g‘ish va osilish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Bo‘g‘ishda reflekslar ko‘proq ta’sirlanadi, o‘lim yurakning reflektor to‘xtashidan bo‘lishi mumkin.</a:t>
            </a:r>
          </a:p>
          <a:p>
            <a:pPr>
              <a:spcAft>
                <a:spcPts val="800"/>
              </a:spcAft>
            </a:pPr>
            <a:r>
              <a:rPr sz="1800">
                <a:solidFill>
                  <a:srgbClr val="1F2937"/>
                </a:solidFill>
                <a:latin typeface="Calibri"/>
              </a:rPr>
              <a:t>▸  Bo‘g‘ishda sianoz, murda dog‘lari, ixtiyorsiz axlat-siydik ajralishi osilishdagidan yaqqolroq.</a:t>
            </a:r>
          </a:p>
          <a:p>
            <a:pPr>
              <a:spcAft>
                <a:spcPts val="800"/>
              </a:spcAft>
            </a:pPr>
            <a:r>
              <a:rPr sz="1800">
                <a:solidFill>
                  <a:srgbClr val="1F2937"/>
                </a:solidFill>
                <a:latin typeface="Calibri"/>
              </a:rPr>
              <a:t>▸  Til osti suyagi shikasti ikkalasida xos emas. Bo‘g‘ishda kurash izlari bo‘lishi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37198"/>
                <a:gridCol w="1933238"/>
                <a:gridCol w="221753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Osilish</a:t>
                      </a:r>
                    </a:p>
                  </a:txBody>
                  <a:tcPr marL="73152" marR="73152" marT="36576" marB="36576">
                    <a:solidFill>
                      <a:srgbClr val="0B1F3A"/>
                    </a:solidFill>
                  </a:tcPr>
                </a:tc>
                <a:tc>
                  <a:txBody>
                    <a:bodyPr/>
                    <a:lstStyle/>
                    <a:p>
                      <a:r>
                        <a:rPr sz="1300" b="1">
                          <a:solidFill>
                            <a:srgbClr val="FFFFFF"/>
                          </a:solidFill>
                        </a:rPr>
                        <a:t>Bo‘g‘ish</a:t>
                      </a:r>
                    </a:p>
                  </a:txBody>
                  <a:tcPr marL="73152" marR="73152" marT="36576" marB="36576">
                    <a:solidFill>
                      <a:srgbClr val="0B1F3A"/>
                    </a:solidFill>
                  </a:tcPr>
                </a:tc>
              </a:tr>
              <a:tr h="411480">
                <a:tc>
                  <a:txBody>
                    <a:bodyPr/>
                    <a:lstStyle/>
                    <a:p>
                      <a:r>
                        <a:rPr sz="1200" b="0">
                          <a:solidFill>
                            <a:srgbClr val="1F2937"/>
                          </a:solidFill>
                        </a:rPr>
                        <a:t>Kuch manbai</a:t>
                      </a:r>
                    </a:p>
                  </a:txBody>
                  <a:tcPr marL="73152" marR="73152" marT="36576" marB="36576">
                    <a:solidFill>
                      <a:srgbClr val="E8EEF6"/>
                    </a:solidFill>
                  </a:tcPr>
                </a:tc>
                <a:tc>
                  <a:txBody>
                    <a:bodyPr/>
                    <a:lstStyle/>
                    <a:p>
                      <a:r>
                        <a:rPr sz="1200" b="0">
                          <a:solidFill>
                            <a:srgbClr val="1F2937"/>
                          </a:solidFill>
                        </a:rPr>
                        <a:t>Tana og‘irligi</a:t>
                      </a:r>
                    </a:p>
                  </a:txBody>
                  <a:tcPr marL="73152" marR="73152" marT="36576" marB="36576">
                    <a:solidFill>
                      <a:srgbClr val="E8EEF6"/>
                    </a:solidFill>
                  </a:tcPr>
                </a:tc>
                <a:tc>
                  <a:txBody>
                    <a:bodyPr/>
                    <a:lstStyle/>
                    <a:p>
                      <a:r>
                        <a:rPr sz="1200" b="0">
                          <a:solidFill>
                            <a:srgbClr val="1F2937"/>
                          </a:solidFill>
                        </a:rPr>
                        <a:t>O‘zga kuch</a:t>
                      </a:r>
                    </a:p>
                  </a:txBody>
                  <a:tcPr marL="73152" marR="73152" marT="36576" marB="36576">
                    <a:solidFill>
                      <a:srgbClr val="E8EEF6"/>
                    </a:solidFill>
                  </a:tcPr>
                </a:tc>
              </a:tr>
              <a:tr h="411480">
                <a:tc>
                  <a:txBody>
                    <a:bodyPr/>
                    <a:lstStyle/>
                    <a:p>
                      <a:r>
                        <a:rPr sz="1200" b="0">
                          <a:solidFill>
                            <a:srgbClr val="1F2937"/>
                          </a:solidFill>
                        </a:rPr>
                        <a:t>Egat</a:t>
                      </a:r>
                    </a:p>
                  </a:txBody>
                  <a:tcPr marL="73152" marR="73152" marT="36576" marB="36576">
                    <a:solidFill>
                      <a:srgbClr val="FFFFFF"/>
                    </a:solidFill>
                  </a:tcPr>
                </a:tc>
                <a:tc>
                  <a:txBody>
                    <a:bodyPr/>
                    <a:lstStyle/>
                    <a:p>
                      <a:r>
                        <a:rPr sz="1200" b="0">
                          <a:solidFill>
                            <a:srgbClr val="1F2937"/>
                          </a:solidFill>
                        </a:rPr>
                        <a:t>Qiyshiq, bo‘yinning yuqori qismida</a:t>
                      </a:r>
                    </a:p>
                  </a:txBody>
                  <a:tcPr marL="73152" marR="73152" marT="36576" marB="36576">
                    <a:solidFill>
                      <a:srgbClr val="FFFFFF"/>
                    </a:solidFill>
                  </a:tcPr>
                </a:tc>
                <a:tc>
                  <a:txBody>
                    <a:bodyPr/>
                    <a:lstStyle/>
                    <a:p>
                      <a:r>
                        <a:rPr sz="1200" b="0">
                          <a:solidFill>
                            <a:srgbClr val="1F2937"/>
                          </a:solidFill>
                        </a:rPr>
                        <a:t>Gorizontal, tog‘ay sathida yoki pastroq</a:t>
                      </a:r>
                    </a:p>
                  </a:txBody>
                  <a:tcPr marL="73152" marR="73152" marT="36576" marB="36576">
                    <a:solidFill>
                      <a:srgbClr val="FFFFFF"/>
                    </a:solidFill>
                  </a:tcPr>
                </a:tc>
              </a:tr>
              <a:tr h="411480">
                <a:tc>
                  <a:txBody>
                    <a:bodyPr/>
                    <a:lstStyle/>
                    <a:p>
                      <a:r>
                        <a:rPr sz="1200" b="0">
                          <a:solidFill>
                            <a:srgbClr val="1F2937"/>
                          </a:solidFill>
                        </a:rPr>
                        <a:t>Cho‘zilish belgilari</a:t>
                      </a:r>
                    </a:p>
                  </a:txBody>
                  <a:tcPr marL="73152" marR="73152" marT="36576" marB="36576">
                    <a:solidFill>
                      <a:srgbClr val="E8EEF6"/>
                    </a:solidFill>
                  </a:tcPr>
                </a:tc>
                <a:tc>
                  <a:txBody>
                    <a:bodyPr/>
                    <a:lstStyle/>
                    <a:p>
                      <a:r>
                        <a:rPr sz="1200" b="0">
                          <a:solidFill>
                            <a:srgbClr val="1F2937"/>
                          </a:solidFill>
                        </a:rPr>
                        <a:t>Amyuss, Valxer, Simon mumkin</a:t>
                      </a:r>
                    </a:p>
                  </a:txBody>
                  <a:tcPr marL="73152" marR="73152" marT="36576" marB="36576">
                    <a:solidFill>
                      <a:srgbClr val="E8EEF6"/>
                    </a:solidFill>
                  </a:tcPr>
                </a:tc>
                <a:tc>
                  <a:txBody>
                    <a:bodyPr/>
                    <a:lstStyle/>
                    <a:p>
                      <a:r>
                        <a:rPr sz="1200" b="0">
                          <a:solidFill>
                            <a:srgbClr val="1F2937"/>
                          </a:solidFill>
                        </a:rPr>
                        <a:t>Vujudga kelmaydi</a:t>
                      </a:r>
                    </a:p>
                  </a:txBody>
                  <a:tcPr marL="73152" marR="73152" marT="36576" marB="36576">
                    <a:solidFill>
                      <a:srgbClr val="E8EEF6"/>
                    </a:solidFill>
                  </a:tcPr>
                </a:tc>
              </a:tr>
              <a:tr h="411480">
                <a:tc>
                  <a:txBody>
                    <a:bodyPr/>
                    <a:lstStyle/>
                    <a:p>
                      <a:r>
                        <a:rPr sz="1200" b="0">
                          <a:solidFill>
                            <a:srgbClr val="1F2937"/>
                          </a:solidFill>
                        </a:rPr>
                        <a:t>Hodisa turi</a:t>
                      </a:r>
                    </a:p>
                  </a:txBody>
                  <a:tcPr marL="73152" marR="73152" marT="36576" marB="36576">
                    <a:solidFill>
                      <a:srgbClr val="FFFFFF"/>
                    </a:solidFill>
                  </a:tcPr>
                </a:tc>
                <a:tc>
                  <a:txBody>
                    <a:bodyPr/>
                    <a:lstStyle/>
                    <a:p>
                      <a:r>
                        <a:rPr sz="1200" b="0">
                          <a:solidFill>
                            <a:srgbClr val="1F2937"/>
                          </a:solidFill>
                        </a:rPr>
                        <a:t>Ko‘pincha o‘z-o‘zini o‘ldirish</a:t>
                      </a:r>
                    </a:p>
                  </a:txBody>
                  <a:tcPr marL="73152" marR="73152" marT="36576" marB="36576">
                    <a:solidFill>
                      <a:srgbClr val="FFFFFF"/>
                    </a:solidFill>
                  </a:tcPr>
                </a:tc>
                <a:tc>
                  <a:txBody>
                    <a:bodyPr/>
                    <a:lstStyle/>
                    <a:p>
                      <a:r>
                        <a:rPr sz="1200" b="0">
                          <a:solidFill>
                            <a:srgbClr val="1F2937"/>
                          </a:solidFill>
                        </a:rPr>
                        <a:t>Ko‘pincha qotillik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Osilish va bo‘g‘ish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117, 116, 117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Qo‘l, o‘tmas jism bilan bo‘g‘ish, pozitsion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Qo‘l bilan bo‘g‘ishda bo‘ynda dumaloq yoki oval qontalashlar va tirnoqdan yoysimon shilinmalar bo‘ladi. Ularning joyi qotilning holatiga bog‘liq.</a:t>
            </a:r>
          </a:p>
          <a:p>
            <a:pPr>
              <a:spcAft>
                <a:spcPts val="1200"/>
              </a:spcAft>
            </a:pPr>
            <a:r>
              <a:rPr sz="2200">
                <a:solidFill>
                  <a:srgbClr val="1F2937"/>
                </a:solidFill>
                <a:latin typeface="Calibri"/>
              </a:rPr>
              <a:t>▸  Old tomondan ikki qo‘l bilan bo‘g‘ilganda har yonda old yuzada bittadan, orqada 2-4 tadan iz qoladi. Orqadan bo‘g‘ilganda aksincha.</a:t>
            </a:r>
          </a:p>
          <a:p>
            <a:pPr>
              <a:spcAft>
                <a:spcPts val="1200"/>
              </a:spcAft>
            </a:pPr>
            <a:r>
              <a:rPr sz="2200">
                <a:solidFill>
                  <a:srgbClr val="1F2937"/>
                </a:solidFill>
                <a:latin typeface="Calibri"/>
              </a:rPr>
              <a:t>▸  Ichki jarohatlar tashqisidan yaqqolroq: til osti suyagi va qalqonsimon tog‘ay sinadi, to‘qimalarga qon quyiladi. Yumshoq jism ustidan tashqi iz kam bo‘ladi.</a:t>
            </a:r>
          </a:p>
          <a:p>
            <a:pPr>
              <a:spcAft>
                <a:spcPts val="1200"/>
              </a:spcAft>
            </a:pPr>
            <a:r>
              <a:rPr sz="2200">
                <a:solidFill>
                  <a:srgbClr val="1F2937"/>
                </a:solidFill>
                <a:latin typeface="Calibri"/>
              </a:rPr>
              <a:t>▸  O‘tmas jismda izlar ta’sir yuzasi proeksiyasida joylashadi. Pozitsion asfiksiyada egat yo‘q, burma bor; tashxis boshqa sabablarni istisno qilishga asoslanadi.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118, 119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Obturatsion asfiksiya: teshik va yo‘llar yopilishi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Og‘iz va burunning yopilishi qotillik yoki baxtsiz hodisa bo‘lishi mumkin. Qotillikda asosan yosh bolalar va holsizlangan kattalar jabrlanadi, tasodifiy yopilish esa komadagilarda bo‘ladi.</a:t>
            </a:r>
          </a:p>
          <a:p>
            <a:pPr>
              <a:spcAft>
                <a:spcPts val="1200"/>
              </a:spcAft>
            </a:pPr>
            <a:r>
              <a:rPr sz="2000">
                <a:solidFill>
                  <a:srgbClr val="1F2937"/>
                </a:solidFill>
                <a:latin typeface="Calibri"/>
              </a:rPr>
              <a:t>▸  Jabrlangan qarshilik ko‘rsatmasa, umumasfiktik belgilardan boshqa xos belgi topilmaydi. Qarshilikda og‘iz-burun atrofida qontalash, shilinma, milk va shilliq qavatda qon quyilish bo‘ladi.</a:t>
            </a:r>
          </a:p>
          <a:p>
            <a:pPr>
              <a:spcAft>
                <a:spcPts val="1200"/>
              </a:spcAft>
            </a:pPr>
            <a:r>
              <a:rPr sz="2000">
                <a:solidFill>
                  <a:srgbClr val="1F2937"/>
                </a:solidFill>
                <a:latin typeface="Calibri"/>
              </a:rPr>
              <a:t>▸  Nafas yo‘llari yot jism, sochiluvchan modda, qon yoki qusuq bilan yopiladi. Bu tur ko‘pincha baxtsiz hodisa hisoblanadi. Mastlik va kalla-miya jarohati aspiratsiyaga moyillik yaratadi.</a:t>
            </a:r>
          </a:p>
          <a:p>
            <a:pPr>
              <a:spcAft>
                <a:spcPts val="1200"/>
              </a:spcAft>
            </a:pPr>
            <a:r>
              <a:rPr sz="2000">
                <a:solidFill>
                  <a:srgbClr val="1F2937"/>
                </a:solidFill>
                <a:latin typeface="Calibri"/>
              </a:rPr>
              <a:t>▸  O‘limda avvalo o‘pkaga havo o‘tishi qiyinlashadi; tovush boylamlari spazmi yoki yurakning reflektor to‘xtashi ham mumkin. Murdada o‘pkalar kengaygan, emfizematoz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119, 120, 120-121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qusuq aspiratsiyasi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murda ochilganda nafas yo‘llarida qusuq moddalari topildi. Bu darhol obturatsion asfiksiyadan o‘lim degani emas.</a:t>
            </a:r>
          </a:p>
          <a:p>
            <a:pPr>
              <a:spcAft>
                <a:spcPts val="1200"/>
              </a:spcAft>
            </a:pPr>
            <a:r>
              <a:rPr sz="2000">
                <a:solidFill>
                  <a:srgbClr val="1F2937"/>
                </a:solidFill>
                <a:latin typeface="Calibri"/>
              </a:rPr>
              <a:t>▸  Qusuq massasi yurakning bilvosita massajida, murdani tashishda va chirishda ham nafas yo‘llariga tushishi mumkin. Bunda u oz bo‘ladi, kichik bronx va alveolalarda topilmaydi.</a:t>
            </a:r>
          </a:p>
          <a:p>
            <a:pPr>
              <a:spcAft>
                <a:spcPts val="1200"/>
              </a:spcAft>
            </a:pPr>
            <a:r>
              <a:rPr sz="2000">
                <a:solidFill>
                  <a:srgbClr val="1F2937"/>
                </a:solidFill>
                <a:latin typeface="Calibri"/>
              </a:rPr>
              <a:t>▸  Diqqat: xato qilish xavfi! Nafas yo‘lidagi qusuq ≠ obturatsion asfiksiya. Hayotiy aspiratsiyada shilliq qavat to‘laqon, shishgan va qon quyilishli bo‘ladi, tashxis gistologiya bilan tasdiqlanadi.</a:t>
            </a:r>
          </a:p>
          <a:p>
            <a:pPr>
              <a:spcAft>
                <a:spcPts val="1200"/>
              </a:spcAft>
            </a:pPr>
            <a:r>
              <a:rPr sz="2000">
                <a:solidFill>
                  <a:srgbClr val="1F2937"/>
                </a:solidFill>
                <a:latin typeface="Calibri"/>
              </a:rPr>
              <a:t>▸  Savol: qusuq faqat bosh bronxlarda oz miqdorda topilsa va reanimatsiya o‘tkazilgan bo‘lsa, qanday xulosa qilasiz? Qaysi qo‘shimcha tekshiruvlar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120, 120-121, 121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 tushuncha, tarqalishi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Cho‘kish — tananing to‘liq yoki qisman botirilishida nafas yo‘llarining suyuqlik, ko‘pincha suv bilan yopilishi. Mexanik asfiksiyadan o‘limda osilishdan keyin ikkinchi o‘rinda turadi.</a:t>
            </a:r>
          </a:p>
          <a:p>
            <a:pPr>
              <a:spcAft>
                <a:spcPts val="1200"/>
              </a:spcAft>
            </a:pPr>
            <a:r>
              <a:rPr sz="2000">
                <a:solidFill>
                  <a:srgbClr val="1F2937"/>
                </a:solidFill>
                <a:latin typeface="Calibri"/>
              </a:rPr>
              <a:t>▸  Dunyoda yiliga uch yuz mingdan ortiq o‘lim qayd etiladi. Ko‘pincha baxtsiz hodisa, ba’zan o‘z-o‘zini o‘ldirish, kam hollarda qotillik (suzishni bilmaganlarga nisbatan).</a:t>
            </a:r>
          </a:p>
          <a:p>
            <a:pPr>
              <a:spcAft>
                <a:spcPts val="1200"/>
              </a:spcAft>
            </a:pPr>
            <a:r>
              <a:rPr sz="2000">
                <a:solidFill>
                  <a:srgbClr val="1F2937"/>
                </a:solidFill>
                <a:latin typeface="Calibri"/>
              </a:rPr>
              <a:t>▸  Cho‘kishda havzaning xususiyatlari (oqar yoki oqmas, chuchuk yoki sho‘r, harorat), salomatlik holati va xavfli vaziyatlar (to‘lqin, o‘ramlar) muhim.</a:t>
            </a:r>
          </a:p>
          <a:p>
            <a:pPr>
              <a:spcAft>
                <a:spcPts val="1200"/>
              </a:spcAft>
            </a:pPr>
            <a:r>
              <a:rPr sz="2000">
                <a:solidFill>
                  <a:srgbClr val="1F2937"/>
                </a:solidFill>
                <a:latin typeface="Calibri"/>
              </a:rPr>
              <a:t>▸  Turlari: chin (aspiratsion), asfiktik (spastik) va aralash. Chin turda suv alveolalargacha boradi; asfiktikda hiqildoq spazmi tufayli suv traxeya va bronxlarga o‘tmaydi.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Chin va asfiktik cho‘kish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Chin cho‘kishda suv qonga o‘tadi: gemodilyusiya, gemoliz, chap yurak qoni ochroq (Kasper belgisi).</a:t>
            </a:r>
          </a:p>
          <a:p>
            <a:pPr>
              <a:spcAft>
                <a:spcPts val="800"/>
              </a:spcAft>
            </a:pPr>
            <a:r>
              <a:rPr sz="1800">
                <a:solidFill>
                  <a:srgbClr val="1F2937"/>
                </a:solidFill>
                <a:latin typeface="Calibri"/>
              </a:rPr>
              <a:t>▸  Asfiktik cho‘kishda laringospazm suvni o‘tkazmaydi; yurakning chap kameralarida havo emboliyasi bo‘lishi mumkin.</a:t>
            </a:r>
          </a:p>
          <a:p>
            <a:pPr>
              <a:spcAft>
                <a:spcPts val="800"/>
              </a:spcAft>
            </a:pPr>
            <a:r>
              <a:rPr sz="1800">
                <a:solidFill>
                  <a:srgbClr val="1F2937"/>
                </a:solidFill>
                <a:latin typeface="Calibri"/>
              </a:rPr>
              <a:t>▸  Diqqat: Sunsov sinamasida odatdagidek o‘ng emas, chap qorincha teshiladi.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69478"/>
                <a:gridCol w="2198371"/>
                <a:gridCol w="202012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Chin</a:t>
                      </a:r>
                    </a:p>
                  </a:txBody>
                  <a:tcPr marL="73152" marR="73152" marT="36576" marB="36576">
                    <a:solidFill>
                      <a:srgbClr val="0B1F3A"/>
                    </a:solidFill>
                  </a:tcPr>
                </a:tc>
                <a:tc>
                  <a:txBody>
                    <a:bodyPr/>
                    <a:lstStyle/>
                    <a:p>
                      <a:r>
                        <a:rPr sz="1300" b="1">
                          <a:solidFill>
                            <a:srgbClr val="FFFFFF"/>
                          </a:solidFill>
                        </a:rPr>
                        <a:t>Asfiktik</a:t>
                      </a:r>
                    </a:p>
                  </a:txBody>
                  <a:tcPr marL="73152" marR="73152" marT="36576" marB="36576">
                    <a:solidFill>
                      <a:srgbClr val="0B1F3A"/>
                    </a:solidFill>
                  </a:tcPr>
                </a:tc>
              </a:tr>
              <a:tr h="411480">
                <a:tc>
                  <a:txBody>
                    <a:bodyPr/>
                    <a:lstStyle/>
                    <a:p>
                      <a:r>
                        <a:rPr sz="1200" b="0">
                          <a:solidFill>
                            <a:srgbClr val="1F2937"/>
                          </a:solidFill>
                        </a:rPr>
                        <a:t>Ko‘pik</a:t>
                      </a:r>
                    </a:p>
                  </a:txBody>
                  <a:tcPr marL="73152" marR="73152" marT="36576" marB="36576">
                    <a:solidFill>
                      <a:srgbClr val="E8EEF6"/>
                    </a:solidFill>
                  </a:tcPr>
                </a:tc>
                <a:tc>
                  <a:txBody>
                    <a:bodyPr/>
                    <a:lstStyle/>
                    <a:p>
                      <a:r>
                        <a:rPr sz="1200" b="0">
                          <a:solidFill>
                            <a:srgbClr val="1F2937"/>
                          </a:solidFill>
                        </a:rPr>
                        <a:t>Turg‘un oq, keyin pushti ko‘pik</a:t>
                      </a:r>
                    </a:p>
                  </a:txBody>
                  <a:tcPr marL="73152" marR="73152" marT="36576" marB="36576">
                    <a:solidFill>
                      <a:srgbClr val="E8EEF6"/>
                    </a:solidFill>
                  </a:tcPr>
                </a:tc>
                <a:tc>
                  <a:txBody>
                    <a:bodyPr/>
                    <a:lstStyle/>
                    <a:p>
                      <a:r>
                        <a:rPr sz="1200" b="0">
                          <a:solidFill>
                            <a:srgbClr val="1F2937"/>
                          </a:solidFill>
                        </a:rPr>
                        <a:t>Oz, noturg‘un oq ko‘pik</a:t>
                      </a:r>
                    </a:p>
                  </a:txBody>
                  <a:tcPr marL="73152" marR="73152" marT="36576" marB="36576">
                    <a:solidFill>
                      <a:srgbClr val="E8EEF6"/>
                    </a:solidFill>
                  </a:tcPr>
                </a:tc>
              </a:tr>
              <a:tr h="411480">
                <a:tc>
                  <a:txBody>
                    <a:bodyPr/>
                    <a:lstStyle/>
                    <a:p>
                      <a:r>
                        <a:rPr sz="1200" b="0">
                          <a:solidFill>
                            <a:srgbClr val="1F2937"/>
                          </a:solidFill>
                        </a:rPr>
                        <a:t>O‘pka</a:t>
                      </a:r>
                    </a:p>
                  </a:txBody>
                  <a:tcPr marL="73152" marR="73152" marT="36576" marB="36576">
                    <a:solidFill>
                      <a:srgbClr val="FFFFFF"/>
                    </a:solidFill>
                  </a:tcPr>
                </a:tc>
                <a:tc>
                  <a:txBody>
                    <a:bodyPr/>
                    <a:lstStyle/>
                    <a:p>
                      <a:r>
                        <a:rPr sz="1200" b="0">
                          <a:solidFill>
                            <a:srgbClr val="1F2937"/>
                          </a:solidFill>
                        </a:rPr>
                        <a:t>Xamirsimon, marmarsimon, gipergidriya</a:t>
                      </a:r>
                    </a:p>
                  </a:txBody>
                  <a:tcPr marL="73152" marR="73152" marT="36576" marB="36576">
                    <a:solidFill>
                      <a:srgbClr val="FFFFFF"/>
                    </a:solidFill>
                  </a:tcPr>
                </a:tc>
                <a:tc>
                  <a:txBody>
                    <a:bodyPr/>
                    <a:lstStyle/>
                    <a:p>
                      <a:r>
                        <a:rPr sz="1200" b="0">
                          <a:solidFill>
                            <a:srgbClr val="1F2937"/>
                          </a:solidFill>
                        </a:rPr>
                        <a:t>Emfizema, giperaeriya, kesma quruq</a:t>
                      </a:r>
                    </a:p>
                  </a:txBody>
                  <a:tcPr marL="73152" marR="73152" marT="36576" marB="36576">
                    <a:solidFill>
                      <a:srgbClr val="FFFFFF"/>
                    </a:solidFill>
                  </a:tcPr>
                </a:tc>
              </a:tr>
              <a:tr h="411480">
                <a:tc>
                  <a:txBody>
                    <a:bodyPr/>
                    <a:lstStyle/>
                    <a:p>
                      <a:r>
                        <a:rPr sz="1200" b="0">
                          <a:solidFill>
                            <a:srgbClr val="1F2937"/>
                          </a:solidFill>
                        </a:rPr>
                        <a:t>Rasskazov dog‘lari</a:t>
                      </a:r>
                    </a:p>
                  </a:txBody>
                  <a:tcPr marL="73152" marR="73152" marT="36576" marB="36576">
                    <a:solidFill>
                      <a:srgbClr val="E8EEF6"/>
                    </a:solidFill>
                  </a:tcPr>
                </a:tc>
                <a:tc>
                  <a:txBody>
                    <a:bodyPr/>
                    <a:lstStyle/>
                    <a:p>
                      <a:r>
                        <a:rPr sz="1200" b="0">
                          <a:solidFill>
                            <a:srgbClr val="1F2937"/>
                          </a:solidFill>
                        </a:rPr>
                        <a:t>Rasskazov–Lukomskiy–Paltauf bor</a:t>
                      </a:r>
                    </a:p>
                  </a:txBody>
                  <a:tcPr marL="73152" marR="73152" marT="36576" marB="36576">
                    <a:solidFill>
                      <a:srgbClr val="E8EEF6"/>
                    </a:solidFill>
                  </a:tcPr>
                </a:tc>
                <a:tc>
                  <a:txBody>
                    <a:bodyPr/>
                    <a:lstStyle/>
                    <a:p>
                      <a:r>
                        <a:rPr sz="1200" b="0">
                          <a:solidFill>
                            <a:srgbClr val="1F2937"/>
                          </a:solidFill>
                        </a:rPr>
                        <a:t>Yo‘q, faqat Tarde dog‘lari</a:t>
                      </a:r>
                    </a:p>
                  </a:txBody>
                  <a:tcPr marL="73152" marR="73152" marT="36576" marB="36576">
                    <a:solidFill>
                      <a:srgbClr val="E8EEF6"/>
                    </a:solidFill>
                  </a:tcPr>
                </a:tc>
              </a:tr>
              <a:tr h="411480">
                <a:tc>
                  <a:txBody>
                    <a:bodyPr/>
                    <a:lstStyle/>
                    <a:p>
                      <a:r>
                        <a:rPr sz="1200" b="0">
                          <a:solidFill>
                            <a:srgbClr val="1F2937"/>
                          </a:solidFill>
                        </a:rPr>
                        <a:t>Oshqozondagi suv</a:t>
                      </a:r>
                    </a:p>
                  </a:txBody>
                  <a:tcPr marL="73152" marR="73152" marT="36576" marB="36576">
                    <a:solidFill>
                      <a:srgbClr val="FFFFFF"/>
                    </a:solidFill>
                  </a:tcPr>
                </a:tc>
                <a:tc>
                  <a:txBody>
                    <a:bodyPr/>
                    <a:lstStyle/>
                    <a:p>
                      <a:r>
                        <a:rPr sz="1200" b="0">
                          <a:solidFill>
                            <a:srgbClr val="1F2937"/>
                          </a:solidFill>
                        </a:rPr>
                        <a:t>300 ml gacha</a:t>
                      </a:r>
                    </a:p>
                  </a:txBody>
                  <a:tcPr marL="73152" marR="73152" marT="36576" marB="36576">
                    <a:solidFill>
                      <a:srgbClr val="FFFFFF"/>
                    </a:solidFill>
                  </a:tcPr>
                </a:tc>
                <a:tc>
                  <a:txBody>
                    <a:bodyPr/>
                    <a:lstStyle/>
                    <a:p>
                      <a:r>
                        <a:rPr sz="1200" b="0">
                          <a:solidFill>
                            <a:srgbClr val="1F2937"/>
                          </a:solidFill>
                        </a:rPr>
                        <a:t>1 l 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Chin va asfiktik cho‘kish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122, 123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Dengiz suvida cho‘kish va suvdagi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Sho‘r suvning osmotik bosimi qondikidan ancha baland: alveoladagi suv qonga o‘tmaydi, aksincha qonning suyuq qismi alveolaga chiqadi.</a:t>
            </a:r>
          </a:p>
          <a:p>
            <a:pPr>
              <a:spcAft>
                <a:spcPts val="1200"/>
              </a:spcAft>
            </a:pPr>
            <a:r>
              <a:rPr sz="2200">
                <a:solidFill>
                  <a:srgbClr val="1F2937"/>
                </a:solidFill>
                <a:latin typeface="Calibri"/>
              </a:rPr>
              <a:t>▸  Natijada gipovolemiya va qonning quyuqlashuvi kuzatiladi. Rasskazov-Lukomskiy-Paltauf dog‘lari hosil bo‘lmaydi, ba’zan o‘pka shishadi.</a:t>
            </a:r>
          </a:p>
          <a:p>
            <a:pPr>
              <a:spcAft>
                <a:spcPts val="1200"/>
              </a:spcAft>
            </a:pPr>
            <a:r>
              <a:rPr sz="2200">
                <a:solidFill>
                  <a:srgbClr val="1F2937"/>
                </a:solidFill>
                <a:latin typeface="Calibri"/>
              </a:rPr>
              <a:t>▸  Suvdagi o‘limda tana suvga tushgan zahoti yurak va nafas reflektor to‘xtaydi; asfiksiya belgilari rivojlanib ulgurmaydi.</a:t>
            </a:r>
          </a:p>
          <a:p>
            <a:pPr>
              <a:spcAft>
                <a:spcPts val="1200"/>
              </a:spcAft>
            </a:pPr>
            <a:r>
              <a:rPr sz="2200">
                <a:solidFill>
                  <a:srgbClr val="1F2937"/>
                </a:solidFill>
                <a:latin typeface="Calibri"/>
              </a:rPr>
              <a:t>▸  Moyillik omillari: issiq urish, o‘ta charchash, oshqozonning haddan tashqari to‘laligi, mastlik. Yurakda ko‘pincha patologik o‘zgarishlar topiladi.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123, 124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 hayotiyligini aniqlash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Diatom plankton: kremniy qobiqli bir hujayrali suv o‘simligi; chin cho‘kishda qonga o‘tib, ichki a’zolarga tarqaladi.</a:t>
            </a:r>
          </a:p>
          <a:p>
            <a:pPr>
              <a:spcAft>
                <a:spcPts val="800"/>
              </a:spcAft>
            </a:pPr>
            <a:r>
              <a:rPr sz="1800">
                <a:solidFill>
                  <a:srgbClr val="1F2937"/>
                </a:solidFill>
                <a:latin typeface="Calibri"/>
              </a:rPr>
              <a:t>▸  Asfiktik cho‘kishda kalla asosi suyuqligi olinadi; o‘pkadagi diatom ahamiyatsiz (o‘limdan keyin ham kiradi).</a:t>
            </a:r>
          </a:p>
          <a:p>
            <a:pPr>
              <a:spcAft>
                <a:spcPts val="800"/>
              </a:spcAft>
            </a:pPr>
            <a:r>
              <a:rPr sz="1800">
                <a:solidFill>
                  <a:srgbClr val="1F2937"/>
                </a:solidFill>
                <a:latin typeface="Calibri"/>
              </a:rPr>
              <a:t>▸  Qo‘shimcha: psevdoplankton (polyarizatsion mikroskopiya), bakteriologik, krioskopik, refraktometrik usullar.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Havzadan 1 l suv namunasi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A’zo, suyak miyasi tekshiruvi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Diatom plankton topiladi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Havza planktoniga mos keladi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Suvga tirik tushgan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Plankton tekshiruvi tartibi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124-125, 125, 126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suvda bo‘lganlik belgilari va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Suvdan chiqqan murdaning tanasi va kiyimi loy, qum, moy, suv o‘tlari bilan ifloslanadi. Suvda sovush tezroq, teri oqaradi va “g‘oz terisi” ko‘rinishini oladi.</a:t>
            </a:r>
          </a:p>
          <a:p>
            <a:pPr>
              <a:spcAft>
                <a:spcPts val="1200"/>
              </a:spcAft>
            </a:pPr>
            <a:r>
              <a:rPr sz="2000">
                <a:solidFill>
                  <a:srgbClr val="1F2937"/>
                </a:solidFill>
                <a:latin typeface="Calibri"/>
              </a:rPr>
              <a:t>▸  Soatlardan so‘ng barmoqlar oqarib bujmayadi; 2-5 kunda kaft, 5-8 kunda tovon qamraladi (“kir yuvuvchi qo‘l”). 2-3 haftada teri “o‘lim qo‘lqopi” kabi ajraladi.</a:t>
            </a:r>
          </a:p>
          <a:p>
            <a:pPr>
              <a:spcAft>
                <a:spcPts val="1200"/>
              </a:spcAft>
            </a:pPr>
            <a:r>
              <a:rPr sz="2000">
                <a:solidFill>
                  <a:srgbClr val="1F2937"/>
                </a:solidFill>
                <a:latin typeface="Calibri"/>
              </a:rPr>
              <a:t>▸  Suv issiq bo‘lsa o‘zgarishlar tez, kiyim ularni sekinlashtiradi. Kattalar terisi matseratsiyaga moyil, chaqaloqda mo‘msimon qoplama himoya qiladi. Sochlar 10-15 kunda oson sug‘uriladi.</a:t>
            </a:r>
          </a:p>
          <a:p>
            <a:pPr>
              <a:spcAft>
                <a:spcPts val="1200"/>
              </a:spcAft>
            </a:pPr>
            <a:r>
              <a:rPr sz="2000">
                <a:solidFill>
                  <a:srgbClr val="1F2937"/>
                </a:solidFill>
                <a:latin typeface="Calibri"/>
              </a:rPr>
              <a:t>▸  Jarohat suvga tushishdan oldin, suvda urilishdan (tub, qayiq, kema qismlari), baliq va hayvonlardan yoki reanimatsiyada (massaj, sun’iy nafas) yetkazilgan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127, 128, 126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suvdan chiqarilgan murda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A: og‘iz-burun atrofida mayda pufakli turg‘un oq ko‘pik. O‘pkalar xamirsimon, hajmi ortgan, plevra bo‘shlig‘ini to‘ldirgan, tashqi yuzasi “marmarsimon”.</a:t>
            </a:r>
          </a:p>
          <a:p>
            <a:pPr>
              <a:spcAft>
                <a:spcPts val="1200"/>
              </a:spcAft>
            </a:pPr>
            <a:r>
              <a:rPr sz="2000">
                <a:solidFill>
                  <a:srgbClr val="1F2937"/>
                </a:solidFill>
                <a:latin typeface="Calibri"/>
              </a:rPr>
              <a:t>▸  Vaziyat B: ko‘pik oz va noturg‘un, nafas yo‘llarida suv yo‘q. O‘pkalar keskin emfizemali, hajmi katta, kesmada quruq yoki oz suyuqlik ajraladi.</a:t>
            </a:r>
          </a:p>
          <a:p>
            <a:pPr>
              <a:spcAft>
                <a:spcPts val="1200"/>
              </a:spcAft>
            </a:pPr>
            <a:r>
              <a:rPr sz="2000">
                <a:solidFill>
                  <a:srgbClr val="1F2937"/>
                </a:solidFill>
                <a:latin typeface="Calibri"/>
              </a:rPr>
              <a:t>▸  Diqqat: o‘pkada diatom planktonining topilishi o‘zi dalil emas, o‘limdan keyin suvga tushganda ham bo‘lishi mumkin. Parenximatoz a’zolar va suyak miyadagi plankton hayotiylikni ko‘rsatadi.</a:t>
            </a:r>
          </a:p>
          <a:p>
            <a:pPr>
              <a:spcAft>
                <a:spcPts val="1200"/>
              </a:spcAft>
            </a:pPr>
            <a:r>
              <a:rPr sz="2000">
                <a:solidFill>
                  <a:srgbClr val="1F2937"/>
                </a:solidFill>
                <a:latin typeface="Calibri"/>
              </a:rPr>
              <a:t>▸  Savol: A va B vaziyatlar qaysi cho‘kish turiga mos? Asfiktik turda plankton tekshiruvi uchun qaysi suyuqlik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122, 123, 125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Kompression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Ko‘krak qafasi va qorin old devori harakati cheklansa, nafas buziladi. Sabablari: yer qimirlashi, ko‘chki, bino qulashi, avtomobil ag‘darilishi, olomon qisilishi.</a:t>
            </a:r>
          </a:p>
          <a:p>
            <a:pPr>
              <a:spcAft>
                <a:spcPts val="1200"/>
              </a:spcAft>
            </a:pPr>
            <a:r>
              <a:rPr sz="2000">
                <a:solidFill>
                  <a:srgbClr val="1F2937"/>
                </a:solidFill>
                <a:latin typeface="Calibri"/>
              </a:rPr>
              <a:t>▸  O‘lim tezligi kuch, joy, yo‘nalish va davomiylikka bog‘liq. Frontal qisilish yonlamadan xavfliroq; ko‘krak qisilishi tezroq o‘ldiradi, faqat qorin qisilishiga chidamliroq.</a:t>
            </a:r>
          </a:p>
          <a:p>
            <a:pPr>
              <a:spcAft>
                <a:spcPts val="1200"/>
              </a:spcAft>
            </a:pPr>
            <a:r>
              <a:rPr sz="2000">
                <a:solidFill>
                  <a:srgbClr val="1F2937"/>
                </a:solidFill>
                <a:latin typeface="Calibri"/>
              </a:rPr>
              <a:t>▸  Ekximotik niqob (Olive-Danjer): yuz shishgan, ko‘kimtir; yuz, bo‘yin, ko‘krak yuqorisi terisida va ko‘z shilliq pardasida qon quyilishlar. Sababi — yuqori kovak vena tizimida qon o‘tishining buzilishi.</a:t>
            </a:r>
          </a:p>
          <a:p>
            <a:pPr>
              <a:spcAft>
                <a:spcPts val="1200"/>
              </a:spcAft>
            </a:pPr>
            <a:r>
              <a:rPr sz="2000">
                <a:solidFill>
                  <a:srgbClr val="1F2937"/>
                </a:solidFill>
                <a:latin typeface="Calibri"/>
              </a:rPr>
              <a:t>▸  Karmin shishishi (Lakkasan): uzoq qisilishda o‘pka shishadi, yorqin qizil bo‘ladi. Mexanik jarohatlar ham o‘limga sabab bo‘lishi mumkin, differensial diagnostika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Cheklangan yopiq muhitdagi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Yopiq muhitda kislorod asta-sekin kamayib, karbonat angidrid ko‘payadi. O‘limda yetakchi omil — karbonat angidridning oshib ketishi.</a:t>
            </a:r>
          </a:p>
          <a:p>
            <a:pPr>
              <a:spcAft>
                <a:spcPts val="1200"/>
              </a:spcAft>
            </a:pPr>
            <a:r>
              <a:rPr sz="2200">
                <a:solidFill>
                  <a:srgbClr val="1F2937"/>
                </a:solidFill>
                <a:latin typeface="Calibri"/>
              </a:rPr>
              <a:t>▸  Karbonat angidrid 0,5% bo‘lganda nafas tezlashadi. Kattalarda o‘lim 8-10% da, bolalarda esa 2,0-2,5% dayoq xavf tug‘iladi. Diqqat: bolalar ancha sezgir.</a:t>
            </a:r>
          </a:p>
          <a:p>
            <a:pPr>
              <a:spcAft>
                <a:spcPts val="1200"/>
              </a:spcAft>
            </a:pPr>
            <a:r>
              <a:rPr sz="2200">
                <a:solidFill>
                  <a:srgbClr val="1F2937"/>
                </a:solidFill>
                <a:latin typeface="Calibri"/>
              </a:rPr>
              <a:t>▸  Ko‘pincha baxtsiz hodisa: yer qimirlashi, ko‘chki, suv osti kemasi, sovutkich, germetik sandiq. Boshga plastik qopcha kiygizish — qotillik usuli.</a:t>
            </a:r>
          </a:p>
          <a:p>
            <a:pPr>
              <a:spcAft>
                <a:spcPts val="1200"/>
              </a:spcAft>
            </a:pPr>
            <a:r>
              <a:rPr sz="2200">
                <a:solidFill>
                  <a:srgbClr val="1F2937"/>
                </a:solidFill>
                <a:latin typeface="Calibri"/>
              </a:rPr>
              <a:t>▸  To‘liq yopilmagan muhitda (quduq, silos o‘rasi, ombor) bijg‘ish va chirish toksik moddalari ham o‘limga ta’sir qiladi. Murdada faqat umumasfiktik belgilar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yakuniy tezkor savol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Mexanik asfiksiya uch turga bo‘linadi: qisilishdan (bo‘yin yoki ko‘krak-qorin), yopilishdan (teshik, yo‘l, cho‘kish) va cheklangan muhitdagi.</a:t>
            </a:r>
          </a:p>
          <a:p>
            <a:pPr>
              <a:spcAft>
                <a:spcPts val="1200"/>
              </a:spcAft>
            </a:pPr>
            <a:r>
              <a:rPr sz="2200">
                <a:solidFill>
                  <a:srgbClr val="1F2937"/>
                </a:solidFill>
                <a:latin typeface="Calibri"/>
              </a:rPr>
              <a:t>▸  Umumiy belgilar (sianoz, ko‘z ekximozlari, Tarde dog‘lari) maxsus emas, majmua sifatida baholanadi. Asfiktik yurak va qisqargan taloq nisbatan patognomik.</a:t>
            </a:r>
          </a:p>
          <a:p>
            <a:pPr>
              <a:spcAft>
                <a:spcPts val="1200"/>
              </a:spcAft>
            </a:pPr>
            <a:r>
              <a:rPr sz="2200">
                <a:solidFill>
                  <a:srgbClr val="1F2937"/>
                </a:solidFill>
                <a:latin typeface="Calibri"/>
              </a:rPr>
              <a:t>▸  Farqlovchi belgilar: osilishda qiyshiq egat, sirtmoq bilan bo‘g‘ishda gorizontal egat, chin cho‘kishda Krushevskiy ko‘pigi, kompressiyada ekximotik niqob.</a:t>
            </a:r>
          </a:p>
          <a:p>
            <a:pPr>
              <a:spcAft>
                <a:spcPts val="1200"/>
              </a:spcAft>
            </a:pPr>
            <a:r>
              <a:rPr sz="2200">
                <a:solidFill>
                  <a:srgbClr val="1F2937"/>
                </a:solidFill>
                <a:latin typeface="Calibri"/>
              </a:rPr>
              <a:t>▸  Tezkor savol: cheklangan yopiq muhitda bolalar uchun havodagi karbonat angidridning xavfli chegarasi qanday va kattalardan nimasi bilan farq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105, 110-111, 114, 117, 122, 129, 130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79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 fakt: asfiksiya so‘zi grekcha bo‘lib, tub ma’nosi «pulsning yo‘qligi» (a – inkor, sphygmos – puls). Hozirgi ma’nosi esa kislorod tanqisligi va karbonat angidridi ko‘payishi bilan kechadigan o‘tkir buzilishdir.</a:t>
            </a:r>
          </a:p>
          <a:p>
            <a:pPr>
              <a:spcAft>
                <a:spcPts val="1200"/>
              </a:spcAft>
            </a:pPr>
            <a:r>
              <a:rPr sz="1800">
                <a:solidFill>
                  <a:srgbClr val="1F2937"/>
                </a:solidFill>
                <a:latin typeface="Calibri"/>
              </a:rPr>
              <a:t>▸  Tarixiy fakt: asfiksiyaning kechishi bo‘yicha tibbiyot tarixida faqat bitta tajriba qayd etilgan. N. Minovici 1905-yilda o‘zida, assistentlari yordamida osilish tajribalarini o‘tkazgan. Shuning uchun asfiksiya bosqichlari haqidagi ma’lumotlar shartli va taxminiy.</a:t>
            </a:r>
          </a:p>
          <a:p>
            <a:pPr>
              <a:spcAft>
                <a:spcPts val="1200"/>
              </a:spcAft>
            </a:pPr>
            <a:r>
              <a:rPr sz="1800">
                <a:solidFill>
                  <a:srgbClr val="1F2937"/>
                </a:solidFill>
                <a:latin typeface="Calibri"/>
              </a:rPr>
              <a:t>▸  Eslab qolish usuli (Tarde ≠ Rasskazov-Lukomskiy-Paltauf): Tarde dog‘lari mayda (2-3 mm), to‘q qizil va epikard hamda plevra ostida bo‘ladi. Rasskazov-Lukomskiy-Paltauf dog‘lari kattaroq, pushti-qizg‘ish, faqat visseral plevra ostida bo‘ladi, epikard ostida uchramaydi. Ular chin cho‘kishning belgisi: Tarde dog‘lari suv bilan gemolizga uchraganda hosil bo‘ladi.</a:t>
            </a:r>
          </a:p>
          <a:p>
            <a:pPr>
              <a:spcAft>
                <a:spcPts val="1200"/>
              </a:spcAft>
            </a:pPr>
            <a:r>
              <a:rPr sz="1800">
                <a:solidFill>
                  <a:srgbClr val="1F2937"/>
                </a:solidFill>
                <a:latin typeface="Calibri"/>
              </a:rPr>
              <a:t>▸  Hodisalarni solishtirish: chin cho‘kishda oshqozonda 300 ml gacha suv aniqlanishi mumkin. Asfiktik cho‘kishda laringospazm suvni nafas yo‘llariga o‘tkazmaydi va u ko‘proq oshqozonga tushadi, shuning uchun 1 l gacha suv bo‘lishi mumkin (Fegerlund belgisi).</a:t>
            </a:r>
          </a:p>
          <a:p>
            <a:pPr>
              <a:spcAft>
                <a:spcPts val="1200"/>
              </a:spcAft>
            </a:pPr>
            <a:r>
              <a:rPr sz="1800">
                <a:solidFill>
                  <a:srgbClr val="1F2937"/>
                </a:solidFill>
                <a:latin typeface="Calibri"/>
              </a:rPr>
              <a:t>▸  Vaqt chizig‘i: suvda murdaning qo‘l-oyoq terisi bir necha soatdan so‘ng oqarib bujmayadi. 2-5 kunda o‘zgarish kaft yuzasini, 5-8 kunda tovon yuzasini qamrab oladi. 2-3 haftadan so‘ng teri timoqlar bilan «o‘lim qo‘lqopi» shaklida ajralishi mumkin. Bu o‘zgarishlar o‘lim sababiga bog‘liq emas.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Asfiksiya boshlanganda nafas qisqa to‘xtab, so‘ng sekinlashdi. 20-30 soniya davomida asfiksiya belgilari hali rivojlanmadi. Buning asosiy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Organizmda karbonat angidrid miqdorining keskin kamayishi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Nafas olish markazining to‘liq falajlanishi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 suyuqlashib, muhim a’zolar foydasiga qayta taqsimlanishi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Yurakning reflektor to‘xtab, qon aylanishining to‘xtashi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Asfiksiya boshlanganidan 40-60 soniyada hush yo‘qoldi. Nafas olish tezlashgan va uning davomiyligi ortgan, venoz bosim ko‘tarilgan, puls sekinlashgan. Bu qaysi bosqich?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Inspirator hansirash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Ekspirator hansirash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Nafasning qisqa to‘xtashi (nisbiy tinchlik)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Terminal nafas olish bosqichi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Shaxs suvga tushgan zahoti yurak urishi reflektor to‘xtadi (30 soniyadan kam). Murda tekshiruvida umumasfiktik belgilar topilmadi. Buning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Belgilar murda sovushi tufayli to‘liq yo‘qolib ketgan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Umumasfiktik belgilar faqat yosh bolalarda hosil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Nafas olish markazi falajlanishi bu belgilarni yo‘q qiladi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Belgilar rivojlanib ulgurmagan, shuning uchun aniqlanmaydi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 tasnifga ko‘ra mexanik asfiksiyaning uchta turi qaysi javobda to‘g‘ri keltirilgan?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Qisilishdan, cho‘kishdan va zaharlanishdan asfiksiya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Qisilishdan, yopilishdan va cheklangan muhitdagi asfiksiya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Yopilishdan, kuyishdan va cheklangan muhitdagi asfiksiya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Osilishdan, zaharlanishdan va cheklangan muhitdagi asfiksiya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N.Minovichi 1905-yilda o‘zida assistentlari yordamida asfiksiyaning qaysi turi bo‘yicha tajriba o‘tkazgan?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Osilish bo‘yicha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Cho‘kish bo‘yicha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Qo‘l bilan bo‘g‘ish bo‘yicha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Nafas teshiklarini yopish bo‘yicha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Jabrlanuvchida asfiksiya boshlanganidan 40-60 soniya o‘tgach hush yo‘qoldi. Nafas tezlashgan, nafas olish uzaygan, arterial bosim pasaygan, venoz bosim ortgan, puls sekinlashgan. Bu qaysi bosqich?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Ekspirator hansirash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Inspirator hansirash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Terminal nafas olish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Nafas to‘xtashi (nisbiy tinchlik)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Asfiksiyadan qutqarilgan shaxs komadan chiqa boshladi. Talvasalar yo‘q, hush asta-sekin tiklanmoqda, avval sopor, keyin chuqur va yengil karaxtlik kuzatiladi. Bu postasfiktik holatning qaysi davri?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Asfiktik koma davri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Dezorientatsiya davri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Qoldiq oqibatlar davri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Karaxtlik davri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Postasfiktik holatda dastlabki sutkada o‘lim ko‘pincha qaysi sabab bilan sodir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O‘tkir qon-tomir yetishmovchiligi, o‘pka va miya shishi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Gipostatik pnevmoniyaning rivojlanishi natijasida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Asfiktik koma tufayli dastlabki daqiqalarda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Ichak perforatsiyasidan kelib chiqqan peritonit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Cho‘kishdan qutqarilgan yigitning hushi tiklandi, lekin u zamon va makonda adashadi, xotiradagi bo‘shliqni soxta xotira bilan to‘ldiradi. Bu belgi nima deb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Detserebratsion rigidlik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Gipergidroz belgisi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Konfabulyasiya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“Qorachiqlar o‘yini”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tekshiruvida kamqonlik va qisqargan taloq aniqlandi (Sabinskiy belgisi). Bu o‘zgarish qachon va qanday hosil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Hansirash bosqichida tomirlar bosimi keskin ko‘tarilganda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Murda dog‘lari hosil bo‘lishi vaqtida qonning qayta taqsimlanishida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Preasfiktik davrda depolardagi qonning chiqarilishi natijasida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Terminal nafas olish bosqichida suv bilan gemoliz oqibatida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bo‘ynida egat gorizontal, tutashgan, bir xil kenglikda va qalqonsimon tog‘ay sathida joylashgan. Til osti suyagi butun. Bu qaysi holatga ko‘proq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Bo‘yinni sirtmoq bilan bo‘g‘ish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Tipik to‘liq osilish holati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Pozitsion asfiksiya holati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Asfiktik cho‘kish holati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Sochiq ustidan solingan sirtmoqda osilgan murdaning terisida egat ko‘rinmaydi. Ichki tekshiruvda bo‘yin yumshoq to‘qimalarida qaysi belgi topiladi?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Amyuss belgisi: uyqu arteriyasi intimasining yorilishi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Kasper belgisi: oqimtir yo‘lkasimon iz (“mis sim”)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Simon belgisi: umurtqalararo disklarga qon quyilishi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Bruardel belgisi: halqum ortiga qon quyilishi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Egat sohasidan olingan teri laxtagi yog‘dan tozalanib, ikki oynacha orasida yorug‘likda ko‘rildi. Burmacha sohasida to‘laqonlik va qon quyilishlar topildi. Bu qaysi sinama?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Sunsov sinamasi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Kasyanov belgisi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Bokarius sinamasi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Neyding belgisi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Osilishda sirtmoq tuguni bo‘yinning old yoki yon sohasida joylashgan. Adashgan nerv ta’sirlanishidan qaysi hodisa qo‘shimcha rivojlanishi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Til osti suyagi tanasining sinishi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Qorin bo‘shlig‘ida suyuqlik to‘planishi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Uyqu arteriyasida tromboz hosil bo‘lishi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Qusish va qusuqning aspiratsiyasi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Tizzalarga tayanib osilishda sirtmoq qanday kuch bilan tortiladi?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Tana massasining 50%iga teng kuch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Tana massasining 20%iga teng kuch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boshning massasiga teng kuch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Butun tana massasiga teng kuch bilan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nafas yo‘llarida oz miqdorda oshqozon massasi bor, kichik bronxlar va alveolalarda yo‘q; murdaga yurakning bilvosita massaji o‘tkazilgan. Qaysi xulosa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Obturatsion asfiksiya isbotlangan, chunki qusuq nafas yo‘lida topilgan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Topilma obturatsion asfiksiyani isbotlamaydi, reanimatsiyada ham tushadi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Qusuq aspiratsiyasi hayotiy bo‘lgan, o‘lim aniq asfiksiyadan kelgan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Topilma faqat chirish natijasi, boshqa sabablar e’tiborga olinmaydi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Suvdan chiqarilgan murdaning parenximatoz a’zolari va suyak miyasida havza suviga mos diatom planktoni topildi. Bu nimadan dalolat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 suvda uzoq vaqt bo‘lganligidan, ya’ni suvda yotish muddatidan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Murda suvga o‘limdan keyin tushganligidan, ya’ni suvning passiv kirishidan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Havza suvining faqat sho‘r bo‘lganligidan, ya’ni dengiz suvi ekanligidan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Cho‘kishning hayotiyligidan, ya’ni suvga tirik holda tushganlikdan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Cho‘kkan shaxs murdasida oshqozonda 1 l gacha suv, kalla asosi bo‘shlig‘ida 5–15 ml suyuqlik, o‘pka quruq va giperaeriya holatida. Bu cho‘kishning qaysi turi?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Asfiktik cho‘kish, laringospazm tufayli suv nafas yo‘liga o‘tmagan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Chin cho‘kish, suv alveolalargacha borib qonga o‘tgan bo‘lishi kerak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Aralash cho‘kish, chin va asfiktik belgilar teng ifodalangan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Dengiz suvida cho‘kish, qon quyuqlashgan va o‘pka shishgan bo‘ladi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Stadiondan chiqishda olomon qisgan shaxs murdasida yuz shishgan va ko‘kimtir, yuz, bo‘yin va ko‘krakning yuqori qismida terida hamda ko‘z shilliq pardalarida qon quyilishlar bor. Bu qaysi belgi?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Krushevskiy belgisi, ya’ni og‘iz-burun atrofida turg‘un oq mayda ko‘pik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Olive-Danjer belgisi, ya’ni ekximotik niqob, kompression asfiksiyada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Lakkasan belgisi, ya’ni o‘pkaning karmin shishishi va yorqin qizil tusi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Tarde dog‘lari, ya’ni visseral plevra va epikard ostidagi mayda qon quyilish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Cheklangan yopiq muhitda kichik bolada havodagi karbonat angidrid qaysi konsentratsiyaga yetganda hayot uchun xavf tug‘iladi?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0,5% ga yetganda, bunda nafas maromi faqat tezlashadi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8–10% ga yetganda, bu katta yoshlilarda o‘lim darajasidir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2,0–2,5% ga yetganda, bolalar uchun xavfli daraja hisoblanadi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20,93% ga yetganda, bu havodagi odatiy kislorod miqdoridir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Qon suyuqlashib, muhim a’zolar foydasiga qayta taqsimlanishi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Preasfiktik davrda organizm kompensator-moslashuv imkoniyatlarini ishga soladi. Sirkulyatsiyadagi qon ko‘payadi, qon suyuqlashadi, hayot uchun muhim a’zolar foydasiga qayta taqsimlanadi. Shu sababli bu davrda asfiksiya belgilari rivojlanmaydi.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106-bet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Inspirator hansirash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Inspirator hansirashda karbonat angidrid nafas markaziga ta’sir qiladi. Nafas tezlashadi, nafas olish chiqarishdan uzoqroq bo‘ladi, venoz bosim ortadi, arterial bosim pasayadi va puls sekinlashadi. Odatda 40-60 soniyada hush yo‘qoladi.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106-bet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Belgilar rivojlanib ulgurmagan, shuning uchun aniqlanmaydi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Asfiktik ta’sirdan qisqa vaqtda (30 soniyagacha) yurak reflektor to‘xtasa, umumasfiktik belgilar rivojlanib ulgurmaydi. Shu sababli ular murda tekshiruvida aniqlanmasligi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107-bet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Qisilishdan, yopilishdan va cheklangan muhitdagi asfiksiya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Sud-tibbiy tasnifda mexanik asfiksiya qisilishdan, yopilishdan va cheklangan muhitdagi asfiksiyaga bo‘linadi. Cho‘kish yopilish asfiksiyasining bir ko‘rinishidir, zaharlanish esa mexanik asfiksiya turi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105-bet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Osilish bo‘yicha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Tibbiyot tarixida asfiksiyaning kechuviga doir faqat bitta tajriba qayd etilgan. N.Minovichi 1905-yilda o‘zida assistentlari yordamida osilish bo‘yicha tajriba o‘tkazgan.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107-bet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Inspirator hansirash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Inspirator hansirash bosqichida karbonat angidrid nafas markaziga ta’sir qiladi. Nafas tezlashadi, nafas olish nafas chiqarishdan uzoqroq davom etadi, arterial bosim pasayadi, venoz bosim ortadi, puls sekinlashadi. Asfiksiya boshlanganidan 40-60 soniya o‘tgach hush yo‘qoladi. Ekspirator bosqichda esa nafas chiqarish kuchayadi, arterial bosim ko‘tariladi va puls tezlashadi.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106-bet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Karaxtlik davri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Karaxtlik davrida jabrlangan komadan chiqa boshlaydi, talvasalar kuzatilmaydi va hush asta-sekin tiklanadi. Avval sopor, keyin chuqur va yengil karaxtlik, oxirida uyquchanlik bo‘ladi. Koma davrida esa hushsizlik, reflekslarning yo‘qligi va talvasalar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108-bet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O‘tkir qon-tomir yetishmovchiligi, o‘pka va miya shishi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Aksariyat postasfiktik holatlarda dastlabki daqiqa va soatlarda o‘lim asfiktik komadan bo‘ladi. Dastlabki sutkada o‘tkir qon-tomir yetishmovchiligi tufayli o‘pka va bosh miya shishadi. Kechroq muddatlarda gipostatik pnevmoniya o‘limga sabab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109-bet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Konfabulyasiya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Konfabulyasiya xotiradagi yo‘qotishlarni anglamagan holda soxta xotira bilan to‘ldirishdir. U retrograd amneziya bilan birga dezorientatsiya va xotira buzilishi davrida kuzatiladi. Detserebratsion rigidlik esa koma davriga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108-bet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Preasfiktik davrda depolardagi qonning chiqarilishi natijasida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Kamqonlik va qisqargan taloq (Sabinskiy belgisi) preasfiktik davrda depolardagi qonning chiqarilishi natijasida hosil bo‘ladi. Asfiktik yurak bilan birga bu belgi mexanik asfiksiya uchun nisbatan patognomik hisoblanadi. Tarde dog‘lari esa hansirash bosqichidagi bosim o‘zgarishlari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111-bet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Bo‘yinni sirtmoq bilan bo‘g‘ish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Sirtmoq bilan bo‘g‘ishda egat gorizontal, ko‘pincha tutashgan va bir tekis bo‘ladi, qalqonsimon tog‘ay sathida yoki undan pastda joylashadi. Til osti suyagi shikastlanishi xos emas. Tipik osilishda egat yuqorida, til osti suyagidan baland, qiyshiq-vertikal yo‘nalishda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117-bet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Kasper belgisi: oqimtir yo‘lkasimon iz (“mis sim”)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Yumshoq material ustidan sirtmoq solinganda terida egat yaqqol bo‘lmaydi. Ichki tekshiruvda egat proeksiyasida yumshoq to‘qimalarda oqimtir yo‘lkasimon iz, ya’ni “mis sim belgisi” (Kasper belgisi)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115-bet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Bokarius sinamasi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Egat burmachasi sohasida to‘laqonlik va qon quyilishlarning bo‘lishi egatning hayotiyligini ko‘rsatadi. Bu Bokarius sinamasi deb ataladi. Neyding va Kasyanov belgilari mikroskopik tekshiruvda aniqlanadi. Sunsov sinamasi esa havo emboliyasini aniqlash uchun o‘tkaziladi.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116-bet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Qusish va qusuqning aspiratsiyasi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Tugun atipik joylashganda qizilo‘ngach to‘liq berkilmaydi. Adashgan nerv ta’sirlanishidan qusish vujudga keladi va oshqozondagi massa nafas yo‘llariga aspiratsiya bo‘lishi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113-114-bet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Tana massasining 20%iga teng kuch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Tizzalarga tayanib osilishda sirtmoq tana massasining 20%iga teng kuch bilan tortiladi. Yotgan holatda esa faqat boshning massasiga (4-5 kg) teng kuch yetarli bo‘ladi. Shuning uchun notipik osilishda ham bo‘yin qisilishi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112-bet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Topilma obturatsion asfiksiyani isbotlamaydi, reanimatsiyada ham tushadi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yo‘llarida qusuq moddalarining topilishi hamma vaqt ham obturatsion asfiksiyadan dalolat bermaydi. Massa yurakning bilvosita massajida, murdani tashishda va chirishda ham tushishi mumkin. Bunda u oz miqdorda bo‘ladi va kichik bronxlar hamda alveolalarda aniqlanmaydi.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120–121-bet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Cho‘kishning hayotiyligidan, ya’ni suvga tirik holda tushganlikdan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Chin cho‘kishda plankton suv bilan qonga o‘tib, katta qon aylanish doirasi orqali ichki a’zolarga tarqaladi. Parenximatoz a’zolar va suyak miyasida topilishi, havza suvidagi planktonga mos kelsa, cho‘kishning hayotiyligini ko‘rsatadi. O‘pka to‘qimasidagi plankton esa diagnostik ahamiyatga ega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124–125-bet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Asfiktik cho‘kish, laringospazm tufayli suv nafas yo‘liga o‘tmagan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Asfiktik cho‘kishda laringospazm tufayli suv nafas yo‘llariga o‘tmaydi, ko‘proq qizilo‘ngach orqali oshqozonga tushadi (1 l gacha, Fegerlund belgisi). Kalla asosi bo‘shlig‘ida 5–15 ml suyuqlik (Sveshnikov belgisi) topiladi. O‘pka quruq, giperaeriya holatida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123–124-bet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Olive-Danjer belgisi, ya’ni ekximotik niqob, kompression asfiksiyada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Kompression asfiksiyada yuqori kovak venasi tizimidan qon o‘tishi buzilib, yuz shishadi va ko‘karadi. Yuz, bo‘yin, ko‘krakning yuqori sohalarida teriga hamda ko‘z shilliq pardalariga qon quyilishlar, ya’ni ekximotik niqob (Olive-Danjer belgisi) paydo bo‘ladi. Lakkasan belgisi o‘pkaga tegishli bo‘lib, boshqa belgi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129-bet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2,0–2,5% ga yetganda, bolalar uchun xavfli daraja hisoblanadi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Bolalarda havodagi karbonat angidrid konsentratsiyasining 2,0–2,5% ga yetishi hayot uchun xavf tug‘diradi. Katta yoshlilarda o‘lim odatda 8–10% da sodir bo‘ladi. 0,5% da esa nafas maromi tezlashib, o‘pka ventilyatsiyasi kuchayadi.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130-bet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79</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5. Kislorod tanqisligi (asfiksiya)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