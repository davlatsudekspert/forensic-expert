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 Discussion: Why does a clinician, not only a forensic expert, need thanatology? How does the 'special' branch differ from the 'general' one? Whiteboard task: write the Greek roots of 'thanatology' and list five topics it studies. Typical mistake: students think thanatology is only about the autopsy; it also covers dying, signs of death and cadaveric changes.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 Discussion: Which step of the chain would a general practitioner meet first? Why is PMI estimation placed after cadaveric changes? Whiteboard task: draw the five-step chain and add one key term to each step. Typical mistake: students treat the sections as unrelated topics, although each step builds on the previous 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7 min. Discussion: Why is it practical to separate cellular death from somatic death? How does the 12-hour survival of leukocytes affect the interpretation of a 'vital reaction'? Whiteboard task: make a two-column list of tissues that die early and those that survive long. Typical mistake: caution - cellular death is not the same as somatic death; the body dies cell by cell and the whole process may take many hours.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8 min. Discussion: Why is the word 'irreversible' the key to the definition of death? Why can a person on a ventilator still have a heartbeat after brain death? Whiteboard task: draw the old chain of events and mark where artificial ventilation interrupts it. Typical mistake: students equate the end of the heartbeat with death of all cells; cells die one by one over hours.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8 min. Discussion: Which stage is the last chance for resuscitation? Why is agony called a last attempt of the body to survive? Whiteboard task: reproduce the five-step chain and write one key sign for each step. Typical mistake: confusing the terminal pause (seconds to minutes, no breathing) with agony (breathing returns).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 min. Discussion: Why does cold prolong the reversible period? How does the 5-6 min limit relate to cortical neuron death? Whiteboard task: list factors that shorten or lengthen clinical death. Typical mistake: treating the 5-6 minute figure as an exact limit; it is an average that depends on conditions.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 min. Discussion: Why does the tempo of dying matter to a forensic expert? How does artificial prolongation of agony change the interpretation of findings at autopsy? Whiteboard task: draw a timeline from pre-agony to biological death and mark where agony falls. Typical mistake: treating agony as a sign of recovery; it is the last attempt at survival and usually ends in death.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7 min. Discussion: Which finding is the most reliable sign of a short agonal period? Why can sudden death leave involuntary urination, defecation or emission of semen? Whiteboard task: reproduce the comparison table from memory. Typical mistake: using petechiae alone to diagnose asphyxia; they only suggest rapid dying.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 min. Discussion: Which findings would make you doubt rapid death (for example, firm clots or marked oedema)? What further examinations are needed to name the cause? Whiteboard task: list findings for and against a short agonal period. Typical mistake: concluding the cause of death (for example asphyxia) from tempo findings alone.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 Discussion: (1) Why do the time limits differ for traumatic and non-traumatic causes? (2) What ethical issues arise when feeding is withdrawn? Whiteboard task: draw a spectrum from full recovery to MCS, VS and brain-stem death. Typical mistake: students equate VS with brain death. Optional point: functional MRI has shown that some patients labelled VS have brain activity closer to MCS; none has recovered beyond that state, so law and practice may change (Simpson's, p. 26).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 Discussion: (1) Why is a large analgesic dose given to relieve pain classed as indirect active euthanasia and not as murder? (2) How does dysthanasia differ from medicotanasia? Whiteboard task: place each example on a line from 'hastening death' to 'prolonging life'. Typical mistake: mixing up direct and indirect active euthanasia – the difference is the intent to hasten death. Note: this classification comes from the local textbook (G‘iyosov); it is not in Simpson's.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 min. Discussion: (1) Why must depressant drugs and hypothermia be excluded before testing? (2) Why can brain-stem tests be impossible in extensive maxillofacial injury? Whiteboard task: list the reflexes tested and the nerve or pathway each one involves. Typical mistake: forgetting that neuromuscular blocking agents are a reversible cause of apnoea that must be excluded. Source detail (Simpson's, pp. 25-26): the doctors must be registered for more than 5 years and competent in these tests; ancillary investigations are cerebral angiography, perfusion and neurophysiological tests.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 min. Discussion: Why must the loss of function be irreversible, not just present? Why is 5 minutes of observation required? Whiteboard task: list the bedside checks in the order you would perform them. Typical mistake: students treat ECG asystole as mandatory, but in the source it is only supplementary evidence in hospital.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7 min. Discussion: Which consent system (opting in or opting out) better serves patients, and why? Why do legal officers rarely object to donation? Whiteboard task: draw a table of the five graft sources with one example each. Typical mistake: confusing homologous (same body) with allograft from another person, or confusing opting in with opting out.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8 min. Discussion: What could go wrong if hypothermia or sedatives were not excluded? Who should give permission for donation here? Whiteboard task: write the sequence from exclusion of reversible causes to recording the time of death. Typical mistake: starting reflex testing before excluding drugs and metabolic causes.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 Discuss: (1) Why is death a process rather than a single event? (2) Why does the resuscitation concept depend on clinical death? Whiteboard task: draw the five terminal stages in a row and mark which are potentially reversible. Typical mistake: students confuse clinical death with biological death, or treat the cessation of the heartbeat as final.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8 min. Discuss: (1) Why are presumptive signs not enough to certify death? (2) In which situations might a doctor wrongly declare death? Whiteboard task: list presumptive signs on the left and reliable signs on the right, with times. Typical mistake: treating the timings as exact; they are only approximate guidelines and vary with temperature and other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7 min. Discuss: (1) Why does the expert not decide whether a death is homicide or suicide? (2) Give an example of a violent death whose type is asphyxia. Whiteboard task: classify three short scenarios by category, kind and type. Typical mistake: mixing up 'kind' and 'type', since both terms are used loosely in everyday speech.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8 min. Discussion: (1) Why must the expert name the initial cause first in the forensic diagnosis? (2) How can the same disease lead to different immediate causes, e.g. a bleeding ulcer causing post-haemorrhagic shock? Whiteboard task: students draw the chain for the stab wound of the right atrium and label initial, intermediate and immediate causes. Typical mistake: treating the immediate cause (e.g. sepsis) as the initial cause.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8 min. Discussion: (1) Why is the lowest line of Part I the most important for statistics? (2) Why does the Coroner's court avoid expressing criminal or civil blame? Whiteboard task: draw an empty two-part certificate and fill lines Ia-Ic with an example of your own. Typical mistake: using Part II as a list of every disease the patient had, regardless of its role in the death.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7 min. Discussion: (1) Why does a mode alone fail to identify the primary disease? (2) How does this certification logic relate to the thanatogenesis chain in Russian-language and local textbooks? Whiteboard task: students write the chain for a death from cardiac failure due to hypertrophic cardiomyopathy. Typical mistake: placing the mode of death on the lowest line instead of the underlying disease.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 min. Discussion: Why is a doctor expected to know the normal early changes? Which findings could be mistaken for injury or asphyxia? Whiteboard task: draw the chain from cardiac arrest to rigor, livor and cooling. Typical mistake: treating vomit in the airway or semen as proof of cause of death or recent sexual activity.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7 min. Discussion: Why do supravital reactions fade in a fixed order? Why can they give only a rough PMI? Whiteboard task: draw a time axis 0-12 h and mark when each reaction ends. Typical mistake: using one textbook's figures as exact; ranges differ between sources and depend on temperature.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7 min. Discussion: Which of the three assumptions is most often violated at a scene? Why should the first police officers record the ambient temperature and time? Whiteboard task: list factors that slow cooling and factors that speed it. Typical mistake: assuming a body is at 37 C at death or using 'warm to touch' as evidence of time of death.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 Discussion: Why do the lip margin and scrotum dry first? How would you distinguish a post-mortem abrasion from a vital one at the scene? Whiteboard task: list the body sites that dry first and the time of Larche spots. Typical mistake: believing that hair and nails keep growing after death.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 min. Discussion: Why does rigor appear first in small muscles? Why does a hot environment shorten its duration? Whiteboard task: draw the chain from lack of oxygen to stiffness and mark the timeline 1-4 h, 3-6 h, 18 h, 50 h. Typical mistake: treating the times as exact limits or saying that muscles shorten without tension.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 Discussion: How would you tell cold stiffening from true rigor at a winter scene? Why is cadaveric rigidity not the same process as rigor? Whiteboard task: two columns comparing rigor mortis and cadaveric rigidity. Typical mistake: using the degree of rigor alone to give an exact time of death.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 min. Discussion: (1) Why is lividity absent in severe blood loss or anaemia? (2) Why can lividity not date death precisely? Whiteboard: draw a supine body and shade the lividity and the pale pressure areas. Typical mistake: treating lividity colour as proof of cause of death. Note: Simpson's calls cyanide lividity brick-red, whereas G'iyosov's textbook calls it cherry-red; state that colour is only a clue.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 min. Discussion: (1) Why can lay people mistake lividity for bruising? (2) Which methods separate autolytic from vital changes? (Microscopy.) Whiteboard: list the four comparison features. Typical mistake: judging by colour alone without incision; also reading autolytic gastric changes as poisoning.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7 min. Answer: in hypostasis the lividity fades and reappears on the new dependent side; in stasis it shifts only partly, so two overlapping patterns are seen; in imbibition it stays where it is. Discussion: what findings would support or exclude smothering? Whiteboard: sketch the pattern for a hanged body and for a body face down. Typical mistake: calling facial petechiae and pallor around the nose proof of suffocation without dissection.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 min. Discussion: Why does greening begin in the right iliac fossa? Why can purge fluid be mistaken for injury? Whiteboard task: draw the body with the sequence greening, marbling, blisters, bloating, and add Casper's ratio 1:2:8. Typical mistake: treating the day numbers as exact; sources differ (G‘iyosov gives day 2 for greening, Simpson 3–4 days) because temperature and environment change the pace.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 min. Discussion: Why does adipocere need water but mummification needs dry air? Why are these called preservative rather than destructive changes? Whiteboard task: draw a wet-to-dry axis and place adipocere, peat tanning, mummification on it. Typical mistake: assuming the whole body is always uniformly affected; Simpson notes that adipocere, mummification and putrefaction can coexist in one body.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 min. Discussion: Why do insects help to estimate the post-mortem interval (PMI) while damage by larger animals does not? How would you tell an animal bite from an injury inflicted in life? Whiteboard task: draw the fly cycle egg, larva (instars), pupa, adult with approximate timings. Typical mistake: saying that post-mortem injuries never bleed; they can, especially on the scalp and in bodies recovered from water.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 min. Discussion: (1) Why does the nomogram need body weight and ambient temperature? (2) Why is the spread of about 5.5 hours still useful to an investigator? Whiteboard task: draw the three inputs (rectal temperature, ambient temperature, body weight) and the output range. Typical mistake: quoting the single 'most likely' time without the 95% range. Also note that the nomogram assumes a naked body lying in still air and needs corrective factors for clothing or draughts. It should not be used where there is strong radiation, fever or hypothermia, or where cooling conditions changed.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8 min. Discussion: (1) Why does the rate of cooling change over time rather than staying at 0.9°C per hour? (2) What would you do if the two readings were taken with different thermometers or at different sites? Whiteboard task: students calculate the cooling rate from the two readings and compare it with the room-temperature rule of about 1°C per hour. The book's answer of 7–7.5 hours is not fully derivable from the printed text, so treat it as an illustration and check it with Henssge's nomogram. Typical errors: using one reading only; assuming 37°C at death without caution; ignoring the ambient temperature. Caution: lividity that does not blanch (imbibition) will not move when the body is turned, whereas early lividity shifts. Stage timings vary between textbooks, so use them as guidelines only.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7 min. Discussion: (1) Why must the doctor not probe wounds or remove objects from them at the scene? (2) Why is the exact time of death not a task for the doctor at the scene? Whiteboard task: draw the five-step sequence and add the early-change tests (eyes, touch temperature, rectal temperature, rigor, lividity, drying). Typical mistake: describing lividity or rigor without noting the time of the observation and the air temperature. Each test is repeated at least twice during the examination, with the time of each recorded. Remind students that the investigator organises and leads the examination, and the doctor acts as a specialist.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8 min. Discussion: (1) Why is a poorly performed autopsy worse than none? (2) When is a forensic rather than a clinical autopsy required (violent or suspected violent death, sudden death, unknown persons, complaints about treatment)? Whiteboard task: students contrast forensic and pathological autopsy: ordered by investigator or court vs by hospital head; written expert report vs protocol in case history; time of death is determined vs already known. Typical mistake: treating the pathological autopsy as a procedural document with the same legal status as the expert report.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7 min. Discussion: (1) Which identification data can be collected from a body whose face is decomposed? (2) Why take a control soil sample at exhumation? Whiteboard task: list the questions an investigator asks about dismembered remains. Typical mistake: expecting the cause of death to be found in skeletonized remains.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 Discussion: (1) Which findings at a scene help most to estimate the post-mortem interval (PMI), and why is a single sign unreliable? (2) How do death certification and autopsy complement each other? Whiteboard task: students draw the chain from dying to late post-mortem changes with approximate times. Typical mistake: quoting a precise time of death from one finding such as rigor or body temperature alone.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Lecture No. 1: Forensic Thanatology (4th-year General Medicine)</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Forensic medicine · lecture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Forensic Thanatology: Aims and Scope</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Thanatology is the doctrine of death (Greek thanatos = death, logos = teaching). The term was introduced into medicine by I.I. Mechnikov.</a:t>
            </a:r>
          </a:p>
          <a:p>
            <a:pPr>
              <a:spcAft>
                <a:spcPts val="1200"/>
              </a:spcAft>
            </a:pPr>
            <a:r>
              <a:rPr sz="2000">
                <a:solidFill>
                  <a:srgbClr val="1F2937"/>
                </a:solidFill>
                <a:latin typeface="Calibri"/>
              </a:rPr>
              <a:t>▸  It studies the dying process, the clinical, morphological and biochemical changes in it, the fact of death, causes of death and post-mortem changes. It also covers the effect of external and internal factors and burial or preservation.</a:t>
            </a:r>
          </a:p>
          <a:p>
            <a:pPr>
              <a:spcAft>
                <a:spcPts val="1200"/>
              </a:spcAft>
            </a:pPr>
            <a:r>
              <a:rPr sz="2000">
                <a:solidFill>
                  <a:srgbClr val="1F2937"/>
                </a:solidFill>
                <a:latin typeface="Calibri"/>
              </a:rPr>
              <a:t>▸  General thanatology deals with the general features of these questions. Special thanatology looks at them for particular kinds of death.</a:t>
            </a:r>
          </a:p>
          <a:p>
            <a:pPr>
              <a:spcAft>
                <a:spcPts val="1200"/>
              </a:spcAft>
            </a:pPr>
            <a:r>
              <a:rPr sz="2000">
                <a:solidFill>
                  <a:srgbClr val="1F2937"/>
                </a:solidFill>
                <a:latin typeface="Calibri"/>
              </a:rPr>
              <a:t>▸  Forensic thanatology is the part of the field that serves inquiry, investigation and court. Any doctor who may be called to act as an expert needs to know it.</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G‘iyosov Z.A, Sud tibbiyoti, pp. 217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Lecture Outline and Learning Outcomes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All doctors meet death and the dying, so they must know its medical and legal aspects.</a:t>
            </a:r>
          </a:p>
          <a:p>
            <a:pPr>
              <a:spcAft>
                <a:spcPts val="800"/>
              </a:spcAft>
            </a:pPr>
            <a:r>
              <a:rPr sz="1800">
                <a:solidFill>
                  <a:srgbClr val="1F2937"/>
                </a:solidFill>
                <a:latin typeface="Calibri"/>
              </a:rPr>
              <a:t>▸  Outcome: describe the stages of dying, the signs of death and the early and late cadaveric changes.</a:t>
            </a:r>
          </a:p>
          <a:p>
            <a:pPr>
              <a:spcAft>
                <a:spcPts val="800"/>
              </a:spcAft>
            </a:pPr>
            <a:r>
              <a:rPr sz="1800">
                <a:solidFill>
                  <a:srgbClr val="1F2937"/>
                </a:solidFill>
                <a:latin typeface="Calibri"/>
              </a:rPr>
              <a:t>▸  Outcome: estimate the post-mortem interval (PMI) with caution, since no single change gives a precise marker.</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Dying and terminal states</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Death: signs, classification</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Cadaveric changes and PMI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Scene examination</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Autopsy and documentation</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Lecture sequence</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Payne-James J., Jones R., Karch S.B., Manlove J, Simpson's Forensic Medicine, pp. 24, 50; G‘iyosov Z.A, Sud tibbiyoti, pp. 217-224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Death as a Process: Cellular and Somatic Death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Medically, death is a process, not a single event. Metabolism in different tissues and organs stops at different rates, which fuels ethical and moral debate about when death occurs.</a:t>
            </a:r>
          </a:p>
          <a:p>
            <a:pPr>
              <a:spcAft>
                <a:spcPts val="1200"/>
              </a:spcAft>
            </a:pPr>
            <a:r>
              <a:rPr sz="2000">
                <a:solidFill>
                  <a:srgbClr val="1F2937"/>
                </a:solidFill>
                <a:latin typeface="Calibri"/>
              </a:rPr>
              <a:t>▸  Cellular death is the end of respiration and normal metabolism in cells, soon followed by autolysis and decay. Somatic death is the loss of integrated functioning of the whole person.</a:t>
            </a:r>
          </a:p>
          <a:p>
            <a:pPr>
              <a:spcAft>
                <a:spcPts val="1200"/>
              </a:spcAft>
            </a:pPr>
            <a:r>
              <a:rPr sz="2000">
                <a:solidFill>
                  <a:srgbClr val="1F2937"/>
                </a:solidFill>
                <a:latin typeface="Calibri"/>
              </a:rPr>
              <a:t>▸  Cortical neurons die after only 3–7 minutes of complete oxygen deprivation. Skin and bone stay metabolically active for many hours, and their cells can be cultured days after somatic death.</a:t>
            </a:r>
          </a:p>
          <a:p>
            <a:pPr>
              <a:spcAft>
                <a:spcPts val="1200"/>
              </a:spcAft>
            </a:pPr>
            <a:r>
              <a:rPr sz="2000">
                <a:solidFill>
                  <a:srgbClr val="1F2937"/>
                </a:solidFill>
                <a:latin typeface="Calibri"/>
              </a:rPr>
              <a:t>▸  White blood cells can still move up to 12 hours after cardiac arrest. Microscopic identification of a 'vital reaction' to injury is therefore of doubtful reliability.</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Payne-James J., Jones R., Karch S.B., Manlove J, Simpson's Forensic Medicine, pp.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Defining Death: Irreversibility and Brain Death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Death is a process, not a single event: cells and organs stop at different rates. So cellular death and somatic death (loss of integrated function of the person) are considered separately.</a:t>
            </a:r>
          </a:p>
          <a:p>
            <a:pPr>
              <a:spcAft>
                <a:spcPts val="1200"/>
              </a:spcAft>
            </a:pPr>
            <a:r>
              <a:rPr sz="2000">
                <a:solidFill>
                  <a:srgbClr val="1F2937"/>
                </a:solidFill>
                <a:latin typeface="Calibri"/>
              </a:rPr>
              <a:t>▸  Somatic death means irreversible unconsciousness with no further interaction with the environment. Deep sleep, anaesthesia, drugs or temporary coma look similar but are reversible.</a:t>
            </a:r>
          </a:p>
          <a:p>
            <a:pPr>
              <a:spcAft>
                <a:spcPts val="1200"/>
              </a:spcAft>
            </a:pPr>
            <a:r>
              <a:rPr sz="2000">
                <a:solidFill>
                  <a:srgbClr val="1F2937"/>
                </a:solidFill>
                <a:latin typeface="Calibri"/>
              </a:rPr>
              <a:t>▸  Ventilation breaks the old chain 'brain-stem death, apnoea, myocardial hypoxia, cardiac arrest'. A ventilated patient can keep a beating heart after brain-stem function has irreversibly stopped.</a:t>
            </a:r>
          </a:p>
          <a:p>
            <a:pPr>
              <a:spcAft>
                <a:spcPts val="1200"/>
              </a:spcAft>
            </a:pPr>
            <a:r>
              <a:rPr sz="2000">
                <a:solidFill>
                  <a:srgbClr val="1F2937"/>
                </a:solidFill>
                <a:latin typeface="Calibri"/>
              </a:rPr>
              <a:t>▸  In the local textbook, death of the cerebral cortex marks the start of biological ('brain') death. Other organs may still work, which makes organ retrieval for transplantation possible.</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Payne-James J., Jones R., Karch S.B., Manlove J, Simpson's Forensic Medicine, pp. 24, 25; G‘iyosov Z.A, Sud tibbiyoti, pp. 220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Terminal States: Stages of Dying</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Preagony: depressed CNS, falling blood pressure, acidosis and hypoxia; pulse is felt only in large arteries.</a:t>
            </a:r>
          </a:p>
          <a:p>
            <a:pPr>
              <a:spcAft>
                <a:spcPts val="800"/>
              </a:spcAft>
            </a:pPr>
            <a:r>
              <a:rPr sz="1800">
                <a:solidFill>
                  <a:srgbClr val="1F2937"/>
                </a:solidFill>
                <a:latin typeface="Calibri"/>
              </a:rPr>
              <a:t>▸  Terminal pause: breathing stops suddenly and pupils dilate and fixate. Agony: lower brain centres briefly restore breathing and pulse.</a:t>
            </a:r>
          </a:p>
          <a:p>
            <a:pPr>
              <a:spcAft>
                <a:spcPts val="800"/>
              </a:spcAft>
            </a:pPr>
            <a:r>
              <a:rPr sz="1800">
                <a:solidFill>
                  <a:srgbClr val="1F2937"/>
                </a:solidFill>
                <a:latin typeface="Calibri"/>
              </a:rPr>
              <a:t>▸  Caution: the first four states can be reversible; biological death, with irreversible brain changes, is not.</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Preagony: minutes to days</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Terminal pause: up to 3-4 min</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Agony: minutes to days</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Clinical death: 5-6 min</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Biological death: irreversible</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Sequence of terminal states with typical duration</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G‘iyosov Z.A, Sud tibbiyoti, pp. 217, 218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Clinical Death and Resuscitation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Clinical death starts when the heart stops. Brain and brain stem are deeply impaired, but their function can still be restored, while individual organs keep working.</a:t>
            </a:r>
          </a:p>
          <a:p>
            <a:pPr>
              <a:spcAft>
                <a:spcPts val="1200"/>
              </a:spcAft>
            </a:pPr>
            <a:r>
              <a:rPr sz="2000">
                <a:solidFill>
                  <a:srgbClr val="1F2937"/>
                </a:solidFill>
                <a:latin typeface="Calibri"/>
              </a:rPr>
              <a:t>▸  In usual conditions it lasts up to 5-6 minutes, then irreversible cortical changes develop. In cold it may extend to 30 minutes; cause, age and health also matter.</a:t>
            </a:r>
          </a:p>
          <a:p>
            <a:pPr>
              <a:spcAft>
                <a:spcPts val="1200"/>
              </a:spcAft>
            </a:pPr>
            <a:r>
              <a:rPr sz="2000">
                <a:solidFill>
                  <a:srgbClr val="1F2937"/>
                </a:solidFill>
                <a:latin typeface="Calibri"/>
              </a:rPr>
              <a:t>▸  Cortical neurons die after only 3-7 minutes of complete oxygen deprivation. Modern ventilation and support save patients who would once have died from brain injury or hypoxia.</a:t>
            </a:r>
          </a:p>
          <a:p>
            <a:pPr>
              <a:spcAft>
                <a:spcPts val="1200"/>
              </a:spcAft>
            </a:pPr>
            <a:r>
              <a:rPr sz="2000">
                <a:solidFill>
                  <a:srgbClr val="1F2937"/>
                </a:solidFill>
                <a:latin typeface="Calibri"/>
              </a:rPr>
              <a:t>▸  The possibility of revival founded resuscitation science. At the end of agony the dying face shows facies hippocratica: pale, earthy, sunken eyes, drooping jaw, open mouth.</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G‘iyosov Z.A, Sud tibbiyoti, pp. 218; Payne-James J., Jones R., Karch S.B., Manlove J, Simpson's Forensic Medicine, pp. 24-25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Types of Agony and Rate of Dying</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Rapid death: the agonal period is absent or very short. Slow death: agony may last days to weeks, so it is also called agonal death.</a:t>
            </a:r>
          </a:p>
          <a:p>
            <a:pPr>
              <a:spcAft>
                <a:spcPts val="800"/>
              </a:spcAft>
            </a:pPr>
            <a:r>
              <a:rPr sz="1800">
                <a:solidFill>
                  <a:srgbClr val="1F2937"/>
                </a:solidFill>
                <a:latin typeface="Calibri"/>
              </a:rPr>
              <a:t>▸  Agony is a last struggle: lower brain centres take over, and breathing and pulse briefly return.</a:t>
            </a:r>
          </a:p>
          <a:p>
            <a:pPr>
              <a:spcAft>
                <a:spcPts val="800"/>
              </a:spcAft>
            </a:pPr>
            <a:r>
              <a:rPr sz="1800">
                <a:solidFill>
                  <a:srgbClr val="1F2937"/>
                </a:solidFill>
                <a:latin typeface="Calibri"/>
              </a:rPr>
              <a:t>▸  Rapid death is typical of electrical injury, mechanical asphyxia and anaphylactic shock.</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468881"/>
                <a:gridCol w="1468881"/>
                <a:gridCol w="2350211"/>
              </a:tblGrid>
              <a:tr h="411480">
                <a:tc>
                  <a:txBody>
                    <a:bodyPr/>
                    <a:lstStyle/>
                    <a:p>
                      <a:r>
                        <a:rPr sz="1300" b="1">
                          <a:solidFill>
                            <a:srgbClr val="FFFFFF"/>
                          </a:solidFill>
                        </a:rPr>
                        <a:t>Type</a:t>
                      </a:r>
                    </a:p>
                  </a:txBody>
                  <a:tcPr marL="73152" marR="73152" marT="36576" marB="36576">
                    <a:solidFill>
                      <a:srgbClr val="0B1F3A"/>
                    </a:solidFill>
                  </a:tcPr>
                </a:tc>
                <a:tc>
                  <a:txBody>
                    <a:bodyPr/>
                    <a:lstStyle/>
                    <a:p>
                      <a:r>
                        <a:rPr sz="1300" b="1">
                          <a:solidFill>
                            <a:srgbClr val="FFFFFF"/>
                          </a:solidFill>
                        </a:rPr>
                        <a:t>Duration</a:t>
                      </a:r>
                    </a:p>
                  </a:txBody>
                  <a:tcPr marL="73152" marR="73152" marT="36576" marB="36576">
                    <a:solidFill>
                      <a:srgbClr val="0B1F3A"/>
                    </a:solidFill>
                  </a:tcPr>
                </a:tc>
                <a:tc>
                  <a:txBody>
                    <a:bodyPr/>
                    <a:lstStyle/>
                    <a:p>
                      <a:r>
                        <a:rPr sz="1300" b="1">
                          <a:solidFill>
                            <a:srgbClr val="FFFFFF"/>
                          </a:solidFill>
                        </a:rPr>
                        <a:t>Setting</a:t>
                      </a:r>
                    </a:p>
                  </a:txBody>
                  <a:tcPr marL="73152" marR="73152" marT="36576" marB="36576">
                    <a:solidFill>
                      <a:srgbClr val="0B1F3A"/>
                    </a:solidFill>
                  </a:tcPr>
                </a:tc>
              </a:tr>
              <a:tr h="411480">
                <a:tc>
                  <a:txBody>
                    <a:bodyPr/>
                    <a:lstStyle/>
                    <a:p>
                      <a:r>
                        <a:rPr sz="1200" b="0">
                          <a:solidFill>
                            <a:srgbClr val="1F2937"/>
                          </a:solidFill>
                        </a:rPr>
                        <a:t>1. Death without agony</a:t>
                      </a:r>
                    </a:p>
                  </a:txBody>
                  <a:tcPr marL="73152" marR="73152" marT="36576" marB="36576">
                    <a:solidFill>
                      <a:srgbClr val="E8EEF6"/>
                    </a:solidFill>
                  </a:tcPr>
                </a:tc>
                <a:tc>
                  <a:txBody>
                    <a:bodyPr/>
                    <a:lstStyle/>
                    <a:p>
                      <a:r>
                        <a:rPr sz="1200" b="0">
                          <a:solidFill>
                            <a:srgbClr val="1F2937"/>
                          </a:solidFill>
                        </a:rPr>
                        <a:t>Instant</a:t>
                      </a:r>
                    </a:p>
                  </a:txBody>
                  <a:tcPr marL="73152" marR="73152" marT="36576" marB="36576">
                    <a:solidFill>
                      <a:srgbClr val="E8EEF6"/>
                    </a:solidFill>
                  </a:tcPr>
                </a:tc>
                <a:tc>
                  <a:txBody>
                    <a:bodyPr/>
                    <a:lstStyle/>
                    <a:p>
                      <a:r>
                        <a:rPr sz="1200" b="0">
                          <a:solidFill>
                            <a:srgbClr val="1F2937"/>
                          </a:solidFill>
                        </a:rPr>
                        <a:t>Body disruption, injuries incompatible with life</a:t>
                      </a:r>
                    </a:p>
                  </a:txBody>
                  <a:tcPr marL="73152" marR="73152" marT="36576" marB="36576">
                    <a:solidFill>
                      <a:srgbClr val="E8EEF6"/>
                    </a:solidFill>
                  </a:tcPr>
                </a:tc>
              </a:tr>
              <a:tr h="411480">
                <a:tc>
                  <a:txBody>
                    <a:bodyPr/>
                    <a:lstStyle/>
                    <a:p>
                      <a:r>
                        <a:rPr sz="1200" b="0">
                          <a:solidFill>
                            <a:srgbClr val="1F2937"/>
                          </a:solidFill>
                        </a:rPr>
                        <a:t>2. Short agony</a:t>
                      </a:r>
                    </a:p>
                  </a:txBody>
                  <a:tcPr marL="73152" marR="73152" marT="36576" marB="36576">
                    <a:solidFill>
                      <a:srgbClr val="FFFFFF"/>
                    </a:solidFill>
                  </a:tcPr>
                </a:tc>
                <a:tc>
                  <a:txBody>
                    <a:bodyPr/>
                    <a:lstStyle/>
                    <a:p>
                      <a:r>
                        <a:rPr sz="1200" b="0">
                          <a:solidFill>
                            <a:srgbClr val="1F2937"/>
                          </a:solidFill>
                        </a:rPr>
                        <a:t>About 4–5 minutes</a:t>
                      </a:r>
                    </a:p>
                  </a:txBody>
                  <a:tcPr marL="73152" marR="73152" marT="36576" marB="36576">
                    <a:solidFill>
                      <a:srgbClr val="FFFFFF"/>
                    </a:solidFill>
                  </a:tcPr>
                </a:tc>
                <a:tc>
                  <a:txBody>
                    <a:bodyPr/>
                    <a:lstStyle/>
                    <a:p>
                      <a:r>
                        <a:rPr sz="1200" b="0">
                          <a:solidFill>
                            <a:srgbClr val="1F2937"/>
                          </a:solidFill>
                        </a:rPr>
                        <a:t>Mechanical asphyxia, electrical injury</a:t>
                      </a:r>
                    </a:p>
                  </a:txBody>
                  <a:tcPr marL="73152" marR="73152" marT="36576" marB="36576">
                    <a:solidFill>
                      <a:srgbClr val="FFFFFF"/>
                    </a:solidFill>
                  </a:tcPr>
                </a:tc>
              </a:tr>
              <a:tr h="411480">
                <a:tc>
                  <a:txBody>
                    <a:bodyPr/>
                    <a:lstStyle/>
                    <a:p>
                      <a:r>
                        <a:rPr sz="1200" b="0">
                          <a:solidFill>
                            <a:srgbClr val="1F2937"/>
                          </a:solidFill>
                        </a:rPr>
                        <a:t>3. Long agony</a:t>
                      </a:r>
                    </a:p>
                  </a:txBody>
                  <a:tcPr marL="73152" marR="73152" marT="36576" marB="36576">
                    <a:solidFill>
                      <a:srgbClr val="E8EEF6"/>
                    </a:solidFill>
                  </a:tcPr>
                </a:tc>
                <a:tc>
                  <a:txBody>
                    <a:bodyPr/>
                    <a:lstStyle/>
                    <a:p>
                      <a:r>
                        <a:rPr sz="1200" b="0">
                          <a:solidFill>
                            <a:srgbClr val="1F2937"/>
                          </a:solidFill>
                        </a:rPr>
                        <a:t>Hours to days</a:t>
                      </a:r>
                    </a:p>
                  </a:txBody>
                  <a:tcPr marL="73152" marR="73152" marT="36576" marB="36576">
                    <a:solidFill>
                      <a:srgbClr val="E8EEF6"/>
                    </a:solidFill>
                  </a:tcPr>
                </a:tc>
                <a:tc>
                  <a:txBody>
                    <a:bodyPr/>
                    <a:lstStyle/>
                    <a:p>
                      <a:r>
                        <a:rPr sz="1200" b="0">
                          <a:solidFill>
                            <a:srgbClr val="1F2937"/>
                          </a:solidFill>
                        </a:rPr>
                        <a:t>Disease or injury</a:t>
                      </a:r>
                    </a:p>
                  </a:txBody>
                  <a:tcPr marL="73152" marR="73152" marT="36576" marB="36576">
                    <a:solidFill>
                      <a:srgbClr val="E8EEF6"/>
                    </a:solidFill>
                  </a:tcPr>
                </a:tc>
              </a:tr>
              <a:tr h="411480">
                <a:tc>
                  <a:txBody>
                    <a:bodyPr/>
                    <a:lstStyle/>
                    <a:p>
                      <a:r>
                        <a:rPr sz="1200" b="0">
                          <a:solidFill>
                            <a:srgbClr val="1F2937"/>
                          </a:solidFill>
                        </a:rPr>
                        <a:t>4. Artificially prolonged</a:t>
                      </a:r>
                    </a:p>
                  </a:txBody>
                  <a:tcPr marL="73152" marR="73152" marT="36576" marB="36576">
                    <a:solidFill>
                      <a:srgbClr val="FFFFFF"/>
                    </a:solidFill>
                  </a:tcPr>
                </a:tc>
                <a:tc>
                  <a:txBody>
                    <a:bodyPr/>
                    <a:lstStyle/>
                    <a:p>
                      <a:r>
                        <a:rPr sz="1200" b="0">
                          <a:solidFill>
                            <a:srgbClr val="1F2937"/>
                          </a:solidFill>
                        </a:rPr>
                        <a:t>Weeks, months, even years</a:t>
                      </a:r>
                    </a:p>
                  </a:txBody>
                  <a:tcPr marL="73152" marR="73152" marT="36576" marB="36576">
                    <a:solidFill>
                      <a:srgbClr val="FFFFFF"/>
                    </a:solidFill>
                  </a:tcPr>
                </a:tc>
                <a:tc>
                  <a:txBody>
                    <a:bodyPr/>
                    <a:lstStyle/>
                    <a:p>
                      <a:r>
                        <a:rPr sz="1200" b="0">
                          <a:solidFill>
                            <a:srgbClr val="1F2937"/>
                          </a:solidFill>
                        </a:rPr>
                        <a:t>Maintained by medical treatment</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Four types of agony (Lawes and Berg, 1965)</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Ромодановский П.О., Баринов Е.Х, Судебная медицина в схемах и рисунках: учебное пособие, pp. 42; G‘iyosov Z.A, Sud tibbiyoti, pp. 217, 218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Morphological Signs of Rapid vs Slow Dying</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Blood stays liquid in rapid death because of fibrinolysis; with a long agony, clots may form after about 2 hours.</a:t>
            </a:r>
          </a:p>
          <a:p>
            <a:pPr>
              <a:spcAft>
                <a:spcPts val="800"/>
              </a:spcAft>
            </a:pPr>
            <a:r>
              <a:rPr sz="1800">
                <a:solidFill>
                  <a:srgbClr val="1F2937"/>
                </a:solidFill>
                <a:latin typeface="Calibri"/>
              </a:rPr>
              <a:t>▸  The longer the agony, the more fibrin-rich clots and the stronger the dystrophic changes in internal organs.</a:t>
            </a:r>
          </a:p>
          <a:p>
            <a:pPr>
              <a:spcAft>
                <a:spcPts val="800"/>
              </a:spcAft>
            </a:pPr>
            <a:r>
              <a:rPr sz="1800">
                <a:solidFill>
                  <a:srgbClr val="1F2937"/>
                </a:solidFill>
                <a:latin typeface="Calibri"/>
              </a:rPr>
              <a:t>▸  Caution: these findings indicate the tempo of dying, not the cause of death. (?)</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881329"/>
                <a:gridCol w="2203322"/>
                <a:gridCol w="2203322"/>
              </a:tblGrid>
              <a:tr h="411480">
                <a:tc>
                  <a:txBody>
                    <a:bodyPr/>
                    <a:lstStyle/>
                    <a:p>
                      <a:r>
                        <a:rPr sz="1300" b="1">
                          <a:solidFill>
                            <a:srgbClr val="FFFFFF"/>
                          </a:solidFill>
                        </a:rPr>
                        <a:t>Feature</a:t>
                      </a:r>
                    </a:p>
                  </a:txBody>
                  <a:tcPr marL="73152" marR="73152" marT="36576" marB="36576">
                    <a:solidFill>
                      <a:srgbClr val="0B1F3A"/>
                    </a:solidFill>
                  </a:tcPr>
                </a:tc>
                <a:tc>
                  <a:txBody>
                    <a:bodyPr/>
                    <a:lstStyle/>
                    <a:p>
                      <a:r>
                        <a:rPr sz="1300" b="1">
                          <a:solidFill>
                            <a:srgbClr val="FFFFFF"/>
                          </a:solidFill>
                        </a:rPr>
                        <a:t>Rapid death</a:t>
                      </a:r>
                    </a:p>
                  </a:txBody>
                  <a:tcPr marL="73152" marR="73152" marT="36576" marB="36576">
                    <a:solidFill>
                      <a:srgbClr val="0B1F3A"/>
                    </a:solidFill>
                  </a:tcPr>
                </a:tc>
                <a:tc>
                  <a:txBody>
                    <a:bodyPr/>
                    <a:lstStyle/>
                    <a:p>
                      <a:r>
                        <a:rPr sz="1300" b="1">
                          <a:solidFill>
                            <a:srgbClr val="FFFFFF"/>
                          </a:solidFill>
                        </a:rPr>
                        <a:t>Slow death</a:t>
                      </a:r>
                    </a:p>
                  </a:txBody>
                  <a:tcPr marL="73152" marR="73152" marT="36576" marB="36576">
                    <a:solidFill>
                      <a:srgbClr val="0B1F3A"/>
                    </a:solidFill>
                  </a:tcPr>
                </a:tc>
              </a:tr>
              <a:tr h="411480">
                <a:tc>
                  <a:txBody>
                    <a:bodyPr/>
                    <a:lstStyle/>
                    <a:p>
                      <a:r>
                        <a:rPr sz="1200" b="0">
                          <a:solidFill>
                            <a:srgbClr val="1F2937"/>
                          </a:solidFill>
                        </a:rPr>
                        <a:t>Blood</a:t>
                      </a:r>
                    </a:p>
                  </a:txBody>
                  <a:tcPr marL="73152" marR="73152" marT="36576" marB="36576">
                    <a:solidFill>
                      <a:srgbClr val="E8EEF6"/>
                    </a:solidFill>
                  </a:tcPr>
                </a:tc>
                <a:tc>
                  <a:txBody>
                    <a:bodyPr/>
                    <a:lstStyle/>
                    <a:p>
                      <a:r>
                        <a:rPr sz="1200" b="0">
                          <a:solidFill>
                            <a:srgbClr val="1F2937"/>
                          </a:solidFill>
                        </a:rPr>
                        <a:t>Liquid in vessels and heart</a:t>
                      </a:r>
                    </a:p>
                  </a:txBody>
                  <a:tcPr marL="73152" marR="73152" marT="36576" marB="36576">
                    <a:solidFill>
                      <a:srgbClr val="E8EEF6"/>
                    </a:solidFill>
                  </a:tcPr>
                </a:tc>
                <a:tc>
                  <a:txBody>
                    <a:bodyPr/>
                    <a:lstStyle/>
                    <a:p>
                      <a:r>
                        <a:rPr sz="1200" b="0">
                          <a:solidFill>
                            <a:srgbClr val="1F2937"/>
                          </a:solidFill>
                        </a:rPr>
                        <a:t>Red and yellow clots in heart and vessels</a:t>
                      </a:r>
                    </a:p>
                  </a:txBody>
                  <a:tcPr marL="73152" marR="73152" marT="36576" marB="36576">
                    <a:solidFill>
                      <a:srgbClr val="E8EEF6"/>
                    </a:solidFill>
                  </a:tcPr>
                </a:tc>
              </a:tr>
              <a:tr h="411480">
                <a:tc>
                  <a:txBody>
                    <a:bodyPr/>
                    <a:lstStyle/>
                    <a:p>
                      <a:r>
                        <a:rPr sz="1200" b="0">
                          <a:solidFill>
                            <a:srgbClr val="1F2937"/>
                          </a:solidFill>
                        </a:rPr>
                        <a:t>Lividity</a:t>
                      </a:r>
                    </a:p>
                  </a:txBody>
                  <a:tcPr marL="73152" marR="73152" marT="36576" marB="36576">
                    <a:solidFill>
                      <a:srgbClr val="FFFFFF"/>
                    </a:solidFill>
                  </a:tcPr>
                </a:tc>
                <a:tc>
                  <a:txBody>
                    <a:bodyPr/>
                    <a:lstStyle/>
                    <a:p>
                      <a:r>
                        <a:rPr sz="1200" b="0">
                          <a:solidFill>
                            <a:srgbClr val="1F2937"/>
                          </a:solidFill>
                        </a:rPr>
                        <a:t>Diffuse, dark violet</a:t>
                      </a:r>
                    </a:p>
                  </a:txBody>
                  <a:tcPr marL="73152" marR="73152" marT="36576" marB="36576">
                    <a:solidFill>
                      <a:srgbClr val="FFFFFF"/>
                    </a:solidFill>
                  </a:tcPr>
                </a:tc>
                <a:tc>
                  <a:txBody>
                    <a:bodyPr/>
                    <a:lstStyle/>
                    <a:p>
                      <a:r>
                        <a:rPr sz="1200" b="0">
                          <a:solidFill>
                            <a:srgbClr val="1F2937"/>
                          </a:solidFill>
                        </a:rPr>
                        <a:t>Moderate, less intense</a:t>
                      </a:r>
                    </a:p>
                  </a:txBody>
                  <a:tcPr marL="73152" marR="73152" marT="36576" marB="36576">
                    <a:solidFill>
                      <a:srgbClr val="FFFFFF"/>
                    </a:solidFill>
                  </a:tcPr>
                </a:tc>
              </a:tr>
              <a:tr h="411480">
                <a:tc>
                  <a:txBody>
                    <a:bodyPr/>
                    <a:lstStyle/>
                    <a:p>
                      <a:r>
                        <a:rPr sz="1200" b="0">
                          <a:solidFill>
                            <a:srgbClr val="1F2937"/>
                          </a:solidFill>
                        </a:rPr>
                        <a:t>Haemorrhages</a:t>
                      </a:r>
                    </a:p>
                  </a:txBody>
                  <a:tcPr marL="73152" marR="73152" marT="36576" marB="36576">
                    <a:solidFill>
                      <a:srgbClr val="E8EEF6"/>
                    </a:solidFill>
                  </a:tcPr>
                </a:tc>
                <a:tc>
                  <a:txBody>
                    <a:bodyPr/>
                    <a:lstStyle/>
                    <a:p>
                      <a:r>
                        <a:rPr sz="1200" b="0">
                          <a:solidFill>
                            <a:srgbClr val="1F2937"/>
                          </a:solidFill>
                        </a:rPr>
                        <a:t>Petechiae in eyes, mucosae, pleura, epicardium</a:t>
                      </a:r>
                    </a:p>
                  </a:txBody>
                  <a:tcPr marL="73152" marR="73152" marT="36576" marB="36576">
                    <a:solidFill>
                      <a:srgbClr val="E8EEF6"/>
                    </a:solidFill>
                  </a:tcPr>
                </a:tc>
                <a:tc>
                  <a:txBody>
                    <a:bodyPr/>
                    <a:lstStyle/>
                    <a:p>
                      <a:r>
                        <a:rPr sz="1200" b="0">
                          <a:solidFill>
                            <a:srgbClr val="1F2937"/>
                          </a:solidFill>
                        </a:rPr>
                        <a:t>Not typical; oedema of lungs and brain</a:t>
                      </a:r>
                    </a:p>
                  </a:txBody>
                  <a:tcPr marL="73152" marR="73152" marT="36576" marB="36576">
                    <a:solidFill>
                      <a:srgbClr val="E8EEF6"/>
                    </a:solidFill>
                  </a:tcPr>
                </a:tc>
              </a:tr>
              <a:tr h="411480">
                <a:tc>
                  <a:txBody>
                    <a:bodyPr/>
                    <a:lstStyle/>
                    <a:p>
                      <a:r>
                        <a:rPr sz="1200" b="0">
                          <a:solidFill>
                            <a:srgbClr val="1F2937"/>
                          </a:solidFill>
                        </a:rPr>
                        <a:t>Internal organs</a:t>
                      </a:r>
                    </a:p>
                  </a:txBody>
                  <a:tcPr marL="73152" marR="73152" marT="36576" marB="36576">
                    <a:solidFill>
                      <a:srgbClr val="FFFFFF"/>
                    </a:solidFill>
                  </a:tcPr>
                </a:tc>
                <a:tc>
                  <a:txBody>
                    <a:bodyPr/>
                    <a:lstStyle/>
                    <a:p>
                      <a:r>
                        <a:rPr sz="1200" b="0">
                          <a:solidFill>
                            <a:srgbClr val="1F2937"/>
                          </a:solidFill>
                        </a:rPr>
                        <a:t>Venous congestion, little dystrophy</a:t>
                      </a:r>
                    </a:p>
                  </a:txBody>
                  <a:tcPr marL="73152" marR="73152" marT="36576" marB="36576">
                    <a:solidFill>
                      <a:srgbClr val="FFFFFF"/>
                    </a:solidFill>
                  </a:tcPr>
                </a:tc>
                <a:tc>
                  <a:txBody>
                    <a:bodyPr/>
                    <a:lstStyle/>
                    <a:p>
                      <a:r>
                        <a:rPr sz="1200" b="0">
                          <a:solidFill>
                            <a:srgbClr val="1F2937"/>
                          </a:solidFill>
                        </a:rPr>
                        <a:t>Marked dystrophic changes</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Findings by tempo of dying</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Пиголкин Ю.И., Баринов Е.Х., Богомолов Д.В., Богомолова И.Н, Судебная медицина: учебник для вузов, pp. 77, 72; Ромодановский П.О., Баринов Е.Х, Судебная медицина в схемах и рисунках: учебное пособие, pp. 45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Case Analysis: Rate of Dying</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Scenario: a man collapses at work and dies within minutes. No illness is documented, and no clear injury is visible.</a:t>
            </a:r>
          </a:p>
          <a:p>
            <a:pPr>
              <a:spcAft>
                <a:spcPts val="1200"/>
              </a:spcAft>
            </a:pPr>
            <a:r>
              <a:rPr sz="2200">
                <a:solidFill>
                  <a:srgbClr val="1F2937"/>
                </a:solidFill>
                <a:latin typeface="Calibri"/>
              </a:rPr>
              <a:t>▸  At autopsy: liquid blood in the heart and large vessels, petechiae in the conjunctivae and serous membranes, abundant dark violet lividity.</a:t>
            </a:r>
          </a:p>
          <a:p>
            <a:pPr>
              <a:spcAft>
                <a:spcPts val="1200"/>
              </a:spcAft>
            </a:pPr>
            <a:r>
              <a:rPr sz="2200">
                <a:solidFill>
                  <a:srgbClr val="1F2937"/>
                </a:solidFill>
                <a:latin typeface="Calibri"/>
              </a:rPr>
              <a:t>▸  Also found: marked venous congestion of internal organs and little dystrophy. Question: what tempo of dying do these findings suggest?</a:t>
            </a:r>
          </a:p>
          <a:p>
            <a:pPr>
              <a:spcAft>
                <a:spcPts val="1200"/>
              </a:spcAft>
            </a:pPr>
            <a:r>
              <a:rPr sz="2200">
                <a:solidFill>
                  <a:srgbClr val="1F2937"/>
                </a:solidFill>
                <a:latin typeface="Calibri"/>
              </a:rPr>
              <a:t>▸  Answer: rapid death with a very short or absent agony. The cause must still be established by full examination.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Харин Г.М. (Kharin G.M.), Краткий курс судебной медицины: учебное пособие, pp. 43; Ромодановский П.О., Баринов Е.Х, Судебная медицина в схемах и рисунках: учебное пособие, pp. 45; Пиголкин Ю.И., Баринов Е.Х., Богомолов Д.В., Богомолова И.Н, Судебная медицина: учебник для вузов, pp. 72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Vegetative State and Permanent Vegetative State</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In the vegetative state (VS), resuscitation keeps brain-stem function but cortical function is lost: wakefulness without awareness. The patient may recover or move into a minimally conscious state (MCS).</a:t>
            </a:r>
          </a:p>
          <a:p>
            <a:pPr>
              <a:spcAft>
                <a:spcPts val="1200"/>
              </a:spcAft>
            </a:pPr>
            <a:r>
              <a:rPr sz="2000">
                <a:solidFill>
                  <a:srgbClr val="1F2937"/>
                </a:solidFill>
                <a:latin typeface="Calibri"/>
              </a:rPr>
              <a:t>▸  Under Royal College of Physicians guidelines (2003), VS is judged permanent after 12 months if caused by traumatic brain injury, or after 6 months if the cause was non-traumatic.</a:t>
            </a:r>
          </a:p>
          <a:p>
            <a:pPr>
              <a:spcAft>
                <a:spcPts val="1200"/>
              </a:spcAft>
            </a:pPr>
            <a:r>
              <a:rPr sz="2000">
                <a:solidFill>
                  <a:srgbClr val="1F2937"/>
                </a:solidFill>
                <a:latin typeface="Calibri"/>
              </a:rPr>
              <a:t>▸  In permanent VS, withdrawal of hydration and assisted nutrition can be considered in the patient's 'best interests'. The leading case is Airedale NHS Trust v Bland (Tony Bland), where withdrawal of feeding was permitted.</a:t>
            </a:r>
          </a:p>
          <a:p>
            <a:pPr>
              <a:spcAft>
                <a:spcPts val="1200"/>
              </a:spcAft>
            </a:pPr>
            <a:r>
              <a:rPr sz="2000">
                <a:solidFill>
                  <a:srgbClr val="1F2937"/>
                </a:solidFill>
                <a:latin typeface="Calibri"/>
              </a:rPr>
              <a:t>▸  Caution: common error – VS is not brain-stem death. In VS the brain-stem still works; in brain-stem death its function is irreversibly lost.</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Payne-James J., Jones R., Karch S.B., Manlove J, Simpson's Forensic Medicine, pp. 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Euthanasia: Types and Terminology</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The term was introduced by the English philosopher Francis Bacon in the 16th century (Greek eu = good, thanatos = death).</a:t>
            </a:r>
          </a:p>
          <a:p>
            <a:pPr>
              <a:spcAft>
                <a:spcPts val="800"/>
              </a:spcAft>
            </a:pPr>
            <a:r>
              <a:rPr sz="1800">
                <a:solidFill>
                  <a:srgbClr val="1F2937"/>
                </a:solidFill>
                <a:latin typeface="Calibri"/>
              </a:rPr>
              <a:t>▸  The original meaning is to ease the suffering of patients who are doomed to die.</a:t>
            </a:r>
          </a:p>
          <a:p>
            <a:pPr>
              <a:spcAft>
                <a:spcPts val="800"/>
              </a:spcAft>
            </a:pPr>
            <a:r>
              <a:rPr sz="1800">
                <a:solidFill>
                  <a:srgbClr val="1F2937"/>
                </a:solidFill>
                <a:latin typeface="Calibri"/>
              </a:rPr>
              <a:t>▸  Many authors use a narrow meaning: only active and passive euthanasia, i.e. hastening death by action or by omission.</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297050"/>
                <a:gridCol w="1995462"/>
                <a:gridCol w="1995462"/>
              </a:tblGrid>
              <a:tr h="411480">
                <a:tc>
                  <a:txBody>
                    <a:bodyPr/>
                    <a:lstStyle/>
                    <a:p>
                      <a:r>
                        <a:rPr sz="1300" b="1">
                          <a:solidFill>
                            <a:srgbClr val="FFFFFF"/>
                          </a:solidFill>
                        </a:rPr>
                        <a:t>Type</a:t>
                      </a:r>
                    </a:p>
                  </a:txBody>
                  <a:tcPr marL="73152" marR="73152" marT="36576" marB="36576">
                    <a:solidFill>
                      <a:srgbClr val="0B1F3A"/>
                    </a:solidFill>
                  </a:tcPr>
                </a:tc>
                <a:tc>
                  <a:txBody>
                    <a:bodyPr/>
                    <a:lstStyle/>
                    <a:p>
                      <a:r>
                        <a:rPr sz="1300" b="1">
                          <a:solidFill>
                            <a:srgbClr val="FFFFFF"/>
                          </a:solidFill>
                        </a:rPr>
                        <a:t>Essence</a:t>
                      </a:r>
                    </a:p>
                  </a:txBody>
                  <a:tcPr marL="73152" marR="73152" marT="36576" marB="36576">
                    <a:solidFill>
                      <a:srgbClr val="0B1F3A"/>
                    </a:solidFill>
                  </a:tcPr>
                </a:tc>
                <a:tc>
                  <a:txBody>
                    <a:bodyPr/>
                    <a:lstStyle/>
                    <a:p>
                      <a:r>
                        <a:rPr sz="1300" b="1">
                          <a:solidFill>
                            <a:srgbClr val="FFFFFF"/>
                          </a:solidFill>
                        </a:rPr>
                        <a:t>Assessment</a:t>
                      </a:r>
                    </a:p>
                  </a:txBody>
                  <a:tcPr marL="73152" marR="73152" marT="36576" marB="36576">
                    <a:solidFill>
                      <a:srgbClr val="0B1F3A"/>
                    </a:solidFill>
                  </a:tcPr>
                </a:tc>
              </a:tr>
              <a:tr h="411480">
                <a:tc>
                  <a:txBody>
                    <a:bodyPr/>
                    <a:lstStyle/>
                    <a:p>
                      <a:r>
                        <a:rPr sz="1200" b="0">
                          <a:solidFill>
                            <a:srgbClr val="1F2937"/>
                          </a:solidFill>
                        </a:rPr>
                        <a:t>Active (direct / indirect)</a:t>
                      </a:r>
                    </a:p>
                  </a:txBody>
                  <a:tcPr marL="73152" marR="73152" marT="36576" marB="36576">
                    <a:solidFill>
                      <a:srgbClr val="E8EEF6"/>
                    </a:solidFill>
                  </a:tcPr>
                </a:tc>
                <a:tc>
                  <a:txBody>
                    <a:bodyPr/>
                    <a:lstStyle/>
                    <a:p>
                      <a:r>
                        <a:rPr sz="1200" b="0">
                          <a:solidFill>
                            <a:srgbClr val="1F2937"/>
                          </a:solidFill>
                        </a:rPr>
                        <a:t>Act that hastens death (with or without intent)</a:t>
                      </a:r>
                    </a:p>
                  </a:txBody>
                  <a:tcPr marL="73152" marR="73152" marT="36576" marB="36576">
                    <a:solidFill>
                      <a:srgbClr val="E8EEF6"/>
                    </a:solidFill>
                  </a:tcPr>
                </a:tc>
                <a:tc>
                  <a:txBody>
                    <a:bodyPr/>
                    <a:lstStyle/>
                    <a:p>
                      <a:r>
                        <a:rPr sz="1200" b="0">
                          <a:solidFill>
                            <a:srgbClr val="1F2937"/>
                          </a:solidFill>
                        </a:rPr>
                        <a:t>Direct: homicide/suicide; indirect: accident</a:t>
                      </a:r>
                    </a:p>
                  </a:txBody>
                  <a:tcPr marL="73152" marR="73152" marT="36576" marB="36576">
                    <a:solidFill>
                      <a:srgbClr val="E8EEF6"/>
                    </a:solidFill>
                  </a:tcPr>
                </a:tc>
              </a:tr>
              <a:tr h="411480">
                <a:tc>
                  <a:txBody>
                    <a:bodyPr/>
                    <a:lstStyle/>
                    <a:p>
                      <a:r>
                        <a:rPr sz="1200" b="0">
                          <a:solidFill>
                            <a:srgbClr val="1F2937"/>
                          </a:solidFill>
                        </a:rPr>
                        <a:t>Passive (orthotanasia)</a:t>
                      </a:r>
                    </a:p>
                  </a:txBody>
                  <a:tcPr marL="73152" marR="73152" marT="36576" marB="36576">
                    <a:solidFill>
                      <a:srgbClr val="FFFFFF"/>
                    </a:solidFill>
                  </a:tcPr>
                </a:tc>
                <a:tc>
                  <a:txBody>
                    <a:bodyPr/>
                    <a:lstStyle/>
                    <a:p>
                      <a:r>
                        <a:rPr sz="1200" b="0">
                          <a:solidFill>
                            <a:srgbClr val="1F2937"/>
                          </a:solidFill>
                        </a:rPr>
                        <a:t>Limiting or stopping care for the dying</a:t>
                      </a:r>
                    </a:p>
                  </a:txBody>
                  <a:tcPr marL="73152" marR="73152" marT="36576" marB="36576">
                    <a:solidFill>
                      <a:srgbClr val="FFFFFF"/>
                    </a:solidFill>
                  </a:tcPr>
                </a:tc>
                <a:tc>
                  <a:txBody>
                    <a:bodyPr/>
                    <a:lstStyle/>
                    <a:p>
                      <a:r>
                        <a:rPr sz="1200" b="0">
                          <a:solidFill>
                            <a:srgbClr val="1F2937"/>
                          </a:solidFill>
                        </a:rPr>
                        <a:t>Failure of duty or endangering life</a:t>
                      </a:r>
                    </a:p>
                  </a:txBody>
                  <a:tcPr marL="73152" marR="73152" marT="36576" marB="36576">
                    <a:solidFill>
                      <a:srgbClr val="FFFFFF"/>
                    </a:solidFill>
                  </a:tcPr>
                </a:tc>
              </a:tr>
              <a:tr h="411480">
                <a:tc>
                  <a:txBody>
                    <a:bodyPr/>
                    <a:lstStyle/>
                    <a:p>
                      <a:r>
                        <a:rPr sz="1200" b="0">
                          <a:solidFill>
                            <a:srgbClr val="1F2937"/>
                          </a:solidFill>
                        </a:rPr>
                        <a:t>Medicotanasia</a:t>
                      </a:r>
                    </a:p>
                  </a:txBody>
                  <a:tcPr marL="73152" marR="73152" marT="36576" marB="36576">
                    <a:solidFill>
                      <a:srgbClr val="E8EEF6"/>
                    </a:solidFill>
                  </a:tcPr>
                </a:tc>
                <a:tc>
                  <a:txBody>
                    <a:bodyPr/>
                    <a:lstStyle/>
                    <a:p>
                      <a:r>
                        <a:rPr sz="1200" b="0">
                          <a:solidFill>
                            <a:srgbClr val="1F2937"/>
                          </a:solidFill>
                        </a:rPr>
                        <a:t>Drugs ease suffering, improve life quality</a:t>
                      </a:r>
                    </a:p>
                  </a:txBody>
                  <a:tcPr marL="73152" marR="73152" marT="36576" marB="36576">
                    <a:solidFill>
                      <a:srgbClr val="E8EEF6"/>
                    </a:solidFill>
                  </a:tcPr>
                </a:tc>
                <a:tc>
                  <a:txBody>
                    <a:bodyPr/>
                    <a:lstStyle/>
                    <a:p>
                      <a:r>
                        <a:rPr sz="1200" b="0">
                          <a:solidFill>
                            <a:srgbClr val="1F2937"/>
                          </a:solidFill>
                        </a:rPr>
                        <a:t>Aim: quality of life</a:t>
                      </a:r>
                    </a:p>
                  </a:txBody>
                  <a:tcPr marL="73152" marR="73152" marT="36576" marB="36576">
                    <a:solidFill>
                      <a:srgbClr val="E8EEF6"/>
                    </a:solidFill>
                  </a:tcPr>
                </a:tc>
              </a:tr>
              <a:tr h="411480">
                <a:tc>
                  <a:txBody>
                    <a:bodyPr/>
                    <a:lstStyle/>
                    <a:p>
                      <a:r>
                        <a:rPr sz="1200" b="0">
                          <a:solidFill>
                            <a:srgbClr val="1F2937"/>
                          </a:solidFill>
                        </a:rPr>
                        <a:t>Dysthanasia</a:t>
                      </a:r>
                    </a:p>
                  </a:txBody>
                  <a:tcPr marL="73152" marR="73152" marT="36576" marB="36576">
                    <a:solidFill>
                      <a:srgbClr val="FFFFFF"/>
                    </a:solidFill>
                  </a:tcPr>
                </a:tc>
                <a:tc>
                  <a:txBody>
                    <a:bodyPr/>
                    <a:lstStyle/>
                    <a:p>
                      <a:r>
                        <a:rPr sz="1200" b="0">
                          <a:solidFill>
                            <a:srgbClr val="1F2937"/>
                          </a:solidFill>
                        </a:rPr>
                        <a:t>Max. life prolongation, palliative+radical</a:t>
                      </a:r>
                    </a:p>
                  </a:txBody>
                  <a:tcPr marL="73152" marR="73152" marT="36576" marB="36576">
                    <a:solidFill>
                      <a:srgbClr val="FFFFFF"/>
                    </a:solidFill>
                  </a:tcPr>
                </a:tc>
                <a:tc>
                  <a:txBody>
                    <a:bodyPr/>
                    <a:lstStyle/>
                    <a:p>
                      <a:r>
                        <a:rPr sz="1200" b="0">
                          <a:solidFill>
                            <a:srgbClr val="1F2937"/>
                          </a:solidFill>
                        </a:rPr>
                        <a:t>Aim: longest possible survival</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Four types of euthanasia (after the local textbook)</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G‘iyosov Z.A, Sud tibbiyoti, pp. 218, 219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Brain-Stem Death Criteria and Prerequisites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Absent: pupil, corneal, oculovestibular, cough and gag reflexes; no cranial-nerve motor response.</a:t>
            </a:r>
          </a:p>
          <a:p>
            <a:pPr>
              <a:spcAft>
                <a:spcPts val="800"/>
              </a:spcAft>
            </a:pPr>
            <a:r>
              <a:rPr sz="1800">
                <a:solidFill>
                  <a:srgbClr val="1F2937"/>
                </a:solidFill>
                <a:latin typeface="Calibri"/>
              </a:rPr>
              <a:t>▸  Apnoea test: no breathing after ventilator disconnection, with PaCO2 rising by over 0.5 kPa.</a:t>
            </a:r>
          </a:p>
          <a:p>
            <a:pPr>
              <a:spcAft>
                <a:spcPts val="800"/>
              </a:spcAft>
            </a:pPr>
            <a:r>
              <a:rPr sz="1800">
                <a:solidFill>
                  <a:srgbClr val="1F2937"/>
                </a:solidFill>
                <a:latin typeface="Calibri"/>
              </a:rPr>
              <a:t>▸  Prerequisites: known irreversible brain damage; drugs, hypothermia, metabolic and endocrine causes excluded.</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Exclude reversible causes first</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Test brain-stem reflexes</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Apnoea test: PaCO2 up &gt;0.5 kPa</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Two doctors; one a consultant</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Ancillary tests if needed</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Sequence of brain-stem death diagnosis</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Payne-James J., Jones R., Karch S.B., Manlove J, Simpson's Forensic Medicine, pp. 25, 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Confirming Death after Cardiorespiratory Arrest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Death is confirmed when apnoea and unconsciousness begin together and irreversibly, with no circulation, after full attempts to reverse any contributing cause.</a:t>
            </a:r>
          </a:p>
          <a:p>
            <a:pPr>
              <a:spcAft>
                <a:spcPts val="1200"/>
              </a:spcAft>
            </a:pPr>
            <a:r>
              <a:rPr sz="2000">
                <a:solidFill>
                  <a:srgbClr val="1F2937"/>
                </a:solidFill>
                <a:latin typeface="Calibri"/>
              </a:rPr>
              <a:t>▸  One of three conditions must apply: CPR (cardiopulmonary resuscitation) is not indicated, CPR has failed, or life-sustaining treatment was withdrawn as not in the patient's best interest or by advance decision.</a:t>
            </a:r>
          </a:p>
          <a:p>
            <a:pPr>
              <a:spcAft>
                <a:spcPts val="1200"/>
              </a:spcAft>
            </a:pPr>
            <a:r>
              <a:rPr sz="2000">
                <a:solidFill>
                  <a:srgbClr val="1F2937"/>
                </a:solidFill>
                <a:latin typeface="Calibri"/>
              </a:rPr>
              <a:t>▸  The certifying person observes for at least 5 minutes, finding no central pulse on palpation and no heart sounds on auscultation. Pupils must not react to light, with no corneal reflex or motor response to supra-orbital pressure.</a:t>
            </a:r>
          </a:p>
          <a:p>
            <a:pPr>
              <a:spcAft>
                <a:spcPts val="1200"/>
              </a:spcAft>
            </a:pPr>
            <a:r>
              <a:rPr sz="2000">
                <a:solidFill>
                  <a:srgbClr val="1F2937"/>
                </a:solidFill>
                <a:latin typeface="Calibri"/>
              </a:rPr>
              <a:t>▸  In hospital, supporting evidence may be asystole on a continuous ECG (electrocardiogram), no contractile activity on echocardiography, or no pulsatile flow on intra-arterial monitoring. The time of death is recorded once criteria are met.</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Payne-James J., Jones R., Karch S.B., Manlove J, Simpson's Forensic Medicine, pp. 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Organ and Tissue Transplantation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Sources of grafts: homologous (same body, e.g. skin or bone chips), live donation (blood, marrow, kidney, part of liver), cadaveric donation, xenografts (animal tissue) and, in theory, cloning.</a:t>
            </a:r>
          </a:p>
          <a:p>
            <a:pPr>
              <a:spcAft>
                <a:spcPts val="1200"/>
              </a:spcAft>
            </a:pPr>
            <a:r>
              <a:rPr sz="2000">
                <a:solidFill>
                  <a:srgbClr val="1F2937"/>
                </a:solidFill>
                <a:latin typeface="Calibri"/>
              </a:rPr>
              <a:t>▸  Cadaveric organs work best when taken during circulation or right after it stops, to keep 'warm ischaemic time' short. Kidneys tolerate anoxia better and can survive up to 30 minutes after cardiac activity ceases.</a:t>
            </a:r>
          </a:p>
          <a:p>
            <a:pPr>
              <a:spcAft>
                <a:spcPts val="1200"/>
              </a:spcAft>
            </a:pPr>
            <a:r>
              <a:rPr sz="2000">
                <a:solidFill>
                  <a:srgbClr val="1F2937"/>
                </a:solidFill>
                <a:latin typeface="Calibri"/>
              </a:rPr>
              <a:t>▸  Systems differ: some countries allow removal regardless of relatives, others use 'opting out' (removal unless relatives object). The UK uses 'opting in': prior permission or no objection, and no close relative objecting.</a:t>
            </a:r>
          </a:p>
          <a:p>
            <a:pPr>
              <a:spcAft>
                <a:spcPts val="1200"/>
              </a:spcAft>
            </a:pPr>
            <a:r>
              <a:rPr sz="2000">
                <a:solidFill>
                  <a:srgbClr val="1F2937"/>
                </a:solidFill>
                <a:latin typeface="Calibri"/>
              </a:rPr>
              <a:t>▸  If an autopsy is required by law, the coroner or other legal officer must permit harvesting first. Xenografts raise viral-transmission risk, and selling kidneys is illegal in many countries and unethical.</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Payne-James J., Jones R., Karch S.B., Manlove J, Simpson's Forensic Medicine, pp. 26, 27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Case Analysis: Declaring Death and Donation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Scenario: a man with severe head trauma is on a ventilator. Before brain-stem testing, doctors must exclude depressant drugs, hypothermia, metabolic or endocrine disturbance and neuromuscular blockers as causes of coma.</a:t>
            </a:r>
          </a:p>
          <a:p>
            <a:pPr>
              <a:spcAft>
                <a:spcPts val="1200"/>
              </a:spcAft>
            </a:pPr>
            <a:r>
              <a:rPr sz="2000">
                <a:solidFill>
                  <a:srgbClr val="1F2937"/>
                </a:solidFill>
                <a:latin typeface="Calibri"/>
              </a:rPr>
              <a:t>▸  Two doctors registered for over 5 years, one a consultant, test the reflexes. Pupils, corneal, oculovestibular, cough and gag reflexes are absent, and the apnoea test shows PaCO2 rising more than 0.5 kPa.</a:t>
            </a:r>
          </a:p>
          <a:p>
            <a:pPr>
              <a:spcAft>
                <a:spcPts val="1200"/>
              </a:spcAft>
            </a:pPr>
            <a:r>
              <a:rPr sz="2000">
                <a:solidFill>
                  <a:srgbClr val="1F2937"/>
                </a:solidFill>
                <a:latin typeface="Calibri"/>
              </a:rPr>
              <a:t>▸  The family agrees to donation, but the death is a suspected assault requiring autopsy. The coroner's permission is needed before organs are harvested, and the pathologist may attend retrieval.</a:t>
            </a:r>
          </a:p>
          <a:p>
            <a:pPr>
              <a:spcAft>
                <a:spcPts val="1200"/>
              </a:spcAft>
            </a:pPr>
            <a:r>
              <a:rPr sz="2000">
                <a:solidFill>
                  <a:srgbClr val="1F2937"/>
                </a:solidFill>
                <a:latin typeface="Calibri"/>
              </a:rPr>
              <a:t>▸  Question: why does artificial ventilation make the old 'respiratory arrest then cardiac arrest' chain unreliable, and which test shows brain-stem death despite a beating heart?</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Payne-James J., Jones R., Karch S.B., Manlove J, Simpson's Forensic Medicine, pp. 26, 25, 27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Quick Question: Death and Dying</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Q1: Name the terminal states in order. A: pre-agony, terminal pause, agony, clinical death, then biological death.</a:t>
            </a:r>
          </a:p>
          <a:p>
            <a:pPr>
              <a:spcAft>
                <a:spcPts val="1200"/>
              </a:spcAft>
            </a:pPr>
            <a:r>
              <a:rPr sz="2000">
                <a:solidFill>
                  <a:srgbClr val="1F2937"/>
                </a:solidFill>
                <a:latin typeface="Calibri"/>
              </a:rPr>
              <a:t>▸  Q2: How long does clinical death normally last? A: about 5-6 minutes, after which irreversible cortical changes develop. Cold can extend this period to up to 30 minutes.</a:t>
            </a:r>
          </a:p>
          <a:p>
            <a:pPr>
              <a:spcAft>
                <a:spcPts val="1200"/>
              </a:spcAft>
            </a:pPr>
            <a:r>
              <a:rPr sz="2000">
                <a:solidFill>
                  <a:srgbClr val="1F2937"/>
                </a:solidFill>
                <a:latin typeface="Calibri"/>
              </a:rPr>
              <a:t>▸  Q3: How quickly do cortical neurons die without oxygen? A: after only 3-7 minutes of complete oxygen deprivation, while skin and bone cells stay metabolically active for hours.</a:t>
            </a:r>
          </a:p>
          <a:p>
            <a:pPr>
              <a:spcAft>
                <a:spcPts val="1200"/>
              </a:spcAft>
            </a:pPr>
            <a:r>
              <a:rPr sz="2000">
                <a:solidFill>
                  <a:srgbClr val="1F2937"/>
                </a:solidFill>
                <a:latin typeface="Calibri"/>
              </a:rPr>
              <a:t>▸  Q4: Why is 'irreversible' the key word in somatic death? A: deep sleep, anaesthesia, drugs or temporary coma also stop communication with the environment, but they are reversible.</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G‘iyosov Z.A, Sud tibbiyoti, pp. 217-218, 218; Payne-James J., Jones R., Karch S.B., Manlove J, Simpson's Forensic Medicine, pp. 24, 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Presumptive and Reliable Signs of Death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Presumptive signs (immobility, pallor, no breathing or pulse) appear at once but are not conclusive.</a:t>
            </a:r>
          </a:p>
          <a:p>
            <a:pPr>
              <a:spcAft>
                <a:spcPts val="800"/>
              </a:spcAft>
            </a:pPr>
            <a:r>
              <a:rPr sz="1800">
                <a:solidFill>
                  <a:srgbClr val="1F2937"/>
                </a:solidFill>
                <a:latin typeface="Calibri"/>
              </a:rPr>
              <a:t>▸  Beloglazov's sign ('cat's eye'): the pupil turns oval when the eyeball is squeezed. It is the earliest reliable sign, at about 15-20 minutes.</a:t>
            </a:r>
          </a:p>
          <a:p>
            <a:pPr>
              <a:spcAft>
                <a:spcPts val="800"/>
              </a:spcAft>
            </a:pPr>
            <a:r>
              <a:rPr sz="1800">
                <a:solidFill>
                  <a:srgbClr val="1F2937"/>
                </a:solidFill>
                <a:latin typeface="Calibri"/>
              </a:rPr>
              <a:t>▸  Caution: pseudodeath (electric shock, sleeping-pill poisoning, heatstroke) can mimic death, so do not rely on pulse and breathing alone.</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096287"/>
                <a:gridCol w="2579500"/>
                <a:gridCol w="1612187"/>
              </a:tblGrid>
              <a:tr h="411480">
                <a:tc>
                  <a:txBody>
                    <a:bodyPr/>
                    <a:lstStyle/>
                    <a:p>
                      <a:r>
                        <a:rPr sz="1300" b="1">
                          <a:solidFill>
                            <a:srgbClr val="FFFFFF"/>
                          </a:solidFill>
                        </a:rPr>
                        <a:t>Sign</a:t>
                      </a:r>
                    </a:p>
                  </a:txBody>
                  <a:tcPr marL="73152" marR="73152" marT="36576" marB="36576">
                    <a:solidFill>
                      <a:srgbClr val="0B1F3A"/>
                    </a:solidFill>
                  </a:tcPr>
                </a:tc>
                <a:tc>
                  <a:txBody>
                    <a:bodyPr/>
                    <a:lstStyle/>
                    <a:p>
                      <a:r>
                        <a:rPr sz="1300" b="1">
                          <a:solidFill>
                            <a:srgbClr val="FFFFFF"/>
                          </a:solidFill>
                        </a:rPr>
                        <a:t>Description</a:t>
                      </a:r>
                    </a:p>
                  </a:txBody>
                  <a:tcPr marL="73152" marR="73152" marT="36576" marB="36576">
                    <a:solidFill>
                      <a:srgbClr val="0B1F3A"/>
                    </a:solidFill>
                  </a:tcPr>
                </a:tc>
                <a:tc>
                  <a:txBody>
                    <a:bodyPr/>
                    <a:lstStyle/>
                    <a:p>
                      <a:r>
                        <a:rPr sz="1300" b="1">
                          <a:solidFill>
                            <a:srgbClr val="FFFFFF"/>
                          </a:solidFill>
                        </a:rPr>
                        <a:t>Time</a:t>
                      </a:r>
                    </a:p>
                  </a:txBody>
                  <a:tcPr marL="73152" marR="73152" marT="36576" marB="36576">
                    <a:solidFill>
                      <a:srgbClr val="0B1F3A"/>
                    </a:solidFill>
                  </a:tcPr>
                </a:tc>
              </a:tr>
              <a:tr h="411480">
                <a:tc>
                  <a:txBody>
                    <a:bodyPr/>
                    <a:lstStyle/>
                    <a:p>
                      <a:r>
                        <a:rPr sz="1200" b="0">
                          <a:solidFill>
                            <a:srgbClr val="1F2937"/>
                          </a:solidFill>
                        </a:rPr>
                        <a:t>Beloglazov's sign</a:t>
                      </a:r>
                    </a:p>
                  </a:txBody>
                  <a:tcPr marL="73152" marR="73152" marT="36576" marB="36576">
                    <a:solidFill>
                      <a:srgbClr val="E8EEF6"/>
                    </a:solidFill>
                  </a:tcPr>
                </a:tc>
                <a:tc>
                  <a:txBody>
                    <a:bodyPr/>
                    <a:lstStyle/>
                    <a:p>
                      <a:r>
                        <a:rPr sz="1200" b="0">
                          <a:solidFill>
                            <a:srgbClr val="1F2937"/>
                          </a:solidFill>
                        </a:rPr>
                        <a:t>Oval pupil on eyeball compression</a:t>
                      </a:r>
                    </a:p>
                  </a:txBody>
                  <a:tcPr marL="73152" marR="73152" marT="36576" marB="36576">
                    <a:solidFill>
                      <a:srgbClr val="E8EEF6"/>
                    </a:solidFill>
                  </a:tcPr>
                </a:tc>
                <a:tc>
                  <a:txBody>
                    <a:bodyPr/>
                    <a:lstStyle/>
                    <a:p>
                      <a:r>
                        <a:rPr sz="1200" b="0">
                          <a:solidFill>
                            <a:srgbClr val="1F2937"/>
                          </a:solidFill>
                        </a:rPr>
                        <a:t>15-20 min</a:t>
                      </a:r>
                    </a:p>
                  </a:txBody>
                  <a:tcPr marL="73152" marR="73152" marT="36576" marB="36576">
                    <a:solidFill>
                      <a:srgbClr val="E8EEF6"/>
                    </a:solidFill>
                  </a:tcPr>
                </a:tc>
              </a:tr>
              <a:tr h="411480">
                <a:tc>
                  <a:txBody>
                    <a:bodyPr/>
                    <a:lstStyle/>
                    <a:p>
                      <a:r>
                        <a:rPr sz="1200" b="0">
                          <a:solidFill>
                            <a:srgbClr val="1F2937"/>
                          </a:solidFill>
                        </a:rPr>
                        <a:t>Cooling, lividity</a:t>
                      </a:r>
                    </a:p>
                  </a:txBody>
                  <a:tcPr marL="73152" marR="73152" marT="36576" marB="36576">
                    <a:solidFill>
                      <a:srgbClr val="FFFFFF"/>
                    </a:solidFill>
                  </a:tcPr>
                </a:tc>
                <a:tc>
                  <a:txBody>
                    <a:bodyPr/>
                    <a:lstStyle/>
                    <a:p>
                      <a:r>
                        <a:rPr sz="1200" b="0">
                          <a:solidFill>
                            <a:srgbClr val="1F2937"/>
                          </a:solidFill>
                        </a:rPr>
                        <a:t>Falling temperature; blue-red skin patches</a:t>
                      </a:r>
                    </a:p>
                  </a:txBody>
                  <a:tcPr marL="73152" marR="73152" marT="36576" marB="36576">
                    <a:solidFill>
                      <a:srgbClr val="FFFFFF"/>
                    </a:solidFill>
                  </a:tcPr>
                </a:tc>
                <a:tc>
                  <a:txBody>
                    <a:bodyPr/>
                    <a:lstStyle/>
                    <a:p>
                      <a:r>
                        <a:rPr sz="1200" b="0">
                          <a:solidFill>
                            <a:srgbClr val="1F2937"/>
                          </a:solidFill>
                        </a:rPr>
                        <a:t>Start ~1.5-2 h</a:t>
                      </a:r>
                    </a:p>
                  </a:txBody>
                  <a:tcPr marL="73152" marR="73152" marT="36576" marB="36576">
                    <a:solidFill>
                      <a:srgbClr val="FFFFFF"/>
                    </a:solidFill>
                  </a:tcPr>
                </a:tc>
              </a:tr>
              <a:tr h="411480">
                <a:tc>
                  <a:txBody>
                    <a:bodyPr/>
                    <a:lstStyle/>
                    <a:p>
                      <a:r>
                        <a:rPr sz="1200" b="0">
                          <a:solidFill>
                            <a:srgbClr val="1F2937"/>
                          </a:solidFill>
                        </a:rPr>
                        <a:t>Rigor mortis</a:t>
                      </a:r>
                    </a:p>
                  </a:txBody>
                  <a:tcPr marL="73152" marR="73152" marT="36576" marB="36576">
                    <a:solidFill>
                      <a:srgbClr val="E8EEF6"/>
                    </a:solidFill>
                  </a:tcPr>
                </a:tc>
                <a:tc>
                  <a:txBody>
                    <a:bodyPr/>
                    <a:lstStyle/>
                    <a:p>
                      <a:r>
                        <a:rPr sz="1200" b="0">
                          <a:solidFill>
                            <a:srgbClr val="1F2937"/>
                          </a:solidFill>
                        </a:rPr>
                        <a:t>Stiffening of skeletal muscles</a:t>
                      </a:r>
                    </a:p>
                  </a:txBody>
                  <a:tcPr marL="73152" marR="73152" marT="36576" marB="36576">
                    <a:solidFill>
                      <a:srgbClr val="E8EEF6"/>
                    </a:solidFill>
                  </a:tcPr>
                </a:tc>
                <a:tc>
                  <a:txBody>
                    <a:bodyPr/>
                    <a:lstStyle/>
                    <a:p>
                      <a:r>
                        <a:rPr sz="1200" b="0">
                          <a:solidFill>
                            <a:srgbClr val="1F2937"/>
                          </a:solidFill>
                        </a:rPr>
                        <a:t>Detectable 1-3 h</a:t>
                      </a:r>
                    </a:p>
                  </a:txBody>
                  <a:tcPr marL="73152" marR="73152" marT="36576" marB="36576">
                    <a:solidFill>
                      <a:srgbClr val="E8EEF6"/>
                    </a:solidFill>
                  </a:tcPr>
                </a:tc>
              </a:tr>
              <a:tr h="411480">
                <a:tc>
                  <a:txBody>
                    <a:bodyPr/>
                    <a:lstStyle/>
                    <a:p>
                      <a:r>
                        <a:rPr sz="1200" b="0">
                          <a:solidFill>
                            <a:srgbClr val="1F2937"/>
                          </a:solidFill>
                        </a:rPr>
                        <a:t>Drying</a:t>
                      </a:r>
                    </a:p>
                  </a:txBody>
                  <a:tcPr marL="73152" marR="73152" marT="36576" marB="36576">
                    <a:solidFill>
                      <a:srgbClr val="FFFFFF"/>
                    </a:solidFill>
                  </a:tcPr>
                </a:tc>
                <a:tc>
                  <a:txBody>
                    <a:bodyPr/>
                    <a:lstStyle/>
                    <a:p>
                      <a:r>
                        <a:rPr sz="1200" b="0">
                          <a:solidFill>
                            <a:srgbClr val="1F2937"/>
                          </a:solidFill>
                        </a:rPr>
                        <a:t>Clouded cornea; brown Larche spots</a:t>
                      </a:r>
                    </a:p>
                  </a:txBody>
                  <a:tcPr marL="73152" marR="73152" marT="36576" marB="36576">
                    <a:solidFill>
                      <a:srgbClr val="FFFFFF"/>
                    </a:solidFill>
                  </a:tcPr>
                </a:tc>
                <a:tc>
                  <a:txBody>
                    <a:bodyPr/>
                    <a:lstStyle/>
                    <a:p>
                      <a:r>
                        <a:rPr sz="1200" b="0">
                          <a:solidFill>
                            <a:srgbClr val="1F2937"/>
                          </a:solidFill>
                        </a:rPr>
                        <a:t>Cornea 1-3 h; spots 4-5 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Reliable signs and approximate timing</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G‘iyosov Z.A, Sud tibbiyoti, pp. 220; Харин Г.М. (Kharin G.M.), Краткий курс судебной медицины: учебное пособие, pp. 44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Forensic Classification of Death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Category: violent death results from external factors; non-violent death results from disease.</a:t>
            </a:r>
          </a:p>
          <a:p>
            <a:pPr>
              <a:spcAft>
                <a:spcPts val="800"/>
              </a:spcAft>
            </a:pPr>
            <a:r>
              <a:rPr sz="1800">
                <a:solidFill>
                  <a:srgbClr val="1F2937"/>
                </a:solidFill>
                <a:latin typeface="Calibri"/>
              </a:rPr>
              <a:t>▸  Kind (homicide, suicide, accident) is decided by investigators, because it rests on proving intent.</a:t>
            </a:r>
          </a:p>
          <a:p>
            <a:pPr>
              <a:spcAft>
                <a:spcPts val="800"/>
              </a:spcAft>
            </a:pPr>
            <a:r>
              <a:rPr sz="1800">
                <a:solidFill>
                  <a:srgbClr val="1F2937"/>
                </a:solidFill>
                <a:latin typeface="Calibri"/>
              </a:rPr>
              <a:t>▸  Caution: 'kind' is not 'type'. Type names the causative factor, e.g. mechanical injury, asphyxia, poisoning, temperature or electricity.</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146789"/>
                <a:gridCol w="2548421"/>
                <a:gridCol w="1592763"/>
              </a:tblGrid>
              <a:tr h="411480">
                <a:tc>
                  <a:txBody>
                    <a:bodyPr/>
                    <a:lstStyle/>
                    <a:p>
                      <a:r>
                        <a:rPr sz="1300" b="1">
                          <a:solidFill>
                            <a:srgbClr val="FFFFFF"/>
                          </a:solidFill>
                        </a:rPr>
                        <a:t>Level</a:t>
                      </a:r>
                    </a:p>
                  </a:txBody>
                  <a:tcPr marL="73152" marR="73152" marT="36576" marB="36576">
                    <a:solidFill>
                      <a:srgbClr val="0B1F3A"/>
                    </a:solidFill>
                  </a:tcPr>
                </a:tc>
                <a:tc>
                  <a:txBody>
                    <a:bodyPr/>
                    <a:lstStyle/>
                    <a:p>
                      <a:r>
                        <a:rPr sz="1300" b="1">
                          <a:solidFill>
                            <a:srgbClr val="FFFFFF"/>
                          </a:solidFill>
                        </a:rPr>
                        <a:t>Options</a:t>
                      </a:r>
                    </a:p>
                  </a:txBody>
                  <a:tcPr marL="73152" marR="73152" marT="36576" marB="36576">
                    <a:solidFill>
                      <a:srgbClr val="0B1F3A"/>
                    </a:solidFill>
                  </a:tcPr>
                </a:tc>
                <a:tc>
                  <a:txBody>
                    <a:bodyPr/>
                    <a:lstStyle/>
                    <a:p>
                      <a:r>
                        <a:rPr sz="1300" b="1">
                          <a:solidFill>
                            <a:srgbClr val="FFFFFF"/>
                          </a:solidFill>
                        </a:rPr>
                        <a:t>Decided by</a:t>
                      </a:r>
                    </a:p>
                  </a:txBody>
                  <a:tcPr marL="73152" marR="73152" marT="36576" marB="36576">
                    <a:solidFill>
                      <a:srgbClr val="0B1F3A"/>
                    </a:solidFill>
                  </a:tcPr>
                </a:tc>
              </a:tr>
              <a:tr h="411480">
                <a:tc>
                  <a:txBody>
                    <a:bodyPr/>
                    <a:lstStyle/>
                    <a:p>
                      <a:r>
                        <a:rPr sz="1200" b="0">
                          <a:solidFill>
                            <a:srgbClr val="1F2937"/>
                          </a:solidFill>
                        </a:rPr>
                        <a:t>Category</a:t>
                      </a:r>
                    </a:p>
                  </a:txBody>
                  <a:tcPr marL="73152" marR="73152" marT="36576" marB="36576">
                    <a:solidFill>
                      <a:srgbClr val="E8EEF6"/>
                    </a:solidFill>
                  </a:tcPr>
                </a:tc>
                <a:tc>
                  <a:txBody>
                    <a:bodyPr/>
                    <a:lstStyle/>
                    <a:p>
                      <a:r>
                        <a:rPr sz="1200" b="0">
                          <a:solidFill>
                            <a:srgbClr val="1F2937"/>
                          </a:solidFill>
                        </a:rPr>
                        <a:t>Violent / non-violent</a:t>
                      </a:r>
                    </a:p>
                  </a:txBody>
                  <a:tcPr marL="73152" marR="73152" marT="36576" marB="36576">
                    <a:solidFill>
                      <a:srgbClr val="E8EEF6"/>
                    </a:solidFill>
                  </a:tcPr>
                </a:tc>
                <a:tc>
                  <a:txBody>
                    <a:bodyPr/>
                    <a:lstStyle/>
                    <a:p>
                      <a:r>
                        <a:rPr sz="1200" b="0">
                          <a:solidFill>
                            <a:srgbClr val="1F2937"/>
                          </a:solidFill>
                        </a:rPr>
                        <a:t>Forensic expert or doctor</a:t>
                      </a:r>
                    </a:p>
                  </a:txBody>
                  <a:tcPr marL="73152" marR="73152" marT="36576" marB="36576">
                    <a:solidFill>
                      <a:srgbClr val="E8EEF6"/>
                    </a:solidFill>
                  </a:tcPr>
                </a:tc>
              </a:tr>
              <a:tr h="411480">
                <a:tc>
                  <a:txBody>
                    <a:bodyPr/>
                    <a:lstStyle/>
                    <a:p>
                      <a:r>
                        <a:rPr sz="1200" b="0">
                          <a:solidFill>
                            <a:srgbClr val="1F2937"/>
                          </a:solidFill>
                        </a:rPr>
                        <a:t>Kind</a:t>
                      </a:r>
                    </a:p>
                  </a:txBody>
                  <a:tcPr marL="73152" marR="73152" marT="36576" marB="36576">
                    <a:solidFill>
                      <a:srgbClr val="FFFFFF"/>
                    </a:solidFill>
                  </a:tcPr>
                </a:tc>
                <a:tc>
                  <a:txBody>
                    <a:bodyPr/>
                    <a:lstStyle/>
                    <a:p>
                      <a:r>
                        <a:rPr sz="1200" b="0">
                          <a:solidFill>
                            <a:srgbClr val="1F2937"/>
                          </a:solidFill>
                        </a:rPr>
                        <a:t>Homicide, suicide, accident</a:t>
                      </a:r>
                    </a:p>
                  </a:txBody>
                  <a:tcPr marL="73152" marR="73152" marT="36576" marB="36576">
                    <a:solidFill>
                      <a:srgbClr val="FFFFFF"/>
                    </a:solidFill>
                  </a:tcPr>
                </a:tc>
                <a:tc>
                  <a:txBody>
                    <a:bodyPr/>
                    <a:lstStyle/>
                    <a:p>
                      <a:r>
                        <a:rPr sz="1200" b="0">
                          <a:solidFill>
                            <a:srgbClr val="1F2937"/>
                          </a:solidFill>
                        </a:rPr>
                        <a:t>Investigator or court</a:t>
                      </a:r>
                    </a:p>
                  </a:txBody>
                  <a:tcPr marL="73152" marR="73152" marT="36576" marB="36576">
                    <a:solidFill>
                      <a:srgbClr val="FFFFFF"/>
                    </a:solidFill>
                  </a:tcPr>
                </a:tc>
              </a:tr>
              <a:tr h="411480">
                <a:tc>
                  <a:txBody>
                    <a:bodyPr/>
                    <a:lstStyle/>
                    <a:p>
                      <a:r>
                        <a:rPr sz="1200" b="0">
                          <a:solidFill>
                            <a:srgbClr val="1F2937"/>
                          </a:solidFill>
                        </a:rPr>
                        <a:t>Type (violent)</a:t>
                      </a:r>
                    </a:p>
                  </a:txBody>
                  <a:tcPr marL="73152" marR="73152" marT="36576" marB="36576">
                    <a:solidFill>
                      <a:srgbClr val="E8EEF6"/>
                    </a:solidFill>
                  </a:tcPr>
                </a:tc>
                <a:tc>
                  <a:txBody>
                    <a:bodyPr/>
                    <a:lstStyle/>
                    <a:p>
                      <a:r>
                        <a:rPr sz="1200" b="0">
                          <a:solidFill>
                            <a:srgbClr val="1F2937"/>
                          </a:solidFill>
                        </a:rPr>
                        <a:t>Injury, asphyxia, poisoning, heat/cold, electricity</a:t>
                      </a:r>
                    </a:p>
                  </a:txBody>
                  <a:tcPr marL="73152" marR="73152" marT="36576" marB="36576">
                    <a:solidFill>
                      <a:srgbClr val="E8EEF6"/>
                    </a:solidFill>
                  </a:tcPr>
                </a:tc>
                <a:tc>
                  <a:txBody>
                    <a:bodyPr/>
                    <a:lstStyle/>
                    <a:p>
                      <a:r>
                        <a:rPr sz="1200" b="0">
                          <a:solidFill>
                            <a:srgbClr val="1F2937"/>
                          </a:solidFill>
                        </a:rPr>
                        <a:t>Forensic expert or doctor</a:t>
                      </a:r>
                    </a:p>
                  </a:txBody>
                  <a:tcPr marL="73152" marR="73152" marT="36576" marB="36576">
                    <a:solidFill>
                      <a:srgbClr val="E8EEF6"/>
                    </a:solidFill>
                  </a:tcPr>
                </a:tc>
              </a:tr>
              <a:tr h="411480">
                <a:tc>
                  <a:txBody>
                    <a:bodyPr/>
                    <a:lstStyle/>
                    <a:p>
                      <a:r>
                        <a:rPr sz="1200" b="0">
                          <a:solidFill>
                            <a:srgbClr val="1F2937"/>
                          </a:solidFill>
                        </a:rPr>
                        <a:t>Type (non-violent)</a:t>
                      </a:r>
                    </a:p>
                  </a:txBody>
                  <a:tcPr marL="73152" marR="73152" marT="36576" marB="36576">
                    <a:solidFill>
                      <a:srgbClr val="FFFFFF"/>
                    </a:solidFill>
                  </a:tcPr>
                </a:tc>
                <a:tc>
                  <a:txBody>
                    <a:bodyPr/>
                    <a:lstStyle/>
                    <a:p>
                      <a:r>
                        <a:rPr sz="1200" b="0">
                          <a:solidFill>
                            <a:srgbClr val="1F2937"/>
                          </a:solidFill>
                        </a:rPr>
                        <a:t>By disease: heart, lung, digestive, etc.</a:t>
                      </a:r>
                    </a:p>
                  </a:txBody>
                  <a:tcPr marL="73152" marR="73152" marT="36576" marB="36576">
                    <a:solidFill>
                      <a:srgbClr val="FFFFFF"/>
                    </a:solidFill>
                  </a:tcPr>
                </a:tc>
                <a:tc>
                  <a:txBody>
                    <a:bodyPr/>
                    <a:lstStyle/>
                    <a:p>
                      <a:r>
                        <a:rPr sz="1200" b="0">
                          <a:solidFill>
                            <a:srgbClr val="1F2937"/>
                          </a:solidFill>
                        </a:rPr>
                        <a:t>Forensic expert or doctor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Levels of forensic classification of death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G‘iyosov Z.A, Sud tibbiyoti, pp. 221; Харин Г.М. (Kharin G.M.), Краткий курс судебной медицины: учебное пособие, pp. 42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Cause of Death, Mechanism and Thanatogenesis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Thanatogenesis: a causal chain; the first link is the initial cause, the last link the immediate cause.</a:t>
            </a:r>
          </a:p>
          <a:p>
            <a:pPr>
              <a:spcAft>
                <a:spcPts val="800"/>
              </a:spcAft>
            </a:pPr>
            <a:r>
              <a:rPr sz="1800">
                <a:solidFill>
                  <a:srgbClr val="1F2937"/>
                </a:solidFill>
                <a:latin typeface="Calibri"/>
              </a:rPr>
              <a:t>▸  Stab wound of the right atrium: chest wound, then haemopericardium, then cardiac compression.</a:t>
            </a:r>
          </a:p>
          <a:p>
            <a:pPr>
              <a:spcAft>
                <a:spcPts val="800"/>
              </a:spcAft>
            </a:pPr>
            <a:r>
              <a:rPr sz="1800">
                <a:solidFill>
                  <a:srgbClr val="1F2937"/>
                </a:solidFill>
                <a:latin typeface="Calibri"/>
              </a:rPr>
              <a:t>▸  Competing causes: two independently lethal conditions, e.g. head injury plus drowning.</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Peptic ulcer (initial cause)</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Perforation (intermediate)</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Peritonitis (intermediate)</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Sepsis (immediate cause)</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Chain of death: peptic ulcer example</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G‘iyosov Z.A, Sud tibbiyoti, pp. 241, 242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Death Certification and Medico-legal Investigation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The WHO certificate has two parts. Part I lists the causally linked conditions leading directly to death, lines (a), (b), (c). Part II lists other contributing conditions. The lowest Part I disease is the primary cause.</a:t>
            </a:r>
          </a:p>
          <a:p>
            <a:pPr>
              <a:spcAft>
                <a:spcPts val="1200"/>
              </a:spcAft>
            </a:pPr>
            <a:r>
              <a:rPr sz="2000">
                <a:solidFill>
                  <a:srgbClr val="1F2937"/>
                </a:solidFill>
                <a:latin typeface="Calibri"/>
              </a:rPr>
              <a:t>▸  Each condition has a four-digit ICD code, which makes data comparable between countries. In many Western systems a legal officer, not the doctor, decides the manner of death.</a:t>
            </a:r>
          </a:p>
          <a:p>
            <a:pPr>
              <a:spcAft>
                <a:spcPts val="1200"/>
              </a:spcAft>
            </a:pPr>
            <a:r>
              <a:rPr sz="2000">
                <a:solidFill>
                  <a:srgbClr val="1F2937"/>
                </a:solidFill>
                <a:latin typeface="Calibri"/>
              </a:rPr>
              <a:t>▸  In England and Wales, deaths that are violent, unnatural, sudden of unknown cause or in custody go to the Coroner. A death must also be referred if the doctor did not see the patient within 14 days before death.</a:t>
            </a:r>
          </a:p>
          <a:p>
            <a:pPr>
              <a:spcAft>
                <a:spcPts val="1200"/>
              </a:spcAft>
            </a:pPr>
            <a:r>
              <a:rPr sz="2000">
                <a:solidFill>
                  <a:srgbClr val="1F2937"/>
                </a:solidFill>
                <a:latin typeface="Calibri"/>
              </a:rPr>
              <a:t>▸  An inquest asks who died, and when, where and how. Verdicts include unlawful killing, accident, suicide, natural causes and open verdict. They must not imply blame.</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Payne-James J., Jones R., Karch S.B., Manlove J, Simpson's Forensic Medicine, pp. 28, 30, 31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Case Analysis: Certifying the Cause of Death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Scenario: a patient dies in coma after a subarachnoid haemorrhage from a ruptured congenital aneurysm. How should Part I of the certificate be written?</a:t>
            </a:r>
          </a:p>
          <a:p>
            <a:pPr>
              <a:spcAft>
                <a:spcPts val="1200"/>
              </a:spcAft>
            </a:pPr>
            <a:r>
              <a:rPr sz="2000">
                <a:solidFill>
                  <a:srgbClr val="1F2937"/>
                </a:solidFill>
                <a:latin typeface="Calibri"/>
              </a:rPr>
              <a:t>▸  Answer: Ia Coma; Ib Subarachnoid haemorrhage; Ic Ruptured congenital aneurysm. Line (c), the lowest, is the primary condition used for mortality statistics.</a:t>
            </a:r>
          </a:p>
          <a:p>
            <a:pPr>
              <a:spcAft>
                <a:spcPts val="1200"/>
              </a:spcAft>
            </a:pPr>
            <a:r>
              <a:rPr sz="2000">
                <a:solidFill>
                  <a:srgbClr val="1F2937"/>
                </a:solidFill>
                <a:latin typeface="Calibri"/>
              </a:rPr>
              <a:t>▸  Caution: common error. Writing only a mode of death, such as 'coma' or 'heart failure', is wrong. A mode must be tied to the underlying pathological abnormality.</a:t>
            </a:r>
          </a:p>
          <a:p>
            <a:pPr>
              <a:spcAft>
                <a:spcPts val="1200"/>
              </a:spcAft>
            </a:pPr>
            <a:r>
              <a:rPr sz="2000">
                <a:solidFill>
                  <a:srgbClr val="1F2937"/>
                </a:solidFill>
                <a:latin typeface="Calibri"/>
              </a:rPr>
              <a:t>▸  Question for students: if only 'Ia Cardiac failure' were written, what information would be lost for statistics and for the Coroner?</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Payne-James J., Jones R., Karch S.B., Manlove J, Simpson's Forensic Medicine, pp. 28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Early Post-mortem Changes: Overview</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Eyes: corneal and pupillary reflexes vanish; retinal blood columns fragment ('trucking'); tension falls.</a:t>
            </a:r>
          </a:p>
          <a:p>
            <a:pPr>
              <a:spcAft>
                <a:spcPts val="800"/>
              </a:spcAft>
            </a:pPr>
            <a:r>
              <a:rPr sz="1800">
                <a:solidFill>
                  <a:srgbClr val="1F2937"/>
                </a:solidFill>
                <a:latin typeface="Calibri"/>
              </a:rPr>
              <a:t>▸  Muscles go flaccid but may twitch or react to taps for some hours; skin and mucosae turn pale.</a:t>
            </a:r>
          </a:p>
          <a:p>
            <a:pPr>
              <a:spcAft>
                <a:spcPts val="800"/>
              </a:spcAft>
            </a:pPr>
            <a:r>
              <a:rPr sz="1800">
                <a:solidFill>
                  <a:srgbClr val="1F2937"/>
                </a:solidFill>
                <a:latin typeface="Calibri"/>
              </a:rPr>
              <a:t>▸  Urine voiding, semen emission and gastric regurgitation are common and prove nothing about the cause.</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081631"/>
                <a:gridCol w="1802718"/>
                <a:gridCol w="2403625"/>
              </a:tblGrid>
              <a:tr h="411480">
                <a:tc>
                  <a:txBody>
                    <a:bodyPr/>
                    <a:lstStyle/>
                    <a:p>
                      <a:r>
                        <a:rPr sz="1300" b="1">
                          <a:solidFill>
                            <a:srgbClr val="FFFFFF"/>
                          </a:solidFill>
                        </a:rPr>
                        <a:t>Change</a:t>
                      </a:r>
                    </a:p>
                  </a:txBody>
                  <a:tcPr marL="73152" marR="73152" marT="36576" marB="36576">
                    <a:solidFill>
                      <a:srgbClr val="0B1F3A"/>
                    </a:solidFill>
                  </a:tcPr>
                </a:tc>
                <a:tc>
                  <a:txBody>
                    <a:bodyPr/>
                    <a:lstStyle/>
                    <a:p>
                      <a:r>
                        <a:rPr sz="1300" b="1">
                          <a:solidFill>
                            <a:srgbClr val="FFFFFF"/>
                          </a:solidFill>
                        </a:rPr>
                        <a:t>Basis</a:t>
                      </a:r>
                    </a:p>
                  </a:txBody>
                  <a:tcPr marL="73152" marR="73152" marT="36576" marB="36576">
                    <a:solidFill>
                      <a:srgbClr val="0B1F3A"/>
                    </a:solidFill>
                  </a:tcPr>
                </a:tc>
                <a:tc>
                  <a:txBody>
                    <a:bodyPr/>
                    <a:lstStyle/>
                    <a:p>
                      <a:r>
                        <a:rPr sz="1300" b="1">
                          <a:solidFill>
                            <a:srgbClr val="FFFFFF"/>
                          </a:solidFill>
                        </a:rPr>
                        <a:t>Limitation</a:t>
                      </a:r>
                    </a:p>
                  </a:txBody>
                  <a:tcPr marL="73152" marR="73152" marT="36576" marB="36576">
                    <a:solidFill>
                      <a:srgbClr val="0B1F3A"/>
                    </a:solidFill>
                  </a:tcPr>
                </a:tc>
              </a:tr>
              <a:tr h="411480">
                <a:tc>
                  <a:txBody>
                    <a:bodyPr/>
                    <a:lstStyle/>
                    <a:p>
                      <a:r>
                        <a:rPr sz="1200" b="0">
                          <a:solidFill>
                            <a:srgbClr val="1F2937"/>
                          </a:solidFill>
                        </a:rPr>
                        <a:t>Rigor mortis</a:t>
                      </a:r>
                    </a:p>
                  </a:txBody>
                  <a:tcPr marL="73152" marR="73152" marT="36576" marB="36576">
                    <a:solidFill>
                      <a:srgbClr val="E8EEF6"/>
                    </a:solidFill>
                  </a:tcPr>
                </a:tc>
                <a:tc>
                  <a:txBody>
                    <a:bodyPr/>
                    <a:lstStyle/>
                    <a:p>
                      <a:r>
                        <a:rPr sz="1200" b="0">
                          <a:solidFill>
                            <a:srgbClr val="1F2937"/>
                          </a:solidFill>
                        </a:rPr>
                        <a:t>ATP loss, acidic muscle cells</a:t>
                      </a:r>
                    </a:p>
                  </a:txBody>
                  <a:tcPr marL="73152" marR="73152" marT="36576" marB="36576">
                    <a:solidFill>
                      <a:srgbClr val="E8EEF6"/>
                    </a:solidFill>
                  </a:tcPr>
                </a:tc>
                <a:tc>
                  <a:txBody>
                    <a:bodyPr/>
                    <a:lstStyle/>
                    <a:p>
                      <a:r>
                        <a:rPr sz="1200" b="0">
                          <a:solidFill>
                            <a:srgbClr val="1F2937"/>
                          </a:solidFill>
                        </a:rPr>
                        <a:t>Very variable; poor PMI marker</a:t>
                      </a:r>
                    </a:p>
                  </a:txBody>
                  <a:tcPr marL="73152" marR="73152" marT="36576" marB="36576">
                    <a:solidFill>
                      <a:srgbClr val="E8EEF6"/>
                    </a:solidFill>
                  </a:tcPr>
                </a:tc>
              </a:tr>
              <a:tr h="411480">
                <a:tc>
                  <a:txBody>
                    <a:bodyPr/>
                    <a:lstStyle/>
                    <a:p>
                      <a:r>
                        <a:rPr sz="1200" b="0">
                          <a:solidFill>
                            <a:srgbClr val="1F2937"/>
                          </a:solidFill>
                        </a:rPr>
                        <a:t>Livor (hypostasis)</a:t>
                      </a:r>
                    </a:p>
                  </a:txBody>
                  <a:tcPr marL="73152" marR="73152" marT="36576" marB="36576">
                    <a:solidFill>
                      <a:srgbClr val="FFFFFF"/>
                    </a:solidFill>
                  </a:tcPr>
                </a:tc>
                <a:tc>
                  <a:txBody>
                    <a:bodyPr/>
                    <a:lstStyle/>
                    <a:p>
                      <a:r>
                        <a:rPr sz="1200" b="0">
                          <a:solidFill>
                            <a:srgbClr val="1F2937"/>
                          </a:solidFill>
                        </a:rPr>
                        <a:t>Red cells settle by gravity</a:t>
                      </a:r>
                    </a:p>
                  </a:txBody>
                  <a:tcPr marL="73152" marR="73152" marT="36576" marB="36576">
                    <a:solidFill>
                      <a:srgbClr val="FFFFFF"/>
                    </a:solidFill>
                  </a:tcPr>
                </a:tc>
                <a:tc>
                  <a:txBody>
                    <a:bodyPr/>
                    <a:lstStyle/>
                    <a:p>
                      <a:r>
                        <a:rPr sz="1200" b="0">
                          <a:solidFill>
                            <a:srgbClr val="1F2937"/>
                          </a:solidFill>
                        </a:rPr>
                        <a:t>Onset time too variable for PMI</a:t>
                      </a:r>
                    </a:p>
                  </a:txBody>
                  <a:tcPr marL="73152" marR="73152" marT="36576" marB="36576">
                    <a:solidFill>
                      <a:srgbClr val="FFFFFF"/>
                    </a:solidFill>
                  </a:tcPr>
                </a:tc>
              </a:tr>
              <a:tr h="411480">
                <a:tc>
                  <a:txBody>
                    <a:bodyPr/>
                    <a:lstStyle/>
                    <a:p>
                      <a:r>
                        <a:rPr sz="1200" b="0">
                          <a:solidFill>
                            <a:srgbClr val="1F2937"/>
                          </a:solidFill>
                        </a:rPr>
                        <a:t>Algor (cooling)</a:t>
                      </a:r>
                    </a:p>
                  </a:txBody>
                  <a:tcPr marL="73152" marR="73152" marT="36576" marB="36576">
                    <a:solidFill>
                      <a:srgbClr val="E8EEF6"/>
                    </a:solidFill>
                  </a:tcPr>
                </a:tc>
                <a:tc>
                  <a:txBody>
                    <a:bodyPr/>
                    <a:lstStyle/>
                    <a:p>
                      <a:r>
                        <a:rPr sz="1200" b="0">
                          <a:solidFill>
                            <a:srgbClr val="1F2937"/>
                          </a:solidFill>
                        </a:rPr>
                        <a:t>Heat loss to the environment</a:t>
                      </a:r>
                    </a:p>
                  </a:txBody>
                  <a:tcPr marL="73152" marR="73152" marT="36576" marB="36576">
                    <a:solidFill>
                      <a:srgbClr val="E8EEF6"/>
                    </a:solidFill>
                  </a:tcPr>
                </a:tc>
                <a:tc>
                  <a:txBody>
                    <a:bodyPr/>
                    <a:lstStyle/>
                    <a:p>
                      <a:r>
                        <a:rPr sz="1200" b="0">
                          <a:solidFill>
                            <a:srgbClr val="1F2937"/>
                          </a:solidFill>
                        </a:rPr>
                        <a:t>Most useful PMI marker, still approximate</a:t>
                      </a:r>
                    </a:p>
                  </a:txBody>
                  <a:tcPr marL="73152" marR="73152" marT="36576" marB="36576">
                    <a:solidFill>
                      <a:srgbClr val="E8EEF6"/>
                    </a:solidFill>
                  </a:tcPr>
                </a:tc>
              </a:tr>
              <a:tr h="411480">
                <a:tc>
                  <a:txBody>
                    <a:bodyPr/>
                    <a:lstStyle/>
                    <a:p>
                      <a:r>
                        <a:rPr sz="1200" b="0">
                          <a:solidFill>
                            <a:srgbClr val="1F2937"/>
                          </a:solidFill>
                        </a:rPr>
                        <a:t>Drying, autolysis</a:t>
                      </a:r>
                    </a:p>
                  </a:txBody>
                  <a:tcPr marL="73152" marR="73152" marT="36576" marB="36576">
                    <a:solidFill>
                      <a:srgbClr val="FFFFFF"/>
                    </a:solidFill>
                  </a:tcPr>
                </a:tc>
                <a:tc>
                  <a:txBody>
                    <a:bodyPr/>
                    <a:lstStyle/>
                    <a:p>
                      <a:r>
                        <a:rPr sz="1200" b="0">
                          <a:solidFill>
                            <a:srgbClr val="1F2937"/>
                          </a:solidFill>
                        </a:rPr>
                        <a:t>Evaporation; lysosomal enzymes</a:t>
                      </a:r>
                    </a:p>
                  </a:txBody>
                  <a:tcPr marL="73152" marR="73152" marT="36576" marB="36576">
                    <a:solidFill>
                      <a:srgbClr val="FFFFFF"/>
                    </a:solidFill>
                  </a:tcPr>
                </a:tc>
                <a:tc>
                  <a:txBody>
                    <a:bodyPr/>
                    <a:lstStyle/>
                    <a:p>
                      <a:r>
                        <a:rPr sz="1200" b="0">
                          <a:solidFill>
                            <a:srgbClr val="1F2937"/>
                          </a:solidFill>
                        </a:rPr>
                        <a:t>Depends on climate and tissue</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Main early changes (first day) and their limits</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Payne-James J., Jones R., Karch S.B., Manlove J, Simpson's Forensic Medicine, pp. 42, 42-43, 43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Supravital Reactions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Some tissues still react to stimuli for hours after death; the reaction fades with time and helps date death.</a:t>
            </a:r>
          </a:p>
          <a:p>
            <a:pPr>
              <a:spcAft>
                <a:spcPts val="800"/>
              </a:spcAft>
            </a:pPr>
            <a:r>
              <a:rPr sz="1800">
                <a:solidFill>
                  <a:srgbClr val="1F2937"/>
                </a:solidFill>
                <a:latin typeface="Calibri"/>
              </a:rPr>
              <a:t>▸  A tap on the biceps raises an idiomuscular ridge that shrinks, then becomes a dent by about 10-11 hours.</a:t>
            </a:r>
          </a:p>
          <a:p>
            <a:pPr>
              <a:spcAft>
                <a:spcPts val="800"/>
              </a:spcAft>
            </a:pPr>
            <a:r>
              <a:rPr sz="1800">
                <a:solidFill>
                  <a:srgbClr val="1F2937"/>
                </a:solidFill>
                <a:latin typeface="Calibri"/>
              </a:rPr>
              <a:t>▸  Caution: white cells can move up to 12 h after arrest, so microscopic 'vital reactions' are doubtful.</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397970"/>
                <a:gridCol w="1823439"/>
                <a:gridCol w="2066564"/>
              </a:tblGrid>
              <a:tr h="411480">
                <a:tc>
                  <a:txBody>
                    <a:bodyPr/>
                    <a:lstStyle/>
                    <a:p>
                      <a:r>
                        <a:rPr sz="1300" b="1">
                          <a:solidFill>
                            <a:srgbClr val="FFFFFF"/>
                          </a:solidFill>
                        </a:rPr>
                        <a:t>Stimulus</a:t>
                      </a:r>
                    </a:p>
                  </a:txBody>
                  <a:tcPr marL="73152" marR="73152" marT="36576" marB="36576">
                    <a:solidFill>
                      <a:srgbClr val="0B1F3A"/>
                    </a:solidFill>
                  </a:tcPr>
                </a:tc>
                <a:tc>
                  <a:txBody>
                    <a:bodyPr/>
                    <a:lstStyle/>
                    <a:p>
                      <a:r>
                        <a:rPr sz="1300" b="1">
                          <a:solidFill>
                            <a:srgbClr val="FFFFFF"/>
                          </a:solidFill>
                        </a:rPr>
                        <a:t>Reaction</a:t>
                      </a:r>
                    </a:p>
                  </a:txBody>
                  <a:tcPr marL="73152" marR="73152" marT="36576" marB="36576">
                    <a:solidFill>
                      <a:srgbClr val="0B1F3A"/>
                    </a:solidFill>
                  </a:tcPr>
                </a:tc>
                <a:tc>
                  <a:txBody>
                    <a:bodyPr/>
                    <a:lstStyle/>
                    <a:p>
                      <a:r>
                        <a:rPr sz="1300" b="1">
                          <a:solidFill>
                            <a:srgbClr val="FFFFFF"/>
                          </a:solidFill>
                        </a:rPr>
                        <a:t>Time window</a:t>
                      </a:r>
                    </a:p>
                  </a:txBody>
                  <a:tcPr marL="73152" marR="73152" marT="36576" marB="36576">
                    <a:solidFill>
                      <a:srgbClr val="0B1F3A"/>
                    </a:solidFill>
                  </a:tcPr>
                </a:tc>
              </a:tr>
              <a:tr h="411480">
                <a:tc>
                  <a:txBody>
                    <a:bodyPr/>
                    <a:lstStyle/>
                    <a:p>
                      <a:r>
                        <a:rPr sz="1200" b="0">
                          <a:solidFill>
                            <a:srgbClr val="1F2937"/>
                          </a:solidFill>
                        </a:rPr>
                        <a:t>Mechanical tap (biceps)</a:t>
                      </a:r>
                    </a:p>
                  </a:txBody>
                  <a:tcPr marL="73152" marR="73152" marT="36576" marB="36576">
                    <a:solidFill>
                      <a:srgbClr val="E8EEF6"/>
                    </a:solidFill>
                  </a:tcPr>
                </a:tc>
                <a:tc>
                  <a:txBody>
                    <a:bodyPr/>
                    <a:lstStyle/>
                    <a:p>
                      <a:r>
                        <a:rPr sz="1200" b="0">
                          <a:solidFill>
                            <a:srgbClr val="1F2937"/>
                          </a:solidFill>
                        </a:rPr>
                        <a:t>Firm ridge, later a dent</a:t>
                      </a:r>
                    </a:p>
                  </a:txBody>
                  <a:tcPr marL="73152" marR="73152" marT="36576" marB="36576">
                    <a:solidFill>
                      <a:srgbClr val="E8EEF6"/>
                    </a:solidFill>
                  </a:tcPr>
                </a:tc>
                <a:tc>
                  <a:txBody>
                    <a:bodyPr/>
                    <a:lstStyle/>
                    <a:p>
                      <a:r>
                        <a:rPr sz="1200" b="0">
                          <a:solidFill>
                            <a:srgbClr val="1F2937"/>
                          </a:solidFill>
                        </a:rPr>
                        <a:t>Ridge to ~9 h; dent to ~11 h</a:t>
                      </a:r>
                    </a:p>
                  </a:txBody>
                  <a:tcPr marL="73152" marR="73152" marT="36576" marB="36576">
                    <a:solidFill>
                      <a:srgbClr val="E8EEF6"/>
                    </a:solidFill>
                  </a:tcPr>
                </a:tc>
              </a:tr>
              <a:tr h="411480">
                <a:tc>
                  <a:txBody>
                    <a:bodyPr/>
                    <a:lstStyle/>
                    <a:p>
                      <a:r>
                        <a:rPr sz="1200" b="0">
                          <a:solidFill>
                            <a:srgbClr val="1F2937"/>
                          </a:solidFill>
                        </a:rPr>
                        <a:t>Electrical current</a:t>
                      </a:r>
                    </a:p>
                  </a:txBody>
                  <a:tcPr marL="73152" marR="73152" marT="36576" marB="36576">
                    <a:solidFill>
                      <a:srgbClr val="FFFFFF"/>
                    </a:solidFill>
                  </a:tcPr>
                </a:tc>
                <a:tc>
                  <a:txBody>
                    <a:bodyPr/>
                    <a:lstStyle/>
                    <a:p>
                      <a:r>
                        <a:rPr sz="1200" b="0">
                          <a:solidFill>
                            <a:srgbClr val="1F2937"/>
                          </a:solidFill>
                        </a:rPr>
                        <a:t>Face muscles, then eye muscles</a:t>
                      </a:r>
                    </a:p>
                  </a:txBody>
                  <a:tcPr marL="73152" marR="73152" marT="36576" marB="36576">
                    <a:solidFill>
                      <a:srgbClr val="FFFFFF"/>
                    </a:solidFill>
                  </a:tcPr>
                </a:tc>
                <a:tc>
                  <a:txBody>
                    <a:bodyPr/>
                    <a:lstStyle/>
                    <a:p>
                      <a:r>
                        <a:rPr sz="1200" b="0">
                          <a:solidFill>
                            <a:srgbClr val="1F2937"/>
                          </a:solidFill>
                        </a:rPr>
                        <a:t>Face 2-3 h; eye muscles to 11-12 h</a:t>
                      </a:r>
                    </a:p>
                  </a:txBody>
                  <a:tcPr marL="73152" marR="73152" marT="36576" marB="36576">
                    <a:solidFill>
                      <a:srgbClr val="FFFFFF"/>
                    </a:solidFill>
                  </a:tcPr>
                </a:tc>
              </a:tr>
              <a:tr h="411480">
                <a:tc>
                  <a:txBody>
                    <a:bodyPr/>
                    <a:lstStyle/>
                    <a:p>
                      <a:r>
                        <a:rPr sz="1200" b="0">
                          <a:solidFill>
                            <a:srgbClr val="1F2937"/>
                          </a:solidFill>
                        </a:rPr>
                        <a:t>Pilocarpine / atropine</a:t>
                      </a:r>
                    </a:p>
                  </a:txBody>
                  <a:tcPr marL="73152" marR="73152" marT="36576" marB="36576">
                    <a:solidFill>
                      <a:srgbClr val="E8EEF6"/>
                    </a:solidFill>
                  </a:tcPr>
                </a:tc>
                <a:tc>
                  <a:txBody>
                    <a:bodyPr/>
                    <a:lstStyle/>
                    <a:p>
                      <a:r>
                        <a:rPr sz="1200" b="0">
                          <a:solidFill>
                            <a:srgbClr val="1F2937"/>
                          </a:solidFill>
                        </a:rPr>
                        <a:t>Pupil narrows / widens</a:t>
                      </a:r>
                    </a:p>
                  </a:txBody>
                  <a:tcPr marL="73152" marR="73152" marT="36576" marB="36576">
                    <a:solidFill>
                      <a:srgbClr val="E8EEF6"/>
                    </a:solidFill>
                  </a:tcPr>
                </a:tc>
                <a:tc>
                  <a:txBody>
                    <a:bodyPr/>
                    <a:lstStyle/>
                    <a:p>
                      <a:r>
                        <a:rPr sz="1200" b="0">
                          <a:solidFill>
                            <a:srgbClr val="1F2937"/>
                          </a:solidFill>
                        </a:rPr>
                        <a:t>Slower with time; up to ~24 h</a:t>
                      </a:r>
                    </a:p>
                  </a:txBody>
                  <a:tcPr marL="73152" marR="73152" marT="36576" marB="36576">
                    <a:solidFill>
                      <a:srgbClr val="E8EEF6"/>
                    </a:solidFill>
                  </a:tcPr>
                </a:tc>
              </a:tr>
              <a:tr h="411480">
                <a:tc>
                  <a:txBody>
                    <a:bodyPr/>
                    <a:lstStyle/>
                    <a:p>
                      <a:r>
                        <a:rPr sz="1200" b="0">
                          <a:solidFill>
                            <a:srgbClr val="1F2937"/>
                          </a:solidFill>
                        </a:rPr>
                        <a:t>Adrenaline on skin</a:t>
                      </a:r>
                    </a:p>
                  </a:txBody>
                  <a:tcPr marL="73152" marR="73152" marT="36576" marB="36576">
                    <a:solidFill>
                      <a:srgbClr val="FFFFFF"/>
                    </a:solidFill>
                  </a:tcPr>
                </a:tc>
                <a:tc>
                  <a:txBody>
                    <a:bodyPr/>
                    <a:lstStyle/>
                    <a:p>
                      <a:r>
                        <a:rPr sz="1200" b="0">
                          <a:solidFill>
                            <a:srgbClr val="1F2937"/>
                          </a:solidFill>
                        </a:rPr>
                        <a:t>Sweat glands: blue stain</a:t>
                      </a:r>
                    </a:p>
                  </a:txBody>
                  <a:tcPr marL="73152" marR="73152" marT="36576" marB="36576">
                    <a:solidFill>
                      <a:srgbClr val="FFFFFF"/>
                    </a:solidFill>
                  </a:tcPr>
                </a:tc>
                <a:tc>
                  <a:txBody>
                    <a:bodyPr/>
                    <a:lstStyle/>
                    <a:p>
                      <a:r>
                        <a:rPr sz="1200" b="0">
                          <a:solidFill>
                            <a:srgbClr val="1F2937"/>
                          </a:solidFill>
                        </a:rPr>
                        <a:t>Up to about 30 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Supravital tests (approximate windows from local textbooks)</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Ромодановский П.О., Баринов Е.Х, Судебная медицина в схемах и рисунках: учебное пособие, pp. 57; G‘iyosov Z.A, Sud tibbiyoti, pp. 222; Payne-James J., Jones R., Karch S.B., Manlove J, Simpson's Forensic Medicine, pp.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Post-mortem Cooling (Algor Mortis)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By Newton's law heat passes from the warm body to cooler surroundings. A body cools unevenly and each body lies in its own environment, so rates differ.</a:t>
            </a:r>
          </a:p>
          <a:p>
            <a:pPr>
              <a:spcAft>
                <a:spcPts val="1200"/>
              </a:spcAft>
            </a:pPr>
            <a:r>
              <a:rPr sz="2200">
                <a:solidFill>
                  <a:srgbClr val="1F2937"/>
                </a:solidFill>
                <a:latin typeface="Calibri"/>
              </a:rPr>
              <a:t>▸  Textbooks quote about 1 degree C per hour at room temperature, but Simpson's calls such rules of thumb too unreliable to use.</a:t>
            </a:r>
          </a:p>
          <a:p>
            <a:pPr>
              <a:spcAft>
                <a:spcPts val="1200"/>
              </a:spcAft>
            </a:pPr>
            <a:r>
              <a:rPr sz="2200">
                <a:solidFill>
                  <a:srgbClr val="1F2937"/>
                </a:solidFill>
                <a:latin typeface="Calibri"/>
              </a:rPr>
              <a:t>▸  Three assumptions: body temperature was 37 C at death; a few readings can be extrapolated by formula; the environment stayed thermally constant.</a:t>
            </a:r>
          </a:p>
          <a:p>
            <a:pPr>
              <a:spcAft>
                <a:spcPts val="1200"/>
              </a:spcAft>
            </a:pPr>
            <a:r>
              <a:rPr sz="2200">
                <a:solidFill>
                  <a:srgbClr val="1F2937"/>
                </a:solidFill>
                <a:latin typeface="Calibri"/>
              </a:rPr>
              <a:t>▸  Rate depends on mass, clothing, fat, posture and air movement. Rectal probing may spoil forensic samples; nose or ear readings differ from deep rectal or liver values.</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Payne-James J., Jones R., Karch S.B., Manlove J, Simpson's Forensic Medicine, pp. 46, 50, 46, 50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Post-mortem Drying</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After death the glands stop secreting and moisture evaporates. Drying first appears on naturally moist surfaces: the red lip margin, mucosae, cornea, conjunctiva and scrotal skin.</a:t>
            </a:r>
          </a:p>
          <a:p>
            <a:pPr>
              <a:spcAft>
                <a:spcPts val="1200"/>
              </a:spcAft>
            </a:pPr>
            <a:r>
              <a:rPr sz="2000">
                <a:solidFill>
                  <a:srgbClr val="1F2937"/>
                </a:solidFill>
                <a:latin typeface="Calibri"/>
              </a:rPr>
              <a:t>▸  Areas with damaged epidermis also dry early: abrasions, wound edges and ligature furrows. With the eyes open, the cornea clouds in 1-3 h and Larche spots appear at the sides by 4-5 h.</a:t>
            </a:r>
          </a:p>
          <a:p>
            <a:pPr>
              <a:spcAft>
                <a:spcPts val="1200"/>
              </a:spcAft>
            </a:pPr>
            <a:r>
              <a:rPr sz="2000">
                <a:solidFill>
                  <a:srgbClr val="1F2937"/>
                </a:solidFill>
                <a:latin typeface="Calibri"/>
              </a:rPr>
              <a:t>▸  Dried injured skin becomes firm and yellow-brown (parchment patch). Test: put gauze soaked in warm saline on it for 5-10 min. A parchment patch softens and pales; a vital abrasion does not change.</a:t>
            </a:r>
          </a:p>
          <a:p>
            <a:pPr>
              <a:spcAft>
                <a:spcPts val="1200"/>
              </a:spcAft>
            </a:pPr>
            <a:r>
              <a:rPr sz="2000">
                <a:solidFill>
                  <a:srgbClr val="1F2937"/>
                </a:solidFill>
                <a:latin typeface="Calibri"/>
              </a:rPr>
              <a:t>▸  Caution: hair does not grow after death. Dry, retracted skin only makes the beard look more prominent, especially against pale skin.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G‘iyosov Z.A, Sud tibbiyoti, pp. 224, 224-225, 225; Payne-James J., Jones R., Karch S.B., Manlove J, Simpson's Forensic Medicine, pp. 43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Rigor Mortis: Mechanism and Course</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Guide times in temperate conditions: face 1-4 h, limbs 3-6 h, maximum about 18 h, gone after about 50 h.</a:t>
            </a:r>
          </a:p>
          <a:p>
            <a:pPr>
              <a:spcAft>
                <a:spcPts val="800"/>
              </a:spcAft>
            </a:pPr>
            <a:r>
              <a:rPr sz="1800">
                <a:solidFill>
                  <a:srgbClr val="1F2937"/>
                </a:solidFill>
                <a:latin typeface="Calibri"/>
              </a:rPr>
              <a:t>▸  Faster with exercise, low glycogen, electrocution or heat; slower but longer in the cold.</a:t>
            </a:r>
          </a:p>
          <a:p>
            <a:pPr>
              <a:spcAft>
                <a:spcPts val="800"/>
              </a:spcAft>
            </a:pPr>
            <a:r>
              <a:rPr sz="1800">
                <a:solidFill>
                  <a:srgbClr val="1F2937"/>
                </a:solidFill>
                <a:latin typeface="Calibri"/>
              </a:rPr>
              <a:t>▸  Test across a joint with gentle pressure only. If rigor is broken by force, that muscle group cannot be reliably tested again.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Oxygen supply stops</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ATP falls, lactic acid rises</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Actin and myosin bind (gel)</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Muscles stiffen, small first</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Autolysis: muscles flaccid again</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Chain of events in rigor mortis</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Payne-James J., Jones R., Karch S.B., Manlove J, Simpson's Forensic Medicine, pp. 43-44, 43, 44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Cadaveric Rigidity and Caution on Rigor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Cadaveric rigidity is stiffness said to begin at the moment of death. It is shown by objects gripped in the hand, such as weeds in a drowned person or a trigger in a suicidal shooting.</a:t>
            </a:r>
          </a:p>
          <a:p>
            <a:pPr>
              <a:spcAft>
                <a:spcPts val="1200"/>
              </a:spcAft>
            </a:pPr>
            <a:r>
              <a:rPr sz="2000">
                <a:solidFill>
                  <a:srgbClr val="1F2937"/>
                </a:solidFill>
                <a:latin typeface="Calibri"/>
              </a:rPr>
              <a:t>▸  Its mechanism is unexplained, possibly neurogenic, so 'instantaneous rigor' is a poor term. Local sources link a cataleptic form to medulla, cervical cord or solar plexus injury and convulsant poisoning.</a:t>
            </a:r>
          </a:p>
          <a:p>
            <a:pPr>
              <a:spcAft>
                <a:spcPts val="1200"/>
              </a:spcAft>
            </a:pPr>
            <a:r>
              <a:rPr sz="2000">
                <a:solidFill>
                  <a:srgbClr val="1F2937"/>
                </a:solidFill>
                <a:latin typeface="Calibri"/>
              </a:rPr>
              <a:t>▸  Caution: stiffness from severe cold or freezing is not rigor. It disappears when the body warms in the mortuary, and true rigor may develop afterwards.</a:t>
            </a:r>
          </a:p>
          <a:p>
            <a:pPr>
              <a:spcAft>
                <a:spcPts val="1200"/>
              </a:spcAft>
            </a:pPr>
            <a:r>
              <a:rPr sz="2000">
                <a:solidFill>
                  <a:srgbClr val="1F2937"/>
                </a:solidFill>
                <a:latin typeface="Calibri"/>
              </a:rPr>
              <a:t>▸  Rigor is very variable and gives only a rough estimate of the post-mortem interval (PMI). Charts that assign times to the degree of rigor should be viewed with scepticism.</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Payne-James J., Jones R., Karch S.B., Manlove J, Simpson's Forensic Medicine, pp. 44, 43; G‘iyosov Z.A, Sud tibbiyoti, pp. 226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Post-mortem Lividity (Hypostasis)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Gravity settles red cells in the lowest vessels; the colour shows through the skin as lividity.</a:t>
            </a:r>
          </a:p>
          <a:p>
            <a:pPr>
              <a:spcAft>
                <a:spcPts val="800"/>
              </a:spcAft>
            </a:pPr>
            <a:r>
              <a:rPr sz="1800">
                <a:solidFill>
                  <a:srgbClr val="1F2937"/>
                </a:solidFill>
                <a:latin typeface="Calibri"/>
              </a:rPr>
              <a:t>▸  Pressed or clothed areas stay pale; the site follows body position (hanging: legs and arms).</a:t>
            </a:r>
          </a:p>
          <a:p>
            <a:pPr>
              <a:spcAft>
                <a:spcPts val="800"/>
              </a:spcAft>
            </a:pPr>
            <a:r>
              <a:rPr sz="1800">
                <a:solidFill>
                  <a:srgbClr val="1F2937"/>
                </a:solidFill>
                <a:latin typeface="Calibri"/>
              </a:rPr>
              <a:t>▸  CO: cherry-pink; cyanide: brick-red. Colour alone never proves the cause of death.</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900080"/>
                <a:gridCol w="2137692"/>
                <a:gridCol w="2250202"/>
              </a:tblGrid>
              <a:tr h="411480">
                <a:tc>
                  <a:txBody>
                    <a:bodyPr/>
                    <a:lstStyle/>
                    <a:p>
                      <a:r>
                        <a:rPr sz="1300" b="1">
                          <a:solidFill>
                            <a:srgbClr val="FFFFFF"/>
                          </a:solidFill>
                        </a:rPr>
                        <a:t>Stage</a:t>
                      </a:r>
                    </a:p>
                  </a:txBody>
                  <a:tcPr marL="73152" marR="73152" marT="36576" marB="36576">
                    <a:solidFill>
                      <a:srgbClr val="0B1F3A"/>
                    </a:solidFill>
                  </a:tcPr>
                </a:tc>
                <a:tc>
                  <a:txBody>
                    <a:bodyPr/>
                    <a:lstStyle/>
                    <a:p>
                      <a:r>
                        <a:rPr sz="1300" b="1">
                          <a:solidFill>
                            <a:srgbClr val="FFFFFF"/>
                          </a:solidFill>
                        </a:rPr>
                        <a:t>Timing</a:t>
                      </a:r>
                    </a:p>
                  </a:txBody>
                  <a:tcPr marL="73152" marR="73152" marT="36576" marB="36576">
                    <a:solidFill>
                      <a:srgbClr val="0B1F3A"/>
                    </a:solidFill>
                  </a:tcPr>
                </a:tc>
                <a:tc>
                  <a:txBody>
                    <a:bodyPr/>
                    <a:lstStyle/>
                    <a:p>
                      <a:r>
                        <a:rPr sz="1300" b="1">
                          <a:solidFill>
                            <a:srgbClr val="FFFFFF"/>
                          </a:solidFill>
                        </a:rPr>
                        <a:t>Finger pressure</a:t>
                      </a:r>
                    </a:p>
                  </a:txBody>
                  <a:tcPr marL="73152" marR="73152" marT="36576" marB="36576">
                    <a:solidFill>
                      <a:srgbClr val="0B1F3A"/>
                    </a:solidFill>
                  </a:tcPr>
                </a:tc>
              </a:tr>
              <a:tr h="411480">
                <a:tc>
                  <a:txBody>
                    <a:bodyPr/>
                    <a:lstStyle/>
                    <a:p>
                      <a:r>
                        <a:rPr sz="1200" b="0">
                          <a:solidFill>
                            <a:srgbClr val="1F2937"/>
                          </a:solidFill>
                        </a:rPr>
                        <a:t>Hypostasis</a:t>
                      </a:r>
                    </a:p>
                  </a:txBody>
                  <a:tcPr marL="73152" marR="73152" marT="36576" marB="36576">
                    <a:solidFill>
                      <a:srgbClr val="E8EEF6"/>
                    </a:solidFill>
                  </a:tcPr>
                </a:tc>
                <a:tc>
                  <a:txBody>
                    <a:bodyPr/>
                    <a:lstStyle/>
                    <a:p>
                      <a:r>
                        <a:rPr sz="1200" b="0">
                          <a:solidFill>
                            <a:srgbClr val="1F2937"/>
                          </a:solidFill>
                        </a:rPr>
                        <a:t>Appears 1.5-2 h; lasts to 8-12 h</a:t>
                      </a:r>
                    </a:p>
                  </a:txBody>
                  <a:tcPr marL="73152" marR="73152" marT="36576" marB="36576">
                    <a:solidFill>
                      <a:srgbClr val="E8EEF6"/>
                    </a:solidFill>
                  </a:tcPr>
                </a:tc>
                <a:tc>
                  <a:txBody>
                    <a:bodyPr/>
                    <a:lstStyle/>
                    <a:p>
                      <a:r>
                        <a:rPr sz="1200" b="0">
                          <a:solidFill>
                            <a:srgbClr val="1F2937"/>
                          </a:solidFill>
                        </a:rPr>
                        <a:t>Disappears, returns quickly; moves if body turned</a:t>
                      </a:r>
                    </a:p>
                  </a:txBody>
                  <a:tcPr marL="73152" marR="73152" marT="36576" marB="36576">
                    <a:solidFill>
                      <a:srgbClr val="E8EEF6"/>
                    </a:solidFill>
                  </a:tcPr>
                </a:tc>
              </a:tr>
              <a:tr h="411480">
                <a:tc>
                  <a:txBody>
                    <a:bodyPr/>
                    <a:lstStyle/>
                    <a:p>
                      <a:r>
                        <a:rPr sz="1200" b="0">
                          <a:solidFill>
                            <a:srgbClr val="1F2937"/>
                          </a:solidFill>
                        </a:rPr>
                        <a:t>Stasis</a:t>
                      </a:r>
                    </a:p>
                  </a:txBody>
                  <a:tcPr marL="73152" marR="73152" marT="36576" marB="36576">
                    <a:solidFill>
                      <a:srgbClr val="FFFFFF"/>
                    </a:solidFill>
                  </a:tcPr>
                </a:tc>
                <a:tc>
                  <a:txBody>
                    <a:bodyPr/>
                    <a:lstStyle/>
                    <a:p>
                      <a:r>
                        <a:rPr sz="1200" b="0">
                          <a:solidFill>
                            <a:srgbClr val="1F2937"/>
                          </a:solidFill>
                        </a:rPr>
                        <a:t>About 12-24 h</a:t>
                      </a:r>
                    </a:p>
                  </a:txBody>
                  <a:tcPr marL="73152" marR="73152" marT="36576" marB="36576">
                    <a:solidFill>
                      <a:srgbClr val="FFFFFF"/>
                    </a:solidFill>
                  </a:tcPr>
                </a:tc>
                <a:tc>
                  <a:txBody>
                    <a:bodyPr/>
                    <a:lstStyle/>
                    <a:p>
                      <a:r>
                        <a:rPr sz="1200" b="0">
                          <a:solidFill>
                            <a:srgbClr val="1F2937"/>
                          </a:solidFill>
                        </a:rPr>
                        <a:t>Only pales, recovers slowly; partial shift</a:t>
                      </a:r>
                    </a:p>
                  </a:txBody>
                  <a:tcPr marL="73152" marR="73152" marT="36576" marB="36576">
                    <a:solidFill>
                      <a:srgbClr val="FFFFFF"/>
                    </a:solidFill>
                  </a:tcPr>
                </a:tc>
              </a:tr>
              <a:tr h="411480">
                <a:tc>
                  <a:txBody>
                    <a:bodyPr/>
                    <a:lstStyle/>
                    <a:p>
                      <a:r>
                        <a:rPr sz="1200" b="0">
                          <a:solidFill>
                            <a:srgbClr val="1F2937"/>
                          </a:solidFill>
                        </a:rPr>
                        <a:t>Imbibition</a:t>
                      </a:r>
                    </a:p>
                  </a:txBody>
                  <a:tcPr marL="73152" marR="73152" marT="36576" marB="36576">
                    <a:solidFill>
                      <a:srgbClr val="E8EEF6"/>
                    </a:solidFill>
                  </a:tcPr>
                </a:tc>
                <a:tc>
                  <a:txBody>
                    <a:bodyPr/>
                    <a:lstStyle/>
                    <a:p>
                      <a:r>
                        <a:rPr sz="1200" b="0">
                          <a:solidFill>
                            <a:srgbClr val="1F2937"/>
                          </a:solidFill>
                        </a:rPr>
                        <a:t>After stasis; haemolysis, putrefaction</a:t>
                      </a:r>
                    </a:p>
                  </a:txBody>
                  <a:tcPr marL="73152" marR="73152" marT="36576" marB="36576">
                    <a:solidFill>
                      <a:srgbClr val="E8EEF6"/>
                    </a:solidFill>
                  </a:tcPr>
                </a:tc>
                <a:tc>
                  <a:txBody>
                    <a:bodyPr/>
                    <a:lstStyle/>
                    <a:p>
                      <a:r>
                        <a:rPr sz="1200" b="0">
                          <a:solidFill>
                            <a:srgbClr val="1F2937"/>
                          </a:solidFill>
                        </a:rPr>
                        <a:t>Colour unchanged; does not move</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Three stages of lividity</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Payne-James J., Jones R., Karch S.B., Manlove J, Simpson's Forensic Medicine, pp. 44, 45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Lividity versus Bruises; Autolysis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Caution: lividity is not a bruise; make a cross-shaped incision in the doubtful area.</a:t>
            </a:r>
          </a:p>
          <a:p>
            <a:pPr>
              <a:spcAft>
                <a:spcPts val="800"/>
              </a:spcAft>
            </a:pPr>
            <a:r>
              <a:rPr sz="1800">
                <a:solidFill>
                  <a:srgbClr val="1F2937"/>
                </a:solidFill>
                <a:latin typeface="Calibri"/>
              </a:rPr>
              <a:t>▸  Autolysis begins in enzyme-rich tissues: stomach and gut mucosa, pancreas, adrenal medulla.</a:t>
            </a:r>
          </a:p>
          <a:p>
            <a:pPr>
              <a:spcAft>
                <a:spcPts val="800"/>
              </a:spcAft>
            </a:pPr>
            <a:r>
              <a:rPr sz="1800">
                <a:solidFill>
                  <a:srgbClr val="1F2937"/>
                </a:solidFill>
                <a:latin typeface="Calibri"/>
              </a:rPr>
              <a:t>▸  Autolysed gastric mucosa can be mistaken for corrosive poisoning; the pancreas may mimic necrosis.</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031800"/>
                <a:gridCol w="2192575"/>
                <a:gridCol w="2063600"/>
              </a:tblGrid>
              <a:tr h="411480">
                <a:tc>
                  <a:txBody>
                    <a:bodyPr/>
                    <a:lstStyle/>
                    <a:p>
                      <a:r>
                        <a:rPr sz="1300" b="1">
                          <a:solidFill>
                            <a:srgbClr val="FFFFFF"/>
                          </a:solidFill>
                        </a:rPr>
                        <a:t>Feature</a:t>
                      </a:r>
                    </a:p>
                  </a:txBody>
                  <a:tcPr marL="73152" marR="73152" marT="36576" marB="36576">
                    <a:solidFill>
                      <a:srgbClr val="0B1F3A"/>
                    </a:solidFill>
                  </a:tcPr>
                </a:tc>
                <a:tc>
                  <a:txBody>
                    <a:bodyPr/>
                    <a:lstStyle/>
                    <a:p>
                      <a:r>
                        <a:rPr sz="1300" b="1">
                          <a:solidFill>
                            <a:srgbClr val="FFFFFF"/>
                          </a:solidFill>
                        </a:rPr>
                        <a:t>Lividity</a:t>
                      </a:r>
                    </a:p>
                  </a:txBody>
                  <a:tcPr marL="73152" marR="73152" marT="36576" marB="36576">
                    <a:solidFill>
                      <a:srgbClr val="0B1F3A"/>
                    </a:solidFill>
                  </a:tcPr>
                </a:tc>
                <a:tc>
                  <a:txBody>
                    <a:bodyPr/>
                    <a:lstStyle/>
                    <a:p>
                      <a:r>
                        <a:rPr sz="1300" b="1">
                          <a:solidFill>
                            <a:srgbClr val="FFFFFF"/>
                          </a:solidFill>
                        </a:rPr>
                        <a:t>Bruise</a:t>
                      </a:r>
                    </a:p>
                  </a:txBody>
                  <a:tcPr marL="73152" marR="73152" marT="36576" marB="36576">
                    <a:solidFill>
                      <a:srgbClr val="0B1F3A"/>
                    </a:solidFill>
                  </a:tcPr>
                </a:tc>
              </a:tr>
              <a:tr h="411480">
                <a:tc>
                  <a:txBody>
                    <a:bodyPr/>
                    <a:lstStyle/>
                    <a:p>
                      <a:r>
                        <a:rPr sz="1200" b="0">
                          <a:solidFill>
                            <a:srgbClr val="1F2937"/>
                          </a:solidFill>
                        </a:rPr>
                        <a:t>Site</a:t>
                      </a:r>
                    </a:p>
                  </a:txBody>
                  <a:tcPr marL="73152" marR="73152" marT="36576" marB="36576">
                    <a:solidFill>
                      <a:srgbClr val="E8EEF6"/>
                    </a:solidFill>
                  </a:tcPr>
                </a:tc>
                <a:tc>
                  <a:txBody>
                    <a:bodyPr/>
                    <a:lstStyle/>
                    <a:p>
                      <a:r>
                        <a:rPr sz="1200" b="0">
                          <a:solidFill>
                            <a:srgbClr val="1F2937"/>
                          </a:solidFill>
                        </a:rPr>
                        <a:t>Dependent areas of the body</a:t>
                      </a:r>
                    </a:p>
                  </a:txBody>
                  <a:tcPr marL="73152" marR="73152" marT="36576" marB="36576">
                    <a:solidFill>
                      <a:srgbClr val="E8EEF6"/>
                    </a:solidFill>
                  </a:tcPr>
                </a:tc>
                <a:tc>
                  <a:txBody>
                    <a:bodyPr/>
                    <a:lstStyle/>
                    <a:p>
                      <a:r>
                        <a:rPr sz="1200" b="0">
                          <a:solidFill>
                            <a:srgbClr val="1F2937"/>
                          </a:solidFill>
                        </a:rPr>
                        <a:t>Any body region</a:t>
                      </a:r>
                    </a:p>
                  </a:txBody>
                  <a:tcPr marL="73152" marR="73152" marT="36576" marB="36576">
                    <a:solidFill>
                      <a:srgbClr val="E8EEF6"/>
                    </a:solidFill>
                  </a:tcPr>
                </a:tc>
              </a:tr>
              <a:tr h="411480">
                <a:tc>
                  <a:txBody>
                    <a:bodyPr/>
                    <a:lstStyle/>
                    <a:p>
                      <a:r>
                        <a:rPr sz="1200" b="0">
                          <a:solidFill>
                            <a:srgbClr val="1F2937"/>
                          </a:solidFill>
                        </a:rPr>
                        <a:t>Outline</a:t>
                      </a:r>
                    </a:p>
                  </a:txBody>
                  <a:tcPr marL="73152" marR="73152" marT="36576" marB="36576">
                    <a:solidFill>
                      <a:srgbClr val="FFFFFF"/>
                    </a:solidFill>
                  </a:tcPr>
                </a:tc>
                <a:tc>
                  <a:txBody>
                    <a:bodyPr/>
                    <a:lstStyle/>
                    <a:p>
                      <a:r>
                        <a:rPr sz="1200" b="0">
                          <a:solidFill>
                            <a:srgbClr val="1F2937"/>
                          </a:solidFill>
                        </a:rPr>
                        <a:t>Vague, patches merge</a:t>
                      </a:r>
                    </a:p>
                  </a:txBody>
                  <a:tcPr marL="73152" marR="73152" marT="36576" marB="36576">
                    <a:solidFill>
                      <a:srgbClr val="FFFFFF"/>
                    </a:solidFill>
                  </a:tcPr>
                </a:tc>
                <a:tc>
                  <a:txBody>
                    <a:bodyPr/>
                    <a:lstStyle/>
                    <a:p>
                      <a:r>
                        <a:rPr sz="1200" b="0">
                          <a:solidFill>
                            <a:srgbClr val="1F2937"/>
                          </a:solidFill>
                        </a:rPr>
                        <a:t>Defined shape, no merging</a:t>
                      </a:r>
                    </a:p>
                  </a:txBody>
                  <a:tcPr marL="73152" marR="73152" marT="36576" marB="36576">
                    <a:solidFill>
                      <a:srgbClr val="FFFFFF"/>
                    </a:solidFill>
                  </a:tcPr>
                </a:tc>
              </a:tr>
              <a:tr h="411480">
                <a:tc>
                  <a:txBody>
                    <a:bodyPr/>
                    <a:lstStyle/>
                    <a:p>
                      <a:r>
                        <a:rPr sz="1200" b="0">
                          <a:solidFill>
                            <a:srgbClr val="1F2937"/>
                          </a:solidFill>
                        </a:rPr>
                        <a:t>Finger pressure</a:t>
                      </a:r>
                    </a:p>
                  </a:txBody>
                  <a:tcPr marL="73152" marR="73152" marT="36576" marB="36576">
                    <a:solidFill>
                      <a:srgbClr val="E8EEF6"/>
                    </a:solidFill>
                  </a:tcPr>
                </a:tc>
                <a:tc>
                  <a:txBody>
                    <a:bodyPr/>
                    <a:lstStyle/>
                    <a:p>
                      <a:r>
                        <a:rPr sz="1200" b="0">
                          <a:solidFill>
                            <a:srgbClr val="1F2937"/>
                          </a:solidFill>
                        </a:rPr>
                        <a:t>Disappears or pales (early stages)</a:t>
                      </a:r>
                    </a:p>
                  </a:txBody>
                  <a:tcPr marL="73152" marR="73152" marT="36576" marB="36576">
                    <a:solidFill>
                      <a:srgbClr val="E8EEF6"/>
                    </a:solidFill>
                  </a:tcPr>
                </a:tc>
                <a:tc>
                  <a:txBody>
                    <a:bodyPr/>
                    <a:lstStyle/>
                    <a:p>
                      <a:r>
                        <a:rPr sz="1200" b="0">
                          <a:solidFill>
                            <a:srgbClr val="1F2937"/>
                          </a:solidFill>
                        </a:rPr>
                        <a:t>Colour unchanged</a:t>
                      </a:r>
                    </a:p>
                  </a:txBody>
                  <a:tcPr marL="73152" marR="73152" marT="36576" marB="36576">
                    <a:solidFill>
                      <a:srgbClr val="E8EEF6"/>
                    </a:solidFill>
                  </a:tcPr>
                </a:tc>
              </a:tr>
              <a:tr h="411480">
                <a:tc>
                  <a:txBody>
                    <a:bodyPr/>
                    <a:lstStyle/>
                    <a:p>
                      <a:r>
                        <a:rPr sz="1200" b="0">
                          <a:solidFill>
                            <a:srgbClr val="1F2937"/>
                          </a:solidFill>
                        </a:rPr>
                        <a:t>Cross incision</a:t>
                      </a:r>
                    </a:p>
                  </a:txBody>
                  <a:tcPr marL="73152" marR="73152" marT="36576" marB="36576">
                    <a:solidFill>
                      <a:srgbClr val="FFFFFF"/>
                    </a:solidFill>
                  </a:tcPr>
                </a:tc>
                <a:tc>
                  <a:txBody>
                    <a:bodyPr/>
                    <a:lstStyle/>
                    <a:p>
                      <a:r>
                        <a:rPr sz="1200" b="0">
                          <a:solidFill>
                            <a:srgbClr val="1F2937"/>
                          </a:solidFill>
                        </a:rPr>
                        <a:t>Blood drops from cut vessels</a:t>
                      </a:r>
                    </a:p>
                  </a:txBody>
                  <a:tcPr marL="73152" marR="73152" marT="36576" marB="36576">
                    <a:solidFill>
                      <a:srgbClr val="FFFFFF"/>
                    </a:solidFill>
                  </a:tcPr>
                </a:tc>
                <a:tc>
                  <a:txBody>
                    <a:bodyPr/>
                    <a:lstStyle/>
                    <a:p>
                      <a:r>
                        <a:rPr sz="1200" b="0">
                          <a:solidFill>
                            <a:srgbClr val="1F2937"/>
                          </a:solidFill>
                        </a:rPr>
                        <a:t>Clotted blood within the tissues</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Lividity compared with a bruise</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G‘iyosov Z.A, Sud tibbiyoti, pp. 228-229, 229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Case Analysis: Lividity and Body Position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Scenario: an adult is found face down on a bed. The face is congested with petechiae; the skin around the nose and mouth is pale, with linear marks from blanket creases.</a:t>
            </a:r>
          </a:p>
          <a:p>
            <a:pPr>
              <a:spcAft>
                <a:spcPts val="1200"/>
              </a:spcAft>
            </a:pPr>
            <a:r>
              <a:rPr sz="2000">
                <a:solidFill>
                  <a:srgbClr val="1F2937"/>
                </a:solidFill>
                <a:latin typeface="Calibri"/>
              </a:rPr>
              <a:t>▸  The pallor comes from pressure against the bedding and the congestion from hypostasis in lax facial tissue. Neither proves suffocation; neck, nose and mouth must be dissected to exclude pressure.</a:t>
            </a:r>
          </a:p>
          <a:p>
            <a:pPr>
              <a:spcAft>
                <a:spcPts val="1200"/>
              </a:spcAft>
            </a:pPr>
            <a:r>
              <a:rPr sz="2000">
                <a:solidFill>
                  <a:srgbClr val="1F2937"/>
                </a:solidFill>
                <a:latin typeface="Calibri"/>
              </a:rPr>
              <a:t>▸  Compare: a hanged body has lividity in the lower legs and arms but none on the torso; a body slipped head-first off a bed shows it on the head and upper chest.</a:t>
            </a:r>
          </a:p>
          <a:p>
            <a:pPr>
              <a:spcAft>
                <a:spcPts val="1200"/>
              </a:spcAft>
            </a:pPr>
            <a:r>
              <a:rPr sz="2000">
                <a:solidFill>
                  <a:srgbClr val="1F2937"/>
                </a:solidFill>
                <a:latin typeface="Calibri"/>
              </a:rPr>
              <a:t>▸  Question: the body is turned onto its back during the first hours. Where will the lividity be, and how does the stage of lividity change your answer?</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Payne-James J., Jones R., Karch S.B., Manlove J, Simpson's Forensic Medicine, pp. 45, 44-45, 44; G‘iyosov Z.A, Sud tibbiyoti, pp. 227-228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Late Changes: Putrefaction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Greening starts in the right iliac fossa, where gut bacteria spread into the skin and break down haemoglobin.</a:t>
            </a:r>
          </a:p>
          <a:p>
            <a:pPr>
              <a:spcAft>
                <a:spcPts val="800"/>
              </a:spcAft>
            </a:pPr>
            <a:r>
              <a:rPr sz="1800">
                <a:solidFill>
                  <a:srgbClr val="1F2937"/>
                </a:solidFill>
                <a:latin typeface="Calibri"/>
              </a:rPr>
              <a:t>▸  Warmer temperature means earlier and faster putrefaction; no reliable timetable for decomposition exists.</a:t>
            </a:r>
          </a:p>
          <a:p>
            <a:pPr>
              <a:spcAft>
                <a:spcPts val="800"/>
              </a:spcAft>
            </a:pPr>
            <a:r>
              <a:rPr sz="1800">
                <a:solidFill>
                  <a:srgbClr val="1F2937"/>
                </a:solidFill>
                <a:latin typeface="Calibri"/>
              </a:rPr>
              <a:t>▸  Casper's ratio: decay in air : water : earth = 1 : 2 : 8 (twice slower in water, eight times slower in earth).</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586392"/>
                <a:gridCol w="1586392"/>
                <a:gridCol w="2115190"/>
              </a:tblGrid>
              <a:tr h="411480">
                <a:tc>
                  <a:txBody>
                    <a:bodyPr/>
                    <a:lstStyle/>
                    <a:p>
                      <a:r>
                        <a:rPr sz="1300" b="1">
                          <a:solidFill>
                            <a:srgbClr val="FFFFFF"/>
                          </a:solidFill>
                        </a:rPr>
                        <a:t>Sign</a:t>
                      </a:r>
                    </a:p>
                  </a:txBody>
                  <a:tcPr marL="73152" marR="73152" marT="36576" marB="36576">
                    <a:solidFill>
                      <a:srgbClr val="0B1F3A"/>
                    </a:solidFill>
                  </a:tcPr>
                </a:tc>
                <a:tc>
                  <a:txBody>
                    <a:bodyPr/>
                    <a:lstStyle/>
                    <a:p>
                      <a:r>
                        <a:rPr sz="1300" b="1">
                          <a:solidFill>
                            <a:srgbClr val="FFFFFF"/>
                          </a:solidFill>
                        </a:rPr>
                        <a:t>Time</a:t>
                      </a:r>
                    </a:p>
                  </a:txBody>
                  <a:tcPr marL="73152" marR="73152" marT="36576" marB="36576">
                    <a:solidFill>
                      <a:srgbClr val="0B1F3A"/>
                    </a:solidFill>
                  </a:tcPr>
                </a:tc>
                <a:tc>
                  <a:txBody>
                    <a:bodyPr/>
                    <a:lstStyle/>
                    <a:p>
                      <a:r>
                        <a:rPr sz="1300" b="1">
                          <a:solidFill>
                            <a:srgbClr val="FFFFFF"/>
                          </a:solidFill>
                        </a:rPr>
                        <a:t>Cause</a:t>
                      </a:r>
                    </a:p>
                  </a:txBody>
                  <a:tcPr marL="73152" marR="73152" marT="36576" marB="36576">
                    <a:solidFill>
                      <a:srgbClr val="0B1F3A"/>
                    </a:solidFill>
                  </a:tcPr>
                </a:tc>
              </a:tr>
              <a:tr h="411480">
                <a:tc>
                  <a:txBody>
                    <a:bodyPr/>
                    <a:lstStyle/>
                    <a:p>
                      <a:r>
                        <a:rPr sz="1200" b="0">
                          <a:solidFill>
                            <a:srgbClr val="1F2937"/>
                          </a:solidFill>
                        </a:rPr>
                        <a:t>Greening, right iliac fossa</a:t>
                      </a:r>
                    </a:p>
                  </a:txBody>
                  <a:tcPr marL="73152" marR="73152" marT="36576" marB="36576">
                    <a:solidFill>
                      <a:srgbClr val="E8EEF6"/>
                    </a:solidFill>
                  </a:tcPr>
                </a:tc>
                <a:tc>
                  <a:txBody>
                    <a:bodyPr/>
                    <a:lstStyle/>
                    <a:p>
                      <a:r>
                        <a:rPr sz="1200" b="0">
                          <a:solidFill>
                            <a:srgbClr val="1F2937"/>
                          </a:solidFill>
                        </a:rPr>
                        <a:t>3–4 days (temperate)</a:t>
                      </a:r>
                    </a:p>
                  </a:txBody>
                  <a:tcPr marL="73152" marR="73152" marT="36576" marB="36576">
                    <a:solidFill>
                      <a:srgbClr val="E8EEF6"/>
                    </a:solidFill>
                  </a:tcPr>
                </a:tc>
                <a:tc>
                  <a:txBody>
                    <a:bodyPr/>
                    <a:lstStyle/>
                    <a:p>
                      <a:r>
                        <a:rPr sz="1200" b="0">
                          <a:solidFill>
                            <a:srgbClr val="1F2937"/>
                          </a:solidFill>
                        </a:rPr>
                        <a:t>Gut bacteria decompose haemoglobin</a:t>
                      </a:r>
                    </a:p>
                  </a:txBody>
                  <a:tcPr marL="73152" marR="73152" marT="36576" marB="36576">
                    <a:solidFill>
                      <a:srgbClr val="E8EEF6"/>
                    </a:solidFill>
                  </a:tcPr>
                </a:tc>
              </a:tr>
              <a:tr h="411480">
                <a:tc>
                  <a:txBody>
                    <a:bodyPr/>
                    <a:lstStyle/>
                    <a:p>
                      <a:r>
                        <a:rPr sz="1200" b="0">
                          <a:solidFill>
                            <a:srgbClr val="1F2937"/>
                          </a:solidFill>
                        </a:rPr>
                        <a:t>Marbling</a:t>
                      </a:r>
                    </a:p>
                  </a:txBody>
                  <a:tcPr marL="73152" marR="73152" marT="36576" marB="36576">
                    <a:solidFill>
                      <a:srgbClr val="FFFFFF"/>
                    </a:solidFill>
                  </a:tcPr>
                </a:tc>
                <a:tc>
                  <a:txBody>
                    <a:bodyPr/>
                    <a:lstStyle/>
                    <a:p>
                      <a:r>
                        <a:rPr sz="1200" b="0">
                          <a:solidFill>
                            <a:srgbClr val="1F2937"/>
                          </a:solidFill>
                        </a:rPr>
                        <a:t>Follows greening</a:t>
                      </a:r>
                    </a:p>
                  </a:txBody>
                  <a:tcPr marL="73152" marR="73152" marT="36576" marB="36576">
                    <a:solidFill>
                      <a:srgbClr val="FFFFFF"/>
                    </a:solidFill>
                  </a:tcPr>
                </a:tc>
                <a:tc>
                  <a:txBody>
                    <a:bodyPr/>
                    <a:lstStyle/>
                    <a:p>
                      <a:r>
                        <a:rPr sz="1200" b="0">
                          <a:solidFill>
                            <a:srgbClr val="1F2937"/>
                          </a:solidFill>
                        </a:rPr>
                        <a:t>Bacteria spread in superficial veins</a:t>
                      </a:r>
                    </a:p>
                  </a:txBody>
                  <a:tcPr marL="73152" marR="73152" marT="36576" marB="36576">
                    <a:solidFill>
                      <a:srgbClr val="FFFFFF"/>
                    </a:solidFill>
                  </a:tcPr>
                </a:tc>
              </a:tr>
              <a:tr h="411480">
                <a:tc>
                  <a:txBody>
                    <a:bodyPr/>
                    <a:lstStyle/>
                    <a:p>
                      <a:r>
                        <a:rPr sz="1200" b="0">
                          <a:solidFill>
                            <a:srgbClr val="1F2937"/>
                          </a:solidFill>
                        </a:rPr>
                        <a:t>Skin blisters, slippage</a:t>
                      </a:r>
                    </a:p>
                  </a:txBody>
                  <a:tcPr marL="73152" marR="73152" marT="36576" marB="36576">
                    <a:solidFill>
                      <a:srgbClr val="E8EEF6"/>
                    </a:solidFill>
                  </a:tcPr>
                </a:tc>
                <a:tc>
                  <a:txBody>
                    <a:bodyPr/>
                    <a:lstStyle/>
                    <a:p>
                      <a:r>
                        <a:rPr sz="1200" b="0">
                          <a:solidFill>
                            <a:srgbClr val="1F2937"/>
                          </a:solidFill>
                        </a:rPr>
                        <a:t>Later; 4–6 days in G‘iyosov</a:t>
                      </a:r>
                    </a:p>
                  </a:txBody>
                  <a:tcPr marL="73152" marR="73152" marT="36576" marB="36576">
                    <a:solidFill>
                      <a:srgbClr val="E8EEF6"/>
                    </a:solidFill>
                  </a:tcPr>
                </a:tc>
                <a:tc>
                  <a:txBody>
                    <a:bodyPr/>
                    <a:lstStyle/>
                    <a:p>
                      <a:r>
                        <a:rPr sz="1200" b="0">
                          <a:solidFill>
                            <a:srgbClr val="1F2937"/>
                          </a:solidFill>
                        </a:rPr>
                        <a:t>Fluid under the epidermis</a:t>
                      </a:r>
                    </a:p>
                  </a:txBody>
                  <a:tcPr marL="73152" marR="73152" marT="36576" marB="36576">
                    <a:solidFill>
                      <a:srgbClr val="E8EEF6"/>
                    </a:solidFill>
                  </a:tcPr>
                </a:tc>
              </a:tr>
              <a:tr h="411480">
                <a:tc>
                  <a:txBody>
                    <a:bodyPr/>
                    <a:lstStyle/>
                    <a:p>
                      <a:r>
                        <a:rPr sz="1200" b="0">
                          <a:solidFill>
                            <a:srgbClr val="1F2937"/>
                          </a:solidFill>
                        </a:rPr>
                        <a:t>Bloating, purge fluid</a:t>
                      </a:r>
                    </a:p>
                  </a:txBody>
                  <a:tcPr marL="73152" marR="73152" marT="36576" marB="36576">
                    <a:solidFill>
                      <a:srgbClr val="FFFFFF"/>
                    </a:solidFill>
                  </a:tcPr>
                </a:tc>
                <a:tc>
                  <a:txBody>
                    <a:bodyPr/>
                    <a:lstStyle/>
                    <a:p>
                      <a:r>
                        <a:rPr sz="1200" b="0">
                          <a:solidFill>
                            <a:srgbClr val="1F2937"/>
                          </a:solidFill>
                        </a:rPr>
                        <a:t>About 1 week</a:t>
                      </a:r>
                    </a:p>
                  </a:txBody>
                  <a:tcPr marL="73152" marR="73152" marT="36576" marB="36576">
                    <a:solidFill>
                      <a:srgbClr val="FFFFFF"/>
                    </a:solidFill>
                  </a:tcPr>
                </a:tc>
                <a:tc>
                  <a:txBody>
                    <a:bodyPr/>
                    <a:lstStyle/>
                    <a:p>
                      <a:r>
                        <a:rPr sz="1200" b="0">
                          <a:solidFill>
                            <a:srgbClr val="1F2937"/>
                          </a:solidFill>
                        </a:rPr>
                        <a:t>Gas pressure; not injury bleeding</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Typical sequence of putrefaction (timings vary with conditions)</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Payne-James J., Jones R., Karch S.B., Manlove J, Simpson's Forensic Medicine, pp. 47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Preservative Changes: Adipocere, Mummification, Peat Tanning</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Adipocere (body fat hydrolysed to a soap-like wax) usually takes weeks to months; it is reported as early as 3 weeks.</a:t>
            </a:r>
          </a:p>
          <a:p>
            <a:pPr>
              <a:spcAft>
                <a:spcPts val="800"/>
              </a:spcAft>
            </a:pPr>
            <a:r>
              <a:rPr sz="1800">
                <a:solidFill>
                  <a:srgbClr val="1F2937"/>
                </a:solidFill>
                <a:latin typeface="Calibri"/>
              </a:rPr>
              <a:t>▸  Mummification is complete in adults in about 6–12 months and in young children in 4–6 months; in very favourable conditions, 2–3 months.</a:t>
            </a:r>
          </a:p>
          <a:p>
            <a:pPr>
              <a:spcAft>
                <a:spcPts val="800"/>
              </a:spcAft>
            </a:pPr>
            <a:r>
              <a:rPr sz="1800">
                <a:solidFill>
                  <a:srgbClr val="1F2937"/>
                </a:solidFill>
                <a:latin typeface="Calibri"/>
              </a:rPr>
              <a:t>▸  Artificial changes: embalming and freezing preserve the body; dismemberment, burning and dissolving destroy it.</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510850"/>
                <a:gridCol w="1618767"/>
                <a:gridCol w="2158357"/>
              </a:tblGrid>
              <a:tr h="411480">
                <a:tc>
                  <a:txBody>
                    <a:bodyPr/>
                    <a:lstStyle/>
                    <a:p>
                      <a:r>
                        <a:rPr sz="1300" b="1">
                          <a:solidFill>
                            <a:srgbClr val="FFFFFF"/>
                          </a:solidFill>
                        </a:rPr>
                        <a:t>Change</a:t>
                      </a:r>
                    </a:p>
                  </a:txBody>
                  <a:tcPr marL="73152" marR="73152" marT="36576" marB="36576">
                    <a:solidFill>
                      <a:srgbClr val="0B1F3A"/>
                    </a:solidFill>
                  </a:tcPr>
                </a:tc>
                <a:tc>
                  <a:txBody>
                    <a:bodyPr/>
                    <a:lstStyle/>
                    <a:p>
                      <a:r>
                        <a:rPr sz="1300" b="1">
                          <a:solidFill>
                            <a:srgbClr val="FFFFFF"/>
                          </a:solidFill>
                        </a:rPr>
                        <a:t>Conditions</a:t>
                      </a:r>
                    </a:p>
                  </a:txBody>
                  <a:tcPr marL="73152" marR="73152" marT="36576" marB="36576">
                    <a:solidFill>
                      <a:srgbClr val="0B1F3A"/>
                    </a:solidFill>
                  </a:tcPr>
                </a:tc>
                <a:tc>
                  <a:txBody>
                    <a:bodyPr/>
                    <a:lstStyle/>
                    <a:p>
                      <a:r>
                        <a:rPr sz="1300" b="1">
                          <a:solidFill>
                            <a:srgbClr val="FFFFFF"/>
                          </a:solidFill>
                        </a:rPr>
                        <a:t>Appearance</a:t>
                      </a:r>
                    </a:p>
                  </a:txBody>
                  <a:tcPr marL="73152" marR="73152" marT="36576" marB="36576">
                    <a:solidFill>
                      <a:srgbClr val="0B1F3A"/>
                    </a:solidFill>
                  </a:tcPr>
                </a:tc>
              </a:tr>
              <a:tr h="411480">
                <a:tc>
                  <a:txBody>
                    <a:bodyPr/>
                    <a:lstStyle/>
                    <a:p>
                      <a:r>
                        <a:rPr sz="1200" b="0">
                          <a:solidFill>
                            <a:srgbClr val="1F2937"/>
                          </a:solidFill>
                        </a:rPr>
                        <a:t>Adipocere</a:t>
                      </a:r>
                    </a:p>
                  </a:txBody>
                  <a:tcPr marL="73152" marR="73152" marT="36576" marB="36576">
                    <a:solidFill>
                      <a:srgbClr val="E8EEF6"/>
                    </a:solidFill>
                  </a:tcPr>
                </a:tc>
                <a:tc>
                  <a:txBody>
                    <a:bodyPr/>
                    <a:lstStyle/>
                    <a:p>
                      <a:r>
                        <a:rPr sz="1200" b="0">
                          <a:solidFill>
                            <a:srgbClr val="1F2937"/>
                          </a:solidFill>
                        </a:rPr>
                        <a:t>Wet, airless, relatively cool</a:t>
                      </a:r>
                    </a:p>
                  </a:txBody>
                  <a:tcPr marL="73152" marR="73152" marT="36576" marB="36576">
                    <a:solidFill>
                      <a:srgbClr val="E8EEF6"/>
                    </a:solidFill>
                  </a:tcPr>
                </a:tc>
                <a:tc>
                  <a:txBody>
                    <a:bodyPr/>
                    <a:lstStyle/>
                    <a:p>
                      <a:r>
                        <a:rPr sz="1200" b="0">
                          <a:solidFill>
                            <a:srgbClr val="1F2937"/>
                          </a:solidFill>
                        </a:rPr>
                        <a:t>Grey, waxy; complete in adult ~10–12 months</a:t>
                      </a:r>
                    </a:p>
                  </a:txBody>
                  <a:tcPr marL="73152" marR="73152" marT="36576" marB="36576">
                    <a:solidFill>
                      <a:srgbClr val="E8EEF6"/>
                    </a:solidFill>
                  </a:tcPr>
                </a:tc>
              </a:tr>
              <a:tr h="411480">
                <a:tc>
                  <a:txBody>
                    <a:bodyPr/>
                    <a:lstStyle/>
                    <a:p>
                      <a:r>
                        <a:rPr sz="1200" b="0">
                          <a:solidFill>
                            <a:srgbClr val="1F2937"/>
                          </a:solidFill>
                        </a:rPr>
                        <a:t>Mummification</a:t>
                      </a:r>
                    </a:p>
                  </a:txBody>
                  <a:tcPr marL="73152" marR="73152" marT="36576" marB="36576">
                    <a:solidFill>
                      <a:srgbClr val="FFFFFF"/>
                    </a:solidFill>
                  </a:tcPr>
                </a:tc>
                <a:tc>
                  <a:txBody>
                    <a:bodyPr/>
                    <a:lstStyle/>
                    <a:p>
                      <a:r>
                        <a:rPr sz="1200" b="0">
                          <a:solidFill>
                            <a:srgbClr val="1F2937"/>
                          </a:solidFill>
                        </a:rPr>
                        <a:t>Dry, warm, well-ventilated air</a:t>
                      </a:r>
                    </a:p>
                  </a:txBody>
                  <a:tcPr marL="73152" marR="73152" marT="36576" marB="36576">
                    <a:solidFill>
                      <a:srgbClr val="FFFFFF"/>
                    </a:solidFill>
                  </a:tcPr>
                </a:tc>
                <a:tc>
                  <a:txBody>
                    <a:bodyPr/>
                    <a:lstStyle/>
                    <a:p>
                      <a:r>
                        <a:rPr sz="1200" b="0">
                          <a:solidFill>
                            <a:srgbClr val="1F2937"/>
                          </a:solidFill>
                        </a:rPr>
                        <a:t>Dry, hard, brown; body weight falls</a:t>
                      </a:r>
                    </a:p>
                  </a:txBody>
                  <a:tcPr marL="73152" marR="73152" marT="36576" marB="36576">
                    <a:solidFill>
                      <a:srgbClr val="FFFFFF"/>
                    </a:solidFill>
                  </a:tcPr>
                </a:tc>
              </a:tr>
              <a:tr h="411480">
                <a:tc>
                  <a:txBody>
                    <a:bodyPr/>
                    <a:lstStyle/>
                    <a:p>
                      <a:r>
                        <a:rPr sz="1200" b="0">
                          <a:solidFill>
                            <a:srgbClr val="1F2937"/>
                          </a:solidFill>
                        </a:rPr>
                        <a:t>Peat tanning</a:t>
                      </a:r>
                    </a:p>
                  </a:txBody>
                  <a:tcPr marL="73152" marR="73152" marT="36576" marB="36576">
                    <a:solidFill>
                      <a:srgbClr val="E8EEF6"/>
                    </a:solidFill>
                  </a:tcPr>
                </a:tc>
                <a:tc>
                  <a:txBody>
                    <a:bodyPr/>
                    <a:lstStyle/>
                    <a:p>
                      <a:r>
                        <a:rPr sz="1200" b="0">
                          <a:solidFill>
                            <a:srgbClr val="1F2937"/>
                          </a:solidFill>
                        </a:rPr>
                        <a:t>Peat bog, humic acids</a:t>
                      </a:r>
                    </a:p>
                  </a:txBody>
                  <a:tcPr marL="73152" marR="73152" marT="36576" marB="36576">
                    <a:solidFill>
                      <a:srgbClr val="E8EEF6"/>
                    </a:solidFill>
                  </a:tcPr>
                </a:tc>
                <a:tc>
                  <a:txBody>
                    <a:bodyPr/>
                    <a:lstStyle/>
                    <a:p>
                      <a:r>
                        <a:rPr sz="1200" b="0">
                          <a:solidFill>
                            <a:srgbClr val="1F2937"/>
                          </a:solidFill>
                        </a:rPr>
                        <a:t>Dark brown hard skin; soft, cuttable bones</a:t>
                      </a:r>
                    </a:p>
                  </a:txBody>
                  <a:tcPr marL="73152" marR="73152" marT="36576" marB="36576">
                    <a:solidFill>
                      <a:srgbClr val="E8EEF6"/>
                    </a:solidFill>
                  </a:tcPr>
                </a:tc>
              </a:tr>
              <a:tr h="411480">
                <a:tc>
                  <a:txBody>
                    <a:bodyPr/>
                    <a:lstStyle/>
                    <a:p>
                      <a:r>
                        <a:rPr sz="1200" b="0">
                          <a:solidFill>
                            <a:srgbClr val="1F2937"/>
                          </a:solidFill>
                        </a:rPr>
                        <a:t>Natural freezing, brine, oil</a:t>
                      </a:r>
                    </a:p>
                  </a:txBody>
                  <a:tcPr marL="73152" marR="73152" marT="36576" marB="36576">
                    <a:solidFill>
                      <a:srgbClr val="FFFFFF"/>
                    </a:solidFill>
                  </a:tcPr>
                </a:tc>
                <a:tc>
                  <a:txBody>
                    <a:bodyPr/>
                    <a:lstStyle/>
                    <a:p>
                      <a:r>
                        <a:rPr sz="1200" b="0">
                          <a:solidFill>
                            <a:srgbClr val="1F2937"/>
                          </a:solidFill>
                        </a:rPr>
                        <a:t>Ice, strong salt solution, oil</a:t>
                      </a:r>
                    </a:p>
                  </a:txBody>
                  <a:tcPr marL="73152" marR="73152" marT="36576" marB="36576">
                    <a:solidFill>
                      <a:srgbClr val="FFFFFF"/>
                    </a:solidFill>
                  </a:tcPr>
                </a:tc>
                <a:tc>
                  <a:txBody>
                    <a:bodyPr/>
                    <a:lstStyle/>
                    <a:p>
                      <a:r>
                        <a:rPr sz="1200" b="0">
                          <a:solidFill>
                            <a:srgbClr val="1F2937"/>
                          </a:solidFill>
                        </a:rPr>
                        <a:t>Body may keep its form for years</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Preservative changes compared</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Payne-James J., Jones R., Karch S.B., Manlove J, Simpson's Forensic Medicine, pp. 48; G‘iyosov Z.A, Sud tibbiyoti, pp. 233, 235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Insects, Animals and Skeletalization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Flies lay eggs on moist sites (eyes, nose, mouth, wounds); larvae moult through instars, then pupate. The cycle takes about 21–24 days, depending on species and temperature.</a:t>
            </a:r>
          </a:p>
          <a:p>
            <a:pPr>
              <a:spcAft>
                <a:spcPts val="1200"/>
              </a:spcAft>
            </a:pPr>
            <a:r>
              <a:rPr sz="2000">
                <a:solidFill>
                  <a:srgbClr val="1F2937"/>
                </a:solidFill>
                <a:latin typeface="Calibri"/>
              </a:rPr>
              <a:t>▸  Under favourable conditions fly larvae can strip an adult's soft tissue in 4–6 weeks; beetle larvae follow (necrophagous 30–45 days, predatory 45–60 days).</a:t>
            </a:r>
          </a:p>
          <a:p>
            <a:pPr>
              <a:spcAft>
                <a:spcPts val="1200"/>
              </a:spcAft>
            </a:pPr>
            <a:r>
              <a:rPr sz="2000">
                <a:solidFill>
                  <a:srgbClr val="1F2937"/>
                </a:solidFill>
                <a:latin typeface="Calibri"/>
              </a:rPr>
              <a:t>▸  Caution: animal predation can mimic injury. Rat-bite margins show no bleeding or reddening, yet post-mortem wounds may bleed; doubtful bite marks need an odontologist.</a:t>
            </a:r>
          </a:p>
          <a:p>
            <a:pPr>
              <a:spcAft>
                <a:spcPts val="1200"/>
              </a:spcAft>
            </a:pPr>
            <a:r>
              <a:rPr sz="2000">
                <a:solidFill>
                  <a:srgbClr val="1F2937"/>
                </a:solidFill>
                <a:latin typeface="Calibri"/>
              </a:rPr>
              <a:t>▸  In a formally buried body soft tissue is usually gone by about 2 years; by about 5 years the bones are bare and disarticulated. Dating bones needs an anthropologist.</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Payne-James J., Jones R., Karch S.B., Manlove J, Simpson's Forensic Medicine, pp. 53, 49–50, 49; G‘iyosov Z.A, Sud tibbiyoti, pp. 232–233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Estimating the Post-mortem Interval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Henssge's nomogram is the most useful method; its 95% accuracy is at best ±2.8 hours.</a:t>
            </a:r>
          </a:p>
          <a:p>
            <a:pPr>
              <a:spcAft>
                <a:spcPts val="800"/>
              </a:spcAft>
            </a:pPr>
            <a:r>
              <a:rPr sz="1800">
                <a:solidFill>
                  <a:srgbClr val="1F2937"/>
                </a:solidFill>
                <a:latin typeface="Calibri"/>
              </a:rPr>
              <a:t>▸  A 5°C error in the ambient temperature shifts the likely time of death by at least 1 hour.</a:t>
            </a:r>
          </a:p>
          <a:p>
            <a:pPr>
              <a:spcAft>
                <a:spcPts val="800"/>
              </a:spcAft>
            </a:pPr>
            <a:r>
              <a:rPr sz="1800">
                <a:solidFill>
                  <a:srgbClr val="1F2937"/>
                </a:solidFill>
                <a:latin typeface="Calibri"/>
              </a:rPr>
              <a:t>▸  No single method is reliable; combine methods. Precision falls from hours to days to years as time passes.</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732267"/>
                <a:gridCol w="3555707"/>
              </a:tblGrid>
              <a:tr h="411480">
                <a:tc>
                  <a:txBody>
                    <a:bodyPr/>
                    <a:lstStyle/>
                    <a:p>
                      <a:r>
                        <a:rPr sz="1400" b="1">
                          <a:solidFill>
                            <a:srgbClr val="FFFFFF"/>
                          </a:solidFill>
                        </a:rPr>
                        <a:t>Input</a:t>
                      </a:r>
                    </a:p>
                  </a:txBody>
                  <a:tcPr marL="73152" marR="73152" marT="36576" marB="36576">
                    <a:solidFill>
                      <a:srgbClr val="0B1F3A"/>
                    </a:solidFill>
                  </a:tcPr>
                </a:tc>
                <a:tc>
                  <a:txBody>
                    <a:bodyPr/>
                    <a:lstStyle/>
                    <a:p>
                      <a:r>
                        <a:rPr sz="1400" b="1">
                          <a:solidFill>
                            <a:srgbClr val="FFFFFF"/>
                          </a:solidFill>
                        </a:rPr>
                        <a:t>Value</a:t>
                      </a:r>
                    </a:p>
                  </a:txBody>
                  <a:tcPr marL="73152" marR="73152" marT="36576" marB="36576">
                    <a:solidFill>
                      <a:srgbClr val="0B1F3A"/>
                    </a:solidFill>
                  </a:tcPr>
                </a:tc>
              </a:tr>
              <a:tr h="411480">
                <a:tc>
                  <a:txBody>
                    <a:bodyPr/>
                    <a:lstStyle/>
                    <a:p>
                      <a:r>
                        <a:rPr sz="1300" b="0">
                          <a:solidFill>
                            <a:srgbClr val="1F2937"/>
                          </a:solidFill>
                        </a:rPr>
                        <a:t>Rectal temperature</a:t>
                      </a:r>
                    </a:p>
                  </a:txBody>
                  <a:tcPr marL="73152" marR="73152" marT="36576" marB="36576">
                    <a:solidFill>
                      <a:srgbClr val="E8EEF6"/>
                    </a:solidFill>
                  </a:tcPr>
                </a:tc>
                <a:tc>
                  <a:txBody>
                    <a:bodyPr/>
                    <a:lstStyle/>
                    <a:p>
                      <a:r>
                        <a:rPr sz="1300" b="0">
                          <a:solidFill>
                            <a:srgbClr val="1F2937"/>
                          </a:solidFill>
                        </a:rPr>
                        <a:t>26.4 °C</a:t>
                      </a:r>
                    </a:p>
                  </a:txBody>
                  <a:tcPr marL="73152" marR="73152" marT="36576" marB="36576">
                    <a:solidFill>
                      <a:srgbClr val="E8EEF6"/>
                    </a:solidFill>
                  </a:tcPr>
                </a:tc>
              </a:tr>
              <a:tr h="411480">
                <a:tc>
                  <a:txBody>
                    <a:bodyPr/>
                    <a:lstStyle/>
                    <a:p>
                      <a:r>
                        <a:rPr sz="1300" b="0">
                          <a:solidFill>
                            <a:srgbClr val="1F2937"/>
                          </a:solidFill>
                        </a:rPr>
                        <a:t>Ambient temperature</a:t>
                      </a:r>
                    </a:p>
                  </a:txBody>
                  <a:tcPr marL="73152" marR="73152" marT="36576" marB="36576">
                    <a:solidFill>
                      <a:srgbClr val="FFFFFF"/>
                    </a:solidFill>
                  </a:tcPr>
                </a:tc>
                <a:tc>
                  <a:txBody>
                    <a:bodyPr/>
                    <a:lstStyle/>
                    <a:p>
                      <a:r>
                        <a:rPr sz="1300" b="0">
                          <a:solidFill>
                            <a:srgbClr val="1F2937"/>
                          </a:solidFill>
                        </a:rPr>
                        <a:t>12 °C</a:t>
                      </a:r>
                    </a:p>
                  </a:txBody>
                  <a:tcPr marL="73152" marR="73152" marT="36576" marB="36576">
                    <a:solidFill>
                      <a:srgbClr val="FFFFFF"/>
                    </a:solidFill>
                  </a:tcPr>
                </a:tc>
              </a:tr>
              <a:tr h="411480">
                <a:tc>
                  <a:txBody>
                    <a:bodyPr/>
                    <a:lstStyle/>
                    <a:p>
                      <a:r>
                        <a:rPr sz="1300" b="0">
                          <a:solidFill>
                            <a:srgbClr val="1F2937"/>
                          </a:solidFill>
                        </a:rPr>
                        <a:t>Body weight</a:t>
                      </a:r>
                    </a:p>
                  </a:txBody>
                  <a:tcPr marL="73152" marR="73152" marT="36576" marB="36576">
                    <a:solidFill>
                      <a:srgbClr val="E8EEF6"/>
                    </a:solidFill>
                  </a:tcPr>
                </a:tc>
                <a:tc>
                  <a:txBody>
                    <a:bodyPr/>
                    <a:lstStyle/>
                    <a:p>
                      <a:r>
                        <a:rPr sz="1300" b="0">
                          <a:solidFill>
                            <a:srgbClr val="1F2937"/>
                          </a:solidFill>
                        </a:rPr>
                        <a:t>90 kg</a:t>
                      </a:r>
                    </a:p>
                  </a:txBody>
                  <a:tcPr marL="73152" marR="73152" marT="36576" marB="36576">
                    <a:solidFill>
                      <a:srgbClr val="E8EEF6"/>
                    </a:solidFill>
                  </a:tcPr>
                </a:tc>
              </a:tr>
              <a:tr h="411480">
                <a:tc>
                  <a:txBody>
                    <a:bodyPr/>
                    <a:lstStyle/>
                    <a:p>
                      <a:r>
                        <a:rPr sz="1300" b="0">
                          <a:solidFill>
                            <a:srgbClr val="1F2937"/>
                          </a:solidFill>
                        </a:rPr>
                        <a:t>Result (95% limits)</a:t>
                      </a:r>
                    </a:p>
                  </a:txBody>
                  <a:tcPr marL="73152" marR="73152" marT="36576" marB="36576">
                    <a:solidFill>
                      <a:srgbClr val="FFFFFF"/>
                    </a:solidFill>
                  </a:tcPr>
                </a:tc>
                <a:tc>
                  <a:txBody>
                    <a:bodyPr/>
                    <a:lstStyle/>
                    <a:p>
                      <a:r>
                        <a:rPr sz="1300" b="0">
                          <a:solidFill>
                            <a:srgbClr val="1F2937"/>
                          </a:solidFill>
                        </a:rPr>
                        <a:t>16 ± 1.8 h before measurement (13–19 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Henssge nomogram: worked example from the book</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Payne-James J., Jones R., Karch S.B., Manlove J, Simpson's Forensic Medicine, pp. 50; G‘iyosov Z.A, Sud tibbiyoti, pp. 238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Quick Question and Case: PMI Calculation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Case: rectum 30°C at 10:00 and 28.2°C at 12:00, i.e. 1.8°C lost in 2 h (0.9°C per hour).</a:t>
            </a:r>
          </a:p>
          <a:p>
            <a:pPr>
              <a:spcAft>
                <a:spcPts val="800"/>
              </a:spcAft>
            </a:pPr>
            <a:r>
              <a:rPr sz="1800">
                <a:solidFill>
                  <a:srgbClr val="1F2937"/>
                </a:solidFill>
                <a:latin typeface="Calibri"/>
              </a:rPr>
              <a:t>▸  Book's answer: death 7–7.5 h before 10:00; rules of thumb are unreliable, so cross-check. (?)</a:t>
            </a:r>
          </a:p>
          <a:p>
            <a:pPr>
              <a:spcAft>
                <a:spcPts val="800"/>
              </a:spcAft>
            </a:pPr>
            <a:r>
              <a:rPr sz="1800">
                <a:solidFill>
                  <a:srgbClr val="1F2937"/>
                </a:solidFill>
                <a:latin typeface="Calibri"/>
              </a:rPr>
              <a:t>▸  Quick question: why take two readings 1–1.5 h apart and record the air temperature?</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800161"/>
                <a:gridCol w="3487813"/>
              </a:tblGrid>
              <a:tr h="411480">
                <a:tc>
                  <a:txBody>
                    <a:bodyPr/>
                    <a:lstStyle/>
                    <a:p>
                      <a:r>
                        <a:rPr sz="1400" b="1">
                          <a:solidFill>
                            <a:srgbClr val="FFFFFF"/>
                          </a:solidFill>
                        </a:rPr>
                        <a:t>Time</a:t>
                      </a:r>
                    </a:p>
                  </a:txBody>
                  <a:tcPr marL="73152" marR="73152" marT="36576" marB="36576">
                    <a:solidFill>
                      <a:srgbClr val="0B1F3A"/>
                    </a:solidFill>
                  </a:tcPr>
                </a:tc>
                <a:tc>
                  <a:txBody>
                    <a:bodyPr/>
                    <a:lstStyle/>
                    <a:p>
                      <a:r>
                        <a:rPr sz="1400" b="1">
                          <a:solidFill>
                            <a:srgbClr val="FFFFFF"/>
                          </a:solidFill>
                        </a:rPr>
                        <a:t>Response to pressure</a:t>
                      </a:r>
                    </a:p>
                  </a:txBody>
                  <a:tcPr marL="73152" marR="73152" marT="36576" marB="36576">
                    <a:solidFill>
                      <a:srgbClr val="0B1F3A"/>
                    </a:solidFill>
                  </a:tcPr>
                </a:tc>
              </a:tr>
              <a:tr h="411480">
                <a:tc>
                  <a:txBody>
                    <a:bodyPr/>
                    <a:lstStyle/>
                    <a:p>
                      <a:r>
                        <a:rPr sz="1300" b="0">
                          <a:solidFill>
                            <a:srgbClr val="1F2937"/>
                          </a:solidFill>
                        </a:rPr>
                        <a:t>6–8 h</a:t>
                      </a:r>
                    </a:p>
                  </a:txBody>
                  <a:tcPr marL="73152" marR="73152" marT="36576" marB="36576">
                    <a:solidFill>
                      <a:srgbClr val="E8EEF6"/>
                    </a:solidFill>
                  </a:tcPr>
                </a:tc>
                <a:tc>
                  <a:txBody>
                    <a:bodyPr/>
                    <a:lstStyle/>
                    <a:p>
                      <a:r>
                        <a:rPr sz="1300" b="0">
                          <a:solidFill>
                            <a:srgbClr val="1F2937"/>
                          </a:solidFill>
                        </a:rPr>
                        <a:t>Vanishes; returns in 30 s–2 min</a:t>
                      </a:r>
                    </a:p>
                  </a:txBody>
                  <a:tcPr marL="73152" marR="73152" marT="36576" marB="36576">
                    <a:solidFill>
                      <a:srgbClr val="E8EEF6"/>
                    </a:solidFill>
                  </a:tcPr>
                </a:tc>
              </a:tr>
              <a:tr h="411480">
                <a:tc>
                  <a:txBody>
                    <a:bodyPr/>
                    <a:lstStyle/>
                    <a:p>
                      <a:r>
                        <a:rPr sz="1300" b="0">
                          <a:solidFill>
                            <a:srgbClr val="1F2937"/>
                          </a:solidFill>
                        </a:rPr>
                        <a:t>8–16 h</a:t>
                      </a:r>
                    </a:p>
                  </a:txBody>
                  <a:tcPr marL="73152" marR="73152" marT="36576" marB="36576">
                    <a:solidFill>
                      <a:srgbClr val="FFFFFF"/>
                    </a:solidFill>
                  </a:tcPr>
                </a:tc>
                <a:tc>
                  <a:txBody>
                    <a:bodyPr/>
                    <a:lstStyle/>
                    <a:p>
                      <a:r>
                        <a:rPr sz="1300" b="0">
                          <a:solidFill>
                            <a:srgbClr val="1F2937"/>
                          </a:solidFill>
                        </a:rPr>
                        <a:t>Vanishes; returns in 2–5 min</a:t>
                      </a:r>
                    </a:p>
                  </a:txBody>
                  <a:tcPr marL="73152" marR="73152" marT="36576" marB="36576">
                    <a:solidFill>
                      <a:srgbClr val="FFFFFF"/>
                    </a:solidFill>
                  </a:tcPr>
                </a:tc>
              </a:tr>
              <a:tr h="411480">
                <a:tc>
                  <a:txBody>
                    <a:bodyPr/>
                    <a:lstStyle/>
                    <a:p>
                      <a:r>
                        <a:rPr sz="1300" b="0">
                          <a:solidFill>
                            <a:srgbClr val="1F2937"/>
                          </a:solidFill>
                        </a:rPr>
                        <a:t>16 h–2 days</a:t>
                      </a:r>
                    </a:p>
                  </a:txBody>
                  <a:tcPr marL="73152" marR="73152" marT="36576" marB="36576">
                    <a:solidFill>
                      <a:srgbClr val="E8EEF6"/>
                    </a:solidFill>
                  </a:tcPr>
                </a:tc>
                <a:tc>
                  <a:txBody>
                    <a:bodyPr/>
                    <a:lstStyle/>
                    <a:p>
                      <a:r>
                        <a:rPr sz="1300" b="0">
                          <a:solidFill>
                            <a:srgbClr val="1F2937"/>
                          </a:solidFill>
                        </a:rPr>
                        <a:t>Blanches; returns in 5–30 min</a:t>
                      </a:r>
                    </a:p>
                  </a:txBody>
                  <a:tcPr marL="73152" marR="73152" marT="36576" marB="36576">
                    <a:solidFill>
                      <a:srgbClr val="E8EEF6"/>
                    </a:solidFill>
                  </a:tcPr>
                </a:tc>
              </a:tr>
              <a:tr h="411480">
                <a:tc>
                  <a:txBody>
                    <a:bodyPr/>
                    <a:lstStyle/>
                    <a:p>
                      <a:r>
                        <a:rPr sz="1300" b="0">
                          <a:solidFill>
                            <a:srgbClr val="1F2937"/>
                          </a:solidFill>
                        </a:rPr>
                        <a:t>Over 2 days</a:t>
                      </a:r>
                    </a:p>
                  </a:txBody>
                  <a:tcPr marL="73152" marR="73152" marT="36576" marB="36576">
                    <a:solidFill>
                      <a:srgbClr val="FFFFFF"/>
                    </a:solidFill>
                  </a:tcPr>
                </a:tc>
                <a:tc>
                  <a:txBody>
                    <a:bodyPr/>
                    <a:lstStyle/>
                    <a:p>
                      <a:r>
                        <a:rPr sz="1300" b="0">
                          <a:solidFill>
                            <a:srgbClr val="1F2937"/>
                          </a:solidFill>
                        </a:rPr>
                        <a:t>Does not blanch (imbibition)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Lividity pressure test by stage (approximate)</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G‘iyosov Z.A, Sud tibbiyoti, pp. 236; Харин Г.М. (Kharin G.M.), Краткий курс судебной медицины: учебное пособие, pp. 45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Scene Examination and Body at the Scene</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Static stage: record the scene untouched; dynamic stage: objects and body are moved and studied.</a:t>
            </a:r>
          </a:p>
          <a:p>
            <a:pPr>
              <a:spcAft>
                <a:spcPts val="800"/>
              </a:spcAft>
            </a:pPr>
            <a:r>
              <a:rPr sz="1800">
                <a:solidFill>
                  <a:srgbClr val="1F2937"/>
                </a:solidFill>
                <a:latin typeface="Calibri"/>
              </a:rPr>
              <a:t>▸  Doctor's tasks: confirm death, record changes, help find and collect biological traces, advise investigator.</a:t>
            </a:r>
          </a:p>
          <a:p>
            <a:pPr>
              <a:spcAft>
                <a:spcPts val="800"/>
              </a:spcAft>
            </a:pPr>
            <a:r>
              <a:rPr sz="1800">
                <a:solidFill>
                  <a:srgbClr val="1F2937"/>
                </a:solidFill>
                <a:latin typeface="Calibri"/>
              </a:rPr>
              <a:t>▸  Evidence: clothing wrapped with traces inward and sealed; body wrapped to keep microparticles.</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Position and pose of the body</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Objects, clothing, footwear</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Early changes, with times</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Supravital reactions</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Injuries, then body bed</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Sequence of examining the body at the scene</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Харин Г.М. (Kharin G.M.), Краткий курс судебной медицины: учебное пособие, pp. 50-51, 52; Ромодановский П.О., Баринов Е.Х, Судебная медицина в схемах и рисунках: учебное пособие, pp. 63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Forensic Autopsy: Purposes, Stages and Documentation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Aims: identify the body, time of death, injuries, natural disease, poisons and effects of treatment.</a:t>
            </a:r>
          </a:p>
          <a:p>
            <a:pPr>
              <a:spcAft>
                <a:spcPts val="800"/>
              </a:spcAft>
            </a:pPr>
            <a:r>
              <a:rPr sz="1800">
                <a:solidFill>
                  <a:srgbClr val="1F2937"/>
                </a:solidFill>
                <a:latin typeface="Calibri"/>
              </a:rPr>
              <a:t>▸  The expert report has introductory, investigative and final parts; the diagnosis lists main, complicating and concomitant conditions.</a:t>
            </a:r>
          </a:p>
          <a:p>
            <a:pPr>
              <a:spcAft>
                <a:spcPts val="800"/>
              </a:spcAft>
            </a:pPr>
            <a:r>
              <a:rPr sz="1800">
                <a:solidFill>
                  <a:srgbClr val="1F2937"/>
                </a:solidFill>
                <a:latin typeface="Calibri"/>
              </a:rPr>
              <a:t>▸  Virtopsy (CT/MRI) may reduce full autopsies; the UN Minnesota Protocol is a model for sensitive cases.</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Study case documents</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External examination</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Internal exam + samples</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4. Diagnosis, lab results</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5. Written expert conclusion</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Stages of a forensic autopsy</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Payne-James J., Jones R., Karch S.B., Manlove J, Simpson's Forensic Medicine, pp. 32, 32-33; G‘iyosov Z.A, Sud tibbiyoti, pp. 240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Special Cases: Unknown, Dismembered, Skeletal and Exhumed Bodies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Unknown bodies: describe clothing, a 'word portrait' of the head, teeth, tattoos and scars; take blood for group typing; fingerprints are taken at the scene.</a:t>
            </a:r>
          </a:p>
          <a:p>
            <a:pPr>
              <a:spcAft>
                <a:spcPts val="1200"/>
              </a:spcAft>
            </a:pPr>
            <a:r>
              <a:rPr sz="2000">
                <a:solidFill>
                  <a:srgbClr val="1F2937"/>
                </a:solidFill>
                <a:latin typeface="Calibri"/>
              </a:rPr>
              <a:t>▸  Dismembered remains: is it human, one person, sex, age, weapon? Skeletons give sex, age and height, but seldom the cause of death.</a:t>
            </a:r>
          </a:p>
          <a:p>
            <a:pPr>
              <a:spcAft>
                <a:spcPts val="1200"/>
              </a:spcAft>
            </a:pPr>
            <a:r>
              <a:rPr sz="2000">
                <a:solidFill>
                  <a:srgbClr val="1F2937"/>
                </a:solidFill>
                <a:latin typeface="Calibri"/>
              </a:rPr>
              <a:t>▸  Exhumation needs legal permission. If poisoning is possible, take soil from above, below and beside the coffin, plus a control sample from a distant part of the cemetery.</a:t>
            </a:r>
          </a:p>
          <a:p>
            <a:pPr>
              <a:spcAft>
                <a:spcPts val="1200"/>
              </a:spcAft>
            </a:pPr>
            <a:r>
              <a:rPr sz="2000">
                <a:solidFill>
                  <a:srgbClr val="1F2937"/>
                </a:solidFill>
                <a:latin typeface="Calibri"/>
              </a:rPr>
              <a:t>▸  Sudden death comes from disease, quickly and unexpectedly amid apparent health; autopsy must exclude violence and establish the main and immediate causes.</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G‘iyosov Z.A, Sud tibbiyoti, pp. 243, 243-244; Payne-James J., Jones R., Karch S.B., Manlove J, Simpson's Forensic Medicine, pp. 33-34; Ромодановский П.О., Баринов Е.Х, Судебная медицина в схемах и рисунках: учебное пособие, pp. 98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Conclusion and Key Take-home Points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Dying is a process: preagony, terminal pause, agony, clinical death (about 5-6 minutes in usual conditions), then biological death.</a:t>
            </a:r>
          </a:p>
          <a:p>
            <a:pPr>
              <a:spcAft>
                <a:spcPts val="1200"/>
              </a:spcAft>
            </a:pPr>
            <a:r>
              <a:rPr sz="2000">
                <a:solidFill>
                  <a:srgbClr val="1F2937"/>
                </a:solidFill>
                <a:latin typeface="Calibri"/>
              </a:rPr>
              <a:t>▸  Early changes (cooling, drying, livor, rigor, autolysis) appear in the first day; late changes either destroy the body (putrefaction) or preserve it (mummification, adipocere, peat tanning).</a:t>
            </a:r>
          </a:p>
          <a:p>
            <a:pPr>
              <a:spcAft>
                <a:spcPts val="1200"/>
              </a:spcAft>
            </a:pPr>
            <a:r>
              <a:rPr sz="2000">
                <a:solidFill>
                  <a:srgbClr val="1F2937"/>
                </a:solidFill>
                <a:latin typeface="Calibri"/>
              </a:rPr>
              <a:t>▸  No post-mortem change gives an exact PMI; the Henssge nomogram has a 95% range of about 2.8 hours either side, so several methods should be combined.</a:t>
            </a:r>
          </a:p>
          <a:p>
            <a:pPr>
              <a:spcAft>
                <a:spcPts val="1200"/>
              </a:spcAft>
            </a:pPr>
            <a:r>
              <a:rPr sz="2000">
                <a:solidFill>
                  <a:srgbClr val="1F2937"/>
                </a:solidFill>
                <a:latin typeface="Calibri"/>
              </a:rPr>
              <a:t>▸  Good practice means careful written documentation, scaled photographs and a trained pathologist; a poorly performed autopsy is worse than none.</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Source: G‘iyosov Z.A, Sud tibbiyoti, pp. 217-218, 222-223; Payne-James J., Jones R., Karch S.B., Manlove J, Simpson's Forensic Medicine, pp. 50, 32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Did you know?</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83</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Case analysis (Henssge nomogram): a 90 kg body is found with rectal temperature 26.4°C and ambient temperature 12°C. The book's worked example gives a time since death of 16 ± 1.8 hours, i.e. between about 13.2 and 18.8 hours before the measurement (95% confidence). Question: how would the range change if the ambient temperature had been wrongly recorded by 5°C? Answer: by at least 1 hour. The nomogram also assumes a naked body in still air, so corrective factors for clothing must be applied.</a:t>
            </a:r>
          </a:p>
          <a:p>
            <a:pPr>
              <a:spcAft>
                <a:spcPts val="1200"/>
              </a:spcAft>
            </a:pPr>
            <a:r>
              <a:rPr sz="1800">
                <a:solidFill>
                  <a:srgbClr val="1F2937"/>
                </a:solidFill>
                <a:latin typeface="Calibri"/>
              </a:rPr>
              <a:t>▸  Memory aid (Casper's ratio): with free access of air, a body decomposes in about 1 unit of time, in water in 2 units and buried in earth in 8 units. Remember 'Air : Water : Earth = 1 : 2 : 8'. The slower decay in water and soil is explained by lower temperature and less oxygen. This applies only if all other factors are equal.</a:t>
            </a:r>
          </a:p>
          <a:p>
            <a:pPr>
              <a:spcAft>
                <a:spcPts val="1200"/>
              </a:spcAft>
            </a:pPr>
            <a:r>
              <a:rPr sz="1800">
                <a:solidFill>
                  <a:srgbClr val="1F2937"/>
                </a:solidFill>
                <a:latin typeface="Calibri"/>
              </a:rPr>
              <a:t>▸  Interesting fact: a body dies cell by cell. Cortical neurons die after only 3-7 minutes without oxygen. White blood cells can still move up to 12 hours after cardiac arrest, and skin and bone cells can be cultured days later. For this reason, microscopic identification of a 'vital reaction' to injury is of doubtful reliability.</a:t>
            </a:r>
          </a:p>
          <a:p>
            <a:pPr>
              <a:spcAft>
                <a:spcPts val="1200"/>
              </a:spcAft>
            </a:pPr>
            <a:r>
              <a:rPr sz="1800">
                <a:solidFill>
                  <a:srgbClr val="1F2937"/>
                </a:solidFill>
                <a:latin typeface="Calibri"/>
              </a:rPr>
              <a:t>▸  Case analysis (hypostasis or suffocation?): a body is found face down on a bed, with petechiae in the facial skin and conjunctivae and pale areas around the mouth and nose. Question: does this prove smothering? Answer: no. Hypostasis in the lax facial tissues can cause congestion and petechiae, and pallor appears where the face pressed on the bedding. The pathologist must exclude pressure on the mouth, nose and neck by dissection, looking for bruising and skeletal injury.</a:t>
            </a:r>
          </a:p>
          <a:p>
            <a:pPr>
              <a:spcAft>
                <a:spcPts val="1200"/>
              </a:spcAft>
            </a:pPr>
            <a:r>
              <a:rPr sz="1800">
                <a:solidFill>
                  <a:srgbClr val="1F2937"/>
                </a:solidFill>
                <a:latin typeface="Calibri"/>
              </a:rPr>
              <a:t>▸  Memory aid (stages of livor mortis): Hypostasis = 'Highly mobile'. The stain blanches fully on pressure and moves if the body is turned. Stasis = 'Slowly shifting'. It only pales and partly moves. Imbibition = 'Immobile'. The colour does not change on pressure and the stain stays in place. Hypostasis is described as appearing at about 1.5-2 hours, with stasis from about 12 to 24 hours.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Quiz</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quiz questions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 pathologist notes that white blood cells are still motile about 10 hours after cardiac arrest. What does this finding mean for the microscopic identification of a 'vital reaction' to injury?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It proves that the injury was inflicted after death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It makes the reliability of this concept doubtful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It confirms that the injury occurred just before death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It shows that cortical neurons are still alive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 patient is deeply anaesthetised and does not communicate or react to the environment. Why is this patient NOT considered to be in somatic death?</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Because the heart is still beating in this state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Because the pupils still react to light in this state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Because brain-stem reflexes are always present in this state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Because the loss of interaction with the environment is reversible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 dying patient has no consciousness, no reflexes, no pulse and no breathing, and the blood pressure is close to zero. The state lasts only seconds to 3-4 minutes. Which stage of dying is this?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Terminal pause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Preagonal state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Agony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Biological death</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 young man collapses with cardiac arrest in a room at normal temperature. Within approximately what time do irreversible changes develop in the cerebral cortex, ending the period of clinical death?</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About 1-2 minutes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About 15-20 minutes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About 5-6 minutes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About 30 minutes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At autopsy the blood in the heart is liquid, there are petechiae in the conjunctivae and under the pleura, and the livor mortis is confluent and dark violet. What rate of dying do these findings suggest?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Long agonal period with red and yellow blood clots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Rapid dying with a short or absent agonal period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Artificially prolonged agony lasting for weeks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Slow dying with severe dystrophic organ changes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 comatose patient on a ventilator after a severe head injury is being assessed for brain-stem death. Which of the following must be excluded BEFORE the brain-stem tests are started?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Fixed pupils that do not react to light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Depressant drugs or hypothermia as the cause of coma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Absence of the corneal reflex on testing</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Absence of a cough reflex on suction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In hospital, cardiopulmonary resuscitation (CPR) has failed and the patient has no circulation. For what minimum time must the doctor observe the patient to confirm absence of a central pulse and heart sounds?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 minute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2 minutes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5 minutes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15 minutes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 man remains in a vegetative state after a road-traffic head injury. After how long is the vegetative state judged 'permanent' under the Royal College of Physicians guidelines?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12 months after the traumatic injury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3 months after the traumatic injury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6 months after the traumatic injury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24 months after the traumatic injury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 doctor stops all medical treatment of a terminally ill patient, so death occurs sooner. Which term describes this form of euthanasia?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Direct active euthanasia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Indirect active euthanasia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Dysthanasia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Passive euthanasia (orthothanasia)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 body is found with a gunshot wound. The forensic expert establishes the category (violent) and type (mechanical injury) of death. Who determines the kind of death: homicide, suicide or accident?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forensic expert, alone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Law-enforcement investigators or the court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treating physician of the deceased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hospital's head of department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 death certificate reads: Ia Coma; Ib Subarachnoid haemorrhage; Ic Ruptured congenital aneurysm. Which entry is the most important for compiling mortality statistics?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Coma, listed on line Ia as the final state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Subarachnoid haemorrhage, listed on line Ib</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Ruptured congenital aneurysm, listed on line Ic</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Any condition that would be entered in Part II</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 body found outside in freezing weather is stiff. After it is moved to the warm mortuary, the stiffness disappears, and true rigor appears several hours later. What explains the first stiffness?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Physical effect of cooling or freezing, not true rigor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True rigor that was broken during transport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Cadaveric rigidity caused by stress before death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Early autolysis of the muscle cells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 body is recovered from a river with weeds gripped tightly in the hand, although normal rigor would not yet be expected. Which term for this finding does Simpson's prefer?</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Instantaneous rigor, because it appears at the moment of death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Cadaveric rigidity, because no satisfactory explanation exists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Primary flaccidity, because muscle tone is lost at death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Rigor mortis, because it is the same chemical process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An examiner taps the biceps with a metal ruler. No raised ridge forms; a depression (dimple) appears at the site of the blow. Approximately how long after death was this reaction obtained?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About 1 hour after death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About 3 hours after death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About 6 hours after death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About 10–11 hours after death</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On external examination a doctor finds a hard yellow-brown patch on the skin. A gauze pad soaked in warm saline is placed on it for 5–10 minutes. The patch softens and becomes paler. How should it be interpreted?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 vital abrasion that has begun to heal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 post-mortem parchment patch caused by drying</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Hypostasis in the stage of imbibition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 bruise containing clotted extravasated blood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 body is found lying face down on a bed. It shows intense facial congestion, petechiae and pale areas around the nose and mouth. What is the most likely explanation for the pale areas?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Definite proof that the airways were smothered by hand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Pressure of the face against the bedding surface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Ante-mortem bruising caused by a blow to the face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Early putrefactive discoloration of the facial skin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An unburied body lying in open air reaches a certain stage of decomposition after 1 week. All other factors being equal, how long would the same stage take if the body were buried in earth, according to Casper's ratio?</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About 2 weeks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About 4 weeks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About 6 weeks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About 8 weeks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 pathologist wants to estimate the post-mortem interval with Henssge's nomogram. Which three measurements does the method rely 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Rectal temperature, ambient temperature and body weight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Rectal temperature, liver temperature and body height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Ambient temperature, degree of rigor and body weight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Skin temperature, stage of lividity and clothing type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 body recovered from wet ground after several months has a grey, firm, waxy shell that preserves the body shape. Which process underlies this change?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Desiccation of the tissues in dry, ventilated air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Spread of gut bacteria into the skin and blood vessels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Hydrolysis of body fat to a waxy, soap-like compound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Dehydration and tanning of tissues by humic acids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During an exhumation, poisoning is suspected. Which soil sampling approach is recommended for toxicological examination?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Samples only from the surface directly above the coffin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Samples around the coffin plus a control from a distant cemetery area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Samples only from beneath the coffin, without a control sample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 single sample from the cemetery entrance as the sole reference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It makes the reliability of this concept doubtful</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White blood cells can move for up to about 12 hours after cardiac arrest. A cellular response can therefore be seen after somatic death, so the microscopic 'vital reaction' is of doubtful reliability. Cortical neurons, by contrast, die after only 3-7 minutes without oxygen.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p. 24</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Because the loss of interaction with the environment is reversible</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Somatic death means the person will never again communicate or interact with the environment. The key word is 'irreversible'. Deep sleep, anaesthesia, drug or alcohol effects and temporary coma also cause lack of interaction, but they are reversible.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p. 25</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Terminal pause</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In the terminal pause, breathing stops suddenly, cardiac activity is severely disturbed, the pupils dilate and reflexes fade. It lasts from a few seconds to 3-4 minutes. The preagonal state still has a weak pulse in large arteries, and agony shows a temporary return of breathing and blood pressure.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p. 217</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About 5-6 minutes</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Under ordinary conditions clinical death lasts up to 5-6 minutes, after which irreversible changes develop in the cortex. Only at low temperatures can it extend to about 30 minutes.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p. 218</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Rapid dying with a short or absent agonal period</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Liquid blood, petechial haemorrhages, venous congestion and abundant dark-violet livor mortis are typical of rapid dying with a short agonal period. A long agonal period is marked by clots, moderate lividity and pronounced oedema or dystrophic changes.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Ромодановский П.О., Баринов Е.Х, Судебная медицина в схемах и рисунках: учебное пособие, p. 45</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Depressant drugs or hypothermia as the cause of coma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Before brain-stem testing, potentially reversible causes of coma must be excluded. These include depressant drugs (narcotics, hypnotics, tranquillizers), hypothermia, reversible metabolic or endocrine disturbances and neuromuscular blockade. The other options are the brain-stem reflex findings that the tests themselves look for.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p. 26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5 minutes</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Under the Academy of Medical Royal Colleges criteria, the person confirming death observes the individual for at least 5 minutes. During this time there must be no central pulse on palpation and no heart sounds on auscultation. The time of death is recorded once all criteria are met.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p. 25</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12 months after the traumatic injury</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The vegetative state is judged permanent if it persists for 12 months after traumatic brain injury. For non-traumatic causes the period is 6 months. Withdrawal of hydration and assisted nutrition can then be considered in the patient's best interests.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p. 26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Passive euthanasia (orthothanasia)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Passive euthanasia, or orthothanasia, means restricting or stopping appropriate medical help for terminally ill patients, which hastens death. Active euthanasia involves an action that hastens death. Dysthanasia is the opposite, maximal prolongation of life.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p. 219</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Law-enforcement investigators or the court</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Experts determine the category and type of death. The kind of death (homicide, suicide, accident) falls within the competence of law-enforcement officers or the court, because it depends on establishing intent.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p. 221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Ruptured congenital aneurysm, listed on line Ic</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In the WHO format the lowest disease in Part I is the primary pathological condition in the chain of events leading to death. It is the one used for national and international statistics. Coma is only a mode of death.</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p. 28</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Physical effect of cooling or freezing, not true rigor</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When post-mortem cooling is extreme, stiffening may result from cooling or freezing rather than rigor. It disappears as the body warms. True rigor can then develop as the cellular chemical processes restart.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p. 43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13: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Cadaveric rigidity, because no satisfactory explanation exists</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Cadaveric rigidity has no scientifically satisfactory explanation and is clearly not the same chemical process as true rigor. The term 'instantaneous rigor' should no longer be used because it implies an equivalence with rigor.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p. 44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About 10–11 hours after death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The idiomuscular swelling gradually becomes lower and softer. About 10–11 hours after death a depression forms at the site of the blow instead of a ridge.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p. 222</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A post-mortem parchment patch caused by drying</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Parchment patches are post-mortem drying of damaged or thin-keratin skin. They soften and pale when moistened with warm saline or water, whereas vital abrasions do not change.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p. 225</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Pressure of the face against the bedding surface</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Skin pressed against a firm surface cannot fill with settled blood, so it stays pale within the lividity. Pallor around the mouth and nose therefore does not necessarily indicate suffocation. The pathologist should still exclude pressure on the mouth, nose and neck by careful dissection.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p. 45</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About 8 weeks</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Casper's Law states that, other factors being equal, a body decomposes twice as fast in air as in water and eight times faster in air than in earth. One week in air therefore corresponds to about eight weeks in earth.</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p. 47</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80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Rectal temperature, ambient temperature and body weight</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Henssge's nomogram uses body (rectal) temperature, ambient temperature and body weight. Inaccuracy in any one of them degrades the result. Empirical corrective factors for clothing, air movement and water are then applied.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p. 50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81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Hydrolysis of body fat to a waxy, soap-like compound</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This is adipocere, a hydrolysis of body fat to a waxy soap-like compound. It is most common in wet conditions, such as submersion in water or burial in wet ground, and usually takes weeks to months.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p. 48</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82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Samples around the coffin plus a control from a distant cemetery area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Soil should be taken from above, below and to the sides of the coffin. A control sample from a distant part of the cemetery is also needed, together with samples of any fluid or solid material inside the coffin. These help answer later claims of contamination.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p. 34</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References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Lecture No. 1: Forensic Thanatology (4th-year General Medicine)</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83 / 83</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Payne-James J., Jones R., Karch S.B., Manlove J. Simpson's Forensic Medicine, 13th ed.. 2011. Chapter 3. The medical aspects of death, pp. 24–34</a:t>
            </a:r>
          </a:p>
          <a:p>
            <a:pPr>
              <a:spcAft>
                <a:spcPts val="1200"/>
              </a:spcAft>
            </a:pPr>
            <a:r>
              <a:rPr sz="2000">
                <a:solidFill>
                  <a:srgbClr val="1F2937"/>
                </a:solidFill>
                <a:latin typeface="Calibri"/>
              </a:rPr>
              <a:t>▸  Payne-James J., Jones R., Karch S.B., Manlove J. Simpson's Forensic Medicine, 13th ed.. 2011. Chapter 5. The appearance of the body after death, pp. 42–53</a:t>
            </a:r>
          </a:p>
          <a:p>
            <a:pPr>
              <a:spcAft>
                <a:spcPts val="1200"/>
              </a:spcAft>
            </a:pPr>
            <a:r>
              <a:rPr sz="2000">
                <a:solidFill>
                  <a:srgbClr val="1F2937"/>
                </a:solidFill>
                <a:latin typeface="Calibri"/>
              </a:rPr>
              <a:t>▸  G‘iyosov Z.A. Sud tibbiyoti (Tibbiyot oliy o‘quv yurtlari talabalari uchun darslik), Toshkent: Global Books nashriyoti. 2018. Bob 8 «Sud-tibbiy tanatologiya», 8.1-8.13-bo‘limlar, kitob beti 217-246 (3-qism, PDF-bet 55-84)</a:t>
            </a:r>
          </a:p>
          <a:p>
            <a:pPr>
              <a:spcAft>
                <a:spcPts val="1200"/>
              </a:spcAft>
            </a:pPr>
            <a:r>
              <a:rPr sz="20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2-modul. Tanatologiya, hodisa joyi, murda ekspertizasi, yangi tug‘ilgan chaqaloq; bet 41-100</a:t>
            </a:r>
          </a:p>
          <a:p>
            <a:pPr>
              <a:spcAft>
                <a:spcPts val="1200"/>
              </a:spcAft>
            </a:pPr>
            <a:r>
              <a:rPr sz="2000">
                <a:solidFill>
                  <a:srgbClr val="1F2937"/>
                </a:solidFill>
                <a:latin typeface="Calibri"/>
              </a:rPr>
              <a:t>▸  Харин Г.М. (Kharin G.M.). Краткий курс судебной медицины: учебное пособие, М.: ГЭОТАР-Медиа (egasi taqdim etgan; yopiq foydalanish). 2006. II bo‘lim (4-6-boblar). Tanatologiya asoslari; hodisa joyi va murdani ko‘zdan kechirish; bet 40-67</a:t>
            </a:r>
          </a:p>
          <a:p>
            <a:pPr>
              <a:spcAft>
                <a:spcPts val="1200"/>
              </a:spcAft>
            </a:pPr>
            <a:r>
              <a:rPr sz="2000">
                <a:solidFill>
                  <a:srgbClr val="1F2937"/>
                </a:solidFill>
                <a:latin typeface="Calibri"/>
              </a:rPr>
              <a:t>▸  Пиголкин Ю.И., Баринов Е.Х., Богомолов Д.В., Богомолова И.Н. Судебная медицина: учебник для вузов, М.: ГЭОТАР-МЕД (egasi taqdim etgan; yopiq foydalanish). 2002. 6-bob. Sud-tibbiy tanatologiya (kitob beti 67-84); bet 67-84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