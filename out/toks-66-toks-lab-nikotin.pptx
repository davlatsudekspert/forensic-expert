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  <p:sldId id="283" r:id="rId35"/>
    <p:sldId id="284" r:id="rId36"/>
    <p:sldId id="285" r:id="rId37"/>
    <p:sldId id="286" r:id="rId38"/>
    <p:sldId id="287" r:id="rId39"/>
    <p:sldId id="288" r:id="rId40"/>
    <p:sldId id="289" r:id="rId41"/>
    <p:sldId id="290" r:id="rId42"/>
    <p:sldId id="291" r:id="rId43"/>
    <p:sldId id="292" r:id="rId44"/>
    <p:sldId id="293" r:id="rId45"/>
    <p:sldId id="294" r:id="rId46"/>
    <p:sldId id="295" r:id="rId47"/>
    <p:sldId id="296" r:id="rId48"/>
    <p:sldId id="297" r:id="rId4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notesMaster" Target="notesMasters/notesMaster1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Relationship Id="rId33" Type="http://schemas.openxmlformats.org/officeDocument/2006/relationships/slide" Target="slides/slide26.xml"/><Relationship Id="rId34" Type="http://schemas.openxmlformats.org/officeDocument/2006/relationships/slide" Target="slides/slide27.xml"/><Relationship Id="rId35" Type="http://schemas.openxmlformats.org/officeDocument/2006/relationships/slide" Target="slides/slide28.xml"/><Relationship Id="rId36" Type="http://schemas.openxmlformats.org/officeDocument/2006/relationships/slide" Target="slides/slide29.xml"/><Relationship Id="rId37" Type="http://schemas.openxmlformats.org/officeDocument/2006/relationships/slide" Target="slides/slide30.xml"/><Relationship Id="rId38" Type="http://schemas.openxmlformats.org/officeDocument/2006/relationships/slide" Target="slides/slide31.xml"/><Relationship Id="rId39" Type="http://schemas.openxmlformats.org/officeDocument/2006/relationships/slide" Target="slides/slide32.xml"/><Relationship Id="rId40" Type="http://schemas.openxmlformats.org/officeDocument/2006/relationships/slide" Target="slides/slide33.xml"/><Relationship Id="rId41" Type="http://schemas.openxmlformats.org/officeDocument/2006/relationships/slide" Target="slides/slide34.xml"/><Relationship Id="rId42" Type="http://schemas.openxmlformats.org/officeDocument/2006/relationships/slide" Target="slides/slide35.xml"/><Relationship Id="rId43" Type="http://schemas.openxmlformats.org/officeDocument/2006/relationships/slide" Target="slides/slide36.xml"/><Relationship Id="rId44" Type="http://schemas.openxmlformats.org/officeDocument/2006/relationships/slide" Target="slides/slide37.xml"/><Relationship Id="rId45" Type="http://schemas.openxmlformats.org/officeDocument/2006/relationships/slide" Target="slides/slide38.xml"/><Relationship Id="rId46" Type="http://schemas.openxmlformats.org/officeDocument/2006/relationships/slide" Target="slides/slide39.xml"/><Relationship Id="rId47" Type="http://schemas.openxmlformats.org/officeDocument/2006/relationships/slide" Target="slides/slide40.xml"/><Relationship Id="rId48" Type="http://schemas.openxmlformats.org/officeDocument/2006/relationships/slide" Target="slides/slide41.xml"/><Relationship Id="rId49" Type="http://schemas.openxmlformats.org/officeDocument/2006/relationships/slide" Target="slides/slide42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_rels/notesSlide3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1.xml"/></Relationships>
</file>

<file path=ppt/notesSlides/_rels/notesSlide3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2.xml"/></Relationships>
</file>

<file path=ppt/notesSlides/_rels/notesSlide3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3.xml"/></Relationships>
</file>

<file path=ppt/notesSlides/_rels/notesSlide3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4.xml"/></Relationships>
</file>

<file path=ppt/notesSlides/_rels/notesSlide3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5.xml"/></Relationships>
</file>

<file path=ppt/notesSlides/_rels/notesSlide3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6.xml"/></Relationships>
</file>

<file path=ppt/notesSlides/_rels/notesSlide3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7.xml"/></Relationships>
</file>

<file path=ppt/notesSlides/_rels/notesSlide3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8.xml"/></Relationships>
</file>

<file path=ppt/notesSlides/_rels/notesSlide3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9.xml"/></Relationships>
</file>

<file path=ppt/notesSlides/_rels/notesSlide3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0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4 daqiqa. Muhokama: nosvoy va tamaki chekish nima uchun toksikologik masala? (toks 109.) Doskada: mashg‘ulot rejasi. Tipik xato: nikotinni faqat sigaretadagi modda deb bilish; kitobda u insektitsid sifatida ham zaharlanish manbai.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3 daqiqa. Kutilayotgan natija: uch alkaloid uchun kristall shakllari va ranglar jadvali. Muhokama: kristall shaklini chizish nega talab qilinadi? (Alkaloidlar kristall shakli bilan farqlanadi — toks 110.) Doskada: 3 natija. Tipik xato: kristallni chizmasdan faqat «kristall hosil bo‘ldi» deb yozish.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3 daqiqa. Muhokama: nam kamera nega kerak? (Kristallar 15-25 daqiqa davomida hosil bo‘ladi — toks 239-240.) Doskada: jihozlar ro‘yxati. Kitobda nam kameraning tuzilishi bu sahifalarda berilmagan. Tipik xato: nam kamerasiz kristallarni kutish.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3 daqiqa. Muhokama: Reyneke tuzini nega yangi tayyorlash kerak? (toks 239: «yangi tayyorlangan 1% Reyneke tuzi».) Doskada: alkaloid — reaktiv jadvali. Eslatma: reaktivlarni tayyorlash retseptlari bu sahifalarda berilmagan. Tipik xato: Reyneke tuzi eritmasini oldindan tayyorlab saqlash.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4 daqiqa. Muhokama: qaysi alkaloid qaysi o‘simlikda bor? Doskada: daraxt sxemasi. Tipik xato: barcha alkaloidlarni bir xil reaktiv bilan farqlash.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4 daqiqa. Muhokama: kutish nega har xil? Doskada: jadval. Tipik xato: vaqtni qisqartirish.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3 daqiqa. Muhokama: biologik ob’ekt va reaktivlar bilan ishlashda qanday himoya vositalari kerak? Doskada: himoya vositalari ro‘yxati. Tipik xato: reaktivni (kislota, simob tuzi, brom) qo‘lqopsiz va so‘rish shkafisiz ishlatish — mashg‘ulot oldidan o‘qituvchi alohida eslatadi. Manba malaka 117 (sanasi va raqami ko‘rsatilmagan qoidalar loyihasi) — lex.uz da amaldagi tahririni tekshiring.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5 daqiqa. Muhokama: nikotin nega havoda qorayadi? (Oksidlanib nikotirin hosil qiladi — toks 109.) Doskada: nikotin formulasi (piridin-3-N-metilpirrolidin). Tipik xato: tuzlarining optik aylanishini asosnikidek chapga deb yozish: kitobga ko‘ra tuzlari o‘ngga buradi.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6 daqiqa. Muhokama: tamaki chekish toksikomaniyasi tahlil mavzusiga qanday aloqador? Doskada: nikotin manbalari: tamaki, nosvoy, insektitsid. Tipik xato: nikotinli preparatlarni tibbiyotda ishlatiladi deb hisoblash — kitobga ko‘ra ishlatilmaydi.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5 daqiqa. Muhokama: patologoanatomik belgi yo‘qligi kimyoviy tahlil zarurligini qanday izohlaydi? Doskada: so‘rilish yo‘llari. Tipik xato: chekmaydigan odam uchun 1-2 papirosdagi 1-4 mg nikotinni o‘lchamsiz xavfsiz deb hisoblash (toks 110: bu dozada ham zaharlanish belgilari paydo bo‘ladi).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5 daqiqa. Muhokama: nega bu alkaloidlar suv bug‘i bilan haydaladi? (Nikotin va anabazin uchuvchan suyuq alkaloidlar — toks 109, 111.) Doskada: alkaloid — ajratish usuli jadvali. Tipik xato: ishqoriy muhitni kislotali bilan almashtirish.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20 daqiqa. Kutilayotgan natija: qizil-qo‘ng‘ir «X» yoki «K» shaklidagi kristallar, ba’zan uchib ketayotgan qushlarga o‘xshaydi (toks 110); aniqlanish chegarasi 1 mkg. Muhokama: anabazin va koniin ham kristall beradi, lekin shakli boshqa (toks 110). Tipik xato: xloroformni to‘liq uchirmay reaktiv qo‘shish.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20 daqiqa. Kutilayotgan natija: och pushti prizma shaklidagi kristallar; shaklini daftarga chizing. Boshqa variant: toks 241 jadvalida «kristall hosil bo‘lmaydi»; slaydda 239 va 110 betlar olindi. Tipik xato: eski Reyneke eritmasi bilan manfiy natija olish.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10 daqiqa. Kutilayotgan natija: rang tafovutlari ish daftariga yoziladi. Eslatma: sianid reaksiyasi (toks 110) lecture matnidan — mashg‘ulot sahifalarida yo‘q, sianid bilan ishlash xavfi sababli faqat o‘qituvchi nazoratida. Boshqa variant: toks 110 da p-DMABA HCl bilan pushti-binafsha; slaydda 240-bet olindi. Tipik xato: p-DMABA reaktivining kislotasini aralashtirish.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8 daqiqa. Muhokama: «murda nikotini» Dragendorf bilan kristall bersa ham farmakologik ta’sirni bermaydi (toks 104) — shu sababli farmakologik tekshiruv nima uchun kerak? Doskada: usul — natija jadvali. Tipik xato: faqat kristall hosil bo‘lishiga tayanib xulosa yozish.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4 daqiqa. Muhokama: qaysi reaksiya eng xos? Doskada: daraxt sxemasi. Tipik xato: faqat cho‘kma reaksiyasiga tayanish.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4 daqiqa. Muhokama: qaysi reaktiv sezgirroq? Doskada: qiymatlar. Tipik xato: aniqlanish chegarasini mg bilan almashtirish.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5 daqiqa. Muhokama: anabazin nikotindan qaysi reaksiya bilan farqlanadi? (Formaldegid + HNO3 ni anabazin bermaydi — toks 110.) Doskada: nikotin — anabazin taqqosi. Eslatma: kitobdagi o‘simlik nomi «Anabasis aphulla» deb yozilgan (imlo xatosi). Tipik xato: anabazin metabolitlari o‘rganilgan deb yozish — kitobga ko‘ra kam o‘rganilgan.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15 daqiqa. Kutilayotgan natija: uch reaktiv uchun kristall shakllari daftarga chiziladi. Kitobda boshqa variant: toks 111 va 241 da kristall shakli boshqacha yozilgan; slaydda mashg‘ulot matni (240) olindi. Tipik xato: anabazinni nikotin kristallari bilan adashtirish.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10 daqiqa. Kutilayotgan natija: qizil/shokolad (pergidrol) va qizil/to‘q-qizil (vanilin) ranglar. Muhokama: sud-kimyoviy ahamiyatini izohlang — kitob bu savolni mashg‘ulot matnida qoldirgan. Xavfsizlik: konsentrlangan H2SO4 va sianid saqlovchi reaktivlar bilan faqat o‘qituvchi nazoratida va so‘rish shkafida ishlang (kitobda bu ko‘rsatma yo‘q). Tipik xato: pergidrolni kislotadan oldin tomizish tartibini buzish.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4 daqiqa. Muhokama: anabazinni nikotindan nima farqlaydi? Doskada: daraxt sxemasi. Tipik xato: formaldegid reaksiyasini ikkalasida ham musbat deb hisoblash.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5 daqiqa. Muhokama: paxikarpin tuzida yod borligi tahlilni qanday osonlashtiradi? (Yod ioni alohida aniqlanadi — toks 240.) Doskada: paxikarpin yodid. Tipik xato: paxikarpin organizmda to‘planadi deb yozish (kitobga ko‘ra yo‘q).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4 daqiqa. Muhokama: sud-kimyoda bunday holatda qanday ob’ektlar yuboriladi? (Kitobda bu sahifada aytilmagan; oldingi mashg‘ulot bilan bog‘lang.) Doskada: belgilar ro‘yxati. Tipik xato: belgilarni tashxis sifatida yozib, kimyoviy tasdiqni qoldirish.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10 daqiqa. Kutilayotgan natija: xloroform qatlami binafsha (erkin yod). Muhokama: ob’ektdan ajratish jarayonida yod ioni topilishi qaysi moddaga ishora qiladi? (2-KEYS, toks 241.) Doskada: 2NH4I + 2NaNO2 + 2H2SO4 — I2 reaksiyasi (toks 112). Tipik xato: kislotani ortiqcha qo‘shib lakmus oralig‘idan chiqish.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25 daqiqa. Kutilayotgan natija: uch xil kristall shakli daftarga chiziladi. Boshqa variant: toks 113 va 241 da pikrin natijasi boshqacha; slaydda 240-bet olindi. Tipik xato: kutish vaqtini qisqartirish.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4 daqiqa. Muhokama: yod ioni nimani ko‘rsatadi? Doskada: daraxt sxemasi. Tipik xato: paxikarpinni yodsiz asos deb o‘ylash.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5 daqiqa. Muhokama: qaysi shakl qaysi alkaloidga? Doskada: jadval. Tipik xato: kitob jadvalidagi (241-bet) boshqa ma’lumotni mashg‘ulot matni bilan aralashtirish.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5 daqiqa. Muhokama: qaysi alkaloid uzoq saqlanadi? Doskada: jadval. Tipik xato: paxikarpinni yig‘iladi deb yozish.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5 daqiqa. Muhokama: qaysi usul eng sezgir? Doskada: jadval. Tipik xato: koniinni nikotin bilan aralashtirish.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4 daqiqa. Muhokama: qiymatlar nimani ko‘rsatadi? Doskada: qiymatlar. Tipik xato: arekolinni kristall alkaloid deb hisoblash.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12 daqiqa. Kutilayotgan natija: qizil pushti rang. Muhokama: lecture (toks 113) da sariq rang ammiak bilan qizdirilganda qizil rangga o‘tadi — bir xil jarayon. Xavfsizlik: brom bug‘i bilan faqat so‘rish shkafida va o‘qituvchi nazoratida ishlang (kitobda bu ko‘rsatma yo‘q). Tipik xato: ammiak bosqichini qoldirish.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6 daqiqa. Muhokama: koniin va arekolinning toksikologik ahamiyati (toks 242, 18-19-savollar). Doskada: ikki alkaloid — o‘simlik, hid, kristall. Tipik xato: koniinni nikotin bilan bir xil usulda aniqlash mumkin deb o‘ylash: kristall shakli boshqa.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10 daqiqa. Usul: «Charxpalak» treningi — talabalar jadvalni to‘ldirishadi (toks 241). Jadval qiymatlari 239-240 betlar matniga mos kelmaydi, shu sababli slaydga kiritilmadi. Talabalar javobni mashg‘ulot matni bo‘yicha tekshiradi. Tipik xato: jadvaldagi qiymatni matn bilan solishtirmasdan ko‘chirish.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5 daqiqa. Muhokama: baqada tirishish bo‘lmasa, kristall hosil bo‘lishi nimani anglatishi mumkin? (Murda nikotini — toks 104.) Doskada: «kristall + ta’sir». Tipik xato: faqat kristall asosida «nikotin aniqlandi» deb yozish.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10 daqiqa. Usul: «Muammo turi — Kelib chiqish sabablari — Hal etish yo‘llari» jadvali (2-KEYS, toks 241). Kutilayotgan natija: talaba paxikarpin yodid tuziga tekshirishni asoslaydi va kristall reaksiyalar bilan tasdiqlaydi. Tipik xato: yod ionini topgach, boshqa alkaloidlarga tekshirmaslik.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8 daqiqa. Muhokama: 19 savoldan har guruh bittadan blokni tayyorlaydi. Doskada: savollarni raqamlab yozing. Tipik xato: savollarga umumiy javob berib, aniq reaktiv va kristall shaklini aytmaslik.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6 daqiqa. Muhokama: javoblarni slaydlar bilan bog‘lang. Doskada: 5 savol. Tipik xato: kitobda javob bor deb kutish: javoblar berilmagan.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6 daqiqa. Muhokama: murda alkaloidi nima? Doskada: 5 savol. Tipik xato: kitob 19 savolining hammasi shu slaydda deb o‘ylash.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5 daqiqa. Hisobot: ish daftariga kristallar shakli, ranglar va xulosa yoziladi. Muhokama: uchta alkaloidni bir-biridan farqlovchi eng aniq reaksiya qaysi? Doskada: nikotin — anabazin — paxikarpin farqlari. Tipik xato: bitta reaksiya natijasi bilan chegaralanish.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0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1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2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3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4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5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6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8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9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0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1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2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3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4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5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6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7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8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9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40080" y="4069080"/>
            <a:ext cx="2743200" cy="73152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737360"/>
            <a:ext cx="10911535" cy="2194560"/>
          </a:xfrm>
          <a:prstGeom prst="rect">
            <a:avLst/>
          </a:prstGeom>
          <a:noFill/>
        </p:spPr>
        <p:txBody>
          <a:bodyPr wrap="square" anchor="b">
            <a:spAutoFit/>
          </a:bodyPr>
          <a:lstStyle/>
          <a:p>
            <a:r>
              <a:rPr sz="4000" b="1">
                <a:solidFill>
                  <a:srgbClr val="FFFFFF"/>
                </a:solidFill>
                <a:latin typeface="Georgia"/>
              </a:rPr>
              <a:t>Nikotin, anabazin, paxikarpin; mikrokristalloskopiya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4343400"/>
            <a:ext cx="1091153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0">
                <a:solidFill>
                  <a:srgbClr val="C9A227"/>
                </a:solidFill>
                <a:latin typeface="Calibri"/>
              </a:rPr>
              <a:t>Sud tibbiyoti · ma’ruza taqdimoti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Mashg‘ulot maqsadi va rejasi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Nikotin, anabazin, paxikarpin; mikrokristalloskopiya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2 / 42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10911535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Mavzu: ekstraktda nikotin, anabazin va paxikarpin alkaloidlarini aniqlash; tamaki chekish toksikomaniyasi; mikrokristalloskopik tahlil.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Maqsad: talabalarni nikotin, anabazin va paxikarpin alkaloidlarining toksikologik ahamiyati hamda tahlil usullari bilan tanishtirish.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Reja: bu alkaloidlarning toksikologik ahamiyati; ularning tahlil usullari.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Yuldashev Z.A., Umarova G.Q., Toksikologik kimyo modulidan o‘quv-uslubiy majmua, betlar: 239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Kutilayotgan natijalar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Nikotin, anabazin, paxikarpin; mikrokristalloskopiya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3 / 42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10911535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Talabalar nikotin, anabazin va paxikarpinni toza va noma’lum eritmada sifat reaksiyalari bilan aniqlash sharoitini o‘zlashtiradi.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Mikrokristallar shaklini ish daftariga chizib oladilar va har bir reaksiyaning sud-kimyoviy ahamiyatini izohlaydilar.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Nikotin, anabazin va paxikarpin uchun xarakterli rangli va kristall reaksiyalarni bir-biridan farqlaydilar.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Yuldashev Z.A., Nurmatova M.I., Toksikologik kimyo modulidan o‘quv-uslubiy majmua, betlar: 248; Yuldashev Z.A., Umarova G.Q., Toksikologik kimyo modulidan o‘quv-uslubiy majmua, betlar: 239, 240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Asbob-uskunalar va jihozlar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Nikotin, anabazin, paxikarpin; mikrokristalloskopiya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4 / 42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10911535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Zarur vositalar: probirkalar, ajratgich voronkalar, reaktivlar, ko‘rgazmali materiallar.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Laboratoriya jihozlari: maxsus laboratoriya vositalari bilan jihozlangan xona.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Mikrokristalloskopiya uchun buyum oynasi, nam kamera, mikroskop va chinni tayoqcha ishlatiladi.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Yuldashev Z.A., Umarova G.Q., Toksikologik kimyo modulidan o‘quv-uslubiy majmua, betlar: 239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Reaktivlar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Nikotin, anabazin, paxikarpin; mikrokristalloskopiya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5 / 42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10911535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Nikotin uchun: Dragendorf reaktivi, 0,1 M HCl, 1% Reyneke tuzi, 4% formaldegid, konsentrlangan HNO3, p-dimetilaminobenzaldegid, konsentrlangan H2SO4.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Anabazin uchun: pikrin kislotasining to‘yingan eritmasi, pergidrol, konsentrlangan H2SO4, vanilin kristali.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Paxikarpin uchun: Bushard reaktivi, kobalt rodanidi, pikrin kislotasi, brom bug‘i va ammiak bug‘i.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Yuldashev Z.A., Umarova G.Q., Toksikologik kimyo modulidan o‘quv-uslubiy majmua, betlar: 239, 240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Dars xaritasi: piridin va piperidin alkaloidlari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Nikotin, anabazin, paxikarpin; mikrokristalloskopiya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6 / 42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45720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Reja: nikotin, anabazin va paxikarpin alkaloidlarining toksikologik ahamiyati va tahlil usullari.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Asosiy usul — mikrokristalloskopik tahlil: Dragendorf, Reyneke tuzi, pikrin kislotasi va boshqa reaktivlar bilan.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Suyuq alkaloidlarga anabazin, nikotin, paxikarpin, koniin va arekolin kiradi.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40680" y="2788920"/>
            <a:ext cx="2011680" cy="1280160"/>
          </a:xfrm>
          <a:prstGeom prst="round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ctr">
              <a:spcAft>
                <a:spcPts val="200"/>
              </a:spcAft>
            </a:pPr>
            <a:r>
              <a:rPr sz="1800" b="1">
                <a:solidFill>
                  <a:srgbClr val="FFFFFF"/>
                </a:solidFill>
                <a:latin typeface="Calibri"/>
              </a:rPr>
              <a:t>Suyuq alkaloidlar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7452360" y="3429000"/>
            <a:ext cx="160020" cy="0"/>
          </a:xfrm>
          <a:prstGeom prst="line">
            <a:avLst/>
          </a:prstGeom>
          <a:ln w="25400">
            <a:solidFill>
              <a:srgbClr val="C9A2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7612380" y="1892808"/>
            <a:ext cx="0" cy="3072384"/>
          </a:xfrm>
          <a:prstGeom prst="line">
            <a:avLst/>
          </a:prstGeom>
          <a:ln w="25400">
            <a:solidFill>
              <a:srgbClr val="C9A2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7612380" y="1892808"/>
            <a:ext cx="160020" cy="0"/>
          </a:xfrm>
          <a:prstGeom prst="line">
            <a:avLst/>
          </a:prstGeom>
          <a:ln w="25400">
            <a:solidFill>
              <a:srgbClr val="C9A2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7772400" y="1417320"/>
            <a:ext cx="3779215" cy="95097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C9A22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772400" y="1417320"/>
            <a:ext cx="3779215" cy="950976"/>
          </a:xfrm>
          <a:prstGeom prst="rect">
            <a:avLst/>
          </a:prstGeom>
          <a:noFill/>
        </p:spPr>
        <p:txBody>
          <a:bodyPr wrap="square" anchor="ctr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0B1F3A"/>
                </a:solidFill>
                <a:latin typeface="Calibri"/>
              </a:rPr>
              <a:t>Nikotin</a:t>
            </a:r>
          </a:p>
          <a:p>
            <a:pPr algn="l">
              <a:spcAft>
                <a:spcPts val="0"/>
              </a:spcAft>
            </a:pPr>
            <a:r>
              <a:rPr sz="1200" b="0">
                <a:solidFill>
                  <a:srgbClr val="1F2937"/>
                </a:solidFill>
                <a:latin typeface="Calibri"/>
              </a:rPr>
              <a:t>Dragendorf: «X»/«K»  ·  Reyneke: pushti prizma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7612380" y="2916936"/>
            <a:ext cx="160020" cy="0"/>
          </a:xfrm>
          <a:prstGeom prst="line">
            <a:avLst/>
          </a:prstGeom>
          <a:ln w="25400">
            <a:solidFill>
              <a:srgbClr val="C9A2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7772400" y="2441448"/>
            <a:ext cx="3779215" cy="95097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C9A22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772400" y="2441448"/>
            <a:ext cx="3779215" cy="950976"/>
          </a:xfrm>
          <a:prstGeom prst="rect">
            <a:avLst/>
          </a:prstGeom>
          <a:noFill/>
        </p:spPr>
        <p:txBody>
          <a:bodyPr wrap="square" anchor="ctr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0B1F3A"/>
                </a:solidFill>
                <a:latin typeface="Calibri"/>
              </a:rPr>
              <a:t>Anabazin</a:t>
            </a:r>
          </a:p>
          <a:p>
            <a:pPr algn="l">
              <a:spcAft>
                <a:spcPts val="0"/>
              </a:spcAft>
            </a:pPr>
            <a:r>
              <a:rPr sz="1200" b="0">
                <a:solidFill>
                  <a:srgbClr val="1F2937"/>
                </a:solidFill>
                <a:latin typeface="Calibri"/>
              </a:rPr>
              <a:t>Dragendorf: romb  ·  Pergidrol, vanilin: qizil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7612380" y="3941064"/>
            <a:ext cx="160020" cy="0"/>
          </a:xfrm>
          <a:prstGeom prst="line">
            <a:avLst/>
          </a:prstGeom>
          <a:ln w="25400">
            <a:solidFill>
              <a:srgbClr val="C9A2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ounded Rectangle 18"/>
          <p:cNvSpPr/>
          <p:nvPr/>
        </p:nvSpPr>
        <p:spPr>
          <a:xfrm>
            <a:off x="7772400" y="3465576"/>
            <a:ext cx="3779215" cy="95097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C9A22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772400" y="3465576"/>
            <a:ext cx="3779215" cy="950976"/>
          </a:xfrm>
          <a:prstGeom prst="rect">
            <a:avLst/>
          </a:prstGeom>
          <a:noFill/>
        </p:spPr>
        <p:txBody>
          <a:bodyPr wrap="square" anchor="ctr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0B1F3A"/>
                </a:solidFill>
                <a:latin typeface="Calibri"/>
              </a:rPr>
              <a:t>Paxikarpin</a:t>
            </a:r>
          </a:p>
          <a:p>
            <a:pPr algn="l">
              <a:spcAft>
                <a:spcPts val="0"/>
              </a:spcAft>
            </a:pPr>
            <a:r>
              <a:rPr sz="1200" b="0">
                <a:solidFill>
                  <a:srgbClr val="1F2937"/>
                </a:solidFill>
                <a:latin typeface="Calibri"/>
              </a:rPr>
              <a:t>Yod ioni; Bushard  ·  Kobalt rodanidi, pikrin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7612380" y="4965192"/>
            <a:ext cx="160020" cy="0"/>
          </a:xfrm>
          <a:prstGeom prst="line">
            <a:avLst/>
          </a:prstGeom>
          <a:ln w="25400">
            <a:solidFill>
              <a:srgbClr val="C9A2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Rounded Rectangle 21"/>
          <p:cNvSpPr/>
          <p:nvPr/>
        </p:nvSpPr>
        <p:spPr>
          <a:xfrm>
            <a:off x="7772400" y="4489704"/>
            <a:ext cx="3779215" cy="95097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C9A22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772400" y="4489704"/>
            <a:ext cx="3779215" cy="950976"/>
          </a:xfrm>
          <a:prstGeom prst="rect">
            <a:avLst/>
          </a:prstGeom>
          <a:noFill/>
        </p:spPr>
        <p:txBody>
          <a:bodyPr wrap="square" anchor="ctr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0B1F3A"/>
                </a:solidFill>
                <a:latin typeface="Calibri"/>
              </a:rPr>
              <a:t>Koniin, arekolin</a:t>
            </a:r>
          </a:p>
          <a:p>
            <a:pPr algn="l">
              <a:spcAft>
                <a:spcPts val="0"/>
              </a:spcAft>
            </a:pPr>
            <a:r>
              <a:rPr sz="1200" b="0">
                <a:solidFill>
                  <a:srgbClr val="1F2937"/>
                </a:solidFill>
                <a:latin typeface="Calibri"/>
              </a:rPr>
              <a:t>Qisqa ma’lumot  ·  Dragendorf kristallari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440680" y="5486400"/>
            <a:ext cx="611093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6B7280"/>
                </a:solidFill>
                <a:latin typeface="Calibri"/>
              </a:rPr>
              <a:t>Piridin va piperidin alkaloidlari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Yuldashev Z.A., Umarova G.Q., Toksikologik kimyo modulidan o‘quv-uslubiy majmua, betlar: 239, 96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Mikrokristalloskopiya: nam kamerada kutish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Nikotin, anabazin, paxikarpin; mikrokristalloskopiya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7 / 42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539496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Nikotin va anabazin (Dragendorf, Reyneke, pikrin) uchun nam kamerada 15-20 daqiqa saqlanadi.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Paxikarpinda Bushard reaktivi bilan 20-25 daqiqa, kobalt rodanidi bilan 15-20 daqiqa, pikrin kislotasi bilan 10-15 daqiqa.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Mikrokristallar shakli ish daftariga chiziladi va reaksiyaning sud-kimyoviy ahamiyati izohlanadi.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6263640" y="1463040"/>
          <a:ext cx="5287973" cy="307238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58972"/>
                <a:gridCol w="1970029"/>
                <a:gridCol w="1658972"/>
              </a:tblGrid>
              <a:tr h="512064"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FFFFFF"/>
                          </a:solidFill>
                        </a:rPr>
                        <a:t>Alkaloid</a:t>
                      </a:r>
                    </a:p>
                  </a:txBody>
                  <a:tcPr marL="73152" marR="73152" marT="36576" marB="36576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FFFFFF"/>
                          </a:solidFill>
                        </a:rPr>
                        <a:t>Reaktiv</a:t>
                      </a:r>
                    </a:p>
                  </a:txBody>
                  <a:tcPr marL="73152" marR="73152" marT="36576" marB="36576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FFFFFF"/>
                          </a:solidFill>
                        </a:rPr>
                        <a:t>Kutish</a:t>
                      </a:r>
                    </a:p>
                  </a:txBody>
                  <a:tcPr marL="73152" marR="73152" marT="36576" marB="36576">
                    <a:solidFill>
                      <a:srgbClr val="0B1F3A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</a:rPr>
                        <a:t>Nikotin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</a:rPr>
                        <a:t>Dragendorf, Reyneke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</a:rPr>
                        <a:t>15-20 daqiqa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</a:rPr>
                        <a:t>Anabazin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</a:rPr>
                        <a:t>Pikrin kislota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</a:rPr>
                        <a:t>15-20 daqiqa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</a:rPr>
                        <a:t>Paxikarpin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</a:rPr>
                        <a:t>Bushard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</a:rPr>
                        <a:t>20-25 daqiqa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</a:rPr>
                        <a:t>Paxikarpin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</a:rPr>
                        <a:t>Kobalt rodanidi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</a:rPr>
                        <a:t>15-20 daqiqa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</a:rPr>
                        <a:t>Paxikarpin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</a:rPr>
                        <a:t>Pikrin kislota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</a:rPr>
                        <a:t>10-15 daqiqa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6263640" y="5349240"/>
            <a:ext cx="528797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Nam kamerada kutish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Yuldashev Z.A., Umarova G.Q., Toksikologik kimyo modulidan o‘quv-uslubiy majmua, betlar: 239, 240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Xavfsizlik va tayyorgarlik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Nikotin, anabazin, paxikarpin; mikrokristalloskopiya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8 / 42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10911535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Talaba laboratoriya ishi uchun o‘zi bilan rezina qo‘lqop, salfetka va yuzga tutish uchun niqob keltiradi.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Ekspertiza ventilyatsiya va so‘rish shkafi bor, ish tugagach berkitiladigan va muhrlanadigan xonalarda o‘tkaziladi.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Infeksiyali (sil, gepatit, OITS) shaxslardan ob’ektlar maxsus konteynerda keladi va hujjatlarda belgilanadi.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Yuldashev Z.A., Umarova G.Q., Toksikologik kimyo modulidan o‘quv-uslubiy majmua, betlar: 166; Malaka materiali №117 (O‘zR SSV, loyiha matni)., Sud-kimyo ekspertiza va tekshiruvlarini o‘tkazish qoidalari, betlar: 6-band, 7-band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Nikotin: manbasi va xossalari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Nikotin, anabazin, paxikarpin; mikrokristalloskopiya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9 / 42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45720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Tamaki o‘simligi 0,6% dan 8% gacha nikotin va unga o‘xshash alkaloidlar (nornikotin, nikotirin, metilanabazin, anabazin) saqlaydi.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Toza nikotin asos holida rangsiz, hidsiz moysimon suyuqlik; qaynash harorati 246,1 °C; qutblangan nurni chapga buradi.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60 °C dan past haroratdagi suvda cheksiz aralashadi; havoda tez oksidlanib, asta-sekin qorayadi.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Suvli eritmasi ishqoriy, kislotalar bilan kristall tuzlar hosil qiladi.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40680" y="1417320"/>
            <a:ext cx="2973171" cy="1243584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E8EE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440680" y="1508760"/>
            <a:ext cx="64008" cy="106070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550408" y="1417320"/>
            <a:ext cx="2863443" cy="1243584"/>
          </a:xfrm>
          <a:prstGeom prst="rect">
            <a:avLst/>
          </a:prstGeom>
          <a:noFill/>
        </p:spPr>
        <p:txBody>
          <a:bodyPr wrap="square" anchor="ctr" tIns="36576" bIns="36576">
            <a:spAutoFit/>
          </a:bodyPr>
          <a:lstStyle/>
          <a:p>
            <a:pPr algn="l">
              <a:spcAft>
                <a:spcPts val="100"/>
              </a:spcAft>
            </a:pPr>
            <a:r>
              <a:rPr sz="1300" b="0">
                <a:solidFill>
                  <a:srgbClr val="6B7280"/>
                </a:solidFill>
                <a:latin typeface="Calibri"/>
              </a:rPr>
              <a:t>Tamakida nikotin</a:t>
            </a:r>
          </a:p>
          <a:p>
            <a:pPr algn="l">
              <a:spcAft>
                <a:spcPts val="100"/>
              </a:spcAft>
            </a:pPr>
            <a:r>
              <a:rPr sz="3000" b="1">
                <a:solidFill>
                  <a:srgbClr val="0B1F3A"/>
                </a:solidFill>
                <a:latin typeface="Calibri"/>
              </a:rPr>
              <a:t>0,6-8</a:t>
            </a:r>
            <a:r>
              <a:rPr sz="1500" b="0">
                <a:solidFill>
                  <a:srgbClr val="6B7280"/>
                </a:solidFill>
                <a:latin typeface="Calibri"/>
              </a:rPr>
              <a:t>  %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578443" y="1417320"/>
            <a:ext cx="2973171" cy="1243584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E8EE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8578443" y="1508760"/>
            <a:ext cx="64008" cy="106070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688171" y="1417320"/>
            <a:ext cx="2863443" cy="1243584"/>
          </a:xfrm>
          <a:prstGeom prst="rect">
            <a:avLst/>
          </a:prstGeom>
          <a:noFill/>
        </p:spPr>
        <p:txBody>
          <a:bodyPr wrap="square" anchor="ctr" tIns="36576" bIns="36576">
            <a:spAutoFit/>
          </a:bodyPr>
          <a:lstStyle/>
          <a:p>
            <a:pPr algn="l">
              <a:spcAft>
                <a:spcPts val="100"/>
              </a:spcAft>
            </a:pPr>
            <a:r>
              <a:rPr sz="1300" b="0">
                <a:solidFill>
                  <a:srgbClr val="6B7280"/>
                </a:solidFill>
                <a:latin typeface="Calibri"/>
              </a:rPr>
              <a:t>Qaynash harorati</a:t>
            </a:r>
          </a:p>
          <a:p>
            <a:pPr algn="l">
              <a:spcAft>
                <a:spcPts val="100"/>
              </a:spcAft>
            </a:pPr>
            <a:r>
              <a:rPr sz="3000" b="1">
                <a:solidFill>
                  <a:srgbClr val="0B1F3A"/>
                </a:solidFill>
                <a:latin typeface="Calibri"/>
              </a:rPr>
              <a:t>246,1</a:t>
            </a:r>
            <a:r>
              <a:rPr sz="1500" b="0">
                <a:solidFill>
                  <a:srgbClr val="6B7280"/>
                </a:solidFill>
                <a:latin typeface="Calibri"/>
              </a:rPr>
              <a:t>  °C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440680" y="2807208"/>
            <a:ext cx="2973171" cy="1243584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E8EE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440680" y="2898648"/>
            <a:ext cx="64008" cy="106070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550408" y="2807208"/>
            <a:ext cx="2863443" cy="1243584"/>
          </a:xfrm>
          <a:prstGeom prst="rect">
            <a:avLst/>
          </a:prstGeom>
          <a:noFill/>
        </p:spPr>
        <p:txBody>
          <a:bodyPr wrap="square" anchor="ctr" tIns="36576" bIns="36576">
            <a:spAutoFit/>
          </a:bodyPr>
          <a:lstStyle/>
          <a:p>
            <a:pPr algn="l">
              <a:spcAft>
                <a:spcPts val="100"/>
              </a:spcAft>
            </a:pPr>
            <a:r>
              <a:rPr sz="1300" b="0">
                <a:solidFill>
                  <a:srgbClr val="6B7280"/>
                </a:solidFill>
                <a:latin typeface="Calibri"/>
              </a:rPr>
              <a:t>Toza holda ajratilgan</a:t>
            </a:r>
          </a:p>
          <a:p>
            <a:pPr algn="l">
              <a:spcAft>
                <a:spcPts val="100"/>
              </a:spcAft>
            </a:pPr>
            <a:r>
              <a:rPr sz="3000" b="1">
                <a:solidFill>
                  <a:srgbClr val="0B1F3A"/>
                </a:solidFill>
                <a:latin typeface="Calibri"/>
              </a:rPr>
              <a:t>1828</a:t>
            </a:r>
            <a:r>
              <a:rPr sz="1500" b="0">
                <a:solidFill>
                  <a:srgbClr val="6B7280"/>
                </a:solidFill>
                <a:latin typeface="Calibri"/>
              </a:rPr>
              <a:t>  yil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578443" y="2807208"/>
            <a:ext cx="2973171" cy="1243584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E8EE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578443" y="2898648"/>
            <a:ext cx="64008" cy="106070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688171" y="2807208"/>
            <a:ext cx="2863443" cy="1243584"/>
          </a:xfrm>
          <a:prstGeom prst="rect">
            <a:avLst/>
          </a:prstGeom>
          <a:noFill/>
        </p:spPr>
        <p:txBody>
          <a:bodyPr wrap="square" anchor="ctr" tIns="36576" bIns="36576">
            <a:spAutoFit/>
          </a:bodyPr>
          <a:lstStyle/>
          <a:p>
            <a:pPr algn="l">
              <a:spcAft>
                <a:spcPts val="100"/>
              </a:spcAft>
            </a:pPr>
            <a:r>
              <a:rPr sz="1300" b="0">
                <a:solidFill>
                  <a:srgbClr val="6B7280"/>
                </a:solidFill>
                <a:latin typeface="Calibri"/>
              </a:rPr>
              <a:t>Sintez qilingan</a:t>
            </a:r>
          </a:p>
          <a:p>
            <a:pPr algn="l">
              <a:spcAft>
                <a:spcPts val="100"/>
              </a:spcAft>
            </a:pPr>
            <a:r>
              <a:rPr sz="3000" b="1">
                <a:solidFill>
                  <a:srgbClr val="0B1F3A"/>
                </a:solidFill>
                <a:latin typeface="Calibri"/>
              </a:rPr>
              <a:t>1935</a:t>
            </a:r>
            <a:r>
              <a:rPr sz="1500" b="0">
                <a:solidFill>
                  <a:srgbClr val="6B7280"/>
                </a:solidFill>
                <a:latin typeface="Calibri"/>
              </a:rPr>
              <a:t>  yil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440680" y="4197096"/>
            <a:ext cx="2973171" cy="1243584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E8EE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5440680" y="4288536"/>
            <a:ext cx="64008" cy="106070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550408" y="4197096"/>
            <a:ext cx="2863443" cy="1243584"/>
          </a:xfrm>
          <a:prstGeom prst="rect">
            <a:avLst/>
          </a:prstGeom>
          <a:noFill/>
        </p:spPr>
        <p:txBody>
          <a:bodyPr wrap="square" anchor="ctr" tIns="36576" bIns="36576">
            <a:spAutoFit/>
          </a:bodyPr>
          <a:lstStyle/>
          <a:p>
            <a:pPr algn="l">
              <a:spcAft>
                <a:spcPts val="100"/>
              </a:spcAft>
            </a:pPr>
            <a:r>
              <a:rPr sz="1300" b="0">
                <a:solidFill>
                  <a:srgbClr val="6B7280"/>
                </a:solidFill>
                <a:latin typeface="Calibri"/>
              </a:rPr>
              <a:t>Suvda (60 °C dan past)</a:t>
            </a:r>
          </a:p>
          <a:p>
            <a:pPr algn="l">
              <a:spcAft>
                <a:spcPts val="100"/>
              </a:spcAft>
            </a:pPr>
            <a:r>
              <a:rPr sz="3000" b="1">
                <a:solidFill>
                  <a:srgbClr val="0B1F3A"/>
                </a:solidFill>
                <a:latin typeface="Calibri"/>
              </a:rPr>
              <a:t>cheksiz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440680" y="5486400"/>
            <a:ext cx="611093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6B7280"/>
                </a:solidFill>
                <a:latin typeface="Calibri"/>
              </a:rPr>
              <a:t>Nikotin: asosiy ko‘rsatkichlar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Yuldashev Z.A., Umarova G.Q., Toksikologik kimyo modulidan o‘quv-uslubiy majmua, betlar: 109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Nikotinning toksikologik ahamiyati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Nikotin, anabazin, paxikarpin; mikrokristalloskopiya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10 / 42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45720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Nikotin xalq xo‘jaligida kontaktli insektitsid sifatida qo‘llanadi (nikodust — 5 g nikotin sulfat va 95 g ohak); tibbiyotda ishlatilmaydi.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O‘rta Osiyoda nosvoy keng tarqalgan: tarkibida nikotinli tamaki, ta’sirni oshiruvchi so‘ndirilgan ohak, saqich va moy moddalari bor.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Nikotin nerv hujayralariga zaharli: avval qo‘zg‘atadi, so‘ng falajlaydi; halokatli doza 0,01-0,08 g.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40680" y="2788920"/>
            <a:ext cx="2011680" cy="1280160"/>
          </a:xfrm>
          <a:prstGeom prst="round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ctr">
              <a:spcAft>
                <a:spcPts val="200"/>
              </a:spcAft>
            </a:pPr>
            <a:r>
              <a:rPr sz="1800" b="1">
                <a:solidFill>
                  <a:srgbClr val="FFFFFF"/>
                </a:solidFill>
                <a:latin typeface="Calibri"/>
              </a:rPr>
              <a:t>Nikotin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7452360" y="3429000"/>
            <a:ext cx="160020" cy="0"/>
          </a:xfrm>
          <a:prstGeom prst="line">
            <a:avLst/>
          </a:prstGeom>
          <a:ln w="25400">
            <a:solidFill>
              <a:srgbClr val="C9A2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7612380" y="1892808"/>
            <a:ext cx="0" cy="3072384"/>
          </a:xfrm>
          <a:prstGeom prst="line">
            <a:avLst/>
          </a:prstGeom>
          <a:ln w="25400">
            <a:solidFill>
              <a:srgbClr val="C9A2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7612380" y="1892808"/>
            <a:ext cx="160020" cy="0"/>
          </a:xfrm>
          <a:prstGeom prst="line">
            <a:avLst/>
          </a:prstGeom>
          <a:ln w="25400">
            <a:solidFill>
              <a:srgbClr val="C9A2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7772400" y="1417320"/>
            <a:ext cx="3779215" cy="95097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C9A22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772400" y="1417320"/>
            <a:ext cx="3779215" cy="950976"/>
          </a:xfrm>
          <a:prstGeom prst="rect">
            <a:avLst/>
          </a:prstGeom>
          <a:noFill/>
        </p:spPr>
        <p:txBody>
          <a:bodyPr wrap="square" anchor="ctr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0B1F3A"/>
                </a:solidFill>
                <a:latin typeface="Calibri"/>
              </a:rPr>
              <a:t>Tamaki, chilim</a:t>
            </a:r>
          </a:p>
          <a:p>
            <a:pPr algn="l">
              <a:spcAft>
                <a:spcPts val="0"/>
              </a:spcAft>
            </a:pPr>
            <a:r>
              <a:rPr sz="1200" b="0">
                <a:solidFill>
                  <a:srgbClr val="1F2937"/>
                </a:solidFill>
                <a:latin typeface="Calibri"/>
              </a:rPr>
              <a:t>Chekilganda o‘pka orqali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7612380" y="2916936"/>
            <a:ext cx="160020" cy="0"/>
          </a:xfrm>
          <a:prstGeom prst="line">
            <a:avLst/>
          </a:prstGeom>
          <a:ln w="25400">
            <a:solidFill>
              <a:srgbClr val="C9A2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7772400" y="2441448"/>
            <a:ext cx="3779215" cy="95097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C9A22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772400" y="2441448"/>
            <a:ext cx="3779215" cy="950976"/>
          </a:xfrm>
          <a:prstGeom prst="rect">
            <a:avLst/>
          </a:prstGeom>
          <a:noFill/>
        </p:spPr>
        <p:txBody>
          <a:bodyPr wrap="square" anchor="ctr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0B1F3A"/>
                </a:solidFill>
                <a:latin typeface="Calibri"/>
              </a:rPr>
              <a:t>Nosvoy</a:t>
            </a:r>
          </a:p>
          <a:p>
            <a:pPr algn="l">
              <a:spcAft>
                <a:spcPts val="0"/>
              </a:spcAft>
            </a:pPr>
            <a:r>
              <a:rPr sz="1200" b="0">
                <a:solidFill>
                  <a:srgbClr val="1F2937"/>
                </a:solidFill>
                <a:latin typeface="Calibri"/>
              </a:rPr>
              <a:t>Tamaki + so‘ndirilgan ohak  ·  Saqich va moy moddalari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7612380" y="3941064"/>
            <a:ext cx="160020" cy="0"/>
          </a:xfrm>
          <a:prstGeom prst="line">
            <a:avLst/>
          </a:prstGeom>
          <a:ln w="25400">
            <a:solidFill>
              <a:srgbClr val="C9A2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ounded Rectangle 18"/>
          <p:cNvSpPr/>
          <p:nvPr/>
        </p:nvSpPr>
        <p:spPr>
          <a:xfrm>
            <a:off x="7772400" y="3465576"/>
            <a:ext cx="3779215" cy="95097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C9A22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772400" y="3465576"/>
            <a:ext cx="3779215" cy="950976"/>
          </a:xfrm>
          <a:prstGeom prst="rect">
            <a:avLst/>
          </a:prstGeom>
          <a:noFill/>
        </p:spPr>
        <p:txBody>
          <a:bodyPr wrap="square" anchor="ctr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0B1F3A"/>
                </a:solidFill>
                <a:latin typeface="Calibri"/>
              </a:rPr>
              <a:t>Insektitsid</a:t>
            </a:r>
          </a:p>
          <a:p>
            <a:pPr algn="l">
              <a:spcAft>
                <a:spcPts val="0"/>
              </a:spcAft>
            </a:pPr>
            <a:r>
              <a:rPr sz="1200" b="0">
                <a:solidFill>
                  <a:srgbClr val="1F2937"/>
                </a:solidFill>
                <a:latin typeface="Calibri"/>
              </a:rPr>
              <a:t>Nikodust: 5 g nikotin sulfat  ·  95 g ohak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7612380" y="4965192"/>
            <a:ext cx="160020" cy="0"/>
          </a:xfrm>
          <a:prstGeom prst="line">
            <a:avLst/>
          </a:prstGeom>
          <a:ln w="25400">
            <a:solidFill>
              <a:srgbClr val="C9A2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Rounded Rectangle 21"/>
          <p:cNvSpPr/>
          <p:nvPr/>
        </p:nvSpPr>
        <p:spPr>
          <a:xfrm>
            <a:off x="7772400" y="4489704"/>
            <a:ext cx="3779215" cy="95097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C9A22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772400" y="4489704"/>
            <a:ext cx="3779215" cy="950976"/>
          </a:xfrm>
          <a:prstGeom prst="rect">
            <a:avLst/>
          </a:prstGeom>
          <a:noFill/>
        </p:spPr>
        <p:txBody>
          <a:bodyPr wrap="square" anchor="ctr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0B1F3A"/>
                </a:solidFill>
                <a:latin typeface="Calibri"/>
              </a:rPr>
              <a:t>Veterinariya</a:t>
            </a:r>
          </a:p>
          <a:p>
            <a:pPr algn="l">
              <a:spcAft>
                <a:spcPts val="0"/>
              </a:spcAft>
            </a:pPr>
            <a:r>
              <a:rPr sz="1200" b="0">
                <a:solidFill>
                  <a:srgbClr val="1F2937"/>
                </a:solidFill>
                <a:latin typeface="Calibri"/>
              </a:rPr>
              <a:t>Qo‘tir kasalligi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440680" y="5486400"/>
            <a:ext cx="611093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6B7280"/>
                </a:solidFill>
                <a:latin typeface="Calibri"/>
              </a:rPr>
              <a:t>Nikotin manbalari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Yuldashev Z.A., Umarova G.Q., Toksikologik kimyo modulidan o‘quv-uslubiy majmua, betlar: 109, 109-110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Nikotin: zaharlanish belgilari va so‘rilish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Nikotin, anabazin, paxikarpin; mikrokristalloskopiya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11 / 42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45720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Zaharlanishda kuchli bosh og‘rig‘i, bosh aylanishi, darmonsizlik, ich ketish, qusish, yurak urishi tezlashishi va nafas qiyinlashishi kuzatiladi.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Chekilganda tutun orqali 90-98% gacha nikotin organizmga tushadi; sog‘lom teri orqali ham tez shimiladi.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Nikotin jigarda oksidlanadi, demetillanadi; metabolitlari peshob orqali chiqariladi.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Murdani patologoanatomik tekshirish nikotinga xarakterli belgi ko‘rsatmaydi.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40680" y="1417320"/>
            <a:ext cx="1927250" cy="15544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E8EE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440680" y="1508760"/>
            <a:ext cx="64008" cy="137160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550408" y="1417320"/>
            <a:ext cx="1817522" cy="1554480"/>
          </a:xfrm>
          <a:prstGeom prst="rect">
            <a:avLst/>
          </a:prstGeom>
          <a:noFill/>
        </p:spPr>
        <p:txBody>
          <a:bodyPr wrap="square" anchor="ctr" tIns="36576" bIns="36576">
            <a:spAutoFit/>
          </a:bodyPr>
          <a:lstStyle/>
          <a:p>
            <a:pPr algn="l">
              <a:spcAft>
                <a:spcPts val="100"/>
              </a:spcAft>
            </a:pPr>
            <a:r>
              <a:rPr sz="1300" b="0">
                <a:solidFill>
                  <a:srgbClr val="6B7280"/>
                </a:solidFill>
                <a:latin typeface="Calibri"/>
              </a:rPr>
              <a:t>Halokatli doza</a:t>
            </a:r>
          </a:p>
          <a:p>
            <a:pPr algn="l">
              <a:spcAft>
                <a:spcPts val="100"/>
              </a:spcAft>
            </a:pPr>
            <a:r>
              <a:rPr sz="2300" b="1">
                <a:solidFill>
                  <a:srgbClr val="0B1F3A"/>
                </a:solidFill>
                <a:latin typeface="Calibri"/>
              </a:rPr>
              <a:t>0,01-0,08</a:t>
            </a:r>
            <a:r>
              <a:rPr sz="1100" b="0">
                <a:solidFill>
                  <a:srgbClr val="6B7280"/>
                </a:solidFill>
                <a:latin typeface="Calibri"/>
              </a:rPr>
              <a:t>  g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532522" y="1417320"/>
            <a:ext cx="1927250" cy="15544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E8EE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532522" y="1508760"/>
            <a:ext cx="64008" cy="137160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642250" y="1417320"/>
            <a:ext cx="1817522" cy="1554480"/>
          </a:xfrm>
          <a:prstGeom prst="rect">
            <a:avLst/>
          </a:prstGeom>
          <a:noFill/>
        </p:spPr>
        <p:txBody>
          <a:bodyPr wrap="square" anchor="ctr" tIns="36576" bIns="36576">
            <a:spAutoFit/>
          </a:bodyPr>
          <a:lstStyle/>
          <a:p>
            <a:pPr algn="l">
              <a:spcAft>
                <a:spcPts val="100"/>
              </a:spcAft>
            </a:pPr>
            <a:r>
              <a:rPr sz="1300" b="0">
                <a:solidFill>
                  <a:srgbClr val="6B7280"/>
                </a:solidFill>
                <a:latin typeface="Calibri"/>
              </a:rPr>
              <a:t>1-2 papiros (chekmagan)</a:t>
            </a:r>
          </a:p>
          <a:p>
            <a:pPr algn="l">
              <a:spcAft>
                <a:spcPts val="100"/>
              </a:spcAft>
            </a:pPr>
            <a:r>
              <a:rPr sz="3000" b="1">
                <a:solidFill>
                  <a:srgbClr val="0B1F3A"/>
                </a:solidFill>
                <a:latin typeface="Calibri"/>
              </a:rPr>
              <a:t>1-4</a:t>
            </a:r>
            <a:r>
              <a:rPr sz="1500" b="0">
                <a:solidFill>
                  <a:srgbClr val="6B7280"/>
                </a:solidFill>
                <a:latin typeface="Calibri"/>
              </a:rPr>
              <a:t>  mg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624364" y="1417320"/>
            <a:ext cx="1927250" cy="15544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E8EE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9624364" y="1508760"/>
            <a:ext cx="64008" cy="137160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734092" y="1417320"/>
            <a:ext cx="1817522" cy="1554480"/>
          </a:xfrm>
          <a:prstGeom prst="rect">
            <a:avLst/>
          </a:prstGeom>
          <a:noFill/>
        </p:spPr>
        <p:txBody>
          <a:bodyPr wrap="square" anchor="ctr" tIns="36576" bIns="36576">
            <a:spAutoFit/>
          </a:bodyPr>
          <a:lstStyle/>
          <a:p>
            <a:pPr algn="l">
              <a:spcAft>
                <a:spcPts val="100"/>
              </a:spcAft>
            </a:pPr>
            <a:r>
              <a:rPr sz="1300" b="0">
                <a:solidFill>
                  <a:srgbClr val="6B7280"/>
                </a:solidFill>
                <a:latin typeface="Calibri"/>
              </a:rPr>
              <a:t>Tutun orqali kirish</a:t>
            </a:r>
          </a:p>
          <a:p>
            <a:pPr algn="l">
              <a:spcAft>
                <a:spcPts val="100"/>
              </a:spcAft>
            </a:pPr>
            <a:r>
              <a:rPr sz="3000" b="1">
                <a:solidFill>
                  <a:srgbClr val="0B1F3A"/>
                </a:solidFill>
                <a:latin typeface="Calibri"/>
              </a:rPr>
              <a:t>90-98</a:t>
            </a:r>
            <a:r>
              <a:rPr sz="1500" b="0">
                <a:solidFill>
                  <a:srgbClr val="6B7280"/>
                </a:solidFill>
                <a:latin typeface="Calibri"/>
              </a:rPr>
              <a:t>  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40680" y="5486400"/>
            <a:ext cx="611093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6B7280"/>
                </a:solidFill>
                <a:latin typeface="Calibri"/>
              </a:rPr>
              <a:t>Nikotin: dozalar va so‘rilish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Yuldashev Z.A., Umarova G.Q., Toksikologik kimyo modulidan o‘quv-uslubiy majmua, betlar: 110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Piridin va piperidin alkaloidlarini ajratib olish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Nikotin, anabazin, paxikarpin; mikrokristalloskopiya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12 / 42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539496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Nikotin ob’ektdan nordonlashtirilgan spirt yoki suv usullari, shuningdek suv bug‘i bilan haydash usulida ajratiladi.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Organik erituvchilar bilan qisman kislotali, asosan ishqoriy muhitda ekstraksiyalanadi.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Anabazin nordonlashtirilgan suv usulida va ishqoriy muhitda suv bug‘i yordamida haydab ajratiladi.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Paxikarpin nordonlashtirilgan spirt va suv usullaridan tashqari elektrodializ usulida ham ajratiladi.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6263640" y="1463040"/>
          <a:ext cx="5287974" cy="307238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27069"/>
                <a:gridCol w="3660905"/>
              </a:tblGrid>
              <a:tr h="768096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</a:rPr>
                        <a:t>Alkaloid</a:t>
                      </a:r>
                    </a:p>
                  </a:txBody>
                  <a:tcPr marL="73152" marR="73152" marT="36576" marB="36576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</a:rPr>
                        <a:t>Usul</a:t>
                      </a:r>
                    </a:p>
                  </a:txBody>
                  <a:tcPr marL="73152" marR="73152" marT="36576" marB="36576">
                    <a:solidFill>
                      <a:srgbClr val="0B1F3A"/>
                    </a:solidFill>
                  </a:tcPr>
                </a:tc>
              </a:tr>
              <a:tr h="768096"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Nikotin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Nordon spirt/suv; suv bug‘i bilan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</a:tr>
              <a:tr h="768096"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Anabazin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Nordon suv; ishqoriy muhitda haydash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768096"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Paxikarpin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Nordon spirt, suv; elektrodializ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6263640" y="5349240"/>
            <a:ext cx="528797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Ajratish usullari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Yuldashev Z.A., Umarova G.Q., Toksikologik kimyo modulidan o‘quv-uslubiy majmua, betlar: 110, 111, 112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Nikotin: Dragendorf reaktivi bilan mikrokristallar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Nikotin, anabazin, paxikarpin; mikrokristalloskopiya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13 / 42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539496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Xloroform uchirilgach, qoldiqqa 1 tomchi 0,1 M HCl va 1 tomchi Dragendorf reaktivi tomiziladi.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15-20 daqiqadan so‘ng qizil-qo‘ng‘ir «X» yoki «K» shaklidagi mikrokristallar ko‘rinadi.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63640" y="1463040"/>
            <a:ext cx="5287975" cy="534009"/>
          </a:xfrm>
          <a:prstGeom prst="round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Xloroformli eritma oynada</a:t>
            </a:r>
          </a:p>
        </p:txBody>
      </p:sp>
      <p:sp>
        <p:nvSpPr>
          <p:cNvPr id="10" name="Down Arrow 9"/>
          <p:cNvSpPr/>
          <p:nvPr/>
        </p:nvSpPr>
        <p:spPr>
          <a:xfrm>
            <a:off x="8770467" y="2015337"/>
            <a:ext cx="274320" cy="256032"/>
          </a:xfrm>
          <a:prstGeom prst="downArrow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263640" y="2289657"/>
            <a:ext cx="5287975" cy="534009"/>
          </a:xfrm>
          <a:prstGeom prst="round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Xloroform uchiriladi</a:t>
            </a:r>
          </a:p>
        </p:txBody>
      </p:sp>
      <p:sp>
        <p:nvSpPr>
          <p:cNvPr id="12" name="Down Arrow 11"/>
          <p:cNvSpPr/>
          <p:nvPr/>
        </p:nvSpPr>
        <p:spPr>
          <a:xfrm>
            <a:off x="8770467" y="2841955"/>
            <a:ext cx="274320" cy="256032"/>
          </a:xfrm>
          <a:prstGeom prst="downArrow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263640" y="3116275"/>
            <a:ext cx="5287975" cy="534009"/>
          </a:xfrm>
          <a:prstGeom prst="round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0,1 M HCl + Dragendorf</a:t>
            </a:r>
          </a:p>
        </p:txBody>
      </p:sp>
      <p:sp>
        <p:nvSpPr>
          <p:cNvPr id="14" name="Down Arrow 13"/>
          <p:cNvSpPr/>
          <p:nvPr/>
        </p:nvSpPr>
        <p:spPr>
          <a:xfrm>
            <a:off x="8770467" y="3668572"/>
            <a:ext cx="274320" cy="256032"/>
          </a:xfrm>
          <a:prstGeom prst="downArrow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6263640" y="3942892"/>
            <a:ext cx="5287975" cy="534009"/>
          </a:xfrm>
          <a:prstGeom prst="round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15-20 daqiqa nam kamera</a:t>
            </a:r>
          </a:p>
        </p:txBody>
      </p:sp>
      <p:sp>
        <p:nvSpPr>
          <p:cNvPr id="16" name="Down Arrow 15"/>
          <p:cNvSpPr/>
          <p:nvPr/>
        </p:nvSpPr>
        <p:spPr>
          <a:xfrm>
            <a:off x="8770467" y="4495190"/>
            <a:ext cx="274320" cy="256032"/>
          </a:xfrm>
          <a:prstGeom prst="downArrow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6263640" y="4769510"/>
            <a:ext cx="5287975" cy="534009"/>
          </a:xfrm>
          <a:prstGeom prst="round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«X» yoki «K» kristallar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263640" y="5349240"/>
            <a:ext cx="528797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Nikotin — Dragendorf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Yuldashev Z.A., Nurmatova M.I., Toksikologik kimyo modulidan o‘quv-uslubiy majmua, betlar: 248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Nikotin: Reyneke tuzi bilan reaksiya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Nikotin, anabazin, paxikarpin; mikrokristalloskopiya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14 / 42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539496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Qoldiqqa 1 tomchi 0,1 M HCl va 1 tomchi yangi tayyorlangan 1% Reyneke tuzi eritmasi tomiziladi.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15-20 daqiqa nam kamerada saqlangach, och pushti prizma shaklidagi kristallar ko‘rinadi.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Ma’ruza matni: qizil pushti prizmatik kristallar; aniqlanish chegarasi 1,2 mkg.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63640" y="1463040"/>
            <a:ext cx="5287975" cy="740664"/>
          </a:xfrm>
          <a:prstGeom prst="round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Qoldiq + 0,1 M HCl</a:t>
            </a:r>
          </a:p>
        </p:txBody>
      </p:sp>
      <p:sp>
        <p:nvSpPr>
          <p:cNvPr id="10" name="Down Arrow 9"/>
          <p:cNvSpPr/>
          <p:nvPr/>
        </p:nvSpPr>
        <p:spPr>
          <a:xfrm>
            <a:off x="8770467" y="2221992"/>
            <a:ext cx="274320" cy="256032"/>
          </a:xfrm>
          <a:prstGeom prst="downArrow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263640" y="2496312"/>
            <a:ext cx="5287975" cy="740664"/>
          </a:xfrm>
          <a:prstGeom prst="round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+ 1% Reyneke tuzi (yangi)</a:t>
            </a:r>
          </a:p>
        </p:txBody>
      </p:sp>
      <p:sp>
        <p:nvSpPr>
          <p:cNvPr id="12" name="Down Arrow 11"/>
          <p:cNvSpPr/>
          <p:nvPr/>
        </p:nvSpPr>
        <p:spPr>
          <a:xfrm>
            <a:off x="8770467" y="3255264"/>
            <a:ext cx="274320" cy="256032"/>
          </a:xfrm>
          <a:prstGeom prst="downArrow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263640" y="3529584"/>
            <a:ext cx="5287975" cy="740664"/>
          </a:xfrm>
          <a:prstGeom prst="round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15-20 daqiqa nam kamera</a:t>
            </a:r>
          </a:p>
        </p:txBody>
      </p:sp>
      <p:sp>
        <p:nvSpPr>
          <p:cNvPr id="14" name="Down Arrow 13"/>
          <p:cNvSpPr/>
          <p:nvPr/>
        </p:nvSpPr>
        <p:spPr>
          <a:xfrm>
            <a:off x="8770467" y="4288536"/>
            <a:ext cx="274320" cy="256032"/>
          </a:xfrm>
          <a:prstGeom prst="downArrow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6263640" y="4562856"/>
            <a:ext cx="5287975" cy="740664"/>
          </a:xfrm>
          <a:prstGeom prst="round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Och pushti prizmalar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63640" y="5349240"/>
            <a:ext cx="528797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Nikotin — Reyneke tuzi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Yuldashev Z.A., Nurmatova M.I., Toksikologik kimyo modulidan o‘quv-uslubiy majmua, betlar: 248; Yuldashev Z.A., Umarova G.Q., Toksikologik kimyo modulidan o‘quv-uslubiy majmua, betlar: 239, 110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Nikotin: rangli reaksiyalar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Nikotin, anabazin, paxikarpin; mikrokristalloskopiya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15 / 42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539496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Formaldegid va konts. HNO3 bilan nikotin qizil pushti rang beradi; anabazin bermaydi.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p-Dimetilaminobenzaldegid va konts. H2SO4 bilan qo‘ng‘ir pushti rang hosil bo‘ladi.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6263640" y="1463040"/>
          <a:ext cx="5287975" cy="307238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139643"/>
                <a:gridCol w="2148332"/>
              </a:tblGrid>
              <a:tr h="768096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</a:rPr>
                        <a:t>Reaktiv</a:t>
                      </a:r>
                    </a:p>
                  </a:txBody>
                  <a:tcPr marL="73152" marR="73152" marT="36576" marB="36576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</a:rPr>
                        <a:t>Rang</a:t>
                      </a:r>
                    </a:p>
                  </a:txBody>
                  <a:tcPr marL="73152" marR="73152" marT="36576" marB="36576">
                    <a:solidFill>
                      <a:srgbClr val="0B1F3A"/>
                    </a:solidFill>
                  </a:tcPr>
                </a:tc>
              </a:tr>
              <a:tr h="768096"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4% formaldegid + HNO3 (konts.)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Qizil pushti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</a:tr>
              <a:tr h="768096"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p-DMABA + H2SO4 (konts.)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Qo‘ng‘ir pushti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768096"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KCN + xloramin B + barbitur kislota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Sariq-qizg‘ish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6263640" y="5349240"/>
            <a:ext cx="528797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Rangli reaksiyalar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Yuldashev Z.A., Umarova G.Q., Toksikologik kimyo modulidan o‘quv-uslubiy majmua, betlar: 239-240, 240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Nikotin: UB, farmakologik va YuQX tekshiruv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Nikotin, anabazin, paxikarpin; mikrokristalloskopiya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16 / 42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539496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Nikotinning 0,1 M sulfat kislotadagi eritmasi 260 nm da maksimum nur yutadi.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Nikotin eritmasi baqa orqa terisiga tomizilsa, ma’lum vaqtdan so‘ng o‘ziga xos tirishish holati yuzaga keladi.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YuQX: geksan-aseton (4:1), yodplatinat reaktivi; Rf=0,4, ko‘k dog‘.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6263640" y="1463040"/>
          <a:ext cx="5287975" cy="307238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84350"/>
                <a:gridCol w="2403625"/>
              </a:tblGrid>
              <a:tr h="768096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</a:rPr>
                        <a:t>Usul</a:t>
                      </a:r>
                    </a:p>
                  </a:txBody>
                  <a:tcPr marL="73152" marR="73152" marT="36576" marB="36576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</a:rPr>
                        <a:t>Natija</a:t>
                      </a:r>
                    </a:p>
                  </a:txBody>
                  <a:tcPr marL="73152" marR="73152" marT="36576" marB="36576">
                    <a:solidFill>
                      <a:srgbClr val="0B1F3A"/>
                    </a:solidFill>
                  </a:tcPr>
                </a:tc>
              </a:tr>
              <a:tr h="768096"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UB (0,1 M H2SO4)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Maksimum 260 nm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</a:tr>
              <a:tr h="768096"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Farmakologik (baqa)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O‘ziga xos tirishish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768096"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YuQX (geksan-aseton 4:1)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Rf=0,4, ko‘k dog‘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6263640" y="5349240"/>
            <a:ext cx="528797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Nikotin: usullar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Yuldashev Z.A., Umarova G.Q., Toksikologik kimyo modulidan o‘quv-uslubiy majmua, betlar: 240, 110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Nikotin: reaksiyalar xaritasi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Nikotin, anabazin, paxikarpin; mikrokristalloskopiya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17 / 42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45720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Nikotin alkaloidlarning umumiy cho‘ktiruvchi reaktivlari bilan cho‘kma beradi.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Mikrokristall: Dragendorf bilan «X»/«K» shaklidagi qizil-qo‘ng‘ir, Reyneke tuzi bilan och pushti prizmalar.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Rang: formaldegid + HNO3 (qizil pushti), p-dimetilaminobenzaldegid + H2SO4 (qo‘ng‘ir pushti); UB 260 nm; baqada tirishish.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YuQX: geksan-aseton (4:1), tasdiqlovchi reagent yodplatinat; Rf = 0,4.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40680" y="2788920"/>
            <a:ext cx="2011680" cy="1280160"/>
          </a:xfrm>
          <a:prstGeom prst="round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ctr">
              <a:spcAft>
                <a:spcPts val="200"/>
              </a:spcAft>
            </a:pPr>
            <a:r>
              <a:rPr sz="1800" b="1">
                <a:solidFill>
                  <a:srgbClr val="FFFFFF"/>
                </a:solidFill>
                <a:latin typeface="Calibri"/>
              </a:rPr>
              <a:t>Nikotin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7452360" y="3429000"/>
            <a:ext cx="160020" cy="0"/>
          </a:xfrm>
          <a:prstGeom prst="line">
            <a:avLst/>
          </a:prstGeom>
          <a:ln w="25400">
            <a:solidFill>
              <a:srgbClr val="C9A2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7612380" y="1790395"/>
            <a:ext cx="0" cy="3277209"/>
          </a:xfrm>
          <a:prstGeom prst="line">
            <a:avLst/>
          </a:prstGeom>
          <a:ln w="25400">
            <a:solidFill>
              <a:srgbClr val="C9A2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7612380" y="1790395"/>
            <a:ext cx="160020" cy="0"/>
          </a:xfrm>
          <a:prstGeom prst="line">
            <a:avLst/>
          </a:prstGeom>
          <a:ln w="25400">
            <a:solidFill>
              <a:srgbClr val="C9A2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7772400" y="1417320"/>
            <a:ext cx="3779215" cy="74615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C9A22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772400" y="1417320"/>
            <a:ext cx="3779215" cy="746150"/>
          </a:xfrm>
          <a:prstGeom prst="rect">
            <a:avLst/>
          </a:prstGeom>
          <a:noFill/>
        </p:spPr>
        <p:txBody>
          <a:bodyPr wrap="square" anchor="ctr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0B1F3A"/>
                </a:solidFill>
                <a:latin typeface="Calibri"/>
              </a:rPr>
              <a:t>Cho‘kma</a:t>
            </a:r>
          </a:p>
          <a:p>
            <a:pPr algn="l">
              <a:spcAft>
                <a:spcPts val="0"/>
              </a:spcAft>
            </a:pPr>
            <a:r>
              <a:rPr sz="1200" b="0">
                <a:solidFill>
                  <a:srgbClr val="1F2937"/>
                </a:solidFill>
                <a:latin typeface="Calibri"/>
              </a:rPr>
              <a:t>Umumiy cho‘ktiruvchilar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7612380" y="2609697"/>
            <a:ext cx="160020" cy="0"/>
          </a:xfrm>
          <a:prstGeom prst="line">
            <a:avLst/>
          </a:prstGeom>
          <a:ln w="25400">
            <a:solidFill>
              <a:srgbClr val="C9A2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7772400" y="2236622"/>
            <a:ext cx="3779215" cy="74615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C9A22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772400" y="2236622"/>
            <a:ext cx="3779215" cy="746150"/>
          </a:xfrm>
          <a:prstGeom prst="rect">
            <a:avLst/>
          </a:prstGeom>
          <a:noFill/>
        </p:spPr>
        <p:txBody>
          <a:bodyPr wrap="square" anchor="ctr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0B1F3A"/>
                </a:solidFill>
                <a:latin typeface="Calibri"/>
              </a:rPr>
              <a:t>Mikrokristall</a:t>
            </a:r>
          </a:p>
          <a:p>
            <a:pPr algn="l">
              <a:spcAft>
                <a:spcPts val="0"/>
              </a:spcAft>
            </a:pPr>
            <a:r>
              <a:rPr sz="1200" b="0">
                <a:solidFill>
                  <a:srgbClr val="1F2937"/>
                </a:solidFill>
                <a:latin typeface="Calibri"/>
              </a:rPr>
              <a:t>Dragendorf: «X» yoki «K»  ·  Reyneke: och pushti prizma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7612380" y="3429000"/>
            <a:ext cx="160020" cy="0"/>
          </a:xfrm>
          <a:prstGeom prst="line">
            <a:avLst/>
          </a:prstGeom>
          <a:ln w="25400">
            <a:solidFill>
              <a:srgbClr val="C9A2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ounded Rectangle 18"/>
          <p:cNvSpPr/>
          <p:nvPr/>
        </p:nvSpPr>
        <p:spPr>
          <a:xfrm>
            <a:off x="7772400" y="3055924"/>
            <a:ext cx="3779215" cy="74615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C9A22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772400" y="3055924"/>
            <a:ext cx="3779215" cy="746150"/>
          </a:xfrm>
          <a:prstGeom prst="rect">
            <a:avLst/>
          </a:prstGeom>
          <a:noFill/>
        </p:spPr>
        <p:txBody>
          <a:bodyPr wrap="square" anchor="ctr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0B1F3A"/>
                </a:solidFill>
                <a:latin typeface="Calibri"/>
              </a:rPr>
              <a:t>Rang</a:t>
            </a:r>
          </a:p>
          <a:p>
            <a:pPr algn="l">
              <a:spcAft>
                <a:spcPts val="0"/>
              </a:spcAft>
            </a:pPr>
            <a:r>
              <a:rPr sz="1200" b="0">
                <a:solidFill>
                  <a:srgbClr val="1F2937"/>
                </a:solidFill>
                <a:latin typeface="Calibri"/>
              </a:rPr>
              <a:t>Formaldegid + HNO3  ·  p-DMABA + H2SO4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7612380" y="4248302"/>
            <a:ext cx="160020" cy="0"/>
          </a:xfrm>
          <a:prstGeom prst="line">
            <a:avLst/>
          </a:prstGeom>
          <a:ln w="25400">
            <a:solidFill>
              <a:srgbClr val="C9A2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Rounded Rectangle 21"/>
          <p:cNvSpPr/>
          <p:nvPr/>
        </p:nvSpPr>
        <p:spPr>
          <a:xfrm>
            <a:off x="7772400" y="3875227"/>
            <a:ext cx="3779215" cy="74615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C9A22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772400" y="3875227"/>
            <a:ext cx="3779215" cy="746150"/>
          </a:xfrm>
          <a:prstGeom prst="rect">
            <a:avLst/>
          </a:prstGeom>
          <a:noFill/>
        </p:spPr>
        <p:txBody>
          <a:bodyPr wrap="square" anchor="ctr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0B1F3A"/>
                </a:solidFill>
                <a:latin typeface="Calibri"/>
              </a:rPr>
              <a:t>Fizik-kimyoviy</a:t>
            </a:r>
          </a:p>
          <a:p>
            <a:pPr algn="l">
              <a:spcAft>
                <a:spcPts val="0"/>
              </a:spcAft>
            </a:pPr>
            <a:r>
              <a:rPr sz="1200" b="0">
                <a:solidFill>
                  <a:srgbClr val="1F2937"/>
                </a:solidFill>
                <a:latin typeface="Calibri"/>
              </a:rPr>
              <a:t>UB 260 nm (0,1 M H2SO4)  ·  YuQX Rf 0,4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7612380" y="5067604"/>
            <a:ext cx="160020" cy="0"/>
          </a:xfrm>
          <a:prstGeom prst="line">
            <a:avLst/>
          </a:prstGeom>
          <a:ln w="25400">
            <a:solidFill>
              <a:srgbClr val="C9A2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Rounded Rectangle 24"/>
          <p:cNvSpPr/>
          <p:nvPr/>
        </p:nvSpPr>
        <p:spPr>
          <a:xfrm>
            <a:off x="7772400" y="4694529"/>
            <a:ext cx="3779215" cy="74615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C9A22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772400" y="4694529"/>
            <a:ext cx="3779215" cy="746150"/>
          </a:xfrm>
          <a:prstGeom prst="rect">
            <a:avLst/>
          </a:prstGeom>
          <a:noFill/>
        </p:spPr>
        <p:txBody>
          <a:bodyPr wrap="square" anchor="ctr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0B1F3A"/>
                </a:solidFill>
                <a:latin typeface="Calibri"/>
              </a:rPr>
              <a:t>Farmakologik</a:t>
            </a:r>
          </a:p>
          <a:p>
            <a:pPr algn="l">
              <a:spcAft>
                <a:spcPts val="0"/>
              </a:spcAft>
            </a:pPr>
            <a:r>
              <a:rPr sz="1200" b="0">
                <a:solidFill>
                  <a:srgbClr val="1F2937"/>
                </a:solidFill>
                <a:latin typeface="Calibri"/>
              </a:rPr>
              <a:t>Baqada tirishish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440680" y="5486400"/>
            <a:ext cx="611093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6B7280"/>
                </a:solidFill>
                <a:latin typeface="Calibri"/>
              </a:rPr>
              <a:t>Nikotin reaksiyalari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Yuldashev Z.A., Umarova G.Q., Toksikologik kimyo modulidan o‘quv-uslubiy majmua, betlar: 239, 240, 110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Nikotin: sezgirlik va YuQX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Nikotin, anabazin, paxikarpin; mikrokristalloskopiya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18 / 42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45720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Dragendorf reaktivi bilan aniqlanish chegarasi 1 mkg; Reyneke tuzi bilan 1,2 mkg.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YuQX: qo‘zg‘aluvchi faza geksan-aseton (4:1), tasdiqlovchi reagent — kislotali yodplatinat; Rf = 0,4, ko‘k dog‘.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UB: 0,1 M sulfat kislotadagi eritma 260 nm da maksimum nur yutadi.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40680" y="1417320"/>
            <a:ext cx="2973171" cy="15544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E8EE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440680" y="1508760"/>
            <a:ext cx="64008" cy="137160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550408" y="1417320"/>
            <a:ext cx="2863443" cy="1554480"/>
          </a:xfrm>
          <a:prstGeom prst="rect">
            <a:avLst/>
          </a:prstGeom>
          <a:noFill/>
        </p:spPr>
        <p:txBody>
          <a:bodyPr wrap="square" anchor="ctr" tIns="36576" bIns="36576">
            <a:spAutoFit/>
          </a:bodyPr>
          <a:lstStyle/>
          <a:p>
            <a:pPr algn="l">
              <a:spcAft>
                <a:spcPts val="100"/>
              </a:spcAft>
            </a:pPr>
            <a:r>
              <a:rPr sz="1300" b="0">
                <a:solidFill>
                  <a:srgbClr val="6B7280"/>
                </a:solidFill>
                <a:latin typeface="Calibri"/>
              </a:rPr>
              <a:t>Dragendorf chegarasi</a:t>
            </a:r>
          </a:p>
          <a:p>
            <a:pPr algn="l">
              <a:spcAft>
                <a:spcPts val="100"/>
              </a:spcAft>
            </a:pPr>
            <a:r>
              <a:rPr sz="3000" b="1">
                <a:solidFill>
                  <a:srgbClr val="0B1F3A"/>
                </a:solidFill>
                <a:latin typeface="Calibri"/>
              </a:rPr>
              <a:t>1</a:t>
            </a:r>
            <a:r>
              <a:rPr sz="1500" b="0">
                <a:solidFill>
                  <a:srgbClr val="6B7280"/>
                </a:solidFill>
                <a:latin typeface="Calibri"/>
              </a:rPr>
              <a:t>  mkg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578443" y="1417320"/>
            <a:ext cx="2973171" cy="15544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E8EE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8578443" y="1508760"/>
            <a:ext cx="64008" cy="137160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688171" y="1417320"/>
            <a:ext cx="2863443" cy="1554480"/>
          </a:xfrm>
          <a:prstGeom prst="rect">
            <a:avLst/>
          </a:prstGeom>
          <a:noFill/>
        </p:spPr>
        <p:txBody>
          <a:bodyPr wrap="square" anchor="ctr" tIns="36576" bIns="36576">
            <a:spAutoFit/>
          </a:bodyPr>
          <a:lstStyle/>
          <a:p>
            <a:pPr algn="l">
              <a:spcAft>
                <a:spcPts val="100"/>
              </a:spcAft>
            </a:pPr>
            <a:r>
              <a:rPr sz="1300" b="0">
                <a:solidFill>
                  <a:srgbClr val="6B7280"/>
                </a:solidFill>
                <a:latin typeface="Calibri"/>
              </a:rPr>
              <a:t>Reyneke chegarasi</a:t>
            </a:r>
          </a:p>
          <a:p>
            <a:pPr algn="l">
              <a:spcAft>
                <a:spcPts val="100"/>
              </a:spcAft>
            </a:pPr>
            <a:r>
              <a:rPr sz="3000" b="1">
                <a:solidFill>
                  <a:srgbClr val="0B1F3A"/>
                </a:solidFill>
                <a:latin typeface="Calibri"/>
              </a:rPr>
              <a:t>1,2</a:t>
            </a:r>
            <a:r>
              <a:rPr sz="1500" b="0">
                <a:solidFill>
                  <a:srgbClr val="6B7280"/>
                </a:solidFill>
                <a:latin typeface="Calibri"/>
              </a:rPr>
              <a:t>  mkg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440680" y="3118104"/>
            <a:ext cx="2973171" cy="15544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E8EE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440680" y="3209544"/>
            <a:ext cx="64008" cy="137160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550408" y="3118104"/>
            <a:ext cx="2863443" cy="1554480"/>
          </a:xfrm>
          <a:prstGeom prst="rect">
            <a:avLst/>
          </a:prstGeom>
          <a:noFill/>
        </p:spPr>
        <p:txBody>
          <a:bodyPr wrap="square" anchor="ctr" tIns="36576" bIns="36576">
            <a:spAutoFit/>
          </a:bodyPr>
          <a:lstStyle/>
          <a:p>
            <a:pPr algn="l">
              <a:spcAft>
                <a:spcPts val="100"/>
              </a:spcAft>
            </a:pPr>
            <a:r>
              <a:rPr sz="1300" b="0">
                <a:solidFill>
                  <a:srgbClr val="6B7280"/>
                </a:solidFill>
                <a:latin typeface="Calibri"/>
              </a:rPr>
              <a:t>YuQX Rf</a:t>
            </a:r>
          </a:p>
          <a:p>
            <a:pPr algn="l">
              <a:spcAft>
                <a:spcPts val="100"/>
              </a:spcAft>
            </a:pPr>
            <a:r>
              <a:rPr sz="3000" b="1">
                <a:solidFill>
                  <a:srgbClr val="0B1F3A"/>
                </a:solidFill>
                <a:latin typeface="Calibri"/>
              </a:rPr>
              <a:t>0,4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578443" y="3118104"/>
            <a:ext cx="2973171" cy="15544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E8EE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578443" y="3209544"/>
            <a:ext cx="64008" cy="137160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688171" y="3118104"/>
            <a:ext cx="2863443" cy="1554480"/>
          </a:xfrm>
          <a:prstGeom prst="rect">
            <a:avLst/>
          </a:prstGeom>
          <a:noFill/>
        </p:spPr>
        <p:txBody>
          <a:bodyPr wrap="square" anchor="ctr" tIns="36576" bIns="36576">
            <a:spAutoFit/>
          </a:bodyPr>
          <a:lstStyle/>
          <a:p>
            <a:pPr algn="l">
              <a:spcAft>
                <a:spcPts val="100"/>
              </a:spcAft>
            </a:pPr>
            <a:r>
              <a:rPr sz="1300" b="0">
                <a:solidFill>
                  <a:srgbClr val="6B7280"/>
                </a:solidFill>
                <a:latin typeface="Calibri"/>
              </a:rPr>
              <a:t>UB maksimum</a:t>
            </a:r>
          </a:p>
          <a:p>
            <a:pPr algn="l">
              <a:spcAft>
                <a:spcPts val="100"/>
              </a:spcAft>
            </a:pPr>
            <a:r>
              <a:rPr sz="3000" b="1">
                <a:solidFill>
                  <a:srgbClr val="0B1F3A"/>
                </a:solidFill>
                <a:latin typeface="Calibri"/>
              </a:rPr>
              <a:t>260</a:t>
            </a:r>
            <a:r>
              <a:rPr sz="1500" b="0">
                <a:solidFill>
                  <a:srgbClr val="6B7280"/>
                </a:solidFill>
                <a:latin typeface="Calibri"/>
              </a:rPr>
              <a:t>  nm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40680" y="5486400"/>
            <a:ext cx="611093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6B7280"/>
                </a:solidFill>
                <a:latin typeface="Calibri"/>
              </a:rPr>
              <a:t>Nikotin: sezgirlik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Yuldashev Z.A., Umarova G.Q., Toksikologik kimyo modulidan o‘quv-uslubiy majmua, betlar: 110, 240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Anabazin: umumiy ma’lumot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Nikotin, anabazin, paxikarpin; mikrokristalloskopiya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19 / 42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10911535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Anabazin Anabasis aphylla o‘simligida, qisman tamakida uchraydigan rangsiz moysimon alkaloid; organik erituvchilarda yaxshi eriydi.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Anabazin gidroxlorid tabletkasi chekishga qarshi ishlatiladi; qishloq xo‘jaligida anabadust holida hasharotlarga qarshi qo‘llanadi.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Fiziologik ta’siri nikotinga o‘xshash: avval qo‘zg‘atadi, so‘ng vegetativ nerv tolalarini falajlaydi.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Zaharlanishda so‘lak oqishi, qusish, ich ketish, tananing sarg‘ayishi, soch to‘kilishi kuzatiladi; peshob orqali chiqariladi.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Yuldashev Z.A., Umarova G.Q., Toksikologik kimyo modulidan o‘quv-uslubiy majmua, betlar: 111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Anabazin: mikrokristall reaksiyalar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Nikotin, anabazin, paxikarpin; mikrokristalloskopiya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20 / 42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539496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Dragendorf reaktivi (nikotindagi kabi) anabazin bilan romb shaklidagi qo‘ng‘ir mikrokristallar beradi.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Reyneke tuzi bilan mayda ninasimon pushti mikrokristallar hosil bo‘ladi.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Pikrin kislotasining suvdagi to‘yingan eritmasi 2 tomchi, 15-20 daqiqa nam kamerada: sariq rangli o‘ziga xos shaklli mikrokristallar.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6263640" y="1463040"/>
          <a:ext cx="5287974" cy="307238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95830"/>
                <a:gridCol w="2592144"/>
              </a:tblGrid>
              <a:tr h="768096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</a:rPr>
                        <a:t>Reaktiv</a:t>
                      </a:r>
                    </a:p>
                  </a:txBody>
                  <a:tcPr marL="73152" marR="73152" marT="36576" marB="36576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</a:rPr>
                        <a:t>Kristall</a:t>
                      </a:r>
                    </a:p>
                  </a:txBody>
                  <a:tcPr marL="73152" marR="73152" marT="36576" marB="36576">
                    <a:solidFill>
                      <a:srgbClr val="0B1F3A"/>
                    </a:solidFill>
                  </a:tcPr>
                </a:tc>
              </a:tr>
              <a:tr h="768096"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Dragendorf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Romb shaklidagi, qo‘ng‘ir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</a:tr>
              <a:tr h="768096"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Reyneke tuzi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Mayda ninasimon, pushti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768096"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Pikrin kislota (to‘yingan)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Sariq, o‘ziga xos shakl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6263640" y="5349240"/>
            <a:ext cx="528797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Anabazin: mikrokristallar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Yuldashev Z.A., Umarova G.Q., Toksikologik kimyo modulidan o‘quv-uslubiy majmua, betlar: 240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Anabazin: rangli reaksiyalar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Nikotin, anabazin, paxikarpin; mikrokristalloskopiya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21 / 42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539496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Probirkada 1 ml tekshiriluvchi eritmaga 1 ml pergidrol va 2-3 tomchi konsentrlangan H2SO4 qo‘shilsa, qizil yoki shokolad rang hosil bo‘ladi.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1 ml eritmaga vanilin kristali va 1-2 tomchi konsentrlangan H2SO4 qo‘shilsa, qizil yoki to‘q-qizil rang hosil bo‘ladi.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KCN, xloramin B va barbitur kislotasi bilan anabazin sariq-qo‘ng‘ir rang hosil qiladi.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6263640" y="1463040"/>
          <a:ext cx="5287974" cy="307238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110573"/>
                <a:gridCol w="2177401"/>
              </a:tblGrid>
              <a:tr h="768096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</a:rPr>
                        <a:t>Reaktiv</a:t>
                      </a:r>
                    </a:p>
                  </a:txBody>
                  <a:tcPr marL="73152" marR="73152" marT="36576" marB="36576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</a:rPr>
                        <a:t>Rang</a:t>
                      </a:r>
                    </a:p>
                  </a:txBody>
                  <a:tcPr marL="73152" marR="73152" marT="36576" marB="36576">
                    <a:solidFill>
                      <a:srgbClr val="0B1F3A"/>
                    </a:solidFill>
                  </a:tcPr>
                </a:tc>
              </a:tr>
              <a:tr h="768096"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Pergidrol + konts. H2SO4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Qizil yoki shokolad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</a:tr>
              <a:tr h="768096"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Vanilin + konts. H2SO4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Qizil yoki to‘q-qizil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768096"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KCN, xloramin B, barbitur k-ta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Sariq-qo‘ng‘ir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6263640" y="5349240"/>
            <a:ext cx="528797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Anabazin: rang reaksiyalari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Yuldashev Z.A., Nurmatova M.I., Toksikologik kimyo modulidan o‘quv-uslubiy majmua, betlar: 249; Yuldashev Z.A., Umarova G.Q., Toksikologik kimyo modulidan o‘quv-uslubiy majmua, betlar: 112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Anabazin: reaksiyalar xaritasi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Nikotin, anabazin, paxikarpin; mikrokristalloskopiya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22 / 42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45720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Anabazin umumiy cho‘ktiruvchi reaktivlar bilan cho‘kma beradi; pikrin kislotasi bilan sariq cho‘kma (nikotin bermaydi).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Mikrokristall: Dragendorf — romb shaklidagi qo‘ng‘ir; Reyneke tuzi — mayda ninasimon pushti; pikrin kislotasi — sariq.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Rang: pergidrol + H2SO4 va vanilin + H2SO4; formaldegid + HNO3 ni bermaydi.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40680" y="2788920"/>
            <a:ext cx="2011680" cy="1280160"/>
          </a:xfrm>
          <a:prstGeom prst="round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ctr">
              <a:spcAft>
                <a:spcPts val="200"/>
              </a:spcAft>
            </a:pPr>
            <a:r>
              <a:rPr sz="1800" b="1">
                <a:solidFill>
                  <a:srgbClr val="FFFFFF"/>
                </a:solidFill>
                <a:latin typeface="Calibri"/>
              </a:rPr>
              <a:t>Anabazin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7452360" y="3429000"/>
            <a:ext cx="160020" cy="0"/>
          </a:xfrm>
          <a:prstGeom prst="line">
            <a:avLst/>
          </a:prstGeom>
          <a:ln w="25400">
            <a:solidFill>
              <a:srgbClr val="C9A2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7612380" y="1892808"/>
            <a:ext cx="0" cy="3072384"/>
          </a:xfrm>
          <a:prstGeom prst="line">
            <a:avLst/>
          </a:prstGeom>
          <a:ln w="25400">
            <a:solidFill>
              <a:srgbClr val="C9A2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7612380" y="1892808"/>
            <a:ext cx="160020" cy="0"/>
          </a:xfrm>
          <a:prstGeom prst="line">
            <a:avLst/>
          </a:prstGeom>
          <a:ln w="25400">
            <a:solidFill>
              <a:srgbClr val="C9A2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7772400" y="1417320"/>
            <a:ext cx="3779215" cy="95097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C9A22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772400" y="1417320"/>
            <a:ext cx="3779215" cy="950976"/>
          </a:xfrm>
          <a:prstGeom prst="rect">
            <a:avLst/>
          </a:prstGeom>
          <a:noFill/>
        </p:spPr>
        <p:txBody>
          <a:bodyPr wrap="square" anchor="ctr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0B1F3A"/>
                </a:solidFill>
                <a:latin typeface="Calibri"/>
              </a:rPr>
              <a:t>Cho‘kma</a:t>
            </a:r>
          </a:p>
          <a:p>
            <a:pPr algn="l">
              <a:spcAft>
                <a:spcPts val="0"/>
              </a:spcAft>
            </a:pPr>
            <a:r>
              <a:rPr sz="1200" b="0">
                <a:solidFill>
                  <a:srgbClr val="1F2937"/>
                </a:solidFill>
                <a:latin typeface="Calibri"/>
              </a:rPr>
              <a:t>Pikrin kislota: sariq cho‘kma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7612380" y="2916936"/>
            <a:ext cx="160020" cy="0"/>
          </a:xfrm>
          <a:prstGeom prst="line">
            <a:avLst/>
          </a:prstGeom>
          <a:ln w="25400">
            <a:solidFill>
              <a:srgbClr val="C9A2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7772400" y="2441448"/>
            <a:ext cx="3779215" cy="95097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C9A22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772400" y="2441448"/>
            <a:ext cx="3779215" cy="950976"/>
          </a:xfrm>
          <a:prstGeom prst="rect">
            <a:avLst/>
          </a:prstGeom>
          <a:noFill/>
        </p:spPr>
        <p:txBody>
          <a:bodyPr wrap="square" anchor="ctr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0B1F3A"/>
                </a:solidFill>
                <a:latin typeface="Calibri"/>
              </a:rPr>
              <a:t>Mikrokristall</a:t>
            </a:r>
          </a:p>
          <a:p>
            <a:pPr algn="l">
              <a:spcAft>
                <a:spcPts val="0"/>
              </a:spcAft>
            </a:pPr>
            <a:r>
              <a:rPr sz="1200" b="0">
                <a:solidFill>
                  <a:srgbClr val="1F2937"/>
                </a:solidFill>
                <a:latin typeface="Calibri"/>
              </a:rPr>
              <a:t>Dragendorf: romb  ·  Reyneke: ninasimon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7612380" y="3941064"/>
            <a:ext cx="160020" cy="0"/>
          </a:xfrm>
          <a:prstGeom prst="line">
            <a:avLst/>
          </a:prstGeom>
          <a:ln w="25400">
            <a:solidFill>
              <a:srgbClr val="C9A2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ounded Rectangle 18"/>
          <p:cNvSpPr/>
          <p:nvPr/>
        </p:nvSpPr>
        <p:spPr>
          <a:xfrm>
            <a:off x="7772400" y="3465576"/>
            <a:ext cx="3779215" cy="95097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C9A22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772400" y="3465576"/>
            <a:ext cx="3779215" cy="950976"/>
          </a:xfrm>
          <a:prstGeom prst="rect">
            <a:avLst/>
          </a:prstGeom>
          <a:noFill/>
        </p:spPr>
        <p:txBody>
          <a:bodyPr wrap="square" anchor="ctr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0B1F3A"/>
                </a:solidFill>
                <a:latin typeface="Calibri"/>
              </a:rPr>
              <a:t>Rang</a:t>
            </a:r>
          </a:p>
          <a:p>
            <a:pPr algn="l">
              <a:spcAft>
                <a:spcPts val="0"/>
              </a:spcAft>
            </a:pPr>
            <a:r>
              <a:rPr sz="1200" b="0">
                <a:solidFill>
                  <a:srgbClr val="1F2937"/>
                </a:solidFill>
                <a:latin typeface="Calibri"/>
              </a:rPr>
              <a:t>Pergidrol + H2SO4  ·  Vanilin + H2SO4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7612380" y="4965192"/>
            <a:ext cx="160020" cy="0"/>
          </a:xfrm>
          <a:prstGeom prst="line">
            <a:avLst/>
          </a:prstGeom>
          <a:ln w="25400">
            <a:solidFill>
              <a:srgbClr val="C9A2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Rounded Rectangle 21"/>
          <p:cNvSpPr/>
          <p:nvPr/>
        </p:nvSpPr>
        <p:spPr>
          <a:xfrm>
            <a:off x="7772400" y="4489704"/>
            <a:ext cx="3779215" cy="95097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C9A22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772400" y="4489704"/>
            <a:ext cx="3779215" cy="950976"/>
          </a:xfrm>
          <a:prstGeom prst="rect">
            <a:avLst/>
          </a:prstGeom>
          <a:noFill/>
        </p:spPr>
        <p:txBody>
          <a:bodyPr wrap="square" anchor="ctr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0B1F3A"/>
                </a:solidFill>
                <a:latin typeface="Calibri"/>
              </a:rPr>
              <a:t>Nikotindan farqi</a:t>
            </a:r>
          </a:p>
          <a:p>
            <a:pPr algn="l">
              <a:spcAft>
                <a:spcPts val="0"/>
              </a:spcAft>
            </a:pPr>
            <a:r>
              <a:rPr sz="1200" b="0">
                <a:solidFill>
                  <a:srgbClr val="1F2937"/>
                </a:solidFill>
                <a:latin typeface="Calibri"/>
              </a:rPr>
              <a:t>Formaldegid + HNO3 bermaydi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440680" y="5486400"/>
            <a:ext cx="611093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6B7280"/>
                </a:solidFill>
                <a:latin typeface="Calibri"/>
              </a:rPr>
              <a:t>Anabazin reaksiyalari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Yuldashev Z.A., Umarova G.Q., Toksikologik kimyo modulidan o‘quv-uslubiy majmua, betlar: 111, 240, 110-111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Paxikarpin: umumiy ma’lumot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Nikotin, anabazin, paxikarpin; mikrokristalloskopiya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23 / 42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10911535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Paxikarpin safora o‘simligining ustki qismlarida va termopsis bargida saqlanadi; sof asos tiniq, rangsiz moysimon suyuqlik.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Tibbiyotda yodid tuzi holida ishlatiladi; suv va spirtda yaxshi eriydi; periferik tomirlar spazmi va gipertoniyada qo‘llanadi.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Asosiy qismi ishqoriy, oz qismi kislotali sharoitda organik erituvchi bilan ekstraksiyalanadi.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Organizmda yig‘ilmaydi va bir sutka ichida chiqib ketadi.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Yuldashev Z.A., Umarova G.Q., Toksikologik kimyo modulidan o‘quv-uslubiy majmua, betlar: 112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Paxikarpin: zaharlanish belgilari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Nikotin, anabazin, paxikarpin; mikrokristalloskopiya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24 / 42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10911535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Terapevtik dozadan ko‘p qabul qilinganda ko‘ngil aynishi, qusish, bosh aylanishi va nafas olish qiyinlashishi kuzatiladi.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Natijada ko‘z qorachig‘i kengayadi, sianoz, tirishish va havo yetishmovchiligidan o‘lim sodir bo‘lishi mumkin.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Ba’zi ayollar sun’iy abort chaqirish maqsadida terapevtik dozadan ko‘p qabul qilgan hollar zaharlanishga olib kelgan.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Yuldashev Z.A., Umarova G.Q., Toksikologik kimyo modulidan o‘quv-uslubiy majmua, betlar: 112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Paxikarpin: yod ionini aniqlash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Nikotin, anabazin, paxikarpin; mikrokristalloskopiya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25 / 42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539496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Xloroform bilan ajratilgach qolgan ammiakli suv 10% H2SO4 bilan lakmus bo‘yicha nordonlashtiriladi.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2-3 tomchi 1% NaNO2 va 3 ml xloroform qo‘shib chayqatilsa, xloroform binafsha rangga bo‘yaladi.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63640" y="1463040"/>
            <a:ext cx="5287975" cy="534009"/>
          </a:xfrm>
          <a:prstGeom prst="round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Ammiakli suv nordonlashtiriladi</a:t>
            </a:r>
          </a:p>
        </p:txBody>
      </p:sp>
      <p:sp>
        <p:nvSpPr>
          <p:cNvPr id="10" name="Down Arrow 9"/>
          <p:cNvSpPr/>
          <p:nvPr/>
        </p:nvSpPr>
        <p:spPr>
          <a:xfrm>
            <a:off x="8770467" y="2015337"/>
            <a:ext cx="274320" cy="256032"/>
          </a:xfrm>
          <a:prstGeom prst="downArrow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263640" y="2289657"/>
            <a:ext cx="5287975" cy="534009"/>
          </a:xfrm>
          <a:prstGeom prst="round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10% H2SO4 (lakmus bo‘yicha)</a:t>
            </a:r>
          </a:p>
        </p:txBody>
      </p:sp>
      <p:sp>
        <p:nvSpPr>
          <p:cNvPr id="12" name="Down Arrow 11"/>
          <p:cNvSpPr/>
          <p:nvPr/>
        </p:nvSpPr>
        <p:spPr>
          <a:xfrm>
            <a:off x="8770467" y="2841955"/>
            <a:ext cx="274320" cy="256032"/>
          </a:xfrm>
          <a:prstGeom prst="downArrow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263640" y="3116275"/>
            <a:ext cx="5287975" cy="534009"/>
          </a:xfrm>
          <a:prstGeom prst="round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2-3 tomchi 1% NaNO2</a:t>
            </a:r>
          </a:p>
        </p:txBody>
      </p:sp>
      <p:sp>
        <p:nvSpPr>
          <p:cNvPr id="14" name="Down Arrow 13"/>
          <p:cNvSpPr/>
          <p:nvPr/>
        </p:nvSpPr>
        <p:spPr>
          <a:xfrm>
            <a:off x="8770467" y="3668572"/>
            <a:ext cx="274320" cy="256032"/>
          </a:xfrm>
          <a:prstGeom prst="downArrow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6263640" y="3942892"/>
            <a:ext cx="5287975" cy="534009"/>
          </a:xfrm>
          <a:prstGeom prst="round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+ 3 ml xloroform, chayqatish</a:t>
            </a:r>
          </a:p>
        </p:txBody>
      </p:sp>
      <p:sp>
        <p:nvSpPr>
          <p:cNvPr id="16" name="Down Arrow 15"/>
          <p:cNvSpPr/>
          <p:nvPr/>
        </p:nvSpPr>
        <p:spPr>
          <a:xfrm>
            <a:off x="8770467" y="4495190"/>
            <a:ext cx="274320" cy="256032"/>
          </a:xfrm>
          <a:prstGeom prst="downArrow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6263640" y="4769510"/>
            <a:ext cx="5287975" cy="534009"/>
          </a:xfrm>
          <a:prstGeom prst="round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Xloroform binafsha rangda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263640" y="5349240"/>
            <a:ext cx="528797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I- ionini aniqlash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Yuldashev Z.A., Umarova G.Q., Toksikologik kimyo modulidan o‘quv-uslubiy majmua, betlar: 112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Paxikarpin: mikrokristall reaksiyalar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Nikotin, anabazin, paxikarpin; mikrokristalloskopiya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26 / 42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539496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Bushard reaktivi, 20-25 daqiqa nam kamerada: sariq, eman bargi shaklidagi kristallar.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Kobalt rodanidi, 15-20 daqiqa: zangori prizma shaklidagi mikrokristallar.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Pikrin kislotasi, 10-15 daqiqa: sariq prizma shaklidagi mikrokristallar.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6263640" y="1463040"/>
          <a:ext cx="5287973" cy="307238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26685"/>
                <a:gridCol w="1834603"/>
                <a:gridCol w="1726685"/>
              </a:tblGrid>
              <a:tr h="768096"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FFFFFF"/>
                          </a:solidFill>
                        </a:rPr>
                        <a:t>Reaktiv</a:t>
                      </a:r>
                    </a:p>
                  </a:txBody>
                  <a:tcPr marL="73152" marR="73152" marT="36576" marB="36576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FFFFFF"/>
                          </a:solidFill>
                        </a:rPr>
                        <a:t>Kristall</a:t>
                      </a:r>
                    </a:p>
                  </a:txBody>
                  <a:tcPr marL="73152" marR="73152" marT="36576" marB="36576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FFFFFF"/>
                          </a:solidFill>
                        </a:rPr>
                        <a:t>Kutish</a:t>
                      </a:r>
                    </a:p>
                  </a:txBody>
                  <a:tcPr marL="73152" marR="73152" marT="36576" marB="36576">
                    <a:solidFill>
                      <a:srgbClr val="0B1F3A"/>
                    </a:solidFill>
                  </a:tcPr>
                </a:tc>
              </a:tr>
              <a:tr h="768096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</a:rPr>
                        <a:t>Bushard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</a:rPr>
                        <a:t>Sariq, eman bargi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</a:rPr>
                        <a:t>20-25 daq.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</a:tr>
              <a:tr h="768096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</a:rPr>
                        <a:t>Kobalt rodanidi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</a:rPr>
                        <a:t>Zangori, prizma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</a:rPr>
                        <a:t>15-20 daq.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768096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</a:rPr>
                        <a:t>Pikrin kislotasi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</a:rPr>
                        <a:t>Sariq, prizma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</a:rPr>
                        <a:t>10-15 daq.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6263640" y="5349240"/>
            <a:ext cx="528797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Paxikarpin kristallari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Yuldashev Z.A., Nurmatova M.I., Toksikologik kimyo modulidan o‘quv-uslubiy majmua, betlar: 249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Paxikarpin: reaksiyalar xaritasi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Nikotin, anabazin, paxikarpin; mikrokristalloskopiya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27 / 42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45720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Ob’ektdan ajratish jarayonida paxikarpin tarkibidagi yod ionini aniqlash mumkin; xloroform qatlami binafsha.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Mikrokristall: Bushard (sariq, eman bargi), kobalt rodanidi (zangori prizma), pikrin kislotasi (sariq prizma).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Brom bug‘i va ammiak bug‘i bilan qizdirilganda filtr qog‘ozida qizil pushti rang hosil bo‘ladi.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40680" y="2788920"/>
            <a:ext cx="2011680" cy="1280160"/>
          </a:xfrm>
          <a:prstGeom prst="round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ctr">
              <a:spcAft>
                <a:spcPts val="200"/>
              </a:spcAft>
            </a:pPr>
            <a:r>
              <a:rPr sz="1800" b="1">
                <a:solidFill>
                  <a:srgbClr val="FFFFFF"/>
                </a:solidFill>
                <a:latin typeface="Calibri"/>
              </a:rPr>
              <a:t>Paxikarpin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7452360" y="3429000"/>
            <a:ext cx="160020" cy="0"/>
          </a:xfrm>
          <a:prstGeom prst="line">
            <a:avLst/>
          </a:prstGeom>
          <a:ln w="25400">
            <a:solidFill>
              <a:srgbClr val="C9A2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7612380" y="1790395"/>
            <a:ext cx="0" cy="3277209"/>
          </a:xfrm>
          <a:prstGeom prst="line">
            <a:avLst/>
          </a:prstGeom>
          <a:ln w="25400">
            <a:solidFill>
              <a:srgbClr val="C9A2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7612380" y="1790395"/>
            <a:ext cx="160020" cy="0"/>
          </a:xfrm>
          <a:prstGeom prst="line">
            <a:avLst/>
          </a:prstGeom>
          <a:ln w="25400">
            <a:solidFill>
              <a:srgbClr val="C9A2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7772400" y="1417320"/>
            <a:ext cx="3779215" cy="74615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C9A22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772400" y="1417320"/>
            <a:ext cx="3779215" cy="746150"/>
          </a:xfrm>
          <a:prstGeom prst="rect">
            <a:avLst/>
          </a:prstGeom>
          <a:noFill/>
        </p:spPr>
        <p:txBody>
          <a:bodyPr wrap="square" anchor="ctr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0B1F3A"/>
                </a:solidFill>
                <a:latin typeface="Calibri"/>
              </a:rPr>
              <a:t>Yod ioni</a:t>
            </a:r>
          </a:p>
          <a:p>
            <a:pPr algn="l">
              <a:spcAft>
                <a:spcPts val="0"/>
              </a:spcAft>
            </a:pPr>
            <a:r>
              <a:rPr sz="1200" b="0">
                <a:solidFill>
                  <a:srgbClr val="1F2937"/>
                </a:solidFill>
                <a:latin typeface="Calibri"/>
              </a:rPr>
              <a:t>NaNO2, H2SO4, xloroform  ·  Binafsha qatlam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7612380" y="2609697"/>
            <a:ext cx="160020" cy="0"/>
          </a:xfrm>
          <a:prstGeom prst="line">
            <a:avLst/>
          </a:prstGeom>
          <a:ln w="25400">
            <a:solidFill>
              <a:srgbClr val="C9A2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7772400" y="2236622"/>
            <a:ext cx="3779215" cy="74615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C9A22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772400" y="2236622"/>
            <a:ext cx="3779215" cy="746150"/>
          </a:xfrm>
          <a:prstGeom prst="rect">
            <a:avLst/>
          </a:prstGeom>
          <a:noFill/>
        </p:spPr>
        <p:txBody>
          <a:bodyPr wrap="square" anchor="ctr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0B1F3A"/>
                </a:solidFill>
                <a:latin typeface="Calibri"/>
              </a:rPr>
              <a:t>Bushard</a:t>
            </a:r>
          </a:p>
          <a:p>
            <a:pPr algn="l">
              <a:spcAft>
                <a:spcPts val="0"/>
              </a:spcAft>
            </a:pPr>
            <a:r>
              <a:rPr sz="1200" b="0">
                <a:solidFill>
                  <a:srgbClr val="1F2937"/>
                </a:solidFill>
                <a:latin typeface="Calibri"/>
              </a:rPr>
              <a:t>Sariq, eman bargi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7612380" y="3429000"/>
            <a:ext cx="160020" cy="0"/>
          </a:xfrm>
          <a:prstGeom prst="line">
            <a:avLst/>
          </a:prstGeom>
          <a:ln w="25400">
            <a:solidFill>
              <a:srgbClr val="C9A2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ounded Rectangle 18"/>
          <p:cNvSpPr/>
          <p:nvPr/>
        </p:nvSpPr>
        <p:spPr>
          <a:xfrm>
            <a:off x="7772400" y="3055924"/>
            <a:ext cx="3779215" cy="74615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C9A22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772400" y="3055924"/>
            <a:ext cx="3779215" cy="746150"/>
          </a:xfrm>
          <a:prstGeom prst="rect">
            <a:avLst/>
          </a:prstGeom>
          <a:noFill/>
        </p:spPr>
        <p:txBody>
          <a:bodyPr wrap="square" anchor="ctr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0B1F3A"/>
                </a:solidFill>
                <a:latin typeface="Calibri"/>
              </a:rPr>
              <a:t>Kobalt rodanidi</a:t>
            </a:r>
          </a:p>
          <a:p>
            <a:pPr algn="l">
              <a:spcAft>
                <a:spcPts val="0"/>
              </a:spcAft>
            </a:pPr>
            <a:r>
              <a:rPr sz="1200" b="0">
                <a:solidFill>
                  <a:srgbClr val="1F2937"/>
                </a:solidFill>
                <a:latin typeface="Calibri"/>
              </a:rPr>
              <a:t>Zangori prizma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7612380" y="4248302"/>
            <a:ext cx="160020" cy="0"/>
          </a:xfrm>
          <a:prstGeom prst="line">
            <a:avLst/>
          </a:prstGeom>
          <a:ln w="25400">
            <a:solidFill>
              <a:srgbClr val="C9A2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Rounded Rectangle 21"/>
          <p:cNvSpPr/>
          <p:nvPr/>
        </p:nvSpPr>
        <p:spPr>
          <a:xfrm>
            <a:off x="7772400" y="3875227"/>
            <a:ext cx="3779215" cy="74615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C9A22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772400" y="3875227"/>
            <a:ext cx="3779215" cy="746150"/>
          </a:xfrm>
          <a:prstGeom prst="rect">
            <a:avLst/>
          </a:prstGeom>
          <a:noFill/>
        </p:spPr>
        <p:txBody>
          <a:bodyPr wrap="square" anchor="ctr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0B1F3A"/>
                </a:solidFill>
                <a:latin typeface="Calibri"/>
              </a:rPr>
              <a:t>Pikrin kislotasi</a:t>
            </a:r>
          </a:p>
          <a:p>
            <a:pPr algn="l">
              <a:spcAft>
                <a:spcPts val="0"/>
              </a:spcAft>
            </a:pPr>
            <a:r>
              <a:rPr sz="1200" b="0">
                <a:solidFill>
                  <a:srgbClr val="1F2937"/>
                </a:solidFill>
                <a:latin typeface="Calibri"/>
              </a:rPr>
              <a:t>Sariq prizma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7612380" y="5067604"/>
            <a:ext cx="160020" cy="0"/>
          </a:xfrm>
          <a:prstGeom prst="line">
            <a:avLst/>
          </a:prstGeom>
          <a:ln w="25400">
            <a:solidFill>
              <a:srgbClr val="C9A2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Rounded Rectangle 24"/>
          <p:cNvSpPr/>
          <p:nvPr/>
        </p:nvSpPr>
        <p:spPr>
          <a:xfrm>
            <a:off x="7772400" y="4694529"/>
            <a:ext cx="3779215" cy="74615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C9A22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772400" y="4694529"/>
            <a:ext cx="3779215" cy="746150"/>
          </a:xfrm>
          <a:prstGeom prst="rect">
            <a:avLst/>
          </a:prstGeom>
          <a:noFill/>
        </p:spPr>
        <p:txBody>
          <a:bodyPr wrap="square" anchor="ctr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0B1F3A"/>
                </a:solidFill>
                <a:latin typeface="Calibri"/>
              </a:rPr>
              <a:t>Brom</a:t>
            </a:r>
          </a:p>
          <a:p>
            <a:pPr algn="l">
              <a:spcAft>
                <a:spcPts val="0"/>
              </a:spcAft>
            </a:pPr>
            <a:r>
              <a:rPr sz="1200" b="0">
                <a:solidFill>
                  <a:srgbClr val="1F2937"/>
                </a:solidFill>
                <a:latin typeface="Calibri"/>
              </a:rPr>
              <a:t>Filtrda qizil pushti rang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440680" y="5486400"/>
            <a:ext cx="611093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6B7280"/>
                </a:solidFill>
                <a:latin typeface="Calibri"/>
              </a:rPr>
              <a:t>Paxikarpin reaksiyalari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Yuldashev Z.A., Umarova G.Q., Toksikologik kimyo modulidan o‘quv-uslubiy majmua, betlar: 112, 240, 241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Uch alkaloid: kristall reaksiyalari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Nikotin, anabazin, paxikarpin; mikrokristalloskopiya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28 / 42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539496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Nikotin Dragendorf reaktivi bilan «X»/«K» shaklidagi, Reyneke tuzi bilan och pushti prizmalar hosil qiladi.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Anabazin Dragendorf bilan romb shaklidagi, Reyneke tuzi bilan mayda ninasimon pushti, pikrin kislotasi bilan sariq kristallar beradi.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Paxikarpin Bushard bilan eman bargi shaklidagi, kobalt rodanidi bilan zangori prizma, pikrin kislotasi bilan sariq prizma kristallar beradi.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6263640" y="1463040"/>
          <a:ext cx="5287973" cy="307238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97940"/>
                <a:gridCol w="1442004"/>
                <a:gridCol w="1486860"/>
                <a:gridCol w="1061169"/>
              </a:tblGrid>
              <a:tr h="768096"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</a:rPr>
                        <a:t>Alkaloid</a:t>
                      </a:r>
                    </a:p>
                  </a:txBody>
                  <a:tcPr marL="73152" marR="73152" marT="36576" marB="36576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</a:rPr>
                        <a:t>1-reaksiya</a:t>
                      </a:r>
                    </a:p>
                  </a:txBody>
                  <a:tcPr marL="73152" marR="73152" marT="36576" marB="36576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</a:rPr>
                        <a:t>2-reaksiya</a:t>
                      </a:r>
                    </a:p>
                  </a:txBody>
                  <a:tcPr marL="73152" marR="73152" marT="36576" marB="36576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</a:rPr>
                        <a:t>Pikrin kislota</a:t>
                      </a:r>
                    </a:p>
                  </a:txBody>
                  <a:tcPr marL="73152" marR="73152" marT="36576" marB="36576">
                    <a:solidFill>
                      <a:srgbClr val="0B1F3A"/>
                    </a:solidFill>
                  </a:tcPr>
                </a:tc>
              </a:tr>
              <a:tr h="768096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F2937"/>
                          </a:solidFill>
                        </a:rPr>
                        <a:t>Nikotin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F2937"/>
                          </a:solidFill>
                        </a:rPr>
                        <a:t>Dragendorf: «X»/«K»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F2937"/>
                          </a:solidFill>
                        </a:rPr>
                        <a:t>Reyneke: och pushti prizma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F2937"/>
                          </a:solidFill>
                        </a:rPr>
                        <a:t>—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</a:tr>
              <a:tr h="768096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F2937"/>
                          </a:solidFill>
                        </a:rPr>
                        <a:t>Anabazin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F2937"/>
                          </a:solidFill>
                        </a:rPr>
                        <a:t>Dragendorf: romb, qo‘ng‘ir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F2937"/>
                          </a:solidFill>
                        </a:rPr>
                        <a:t>Reyneke: ninasimon, pushti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F2937"/>
                          </a:solidFill>
                        </a:rPr>
                        <a:t>Sariq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768096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F2937"/>
                          </a:solidFill>
                        </a:rPr>
                        <a:t>Paxikarpin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F2937"/>
                          </a:solidFill>
                        </a:rPr>
                        <a:t>Bushard: eman bargi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F2937"/>
                          </a:solidFill>
                        </a:rPr>
                        <a:t>Kobalt rodanid: zangori prizma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F2937"/>
                          </a:solidFill>
                        </a:rPr>
                        <a:t>Sariq prizma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6263640" y="5349240"/>
            <a:ext cx="528797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Kristallar shakli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Yuldashev Z.A., Umarova G.Q., Toksikologik kimyo modulidan o‘quv-uslubiy majmua, betlar: 239, 240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Chiqarilish va saqlanish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Nikotin, anabazin, paxikarpin; mikrokristalloskopiya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29 / 42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539496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Nikotin jigarda oksidlanadi, demetillanadi; metabolitlari peshob orqali, qisman nafas va ter bilan chiqadi.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Anabazin peshob orqali chiqariladi, metabolitlari kam o‘rganilgan.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Paxikarpin organizmda yig‘ilmaydi va bir sutka ichida chiqib ketadi.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Koniin nafas va peshob yo‘llari bilan chiqadi, 4 oydan keyin ham aniqlangan.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Arekolin 2 mg/100 g ob’ektda 2-2,5 oydan keyin ham aniqlangan.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6263640" y="1463040"/>
          <a:ext cx="5287975" cy="307238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12900"/>
                <a:gridCol w="3675075"/>
              </a:tblGrid>
              <a:tr h="512064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</a:rPr>
                        <a:t>Alkaloid</a:t>
                      </a:r>
                    </a:p>
                  </a:txBody>
                  <a:tcPr marL="73152" marR="73152" marT="36576" marB="36576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</a:rPr>
                        <a:t>Ma’lumot</a:t>
                      </a:r>
                    </a:p>
                  </a:txBody>
                  <a:tcPr marL="73152" marR="73152" marT="36576" marB="36576">
                    <a:solidFill>
                      <a:srgbClr val="0B1F3A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Nikotin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Jigarda oksidlanadi; peshob, nafas, ter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Anabazin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Peshob orqali; metabolit kam o‘rganilgan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Paxikarpin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Yig‘ilmaydi; 1 sutkada chiqadi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Koniin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Nafas, peshob; 4 oy aniqlangan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Arekolin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2-2,5 oydan keyin ham aniqlangan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6263640" y="5349240"/>
            <a:ext cx="528797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Chiqarilish va saqlanish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Yuldashev Z.A., Umarova G.Q., Toksikologik kimyo modulidan o‘quv-uslubiy majmua, betlar: 110, 111, 112, 114, 116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Koniin: reaksiyalar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Nikotin, anabazin, paxikarpin; mikrokristalloskopiya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30 / 42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539496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Koniin Dragendorf reaktivi bilan qizil romb shaklidagi mikrokristallar beradi (sezgirlik 3,5 mkg).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Xlorid kislota bug‘lari bilan koniin xlorid buralgan ninasimon kristallar hosil qiladi (0,33 mkg).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Mis dietilditiokarbamat reaksiyasi — benzol qatlamida qo‘ng‘ir-sariq rang (1 mkg); YuQX Rf = 0,26; UB 266 nm.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6263640" y="1463040"/>
          <a:ext cx="5287974" cy="307238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09750"/>
                <a:gridCol w="2052360"/>
                <a:gridCol w="1425864"/>
              </a:tblGrid>
              <a:tr h="512064"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FFFFFF"/>
                          </a:solidFill>
                        </a:rPr>
                        <a:t>Usul</a:t>
                      </a:r>
                    </a:p>
                  </a:txBody>
                  <a:tcPr marL="73152" marR="73152" marT="36576" marB="36576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FFFFFF"/>
                          </a:solidFill>
                        </a:rPr>
                        <a:t>Natija</a:t>
                      </a:r>
                    </a:p>
                  </a:txBody>
                  <a:tcPr marL="73152" marR="73152" marT="36576" marB="36576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FFFFFF"/>
                          </a:solidFill>
                        </a:rPr>
                        <a:t>Sezgirlik</a:t>
                      </a:r>
                    </a:p>
                  </a:txBody>
                  <a:tcPr marL="73152" marR="73152" marT="36576" marB="36576">
                    <a:solidFill>
                      <a:srgbClr val="0B1F3A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</a:rPr>
                        <a:t>Dragendorf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</a:rPr>
                        <a:t>Qizil romb kristallar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</a:rPr>
                        <a:t>3,5 mkg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</a:rPr>
                        <a:t>HCl bug‘lari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</a:rPr>
                        <a:t>Buralgan ninalar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</a:rPr>
                        <a:t>0,33 mkg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</a:rPr>
                        <a:t>Mis ditiokarbamat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</a:rPr>
                        <a:t>Benzolda qo‘ng‘ir-sariq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</a:rPr>
                        <a:t>1 mkg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</a:rPr>
                        <a:t>YuQX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</a:rPr>
                        <a:t>Rf = 0,26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</a:rPr>
                        <a:t>—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</a:rPr>
                        <a:t>UB (0,2 n H2SO4)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</a:rPr>
                        <a:t>266 nm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</a:rPr>
                        <a:t>—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6263640" y="5349240"/>
            <a:ext cx="528797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Koniin reaksiyalari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Yuldashev Z.A., Umarova G.Q., Toksikologik kimyo modulidan o‘quv-uslubiy majmua, betlar: 114, 115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Arekolin: ahamiyati va tahlili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Nikotin, anabazin, paxikarpin; mikrokristalloskopiya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31 / 42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45720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Arekolin kuchli zaharli: 0,5-1,5 mg dan ortiq qabul qilish zaharlanish alomatlarini keltirib chiqaradi; ko‘z qorachig‘i keskin torayadi.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Dragendorf bilan 30 daqiqada qizil «x» shaklidagi mikrokristallar (aniqlash chegarasi 0,2 mkg); pikrin kislotasi — to‘q yashil sferolitlar.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YuQX: metanol-ammoniy gidroksid (100:1,5), Rf = 0,53; UB — spirtli eritmada 214 nm.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40680" y="1417320"/>
            <a:ext cx="2973171" cy="1243584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E8EE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440680" y="1508760"/>
            <a:ext cx="64008" cy="106070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550408" y="1417320"/>
            <a:ext cx="2863443" cy="1243584"/>
          </a:xfrm>
          <a:prstGeom prst="rect">
            <a:avLst/>
          </a:prstGeom>
          <a:noFill/>
        </p:spPr>
        <p:txBody>
          <a:bodyPr wrap="square" anchor="ctr" tIns="36576" bIns="36576">
            <a:spAutoFit/>
          </a:bodyPr>
          <a:lstStyle/>
          <a:p>
            <a:pPr algn="l">
              <a:spcAft>
                <a:spcPts val="100"/>
              </a:spcAft>
            </a:pPr>
            <a:r>
              <a:rPr sz="1300" b="0">
                <a:solidFill>
                  <a:srgbClr val="6B7280"/>
                </a:solidFill>
                <a:latin typeface="Calibri"/>
              </a:rPr>
              <a:t>Zaharlanish dozasi</a:t>
            </a:r>
          </a:p>
          <a:p>
            <a:pPr algn="l">
              <a:spcAft>
                <a:spcPts val="100"/>
              </a:spcAft>
            </a:pPr>
            <a:r>
              <a:rPr sz="2700" b="1">
                <a:solidFill>
                  <a:srgbClr val="0B1F3A"/>
                </a:solidFill>
                <a:latin typeface="Calibri"/>
              </a:rPr>
              <a:t>0,5-1,5</a:t>
            </a:r>
            <a:r>
              <a:rPr sz="1300" b="0">
                <a:solidFill>
                  <a:srgbClr val="6B7280"/>
                </a:solidFill>
                <a:latin typeface="Calibri"/>
              </a:rPr>
              <a:t>  mg dan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578443" y="1417320"/>
            <a:ext cx="2973171" cy="1243584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E8EE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8578443" y="1508760"/>
            <a:ext cx="64008" cy="106070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688171" y="1417320"/>
            <a:ext cx="2863443" cy="1243584"/>
          </a:xfrm>
          <a:prstGeom prst="rect">
            <a:avLst/>
          </a:prstGeom>
          <a:noFill/>
        </p:spPr>
        <p:txBody>
          <a:bodyPr wrap="square" anchor="ctr" tIns="36576" bIns="36576">
            <a:spAutoFit/>
          </a:bodyPr>
          <a:lstStyle/>
          <a:p>
            <a:pPr algn="l">
              <a:spcAft>
                <a:spcPts val="100"/>
              </a:spcAft>
            </a:pPr>
            <a:r>
              <a:rPr sz="1300" b="0">
                <a:solidFill>
                  <a:srgbClr val="6B7280"/>
                </a:solidFill>
                <a:latin typeface="Calibri"/>
              </a:rPr>
              <a:t>Aniqlash chegarasi</a:t>
            </a:r>
          </a:p>
          <a:p>
            <a:pPr algn="l">
              <a:spcAft>
                <a:spcPts val="100"/>
              </a:spcAft>
            </a:pPr>
            <a:r>
              <a:rPr sz="3000" b="1">
                <a:solidFill>
                  <a:srgbClr val="0B1F3A"/>
                </a:solidFill>
                <a:latin typeface="Calibri"/>
              </a:rPr>
              <a:t>0,2</a:t>
            </a:r>
            <a:r>
              <a:rPr sz="1500" b="0">
                <a:solidFill>
                  <a:srgbClr val="6B7280"/>
                </a:solidFill>
                <a:latin typeface="Calibri"/>
              </a:rPr>
              <a:t>  mkg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440680" y="2807208"/>
            <a:ext cx="2973171" cy="1243584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E8EE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440680" y="2898648"/>
            <a:ext cx="64008" cy="106070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550408" y="2807208"/>
            <a:ext cx="2863443" cy="1243584"/>
          </a:xfrm>
          <a:prstGeom prst="rect">
            <a:avLst/>
          </a:prstGeom>
          <a:noFill/>
        </p:spPr>
        <p:txBody>
          <a:bodyPr wrap="square" anchor="ctr" tIns="36576" bIns="36576">
            <a:spAutoFit/>
          </a:bodyPr>
          <a:lstStyle/>
          <a:p>
            <a:pPr algn="l">
              <a:spcAft>
                <a:spcPts val="100"/>
              </a:spcAft>
            </a:pPr>
            <a:r>
              <a:rPr sz="1300" b="0">
                <a:solidFill>
                  <a:srgbClr val="6B7280"/>
                </a:solidFill>
                <a:latin typeface="Calibri"/>
              </a:rPr>
              <a:t>Qaynash harorati</a:t>
            </a:r>
          </a:p>
          <a:p>
            <a:pPr algn="l">
              <a:spcAft>
                <a:spcPts val="100"/>
              </a:spcAft>
            </a:pPr>
            <a:r>
              <a:rPr sz="3000" b="1">
                <a:solidFill>
                  <a:srgbClr val="0B1F3A"/>
                </a:solidFill>
                <a:latin typeface="Calibri"/>
              </a:rPr>
              <a:t>209</a:t>
            </a:r>
            <a:r>
              <a:rPr sz="1500" b="0">
                <a:solidFill>
                  <a:srgbClr val="6B7280"/>
                </a:solidFill>
                <a:latin typeface="Calibri"/>
              </a:rPr>
              <a:t>  °C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578443" y="2807208"/>
            <a:ext cx="2973171" cy="1243584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E8EE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578443" y="2898648"/>
            <a:ext cx="64008" cy="106070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688171" y="2807208"/>
            <a:ext cx="2863443" cy="1243584"/>
          </a:xfrm>
          <a:prstGeom prst="rect">
            <a:avLst/>
          </a:prstGeom>
          <a:noFill/>
        </p:spPr>
        <p:txBody>
          <a:bodyPr wrap="square" anchor="ctr" tIns="36576" bIns="36576">
            <a:spAutoFit/>
          </a:bodyPr>
          <a:lstStyle/>
          <a:p>
            <a:pPr algn="l">
              <a:spcAft>
                <a:spcPts val="100"/>
              </a:spcAft>
            </a:pPr>
            <a:r>
              <a:rPr sz="1300" b="0">
                <a:solidFill>
                  <a:srgbClr val="6B7280"/>
                </a:solidFill>
                <a:latin typeface="Calibri"/>
              </a:rPr>
              <a:t>YuQX Rf</a:t>
            </a:r>
          </a:p>
          <a:p>
            <a:pPr algn="l">
              <a:spcAft>
                <a:spcPts val="100"/>
              </a:spcAft>
            </a:pPr>
            <a:r>
              <a:rPr sz="3000" b="1">
                <a:solidFill>
                  <a:srgbClr val="0B1F3A"/>
                </a:solidFill>
                <a:latin typeface="Calibri"/>
              </a:rPr>
              <a:t>0,53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440680" y="4197096"/>
            <a:ext cx="2973171" cy="1243584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E8EE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5440680" y="4288536"/>
            <a:ext cx="64008" cy="106070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550408" y="4197096"/>
            <a:ext cx="2863443" cy="1243584"/>
          </a:xfrm>
          <a:prstGeom prst="rect">
            <a:avLst/>
          </a:prstGeom>
          <a:noFill/>
        </p:spPr>
        <p:txBody>
          <a:bodyPr wrap="square" anchor="ctr" tIns="36576" bIns="36576">
            <a:spAutoFit/>
          </a:bodyPr>
          <a:lstStyle/>
          <a:p>
            <a:pPr algn="l">
              <a:spcAft>
                <a:spcPts val="100"/>
              </a:spcAft>
            </a:pPr>
            <a:r>
              <a:rPr sz="1300" b="0">
                <a:solidFill>
                  <a:srgbClr val="6B7280"/>
                </a:solidFill>
                <a:latin typeface="Calibri"/>
              </a:rPr>
              <a:t>UB maksimum</a:t>
            </a:r>
          </a:p>
          <a:p>
            <a:pPr algn="l">
              <a:spcAft>
                <a:spcPts val="100"/>
              </a:spcAft>
            </a:pPr>
            <a:r>
              <a:rPr sz="3000" b="1">
                <a:solidFill>
                  <a:srgbClr val="0B1F3A"/>
                </a:solidFill>
                <a:latin typeface="Calibri"/>
              </a:rPr>
              <a:t>214</a:t>
            </a:r>
            <a:r>
              <a:rPr sz="1500" b="0">
                <a:solidFill>
                  <a:srgbClr val="6B7280"/>
                </a:solidFill>
                <a:latin typeface="Calibri"/>
              </a:rPr>
              <a:t>  nm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578443" y="4197096"/>
            <a:ext cx="2973171" cy="1243584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E8EE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8578443" y="4288536"/>
            <a:ext cx="64008" cy="106070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688171" y="4197096"/>
            <a:ext cx="2863443" cy="1243584"/>
          </a:xfrm>
          <a:prstGeom prst="rect">
            <a:avLst/>
          </a:prstGeom>
          <a:noFill/>
        </p:spPr>
        <p:txBody>
          <a:bodyPr wrap="square" anchor="ctr" tIns="36576" bIns="36576">
            <a:spAutoFit/>
          </a:bodyPr>
          <a:lstStyle/>
          <a:p>
            <a:pPr algn="l">
              <a:spcAft>
                <a:spcPts val="100"/>
              </a:spcAft>
            </a:pPr>
            <a:r>
              <a:rPr sz="1300" b="0">
                <a:solidFill>
                  <a:srgbClr val="6B7280"/>
                </a:solidFill>
                <a:latin typeface="Calibri"/>
              </a:rPr>
              <a:t>Saqlanishi</a:t>
            </a:r>
          </a:p>
          <a:p>
            <a:pPr algn="l">
              <a:spcAft>
                <a:spcPts val="100"/>
              </a:spcAft>
            </a:pPr>
            <a:r>
              <a:rPr sz="3000" b="1">
                <a:solidFill>
                  <a:srgbClr val="0B1F3A"/>
                </a:solidFill>
                <a:latin typeface="Calibri"/>
              </a:rPr>
              <a:t>2-2,5</a:t>
            </a:r>
            <a:r>
              <a:rPr sz="1500" b="0">
                <a:solidFill>
                  <a:srgbClr val="6B7280"/>
                </a:solidFill>
                <a:latin typeface="Calibri"/>
              </a:rPr>
              <a:t>  oy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440680" y="5486400"/>
            <a:ext cx="611093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6B7280"/>
                </a:solidFill>
                <a:latin typeface="Calibri"/>
              </a:rPr>
              <a:t>Arekolin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Yuldashev Z.A., Umarova G.Q., Toksikologik kimyo modulidan o‘quv-uslubiy majmua, betlar: 115, 116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Paxikarpinni brom yordamida aniqlash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Nikotin, anabazin, paxikarpin; mikrokristalloskopiya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32 / 42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539496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Asos eritmasi filtr qog‘oziga shimdirilib, erituvchi uchirilgach, brom bug‘ida sariq ranggacha tutiladi.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So‘ng ammiak bug‘ida tutilib, qaynoq suv hammomida qizdiriladi.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Paxikarpin bo‘lsa, filtr qog‘ozida qizil pushti rang hosil bo‘ladi.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63640" y="1463040"/>
            <a:ext cx="5287975" cy="534009"/>
          </a:xfrm>
          <a:prstGeom prst="round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Filtr qog‘ozi eritma bilan</a:t>
            </a:r>
          </a:p>
        </p:txBody>
      </p:sp>
      <p:sp>
        <p:nvSpPr>
          <p:cNvPr id="10" name="Down Arrow 9"/>
          <p:cNvSpPr/>
          <p:nvPr/>
        </p:nvSpPr>
        <p:spPr>
          <a:xfrm>
            <a:off x="8770467" y="2015337"/>
            <a:ext cx="274320" cy="256032"/>
          </a:xfrm>
          <a:prstGeom prst="downArrow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263640" y="2289657"/>
            <a:ext cx="5287975" cy="534009"/>
          </a:xfrm>
          <a:prstGeom prst="round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Brom bug‘ida sariq rang</a:t>
            </a:r>
          </a:p>
        </p:txBody>
      </p:sp>
      <p:sp>
        <p:nvSpPr>
          <p:cNvPr id="12" name="Down Arrow 11"/>
          <p:cNvSpPr/>
          <p:nvPr/>
        </p:nvSpPr>
        <p:spPr>
          <a:xfrm>
            <a:off x="8770467" y="2841955"/>
            <a:ext cx="274320" cy="256032"/>
          </a:xfrm>
          <a:prstGeom prst="downArrow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263640" y="3116275"/>
            <a:ext cx="5287975" cy="534009"/>
          </a:xfrm>
          <a:prstGeom prst="round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Ammiak bug‘ida tutiladi</a:t>
            </a:r>
          </a:p>
        </p:txBody>
      </p:sp>
      <p:sp>
        <p:nvSpPr>
          <p:cNvPr id="14" name="Down Arrow 13"/>
          <p:cNvSpPr/>
          <p:nvPr/>
        </p:nvSpPr>
        <p:spPr>
          <a:xfrm>
            <a:off x="8770467" y="3668572"/>
            <a:ext cx="274320" cy="256032"/>
          </a:xfrm>
          <a:prstGeom prst="downArrow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6263640" y="3942892"/>
            <a:ext cx="5287975" cy="534009"/>
          </a:xfrm>
          <a:prstGeom prst="round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Qaynoq suv hammomida</a:t>
            </a:r>
          </a:p>
        </p:txBody>
      </p:sp>
      <p:sp>
        <p:nvSpPr>
          <p:cNvPr id="16" name="Down Arrow 15"/>
          <p:cNvSpPr/>
          <p:nvPr/>
        </p:nvSpPr>
        <p:spPr>
          <a:xfrm>
            <a:off x="8770467" y="4495190"/>
            <a:ext cx="274320" cy="256032"/>
          </a:xfrm>
          <a:prstGeom prst="downArrow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6263640" y="4769510"/>
            <a:ext cx="5287975" cy="534009"/>
          </a:xfrm>
          <a:prstGeom prst="round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Qizil pushti rang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263640" y="5349240"/>
            <a:ext cx="528797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Brom bilan reaksiya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Yuldashev Z.A., Nurmatova M.I., Toksikologik kimyo modulidan o‘quv-uslubiy majmua, betlar: 249; Yuldashev Z.A., Umarova G.Q., Toksikologik kimyo modulidan o‘quv-uslubiy majmua, betlar: 241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Koniin va arekolin (qisqa ma’lumot)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Nikotin, anabazin, paxikarpin; mikrokristalloskopiya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33 / 42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45720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Koniin dog‘li sikuta o‘simligidan olinadi; sichqon peshobi hidini eslatuvchi rangsiz moysimon suyuqlik; suv bug‘i bilan yaxshi haydaladi.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Koniin bilan zaharlanishda patomorfologik tekshirish xarakterli alomat bermaydi; odamni halok qiluvchi eng kam miqdori 0,5-1,0 g.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Arekolin Dragendorf reaktivi bilan 30 daqiqada qizil «x» shaklidagi mikrokristallar beradi; aniqlash chegarasi 0,2 mkg.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40680" y="1417320"/>
            <a:ext cx="2986887" cy="548640"/>
          </a:xfrm>
          <a:prstGeom prst="round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ctr">
              <a:spcAft>
                <a:spcPts val="200"/>
              </a:spcAft>
            </a:pPr>
            <a:r>
              <a:rPr sz="1600" b="1">
                <a:solidFill>
                  <a:srgbClr val="FFFFFF"/>
                </a:solidFill>
                <a:latin typeface="Calibri"/>
              </a:rPr>
              <a:t>Koniin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40680" y="2020824"/>
            <a:ext cx="2986887" cy="3419856"/>
          </a:xfrm>
          <a:prstGeom prst="rect">
            <a:avLst/>
          </a:prstGeom>
          <a:solidFill>
            <a:srgbClr val="E8EEF6"/>
          </a:solidFill>
          <a:ln w="15875">
            <a:solidFill>
              <a:srgbClr val="E8EE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36576" bIns="36576"/>
          <a:lstStyle/>
          <a:p>
            <a:pPr algn="l">
              <a:spcAft>
                <a:spcPts val="700"/>
              </a:spcAft>
            </a:pPr>
            <a:r>
              <a:rPr sz="1500" b="1">
                <a:solidFill>
                  <a:srgbClr val="C9A227"/>
                </a:solidFill>
                <a:latin typeface="Calibri"/>
              </a:rPr>
              <a:t>●  </a:t>
            </a:r>
            <a:r>
              <a:rPr sz="1500" b="0">
                <a:solidFill>
                  <a:srgbClr val="1F2937"/>
                </a:solidFill>
                <a:latin typeface="Calibri"/>
              </a:rPr>
              <a:t>Dog‘li sikuta o‘simligi</a:t>
            </a:r>
          </a:p>
          <a:p>
            <a:pPr algn="l">
              <a:spcAft>
                <a:spcPts val="700"/>
              </a:spcAft>
            </a:pPr>
            <a:r>
              <a:rPr sz="1500" b="1">
                <a:solidFill>
                  <a:srgbClr val="C9A227"/>
                </a:solidFill>
                <a:latin typeface="Calibri"/>
              </a:rPr>
              <a:t>●  </a:t>
            </a:r>
            <a:r>
              <a:rPr sz="1500" b="0">
                <a:solidFill>
                  <a:srgbClr val="1F2937"/>
                </a:solidFill>
                <a:latin typeface="Calibri"/>
              </a:rPr>
              <a:t>Sichqon peshobi hidi</a:t>
            </a:r>
          </a:p>
          <a:p>
            <a:pPr algn="l">
              <a:spcAft>
                <a:spcPts val="700"/>
              </a:spcAft>
            </a:pPr>
            <a:r>
              <a:rPr sz="1500" b="1">
                <a:solidFill>
                  <a:srgbClr val="C9A227"/>
                </a:solidFill>
                <a:latin typeface="Calibri"/>
              </a:rPr>
              <a:t>●  </a:t>
            </a:r>
            <a:r>
              <a:rPr sz="1500" b="0">
                <a:solidFill>
                  <a:srgbClr val="1F2937"/>
                </a:solidFill>
                <a:latin typeface="Calibri"/>
              </a:rPr>
              <a:t>0,5-1,0 g halokatli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564727" y="1417320"/>
            <a:ext cx="2986887" cy="548640"/>
          </a:xfrm>
          <a:prstGeom prst="round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ctr">
              <a:spcAft>
                <a:spcPts val="200"/>
              </a:spcAft>
            </a:pPr>
            <a:r>
              <a:rPr sz="1600" b="1">
                <a:solidFill>
                  <a:srgbClr val="FFFFFF"/>
                </a:solidFill>
                <a:latin typeface="Calibri"/>
              </a:rPr>
              <a:t>Arekolin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564727" y="2020824"/>
            <a:ext cx="2986887" cy="3419856"/>
          </a:xfrm>
          <a:prstGeom prst="rect">
            <a:avLst/>
          </a:prstGeom>
          <a:solidFill>
            <a:srgbClr val="E8EEF6"/>
          </a:solidFill>
          <a:ln w="15875">
            <a:solidFill>
              <a:srgbClr val="E8EE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36576" bIns="36576"/>
          <a:lstStyle/>
          <a:p>
            <a:pPr algn="l">
              <a:spcAft>
                <a:spcPts val="700"/>
              </a:spcAft>
            </a:pPr>
            <a:r>
              <a:rPr sz="1500" b="1">
                <a:solidFill>
                  <a:srgbClr val="C9A227"/>
                </a:solidFill>
                <a:latin typeface="Calibri"/>
              </a:rPr>
              <a:t>●  </a:t>
            </a:r>
            <a:r>
              <a:rPr sz="1500" b="0">
                <a:solidFill>
                  <a:srgbClr val="1F2937"/>
                </a:solidFill>
                <a:latin typeface="Calibri"/>
              </a:rPr>
              <a:t>Areko palmasi</a:t>
            </a:r>
          </a:p>
          <a:p>
            <a:pPr algn="l">
              <a:spcAft>
                <a:spcPts val="700"/>
              </a:spcAft>
            </a:pPr>
            <a:r>
              <a:rPr sz="1500" b="1">
                <a:solidFill>
                  <a:srgbClr val="C9A227"/>
                </a:solidFill>
                <a:latin typeface="Calibri"/>
              </a:rPr>
              <a:t>●  </a:t>
            </a:r>
            <a:r>
              <a:rPr sz="1500" b="0">
                <a:solidFill>
                  <a:srgbClr val="1F2937"/>
                </a:solidFill>
                <a:latin typeface="Calibri"/>
              </a:rPr>
              <a:t>0,5-1,5 mg dan ortiq zaharli</a:t>
            </a:r>
          </a:p>
          <a:p>
            <a:pPr algn="l">
              <a:spcAft>
                <a:spcPts val="700"/>
              </a:spcAft>
            </a:pPr>
            <a:r>
              <a:rPr sz="1500" b="1">
                <a:solidFill>
                  <a:srgbClr val="C9A227"/>
                </a:solidFill>
                <a:latin typeface="Calibri"/>
              </a:rPr>
              <a:t>●  </a:t>
            </a:r>
            <a:r>
              <a:rPr sz="1500" b="0">
                <a:solidFill>
                  <a:srgbClr val="1F2937"/>
                </a:solidFill>
                <a:latin typeface="Calibri"/>
              </a:rPr>
              <a:t>Dragendorf: qizil «x» kristall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40680" y="5486400"/>
            <a:ext cx="611093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6B7280"/>
                </a:solidFill>
                <a:latin typeface="Calibri"/>
              </a:rPr>
              <a:t>Koniin va arekolin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Yuldashev Z.A., Umarova G.Q., Toksikologik kimyo modulidan o‘quv-uslubiy majmua, betlar: 113, 114, 116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Charxpalak mashqi: kristallarni moslashtirish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Nikotin, anabazin, paxikarpin; mikrokristalloskopiya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34 / 42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10911535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Topshiriq: alkaloidlar uchun reaktivlar bilan hosil qiladigan tegishli kristallarni toping.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Alkaloidlar: nikotin, anabazin, paxikarpin, koniin, arekolin.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Reaktivlar: Dragendorf reaktivi, Reyneke tuzi, pikrin kislotasi.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Yuldashev Z.A., Umarova G.Q., Toksikologik kimyo modulidan o‘quv-uslubiy majmua, betlar: 241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Murda alkaloidlari va farmakologik tekshiruv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Nikotin, anabazin, paxikarpin; mikrokristalloskopiya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35 / 42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10911535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Chirigan ob’ektda oqsil metabolizmi natijasida gistidin, gistamin kabi moddalar hosil bo‘ladi — ularni «murda alkaloidlari» deb ataladi.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«Murda nikotini» Dragendorf reaktivi bilan kristall hosil qilsa ham, farmakologik ta’sirni bermaydi.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Shu sababli mikrokristalloskopik reaksiyalar bilan birga farmakologik tekshiruv o‘tkaziladi.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Yuldashev Z.A., Umarova G.Q., Toksikologik kimyo modulidan o‘quv-uslubiy majmua, betlar: 103, 104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Keys: ajralmada yod anioni topildi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Nikotin, anabazin, paxikarpin; mikrokristalloskopiya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36 / 42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10911535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Sud-kimyo ekspertizasiga organik zaharlarga tahlil uchun yo‘llanma bilan biologik ob’ekt keltirildi.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Nordonlashtirilgan suv usulida ajratma olinganda suvli qatlamda yod anioni aniqlandi.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Savol: qaysi moddalarga tahlil olib borish zarur? Paxikarpin tarkibida yod ionini aniqlash mumkin.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Yuldashev Z.A., Umarova G.Q., Toksikologik kimyo modulidan o‘quv-uslubiy majmua, betlar: 241, 240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Nazorat savollari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Nikotin, anabazin, paxikarpin; mikrokristalloskopiya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37 / 42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10911535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Piridin va piperidin alkaloidlarini bioob’ektdan qaysi usullarda ajratib olish mumkin? Nikotinning toksikologik va narkologik ahamiyati, tamaki toksikomaniyasi?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Nikotinning chinligi, farmakologik ta’siri, murda alkaloidlari; YuQX va miqdoriy aniqlash qanday bajariladi?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Anabazinning toksikologik ahamiyati, ajratib olinishi, chinligi, YuQX va miqdori.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Paxikarpin: qaysi tuz holida ishlab chiqariladi; yod ioni qanday aniqlanadi; chinligi va miqdoriy aniqlanishi. Koniin va arekolinning ahamiyati.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Yuldashev Z.A., Umarova G.Q., Toksikologik kimyo modulidan o‘quv-uslubiy majmua, betlar: 241-242, 242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Nazorat savollari: anabazin va paxikarpin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Nikotin, anabazin, paxikarpin; mikrokristalloskopiya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38 / 42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10911535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Anabazinning toksikologik va narkologik ahamiyatini izohlang; organizmga tarqalishi, metabolitlari, ashyolardan ajratib olish.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Anabazin chinligi qanday aniqlanadi; YuQX tahlili va miqdori qanday?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Paxikarpin sanoatda qanday tuz holida ishlab chiqariladi va ahamiyati qanday?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Paxikarpin tuzidagi yod ionini ob’ektdan ajratib olish jarayonida qanday aniqlash mumkin?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Paxikarpinning toksikologik va narkologik ahamiyati; chinligi, YuQX tahlili va miqdoriy aniqlash.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Yuldashev Z.A., Umarova G.Q., Toksikologik kimyo modulidan o‘quv-uslubiy majmua, betlar: 242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Nazorat savollari: nikotin, koniin, arekolin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Nikotin, anabazin, paxikarpin; mikrokristalloskopiya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39 / 42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10911535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Piridin va piperidin hosilali alkaloidlarni bioob’ektdan qaysi usullarda ajratib olish mumkin?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Nikotinning toksikologik va narkologik ahamiyati; nikotin toksikomaniyasi.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Nikotinning farmakologik ta’siri qanday namoyon bo‘ladi? Murda alkaloidlari nima?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Koniin alkaloidining toksikologik ahamiyati qanday?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Arekolin alkaloidining toksikologik ahamiyati qanday?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Yuldashev Z.A., Umarova G.Q., Toksikologik kimyo modulidan o‘quv-uslubiy majmua, betlar: 241, 242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Xulosa va hisobot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Nikotin, anabazin, paxikarpin; mikrokristalloskopiya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40 / 42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10911535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Nikotin: Dragendorf bilan «X»/«K» kristallar, Reyneke tuzi bilan och pushti prizmalar; UB maksimum 260 nm (0,1 M H2SO4).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Anabazin: pergidrol va H2SO4 bilan qizil/shokolad, vanilin va H2SO4 bilan qizil rang; formaldegid + HNO3 ni bermaydi.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Paxikarpin: yod ioni (xloroform binafsha), Bushard — sariq eman bargi, kobalt rodanidi — zangori prizma, brom — qizil pushti.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Yuldashev Z.A., Umarova G.Q., Toksikologik kimyo modulidan o‘quv-uslubiy majmua, betlar: 239-240, 240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Qiziqarli ma’lumotlar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Nikotin, anabazin, paxikarpin; mikrokristalloskopiya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41 / 42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63040"/>
            <a:ext cx="10911535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Nikotin tamaki o‘simligida 0,6% dan 8% gacha uchraydi; toza holda 1828 yilda ajratilgan va 1935 yilda sintez qilingan.</a:t>
            </a:r>
          </a:p>
          <a:p>
            <a:pPr>
              <a:spcAft>
                <a:spcPts val="12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Chekilganda tutun orqali 90-98% gacha nikotin organizmga tushadi; chekuvchi ayollarda qon orqali ona sutiga o‘tadi.</a:t>
            </a:r>
          </a:p>
          <a:p>
            <a:pPr>
              <a:spcAft>
                <a:spcPts val="12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Nikotin Dragendorf reaktivi bilan ba’zan uchib ketayotgan qushlarga o‘xshash «X» va «K» shaklidagi kristallar hosil qiladi; aniqlanish chegarasi 1 mkg.</a:t>
            </a:r>
          </a:p>
          <a:p>
            <a:pPr>
              <a:spcAft>
                <a:spcPts val="12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Paxikarpin organizmda yig‘ilmaydi va bir sutka ichida chiqib ketadi.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Adabiyotlar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Nikotin, anabazin, paxikarpin; mikrokristalloskopiya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42 / 42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63040"/>
            <a:ext cx="10911535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2000">
                <a:solidFill>
                  <a:srgbClr val="1F2937"/>
                </a:solidFill>
                <a:latin typeface="Calibri"/>
              </a:rPr>
              <a:t>▸  Yuldashev Z.A., Umarova G.Q. Toksikologik kimyo modulidan o‘quv-uslubiy majmua (Farmatsiya). Toshkent farmatsevtika instituti, 2025. b. 96, 103-104, 109-116, 166, 239-242</a:t>
            </a:r>
          </a:p>
          <a:p>
            <a:pPr>
              <a:spcAft>
                <a:spcPts val="800"/>
              </a:spcAft>
            </a:pPr>
            <a:r>
              <a:rPr sz="2000">
                <a:solidFill>
                  <a:srgbClr val="1F2937"/>
                </a:solidFill>
                <a:latin typeface="Calibri"/>
              </a:rPr>
              <a:t>▸  Yuldashev Z.A., Nurmatova M.I. Toksikologik kimyo modulidan o‘quv-uslubiy majmua (DVSSM). Toshkent farmatsevtika instituti, 2025. b. 247-249</a:t>
            </a:r>
          </a:p>
          <a:p>
            <a:pPr>
              <a:spcAft>
                <a:spcPts val="800"/>
              </a:spcAft>
            </a:pPr>
            <a:r>
              <a:rPr sz="2000">
                <a:solidFill>
                  <a:srgbClr val="1F2937"/>
                </a:solidFill>
                <a:latin typeface="Calibri"/>
              </a:rPr>
              <a:t>▸  Malaka materiali №117 (O‘zR SSV, loyiha matni). Sud-kimyo ekspertiza va tekshiruvlarini o‘tkazish qoidalari (6-ilova; sanasi va raqami ko‘rsatilmagan loyiha). qo‘shimcha ma’lumot (kitobda bo‘lmagan joylar uchun)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