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daqiqa. Muhokama: 1) Nega aynan yo‘ldosh va kindikdan ham material olinadi? 2) Gistologik tekshiruv makroskopik ko‘rikni qanday to‘ldiradi? Doskaga chizing: ‘Ko‘rik → material olish → gistologiya’ qisqa zanjiri. Tipik xato: gistologik tekshiruvni faqat o‘pka bilan cheklash.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3 daqiqa. Muhokama: 1) Onasi noma’lum go‘dak topilsa, birinchi navbatda qaysi savollar muhim? 2) Davolash muassasasidan tashqari tug‘ruqda nima uchun ekspertiza kerak? Doskaga chizing: uchta holatning ro‘yxati. Tipik xato: faqat zo‘raki o‘lim aniq bo‘lgandagina ekspertiza o‘tkaziladi deb o‘ylash (shubha ham yetarli).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daqiqa. Muhokama: 1) Nega umumiy savollar go‘dak ekspertizasida ham saqlanadi? 2) Nega tergovga o‘lim sababi muhim? Doskada chizish: ikki ustun – «maxsus savollar» va «umumiy savollar». Tipik xato: talabalar faqat tirik tug‘ilganlik savolini eslab, o‘lim sababi va jarohat mexanizmini unutadi.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Onasi noma’lum bo‘lsa, qaysi savollar ayniqsa muhim? 2) Qarov borligini qaysi belgilar ko‘rsatadi? Doskada chizish: oltita savolning tartibli ro‘yxati. Tipik xato: «yangi tug‘ilgan» va «tirik tug‘ilgan» tushunchalarini bir xil deb o‘ylash. Oxirgi band muhokama uchun savol, kitobda aniq tartib berilmagan.</a:t>
            </a:r>
          </a:p>
          <a:p/>
          <a:p>
            <a:r>
              <a:t>Tekshirish kerak (manbada noaniq):</a:t>
            </a:r>
          </a:p>
          <a:p>
            <a:r>
              <a:t>- Savol talabaga: ro‘yxatdan qaysi biri avval hal qilinishi kerak va nima uchun?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sud tibbiyotida muddat eng qisqa? 2) 99- va 97-moddalar jazosi nima uchun farqlanadi? Doskada chizish: uchta fan va ularning muddatlarini jadval ko‘rinishida. Tipik xato: 24 soat, 7 kun va 4 haftani aralashtirish. Eslab qoling: sud tibbiyoti – 24 soat, akusherlik – 7 kun, pediatriya – 4 hafta.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qonun ona uchun alohida modda belgilagan? 2) 99- va 97-moddalar farqi nimada? Doskada: ikki ustunli sxema chizing: “ona (99-modda)” va “boshqa shaxs (97-modda)”. Tipik xato: talabalar 99-moddani har qanday go‘dak o‘ldirishga tatbiq etadilar, aslida u faqat onaga tegishli.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3 daq. Avval savolni o‘qing, talabalar javob bersin, keyin bandlarni oching. Muhokama: nega fanlar yangi tug‘ilganlikni turlicha belgilaydi? Doskada: uch fan va uch muddatni qatorga yozing. Tipik xato: sud tibbiyoti uchun 7 kun yoki 4 hafta deb javob berish.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faqat atelektaz va kindik belgilari mutloq ishonchli? 2) Mo‘msimon qoplama yuvilmasa qancha saqlanadi? (bir haftagacha). Doskada: jadvalni ikki ustunga bo‘lib chizing (absolyut / nisbiy). Tipik xato: mekoniy yoki qon izini absolyut belgi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qon izlari faqat nisbiy belgi? 2) Mo‘msimon qoplama nima uchun kerak? Doskada: mo‘msimon qoplama tarkibini 4 komponentli ro‘yxat ko‘rinishida yozdiring. Tipik xato: yuvilgan go‘dakda qon izi va qoplama yo‘qligini yangi tug‘ilmaganlik deb talqin qilish.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Shish choklardan o‘tsa, qaysi holat ehtimol? 2) So‘rilish muddati go‘dak yoshini baholashga qanday yordam beradi? Doskada: bosh sxemasini chizib, ikki shishning chegarasini turli rangda belgilang. Tipik xato: ikkala shishni bir xil muddatda so‘riladi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Mekoniy tarkibi nimani ko‘rsatadi? 2) Demarkatsion halqa nima uchun tirik tug‘ilganlik bilan bog‘liq? Doskada: kindik o‘zgarishlarini vaqt chizig‘i (soatlar – 1-kun – 5-7 kun) shaklida chizdiring. Tipik xato: mekoniy chiqishini faqat 1-2 kun deb olib, norasoda 3-4 kun bo‘lishini unutish.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atelektaz va ajratilmagan kindik «mutlaq ishonchli» hisoblanadi? 2) Nima uchun mekoniy yoki mo‘msimon qoplama yagona asos bo‘la olmaydi? Doskada chizish: ikki ustun (absolyut | nisbiy) va belgilarni ularga taqsimlash. Tipik xato: talabalar qon izlari, mo‘msimon qoplama va tug‘ruq shishini ham absolyut belgi deb hisoblaydi.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Faqat mekoniy topilsa, go‘dak yoshi haqida qanday xulosa qilish mumkin? 2) Demarkatsion halqa nimani ko‘rsatadi? Doskada chizish: kindik o‘zgarishlari vaqt chizig‘i (nam yaltiroq, halqa, 5-7 kunda ajralish). Tipik xato: mekoniy topilishi bilan go‘dak albatta bir sutkadan yosh deb xulosa qilish.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JSST mezonlaridan nima uchun faqat nafas olish amalda tekshiriladi? 2) Mikroskopik o‘zgarishlar nafas olishni qanday isbotlaydi? Doskada chizish: nafas olgan va olmagan o‘pka alveolasining sodda sxemasi. Tipik xato: JSST mezonlarining barchasini murdada tekshirish mumkin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nega tirik tug‘ilganlik masalasi asosan nafas olgan-olmaganlik orqali hal etiladi? Natija manfiy bo‘lsa nima qilinadi? Doskada: sinama bosqichlari zanjirini chizdiring. Tipik xato: talabalar solishtirma og‘irlikni teskari eslaydi (nafas olgan o‘pka suvdan yengil). Tezkor savol: musbat natija qaysi bosqichda sinamani to‘xtatadi?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chirish gazlarini haqiqiy nafasdan qanday farqlash mumkin? Taranuxin usulida past bosim nima uchun kerak? Doskada: soxta musbat va soxta manfiy sabablarini ikki ustunda yozdiring. Tipik xato: Diqqat — soxta musbat ≠ soxta manfiy; talabalar ularning sabablarini aralashtiradi. Eslab qoling: musbat — gaz yoki havo ko‘taradi, manfiy — atelektaz bosadi.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nima uchun bu sinama go‘dak yashagan muddatni baholashga yordam beradi? Chirigan murdada nima uchun foydalanilmaydi? Doskada: oshqozon va ichaklar sxemasini chizib, havoning soatlar bo‘yicha o‘tishini belgilang. Tipik xato: muddatlarni aniq deb qabul qilish; kitobga ko‘ra ular taxminiy, ko‘p belgi birga baholanadi. Tezkor savol: havo faqat oshqozonda bo‘lsa, go‘dak qancha yashagan?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Muhokama: 1) Rentgen havoning borligini ko‘rsatsa-yu, nega tirik tug‘ilganlikni isbotlay olmaydi? 2) Qaysi holatlarda havo nafasdan boshqa yo‘l bilan paydo bo‘ladi? Doskada: havo manbalari (nafas, sun’iy ventilyatsiya, chirish gazlari) uch strelkasini chizdiring. Tipik xato: rentgendagi havoni avtomatik nafas olganlik belgisi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Savollarni og‘zaki bering, talabalar javobini keyin slayd bilan solishtiring. Muhokama: 1) Muzlagan o‘pka to‘liq erimasa natija qanday bo‘ladi? 2) Chirish gazlarini qo‘l bilan siqib qanday farqlash mumkin? Doskada: ikki ustunli jadval (soxta musbat sabablari / soxta manfiy sababi). Tipik xato: soxta musbat va soxta manfiy tushunchalarini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Nafas olgach o‘pka vazni nega ortadi? 2) Chirishning boshlanish joyi qanday yordam beradi? Doskada: ikki ko‘krak qafasi kesimini (bochkasimon va yassi) diafragma sathlari bilan chizdiring. Tipik xato: faqat makroskopik belgiga tayanib xulosa qilish; sinamalar va mikroskopiya bilan birga baholang.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Muhokama: 1) Nega alveolalar yoyilmagan o‘pka nafas olinmaganini ko‘rsatadi? 2) Arteriyalardagi bo‘rtiqlar (Mityaeva, 1970) qaysi guruhda uchraydi? Doskada: nafas olmagan alveola sxemasini chizing (kubsimon epiteliy, qalin to‘siq, bo‘sh kapillyar). Tipik xato: kubsimon epiteliyni nafas olgan o‘pka belgisi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Jadvaldagi qaysi belgi eng oson ko‘rinadi? 2) O‘pka sinamasi shubhali bo‘lsa, mikroskopiyadan qanday foydalanish mumkin? Doskada: ikki ustunli solishtirish jadvalini talabalar o‘zlari to‘ldirsin. Tipik xato: to‘siq qalinligi va epiteliy shaklini adashtirish. Tezkor savol: nafas olgan o‘pkada epiteliy qanday shaklda?</a:t>
            </a:r>
          </a:p>
          <a:p/>
          <a:p>
            <a:r>
              <a:t>Tekshirish kerak (manbada noaniq):</a:t>
            </a:r>
          </a:p>
          <a:p>
            <a:r>
              <a:t>- Kapillyarlar to‘laqonli; elastik tolalar tartibli joylashgan (matn skanerda aniq o‘qilmagan).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Muhokama: 1) Gialin membrana topilsa, go‘dak qancha yashagan bo‘lishi mumkin? 2) Nega ular nafas olmagan o‘pkada bo‘lmaydi? Doskada: alveola ichki yuzasida membrana qatlamini va uning tarkibini (albumin, globulin, fibrin) chizing. Tipik xato: gialin membranani barcha tirik tug‘ilganlarda uchraydi deb o‘ylash, aslida u asosan norasolarda va bir necha soat yashaganlarda topiladi.</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nega arteriyalardagi bo‘rtiqlar o‘lik tug‘ilganlikni ko‘rsatadi? Mikroskopik belgilarni bitta jadvalga yig‘sak nima bo‘ladi? Doskada: arteriya kesimini chizib, ichiga kurtaksimon bo‘rtiqni belgilang. Tipik xato: Mityaeva belgisini gialin membranalari bilan adashtirish.</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1-holat nimani ko‘rsatadi? Gialin membranalarning topilishi qo‘shimcha nimani bildiradi? Doskada: ikki ustunli taqqoslash (nafas olmagan va nafas olgan o‘pka). Tipik xato: yagona belgiga tayanib xulosa qilish; hamma belgilar birgalikda baholanadi.</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rasolik va yetuklik qanday farqlanadi? Surishtiruv organlari uchun ular nima uchun muhim? Doskada: ikki ustun (rasolik: muddat va o‘lchamlar; yetuklik: minimal chegaralar). Tipik xato: rasolik va yetuklikni bir xil tushuncha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nega bitta usul bilan cheklanmay, bir nechta belgi birga olinadi? Gaaze formulasi qaysi holda ildiz, qaysi holda beshga bo‘lish bilan ishlatiladi? Doskaga chizing: uchta formulani ustunlarga yozib, har biriga talabalar o‘zi son tanlab misol yechsin. Tipik xato: Gaaze formulasining ikki yarmini aralashtirish va Baltazar-Derve natijasi kun ekanini unutish.</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Beklyar yadrosi topilsa, homila yoshi haqida nima deyish mumkin? Nega o‘zaklar bo‘lmasligi har doim norasolikni bildirmaydi? Doskaga chizing: V, VII va IX oylarni vaqt chizig‘iga qo‘yib, qaysi suyak qachon paydo bo‘lishini belgilang. Tipik xato: tovon va g‘altaksimon suyaklarning oylarini almashtirish. Darslikdagi jadval VI–X oylarni qamraydi, slaydda esa ulardan ayrimlari keltirildi.</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tirik tug‘ilganlik va hayotga layoqatlilik nimasi bilan farq qiladi? Nega tashqi nuqson topilganda ichki a’zolarni tekshirish shart? Doskaga chizing: layoqatsizlik sabablarini uch shoxga (o‘ta norasolik, nuqsonlar, tug‘ruq travmasi) ajratib yozing. Tipik xato: tirik tug‘ilgan go‘dakni avtomatik ravishda hayotga layoqatli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faqat bitta belgi bilan hayot davomiyligi aniqlanmaydi? 2) Gialin membrana gistologik tekshiruvda qanday ahamiyatga ega? Doskada: soatlar va kunlar bo‘yicha vaqt chizig‘ini chizdiring. Tipik xato: muddatlarni qat’iy, aniq chegara deb o‘ylash. Aslida ular taxminiy.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Qarov belgilaridan qaysi biri huquqiy baho uchun eng muhim? 2) Antenatal, intranatal va postnatal davrlar o‘limi qanday farqlanadi? Doskada: uch davr (ante-, intra-, postnatal) va ularning asosiy sabablarini ustunlarga yozdiring. Tipik xato: tug‘ruq travmasida tashqi jarohat bo‘ladi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yo‘ldosh va kindikdan ham gistologik bo‘lakcha olinadi? 2) Kalla bo‘shlig‘ini ochishda qaysi tuzilmalar butunligini saqlash kerak? Doskada: ekspertiza ketma-ketligini chizdiring (tashqi, ichki, sinamalar, laboratoriya uchun material). Tipik xato: gistologik materialni faqat o‘pkadan olish bilan cheklanish.</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Gistologiya uchun qaysi a’zo va to‘qimalardan bo‘lakcha olinadi? 2) Sud-biologik va gistologik tekshiruv nimasi bilan farq qiladi? Doskada chizish: ‘Murda → ichki a’zolar, yo‘ldosh, kindik → bo‘lakchalar → gistologiya’ zanjirini chizdiring. Tipik xato: talabalar faqat o‘pkadan bo‘lakcha olinadi deb o‘ylaydi, yo‘ldosh va kindikni unutadi.</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Nega gistologik tekshiruv o‘pka sinamasini to‘ldiradi? 2) Muddatlar (1-2 soat, 5-6 soat) taxminiy ekanini qanday hisobga olamiz? Doskada chizish: nafas olmagan va nafas olgan o‘pka mikroskopik belgilarini yonma-yon yozing. Tipik xato: gialin membranasini nafas olmagan o‘pkada ham uchraydi deb o‘ylash.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Yangi tug'ilgan chaqaloq jasadlarini gistologik tekshirish imkoniyatlari</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mavzuning dolzarbligi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Yangi tug'ilgan chaqaloq jasadlarini gistologik tekshirish imkoniyatlari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Homila va yangi tug‘ilgan go‘dak murdasi ekspertizasi zo‘raki o‘lim alomatlari yoki unga shubha bo‘lganda o‘tkaziladi.</a:t>
            </a:r>
          </a:p>
          <a:p>
            <a:pPr>
              <a:spcAft>
                <a:spcPts val="1200"/>
              </a:spcAft>
            </a:pPr>
            <a:r>
              <a:rPr sz="2200">
                <a:solidFill>
                  <a:srgbClr val="1F2937"/>
                </a:solidFill>
                <a:latin typeface="Calibri"/>
              </a:rPr>
              <a:t>▸  Ko‘rik laboratoriya tekshiruviga material olish bilan yakunlanadi: asosan gistologik va sud-biologik tekshiruv o‘tkaziladi.</a:t>
            </a:r>
          </a:p>
          <a:p>
            <a:pPr>
              <a:spcAft>
                <a:spcPts val="1200"/>
              </a:spcAft>
            </a:pPr>
            <a:r>
              <a:rPr sz="2200">
                <a:solidFill>
                  <a:srgbClr val="1F2937"/>
                </a:solidFill>
                <a:latin typeface="Calibri"/>
              </a:rPr>
              <a:t>▸  Gistologik tekshiruv uchun ichki a’zolardan tashqari yo‘ldosh va kindikdan ham bo‘lakchalar olinadi.</a:t>
            </a:r>
          </a:p>
          <a:p>
            <a:pPr>
              <a:spcAft>
                <a:spcPts val="1200"/>
              </a:spcAft>
            </a:pPr>
            <a:r>
              <a:rPr sz="2200">
                <a:solidFill>
                  <a:srgbClr val="1F2937"/>
                </a:solidFill>
                <a:latin typeface="Calibri"/>
              </a:rPr>
              <a:t>▸  Mikroskopda nafas olmagan o‘pkada alveolalar yoyilmagan, nafas olganida yoyilgan bo‘ladi. Bu tirik tug‘ilganlikni aniqlashda qo‘llanadi.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256, 267, 261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Ekspertiza o‘tkaziladigan holatlar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Yangi tug'ilgan chaqaloq jasadlarini gistologik tekshirish imkoniyatlari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Onasi noma’lum go‘dakning murdasi topilganda ekspertiza tayinlanadi.</a:t>
            </a:r>
          </a:p>
          <a:p>
            <a:pPr>
              <a:spcAft>
                <a:spcPts val="1200"/>
              </a:spcAft>
            </a:pPr>
            <a:r>
              <a:rPr sz="2200">
                <a:solidFill>
                  <a:srgbClr val="1F2937"/>
                </a:solidFill>
                <a:latin typeface="Calibri"/>
              </a:rPr>
              <a:t>▸  Davolash muassasasidan tashqarida o‘tgan tug‘ruqda o‘lik bola tug‘ilgan hollarda ham o‘tkaziladi.</a:t>
            </a:r>
          </a:p>
          <a:p>
            <a:pPr>
              <a:spcAft>
                <a:spcPts val="1200"/>
              </a:spcAft>
            </a:pPr>
            <a:r>
              <a:rPr sz="2200">
                <a:solidFill>
                  <a:srgbClr val="1F2937"/>
                </a:solidFill>
                <a:latin typeface="Calibri"/>
              </a:rPr>
              <a:t>▸  Homilador ayolga ko‘rsatilgan tibbiy yordamga nisbatan shikoyat bo‘lganda ham ekspertiza o‘tkaziladi.</a:t>
            </a:r>
          </a:p>
          <a:p>
            <a:pPr>
              <a:spcAft>
                <a:spcPts val="1200"/>
              </a:spcAft>
            </a:pPr>
            <a:r>
              <a:rPr sz="2200">
                <a:solidFill>
                  <a:srgbClr val="1F2937"/>
                </a:solidFill>
                <a:latin typeface="Calibri"/>
              </a:rPr>
              <a:t>▸  Umumiy shart: zo‘raki o‘lim alomatlari bo‘lishi yoki unga shubha mavjudligi.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Ekspertiza oldiga qo‘yiladigan savollar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Yangi tug'ilgan chaqaloq jasadlarini gistologik tekshirish imkoniyatlari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Bu savollar maxsus tusga ega bo‘lib, boshqa murda ekspertizalaridagi savollardan farqlanadi.</a:t>
            </a:r>
          </a:p>
          <a:p>
            <a:pPr>
              <a:spcAft>
                <a:spcPts val="800"/>
              </a:spcAft>
            </a:pPr>
            <a:r>
              <a:rPr sz="1800">
                <a:solidFill>
                  <a:srgbClr val="1F2937"/>
                </a:solidFill>
                <a:latin typeface="Calibri"/>
              </a:rPr>
              <a:t>▸  Odatiy savollar ham beriladi: o‘lim sababi, muddati, jarohatlar va ularning yetkazilish mexanizmi.</a:t>
            </a:r>
          </a:p>
          <a:p>
            <a:pPr>
              <a:spcAft>
                <a:spcPts val="800"/>
              </a:spcAft>
            </a:pPr>
            <a:r>
              <a:rPr sz="1800">
                <a:solidFill>
                  <a:srgbClr val="1F2937"/>
                </a:solidFill>
                <a:latin typeface="Calibri"/>
              </a:rPr>
              <a:t>▸  Diqqat: yangi tug‘ilgan ≠ tirik tug‘ilgan; sud tibbiyotida yangi tug‘ilganlik — dastlabki 24 soat.</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880616"/>
                <a:gridCol w="3407359"/>
              </a:tblGrid>
              <a:tr h="614476">
                <a:tc>
                  <a:txBody>
                    <a:bodyPr/>
                    <a:lstStyle/>
                    <a:p>
                      <a:r>
                        <a:rPr sz="1800" b="1">
                          <a:solidFill>
                            <a:srgbClr val="FFFFFF"/>
                          </a:solidFill>
                        </a:rPr>
                        <a:t>Yo‘nalish</a:t>
                      </a:r>
                    </a:p>
                  </a:txBody>
                  <a:tcPr marL="73152" marR="73152" marT="36576" marB="36576">
                    <a:solidFill>
                      <a:srgbClr val="0B1F3A"/>
                    </a:solidFill>
                  </a:tcPr>
                </a:tc>
                <a:tc>
                  <a:txBody>
                    <a:bodyPr/>
                    <a:lstStyle/>
                    <a:p>
                      <a:r>
                        <a:rPr sz="1800" b="1">
                          <a:solidFill>
                            <a:srgbClr val="FFFFFF"/>
                          </a:solidFill>
                        </a:rPr>
                        <a:t>Savol mazmuni</a:t>
                      </a:r>
                    </a:p>
                  </a:txBody>
                  <a:tcPr marL="73152" marR="73152" marT="36576" marB="36576">
                    <a:solidFill>
                      <a:srgbClr val="0B1F3A"/>
                    </a:solidFill>
                  </a:tcPr>
                </a:tc>
              </a:tr>
              <a:tr h="614476">
                <a:tc>
                  <a:txBody>
                    <a:bodyPr/>
                    <a:lstStyle/>
                    <a:p>
                      <a:r>
                        <a:rPr sz="1700" b="0">
                          <a:solidFill>
                            <a:srgbClr val="1F2937"/>
                          </a:solidFill>
                        </a:rPr>
                        <a:t>Tug‘ilganlik holati</a:t>
                      </a:r>
                    </a:p>
                  </a:txBody>
                  <a:tcPr marL="73152" marR="73152" marT="36576" marB="36576">
                    <a:solidFill>
                      <a:srgbClr val="E8EEF6"/>
                    </a:solidFill>
                  </a:tcPr>
                </a:tc>
                <a:tc>
                  <a:txBody>
                    <a:bodyPr/>
                    <a:lstStyle/>
                    <a:p>
                      <a:r>
                        <a:rPr sz="1700" b="0">
                          <a:solidFill>
                            <a:srgbClr val="1F2937"/>
                          </a:solidFill>
                        </a:rPr>
                        <a:t>Yangi tug‘ilganmi? Tirik tug‘ilganmi?</a:t>
                      </a:r>
                    </a:p>
                  </a:txBody>
                  <a:tcPr marL="73152" marR="73152" marT="36576" marB="36576">
                    <a:solidFill>
                      <a:srgbClr val="E8EEF6"/>
                    </a:solidFill>
                  </a:tcPr>
                </a:tc>
              </a:tr>
              <a:tr h="614476">
                <a:tc>
                  <a:txBody>
                    <a:bodyPr/>
                    <a:lstStyle/>
                    <a:p>
                      <a:r>
                        <a:rPr sz="1700" b="0">
                          <a:solidFill>
                            <a:srgbClr val="1F2937"/>
                          </a:solidFill>
                        </a:rPr>
                        <a:t>Yosh va layoqat</a:t>
                      </a:r>
                    </a:p>
                  </a:txBody>
                  <a:tcPr marL="73152" marR="73152" marT="36576" marB="36576">
                    <a:solidFill>
                      <a:srgbClr val="FFFFFF"/>
                    </a:solidFill>
                  </a:tcPr>
                </a:tc>
                <a:tc>
                  <a:txBody>
                    <a:bodyPr/>
                    <a:lstStyle/>
                    <a:p>
                      <a:r>
                        <a:rPr sz="1700" b="0">
                          <a:solidFill>
                            <a:srgbClr val="1F2937"/>
                          </a:solidFill>
                        </a:rPr>
                        <a:t>Gestatsion yosh; hayotga layoqatlimi?</a:t>
                      </a:r>
                    </a:p>
                  </a:txBody>
                  <a:tcPr marL="73152" marR="73152" marT="36576" marB="36576">
                    <a:solidFill>
                      <a:srgbClr val="FFFFFF"/>
                    </a:solidFill>
                  </a:tcPr>
                </a:tc>
              </a:tr>
              <a:tr h="614476">
                <a:tc>
                  <a:txBody>
                    <a:bodyPr/>
                    <a:lstStyle/>
                    <a:p>
                      <a:r>
                        <a:rPr sz="1700" b="0">
                          <a:solidFill>
                            <a:srgbClr val="1F2937"/>
                          </a:solidFill>
                        </a:rPr>
                        <a:t>Yashash muddati</a:t>
                      </a:r>
                    </a:p>
                  </a:txBody>
                  <a:tcPr marL="73152" marR="73152" marT="36576" marB="36576">
                    <a:solidFill>
                      <a:srgbClr val="E8EEF6"/>
                    </a:solidFill>
                  </a:tcPr>
                </a:tc>
                <a:tc>
                  <a:txBody>
                    <a:bodyPr/>
                    <a:lstStyle/>
                    <a:p>
                      <a:r>
                        <a:rPr sz="1700" b="0">
                          <a:solidFill>
                            <a:srgbClr val="1F2937"/>
                          </a:solidFill>
                        </a:rPr>
                        <a:t>Tirik tug‘ilgan bo‘lsa, qancha yashagan?</a:t>
                      </a:r>
                    </a:p>
                  </a:txBody>
                  <a:tcPr marL="73152" marR="73152" marT="36576" marB="36576">
                    <a:solidFill>
                      <a:srgbClr val="E8EEF6"/>
                    </a:solidFill>
                  </a:tcPr>
                </a:tc>
              </a:tr>
              <a:tr h="614476">
                <a:tc>
                  <a:txBody>
                    <a:bodyPr/>
                    <a:lstStyle/>
                    <a:p>
                      <a:r>
                        <a:rPr sz="1700" b="0">
                          <a:solidFill>
                            <a:srgbClr val="1F2937"/>
                          </a:solidFill>
                        </a:rPr>
                        <a:t>Qarov</a:t>
                      </a:r>
                    </a:p>
                  </a:txBody>
                  <a:tcPr marL="73152" marR="73152" marT="36576" marB="36576">
                    <a:solidFill>
                      <a:srgbClr val="FFFFFF"/>
                    </a:solidFill>
                  </a:tcPr>
                </a:tc>
                <a:tc>
                  <a:txBody>
                    <a:bodyPr/>
                    <a:lstStyle/>
                    <a:p>
                      <a:r>
                        <a:rPr sz="1700" b="0">
                          <a:solidFill>
                            <a:srgbClr val="1F2937"/>
                          </a:solidFill>
                        </a:rPr>
                        <a:t>Go‘dakka tegishli qarov bo‘lganmi?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Asosiy savollar</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Qo‘shimcha savollar: o‘lim sababi va jarohatlar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Yangi tug'ilgan chaqaloq jasadlarini gistologik tekshirish imkoniyatlari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Go‘dakka xos maxsus savollardan tashqari, boshqa murda ekspertizalaridagi umumiy savollar ham beriladi.</a:t>
            </a:r>
          </a:p>
          <a:p>
            <a:pPr>
              <a:spcAft>
                <a:spcPts val="1200"/>
              </a:spcAft>
            </a:pPr>
            <a:r>
              <a:rPr sz="2200">
                <a:solidFill>
                  <a:srgbClr val="1F2937"/>
                </a:solidFill>
                <a:latin typeface="Calibri"/>
              </a:rPr>
              <a:t>▸  Ekspertdan o‘limning sababi va muddatini aniqlash so‘raladi.</a:t>
            </a:r>
          </a:p>
          <a:p>
            <a:pPr>
              <a:spcAft>
                <a:spcPts val="1200"/>
              </a:spcAft>
            </a:pPr>
            <a:r>
              <a:rPr sz="2200">
                <a:solidFill>
                  <a:srgbClr val="1F2937"/>
                </a:solidFill>
                <a:latin typeface="Calibri"/>
              </a:rPr>
              <a:t>▸  Tan jarohatlarining bor-yo‘qligi va ularning yetkazilish mexanizmi aniqlanadi.</a:t>
            </a:r>
          </a:p>
          <a:p>
            <a:pPr>
              <a:spcAft>
                <a:spcPts val="1200"/>
              </a:spcAft>
            </a:pPr>
            <a:r>
              <a:rPr sz="2200">
                <a:solidFill>
                  <a:srgbClr val="1F2937"/>
                </a:solidFill>
                <a:latin typeface="Calibri"/>
              </a:rPr>
              <a:t>▸  Huquqni muhofaza idoralari uchun aktiv yoki passiv o‘ldirishni ajratishdan ko‘ra o‘limning aniq sababi muhimroq.</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256, 266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murda topilishi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Yangi tug'ilgan chaqaloq jasadlarini gistologik tekshirish imkoniyatlari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onasi noma’lum go‘dak murdasi topildi. Bunday holatda zo‘raki o‘lim shubhasi bilan ekspertiza tayinlanadi.</a:t>
            </a:r>
          </a:p>
          <a:p>
            <a:pPr>
              <a:spcAft>
                <a:spcPts val="1200"/>
              </a:spcAft>
            </a:pPr>
            <a:r>
              <a:rPr sz="2200">
                <a:solidFill>
                  <a:srgbClr val="1F2937"/>
                </a:solidFill>
                <a:latin typeface="Calibri"/>
              </a:rPr>
              <a:t>▸  Birinchi savollar: go‘dak yangi tug‘ilganmi, tirik tug‘ilganmi va gestatsion (homila) yoshi qanday?</a:t>
            </a:r>
          </a:p>
          <a:p>
            <a:pPr>
              <a:spcAft>
                <a:spcPts val="1200"/>
              </a:spcAft>
            </a:pPr>
            <a:r>
              <a:rPr sz="2200">
                <a:solidFill>
                  <a:srgbClr val="1F2937"/>
                </a:solidFill>
                <a:latin typeface="Calibri"/>
              </a:rPr>
              <a:t>▸  Keyingi savollar: hayotga layoqatlimi, qancha yashagan va unga qarov bo‘lganmi?</a:t>
            </a:r>
          </a:p>
          <a:p>
            <a:pPr>
              <a:spcAft>
                <a:spcPts val="1200"/>
              </a:spcAft>
            </a:pPr>
            <a:r>
              <a:rPr sz="2200">
                <a:solidFill>
                  <a:srgbClr val="1F2937"/>
                </a:solidFill>
                <a:latin typeface="Calibri"/>
              </a:rPr>
              <a:t>▸  Savol talabaga: ro‘yxatdan qaysi biri avval hal qilinishi kerak va nima uchun?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Yangi tug‘ilganlik tushunchasi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Yangi tug'ilgan chaqaloq jasadlarini gistologik tekshirish imkoniyatlari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Sud tibbiyotida «yangi tug‘ilganlik» pediatriya va akusherlik-ginekologiyadagi ma’nodan farq qiladi.</a:t>
            </a:r>
          </a:p>
          <a:p>
            <a:pPr>
              <a:spcAft>
                <a:spcPts val="800"/>
              </a:spcAft>
            </a:pPr>
            <a:r>
              <a:rPr sz="1800">
                <a:solidFill>
                  <a:srgbClr val="1F2937"/>
                </a:solidFill>
                <a:latin typeface="Calibri"/>
              </a:rPr>
              <a:t>▸  Qonunga bog‘liq: Jinoyat kodeksi (JK) 99-moddasi onaning tug‘ish chog‘ida qasddan o‘ldirishini ajratadi.</a:t>
            </a:r>
          </a:p>
          <a:p>
            <a:pPr>
              <a:spcAft>
                <a:spcPts val="800"/>
              </a:spcAft>
            </a:pPr>
            <a:r>
              <a:rPr sz="1800">
                <a:solidFill>
                  <a:srgbClr val="1F2937"/>
                </a:solidFill>
                <a:latin typeface="Calibri"/>
              </a:rPr>
              <a:t>▸  Boshqa shaxs o‘ldirsa, bu JK 97-moddasi bo‘yicha qasddan odam o‘ldirish deb baholanadi.</a:t>
            </a:r>
          </a:p>
        </p:txBody>
      </p:sp>
      <p:graphicFrame>
        <p:nvGraphicFramePr>
          <p:cNvPr id="9" name="Table 8"/>
          <p:cNvGraphicFramePr>
            <a:graphicFrameLocks noGrp="1"/>
          </p:cNvGraphicFramePr>
          <p:nvPr/>
        </p:nvGraphicFramePr>
        <p:xfrm>
          <a:off x="6263640" y="1463040"/>
          <a:ext cx="5287975" cy="3072384"/>
        </p:xfrm>
        <a:graphic>
          <a:graphicData uri="http://schemas.openxmlformats.org/drawingml/2006/table">
            <a:tbl>
              <a:tblPr firstRow="1" bandRow="1">
                <a:tableStyleId>{5C22544A-7EE6-4342-B048-85BDC9FD1C3A}</a:tableStyleId>
              </a:tblPr>
              <a:tblGrid>
                <a:gridCol w="3353053"/>
                <a:gridCol w="1934922"/>
              </a:tblGrid>
              <a:tr h="768096">
                <a:tc>
                  <a:txBody>
                    <a:bodyPr/>
                    <a:lstStyle/>
                    <a:p>
                      <a:r>
                        <a:rPr sz="1800" b="1">
                          <a:solidFill>
                            <a:srgbClr val="FFFFFF"/>
                          </a:solidFill>
                        </a:rPr>
                        <a:t>Fan</a:t>
                      </a:r>
                    </a:p>
                  </a:txBody>
                  <a:tcPr marL="73152" marR="73152" marT="36576" marB="36576">
                    <a:solidFill>
                      <a:srgbClr val="0B1F3A"/>
                    </a:solidFill>
                  </a:tcPr>
                </a:tc>
                <a:tc>
                  <a:txBody>
                    <a:bodyPr/>
                    <a:lstStyle/>
                    <a:p>
                      <a:r>
                        <a:rPr sz="1800" b="1">
                          <a:solidFill>
                            <a:srgbClr val="FFFFFF"/>
                          </a:solidFill>
                        </a:rPr>
                        <a:t>Davr</a:t>
                      </a:r>
                    </a:p>
                  </a:txBody>
                  <a:tcPr marL="73152" marR="73152" marT="36576" marB="36576">
                    <a:solidFill>
                      <a:srgbClr val="0B1F3A"/>
                    </a:solidFill>
                  </a:tcPr>
                </a:tc>
              </a:tr>
              <a:tr h="768096">
                <a:tc>
                  <a:txBody>
                    <a:bodyPr/>
                    <a:lstStyle/>
                    <a:p>
                      <a:r>
                        <a:rPr sz="1700" b="0">
                          <a:solidFill>
                            <a:srgbClr val="1F2937"/>
                          </a:solidFill>
                        </a:rPr>
                        <a:t>Sud tibbiyoti</a:t>
                      </a:r>
                    </a:p>
                  </a:txBody>
                  <a:tcPr marL="73152" marR="73152" marT="36576" marB="36576">
                    <a:solidFill>
                      <a:srgbClr val="E8EEF6"/>
                    </a:solidFill>
                  </a:tcPr>
                </a:tc>
                <a:tc>
                  <a:txBody>
                    <a:bodyPr/>
                    <a:lstStyle/>
                    <a:p>
                      <a:r>
                        <a:rPr sz="1700" b="0">
                          <a:solidFill>
                            <a:srgbClr val="1F2937"/>
                          </a:solidFill>
                        </a:rPr>
                        <a:t>dastlabki 24 soat</a:t>
                      </a:r>
                    </a:p>
                  </a:txBody>
                  <a:tcPr marL="73152" marR="73152" marT="36576" marB="36576">
                    <a:solidFill>
                      <a:srgbClr val="E8EEF6"/>
                    </a:solidFill>
                  </a:tcPr>
                </a:tc>
              </a:tr>
              <a:tr h="768096">
                <a:tc>
                  <a:txBody>
                    <a:bodyPr/>
                    <a:lstStyle/>
                    <a:p>
                      <a:r>
                        <a:rPr sz="1700" b="0">
                          <a:solidFill>
                            <a:srgbClr val="1F2937"/>
                          </a:solidFill>
                        </a:rPr>
                        <a:t>Pediatriya</a:t>
                      </a:r>
                    </a:p>
                  </a:txBody>
                  <a:tcPr marL="73152" marR="73152" marT="36576" marB="36576">
                    <a:solidFill>
                      <a:srgbClr val="FFFFFF"/>
                    </a:solidFill>
                  </a:tcPr>
                </a:tc>
                <a:tc>
                  <a:txBody>
                    <a:bodyPr/>
                    <a:lstStyle/>
                    <a:p>
                      <a:r>
                        <a:rPr sz="1700" b="0">
                          <a:solidFill>
                            <a:srgbClr val="1F2937"/>
                          </a:solidFill>
                        </a:rPr>
                        <a:t>4 hafta (neonatal davr)</a:t>
                      </a:r>
                    </a:p>
                  </a:txBody>
                  <a:tcPr marL="73152" marR="73152" marT="36576" marB="36576">
                    <a:solidFill>
                      <a:srgbClr val="FFFFFF"/>
                    </a:solidFill>
                  </a:tcPr>
                </a:tc>
              </a:tr>
              <a:tr h="768096">
                <a:tc>
                  <a:txBody>
                    <a:bodyPr/>
                    <a:lstStyle/>
                    <a:p>
                      <a:r>
                        <a:rPr sz="1700" b="0">
                          <a:solidFill>
                            <a:srgbClr val="1F2937"/>
                          </a:solidFill>
                        </a:rPr>
                        <a:t>Akusherlik-ginekologiya</a:t>
                      </a:r>
                    </a:p>
                  </a:txBody>
                  <a:tcPr marL="73152" marR="73152" marT="36576" marB="36576">
                    <a:solidFill>
                      <a:srgbClr val="E8EEF6"/>
                    </a:solidFill>
                  </a:tcPr>
                </a:tc>
                <a:tc>
                  <a:txBody>
                    <a:bodyPr/>
                    <a:lstStyle/>
                    <a:p>
                      <a:r>
                        <a:rPr sz="1700" b="0">
                          <a:solidFill>
                            <a:srgbClr val="1F2937"/>
                          </a:solidFill>
                        </a:rPr>
                        <a:t>7 kun</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Yangi tug‘ilganlik muddati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Yangi tug‘ilganlikning huquqiy ahamiyati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Yangi tug'ilgan chaqaloq jasadlarini gistologik tekshirish imkoniyatlari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Sud tibbiyotida “yangi tug‘ilganlik” davri dastlabki 24 soatni tashkil etadi. Bu xususiyat qonunchilik talablari bilan bog‘liq.</a:t>
            </a:r>
          </a:p>
          <a:p>
            <a:pPr>
              <a:spcAft>
                <a:spcPts val="1200"/>
              </a:spcAft>
            </a:pPr>
            <a:r>
              <a:rPr sz="2200">
                <a:solidFill>
                  <a:srgbClr val="1F2937"/>
                </a:solidFill>
                <a:latin typeface="Calibri"/>
              </a:rPr>
              <a:t>▸  JK 99-modda: onaning go‘dagini tug‘ish vaqtida yoki tug‘ilishi hamon qasddan o‘ldirishi alohida ajratilgan. Jazo qasddan odam o‘ldirishdan ancha yengil.</a:t>
            </a:r>
          </a:p>
          <a:p>
            <a:pPr>
              <a:spcAft>
                <a:spcPts val="1200"/>
              </a:spcAft>
            </a:pPr>
            <a:r>
              <a:rPr sz="2200">
                <a:solidFill>
                  <a:srgbClr val="1F2937"/>
                </a:solidFill>
                <a:latin typeface="Calibri"/>
              </a:rPr>
              <a:t>▸  Tug‘ruq taxminan bir sutkaga yaqin davom etadi. Og‘riq va psixo-emotsional holat tufayli ona o‘zi to‘liq anglamagan holda bolaga shikast yetkazishi mumkin.</a:t>
            </a:r>
          </a:p>
          <a:p>
            <a:pPr>
              <a:spcAft>
                <a:spcPts val="1200"/>
              </a:spcAft>
            </a:pPr>
            <a:r>
              <a:rPr sz="2200">
                <a:solidFill>
                  <a:srgbClr val="1F2937"/>
                </a:solidFill>
                <a:latin typeface="Calibri"/>
              </a:rPr>
              <a:t>▸  Xuddi shu harakatni boshqa shaxs qilsa, u JK 97-modda bo‘yicha qasddan odam o‘ldirish sifatida baholanadi.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yangi tug‘ilganlik muddati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Yangi tug'ilgan chaqaloq jasadlarini gistologik tekshirish imkoniyatlari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pediatriya, akusherlik-ginekologiya va sud tibbiyotida yangi tug‘ilganlik davri qancha davom etadi?</a:t>
            </a:r>
          </a:p>
          <a:p>
            <a:pPr>
              <a:spcAft>
                <a:spcPts val="1200"/>
              </a:spcAft>
            </a:pPr>
            <a:r>
              <a:rPr sz="2200">
                <a:solidFill>
                  <a:srgbClr val="1F2937"/>
                </a:solidFill>
                <a:latin typeface="Calibri"/>
              </a:rPr>
              <a:t>▸  Pediatriyada bu tug‘ruqdan keyingi to‘rt hafta (neonatal davr). Akusherlik-ginekologiyada esa etti kun.</a:t>
            </a:r>
          </a:p>
          <a:p>
            <a:pPr>
              <a:spcAft>
                <a:spcPts val="1200"/>
              </a:spcAft>
            </a:pPr>
            <a:r>
              <a:rPr sz="2200">
                <a:solidFill>
                  <a:srgbClr val="1F2937"/>
                </a:solidFill>
                <a:latin typeface="Calibri"/>
              </a:rPr>
              <a:t>▸  Sud tibbiyotida bu davr dastlabki 24 soatni tashkil etadi.</a:t>
            </a:r>
          </a:p>
          <a:p>
            <a:pPr>
              <a:spcAft>
                <a:spcPts val="1200"/>
              </a:spcAft>
            </a:pPr>
            <a:r>
              <a:rPr sz="2200">
                <a:solidFill>
                  <a:srgbClr val="1F2937"/>
                </a:solidFill>
                <a:latin typeface="Calibri"/>
              </a:rPr>
              <a:t>▸  Diqqat: xato qilish xavfi! 4 hafta ≠ 7 kun ≠ 24 soat. Sud-tibbiy muddatni pediatriya muddati bilan aralashtirmang.</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Yangi tug‘ilganlik belgilari: umumiy ko‘rinish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Yangi tug'ilgan chaqaloq jasadlarini gistologik tekshirish imkoniyatlari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Belgilar: tanada qon izlari, mo‘msimon qoplama, tug‘ruq shishi, mekoniy, kindik, o‘pka atelektazi.</a:t>
            </a:r>
          </a:p>
          <a:p>
            <a:pPr>
              <a:spcAft>
                <a:spcPts val="800"/>
              </a:spcAft>
            </a:pPr>
            <a:r>
              <a:rPr sz="1800">
                <a:solidFill>
                  <a:srgbClr val="1F2937"/>
                </a:solidFill>
                <a:latin typeface="Calibri"/>
              </a:rPr>
              <a:t>▸  Faqat atelektaz va kindikdagi belgilar absolyut, ya’ni mutloq ishonchli hisoblanadi.</a:t>
            </a:r>
          </a:p>
          <a:p>
            <a:pPr>
              <a:spcAft>
                <a:spcPts val="800"/>
              </a:spcAft>
            </a:pPr>
            <a:r>
              <a:rPr sz="1800">
                <a:solidFill>
                  <a:srgbClr val="1F2937"/>
                </a:solidFill>
                <a:latin typeface="Calibri"/>
              </a:rPr>
              <a:t>▸  Qolgan belgilar nisbiy; ular hayotning 2-kunida va keyin ham aniqlanishi mumkin.</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219200"/>
                <a:gridCol w="2355033"/>
                <a:gridCol w="1713741"/>
              </a:tblGrid>
              <a:tr h="614476">
                <a:tc>
                  <a:txBody>
                    <a:bodyPr/>
                    <a:lstStyle/>
                    <a:p>
                      <a:r>
                        <a:rPr sz="1600" b="1">
                          <a:solidFill>
                            <a:srgbClr val="FFFFFF"/>
                          </a:solidFill>
                        </a:rPr>
                        <a:t>Turi</a:t>
                      </a:r>
                    </a:p>
                  </a:txBody>
                  <a:tcPr marL="73152" marR="73152" marT="36576" marB="36576">
                    <a:solidFill>
                      <a:srgbClr val="0B1F3A"/>
                    </a:solidFill>
                  </a:tcPr>
                </a:tc>
                <a:tc>
                  <a:txBody>
                    <a:bodyPr/>
                    <a:lstStyle/>
                    <a:p>
                      <a:r>
                        <a:rPr sz="1600" b="1">
                          <a:solidFill>
                            <a:srgbClr val="FFFFFF"/>
                          </a:solidFill>
                        </a:rPr>
                        <a:t>Belgi</a:t>
                      </a:r>
                    </a:p>
                  </a:txBody>
                  <a:tcPr marL="73152" marR="73152" marT="36576" marB="36576">
                    <a:solidFill>
                      <a:srgbClr val="0B1F3A"/>
                    </a:solidFill>
                  </a:tcPr>
                </a:tc>
                <a:tc>
                  <a:txBody>
                    <a:bodyPr/>
                    <a:lstStyle/>
                    <a:p>
                      <a:r>
                        <a:rPr sz="1600" b="1">
                          <a:solidFill>
                            <a:srgbClr val="FFFFFF"/>
                          </a:solidFill>
                        </a:rPr>
                        <a:t>Ishonchlilik</a:t>
                      </a:r>
                    </a:p>
                  </a:txBody>
                  <a:tcPr marL="73152" marR="73152" marT="36576" marB="36576">
                    <a:solidFill>
                      <a:srgbClr val="0B1F3A"/>
                    </a:solidFill>
                  </a:tcPr>
                </a:tc>
              </a:tr>
              <a:tr h="614476">
                <a:tc>
                  <a:txBody>
                    <a:bodyPr/>
                    <a:lstStyle/>
                    <a:p>
                      <a:r>
                        <a:rPr sz="1500" b="0">
                          <a:solidFill>
                            <a:srgbClr val="1F2937"/>
                          </a:solidFill>
                        </a:rPr>
                        <a:t>Absolyut</a:t>
                      </a:r>
                    </a:p>
                  </a:txBody>
                  <a:tcPr marL="73152" marR="73152" marT="36576" marB="36576">
                    <a:solidFill>
                      <a:srgbClr val="E8EEF6"/>
                    </a:solidFill>
                  </a:tcPr>
                </a:tc>
                <a:tc>
                  <a:txBody>
                    <a:bodyPr/>
                    <a:lstStyle/>
                    <a:p>
                      <a:r>
                        <a:rPr sz="1500" b="0">
                          <a:solidFill>
                            <a:srgbClr val="1F2937"/>
                          </a:solidFill>
                        </a:rPr>
                        <a:t>Birlamchi o‘pka atelektazi</a:t>
                      </a:r>
                    </a:p>
                  </a:txBody>
                  <a:tcPr marL="73152" marR="73152" marT="36576" marB="36576">
                    <a:solidFill>
                      <a:srgbClr val="E8EEF6"/>
                    </a:solidFill>
                  </a:tcPr>
                </a:tc>
                <a:tc>
                  <a:txBody>
                    <a:bodyPr/>
                    <a:lstStyle/>
                    <a:p>
                      <a:r>
                        <a:rPr sz="1500" b="0">
                          <a:solidFill>
                            <a:srgbClr val="1F2937"/>
                          </a:solidFill>
                        </a:rPr>
                        <a:t>Mutlaq ishonchli</a:t>
                      </a:r>
                    </a:p>
                  </a:txBody>
                  <a:tcPr marL="73152" marR="73152" marT="36576" marB="36576">
                    <a:solidFill>
                      <a:srgbClr val="E8EEF6"/>
                    </a:solidFill>
                  </a:tcPr>
                </a:tc>
              </a:tr>
              <a:tr h="614476">
                <a:tc>
                  <a:txBody>
                    <a:bodyPr/>
                    <a:lstStyle/>
                    <a:p>
                      <a:r>
                        <a:rPr sz="1500" b="0">
                          <a:solidFill>
                            <a:srgbClr val="1F2937"/>
                          </a:solidFill>
                        </a:rPr>
                        <a:t>Absolyut</a:t>
                      </a:r>
                    </a:p>
                  </a:txBody>
                  <a:tcPr marL="73152" marR="73152" marT="36576" marB="36576">
                    <a:solidFill>
                      <a:srgbClr val="FFFFFF"/>
                    </a:solidFill>
                  </a:tcPr>
                </a:tc>
                <a:tc>
                  <a:txBody>
                    <a:bodyPr/>
                    <a:lstStyle/>
                    <a:p>
                      <a:r>
                        <a:rPr sz="1500" b="0">
                          <a:solidFill>
                            <a:srgbClr val="1F2937"/>
                          </a:solidFill>
                        </a:rPr>
                        <a:t>Demarkatsion halqa yo‘q yoki boshlang‘ich</a:t>
                      </a:r>
                    </a:p>
                  </a:txBody>
                  <a:tcPr marL="73152" marR="73152" marT="36576" marB="36576">
                    <a:solidFill>
                      <a:srgbClr val="FFFFFF"/>
                    </a:solidFill>
                  </a:tcPr>
                </a:tc>
                <a:tc>
                  <a:txBody>
                    <a:bodyPr/>
                    <a:lstStyle/>
                    <a:p>
                      <a:r>
                        <a:rPr sz="1500" b="0">
                          <a:solidFill>
                            <a:srgbClr val="1F2937"/>
                          </a:solidFill>
                        </a:rPr>
                        <a:t>Mutlaq ishonchli</a:t>
                      </a:r>
                    </a:p>
                  </a:txBody>
                  <a:tcPr marL="73152" marR="73152" marT="36576" marB="36576">
                    <a:solidFill>
                      <a:srgbClr val="FFFFFF"/>
                    </a:solidFill>
                  </a:tcPr>
                </a:tc>
              </a:tr>
              <a:tr h="614476">
                <a:tc>
                  <a:txBody>
                    <a:bodyPr/>
                    <a:lstStyle/>
                    <a:p>
                      <a:r>
                        <a:rPr sz="1500" b="0">
                          <a:solidFill>
                            <a:srgbClr val="1F2937"/>
                          </a:solidFill>
                        </a:rPr>
                        <a:t>Absolyut</a:t>
                      </a:r>
                    </a:p>
                  </a:txBody>
                  <a:tcPr marL="73152" marR="73152" marT="36576" marB="36576">
                    <a:solidFill>
                      <a:srgbClr val="E8EEF6"/>
                    </a:solidFill>
                  </a:tcPr>
                </a:tc>
                <a:tc>
                  <a:txBody>
                    <a:bodyPr/>
                    <a:lstStyle/>
                    <a:p>
                      <a:r>
                        <a:rPr sz="1500" b="0">
                          <a:solidFill>
                            <a:srgbClr val="1F2937"/>
                          </a:solidFill>
                        </a:rPr>
                        <a:t>Tana va yo‘ldoshdan ajralmagan kindik</a:t>
                      </a:r>
                    </a:p>
                  </a:txBody>
                  <a:tcPr marL="73152" marR="73152" marT="36576" marB="36576">
                    <a:solidFill>
                      <a:srgbClr val="E8EEF6"/>
                    </a:solidFill>
                  </a:tcPr>
                </a:tc>
                <a:tc>
                  <a:txBody>
                    <a:bodyPr/>
                    <a:lstStyle/>
                    <a:p>
                      <a:r>
                        <a:rPr sz="1500" b="0">
                          <a:solidFill>
                            <a:srgbClr val="1F2937"/>
                          </a:solidFill>
                        </a:rPr>
                        <a:t>Mutlaq ishonchli</a:t>
                      </a:r>
                    </a:p>
                  </a:txBody>
                  <a:tcPr marL="73152" marR="73152" marT="36576" marB="36576">
                    <a:solidFill>
                      <a:srgbClr val="E8EEF6"/>
                    </a:solidFill>
                  </a:tcPr>
                </a:tc>
              </a:tr>
              <a:tr h="614476">
                <a:tc>
                  <a:txBody>
                    <a:bodyPr/>
                    <a:lstStyle/>
                    <a:p>
                      <a:r>
                        <a:rPr sz="1500" b="0">
                          <a:solidFill>
                            <a:srgbClr val="1F2937"/>
                          </a:solidFill>
                        </a:rPr>
                        <a:t>Nisbiy</a:t>
                      </a:r>
                    </a:p>
                  </a:txBody>
                  <a:tcPr marL="73152" marR="73152" marT="36576" marB="36576">
                    <a:solidFill>
                      <a:srgbClr val="FFFFFF"/>
                    </a:solidFill>
                  </a:tcPr>
                </a:tc>
                <a:tc>
                  <a:txBody>
                    <a:bodyPr/>
                    <a:lstStyle/>
                    <a:p>
                      <a:r>
                        <a:rPr sz="1500" b="0">
                          <a:solidFill>
                            <a:srgbClr val="1F2937"/>
                          </a:solidFill>
                        </a:rPr>
                        <a:t>Qon izi, mo‘msimon qoplama, shish, mekoniy</a:t>
                      </a:r>
                    </a:p>
                  </a:txBody>
                  <a:tcPr marL="73152" marR="73152" marT="36576" marB="36576">
                    <a:solidFill>
                      <a:srgbClr val="FFFFFF"/>
                    </a:solidFill>
                  </a:tcPr>
                </a:tc>
                <a:tc>
                  <a:txBody>
                    <a:bodyPr/>
                    <a:lstStyle/>
                    <a:p>
                      <a:r>
                        <a:rPr sz="1500" b="0">
                          <a:solidFill>
                            <a:srgbClr val="1F2937"/>
                          </a:solidFill>
                        </a:rPr>
                        <a:t>2-kun va keyin ham uchraydi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Absolyut va nisbiy belgilar</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257-258, 258-259, 259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Qon izlari va mo‘msimon qoplama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Yangi tug'ilgan chaqaloq jasadlarini gistologik tekshirish imkoniyatlari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Tashqi jarohat bo‘lmasa, tanada qon izlarining topilishi yangi tug‘ilganlik belgisi. Ular tug‘ruq yo‘llari yumshoq to‘qimalarining yorilishi, darz ketishidan hosil bo‘ladi.</a:t>
            </a:r>
          </a:p>
          <a:p>
            <a:pPr>
              <a:spcAft>
                <a:spcPts val="1200"/>
              </a:spcAft>
            </a:pPr>
            <a:r>
              <a:rPr sz="2200">
                <a:solidFill>
                  <a:srgbClr val="1F2937"/>
                </a:solidFill>
                <a:latin typeface="Calibri"/>
              </a:rPr>
              <a:t>▸  Diqqat: go‘dak tanasi yuvilganda qon izlari yo‘qoladi.</a:t>
            </a:r>
          </a:p>
          <a:p>
            <a:pPr>
              <a:spcAft>
                <a:spcPts val="1200"/>
              </a:spcAft>
            </a:pPr>
            <a:r>
              <a:rPr sz="2200">
                <a:solidFill>
                  <a:srgbClr val="1F2937"/>
                </a:solidFill>
                <a:latin typeface="Calibri"/>
              </a:rPr>
              <a:t>▸  Mo‘msimon qoplama oqimtir-kulrang, yarim quyuq massa. U yog‘ bezlari sekreti (V homila oyidan), ko‘chgan epidermis hujayralari, tuk sochlar va qog‘onoq suvlari aralashmasidan iborat.</a:t>
            </a:r>
          </a:p>
          <a:p>
            <a:pPr>
              <a:spcAft>
                <a:spcPts val="1200"/>
              </a:spcAft>
            </a:pPr>
            <a:r>
              <a:rPr sz="2200">
                <a:solidFill>
                  <a:srgbClr val="1F2937"/>
                </a:solidFill>
                <a:latin typeface="Calibri"/>
              </a:rPr>
              <a:t>▸  Qoplama homila terisini qog‘onoq suvlarida matseratsiyadan himoya qiladi. Burmalarda, qo‘ltiq ostida, oraliqda ko‘proq bo‘ladi; yuvilmasa bir haftagacha saqlanadi.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Tug‘ruq shishi va kefalogematoma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Yangi tug'ilgan chaqaloq jasadlarini gistologik tekshirish imkoniyatlari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Tug‘ruq shishi tor tos va sust tug‘ruqda, ko‘pincha bosh, ba’zan dumba sohasida chiqadi.</a:t>
            </a:r>
          </a:p>
          <a:p>
            <a:pPr>
              <a:spcAft>
                <a:spcPts val="800"/>
              </a:spcAft>
            </a:pPr>
            <a:r>
              <a:rPr sz="1800">
                <a:solidFill>
                  <a:srgbClr val="1F2937"/>
                </a:solidFill>
                <a:latin typeface="Calibri"/>
              </a:rPr>
              <a:t>▸  Tug‘ruq shishi yumshoq, kesmada qizgish-sariq rangda bo‘ladi.</a:t>
            </a:r>
          </a:p>
          <a:p>
            <a:pPr>
              <a:spcAft>
                <a:spcPts val="800"/>
              </a:spcAft>
            </a:pPr>
            <a:r>
              <a:rPr sz="1800">
                <a:solidFill>
                  <a:srgbClr val="1F2937"/>
                </a:solidFill>
                <a:latin typeface="Calibri"/>
              </a:rPr>
              <a:t>▸  Diqqat: tug‘ruq shishi ≠ kefalogematoma; farq joylashuv va so‘rilish muddatida.</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455420"/>
                <a:gridCol w="1848807"/>
                <a:gridCol w="1983747"/>
              </a:tblGrid>
              <a:tr h="614476">
                <a:tc>
                  <a:txBody>
                    <a:bodyPr/>
                    <a:lstStyle/>
                    <a:p>
                      <a:r>
                        <a:rPr sz="1600" b="1">
                          <a:solidFill>
                            <a:srgbClr val="FFFFFF"/>
                          </a:solidFill>
                        </a:rPr>
                        <a:t>Belgi</a:t>
                      </a:r>
                    </a:p>
                  </a:txBody>
                  <a:tcPr marL="73152" marR="73152" marT="36576" marB="36576">
                    <a:solidFill>
                      <a:srgbClr val="0B1F3A"/>
                    </a:solidFill>
                  </a:tcPr>
                </a:tc>
                <a:tc>
                  <a:txBody>
                    <a:bodyPr/>
                    <a:lstStyle/>
                    <a:p>
                      <a:r>
                        <a:rPr sz="1600" b="1">
                          <a:solidFill>
                            <a:srgbClr val="FFFFFF"/>
                          </a:solidFill>
                        </a:rPr>
                        <a:t>Tug‘ruq shishi</a:t>
                      </a:r>
                    </a:p>
                  </a:txBody>
                  <a:tcPr marL="73152" marR="73152" marT="36576" marB="36576">
                    <a:solidFill>
                      <a:srgbClr val="0B1F3A"/>
                    </a:solidFill>
                  </a:tcPr>
                </a:tc>
                <a:tc>
                  <a:txBody>
                    <a:bodyPr/>
                    <a:lstStyle/>
                    <a:p>
                      <a:r>
                        <a:rPr sz="1600" b="1">
                          <a:solidFill>
                            <a:srgbClr val="FFFFFF"/>
                          </a:solidFill>
                        </a:rPr>
                        <a:t>Kefalogematoma</a:t>
                      </a:r>
                    </a:p>
                  </a:txBody>
                  <a:tcPr marL="73152" marR="73152" marT="36576" marB="36576">
                    <a:solidFill>
                      <a:srgbClr val="0B1F3A"/>
                    </a:solidFill>
                  </a:tcPr>
                </a:tc>
              </a:tr>
              <a:tr h="614476">
                <a:tc>
                  <a:txBody>
                    <a:bodyPr/>
                    <a:lstStyle/>
                    <a:p>
                      <a:r>
                        <a:rPr sz="1500" b="0">
                          <a:solidFill>
                            <a:srgbClr val="1F2937"/>
                          </a:solidFill>
                        </a:rPr>
                        <a:t>Hosil bo‘lishi</a:t>
                      </a:r>
                    </a:p>
                  </a:txBody>
                  <a:tcPr marL="73152" marR="73152" marT="36576" marB="36576">
                    <a:solidFill>
                      <a:srgbClr val="E8EEF6"/>
                    </a:solidFill>
                  </a:tcPr>
                </a:tc>
                <a:tc>
                  <a:txBody>
                    <a:bodyPr/>
                    <a:lstStyle/>
                    <a:p>
                      <a:r>
                        <a:rPr sz="1500" b="0">
                          <a:solidFill>
                            <a:srgbClr val="1F2937"/>
                          </a:solidFill>
                        </a:rPr>
                        <a:t>Mahalliy qon aylanishi buzilishi</a:t>
                      </a:r>
                    </a:p>
                  </a:txBody>
                  <a:tcPr marL="73152" marR="73152" marT="36576" marB="36576">
                    <a:solidFill>
                      <a:srgbClr val="E8EEF6"/>
                    </a:solidFill>
                  </a:tcPr>
                </a:tc>
                <a:tc>
                  <a:txBody>
                    <a:bodyPr/>
                    <a:lstStyle/>
                    <a:p>
                      <a:r>
                        <a:rPr sz="1500" b="0">
                          <a:solidFill>
                            <a:srgbClr val="1F2937"/>
                          </a:solidFill>
                        </a:rPr>
                        <a:t>Suyak usti pardasi ostiga qon quyilishi</a:t>
                      </a:r>
                    </a:p>
                  </a:txBody>
                  <a:tcPr marL="73152" marR="73152" marT="36576" marB="36576">
                    <a:solidFill>
                      <a:srgbClr val="E8EEF6"/>
                    </a:solidFill>
                  </a:tcPr>
                </a:tc>
              </a:tr>
              <a:tr h="614476">
                <a:tc>
                  <a:txBody>
                    <a:bodyPr/>
                    <a:lstStyle/>
                    <a:p>
                      <a:r>
                        <a:rPr sz="1500" b="0">
                          <a:solidFill>
                            <a:srgbClr val="1F2937"/>
                          </a:solidFill>
                        </a:rPr>
                        <a:t>Joylashuvi</a:t>
                      </a:r>
                    </a:p>
                  </a:txBody>
                  <a:tcPr marL="73152" marR="73152" marT="36576" marB="36576">
                    <a:solidFill>
                      <a:srgbClr val="FFFFFF"/>
                    </a:solidFill>
                  </a:tcPr>
                </a:tc>
                <a:tc>
                  <a:txBody>
                    <a:bodyPr/>
                    <a:lstStyle/>
                    <a:p>
                      <a:r>
                        <a:rPr sz="1500" b="0">
                          <a:solidFill>
                            <a:srgbClr val="1F2937"/>
                          </a:solidFill>
                        </a:rPr>
                        <a:t>Choklar proeksiyasida ham aniqlanadi</a:t>
                      </a:r>
                    </a:p>
                  </a:txBody>
                  <a:tcPr marL="73152" marR="73152" marT="36576" marB="36576">
                    <a:solidFill>
                      <a:srgbClr val="FFFFFF"/>
                    </a:solidFill>
                  </a:tcPr>
                </a:tc>
                <a:tc>
                  <a:txBody>
                    <a:bodyPr/>
                    <a:lstStyle/>
                    <a:p>
                      <a:r>
                        <a:rPr sz="1500" b="0">
                          <a:solidFill>
                            <a:srgbClr val="1F2937"/>
                          </a:solidFill>
                        </a:rPr>
                        <a:t>Suyak ustida, choklar bilan chegaralangan</a:t>
                      </a:r>
                    </a:p>
                  </a:txBody>
                  <a:tcPr marL="73152" marR="73152" marT="36576" marB="36576">
                    <a:solidFill>
                      <a:srgbClr val="FFFFFF"/>
                    </a:solidFill>
                  </a:tcPr>
                </a:tc>
              </a:tr>
              <a:tr h="614476">
                <a:tc>
                  <a:txBody>
                    <a:bodyPr/>
                    <a:lstStyle/>
                    <a:p>
                      <a:r>
                        <a:rPr sz="1500" b="0">
                          <a:solidFill>
                            <a:srgbClr val="1F2937"/>
                          </a:solidFill>
                        </a:rPr>
                        <a:t>Tarkibi</a:t>
                      </a:r>
                    </a:p>
                  </a:txBody>
                  <a:tcPr marL="73152" marR="73152" marT="36576" marB="36576">
                    <a:solidFill>
                      <a:srgbClr val="E8EEF6"/>
                    </a:solidFill>
                  </a:tcPr>
                </a:tc>
                <a:tc>
                  <a:txBody>
                    <a:bodyPr/>
                    <a:lstStyle/>
                    <a:p>
                      <a:r>
                        <a:rPr sz="1500" b="0">
                          <a:solidFill>
                            <a:srgbClr val="1F2937"/>
                          </a:solidFill>
                        </a:rPr>
                        <a:t>Qon aralash seroz suyuqlik</a:t>
                      </a:r>
                    </a:p>
                  </a:txBody>
                  <a:tcPr marL="73152" marR="73152" marT="36576" marB="36576">
                    <a:solidFill>
                      <a:srgbClr val="E8EEF6"/>
                    </a:solidFill>
                  </a:tcPr>
                </a:tc>
                <a:tc>
                  <a:txBody>
                    <a:bodyPr/>
                    <a:lstStyle/>
                    <a:p>
                      <a:r>
                        <a:rPr sz="1500" b="0">
                          <a:solidFill>
                            <a:srgbClr val="1F2937"/>
                          </a:solidFill>
                        </a:rPr>
                        <a:t>Suyak usti pardasi ostidagi qon</a:t>
                      </a:r>
                    </a:p>
                  </a:txBody>
                  <a:tcPr marL="73152" marR="73152" marT="36576" marB="36576">
                    <a:solidFill>
                      <a:srgbClr val="E8EEF6"/>
                    </a:solidFill>
                  </a:tcPr>
                </a:tc>
              </a:tr>
              <a:tr h="614476">
                <a:tc>
                  <a:txBody>
                    <a:bodyPr/>
                    <a:lstStyle/>
                    <a:p>
                      <a:r>
                        <a:rPr sz="1500" b="0">
                          <a:solidFill>
                            <a:srgbClr val="1F2937"/>
                          </a:solidFill>
                        </a:rPr>
                        <a:t>So‘rilishi</a:t>
                      </a:r>
                    </a:p>
                  </a:txBody>
                  <a:tcPr marL="73152" marR="73152" marT="36576" marB="36576">
                    <a:solidFill>
                      <a:srgbClr val="FFFFFF"/>
                    </a:solidFill>
                  </a:tcPr>
                </a:tc>
                <a:tc>
                  <a:txBody>
                    <a:bodyPr/>
                    <a:lstStyle/>
                    <a:p>
                      <a:r>
                        <a:rPr sz="1500" b="0">
                          <a:solidFill>
                            <a:srgbClr val="1F2937"/>
                          </a:solidFill>
                        </a:rPr>
                        <a:t>2-3 kunda</a:t>
                      </a:r>
                    </a:p>
                  </a:txBody>
                  <a:tcPr marL="73152" marR="73152" marT="36576" marB="36576">
                    <a:solidFill>
                      <a:srgbClr val="FFFFFF"/>
                    </a:solidFill>
                  </a:tcPr>
                </a:tc>
                <a:tc>
                  <a:txBody>
                    <a:bodyPr/>
                    <a:lstStyle/>
                    <a:p>
                      <a:r>
                        <a:rPr sz="1500" b="0">
                          <a:solidFill>
                            <a:srgbClr val="1F2937"/>
                          </a:solidFill>
                        </a:rPr>
                        <a:t>2 hafta va undan ko‘p</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Ikki shishni farqlash</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Mekoniy va kindik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Yangi tug'ilgan chaqaloq jasadlarini gistologik tekshirish imkoniyatlari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Mekoniy (birlamchi najas) — to‘q-yashil yarim suyuq massa: yo‘g‘on ichakda, orqa chiqaruv teshigi atrofi, dumba va son sohalarida. Tarkibida shilliq, o‘t pigmenti, ichak epiteliysi, tuk sochlar bor.</a:t>
            </a:r>
          </a:p>
          <a:p>
            <a:pPr>
              <a:spcAft>
                <a:spcPts val="1200"/>
              </a:spcAft>
            </a:pPr>
            <a:r>
              <a:rPr sz="2000">
                <a:solidFill>
                  <a:srgbClr val="1F2937"/>
                </a:solidFill>
                <a:latin typeface="Calibri"/>
              </a:rPr>
              <a:t>▸  Mekoniy odatda tug‘ruqdan keyin 1-2 kunda ichakdan to‘liq chiqadi; norasoda bu muddat 3-4 kungacha cho‘ziladi.</a:t>
            </a:r>
          </a:p>
          <a:p>
            <a:pPr>
              <a:spcAft>
                <a:spcPts val="1200"/>
              </a:spcAft>
            </a:pPr>
            <a:r>
              <a:rPr sz="2000">
                <a:solidFill>
                  <a:srgbClr val="1F2937"/>
                </a:solidFill>
                <a:latin typeface="Calibri"/>
              </a:rPr>
              <a:t>▸  Yangi tug‘ilganda kindik nam, yaltiroq, oqimtir-qizg‘ish; qurib bujmayadi, qo‘ng‘ir-sariq, so‘ng qo‘ng‘ir-qora tusga kiradi.</a:t>
            </a:r>
          </a:p>
          <a:p>
            <a:pPr>
              <a:spcAft>
                <a:spcPts val="1200"/>
              </a:spcAft>
            </a:pPr>
            <a:r>
              <a:rPr sz="2000">
                <a:solidFill>
                  <a:srgbClr val="1F2937"/>
                </a:solidFill>
                <a:latin typeface="Calibri"/>
              </a:rPr>
              <a:t>▸  Tirik tug‘ilganda kindik asosida bir necha soatdan, ba’zan 1-kun oxirida qizg‘ish demarkatsion halqa (reaktiv yallig‘lanish) paydo bo‘ladi. 5-7 kundan so‘ng kindik shu chiziqdan ajraladi.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257, 258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Birlamchi atelektaz va absolyut belgilar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Yangi tug'ilgan chaqaloq jasadlarini gistologik tekshirish imkoniyatlari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Nafas olmagan o‘pka birlamchi atelektaz holatida bo‘ladi. Bunday go‘dak faqat bir necha soniya yashashi mumkin.</a:t>
            </a:r>
          </a:p>
          <a:p>
            <a:pPr>
              <a:spcAft>
                <a:spcPts val="1200"/>
              </a:spcAft>
            </a:pPr>
            <a:r>
              <a:rPr sz="2200">
                <a:solidFill>
                  <a:srgbClr val="1F2937"/>
                </a:solidFill>
                <a:latin typeface="Calibri"/>
              </a:rPr>
              <a:t>▸  Absolyut (mutlaq ishonchli) belgilar: o‘pkaning birlamchi atelektazi, demarkatsion halqaning yo‘qligi yoki dastlabki belgilari, tana va yo‘ldoshdan ajratilmagan kindik.</a:t>
            </a:r>
          </a:p>
          <a:p>
            <a:pPr>
              <a:spcAft>
                <a:spcPts val="1200"/>
              </a:spcAft>
            </a:pPr>
            <a:r>
              <a:rPr sz="2200">
                <a:solidFill>
                  <a:srgbClr val="1F2937"/>
                </a:solidFill>
                <a:latin typeface="Calibri"/>
              </a:rPr>
              <a:t>▸  Qolgan belgilar nisbiy xarakterga ega. Ular go‘dak hayotining ikkinchi va keyingi kunlarida ham aniqlanishi mumkin.</a:t>
            </a:r>
          </a:p>
          <a:p>
            <a:pPr>
              <a:spcAft>
                <a:spcPts val="1200"/>
              </a:spcAft>
            </a:pPr>
            <a:r>
              <a:rPr sz="2200">
                <a:solidFill>
                  <a:srgbClr val="1F2937"/>
                </a:solidFill>
                <a:latin typeface="Calibri"/>
              </a:rPr>
              <a:t>▸  Diqqat: xato qilish xavfi! Absolyut ≠ nisbiy belgi. Masalan, yuvilmagan go‘dakda mo‘msimon qoplama bir haftagacha saqlanadi, shuning uchun u yagona dalil bo‘la olmaydi.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258, 258-259, 259, 257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yangi tug‘ilganlik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Yangi tug'ilgan chaqaloq jasadlarini gistologik tekshirish imkoniyatlari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murdada kindik nam, yaltiroq, oqimtir-qizg‘ish, tana va yo‘ldoshdan ajratilmagan. Orqa chiqaruv teshigi atrofida to‘q-yashil yarim suyuq massa (mekoniy) bor.</a:t>
            </a:r>
          </a:p>
          <a:p>
            <a:pPr>
              <a:spcAft>
                <a:spcPts val="1200"/>
              </a:spcAft>
            </a:pPr>
            <a:r>
              <a:rPr sz="2200">
                <a:solidFill>
                  <a:srgbClr val="1F2937"/>
                </a:solidFill>
                <a:latin typeface="Calibri"/>
              </a:rPr>
              <a:t>▸  Tana va yo‘ldoshdan ajratilmagan kindik absolyut belgi. Demak, go‘dak yangi tug‘ilgan deb baholanadi.</a:t>
            </a:r>
          </a:p>
          <a:p>
            <a:pPr>
              <a:spcAft>
                <a:spcPts val="1200"/>
              </a:spcAft>
            </a:pPr>
            <a:r>
              <a:rPr sz="2200">
                <a:solidFill>
                  <a:srgbClr val="1F2937"/>
                </a:solidFill>
                <a:latin typeface="Calibri"/>
              </a:rPr>
              <a:t>▸  Mekoniy odatda tug‘ruqdan keyin 1-2 kunda ichakdan to‘liq chiqadi. Norasolarda bu muddat 3-4 kungacha cho‘ziladi. Mekoniy nisbiy belgi.</a:t>
            </a:r>
          </a:p>
          <a:p>
            <a:pPr>
              <a:spcAft>
                <a:spcPts val="1200"/>
              </a:spcAft>
            </a:pPr>
            <a:r>
              <a:rPr sz="2200">
                <a:solidFill>
                  <a:srgbClr val="1F2937"/>
                </a:solidFill>
                <a:latin typeface="Calibri"/>
              </a:rPr>
              <a:t>▸  Savol: kindikda demarkatsion halqa shakllangan bo‘lsa, nima deyish mumkin? Halqa bir necha soatdan, ba’zan birinchi kun oxirida paydo bo‘ladi, kindik esa 5-7 kunda ajraladi.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257-258, 258-259, 257, 258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Tirik tug‘ilganlik mezonlari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Yangi tug'ilgan chaqaloq jasadlarini gistologik tekshirish imkoniyatlari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Jahon sog‘liqni saqlash tashkiloti (JSST) mezonlari: ona organizmidan tashqarida nafas olish, yurak urishi, kindik pulsatsiyasi yoki ixtiyoriy harakatlar.</a:t>
            </a:r>
          </a:p>
          <a:p>
            <a:pPr>
              <a:spcAft>
                <a:spcPts val="1200"/>
              </a:spcAft>
            </a:pPr>
            <a:r>
              <a:rPr sz="2200">
                <a:solidFill>
                  <a:srgbClr val="1F2937"/>
                </a:solidFill>
                <a:latin typeface="Calibri"/>
              </a:rPr>
              <a:t>▸  Sud tibbiyotida yurak urishi, kindik pulsatsiyasi va ixtiyoriy harakatni o‘limdan keyin aniqlash usullari hozircha ishlab chiqilmagan.</a:t>
            </a:r>
          </a:p>
          <a:p>
            <a:pPr>
              <a:spcAft>
                <a:spcPts val="1200"/>
              </a:spcAft>
            </a:pPr>
            <a:r>
              <a:rPr sz="2200">
                <a:solidFill>
                  <a:srgbClr val="1F2937"/>
                </a:solidFill>
                <a:latin typeface="Calibri"/>
              </a:rPr>
              <a:t>▸  Shu sababli tirik tug‘ilganlik masalasi asosan go‘dak nafas olgan yoki olmaganini aniqlash orqali hal etiladi.</a:t>
            </a:r>
          </a:p>
          <a:p>
            <a:pPr>
              <a:spcAft>
                <a:spcPts val="1200"/>
              </a:spcAft>
            </a:pPr>
            <a:r>
              <a:rPr sz="2200">
                <a:solidFill>
                  <a:srgbClr val="1F2937"/>
                </a:solidFill>
                <a:latin typeface="Calibri"/>
              </a:rPr>
              <a:t>▸  Mikroskopda nafas olgan o‘pkada alveolalar yoyilgan, epiteliy yassi. Nafas olmaganda alveolalar yoyilmagan, epiteliy kubsimon.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259, 261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O‘pka sinamasi (Galen–Rauger–Shreer)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Yangi tug'ilgan chaqaloq jasadlarini gistologik tekshirish imkoniyatlari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Sinamani sud-tibbiy amaliyotda 1681 yilda birinchi bo‘lib I. Shreer qo‘llagan.</a:t>
            </a:r>
          </a:p>
          <a:p>
            <a:pPr>
              <a:spcAft>
                <a:spcPts val="800"/>
              </a:spcAft>
            </a:pPr>
            <a:r>
              <a:rPr sz="1800">
                <a:solidFill>
                  <a:srgbClr val="1F2937"/>
                </a:solidFill>
                <a:latin typeface="Calibri"/>
              </a:rPr>
              <a:t>▸  Nafas olmagan o‘pka suvdan og‘ir (1,05–1,06); nafas olgan o‘pkada bu ko‘rsatkich 1,0 dan past.</a:t>
            </a:r>
          </a:p>
          <a:p>
            <a:pPr>
              <a:spcAft>
                <a:spcPts val="800"/>
              </a:spcAft>
            </a:pPr>
            <a:r>
              <a:rPr sz="1800">
                <a:solidFill>
                  <a:srgbClr val="1F2937"/>
                </a:solidFill>
                <a:latin typeface="Calibri"/>
              </a:rPr>
              <a:t>▸  Manfiy bo‘lsa, o‘pka, bo‘lak va bo‘lakchalar alohida solinadi; musbat natijada sinama to‘xtatiladi.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Ligaturalar qo‘yish</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Kompleks suvli idishda</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Cho‘ksa: o‘pka alohida</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Keyin bo‘lak, bo‘lakchalar</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Musbat natija: to‘xtatish</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Sinama bosqichlari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O‘pka sinamasining soxta natijalari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Yangi tug'ilgan chaqaloq jasadlarini gistologik tekshirish imkoniyatlari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Chirigan murda, sun’iy nafas oldirilgan yoki yaxshi erimagan muzlagan o‘pkada sinama soxta musbat bo‘lishi mumkin.</a:t>
            </a:r>
          </a:p>
          <a:p>
            <a:pPr>
              <a:spcAft>
                <a:spcPts val="1200"/>
              </a:spcAft>
            </a:pPr>
            <a:r>
              <a:rPr sz="2200">
                <a:solidFill>
                  <a:srgbClr val="1F2937"/>
                </a:solidFill>
                <a:latin typeface="Calibri"/>
              </a:rPr>
              <a:t>▸  Chirish gazidan qalqigan bo‘lak suv ostida qo‘l bilan siqilsa, qayta suzib chiqmaydi. Muzlagan o‘pka to‘liq erisa cho‘kadi.</a:t>
            </a:r>
          </a:p>
          <a:p>
            <a:pPr>
              <a:spcAft>
                <a:spcPts val="1200"/>
              </a:spcAft>
            </a:pPr>
            <a:r>
              <a:rPr sz="2200">
                <a:solidFill>
                  <a:srgbClr val="1F2937"/>
                </a:solidFill>
                <a:latin typeface="Calibri"/>
              </a:rPr>
              <a:t>▸  Ikkilamchi atelektazda avval nafas olgan o‘pka yallig‘lanish yoki nafas yo‘llari yopilishi tufayli bosiladi; sinama soxta manfiy beradi.</a:t>
            </a:r>
          </a:p>
          <a:p>
            <a:pPr>
              <a:spcAft>
                <a:spcPts val="1200"/>
              </a:spcAft>
            </a:pPr>
            <a:r>
              <a:rPr sz="2200">
                <a:solidFill>
                  <a:srgbClr val="1F2937"/>
                </a:solidFill>
                <a:latin typeface="Calibri"/>
              </a:rPr>
              <a:t>▸  Bunda Taranuxin (1907) yoki Traxtenberg (1958) usuli qo‘llanadi: bo‘lakcha kolbada past bosimga qo‘yiladi, atelektazli bo‘lakcha qalqib chiqadi.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Oshqozon-ichak sinamasi (Breslau)</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Yangi tug'ilgan chaqaloq jasadlarini gistologik tekshirish imkoniyatlari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Nafas olganda havoning bir qismi qizilo‘ngach orqali oshqozon va ichaklarga o‘tadi; sinama shunga asoslangan (V. Breslau, 1865).</a:t>
            </a:r>
          </a:p>
          <a:p>
            <a:pPr>
              <a:spcAft>
                <a:spcPts val="1200"/>
              </a:spcAft>
            </a:pPr>
            <a:r>
              <a:rPr sz="2200">
                <a:solidFill>
                  <a:srgbClr val="1F2937"/>
                </a:solidFill>
                <a:latin typeface="Calibri"/>
              </a:rPr>
              <a:t>▸  Oshqozonning kirish-chiqish qismi, ichakning havoli joylari va to‘g‘ri ichakka ligatura qo‘yiladi, a’zolar suvga solinadi. Havoli joy qalqib chiqadi, teshilsa pufakchalar chiqadi.</a:t>
            </a:r>
          </a:p>
          <a:p>
            <a:pPr>
              <a:spcAft>
                <a:spcPts val="1200"/>
              </a:spcAft>
            </a:pPr>
            <a:r>
              <a:rPr sz="2200">
                <a:solidFill>
                  <a:srgbClr val="1F2937"/>
                </a:solidFill>
                <a:latin typeface="Calibri"/>
              </a:rPr>
              <a:t>▸  Havo asta-sekin o‘tadi: faqat oshqozonda bo‘lsa go‘dak 3 soatdan kam yashagan; 6 soatdan so‘ng havo yo‘g‘on ichakka o‘tadi.</a:t>
            </a:r>
          </a:p>
          <a:p>
            <a:pPr>
              <a:spcAft>
                <a:spcPts val="1200"/>
              </a:spcAft>
            </a:pPr>
            <a:r>
              <a:rPr sz="2200">
                <a:solidFill>
                  <a:srgbClr val="1F2937"/>
                </a:solidFill>
                <a:latin typeface="Calibri"/>
              </a:rPr>
              <a:t>▸  Chirish gazlari va sun’iy nafas oldirishda soxta musbat beradi, shuning uchun bunday holatlarda tavsiya etilmaydi.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260, 264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Rentgenologik sinama va uning cheklovi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Yangi tug'ilgan chaqaloq jasadlarini gistologik tekshirish imkoniyatlari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Sinama murdani ochishdan oldin o‘pka, oshqozon va ichaklarda havo borligini aniqlashga asoslangan.</a:t>
            </a:r>
          </a:p>
          <a:p>
            <a:pPr>
              <a:spcAft>
                <a:spcPts val="1200"/>
              </a:spcAft>
            </a:pPr>
            <a:r>
              <a:rPr sz="2200">
                <a:solidFill>
                  <a:srgbClr val="1F2937"/>
                </a:solidFill>
                <a:latin typeface="Calibri"/>
              </a:rPr>
              <a:t>▸  Uni 1939 yilda Y.G. Dillon tavsiya etgan.</a:t>
            </a:r>
          </a:p>
          <a:p>
            <a:pPr>
              <a:spcAft>
                <a:spcPts val="1200"/>
              </a:spcAft>
            </a:pPr>
            <a:r>
              <a:rPr sz="2200">
                <a:solidFill>
                  <a:srgbClr val="1F2937"/>
                </a:solidFill>
                <a:latin typeface="Calibri"/>
              </a:rPr>
              <a:t>▸  Rentgen nafas olgan o‘pkani sun’iy ventilyatsiya qilingan o‘pkadan va chirish gazlari bor holatdan ajrata olmaydi.</a:t>
            </a:r>
          </a:p>
          <a:p>
            <a:pPr>
              <a:spcAft>
                <a:spcPts val="1200"/>
              </a:spcAft>
            </a:pPr>
            <a:r>
              <a:rPr sz="2200">
                <a:solidFill>
                  <a:srgbClr val="1F2937"/>
                </a:solidFill>
                <a:latin typeface="Calibri"/>
              </a:rPr>
              <a:t>▸  Maxsus jihoz kerak, imkoniyati cheklangan. Shu sabab hozir sud-tibbiy ekspertiza amaliyotida qo‘llanmaydi.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sinamalar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Yangi tug'ilgan chaqaloq jasadlarini gistologik tekshirish imkoniyatlari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chirigan murdada o‘pka sinamasi qanday natija berishi mumkin? Javob: soxta musbat, chunki chirish gazlari o‘pkani qalqitadi.</a:t>
            </a:r>
          </a:p>
          <a:p>
            <a:pPr>
              <a:spcAft>
                <a:spcPts val="1200"/>
              </a:spcAft>
            </a:pPr>
            <a:r>
              <a:rPr sz="2200">
                <a:solidFill>
                  <a:srgbClr val="1F2937"/>
                </a:solidFill>
                <a:latin typeface="Calibri"/>
              </a:rPr>
              <a:t>▸  Savol: ikkilamchi atelektazda natija qanday bo‘ladi? Javob: soxta manfiy. Taranuxin (1907) usuli yoki uning Traxtenberg modifikatsiyasi (1958) tavsiya etiladi.</a:t>
            </a:r>
          </a:p>
          <a:p>
            <a:pPr>
              <a:spcAft>
                <a:spcPts val="1200"/>
              </a:spcAft>
            </a:pPr>
            <a:r>
              <a:rPr sz="2200">
                <a:solidFill>
                  <a:srgbClr val="1F2937"/>
                </a:solidFill>
                <a:latin typeface="Calibri"/>
              </a:rPr>
              <a:t>▸  Savol: sun’iy nafas oldirishda oshqozon-ichak sinamasi ishonchlimi? Javob: yo‘q, havo oshqozonga ham o‘tadi, sinama tavsiya etilmaydi.</a:t>
            </a:r>
          </a:p>
          <a:p>
            <a:pPr>
              <a:spcAft>
                <a:spcPts val="1200"/>
              </a:spcAft>
            </a:pPr>
            <a:r>
              <a:rPr sz="2200">
                <a:solidFill>
                  <a:srgbClr val="1F2937"/>
                </a:solidFill>
                <a:latin typeface="Calibri"/>
              </a:rPr>
              <a:t>▸  Diqqat: xato qilish xavfi. Soxta musbat ≠ soxta manfiy: birinchisida o‘lik o‘pka suzadi, ikkinchisida nafas olgan o‘pka cho‘kadi.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259, 260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Makroskopik belgilar: tirik va o‘lik tug‘ilgan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Yangi tug'ilgan chaqaloq jasadlarini gistologik tekshirish imkoniyatlari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Nafas olgan o‘pka ko‘krak qafasini deyarli to‘ldiradi, elastik, qisilganda ko‘pikli qon ajraladi.</a:t>
            </a:r>
          </a:p>
          <a:p>
            <a:pPr>
              <a:spcAft>
                <a:spcPts val="800"/>
              </a:spcAft>
            </a:pPr>
            <a:r>
              <a:rPr sz="1800">
                <a:solidFill>
                  <a:srgbClr val="1F2937"/>
                </a:solidFill>
                <a:latin typeface="Calibri"/>
              </a:rPr>
              <a:t>▸  Nafas olmagan o‘pka kichik, zich, umurtqa pog‘onasiga yaqin; qisilganda ozroq qon ajraladi.</a:t>
            </a:r>
          </a:p>
          <a:p>
            <a:pPr>
              <a:spcAft>
                <a:spcPts val="800"/>
              </a:spcAft>
            </a:pPr>
            <a:r>
              <a:rPr sz="1800">
                <a:solidFill>
                  <a:srgbClr val="1F2937"/>
                </a:solidFill>
                <a:latin typeface="Calibri"/>
              </a:rPr>
              <a:t>▸  Tirik tug‘ilganda chirish nafas a’zolaridan, o‘lik tug‘ilganda odatda tabiiy teshiklardan boshlanadi.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337310"/>
                <a:gridCol w="2022806"/>
                <a:gridCol w="1927859"/>
              </a:tblGrid>
              <a:tr h="614476">
                <a:tc>
                  <a:txBody>
                    <a:bodyPr/>
                    <a:lstStyle/>
                    <a:p>
                      <a:r>
                        <a:rPr sz="1600" b="1">
                          <a:solidFill>
                            <a:srgbClr val="FFFFFF"/>
                          </a:solidFill>
                        </a:rPr>
                        <a:t>Belgi</a:t>
                      </a:r>
                    </a:p>
                  </a:txBody>
                  <a:tcPr marL="73152" marR="73152" marT="36576" marB="36576">
                    <a:solidFill>
                      <a:srgbClr val="0B1F3A"/>
                    </a:solidFill>
                  </a:tcPr>
                </a:tc>
                <a:tc>
                  <a:txBody>
                    <a:bodyPr/>
                    <a:lstStyle/>
                    <a:p>
                      <a:r>
                        <a:rPr sz="1600" b="1">
                          <a:solidFill>
                            <a:srgbClr val="FFFFFF"/>
                          </a:solidFill>
                        </a:rPr>
                        <a:t>Tirik</a:t>
                      </a:r>
                    </a:p>
                  </a:txBody>
                  <a:tcPr marL="73152" marR="73152" marT="36576" marB="36576">
                    <a:solidFill>
                      <a:srgbClr val="0B1F3A"/>
                    </a:solidFill>
                  </a:tcPr>
                </a:tc>
                <a:tc>
                  <a:txBody>
                    <a:bodyPr/>
                    <a:lstStyle/>
                    <a:p>
                      <a:r>
                        <a:rPr sz="1600" b="1">
                          <a:solidFill>
                            <a:srgbClr val="FFFFFF"/>
                          </a:solidFill>
                        </a:rPr>
                        <a:t>O‘lik</a:t>
                      </a:r>
                    </a:p>
                  </a:txBody>
                  <a:tcPr marL="73152" marR="73152" marT="36576" marB="36576">
                    <a:solidFill>
                      <a:srgbClr val="0B1F3A"/>
                    </a:solidFill>
                  </a:tcPr>
                </a:tc>
              </a:tr>
              <a:tr h="614476">
                <a:tc>
                  <a:txBody>
                    <a:bodyPr/>
                    <a:lstStyle/>
                    <a:p>
                      <a:r>
                        <a:rPr sz="1500" b="0">
                          <a:solidFill>
                            <a:srgbClr val="1F2937"/>
                          </a:solidFill>
                        </a:rPr>
                        <a:t>Ko‘krak qafasi</a:t>
                      </a:r>
                    </a:p>
                  </a:txBody>
                  <a:tcPr marL="73152" marR="73152" marT="36576" marB="36576">
                    <a:solidFill>
                      <a:srgbClr val="E8EEF6"/>
                    </a:solidFill>
                  </a:tcPr>
                </a:tc>
                <a:tc>
                  <a:txBody>
                    <a:bodyPr/>
                    <a:lstStyle/>
                    <a:p>
                      <a:r>
                        <a:rPr sz="1500" b="0">
                          <a:solidFill>
                            <a:srgbClr val="1F2937"/>
                          </a:solidFill>
                        </a:rPr>
                        <a:t>Bochkasimon, qobirg‘alar oralig‘i keng</a:t>
                      </a:r>
                    </a:p>
                  </a:txBody>
                  <a:tcPr marL="73152" marR="73152" marT="36576" marB="36576">
                    <a:solidFill>
                      <a:srgbClr val="E8EEF6"/>
                    </a:solidFill>
                  </a:tcPr>
                </a:tc>
                <a:tc>
                  <a:txBody>
                    <a:bodyPr/>
                    <a:lstStyle/>
                    <a:p>
                      <a:r>
                        <a:rPr sz="1500" b="0">
                          <a:solidFill>
                            <a:srgbClr val="1F2937"/>
                          </a:solidFill>
                        </a:rPr>
                        <a:t>Yassi, qobirg‘alar oralig‘i tor</a:t>
                      </a:r>
                    </a:p>
                  </a:txBody>
                  <a:tcPr marL="73152" marR="73152" marT="36576" marB="36576">
                    <a:solidFill>
                      <a:srgbClr val="E8EEF6"/>
                    </a:solidFill>
                  </a:tcPr>
                </a:tc>
              </a:tr>
              <a:tr h="614476">
                <a:tc>
                  <a:txBody>
                    <a:bodyPr/>
                    <a:lstStyle/>
                    <a:p>
                      <a:r>
                        <a:rPr sz="1500" b="0">
                          <a:solidFill>
                            <a:srgbClr val="1F2937"/>
                          </a:solidFill>
                        </a:rPr>
                        <a:t>Diafragma gumbazi</a:t>
                      </a:r>
                    </a:p>
                  </a:txBody>
                  <a:tcPr marL="73152" marR="73152" marT="36576" marB="36576">
                    <a:solidFill>
                      <a:srgbClr val="FFFFFF"/>
                    </a:solidFill>
                  </a:tcPr>
                </a:tc>
                <a:tc>
                  <a:txBody>
                    <a:bodyPr/>
                    <a:lstStyle/>
                    <a:p>
                      <a:r>
                        <a:rPr sz="1500" b="0">
                          <a:solidFill>
                            <a:srgbClr val="1F2937"/>
                          </a:solidFill>
                        </a:rPr>
                        <a:t>VI-VII qobirg‘alar sathida</a:t>
                      </a:r>
                    </a:p>
                  </a:txBody>
                  <a:tcPr marL="73152" marR="73152" marT="36576" marB="36576">
                    <a:solidFill>
                      <a:srgbClr val="FFFFFF"/>
                    </a:solidFill>
                  </a:tcPr>
                </a:tc>
                <a:tc>
                  <a:txBody>
                    <a:bodyPr/>
                    <a:lstStyle/>
                    <a:p>
                      <a:r>
                        <a:rPr sz="1500" b="0">
                          <a:solidFill>
                            <a:srgbClr val="1F2937"/>
                          </a:solidFill>
                        </a:rPr>
                        <a:t>IV-V qobirg‘alar sathida</a:t>
                      </a:r>
                    </a:p>
                  </a:txBody>
                  <a:tcPr marL="73152" marR="73152" marT="36576" marB="36576">
                    <a:solidFill>
                      <a:srgbClr val="FFFFFF"/>
                    </a:solidFill>
                  </a:tcPr>
                </a:tc>
              </a:tr>
              <a:tr h="614476">
                <a:tc>
                  <a:txBody>
                    <a:bodyPr/>
                    <a:lstStyle/>
                    <a:p>
                      <a:r>
                        <a:rPr sz="1500" b="0">
                          <a:solidFill>
                            <a:srgbClr val="1F2937"/>
                          </a:solidFill>
                        </a:rPr>
                        <a:t>O‘pka rangi</a:t>
                      </a:r>
                    </a:p>
                  </a:txBody>
                  <a:tcPr marL="73152" marR="73152" marT="36576" marB="36576">
                    <a:solidFill>
                      <a:srgbClr val="E8EEF6"/>
                    </a:solidFill>
                  </a:tcPr>
                </a:tc>
                <a:tc>
                  <a:txBody>
                    <a:bodyPr/>
                    <a:lstStyle/>
                    <a:p>
                      <a:r>
                        <a:rPr sz="1500" b="0">
                          <a:solidFill>
                            <a:srgbClr val="1F2937"/>
                          </a:solidFill>
                        </a:rPr>
                        <a:t>Marmarsimon (Bush-Xaberda belgisi)</a:t>
                      </a:r>
                    </a:p>
                  </a:txBody>
                  <a:tcPr marL="73152" marR="73152" marT="36576" marB="36576">
                    <a:solidFill>
                      <a:srgbClr val="E8EEF6"/>
                    </a:solidFill>
                  </a:tcPr>
                </a:tc>
                <a:tc>
                  <a:txBody>
                    <a:bodyPr/>
                    <a:lstStyle/>
                    <a:p>
                      <a:r>
                        <a:rPr sz="1500" b="0">
                          <a:solidFill>
                            <a:srgbClr val="1F2937"/>
                          </a:solidFill>
                        </a:rPr>
                        <a:t>Bir xil ko‘kimtir-to‘q qizil</a:t>
                      </a:r>
                    </a:p>
                  </a:txBody>
                  <a:tcPr marL="73152" marR="73152" marT="36576" marB="36576">
                    <a:solidFill>
                      <a:srgbClr val="E8EEF6"/>
                    </a:solidFill>
                  </a:tcPr>
                </a:tc>
              </a:tr>
              <a:tr h="614476">
                <a:tc>
                  <a:txBody>
                    <a:bodyPr/>
                    <a:lstStyle/>
                    <a:p>
                      <a:r>
                        <a:rPr sz="1500" b="0">
                          <a:solidFill>
                            <a:srgbClr val="1F2937"/>
                          </a:solidFill>
                        </a:rPr>
                        <a:t>O‘pka vazni</a:t>
                      </a:r>
                    </a:p>
                  </a:txBody>
                  <a:tcPr marL="73152" marR="73152" marT="36576" marB="36576">
                    <a:solidFill>
                      <a:srgbClr val="FFFFFF"/>
                    </a:solidFill>
                  </a:tcPr>
                </a:tc>
                <a:tc>
                  <a:txBody>
                    <a:bodyPr/>
                    <a:lstStyle/>
                    <a:p>
                      <a:r>
                        <a:rPr sz="1500" b="0">
                          <a:solidFill>
                            <a:srgbClr val="1F2937"/>
                          </a:solidFill>
                        </a:rPr>
                        <a:t>85-90 g</a:t>
                      </a:r>
                    </a:p>
                  </a:txBody>
                  <a:tcPr marL="73152" marR="73152" marT="36576" marB="36576">
                    <a:solidFill>
                      <a:srgbClr val="FFFFFF"/>
                    </a:solidFill>
                  </a:tcPr>
                </a:tc>
                <a:tc>
                  <a:txBody>
                    <a:bodyPr/>
                    <a:lstStyle/>
                    <a:p>
                      <a:r>
                        <a:rPr sz="1500" b="0">
                          <a:solidFill>
                            <a:srgbClr val="1F2937"/>
                          </a:solidFill>
                        </a:rPr>
                        <a:t>55-60 g (nafas olmagan)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Tirik va o‘lik tug‘ilgan chaqaloq</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260, 260-261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Gistologiya: nafas olmagan o‘pka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Yangi tug'ilgan chaqaloq jasadlarini gistologik tekshirish imkoniyatlari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O‘lik tug‘ilgan chaqaloqning o‘pkasida alveolalar yoyilmagan, ya’ni havo kirmagan va bo‘shlig‘i ochilmagan bo‘ladi.</a:t>
            </a:r>
          </a:p>
          <a:p>
            <a:pPr>
              <a:spcAft>
                <a:spcPts val="1200"/>
              </a:spcAft>
            </a:pPr>
            <a:r>
              <a:rPr sz="2200">
                <a:solidFill>
                  <a:srgbClr val="1F2937"/>
                </a:solidFill>
                <a:latin typeface="Calibri"/>
              </a:rPr>
              <a:t>▸  Alveolyar epiteliy kubsimon shaklda, alveolalararo to‘siqlar esa qalin bo‘ladi.</a:t>
            </a:r>
          </a:p>
          <a:p>
            <a:pPr>
              <a:spcAft>
                <a:spcPts val="1200"/>
              </a:spcAft>
            </a:pPr>
            <a:r>
              <a:rPr sz="2200">
                <a:solidFill>
                  <a:srgbClr val="1F2937"/>
                </a:solidFill>
                <a:latin typeface="Calibri"/>
              </a:rPr>
              <a:t>▸  Elastik tolalar tutamsimon joylashadi, kapillyarlarda qon bo‘lmaydi (kapillyarlar bo‘sh).</a:t>
            </a:r>
          </a:p>
          <a:p>
            <a:pPr>
              <a:spcAft>
                <a:spcPts val="1200"/>
              </a:spcAft>
            </a:pPr>
            <a:r>
              <a:rPr sz="2200">
                <a:solidFill>
                  <a:srgbClr val="1F2937"/>
                </a:solidFill>
                <a:latin typeface="Calibri"/>
              </a:rPr>
              <a:t>▸  Diqqat: nafas olmagan o‘pkada gialin membranalar bo‘lmaydi. Kichik va o‘rta arteriyalarda “kurtaksimon”, “yostiqsimon” bo‘rtiqlar ko‘rinadi.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Gistologiya: nafas olgan o‘pka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Yangi tug'ilgan chaqaloq jasadlarini gistologik tekshirish imkoniyatlari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Nafas olgan o‘pkada alveolalar yoyilgan, to‘siqlari ingichkalashgan, alveolyar epiteliy yassi shaklda bo‘ladi.</a:t>
            </a:r>
          </a:p>
          <a:p>
            <a:pPr>
              <a:spcAft>
                <a:spcPts val="800"/>
              </a:spcAft>
            </a:pPr>
            <a:r>
              <a:rPr sz="1800">
                <a:solidFill>
                  <a:srgbClr val="1F2937"/>
                </a:solidFill>
                <a:latin typeface="Calibri"/>
              </a:rPr>
              <a:t>▸  Kapillyarlar to‘laqonli; elastik tolalar tartibli joylashgan (matn skanerda aniq o‘qilmagan).</a:t>
            </a:r>
          </a:p>
          <a:p>
            <a:pPr>
              <a:spcAft>
                <a:spcPts val="800"/>
              </a:spcAft>
            </a:pPr>
            <a:r>
              <a:rPr sz="1800">
                <a:solidFill>
                  <a:srgbClr val="1F2937"/>
                </a:solidFill>
                <a:latin typeface="Calibri"/>
              </a:rPr>
              <a:t>▸  Diqqat: kubsimon epiteliy ≠ yassi epiteliy. Birinchisi nafas olmagan, ikkinchisi nafas olgan o‘pkaga xos.</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691639"/>
                <a:gridCol w="1550367"/>
                <a:gridCol w="2045969"/>
              </a:tblGrid>
              <a:tr h="614476">
                <a:tc>
                  <a:txBody>
                    <a:bodyPr/>
                    <a:lstStyle/>
                    <a:p>
                      <a:r>
                        <a:rPr sz="1600" b="1">
                          <a:solidFill>
                            <a:srgbClr val="FFFFFF"/>
                          </a:solidFill>
                        </a:rPr>
                        <a:t>Belgi</a:t>
                      </a:r>
                    </a:p>
                  </a:txBody>
                  <a:tcPr marL="73152" marR="73152" marT="36576" marB="36576">
                    <a:solidFill>
                      <a:srgbClr val="0B1F3A"/>
                    </a:solidFill>
                  </a:tcPr>
                </a:tc>
                <a:tc>
                  <a:txBody>
                    <a:bodyPr/>
                    <a:lstStyle/>
                    <a:p>
                      <a:r>
                        <a:rPr sz="1600" b="1">
                          <a:solidFill>
                            <a:srgbClr val="FFFFFF"/>
                          </a:solidFill>
                        </a:rPr>
                        <a:t>Nafas olmagan</a:t>
                      </a:r>
                    </a:p>
                  </a:txBody>
                  <a:tcPr marL="73152" marR="73152" marT="36576" marB="36576">
                    <a:solidFill>
                      <a:srgbClr val="0B1F3A"/>
                    </a:solidFill>
                  </a:tcPr>
                </a:tc>
                <a:tc>
                  <a:txBody>
                    <a:bodyPr/>
                    <a:lstStyle/>
                    <a:p>
                      <a:r>
                        <a:rPr sz="1600" b="1">
                          <a:solidFill>
                            <a:srgbClr val="FFFFFF"/>
                          </a:solidFill>
                        </a:rPr>
                        <a:t>Nafas olgan</a:t>
                      </a:r>
                    </a:p>
                  </a:txBody>
                  <a:tcPr marL="73152" marR="73152" marT="36576" marB="36576">
                    <a:solidFill>
                      <a:srgbClr val="0B1F3A"/>
                    </a:solidFill>
                  </a:tcPr>
                </a:tc>
              </a:tr>
              <a:tr h="614476">
                <a:tc>
                  <a:txBody>
                    <a:bodyPr/>
                    <a:lstStyle/>
                    <a:p>
                      <a:r>
                        <a:rPr sz="1500" b="0">
                          <a:solidFill>
                            <a:srgbClr val="1F2937"/>
                          </a:solidFill>
                        </a:rPr>
                        <a:t>Alveolalar</a:t>
                      </a:r>
                    </a:p>
                  </a:txBody>
                  <a:tcPr marL="73152" marR="73152" marT="36576" marB="36576">
                    <a:solidFill>
                      <a:srgbClr val="E8EEF6"/>
                    </a:solidFill>
                  </a:tcPr>
                </a:tc>
                <a:tc>
                  <a:txBody>
                    <a:bodyPr/>
                    <a:lstStyle/>
                    <a:p>
                      <a:r>
                        <a:rPr sz="1500" b="0">
                          <a:solidFill>
                            <a:srgbClr val="1F2937"/>
                          </a:solidFill>
                        </a:rPr>
                        <a:t>Yoyilmagan</a:t>
                      </a:r>
                    </a:p>
                  </a:txBody>
                  <a:tcPr marL="73152" marR="73152" marT="36576" marB="36576">
                    <a:solidFill>
                      <a:srgbClr val="E8EEF6"/>
                    </a:solidFill>
                  </a:tcPr>
                </a:tc>
                <a:tc>
                  <a:txBody>
                    <a:bodyPr/>
                    <a:lstStyle/>
                    <a:p>
                      <a:r>
                        <a:rPr sz="1500" b="0">
                          <a:solidFill>
                            <a:srgbClr val="1F2937"/>
                          </a:solidFill>
                        </a:rPr>
                        <a:t>Yoyilgan</a:t>
                      </a:r>
                    </a:p>
                  </a:txBody>
                  <a:tcPr marL="73152" marR="73152" marT="36576" marB="36576">
                    <a:solidFill>
                      <a:srgbClr val="E8EEF6"/>
                    </a:solidFill>
                  </a:tcPr>
                </a:tc>
              </a:tr>
              <a:tr h="614476">
                <a:tc>
                  <a:txBody>
                    <a:bodyPr/>
                    <a:lstStyle/>
                    <a:p>
                      <a:r>
                        <a:rPr sz="1500" b="0">
                          <a:solidFill>
                            <a:srgbClr val="1F2937"/>
                          </a:solidFill>
                        </a:rPr>
                        <a:t>Epiteliy</a:t>
                      </a:r>
                    </a:p>
                  </a:txBody>
                  <a:tcPr marL="73152" marR="73152" marT="36576" marB="36576">
                    <a:solidFill>
                      <a:srgbClr val="FFFFFF"/>
                    </a:solidFill>
                  </a:tcPr>
                </a:tc>
                <a:tc>
                  <a:txBody>
                    <a:bodyPr/>
                    <a:lstStyle/>
                    <a:p>
                      <a:r>
                        <a:rPr sz="1500" b="0">
                          <a:solidFill>
                            <a:srgbClr val="1F2937"/>
                          </a:solidFill>
                        </a:rPr>
                        <a:t>Kubsimon</a:t>
                      </a:r>
                    </a:p>
                  </a:txBody>
                  <a:tcPr marL="73152" marR="73152" marT="36576" marB="36576">
                    <a:solidFill>
                      <a:srgbClr val="FFFFFF"/>
                    </a:solidFill>
                  </a:tcPr>
                </a:tc>
                <a:tc>
                  <a:txBody>
                    <a:bodyPr/>
                    <a:lstStyle/>
                    <a:p>
                      <a:r>
                        <a:rPr sz="1500" b="0">
                          <a:solidFill>
                            <a:srgbClr val="1F2937"/>
                          </a:solidFill>
                        </a:rPr>
                        <a:t>Yassi</a:t>
                      </a:r>
                    </a:p>
                  </a:txBody>
                  <a:tcPr marL="73152" marR="73152" marT="36576" marB="36576">
                    <a:solidFill>
                      <a:srgbClr val="FFFFFF"/>
                    </a:solidFill>
                  </a:tcPr>
                </a:tc>
              </a:tr>
              <a:tr h="614476">
                <a:tc>
                  <a:txBody>
                    <a:bodyPr/>
                    <a:lstStyle/>
                    <a:p>
                      <a:r>
                        <a:rPr sz="1500" b="0">
                          <a:solidFill>
                            <a:srgbClr val="1F2937"/>
                          </a:solidFill>
                        </a:rPr>
                        <a:t>To‘siqlar</a:t>
                      </a:r>
                    </a:p>
                  </a:txBody>
                  <a:tcPr marL="73152" marR="73152" marT="36576" marB="36576">
                    <a:solidFill>
                      <a:srgbClr val="E8EEF6"/>
                    </a:solidFill>
                  </a:tcPr>
                </a:tc>
                <a:tc>
                  <a:txBody>
                    <a:bodyPr/>
                    <a:lstStyle/>
                    <a:p>
                      <a:r>
                        <a:rPr sz="1500" b="0">
                          <a:solidFill>
                            <a:srgbClr val="1F2937"/>
                          </a:solidFill>
                        </a:rPr>
                        <a:t>Qalin</a:t>
                      </a:r>
                    </a:p>
                  </a:txBody>
                  <a:tcPr marL="73152" marR="73152" marT="36576" marB="36576">
                    <a:solidFill>
                      <a:srgbClr val="E8EEF6"/>
                    </a:solidFill>
                  </a:tcPr>
                </a:tc>
                <a:tc>
                  <a:txBody>
                    <a:bodyPr/>
                    <a:lstStyle/>
                    <a:p>
                      <a:r>
                        <a:rPr sz="1500" b="0">
                          <a:solidFill>
                            <a:srgbClr val="1F2937"/>
                          </a:solidFill>
                        </a:rPr>
                        <a:t>Ingichkalashgan</a:t>
                      </a:r>
                    </a:p>
                  </a:txBody>
                  <a:tcPr marL="73152" marR="73152" marT="36576" marB="36576">
                    <a:solidFill>
                      <a:srgbClr val="E8EEF6"/>
                    </a:solidFill>
                  </a:tcPr>
                </a:tc>
              </a:tr>
              <a:tr h="614476">
                <a:tc>
                  <a:txBody>
                    <a:bodyPr/>
                    <a:lstStyle/>
                    <a:p>
                      <a:r>
                        <a:rPr sz="1500" b="0">
                          <a:solidFill>
                            <a:srgbClr val="1F2937"/>
                          </a:solidFill>
                        </a:rPr>
                        <a:t>Kapillyarlar</a:t>
                      </a:r>
                    </a:p>
                  </a:txBody>
                  <a:tcPr marL="73152" marR="73152" marT="36576" marB="36576">
                    <a:solidFill>
                      <a:srgbClr val="FFFFFF"/>
                    </a:solidFill>
                  </a:tcPr>
                </a:tc>
                <a:tc>
                  <a:txBody>
                    <a:bodyPr/>
                    <a:lstStyle/>
                    <a:p>
                      <a:r>
                        <a:rPr sz="1500" b="0">
                          <a:solidFill>
                            <a:srgbClr val="1F2937"/>
                          </a:solidFill>
                        </a:rPr>
                        <a:t>Qon bo‘lmaydi</a:t>
                      </a:r>
                    </a:p>
                  </a:txBody>
                  <a:tcPr marL="73152" marR="73152" marT="36576" marB="36576">
                    <a:solidFill>
                      <a:srgbClr val="FFFFFF"/>
                    </a:solidFill>
                  </a:tcPr>
                </a:tc>
                <a:tc>
                  <a:txBody>
                    <a:bodyPr/>
                    <a:lstStyle/>
                    <a:p>
                      <a:r>
                        <a:rPr sz="1500" b="0">
                          <a:solidFill>
                            <a:srgbClr val="1F2937"/>
                          </a:solidFill>
                        </a:rPr>
                        <a:t>To‘laqonli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O‘pka gistologiyasi: solishtirish</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Gialin membranalar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Yangi tug'ilgan chaqaloq jasadlarini gistologik tekshirish imkoniyatlari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Tarkibi: o‘pka kapillyarlaridan sizib chiqqan qon oqsillari – albumin, globulin va fibrin. Alveolalarning ichki yuzasida joylashadi.</a:t>
            </a:r>
          </a:p>
          <a:p>
            <a:pPr>
              <a:spcAft>
                <a:spcPts val="1200"/>
              </a:spcAft>
            </a:pPr>
            <a:r>
              <a:rPr sz="2200">
                <a:solidFill>
                  <a:srgbClr val="1F2937"/>
                </a:solidFill>
                <a:latin typeface="Calibri"/>
              </a:rPr>
              <a:t>▸  Gialin tog‘ayiga o‘xshab bo‘yalgani uchun shunday nomlangan.</a:t>
            </a:r>
          </a:p>
          <a:p>
            <a:pPr>
              <a:spcAft>
                <a:spcPts val="1200"/>
              </a:spcAft>
            </a:pPr>
            <a:r>
              <a:rPr sz="2200">
                <a:solidFill>
                  <a:srgbClr val="1F2937"/>
                </a:solidFill>
                <a:latin typeface="Calibri"/>
              </a:rPr>
              <a:t>▸  Hosil bo‘lishi uchun go‘dak kamida 1-2 soat yashashi kerak; odatda bir necha soat yashaganlarda topiladi.</a:t>
            </a:r>
          </a:p>
          <a:p>
            <a:pPr>
              <a:spcAft>
                <a:spcPts val="1200"/>
              </a:spcAft>
            </a:pPr>
            <a:r>
              <a:rPr sz="2200">
                <a:solidFill>
                  <a:srgbClr val="1F2937"/>
                </a:solidFill>
                <a:latin typeface="Calibri"/>
              </a:rPr>
              <a:t>▸  Asosan tirik tug‘ilgan norasolarda uchraydi, nafas olmagan o‘pkada bo‘lmaydi. Shu sababli yashash muddatini baholashda foydali.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261, 261, 264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O‘pka arteriyalaridagi bo‘rtiqlar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Yangi tug'ilgan chaqaloq jasadlarini gistologik tekshirish imkoniyatlari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O‘lik tug‘ilgan go‘daklarda kichik va o‘rta kalibrli o‘pka arteriyalari ichida “kurtaksimon” va “yostiqsimon” bo‘rtiqlar aniqlanadi (Mityaeva belgisi, 1970).</a:t>
            </a:r>
          </a:p>
          <a:p>
            <a:pPr>
              <a:spcAft>
                <a:spcPts val="1200"/>
              </a:spcAft>
            </a:pPr>
            <a:r>
              <a:rPr sz="2200">
                <a:solidFill>
                  <a:srgbClr val="1F2937"/>
                </a:solidFill>
                <a:latin typeface="Calibri"/>
              </a:rPr>
              <a:t>▸  Nafas olgan o‘pkada bunday bo‘rtiqlar kuzatilmaydi. Shuning uchun bu belgi mikroskopda nafas olmaganlikni tasdiqlashga yordam beradi.</a:t>
            </a:r>
          </a:p>
          <a:p>
            <a:pPr>
              <a:spcAft>
                <a:spcPts val="1200"/>
              </a:spcAft>
            </a:pPr>
            <a:r>
              <a:rPr sz="2200">
                <a:solidFill>
                  <a:srgbClr val="1F2937"/>
                </a:solidFill>
                <a:latin typeface="Calibri"/>
              </a:rPr>
              <a:t>▸  Gistologik tekshiruv uchun murda ichki a‘zolaridan, shuningdek yo‘ldosh va kindikdan bo‘lakchalar olinadi.</a:t>
            </a:r>
          </a:p>
          <a:p>
            <a:pPr>
              <a:spcAft>
                <a:spcPts val="1200"/>
              </a:spcAft>
            </a:pPr>
            <a:r>
              <a:rPr sz="2200">
                <a:solidFill>
                  <a:srgbClr val="1F2937"/>
                </a:solidFill>
                <a:latin typeface="Calibri"/>
              </a:rPr>
              <a:t>▸  Diqqat: xato qilish xavfi. Mityaeva belgisi nafas olmagan o‘pkaga xos, gialin membranalari esa nafas olgan (tirik tug‘ilgan) go‘dakda uchraydi.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261, 267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gistologik tekshiruv</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Yangi tug'ilgan chaqaloq jasadlarini gistologik tekshirish imkoniyatlari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1-holat: o‘pka kesmasida alveolalar yoyilmagan, epiteliy kubsimon, to‘siqlar qalin, kapillyarlarda qon yo‘q, arteriyalarda kurtaksimon bo‘rtiqlar bor.</a:t>
            </a:r>
          </a:p>
          <a:p>
            <a:pPr>
              <a:spcAft>
                <a:spcPts val="1200"/>
              </a:spcAft>
            </a:pPr>
            <a:r>
              <a:rPr sz="2200">
                <a:solidFill>
                  <a:srgbClr val="1F2937"/>
                </a:solidFill>
                <a:latin typeface="Calibri"/>
              </a:rPr>
              <a:t>▸  2-holat: alveolalar yoyilgan, epiteliy yassi, to‘siqlar ingichka, kapillyarlar to‘laqon, elastik tolalar maromli joylashgan.</a:t>
            </a:r>
          </a:p>
          <a:p>
            <a:pPr>
              <a:spcAft>
                <a:spcPts val="1200"/>
              </a:spcAft>
            </a:pPr>
            <a:r>
              <a:rPr sz="2200">
                <a:solidFill>
                  <a:srgbClr val="1F2937"/>
                </a:solidFill>
                <a:latin typeface="Calibri"/>
              </a:rPr>
              <a:t>▸  Qo‘shimcha: alveolalar ichki yuzasida gialin membranalari topilsa, odatda go‘dak bir necha soat yashagan bo‘ladi.</a:t>
            </a:r>
          </a:p>
          <a:p>
            <a:pPr>
              <a:spcAft>
                <a:spcPts val="1200"/>
              </a:spcAft>
            </a:pPr>
            <a:r>
              <a:rPr sz="2200">
                <a:solidFill>
                  <a:srgbClr val="1F2937"/>
                </a:solidFill>
                <a:latin typeface="Calibri"/>
              </a:rPr>
              <a:t>▸  Savol: qaysi holatda go‘dak tirik, qaysida o‘lik tug‘ilgan? Javobingizni mikroskopik belgilar bilan asoslang.</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Gestatsion yosh: rasolik va yetuklik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Yangi tug'ilgan chaqaloq jasadlarini gistologik tekshirish imkoniyatlari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Rasolik — homiladorlik o‘rtacha 10 homila oyi, ya‘ni 280 kun davom etganini ko‘rsatuvchi belgilar majmui.</a:t>
            </a:r>
          </a:p>
          <a:p>
            <a:pPr>
              <a:spcAft>
                <a:spcPts val="1200"/>
              </a:spcAft>
            </a:pPr>
            <a:r>
              <a:rPr sz="2200">
                <a:solidFill>
                  <a:srgbClr val="1F2937"/>
                </a:solidFill>
                <a:latin typeface="Calibri"/>
              </a:rPr>
              <a:t>▸  Jahon sog‘liqni saqlash tashkiloti (JSST) tavsiyasiga ko‘ra, 37–42 haftada tug‘ish o‘z muddatida hisoblanadi; shunda tug‘ilganlar raso deyiladi.</a:t>
            </a:r>
          </a:p>
          <a:p>
            <a:pPr>
              <a:spcAft>
                <a:spcPts val="1200"/>
              </a:spcAft>
            </a:pPr>
            <a:r>
              <a:rPr sz="2200">
                <a:solidFill>
                  <a:srgbClr val="1F2937"/>
                </a:solidFill>
                <a:latin typeface="Calibri"/>
              </a:rPr>
              <a:t>▸  Raso go‘dakning tana uzunligi o‘rtacha 50–54 sm, vazni 3000–3500 g bo‘ladi.</a:t>
            </a:r>
          </a:p>
          <a:p>
            <a:pPr>
              <a:spcAft>
                <a:spcPts val="1200"/>
              </a:spcAft>
            </a:pPr>
            <a:r>
              <a:rPr sz="2200">
                <a:solidFill>
                  <a:srgbClr val="1F2937"/>
                </a:solidFill>
                <a:latin typeface="Calibri"/>
              </a:rPr>
              <a:t>▸  Yetuk go‘dakning tana uzunligi 45 sm va undan ortiq, vazni 2500 g dan kam emas. Diqqat: rasolik ≠ yetuklik.</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261, 262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Gestatsion yoshni hisoblash formulalari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Yangi tug'ilgan chaqaloq jasadlarini gistologik tekshirish imkoniyatlari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Gestatsion yosh asosan antropometriya va ayrim belgilar bo‘yicha aniqlanadi. Gaaze formulasi natijani homila oylarida beradi.</a:t>
            </a:r>
          </a:p>
          <a:p>
            <a:pPr>
              <a:spcAft>
                <a:spcPts val="800"/>
              </a:spcAft>
            </a:pPr>
            <a:r>
              <a:rPr sz="1800">
                <a:solidFill>
                  <a:srgbClr val="1F2937"/>
                </a:solidFill>
                <a:latin typeface="Calibri"/>
              </a:rPr>
              <a:t>▸  Baltazar-Derve usuli yoshni kunlarda beradi, Yakupov usuli esa homila oylarida.</a:t>
            </a:r>
          </a:p>
          <a:p>
            <a:pPr>
              <a:spcAft>
                <a:spcPts val="800"/>
              </a:spcAft>
            </a:pPr>
            <a:r>
              <a:rPr sz="1800">
                <a:solidFill>
                  <a:srgbClr val="1F2937"/>
                </a:solidFill>
                <a:latin typeface="Calibri"/>
              </a:rPr>
              <a:t>▸  Diqqat: Gaaze formulasida birinchi yarmida kvadrat ildiz, ikkinchi yarmida beshga bo‘lish ishlatiladi.</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1927859"/>
                <a:gridCol w="1978676"/>
                <a:gridCol w="1381439"/>
              </a:tblGrid>
              <a:tr h="768096">
                <a:tc>
                  <a:txBody>
                    <a:bodyPr/>
                    <a:lstStyle/>
                    <a:p>
                      <a:r>
                        <a:rPr sz="1600" b="1">
                          <a:solidFill>
                            <a:srgbClr val="FFFFFF"/>
                          </a:solidFill>
                        </a:rPr>
                        <a:t>Usul</a:t>
                      </a:r>
                    </a:p>
                  </a:txBody>
                  <a:tcPr marL="73152" marR="73152" marT="36576" marB="36576">
                    <a:solidFill>
                      <a:srgbClr val="0B1F3A"/>
                    </a:solidFill>
                  </a:tcPr>
                </a:tc>
                <a:tc>
                  <a:txBody>
                    <a:bodyPr/>
                    <a:lstStyle/>
                    <a:p>
                      <a:r>
                        <a:rPr sz="1600" b="1">
                          <a:solidFill>
                            <a:srgbClr val="FFFFFF"/>
                          </a:solidFill>
                        </a:rPr>
                        <a:t>Formula</a:t>
                      </a:r>
                    </a:p>
                  </a:txBody>
                  <a:tcPr marL="73152" marR="73152" marT="36576" marB="36576">
                    <a:solidFill>
                      <a:srgbClr val="0B1F3A"/>
                    </a:solidFill>
                  </a:tcPr>
                </a:tc>
                <a:tc>
                  <a:txBody>
                    <a:bodyPr/>
                    <a:lstStyle/>
                    <a:p>
                      <a:r>
                        <a:rPr sz="1600" b="1">
                          <a:solidFill>
                            <a:srgbClr val="FFFFFF"/>
                          </a:solidFill>
                        </a:rPr>
                        <a:t>Misol</a:t>
                      </a:r>
                    </a:p>
                  </a:txBody>
                  <a:tcPr marL="73152" marR="73152" marT="36576" marB="36576">
                    <a:solidFill>
                      <a:srgbClr val="0B1F3A"/>
                    </a:solidFill>
                  </a:tcPr>
                </a:tc>
              </a:tr>
              <a:tr h="768096">
                <a:tc>
                  <a:txBody>
                    <a:bodyPr/>
                    <a:lstStyle/>
                    <a:p>
                      <a:r>
                        <a:rPr sz="1500" b="0">
                          <a:solidFill>
                            <a:srgbClr val="1F2937"/>
                          </a:solidFill>
                        </a:rPr>
                        <a:t>Gaaze</a:t>
                      </a:r>
                    </a:p>
                  </a:txBody>
                  <a:tcPr marL="73152" marR="73152" marT="36576" marB="36576">
                    <a:solidFill>
                      <a:srgbClr val="E8EEF6"/>
                    </a:solidFill>
                  </a:tcPr>
                </a:tc>
                <a:tc>
                  <a:txBody>
                    <a:bodyPr/>
                    <a:lstStyle/>
                    <a:p>
                      <a:r>
                        <a:rPr sz="1500" b="0">
                          <a:solidFill>
                            <a:srgbClr val="1F2937"/>
                          </a:solidFill>
                        </a:rPr>
                        <a:t>1-yarim: √uzunlik; 2-yarim: uzunlik ÷ 5</a:t>
                      </a:r>
                    </a:p>
                  </a:txBody>
                  <a:tcPr marL="73152" marR="73152" marT="36576" marB="36576">
                    <a:solidFill>
                      <a:srgbClr val="E8EEF6"/>
                    </a:solidFill>
                  </a:tcPr>
                </a:tc>
                <a:tc>
                  <a:txBody>
                    <a:bodyPr/>
                    <a:lstStyle/>
                    <a:p>
                      <a:r>
                        <a:rPr sz="1500" b="0">
                          <a:solidFill>
                            <a:srgbClr val="1F2937"/>
                          </a:solidFill>
                        </a:rPr>
                        <a:t>16 sm = 4 oy; 40 sm = 8 oy</a:t>
                      </a:r>
                    </a:p>
                  </a:txBody>
                  <a:tcPr marL="73152" marR="73152" marT="36576" marB="36576">
                    <a:solidFill>
                      <a:srgbClr val="E8EEF6"/>
                    </a:solidFill>
                  </a:tcPr>
                </a:tc>
              </a:tr>
              <a:tr h="768096">
                <a:tc>
                  <a:txBody>
                    <a:bodyPr/>
                    <a:lstStyle/>
                    <a:p>
                      <a:r>
                        <a:rPr sz="1500" b="0">
                          <a:solidFill>
                            <a:srgbClr val="1F2937"/>
                          </a:solidFill>
                        </a:rPr>
                        <a:t>Baltazar-Derve</a:t>
                      </a:r>
                    </a:p>
                  </a:txBody>
                  <a:tcPr marL="73152" marR="73152" marT="36576" marB="36576">
                    <a:solidFill>
                      <a:srgbClr val="FFFFFF"/>
                    </a:solidFill>
                  </a:tcPr>
                </a:tc>
                <a:tc>
                  <a:txBody>
                    <a:bodyPr/>
                    <a:lstStyle/>
                    <a:p>
                      <a:r>
                        <a:rPr sz="1500" b="0">
                          <a:solidFill>
                            <a:srgbClr val="1F2937"/>
                          </a:solidFill>
                        </a:rPr>
                        <a:t>5,6 × tana uzunligi (kunda)</a:t>
                      </a:r>
                    </a:p>
                  </a:txBody>
                  <a:tcPr marL="73152" marR="73152" marT="36576" marB="36576">
                    <a:solidFill>
                      <a:srgbClr val="FFFFFF"/>
                    </a:solidFill>
                  </a:tcPr>
                </a:tc>
                <a:tc>
                  <a:txBody>
                    <a:bodyPr/>
                    <a:lstStyle/>
                    <a:p>
                      <a:r>
                        <a:rPr sz="1500" b="0">
                          <a:solidFill>
                            <a:srgbClr val="1F2937"/>
                          </a:solidFill>
                        </a:rPr>
                        <a:t>40 sm × 5,6 = 224 kun (8 oy)</a:t>
                      </a:r>
                    </a:p>
                  </a:txBody>
                  <a:tcPr marL="73152" marR="73152" marT="36576" marB="36576">
                    <a:solidFill>
                      <a:srgbClr val="FFFFFF"/>
                    </a:solidFill>
                  </a:tcPr>
                </a:tc>
              </a:tr>
              <a:tr h="768096">
                <a:tc>
                  <a:txBody>
                    <a:bodyPr/>
                    <a:lstStyle/>
                    <a:p>
                      <a:r>
                        <a:rPr sz="1500" b="0">
                          <a:solidFill>
                            <a:srgbClr val="1F2937"/>
                          </a:solidFill>
                        </a:rPr>
                        <a:t>Yakupov (1981)</a:t>
                      </a:r>
                    </a:p>
                  </a:txBody>
                  <a:tcPr marL="73152" marR="73152" marT="36576" marB="36576">
                    <a:solidFill>
                      <a:srgbClr val="E8EEF6"/>
                    </a:solidFill>
                  </a:tcPr>
                </a:tc>
                <a:tc>
                  <a:txBody>
                    <a:bodyPr/>
                    <a:lstStyle/>
                    <a:p>
                      <a:r>
                        <a:rPr sz="1500" b="0">
                          <a:solidFill>
                            <a:srgbClr val="1F2937"/>
                          </a:solidFill>
                        </a:rPr>
                        <a:t>Bosh aylanasi ÷ 3,4 (oyda)</a:t>
                      </a:r>
                    </a:p>
                  </a:txBody>
                  <a:tcPr marL="73152" marR="73152" marT="36576" marB="36576">
                    <a:solidFill>
                      <a:srgbClr val="E8EEF6"/>
                    </a:solidFill>
                  </a:tcPr>
                </a:tc>
                <a:tc>
                  <a:txBody>
                    <a:bodyPr/>
                    <a:lstStyle/>
                    <a:p>
                      <a:r>
                        <a:rPr sz="1500" b="0">
                          <a:solidFill>
                            <a:srgbClr val="1F2937"/>
                          </a:solidFill>
                        </a:rPr>
                        <a:t>34 sm ÷ 3,4 = 10 oy</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Uch usulni solishtirish</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Yo‘ldosh, kindik va suyaklanish o‘zaklari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Yangi tug'ilgan chaqaloq jasadlarini gistologik tekshirish imkoniyatlari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Kindik uzunligi va yo‘ldosh massasi VI oyda 38 sm va 250 g, X oyda 50 sm va 500 g bo‘ladi.</a:t>
            </a:r>
          </a:p>
          <a:p>
            <a:pPr>
              <a:spcAft>
                <a:spcPts val="800"/>
              </a:spcAft>
            </a:pPr>
            <a:r>
              <a:rPr sz="1800">
                <a:solidFill>
                  <a:srgbClr val="1F2937"/>
                </a:solidFill>
                <a:latin typeface="Calibri"/>
              </a:rPr>
              <a:t>▸  Oraliq oylar: VII oyda 42 sm va 340 g; VIII oyda 46 sm va 410 g; IX oyda 47 sm va 470 g.</a:t>
            </a:r>
          </a:p>
          <a:p>
            <a:pPr>
              <a:spcAft>
                <a:spcPts val="800"/>
              </a:spcAft>
            </a:pPr>
            <a:r>
              <a:rPr sz="1800">
                <a:solidFill>
                  <a:srgbClr val="1F2937"/>
                </a:solidFill>
                <a:latin typeface="Calibri"/>
              </a:rPr>
              <a:t>▸  Patologiya, chekish, alkogol va narkotiklar o‘zaklar paydo bo‘lishini kechiktirishi yoki umuman to‘xtatishi mumkin.</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2609052"/>
                <a:gridCol w="1459722"/>
                <a:gridCol w="1219200"/>
              </a:tblGrid>
              <a:tr h="768096">
                <a:tc>
                  <a:txBody>
                    <a:bodyPr/>
                    <a:lstStyle/>
                    <a:p>
                      <a:r>
                        <a:rPr sz="1600" b="1">
                          <a:solidFill>
                            <a:srgbClr val="FFFFFF"/>
                          </a:solidFill>
                        </a:rPr>
                        <a:t>Suyak</a:t>
                      </a:r>
                    </a:p>
                  </a:txBody>
                  <a:tcPr marL="73152" marR="73152" marT="36576" marB="36576">
                    <a:solidFill>
                      <a:srgbClr val="0B1F3A"/>
                    </a:solidFill>
                  </a:tcPr>
                </a:tc>
                <a:tc>
                  <a:txBody>
                    <a:bodyPr/>
                    <a:lstStyle/>
                    <a:p>
                      <a:r>
                        <a:rPr sz="1600" b="1">
                          <a:solidFill>
                            <a:srgbClr val="FFFFFF"/>
                          </a:solidFill>
                        </a:rPr>
                        <a:t>Paydo bo‘lishi</a:t>
                      </a:r>
                    </a:p>
                  </a:txBody>
                  <a:tcPr marL="73152" marR="73152" marT="36576" marB="36576">
                    <a:solidFill>
                      <a:srgbClr val="0B1F3A"/>
                    </a:solidFill>
                  </a:tcPr>
                </a:tc>
                <a:tc>
                  <a:txBody>
                    <a:bodyPr/>
                    <a:lstStyle/>
                    <a:p>
                      <a:r>
                        <a:rPr sz="1600" b="1">
                          <a:solidFill>
                            <a:srgbClr val="FFFFFF"/>
                          </a:solidFill>
                        </a:rPr>
                        <a:t>Diametri</a:t>
                      </a:r>
                    </a:p>
                  </a:txBody>
                  <a:tcPr marL="73152" marR="73152" marT="36576" marB="36576">
                    <a:solidFill>
                      <a:srgbClr val="0B1F3A"/>
                    </a:solidFill>
                  </a:tcPr>
                </a:tc>
              </a:tr>
              <a:tr h="768096">
                <a:tc>
                  <a:txBody>
                    <a:bodyPr/>
                    <a:lstStyle/>
                    <a:p>
                      <a:r>
                        <a:rPr sz="1500" b="0">
                          <a:solidFill>
                            <a:srgbClr val="1F2937"/>
                          </a:solidFill>
                        </a:rPr>
                        <a:t>Son pastki epifizi (Beklyar yadrosi)</a:t>
                      </a:r>
                    </a:p>
                  </a:txBody>
                  <a:tcPr marL="73152" marR="73152" marT="36576" marB="36576">
                    <a:solidFill>
                      <a:srgbClr val="E8EEF6"/>
                    </a:solidFill>
                  </a:tcPr>
                </a:tc>
                <a:tc>
                  <a:txBody>
                    <a:bodyPr/>
                    <a:lstStyle/>
                    <a:p>
                      <a:r>
                        <a:rPr sz="1500" b="0">
                          <a:solidFill>
                            <a:srgbClr val="1F2937"/>
                          </a:solidFill>
                        </a:rPr>
                        <a:t>IX homila oyi</a:t>
                      </a:r>
                    </a:p>
                  </a:txBody>
                  <a:tcPr marL="73152" marR="73152" marT="36576" marB="36576">
                    <a:solidFill>
                      <a:srgbClr val="E8EEF6"/>
                    </a:solidFill>
                  </a:tcPr>
                </a:tc>
                <a:tc>
                  <a:txBody>
                    <a:bodyPr/>
                    <a:lstStyle/>
                    <a:p>
                      <a:r>
                        <a:rPr sz="1500" b="0">
                          <a:solidFill>
                            <a:srgbClr val="1F2937"/>
                          </a:solidFill>
                        </a:rPr>
                        <a:t>0,5–0,7 sm</a:t>
                      </a:r>
                    </a:p>
                  </a:txBody>
                  <a:tcPr marL="73152" marR="73152" marT="36576" marB="36576">
                    <a:solidFill>
                      <a:srgbClr val="E8EEF6"/>
                    </a:solidFill>
                  </a:tcPr>
                </a:tc>
              </a:tr>
              <a:tr h="768096">
                <a:tc>
                  <a:txBody>
                    <a:bodyPr/>
                    <a:lstStyle/>
                    <a:p>
                      <a:r>
                        <a:rPr sz="1500" b="0">
                          <a:solidFill>
                            <a:srgbClr val="1F2937"/>
                          </a:solidFill>
                        </a:rPr>
                        <a:t>Tovon suyagi</a:t>
                      </a:r>
                    </a:p>
                  </a:txBody>
                  <a:tcPr marL="73152" marR="73152" marT="36576" marB="36576">
                    <a:solidFill>
                      <a:srgbClr val="FFFFFF"/>
                    </a:solidFill>
                  </a:tcPr>
                </a:tc>
                <a:tc>
                  <a:txBody>
                    <a:bodyPr/>
                    <a:lstStyle/>
                    <a:p>
                      <a:r>
                        <a:rPr sz="1500" b="0">
                          <a:solidFill>
                            <a:srgbClr val="1F2937"/>
                          </a:solidFill>
                        </a:rPr>
                        <a:t>V homila oyi</a:t>
                      </a:r>
                    </a:p>
                  </a:txBody>
                  <a:tcPr marL="73152" marR="73152" marT="36576" marB="36576">
                    <a:solidFill>
                      <a:srgbClr val="FFFFFF"/>
                    </a:solidFill>
                  </a:tcPr>
                </a:tc>
                <a:tc>
                  <a:txBody>
                    <a:bodyPr/>
                    <a:lstStyle/>
                    <a:p>
                      <a:r>
                        <a:rPr sz="1500" b="0">
                          <a:solidFill>
                            <a:srgbClr val="1F2937"/>
                          </a:solidFill>
                        </a:rPr>
                        <a:t>0,8–1,1 sm</a:t>
                      </a:r>
                    </a:p>
                  </a:txBody>
                  <a:tcPr marL="73152" marR="73152" marT="36576" marB="36576">
                    <a:solidFill>
                      <a:srgbClr val="FFFFFF"/>
                    </a:solidFill>
                  </a:tcPr>
                </a:tc>
              </a:tr>
              <a:tr h="768096">
                <a:tc>
                  <a:txBody>
                    <a:bodyPr/>
                    <a:lstStyle/>
                    <a:p>
                      <a:r>
                        <a:rPr sz="1500" b="0">
                          <a:solidFill>
                            <a:srgbClr val="1F2937"/>
                          </a:solidFill>
                        </a:rPr>
                        <a:t>G‘altaksimon suyak</a:t>
                      </a:r>
                    </a:p>
                  </a:txBody>
                  <a:tcPr marL="73152" marR="73152" marT="36576" marB="36576">
                    <a:solidFill>
                      <a:srgbClr val="E8EEF6"/>
                    </a:solidFill>
                  </a:tcPr>
                </a:tc>
                <a:tc>
                  <a:txBody>
                    <a:bodyPr/>
                    <a:lstStyle/>
                    <a:p>
                      <a:r>
                        <a:rPr sz="1500" b="0">
                          <a:solidFill>
                            <a:srgbClr val="1F2937"/>
                          </a:solidFill>
                        </a:rPr>
                        <a:t>VII homila oyi</a:t>
                      </a:r>
                    </a:p>
                  </a:txBody>
                  <a:tcPr marL="73152" marR="73152" marT="36576" marB="36576">
                    <a:solidFill>
                      <a:srgbClr val="E8EEF6"/>
                    </a:solidFill>
                  </a:tcPr>
                </a:tc>
                <a:tc>
                  <a:txBody>
                    <a:bodyPr/>
                    <a:lstStyle/>
                    <a:p>
                      <a:r>
                        <a:rPr sz="1500" b="0">
                          <a:solidFill>
                            <a:srgbClr val="1F2937"/>
                          </a:solidFill>
                        </a:rPr>
                        <a:t>0,7–1,0 sm</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Suyaklanish o‘zaklari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262, 263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Hayotga layoqatni aniqlash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Yangi tug'ilgan chaqaloq jasadlarini gistologik tekshirish imkoniyatlari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Hayotga layoqatlilik — go‘dakning ona organizmidan tashqarida yashash qobiliyati. Tirik tug‘ilgan go‘dak ham layoqatsiz bo‘lishi mumkin.</a:t>
            </a:r>
          </a:p>
          <a:p>
            <a:pPr>
              <a:spcAft>
                <a:spcPts val="1200"/>
              </a:spcAft>
            </a:pPr>
            <a:r>
              <a:rPr sz="2000">
                <a:solidFill>
                  <a:srgbClr val="1F2937"/>
                </a:solidFill>
                <a:latin typeface="Calibri"/>
              </a:rPr>
              <a:t>▸  Jahon sog‘liqni saqlash tashkiloti mezoni: uzunligi 25 sm dan, vazni 500 g dan kam go‘dak o‘ta norasolik tufayli layoqatsiz. Murda ochilmaydi, faqat tashqi tekshiruv, vazn va uzunlik o‘lchanadi.</a:t>
            </a:r>
          </a:p>
          <a:p>
            <a:pPr>
              <a:spcAft>
                <a:spcPts val="1200"/>
              </a:spcAft>
            </a:pPr>
            <a:r>
              <a:rPr sz="2000">
                <a:solidFill>
                  <a:srgbClr val="1F2937"/>
                </a:solidFill>
                <a:latin typeface="Calibri"/>
              </a:rPr>
              <a:t>▸  Anensefaliya, ikki kamerali yurak kabi nuqsonlar hayotga to‘sqinlik qiladi. Tashqi nuqson (oltinchi barmoq, quyon lab) topilsa, bosh miya va ichki a’zolar sinchiklab tekshiriladi.</a:t>
            </a:r>
          </a:p>
          <a:p>
            <a:pPr>
              <a:spcAft>
                <a:spcPts val="1200"/>
              </a:spcAft>
            </a:pPr>
            <a:r>
              <a:rPr sz="2000">
                <a:solidFill>
                  <a:srgbClr val="1F2937"/>
                </a:solidFill>
                <a:latin typeface="Calibri"/>
              </a:rPr>
              <a:t>▸  Tug‘ruq travmasida hayot bilan nomutanosib jarohatlar bo‘lishi mumkin: bosh miyaning majaqlanishi, bo‘yin umurtqalari sinishi bilan orqa miya shikastlanishi.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Ona organizmidan tashqarida hayot davomiyligi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Yangi tug'ilgan chaqaloq jasadlarini gistologik tekshirish imkoniyatlari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Mekoniy ham birinchi sutka oxirida chiqib ketadi. Sariqlik 2-3-kunlarda boshlanib, 1-10-kunlarda o‘tadi.</a:t>
            </a:r>
          </a:p>
          <a:p>
            <a:pPr>
              <a:spcAft>
                <a:spcPts val="800"/>
              </a:spcAft>
            </a:pPr>
            <a:r>
              <a:rPr sz="1800">
                <a:solidFill>
                  <a:srgbClr val="1F2937"/>
                </a:solidFill>
                <a:latin typeface="Calibri"/>
              </a:rPr>
              <a:t>▸  Havo faqat oshqozonda bo‘lsa, go‘dak 3 soatdan kam yashagan. 5-6 soatda ingichka ichakka, 6 soatdan so‘ng yo‘g‘on ichakka o‘tadi.</a:t>
            </a:r>
          </a:p>
          <a:p>
            <a:pPr>
              <a:spcAft>
                <a:spcPts val="800"/>
              </a:spcAft>
            </a:pPr>
            <a:r>
              <a:rPr sz="1800">
                <a:solidFill>
                  <a:srgbClr val="1F2937"/>
                </a:solidFill>
                <a:latin typeface="Calibri"/>
              </a:rPr>
              <a:t>▸  Diqqat: muddatlar taxminiy. Xulosa bitta belgiga emas, ko‘p belgiga tayanadi.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2308834"/>
                <a:gridCol w="2979140"/>
              </a:tblGrid>
              <a:tr h="614476">
                <a:tc>
                  <a:txBody>
                    <a:bodyPr/>
                    <a:lstStyle/>
                    <a:p>
                      <a:r>
                        <a:rPr sz="1800" b="1">
                          <a:solidFill>
                            <a:srgbClr val="FFFFFF"/>
                          </a:solidFill>
                        </a:rPr>
                        <a:t>Belgi</a:t>
                      </a:r>
                    </a:p>
                  </a:txBody>
                  <a:tcPr marL="73152" marR="73152" marT="36576" marB="36576">
                    <a:solidFill>
                      <a:srgbClr val="0B1F3A"/>
                    </a:solidFill>
                  </a:tcPr>
                </a:tc>
                <a:tc>
                  <a:txBody>
                    <a:bodyPr/>
                    <a:lstStyle/>
                    <a:p>
                      <a:r>
                        <a:rPr sz="1800" b="1">
                          <a:solidFill>
                            <a:srgbClr val="FFFFFF"/>
                          </a:solidFill>
                        </a:rPr>
                        <a:t>Muddat</a:t>
                      </a:r>
                    </a:p>
                  </a:txBody>
                  <a:tcPr marL="73152" marR="73152" marT="36576" marB="36576">
                    <a:solidFill>
                      <a:srgbClr val="0B1F3A"/>
                    </a:solidFill>
                  </a:tcPr>
                </a:tc>
              </a:tr>
              <a:tr h="614476">
                <a:tc>
                  <a:txBody>
                    <a:bodyPr/>
                    <a:lstStyle/>
                    <a:p>
                      <a:r>
                        <a:rPr sz="1700" b="0">
                          <a:solidFill>
                            <a:srgbClr val="1F2937"/>
                          </a:solidFill>
                        </a:rPr>
                        <a:t>Demarkatsion halqa</a:t>
                      </a:r>
                    </a:p>
                  </a:txBody>
                  <a:tcPr marL="73152" marR="73152" marT="36576" marB="36576">
                    <a:solidFill>
                      <a:srgbClr val="E8EEF6"/>
                    </a:solidFill>
                  </a:tcPr>
                </a:tc>
                <a:tc>
                  <a:txBody>
                    <a:bodyPr/>
                    <a:lstStyle/>
                    <a:p>
                      <a:r>
                        <a:rPr sz="1700" b="0">
                          <a:solidFill>
                            <a:srgbClr val="1F2937"/>
                          </a:solidFill>
                        </a:rPr>
                        <a:t>Birinchi sutka oxiriga kelib shakllanadi</a:t>
                      </a:r>
                    </a:p>
                  </a:txBody>
                  <a:tcPr marL="73152" marR="73152" marT="36576" marB="36576">
                    <a:solidFill>
                      <a:srgbClr val="E8EEF6"/>
                    </a:solidFill>
                  </a:tcPr>
                </a:tc>
              </a:tr>
              <a:tr h="614476">
                <a:tc>
                  <a:txBody>
                    <a:bodyPr/>
                    <a:lstStyle/>
                    <a:p>
                      <a:r>
                        <a:rPr sz="1700" b="0">
                          <a:solidFill>
                            <a:srgbClr val="1F2937"/>
                          </a:solidFill>
                        </a:rPr>
                        <a:t>Gialin membranalar</a:t>
                      </a:r>
                    </a:p>
                  </a:txBody>
                  <a:tcPr marL="73152" marR="73152" marT="36576" marB="36576">
                    <a:solidFill>
                      <a:srgbClr val="FFFFFF"/>
                    </a:solidFill>
                  </a:tcPr>
                </a:tc>
                <a:tc>
                  <a:txBody>
                    <a:bodyPr/>
                    <a:lstStyle/>
                    <a:p>
                      <a:r>
                        <a:rPr sz="1700" b="0">
                          <a:solidFill>
                            <a:srgbClr val="1F2937"/>
                          </a:solidFill>
                        </a:rPr>
                        <a:t>Go‘dak kamida 1-2 soat yashaganda</a:t>
                      </a:r>
                    </a:p>
                  </a:txBody>
                  <a:tcPr marL="73152" marR="73152" marT="36576" marB="36576">
                    <a:solidFill>
                      <a:srgbClr val="FFFFFF"/>
                    </a:solidFill>
                  </a:tcPr>
                </a:tc>
              </a:tr>
              <a:tr h="614476">
                <a:tc>
                  <a:txBody>
                    <a:bodyPr/>
                    <a:lstStyle/>
                    <a:p>
                      <a:r>
                        <a:rPr sz="1700" b="0">
                          <a:solidFill>
                            <a:srgbClr val="1F2937"/>
                          </a:solidFill>
                        </a:rPr>
                        <a:t>O‘pkaning ikkilamchi atelektazi</a:t>
                      </a:r>
                    </a:p>
                  </a:txBody>
                  <a:tcPr marL="73152" marR="73152" marT="36576" marB="36576">
                    <a:solidFill>
                      <a:srgbClr val="E8EEF6"/>
                    </a:solidFill>
                  </a:tcPr>
                </a:tc>
                <a:tc>
                  <a:txBody>
                    <a:bodyPr/>
                    <a:lstStyle/>
                    <a:p>
                      <a:r>
                        <a:rPr sz="1700" b="0">
                          <a:solidFill>
                            <a:srgbClr val="1F2937"/>
                          </a:solidFill>
                        </a:rPr>
                        <a:t>Kamida 5-6 soatdan so‘ng</a:t>
                      </a:r>
                    </a:p>
                  </a:txBody>
                  <a:tcPr marL="73152" marR="73152" marT="36576" marB="36576">
                    <a:solidFill>
                      <a:srgbClr val="E8EEF6"/>
                    </a:solidFill>
                  </a:tcPr>
                </a:tc>
              </a:tr>
              <a:tr h="614476">
                <a:tc>
                  <a:txBody>
                    <a:bodyPr/>
                    <a:lstStyle/>
                    <a:p>
                      <a:r>
                        <a:rPr sz="1700" b="0">
                          <a:solidFill>
                            <a:srgbClr val="1F2937"/>
                          </a:solidFill>
                        </a:rPr>
                        <a:t>Tug‘ruq shishi</a:t>
                      </a:r>
                    </a:p>
                  </a:txBody>
                  <a:tcPr marL="73152" marR="73152" marT="36576" marB="36576">
                    <a:solidFill>
                      <a:srgbClr val="FFFFFF"/>
                    </a:solidFill>
                  </a:tcPr>
                </a:tc>
                <a:tc>
                  <a:txBody>
                    <a:bodyPr/>
                    <a:lstStyle/>
                    <a:p>
                      <a:r>
                        <a:rPr sz="1700" b="0">
                          <a:solidFill>
                            <a:srgbClr val="1F2937"/>
                          </a:solidFill>
                        </a:rPr>
                        <a:t>2-3-kunlarda so‘riladi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Belgilar paydo bo‘lish muddati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263-264, 264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Go‘dakka qarov va o‘lim sabablari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Yangi tug'ilgan chaqaloq jasadlarini gistologik tekshirish imkoniyatlari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Qarov belgilari: yo‘rgaklangan, kiyimi bor, kindigi kesilib bog‘langan, tanasi qon va mo‘msimon qoplamadan tozalangan, oshqozonda sut bor.</a:t>
            </a:r>
          </a:p>
          <a:p>
            <a:pPr>
              <a:spcAft>
                <a:spcPts val="1200"/>
              </a:spcAft>
            </a:pPr>
            <a:r>
              <a:rPr sz="2000">
                <a:solidFill>
                  <a:srgbClr val="1F2937"/>
                </a:solidFill>
                <a:latin typeface="Calibri"/>
              </a:rPr>
              <a:t>▸  Antenatal nozo‘raki o‘lim ko‘pincha yo‘ldosh yoki kindik bilan bog‘liq homila ichi asfiksiyadan bo‘ladi. Intranatal o‘limning asosiy sababi tug‘ruq travmasi, unda tashqi jarohat bo‘lmaydi.</a:t>
            </a:r>
          </a:p>
          <a:p>
            <a:pPr>
              <a:spcAft>
                <a:spcPts val="1200"/>
              </a:spcAft>
            </a:pPr>
            <a:r>
              <a:rPr sz="2000">
                <a:solidFill>
                  <a:srgbClr val="1F2937"/>
                </a:solidFill>
                <a:latin typeface="Calibri"/>
              </a:rPr>
              <a:t>▸  Postnatal zo‘raki o‘lim ikki xil. Aktivda bo‘g‘ish, nafas teshiklarini yopish, cho‘ktirish bo‘ladi. Passivda go‘dak qarovsiz qoldiriladi (qon ketish, sovuq qotish, ochlik).</a:t>
            </a:r>
          </a:p>
          <a:p>
            <a:pPr>
              <a:spcAft>
                <a:spcPts val="1200"/>
              </a:spcAft>
            </a:pPr>
            <a:r>
              <a:rPr sz="2000">
                <a:solidFill>
                  <a:srgbClr val="1F2937"/>
                </a:solidFill>
                <a:latin typeface="Calibri"/>
              </a:rPr>
              <a:t>▸  Diqqat: huquqni muhofaza idoralari uchun aktiv yoki passiv turini emas, o‘limning aniq sababini ko‘rsatish muhim.</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264, 264-265, 265, 266</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Ekspertiza xususiyatlari va material olish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Yangi tug'ilgan chaqaloq jasadlarini gistologik tekshirish imkoniyatlari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Tashqi tekshiruvda kiyim-bosh, antropometriya (uzunlik, vazn, bosh va ko‘krak o‘lchamlari), qon izlari, mo‘msimon qoplama, mekoniy va suyaklanish o‘zaklari o‘rganiladi. Yo‘ldosh va kindik ham tekshiriladi.</a:t>
            </a:r>
          </a:p>
          <a:p>
            <a:pPr>
              <a:spcAft>
                <a:spcPts val="1200"/>
              </a:spcAft>
            </a:pPr>
            <a:r>
              <a:rPr sz="2000">
                <a:solidFill>
                  <a:srgbClr val="1F2937"/>
                </a:solidFill>
                <a:latin typeface="Calibri"/>
              </a:rPr>
              <a:t>▸  Ichki tekshiruv ko‘krak va qorin bo‘shlig‘idan boshlanadi. Kalla suyaklari qaychi bilan kesilib darcha ochiladi, shunda o‘roqsimon o‘simta va miyacha chodiri butun qoladi.</a:t>
            </a:r>
          </a:p>
          <a:p>
            <a:pPr>
              <a:spcAft>
                <a:spcPts val="1200"/>
              </a:spcAft>
            </a:pPr>
            <a:r>
              <a:rPr sz="2000">
                <a:solidFill>
                  <a:srgbClr val="1F2937"/>
                </a:solidFill>
                <a:latin typeface="Calibri"/>
              </a:rPr>
              <a:t>▸  Tirik tug‘ilganlikni aniqlash uchun o‘pka va oshqozon-ichak suzish sinamalari o‘tkaziladi. Oshqozonda sut yoki boshqa massa, yo‘g‘on ichakda mekoniy borligiga e’tibor beriladi.</a:t>
            </a:r>
          </a:p>
          <a:p>
            <a:pPr>
              <a:spcAft>
                <a:spcPts val="1200"/>
              </a:spcAft>
            </a:pPr>
            <a:r>
              <a:rPr sz="2000">
                <a:solidFill>
                  <a:srgbClr val="1F2937"/>
                </a:solidFill>
                <a:latin typeface="Calibri"/>
              </a:rPr>
              <a:t>▸  Tekshiruv oxirida gistologik va sud-biologik (qon guruhi) tekshiruvlar uchun material olinadi. Gistologik uchun ichki a’zolar, yo‘ldosh va kindikdan bo‘lakchalar olinadi.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266, 267</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material olish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Yangi tug'ilgan chaqaloq jasadlarini gistologik tekshirish imkoniyatlari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onasi noma’lum chaqaloq murdasi topildi. Tashqi va ichki tekshiruv tugadi, laboratoriya uchun material olish qoldi.</a:t>
            </a:r>
          </a:p>
          <a:p>
            <a:pPr>
              <a:spcAft>
                <a:spcPts val="1200"/>
              </a:spcAft>
            </a:pPr>
            <a:r>
              <a:rPr sz="2200">
                <a:solidFill>
                  <a:srgbClr val="1F2937"/>
                </a:solidFill>
                <a:latin typeface="Calibri"/>
              </a:rPr>
              <a:t>▸  Gistologik tekshiruv uchun ichki a’zolardan tashqari yo‘ldosh va kindikdan ham bo‘lakchalar olinadi.</a:t>
            </a:r>
          </a:p>
          <a:p>
            <a:pPr>
              <a:spcAft>
                <a:spcPts val="1200"/>
              </a:spcAft>
            </a:pPr>
            <a:r>
              <a:rPr sz="2200">
                <a:solidFill>
                  <a:srgbClr val="1F2937"/>
                </a:solidFill>
                <a:latin typeface="Calibri"/>
              </a:rPr>
              <a:t>▸  Diqqat: qonning guruhiy mansubligi sud-biologik tekshiruv bilan aniqlanadi. U gistologik tekshiruvdan alohida o‘tkaziladi.</a:t>
            </a:r>
          </a:p>
          <a:p>
            <a:pPr>
              <a:spcAft>
                <a:spcPts val="1200"/>
              </a:spcAft>
            </a:pPr>
            <a:r>
              <a:rPr sz="2200">
                <a:solidFill>
                  <a:srgbClr val="1F2937"/>
                </a:solidFill>
                <a:latin typeface="Calibri"/>
              </a:rPr>
              <a:t>▸  Savol: nega murdadan tashqari yo‘ldosh va kindik ham tekshiriladi? Antenatal o‘lim sabablari ularda ko‘rinishi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256, 267, 264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va nazorat savollari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Yangi tug'ilgan chaqaloq jasadlarini gistologik tekshirish imkoniyatlari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Sud tibbiyotida yangi tug‘ilganlik davri dastlabki 24 soat. Bu pediatriya va akusherlikdagi muddatdan farq qiladi.</a:t>
            </a:r>
          </a:p>
          <a:p>
            <a:pPr>
              <a:spcAft>
                <a:spcPts val="1200"/>
              </a:spcAft>
            </a:pPr>
            <a:r>
              <a:rPr sz="2200">
                <a:solidFill>
                  <a:srgbClr val="1F2937"/>
                </a:solidFill>
                <a:latin typeface="Calibri"/>
              </a:rPr>
              <a:t>▸  Tirik tug‘ilganlik asosan nafas olgan-olmaganlik bilan hal etiladi. Mikroskopda nafas olgan o‘pkada alveolalar yoyilgan bo‘ladi.</a:t>
            </a:r>
          </a:p>
          <a:p>
            <a:pPr>
              <a:spcAft>
                <a:spcPts val="1200"/>
              </a:spcAft>
            </a:pPr>
            <a:r>
              <a:rPr sz="2200">
                <a:solidFill>
                  <a:srgbClr val="1F2937"/>
                </a:solidFill>
                <a:latin typeface="Calibri"/>
              </a:rPr>
              <a:t>▸  Gialin membranalari uchun go‘dak kamida 1-2 soat yashashi kerak. Ikkilamchi atelektaz kamida 5-6 soatdan keyin rivojlanadi.</a:t>
            </a:r>
          </a:p>
          <a:p>
            <a:pPr>
              <a:spcAft>
                <a:spcPts val="1200"/>
              </a:spcAft>
            </a:pPr>
            <a:r>
              <a:rPr sz="2200">
                <a:solidFill>
                  <a:srgbClr val="1F2937"/>
                </a:solidFill>
                <a:latin typeface="Calibri"/>
              </a:rPr>
              <a:t>▸  Nazorat: 1) yangi tug‘ilganlik belgilarini sanang; 2) absolyut belgilar qaysilar; 3) ikkilamchi atelektazda o‘pka sinamasi qanday o‘tkaziladi?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256, 259, 261, 264, 267</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Yangi tug'ilgan chaqaloq jasadlarini gistologik tekshirish imkoniyatlari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38</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Mikroskop ostida o‘lik tug‘ilgan chaqaloq o‘pkasida alveolalar yoyilmagan, epiteliy kubsimon, to‘siqlar qalin, kapillyarlarda qon yo‘q bo‘ladi. Nafas olgan o‘pkada alveolalar yoyilgan, epiteliy yassi, to‘siqlar ingichka, kapillyarlar to‘laqon bo‘ladi.</a:t>
            </a:r>
          </a:p>
          <a:p>
            <a:pPr>
              <a:spcAft>
                <a:spcPts val="1200"/>
              </a:spcAft>
            </a:pPr>
            <a:r>
              <a:rPr sz="1800">
                <a:solidFill>
                  <a:srgbClr val="1F2937"/>
                </a:solidFill>
                <a:latin typeface="Calibri"/>
              </a:rPr>
              <a:t>▸  Eslab qolish usuli (o‘quv mnemonikasi): «NAFAS = YOYILGAN, YASSI, INGICHKA, TO‘LAQON». Bu to‘rt so‘z nafas olgan o‘pkaning gistologik belgilarini eslatadi. Nafas olmagan o‘pkada barchasi teskari bo‘ladi.</a:t>
            </a:r>
          </a:p>
          <a:p>
            <a:pPr>
              <a:spcAft>
                <a:spcPts val="1200"/>
              </a:spcAft>
            </a:pPr>
            <a:r>
              <a:rPr sz="1800">
                <a:solidFill>
                  <a:srgbClr val="1F2937"/>
                </a:solidFill>
                <a:latin typeface="Calibri"/>
              </a:rPr>
              <a:t>▸  Gialin membranalar asosan noraso, tirik tug‘ilgan chaqaloqlarda uchraydi va albumin, globulin, fibrindan iborat. Ular paydo bo‘lishi uchun go‘dak kamida 1-2 soat yashashi kerak. Nafas olmagan o‘pkada ular bo‘lmaydi.</a:t>
            </a:r>
          </a:p>
          <a:p>
            <a:pPr>
              <a:spcAft>
                <a:spcPts val="1200"/>
              </a:spcAft>
            </a:pPr>
            <a:r>
              <a:rPr sz="1800">
                <a:solidFill>
                  <a:srgbClr val="1F2937"/>
                </a:solidFill>
                <a:latin typeface="Calibri"/>
              </a:rPr>
              <a:t>▸  Hodisa tahlili: o‘lik tug‘ilgan go‘daklarning kichik va o‘rta o‘pka arteriyalari ichida «kurtaksimon» yoki «yostiqsimon» bo‘rtiqlar aniqlanadi (Mityaeva belgisi). Nafas olgan o‘pkada bunday bo‘rtiqlar bo‘lmaydi. Bu belgi gistologik tekshiruvda tirik tug‘ilganlik masalasiga yordam beradi.</a:t>
            </a:r>
          </a:p>
          <a:p>
            <a:pPr>
              <a:spcAft>
                <a:spcPts val="1200"/>
              </a:spcAft>
            </a:pPr>
            <a:r>
              <a:rPr sz="1800">
                <a:solidFill>
                  <a:srgbClr val="1F2937"/>
                </a:solidFill>
                <a:latin typeface="Calibri"/>
              </a:rPr>
              <a:t>▸  Gistologik tekshiruv uchun faqat murdaning ichki a’zolaridan emas, yo‘ldosh va kindikdan ham bo‘lakchalar olinadi. Shuning uchun murda bilan birga yo‘ldosh va kindik ham ekspertizaga taqdim etilishi muhim.</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Yangi tug'ilgan chaqaloq jasadlarini gistologik tekshirish imkoniyatlari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38</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800"/>
              </a:spcAft>
            </a:pPr>
            <a:r>
              <a:rPr sz="2000">
                <a:solidFill>
                  <a:srgbClr val="1F2937"/>
                </a:solidFill>
                <a:latin typeface="Calibri"/>
              </a:rPr>
              <a:t>▸  G‘iyosov Z.A. Sud tibbiyoti: darslik, Toshkent: Global Books nashriyoti. 2018. Bob 10. Homila va yangi tug‘ilgan go‘daklar murdasi (qisman mos)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