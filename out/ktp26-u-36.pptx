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makroskopik belgilar bo‘lmaganda TBI tashxisi murakkablashadi? 2) Gistologiya bu holatda qanday rol o‘ynaydi? Doskada chizish: ikki ustunli sxema — «makroskopik belgilar bor» va «yo‘q» holatlari, har biriga tashxis usullarini yozing. Tipik xato: TBI va DAI tushunchalarini aralashtirish — DAI TBIning bir turi (diffuz aksonal komponenti), TBI esa kengroq tushuncha.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Nima uchun o‘z-o‘ziga zarar yetkazish birinchi o‘rinda turishi sud-tibbiy ekspertiza uchun muhim? 2) Jarohat mexanizmi tashxis yondashuviga qanday ta’sir qiladi? Doskada chizish: uchta ulushni doiraviy diagrammada ko‘rsating, qolgan qismini «manbada ko‘rsatilmagan» deb belgilang. Tipik xato: uchta sababni jami 100% deb o‘ylash — manbada qolgan sabablar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Nima uchun qisqa yashagan holatda oddiy bo‘yash usullari yetarli emas? 2) β-APP musbat topilma nega travmaning yagona isboti bo‘lmaydi? Doskada chizish: vaqt o‘qi — 2–3 soat (β-APP), 12–18 soat (kumush), ~24 soat (gematoksilin-eozin). Tipik xato: β-APP ni travmaga mutlaqo xos deb hisoblash — u ishemiya/gipoksiyada ham ko‘rinadi. Qisqartma: KT — kompyuter tomografiya, MRT — magnit-rezonans tomografiya.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Strich ishi DAI tushunchasining poydevori hisoblanadi? 2) MRT va immunobo‘yash sud-gistologik tashxisni qanday o‘zgartirdi? Doskada: 1940-yillar–1956–Adams–MRT/immunobo‘yash vaqt chizig‘ini chizdiring. Tipik xato: Strich va Adams hissalarini aralashtirish (Strich tasvirlagan, Adams atamani kiritgan va darajalagan). TBI = travmatik bosh miya shikastlanishi.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zarba kuchi bosh suyagi sinishiga yetmasa ham DAI bo‘lishi mumkin? 2) Koronal harakat sagittalga qaraganda nega og‘irroq zarar beradi (manbada shunday deyilgan)? Doskada: bosh harakati yo‘nalishlari va zarar joylarini sxema qilib chizdiring. Tipik xato: DAI faqat bosh suyagi sinishi bilan keladi deb o‘ylash. Diqqat: kesuvchi kuch ≠ siquvchi kuch.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ochiq modellar DAI mexanizmini to‘liq aks ettirmasligi mumkin? 2) CHIMERA qanday afzallik beradi (biokimyoviy, xulq-atvor va neyropatologik tahlil birga)? Doskada: ochiq va yopiq model farqini ikki ustunli sxema qilib chizdiring. Tipik xato: FP/CCI ni yopiq model deb adashtirish. Diqqat: ochiq model ≠ yopiq model. CHIMERA = yopiq bosh, aylanma tezlanish muhandislik modeli.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Muhokama: 1) Nega transport hodisasida DAI, qattiq yuzaga yiqilishda esa subdural gematoma ko‘proq uchraydi? 2) Bosh suyagi sinmasa, DAI ehtimolini qanday baholaymiz? Doskada chizish: bosh va bo‘yinning koronal hamda sagittal harakat sxemasi, har biriga strelka bilan. Tipik xato: bosh suyagi sinmagan bo‘lsa, og‘ir diffuz shikast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Vaziyat o‘quv maqsadida manba ma’lumotlaridan tuzilgan. Muhokama: 1) KT normal bo‘lsa, DAI istisno etiladimi? 2) Sud-tibbiy ekspert qaysi tekshiruvni tanlaydi? Doskada chizish: mexanizm zanjiri (transport hodisasi - bosh harakati - aksonlarga siljish kuchi - ong yo‘qolishi). Tipik xato: KTda o‘zgarish yo‘q bo‘lsa, DAI yo‘q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 savollarga avval yozma javob beradi, keyin javoblar tekshiriladi. Muhokama: Strich va Adams hissasi qanday farq qiladi (tasvirlash va atama hamda baholash tizimi)? Doskada chizish: sodda vaqt chizig‘i (1940-yillar tajribalar, 1956 Strich, keyin Adams). Tipik xato: Strich va Adams hissasini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zarba paytida uzilmagan akson keyinroq uzilishi mumkin? 2) Bu holat sud-gistologik tashxisda qanday ahamiyatga ega? Doskada chizish: ikki shoxli sxema — chapda birlamchi (zarba paytida), o‘ngda ikkilamchi (kaskad orqali). Tipik xato: talabalar DAI ni faqat zarbaning bevosita mexanik oqibati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transport buzilsa akson shishadi? 2) β-APP ni topish nima uchun yagona dalil bo‘la olmaydi? Doskada chizish: akson sxemasi — shishgan joy va uzilgan uchi bilan. Tipik xato: β-APP musbat natijani avtomatik travmatik DAI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Mexanoporatsiya nima va u kalsiyga qanday ta’sir qiladi? 2) Nimodipin qaysi bosqichga ta’sir qiladi? Doskada chizish: glutamat → kalsiy ↑ → kaspaza/kalpain → nekroz/apoptoz zanjiri. Tipik xato: kaspaza va kalpainni aralashtirish; ikkalasi ham kalsiyga bog‘liq fermentlar ekanini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β-APP va CD68 birga bo‘yalishi gistologik nimani isbotlaydi? 2) Nega bu 5–15 kunlik omon qolish muddatida muhim? Doskada: aksonal shikast → mikroglia → sitokinlar zanjirini chizdiring. Tipik xato: β-APP to‘planishini faqat travmaga xos deb hisoblash; manbada bu to‘planish boshqa holatlarda ham uchrashi aytilgan (β-APP ≠ travmaning yagona belgisi).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Sog‘lom mitoxondriyada ROS nega kam hosil bo‘ladi? 2) Yomon doira qaysi bosqichda uzilishi mumkin? Doskada: diagrammadagi zanjirni yopiq doira shaklida chizdiring. Antioksidant tizim: tokoferol, koenzim Q10, glutation (GSH) va fermentlar (superoksid dismutaza, katalaza). Tipik xato: ROS ni faqat zararli deb o‘ylash; muammo muvozanat buzilishida.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Musbat teskari aloqa nima uchun jarayonni kuchaytiradi? 2) Kalpain-1 kaspaza-3 ni ham faollashtirishini qanday tushuntirasiz? Doskada: Ca2+ → kalpain-1 → Ca2+ ↑ sikl strelkalarini chizdiring. Qo‘shimcha: siklosporin A mPTP ni ingibirlaydi, lekin natijalar qat’iy emas. Tipik xato: kalpain va kaspazani bir xil ferment deb adashtirish; kalpain — kalsiyga bog‘liq sistein proteaza.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KT da o‘choq bo‘lmasa, hush yo‘qolishining sababi nima bo‘lishi mumkin? 2) Birlamchi va ikkilamchi aksotomiya farqi nimada? Doskada: zarba → Ca2+ ortishi → kalpain/kaspaza → neyron o‘limi zanjirini chizdiring. Tipik xato: talabalar neyron o‘limini faqat zarbaning bevosita natijasi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Talabalardan avval javob so‘rang, keyin slaydni oching. Muhokama: nega tashqi Ca2+ ni olib tashlash mitoxondrial Ca2+ ajralishini to‘sishdan samaraliroq? Doskada: kalpain-1 va Ca2+ kirishi o‘rtasidagi halqani strelkalar bilan chizdiring. Tipik xato: mPTP ni asosiy sabab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aksonal shikast makroskopik ko‘rinmasligi mumkin? 2) Kallosum o‘chog‘i o‘rta chiziqqa yetsa nima kuzatiladi? (qorinchalararo to‘siq uzilishi, qorincha ichi qon quyilishi). Doskada: kallosum va rostral miya ustunining sagittal sxemasini chizib, o‘choqlarni belgilang. Tipik xato: Adams darajalarini mikroskopik Gennarelli darajalari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qisqa yashaganlarda o‘choq qonli, uzoq yashaganlarda esa jigarrang chandiq bo‘ladi? 2) Oq modda hajmi kamayganda qorinchalar kengayishi nega gidrosefaliyaga o‘xshab ketadi? Doskada chizing: miya kesimida kallazsimon tana, o‘rta chiziq va rostral miya sopining dorsolateral kvadranti (yuqori serebellyar oyoqcha yonida). Tipik xato: o‘choq bor-yo‘qligiga qarab tashxis qo‘yish. Manbaga ko‘ra aksonal shikast faqat mikroskopda ko‘rinadigan holatlar ham bo‘ladi.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kamida bitta hudud tentoriumdan yuqorida va bittasi pastda bo‘lishi talab qilinadi? 2) “Retraksiya bulbi” o‘rniga “aksonal bulb” atamasi qanday patogenetik g‘oyani aks ettiradi? Doskada chizing: tentorium chizig‘i va uning ikki tomonidagi hududlarni belgilang, aksonal bulb sxemasini qo‘shing. Tipik xato: bitta hududdagi aksonal shishni diffuz DAI deb baholash; “Diqqat: bulb ≠ faqat retraksiya, mexanizm transport buzilishi”.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daraja ortishi bilan koma og‘irligi va oqibat bog‘lanadi? 2) Qaysi hududda o‘choq topilsa, 2-daraja 3-darajaga o‘tadi? Doskada chizing: uch ustunli jadvalni talabalar bilan birga to‘ldiring. Tipik xato: Gennarelli darajalarini (1–3) Adams bo‘yicha strukturaviy belgilar (I–III) bilan aralashtirish va o‘choqning qaysi qismda ekanligini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aksonal shish kunlar ichida, Valler degeneratsiyasi esa oylar o‘tgach ko‘rinadi? 2) Oylar o‘tgan holatda gidrosefaliya bilan adashish nimaga olib keladi? Doskada: kunlar, haftalar va oylar uchun vaqt chizig‘ini chizib, har biriga gistologik belgini yozing. Tipik xato: mikroglia klasterlarini (haftalar) Valler degeneratsiyasi (oylar) bilan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Jarohatdan 3 soat o‘tib o‘lgan jasadda qaysi usul tanlanadi va nega? 2) Gematoksilin-eozin manfiy bo‘lsa, DAI inkor etiladimi? Doskada: soat o‘qini chizib, 2–3, 12–18 va 24 soat nuqtalariga usullarni joylang. Tipik xato: kumush impregnatsiyasi (12–18 soat) bilan gematoksilin-eozin (taxminan 24 soat) vaqtini almashtirib yuborish. Eslab qoling: usul qanchalik zamonaviy bo‘lsa, shunchalik erta aniqlaydi.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β-APP musbat bo‘lsa, ekspert xulosasida nimani qo‘shimcha hisobga olish kerak? 2) Zaharlanish va travmada zararning joylashuvi nima bilan farq qiladi? Doskada: ko‘prik va katta miya uchun ikki ustunli taqqoslash sxemasini chizing (travma va zaharlanish). Tipik xato: β-APP musbat natijani avtomatik ravishda travmatik DAI deb xulosalash.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qisqa omon qolishda gematoksilin-eozin ishonchsiz? (2) β-APP musbat bo‘lsa, travmani ishemiyadan ajratish uchun yana nima kerak? Doskada chizing: 0–24 soat vaqt chizig‘i va unda 2–3 soat (β-APP), 12–18 soat (kumush), ~24 soat (gematoksilin-eozin) belgilari. Tipik xato: β-APP musbat natijani avtomatik ‘sof mexanik travma’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Adams va Gennarelli tasniflari qanday o‘xshaydi? (2) Jismoniy tana (corpus callosum) o‘chog‘i qaysi darajadan boshlanadi? Doskada chizing: ikki ustunli jadval – daraja va o‘choq joyi (Adams / Gennarelli). Tipik xato: o‘choq darajalarini aksonal shikast darajasi bilan aralashtirish va gistologik tekshiruvsiz DAI tashxisini qo‘yish.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bitta marker o‘zi yetarli emas? (2) Politravmada S100β talqini nega ehtiyot talab qiladi? Doskada chizing: jarohat – kalpain/kaspaza – spektrin va NF parchalanishi – suyuqlikda marker zanjiri. Tipik xato: sharh ma’lumotlarini sud-tibbiy aniq tashxis mezoni deb qabul qilish; ular klinik va prognostik tadqiqotlardan olingan.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Qisqartmalar: PRISMA – tizimli sharhlar hisobot qoidasi; S100B – S100 kalsiy bog‘lovchi oqsil B; NSE – neyronga xos enolaza; GFAP – glial fibrillyar kislotali oqsil; IL-6 – interleykin-6; LDH – laktatdegidrogenaza; BDNF – miyadan ajraluvchi neyrotrofik omil; NGAL – neytrofil jelatinaza bilan bog‘liq lipokalin; MAPT – mikronaychalar bilan bog‘liq tau oqsili. Muhokama: nega nazorat guruhi bo‘lmagan ishlar kiritilmagan? Nazorat guruhini tanlash natijaga qanday ta’sir qiladi? Doskada: sharh bosqichlari zanjirini chizing. Tipik xato: 17 ta tadqiqotni 17 ta marker deb adashtirish; markerlar 9 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yuqori spetsifiklik bilan sezgirlik past bo‘lishi mumkin? Chegaralar boshqa laboratoriyada qo‘llanadimi? Doskada: 4 markerli jadvalni ko‘chiring va ferritin, BDNF, NGAL, LDH qatorlarini qo‘shing. Qo‘shimcha: GFAP likvorda 385.5 ng/ml chegarada sezgirlik 71.1%, spetsifiklik 71.4%; diffuz gipoksiyada GFAP yuqori chiqishi mumkin. Diqqat: xato qilish xavfi – aniqlik (accuracy) ≠ spetsifiklik; hech bir marker TBI uchun 100% spetsifik emas, natija boshqa dalillar bilan birga baholanadi. Tipik xato: chegarani mustaqil isbot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yuqori qiymat nimani, past qiymat nimani anglatadi? Nega bu usul faqat minimal muddatni beradi? Doskada: vaqt o‘qini chizib, 15 daq, 20 daq, 2 soat, 3 kun nuqtalarini belgilang. Tipik xato: yuqori qiymatni aniq muddat deb talqin qilish; qiymatlar likvor uchun. Tezkor savol: qaysi marker eng uzoq (3 kun) minimal muddatni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statistik farq 100% aniq tashxis degani emas? 2) Nazorat guruhini aralash emas, alohida-alohida olish nimani o‘zgartiradi? Doskada: ikki ustunli sxema chizdiring: chapda omillar (PMI, gemoliz, neyroxirurgiya), o‘ngda ularning biomarker qiymatiga ta’siri. Tipik xato: chegara qiymatni mustaqil isbot deb hisoblash; u boshqa avtopsiya topilmalari bilan birga shubhani kuchaytiradi.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Likvor ko‘rsatkichi va gistologiya bir-birini qanday to‘ldiradi? 2) Gipoksiya va ishemiyani istisno qilish uchun qaysi ma’lumotlar kerak? Doskada: qaror sxemasi chizdiring: likvor biomarkeri, β-APP, tentorium ustida va ostida joylashuv, xulosa. Tipik xato: β-APP musbat bo‘lsa, shikast albatta travmatik deb xulosa qilish. Eslatma: voqea o‘quv maqsadida tuzilgan, faqat manbadagi ma’lumotlarga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Qisqartmalar: MRT (magnit-rezonans tomografiya), SWI (susceptibility-weighted imaging, qonga sezgir ketma-ketlik), T2*GRE (T2* gradient-echo), DWI (diffuziya-vaznli tasvir), DTI (diffuziya tenzor tasviri). Muhokama: 1) Nega manfiy KT DAI ni inkor etmaydi? 2) Sud-tibbiy noaniq holatda 7 T SWI nimani beradi? Doskada: vaqt chizig‘i chizdiring: KT, MRT, 3 oydan keyingi nazorat. Tipik xato: KT dagi normal topilmani DAI yo‘qligi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β-APP musbat bo‘lsa, travmani qanday ishemiyadan farqlaymiz? (2) Nega biomarker bitta o‘zi yetarli emas? Doskada chizish: bo‘yash usullarini vaqt o‘qida (2–3 soat, 12–18 soat, ~24 soat) joylashtiring. Tipik xato: β-APP musbat degani aniq travma deb o‘ylash. Yakuniy savolga to‘g‘ri javob: β-APP immunogistokimyosi 2–3 soatdan keyin ko‘rsata oladi, lekin shikastdan keyin 1 soatda manba aniq vaqt bermaydi, shu sababli javobni talabalar bilan muhokama qiling.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DAI tashxisi nega mikroskopiyasiz qo‘yilmaydi? (2) Biomarker natijasi va gistologiya bir-biriga zid kelsa, qanday qaror qilinadi? Doskada chizish: mexanizm zanjirini yozing: kuch, aksonal shikast, Ca2+ va ROS, aksonal bulba, gistologik tashxis. Tipik xato: biomarker chegaraviy qiymatini mutlaq tashxis mezoni deb qabul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Bosh miya travmatik shikastlanishining sud-gistologik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bosh miya travmasi va sud-tibbiy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 miya travmatik shikastlanishi (TBI) — urilish, zarba, silkinish yoki kirib boruvchi jarohatlar tufayli miya odatdagi faoliyatining buzilishi (AQSh kasalliklar nazorati markazi ta’rifi).</a:t>
            </a:r>
          </a:p>
          <a:p>
            <a:pPr>
              <a:spcAft>
                <a:spcPts val="1200"/>
              </a:spcAft>
            </a:pPr>
            <a:r>
              <a:rPr sz="2200">
                <a:solidFill>
                  <a:srgbClr val="1F2937"/>
                </a:solidFill>
                <a:latin typeface="Calibri"/>
              </a:rPr>
              <a:t>▸  TBI jarohatlar global yukiga katta hissa qo‘shadi; aholi o‘sishi bilan uning mutlaq soni yanada oshishi kutilmoqda.</a:t>
            </a:r>
          </a:p>
          <a:p>
            <a:pPr>
              <a:spcAft>
                <a:spcPts val="1200"/>
              </a:spcAft>
            </a:pPr>
            <a:r>
              <a:rPr sz="2200">
                <a:solidFill>
                  <a:srgbClr val="1F2937"/>
                </a:solidFill>
                <a:latin typeface="Calibri"/>
              </a:rPr>
              <a:t>▸  Kontuziya, qon quyilishi yoki yirtilish kabi makroskopik belgilar bo‘lmasa, TBIni o‘limning yagona yoki qo‘shimcha sababi deb belgilash qiyin.</a:t>
            </a:r>
          </a:p>
          <a:p>
            <a:pPr>
              <a:spcAft>
                <a:spcPts val="1200"/>
              </a:spcAft>
            </a:pPr>
            <a:r>
              <a:rPr sz="2200">
                <a:solidFill>
                  <a:srgbClr val="1F2937"/>
                </a:solidFill>
                <a:latin typeface="Calibri"/>
              </a:rPr>
              <a:t>▸  Diffuz aksonal shikastlanish (DAI) faqat mikroskopda ko‘rinsa, yetarli gistologik tekshiruvsiz tashxis qo‘yib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 Frati et al., Diffuse Axonal Injury and Oxidative Stress: A Comprehensive Review, betlar: PMID 29207487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TBIdan o‘lim sabablari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Og‘ir TBIda o‘lim bemorlarning taxminan to‘rtdan bir–uchdan bir qismida kuzatiladi.</a:t>
            </a:r>
          </a:p>
          <a:p>
            <a:pPr>
              <a:spcAft>
                <a:spcPts val="800"/>
              </a:spcAft>
            </a:pPr>
            <a:r>
              <a:rPr sz="1800">
                <a:solidFill>
                  <a:srgbClr val="1F2937"/>
                </a:solidFill>
                <a:latin typeface="Calibri"/>
              </a:rPr>
              <a:t>▸  Taxminan shuncha bemor og‘ir zarbadan keyin to‘liq tuzaladi.</a:t>
            </a:r>
          </a:p>
          <a:p>
            <a:pPr>
              <a:spcAft>
                <a:spcPts val="800"/>
              </a:spcAft>
            </a:pPr>
            <a:r>
              <a:rPr sz="1800">
                <a:solidFill>
                  <a:srgbClr val="1F2937"/>
                </a:solidFill>
                <a:latin typeface="Calibri"/>
              </a:rPr>
              <a:t>▸  Sud-tibbiy holatlar o‘z-o‘ziga urib shikastlashdan qotillik maqsadidagi zarbalargacha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3273508"/>
                <a:gridCol w="2014466"/>
              </a:tblGrid>
              <a:tr h="411480">
                <a:tc>
                  <a:txBody>
                    <a:bodyPr/>
                    <a:lstStyle/>
                    <a:p>
                      <a:r>
                        <a:rPr sz="1400" b="1">
                          <a:solidFill>
                            <a:srgbClr val="FFFFFF"/>
                          </a:solidFill>
                        </a:rPr>
                        <a:t>Sabab</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O‘z-o‘ziga zarar yetkazish</a:t>
                      </a:r>
                    </a:p>
                  </a:txBody>
                  <a:tcPr marL="73152" marR="73152" marT="36576" marB="36576">
                    <a:solidFill>
                      <a:srgbClr val="E8EEF6"/>
                    </a:solidFill>
                  </a:tcPr>
                </a:tc>
                <a:tc>
                  <a:txBody>
                    <a:bodyPr/>
                    <a:lstStyle/>
                    <a:p>
                      <a:r>
                        <a:rPr sz="1300" b="0">
                          <a:solidFill>
                            <a:srgbClr val="1F2937"/>
                          </a:solidFill>
                        </a:rPr>
                        <a:t>33%</a:t>
                      </a:r>
                    </a:p>
                  </a:txBody>
                  <a:tcPr marL="73152" marR="73152" marT="36576" marB="36576">
                    <a:solidFill>
                      <a:srgbClr val="E8EEF6"/>
                    </a:solidFill>
                  </a:tcPr>
                </a:tc>
              </a:tr>
              <a:tr h="411480">
                <a:tc>
                  <a:txBody>
                    <a:bodyPr/>
                    <a:lstStyle/>
                    <a:p>
                      <a:r>
                        <a:rPr sz="1300" b="0">
                          <a:solidFill>
                            <a:srgbClr val="1F2937"/>
                          </a:solidFill>
                        </a:rPr>
                        <a:t>Tasodifiy yiqilish</a:t>
                      </a:r>
                    </a:p>
                  </a:txBody>
                  <a:tcPr marL="73152" marR="73152" marT="36576" marB="36576">
                    <a:solidFill>
                      <a:srgbClr val="FFFFFF"/>
                    </a:solidFill>
                  </a:tcPr>
                </a:tc>
                <a:tc>
                  <a:txBody>
                    <a:bodyPr/>
                    <a:lstStyle/>
                    <a:p>
                      <a:r>
                        <a:rPr sz="1300" b="0">
                          <a:solidFill>
                            <a:srgbClr val="1F2937"/>
                          </a:solidFill>
                        </a:rPr>
                        <a:t>28%</a:t>
                      </a:r>
                    </a:p>
                  </a:txBody>
                  <a:tcPr marL="73152" marR="73152" marT="36576" marB="36576">
                    <a:solidFill>
                      <a:srgbClr val="FFFFFF"/>
                    </a:solidFill>
                  </a:tcPr>
                </a:tc>
              </a:tr>
              <a:tr h="411480">
                <a:tc>
                  <a:txBody>
                    <a:bodyPr/>
                    <a:lstStyle/>
                    <a:p>
                      <a:r>
                        <a:rPr sz="1300" b="0">
                          <a:solidFill>
                            <a:srgbClr val="1F2937"/>
                          </a:solidFill>
                        </a:rPr>
                        <a:t>Yo‘l-transport hodisalari</a:t>
                      </a:r>
                    </a:p>
                  </a:txBody>
                  <a:tcPr marL="73152" marR="73152" marT="36576" marB="36576">
                    <a:solidFill>
                      <a:srgbClr val="E8EEF6"/>
                    </a:solidFill>
                  </a:tcPr>
                </a:tc>
                <a:tc>
                  <a:txBody>
                    <a:bodyPr/>
                    <a:lstStyle/>
                    <a:p>
                      <a:r>
                        <a:rPr sz="1300" b="0">
                          <a:solidFill>
                            <a:srgbClr val="1F2937"/>
                          </a:solidFill>
                        </a:rPr>
                        <a:t>19%</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TBIdan o‘lim sabablari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tashxis usullari xaritasi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β-amiloid prekursor oqsil (β-APP) immunogistokimyosi — DAI uchun oltin standart; mikroskopik shikast gistologiyasiz tashxislanmaydi.</a:t>
            </a:r>
          </a:p>
          <a:p>
            <a:pPr>
              <a:spcAft>
                <a:spcPts val="800"/>
              </a:spcAft>
            </a:pPr>
            <a:r>
              <a:rPr sz="1800">
                <a:solidFill>
                  <a:srgbClr val="1F2937"/>
                </a:solidFill>
                <a:latin typeface="Calibri"/>
              </a:rPr>
              <a:t>▸  Biokimyoviy belgilar mustaqil isbot emas, boshqa topilmalar bilan birga hisobga olinadi.</a:t>
            </a:r>
          </a:p>
          <a:p>
            <a:pPr>
              <a:spcAft>
                <a:spcPts val="800"/>
              </a:spcAft>
            </a:pPr>
            <a:r>
              <a:rPr sz="1800">
                <a:solidFill>
                  <a:srgbClr val="1F2937"/>
                </a:solidFill>
                <a:latin typeface="Calibri"/>
              </a:rPr>
              <a:t>▸  Bosh miya KT birinchi bosqich; MRT (magnit-rezonans tomografiya) mayda qon quyilishlarni aniqroq topadi.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61211"/>
                <a:gridCol w="2014466"/>
                <a:gridCol w="1712296"/>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Imkoniyat</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Gematoksilin-eozin, kumush</a:t>
                      </a:r>
                    </a:p>
                  </a:txBody>
                  <a:tcPr marL="73152" marR="73152" marT="36576" marB="36576">
                    <a:solidFill>
                      <a:srgbClr val="E8EEF6"/>
                    </a:solidFill>
                  </a:tcPr>
                </a:tc>
                <a:tc>
                  <a:txBody>
                    <a:bodyPr/>
                    <a:lstStyle/>
                    <a:p>
                      <a:r>
                        <a:rPr sz="1200" b="0">
                          <a:solidFill>
                            <a:srgbClr val="1F2937"/>
                          </a:solidFill>
                        </a:rPr>
                        <a:t>Shikast 24 / 12–18 soatdan so‘ng ko‘rinadi</a:t>
                      </a:r>
                    </a:p>
                  </a:txBody>
                  <a:tcPr marL="73152" marR="73152" marT="36576" marB="36576">
                    <a:solidFill>
                      <a:srgbClr val="E8EEF6"/>
                    </a:solidFill>
                  </a:tcPr>
                </a:tc>
                <a:tc>
                  <a:txBody>
                    <a:bodyPr/>
                    <a:lstStyle/>
                    <a:p>
                      <a:r>
                        <a:rPr sz="1200" b="0">
                          <a:solidFill>
                            <a:srgbClr val="1F2937"/>
                          </a:solidFill>
                        </a:rPr>
                        <a:t>Qisqa yashashda aniqlash qiyin</a:t>
                      </a:r>
                    </a:p>
                  </a:txBody>
                  <a:tcPr marL="73152" marR="73152" marT="36576" marB="36576">
                    <a:solidFill>
                      <a:srgbClr val="E8EEF6"/>
                    </a:solidFill>
                  </a:tcPr>
                </a:tc>
              </a:tr>
              <a:tr h="411480">
                <a:tc>
                  <a:txBody>
                    <a:bodyPr/>
                    <a:lstStyle/>
                    <a:p>
                      <a:r>
                        <a:rPr sz="1200" b="0">
                          <a:solidFill>
                            <a:srgbClr val="1F2937"/>
                          </a:solidFill>
                        </a:rPr>
                        <a:t>β-APP immunogistokimyo</a:t>
                      </a:r>
                    </a:p>
                  </a:txBody>
                  <a:tcPr marL="73152" marR="73152" marT="36576" marB="36576">
                    <a:solidFill>
                      <a:srgbClr val="FFFFFF"/>
                    </a:solidFill>
                  </a:tcPr>
                </a:tc>
                <a:tc>
                  <a:txBody>
                    <a:bodyPr/>
                    <a:lstStyle/>
                    <a:p>
                      <a:r>
                        <a:rPr sz="1200" b="0">
                          <a:solidFill>
                            <a:srgbClr val="1F2937"/>
                          </a:solidFill>
                        </a:rPr>
                        <a:t>Shikastlangan akson 2–3 soatdan so‘ng</a:t>
                      </a:r>
                    </a:p>
                  </a:txBody>
                  <a:tcPr marL="73152" marR="73152" marT="36576" marB="36576">
                    <a:solidFill>
                      <a:srgbClr val="FFFFFF"/>
                    </a:solidFill>
                  </a:tcPr>
                </a:tc>
                <a:tc>
                  <a:txBody>
                    <a:bodyPr/>
                    <a:lstStyle/>
                    <a:p>
                      <a:r>
                        <a:rPr sz="1200" b="0">
                          <a:solidFill>
                            <a:srgbClr val="1F2937"/>
                          </a:solidFill>
                        </a:rPr>
                        <a:t>Travma va gipoksiyani ajratmaydi</a:t>
                      </a:r>
                    </a:p>
                  </a:txBody>
                  <a:tcPr marL="73152" marR="73152" marT="36576" marB="36576">
                    <a:solidFill>
                      <a:srgbClr val="FFFFFF"/>
                    </a:solidFill>
                  </a:tcPr>
                </a:tc>
              </a:tr>
              <a:tr h="411480">
                <a:tc>
                  <a:txBody>
                    <a:bodyPr/>
                    <a:lstStyle/>
                    <a:p>
                      <a:r>
                        <a:rPr sz="1200" b="0">
                          <a:solidFill>
                            <a:srgbClr val="1F2937"/>
                          </a:solidFill>
                        </a:rPr>
                        <a:t>Likvor biokimyosi</a:t>
                      </a:r>
                    </a:p>
                  </a:txBody>
                  <a:tcPr marL="73152" marR="73152" marT="36576" marB="36576">
                    <a:solidFill>
                      <a:srgbClr val="E8EEF6"/>
                    </a:solidFill>
                  </a:tcPr>
                </a:tc>
                <a:tc>
                  <a:txBody>
                    <a:bodyPr/>
                    <a:lstStyle/>
                    <a:p>
                      <a:r>
                        <a:rPr sz="1200" b="0">
                          <a:solidFill>
                            <a:srgbClr val="1F2937"/>
                          </a:solidFill>
                        </a:rPr>
                        <a:t>Chegara qiymat gumonni kuchaytiradi</a:t>
                      </a:r>
                    </a:p>
                  </a:txBody>
                  <a:tcPr marL="73152" marR="73152" marT="36576" marB="36576">
                    <a:solidFill>
                      <a:srgbClr val="E8EEF6"/>
                    </a:solidFill>
                  </a:tcPr>
                </a:tc>
                <a:tc>
                  <a:txBody>
                    <a:bodyPr/>
                    <a:lstStyle/>
                    <a:p>
                      <a:r>
                        <a:rPr sz="1200" b="0">
                          <a:solidFill>
                            <a:srgbClr val="1F2937"/>
                          </a:solidFill>
                        </a:rPr>
                        <a:t>Birorta belgi 100% o‘ziga xos emas</a:t>
                      </a:r>
                    </a:p>
                  </a:txBody>
                  <a:tcPr marL="73152" marR="73152" marT="36576" marB="36576">
                    <a:solidFill>
                      <a:srgbClr val="E8EEF6"/>
                    </a:solidFill>
                  </a:tcPr>
                </a:tc>
              </a:tr>
              <a:tr h="411480">
                <a:tc>
                  <a:txBody>
                    <a:bodyPr/>
                    <a:lstStyle/>
                    <a:p>
                      <a:r>
                        <a:rPr sz="1200" b="0">
                          <a:solidFill>
                            <a:srgbClr val="1F2937"/>
                          </a:solidFill>
                        </a:rPr>
                        <a:t>Kompyuter tomografiya (KT), MRT</a:t>
                      </a:r>
                    </a:p>
                  </a:txBody>
                  <a:tcPr marL="73152" marR="73152" marT="36576" marB="36576">
                    <a:solidFill>
                      <a:srgbClr val="FFFFFF"/>
                    </a:solidFill>
                  </a:tcPr>
                </a:tc>
                <a:tc>
                  <a:txBody>
                    <a:bodyPr/>
                    <a:lstStyle/>
                    <a:p>
                      <a:r>
                        <a:rPr sz="1200" b="0">
                          <a:solidFill>
                            <a:srgbClr val="1F2937"/>
                          </a:solidFill>
                        </a:rPr>
                        <a:t>MRT KTdan sezgirroq</a:t>
                      </a:r>
                    </a:p>
                  </a:txBody>
                  <a:tcPr marL="73152" marR="73152" marT="36576" marB="36576">
                    <a:solidFill>
                      <a:srgbClr val="FFFFFF"/>
                    </a:solidFill>
                  </a:tcPr>
                </a:tc>
                <a:tc>
                  <a:txBody>
                    <a:bodyPr/>
                    <a:lstStyle/>
                    <a:p>
                      <a:r>
                        <a:rPr sz="1200" b="0">
                          <a:solidFill>
                            <a:srgbClr val="1F2937"/>
                          </a:solidFill>
                        </a:rPr>
                        <a:t>KT diffuz shikastni yomon ajratadi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cheklovlar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Zwirner et al., Forensic biomarkers of lethal traumatic brain injury, betlar: PMID 35226180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Diffuz aksonal shikastlanish (DAI)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1940-yillarda oq moddadagi diffuz o‘zgarishlarning tajriba modellari yozilgan; 1956-yilda Strich uni to‘liq tasvirlagan.</a:t>
            </a:r>
          </a:p>
          <a:p>
            <a:pPr>
              <a:spcAft>
                <a:spcPts val="800"/>
              </a:spcAft>
            </a:pPr>
            <a:r>
              <a:rPr sz="1800">
                <a:solidFill>
                  <a:srgbClr val="1F2937"/>
                </a:solidFill>
                <a:latin typeface="Calibri"/>
              </a:rPr>
              <a:t>▸  Adams “diffuz aksonal shikastlanish” atamasini kiritgan va aksonal zararni uch bosqichli darajaga bo‘lgan.</a:t>
            </a:r>
          </a:p>
          <a:p>
            <a:pPr>
              <a:spcAft>
                <a:spcPts val="800"/>
              </a:spcAft>
            </a:pPr>
            <a:r>
              <a:rPr sz="1800">
                <a:solidFill>
                  <a:srgbClr val="1F2937"/>
                </a:solidFill>
                <a:latin typeface="Calibri"/>
              </a:rPr>
              <a:t>▸  Yuqori maydonli magnit-rezonans tomografiya (MRT) va immunobo‘yash DAI mexanizmlarini yoritishga yordam berdi.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72501"/>
                <a:gridCol w="2066564"/>
                <a:gridCol w="2248908"/>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Kim/nima</a:t>
                      </a:r>
                    </a:p>
                  </a:txBody>
                  <a:tcPr marL="73152" marR="73152" marT="36576" marB="36576">
                    <a:solidFill>
                      <a:srgbClr val="0B1F3A"/>
                    </a:solidFill>
                  </a:tcPr>
                </a:tc>
                <a:tc>
                  <a:txBody>
                    <a:bodyPr/>
                    <a:lstStyle/>
                    <a:p>
                      <a:r>
                        <a:rPr sz="1300" b="1">
                          <a:solidFill>
                            <a:srgbClr val="FFFFFF"/>
                          </a:solidFill>
                        </a:rPr>
                        <a:t>Hissa</a:t>
                      </a:r>
                    </a:p>
                  </a:txBody>
                  <a:tcPr marL="73152" marR="73152" marT="36576" marB="36576">
                    <a:solidFill>
                      <a:srgbClr val="0B1F3A"/>
                    </a:solidFill>
                  </a:tcPr>
                </a:tc>
              </a:tr>
              <a:tr h="411480">
                <a:tc>
                  <a:txBody>
                    <a:bodyPr/>
                    <a:lstStyle/>
                    <a:p>
                      <a:r>
                        <a:rPr sz="1200" b="0">
                          <a:solidFill>
                            <a:srgbClr val="1F2937"/>
                          </a:solidFill>
                        </a:rPr>
                        <a:t>1940-yillar</a:t>
                      </a:r>
                    </a:p>
                  </a:txBody>
                  <a:tcPr marL="73152" marR="73152" marT="36576" marB="36576">
                    <a:solidFill>
                      <a:srgbClr val="E8EEF6"/>
                    </a:solidFill>
                  </a:tcPr>
                </a:tc>
                <a:tc>
                  <a:txBody>
                    <a:bodyPr/>
                    <a:lstStyle/>
                    <a:p>
                      <a:r>
                        <a:rPr sz="1200" b="0">
                          <a:solidFill>
                            <a:srgbClr val="1F2937"/>
                          </a:solidFill>
                        </a:rPr>
                        <a:t>Tajriba modellari</a:t>
                      </a:r>
                    </a:p>
                  </a:txBody>
                  <a:tcPr marL="73152" marR="73152" marT="36576" marB="36576">
                    <a:solidFill>
                      <a:srgbClr val="E8EEF6"/>
                    </a:solidFill>
                  </a:tcPr>
                </a:tc>
                <a:tc>
                  <a:txBody>
                    <a:bodyPr/>
                    <a:lstStyle/>
                    <a:p>
                      <a:r>
                        <a:rPr sz="1200" b="0">
                          <a:solidFill>
                            <a:srgbClr val="1F2937"/>
                          </a:solidFill>
                        </a:rPr>
                        <a:t>Oq moddada diffuz o‘zgarishlar</a:t>
                      </a:r>
                    </a:p>
                  </a:txBody>
                  <a:tcPr marL="73152" marR="73152" marT="36576" marB="36576">
                    <a:solidFill>
                      <a:srgbClr val="E8EEF6"/>
                    </a:solidFill>
                  </a:tcPr>
                </a:tc>
              </a:tr>
              <a:tr h="411480">
                <a:tc>
                  <a:txBody>
                    <a:bodyPr/>
                    <a:lstStyle/>
                    <a:p>
                      <a:r>
                        <a:rPr sz="1200" b="0">
                          <a:solidFill>
                            <a:srgbClr val="1F2937"/>
                          </a:solidFill>
                        </a:rPr>
                        <a:t>1956</a:t>
                      </a:r>
                    </a:p>
                  </a:txBody>
                  <a:tcPr marL="73152" marR="73152" marT="36576" marB="36576">
                    <a:solidFill>
                      <a:srgbClr val="FFFFFF"/>
                    </a:solidFill>
                  </a:tcPr>
                </a:tc>
                <a:tc>
                  <a:txBody>
                    <a:bodyPr/>
                    <a:lstStyle/>
                    <a:p>
                      <a:r>
                        <a:rPr sz="1200" b="0">
                          <a:solidFill>
                            <a:srgbClr val="1F2937"/>
                          </a:solidFill>
                        </a:rPr>
                        <a:t>Strich</a:t>
                      </a:r>
                    </a:p>
                  </a:txBody>
                  <a:tcPr marL="73152" marR="73152" marT="36576" marB="36576">
                    <a:solidFill>
                      <a:srgbClr val="FFFFFF"/>
                    </a:solidFill>
                  </a:tcPr>
                </a:tc>
                <a:tc>
                  <a:txBody>
                    <a:bodyPr/>
                    <a:lstStyle/>
                    <a:p>
                      <a:r>
                        <a:rPr sz="1200" b="0">
                          <a:solidFill>
                            <a:srgbClr val="1F2937"/>
                          </a:solidFill>
                        </a:rPr>
                        <a:t>Og‘ir TBI dan keyingi gistopatologiya</a:t>
                      </a:r>
                    </a:p>
                  </a:txBody>
                  <a:tcPr marL="73152" marR="73152" marT="36576" marB="36576">
                    <a:solidFill>
                      <a:srgbClr val="FFFFFF"/>
                    </a:solidFill>
                  </a:tcPr>
                </a:tc>
              </a:tr>
              <a:tr h="411480">
                <a:tc>
                  <a:txBody>
                    <a:bodyPr/>
                    <a:lstStyle/>
                    <a:p>
                      <a:r>
                        <a:rPr sz="1200" b="0">
                          <a:solidFill>
                            <a:srgbClr val="1F2937"/>
                          </a:solidFill>
                        </a:rPr>
                        <a:t>Adams</a:t>
                      </a:r>
                    </a:p>
                  </a:txBody>
                  <a:tcPr marL="73152" marR="73152" marT="36576" marB="36576">
                    <a:solidFill>
                      <a:srgbClr val="E8EEF6"/>
                    </a:solidFill>
                  </a:tcPr>
                </a:tc>
                <a:tc>
                  <a:txBody>
                    <a:bodyPr/>
                    <a:lstStyle/>
                    <a:p>
                      <a:r>
                        <a:rPr sz="1200" b="0">
                          <a:solidFill>
                            <a:srgbClr val="1F2937"/>
                          </a:solidFill>
                        </a:rPr>
                        <a:t>Atama va 3 bosqichli daraja</a:t>
                      </a:r>
                    </a:p>
                  </a:txBody>
                  <a:tcPr marL="73152" marR="73152" marT="36576" marB="36576">
                    <a:solidFill>
                      <a:srgbClr val="E8EEF6"/>
                    </a:solidFill>
                  </a:tcPr>
                </a:tc>
                <a:tc>
                  <a:txBody>
                    <a:bodyPr/>
                    <a:lstStyle/>
                    <a:p>
                      <a:r>
                        <a:rPr sz="1200" b="0">
                          <a:solidFill>
                            <a:srgbClr val="1F2937"/>
                          </a:solidFill>
                        </a:rPr>
                        <a:t>Aksonal zarar darajasiga ko‘ra</a:t>
                      </a:r>
                    </a:p>
                  </a:txBody>
                  <a:tcPr marL="73152" marR="73152" marT="36576" marB="36576">
                    <a:solidFill>
                      <a:srgbClr val="E8EEF6"/>
                    </a:solidFill>
                  </a:tcPr>
                </a:tc>
              </a:tr>
              <a:tr h="411480">
                <a:tc>
                  <a:txBody>
                    <a:bodyPr/>
                    <a:lstStyle/>
                    <a:p>
                      <a:r>
                        <a:rPr sz="1200" b="0">
                          <a:solidFill>
                            <a:srgbClr val="1F2937"/>
                          </a:solidFill>
                        </a:rPr>
                        <a:t>Keyingi davr</a:t>
                      </a:r>
                    </a:p>
                  </a:txBody>
                  <a:tcPr marL="73152" marR="73152" marT="36576" marB="36576">
                    <a:solidFill>
                      <a:srgbClr val="FFFFFF"/>
                    </a:solidFill>
                  </a:tcPr>
                </a:tc>
                <a:tc>
                  <a:txBody>
                    <a:bodyPr/>
                    <a:lstStyle/>
                    <a:p>
                      <a:r>
                        <a:rPr sz="1200" b="0">
                          <a:solidFill>
                            <a:srgbClr val="1F2937"/>
                          </a:solidFill>
                        </a:rPr>
                        <a:t>Yuqori maydonli MRT, immunobo‘yash</a:t>
                      </a:r>
                    </a:p>
                  </a:txBody>
                  <a:tcPr marL="73152" marR="73152" marT="36576" marB="36576">
                    <a:solidFill>
                      <a:srgbClr val="FFFFFF"/>
                    </a:solidFill>
                  </a:tcPr>
                </a:tc>
                <a:tc>
                  <a:txBody>
                    <a:bodyPr/>
                    <a:lstStyle/>
                    <a:p>
                      <a:r>
                        <a:rPr sz="1200" b="0">
                          <a:solidFill>
                            <a:srgbClr val="1F2937"/>
                          </a:solidFill>
                        </a:rPr>
                        <a:t>Mexanizmlar yoritildi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DAI tarixi: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DAI jarohat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DAI aylanma tezlanish-sekinlanishli bosh miya jarohatining morfologik ekvivalenti; kesuvchi kuchlardan hosil bo‘ladi.</a:t>
            </a:r>
          </a:p>
          <a:p>
            <a:pPr>
              <a:spcAft>
                <a:spcPts val="800"/>
              </a:spcAft>
            </a:pPr>
            <a:r>
              <a:rPr sz="1800">
                <a:solidFill>
                  <a:srgbClr val="1F2937"/>
                </a:solidFill>
                <a:latin typeface="Calibri"/>
              </a:rPr>
              <a:t>▸  Miya inertsiyasi tufayli bosh tez harakatlanganda akson cho‘ziladi; eng ko‘p aylanma tezlanishda zararlanadi.</a:t>
            </a:r>
          </a:p>
          <a:p>
            <a:pPr>
              <a:spcAft>
                <a:spcPts val="800"/>
              </a:spcAft>
            </a:pPr>
            <a:r>
              <a:rPr sz="1800">
                <a:solidFill>
                  <a:srgbClr val="1F2937"/>
                </a:solidFill>
                <a:latin typeface="Calibri"/>
              </a:rPr>
              <a:t>▸  Zarar zichligi turlicha to‘qimalar chegarasida (kul rang-oq modda) va rostral miya ustunida joylashadi.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tez harakati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Miya–bo‘yin harakati nomuvofiq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Kesuvchi (shear) kuchlar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Kul rang–oq modda chegarasi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Rostral miya ustuni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mexanizmi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Tajriba modellari: FP, CCI, CHIMERA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Inson miyasi murakkab, shuning uchun DAIdagi barcha dinamik kuchlarni tajribada to‘liq qayta yaratish qiyin.</a:t>
            </a:r>
          </a:p>
          <a:p>
            <a:pPr>
              <a:spcAft>
                <a:spcPts val="800"/>
              </a:spcAft>
            </a:pPr>
            <a:r>
              <a:rPr sz="1800">
                <a:solidFill>
                  <a:srgbClr val="1F2937"/>
                </a:solidFill>
                <a:latin typeface="Calibri"/>
              </a:rPr>
              <a:t>▸  FP (suyuqlik zarbasi) va CCI (nazoratli kortikal zarba) da kuch ochilgan qattiq pardaga beriladi.</a:t>
            </a:r>
          </a:p>
          <a:p>
            <a:pPr>
              <a:spcAft>
                <a:spcPts val="800"/>
              </a:spcAft>
            </a:pPr>
            <a:r>
              <a:rPr sz="1800">
                <a:solidFill>
                  <a:srgbClr val="1F2937"/>
                </a:solidFill>
                <a:latin typeface="Calibri"/>
              </a:rPr>
              <a:t>▸  Yopiq modellar zarba, portlash yoki bosh aylanishiga asoslanadi; CHIMERA da bosh zarbadan so‘ng erkin harakatlanadi.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90606"/>
                <a:gridCol w="2226515"/>
                <a:gridCol w="2170852"/>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Kuch beriladi</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FP, CCI (ochiq)</a:t>
                      </a:r>
                    </a:p>
                  </a:txBody>
                  <a:tcPr marL="73152" marR="73152" marT="36576" marB="36576">
                    <a:solidFill>
                      <a:srgbClr val="E8EEF6"/>
                    </a:solidFill>
                  </a:tcPr>
                </a:tc>
                <a:tc>
                  <a:txBody>
                    <a:bodyPr/>
                    <a:lstStyle/>
                    <a:p>
                      <a:r>
                        <a:rPr sz="1200" b="0">
                          <a:solidFill>
                            <a:srgbClr val="1F2937"/>
                          </a:solidFill>
                        </a:rPr>
                        <a:t>Kraniotomiya, qattiq pardaga kuch</a:t>
                      </a:r>
                    </a:p>
                  </a:txBody>
                  <a:tcPr marL="73152" marR="73152" marT="36576" marB="36576">
                    <a:solidFill>
                      <a:srgbClr val="E8EEF6"/>
                    </a:solidFill>
                  </a:tcPr>
                </a:tc>
                <a:tc>
                  <a:txBody>
                    <a:bodyPr/>
                    <a:lstStyle/>
                    <a:p>
                      <a:r>
                        <a:rPr sz="1200" b="0">
                          <a:solidFill>
                            <a:srgbClr val="1F2937"/>
                          </a:solidFill>
                        </a:rPr>
                        <a:t>Nozik aksonal ta’sirga yo‘naltirilgan</a:t>
                      </a:r>
                    </a:p>
                  </a:txBody>
                  <a:tcPr marL="73152" marR="73152" marT="36576" marB="36576">
                    <a:solidFill>
                      <a:srgbClr val="E8EEF6"/>
                    </a:solidFill>
                  </a:tcPr>
                </a:tc>
              </a:tr>
              <a:tr h="411480">
                <a:tc>
                  <a:txBody>
                    <a:bodyPr/>
                    <a:lstStyle/>
                    <a:p>
                      <a:r>
                        <a:rPr sz="1200" b="0">
                          <a:solidFill>
                            <a:srgbClr val="1F2937"/>
                          </a:solidFill>
                        </a:rPr>
                        <a:t>CHI (yopiq)</a:t>
                      </a:r>
                    </a:p>
                  </a:txBody>
                  <a:tcPr marL="73152" marR="73152" marT="36576" marB="36576">
                    <a:solidFill>
                      <a:srgbClr val="FFFFFF"/>
                    </a:solidFill>
                  </a:tcPr>
                </a:tc>
                <a:tc>
                  <a:txBody>
                    <a:bodyPr/>
                    <a:lstStyle/>
                    <a:p>
                      <a:r>
                        <a:rPr sz="1200" b="0">
                          <a:solidFill>
                            <a:srgbClr val="1F2937"/>
                          </a:solidFill>
                        </a:rPr>
                        <a:t>Butun bosh suyagi orqali</a:t>
                      </a:r>
                    </a:p>
                  </a:txBody>
                  <a:tcPr marL="73152" marR="73152" marT="36576" marB="36576">
                    <a:solidFill>
                      <a:srgbClr val="FFFFFF"/>
                    </a:solidFill>
                  </a:tcPr>
                </a:tc>
                <a:tc>
                  <a:txBody>
                    <a:bodyPr/>
                    <a:lstStyle/>
                    <a:p>
                      <a:r>
                        <a:rPr sz="1200" b="0">
                          <a:solidFill>
                            <a:srgbClr val="1F2937"/>
                          </a:solidFill>
                        </a:rPr>
                        <a:t>Zarba, portlash yoki inersion yuklama</a:t>
                      </a:r>
                    </a:p>
                  </a:txBody>
                  <a:tcPr marL="73152" marR="73152" marT="36576" marB="36576">
                    <a:solidFill>
                      <a:srgbClr val="FFFFFF"/>
                    </a:solidFill>
                  </a:tcPr>
                </a:tc>
              </a:tr>
              <a:tr h="411480">
                <a:tc>
                  <a:txBody>
                    <a:bodyPr/>
                    <a:lstStyle/>
                    <a:p>
                      <a:r>
                        <a:rPr sz="1200" b="0">
                          <a:solidFill>
                            <a:srgbClr val="1F2937"/>
                          </a:solidFill>
                        </a:rPr>
                        <a:t>CHIMERA</a:t>
                      </a:r>
                    </a:p>
                  </a:txBody>
                  <a:tcPr marL="73152" marR="73152" marT="36576" marB="36576">
                    <a:solidFill>
                      <a:srgbClr val="E8EEF6"/>
                    </a:solidFill>
                  </a:tcPr>
                </a:tc>
                <a:tc>
                  <a:txBody>
                    <a:bodyPr/>
                    <a:lstStyle/>
                    <a:p>
                      <a:r>
                        <a:rPr sz="1200" b="0">
                          <a:solidFill>
                            <a:srgbClr val="1F2937"/>
                          </a:solidFill>
                        </a:rPr>
                        <a:t>Belgilangan energiyali zarba, yopiq bosh</a:t>
                      </a:r>
                    </a:p>
                  </a:txBody>
                  <a:tcPr marL="73152" marR="73152" marT="36576" marB="36576">
                    <a:solidFill>
                      <a:srgbClr val="E8EEF6"/>
                    </a:solidFill>
                  </a:tcPr>
                </a:tc>
                <a:tc>
                  <a:txBody>
                    <a:bodyPr/>
                    <a:lstStyle/>
                    <a:p>
                      <a:r>
                        <a:rPr sz="1200" b="0">
                          <a:solidFill>
                            <a:srgbClr val="1F2937"/>
                          </a:solidFill>
                        </a:rPr>
                        <a:t>Zarbadan so‘ng bosh erkin harakatlanadi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Ochiq va yopiq modellar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Zarba yo‘nalishi va real hayotdagi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 harakatining yo‘nalishi muhim: koronal (yon tomonga) harakat sagittal (oldinga-orqaga) harakatga qaraganda og‘irroq diffuz shikast bilan bog‘liq.</a:t>
            </a:r>
          </a:p>
          <a:p>
            <a:pPr>
              <a:spcAft>
                <a:spcPts val="1200"/>
              </a:spcAft>
            </a:pPr>
            <a:r>
              <a:rPr sz="2200">
                <a:solidFill>
                  <a:srgbClr val="1F2937"/>
                </a:solidFill>
                <a:latin typeface="Calibri"/>
              </a:rPr>
              <a:t>▸  Tajribada tezlanish-sekinlashish kuchlari shikast uchun yetarli. Real hayotda esa deyarli doim avval to‘g‘ridan-to‘g‘ri zarba bo‘ladi.</a:t>
            </a:r>
          </a:p>
          <a:p>
            <a:pPr>
              <a:spcAft>
                <a:spcPts val="1200"/>
              </a:spcAft>
            </a:pPr>
            <a:r>
              <a:rPr sz="2200">
                <a:solidFill>
                  <a:srgbClr val="1F2937"/>
                </a:solidFill>
                <a:latin typeface="Calibri"/>
              </a:rPr>
              <a:t>▸  Subdural gematoma qattiq yuzaga yiqilishda ko‘proq uchraydi. Diffuz aksonal shikast (DAI) transport yo‘lovchilarida uchraydi: yumshoq yuza sekinlashishni cho‘zadi.</a:t>
            </a:r>
          </a:p>
          <a:p>
            <a:pPr>
              <a:spcAft>
                <a:spcPts val="1200"/>
              </a:spcAft>
            </a:pPr>
            <a:r>
              <a:rPr sz="2200">
                <a:solidFill>
                  <a:srgbClr val="1F2937"/>
                </a:solidFill>
                <a:latin typeface="Calibri"/>
              </a:rPr>
              <a:t>▸  Diqqat: DAI uchun dastlabki zarba kuchi bosh suyagini sindirishga yetmasligi mumkin, shunda ham diffuz miya shikasti paydo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DAI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transport hodisasi qurboni. Bosh suyagi sinmagan, kompyuter tomografiyasida (KT) aniq intrakranial shikast ko‘rinmaydi, ong yo‘qotilgan.</a:t>
            </a:r>
          </a:p>
          <a:p>
            <a:pPr>
              <a:spcAft>
                <a:spcPts val="1200"/>
              </a:spcAft>
            </a:pPr>
            <a:r>
              <a:rPr sz="2200">
                <a:solidFill>
                  <a:srgbClr val="1F2937"/>
                </a:solidFill>
                <a:latin typeface="Calibri"/>
              </a:rPr>
              <a:t>▸  Ma’lumot: DAI KTda shikast ko‘rinmasa ham travmadan keyingi ong yo‘qolishining asosiy sabablaridan biri hisoblanadi.</a:t>
            </a:r>
          </a:p>
          <a:p>
            <a:pPr>
              <a:spcAft>
                <a:spcPts val="1200"/>
              </a:spcAft>
            </a:pPr>
            <a:r>
              <a:rPr sz="2200">
                <a:solidFill>
                  <a:srgbClr val="1F2937"/>
                </a:solidFill>
                <a:latin typeface="Calibri"/>
              </a:rPr>
              <a:t>▸  Yumshoq yuzaga zarba sekinlashishni cho‘zadi, shu sababli suyak sinmasa ham diffuz shikast rivojlanishi mumkin.</a:t>
            </a:r>
          </a:p>
          <a:p>
            <a:pPr>
              <a:spcAft>
                <a:spcPts val="1200"/>
              </a:spcAft>
            </a:pPr>
            <a:r>
              <a:rPr sz="2200">
                <a:solidFill>
                  <a:srgbClr val="1F2937"/>
                </a:solidFill>
                <a:latin typeface="Calibri"/>
              </a:rPr>
              <a:t>▸  Savol: DAI ehtimoli bormi va uni qanday tasdiqlaymiz? Aksonal shikast faqat mikroskopda ko‘rinadi, gistologiyasiz tashxis qo‘yilmaydi.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mexanizm va tarix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DAI qanday shikastning morfologik korrelyati? Javob: rotatsion tezlanish-sekinlashishli bosh miya jarohati (cho‘zilish va siljish kuchlari).</a:t>
            </a:r>
          </a:p>
          <a:p>
            <a:pPr>
              <a:spcAft>
                <a:spcPts val="1200"/>
              </a:spcAft>
            </a:pPr>
            <a:r>
              <a:rPr sz="2200">
                <a:solidFill>
                  <a:srgbClr val="1F2937"/>
                </a:solidFill>
                <a:latin typeface="Calibri"/>
              </a:rPr>
              <a:t>▸  Savol 2: og‘ir travmatik bosh miya jarohati (TBI) dan keyin oq moddaning gistopatologik ko‘rinishini 1956-yilda birinchi to‘liq tasvirlagan kim? Javob: Strich.</a:t>
            </a:r>
          </a:p>
          <a:p>
            <a:pPr>
              <a:spcAft>
                <a:spcPts val="1200"/>
              </a:spcAft>
            </a:pPr>
            <a:r>
              <a:rPr sz="2200">
                <a:solidFill>
                  <a:srgbClr val="1F2937"/>
                </a:solidFill>
                <a:latin typeface="Calibri"/>
              </a:rPr>
              <a:t>▸  Savol 3: «diffuz aksonal shikast» atamasini kim kiritgan? Javob: Adams. U DAIni aksonal shikast darajasiga ko‘ra uch bosqichli tizimga ajratgan.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Birlamchi va ikkilamchi aksotomiya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DAI (diffuz aksonal shikast) faqat zarbadagi mexanik uzilishdan emas, ikkilamchi aksotomiyadan ham kelib chiqadi.</a:t>
            </a:r>
          </a:p>
          <a:p>
            <a:pPr>
              <a:spcAft>
                <a:spcPts val="800"/>
              </a:spcAft>
            </a:pPr>
            <a:r>
              <a:rPr sz="1800">
                <a:solidFill>
                  <a:srgbClr val="1F2937"/>
                </a:solidFill>
                <a:latin typeface="Calibri"/>
              </a:rPr>
              <a:t>▸  Ikkilamchi uzilish — shikastdan keyin akson ichida davom etadigan molekulyar va hujayraviy o‘zgarishlar kaskadi.</a:t>
            </a:r>
          </a:p>
          <a:p>
            <a:pPr>
              <a:spcAft>
                <a:spcPts val="800"/>
              </a:spcAft>
            </a:pPr>
            <a:r>
              <a:rPr sz="1800">
                <a:solidFill>
                  <a:srgbClr val="1F2937"/>
                </a:solidFill>
                <a:latin typeface="Calibri"/>
              </a:rPr>
              <a:t>▸  Diqqat: birlamchi aksotomiya ≠ ikkilamchi aksotomiya. Biri zarba paytida, ikkinchisi keyinroq yuz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Zarba: cho‘zilish va siljish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aksotomiya (mexanik)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Aksonda molekulyar kaskad</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aksotomiya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Kechikkan akson uzilishi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Aksotomiya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3-bo‘lim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Aksonal transport buzilishi va β-APP to‘planishi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Aksonlar viskoelastik bo‘lgani uchun travmadagi yuqori deformatsiya tezligida oson shikastlanadi.</a:t>
            </a:r>
          </a:p>
          <a:p>
            <a:pPr>
              <a:spcAft>
                <a:spcPts val="800"/>
              </a:spcAft>
            </a:pPr>
            <a:r>
              <a:rPr sz="1800">
                <a:solidFill>
                  <a:srgbClr val="1F2937"/>
                </a:solidFill>
                <a:latin typeface="Calibri"/>
              </a:rPr>
              <a:t>▸  β-APP (β-amiloid prekursor oqsil) shikastdan 2 soat ichida aksonda aniqlanishi mumkin.</a:t>
            </a:r>
          </a:p>
          <a:p>
            <a:pPr>
              <a:spcAft>
                <a:spcPts val="800"/>
              </a:spcAft>
            </a:pPr>
            <a:r>
              <a:rPr sz="1800">
                <a:solidFill>
                  <a:srgbClr val="1F2937"/>
                </a:solidFill>
                <a:latin typeface="Calibri"/>
              </a:rPr>
              <a:t>▸  Diqqat: β-APP to‘planishi boshqa holatlarda ham uchraydi, faqat travmaga xos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Aksonal transport buzilishi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β-APP to‘planishi (2 soatdan)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Aksonal shishish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uzilish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Valler degeneratsiyasi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Akson degeneratsiyasi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3-bo‘lim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Kalsiy gomeostazi, kaspaza va kalpain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Glutamat va boshqa qo‘zg‘atuvchi aminokislotalar ajralishi hamda neyron membranasining mexanoporatsiyasi kalsiy gomeostazini buzadi.</a:t>
            </a:r>
          </a:p>
          <a:p>
            <a:pPr>
              <a:spcAft>
                <a:spcPts val="1200"/>
              </a:spcAft>
            </a:pPr>
            <a:r>
              <a:rPr sz="2200">
                <a:solidFill>
                  <a:srgbClr val="1F2937"/>
                </a:solidFill>
                <a:latin typeface="Calibri"/>
              </a:rPr>
              <a:t>▸  Kalsiy kaspaza va kalpain fermentlarini faollashtiradi; ular nekroz va apoptozning boshlanishida rol o‘ynaydi.</a:t>
            </a:r>
          </a:p>
          <a:p>
            <a:pPr>
              <a:spcAft>
                <a:spcPts val="1200"/>
              </a:spcAft>
            </a:pPr>
            <a:r>
              <a:rPr sz="2200">
                <a:solidFill>
                  <a:srgbClr val="1F2937"/>
                </a:solidFill>
                <a:latin typeface="Calibri"/>
              </a:rPr>
              <a:t>▸  Erkin radikallar hosil bo‘lishi va lizosomalardan gidrolitik fermentlar chiqishi sitotoksik kaskadni kuchaytiradi.</a:t>
            </a:r>
          </a:p>
          <a:p>
            <a:pPr>
              <a:spcAft>
                <a:spcPts val="1200"/>
              </a:spcAft>
            </a:pPr>
            <a:r>
              <a:rPr sz="2200">
                <a:solidFill>
                  <a:srgbClr val="1F2937"/>
                </a:solidFill>
                <a:latin typeface="Calibri"/>
              </a:rPr>
              <a:t>▸  Kalsiy kanali blokatori nimodipin ikkilamchi shikastni kamaytirishi mumkin; bu yondashuv terapevtik nishon sifatida ko‘riladi.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3-bo‘lim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Neyrovospalenie: mikroglia va sitokinlar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Mikroglia markaziy asab tizimining immun hujayralari. Diffuz aksonal shikastlanish (DAI) modellarida ularning javobi ko‘p o‘rganilgan.</a:t>
            </a:r>
          </a:p>
          <a:p>
            <a:pPr>
              <a:spcAft>
                <a:spcPts val="1200"/>
              </a:spcAft>
            </a:pPr>
            <a:r>
              <a:rPr sz="2200">
                <a:solidFill>
                  <a:srgbClr val="1F2937"/>
                </a:solidFill>
                <a:latin typeface="Calibri"/>
              </a:rPr>
              <a:t>▸  Galectin-3/Mac-2 miyelin parchalanishida qatnashuvchi faollashgan mikroglia qismining belgisi sifatida qo‘llangan.</a:t>
            </a:r>
          </a:p>
          <a:p>
            <a:pPr>
              <a:spcAft>
                <a:spcPts val="1200"/>
              </a:spcAft>
            </a:pPr>
            <a:r>
              <a:rPr sz="2200">
                <a:solidFill>
                  <a:srgbClr val="1F2937"/>
                </a:solidFill>
                <a:latin typeface="Calibri"/>
              </a:rPr>
              <a:t>▸  β-APP (β-amiloid prekursor oqsil) aksonal o‘zgarishni, CD68 mikroglia infiltratsiyasini ko‘rsatadi. Bemorlarning yarmida ular jarohatdan 5–15 kun o‘tgach birga joylashgan.</a:t>
            </a:r>
          </a:p>
          <a:p>
            <a:pPr>
              <a:spcAft>
                <a:spcPts val="1200"/>
              </a:spcAft>
            </a:pPr>
            <a:r>
              <a:rPr sz="2200">
                <a:solidFill>
                  <a:srgbClr val="1F2937"/>
                </a:solidFill>
                <a:latin typeface="Calibri"/>
              </a:rPr>
              <a:t>▸  Yallig‘lanishda sitokinlar IL-1α, IL-1β, IL-6 (interleykin), TNF-α (o‘sma nekrozi omili), shuningdek ICAM-1 va xemokin MCP-1 qatnashadi.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Oksidlovchi stress va mitoxondriya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Mitoxondriya kislorodni ko‘p sarflaydi; elektronlar kislorodga o‘tib, superoksid (O2−) hosil qiladi.</a:t>
            </a:r>
          </a:p>
          <a:p>
            <a:pPr>
              <a:spcAft>
                <a:spcPts val="800"/>
              </a:spcAft>
            </a:pPr>
            <a:r>
              <a:rPr sz="1800">
                <a:solidFill>
                  <a:srgbClr val="1F2937"/>
                </a:solidFill>
                <a:latin typeface="Calibri"/>
              </a:rPr>
              <a:t>▸  ROS (reaktiv kislorod turlari) hosil bo‘lishi va yo‘qotilishi muvozanati buzilsa — oksidlovchi stress.</a:t>
            </a:r>
          </a:p>
          <a:p>
            <a:pPr>
              <a:spcAft>
                <a:spcPts val="800"/>
              </a:spcAft>
            </a:pPr>
            <a:r>
              <a:rPr sz="1800">
                <a:solidFill>
                  <a:srgbClr val="1F2937"/>
                </a:solidFill>
                <a:latin typeface="Calibri"/>
              </a:rPr>
              <a:t>▸  Mitoxondriya shikastlansa himoya kamayadi, ROS uni yana buzadi: yomon doira (o‘ta aylanma zanjir).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Ca2+ aksonga kirishi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Ca2+ mitoxondriyada to‘planadi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ROS (superoksid) ko‘payadi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Antioksidant himoya kamayadi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Mitoxondriya yana shikastlanadi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Oksidlovchi stress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mPTP va kalpain-1 musbat teskari aloqa sikli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mPTP (mitoxondrial o‘tkazuvchanlik pori) Ca2+ yig‘ilishidan hosil bo‘ladi, kichik molekulalarni o‘tkazadi.</a:t>
            </a:r>
          </a:p>
          <a:p>
            <a:pPr>
              <a:spcAft>
                <a:spcPts val="800"/>
              </a:spcAft>
            </a:pPr>
            <a:r>
              <a:rPr sz="1800">
                <a:solidFill>
                  <a:srgbClr val="1F2937"/>
                </a:solidFill>
                <a:latin typeface="Calibri"/>
              </a:rPr>
              <a:t>▸  Oksidlovchi stress Ca2+ ni chiqaradi; kalpain-1 faollashib, Ca2+ kirishini yana oshiradi.</a:t>
            </a:r>
          </a:p>
          <a:p>
            <a:pPr>
              <a:spcAft>
                <a:spcPts val="800"/>
              </a:spcAft>
            </a:pPr>
            <a:r>
              <a:rPr sz="1800">
                <a:solidFill>
                  <a:srgbClr val="1F2937"/>
                </a:solidFill>
                <a:latin typeface="Calibri"/>
              </a:rPr>
              <a:t>▸  AIF (apoptozni qo‘zg‘ovchi omil) va kaspaza-3 birga DNK fragmentatsiyasi va apoptozni qo‘zg‘atadi.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Stress → Ca2+ ajralishi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Kalpain-1 faollashadi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Ca2+ kirishi ↑ (teskari aloqa)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mPTP ochiladi, AIF chiqadi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AIF+kaspaza-3 → apoptoz</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Kalpain-1 sikli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ikkilamchi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avtohalokatda jabrlanuvchi hushini yo‘qotgan, lekin kompyuter tomografiyada (KT) ko‘rinadigan intrakranial shikast yo‘q.</a:t>
            </a:r>
          </a:p>
          <a:p>
            <a:pPr>
              <a:spcAft>
                <a:spcPts val="1200"/>
              </a:spcAft>
            </a:pPr>
            <a:r>
              <a:rPr sz="2200">
                <a:solidFill>
                  <a:srgbClr val="1F2937"/>
                </a:solidFill>
                <a:latin typeface="Calibri"/>
              </a:rPr>
              <a:t>▸  Aksotomiya faqat zarbaning o‘zidan (birlamchi) emas, zarbadan keyingi molekulyar va hujayraviy zanjirdan ham (ikkilamchi) kelib chiqadi.</a:t>
            </a:r>
          </a:p>
          <a:p>
            <a:pPr>
              <a:spcAft>
                <a:spcPts val="1200"/>
              </a:spcAft>
            </a:pPr>
            <a:r>
              <a:rPr sz="2200">
                <a:solidFill>
                  <a:srgbClr val="1F2937"/>
                </a:solidFill>
                <a:latin typeface="Calibri"/>
              </a:rPr>
              <a:t>▸  Glutamat ajralishi va membrananing mexanik shikasti kalsiy gomeostazini buzadi; kalpain va kaspazalar faollashib, nekroz hamda apoptozni boshlaydi.</a:t>
            </a:r>
          </a:p>
          <a:p>
            <a:pPr>
              <a:spcAft>
                <a:spcPts val="1200"/>
              </a:spcAft>
            </a:pPr>
            <a:r>
              <a:rPr sz="2200">
                <a:solidFill>
                  <a:srgbClr val="1F2937"/>
                </a:solidFill>
                <a:latin typeface="Calibri"/>
              </a:rPr>
              <a:t>▸  Savol: tirik qolgan jabrlanuvchida neyronlar zarbadan keyin ham nega nobud bo‘lishda davom etadi? Zanjirni bosqichma-bosqich sanang.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2-bo‘lim, PMID 29207487, 3-bo‘lim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patofiziologiya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aksonda hujayra ichi kalsiy ortsa, mitoxondriyada nima hosil bo‘ladi va u qanday stressga olib keladi?</a:t>
            </a:r>
          </a:p>
          <a:p>
            <a:pPr>
              <a:spcAft>
                <a:spcPts val="1200"/>
              </a:spcAft>
            </a:pPr>
            <a:r>
              <a:rPr sz="2200">
                <a:solidFill>
                  <a:srgbClr val="1F2937"/>
                </a:solidFill>
                <a:latin typeface="Calibri"/>
              </a:rPr>
              <a:t>▸  Javob: ortiqcha Ca2+ mitoxondriyaga o‘tadi, reaktiv kislorod turlari (ROS) hosil bo‘ladi va oksidlovchi stress rivojlanadi.</a:t>
            </a:r>
          </a:p>
          <a:p>
            <a:pPr>
              <a:spcAft>
                <a:spcPts val="1200"/>
              </a:spcAft>
            </a:pPr>
            <a:r>
              <a:rPr sz="2200">
                <a:solidFill>
                  <a:srgbClr val="1F2937"/>
                </a:solidFill>
                <a:latin typeface="Calibri"/>
              </a:rPr>
              <a:t>▸  Faollashgan kalpain-1 qo‘shimcha Ca2+ kirishini ta’minlaydi va musbat teskari aloqa halqasini hosil qiladi; kaspaza-3 ham faollashadi.</a:t>
            </a:r>
          </a:p>
          <a:p>
            <a:pPr>
              <a:spcAft>
                <a:spcPts val="1200"/>
              </a:spcAft>
            </a:pPr>
            <a:r>
              <a:rPr sz="2200">
                <a:solidFill>
                  <a:srgbClr val="1F2937"/>
                </a:solidFill>
                <a:latin typeface="Calibri"/>
              </a:rPr>
              <a:t>▸  Diqqat: xato qilish xavfi! ROS orqali aksonal o‘zgarishda hujayra tashqi Ca2+ asosiy, mitoxondrial o‘tkazuvchanlik teshigi (mPTP) ikkilamchi rol o‘ynaydi.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4-bo‘lim, PMID 29207487, 4.3-bo‘lim, PMID 29207487, 4.2-bo‘lim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Adams bo‘yicha uch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Adams 45 ta o‘lim holatida diffuz aksonal shikastning (DAI) uch tuzilma belgisini ta’riflagan.</a:t>
            </a:r>
          </a:p>
          <a:p>
            <a:pPr>
              <a:spcAft>
                <a:spcPts val="800"/>
              </a:spcAft>
            </a:pPr>
            <a:r>
              <a:rPr sz="1800">
                <a:solidFill>
                  <a:srgbClr val="1F2937"/>
                </a:solidFill>
                <a:latin typeface="Calibri"/>
              </a:rPr>
              <a:t>▸  Fokal o‘choqlar qisqa yashaganlarda gemorragik; keyinchalik gemosiderin tufayli jigarrang chandiqqa aylanadi.</a:t>
            </a:r>
          </a:p>
          <a:p>
            <a:pPr>
              <a:spcAft>
                <a:spcPts val="800"/>
              </a:spcAft>
            </a:pPr>
            <a:r>
              <a:rPr sz="1800">
                <a:solidFill>
                  <a:srgbClr val="1F2937"/>
                </a:solidFill>
                <a:latin typeface="Calibri"/>
              </a:rPr>
              <a:t>▸  Aksonal shikastni faqat mikroskopda ko‘rish mumkin; yetarli gistologiyasiz DAI tashxisi qo‘yilmaydi.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07233"/>
                <a:gridCol w="1762658"/>
                <a:gridCol w="2518083"/>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Joylashuv</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r>
              <a:tr h="411480">
                <a:tc>
                  <a:txBody>
                    <a:bodyPr/>
                    <a:lstStyle/>
                    <a:p>
                      <a:r>
                        <a:rPr sz="1200" b="0">
                          <a:solidFill>
                            <a:srgbClr val="1F2937"/>
                          </a:solidFill>
                        </a:rPr>
                        <a:t>I daraja</a:t>
                      </a:r>
                    </a:p>
                  </a:txBody>
                  <a:tcPr marL="73152" marR="73152" marT="36576" marB="36576">
                    <a:solidFill>
                      <a:srgbClr val="E8EEF6"/>
                    </a:solidFill>
                  </a:tcPr>
                </a:tc>
                <a:tc>
                  <a:txBody>
                    <a:bodyPr/>
                    <a:lstStyle/>
                    <a:p>
                      <a:r>
                        <a:rPr sz="1200" b="0">
                          <a:solidFill>
                            <a:srgbClr val="1F2937"/>
                          </a:solidFill>
                        </a:rPr>
                        <a:t>Diffuz supratentorial</a:t>
                      </a:r>
                    </a:p>
                  </a:txBody>
                  <a:tcPr marL="73152" marR="73152" marT="36576" marB="36576">
                    <a:solidFill>
                      <a:srgbClr val="E8EEF6"/>
                    </a:solidFill>
                  </a:tcPr>
                </a:tc>
                <a:tc>
                  <a:txBody>
                    <a:bodyPr/>
                    <a:lstStyle/>
                    <a:p>
                      <a:r>
                        <a:rPr sz="1200" b="0">
                          <a:solidFill>
                            <a:srgbClr val="1F2937"/>
                          </a:solidFill>
                        </a:rPr>
                        <a:t>Faqat mikroskopda aniqlanadi</a:t>
                      </a:r>
                    </a:p>
                  </a:txBody>
                  <a:tcPr marL="73152" marR="73152" marT="36576" marB="36576">
                    <a:solidFill>
                      <a:srgbClr val="E8EEF6"/>
                    </a:solidFill>
                  </a:tcPr>
                </a:tc>
              </a:tr>
              <a:tr h="411480">
                <a:tc>
                  <a:txBody>
                    <a:bodyPr/>
                    <a:lstStyle/>
                    <a:p>
                      <a:r>
                        <a:rPr sz="1200" b="0">
                          <a:solidFill>
                            <a:srgbClr val="1F2937"/>
                          </a:solidFill>
                        </a:rPr>
                        <a:t>II daraja</a:t>
                      </a:r>
                    </a:p>
                  </a:txBody>
                  <a:tcPr marL="73152" marR="73152" marT="36576" marB="36576">
                    <a:solidFill>
                      <a:srgbClr val="FFFFFF"/>
                    </a:solidFill>
                  </a:tcPr>
                </a:tc>
                <a:tc>
                  <a:txBody>
                    <a:bodyPr/>
                    <a:lstStyle/>
                    <a:p>
                      <a:r>
                        <a:rPr sz="1200" b="0">
                          <a:solidFill>
                            <a:srgbClr val="1F2937"/>
                          </a:solidFill>
                        </a:rPr>
                        <a:t>Kallosum fokal o‘chog‘i</a:t>
                      </a:r>
                    </a:p>
                  </a:txBody>
                  <a:tcPr marL="73152" marR="73152" marT="36576" marB="36576">
                    <a:solidFill>
                      <a:srgbClr val="FFFFFF"/>
                    </a:solidFill>
                  </a:tcPr>
                </a:tc>
                <a:tc>
                  <a:txBody>
                    <a:bodyPr/>
                    <a:lstStyle/>
                    <a:p>
                      <a:r>
                        <a:rPr sz="1200" b="0">
                          <a:solidFill>
                            <a:srgbClr val="1F2937"/>
                          </a:solidFill>
                        </a:rPr>
                        <a:t>Pastki qism, o‘rta chiziqdan yonda</a:t>
                      </a:r>
                    </a:p>
                  </a:txBody>
                  <a:tcPr marL="73152" marR="73152" marT="36576" marB="36576">
                    <a:solidFill>
                      <a:srgbClr val="FFFFFF"/>
                    </a:solidFill>
                  </a:tcPr>
                </a:tc>
              </a:tr>
              <a:tr h="411480">
                <a:tc>
                  <a:txBody>
                    <a:bodyPr/>
                    <a:lstStyle/>
                    <a:p>
                      <a:r>
                        <a:rPr sz="1200" b="0">
                          <a:solidFill>
                            <a:srgbClr val="1F2937"/>
                          </a:solidFill>
                        </a:rPr>
                        <a:t>III daraja</a:t>
                      </a:r>
                    </a:p>
                  </a:txBody>
                  <a:tcPr marL="73152" marR="73152" marT="36576" marB="36576">
                    <a:solidFill>
                      <a:srgbClr val="E8EEF6"/>
                    </a:solidFill>
                  </a:tcPr>
                </a:tc>
                <a:tc>
                  <a:txBody>
                    <a:bodyPr/>
                    <a:lstStyle/>
                    <a:p>
                      <a:r>
                        <a:rPr sz="1200" b="0">
                          <a:solidFill>
                            <a:srgbClr val="1F2937"/>
                          </a:solidFill>
                        </a:rPr>
                        <a:t>Rostral miya ustuni o‘chog‘i</a:t>
                      </a:r>
                    </a:p>
                  </a:txBody>
                  <a:tcPr marL="73152" marR="73152" marT="36576" marB="36576">
                    <a:solidFill>
                      <a:srgbClr val="E8EEF6"/>
                    </a:solidFill>
                  </a:tcPr>
                </a:tc>
                <a:tc>
                  <a:txBody>
                    <a:bodyPr/>
                    <a:lstStyle/>
                    <a:p>
                      <a:r>
                        <a:rPr sz="1200" b="0">
                          <a:solidFill>
                            <a:srgbClr val="1F2937"/>
                          </a:solidFill>
                        </a:rPr>
                        <a:t>Dorsolateral kvadrant, yuqori oyoqcha yoni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Adams bo‘yicha uch belgi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5.1-bo‘lim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O‘choqlar joylashuvi va vaqt davomida o‘zgarishi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Og‘ir DAI da uch belgi bor: oq moddada diffuz shikast, kallazsimon tanada o‘choq va rostral miya sopida o‘choq.</a:t>
            </a:r>
          </a:p>
          <a:p>
            <a:pPr>
              <a:spcAft>
                <a:spcPts val="1200"/>
              </a:spcAft>
            </a:pPr>
            <a:r>
              <a:rPr sz="2200">
                <a:solidFill>
                  <a:srgbClr val="1F2937"/>
                </a:solidFill>
                <a:latin typeface="Calibri"/>
              </a:rPr>
              <a:t>▸  Gemorragik o‘choq qisqa yashaganlarda qonli bo‘ladi. Keyin kichrayib chandiqqa aylanadi va autopsiyada topish qiyinlashadi. Gemosiderin tufayli jigarrang ko‘rinadi.</a:t>
            </a:r>
          </a:p>
          <a:p>
            <a:pPr>
              <a:spcAft>
                <a:spcPts val="1200"/>
              </a:spcAft>
            </a:pPr>
            <a:r>
              <a:rPr sz="2200">
                <a:solidFill>
                  <a:srgbClr val="1F2937"/>
                </a:solidFill>
                <a:latin typeface="Calibri"/>
              </a:rPr>
              <a:t>▸  Kallazsimon tanadagi o‘choq pastki qismda, o‘rta chiziqdan bir yonda turadi. Chiziqqa yetsa, qorinchalar to‘sig‘i uzilib, qorincha ichiga qon quyiladi.</a:t>
            </a:r>
          </a:p>
          <a:p>
            <a:pPr>
              <a:spcAft>
                <a:spcPts val="1200"/>
              </a:spcAft>
            </a:pPr>
            <a:r>
              <a:rPr sz="2200">
                <a:solidFill>
                  <a:srgbClr val="1F2937"/>
                </a:solidFill>
                <a:latin typeface="Calibri"/>
              </a:rPr>
              <a:t>▸  Bir necha oy yashaganda oq modda hajmi kamayib, qorinchalar kengayadi. Autopsiyada buni travmadan keyingi gidrosefaliya bilan adashtirish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(5.1-bo‘lim)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diagnostik mezonlar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DAI tashxisi shikastlangan aksonlarning mikroskopik topilmasi bilan tasdiqlanadi: shishgan aksonal varikozitlar va aksonal bulblar.</a:t>
            </a:r>
          </a:p>
          <a:p>
            <a:pPr>
              <a:spcAft>
                <a:spcPts val="1200"/>
              </a:spcAft>
            </a:pPr>
            <a:r>
              <a:rPr sz="2000">
                <a:solidFill>
                  <a:srgbClr val="1F2937"/>
                </a:solidFill>
                <a:latin typeface="Calibri"/>
              </a:rPr>
              <a:t>▸  Ikki asosiy belgi: oq moddada diffuz yoki multifokal aksonal shikast va uning ko‘p miya hududlarida tarqalganligi. Hududlardan kamida biri tentoriumdan yuqorida, biri pastda bo‘lishi kerak.</a:t>
            </a:r>
          </a:p>
          <a:p>
            <a:pPr>
              <a:spcAft>
                <a:spcPts val="1200"/>
              </a:spcAft>
            </a:pPr>
            <a:r>
              <a:rPr sz="2000">
                <a:solidFill>
                  <a:srgbClr val="1F2937"/>
                </a:solidFill>
                <a:latin typeface="Calibri"/>
              </a:rPr>
              <a:t>▸  Aksonal shikast faqat mikroskopda ko‘rinadigan hollarda adekvat gistologik tekshiruvsiz DAI tashxisini qo‘yib bo‘lmaydi.</a:t>
            </a:r>
          </a:p>
          <a:p>
            <a:pPr>
              <a:spcAft>
                <a:spcPts val="1200"/>
              </a:spcAft>
            </a:pPr>
            <a:r>
              <a:rPr sz="2000">
                <a:solidFill>
                  <a:srgbClr val="1F2937"/>
                </a:solidFill>
                <a:latin typeface="Calibri"/>
              </a:rPr>
              <a:t>▸  Hill va hamkasblariga ko‘ra “retraksiya bulbi” atamasi to‘liq emas: shakl aksonal transport buzilishi bilan bog‘liq. Katta yagona shishni “aksonal bulb” deb atash taklif etilgan.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(5.2-bo‘lim), PMID 29207487 (5.1-bo‘lim)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Gennarelli bo‘yicha DAI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Gennarelli primatlardagi tajribalarda aksonal shikastni og‘irligi bo‘yicha uch darajaga ajratgan.</a:t>
            </a:r>
          </a:p>
          <a:p>
            <a:pPr>
              <a:spcAft>
                <a:spcPts val="800"/>
              </a:spcAft>
            </a:pPr>
            <a:r>
              <a:rPr sz="1800">
                <a:solidFill>
                  <a:srgbClr val="1F2937"/>
                </a:solidFill>
                <a:latin typeface="Calibri"/>
              </a:rPr>
              <a:t>▸  Aksonal shikast miqdori va tarqalishi koma davomiyligi, og‘irligi va yakuniy oqibat bilan yaxshi bog‘liq.</a:t>
            </a:r>
          </a:p>
          <a:p>
            <a:pPr>
              <a:spcAft>
                <a:spcPts val="800"/>
              </a:spcAft>
            </a:pPr>
            <a:r>
              <a:rPr sz="1800">
                <a:solidFill>
                  <a:srgbClr val="1F2937"/>
                </a:solidFill>
                <a:latin typeface="Calibri"/>
              </a:rPr>
              <a:t>▸  Diqqat: 1-darajada o‘choq yo‘q; 2-darajada kallazsimon tana, 3-darajada miya soni ham qo‘shiladi.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83809"/>
                <a:gridCol w="2213570"/>
                <a:gridCol w="2090594"/>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O‘choq</a:t>
                      </a:r>
                    </a:p>
                  </a:txBody>
                  <a:tcPr marL="73152" marR="73152" marT="36576" marB="36576">
                    <a:solidFill>
                      <a:srgbClr val="0B1F3A"/>
                    </a:solidFill>
                  </a:tcPr>
                </a:tc>
                <a:tc>
                  <a:txBody>
                    <a:bodyPr/>
                    <a:lstStyle/>
                    <a:p>
                      <a:r>
                        <a:rPr sz="1300" b="1">
                          <a:solidFill>
                            <a:srgbClr val="FFFFFF"/>
                          </a:solidFill>
                        </a:rPr>
                        <a:t>Oq modda</a:t>
                      </a:r>
                    </a:p>
                  </a:txBody>
                  <a:tcPr marL="73152" marR="73152" marT="36576" marB="36576">
                    <a:solidFill>
                      <a:srgbClr val="0B1F3A"/>
                    </a:solidFill>
                  </a:tcPr>
                </a:tc>
              </a:tr>
              <a:tr h="411480">
                <a:tc>
                  <a:txBody>
                    <a:bodyPr/>
                    <a:lstStyle/>
                    <a:p>
                      <a:r>
                        <a:rPr sz="1200" b="0">
                          <a:solidFill>
                            <a:srgbClr val="1F2937"/>
                          </a:solidFill>
                        </a:rPr>
                        <a:t>1-daraja</a:t>
                      </a:r>
                    </a:p>
                  </a:txBody>
                  <a:tcPr marL="73152" marR="73152" marT="36576" marB="36576">
                    <a:solidFill>
                      <a:srgbClr val="E8EEF6"/>
                    </a:solidFill>
                  </a:tcPr>
                </a:tc>
                <a:tc>
                  <a:txBody>
                    <a:bodyPr/>
                    <a:lstStyle/>
                    <a:p>
                      <a:r>
                        <a:rPr sz="1200" b="0">
                          <a:solidFill>
                            <a:srgbClr val="1F2937"/>
                          </a:solidFill>
                        </a:rPr>
                        <a:t>Yo‘q</a:t>
                      </a:r>
                    </a:p>
                  </a:txBody>
                  <a:tcPr marL="73152" marR="73152" marT="36576" marB="36576">
                    <a:solidFill>
                      <a:srgbClr val="E8EEF6"/>
                    </a:solidFill>
                  </a:tcPr>
                </a:tc>
                <a:tc>
                  <a:txBody>
                    <a:bodyPr/>
                    <a:lstStyle/>
                    <a:p>
                      <a:r>
                        <a:rPr sz="1200" b="0">
                          <a:solidFill>
                            <a:srgbClr val="1F2937"/>
                          </a:solidFill>
                        </a:rPr>
                        <a:t>Tarqoq aksonal bulblar</a:t>
                      </a:r>
                    </a:p>
                  </a:txBody>
                  <a:tcPr marL="73152" marR="73152" marT="36576" marB="36576">
                    <a:solidFill>
                      <a:srgbClr val="E8EEF6"/>
                    </a:solidFill>
                  </a:tcPr>
                </a:tc>
              </a:tr>
              <a:tr h="411480">
                <a:tc>
                  <a:txBody>
                    <a:bodyPr/>
                    <a:lstStyle/>
                    <a:p>
                      <a:r>
                        <a:rPr sz="1200" b="0">
                          <a:solidFill>
                            <a:srgbClr val="1F2937"/>
                          </a:solidFill>
                        </a:rPr>
                        <a:t>2-daraja</a:t>
                      </a:r>
                    </a:p>
                  </a:txBody>
                  <a:tcPr marL="73152" marR="73152" marT="36576" marB="36576">
                    <a:solidFill>
                      <a:srgbClr val="FFFFFF"/>
                    </a:solidFill>
                  </a:tcPr>
                </a:tc>
                <a:tc>
                  <a:txBody>
                    <a:bodyPr/>
                    <a:lstStyle/>
                    <a:p>
                      <a:r>
                        <a:rPr sz="1200" b="0">
                          <a:solidFill>
                            <a:srgbClr val="1F2937"/>
                          </a:solidFill>
                        </a:rPr>
                        <a:t>Kallazsimon tana</a:t>
                      </a:r>
                    </a:p>
                  </a:txBody>
                  <a:tcPr marL="73152" marR="73152" marT="36576" marB="36576">
                    <a:solidFill>
                      <a:srgbClr val="FFFFFF"/>
                    </a:solidFill>
                  </a:tcPr>
                </a:tc>
                <a:tc>
                  <a:txBody>
                    <a:bodyPr/>
                    <a:lstStyle/>
                    <a:p>
                      <a:r>
                        <a:rPr sz="1200" b="0">
                          <a:solidFill>
                            <a:srgbClr val="1F2937"/>
                          </a:solidFill>
                        </a:rPr>
                        <a:t>Yarim sharlar oq moddasida shikast</a:t>
                      </a:r>
                    </a:p>
                  </a:txBody>
                  <a:tcPr marL="73152" marR="73152" marT="36576" marB="36576">
                    <a:solidFill>
                      <a:srgbClr val="FFFFFF"/>
                    </a:solidFill>
                  </a:tcPr>
                </a:tc>
              </a:tr>
              <a:tr h="411480">
                <a:tc>
                  <a:txBody>
                    <a:bodyPr/>
                    <a:lstStyle/>
                    <a:p>
                      <a:r>
                        <a:rPr sz="1200" b="0">
                          <a:solidFill>
                            <a:srgbClr val="1F2937"/>
                          </a:solidFill>
                        </a:rPr>
                        <a:t>3-daraja</a:t>
                      </a:r>
                    </a:p>
                  </a:txBody>
                  <a:tcPr marL="73152" marR="73152" marT="36576" marB="36576">
                    <a:solidFill>
                      <a:srgbClr val="E8EEF6"/>
                    </a:solidFill>
                  </a:tcPr>
                </a:tc>
                <a:tc>
                  <a:txBody>
                    <a:bodyPr/>
                    <a:lstStyle/>
                    <a:p>
                      <a:r>
                        <a:rPr sz="1200" b="0">
                          <a:solidFill>
                            <a:srgbClr val="1F2937"/>
                          </a:solidFill>
                        </a:rPr>
                        <a:t>Kallazsimon tana + rostral miya soni</a:t>
                      </a:r>
                    </a:p>
                  </a:txBody>
                  <a:tcPr marL="73152" marR="73152" marT="36576" marB="36576">
                    <a:solidFill>
                      <a:srgbClr val="E8EEF6"/>
                    </a:solidFill>
                  </a:tcPr>
                </a:tc>
                <a:tc>
                  <a:txBody>
                    <a:bodyPr/>
                    <a:lstStyle/>
                    <a:p>
                      <a:r>
                        <a:rPr sz="1200" b="0">
                          <a:solidFill>
                            <a:srgbClr val="1F2937"/>
                          </a:solidFill>
                        </a:rPr>
                        <a:t>Yarim sharlar oq moddasida shikast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Gennarelli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(5.2-bo‘lim)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Omon qolish muddati va gistologik manzara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Aksonal zarar omon qolish muddatiga qarab uch xil ko‘rinishda bo‘ladi.</a:t>
            </a:r>
          </a:p>
          <a:p>
            <a:pPr>
              <a:spcAft>
                <a:spcPts val="800"/>
              </a:spcAft>
            </a:pPr>
            <a:r>
              <a:rPr sz="1800">
                <a:solidFill>
                  <a:srgbClr val="1F2937"/>
                </a:solidFill>
                <a:latin typeface="Calibri"/>
              </a:rPr>
              <a:t>▸  Aksonal zararning miqdori va tarqalishi koma davomiyligi hamda oqibat bilan yaxshi mos keladi.</a:t>
            </a:r>
          </a:p>
          <a:p>
            <a:pPr>
              <a:spcAft>
                <a:spcPts val="800"/>
              </a:spcAft>
            </a:pPr>
            <a:r>
              <a:rPr sz="1800">
                <a:solidFill>
                  <a:srgbClr val="1F2937"/>
                </a:solidFill>
                <a:latin typeface="Calibri"/>
              </a:rPr>
              <a:t>▸  Oylar o‘tgach oq modda kamayib, qorinchalar kengayadi; bu post-travmatik gidrosefaliyaga o‘xshab ketadi.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Gistologik manzara</a:t>
                      </a:r>
                    </a:p>
                  </a:txBody>
                  <a:tcPr marL="73152" marR="73152" marT="36576" marB="36576">
                    <a:solidFill>
                      <a:srgbClr val="0B1F3A"/>
                    </a:solidFill>
                  </a:tcPr>
                </a:tc>
              </a:tr>
              <a:tr h="411480">
                <a:tc>
                  <a:txBody>
                    <a:bodyPr/>
                    <a:lstStyle/>
                    <a:p>
                      <a:r>
                        <a:rPr sz="1300" b="0">
                          <a:solidFill>
                            <a:srgbClr val="1F2937"/>
                          </a:solidFill>
                        </a:rPr>
                        <a:t>Kunlar</a:t>
                      </a:r>
                    </a:p>
                  </a:txBody>
                  <a:tcPr marL="73152" marR="73152" marT="36576" marB="36576">
                    <a:solidFill>
                      <a:srgbClr val="E8EEF6"/>
                    </a:solidFill>
                  </a:tcPr>
                </a:tc>
                <a:tc>
                  <a:txBody>
                    <a:bodyPr/>
                    <a:lstStyle/>
                    <a:p>
                      <a:r>
                        <a:rPr sz="1300" b="0">
                          <a:solidFill>
                            <a:srgbClr val="1F2937"/>
                          </a:solidFill>
                        </a:rPr>
                        <a:t>Ko‘p aksonal shishlar oq moddada</a:t>
                      </a:r>
                    </a:p>
                  </a:txBody>
                  <a:tcPr marL="73152" marR="73152" marT="36576" marB="36576">
                    <a:solidFill>
                      <a:srgbClr val="E8EEF6"/>
                    </a:solidFill>
                  </a:tcPr>
                </a:tc>
              </a:tr>
              <a:tr h="411480">
                <a:tc>
                  <a:txBody>
                    <a:bodyPr/>
                    <a:lstStyle/>
                    <a:p>
                      <a:r>
                        <a:rPr sz="1300" b="0">
                          <a:solidFill>
                            <a:srgbClr val="1F2937"/>
                          </a:solidFill>
                        </a:rPr>
                        <a:t>Haftalar</a:t>
                      </a:r>
                    </a:p>
                  </a:txBody>
                  <a:tcPr marL="73152" marR="73152" marT="36576" marB="36576">
                    <a:solidFill>
                      <a:srgbClr val="FFFFFF"/>
                    </a:solidFill>
                  </a:tcPr>
                </a:tc>
                <a:tc>
                  <a:txBody>
                    <a:bodyPr/>
                    <a:lstStyle/>
                    <a:p>
                      <a:r>
                        <a:rPr sz="1300" b="0">
                          <a:solidFill>
                            <a:srgbClr val="1F2937"/>
                          </a:solidFill>
                        </a:rPr>
                        <a:t>Oq moddada mikroglia mayda klasterlari</a:t>
                      </a:r>
                    </a:p>
                  </a:txBody>
                  <a:tcPr marL="73152" marR="73152" marT="36576" marB="36576">
                    <a:solidFill>
                      <a:srgbClr val="FFFFFF"/>
                    </a:solidFill>
                  </a:tcPr>
                </a:tc>
              </a:tr>
              <a:tr h="411480">
                <a:tc>
                  <a:txBody>
                    <a:bodyPr/>
                    <a:lstStyle/>
                    <a:p>
                      <a:r>
                        <a:rPr sz="1300" b="0">
                          <a:solidFill>
                            <a:srgbClr val="1F2937"/>
                          </a:solidFill>
                        </a:rPr>
                        <a:t>Oylar</a:t>
                      </a:r>
                    </a:p>
                  </a:txBody>
                  <a:tcPr marL="73152" marR="73152" marT="36576" marB="36576">
                    <a:solidFill>
                      <a:srgbClr val="E8EEF6"/>
                    </a:solidFill>
                  </a:tcPr>
                </a:tc>
                <a:tc>
                  <a:txBody>
                    <a:bodyPr/>
                    <a:lstStyle/>
                    <a:p>
                      <a:r>
                        <a:rPr sz="1300" b="0">
                          <a:solidFill>
                            <a:srgbClr val="1F2937"/>
                          </a:solidFill>
                        </a:rPr>
                        <a:t>Valler degeneratsiyasi: miya va orqa miya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Muddat va gistologik belgi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Bo‘yash usullari va aniqlash vaqt oynasi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Qisqa omon qolganda oddiy bo‘yashlar bilan diffuz aksonal jarohat (DAI) ni topish qiyin.</a:t>
            </a:r>
          </a:p>
          <a:p>
            <a:pPr>
              <a:spcAft>
                <a:spcPts val="800"/>
              </a:spcAft>
            </a:pPr>
            <a:r>
              <a:rPr sz="1800">
                <a:solidFill>
                  <a:srgbClr val="1F2937"/>
                </a:solidFill>
                <a:latin typeface="Calibri"/>
              </a:rPr>
              <a:t>▸  DAI uchun immunogistokimyoning oltin standarti — β-APP (β-amiloid prekursor oqsil) qidiruvi.</a:t>
            </a:r>
          </a:p>
          <a:p>
            <a:pPr>
              <a:spcAft>
                <a:spcPts val="800"/>
              </a:spcAft>
            </a:pPr>
            <a:r>
              <a:rPr sz="1800">
                <a:solidFill>
                  <a:srgbClr val="1F2937"/>
                </a:solidFill>
                <a:latin typeface="Calibri"/>
              </a:rPr>
              <a:t>▸  Odatda tinktorial bo‘yashlar — gematoksilin-eozin va kumush impregnatsiyasi — ishlatib kelingan.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488458"/>
                <a:gridCol w="2799516"/>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Aniqlash vaqti</a:t>
                      </a:r>
                    </a:p>
                  </a:txBody>
                  <a:tcPr marL="73152" marR="73152" marT="36576" marB="36576">
                    <a:solidFill>
                      <a:srgbClr val="0B1F3A"/>
                    </a:solidFill>
                  </a:tcPr>
                </a:tc>
              </a:tr>
              <a:tr h="411480">
                <a:tc>
                  <a:txBody>
                    <a:bodyPr/>
                    <a:lstStyle/>
                    <a:p>
                      <a:r>
                        <a:rPr sz="1300" b="0">
                          <a:solidFill>
                            <a:srgbClr val="1F2937"/>
                          </a:solidFill>
                        </a:rPr>
                        <a:t>Gematoksilin-eozin</a:t>
                      </a:r>
                    </a:p>
                  </a:txBody>
                  <a:tcPr marL="73152" marR="73152" marT="36576" marB="36576">
                    <a:solidFill>
                      <a:srgbClr val="E8EEF6"/>
                    </a:solidFill>
                  </a:tcPr>
                </a:tc>
                <a:tc>
                  <a:txBody>
                    <a:bodyPr/>
                    <a:lstStyle/>
                    <a:p>
                      <a:r>
                        <a:rPr sz="1300" b="0">
                          <a:solidFill>
                            <a:srgbClr val="1F2937"/>
                          </a:solidFill>
                        </a:rPr>
                        <a:t>Taxminan 24 soatdan keyin</a:t>
                      </a:r>
                    </a:p>
                  </a:txBody>
                  <a:tcPr marL="73152" marR="73152" marT="36576" marB="36576">
                    <a:solidFill>
                      <a:srgbClr val="E8EEF6"/>
                    </a:solidFill>
                  </a:tcPr>
                </a:tc>
              </a:tr>
              <a:tr h="411480">
                <a:tc>
                  <a:txBody>
                    <a:bodyPr/>
                    <a:lstStyle/>
                    <a:p>
                      <a:r>
                        <a:rPr sz="1300" b="0">
                          <a:solidFill>
                            <a:srgbClr val="1F2937"/>
                          </a:solidFill>
                        </a:rPr>
                        <a:t>Kumush impregnatsiyasi</a:t>
                      </a:r>
                    </a:p>
                  </a:txBody>
                  <a:tcPr marL="73152" marR="73152" marT="36576" marB="36576">
                    <a:solidFill>
                      <a:srgbClr val="FFFFFF"/>
                    </a:solidFill>
                  </a:tcPr>
                </a:tc>
                <a:tc>
                  <a:txBody>
                    <a:bodyPr/>
                    <a:lstStyle/>
                    <a:p>
                      <a:r>
                        <a:rPr sz="1300" b="0">
                          <a:solidFill>
                            <a:srgbClr val="1F2937"/>
                          </a:solidFill>
                        </a:rPr>
                        <a:t>Jarohatdan 12–18 soat keyin</a:t>
                      </a:r>
                    </a:p>
                  </a:txBody>
                  <a:tcPr marL="73152" marR="73152" marT="36576" marB="36576">
                    <a:solidFill>
                      <a:srgbClr val="FFFFFF"/>
                    </a:solidFill>
                  </a:tcPr>
                </a:tc>
              </a:tr>
              <a:tr h="411480">
                <a:tc>
                  <a:txBody>
                    <a:bodyPr/>
                    <a:lstStyle/>
                    <a:p>
                      <a:r>
                        <a:rPr sz="1300" b="0">
                          <a:solidFill>
                            <a:srgbClr val="1F2937"/>
                          </a:solidFill>
                        </a:rPr>
                        <a:t>β-APP immunogistokimyosi</a:t>
                      </a:r>
                    </a:p>
                  </a:txBody>
                  <a:tcPr marL="73152" marR="73152" marT="36576" marB="36576">
                    <a:solidFill>
                      <a:srgbClr val="E8EEF6"/>
                    </a:solidFill>
                  </a:tcPr>
                </a:tc>
                <a:tc>
                  <a:txBody>
                    <a:bodyPr/>
                    <a:lstStyle/>
                    <a:p>
                      <a:r>
                        <a:rPr sz="1300" b="0">
                          <a:solidFill>
                            <a:srgbClr val="1F2937"/>
                          </a:solidFill>
                        </a:rPr>
                        <a:t>2–3 soatdan keyin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 va aniqlash vaqti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β-APP travmaga xos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xato qilish xavfi! β-APP ifodasi aksonal jarohat belgisi, lekin travmani ishemiya yoki gipoksiyadan ajratib bo‘lmaydi.</a:t>
            </a:r>
          </a:p>
          <a:p>
            <a:pPr>
              <a:spcAft>
                <a:spcPts val="1200"/>
              </a:spcAft>
            </a:pPr>
            <a:r>
              <a:rPr sz="2200">
                <a:solidFill>
                  <a:srgbClr val="1F2937"/>
                </a:solidFill>
                <a:latin typeface="Calibri"/>
              </a:rPr>
              <a:t>▸  Shu sababli DAI faqat mexanik jarohatga xos belgi deb hisoblanmaydi.</a:t>
            </a:r>
          </a:p>
          <a:p>
            <a:pPr>
              <a:spcAft>
                <a:spcPts val="1200"/>
              </a:spcAft>
            </a:pPr>
            <a:r>
              <a:rPr sz="2200">
                <a:solidFill>
                  <a:srgbClr val="1F2937"/>
                </a:solidFill>
                <a:latin typeface="Calibri"/>
              </a:rPr>
              <a:t>▸  Niess 450 ta tanlanmagan miyani β-APP bilan tekshirdi: travmada zarar asosan ko‘prikda, zaharlanishda ko‘prik va katta miyada keng.</a:t>
            </a:r>
          </a:p>
          <a:p>
            <a:pPr>
              <a:spcAft>
                <a:spcPts val="1200"/>
              </a:spcAft>
            </a:pPr>
            <a:r>
              <a:rPr sz="2200">
                <a:solidFill>
                  <a:srgbClr val="1F2937"/>
                </a:solidFill>
                <a:latin typeface="Calibri"/>
              </a:rPr>
              <a:t>▸  Hayashi kallosumda β-APP bilan bo‘yalgan aksonal bulbalar naqshini travma va gipoksiyada solishtirib, ikki xil naqsh topdi.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qisqa omon qolish va gistologiya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bosh jarohatidan keyin taxminan 3 soat o‘tib o‘lim yuz berdi. Gistolog oddiy bo‘yash va β-APP bo‘yicha immunogistokimyoni qo‘llaydi.</a:t>
            </a:r>
          </a:p>
          <a:p>
            <a:pPr>
              <a:spcAft>
                <a:spcPts val="1200"/>
              </a:spcAft>
            </a:pPr>
            <a:r>
              <a:rPr sz="2200">
                <a:solidFill>
                  <a:srgbClr val="1F2937"/>
                </a:solidFill>
                <a:latin typeface="Calibri"/>
              </a:rPr>
              <a:t>▸  Gematoksilin-eozin aksonal shikastni taxminan 24 soatdan keyin, kumush impregnatsiyasi esa 12–18 soatdan keyin ko‘rsatadi.</a:t>
            </a:r>
          </a:p>
          <a:p>
            <a:pPr>
              <a:spcAft>
                <a:spcPts val="1200"/>
              </a:spcAft>
            </a:pPr>
            <a:r>
              <a:rPr sz="2200">
                <a:solidFill>
                  <a:srgbClr val="1F2937"/>
                </a:solidFill>
                <a:latin typeface="Calibri"/>
              </a:rPr>
              <a:t>▸  β-APP (amiloid prekursor oqsil) ga qarshi antitanalar shikastlangan aksonlarni jarohatdan 2–3 soat o‘tib aniqlashga imkon beradi.</a:t>
            </a:r>
          </a:p>
          <a:p>
            <a:pPr>
              <a:spcAft>
                <a:spcPts val="1200"/>
              </a:spcAft>
            </a:pPr>
            <a:r>
              <a:rPr sz="2200">
                <a:solidFill>
                  <a:srgbClr val="1F2937"/>
                </a:solidFill>
                <a:latin typeface="Calibri"/>
              </a:rPr>
              <a:t>▸  Savol: nega bu holatda oddiy bo‘yash manfiy, β-APP esa musbat bo‘lishi mumkin? Diqqat: β-APP travma bilan ishemiya/gipoksiyani ajratmaydi.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5.3-bo‘lim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gistologiya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qaysi usul aksonal shikastni eng erta, 2–3 soatdan keyin ko‘rsatadi? Javob: β-APP immunogistokimyosi; kumush va gematoksilin-eozin kechroq.</a:t>
            </a:r>
          </a:p>
          <a:p>
            <a:pPr>
              <a:spcAft>
                <a:spcPts val="1200"/>
              </a:spcAft>
            </a:pPr>
            <a:r>
              <a:rPr sz="2200">
                <a:solidFill>
                  <a:srgbClr val="1F2937"/>
                </a:solidFill>
                <a:latin typeface="Calibri"/>
              </a:rPr>
              <a:t>▸  2-savol: Adams bo‘yicha I daraja – diffuz supratentorial aksonal shikast; II – jismoniy tanadagi o‘choq; III – rostral miya poyasidagi o‘choq.</a:t>
            </a:r>
          </a:p>
          <a:p>
            <a:pPr>
              <a:spcAft>
                <a:spcPts val="1200"/>
              </a:spcAft>
            </a:pPr>
            <a:r>
              <a:rPr sz="2200">
                <a:solidFill>
                  <a:srgbClr val="1F2937"/>
                </a:solidFill>
                <a:latin typeface="Calibri"/>
              </a:rPr>
              <a:t>▸  3-savol: Gennarelli bo‘yicha 1-darajada oq moddada tarqoq retraksiya sharlari; 2-darajada kallozal o‘choq; 3-darajada miya poyasi o‘chog‘i qo‘shiladi.</a:t>
            </a:r>
          </a:p>
          <a:p>
            <a:pPr>
              <a:spcAft>
                <a:spcPts val="1200"/>
              </a:spcAft>
            </a:pPr>
            <a:r>
              <a:rPr sz="2200">
                <a:solidFill>
                  <a:srgbClr val="1F2937"/>
                </a:solidFill>
                <a:latin typeface="Calibri"/>
              </a:rPr>
              <a:t>▸  Diqqat: Adams (45 ta o‘lim holati) va Gennarelli (primatlar tajribasi) darajalari o‘xshash, lekin asosi boshqa;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5.3-bo‘lim, PMID 29207487, 5.1-bo‘lim, PMID 29207487, 5.2-bo‘lim, PMID 29207487, 5.1–5.2-bo‘limlar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DAI biomarkerlari: Frati sharhi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Kaspaza va kalpain parchalagan oqsillar DAI biomarkeri sifatida o‘rganilmoqda.</a:t>
            </a:r>
          </a:p>
          <a:p>
            <a:pPr>
              <a:spcAft>
                <a:spcPts val="800"/>
              </a:spcAft>
            </a:pPr>
            <a:r>
              <a:rPr sz="1800">
                <a:solidFill>
                  <a:srgbClr val="1F2937"/>
                </a:solidFill>
                <a:latin typeface="Calibri"/>
              </a:rPr>
              <a:t>▸  Neyrofilament (NF) dalillari kichik tanlamadan olingan; yirik prospektiv tadqiqotlar kerak.</a:t>
            </a:r>
          </a:p>
          <a:p>
            <a:pPr>
              <a:spcAft>
                <a:spcPts val="800"/>
              </a:spcAft>
            </a:pPr>
            <a:r>
              <a:rPr sz="1800">
                <a:solidFill>
                  <a:srgbClr val="1F2937"/>
                </a:solidFill>
                <a:latin typeface="Calibri"/>
              </a:rPr>
              <a:t>▸  β-APP, NSE (neyronga xos enolaza), NF, GFAP (glial oqsil) va S100 – neyron o‘limi markerlari.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21993"/>
                <a:gridCol w="2033836"/>
                <a:gridCol w="1932144"/>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Asosiy fakt</a:t>
                      </a:r>
                    </a:p>
                  </a:txBody>
                  <a:tcPr marL="73152" marR="73152" marT="36576" marB="36576">
                    <a:solidFill>
                      <a:srgbClr val="0B1F3A"/>
                    </a:solidFill>
                  </a:tcPr>
                </a:tc>
                <a:tc>
                  <a:txBody>
                    <a:bodyPr/>
                    <a:lstStyle/>
                    <a:p>
                      <a:r>
                        <a:rPr sz="1300" b="1">
                          <a:solidFill>
                            <a:srgbClr val="FFFFFF"/>
                          </a:solidFill>
                        </a:rPr>
                        <a:t>Cheklov/izoh</a:t>
                      </a:r>
                    </a:p>
                  </a:txBody>
                  <a:tcPr marL="73152" marR="73152" marT="36576" marB="36576">
                    <a:solidFill>
                      <a:srgbClr val="0B1F3A"/>
                    </a:solidFill>
                  </a:tcPr>
                </a:tc>
              </a:tr>
              <a:tr h="411480">
                <a:tc>
                  <a:txBody>
                    <a:bodyPr/>
                    <a:lstStyle/>
                    <a:p>
                      <a:r>
                        <a:rPr sz="1200" b="0">
                          <a:solidFill>
                            <a:srgbClr val="1F2937"/>
                          </a:solidFill>
                        </a:rPr>
                        <a:t>SBDP (spektrin parchalari)</a:t>
                      </a:r>
                    </a:p>
                  </a:txBody>
                  <a:tcPr marL="73152" marR="73152" marT="36576" marB="36576">
                    <a:solidFill>
                      <a:srgbClr val="E8EEF6"/>
                    </a:solidFill>
                  </a:tcPr>
                </a:tc>
                <a:tc>
                  <a:txBody>
                    <a:bodyPr/>
                    <a:lstStyle/>
                    <a:p>
                      <a:r>
                        <a:rPr sz="1200" b="0">
                          <a:solidFill>
                            <a:srgbClr val="1F2937"/>
                          </a:solidFill>
                        </a:rPr>
                        <a:t>6 soatda ko‘tariladi; 2–3 kunda cho‘qqi</a:t>
                      </a:r>
                    </a:p>
                  </a:txBody>
                  <a:tcPr marL="73152" marR="73152" marT="36576" marB="36576">
                    <a:solidFill>
                      <a:srgbClr val="E8EEF6"/>
                    </a:solidFill>
                  </a:tcPr>
                </a:tc>
                <a:tc>
                  <a:txBody>
                    <a:bodyPr/>
                    <a:lstStyle/>
                    <a:p>
                      <a:r>
                        <a:rPr sz="1200" b="0">
                          <a:solidFill>
                            <a:srgbClr val="1F2937"/>
                          </a:solidFill>
                        </a:rPr>
                        <a:t>Boshqa MNS shikastida ham uchraydi</a:t>
                      </a:r>
                    </a:p>
                  </a:txBody>
                  <a:tcPr marL="73152" marR="73152" marT="36576" marB="36576">
                    <a:solidFill>
                      <a:srgbClr val="E8EEF6"/>
                    </a:solidFill>
                  </a:tcPr>
                </a:tc>
              </a:tr>
              <a:tr h="411480">
                <a:tc>
                  <a:txBody>
                    <a:bodyPr/>
                    <a:lstStyle/>
                    <a:p>
                      <a:r>
                        <a:rPr sz="1200" b="0">
                          <a:solidFill>
                            <a:srgbClr val="1F2937"/>
                          </a:solidFill>
                        </a:rPr>
                        <a:t>NF (neyrofilament)</a:t>
                      </a:r>
                    </a:p>
                  </a:txBody>
                  <a:tcPr marL="73152" marR="73152" marT="36576" marB="36576">
                    <a:solidFill>
                      <a:srgbClr val="FFFFFF"/>
                    </a:solidFill>
                  </a:tcPr>
                </a:tc>
                <a:tc>
                  <a:txBody>
                    <a:bodyPr/>
                    <a:lstStyle/>
                    <a:p>
                      <a:r>
                        <a:rPr sz="1200" b="0">
                          <a:solidFill>
                            <a:srgbClr val="1F2937"/>
                          </a:solidFill>
                        </a:rPr>
                        <a:t>pNF-H va NF-L natijani bashorat qiladi</a:t>
                      </a:r>
                    </a:p>
                  </a:txBody>
                  <a:tcPr marL="73152" marR="73152" marT="36576" marB="36576">
                    <a:solidFill>
                      <a:srgbClr val="FFFFFF"/>
                    </a:solidFill>
                  </a:tcPr>
                </a:tc>
                <a:tc>
                  <a:txBody>
                    <a:bodyPr/>
                    <a:lstStyle/>
                    <a:p>
                      <a:r>
                        <a:rPr sz="1200" b="0">
                          <a:solidFill>
                            <a:srgbClr val="1F2937"/>
                          </a:solidFill>
                        </a:rPr>
                        <a:t>Kichik tanlama; tasdiq kerak</a:t>
                      </a:r>
                    </a:p>
                  </a:txBody>
                  <a:tcPr marL="73152" marR="73152" marT="36576" marB="36576">
                    <a:solidFill>
                      <a:srgbClr val="FFFFFF"/>
                    </a:solidFill>
                  </a:tcPr>
                </a:tc>
              </a:tr>
              <a:tr h="411480">
                <a:tc>
                  <a:txBody>
                    <a:bodyPr/>
                    <a:lstStyle/>
                    <a:p>
                      <a:r>
                        <a:rPr sz="1200" b="0">
                          <a:solidFill>
                            <a:srgbClr val="1F2937"/>
                          </a:solidFill>
                        </a:rPr>
                        <a:t>GFAP, tau, Aβ42</a:t>
                      </a:r>
                    </a:p>
                  </a:txBody>
                  <a:tcPr marL="73152" marR="73152" marT="36576" marB="36576">
                    <a:solidFill>
                      <a:srgbClr val="E8EEF6"/>
                    </a:solidFill>
                  </a:tcPr>
                </a:tc>
                <a:tc>
                  <a:txBody>
                    <a:bodyPr/>
                    <a:lstStyle/>
                    <a:p>
                      <a:r>
                        <a:rPr sz="1200" b="0">
                          <a:solidFill>
                            <a:srgbClr val="1F2937"/>
                          </a:solidFill>
                        </a:rPr>
                        <a:t>GFAP va tau 24 soatda, Aβ42 30-kunda maks.</a:t>
                      </a:r>
                    </a:p>
                  </a:txBody>
                  <a:tcPr marL="73152" marR="73152" marT="36576" marB="36576">
                    <a:solidFill>
                      <a:srgbClr val="E8EEF6"/>
                    </a:solidFill>
                  </a:tcPr>
                </a:tc>
                <a:tc>
                  <a:txBody>
                    <a:bodyPr/>
                    <a:lstStyle/>
                    <a:p>
                      <a:r>
                        <a:rPr sz="1200" b="0">
                          <a:solidFill>
                            <a:srgbClr val="1F2937"/>
                          </a:solidFill>
                        </a:rPr>
                        <a:t>Uchalasi birga foydali</a:t>
                      </a:r>
                    </a:p>
                  </a:txBody>
                  <a:tcPr marL="73152" marR="73152" marT="36576" marB="36576">
                    <a:solidFill>
                      <a:srgbClr val="E8EEF6"/>
                    </a:solidFill>
                  </a:tcPr>
                </a:tc>
              </a:tr>
              <a:tr h="411480">
                <a:tc>
                  <a:txBody>
                    <a:bodyPr/>
                    <a:lstStyle/>
                    <a:p>
                      <a:r>
                        <a:rPr sz="1200" b="0">
                          <a:solidFill>
                            <a:srgbClr val="1F2937"/>
                          </a:solidFill>
                        </a:rPr>
                        <a:t>S100β, NSE</a:t>
                      </a:r>
                    </a:p>
                  </a:txBody>
                  <a:tcPr marL="73152" marR="73152" marT="36576" marB="36576">
                    <a:solidFill>
                      <a:srgbClr val="FFFFFF"/>
                    </a:solidFill>
                  </a:tcPr>
                </a:tc>
                <a:tc>
                  <a:txBody>
                    <a:bodyPr/>
                    <a:lstStyle/>
                    <a:p>
                      <a:r>
                        <a:rPr sz="1200" b="0">
                          <a:solidFill>
                            <a:srgbClr val="1F2937"/>
                          </a:solidFill>
                        </a:rPr>
                        <a:t>S100β – Ca bog‘lovchi; NSE – ferment</a:t>
                      </a:r>
                    </a:p>
                  </a:txBody>
                  <a:tcPr marL="73152" marR="73152" marT="36576" marB="36576">
                    <a:solidFill>
                      <a:srgbClr val="FFFFFF"/>
                    </a:solidFill>
                  </a:tcPr>
                </a:tc>
                <a:tc>
                  <a:txBody>
                    <a:bodyPr/>
                    <a:lstStyle/>
                    <a:p>
                      <a:r>
                        <a:rPr sz="1200" b="0">
                          <a:solidFill>
                            <a:srgbClr val="1F2937"/>
                          </a:solidFill>
                        </a:rPr>
                        <a:t>Politravmada ta’sir; qon-miya to‘sig‘i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DAI biomarkerlari va cheklovlar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5.4-bo‘lim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O‘limdan keyingi biomarkerlar sharhi: usul va natija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Mezon: o‘lim sababi travmatik miya shikasti (TBI), nazorat guruhi bor, inson, hakamli ish.</a:t>
            </a:r>
          </a:p>
          <a:p>
            <a:pPr>
              <a:spcAft>
                <a:spcPts val="800"/>
              </a:spcAft>
            </a:pPr>
            <a:r>
              <a:rPr sz="1800">
                <a:solidFill>
                  <a:srgbClr val="1F2937"/>
                </a:solidFill>
                <a:latin typeface="Calibri"/>
              </a:rPr>
              <a:t>▸  Qidiruv PRISMA qoidasi bo‘yicha 2021-yil avgustigacha; 17 tadqiqot, 9 marker.</a:t>
            </a:r>
          </a:p>
          <a:p>
            <a:pPr>
              <a:spcAft>
                <a:spcPts val="800"/>
              </a:spcAft>
            </a:pPr>
            <a:r>
              <a:rPr sz="1800">
                <a:solidFill>
                  <a:srgbClr val="1F2937"/>
                </a:solidFill>
                <a:latin typeface="Calibri"/>
              </a:rPr>
              <a:t>▸  Eng ko‘p IL-6 (6 ta); GFAP, LDH, S100B 5 tadan; NSE 4; BDNF, MAPT, ferritin 3; NGAL 2 ta.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PubMed qidiruvi (PRISMA)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Sarlavha/annotatsiya skrining</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To‘liq matnni baholash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Kiritish mezonlari tekshiruvi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17 ta tadqiqot tahlili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Likvorda S100B, NSE va boshqa chegara qiymatlar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Chegaralar 2 soatdan qisqa omon qolgan o‘tkir TBI uchun; spetsifiklik 94–97%.</a:t>
            </a:r>
          </a:p>
          <a:p>
            <a:pPr>
              <a:spcAft>
                <a:spcPts val="800"/>
              </a:spcAft>
            </a:pPr>
            <a:r>
              <a:rPr sz="1800">
                <a:solidFill>
                  <a:srgbClr val="1F2937"/>
                </a:solidFill>
                <a:latin typeface="Calibri"/>
              </a:rPr>
              <a:t>▸  Ferritin 1.73 mg/l (aniqlik 87%, spets. 96%); BDNF 11.1 pg/ml (86%/96%); NGAL 334.4 ng/ml (84%/94%).</a:t>
            </a:r>
          </a:p>
          <a:p>
            <a:pPr>
              <a:spcAft>
                <a:spcPts val="800"/>
              </a:spcAft>
            </a:pPr>
            <a:r>
              <a:rPr sz="1800">
                <a:solidFill>
                  <a:srgbClr val="1F2937"/>
                </a:solidFill>
                <a:latin typeface="Calibri"/>
              </a:rPr>
              <a:t>▸  LDH 16.71 ukat/l (81%/97%). NSE &gt;6000 ng/ml faqat TBI guruhida kuzatilgan.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27069"/>
                <a:gridCol w="1627069"/>
                <a:gridCol w="2033836"/>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Chegara</a:t>
                      </a:r>
                    </a:p>
                  </a:txBody>
                  <a:tcPr marL="73152" marR="73152" marT="36576" marB="36576">
                    <a:solidFill>
                      <a:srgbClr val="0B1F3A"/>
                    </a:solidFill>
                  </a:tcPr>
                </a:tc>
                <a:tc>
                  <a:txBody>
                    <a:bodyPr/>
                    <a:lstStyle/>
                    <a:p>
                      <a:r>
                        <a:rPr sz="1300" b="1">
                          <a:solidFill>
                            <a:srgbClr val="FFFFFF"/>
                          </a:solidFill>
                        </a:rPr>
                        <a:t>Aniqlik/spets.</a:t>
                      </a:r>
                    </a:p>
                  </a:txBody>
                  <a:tcPr marL="73152" marR="73152" marT="36576" marB="36576">
                    <a:solidFill>
                      <a:srgbClr val="0B1F3A"/>
                    </a:solidFill>
                  </a:tcPr>
                </a:tc>
              </a:tr>
              <a:tr h="411480">
                <a:tc>
                  <a:txBody>
                    <a:bodyPr/>
                    <a:lstStyle/>
                    <a:p>
                      <a:r>
                        <a:rPr sz="1200" b="0">
                          <a:solidFill>
                            <a:srgbClr val="1F2937"/>
                          </a:solidFill>
                        </a:rPr>
                        <a:t>S100B</a:t>
                      </a:r>
                    </a:p>
                  </a:txBody>
                  <a:tcPr marL="73152" marR="73152" marT="36576" marB="36576">
                    <a:solidFill>
                      <a:srgbClr val="E8EEF6"/>
                    </a:solidFill>
                  </a:tcPr>
                </a:tc>
                <a:tc>
                  <a:txBody>
                    <a:bodyPr/>
                    <a:lstStyle/>
                    <a:p>
                      <a:r>
                        <a:rPr sz="1200" b="0">
                          <a:solidFill>
                            <a:srgbClr val="1F2937"/>
                          </a:solidFill>
                        </a:rPr>
                        <a:t>2267 ng/ml</a:t>
                      </a:r>
                    </a:p>
                  </a:txBody>
                  <a:tcPr marL="73152" marR="73152" marT="36576" marB="36576">
                    <a:solidFill>
                      <a:srgbClr val="E8EEF6"/>
                    </a:solidFill>
                  </a:tcPr>
                </a:tc>
                <a:tc>
                  <a:txBody>
                    <a:bodyPr/>
                    <a:lstStyle/>
                    <a:p>
                      <a:r>
                        <a:rPr sz="1200" b="0">
                          <a:solidFill>
                            <a:srgbClr val="1F2937"/>
                          </a:solidFill>
                        </a:rPr>
                        <a:t>79% / 97%</a:t>
                      </a:r>
                    </a:p>
                  </a:txBody>
                  <a:tcPr marL="73152" marR="73152" marT="36576" marB="36576">
                    <a:solidFill>
                      <a:srgbClr val="E8EEF6"/>
                    </a:solidFill>
                  </a:tcPr>
                </a:tc>
              </a:tr>
              <a:tr h="411480">
                <a:tc>
                  <a:txBody>
                    <a:bodyPr/>
                    <a:lstStyle/>
                    <a:p>
                      <a:r>
                        <a:rPr sz="1200" b="0">
                          <a:solidFill>
                            <a:srgbClr val="1F2937"/>
                          </a:solidFill>
                        </a:rPr>
                        <a:t>NSE</a:t>
                      </a:r>
                    </a:p>
                  </a:txBody>
                  <a:tcPr marL="73152" marR="73152" marT="36576" marB="36576">
                    <a:solidFill>
                      <a:srgbClr val="FFFFFF"/>
                    </a:solidFill>
                  </a:tcPr>
                </a:tc>
                <a:tc>
                  <a:txBody>
                    <a:bodyPr/>
                    <a:lstStyle/>
                    <a:p>
                      <a:r>
                        <a:rPr sz="1200" b="0">
                          <a:solidFill>
                            <a:srgbClr val="1F2937"/>
                          </a:solidFill>
                        </a:rPr>
                        <a:t>599 ng/ml</a:t>
                      </a:r>
                    </a:p>
                  </a:txBody>
                  <a:tcPr marL="73152" marR="73152" marT="36576" marB="36576">
                    <a:solidFill>
                      <a:srgbClr val="FFFFFF"/>
                    </a:solidFill>
                  </a:tcPr>
                </a:tc>
                <a:tc>
                  <a:txBody>
                    <a:bodyPr/>
                    <a:lstStyle/>
                    <a:p>
                      <a:r>
                        <a:rPr sz="1200" b="0">
                          <a:solidFill>
                            <a:srgbClr val="1F2937"/>
                          </a:solidFill>
                        </a:rPr>
                        <a:t>83% / 97%</a:t>
                      </a:r>
                    </a:p>
                  </a:txBody>
                  <a:tcPr marL="73152" marR="73152" marT="36576" marB="36576">
                    <a:solidFill>
                      <a:srgbClr val="FFFFFF"/>
                    </a:solidFill>
                  </a:tcPr>
                </a:tc>
              </a:tr>
              <a:tr h="411480">
                <a:tc>
                  <a:txBody>
                    <a:bodyPr/>
                    <a:lstStyle/>
                    <a:p>
                      <a:r>
                        <a:rPr sz="1200" b="0">
                          <a:solidFill>
                            <a:srgbClr val="1F2937"/>
                          </a:solidFill>
                        </a:rPr>
                        <a:t>GFAP</a:t>
                      </a:r>
                    </a:p>
                  </a:txBody>
                  <a:tcPr marL="73152" marR="73152" marT="36576" marB="36576">
                    <a:solidFill>
                      <a:srgbClr val="E8EEF6"/>
                    </a:solidFill>
                  </a:tcPr>
                </a:tc>
                <a:tc>
                  <a:txBody>
                    <a:bodyPr/>
                    <a:lstStyle/>
                    <a:p>
                      <a:r>
                        <a:rPr sz="1200" b="0">
                          <a:solidFill>
                            <a:srgbClr val="1F2937"/>
                          </a:solidFill>
                        </a:rPr>
                        <a:t>134 ng/ml</a:t>
                      </a:r>
                    </a:p>
                  </a:txBody>
                  <a:tcPr marL="73152" marR="73152" marT="36576" marB="36576">
                    <a:solidFill>
                      <a:srgbClr val="E8EEF6"/>
                    </a:solidFill>
                  </a:tcPr>
                </a:tc>
                <a:tc>
                  <a:txBody>
                    <a:bodyPr/>
                    <a:lstStyle/>
                    <a:p>
                      <a:r>
                        <a:rPr sz="1200" b="0">
                          <a:solidFill>
                            <a:srgbClr val="1F2937"/>
                          </a:solidFill>
                        </a:rPr>
                        <a:t>78% / 94%</a:t>
                      </a:r>
                    </a:p>
                  </a:txBody>
                  <a:tcPr marL="73152" marR="73152" marT="36576" marB="36576">
                    <a:solidFill>
                      <a:srgbClr val="E8EEF6"/>
                    </a:solidFill>
                  </a:tcPr>
                </a:tc>
              </a:tr>
              <a:tr h="411480">
                <a:tc>
                  <a:txBody>
                    <a:bodyPr/>
                    <a:lstStyle/>
                    <a:p>
                      <a:r>
                        <a:rPr sz="1200" b="0">
                          <a:solidFill>
                            <a:srgbClr val="1F2937"/>
                          </a:solidFill>
                        </a:rPr>
                        <a:t>IL-6</a:t>
                      </a:r>
                    </a:p>
                  </a:txBody>
                  <a:tcPr marL="73152" marR="73152" marT="36576" marB="36576">
                    <a:solidFill>
                      <a:srgbClr val="FFFFFF"/>
                    </a:solidFill>
                  </a:tcPr>
                </a:tc>
                <a:tc>
                  <a:txBody>
                    <a:bodyPr/>
                    <a:lstStyle/>
                    <a:p>
                      <a:r>
                        <a:rPr sz="1200" b="0">
                          <a:solidFill>
                            <a:srgbClr val="1F2937"/>
                          </a:solidFill>
                        </a:rPr>
                        <a:t>99.1 pg/ml</a:t>
                      </a:r>
                    </a:p>
                  </a:txBody>
                  <a:tcPr marL="73152" marR="73152" marT="36576" marB="36576">
                    <a:solidFill>
                      <a:srgbClr val="FFFFFF"/>
                    </a:solidFill>
                  </a:tcPr>
                </a:tc>
                <a:tc>
                  <a:txBody>
                    <a:bodyPr/>
                    <a:lstStyle/>
                    <a:p>
                      <a:r>
                        <a:rPr sz="1200" b="0">
                          <a:solidFill>
                            <a:srgbClr val="1F2937"/>
                          </a:solidFill>
                        </a:rPr>
                        <a:t>86% / 96%</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TBI, likvor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Omon qolish muddatini baholash uchun biomarkerlar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Yuqori likvor qiymatlari faqat ma’lum minimal muddatdan keyin kuzatilgan.</a:t>
            </a:r>
          </a:p>
          <a:p>
            <a:pPr>
              <a:spcAft>
                <a:spcPts val="800"/>
              </a:spcAft>
            </a:pPr>
            <a:r>
              <a:rPr sz="1800">
                <a:solidFill>
                  <a:srgbClr val="1F2937"/>
                </a:solidFill>
                <a:latin typeface="Calibri"/>
              </a:rPr>
              <a:t>▸  Aniq omon qolish muddatini ko‘rsatuvchi qiymatlar hozircha yo‘q; faqat minimal muddat baholanadi.</a:t>
            </a:r>
          </a:p>
          <a:p>
            <a:pPr>
              <a:spcAft>
                <a:spcPts val="800"/>
              </a:spcAft>
            </a:pPr>
            <a:r>
              <a:rPr sz="1800">
                <a:solidFill>
                  <a:srgbClr val="1F2937"/>
                </a:solidFill>
                <a:latin typeface="Calibri"/>
              </a:rPr>
              <a:t>▸  Chegaralar faqat shu tadqiqot laboratoriyasi va test to‘plamida amal qiladi; tasdiqlash kerak.</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726685"/>
                <a:gridCol w="1726685"/>
                <a:gridCol w="1834603"/>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Qiymat</a:t>
                      </a:r>
                    </a:p>
                  </a:txBody>
                  <a:tcPr marL="73152" marR="73152" marT="36576" marB="36576">
                    <a:solidFill>
                      <a:srgbClr val="0B1F3A"/>
                    </a:solidFill>
                  </a:tcPr>
                </a:tc>
                <a:tc>
                  <a:txBody>
                    <a:bodyPr/>
                    <a:lstStyle/>
                    <a:p>
                      <a:r>
                        <a:rPr sz="1300" b="1">
                          <a:solidFill>
                            <a:srgbClr val="FFFFFF"/>
                          </a:solidFill>
                        </a:rPr>
                        <a:t>Min. muddat</a:t>
                      </a:r>
                    </a:p>
                  </a:txBody>
                  <a:tcPr marL="73152" marR="73152" marT="36576" marB="36576">
                    <a:solidFill>
                      <a:srgbClr val="0B1F3A"/>
                    </a:solidFill>
                  </a:tcPr>
                </a:tc>
              </a:tr>
              <a:tr h="411480">
                <a:tc>
                  <a:txBody>
                    <a:bodyPr/>
                    <a:lstStyle/>
                    <a:p>
                      <a:r>
                        <a:rPr sz="1200" b="0">
                          <a:solidFill>
                            <a:srgbClr val="1F2937"/>
                          </a:solidFill>
                        </a:rPr>
                        <a:t>S100B</a:t>
                      </a:r>
                    </a:p>
                  </a:txBody>
                  <a:tcPr marL="73152" marR="73152" marT="36576" marB="36576">
                    <a:solidFill>
                      <a:srgbClr val="E8EEF6"/>
                    </a:solidFill>
                  </a:tcPr>
                </a:tc>
                <a:tc>
                  <a:txBody>
                    <a:bodyPr/>
                    <a:lstStyle/>
                    <a:p>
                      <a:r>
                        <a:rPr sz="1200" b="0">
                          <a:solidFill>
                            <a:srgbClr val="1F2937"/>
                          </a:solidFill>
                        </a:rPr>
                        <a:t>&gt; 10 000 ng/ml</a:t>
                      </a:r>
                    </a:p>
                  </a:txBody>
                  <a:tcPr marL="73152" marR="73152" marT="36576" marB="36576">
                    <a:solidFill>
                      <a:srgbClr val="E8EEF6"/>
                    </a:solidFill>
                  </a:tcPr>
                </a:tc>
                <a:tc>
                  <a:txBody>
                    <a:bodyPr/>
                    <a:lstStyle/>
                    <a:p>
                      <a:r>
                        <a:rPr sz="1200" b="0">
                          <a:solidFill>
                            <a:srgbClr val="1F2937"/>
                          </a:solidFill>
                        </a:rPr>
                        <a:t>20 daqiqa</a:t>
                      </a:r>
                    </a:p>
                  </a:txBody>
                  <a:tcPr marL="73152" marR="73152" marT="36576" marB="36576">
                    <a:solidFill>
                      <a:srgbClr val="E8EEF6"/>
                    </a:solidFill>
                  </a:tcPr>
                </a:tc>
              </a:tr>
              <a:tr h="411480">
                <a:tc>
                  <a:txBody>
                    <a:bodyPr/>
                    <a:lstStyle/>
                    <a:p>
                      <a:r>
                        <a:rPr sz="1200" b="0">
                          <a:solidFill>
                            <a:srgbClr val="1F2937"/>
                          </a:solidFill>
                        </a:rPr>
                        <a:t>NSE</a:t>
                      </a:r>
                    </a:p>
                  </a:txBody>
                  <a:tcPr marL="73152" marR="73152" marT="36576" marB="36576">
                    <a:solidFill>
                      <a:srgbClr val="FFFFFF"/>
                    </a:solidFill>
                  </a:tcPr>
                </a:tc>
                <a:tc>
                  <a:txBody>
                    <a:bodyPr/>
                    <a:lstStyle/>
                    <a:p>
                      <a:r>
                        <a:rPr sz="1200" b="0">
                          <a:solidFill>
                            <a:srgbClr val="1F2937"/>
                          </a:solidFill>
                        </a:rPr>
                        <a:t>&gt; 6000 ng/ml</a:t>
                      </a:r>
                    </a:p>
                  </a:txBody>
                  <a:tcPr marL="73152" marR="73152" marT="36576" marB="36576">
                    <a:solidFill>
                      <a:srgbClr val="FFFFFF"/>
                    </a:solidFill>
                  </a:tcPr>
                </a:tc>
                <a:tc>
                  <a:txBody>
                    <a:bodyPr/>
                    <a:lstStyle/>
                    <a:p>
                      <a:r>
                        <a:rPr sz="1200" b="0">
                          <a:solidFill>
                            <a:srgbClr val="1F2937"/>
                          </a:solidFill>
                        </a:rPr>
                        <a:t>15 daqiqa</a:t>
                      </a:r>
                    </a:p>
                  </a:txBody>
                  <a:tcPr marL="73152" marR="73152" marT="36576" marB="36576">
                    <a:solidFill>
                      <a:srgbClr val="FFFFFF"/>
                    </a:solidFill>
                  </a:tcPr>
                </a:tc>
              </a:tr>
              <a:tr h="411480">
                <a:tc>
                  <a:txBody>
                    <a:bodyPr/>
                    <a:lstStyle/>
                    <a:p>
                      <a:r>
                        <a:rPr sz="1200" b="0">
                          <a:solidFill>
                            <a:srgbClr val="1F2937"/>
                          </a:solidFill>
                        </a:rPr>
                        <a:t>Ferritin</a:t>
                      </a:r>
                    </a:p>
                  </a:txBody>
                  <a:tcPr marL="73152" marR="73152" marT="36576" marB="36576">
                    <a:solidFill>
                      <a:srgbClr val="E8EEF6"/>
                    </a:solidFill>
                  </a:tcPr>
                </a:tc>
                <a:tc>
                  <a:txBody>
                    <a:bodyPr/>
                    <a:lstStyle/>
                    <a:p>
                      <a:r>
                        <a:rPr sz="1200" b="0">
                          <a:solidFill>
                            <a:srgbClr val="1F2937"/>
                          </a:solidFill>
                        </a:rPr>
                        <a:t>&gt; 30 mg/l</a:t>
                      </a:r>
                    </a:p>
                  </a:txBody>
                  <a:tcPr marL="73152" marR="73152" marT="36576" marB="36576">
                    <a:solidFill>
                      <a:srgbClr val="E8EEF6"/>
                    </a:solidFill>
                  </a:tcPr>
                </a:tc>
                <a:tc>
                  <a:txBody>
                    <a:bodyPr/>
                    <a:lstStyle/>
                    <a:p>
                      <a:r>
                        <a:rPr sz="1200" b="0">
                          <a:solidFill>
                            <a:srgbClr val="1F2937"/>
                          </a:solidFill>
                        </a:rPr>
                        <a:t>2 soat</a:t>
                      </a:r>
                    </a:p>
                  </a:txBody>
                  <a:tcPr marL="73152" marR="73152" marT="36576" marB="36576">
                    <a:solidFill>
                      <a:srgbClr val="E8EEF6"/>
                    </a:solidFill>
                  </a:tcPr>
                </a:tc>
              </a:tr>
              <a:tr h="411480">
                <a:tc>
                  <a:txBody>
                    <a:bodyPr/>
                    <a:lstStyle/>
                    <a:p>
                      <a:r>
                        <a:rPr sz="1200" b="0">
                          <a:solidFill>
                            <a:srgbClr val="1F2937"/>
                          </a:solidFill>
                        </a:rPr>
                        <a:t>IL-6</a:t>
                      </a:r>
                    </a:p>
                  </a:txBody>
                  <a:tcPr marL="73152" marR="73152" marT="36576" marB="36576">
                    <a:solidFill>
                      <a:srgbClr val="FFFFFF"/>
                    </a:solidFill>
                  </a:tcPr>
                </a:tc>
                <a:tc>
                  <a:txBody>
                    <a:bodyPr/>
                    <a:lstStyle/>
                    <a:p>
                      <a:r>
                        <a:rPr sz="1200" b="0">
                          <a:solidFill>
                            <a:srgbClr val="1F2937"/>
                          </a:solidFill>
                        </a:rPr>
                        <a:t>&gt; 100 000 pg/ml</a:t>
                      </a:r>
                    </a:p>
                  </a:txBody>
                  <a:tcPr marL="73152" marR="73152" marT="36576" marB="36576">
                    <a:solidFill>
                      <a:srgbClr val="FFFFFF"/>
                    </a:solidFill>
                  </a:tcPr>
                </a:tc>
                <a:tc>
                  <a:txBody>
                    <a:bodyPr/>
                    <a:lstStyle/>
                    <a:p>
                      <a:r>
                        <a:rPr sz="1200" b="0">
                          <a:solidFill>
                            <a:srgbClr val="1F2937"/>
                          </a:solidFill>
                        </a:rPr>
                        <a:t>3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Minimal omon qolish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Biomarkerlar cheklovlari va kelajak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Hech bir biomarker TBI (travmatik bosh miya shikasti) uchun spetsifik emas: boshqa o‘limlarda ham o‘zgaradi, ko‘rsatkichlar bir-biriga ustma-ust tushadi.</a:t>
            </a:r>
          </a:p>
          <a:p>
            <a:pPr>
              <a:spcAft>
                <a:spcPts val="1200"/>
              </a:spcAft>
            </a:pPr>
            <a:r>
              <a:rPr sz="2000">
                <a:solidFill>
                  <a:srgbClr val="1F2937"/>
                </a:solidFill>
                <a:latin typeface="Calibri"/>
              </a:rPr>
              <a:t>▸  Har biri kamida bitta omilga bog‘liq: o‘limdan keyingi interval (PMI), gemoliz yoki neyroxirurgiya. PMI bilan bog‘liqlik asosan gemolizga bog‘langan.</a:t>
            </a:r>
          </a:p>
          <a:p>
            <a:pPr>
              <a:spcAft>
                <a:spcPts val="1200"/>
              </a:spcAft>
            </a:pPr>
            <a:r>
              <a:rPr sz="2000">
                <a:solidFill>
                  <a:srgbClr val="1F2937"/>
                </a:solidFill>
                <a:latin typeface="Calibri"/>
              </a:rPr>
              <a:t>▸  Nazorat guruhi tanlovi natijani o‘zgartiradi: bir jinsli guruhlar bilan solishtirish kerak. Chegara qiymat faqat o‘sha laboratoriya va test to‘plamida o‘rinli.</a:t>
            </a:r>
          </a:p>
          <a:p>
            <a:pPr>
              <a:spcAft>
                <a:spcPts val="1200"/>
              </a:spcAft>
            </a:pPr>
            <a:r>
              <a:rPr sz="2000">
                <a:solidFill>
                  <a:srgbClr val="1F2937"/>
                </a:solidFill>
                <a:latin typeface="Calibri"/>
              </a:rPr>
              <a:t>▸  Kelajak: miRNK (mikro-ribonuklein kislota) va metabolomika, shuningdek siydik, so‘lak, shishasimon suyuqlik. Hozircha chegaralar tashxisni isbotlamaydi, shubhani kuchaytiradi.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makroskopik belgisiz TBI gumoni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boshda makroskopik shikast belgilari yo‘q, o‘lim holati noma’lum. TBI yagona yoki hissa qo‘shuvchi o‘lim sababi bo‘lganmi?</a:t>
            </a:r>
          </a:p>
          <a:p>
            <a:pPr>
              <a:spcAft>
                <a:spcPts val="1200"/>
              </a:spcAft>
            </a:pPr>
            <a:r>
              <a:rPr sz="2200">
                <a:solidFill>
                  <a:srgbClr val="1F2937"/>
                </a:solidFill>
                <a:latin typeface="Calibri"/>
              </a:rPr>
              <a:t>▸  Likvorda NSE (neyronga xos enolaza) 6000 ng/ml dan yuqori bo‘lsa, faqat TBI qurbonlarida uchragan. Bunday yuqori chegara spetsifik, lekin sezgirligi past.</a:t>
            </a:r>
          </a:p>
          <a:p>
            <a:pPr>
              <a:spcAft>
                <a:spcPts val="1200"/>
              </a:spcAft>
            </a:pPr>
            <a:r>
              <a:rPr sz="2200">
                <a:solidFill>
                  <a:srgbClr val="1F2937"/>
                </a:solidFill>
                <a:latin typeface="Calibri"/>
              </a:rPr>
              <a:t>▸  Gistologiyada β-APP (amiloid prekursor oqsil) shikastlangan aksonni 2–3 soatdan keyin ko‘rsatadi, ammo travma bilan ishemiya yoki gipoksiyani ajratmaydi.</a:t>
            </a:r>
          </a:p>
          <a:p>
            <a:pPr>
              <a:spcAft>
                <a:spcPts val="1200"/>
              </a:spcAft>
            </a:pPr>
            <a:r>
              <a:rPr sz="2200">
                <a:solidFill>
                  <a:srgbClr val="1F2937"/>
                </a:solidFill>
                <a:latin typeface="Calibri"/>
              </a:rPr>
              <a:t>▸  Savol: ikki topilma birga nimani bildiradi? Yana nima kerak: tentorium ustida va ostida aksonal shikast va boshqa o‘lim sabablarini istisno qilish.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Zwirner et al., Forensic biomarkers of lethal traumatic brain injury, betlar: PMID 35226180; Frati et al., Diffuse Axonal Injury and Oxidative Stress: A Comprehensive Review, betlar: PMID 29207487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Nurli tashxis: KT va MRT solishtiruvi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KT (kompyuter tomografiya) dastlabki tekshiruv, lekin DAI (diffuz aksonal shikast) ni yaxshi ajratmaydi; shuning uchun MRT kerak.</a:t>
            </a:r>
          </a:p>
          <a:p>
            <a:pPr>
              <a:spcAft>
                <a:spcPts val="800"/>
              </a:spcAft>
            </a:pPr>
            <a:r>
              <a:rPr sz="1800">
                <a:solidFill>
                  <a:srgbClr val="1F2937"/>
                </a:solidFill>
                <a:latin typeface="Calibri"/>
              </a:rPr>
              <a:t>▸  3 T da T2*GRE 1,5 T dan ustun; 7 T SWI noaniq va sud-tibbiy holatlarda muhim vosita.</a:t>
            </a:r>
          </a:p>
          <a:p>
            <a:pPr>
              <a:spcAft>
                <a:spcPts val="800"/>
              </a:spcAft>
            </a:pPr>
            <a:r>
              <a:rPr sz="1800">
                <a:solidFill>
                  <a:srgbClr val="1F2937"/>
                </a:solidFill>
                <a:latin typeface="Calibri"/>
              </a:rPr>
              <a:t>▸  Gemorragik DAI o‘choqlari 3 oydan keyin kamroq ko‘rinadi, qoldiqlar esa oylar-yillar saqlanishi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44538"/>
                <a:gridCol w="2023792"/>
                <a:gridCol w="2219643"/>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KT</a:t>
                      </a:r>
                    </a:p>
                  </a:txBody>
                  <a:tcPr marL="73152" marR="73152" marT="36576" marB="36576">
                    <a:solidFill>
                      <a:srgbClr val="0B1F3A"/>
                    </a:solidFill>
                  </a:tcPr>
                </a:tc>
                <a:tc>
                  <a:txBody>
                    <a:bodyPr/>
                    <a:lstStyle/>
                    <a:p>
                      <a:r>
                        <a:rPr sz="1300" b="1">
                          <a:solidFill>
                            <a:srgbClr val="FFFFFF"/>
                          </a:solidFill>
                        </a:rPr>
                        <a:t>MRT</a:t>
                      </a:r>
                    </a:p>
                  </a:txBody>
                  <a:tcPr marL="73152" marR="73152" marT="36576" marB="36576">
                    <a:solidFill>
                      <a:srgbClr val="0B1F3A"/>
                    </a:solidFill>
                  </a:tcPr>
                </a:tc>
              </a:tr>
              <a:tr h="411480">
                <a:tc>
                  <a:txBody>
                    <a:bodyPr/>
                    <a:lstStyle/>
                    <a:p>
                      <a:r>
                        <a:rPr sz="1200" b="0">
                          <a:solidFill>
                            <a:srgbClr val="1F2937"/>
                          </a:solidFill>
                        </a:rPr>
                        <a:t>Rol</a:t>
                      </a:r>
                    </a:p>
                  </a:txBody>
                  <a:tcPr marL="73152" marR="73152" marT="36576" marB="36576">
                    <a:solidFill>
                      <a:srgbClr val="E8EEF6"/>
                    </a:solidFill>
                  </a:tcPr>
                </a:tc>
                <a:tc>
                  <a:txBody>
                    <a:bodyPr/>
                    <a:lstStyle/>
                    <a:p>
                      <a:r>
                        <a:rPr sz="1200" b="0">
                          <a:solidFill>
                            <a:srgbClr val="1F2937"/>
                          </a:solidFill>
                        </a:rPr>
                        <a:t>Birinchi bosqich, shoshilinch</a:t>
                      </a:r>
                    </a:p>
                  </a:txBody>
                  <a:tcPr marL="73152" marR="73152" marT="36576" marB="36576">
                    <a:solidFill>
                      <a:srgbClr val="E8EEF6"/>
                    </a:solidFill>
                  </a:tcPr>
                </a:tc>
                <a:tc>
                  <a:txBody>
                    <a:bodyPr/>
                    <a:lstStyle/>
                    <a:p>
                      <a:r>
                        <a:rPr sz="1200" b="0">
                          <a:solidFill>
                            <a:srgbClr val="1F2937"/>
                          </a:solidFill>
                        </a:rPr>
                        <a:t>DAI uchun sezgirroq usul</a:t>
                      </a:r>
                    </a:p>
                  </a:txBody>
                  <a:tcPr marL="73152" marR="73152" marT="36576" marB="36576">
                    <a:solidFill>
                      <a:srgbClr val="E8EEF6"/>
                    </a:solidFill>
                  </a:tcPr>
                </a:tc>
              </a:tr>
              <a:tr h="411480">
                <a:tc>
                  <a:txBody>
                    <a:bodyPr/>
                    <a:lstStyle/>
                    <a:p>
                      <a:r>
                        <a:rPr sz="1200" b="0">
                          <a:solidFill>
                            <a:srgbClr val="1F2937"/>
                          </a:solidFill>
                        </a:rPr>
                        <a:t>Ko‘radi</a:t>
                      </a:r>
                    </a:p>
                  </a:txBody>
                  <a:tcPr marL="73152" marR="73152" marT="36576" marB="36576">
                    <a:solidFill>
                      <a:srgbClr val="FFFFFF"/>
                    </a:solidFill>
                  </a:tcPr>
                </a:tc>
                <a:tc>
                  <a:txBody>
                    <a:bodyPr/>
                    <a:lstStyle/>
                    <a:p>
                      <a:r>
                        <a:rPr sz="1200" b="0">
                          <a:solidFill>
                            <a:srgbClr val="1F2937"/>
                          </a:solidFill>
                        </a:rPr>
                        <a:t>O‘tkir gemorragik o‘choqlar</a:t>
                      </a:r>
                    </a:p>
                  </a:txBody>
                  <a:tcPr marL="73152" marR="73152" marT="36576" marB="36576">
                    <a:solidFill>
                      <a:srgbClr val="FFFFFF"/>
                    </a:solidFill>
                  </a:tcPr>
                </a:tc>
                <a:tc>
                  <a:txBody>
                    <a:bodyPr/>
                    <a:lstStyle/>
                    <a:p>
                      <a:r>
                        <a:rPr sz="1200" b="0">
                          <a:solidFill>
                            <a:srgbClr val="1F2937"/>
                          </a:solidFill>
                        </a:rPr>
                        <a:t>Mikroqon quyilish, aksonal shikast</a:t>
                      </a:r>
                    </a:p>
                  </a:txBody>
                  <a:tcPr marL="73152" marR="73152" marT="36576" marB="36576">
                    <a:solidFill>
                      <a:srgbClr val="FFFFFF"/>
                    </a:solidFill>
                  </a:tcPr>
                </a:tc>
              </a:tr>
              <a:tr h="411480">
                <a:tc>
                  <a:txBody>
                    <a:bodyPr/>
                    <a:lstStyle/>
                    <a:p>
                      <a:r>
                        <a:rPr sz="1200" b="0">
                          <a:solidFill>
                            <a:srgbClr val="1F2937"/>
                          </a:solidFill>
                        </a:rPr>
                        <a:t>Cheklov</a:t>
                      </a:r>
                    </a:p>
                  </a:txBody>
                  <a:tcPr marL="73152" marR="73152" marT="36576" marB="36576">
                    <a:solidFill>
                      <a:srgbClr val="E8EEF6"/>
                    </a:solidFill>
                  </a:tcPr>
                </a:tc>
                <a:tc>
                  <a:txBody>
                    <a:bodyPr/>
                    <a:lstStyle/>
                    <a:p>
                      <a:r>
                        <a:rPr sz="1200" b="0">
                          <a:solidFill>
                            <a:srgbClr val="1F2937"/>
                          </a:solidFill>
                        </a:rPr>
                        <a:t>DAI ni aniq ko‘rsatmaydi</a:t>
                      </a:r>
                    </a:p>
                  </a:txBody>
                  <a:tcPr marL="73152" marR="73152" marT="36576" marB="36576">
                    <a:solidFill>
                      <a:srgbClr val="E8EEF6"/>
                    </a:solidFill>
                  </a:tcPr>
                </a:tc>
                <a:tc>
                  <a:txBody>
                    <a:bodyPr/>
                    <a:lstStyle/>
                    <a:p>
                      <a:r>
                        <a:rPr sz="1200" b="0">
                          <a:solidFill>
                            <a:srgbClr val="1F2937"/>
                          </a:solidFill>
                        </a:rPr>
                        <a:t>Beqaror bemorda qiyin</a:t>
                      </a:r>
                    </a:p>
                  </a:txBody>
                  <a:tcPr marL="73152" marR="73152" marT="36576" marB="36576">
                    <a:solidFill>
                      <a:srgbClr val="E8EEF6"/>
                    </a:solidFill>
                  </a:tcPr>
                </a:tc>
              </a:tr>
              <a:tr h="411480">
                <a:tc>
                  <a:txBody>
                    <a:bodyPr/>
                    <a:lstStyle/>
                    <a:p>
                      <a:r>
                        <a:rPr sz="1200" b="0">
                          <a:solidFill>
                            <a:srgbClr val="1F2937"/>
                          </a:solidFill>
                        </a:rPr>
                        <a:t>Ketma-ketlik</a:t>
                      </a:r>
                    </a:p>
                  </a:txBody>
                  <a:tcPr marL="73152" marR="73152" marT="36576" marB="36576">
                    <a:solidFill>
                      <a:srgbClr val="FFFFFF"/>
                    </a:solidFill>
                  </a:tcPr>
                </a:tc>
                <a:tc>
                  <a:txBody>
                    <a:bodyPr/>
                    <a:lstStyle/>
                    <a:p>
                      <a:r>
                        <a:rPr sz="1200" b="0">
                          <a:solidFill>
                            <a:srgbClr val="1F2937"/>
                          </a:solidFill>
                        </a:rPr>
                        <a:t>SWI/T2*GRE: qon; DWI/DTI: akson</a:t>
                      </a:r>
                    </a:p>
                  </a:txBody>
                  <a:tcPr marL="73152" marR="73152" marT="36576" marB="36576">
                    <a:solidFill>
                      <a:srgbClr val="FFFFFF"/>
                    </a:solidFill>
                  </a:tcPr>
                </a:tc>
                <a:tc>
                  <a:txBody>
                    <a:bodyPr/>
                    <a:lstStyle/>
                    <a:p>
                      <a:r>
                        <a:rPr sz="1200" b="0">
                          <a:solidFill>
                            <a:srgbClr val="1F2937"/>
                          </a:solidFill>
                        </a:rPr>
                        <a:t>3 T va 7 T sezgirroq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KT va MRT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Eslab qoling: asosiy qoidalar va yakuniy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β-APP aksonal shikastni ko‘rsatadi, lekin travmatik shikastni ishemiya/gipoksiyadan ajrata olmaydi. β-APP ≠ faqat mexanik travma.</a:t>
            </a:r>
          </a:p>
          <a:p>
            <a:pPr>
              <a:spcAft>
                <a:spcPts val="1200"/>
              </a:spcAft>
            </a:pPr>
            <a:r>
              <a:rPr sz="2200">
                <a:solidFill>
                  <a:srgbClr val="1F2937"/>
                </a:solidFill>
                <a:latin typeface="Calibri"/>
              </a:rPr>
              <a:t>▸  Eslab qoling: kumush usuli shikastni 12–18 soatdan, gematoksilin-eozin taxminan 24 soatdan, β-APP esa 2–3 soatdan keyin ko‘rsatadi.</a:t>
            </a:r>
          </a:p>
          <a:p>
            <a:pPr>
              <a:spcAft>
                <a:spcPts val="1200"/>
              </a:spcAft>
            </a:pPr>
            <a:r>
              <a:rPr sz="2200">
                <a:solidFill>
                  <a:srgbClr val="1F2937"/>
                </a:solidFill>
                <a:latin typeface="Calibri"/>
              </a:rPr>
              <a:t>▸  Biomarkerlarning hech biri bosh miya travmasiga (TBI) xos emas. Ularning chegaraviy qiymatlari gumonni boshqa topilmalar bilan birga kuchaytiradi.</a:t>
            </a:r>
          </a:p>
          <a:p>
            <a:pPr>
              <a:spcAft>
                <a:spcPts val="1200"/>
              </a:spcAft>
            </a:pPr>
            <a:r>
              <a:rPr sz="2200">
                <a:solidFill>
                  <a:srgbClr val="1F2937"/>
                </a:solidFill>
                <a:latin typeface="Calibri"/>
              </a:rPr>
              <a:t>▸  Yakuniy savol: shikastdan keyin 1 soat ichida o‘lgan, makroskopik belgisiz holatda qaysi usul gistologik tashxisga eng erta yordam beradi va nima uchun?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Zwirner et al., Forensic biomarkers of lethal traumatic brain injury, betlar: PMID 35226180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Diffuz aksonal shikast (DAI) aylanma tezlanish-sekinlashuv kuchlaridan yuzaga keladi. Dastlabki shikastdan keyin kalsiy va erkin radikallar ishtirokida ikkilamchi kaskad davom etadi.</a:t>
            </a:r>
          </a:p>
          <a:p>
            <a:pPr>
              <a:spcAft>
                <a:spcPts val="1200"/>
              </a:spcAft>
            </a:pPr>
            <a:r>
              <a:rPr sz="2000">
                <a:solidFill>
                  <a:srgbClr val="1F2937"/>
                </a:solidFill>
                <a:latin typeface="Calibri"/>
              </a:rPr>
              <a:t>▸  Gistologik tashxis shishgan aksonlar va aksonal bulbalarni topishga asoslanadi. Shikast oq moddada keng tarqalgan, kamida bir o‘choq tentoriumdan yuqorida, bittasi pastda bo‘lishi kerak.</a:t>
            </a:r>
          </a:p>
          <a:p>
            <a:pPr>
              <a:spcAft>
                <a:spcPts val="1200"/>
              </a:spcAft>
            </a:pPr>
            <a:r>
              <a:rPr sz="2000">
                <a:solidFill>
                  <a:srgbClr val="1F2937"/>
                </a:solidFill>
                <a:latin typeface="Calibri"/>
              </a:rPr>
              <a:t>▸  β-APP immunogistokimyosi hozir oltin standart hisoblanadi va erta bosqichda ham shikastni ko‘rsatadi. Ammo u travmani gipoksiyadan ajratmaydi.</a:t>
            </a:r>
          </a:p>
          <a:p>
            <a:pPr>
              <a:spcAft>
                <a:spcPts val="1200"/>
              </a:spcAft>
            </a:pPr>
            <a:r>
              <a:rPr sz="2000">
                <a:solidFill>
                  <a:srgbClr val="1F2937"/>
                </a:solidFill>
                <a:latin typeface="Calibri"/>
              </a:rPr>
              <a:t>▸  Biomarkerlar (S100B, NSE, GFAP va boshqalar) faqat qo‘shimcha dalil. Ular o‘lim sababini mustaqil isbotlamaydi, avtopsiya va gistologiya bilan birga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Frati et al., Diffuse Axonal Injury and Oxidative Stress: A Comprehensive Review, betlar: PMID 29207487; Zwirner et al., Forensic biomarkers of lethal traumatic brain injury, betlar: PMID 35226180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(Adams bo‘yicha diffuz aksonal shikastlanish, DAI, darajalari): 1-daraja – yarim sharlar oq moddasi, 2-daraja – qadoqsimon tana o‘chog‘i, 3-daraja – miya ustunining rostral qismi. Raqam oshgan sari shikast “pastga” tushadi.</a:t>
            </a:r>
          </a:p>
          <a:p>
            <a:pPr>
              <a:spcAft>
                <a:spcPts val="1200"/>
              </a:spcAft>
            </a:pPr>
            <a:r>
              <a:rPr sz="1800">
                <a:solidFill>
                  <a:srgbClr val="1F2937"/>
                </a:solidFill>
                <a:latin typeface="Calibri"/>
              </a:rPr>
              <a:t>▸  Aniqlash vaqti bo‘yicha taqqoslash: β-APP (β-amiloid prekursor oqsil) bo‘yog‘i shikastlangan aksonni 2–3 soatda, kumush usuli 12–18 soatda, gematoksilin-eozin esa taxminan 24 soatda ko‘rsatadi. Qisqa yashagan holatlarda immunogistokimyo afzal.</a:t>
            </a:r>
          </a:p>
          <a:p>
            <a:pPr>
              <a:spcAft>
                <a:spcPts val="1200"/>
              </a:spcAft>
            </a:pPr>
            <a:r>
              <a:rPr sz="1800">
                <a:solidFill>
                  <a:srgbClr val="1F2937"/>
                </a:solidFill>
                <a:latin typeface="Calibri"/>
              </a:rPr>
              <a:t>▸  Hodisa tahlili (diqqat, xato xavfi): β-APP musbat bo‘lishi aksonal shikastni bildiradi, lekin travmani ishemiya yoki gipoksiyadan ajratmaydi. Shuning uchun DAI faqat mexanik shikastga xos deb olinmaydi; xulosa holat va boshqa topilmalar bilan birga chiqariladi.</a:t>
            </a:r>
          </a:p>
          <a:p>
            <a:pPr>
              <a:spcAft>
                <a:spcPts val="1200"/>
              </a:spcAft>
            </a:pPr>
            <a:r>
              <a:rPr sz="1800">
                <a:solidFill>
                  <a:srgbClr val="1F2937"/>
                </a:solidFill>
                <a:latin typeface="Calibri"/>
              </a:rPr>
              <a:t>▸  Eslab qolish usuli: eng kam yashash muddatini bildiruvchi yuqori ko‘rsatkichlar. Likvorda S100B &gt;10 000 ng/ml – kamida 20 daqiqa, NSE &gt;6000 ng/ml – 15 daqiqa, ferritin &gt;30 mg/l – 120 daqiqa, IL-6 &gt;100 000 pg/ml – 3 kundan ortiq. Ketma-ketlik: 20 – 15 – 120 – 3 kun.</a:t>
            </a:r>
          </a:p>
          <a:p>
            <a:pPr>
              <a:spcAft>
                <a:spcPts val="1200"/>
              </a:spcAft>
            </a:pPr>
            <a:r>
              <a:rPr sz="1800">
                <a:solidFill>
                  <a:srgbClr val="1F2937"/>
                </a:solidFill>
                <a:latin typeface="Calibri"/>
              </a:rPr>
              <a:t>▸  Qiziqarli fakt: likvordagi NSE &gt;6000 ng/ml faqat bosh miya travmasidan o‘lganlarda kuzatilgan, nazorat guruhlarida yo‘q. Bunday “ekstremal” chegara o‘ta o‘ziga xos, lekin sezgirligi past. Chegara faqat o‘sha tadqiqotdagi laboratoriya to‘plami bilan to‘g‘ri keladi.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bosh zarbasining makroskopik belgilari (ko‘karish, qon quyilish, yirtilgan jarohat) yo‘q, o‘lim holatlari noma’lum. Ekspert uchun asosiy qiyinchilik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 vaqtini faqat gistologiya yordamida aniqlash majburiy bo‘lib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aylanishi to‘xtagani uchun miya to‘qimasini tekshirib bo‘lmaydi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Travmatik bosh miya shikastini o‘lim sababi deb belgilash qiyinlashadi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 o‘lim sabablarini rasmiy ravishda istisno qilish imkoni bo‘lmaydi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TBIga bog‘liq o‘limlarning eng katta ulushi qaysi sababga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o‘ziga zarar yetkazish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Tasodifiy yiqilib tushish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Avtotransport hodisasi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 kishining zarbasi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 bosh jarohatidan so‘ng taxminan 3 soat yashab vafot etdi. Qaysi usul shikastlangan aksonlarni shu erta muddatda aniqlashi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Gematoksilin-eozin bilan oddiy bo‘yash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Kumush bilan impregnatsiya qilish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makroskopik ko‘rik va tortish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β-amiloid prekursor oqsil (β-APP) immunogistokimyosi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Avtohalokatda boshning tez burilishi kuzatilgan, bosh suyagi sinmagan, kompyuter tomografiyada (KT) ichki shikast ko‘rinmaydi, ammo ong uzoq yo‘qolgan. Qaysi mexanizm ehtimol?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suyagi sinishidan keyin paydo bo‘lgan epidural gematoma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Aylanma tezlanish-sekinlanishdan yuzaga kelgan kesuvchi kuchlar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Miya qon tomirining o‘z-o‘zidan yorilishi sababli qon quyilishi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Miyaning bir nuqtada to‘g‘ridan-to‘g‘ri ezilishi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butun bosh suyagiga aniq energiyali zarba berib, zarbadan keyin bosh harakatini cheklamaslikni xohlaydi. Qaysi model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Suyuqlik zarbasi (FP) modeli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Boshqariladigan kortikal zarba (CCI)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CHIMERA modeli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Portlash to‘lqinli yopiq model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Avtohalokatda bosh tez aylanma tezlanish-sekinlashishga uchradi, bosh suyagi butun, KT da intrakranial o‘zgarish yo‘q, lekin ong yo‘qolgan. Bu holatning eng ehtimoliy morfologik asosi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Epidural gematoma hosil qilgan bosim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Diffuz aksonal shikastlanish (DAI)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 suyagi sinig‘i hosil qilgan ezilish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Gipertenziv qon quyilishning ta’siri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Ikkilamchi aksotomiya qaysi jarayon natijasida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Zarba paytidagi bevosita mexanik uzilishning o‘zidan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ketishdan hosil bo‘lgan gematoma bosimidan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 suyagi sinig‘i bilan bog‘liq bevosita ezilishdan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Dastlabki kesish stressidan keyingi ketma-ket molekulyar kaskaddan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 bosh jarohatidan taxminan 3 soat o‘tib vafot etdi. Gematoksilin-eozin bilan aksonal o‘zgarish ko‘rinmadi. Qaysi usul shikastlangan aksonlarni shu muddatda aniqlashi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β-APP ga qarshi antitanalar bilan immunogistokimyo</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Kumush impregnatsiyasi usuli bilan bo‘yash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gematoksilin-eozin bilan bo‘yash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makroskopik tekshiruv usuli bilan ko‘rish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Eksperimentda ROS vositasidagi aksonal sferoidlar hosil bo‘lishini kamaytirish uchun qaysi strategiya samaraliroq deb ko‘rsatilgan?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Mitoxondriyadan kalsiy chiqishini bloklash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Hujayra ichidagi kalsiy zahirasini ko‘paytirish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Hujayra tashqarisidagi kalsiyni olib tashlash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Glutamat ajralishini kuchaytirish usuli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Birlamchi neyronlarda oksidlovchi stress kalsiy ajralishini chaqirdi va kalpain-1 faollashdi. Faollashgan kalpain-1 kalsiy bilan bog‘liq siklni qanday o‘zgartiradi?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Kalsiy kirishini to‘xtatib, mPTP ni yopib qo‘yadi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Qo‘shimcha Ca2+ kirishini kuchaytirib, musbat teskari aloqa hosil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Antioksidant glutation zahirasini to‘ldirib, stressni kamaytiradi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AIF ni mitoxondriya ichida ushlab, apoptozni to‘xtatadi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Autopsiyada diffuz aksonal shikast, korpus kallozumda o‘choq va rostral miya poyasining dorsolateral kvadrantida o‘choq topildi. Adams bo‘yicha bu qaysi daraja?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 daraja: faqat diffuz aksonal shikast bor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II daraja: korpus kallozum o‘chog‘i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III daraja: miya poyasi o‘chog‘i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Daraja qo‘yilmaydi: gistologiya shart emas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Bosh miya jarohatidan taxminan 3 soat o‘tib jabrlanuvchi vafot etdi. Shikastlangan aksonlarni shu muddatda qaysi usul aniqlay 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β-APPga qarshi antitanalar bilan immunogistokimyo</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Gematoksilin-eozin bilan oddiy bo‘yash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Kumush impregnatsiyasi usuli bilan bo‘yash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Vaqt oynasidan qat’i nazar, hech qaysi usul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Gistologik preparatda butun oq modda bo‘ylab mikrogliyaning kichik klasterlari ko‘rinadi. Bu manzara qaysi omon qolish muddatiga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Qisqa muddat: bir necha kun ichida o‘lim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 muddat: bir necha hafta omon qolish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Uzoq muddat: ko‘p oylar omon qolish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necha soniya ichida bo‘lgan o‘lim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DAI tashxisini mikroskopik tasdiqlamoqchi. Shikastlangan aksonlarning tarqalishi bo‘yicha qaysi talab bajarilishi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korpus kallozumda shikast bo‘lishi yetarli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miya yarim sharlarida shikast bo‘lishi yetarli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miya poyasida shikast bo‘lishi yetarli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bittasi tentorium ustida, bittasi ostida bo‘lishi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Preparatda corpus callosumda β-APP musbat aksonal bulbalar topildi. Faqat shu natijaga tayanib nimani ishonchli ajratib bo‘lmaydi?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Aksonal shikast borligini ajratib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Aksonal shikastning kelib chiqish sababini ajratib bo‘lmaydi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Shikast oq moddada ekanini ajratib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Aksonlarda transport buzilganini ajratib bo‘lmaydi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Transport halokatida odam boshiga zarbadan 3 soat o‘tib vafot etdi. Aksonal shikastni qaysi usul eng erta ko‘rsata 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Gematoksilin-eozin bilan oddiy bo‘yash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β-APP ga qarshi immunogistokimyo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Kumush bilan impregnatsiya qilish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miyani makroskopik ko‘zdan kechirish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Likvorda &gt;6000 ng/ml qiymat faqat TBI o‘limlarida kuzatilgan, nazorat guruhlarida uchramagan. Bu qaysi biomarker?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NSE — neyronga xos enolaza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S100B — kalsiy bog‘lovchi oqsil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GFAP — glial fibrillyar oqsil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BDNF — miya neyrotrofik omili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o‘likda likvor ferritini 30,0 mg/l dan yuqori ekanini topdi. TBI dan keyin eng kamida qancha omon qolgan deyish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20 daqiqa omon qolgan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15 daqiqa omon qolgan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3 sutka omon qolgan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2 soat omon qolgan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Boshda tashqi shikast belgisi yo‘q, ammo likvorda biomarker chegaradan yuqori. Qanday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Topilma TBI ni mustaqil ravishda to‘liq isbotlaydi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Topilma TBI ni butunlay inkor etishga asos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Topilma shubhani boshqa topilmalar bilan birga kuchaytiradi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Topilma o‘lim vaqtini aniq soatgacha belgilab beradi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TBI bemorida KT da diffuz aksonal shikast aniq ko‘rinmadi, hushsizlik davom etmoqda. Qaysi tekshiruv mayda qon quyilishlarni sezgirroq topadi?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SWI yoki T2*GRE ketma-ketlikli MRT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Shu KT tekshiruvini bir necha marta qaytarish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zardobida faqat NSE miqdorini o‘lchash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 suyagining oddiy rentgenografiyasini olish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Travmatik bosh miya shikastini o‘lim sababi deb belgilash qiyinlashadi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Mualliflarga ko‘ra, travmatik bosh miya shikastlanishi (TBI) belgilari (ko‘karish, qon quyilish, yirtilish) ko‘rinmasa, uni yagona yoki hissa qo‘shgan o‘lim sababi deb aniqlash qiyin. Shu sababli obyektiv tasdiq beruvchi postmortem biokimyoviy tahlillar ko‘rib chiqilmoqda.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Zwirner et al., Forensic biomarkers of lethal traumatic brain injury, PMID 35226180-bet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Qasddan o‘ziga zarar yetkazish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TBIga bog‘liq o‘lim ko‘pincha qasddan o‘ziga zarar yetkazishdan (33%) kelib chiqishi aytilgan. Undan keyin tasodifiy yiqilish (28%) va avtotransport hodisalari (19%) turadi.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Zwirner et al., Forensic biomarkers of lethal traumatic brain injury, PMID 35226180-bet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β-amiloid prekursor oqsil (β-APP) immunogistokimyosi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Gematoksilin-eozin aksonal shikastni taxminan 24 soatdan keyin, kumush impregnatsiyasi 12–18 soatdan keyin ko‘rsatadi. β-APPga qarshi antitanalar esa shikastlangan aksonlarni jarohatdan 2–3 soat o‘tib aniqlashga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Aylanma tezlanish-sekinlanishdan yuzaga kelgan kesuvchi kuchlar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Diffuz aksonal shikastlanish (DAI) KTda ko‘rinadigan intrakranial o‘zgarishlarsiz ong yo‘qolishining asosiy sabablaridan biri hisoblanadi. U aylanma tezlanish-sekinlanish va kesuvchi kuchlarning morfologik natijasidir. Zarba kuchi bosh suyagini sindirishga yetmasligi ham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CHIMERA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FP va CCI ochiq bosh modellari bo‘lib, kuch kraniotomiyadan so‘ng ochilgan qattiq parda (dura mater)ga to‘g‘ridan-to‘g‘ri beriladi. CHIMERA modelida yopiq bosh suyagiga aniq energiyali zarba beriladi va zarbadan keyin bosh erkin harakatlanadi.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Diffuz aksonal shikastlanish (DAI)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DAI aylanma tezlanish-sekinlashishli bosh miya travmasining morfologik korrelyati hisoblanadi. U KT da ko‘rinadigan intrakranial o‘zgarishlarsiz ong yo‘qolishining asosiy sabablaridan biri deb qaraladi. Zarba kuchi bosh suyagini sindirishga yetmasligi ham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2-bo‘lim (Mexanizm), bet raqami berilmagan-bet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Dastlabki kesish stressidan keyingi ketma-ket molekulyar kaskaddan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DAI faqat birlamchi aksotomiya (mexanik kuchdan) bilan emas, balki dastlabki kesish stressidan keyin aksonda boshlanadigan progressiv molekulyar va hujayraviy o‘zgarishlar kaskadidan kelib chiqqan ikkilamchi aksotomiya bilan ham bog‘liq. A variant birlamchi aksotomiyani ta’riflaydi.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3-bo‘lim (Fiziopatologiya), bet raqami berilmagan-bet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β-APP ga qarshi antitanalar bilan immunogistokimyo</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β-APP ga qarshi immunogistokimyo shikastlangan aksonlarni jarohatdan 2–3 soat o‘tib aniqlashga imkon beradi. Gematoksilin-eozin taxminan 24 soatdan keyin, kumush impregnatsiyasi 12–18 soatdan keyin aksonal shikastni ko‘rsatadi. β-APP bo‘yalishi travma bilan ishemiya/gipoksiyani farqlamaydi.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5.3-bo‘lim (Immunogistokimyo), bet raqami berilmagan-bet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Hujayra tashqarisidagi kalsiyni olib tashlash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ROS vositasidagi aksonal o‘zgarishlar asosan hujayradan tashqaridagi Ca2+ tufayli yuzaga keladi. Hujayra ichidagi kalsiyni kamaytirish va sferoid hosil bo‘lishini to‘xtatishda tashqi Ca2+ ni olib tashlash mitoxondriyal Ca2+ chiqishini bloklashdan samaraliroq.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4.1-bo‘lim (Mitoxondriya va kalsiy), bet raqami berilmagan-bet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Qo‘shimcha Ca2+ kirishini kuchaytirib, musbat teskari aloqa hosil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Faollashgan kalpain-1 qo‘shimcha Ca2+ kirishiga vositachilik qilib musbat teskari aloqa siklini hosil qiladi. Shuningdek mPTP ni induksiya qiladi, AIF ni mitoxondriyadan chiqaradi va kaspaza-3 ni faollashtiradi. Bular birgalikda DNK fragmentatsiyasi va apoptozga olib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4.3-bo‘lim (Oksidlovchi stress, kalsiy va kalpain), bet raqami berilmagan-bet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III daraja: miya poyasi o‘chog‘i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Adams bo‘yicha I daraja diffuz supratentorial aksonal shikastni, II daraja korpus kallozumdagi o‘choqni, III daraja rostral miya poyasidagi o‘choqni bildiradi. Savoldagi uchala belgi birga bo‘lsa, eng og‘ir shakl, ya’ni III daraja qo‘yiladi.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5.1-bo‘lim-bet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β-APPga qarshi antitanalar bilan immunogistokimyo</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β-APPga qarshi antitanalar shikastlangan aksonlarni jarohatdan 2–3 soat o‘tib ko‘rsatadi. Kumush impregnatsiyasi 12–18 soatdan, gematoksilin-eozin esa taxminan 24 soatdan keyin natija beradi. Shu sababli 3 soatda faqat β-APP ishonchli.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5.3-bo‘lim-bet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O‘rta muddat: bir necha hafta omon qolish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Qisqa muddatda (kunlar) oq moddada ko‘plab aksonal shishlar bo‘ladi. O‘rta muddatda (haftalar) mikrogliyaning kichik klasterlari paydo bo‘ladi. Ko‘p oylar omon qolganda Uoller tipidagi degeneratsiya xarakterlidir.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5.2-bo‘lim-bet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Kamida bittasi tentorium ustida, bittasi ostida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DAI tashxisining ikki asosiy belgisi bor: oq moddada diffuz yoki ko‘p o‘choqli aksonal shikast va uning keng tarqalganligi. Shikast o‘choqlaridan kamida bittasi tentorium ustida, kamida bittasi uning ostida joylashishi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5.2-bo‘lim-bet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Aksonal shikastning kelib chiqish sababini ajratib bo‘lmaydi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β-APP aksonal shikast belgisi, lekin travmatik shikastni ishemiya yoki gipoksiyadan farqlay olmaydi. Shuning uchun DAIni faqat mexanik shikastga xos belgi deb bo‘lmaydi. Natijani shikast taqsimoti va boshqa dalillar bilan birga baholash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 5.3-bo‘lim-bet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β-APP ga qarshi immunogistokimyo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β-APP (β-amiloid prekursor oqsil) ga qarshi antitanalar shikastlangan aksonlarni jarohatdan 2–3 soat o‘tib aniqlaydi. Gematoksilin-eozin taxminan 24 soatdan keyin, kumush impregnatsiyasi 12–18 soatdan keyin shikastni ko‘rsatadi. Shuning uchun qisqa omon qolishda β-APP afzal.</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NSE — neyronga xos enolaza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Likvorda NSE &gt;6000 ng/ml faqat TBI o‘limlarida topilgan, nazorat o‘limlarida (ko‘krak qafasi izolyatsiyalangan travmasi, miya qon aylanishi yetishmovchiligi, to‘satdan tabiiy o‘lim) topilmagan. Mualliflar buni 100% xoslikka ega, ammo sezgirligi past bo‘lgan “ekstremal” chegara namunasi sifatida keltiradi.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Zwirner et al., Forensic biomarkers of lethal traumatic brain injury, PMID 35226180-bet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Kamida 2 soat omon qolgan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Likvorda ferritin &gt;30,0 mg/l faqat TBI dan keyin kamida 2 soat omon qolganda kuzatilgan. 20 daqiqa S100B ga, 15 daqiqa NSE ga, 3 sutka esa IL-6 ning &gt;100 000 pg/ml qiymatiga tegishli minimal muddatlardir.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Zwirner et al., Forensic biomarkers of lethal traumatic brain injury, PMID 35226180-bet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Topilma shubhani boshqa topilmalar bilan birga kuchaytiradi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Hozirgi biomarkerlarning birortasi TBI uchun xos emas, ko‘rsatkichlar nazorat guruhlari bilan qisman ustma-ust tushadi. Chegara qiymatlar shubhani boshqa o‘limdan keyingi topilmalar bilan birga qo‘llab-quvvatlaydi, uni mustaqil isbotlamaydi. O‘limdan keyingi vaqtni baholashda ham biomarkerlar foyda bermaydi.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Zwirner et al., Forensic biomarkers of lethal traumatic brain injury, PMID 35226180-bet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SWI yoki T2*GRE ketma-ketlikli MRT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KT diffuz aksonal shikastni yaxshi ajratmaydi va uni kam baholaydi. MRT esa DAI ni aniqlashda sezgirroq. Qonga sezgir SWI va T2*GRE ketma-ketliklari oqsil to‘qimadagi mayda mikroqon quyilishlarni tasdiqlaydi.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Frati et al., Diffuse Axonal Injury and Oxidative Stress: A Comprehensive Review, PMID 29207487-bet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Bosh miya travmatik shikastlanishining sud-gistologik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Zwirner et al. Forensic biomarkers of lethal traumatic brain injury, International Journal of Legal Medicine. 2022. PMID 35226180; DOI 10.1007/s00414-022-02785-2</a:t>
            </a:r>
          </a:p>
          <a:p>
            <a:pPr>
              <a:spcAft>
                <a:spcPts val="1200"/>
              </a:spcAft>
            </a:pPr>
            <a:r>
              <a:rPr sz="2000">
                <a:solidFill>
                  <a:srgbClr val="1F2937"/>
                </a:solidFill>
                <a:latin typeface="Calibri"/>
              </a:rPr>
              <a:t>▸  Frati et al. Diffuse Axonal Injury and Oxidative Stress: A Comprehensive Review, International Journal of Molecular Sciences. 2017. PMID 29207487; DOI 10.3390/ijms18122600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