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sud-gistologik tekshiruv alohida kamdan-kam tayinlanadi, ko‘pincha boshqa ekspertizalar ichida o‘tkaziladi? Doskada: 13-bob bo‘limlari (13.1–13.9) ro‘yxatini yozib, 13.6 ni belgilang. Tipik xato: sud-gistologik tekshiruvni doim alohida ekspertiza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Tezkor savol: ayblovni inkor etishga xizmat qiluvchi predmet ashyoviy dalil bo‘ladimi? Muhokama: hodisa joyida shifokor qanday vazifalarni bajarishi mumkin? Doskada: ashyoviy dalil turlari (qurol, iz, ob’ekt, boshqa) sxemasini chizing. Tipik xato: ashyoviy dalilni faqat jinoyat quroli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qon dog‘i va to‘qima bo‘lakchasi qaysi bo‘limlarda tekshiriladi? Doskada: jadvalni ko‘chirib, har bo‘limga bittadan misol qo‘shing. Tipik xato: sud-gistologik va sud-biologik bo‘limlarni aralashtirish (qon va maniy — sud-biologik, to‘qima bo‘lakchalari — sud-gistologik).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Shifokor hodisa joyida qanday yordam beradi? 2) Nega dalilni olish rasmiy tartibda tergovchi tomonidan bajariladi? Doskada: ikki ustun chizing — ‘shifokor mumkin’ va ‘ekspertlar bajaradi’. Tipik xato: talabalar klinitsist-shifokorni ekspertiza o‘tkazuvchi deb o‘ylaydi; aslida u faqat jalb qilinadi.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Dog‘ shakli qon qaysi yo‘nalishda harakatlanganini qanday ko‘rsatadi? 2) Sachrama izlar qanday holatlarda paydo bo‘ladi? Doskada: noksimon dog‘ni chizing va ensiz tomoni qayerga qarashini belgilang. Tipik xato: surtma va bosma izlarni aralashtirish — bosma izning shakli va o‘lchami jismning ta’sir yuzasiga mos keladi, surtma esa sirpanishdan hosil bo‘ladi.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har safar kontrol namuna olinadi? 2) Nega yangi dokadan foydalanilmaydi? Doskada: ‘namuna — kontrol’ juftligini chizib, ikkalasi alohida o‘ralishini ko‘rsating. Tipik xato: namuna va kontrolni bitta o‘ramga solish; qor va tuproq usullari 305-betda (qor qoshiq bilan olinib xona sharoitida eritiladi, tuproq izlangan qalinlikda tarelkada quritiladi).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taxminiy sinamalar hodisa joyida foydali, ammo ekspertizada yetarli emas? 2) Fenolftaleinda natija nega 10-15 soniyada baholanadi (bir daqiqadan keyingi rang inobatga olinmaydi)? Doskada: ikki ustunli sxema chizing: chapda taxminiy, o‘ngda ishonchli usullar. Tipik xato: benzidin yoki peroksid musbat bo‘lsa, qon borligi isbotlandi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tekshiruv aynan shu tartibda boradi? 2) Qaysi qo‘shimcha savollar ish holatiga qarab qo‘yiladi? Doskada: to‘rt bosqichli zanjirni strelkalar bilan chizing. Tipik xato: bosqichlarni almashtirish yoki tur mansubligini o‘tkazib yuborib, guruhga o‘tish.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DNK-tekshiruvi guruhiy tizimlarni taqqoslashdan ishonchliroq? 2) Qon dog‘i yoshi ma’lum bo‘lmasa, go‘dak va katta yoshli qonini farqlash qachon mumkin? Doskada: tur, guruh, jins, hudud, homiladorlik, yosh uchun usullar ro‘yxatini yozing. Tipik xato: qon dog‘ida homiladorlikni qat’iy aniqlash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toza sohadan kontrol namuna olinadi? 2) Nima uchun benzidin sinamasi natijasi yakuniy dalil bo‘la olmaydi? Doskada chizish: «dog‘ topildi → namuna + kontrol → taxminiy sinama → ishonchli usul» zanjirini chizdiring. Tipik xato: talabalar musbat benzidin sinamasini qon borligining qat‘iy isboti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tez-tez so‘rang; har javobdan keyin bir talabadan sababini so‘rang. Muhokama: tushish balandligi oshganda dog‘ chetlari qanday o‘zgaradi? Doskada chizish: dumaloq va noksimon (undov belgisi) dog‘ni yonma-yon chizib, ensiz tomonni belgilang. Tipik xato: noksimon dog‘ning ensiz tomonini teskari tomonga ko‘rsatish.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jabrlanuvchidan ham qon va so‘lak namunasi olinadi? 2) Kontrol namuna qanday vazifani bajaradi? Doskada chizish: dog‘ ko‘rinishining materialga bog‘liqligini (singdiruvchi, singdirmaydigan, qon aralash) 3 ustunli ro‘yxat qilib yozing. Tipik xato: talabalar so‘lak namunasini guruhiy omillarni taqqoslash uchun olinadi deb adashadi; u ajratuvchanlik uchun.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taxminiy usul qat‘iy dalil bo‘la olmaydi? 2) Kartoshka sharbati reaksiyasi qachon musbat hisoblanadi (maniy agglyutinatsiyani tormozlaydi)? Doskada chizing: taxminiy usullardan ishonchli usullarga o‘tish zanjirini. Tipik xato: spermatozoid qismlari (faqat bosh yoki dum) topilsa ham maniy bor deb xulosa qilish. Ultrabinafsha nurda sun‘iy matolar o‘zi ham o‘xshash nur berishi mumkinligini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Ajratuvchi emas shaxsning maniy dog‘ida qon guruhi antigeni nega topilmaydi? 2) Nega dog‘dan topilgan omil jabrlanuvchiniki bo‘lib chiqishi mumkin? Doskada chizing: Lyuis guruhlari va ularning ajratuvchanlik belgisi jadvalini. Tipik xato: Le (a- b-) guruhini ham ajratuvchi yoki ajratuvchi emas deb aniq baholash. Darslikda ajratuvchanlik Lyuis va Gm tizimlari orqali aniqlanishini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Talabalar javobni avval o‘zlari aytsin, so‘ng oxirgi bandni oching. Muhokama: 1) Kontrol namuna nima uchun kerak? 2) Gumondordan nega qon va so‘lak olinadi? Doskada chizing: choyshabdan namuna olishdan xulosagacha ketma-ketlik. Tipik xato: azospermiyada ham morfologik usulni qo‘llash yoki xolin, spermin, nordon fosfatazadan birining topilishini yetarli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siydikda tur mansubligi aniqlanmaydi? 2) Najasda nega guruhni aniqlab bo‘lmaydi (oqsillar parchalangan)? Doskada: jadvalni ustunlar bo‘yicha o‘zlari chizsin. AVO — qon guruhi tizimi (ABO). Tipik xato: so‘lakni ham serin bilan, terni amilaza bilan aniqlash deb adashtirish. Ob’ekt va kontrolni birga o‘rashni xato deb ta’kidlang. Tezkor savol: ter dog‘ida qaysi aminokislota aniqlanadi?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Timoq ostidan zarra topilsa, qanday savollar qo‘yiladi? 2) Nima uchun bo‘lak o‘lchami usul tanlashga ta’sir qiladi? Doskada: flow sxemani daftarga ko‘chirtiring va har bosqichga bitta usul yozdiring. Tipik xato: tur mansubligini guruh bilan aralashtirish — tur zardob bilan pretsipitatsiyada, guruh esa AVO bo‘yicha absorbsiya-elyusiyada aniqlanadi.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kontrol tutam besh sohadan olinadi? 2) Sochni nima uchun pinset bilan olish kerak (qoplamalarni saqlash, shikast yetkazmaslik)? Doskada: bosh sxemasini chizib, besh sohani belgilang. Tipik xato: bitta joydan olingan sochni butun tana uchun yetarli deb hisoblash. Tezkor savol: tutam nechta toladan iborat bo‘ladi?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soch ekanligi avval mikroskopda tasdiqlanadi? 2) Pigment joylashuvi odam va hayvonni ajratishda qanday yordam beradi? Doskada: soch sterjeni kesimini chizib, kutikula, po‘stloq va mag‘izni belgilang. Tipik xato: po‘stloq va mag‘iz qavatlarining qalinligini odam va hayvonda almashtirib aytish.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Yulingan va to‘kilgan soch ildizi qanday farqlanadi? 2) Nega soch bo‘yicha xulosa ehtimol ko‘rinishida beriladi? Doskada: kesilgan, uzilgan va ezilgan soch uchlarining sxemasini chizdiring. Tipik xato: soch bo‘yicha xulosani qat’iy yozish.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Transport vositasining qaysi joylaridan soch izlanadi? 2) Nega har joydan olingan sochlar alohida paketga solinadi? Doskada: namuna olinadigan besh soha (peshona, tepa, ikki chekka, ensa) sxemasini chizdiring. Tipik xato: sochni qo‘l bilan olish, turli joylarning sochini bitta paketga aralashtirish yoki natijani qat’iy deb yozish.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alohida sud-gistologik ekspertiza kam tayinlanadi? 2) Qaysi ekspertizalar doirasida gistologik tekshiruv o‘tkaziladi? Doskada chizish: markazda «sud-gistologik tekshiruv», atrofida to‘rt turdagi ekspertiza (birlamchi, qo‘shimcha, qayta, komission). Tipik xato: gistologik tekshiruvni doim alohida ekspertiza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Jarohat hayotiyligini bilish ishda nima uchun muhim? 2) Muddatni aniqlash qaysi savolga javob beradi? Doskada chizish: jadvalning to‘rt qatorini talabalar o‘z so‘zlari bilan to‘ldirsin. Tipik xato: «hayotiylik» va «yetkazilish muddati»ni bitta vazifa deb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Material olish kimning ko‘rsatmasi bilan amalga oshadi? 2) Chirigan murdada gistologik tekshiruvdan voz kechish mumkinmi? (Darslikka ko‘ra, chirish rad etishga asos bo‘lmaydi, 316-bet.) Doskada chizish: besh bosqichli zanjirni daftarga ko‘chiring. Tipik xato: tekshirilmagan materialni tashlab yuborish mumkin deb o‘ylash; u arxivda saqlanadi.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Chirigan murdadan material olish nega baribir zarur? 2) Tekshiruv o‘tkazilmasa material taqdiri qanday bo‘ladi? Doskada: «murda ekspertizasi → material olish → tekshiruv yoki birlamchi arxiv» zanjirini chizdiring. Tipik xato: talabalar chirishni tekshiruvni rad etish sababi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juftliklarda so‘rang. Muhokama: nima uchun qaror ekspert ixtiyorida? Doskada: 4 ta savolga qisqa javoblarni ro‘yxat qilib yozdiring. Tipik xato: «material faqat shubha bo‘lganda olinadi»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gematoksilin-eozin hamma holatda majburiy? 2) Qaysi hollarda selektiv yoki maxsus usul kerak bo‘ladi? Doskada: blok → kesma → bo‘yash zanjirini chizing va jadvalni daftarga ko‘chirtiring. Tipik xato: selektiv bo‘yashni gematoksilin-eozin o‘rniga qo‘llash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1) Nega suv namunasi ham kerak? 2) Diatom tekshiruvi qaysi savolga javob beradi? Doskada chizing: «biomaterial + havza suvi → sud-gistologik bo‘lim → tirik/o‘lik holda tushgan» sxemasi. Tipik xato: talabalar tekshiruvga faqat to‘qima yuborish kifoya,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savollari: 1) Dalolatnomaning qaysi qismida tashhis beriladi? 2) Xavfli yuqumli kasallik topilsa, birinchi navbatda kimga xabar beriladi? Doskada chizing: dalolatnomaning to‘rt qismi zanjiri va xabar berish o‘qi. Tipik xato: talabalar dalolatnomani «xulosa» bilan chalkashtiradi, chunki bu yerda xotima yoziladi.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1) Nega arxiv saqlanadi? 2) Qaysi material eng qisqa muddat saqlanadi? Doskada chizing: 2 yil va 3 yil muddatli materiallar jadvali. Tipik xato: formalinli arxiv 2 yil, preparat va bloklar 3 yil ekanini chalkashtirish (2 ≠ 3). Eslab qolish: «Formalin — 2, preparat va blok — 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Chirigan murdadan material olish nega baribir kerak? 2) Tekshiruv o‘tkazilmagan material qayerda va qancha saqlanadi? Doskada: ikki ustunli ro‘yxat chizing (arxiv turi — muddat). Tipik xato: chirishni tekshiruvni rad etish sababi deb hisoblash; 2 yil va 3 yilni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Trassologik va ballistik tekshiruv qaysi jihati bilan o‘xshash? 2) Situatsion tekshiruv voqeani qayta tiklashda nima uchun kerak? Doskada: 5 ta tur va har birining maqsadini bir qatorda yozing (jadvalda situatsion tur yo‘q). Tipik xato: identifikatsion tekshiruvni tur mansubligi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dastlabki usul natijasi tasdiqlovchi usul bilan mustahkamlanadi? 2) Obyekt kam bo‘lsa, tekshiruvni tayinlagan shaxsga nima deyiladi (to‘liq sarflanishi haqida ogohlantiriladi, 320-bet)? Doskada: ikki bosqichli sxema (dastlabki → tasdiqlovchi). Tipik xato: bir yillik arxiv muddatini etil spirti uchun 30 kunlik muddat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gipervariabel lokuslar shaxsni ajratishda foydali? 2) Usulning boshqa nomlari qaysilar? Doskada: yil bo‘yicha 1985–1986 vaqt chizig‘ini chizdiring. Tipik xato: gomologik va gipervariabel lokusni aralashtirish; bitta allel mos kelishi aynanlik degani emas, allellarning birgalikda kelishi muhim.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Mustahkamlash savollari: 1) Kontrol namuna nima uchun olinadi? 2) Sud-gistologik tekshiruv o‘tkazilmasa, material bilan nima qilinadi? 3) Dalolatnoma qismlarini sanang. 4) Arxiv muddatlari qanday? Doskada: dalil olish dan arxivgacha bo‘lgan zanjirni chizdiring. Tipik xato: 2 yillik (birlamchi arxiv) va 3 yillik (preparat, bloklar) muddatlarni almashtirish.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Sud-gistologik tekshiruvini o'tkazish qoidalari va tartibi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13-bob ashyoviy dalillarni sud-tibbiy tekshirishga bag‘ishlangan: qon, maniy, boshqa ajratmalar, soch, sud-gistologik, tibbiy-kriminalistik, sud-kimyoviy va DNK tekshiruvlari ko‘rib chiqiladi.</a:t>
            </a:r>
          </a:p>
          <a:p>
            <a:pPr>
              <a:spcAft>
                <a:spcPts val="1200"/>
              </a:spcAft>
            </a:pPr>
            <a:r>
              <a:rPr sz="2000">
                <a:solidFill>
                  <a:srgbClr val="1F2937"/>
                </a:solidFill>
                <a:latin typeface="Calibri"/>
              </a:rPr>
              <a:t>▸  Sud-gistologik tekshiruv bobning 13.6-bo‘limida bayon etilgan. U odatda o‘lim holatlari bilan bog‘liq ekspertizalarni bajarish jarayonida o‘tkaziladi.</a:t>
            </a:r>
          </a:p>
          <a:p>
            <a:pPr>
              <a:spcAft>
                <a:spcPts val="1200"/>
              </a:spcAft>
            </a:pPr>
            <a:r>
              <a:rPr sz="2000">
                <a:solidFill>
                  <a:srgbClr val="1F2937"/>
                </a:solidFill>
                <a:latin typeface="Calibri"/>
              </a:rPr>
              <a:t>▸  Maqsad: ashyoviy dalil tushunchasini, biologik ob’ektlarni tekshiruvchi bo‘limlarni va sud-gistologik tekshiruv qoidalarini o‘zlashtirish.</a:t>
            </a:r>
          </a:p>
          <a:p>
            <a:pPr>
              <a:spcAft>
                <a:spcPts val="1200"/>
              </a:spcAft>
            </a:pPr>
            <a:r>
              <a:rPr sz="2000">
                <a:solidFill>
                  <a:srgbClr val="1F2937"/>
                </a:solidFill>
                <a:latin typeface="Calibri"/>
              </a:rPr>
              <a:t>▸  Reja: ashyoviy dalil tushunchasi, biologik dalillar, so‘ng sud-gistologik tekshiruvning vazifasi, ob’ekti, usullari, hujjatlashtirilishi va arxivi.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303-321, 315, 303, 315-316, 303, 315-317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Ashyoviy dalil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Jinoyat-protsessual kodeksi (JPK) 203-moddasiga ko‘ra ashyoviy dalil — kelib chiqishi, kimga tegishliligi, nimaga ishlatilganini aniqlash mumkin bo‘lgan alomatli narsa.</a:t>
            </a:r>
          </a:p>
          <a:p>
            <a:pPr>
              <a:spcAft>
                <a:spcPts val="1200"/>
              </a:spcAft>
            </a:pPr>
            <a:r>
              <a:rPr sz="2000">
                <a:solidFill>
                  <a:srgbClr val="1F2937"/>
                </a:solidFill>
                <a:latin typeface="Calibri"/>
              </a:rPr>
              <a:t>▸  Unga asosan jinoyat quroli, jinoyat izlarini saqlagan predmetlar va jinoiy harakat ob’ekti bo‘lgan narsalar kiradi.</a:t>
            </a:r>
          </a:p>
          <a:p>
            <a:pPr>
              <a:spcAft>
                <a:spcPts val="1200"/>
              </a:spcAft>
            </a:pPr>
            <a:r>
              <a:rPr sz="2000">
                <a:solidFill>
                  <a:srgbClr val="1F2937"/>
                </a:solidFill>
                <a:latin typeface="Calibri"/>
              </a:rPr>
              <a:t>▸  Jinoyatni aniqlash, aybdorni topish, ayblovni inkor etish yoki aybni yengillashtirishga xizmat qiladigan predmetlar ham ashyoviy dalildir.</a:t>
            </a:r>
          </a:p>
          <a:p>
            <a:pPr>
              <a:spcAft>
                <a:spcPts val="1200"/>
              </a:spcAft>
            </a:pPr>
            <a:r>
              <a:rPr sz="2000">
                <a:solidFill>
                  <a:srgbClr val="1F2937"/>
                </a:solidFill>
                <a:latin typeface="Calibri"/>
              </a:rPr>
              <a:t>▸  Diqqat: tekshiruvni klinitsist-shifokorlar emas, maxsus mutaxassislar o‘tkazadi; umumiy amaliyot shifokorlari faqat joyni ko‘zdan kechirish va namuna olishga jalb etilishi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Biologik dalillar va laboratoriya tuzilmalari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Biologik dalillar: to‘qima zarralari, qon, ajratmalar (so‘lak, siydik, ter, maniy, najas), ularning dog‘lari va sochlar.</a:t>
            </a:r>
          </a:p>
          <a:p>
            <a:pPr>
              <a:spcAft>
                <a:spcPts val="800"/>
              </a:spcAft>
            </a:pPr>
            <a:r>
              <a:rPr sz="1800">
                <a:solidFill>
                  <a:srgbClr val="1F2937"/>
                </a:solidFill>
                <a:latin typeface="Calibri"/>
              </a:rPr>
              <a:t>▸  Ular maxsus jihozlangan laboratoriya tuzilmalarida, tayyorgarlikka ega mutaxassislar tomonidan tekshiriladi.</a:t>
            </a:r>
          </a:p>
          <a:p>
            <a:pPr>
              <a:spcAft>
                <a:spcPts val="800"/>
              </a:spcAft>
            </a:pPr>
            <a:r>
              <a:rPr sz="1800">
                <a:solidFill>
                  <a:srgbClr val="1F2937"/>
                </a:solidFill>
                <a:latin typeface="Calibri"/>
              </a:rPr>
              <a:t>▸  Qotillik, nomusga tegish kabi og‘ir jinoyatlarni ochishda bunday ekspertizalarning ahamiyati juda katta.</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50791"/>
                <a:gridCol w="3437183"/>
              </a:tblGrid>
              <a:tr h="411480">
                <a:tc>
                  <a:txBody>
                    <a:bodyPr/>
                    <a:lstStyle/>
                    <a:p>
                      <a:r>
                        <a:rPr sz="1400" b="1">
                          <a:solidFill>
                            <a:srgbClr val="FFFFFF"/>
                          </a:solidFill>
                        </a:rPr>
                        <a:t>Bo‘lim</a:t>
                      </a:r>
                    </a:p>
                  </a:txBody>
                  <a:tcPr marL="73152" marR="73152" marT="36576" marB="36576">
                    <a:solidFill>
                      <a:srgbClr val="0B1F3A"/>
                    </a:solidFill>
                  </a:tcPr>
                </a:tc>
                <a:tc>
                  <a:txBody>
                    <a:bodyPr/>
                    <a:lstStyle/>
                    <a:p>
                      <a:r>
                        <a:rPr sz="1400" b="1">
                          <a:solidFill>
                            <a:srgbClr val="FFFFFF"/>
                          </a:solidFill>
                        </a:rPr>
                        <a:t>Ob’ekt/vazifa</a:t>
                      </a:r>
                    </a:p>
                  </a:txBody>
                  <a:tcPr marL="73152" marR="73152" marT="36576" marB="36576">
                    <a:solidFill>
                      <a:srgbClr val="0B1F3A"/>
                    </a:solidFill>
                  </a:tcPr>
                </a:tc>
              </a:tr>
              <a:tr h="411480">
                <a:tc>
                  <a:txBody>
                    <a:bodyPr/>
                    <a:lstStyle/>
                    <a:p>
                      <a:r>
                        <a:rPr sz="1300" b="0">
                          <a:solidFill>
                            <a:srgbClr val="1F2937"/>
                          </a:solidFill>
                        </a:rPr>
                        <a:t>Sud-biologik</a:t>
                      </a:r>
                    </a:p>
                  </a:txBody>
                  <a:tcPr marL="73152" marR="73152" marT="36576" marB="36576">
                    <a:solidFill>
                      <a:srgbClr val="E8EEF6"/>
                    </a:solidFill>
                  </a:tcPr>
                </a:tc>
                <a:tc>
                  <a:txBody>
                    <a:bodyPr/>
                    <a:lstStyle/>
                    <a:p>
                      <a:r>
                        <a:rPr sz="1300" b="0">
                          <a:solidFill>
                            <a:srgbClr val="1F2937"/>
                          </a:solidFill>
                        </a:rPr>
                        <a:t>Qon va maniy izlari</a:t>
                      </a:r>
                    </a:p>
                  </a:txBody>
                  <a:tcPr marL="73152" marR="73152" marT="36576" marB="36576">
                    <a:solidFill>
                      <a:srgbClr val="E8EEF6"/>
                    </a:solidFill>
                  </a:tcPr>
                </a:tc>
              </a:tr>
              <a:tr h="411480">
                <a:tc>
                  <a:txBody>
                    <a:bodyPr/>
                    <a:lstStyle/>
                    <a:p>
                      <a:r>
                        <a:rPr sz="1300" b="0">
                          <a:solidFill>
                            <a:srgbClr val="1F2937"/>
                          </a:solidFill>
                        </a:rPr>
                        <a:t>Sud-gistologik</a:t>
                      </a:r>
                    </a:p>
                  </a:txBody>
                  <a:tcPr marL="73152" marR="73152" marT="36576" marB="36576">
                    <a:solidFill>
                      <a:srgbClr val="FFFFFF"/>
                    </a:solidFill>
                  </a:tcPr>
                </a:tc>
                <a:tc>
                  <a:txBody>
                    <a:bodyPr/>
                    <a:lstStyle/>
                    <a:p>
                      <a:r>
                        <a:rPr sz="1300" b="0">
                          <a:solidFill>
                            <a:srgbClr val="1F2937"/>
                          </a:solidFill>
                        </a:rPr>
                        <a:t>A’zo, to‘qima bo‘lakchalari</a:t>
                      </a:r>
                    </a:p>
                  </a:txBody>
                  <a:tcPr marL="73152" marR="73152" marT="36576" marB="36576">
                    <a:solidFill>
                      <a:srgbClr val="FFFFFF"/>
                    </a:solidFill>
                  </a:tcPr>
                </a:tc>
              </a:tr>
              <a:tr h="411480">
                <a:tc>
                  <a:txBody>
                    <a:bodyPr/>
                    <a:lstStyle/>
                    <a:p>
                      <a:r>
                        <a:rPr sz="1300" b="0">
                          <a:solidFill>
                            <a:srgbClr val="1F2937"/>
                          </a:solidFill>
                        </a:rPr>
                        <a:t>Tibbiy kriminalistika</a:t>
                      </a:r>
                    </a:p>
                  </a:txBody>
                  <a:tcPr marL="73152" marR="73152" marT="36576" marB="36576">
                    <a:solidFill>
                      <a:srgbClr val="E8EEF6"/>
                    </a:solidFill>
                  </a:tcPr>
                </a:tc>
                <a:tc>
                  <a:txBody>
                    <a:bodyPr/>
                    <a:lstStyle/>
                    <a:p>
                      <a:r>
                        <a:rPr sz="1300" b="0">
                          <a:solidFill>
                            <a:srgbClr val="1F2937"/>
                          </a:solidFill>
                        </a:rPr>
                        <a:t>Diagnostik, identifikatsion, situatsion</a:t>
                      </a:r>
                    </a:p>
                  </a:txBody>
                  <a:tcPr marL="73152" marR="73152" marT="36576" marB="36576">
                    <a:solidFill>
                      <a:srgbClr val="E8EEF6"/>
                    </a:solidFill>
                  </a:tcPr>
                </a:tc>
              </a:tr>
              <a:tr h="411480">
                <a:tc>
                  <a:txBody>
                    <a:bodyPr/>
                    <a:lstStyle/>
                    <a:p>
                      <a:r>
                        <a:rPr sz="1300" b="0">
                          <a:solidFill>
                            <a:srgbClr val="1F2937"/>
                          </a:solidFill>
                        </a:rPr>
                        <a:t>Sud kimyo</a:t>
                      </a:r>
                    </a:p>
                  </a:txBody>
                  <a:tcPr marL="73152" marR="73152" marT="36576" marB="36576">
                    <a:solidFill>
                      <a:srgbClr val="FFFFFF"/>
                    </a:solidFill>
                  </a:tcPr>
                </a:tc>
                <a:tc>
                  <a:txBody>
                    <a:bodyPr/>
                    <a:lstStyle/>
                    <a:p>
                      <a:r>
                        <a:rPr sz="1300" b="0">
                          <a:solidFill>
                            <a:srgbClr val="1F2937"/>
                          </a:solidFill>
                        </a:rPr>
                        <a:t>Toksik moddalar tahlili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Bo‘limlar va ularning ob’ektlari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hodisa joyida shifokor roli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 qon izlari topildi. Ashyoviy dalillarni sud-tibbiy tekshirish klinitsist-shifokorlarga yuklanmaydi.</a:t>
            </a:r>
          </a:p>
          <a:p>
            <a:pPr>
              <a:spcAft>
                <a:spcPts val="1200"/>
              </a:spcAft>
            </a:pPr>
            <a:r>
              <a:rPr sz="2200">
                <a:solidFill>
                  <a:srgbClr val="1F2937"/>
                </a:solidFill>
                <a:latin typeface="Calibri"/>
              </a:rPr>
              <a:t>▸  Ayrim holatlarda umumiy amaliyot shifokorlari va boshqa vrachlar hodisa joyini ko‘zdan kechirishga, dalillarni topish va tavsiflashga jalb qilinadi.</a:t>
            </a:r>
          </a:p>
          <a:p>
            <a:pPr>
              <a:spcAft>
                <a:spcPts val="1200"/>
              </a:spcAft>
            </a:pPr>
            <a:r>
              <a:rPr sz="2200">
                <a:solidFill>
                  <a:srgbClr val="1F2937"/>
                </a:solidFill>
                <a:latin typeface="Calibri"/>
              </a:rPr>
              <a:t>▸  Ular tegishli tekshiruvlar uchun namuna olishda ham qatnashishi mumkin. Biroq qonunga ko‘ra izlarni olish tergovchi tomonidan amalga oshiriladi.</a:t>
            </a:r>
          </a:p>
          <a:p>
            <a:pPr>
              <a:spcAft>
                <a:spcPts val="1200"/>
              </a:spcAft>
            </a:pPr>
            <a:r>
              <a:rPr sz="2200">
                <a:solidFill>
                  <a:srgbClr val="1F2937"/>
                </a:solidFill>
                <a:latin typeface="Calibri"/>
              </a:rPr>
              <a:t>▸  Savol: shifokor hodisa joyida qaysi ishlarni bajarishi mumkin va qaysi ishni bajarmaydi? Diqqat: namuna olishda ishtirok etish ≠ ekspertiza o‘tkazish.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303, 304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izlarining shakllari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10-15 sm dan tushgan tomchi dumaloq, chetlari tekis dog‘ beradi; balandroqdan tushsa, chetlari tishsimon bo‘ladi.</a:t>
            </a:r>
          </a:p>
          <a:p>
            <a:pPr>
              <a:spcAft>
                <a:spcPts val="800"/>
              </a:spcAft>
            </a:pPr>
            <a:r>
              <a:rPr sz="1800">
                <a:solidFill>
                  <a:srgbClr val="1F2937"/>
                </a:solidFill>
                <a:latin typeface="Calibri"/>
              </a:rPr>
              <a:t>▸  Harakatdagi tana yoki qiya yuzada dog‘ noksimon (undov belgisi) bo‘lib, ensiz tomoni yo‘nalish yoki past tomonda turadi.</a:t>
            </a:r>
          </a:p>
          <a:p>
            <a:pPr>
              <a:spcAft>
                <a:spcPts val="800"/>
              </a:spcAft>
            </a:pPr>
            <a:r>
              <a:rPr sz="1800">
                <a:solidFill>
                  <a:srgbClr val="1F2937"/>
                </a:solidFill>
                <a:latin typeface="Calibri"/>
              </a:rPr>
              <a:t>▸  Sachrama izlar jism siltanganda, zarb berilganda yoki yirik arteriyadan qon fontan bo‘lib oqqanda hosil bo‘ladi.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Iz turi</a:t>
                      </a:r>
                    </a:p>
                  </a:txBody>
                  <a:tcPr marL="73152" marR="73152" marT="36576" marB="36576">
                    <a:solidFill>
                      <a:srgbClr val="0B1F3A"/>
                    </a:solidFill>
                  </a:tcPr>
                </a:tc>
                <a:tc>
                  <a:txBody>
                    <a:bodyPr/>
                    <a:lstStyle/>
                    <a:p>
                      <a:r>
                        <a:rPr sz="1400" b="1">
                          <a:solidFill>
                            <a:srgbClr val="FFFFFF"/>
                          </a:solidFill>
                        </a:rPr>
                        <a:t>Sharoit</a:t>
                      </a:r>
                    </a:p>
                  </a:txBody>
                  <a:tcPr marL="73152" marR="73152" marT="36576" marB="36576">
                    <a:solidFill>
                      <a:srgbClr val="0B1F3A"/>
                    </a:solidFill>
                  </a:tcPr>
                </a:tc>
              </a:tr>
              <a:tr h="411480">
                <a:tc>
                  <a:txBody>
                    <a:bodyPr/>
                    <a:lstStyle/>
                    <a:p>
                      <a:r>
                        <a:rPr sz="1300" b="0">
                          <a:solidFill>
                            <a:srgbClr val="1F2937"/>
                          </a:solidFill>
                        </a:rPr>
                        <a:t>Qon ko‘lmagi</a:t>
                      </a:r>
                    </a:p>
                  </a:txBody>
                  <a:tcPr marL="73152" marR="73152" marT="36576" marB="36576">
                    <a:solidFill>
                      <a:srgbClr val="E8EEF6"/>
                    </a:solidFill>
                  </a:tcPr>
                </a:tc>
                <a:tc>
                  <a:txBody>
                    <a:bodyPr/>
                    <a:lstStyle/>
                    <a:p>
                      <a:r>
                        <a:rPr sz="1300" b="0">
                          <a:solidFill>
                            <a:srgbClr val="1F2937"/>
                          </a:solidFill>
                        </a:rPr>
                        <a:t>Singdirmaydigan material, ko‘p qon yo‘qotish</a:t>
                      </a:r>
                    </a:p>
                  </a:txBody>
                  <a:tcPr marL="73152" marR="73152" marT="36576" marB="36576">
                    <a:solidFill>
                      <a:srgbClr val="E8EEF6"/>
                    </a:solidFill>
                  </a:tcPr>
                </a:tc>
              </a:tr>
              <a:tr h="411480">
                <a:tc>
                  <a:txBody>
                    <a:bodyPr/>
                    <a:lstStyle/>
                    <a:p>
                      <a:r>
                        <a:rPr sz="1300" b="0">
                          <a:solidFill>
                            <a:srgbClr val="1F2937"/>
                          </a:solidFill>
                        </a:rPr>
                        <a:t>Singdirilgan iz</a:t>
                      </a:r>
                    </a:p>
                  </a:txBody>
                  <a:tcPr marL="73152" marR="73152" marT="36576" marB="36576">
                    <a:solidFill>
                      <a:srgbClr val="FFFFFF"/>
                    </a:solidFill>
                  </a:tcPr>
                </a:tc>
                <a:tc>
                  <a:txBody>
                    <a:bodyPr/>
                    <a:lstStyle/>
                    <a:p>
                      <a:r>
                        <a:rPr sz="1300" b="0">
                          <a:solidFill>
                            <a:srgbClr val="1F2937"/>
                          </a:solidFill>
                        </a:rPr>
                        <a:t>Namlikni yaxshi oladigan material</a:t>
                      </a:r>
                    </a:p>
                  </a:txBody>
                  <a:tcPr marL="73152" marR="73152" marT="36576" marB="36576">
                    <a:solidFill>
                      <a:srgbClr val="FFFFFF"/>
                    </a:solidFill>
                  </a:tcPr>
                </a:tc>
              </a:tr>
              <a:tr h="411480">
                <a:tc>
                  <a:txBody>
                    <a:bodyPr/>
                    <a:lstStyle/>
                    <a:p>
                      <a:r>
                        <a:rPr sz="1300" b="0">
                          <a:solidFill>
                            <a:srgbClr val="1F2937"/>
                          </a:solidFill>
                        </a:rPr>
                        <a:t>Oqma iz</a:t>
                      </a:r>
                    </a:p>
                  </a:txBody>
                  <a:tcPr marL="73152" marR="73152" marT="36576" marB="36576">
                    <a:solidFill>
                      <a:srgbClr val="E8EEF6"/>
                    </a:solidFill>
                  </a:tcPr>
                </a:tc>
                <a:tc>
                  <a:txBody>
                    <a:bodyPr/>
                    <a:lstStyle/>
                    <a:p>
                      <a:r>
                        <a:rPr sz="1300" b="0">
                          <a:solidFill>
                            <a:srgbClr val="1F2937"/>
                          </a:solidFill>
                        </a:rPr>
                        <a:t>Qon qiya yuza bo‘ylab oqadi</a:t>
                      </a:r>
                    </a:p>
                  </a:txBody>
                  <a:tcPr marL="73152" marR="73152" marT="36576" marB="36576">
                    <a:solidFill>
                      <a:srgbClr val="E8EEF6"/>
                    </a:solidFill>
                  </a:tcPr>
                </a:tc>
              </a:tr>
              <a:tr h="411480">
                <a:tc>
                  <a:txBody>
                    <a:bodyPr/>
                    <a:lstStyle/>
                    <a:p>
                      <a:r>
                        <a:rPr sz="1300" b="0">
                          <a:solidFill>
                            <a:srgbClr val="1F2937"/>
                          </a:solidFill>
                        </a:rPr>
                        <a:t>Surtma va bosma</a:t>
                      </a:r>
                    </a:p>
                  </a:txBody>
                  <a:tcPr marL="73152" marR="73152" marT="36576" marB="36576">
                    <a:solidFill>
                      <a:srgbClr val="FFFFFF"/>
                    </a:solidFill>
                  </a:tcPr>
                </a:tc>
                <a:tc>
                  <a:txBody>
                    <a:bodyPr/>
                    <a:lstStyle/>
                    <a:p>
                      <a:r>
                        <a:rPr sz="1300" b="0">
                          <a:solidFill>
                            <a:srgbClr val="1F2937"/>
                          </a:solidFill>
                        </a:rPr>
                        <a:t>Sirpanish — surtma; sirpanishsiz — bosma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 izlari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303-304, 304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izlarini tekshiruvga olish qoidalari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Yuvma: nam 2x2 sm doka bilan dog‘ artiladi; xuddi shunday toza yuzadan kontrol yuvma olinadi.</a:t>
            </a:r>
          </a:p>
          <a:p>
            <a:pPr>
              <a:spcAft>
                <a:spcPts val="800"/>
              </a:spcAft>
            </a:pPr>
            <a:r>
              <a:rPr sz="1800">
                <a:solidFill>
                  <a:srgbClr val="1F2937"/>
                </a:solidFill>
                <a:latin typeface="Calibri"/>
              </a:rPr>
              <a:t>▸  Doka quyosh nuri tushmaydigan joyda, isitkichdan uzoqda quritiladi va alohida qog‘ozga o‘raladi.</a:t>
            </a:r>
          </a:p>
          <a:p>
            <a:pPr>
              <a:spcAft>
                <a:spcPts val="800"/>
              </a:spcAft>
            </a:pPr>
            <a:r>
              <a:rPr sz="1800">
                <a:solidFill>
                  <a:srgbClr val="1F2937"/>
                </a:solidFill>
                <a:latin typeface="Calibri"/>
              </a:rPr>
              <a:t>▸  Yangi doka yoki bint ishlatilmaydi: appreturalar kimyoviy moddalar bo‘lib, serologik reaksiyalarga salbiy ta’sir qiladi.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2417360"/>
                <a:gridCol w="2870615"/>
              </a:tblGrid>
              <a:tr h="411480">
                <a:tc>
                  <a:txBody>
                    <a:bodyPr/>
                    <a:lstStyle/>
                    <a:p>
                      <a:r>
                        <a:rPr sz="1400" b="1">
                          <a:solidFill>
                            <a:srgbClr val="FFFFFF"/>
                          </a:solidFill>
                        </a:rPr>
                        <a:t>Obyekt</a:t>
                      </a:r>
                    </a:p>
                  </a:txBody>
                  <a:tcPr marL="73152" marR="73152" marT="36576" marB="36576">
                    <a:solidFill>
                      <a:srgbClr val="0B1F3A"/>
                    </a:solidFill>
                  </a:tcPr>
                </a:tc>
                <a:tc>
                  <a:txBody>
                    <a:bodyPr/>
                    <a:lstStyle/>
                    <a:p>
                      <a:r>
                        <a:rPr sz="1400" b="1">
                          <a:solidFill>
                            <a:srgbClr val="FFFFFF"/>
                          </a:solidFill>
                        </a:rPr>
                        <a:t>Usul</a:t>
                      </a:r>
                    </a:p>
                  </a:txBody>
                  <a:tcPr marL="73152" marR="73152" marT="36576" marB="36576">
                    <a:solidFill>
                      <a:srgbClr val="0B1F3A"/>
                    </a:solidFill>
                  </a:tcPr>
                </a:tc>
              </a:tr>
              <a:tr h="411480">
                <a:tc>
                  <a:txBody>
                    <a:bodyPr/>
                    <a:lstStyle/>
                    <a:p>
                      <a:r>
                        <a:rPr sz="1300" b="0">
                          <a:solidFill>
                            <a:srgbClr val="1F2937"/>
                          </a:solidFill>
                        </a:rPr>
                        <a:t>Kiyim, poyafzal, qurol, choyshab</a:t>
                      </a:r>
                    </a:p>
                  </a:txBody>
                  <a:tcPr marL="73152" marR="73152" marT="36576" marB="36576">
                    <a:solidFill>
                      <a:srgbClr val="E8EEF6"/>
                    </a:solidFill>
                  </a:tcPr>
                </a:tc>
                <a:tc>
                  <a:txBody>
                    <a:bodyPr/>
                    <a:lstStyle/>
                    <a:p>
                      <a:r>
                        <a:rPr sz="1300" b="0">
                          <a:solidFill>
                            <a:srgbClr val="1F2937"/>
                          </a:solidFill>
                        </a:rPr>
                        <a:t>Butunligicha olinadi</a:t>
                      </a:r>
                    </a:p>
                  </a:txBody>
                  <a:tcPr marL="73152" marR="73152" marT="36576" marB="36576">
                    <a:solidFill>
                      <a:srgbClr val="E8EEF6"/>
                    </a:solidFill>
                  </a:tcPr>
                </a:tc>
              </a:tr>
              <a:tr h="411480">
                <a:tc>
                  <a:txBody>
                    <a:bodyPr/>
                    <a:lstStyle/>
                    <a:p>
                      <a:r>
                        <a:rPr sz="1300" b="0">
                          <a:solidFill>
                            <a:srgbClr val="1F2937"/>
                          </a:solidFill>
                        </a:rPr>
                        <a:t>Katta mato (gobelen, palas)</a:t>
                      </a:r>
                    </a:p>
                  </a:txBody>
                  <a:tcPr marL="73152" marR="73152" marT="36576" marB="36576">
                    <a:solidFill>
                      <a:srgbClr val="FFFFFF"/>
                    </a:solidFill>
                  </a:tcPr>
                </a:tc>
                <a:tc>
                  <a:txBody>
                    <a:bodyPr/>
                    <a:lstStyle/>
                    <a:p>
                      <a:r>
                        <a:rPr sz="1300" b="0">
                          <a:solidFill>
                            <a:srgbClr val="1F2937"/>
                          </a:solidFill>
                        </a:rPr>
                        <a:t>Dog‘li va toza joydan bo‘lak (kontrol)</a:t>
                      </a:r>
                    </a:p>
                  </a:txBody>
                  <a:tcPr marL="73152" marR="73152" marT="36576" marB="36576">
                    <a:solidFill>
                      <a:srgbClr val="FFFFFF"/>
                    </a:solidFill>
                  </a:tcPr>
                </a:tc>
              </a:tr>
              <a:tr h="411480">
                <a:tc>
                  <a:txBody>
                    <a:bodyPr/>
                    <a:lstStyle/>
                    <a:p>
                      <a:r>
                        <a:rPr sz="1300" b="0">
                          <a:solidFill>
                            <a:srgbClr val="1F2937"/>
                          </a:solidFill>
                        </a:rPr>
                        <a:t>Qattiq yuza (devor, mebel)</a:t>
                      </a:r>
                    </a:p>
                  </a:txBody>
                  <a:tcPr marL="73152" marR="73152" marT="36576" marB="36576">
                    <a:solidFill>
                      <a:srgbClr val="E8EEF6"/>
                    </a:solidFill>
                  </a:tcPr>
                </a:tc>
                <a:tc>
                  <a:txBody>
                    <a:bodyPr/>
                    <a:lstStyle/>
                    <a:p>
                      <a:r>
                        <a:rPr sz="1300" b="0">
                          <a:solidFill>
                            <a:srgbClr val="1F2937"/>
                          </a:solidFill>
                        </a:rPr>
                        <a:t>Skalpel bilan qirindi, kontrol ham</a:t>
                      </a:r>
                    </a:p>
                  </a:txBody>
                  <a:tcPr marL="73152" marR="73152" marT="36576" marB="36576">
                    <a:solidFill>
                      <a:srgbClr val="E8EEF6"/>
                    </a:solidFill>
                  </a:tcPr>
                </a:tc>
              </a:tr>
              <a:tr h="411480">
                <a:tc>
                  <a:txBody>
                    <a:bodyPr/>
                    <a:lstStyle/>
                    <a:p>
                      <a:r>
                        <a:rPr sz="1300" b="0">
                          <a:solidFill>
                            <a:srgbClr val="1F2937"/>
                          </a:solidFill>
                        </a:rPr>
                        <a:t>Qor yoki tuproq</a:t>
                      </a:r>
                    </a:p>
                  </a:txBody>
                  <a:tcPr marL="73152" marR="73152" marT="36576" marB="36576">
                    <a:solidFill>
                      <a:srgbClr val="FFFFFF"/>
                    </a:solidFill>
                  </a:tcPr>
                </a:tc>
                <a:tc>
                  <a:txBody>
                    <a:bodyPr/>
                    <a:lstStyle/>
                    <a:p>
                      <a:r>
                        <a:rPr sz="1300" b="0">
                          <a:solidFill>
                            <a:srgbClr val="1F2937"/>
                          </a:solidFill>
                        </a:rPr>
                        <a:t>Qor eritiladi, tuproq quritiladi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Izni olish usullari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borligini aniqlash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Peroksid, benzidin, fenolftalein sinamalari qondagi peroksidaza va katalaza fermentlariga asoslanadi.</a:t>
            </a:r>
          </a:p>
          <a:p>
            <a:pPr>
              <a:spcAft>
                <a:spcPts val="800"/>
              </a:spcAft>
            </a:pPr>
            <a:r>
              <a:rPr sz="1800">
                <a:solidFill>
                  <a:srgbClr val="1F2937"/>
                </a:solidFill>
                <a:latin typeface="Calibri"/>
              </a:rPr>
              <a:t>▸  Lyuminol qorong‘ida havo rang nur beradi; ultrabinafsha nurda qon dog‘i to‘q jigar rang bo‘ladi.</a:t>
            </a:r>
          </a:p>
          <a:p>
            <a:pPr>
              <a:spcAft>
                <a:spcPts val="800"/>
              </a:spcAft>
            </a:pPr>
            <a:r>
              <a:rPr sz="1800">
                <a:solidFill>
                  <a:srgbClr val="1F2937"/>
                </a:solidFill>
                <a:latin typeface="Calibri"/>
              </a:rPr>
              <a:t>▸  Diqqat: taxminiy sinama ≠ isbot. Soxta musbat natija bo‘lishi mumkin, qat’iy xulosa chiqarib bo‘lmaydi.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43345"/>
                <a:gridCol w="2215232"/>
                <a:gridCol w="1929396"/>
              </a:tblGrid>
              <a:tr h="411480">
                <a:tc>
                  <a:txBody>
                    <a:bodyPr/>
                    <a:lstStyle/>
                    <a:p>
                      <a:r>
                        <a:rPr sz="1300" b="1">
                          <a:solidFill>
                            <a:srgbClr val="FFFFFF"/>
                          </a:solidFill>
                        </a:rPr>
                        <a:t>Usul turi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c>
                  <a:txBody>
                    <a:bodyPr/>
                    <a:lstStyle/>
                    <a:p>
                      <a:r>
                        <a:rPr sz="1300" b="1">
                          <a:solidFill>
                            <a:srgbClr val="FFFFFF"/>
                          </a:solidFill>
                        </a:rPr>
                        <a:t>Natijasi</a:t>
                      </a:r>
                    </a:p>
                  </a:txBody>
                  <a:tcPr marL="73152" marR="73152" marT="36576" marB="36576">
                    <a:solidFill>
                      <a:srgbClr val="0B1F3A"/>
                    </a:solidFill>
                  </a:tcPr>
                </a:tc>
              </a:tr>
              <a:tr h="411480">
                <a:tc>
                  <a:txBody>
                    <a:bodyPr/>
                    <a:lstStyle/>
                    <a:p>
                      <a:r>
                        <a:rPr sz="1200" b="0">
                          <a:solidFill>
                            <a:srgbClr val="1F2937"/>
                          </a:solidFill>
                        </a:rPr>
                        <a:t>Taxminiy</a:t>
                      </a:r>
                    </a:p>
                  </a:txBody>
                  <a:tcPr marL="73152" marR="73152" marT="36576" marB="36576">
                    <a:solidFill>
                      <a:srgbClr val="E8EEF6"/>
                    </a:solidFill>
                  </a:tcPr>
                </a:tc>
                <a:tc>
                  <a:txBody>
                    <a:bodyPr/>
                    <a:lstStyle/>
                    <a:p>
                      <a:r>
                        <a:rPr sz="1200" b="0">
                          <a:solidFill>
                            <a:srgbClr val="1F2937"/>
                          </a:solidFill>
                        </a:rPr>
                        <a:t>Benzidin, peroksid, lyuminol</a:t>
                      </a:r>
                    </a:p>
                  </a:txBody>
                  <a:tcPr marL="73152" marR="73152" marT="36576" marB="36576">
                    <a:solidFill>
                      <a:srgbClr val="E8EEF6"/>
                    </a:solidFill>
                  </a:tcPr>
                </a:tc>
                <a:tc>
                  <a:txBody>
                    <a:bodyPr/>
                    <a:lstStyle/>
                    <a:p>
                      <a:r>
                        <a:rPr sz="1200" b="0">
                          <a:solidFill>
                            <a:srgbClr val="1F2937"/>
                          </a:solidFill>
                        </a:rPr>
                        <a:t>Faqat gumon qilish mumkin</a:t>
                      </a:r>
                    </a:p>
                  </a:txBody>
                  <a:tcPr marL="73152" marR="73152" marT="36576" marB="36576">
                    <a:solidFill>
                      <a:srgbClr val="E8EEF6"/>
                    </a:solidFill>
                  </a:tcPr>
                </a:tc>
              </a:tr>
              <a:tr h="411480">
                <a:tc>
                  <a:txBody>
                    <a:bodyPr/>
                    <a:lstStyle/>
                    <a:p>
                      <a:r>
                        <a:rPr sz="1200" b="0">
                          <a:solidFill>
                            <a:srgbClr val="1F2937"/>
                          </a:solidFill>
                        </a:rPr>
                        <a:t>Taxminiy</a:t>
                      </a:r>
                    </a:p>
                  </a:txBody>
                  <a:tcPr marL="73152" marR="73152" marT="36576" marB="36576">
                    <a:solidFill>
                      <a:srgbClr val="FFFFFF"/>
                    </a:solidFill>
                  </a:tcPr>
                </a:tc>
                <a:tc>
                  <a:txBody>
                    <a:bodyPr/>
                    <a:lstStyle/>
                    <a:p>
                      <a:r>
                        <a:rPr sz="1200" b="0">
                          <a:solidFill>
                            <a:srgbClr val="1F2937"/>
                          </a:solidFill>
                        </a:rPr>
                        <a:t>Fenolftalein, ultrabinafsha nur</a:t>
                      </a:r>
                    </a:p>
                  </a:txBody>
                  <a:tcPr marL="73152" marR="73152" marT="36576" marB="36576">
                    <a:solidFill>
                      <a:srgbClr val="FFFFFF"/>
                    </a:solidFill>
                  </a:tcPr>
                </a:tc>
                <a:tc>
                  <a:txBody>
                    <a:bodyPr/>
                    <a:lstStyle/>
                    <a:p>
                      <a:r>
                        <a:rPr sz="1200" b="0">
                          <a:solidFill>
                            <a:srgbClr val="1F2937"/>
                          </a:solidFill>
                        </a:rPr>
                        <a:t>Soxta musbat berishi mumkin</a:t>
                      </a:r>
                    </a:p>
                  </a:txBody>
                  <a:tcPr marL="73152" marR="73152" marT="36576" marB="36576">
                    <a:solidFill>
                      <a:srgbClr val="FFFFFF"/>
                    </a:solidFill>
                  </a:tcPr>
                </a:tc>
              </a:tr>
              <a:tr h="411480">
                <a:tc>
                  <a:txBody>
                    <a:bodyPr/>
                    <a:lstStyle/>
                    <a:p>
                      <a:r>
                        <a:rPr sz="1200" b="0">
                          <a:solidFill>
                            <a:srgbClr val="1F2937"/>
                          </a:solidFill>
                        </a:rPr>
                        <a:t>Ishonchli</a:t>
                      </a:r>
                    </a:p>
                  </a:txBody>
                  <a:tcPr marL="73152" marR="73152" marT="36576" marB="36576">
                    <a:solidFill>
                      <a:srgbClr val="E8EEF6"/>
                    </a:solidFill>
                  </a:tcPr>
                </a:tc>
                <a:tc>
                  <a:txBody>
                    <a:bodyPr/>
                    <a:lstStyle/>
                    <a:p>
                      <a:r>
                        <a:rPr sz="1200" b="0">
                          <a:solidFill>
                            <a:srgbClr val="1F2937"/>
                          </a:solidFill>
                        </a:rPr>
                        <a:t>Spektral, xromatografik</a:t>
                      </a:r>
                    </a:p>
                  </a:txBody>
                  <a:tcPr marL="73152" marR="73152" marT="36576" marB="36576">
                    <a:solidFill>
                      <a:srgbClr val="E8EEF6"/>
                    </a:solidFill>
                  </a:tcPr>
                </a:tc>
                <a:tc>
                  <a:txBody>
                    <a:bodyPr/>
                    <a:lstStyle/>
                    <a:p>
                      <a:r>
                        <a:rPr sz="1200" b="0">
                          <a:solidFill>
                            <a:srgbClr val="1F2937"/>
                          </a:solidFill>
                        </a:rPr>
                        <a:t>Qon borligini tasdiqlaydi</a:t>
                      </a:r>
                    </a:p>
                  </a:txBody>
                  <a:tcPr marL="73152" marR="73152" marT="36576" marB="36576">
                    <a:solidFill>
                      <a:srgbClr val="E8EEF6"/>
                    </a:solidFill>
                  </a:tcPr>
                </a:tc>
              </a:tr>
              <a:tr h="411480">
                <a:tc>
                  <a:txBody>
                    <a:bodyPr/>
                    <a:lstStyle/>
                    <a:p>
                      <a:r>
                        <a:rPr sz="1200" b="0">
                          <a:solidFill>
                            <a:srgbClr val="1F2937"/>
                          </a:solidFill>
                        </a:rPr>
                        <a:t>Eskirgan</a:t>
                      </a:r>
                    </a:p>
                  </a:txBody>
                  <a:tcPr marL="73152" marR="73152" marT="36576" marB="36576">
                    <a:solidFill>
                      <a:srgbClr val="FFFFFF"/>
                    </a:solidFill>
                  </a:tcPr>
                </a:tc>
                <a:tc>
                  <a:txBody>
                    <a:bodyPr/>
                    <a:lstStyle/>
                    <a:p>
                      <a:r>
                        <a:rPr sz="1200" b="0">
                          <a:solidFill>
                            <a:srgbClr val="1F2937"/>
                          </a:solidFill>
                        </a:rPr>
                        <a:t>Mikroskopik, mikrokristallik</a:t>
                      </a:r>
                    </a:p>
                  </a:txBody>
                  <a:tcPr marL="73152" marR="73152" marT="36576" marB="36576">
                    <a:solidFill>
                      <a:srgbClr val="FFFFFF"/>
                    </a:solidFill>
                  </a:tcPr>
                </a:tc>
                <a:tc>
                  <a:txBody>
                    <a:bodyPr/>
                    <a:lstStyle/>
                    <a:p>
                      <a:r>
                        <a:rPr sz="1200" b="0">
                          <a:solidFill>
                            <a:srgbClr val="1F2937"/>
                          </a:solidFill>
                        </a:rPr>
                        <a:t>Amaliyotda qo‘llanilmaydi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Taxminiy va ishonchli usullar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305, 305-306, 306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ekspertizasida masalalar ketma-ketligi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Masalalar ketma-ket hal etiladi: avval qon borligi, so‘ng tur, guruh va shaxsga mansublik.</a:t>
            </a:r>
          </a:p>
          <a:p>
            <a:pPr>
              <a:spcAft>
                <a:spcPts val="800"/>
              </a:spcAft>
            </a:pPr>
            <a:r>
              <a:rPr sz="1800">
                <a:solidFill>
                  <a:srgbClr val="1F2937"/>
                </a:solidFill>
                <a:latin typeface="Calibri"/>
              </a:rPr>
              <a:t>▸  Ba’zan jins, hudud, homilador yoki yaqinda tuqqan ayolga mansublik savollari ham qo‘yiladi.</a:t>
            </a:r>
          </a:p>
          <a:p>
            <a:pPr>
              <a:spcAft>
                <a:spcPts val="800"/>
              </a:spcAft>
            </a:pPr>
            <a:r>
              <a:rPr sz="1800">
                <a:solidFill>
                  <a:srgbClr val="1F2937"/>
                </a:solidFill>
                <a:latin typeface="Calibri"/>
              </a:rPr>
              <a:t>▸  Tekshiruv sud-tibbiy ekspertiza muassasasining sud-biologik bo‘limida o‘tkaziladi.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Qon borligini aniqlash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Tur mansubligi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Guruhiy mansubligi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Muayyan shaxsga tegishliligi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bosqichlari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Qonning tur, guruh va shaxsga mansubligi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Tur: Chistovich–Ulengut reaksiyasida inson oqsiliga qarshi zardob qo‘shilsa, pretsipitatsiya halqasi hosil bo‘ladi. ABAcard testi qon borligi va insonga mansubligini birga ko‘rsatadi.</a:t>
            </a:r>
          </a:p>
          <a:p>
            <a:pPr>
              <a:spcAft>
                <a:spcPts val="1200"/>
              </a:spcAft>
            </a:pPr>
            <a:r>
              <a:rPr sz="2000">
                <a:solidFill>
                  <a:srgbClr val="1F2937"/>
                </a:solidFill>
                <a:latin typeface="Calibri"/>
              </a:rPr>
              <a:t>▸  Guruh va shaxs: tekshiruv odatda AVO tizimidan boshlanadi, kerak bo‘lsa boshqa tizimlar olinadi. Qat’iy aniqlash hozir DNK-tekshiruvi bilan amalga oshiriladi.</a:t>
            </a:r>
          </a:p>
          <a:p>
            <a:pPr>
              <a:spcAft>
                <a:spcPts val="1200"/>
              </a:spcAft>
            </a:pPr>
            <a:r>
              <a:rPr sz="2000">
                <a:solidFill>
                  <a:srgbClr val="1F2937"/>
                </a:solidFill>
                <a:latin typeface="Calibri"/>
              </a:rPr>
              <a:t>▸  Jins X- va Y-xromatin yoki DNK orqali, hudud tegishli shilliq qavat epiteliysi hujayralari orqali aniqlanadi. Homiladorlik xoriongonadotrop gormon bilan tekshiriladi, lekin qon dog‘ida qat’iy emas.</a:t>
            </a:r>
          </a:p>
          <a:p>
            <a:pPr>
              <a:spcAft>
                <a:spcPts val="1200"/>
              </a:spcAft>
            </a:pPr>
            <a:r>
              <a:rPr sz="2000">
                <a:solidFill>
                  <a:srgbClr val="1F2937"/>
                </a:solidFill>
                <a:latin typeface="Calibri"/>
              </a:rPr>
              <a:t>▸  Katta yoshlilar qonida HbA, go‘daklarda HbF bo‘ladi va ular ishqoriy denaturatsiya bilan farqlanadi. 15-20 kunlik dog‘da bu imkoniyat bo‘lmaydi.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306-307, 307, 307-308, 308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qon dog‘ini tekshirish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hodisa joyidan olingan kichik kiyimda quruq qon dog‘i bor. Bunday buyum laboratoriyaga butunligicha olinadi. Katta buyumdan dog‘li va toza (kontrol) bo‘lak qirqiladi.</a:t>
            </a:r>
          </a:p>
          <a:p>
            <a:pPr>
              <a:spcAft>
                <a:spcPts val="1200"/>
              </a:spcAft>
            </a:pPr>
            <a:r>
              <a:rPr sz="2000">
                <a:solidFill>
                  <a:srgbClr val="1F2937"/>
                </a:solidFill>
                <a:latin typeface="Calibri"/>
              </a:rPr>
              <a:t>▸  Hodisa joyida dog‘ni dastlab benzidin yoki vodorod peroksid sinamasi bilan tekshirish mumkin. Bu usullar qon bo‘lish ehtimolini ko‘rsatadi.</a:t>
            </a:r>
          </a:p>
          <a:p>
            <a:pPr>
              <a:spcAft>
                <a:spcPts val="1200"/>
              </a:spcAft>
            </a:pPr>
            <a:r>
              <a:rPr sz="2000">
                <a:solidFill>
                  <a:srgbClr val="1F2937"/>
                </a:solidFill>
                <a:latin typeface="Calibri"/>
              </a:rPr>
              <a:t>▸  Diqqat: xato qilish xavfi — taxminiy sinama ≠ ishonchli usul. Taxminiy sinamalar nospetsifik, soxta musbat berishi mumkin; ular faqat qonga gumon uyg‘otadi.</a:t>
            </a:r>
          </a:p>
          <a:p>
            <a:pPr>
              <a:spcAft>
                <a:spcPts val="1200"/>
              </a:spcAft>
            </a:pPr>
            <a:r>
              <a:rPr sz="2000">
                <a:solidFill>
                  <a:srgbClr val="1F2937"/>
                </a:solidFill>
                <a:latin typeface="Calibri"/>
              </a:rPr>
              <a:t>▸  Savol: qaysi usul qat‘iy natija beradi? Javob: hozirgi davrda qon dog‘da asosan xromatografik usulda (qog‘ozda yoki silufol plastinkasida)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304, 305, 306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qon tekshiruvi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taxminiy sinamalar dog‘da qon borligini qat‘iy isbotlaydimi? Javob: yo‘q, ular nospetsifik va faqat qon borligiga gumon qilish imkonini beradi.</a:t>
            </a:r>
          </a:p>
          <a:p>
            <a:pPr>
              <a:spcAft>
                <a:spcPts val="1200"/>
              </a:spcAft>
            </a:pPr>
            <a:r>
              <a:rPr sz="2200">
                <a:solidFill>
                  <a:srgbClr val="1F2937"/>
                </a:solidFill>
                <a:latin typeface="Calibri"/>
              </a:rPr>
              <a:t>▸  2-savol: qon tomchisi 10-15 sm balandlikdan gorizontal yuzaga tushsa, dog‘ qanday bo‘ladi? Javob: dumaloq, chetlari tekis.</a:t>
            </a:r>
          </a:p>
          <a:p>
            <a:pPr>
              <a:spcAft>
                <a:spcPts val="1200"/>
              </a:spcAft>
            </a:pPr>
            <a:r>
              <a:rPr sz="2200">
                <a:solidFill>
                  <a:srgbClr val="1F2937"/>
                </a:solidFill>
                <a:latin typeface="Calibri"/>
              </a:rPr>
              <a:t>▸  3-savol: tomchi harakatdagi tana qismidan yoki qiya yuzaga tushsa-chi? Javob: dog‘ noksimon, undov belgisi shaklida; ensiz tomoni harakat yo‘nalishi tomonda bo‘ladi.</a:t>
            </a:r>
          </a:p>
          <a:p>
            <a:pPr>
              <a:spcAft>
                <a:spcPts val="1200"/>
              </a:spcAft>
            </a:pPr>
            <a:r>
              <a:rPr sz="2200">
                <a:solidFill>
                  <a:srgbClr val="1F2937"/>
                </a:solidFill>
                <a:latin typeface="Calibri"/>
              </a:rPr>
              <a:t>▸  4-savol: fenolftalein sinamasi qachon musbat hisoblanadi? Javob: 10-15 soniyada qizg‘ish rang paydo bo‘lsa; bir daqiqadan keyingi rang inobatga olinmaydi.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306, 303, 304, 305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Maniy izlarini topish va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Dog‘lar ko‘z yoki lupa bilan qidiriladi. Singdiruvchi matoda chetlari landkartasimon, kraxmal zichligida; to‘q matoda oqimtir, yorqin matoda sargimtir yoki kul rang bo‘ladi.</a:t>
            </a:r>
          </a:p>
          <a:p>
            <a:pPr>
              <a:spcAft>
                <a:spcPts val="1200"/>
              </a:spcAft>
            </a:pPr>
            <a:r>
              <a:rPr sz="2000">
                <a:solidFill>
                  <a:srgbClr val="1F2937"/>
                </a:solidFill>
                <a:latin typeface="Calibri"/>
              </a:rPr>
              <a:t>▸  Singdirmaydigan yuzada dog‘ oqimtir-kulrang yaltiroq qoplama bo‘ladi; qon aralashsa pushti yoki qizg‘imtir tus oladi.</a:t>
            </a:r>
          </a:p>
          <a:p>
            <a:pPr>
              <a:spcAft>
                <a:spcPts val="1200"/>
              </a:spcAft>
            </a:pPr>
            <a:r>
              <a:rPr sz="2000">
                <a:solidFill>
                  <a:srgbClr val="1F2937"/>
                </a:solidFill>
                <a:latin typeface="Calibri"/>
              </a:rPr>
              <a:t>▸  Kiyim, choyshab to‘liq olinadi; katta materialdan dog‘li bo‘lak va dog‘siz kontrol bo‘lak qirqiladi. Qin va orqa teshikdan doka tiqim bilan namuna olinadi, quritilib o‘raladi; kontrol doka ham olinadi.</a:t>
            </a:r>
          </a:p>
          <a:p>
            <a:pPr>
              <a:spcAft>
                <a:spcPts val="1200"/>
              </a:spcAft>
            </a:pPr>
            <a:r>
              <a:rPr sz="2000">
                <a:solidFill>
                  <a:srgbClr val="1F2937"/>
                </a:solidFill>
                <a:latin typeface="Calibri"/>
              </a:rPr>
              <a:t>▸  Gumondor va jabrlanuvchidan qon va so‘lak namunalari olinadi. Qon bo‘yicha guruhiy omillar taqqoslanadi, so‘lak ajratuvchanlik masalasiga oydinlik kiritadi.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Maniy borligini aniqlash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Florans va Barberio mikrokristallik reaksiyalari hozirgi davrda amaliy ahamiyatga ega emas. Taxminiy usul sifatida kartoshka sharbati va ultrabinafsha nur qoladi.</a:t>
            </a:r>
          </a:p>
          <a:p>
            <a:pPr>
              <a:spcAft>
                <a:spcPts val="800"/>
              </a:spcAft>
            </a:pPr>
            <a:r>
              <a:rPr sz="1800">
                <a:solidFill>
                  <a:srgbClr val="1F2937"/>
                </a:solidFill>
                <a:latin typeface="Calibri"/>
              </a:rPr>
              <a:t>▸  Morfologik usul: bitta bo‘lsa-da, butun spermatozoid (bosh, tana, dum birga) topilsa, natija musbat.</a:t>
            </a:r>
          </a:p>
          <a:p>
            <a:pPr>
              <a:spcAft>
                <a:spcPts val="800"/>
              </a:spcAft>
            </a:pPr>
            <a:r>
              <a:rPr sz="1800">
                <a:solidFill>
                  <a:srgbClr val="1F2937"/>
                </a:solidFill>
                <a:latin typeface="Calibri"/>
              </a:rPr>
              <a:t>▸  Diqqat: bosh, tana yoki dum alohida topilsa hisobga olinmaydi; azospermiyada bu usul yaramaydi.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321993"/>
                <a:gridCol w="2790875"/>
                <a:gridCol w="1175105"/>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Turi</a:t>
                      </a:r>
                    </a:p>
                  </a:txBody>
                  <a:tcPr marL="73152" marR="73152" marT="36576" marB="36576">
                    <a:solidFill>
                      <a:srgbClr val="0B1F3A"/>
                    </a:solidFill>
                  </a:tcPr>
                </a:tc>
              </a:tr>
              <a:tr h="411480">
                <a:tc>
                  <a:txBody>
                    <a:bodyPr/>
                    <a:lstStyle/>
                    <a:p>
                      <a:r>
                        <a:rPr sz="1200" b="0">
                          <a:solidFill>
                            <a:srgbClr val="1F2937"/>
                          </a:solidFill>
                        </a:rPr>
                        <a:t>Kartoshka sharbati</a:t>
                      </a:r>
                    </a:p>
                  </a:txBody>
                  <a:tcPr marL="73152" marR="73152" marT="36576" marB="36576">
                    <a:solidFill>
                      <a:srgbClr val="E8EEF6"/>
                    </a:solidFill>
                  </a:tcPr>
                </a:tc>
                <a:tc>
                  <a:txBody>
                    <a:bodyPr/>
                    <a:lstStyle/>
                    <a:p>
                      <a:r>
                        <a:rPr sz="1200" b="0">
                          <a:solidFill>
                            <a:srgbClr val="1F2937"/>
                          </a:solidFill>
                        </a:rPr>
                        <a:t>Eritrotsit agglyutinatsiyasi to‘xtaydi</a:t>
                      </a:r>
                    </a:p>
                  </a:txBody>
                  <a:tcPr marL="73152" marR="73152" marT="36576" marB="36576">
                    <a:solidFill>
                      <a:srgbClr val="E8EEF6"/>
                    </a:solidFill>
                  </a:tcPr>
                </a:tc>
                <a:tc>
                  <a:txBody>
                    <a:bodyPr/>
                    <a:lstStyle/>
                    <a:p>
                      <a:r>
                        <a:rPr sz="1200" b="0">
                          <a:solidFill>
                            <a:srgbClr val="1F2937"/>
                          </a:solidFill>
                        </a:rPr>
                        <a:t>Taxminiy</a:t>
                      </a:r>
                    </a:p>
                  </a:txBody>
                  <a:tcPr marL="73152" marR="73152" marT="36576" marB="36576">
                    <a:solidFill>
                      <a:srgbClr val="E8EEF6"/>
                    </a:solidFill>
                  </a:tcPr>
                </a:tc>
              </a:tr>
              <a:tr h="411480">
                <a:tc>
                  <a:txBody>
                    <a:bodyPr/>
                    <a:lstStyle/>
                    <a:p>
                      <a:r>
                        <a:rPr sz="1200" b="0">
                          <a:solidFill>
                            <a:srgbClr val="1F2937"/>
                          </a:solidFill>
                        </a:rPr>
                        <a:t>Ultrabinafsha nur</a:t>
                      </a:r>
                    </a:p>
                  </a:txBody>
                  <a:tcPr marL="73152" marR="73152" marT="36576" marB="36576">
                    <a:solidFill>
                      <a:srgbClr val="FFFFFF"/>
                    </a:solidFill>
                  </a:tcPr>
                </a:tc>
                <a:tc>
                  <a:txBody>
                    <a:bodyPr/>
                    <a:lstStyle/>
                    <a:p>
                      <a:r>
                        <a:rPr sz="1200" b="0">
                          <a:solidFill>
                            <a:srgbClr val="1F2937"/>
                          </a:solidFill>
                        </a:rPr>
                        <a:t>Och-havo rang flyuoressensiya</a:t>
                      </a:r>
                    </a:p>
                  </a:txBody>
                  <a:tcPr marL="73152" marR="73152" marT="36576" marB="36576">
                    <a:solidFill>
                      <a:srgbClr val="FFFFFF"/>
                    </a:solidFill>
                  </a:tcPr>
                </a:tc>
                <a:tc>
                  <a:txBody>
                    <a:bodyPr/>
                    <a:lstStyle/>
                    <a:p>
                      <a:r>
                        <a:rPr sz="1200" b="0">
                          <a:solidFill>
                            <a:srgbClr val="1F2937"/>
                          </a:solidFill>
                        </a:rPr>
                        <a:t>Taxminiy</a:t>
                      </a:r>
                    </a:p>
                  </a:txBody>
                  <a:tcPr marL="73152" marR="73152" marT="36576" marB="36576">
                    <a:solidFill>
                      <a:srgbClr val="FFFFFF"/>
                    </a:solidFill>
                  </a:tcPr>
                </a:tc>
              </a:tr>
              <a:tr h="411480">
                <a:tc>
                  <a:txBody>
                    <a:bodyPr/>
                    <a:lstStyle/>
                    <a:p>
                      <a:r>
                        <a:rPr sz="1200" b="0">
                          <a:solidFill>
                            <a:srgbClr val="1F2937"/>
                          </a:solidFill>
                        </a:rPr>
                        <a:t>Morfologik</a:t>
                      </a:r>
                    </a:p>
                  </a:txBody>
                  <a:tcPr marL="73152" marR="73152" marT="36576" marB="36576">
                    <a:solidFill>
                      <a:srgbClr val="E8EEF6"/>
                    </a:solidFill>
                  </a:tcPr>
                </a:tc>
                <a:tc>
                  <a:txBody>
                    <a:bodyPr/>
                    <a:lstStyle/>
                    <a:p>
                      <a:r>
                        <a:rPr sz="1200" b="0">
                          <a:solidFill>
                            <a:srgbClr val="1F2937"/>
                          </a:solidFill>
                        </a:rPr>
                        <a:t>Butun spermatozoid topiladi</a:t>
                      </a:r>
                    </a:p>
                  </a:txBody>
                  <a:tcPr marL="73152" marR="73152" marT="36576" marB="36576">
                    <a:solidFill>
                      <a:srgbClr val="E8EEF6"/>
                    </a:solidFill>
                  </a:tcPr>
                </a:tc>
                <a:tc>
                  <a:txBody>
                    <a:bodyPr/>
                    <a:lstStyle/>
                    <a:p>
                      <a:r>
                        <a:rPr sz="1200" b="0">
                          <a:solidFill>
                            <a:srgbClr val="1F2937"/>
                          </a:solidFill>
                        </a:rPr>
                        <a:t>Ishonchli</a:t>
                      </a:r>
                    </a:p>
                  </a:txBody>
                  <a:tcPr marL="73152" marR="73152" marT="36576" marB="36576">
                    <a:solidFill>
                      <a:srgbClr val="E8EEF6"/>
                    </a:solidFill>
                  </a:tcPr>
                </a:tc>
              </a:tr>
              <a:tr h="411480">
                <a:tc>
                  <a:txBody>
                    <a:bodyPr/>
                    <a:lstStyle/>
                    <a:p>
                      <a:r>
                        <a:rPr sz="1200" b="0">
                          <a:solidFill>
                            <a:srgbClr val="1F2937"/>
                          </a:solidFill>
                        </a:rPr>
                        <a:t>Xromatografiya</a:t>
                      </a:r>
                    </a:p>
                  </a:txBody>
                  <a:tcPr marL="73152" marR="73152" marT="36576" marB="36576">
                    <a:solidFill>
                      <a:srgbClr val="FFFFFF"/>
                    </a:solidFill>
                  </a:tcPr>
                </a:tc>
                <a:tc>
                  <a:txBody>
                    <a:bodyPr/>
                    <a:lstStyle/>
                    <a:p>
                      <a:r>
                        <a:rPr sz="1200" b="0">
                          <a:solidFill>
                            <a:srgbClr val="1F2937"/>
                          </a:solidFill>
                        </a:rPr>
                        <a:t>Xolin, spermin, nordon fosfataza</a:t>
                      </a:r>
                    </a:p>
                  </a:txBody>
                  <a:tcPr marL="73152" marR="73152" marT="36576" marB="36576">
                    <a:solidFill>
                      <a:srgbClr val="FFFFFF"/>
                    </a:solidFill>
                  </a:tcPr>
                </a:tc>
                <a:tc>
                  <a:txBody>
                    <a:bodyPr/>
                    <a:lstStyle/>
                    <a:p>
                      <a:r>
                        <a:rPr sz="1200" b="0">
                          <a:solidFill>
                            <a:srgbClr val="1F2937"/>
                          </a:solidFill>
                        </a:rPr>
                        <a:t>Ishonchli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Maniyni aniqlash usullari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Maniyning guruhiy mansubligi: ajratuvchilar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Guruhiy mansublik qondagidek guruhiy omillar bilan aniqlanadi; ko‘pincha AVO eritrotsitar tizimi tekshiriladi.</a:t>
            </a:r>
          </a:p>
          <a:p>
            <a:pPr>
              <a:spcAft>
                <a:spcPts val="800"/>
              </a:spcAft>
            </a:pPr>
            <a:r>
              <a:rPr sz="1800">
                <a:solidFill>
                  <a:srgbClr val="1F2937"/>
                </a:solidFill>
                <a:latin typeface="Calibri"/>
              </a:rPr>
              <a:t>▸  Taxminan 80% odamda guruhiy antigenlar maniy, so‘lak, siydik kabi ajratmalarda ham topiladi — ular ajratuvchilar.</a:t>
            </a:r>
          </a:p>
          <a:p>
            <a:pPr>
              <a:spcAft>
                <a:spcPts val="800"/>
              </a:spcAft>
            </a:pPr>
            <a:r>
              <a:rPr sz="1800">
                <a:solidFill>
                  <a:srgbClr val="1F2937"/>
                </a:solidFill>
                <a:latin typeface="Calibri"/>
              </a:rPr>
              <a:t>▸  Diqqat: aniqlangan guruhiy omil qin yoki to‘g‘ri ichak ajratmasidagi jabrlanuvchiniki bo‘lishi mumkin.</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2321550"/>
                <a:gridCol w="2966425"/>
              </a:tblGrid>
              <a:tr h="411480">
                <a:tc>
                  <a:txBody>
                    <a:bodyPr/>
                    <a:lstStyle/>
                    <a:p>
                      <a:r>
                        <a:rPr sz="1400" b="1">
                          <a:solidFill>
                            <a:srgbClr val="FFFFFF"/>
                          </a:solidFill>
                        </a:rPr>
                        <a:t>Lyuis guruhi</a:t>
                      </a:r>
                    </a:p>
                  </a:txBody>
                  <a:tcPr marL="73152" marR="73152" marT="36576" marB="36576">
                    <a:solidFill>
                      <a:srgbClr val="0B1F3A"/>
                    </a:solidFill>
                  </a:tcPr>
                </a:tc>
                <a:tc>
                  <a:txBody>
                    <a:bodyPr/>
                    <a:lstStyle/>
                    <a:p>
                      <a:r>
                        <a:rPr sz="1400" b="1">
                          <a:solidFill>
                            <a:srgbClr val="FFFFFF"/>
                          </a:solidFill>
                        </a:rPr>
                        <a:t>Xulosa</a:t>
                      </a:r>
                    </a:p>
                  </a:txBody>
                  <a:tcPr marL="73152" marR="73152" marT="36576" marB="36576">
                    <a:solidFill>
                      <a:srgbClr val="0B1F3A"/>
                    </a:solidFill>
                  </a:tcPr>
                </a:tc>
              </a:tr>
              <a:tr h="411480">
                <a:tc>
                  <a:txBody>
                    <a:bodyPr/>
                    <a:lstStyle/>
                    <a:p>
                      <a:r>
                        <a:rPr sz="1300" b="0">
                          <a:solidFill>
                            <a:srgbClr val="1F2937"/>
                          </a:solidFill>
                        </a:rPr>
                        <a:t>Le (a- b+)</a:t>
                      </a:r>
                    </a:p>
                  </a:txBody>
                  <a:tcPr marL="73152" marR="73152" marT="36576" marB="36576">
                    <a:solidFill>
                      <a:srgbClr val="E8EEF6"/>
                    </a:solidFill>
                  </a:tcPr>
                </a:tc>
                <a:tc>
                  <a:txBody>
                    <a:bodyPr/>
                    <a:lstStyle/>
                    <a:p>
                      <a:r>
                        <a:rPr sz="1300" b="0">
                          <a:solidFill>
                            <a:srgbClr val="1F2937"/>
                          </a:solidFill>
                        </a:rPr>
                        <a:t>Ajratuvchi</a:t>
                      </a:r>
                    </a:p>
                  </a:txBody>
                  <a:tcPr marL="73152" marR="73152" marT="36576" marB="36576">
                    <a:solidFill>
                      <a:srgbClr val="E8EEF6"/>
                    </a:solidFill>
                  </a:tcPr>
                </a:tc>
              </a:tr>
              <a:tr h="411480">
                <a:tc>
                  <a:txBody>
                    <a:bodyPr/>
                    <a:lstStyle/>
                    <a:p>
                      <a:r>
                        <a:rPr sz="1300" b="0">
                          <a:solidFill>
                            <a:srgbClr val="1F2937"/>
                          </a:solidFill>
                        </a:rPr>
                        <a:t>Le (a+ b-)</a:t>
                      </a:r>
                    </a:p>
                  </a:txBody>
                  <a:tcPr marL="73152" marR="73152" marT="36576" marB="36576">
                    <a:solidFill>
                      <a:srgbClr val="FFFFFF"/>
                    </a:solidFill>
                  </a:tcPr>
                </a:tc>
                <a:tc>
                  <a:txBody>
                    <a:bodyPr/>
                    <a:lstStyle/>
                    <a:p>
                      <a:r>
                        <a:rPr sz="1300" b="0">
                          <a:solidFill>
                            <a:srgbClr val="1F2937"/>
                          </a:solidFill>
                        </a:rPr>
                        <a:t>Ajratuvchi emas</a:t>
                      </a:r>
                    </a:p>
                  </a:txBody>
                  <a:tcPr marL="73152" marR="73152" marT="36576" marB="36576">
                    <a:solidFill>
                      <a:srgbClr val="FFFFFF"/>
                    </a:solidFill>
                  </a:tcPr>
                </a:tc>
              </a:tr>
              <a:tr h="411480">
                <a:tc>
                  <a:txBody>
                    <a:bodyPr/>
                    <a:lstStyle/>
                    <a:p>
                      <a:r>
                        <a:rPr sz="1300" b="0">
                          <a:solidFill>
                            <a:srgbClr val="1F2937"/>
                          </a:solidFill>
                        </a:rPr>
                        <a:t>Le (a- b-)</a:t>
                      </a:r>
                    </a:p>
                  </a:txBody>
                  <a:tcPr marL="73152" marR="73152" marT="36576" marB="36576">
                    <a:solidFill>
                      <a:srgbClr val="E8EEF6"/>
                    </a:solidFill>
                  </a:tcPr>
                </a:tc>
                <a:tc>
                  <a:txBody>
                    <a:bodyPr/>
                    <a:lstStyle/>
                    <a:p>
                      <a:r>
                        <a:rPr sz="1300" b="0">
                          <a:solidFill>
                            <a:srgbClr val="1F2937"/>
                          </a:solidFill>
                        </a:rPr>
                        <a:t>Aniq belgilab bo‘lmaydi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Lyuis tizimi va ajratuvchanlik</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maniy dog‘i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jinsiy jinoyat joyidagi choyshabda shubhali dog‘ topildi. Dog‘ cheti landkartasimon, kraxmal zichligida; yorqin matoda sargimtir yoki kul rang tusli.</a:t>
            </a:r>
          </a:p>
          <a:p>
            <a:pPr>
              <a:spcAft>
                <a:spcPts val="1200"/>
              </a:spcAft>
            </a:pPr>
            <a:r>
              <a:rPr sz="2000">
                <a:solidFill>
                  <a:srgbClr val="1F2937"/>
                </a:solidFill>
                <a:latin typeface="Calibri"/>
              </a:rPr>
              <a:t>▸  Namuna: choyshab to‘liq olinadi; katta bo‘lsa, dog‘li bo‘lak va dog‘siz joydan kontrol namuna olinadi. Gumondor va jabrlanuvchidan qon, so‘lak olinadi.</a:t>
            </a:r>
          </a:p>
          <a:p>
            <a:pPr>
              <a:spcAft>
                <a:spcPts val="1200"/>
              </a:spcAft>
            </a:pPr>
            <a:r>
              <a:rPr sz="2000">
                <a:solidFill>
                  <a:srgbClr val="1F2937"/>
                </a:solidFill>
                <a:latin typeface="Calibri"/>
              </a:rPr>
              <a:t>▸  Usul: avval kartoshka sharbati yoki ultrabinafsha nur bilan taxmin qilinadi, so‘ng butun spermatozoid izlanadi. Savol: agar spermatozoid topilmasa-chi?</a:t>
            </a:r>
          </a:p>
          <a:p>
            <a:pPr>
              <a:spcAft>
                <a:spcPts val="1200"/>
              </a:spcAft>
            </a:pPr>
            <a:r>
              <a:rPr sz="2000">
                <a:solidFill>
                  <a:srgbClr val="1F2937"/>
                </a:solidFill>
                <a:latin typeface="Calibri"/>
              </a:rPr>
              <a:t>▸  Javob: azospermiya yoki nekrospermiyada qog‘ozda xromatografiya qo‘llanadi; xolin, spermin va nordon fosfataza birga topilsa, maniy ishonchli aniqlanadi.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309, 310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Boshqa ajratmalar: so‘lak, ter, siydik, najas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So‘lak, ter, siydik va najas dog‘larida ajratma borligi, tur va guruhiy mansubligi aniqlanadi.</a:t>
            </a:r>
          </a:p>
          <a:p>
            <a:pPr>
              <a:spcAft>
                <a:spcPts val="800"/>
              </a:spcAft>
            </a:pPr>
            <a:r>
              <a:rPr sz="1800">
                <a:solidFill>
                  <a:srgbClr val="1F2937"/>
                </a:solidFill>
                <a:latin typeface="Calibri"/>
              </a:rPr>
              <a:t>▸  Siydik va najas dog‘lari amaliyotda kam tekshiriladi, asosan jinsiy jinoyatlar bilan bog‘liq bo‘ladi.</a:t>
            </a:r>
          </a:p>
          <a:p>
            <a:pPr>
              <a:spcAft>
                <a:spcPts val="800"/>
              </a:spcAft>
            </a:pPr>
            <a:r>
              <a:rPr sz="1800">
                <a:solidFill>
                  <a:srgbClr val="1F2937"/>
                </a:solidFill>
                <a:latin typeface="Calibri"/>
              </a:rPr>
              <a:t>▸  Diqqat: ob’ekt va kontrol namuna bitta o‘ramga solinmaydi; ikkalasi quritilib, alohida o‘raladi.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43345"/>
                <a:gridCol w="2286691"/>
                <a:gridCol w="1857937"/>
              </a:tblGrid>
              <a:tr h="411480">
                <a:tc>
                  <a:txBody>
                    <a:bodyPr/>
                    <a:lstStyle/>
                    <a:p>
                      <a:r>
                        <a:rPr sz="1300" b="1">
                          <a:solidFill>
                            <a:srgbClr val="FFFFFF"/>
                          </a:solidFill>
                        </a:rPr>
                        <a:t>Ajratma</a:t>
                      </a:r>
                    </a:p>
                  </a:txBody>
                  <a:tcPr marL="73152" marR="73152" marT="36576" marB="36576">
                    <a:solidFill>
                      <a:srgbClr val="0B1F3A"/>
                    </a:solidFill>
                  </a:tcPr>
                </a:tc>
                <a:tc>
                  <a:txBody>
                    <a:bodyPr/>
                    <a:lstStyle/>
                    <a:p>
                      <a:r>
                        <a:rPr sz="1300" b="1">
                          <a:solidFill>
                            <a:srgbClr val="FFFFFF"/>
                          </a:solidFill>
                        </a:rPr>
                        <a:t>Borligi belgisi</a:t>
                      </a:r>
                    </a:p>
                  </a:txBody>
                  <a:tcPr marL="73152" marR="73152" marT="36576" marB="36576">
                    <a:solidFill>
                      <a:srgbClr val="0B1F3A"/>
                    </a:solidFill>
                  </a:tcPr>
                </a:tc>
                <a:tc>
                  <a:txBody>
                    <a:bodyPr/>
                    <a:lstStyle/>
                    <a:p>
                      <a:r>
                        <a:rPr sz="1300" b="1">
                          <a:solidFill>
                            <a:srgbClr val="FFFFFF"/>
                          </a:solidFill>
                        </a:rPr>
                        <a:t>Tur va guruh</a:t>
                      </a:r>
                    </a:p>
                  </a:txBody>
                  <a:tcPr marL="73152" marR="73152" marT="36576" marB="36576">
                    <a:solidFill>
                      <a:srgbClr val="0B1F3A"/>
                    </a:solidFill>
                  </a:tcPr>
                </a:tc>
              </a:tr>
              <a:tr h="411480">
                <a:tc>
                  <a:txBody>
                    <a:bodyPr/>
                    <a:lstStyle/>
                    <a:p>
                      <a:r>
                        <a:rPr sz="1200" b="0">
                          <a:solidFill>
                            <a:srgbClr val="1F2937"/>
                          </a:solidFill>
                        </a:rPr>
                        <a:t>So‘lak</a:t>
                      </a:r>
                    </a:p>
                  </a:txBody>
                  <a:tcPr marL="73152" marR="73152" marT="36576" marB="36576">
                    <a:solidFill>
                      <a:srgbClr val="E8EEF6"/>
                    </a:solidFill>
                  </a:tcPr>
                </a:tc>
                <a:tc>
                  <a:txBody>
                    <a:bodyPr/>
                    <a:lstStyle/>
                    <a:p>
                      <a:r>
                        <a:rPr sz="1200" b="0">
                          <a:solidFill>
                            <a:srgbClr val="1F2937"/>
                          </a:solidFill>
                        </a:rPr>
                        <a:t>Amilaza fermenti</a:t>
                      </a:r>
                    </a:p>
                  </a:txBody>
                  <a:tcPr marL="73152" marR="73152" marT="36576" marB="36576">
                    <a:solidFill>
                      <a:srgbClr val="E8EEF6"/>
                    </a:solidFill>
                  </a:tcPr>
                </a:tc>
                <a:tc>
                  <a:txBody>
                    <a:bodyPr/>
                    <a:lstStyle/>
                    <a:p>
                      <a:r>
                        <a:rPr sz="1200" b="0">
                          <a:solidFill>
                            <a:srgbClr val="1F2937"/>
                          </a:solidFill>
                        </a:rPr>
                        <a:t>Tur: zardob; guruh: AVO</a:t>
                      </a:r>
                    </a:p>
                  </a:txBody>
                  <a:tcPr marL="73152" marR="73152" marT="36576" marB="36576">
                    <a:solidFill>
                      <a:srgbClr val="E8EEF6"/>
                    </a:solidFill>
                  </a:tcPr>
                </a:tc>
              </a:tr>
              <a:tr h="411480">
                <a:tc>
                  <a:txBody>
                    <a:bodyPr/>
                    <a:lstStyle/>
                    <a:p>
                      <a:r>
                        <a:rPr sz="1200" b="0">
                          <a:solidFill>
                            <a:srgbClr val="1F2937"/>
                          </a:solidFill>
                        </a:rPr>
                        <a:t>Ter</a:t>
                      </a:r>
                    </a:p>
                  </a:txBody>
                  <a:tcPr marL="73152" marR="73152" marT="36576" marB="36576">
                    <a:solidFill>
                      <a:srgbClr val="FFFFFF"/>
                    </a:solidFill>
                  </a:tcPr>
                </a:tc>
                <a:tc>
                  <a:txBody>
                    <a:bodyPr/>
                    <a:lstStyle/>
                    <a:p>
                      <a:r>
                        <a:rPr sz="1200" b="0">
                          <a:solidFill>
                            <a:srgbClr val="1F2937"/>
                          </a:solidFill>
                        </a:rPr>
                        <a:t>Serin aminokislotasi</a:t>
                      </a:r>
                    </a:p>
                  </a:txBody>
                  <a:tcPr marL="73152" marR="73152" marT="36576" marB="36576">
                    <a:solidFill>
                      <a:srgbClr val="FFFFFF"/>
                    </a:solidFill>
                  </a:tcPr>
                </a:tc>
                <a:tc>
                  <a:txBody>
                    <a:bodyPr/>
                    <a:lstStyle/>
                    <a:p>
                      <a:r>
                        <a:rPr sz="1200" b="0">
                          <a:solidFill>
                            <a:srgbClr val="1F2937"/>
                          </a:solidFill>
                        </a:rPr>
                        <a:t>Tur: kam kerak; guruh: AVO</a:t>
                      </a:r>
                    </a:p>
                  </a:txBody>
                  <a:tcPr marL="73152" marR="73152" marT="36576" marB="36576">
                    <a:solidFill>
                      <a:srgbClr val="FFFFFF"/>
                    </a:solidFill>
                  </a:tcPr>
                </a:tc>
              </a:tr>
              <a:tr h="411480">
                <a:tc>
                  <a:txBody>
                    <a:bodyPr/>
                    <a:lstStyle/>
                    <a:p>
                      <a:r>
                        <a:rPr sz="1200" b="0">
                          <a:solidFill>
                            <a:srgbClr val="1F2937"/>
                          </a:solidFill>
                        </a:rPr>
                        <a:t>Siydik</a:t>
                      </a:r>
                    </a:p>
                  </a:txBody>
                  <a:tcPr marL="73152" marR="73152" marT="36576" marB="36576">
                    <a:solidFill>
                      <a:srgbClr val="E8EEF6"/>
                    </a:solidFill>
                  </a:tcPr>
                </a:tc>
                <a:tc>
                  <a:txBody>
                    <a:bodyPr/>
                    <a:lstStyle/>
                    <a:p>
                      <a:r>
                        <a:rPr sz="1200" b="0">
                          <a:solidFill>
                            <a:srgbClr val="1F2937"/>
                          </a:solidFill>
                        </a:rPr>
                        <a:t>Kreatinin, mochevina</a:t>
                      </a:r>
                    </a:p>
                  </a:txBody>
                  <a:tcPr marL="73152" marR="73152" marT="36576" marB="36576">
                    <a:solidFill>
                      <a:srgbClr val="E8EEF6"/>
                    </a:solidFill>
                  </a:tcPr>
                </a:tc>
                <a:tc>
                  <a:txBody>
                    <a:bodyPr/>
                    <a:lstStyle/>
                    <a:p>
                      <a:r>
                        <a:rPr sz="1200" b="0">
                          <a:solidFill>
                            <a:srgbClr val="1F2937"/>
                          </a:solidFill>
                        </a:rPr>
                        <a:t>Tur: yo‘q; guruh: AVO</a:t>
                      </a:r>
                    </a:p>
                  </a:txBody>
                  <a:tcPr marL="73152" marR="73152" marT="36576" marB="36576">
                    <a:solidFill>
                      <a:srgbClr val="E8EEF6"/>
                    </a:solidFill>
                  </a:tcPr>
                </a:tc>
              </a:tr>
              <a:tr h="411480">
                <a:tc>
                  <a:txBody>
                    <a:bodyPr/>
                    <a:lstStyle/>
                    <a:p>
                      <a:r>
                        <a:rPr sz="1200" b="0">
                          <a:solidFill>
                            <a:srgbClr val="1F2937"/>
                          </a:solidFill>
                        </a:rPr>
                        <a:t>Najas</a:t>
                      </a:r>
                    </a:p>
                  </a:txBody>
                  <a:tcPr marL="73152" marR="73152" marT="36576" marB="36576">
                    <a:solidFill>
                      <a:srgbClr val="FFFFFF"/>
                    </a:solidFill>
                  </a:tcPr>
                </a:tc>
                <a:tc>
                  <a:txBody>
                    <a:bodyPr/>
                    <a:lstStyle/>
                    <a:p>
                      <a:r>
                        <a:rPr sz="1200" b="0">
                          <a:solidFill>
                            <a:srgbClr val="1F2937"/>
                          </a:solidFill>
                        </a:rPr>
                        <a:t>Ovqat qoldig‘i, mikroblar, tuxum</a:t>
                      </a:r>
                    </a:p>
                  </a:txBody>
                  <a:tcPr marL="73152" marR="73152" marT="36576" marB="36576">
                    <a:solidFill>
                      <a:srgbClr val="FFFFFF"/>
                    </a:solidFill>
                  </a:tcPr>
                </a:tc>
                <a:tc>
                  <a:txBody>
                    <a:bodyPr/>
                    <a:lstStyle/>
                    <a:p>
                      <a:r>
                        <a:rPr sz="1200" b="0">
                          <a:solidFill>
                            <a:srgbClr val="1F2937"/>
                          </a:solidFill>
                        </a:rPr>
                        <a:t>Tur va guruh aniqlanmaydi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Ajratmalarni tekshirish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311-312, 312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A‘zo va to‘qima bo‘laklari, timoq osti zarralari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Bo‘laklar hodisa joyida, shikastlovchi qurolda, timoq osti zarralari esa jabrlanuvchi qo‘lida topilishi mumkin.</a:t>
            </a:r>
          </a:p>
          <a:p>
            <a:pPr>
              <a:spcAft>
                <a:spcPts val="800"/>
              </a:spcAft>
            </a:pPr>
            <a:r>
              <a:rPr sz="1800">
                <a:solidFill>
                  <a:srgbClr val="1F2937"/>
                </a:solidFill>
                <a:latin typeface="Calibri"/>
              </a:rPr>
              <a:t>▸  Bo‘lak qaysi a’zo yoki to‘qimaga tegishliligi uning o‘lchamiga qarab gistologik yoki sitologik usulda hal etiladi.</a:t>
            </a:r>
          </a:p>
          <a:p>
            <a:pPr>
              <a:spcAft>
                <a:spcPts val="800"/>
              </a:spcAft>
            </a:pPr>
            <a:r>
              <a:rPr sz="1800">
                <a:solidFill>
                  <a:srgbClr val="1F2937"/>
                </a:solidFill>
                <a:latin typeface="Calibri"/>
              </a:rPr>
              <a:t>▸  Tur — pretsipitatsiya; guruh — AVO tizimi bo‘yicha absorbsiya-elyusiya; jins — sitologik usul.</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Hodisa joyida bo‘lak topiladi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Gistologik/sitologik tekshiruv</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Tur: pretsipitatsiya reaksiyasi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Guruh: absorbsiya-elyusiya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Jins: sitologik tekshiruv</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Bo‘lakni tekshirish tartibi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Sochni tekshirish: savollar va namuna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Soch shikastlovchi qurolda, transport vositasida, jabrlanuvchi kiyimi va qo‘llarida, ba’zan ayblanuvchida topiladi.</a:t>
            </a:r>
          </a:p>
          <a:p>
            <a:pPr>
              <a:spcAft>
                <a:spcPts val="1200"/>
              </a:spcAft>
            </a:pPr>
            <a:r>
              <a:rPr sz="2200">
                <a:solidFill>
                  <a:srgbClr val="1F2937"/>
                </a:solidFill>
                <a:latin typeface="Calibri"/>
              </a:rPr>
              <a:t>▸  Sochlar yaxshi yorug‘likda ko‘z yoki lupa bilan topiladi, pinset bilan olinadi va har sohadan alohida paketga solinadi.</a:t>
            </a:r>
          </a:p>
          <a:p>
            <a:pPr>
              <a:spcAft>
                <a:spcPts val="1200"/>
              </a:spcAft>
            </a:pPr>
            <a:r>
              <a:rPr sz="2200">
                <a:solidFill>
                  <a:srgbClr val="1F2937"/>
                </a:solidFill>
                <a:latin typeface="Calibri"/>
              </a:rPr>
              <a:t>▸  Kontrol namuna: boshning besh sohasidan (peshona, tepa, ikki chekka, ensa) 20-30 tolali tutam teriga yaqin kesiladi.</a:t>
            </a:r>
          </a:p>
          <a:p>
            <a:pPr>
              <a:spcAft>
                <a:spcPts val="1200"/>
              </a:spcAft>
            </a:pPr>
            <a:r>
              <a:rPr sz="2200">
                <a:solidFill>
                  <a:srgbClr val="1F2937"/>
                </a:solidFill>
                <a:latin typeface="Calibri"/>
              </a:rPr>
              <a:t>▸  Ekspertiza hal etadi: tola soch ekanligi, odam yoki hayvonniki ekanligi, guruh, soha, tushgan yoki yulinganligi, ta’sir turi, shaxsga mansubligi.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312-313, 313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Odam va hayvon sochining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Soch ildiz va sterjendan iborat; sterjenda kutikula, po‘stloq va mag‘iz qavatlari farqlanadi.</a:t>
            </a:r>
          </a:p>
          <a:p>
            <a:pPr>
              <a:spcAft>
                <a:spcPts val="800"/>
              </a:spcAft>
            </a:pPr>
            <a:r>
              <a:rPr sz="1800">
                <a:solidFill>
                  <a:srgbClr val="1F2937"/>
                </a:solidFill>
                <a:latin typeface="Calibri"/>
              </a:rPr>
              <a:t>▸  Diqqat: odamda po‘stloq, hayvonda mag‘iz qavati qalinroq. Ularni almashtirib yubormang.</a:t>
            </a:r>
          </a:p>
          <a:p>
            <a:pPr>
              <a:spcAft>
                <a:spcPts val="800"/>
              </a:spcAft>
            </a:pPr>
            <a:r>
              <a:rPr sz="1800">
                <a:solidFill>
                  <a:srgbClr val="1F2937"/>
                </a:solidFill>
                <a:latin typeface="Calibri"/>
              </a:rPr>
              <a:t>▸  Hayvon turini aniqlash uchun soch kolleksiya namunalari yoki atlas tasvirlari bilan solishtiriladi.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87863"/>
                <a:gridCol w="2208165"/>
                <a:gridCol w="2091946"/>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Odam</a:t>
                      </a:r>
                    </a:p>
                  </a:txBody>
                  <a:tcPr marL="73152" marR="73152" marT="36576" marB="36576">
                    <a:solidFill>
                      <a:srgbClr val="0B1F3A"/>
                    </a:solidFill>
                  </a:tcPr>
                </a:tc>
                <a:tc>
                  <a:txBody>
                    <a:bodyPr/>
                    <a:lstStyle/>
                    <a:p>
                      <a:r>
                        <a:rPr sz="1300" b="1">
                          <a:solidFill>
                            <a:srgbClr val="FFFFFF"/>
                          </a:solidFill>
                        </a:rPr>
                        <a:t>Hayvon</a:t>
                      </a:r>
                    </a:p>
                  </a:txBody>
                  <a:tcPr marL="73152" marR="73152" marT="36576" marB="36576">
                    <a:solidFill>
                      <a:srgbClr val="0B1F3A"/>
                    </a:solidFill>
                  </a:tcPr>
                </a:tc>
              </a:tr>
              <a:tr h="411480">
                <a:tc>
                  <a:txBody>
                    <a:bodyPr/>
                    <a:lstStyle/>
                    <a:p>
                      <a:r>
                        <a:rPr sz="1200" b="0">
                          <a:solidFill>
                            <a:srgbClr val="1F2937"/>
                          </a:solidFill>
                        </a:rPr>
                        <a:t>Tashqi qavat</a:t>
                      </a:r>
                    </a:p>
                  </a:txBody>
                  <a:tcPr marL="73152" marR="73152" marT="36576" marB="36576">
                    <a:solidFill>
                      <a:srgbClr val="E8EEF6"/>
                    </a:solidFill>
                  </a:tcPr>
                </a:tc>
                <a:tc>
                  <a:txBody>
                    <a:bodyPr/>
                    <a:lstStyle/>
                    <a:p>
                      <a:r>
                        <a:rPr sz="1200" b="0">
                          <a:solidFill>
                            <a:srgbClr val="1F2937"/>
                          </a:solidFill>
                        </a:rPr>
                        <a:t>Mayda, zich tishchali, o‘qqa yopishgan</a:t>
                      </a:r>
                    </a:p>
                  </a:txBody>
                  <a:tcPr marL="73152" marR="73152" marT="36576" marB="36576">
                    <a:solidFill>
                      <a:srgbClr val="E8EEF6"/>
                    </a:solidFill>
                  </a:tcPr>
                </a:tc>
                <a:tc>
                  <a:txBody>
                    <a:bodyPr/>
                    <a:lstStyle/>
                    <a:p>
                      <a:r>
                        <a:rPr sz="1200" b="0">
                          <a:solidFill>
                            <a:srgbClr val="1F2937"/>
                          </a:solidFill>
                        </a:rPr>
                        <a:t>Yirik, ba’zan arrasimon, uzoqlashgan</a:t>
                      </a:r>
                    </a:p>
                  </a:txBody>
                  <a:tcPr marL="73152" marR="73152" marT="36576" marB="36576">
                    <a:solidFill>
                      <a:srgbClr val="E8EEF6"/>
                    </a:solidFill>
                  </a:tcPr>
                </a:tc>
              </a:tr>
              <a:tr h="411480">
                <a:tc>
                  <a:txBody>
                    <a:bodyPr/>
                    <a:lstStyle/>
                    <a:p>
                      <a:r>
                        <a:rPr sz="1200" b="0">
                          <a:solidFill>
                            <a:srgbClr val="1F2937"/>
                          </a:solidFill>
                        </a:rPr>
                        <a:t>Kutikula bosmasi</a:t>
                      </a:r>
                    </a:p>
                  </a:txBody>
                  <a:tcPr marL="73152" marR="73152" marT="36576" marB="36576">
                    <a:solidFill>
                      <a:srgbClr val="FFFFFF"/>
                    </a:solidFill>
                  </a:tcPr>
                </a:tc>
                <a:tc>
                  <a:txBody>
                    <a:bodyPr/>
                    <a:lstStyle/>
                    <a:p>
                      <a:r>
                        <a:rPr sz="1200" b="0">
                          <a:solidFill>
                            <a:srgbClr val="1F2937"/>
                          </a:solidFill>
                        </a:rPr>
                        <a:t>Yaqin, to‘lqinsimon chiziqlar</a:t>
                      </a:r>
                    </a:p>
                  </a:txBody>
                  <a:tcPr marL="73152" marR="73152" marT="36576" marB="36576">
                    <a:solidFill>
                      <a:srgbClr val="FFFFFF"/>
                    </a:solidFill>
                  </a:tcPr>
                </a:tc>
                <a:tc>
                  <a:txBody>
                    <a:bodyPr/>
                    <a:lstStyle/>
                    <a:p>
                      <a:r>
                        <a:rPr sz="1200" b="0">
                          <a:solidFill>
                            <a:srgbClr val="1F2937"/>
                          </a:solidFill>
                        </a:rPr>
                        <a:t>Turli shakldagi chiziqlar</a:t>
                      </a:r>
                    </a:p>
                  </a:txBody>
                  <a:tcPr marL="73152" marR="73152" marT="36576" marB="36576">
                    <a:solidFill>
                      <a:srgbClr val="FFFFFF"/>
                    </a:solidFill>
                  </a:tcPr>
                </a:tc>
              </a:tr>
              <a:tr h="411480">
                <a:tc>
                  <a:txBody>
                    <a:bodyPr/>
                    <a:lstStyle/>
                    <a:p>
                      <a:r>
                        <a:rPr sz="1200" b="0">
                          <a:solidFill>
                            <a:srgbClr val="1F2937"/>
                          </a:solidFill>
                        </a:rPr>
                        <a:t>Po‘stloq / mag‘iz</a:t>
                      </a:r>
                    </a:p>
                  </a:txBody>
                  <a:tcPr marL="73152" marR="73152" marT="36576" marB="36576">
                    <a:solidFill>
                      <a:srgbClr val="E8EEF6"/>
                    </a:solidFill>
                  </a:tcPr>
                </a:tc>
                <a:tc>
                  <a:txBody>
                    <a:bodyPr/>
                    <a:lstStyle/>
                    <a:p>
                      <a:r>
                        <a:rPr sz="1200" b="0">
                          <a:solidFill>
                            <a:srgbClr val="1F2937"/>
                          </a:solidFill>
                        </a:rPr>
                        <a:t>Po‘stloq keng, mag‘iz ingichka</a:t>
                      </a:r>
                    </a:p>
                  </a:txBody>
                  <a:tcPr marL="73152" marR="73152" marT="36576" marB="36576">
                    <a:solidFill>
                      <a:srgbClr val="E8EEF6"/>
                    </a:solidFill>
                  </a:tcPr>
                </a:tc>
                <a:tc>
                  <a:txBody>
                    <a:bodyPr/>
                    <a:lstStyle/>
                    <a:p>
                      <a:r>
                        <a:rPr sz="1200" b="0">
                          <a:solidFill>
                            <a:srgbClr val="1F2937"/>
                          </a:solidFill>
                        </a:rPr>
                        <a:t>Mag‘iz qalinlikning asosiy qismi</a:t>
                      </a:r>
                    </a:p>
                  </a:txBody>
                  <a:tcPr marL="73152" marR="73152" marT="36576" marB="36576">
                    <a:solidFill>
                      <a:srgbClr val="E8EEF6"/>
                    </a:solidFill>
                  </a:tcPr>
                </a:tc>
              </a:tr>
              <a:tr h="411480">
                <a:tc>
                  <a:txBody>
                    <a:bodyPr/>
                    <a:lstStyle/>
                    <a:p>
                      <a:r>
                        <a:rPr sz="1200" b="0">
                          <a:solidFill>
                            <a:srgbClr val="1F2937"/>
                          </a:solidFill>
                        </a:rPr>
                        <a:t>Pigment</a:t>
                      </a:r>
                    </a:p>
                  </a:txBody>
                  <a:tcPr marL="73152" marR="73152" marT="36576" marB="36576">
                    <a:solidFill>
                      <a:srgbClr val="FFFFFF"/>
                    </a:solidFill>
                  </a:tcPr>
                </a:tc>
                <a:tc>
                  <a:txBody>
                    <a:bodyPr/>
                    <a:lstStyle/>
                    <a:p>
                      <a:r>
                        <a:rPr sz="1200" b="0">
                          <a:solidFill>
                            <a:srgbClr val="1F2937"/>
                          </a:solidFill>
                        </a:rPr>
                        <a:t>Po‘stloqning chekka qismida</a:t>
                      </a:r>
                    </a:p>
                  </a:txBody>
                  <a:tcPr marL="73152" marR="73152" marT="36576" marB="36576">
                    <a:solidFill>
                      <a:srgbClr val="FFFFFF"/>
                    </a:solidFill>
                  </a:tcPr>
                </a:tc>
                <a:tc>
                  <a:txBody>
                    <a:bodyPr/>
                    <a:lstStyle/>
                    <a:p>
                      <a:r>
                        <a:rPr sz="1200" b="0">
                          <a:solidFill>
                            <a:srgbClr val="1F2937"/>
                          </a:solidFill>
                        </a:rPr>
                        <a:t>Po‘stloqning mag‘izga yaqin qismida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Odam va hayvon sochi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313, 314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Sochdagi ta’sir izlari va regional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Kesilgan soch uchi tekis yoki mayda tishli; keskin uzilganda yuza tekis, sekin uzilganda zinasimon. Ezilish va tolalanish o‘tmas jismga xos.</a:t>
            </a:r>
          </a:p>
          <a:p>
            <a:pPr>
              <a:spcAft>
                <a:spcPts val="1200"/>
              </a:spcAft>
            </a:pPr>
            <a:r>
              <a:rPr sz="2200">
                <a:solidFill>
                  <a:srgbClr val="1F2937"/>
                </a:solidFill>
                <a:latin typeface="Calibri"/>
              </a:rPr>
              <a:t>▸  Yuqori haroratda soch buraladi, malla tusga kiradi, ichida havoli bo‘shliqlar paydo bo‘ladi; 200 gradusdan oshganda ko‘mirlanadi.</a:t>
            </a:r>
          </a:p>
          <a:p>
            <a:pPr>
              <a:spcAft>
                <a:spcPts val="1200"/>
              </a:spcAft>
            </a:pPr>
            <a:r>
              <a:rPr sz="2200">
                <a:solidFill>
                  <a:srgbClr val="1F2937"/>
                </a:solidFill>
                <a:latin typeface="Calibri"/>
              </a:rPr>
              <a:t>▸  Yulingan sochda ilmoqsimon piyozcha va qin xaltasi qoldig‘i bo‘ladi. To‘kilgan soch ildizi ovalsimon, kolbasimon, qin xaltasi yo‘q.</a:t>
            </a:r>
          </a:p>
          <a:p>
            <a:pPr>
              <a:spcAft>
                <a:spcPts val="1200"/>
              </a:spcAft>
            </a:pPr>
            <a:r>
              <a:rPr sz="2200">
                <a:solidFill>
                  <a:srgbClr val="1F2937"/>
                </a:solidFill>
                <a:latin typeface="Calibri"/>
              </a:rPr>
              <a:t>▸  Regionni uzunlik, qalinlik va kesim shakli ko‘rsatadi. Muayyan shaxsga mansublik qat’iy emas, ehtimol ko‘rinishida hal etiladi.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315, 314-315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yo‘l-transport hodisasida soch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avtomobilning tashqi va ichki qismidan soch topildi. Savol: ekspertiza qaysi masalalarni hal etadi?</a:t>
            </a:r>
          </a:p>
          <a:p>
            <a:pPr>
              <a:spcAft>
                <a:spcPts val="1200"/>
              </a:spcAft>
            </a:pPr>
            <a:r>
              <a:rPr sz="2200">
                <a:solidFill>
                  <a:srgbClr val="1F2937"/>
                </a:solidFill>
                <a:latin typeface="Calibri"/>
              </a:rPr>
              <a:t>▸  Avval tola sochmi, odam yoki hayvonnikimi aniqlanadi. Keyin guruhiy va regional mansublik, o‘zi tushgan yoki yulinganligi, ta’sir turi o‘rganiladi.</a:t>
            </a:r>
          </a:p>
          <a:p>
            <a:pPr>
              <a:spcAft>
                <a:spcPts val="1200"/>
              </a:spcAft>
            </a:pPr>
            <a:r>
              <a:rPr sz="2200">
                <a:solidFill>
                  <a:srgbClr val="1F2937"/>
                </a:solidFill>
                <a:latin typeface="Calibri"/>
              </a:rPr>
              <a:t>▸  Soch pinset bilan olinadi, har joydan alohida belgilangan qog‘oz paketga solinadi. Taqqoslash uchun boshning besh sohasidan 20–30 tolali tutam kesiladi.</a:t>
            </a:r>
          </a:p>
          <a:p>
            <a:pPr>
              <a:spcAft>
                <a:spcPts val="1200"/>
              </a:spcAft>
            </a:pPr>
            <a:r>
              <a:rPr sz="2200">
                <a:solidFill>
                  <a:srgbClr val="1F2937"/>
                </a:solidFill>
                <a:latin typeface="Calibri"/>
              </a:rPr>
              <a:t>▸  Diqqat: sochning muayyan shaxsga mansubligi qat’iy emas, ehtimol ko‘rinishida xulosa qilinadi.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312-313, 313, 315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Sud-gistologik tekshiruv: tayinlanishi va bajaruvchi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alohida sud-gistologik ekspertiza amaliyotda juda kam tayinlanadi.</a:t>
            </a:r>
          </a:p>
          <a:p>
            <a:pPr>
              <a:spcAft>
                <a:spcPts val="1200"/>
              </a:spcAft>
            </a:pPr>
            <a:r>
              <a:rPr sz="2200">
                <a:solidFill>
                  <a:srgbClr val="1F2937"/>
                </a:solidFill>
                <a:latin typeface="Calibri"/>
              </a:rPr>
              <a:t>▸  Odatda u o‘lim holatlari bo‘yicha birlamchi, qo‘shimcha, qayta va komission sud-tibbiy ekspertizalar jarayonida o‘tkaziladi.</a:t>
            </a:r>
          </a:p>
          <a:p>
            <a:pPr>
              <a:spcAft>
                <a:spcPts val="1200"/>
              </a:spcAft>
            </a:pPr>
            <a:r>
              <a:rPr sz="2200">
                <a:solidFill>
                  <a:srgbClr val="1F2937"/>
                </a:solidFill>
                <a:latin typeface="Calibri"/>
              </a:rPr>
              <a:t>▸  Ba’zan tirik shaxslarga ko‘rsatilgan tibbiy yordamni baholovchi komission ekspertizada operatsiyada olingan a’zo yoki to‘qima bo‘laklari ham tekshiriladi.</a:t>
            </a:r>
          </a:p>
          <a:p>
            <a:pPr>
              <a:spcAft>
                <a:spcPts val="1200"/>
              </a:spcAft>
            </a:pPr>
            <a:r>
              <a:rPr sz="2200">
                <a:solidFill>
                  <a:srgbClr val="1F2937"/>
                </a:solidFill>
                <a:latin typeface="Calibri"/>
              </a:rPr>
              <a:t>▸  Tekshiruvni umumiy profil eksperti yo‘llanma bilan beradi, uni sud-gistologik bo‘limdagi maxsus tayyorgarlikli mutaxassis bajaradi. Tayyorgarligi bor umumiy profil eksperti ham bajara 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315, 315-316, 316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Sud-gistologik tekshiruv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Voqeaga qarab, tashqi omil yoki kasallikdan a’zo va to‘qimalarda vujudga kelgan o‘zgarishlar aniqlanib, baholanadi.</a:t>
            </a:r>
          </a:p>
          <a:p>
            <a:pPr>
              <a:spcAft>
                <a:spcPts val="800"/>
              </a:spcAft>
            </a:pPr>
            <a:r>
              <a:rPr sz="1800">
                <a:solidFill>
                  <a:srgbClr val="1F2937"/>
                </a:solidFill>
                <a:latin typeface="Calibri"/>
              </a:rPr>
              <a:t>▸  Jarohatlarning hayotiyligi va yetkazilish muddati aniqlanadi.</a:t>
            </a:r>
          </a:p>
          <a:p>
            <a:pPr>
              <a:spcAft>
                <a:spcPts val="800"/>
              </a:spcAft>
            </a:pPr>
            <a:r>
              <a:rPr sz="1800">
                <a:solidFill>
                  <a:srgbClr val="1F2937"/>
                </a:solidFill>
                <a:latin typeface="Calibri"/>
              </a:rPr>
              <a:t>▸  Mutaxassisning bilimi va vakolati doirasidagi boshqa masalalar ham hal etiladi.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02907"/>
                <a:gridCol w="3585067"/>
              </a:tblGrid>
              <a:tr h="411480">
                <a:tc>
                  <a:txBody>
                    <a:bodyPr/>
                    <a:lstStyle/>
                    <a:p>
                      <a:r>
                        <a:rPr sz="1400" b="1">
                          <a:solidFill>
                            <a:srgbClr val="FFFFFF"/>
                          </a:solidFill>
                        </a:rPr>
                        <a:t>Vazifa</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Patologik o‘zgarish</a:t>
                      </a:r>
                    </a:p>
                  </a:txBody>
                  <a:tcPr marL="73152" marR="73152" marT="36576" marB="36576">
                    <a:solidFill>
                      <a:srgbClr val="E8EEF6"/>
                    </a:solidFill>
                  </a:tcPr>
                </a:tc>
                <a:tc>
                  <a:txBody>
                    <a:bodyPr/>
                    <a:lstStyle/>
                    <a:p>
                      <a:r>
                        <a:rPr sz="1300" b="0">
                          <a:solidFill>
                            <a:srgbClr val="1F2937"/>
                          </a:solidFill>
                        </a:rPr>
                        <a:t>Omil yoki kasallik izini baholash</a:t>
                      </a:r>
                    </a:p>
                  </a:txBody>
                  <a:tcPr marL="73152" marR="73152" marT="36576" marB="36576">
                    <a:solidFill>
                      <a:srgbClr val="E8EEF6"/>
                    </a:solidFill>
                  </a:tcPr>
                </a:tc>
              </a:tr>
              <a:tr h="411480">
                <a:tc>
                  <a:txBody>
                    <a:bodyPr/>
                    <a:lstStyle/>
                    <a:p>
                      <a:r>
                        <a:rPr sz="1300" b="0">
                          <a:solidFill>
                            <a:srgbClr val="1F2937"/>
                          </a:solidFill>
                        </a:rPr>
                        <a:t>Jarohat hayotiyligi</a:t>
                      </a:r>
                    </a:p>
                  </a:txBody>
                  <a:tcPr marL="73152" marR="73152" marT="36576" marB="36576">
                    <a:solidFill>
                      <a:srgbClr val="FFFFFF"/>
                    </a:solidFill>
                  </a:tcPr>
                </a:tc>
                <a:tc>
                  <a:txBody>
                    <a:bodyPr/>
                    <a:lstStyle/>
                    <a:p>
                      <a:r>
                        <a:rPr sz="1300" b="0">
                          <a:solidFill>
                            <a:srgbClr val="1F2937"/>
                          </a:solidFill>
                        </a:rPr>
                        <a:t>Jarohat tirikligida hosil bo‘lganmi</a:t>
                      </a:r>
                    </a:p>
                  </a:txBody>
                  <a:tcPr marL="73152" marR="73152" marT="36576" marB="36576">
                    <a:solidFill>
                      <a:srgbClr val="FFFFFF"/>
                    </a:solidFill>
                  </a:tcPr>
                </a:tc>
              </a:tr>
              <a:tr h="411480">
                <a:tc>
                  <a:txBody>
                    <a:bodyPr/>
                    <a:lstStyle/>
                    <a:p>
                      <a:r>
                        <a:rPr sz="1300" b="0">
                          <a:solidFill>
                            <a:srgbClr val="1F2937"/>
                          </a:solidFill>
                        </a:rPr>
                        <a:t>Yetkazilish muddati</a:t>
                      </a:r>
                    </a:p>
                  </a:txBody>
                  <a:tcPr marL="73152" marR="73152" marT="36576" marB="36576">
                    <a:solidFill>
                      <a:srgbClr val="E8EEF6"/>
                    </a:solidFill>
                  </a:tcPr>
                </a:tc>
                <a:tc>
                  <a:txBody>
                    <a:bodyPr/>
                    <a:lstStyle/>
                    <a:p>
                      <a:r>
                        <a:rPr sz="1300" b="0">
                          <a:solidFill>
                            <a:srgbClr val="1F2937"/>
                          </a:solidFill>
                        </a:rPr>
                        <a:t>Jarohat qachon yetkazilganini aniqlash</a:t>
                      </a:r>
                    </a:p>
                  </a:txBody>
                  <a:tcPr marL="73152" marR="73152" marT="36576" marB="36576">
                    <a:solidFill>
                      <a:srgbClr val="E8EEF6"/>
                    </a:solidFill>
                  </a:tcPr>
                </a:tc>
              </a:tr>
              <a:tr h="411480">
                <a:tc>
                  <a:txBody>
                    <a:bodyPr/>
                    <a:lstStyle/>
                    <a:p>
                      <a:r>
                        <a:rPr sz="1300" b="0">
                          <a:solidFill>
                            <a:srgbClr val="1F2937"/>
                          </a:solidFill>
                        </a:rPr>
                        <a:t>Boshqa masalalar</a:t>
                      </a:r>
                    </a:p>
                  </a:txBody>
                  <a:tcPr marL="73152" marR="73152" marT="36576" marB="36576">
                    <a:solidFill>
                      <a:srgbClr val="FFFFFF"/>
                    </a:solidFill>
                  </a:tcPr>
                </a:tc>
                <a:tc>
                  <a:txBody>
                    <a:bodyPr/>
                    <a:lstStyle/>
                    <a:p>
                      <a:r>
                        <a:rPr sz="1300" b="0">
                          <a:solidFill>
                            <a:srgbClr val="1F2937"/>
                          </a:solidFill>
                        </a:rPr>
                        <a:t>Mutaxassis vakolati doirasidagi savollar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vazifalar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Murdadan material olish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Murda ekspertizasi o‘tkazilgan barcha holatda gistologiya uchun ichki a’zo va to‘qima bo‘lakchalari olinadi.</a:t>
            </a:r>
          </a:p>
          <a:p>
            <a:pPr>
              <a:spcAft>
                <a:spcPts val="800"/>
              </a:spcAft>
            </a:pPr>
            <a:r>
              <a:rPr sz="1800">
                <a:solidFill>
                  <a:srgbClr val="1F2937"/>
                </a:solidFill>
                <a:latin typeface="Calibri"/>
              </a:rPr>
              <a:t>▸  Gistologik tekshiruv murdani ko‘rgan sud-tibbiy ekspertning ko‘rsatmasi bo‘yicha o‘tkaziladi.</a:t>
            </a:r>
          </a:p>
          <a:p>
            <a:pPr>
              <a:spcAft>
                <a:spcPts val="800"/>
              </a:spcAft>
            </a:pPr>
            <a:r>
              <a:rPr sz="1800">
                <a:solidFill>
                  <a:srgbClr val="1F2937"/>
                </a:solidFill>
                <a:latin typeface="Calibri"/>
              </a:rPr>
              <a:t>▸  Tekshiruv o‘tkazilmasa, olingan material birlamchi arxiv sifatida saqlanadi.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Murda ekspertizasi o‘tkaziladi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Ekspert ko‘rsatma beradi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A’zo va to‘qima bo‘lakchalari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Sud-gistologik tekshiruv</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Tekshirilmasa: birlamchi arxiv</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Material olish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Chirish va o‘limdan keyingi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Murda a’zo va to‘qimalarining chirishi hamda boshqa o‘limdan keyingi o‘zgarishlari sud-gistologik tekshiruvni rad etish uchun asos bo‘la olmaydi.</a:t>
            </a:r>
          </a:p>
          <a:p>
            <a:pPr>
              <a:spcAft>
                <a:spcPts val="1200"/>
              </a:spcAft>
            </a:pPr>
            <a:r>
              <a:rPr sz="2200">
                <a:solidFill>
                  <a:srgbClr val="1F2937"/>
                </a:solidFill>
                <a:latin typeface="Calibri"/>
              </a:rPr>
              <a:t>▸  Murda ekspertizasi o‘tkazilgan barcha holatlarda sud-gistologik tekshiruv uchun ichki a’zo va to‘qima bo‘lakchalari olinishi kerak.</a:t>
            </a:r>
          </a:p>
          <a:p>
            <a:pPr>
              <a:spcAft>
                <a:spcPts val="1200"/>
              </a:spcAft>
            </a:pPr>
            <a:r>
              <a:rPr sz="2200">
                <a:solidFill>
                  <a:srgbClr val="1F2937"/>
                </a:solidFill>
                <a:latin typeface="Calibri"/>
              </a:rPr>
              <a:t>▸  Tekshiruv o‘tkazilmasa, murdadan olingan material birlamchi arxiv sifatida saqlanadi.</a:t>
            </a:r>
          </a:p>
          <a:p>
            <a:pPr>
              <a:spcAft>
                <a:spcPts val="1200"/>
              </a:spcAft>
            </a:pPr>
            <a:r>
              <a:rPr sz="2200">
                <a:solidFill>
                  <a:srgbClr val="1F2937"/>
                </a:solidFill>
                <a:latin typeface="Calibri"/>
              </a:rPr>
              <a:t>▸  Diqqat: xato qilish xavfi. «Murda chirigan, demak gistologiya befoyda» degan fikr noto‘g‘ri: chirish rad etish sababi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sud-gistologik tekshiruv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tekshiruvni kim buyuradi? Javob: murda ekspertizasini o‘tkazayotgan sud-tibbiy ekspertning ko‘rsatmasi bo‘yicha o‘tkaziladi.</a:t>
            </a:r>
          </a:p>
          <a:p>
            <a:pPr>
              <a:spcAft>
                <a:spcPts val="1200"/>
              </a:spcAft>
            </a:pPr>
            <a:r>
              <a:rPr sz="2200">
                <a:solidFill>
                  <a:srgbClr val="1F2937"/>
                </a:solidFill>
                <a:latin typeface="Calibri"/>
              </a:rPr>
              <a:t>▸  Savol: material qachon olinadi? Javob: murda ekspertizasi o‘tkazilgan barcha holatlarda.</a:t>
            </a:r>
          </a:p>
          <a:p>
            <a:pPr>
              <a:spcAft>
                <a:spcPts val="1200"/>
              </a:spcAft>
            </a:pPr>
            <a:r>
              <a:rPr sz="2200">
                <a:solidFill>
                  <a:srgbClr val="1F2937"/>
                </a:solidFill>
                <a:latin typeface="Calibri"/>
              </a:rPr>
              <a:t>▸  Savol: chirish rad etish asosi bo‘ladimi? Javob: yo‘q, chirish va boshqa o‘limdan keyingi o‘zgarishlar asos bo‘la olmaydi.</a:t>
            </a:r>
          </a:p>
          <a:p>
            <a:pPr>
              <a:spcAft>
                <a:spcPts val="1200"/>
              </a:spcAft>
            </a:pPr>
            <a:r>
              <a:rPr sz="2200">
                <a:solidFill>
                  <a:srgbClr val="1F2937"/>
                </a:solidFill>
                <a:latin typeface="Calibri"/>
              </a:rPr>
              <a:t>▸  Savol: tekshiruv o‘tkazilmasa, material nima bo‘ladi? Javob: birlamchi arxiv sifatida saqlanadi.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Gistologik tayyorlash va bo‘yash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Kesmalar (preparatlar) a’zo yoki to‘qima bo‘lakchasi quyilgan bloklardan tayyorlanadi.</a:t>
            </a:r>
          </a:p>
          <a:p>
            <a:pPr>
              <a:spcAft>
                <a:spcPts val="800"/>
              </a:spcAft>
            </a:pPr>
            <a:r>
              <a:rPr sz="1800">
                <a:solidFill>
                  <a:srgbClr val="1F2937"/>
                </a:solidFill>
                <a:latin typeface="Calibri"/>
              </a:rPr>
              <a:t>▸  Usullar tekshiruvning maqsad va vazifalaridan kelib chiqib belgilanadi.</a:t>
            </a:r>
          </a:p>
          <a:p>
            <a:pPr>
              <a:spcAft>
                <a:spcPts val="800"/>
              </a:spcAft>
            </a:pPr>
            <a:r>
              <a:rPr sz="1800">
                <a:solidFill>
                  <a:srgbClr val="1F2937"/>
                </a:solidFill>
                <a:latin typeface="Calibri"/>
              </a:rPr>
              <a:t>▸  Diqqat: gematoksilin-eozin barcha holatlarda majburiy, qolgan usullar esa qo‘shimcha.</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189794"/>
                <a:gridCol w="1454193"/>
                <a:gridCol w="2643987"/>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Qachon</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Gematoksilin-eozin</a:t>
                      </a:r>
                    </a:p>
                  </a:txBody>
                  <a:tcPr marL="73152" marR="73152" marT="36576" marB="36576">
                    <a:solidFill>
                      <a:srgbClr val="E8EEF6"/>
                    </a:solidFill>
                  </a:tcPr>
                </a:tc>
                <a:tc>
                  <a:txBody>
                    <a:bodyPr/>
                    <a:lstStyle/>
                    <a:p>
                      <a:r>
                        <a:rPr sz="1200" b="0">
                          <a:solidFill>
                            <a:srgbClr val="1F2937"/>
                          </a:solidFill>
                        </a:rPr>
                        <a:t>Barcha holatlarda</a:t>
                      </a:r>
                    </a:p>
                  </a:txBody>
                  <a:tcPr marL="73152" marR="73152" marT="36576" marB="36576">
                    <a:solidFill>
                      <a:srgbClr val="E8EEF6"/>
                    </a:solidFill>
                  </a:tcPr>
                </a:tc>
                <a:tc>
                  <a:txBody>
                    <a:bodyPr/>
                    <a:lstStyle/>
                    <a:p>
                      <a:r>
                        <a:rPr sz="1200" b="0">
                          <a:solidFill>
                            <a:srgbClr val="1F2937"/>
                          </a:solidFill>
                        </a:rPr>
                        <a:t>Kesmalar albatta shu bilan bo‘yaladi</a:t>
                      </a:r>
                    </a:p>
                  </a:txBody>
                  <a:tcPr marL="73152" marR="73152" marT="36576" marB="36576">
                    <a:solidFill>
                      <a:srgbClr val="E8EEF6"/>
                    </a:solidFill>
                  </a:tcPr>
                </a:tc>
              </a:tr>
              <a:tr h="411480">
                <a:tc>
                  <a:txBody>
                    <a:bodyPr/>
                    <a:lstStyle/>
                    <a:p>
                      <a:r>
                        <a:rPr sz="1200" b="0">
                          <a:solidFill>
                            <a:srgbClr val="1F2937"/>
                          </a:solidFill>
                        </a:rPr>
                        <a:t>Selektiv bo‘yash</a:t>
                      </a:r>
                    </a:p>
                  </a:txBody>
                  <a:tcPr marL="73152" marR="73152" marT="36576" marB="36576">
                    <a:solidFill>
                      <a:srgbClr val="FFFFFF"/>
                    </a:solidFill>
                  </a:tcPr>
                </a:tc>
                <a:tc>
                  <a:txBody>
                    <a:bodyPr/>
                    <a:lstStyle/>
                    <a:p>
                      <a:r>
                        <a:rPr sz="1200" b="0">
                          <a:solidFill>
                            <a:srgbClr val="1F2937"/>
                          </a:solidFill>
                        </a:rPr>
                        <a:t>Tegishli hollarda</a:t>
                      </a:r>
                    </a:p>
                  </a:txBody>
                  <a:tcPr marL="73152" marR="73152" marT="36576" marB="36576">
                    <a:solidFill>
                      <a:srgbClr val="FFFFFF"/>
                    </a:solidFill>
                  </a:tcPr>
                </a:tc>
                <a:tc>
                  <a:txBody>
                    <a:bodyPr/>
                    <a:lstStyle/>
                    <a:p>
                      <a:r>
                        <a:rPr sz="1200" b="0">
                          <a:solidFill>
                            <a:srgbClr val="1F2937"/>
                          </a:solidFill>
                        </a:rPr>
                        <a:t>Turli selektiv usullar qo‘llanadi</a:t>
                      </a:r>
                    </a:p>
                  </a:txBody>
                  <a:tcPr marL="73152" marR="73152" marT="36576" marB="36576">
                    <a:solidFill>
                      <a:srgbClr val="FFFFFF"/>
                    </a:solidFill>
                  </a:tcPr>
                </a:tc>
              </a:tr>
              <a:tr h="411480">
                <a:tc>
                  <a:txBody>
                    <a:bodyPr/>
                    <a:lstStyle/>
                    <a:p>
                      <a:r>
                        <a:rPr sz="1200" b="0">
                          <a:solidFill>
                            <a:srgbClr val="1F2937"/>
                          </a:solidFill>
                        </a:rPr>
                        <a:t>Muzlatilgan kesma</a:t>
                      </a:r>
                    </a:p>
                  </a:txBody>
                  <a:tcPr marL="73152" marR="73152" marT="36576" marB="36576">
                    <a:solidFill>
                      <a:srgbClr val="E8EEF6"/>
                    </a:solidFill>
                  </a:tcPr>
                </a:tc>
                <a:tc>
                  <a:txBody>
                    <a:bodyPr/>
                    <a:lstStyle/>
                    <a:p>
                      <a:r>
                        <a:rPr sz="1200" b="0">
                          <a:solidFill>
                            <a:srgbClr val="1F2937"/>
                          </a:solidFill>
                        </a:rPr>
                        <a:t>Ba’zan zarur bo‘lganda</a:t>
                      </a:r>
                    </a:p>
                  </a:txBody>
                  <a:tcPr marL="73152" marR="73152" marT="36576" marB="36576">
                    <a:solidFill>
                      <a:srgbClr val="E8EEF6"/>
                    </a:solidFill>
                  </a:tcPr>
                </a:tc>
                <a:tc>
                  <a:txBody>
                    <a:bodyPr/>
                    <a:lstStyle/>
                    <a:p>
                      <a:r>
                        <a:rPr sz="1200" b="0">
                          <a:solidFill>
                            <a:srgbClr val="1F2937"/>
                          </a:solidFill>
                        </a:rPr>
                        <a:t>Muzlatilgan kesmalardan foydalaniladi</a:t>
                      </a:r>
                    </a:p>
                  </a:txBody>
                  <a:tcPr marL="73152" marR="73152" marT="36576" marB="36576">
                    <a:solidFill>
                      <a:srgbClr val="E8EEF6"/>
                    </a:solidFill>
                  </a:tcPr>
                </a:tc>
              </a:tr>
              <a:tr h="411480">
                <a:tc>
                  <a:txBody>
                    <a:bodyPr/>
                    <a:lstStyle/>
                    <a:p>
                      <a:r>
                        <a:rPr sz="1200" b="0">
                          <a:solidFill>
                            <a:srgbClr val="1F2937"/>
                          </a:solidFill>
                        </a:rPr>
                        <a:t>Maxsus usullar</a:t>
                      </a:r>
                    </a:p>
                  </a:txBody>
                  <a:tcPr marL="73152" marR="73152" marT="36576" marB="36576">
                    <a:solidFill>
                      <a:srgbClr val="FFFFFF"/>
                    </a:solidFill>
                  </a:tcPr>
                </a:tc>
                <a:tc>
                  <a:txBody>
                    <a:bodyPr/>
                    <a:lstStyle/>
                    <a:p>
                      <a:r>
                        <a:rPr sz="1200" b="0">
                          <a:solidFill>
                            <a:srgbClr val="1F2937"/>
                          </a:solidFill>
                        </a:rPr>
                        <a:t>Ayrim patologiyalarda</a:t>
                      </a:r>
                    </a:p>
                  </a:txBody>
                  <a:tcPr marL="73152" marR="73152" marT="36576" marB="36576">
                    <a:solidFill>
                      <a:srgbClr val="FFFFFF"/>
                    </a:solidFill>
                  </a:tcPr>
                </a:tc>
                <a:tc>
                  <a:txBody>
                    <a:bodyPr/>
                    <a:lstStyle/>
                    <a:p>
                      <a:r>
                        <a:rPr sz="1200" b="0">
                          <a:solidFill>
                            <a:srgbClr val="1F2937"/>
                          </a:solidFill>
                        </a:rPr>
                        <a:t>Lyuminessent, fazokontrast, polyarizatsion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Bo‘yash va tekshirish usullari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Diatom planktoni tekshiruvi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Diatom planktoniga tekshiruvni sud-gistologik bo‘limda maxsus tayyorgarlikka ega mutaxassis o‘tkazadi.</a:t>
            </a:r>
          </a:p>
          <a:p>
            <a:pPr>
              <a:spcAft>
                <a:spcPts val="1200"/>
              </a:spcAft>
            </a:pPr>
            <a:r>
              <a:rPr sz="2200">
                <a:solidFill>
                  <a:srgbClr val="1F2937"/>
                </a:solidFill>
                <a:latin typeface="Calibri"/>
              </a:rPr>
              <a:t>▸  Tekshiruv murda suvga tirik holda tushganmi yoki o‘lik holdami, shu masalani hal etish uchun o‘tkaziladi.</a:t>
            </a:r>
          </a:p>
          <a:p>
            <a:pPr>
              <a:spcAft>
                <a:spcPts val="1200"/>
              </a:spcAft>
            </a:pPr>
            <a:r>
              <a:rPr sz="2200">
                <a:solidFill>
                  <a:srgbClr val="1F2937"/>
                </a:solidFill>
                <a:latin typeface="Calibri"/>
              </a:rPr>
              <a:t>▸  Biomaterialdan tashqari, murda topilgan yoki cho‘kish taxmin qilingan havzadan suv namunasi ham taqdim etilishi lozim.</a:t>
            </a:r>
          </a:p>
          <a:p>
            <a:pPr>
              <a:spcAft>
                <a:spcPts val="1200"/>
              </a:spcAft>
            </a:pPr>
            <a:r>
              <a:rPr sz="2200">
                <a:solidFill>
                  <a:srgbClr val="1F2937"/>
                </a:solidFill>
                <a:latin typeface="Calibri"/>
              </a:rPr>
              <a:t>▸  Diqqat: xato qilish xavfi — faqat biomaterial yuborish yetarli emas, havza suvi ham birga yuboriladi.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Dalolatnoma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Sud-gistologik va diatom tekshiruvlari belgilangan tartibda dalolatnoma bilan hujjatlashtiriladi.</a:t>
            </a:r>
          </a:p>
          <a:p>
            <a:pPr>
              <a:spcAft>
                <a:spcPts val="800"/>
              </a:spcAft>
            </a:pPr>
            <a:r>
              <a:rPr sz="1800">
                <a:solidFill>
                  <a:srgbClr val="1F2937"/>
                </a:solidFill>
                <a:latin typeface="Calibri"/>
              </a:rPr>
              <a:t>▸  Dalolatnoma to‘rt qismdan iborat: kirish, tekshiruv, sud-gistologik tashhis va xotima.</a:t>
            </a:r>
          </a:p>
          <a:p>
            <a:pPr>
              <a:spcAft>
                <a:spcPts val="800"/>
              </a:spcAft>
            </a:pPr>
            <a:r>
              <a:rPr sz="1800">
                <a:solidFill>
                  <a:srgbClr val="1F2937"/>
                </a:solidFill>
                <a:latin typeface="Calibri"/>
              </a:rPr>
              <a:t>▸  Murdada aniqlanmagan xavfli yuqumli kasallik topilsa, muassasa rahbariga shoshilinch xabar beriladi.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Kirish qismi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Tekshiruv qismi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Sud-gistologik tashhis</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Xotima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Xavfli kasallik: rahbarga xabar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Dalolatnoma qismlari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316, 316-317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Arxiv materiallarini saqlash muddatlari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Takroriy tekshiruv zarur bo‘lishi mumkinligi sababli arxiv materiallari belgilangan tartibda saqlanadi.</a:t>
            </a:r>
          </a:p>
          <a:p>
            <a:pPr>
              <a:spcAft>
                <a:spcPts val="800"/>
              </a:spcAft>
            </a:pPr>
            <a:r>
              <a:rPr sz="1800">
                <a:solidFill>
                  <a:srgbClr val="1F2937"/>
                </a:solidFill>
                <a:latin typeface="Calibri"/>
              </a:rPr>
              <a:t>▸  Murda a’zo va to‘qimalarining birlamchi (formalinli) arxivi kamida 2 yil saqlanadi.</a:t>
            </a:r>
          </a:p>
          <a:p>
            <a:pPr>
              <a:spcAft>
                <a:spcPts val="800"/>
              </a:spcAft>
            </a:pPr>
            <a:r>
              <a:rPr sz="1800">
                <a:solidFill>
                  <a:srgbClr val="1F2937"/>
                </a:solidFill>
                <a:latin typeface="Calibri"/>
              </a:rPr>
              <a:t>▸  Preparatlar, bloklar va diatom tekshiruvidan qolgan mineralizatlar kamida 3 yil saqlanadi.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3777125"/>
                <a:gridCol w="1510850"/>
              </a:tblGrid>
              <a:tr h="411480">
                <a:tc>
                  <a:txBody>
                    <a:bodyPr/>
                    <a:lstStyle/>
                    <a:p>
                      <a:r>
                        <a:rPr sz="1400" b="1">
                          <a:solidFill>
                            <a:srgbClr val="FFFFFF"/>
                          </a:solidFill>
                        </a:rPr>
                        <a:t>Material</a:t>
                      </a:r>
                    </a:p>
                  </a:txBody>
                  <a:tcPr marL="73152" marR="73152" marT="36576" marB="36576">
                    <a:solidFill>
                      <a:srgbClr val="0B1F3A"/>
                    </a:solidFill>
                  </a:tcPr>
                </a:tc>
                <a:tc>
                  <a:txBody>
                    <a:bodyPr/>
                    <a:lstStyle/>
                    <a:p>
                      <a:r>
                        <a:rPr sz="1400" b="1">
                          <a:solidFill>
                            <a:srgbClr val="FFFFFF"/>
                          </a:solidFill>
                        </a:rPr>
                        <a:t>Muddat</a:t>
                      </a:r>
                    </a:p>
                  </a:txBody>
                  <a:tcPr marL="73152" marR="73152" marT="36576" marB="36576">
                    <a:solidFill>
                      <a:srgbClr val="0B1F3A"/>
                    </a:solidFill>
                  </a:tcPr>
                </a:tc>
              </a:tr>
              <a:tr h="411480">
                <a:tc>
                  <a:txBody>
                    <a:bodyPr/>
                    <a:lstStyle/>
                    <a:p>
                      <a:r>
                        <a:rPr sz="1300" b="0">
                          <a:solidFill>
                            <a:srgbClr val="1F2937"/>
                          </a:solidFill>
                        </a:rPr>
                        <a:t>Murda a’zo va to‘qimalari formalinli arxivi</a:t>
                      </a:r>
                    </a:p>
                  </a:txBody>
                  <a:tcPr marL="73152" marR="73152" marT="36576" marB="36576">
                    <a:solidFill>
                      <a:srgbClr val="E8EEF6"/>
                    </a:solidFill>
                  </a:tcPr>
                </a:tc>
                <a:tc>
                  <a:txBody>
                    <a:bodyPr/>
                    <a:lstStyle/>
                    <a:p>
                      <a:r>
                        <a:rPr sz="1300" b="0">
                          <a:solidFill>
                            <a:srgbClr val="1F2937"/>
                          </a:solidFill>
                        </a:rPr>
                        <a:t>Kamida 2 yil</a:t>
                      </a:r>
                    </a:p>
                  </a:txBody>
                  <a:tcPr marL="73152" marR="73152" marT="36576" marB="36576">
                    <a:solidFill>
                      <a:srgbClr val="E8EEF6"/>
                    </a:solidFill>
                  </a:tcPr>
                </a:tc>
              </a:tr>
              <a:tr h="411480">
                <a:tc>
                  <a:txBody>
                    <a:bodyPr/>
                    <a:lstStyle/>
                    <a:p>
                      <a:r>
                        <a:rPr sz="1300" b="0">
                          <a:solidFill>
                            <a:srgbClr val="1F2937"/>
                          </a:solidFill>
                        </a:rPr>
                        <a:t>Gistologik preparatlar</a:t>
                      </a:r>
                    </a:p>
                  </a:txBody>
                  <a:tcPr marL="73152" marR="73152" marT="36576" marB="36576">
                    <a:solidFill>
                      <a:srgbClr val="FFFFFF"/>
                    </a:solidFill>
                  </a:tcPr>
                </a:tc>
                <a:tc>
                  <a:txBody>
                    <a:bodyPr/>
                    <a:lstStyle/>
                    <a:p>
                      <a:r>
                        <a:rPr sz="1300" b="0">
                          <a:solidFill>
                            <a:srgbClr val="1F2937"/>
                          </a:solidFill>
                        </a:rPr>
                        <a:t>Kamida 3 yil</a:t>
                      </a:r>
                    </a:p>
                  </a:txBody>
                  <a:tcPr marL="73152" marR="73152" marT="36576" marB="36576">
                    <a:solidFill>
                      <a:srgbClr val="FFFFFF"/>
                    </a:solidFill>
                  </a:tcPr>
                </a:tc>
              </a:tr>
              <a:tr h="411480">
                <a:tc>
                  <a:txBody>
                    <a:bodyPr/>
                    <a:lstStyle/>
                    <a:p>
                      <a:r>
                        <a:rPr sz="1300" b="0">
                          <a:solidFill>
                            <a:srgbClr val="1F2937"/>
                          </a:solidFill>
                        </a:rPr>
                        <a:t>To‘qima bo‘lakchalari quyilgan bloklar</a:t>
                      </a:r>
                    </a:p>
                  </a:txBody>
                  <a:tcPr marL="73152" marR="73152" marT="36576" marB="36576">
                    <a:solidFill>
                      <a:srgbClr val="E8EEF6"/>
                    </a:solidFill>
                  </a:tcPr>
                </a:tc>
                <a:tc>
                  <a:txBody>
                    <a:bodyPr/>
                    <a:lstStyle/>
                    <a:p>
                      <a:r>
                        <a:rPr sz="1300" b="0">
                          <a:solidFill>
                            <a:srgbClr val="1F2937"/>
                          </a:solidFill>
                        </a:rPr>
                        <a:t>Kamida 3 yil</a:t>
                      </a:r>
                    </a:p>
                  </a:txBody>
                  <a:tcPr marL="73152" marR="73152" marT="36576" marB="36576">
                    <a:solidFill>
                      <a:srgbClr val="E8EEF6"/>
                    </a:solidFill>
                  </a:tcPr>
                </a:tc>
              </a:tr>
              <a:tr h="411480">
                <a:tc>
                  <a:txBody>
                    <a:bodyPr/>
                    <a:lstStyle/>
                    <a:p>
                      <a:r>
                        <a:rPr sz="1300" b="0">
                          <a:solidFill>
                            <a:srgbClr val="1F2937"/>
                          </a:solidFill>
                        </a:rPr>
                        <a:t>Diatom mineralizati va preparatlari</a:t>
                      </a:r>
                    </a:p>
                  </a:txBody>
                  <a:tcPr marL="73152" marR="73152" marT="36576" marB="36576">
                    <a:solidFill>
                      <a:srgbClr val="FFFFFF"/>
                    </a:solidFill>
                  </a:tcPr>
                </a:tc>
                <a:tc>
                  <a:txBody>
                    <a:bodyPr/>
                    <a:lstStyle/>
                    <a:p>
                      <a:r>
                        <a:rPr sz="1300" b="0">
                          <a:solidFill>
                            <a:srgbClr val="1F2937"/>
                          </a:solidFill>
                        </a:rPr>
                        <a:t>Kamida 3 yil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Saqlash muddatlari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gistologik tekshiruv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 chirigan, ekspert gistologiya uchun material olishni lozim topmadi. Savol: material olinishi kerakmi va qancha saqlanadi?</a:t>
            </a:r>
          </a:p>
          <a:p>
            <a:pPr>
              <a:spcAft>
                <a:spcPts val="1200"/>
              </a:spcAft>
            </a:pPr>
            <a:r>
              <a:rPr sz="2200">
                <a:solidFill>
                  <a:srgbClr val="1F2937"/>
                </a:solidFill>
                <a:latin typeface="Calibri"/>
              </a:rPr>
              <a:t>▸  Chirish va o‘limdan keyingi boshqa o‘zgarishlar gistologik tekshiruvni rad etishga asos bo‘la olmaydi. Material baribir olinadi.</a:t>
            </a:r>
          </a:p>
          <a:p>
            <a:pPr>
              <a:spcAft>
                <a:spcPts val="1200"/>
              </a:spcAft>
            </a:pPr>
            <a:r>
              <a:rPr sz="2200">
                <a:solidFill>
                  <a:srgbClr val="1F2937"/>
                </a:solidFill>
                <a:latin typeface="Calibri"/>
              </a:rPr>
              <a:t>▸  Murda ekspertizasida ichki a’zo va to‘qima bo‘lakchalari olinadi. Tekshiruv o‘tkazilmasa, material birlamchi arxiv sifatida saqlanadi.</a:t>
            </a:r>
          </a:p>
          <a:p>
            <a:pPr>
              <a:spcAft>
                <a:spcPts val="1200"/>
              </a:spcAft>
            </a:pPr>
            <a:r>
              <a:rPr sz="2200">
                <a:solidFill>
                  <a:srgbClr val="1F2937"/>
                </a:solidFill>
                <a:latin typeface="Calibri"/>
              </a:rPr>
              <a:t>▸  Diqqat: formalinli arxiv kamida 2 yil, preparat va bloklar kamida 3 yil saqlanadi. Bu muddatlarni almashtirmang.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316, 317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Tibbiy-kriminalistik tekshiruvlar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Bo‘limda diagnostik, identifikatsion (aynanlik) va situatsion (vaziyatli) masalalar hal etiladi.</a:t>
            </a:r>
          </a:p>
          <a:p>
            <a:pPr>
              <a:spcAft>
                <a:spcPts val="800"/>
              </a:spcAft>
            </a:pPr>
            <a:r>
              <a:rPr sz="1800">
                <a:solidFill>
                  <a:srgbClr val="1F2937"/>
                </a:solidFill>
                <a:latin typeface="Calibri"/>
              </a:rPr>
              <a:t>▸  Situatsion tekshiruv: taxmin qilingan sharoitda harakatni sodir etish mumkin bo‘lganmi, shuni aniqlaydi.</a:t>
            </a:r>
          </a:p>
          <a:p>
            <a:pPr>
              <a:spcAft>
                <a:spcPts val="800"/>
              </a:spcAft>
            </a:pPr>
            <a:r>
              <a:rPr sz="1800">
                <a:solidFill>
                  <a:srgbClr val="1F2937"/>
                </a:solidFill>
                <a:latin typeface="Calibri"/>
              </a:rPr>
              <a:t>▸  Diqqat: hujjat turiga qarab ekspertiza (xulosa) yoki tekshiruv (dalolatnoma) rasmiylashtiriladi.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40084"/>
                <a:gridCol w="2350211"/>
                <a:gridCol w="1997679"/>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Maqsadi</a:t>
                      </a:r>
                    </a:p>
                  </a:txBody>
                  <a:tcPr marL="73152" marR="73152" marT="36576" marB="36576">
                    <a:solidFill>
                      <a:srgbClr val="0B1F3A"/>
                    </a:solidFill>
                  </a:tcPr>
                </a:tc>
                <a:tc>
                  <a:txBody>
                    <a:bodyPr/>
                    <a:lstStyle/>
                    <a:p>
                      <a:r>
                        <a:rPr sz="1300" b="1">
                          <a:solidFill>
                            <a:srgbClr val="FFFFFF"/>
                          </a:solidFill>
                        </a:rPr>
                        <a:t>Ob‘ekti</a:t>
                      </a:r>
                    </a:p>
                  </a:txBody>
                  <a:tcPr marL="73152" marR="73152" marT="36576" marB="36576">
                    <a:solidFill>
                      <a:srgbClr val="0B1F3A"/>
                    </a:solidFill>
                  </a:tcPr>
                </a:tc>
              </a:tr>
              <a:tr h="411480">
                <a:tc>
                  <a:txBody>
                    <a:bodyPr/>
                    <a:lstStyle/>
                    <a:p>
                      <a:r>
                        <a:rPr sz="1200" b="0">
                          <a:solidFill>
                            <a:srgbClr val="1F2937"/>
                          </a:solidFill>
                        </a:rPr>
                        <a:t>Trassologik</a:t>
                      </a:r>
                    </a:p>
                  </a:txBody>
                  <a:tcPr marL="73152" marR="73152" marT="36576" marB="36576">
                    <a:solidFill>
                      <a:srgbClr val="E8EEF6"/>
                    </a:solidFill>
                  </a:tcPr>
                </a:tc>
                <a:tc>
                  <a:txBody>
                    <a:bodyPr/>
                    <a:lstStyle/>
                    <a:p>
                      <a:r>
                        <a:rPr sz="1200" b="0">
                          <a:solidFill>
                            <a:srgbClr val="1F2937"/>
                          </a:solidFill>
                        </a:rPr>
                        <a:t>Shikastlovchi omilni aniqlash</a:t>
                      </a:r>
                    </a:p>
                  </a:txBody>
                  <a:tcPr marL="73152" marR="73152" marT="36576" marB="36576">
                    <a:solidFill>
                      <a:srgbClr val="E8EEF6"/>
                    </a:solidFill>
                  </a:tcPr>
                </a:tc>
                <a:tc>
                  <a:txBody>
                    <a:bodyPr/>
                    <a:lstStyle/>
                    <a:p>
                      <a:r>
                        <a:rPr sz="1200" b="0">
                          <a:solidFill>
                            <a:srgbClr val="1F2937"/>
                          </a:solidFill>
                        </a:rPr>
                        <a:t>Jarohat, izlar, qurol yoki modeli</a:t>
                      </a:r>
                    </a:p>
                  </a:txBody>
                  <a:tcPr marL="73152" marR="73152" marT="36576" marB="36576">
                    <a:solidFill>
                      <a:srgbClr val="E8EEF6"/>
                    </a:solidFill>
                  </a:tcPr>
                </a:tc>
              </a:tr>
              <a:tr h="411480">
                <a:tc>
                  <a:txBody>
                    <a:bodyPr/>
                    <a:lstStyle/>
                    <a:p>
                      <a:r>
                        <a:rPr sz="1200" b="0">
                          <a:solidFill>
                            <a:srgbClr val="1F2937"/>
                          </a:solidFill>
                        </a:rPr>
                        <a:t>Ballistik</a:t>
                      </a:r>
                    </a:p>
                  </a:txBody>
                  <a:tcPr marL="73152" marR="73152" marT="36576" marB="36576">
                    <a:solidFill>
                      <a:srgbClr val="FFFFFF"/>
                    </a:solidFill>
                  </a:tcPr>
                </a:tc>
                <a:tc>
                  <a:txBody>
                    <a:bodyPr/>
                    <a:lstStyle/>
                    <a:p>
                      <a:r>
                        <a:rPr sz="1200" b="0">
                          <a:solidFill>
                            <a:srgbClr val="1F2937"/>
                          </a:solidFill>
                        </a:rPr>
                        <a:t>Otish distansiyasi, yo‘nalishi, qurol turi</a:t>
                      </a:r>
                    </a:p>
                  </a:txBody>
                  <a:tcPr marL="73152" marR="73152" marT="36576" marB="36576">
                    <a:solidFill>
                      <a:srgbClr val="FFFFFF"/>
                    </a:solidFill>
                  </a:tcPr>
                </a:tc>
                <a:tc>
                  <a:txBody>
                    <a:bodyPr/>
                    <a:lstStyle/>
                    <a:p>
                      <a:r>
                        <a:rPr sz="1200" b="0">
                          <a:solidFill>
                            <a:srgbClr val="1F2937"/>
                          </a:solidFill>
                        </a:rPr>
                        <a:t>O‘qotar jarohat, portlash travmasi</a:t>
                      </a:r>
                    </a:p>
                  </a:txBody>
                  <a:tcPr marL="73152" marR="73152" marT="36576" marB="36576">
                    <a:solidFill>
                      <a:srgbClr val="FFFFFF"/>
                    </a:solidFill>
                  </a:tcPr>
                </a:tc>
              </a:tr>
              <a:tr h="411480">
                <a:tc>
                  <a:txBody>
                    <a:bodyPr/>
                    <a:lstStyle/>
                    <a:p>
                      <a:r>
                        <a:rPr sz="1200" b="0">
                          <a:solidFill>
                            <a:srgbClr val="1F2937"/>
                          </a:solidFill>
                        </a:rPr>
                        <a:t>Identifikatsion</a:t>
                      </a:r>
                    </a:p>
                  </a:txBody>
                  <a:tcPr marL="73152" marR="73152" marT="36576" marB="36576">
                    <a:solidFill>
                      <a:srgbClr val="E8EEF6"/>
                    </a:solidFill>
                  </a:tcPr>
                </a:tc>
                <a:tc>
                  <a:txBody>
                    <a:bodyPr/>
                    <a:lstStyle/>
                    <a:p>
                      <a:r>
                        <a:rPr sz="1200" b="0">
                          <a:solidFill>
                            <a:srgbClr val="1F2937"/>
                          </a:solidFill>
                        </a:rPr>
                        <a:t>Murda yoki qoldiq kimligini aniqlash</a:t>
                      </a:r>
                    </a:p>
                  </a:txBody>
                  <a:tcPr marL="73152" marR="73152" marT="36576" marB="36576">
                    <a:solidFill>
                      <a:srgbClr val="E8EEF6"/>
                    </a:solidFill>
                  </a:tcPr>
                </a:tc>
                <a:tc>
                  <a:txBody>
                    <a:bodyPr/>
                    <a:lstStyle/>
                    <a:p>
                      <a:r>
                        <a:rPr sz="1200" b="0">
                          <a:solidFill>
                            <a:srgbClr val="1F2937"/>
                          </a:solidFill>
                        </a:rPr>
                        <a:t>Noma’lum murda, suyak qoldiqlari</a:t>
                      </a:r>
                    </a:p>
                  </a:txBody>
                  <a:tcPr marL="73152" marR="73152" marT="36576" marB="36576">
                    <a:solidFill>
                      <a:srgbClr val="E8EEF6"/>
                    </a:solidFill>
                  </a:tcPr>
                </a:tc>
              </a:tr>
              <a:tr h="411480">
                <a:tc>
                  <a:txBody>
                    <a:bodyPr/>
                    <a:lstStyle/>
                    <a:p>
                      <a:r>
                        <a:rPr sz="1200" b="0">
                          <a:solidFill>
                            <a:srgbClr val="1F2937"/>
                          </a:solidFill>
                        </a:rPr>
                        <a:t>Mikrologik</a:t>
                      </a:r>
                    </a:p>
                  </a:txBody>
                  <a:tcPr marL="73152" marR="73152" marT="36576" marB="36576">
                    <a:solidFill>
                      <a:srgbClr val="FFFFFF"/>
                    </a:solidFill>
                  </a:tcPr>
                </a:tc>
                <a:tc>
                  <a:txBody>
                    <a:bodyPr/>
                    <a:lstStyle/>
                    <a:p>
                      <a:r>
                        <a:rPr sz="1200" b="0">
                          <a:solidFill>
                            <a:srgbClr val="1F2937"/>
                          </a:solidFill>
                        </a:rPr>
                        <a:t>Mikroizlar, mikrozarralarni o‘rganish</a:t>
                      </a:r>
                    </a:p>
                  </a:txBody>
                  <a:tcPr marL="73152" marR="73152" marT="36576" marB="36576">
                    <a:solidFill>
                      <a:srgbClr val="FFFFFF"/>
                    </a:solidFill>
                  </a:tcPr>
                </a:tc>
                <a:tc>
                  <a:txBody>
                    <a:bodyPr/>
                    <a:lstStyle/>
                    <a:p>
                      <a:r>
                        <a:rPr sz="1200" b="0">
                          <a:solidFill>
                            <a:srgbClr val="1F2937"/>
                          </a:solidFill>
                        </a:rPr>
                        <a:t>Joy, qurol, tana va kiyim-bosh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tekshiruv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317, 319, 317, 319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Sud-kimyoviy tekshiruvlar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Maqsad: biologik ob‘ektlarda toksik modda yoki uning hosilalarini topish va miqdorini aniqlash.</a:t>
            </a:r>
          </a:p>
          <a:p>
            <a:pPr>
              <a:spcAft>
                <a:spcPts val="800"/>
              </a:spcAft>
            </a:pPr>
            <a:r>
              <a:rPr sz="1800">
                <a:solidFill>
                  <a:srgbClr val="1F2937"/>
                </a:solidFill>
                <a:latin typeface="Calibri"/>
              </a:rPr>
              <a:t>▸  Imkon qadar turli fizik-kimyoviy prinsipga asoslangan kamida ikkita usul qo‘llash tavsiya etiladi.</a:t>
            </a:r>
          </a:p>
          <a:p>
            <a:pPr>
              <a:spcAft>
                <a:spcPts val="800"/>
              </a:spcAft>
            </a:pPr>
            <a:r>
              <a:rPr sz="1800">
                <a:solidFill>
                  <a:srgbClr val="1F2937"/>
                </a:solidFill>
                <a:latin typeface="Calibri"/>
              </a:rPr>
              <a:t>▸  Natija dalolatnomada: kirish, tekshiruv va xotima; topilgan moddalar miqdori ko‘rsatiladi.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23479"/>
                <a:gridCol w="2046958"/>
                <a:gridCol w="2217537"/>
              </a:tblGrid>
              <a:tr h="411480">
                <a:tc>
                  <a:txBody>
                    <a:bodyPr/>
                    <a:lstStyle/>
                    <a:p>
                      <a:r>
                        <a:rPr sz="1300" b="1">
                          <a:solidFill>
                            <a:srgbClr val="FFFFFF"/>
                          </a:solidFill>
                        </a:rPr>
                        <a:t>Bosqich</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c>
                  <a:txBody>
                    <a:bodyPr/>
                    <a:lstStyle/>
                    <a:p>
                      <a:r>
                        <a:rPr sz="1300" b="1">
                          <a:solidFill>
                            <a:srgbClr val="FFFFFF"/>
                          </a:solidFill>
                        </a:rPr>
                        <a:t>Misol / muddat</a:t>
                      </a:r>
                    </a:p>
                  </a:txBody>
                  <a:tcPr marL="73152" marR="73152" marT="36576" marB="36576">
                    <a:solidFill>
                      <a:srgbClr val="0B1F3A"/>
                    </a:solidFill>
                  </a:tcPr>
                </a:tc>
              </a:tr>
              <a:tr h="411480">
                <a:tc>
                  <a:txBody>
                    <a:bodyPr/>
                    <a:lstStyle/>
                    <a:p>
                      <a:r>
                        <a:rPr sz="1200" b="0">
                          <a:solidFill>
                            <a:srgbClr val="1F2937"/>
                          </a:solidFill>
                        </a:rPr>
                        <a:t>Dastlabki usul</a:t>
                      </a:r>
                    </a:p>
                  </a:txBody>
                  <a:tcPr marL="73152" marR="73152" marT="36576" marB="36576">
                    <a:solidFill>
                      <a:srgbClr val="E8EEF6"/>
                    </a:solidFill>
                  </a:tcPr>
                </a:tc>
                <a:tc>
                  <a:txBody>
                    <a:bodyPr/>
                    <a:lstStyle/>
                    <a:p>
                      <a:r>
                        <a:rPr sz="1200" b="0">
                          <a:solidFill>
                            <a:srgbClr val="1F2937"/>
                          </a:solidFill>
                        </a:rPr>
                        <a:t>Moddani taxminiy aniqlash</a:t>
                      </a:r>
                    </a:p>
                  </a:txBody>
                  <a:tcPr marL="73152" marR="73152" marT="36576" marB="36576">
                    <a:solidFill>
                      <a:srgbClr val="E8EEF6"/>
                    </a:solidFill>
                  </a:tcPr>
                </a:tc>
                <a:tc>
                  <a:txBody>
                    <a:bodyPr/>
                    <a:lstStyle/>
                    <a:p>
                      <a:r>
                        <a:rPr sz="1200" b="0">
                          <a:solidFill>
                            <a:srgbClr val="1F2937"/>
                          </a:solidFill>
                        </a:rPr>
                        <a:t>Rangli reaksiyalar, immunferment tahlil</a:t>
                      </a:r>
                    </a:p>
                  </a:txBody>
                  <a:tcPr marL="73152" marR="73152" marT="36576" marB="36576">
                    <a:solidFill>
                      <a:srgbClr val="E8EEF6"/>
                    </a:solidFill>
                  </a:tcPr>
                </a:tc>
              </a:tr>
              <a:tr h="411480">
                <a:tc>
                  <a:txBody>
                    <a:bodyPr/>
                    <a:lstStyle/>
                    <a:p>
                      <a:r>
                        <a:rPr sz="1200" b="0">
                          <a:solidFill>
                            <a:srgbClr val="1F2937"/>
                          </a:solidFill>
                        </a:rPr>
                        <a:t>Tasdiqlovchi</a:t>
                      </a:r>
                    </a:p>
                  </a:txBody>
                  <a:tcPr marL="73152" marR="73152" marT="36576" marB="36576">
                    <a:solidFill>
                      <a:srgbClr val="FFFFFF"/>
                    </a:solidFill>
                  </a:tcPr>
                </a:tc>
                <a:tc>
                  <a:txBody>
                    <a:bodyPr/>
                    <a:lstStyle/>
                    <a:p>
                      <a:r>
                        <a:rPr sz="1200" b="0">
                          <a:solidFill>
                            <a:srgbClr val="1F2937"/>
                          </a:solidFill>
                        </a:rPr>
                        <a:t>Instrumental tasdiqlash</a:t>
                      </a:r>
                    </a:p>
                  </a:txBody>
                  <a:tcPr marL="73152" marR="73152" marT="36576" marB="36576">
                    <a:solidFill>
                      <a:srgbClr val="FFFFFF"/>
                    </a:solidFill>
                  </a:tcPr>
                </a:tc>
                <a:tc>
                  <a:txBody>
                    <a:bodyPr/>
                    <a:lstStyle/>
                    <a:p>
                      <a:r>
                        <a:rPr sz="1200" b="0">
                          <a:solidFill>
                            <a:srgbClr val="1F2937"/>
                          </a:solidFill>
                        </a:rPr>
                        <a:t>Gaz-suyuqlik xromatografiyasi</a:t>
                      </a:r>
                    </a:p>
                  </a:txBody>
                  <a:tcPr marL="73152" marR="73152" marT="36576" marB="36576">
                    <a:solidFill>
                      <a:srgbClr val="FFFFFF"/>
                    </a:solidFill>
                  </a:tcPr>
                </a:tc>
              </a:tr>
              <a:tr h="411480">
                <a:tc>
                  <a:txBody>
                    <a:bodyPr/>
                    <a:lstStyle/>
                    <a:p>
                      <a:r>
                        <a:rPr sz="1200" b="0">
                          <a:solidFill>
                            <a:srgbClr val="1F2937"/>
                          </a:solidFill>
                        </a:rPr>
                        <a:t>Arxiv</a:t>
                      </a:r>
                    </a:p>
                  </a:txBody>
                  <a:tcPr marL="73152" marR="73152" marT="36576" marB="36576">
                    <a:solidFill>
                      <a:srgbClr val="E8EEF6"/>
                    </a:solidFill>
                  </a:tcPr>
                </a:tc>
                <a:tc>
                  <a:txBody>
                    <a:bodyPr/>
                    <a:lstStyle/>
                    <a:p>
                      <a:r>
                        <a:rPr sz="1200" b="0">
                          <a:solidFill>
                            <a:srgbClr val="1F2937"/>
                          </a:solidFill>
                        </a:rPr>
                        <a:t>Spirt bilan konservatsiya, sovutkich</a:t>
                      </a:r>
                    </a:p>
                  </a:txBody>
                  <a:tcPr marL="73152" marR="73152" marT="36576" marB="36576">
                    <a:solidFill>
                      <a:srgbClr val="E8EEF6"/>
                    </a:solidFill>
                  </a:tcPr>
                </a:tc>
                <a:tc>
                  <a:txBody>
                    <a:bodyPr/>
                    <a:lstStyle/>
                    <a:p>
                      <a:r>
                        <a:rPr sz="1200" b="0">
                          <a:solidFill>
                            <a:srgbClr val="1F2937"/>
                          </a:solidFill>
                        </a:rPr>
                        <a:t>Bir yilgacha</a:t>
                      </a:r>
                    </a:p>
                  </a:txBody>
                  <a:tcPr marL="73152" marR="73152" marT="36576" marB="36576">
                    <a:solidFill>
                      <a:srgbClr val="E8EEF6"/>
                    </a:solidFill>
                  </a:tcPr>
                </a:tc>
              </a:tr>
              <a:tr h="411480">
                <a:tc>
                  <a:txBody>
                    <a:bodyPr/>
                    <a:lstStyle/>
                    <a:p>
                      <a:r>
                        <a:rPr sz="1200" b="0">
                          <a:solidFill>
                            <a:srgbClr val="1F2937"/>
                          </a:solidFill>
                        </a:rPr>
                        <a:t>Arxiv: etil spirti</a:t>
                      </a:r>
                    </a:p>
                  </a:txBody>
                  <a:tcPr marL="73152" marR="73152" marT="36576" marB="36576">
                    <a:solidFill>
                      <a:srgbClr val="FFFFFF"/>
                    </a:solidFill>
                  </a:tcPr>
                </a:tc>
                <a:tc>
                  <a:txBody>
                    <a:bodyPr/>
                    <a:lstStyle/>
                    <a:p>
                      <a:r>
                        <a:rPr sz="1200" b="0">
                          <a:solidFill>
                            <a:srgbClr val="1F2937"/>
                          </a:solidFill>
                        </a:rPr>
                        <a:t>Qon, siydik; konservatsiyasiz</a:t>
                      </a:r>
                    </a:p>
                  </a:txBody>
                  <a:tcPr marL="73152" marR="73152" marT="36576" marB="36576">
                    <a:solidFill>
                      <a:srgbClr val="FFFFFF"/>
                    </a:solidFill>
                  </a:tcPr>
                </a:tc>
                <a:tc>
                  <a:txBody>
                    <a:bodyPr/>
                    <a:lstStyle/>
                    <a:p>
                      <a:r>
                        <a:rPr sz="1200" b="0">
                          <a:solidFill>
                            <a:srgbClr val="1F2937"/>
                          </a:solidFill>
                        </a:rPr>
                        <a:t>30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Usullar va arxiv muddati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319-320, 320, 321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DNK tekshiruvlari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Usul “genotiplash”, “genom daktiloskopiya” deb ham ataladi; u genetik o‘ziga xoslikni aniqlaydi.</a:t>
            </a:r>
          </a:p>
          <a:p>
            <a:pPr>
              <a:spcAft>
                <a:spcPts val="800"/>
              </a:spcAft>
            </a:pPr>
            <a:r>
              <a:rPr sz="1800">
                <a:solidFill>
                  <a:srgbClr val="1F2937"/>
                </a:solidFill>
                <a:latin typeface="Calibri"/>
              </a:rPr>
              <a:t>▸  Gomologik lokus — xromosoma juftligida bir xil joydagi, bitta belgi uchun mas’ul DNK sohasi.</a:t>
            </a:r>
          </a:p>
          <a:p>
            <a:pPr>
              <a:spcAft>
                <a:spcPts val="800"/>
              </a:spcAft>
            </a:pPr>
            <a:r>
              <a:rPr sz="1800">
                <a:solidFill>
                  <a:srgbClr val="1F2937"/>
                </a:solidFill>
                <a:latin typeface="Calibri"/>
              </a:rPr>
              <a:t>▸  Gipervariabel lokuslar ko‘pchilikda turlicha; bir allel qarindosh bo‘lmaganlarda ham uchrashi mumkin.</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Yil</a:t>
                      </a:r>
                    </a:p>
                  </a:txBody>
                  <a:tcPr marL="73152" marR="73152" marT="36576" marB="36576">
                    <a:solidFill>
                      <a:srgbClr val="0B1F3A"/>
                    </a:solidFill>
                  </a:tcPr>
                </a:tc>
                <a:tc>
                  <a:txBody>
                    <a:bodyPr/>
                    <a:lstStyle/>
                    <a:p>
                      <a:r>
                        <a:rPr sz="1400" b="1">
                          <a:solidFill>
                            <a:srgbClr val="FFFFFF"/>
                          </a:solidFill>
                        </a:rPr>
                        <a:t>Voqea</a:t>
                      </a:r>
                    </a:p>
                  </a:txBody>
                  <a:tcPr marL="73152" marR="73152" marT="36576" marB="36576">
                    <a:solidFill>
                      <a:srgbClr val="0B1F3A"/>
                    </a:solidFill>
                  </a:tcPr>
                </a:tc>
              </a:tr>
              <a:tr h="411480">
                <a:tc>
                  <a:txBody>
                    <a:bodyPr/>
                    <a:lstStyle/>
                    <a:p>
                      <a:r>
                        <a:rPr sz="1300" b="0">
                          <a:solidFill>
                            <a:srgbClr val="1F2937"/>
                          </a:solidFill>
                        </a:rPr>
                        <a:t>1985</a:t>
                      </a:r>
                    </a:p>
                  </a:txBody>
                  <a:tcPr marL="73152" marR="73152" marT="36576" marB="36576">
                    <a:solidFill>
                      <a:srgbClr val="E8EEF6"/>
                    </a:solidFill>
                  </a:tcPr>
                </a:tc>
                <a:tc>
                  <a:txBody>
                    <a:bodyPr/>
                    <a:lstStyle/>
                    <a:p>
                      <a:r>
                        <a:rPr sz="1300" b="0">
                          <a:solidFill>
                            <a:srgbClr val="1F2937"/>
                          </a:solidFill>
                        </a:rPr>
                        <a:t>Djeffris minisatellit markerlarni aniqladi</a:t>
                      </a:r>
                    </a:p>
                  </a:txBody>
                  <a:tcPr marL="73152" marR="73152" marT="36576" marB="36576">
                    <a:solidFill>
                      <a:srgbClr val="E8EEF6"/>
                    </a:solidFill>
                  </a:tcPr>
                </a:tc>
              </a:tr>
              <a:tr h="411480">
                <a:tc>
                  <a:txBody>
                    <a:bodyPr/>
                    <a:lstStyle/>
                    <a:p>
                      <a:r>
                        <a:rPr sz="1300" b="0">
                          <a:solidFill>
                            <a:srgbClr val="1F2937"/>
                          </a:solidFill>
                        </a:rPr>
                        <a:t>1985</a:t>
                      </a:r>
                    </a:p>
                  </a:txBody>
                  <a:tcPr marL="73152" marR="73152" marT="36576" marB="36576">
                    <a:solidFill>
                      <a:srgbClr val="FFFFFF"/>
                    </a:solidFill>
                  </a:tcPr>
                </a:tc>
                <a:tc>
                  <a:txBody>
                    <a:bodyPr/>
                    <a:lstStyle/>
                    <a:p>
                      <a:r>
                        <a:rPr sz="1300" b="0">
                          <a:solidFill>
                            <a:srgbClr val="1F2937"/>
                          </a:solidFill>
                        </a:rPr>
                        <a:t>Ashyoviy dalilda DNK imkoniyati ko‘rsatildi</a:t>
                      </a:r>
                    </a:p>
                  </a:txBody>
                  <a:tcPr marL="73152" marR="73152" marT="36576" marB="36576">
                    <a:solidFill>
                      <a:srgbClr val="FFFFFF"/>
                    </a:solidFill>
                  </a:tcPr>
                </a:tc>
              </a:tr>
              <a:tr h="411480">
                <a:tc>
                  <a:txBody>
                    <a:bodyPr/>
                    <a:lstStyle/>
                    <a:p>
                      <a:r>
                        <a:rPr sz="1300" b="0">
                          <a:solidFill>
                            <a:srgbClr val="1F2937"/>
                          </a:solidFill>
                        </a:rPr>
                        <a:t>1986</a:t>
                      </a:r>
                    </a:p>
                  </a:txBody>
                  <a:tcPr marL="73152" marR="73152" marT="36576" marB="36576">
                    <a:solidFill>
                      <a:srgbClr val="E8EEF6"/>
                    </a:solidFill>
                  </a:tcPr>
                </a:tc>
                <a:tc>
                  <a:txBody>
                    <a:bodyPr/>
                    <a:lstStyle/>
                    <a:p>
                      <a:r>
                        <a:rPr sz="1300" b="0">
                          <a:solidFill>
                            <a:srgbClr val="1F2937"/>
                          </a:solidFill>
                        </a:rPr>
                        <a:t>Identifikatsiya uchun genetik usullar joriy bo‘ldi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DNK (dezoksiribonuklein kislota) tarixi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qoidalar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 izi bor buyum imkon bo‘lsa butunligicha olinadi. Katta buyumdan dog‘li bo‘lak va toza (kontrol) bo‘lak qirqiladi.</a:t>
            </a:r>
          </a:p>
          <a:p>
            <a:pPr>
              <a:spcAft>
                <a:spcPts val="1200"/>
              </a:spcAft>
            </a:pPr>
            <a:r>
              <a:rPr sz="2200">
                <a:solidFill>
                  <a:srgbClr val="1F2937"/>
                </a:solidFill>
                <a:latin typeface="Calibri"/>
              </a:rPr>
              <a:t>▸  Murda ekspertizasi o‘tkazilgan har bir holatda sud-gistologik uchun material olinadi. Chirish tekshiruvni rad etishga asos bo‘lmaydi.</a:t>
            </a:r>
          </a:p>
          <a:p>
            <a:pPr>
              <a:spcAft>
                <a:spcPts val="1200"/>
              </a:spcAft>
            </a:pPr>
            <a:r>
              <a:rPr sz="2200">
                <a:solidFill>
                  <a:srgbClr val="1F2937"/>
                </a:solidFill>
                <a:latin typeface="Calibri"/>
              </a:rPr>
              <a:t>▸  Kesmalar gematoksilin-eozin bilan bo‘yaladi. Natija dalolatnomada yoziladi: kirish, tekshiruv, sud-gistologik tashhis, xotima.</a:t>
            </a:r>
          </a:p>
          <a:p>
            <a:pPr>
              <a:spcAft>
                <a:spcPts val="1200"/>
              </a:spcAft>
            </a:pPr>
            <a:r>
              <a:rPr sz="2200">
                <a:solidFill>
                  <a:srgbClr val="1F2937"/>
                </a:solidFill>
                <a:latin typeface="Calibri"/>
              </a:rPr>
              <a:t>▸  Murda a’zo va to‘qimalarining birlamchi (formalinli) arxivi kamida 2 yil, preparat va bloklar kamida 3 yil saqlanadi.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304, 316, 317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79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qoling: murda ekspertizasi o‘tkazilgan har bir holatda sud-gistologik tekshiruv uchun ichki a’zo va to‘qima bo‘lakchalari olinadi. Chirish va o‘limdan keyingi boshqa o‘zgarishlar tekshiruvni rad etishga asos bo‘lmaydi.</a:t>
            </a:r>
          </a:p>
          <a:p>
            <a:pPr>
              <a:spcAft>
                <a:spcPts val="1200"/>
              </a:spcAft>
            </a:pPr>
            <a:r>
              <a:rPr sz="1800">
                <a:solidFill>
                  <a:srgbClr val="1F2937"/>
                </a:solidFill>
                <a:latin typeface="Calibri"/>
              </a:rPr>
              <a:t>▸  Qiziqarli holat: sud-gistologik bo‘limda mutaxassis diatom planktonini tekshirib, odam suvga tirik yoki o‘lik holda tushganini aniqlaydi. Buning uchun biomaterial bilan birga havzadan suv namunasi ham taqdim etiladi.</a:t>
            </a:r>
          </a:p>
          <a:p>
            <a:pPr>
              <a:spcAft>
                <a:spcPts val="1200"/>
              </a:spcAft>
            </a:pPr>
            <a:r>
              <a:rPr sz="1800">
                <a:solidFill>
                  <a:srgbClr val="1F2937"/>
                </a:solidFill>
                <a:latin typeface="Calibri"/>
              </a:rPr>
              <a:t>▸  Eslab qolish usuli (arxiv muddatlari): “2 va 3”. Murda a’zo va to‘qimalarining formalinli arxivi kamida 2 yil, gistologik preparatlar va bloklar kamida 3 yil saqlanadi.</a:t>
            </a:r>
          </a:p>
          <a:p>
            <a:pPr>
              <a:spcAft>
                <a:spcPts val="1200"/>
              </a:spcAft>
            </a:pPr>
            <a:r>
              <a:rPr sz="1800">
                <a:solidFill>
                  <a:srgbClr val="1F2937"/>
                </a:solidFill>
                <a:latin typeface="Calibri"/>
              </a:rPr>
              <a:t>▸  Eslab qolish usuli (qon ekspertizasi zanjiri): “Bor – Tur – Guruh – Shaxs”. Avval qon borligi, keyin tur, so‘ng guruhiy va muayyan shaxsga mansubligi aniqlanadi.</a:t>
            </a:r>
          </a:p>
          <a:p>
            <a:pPr>
              <a:spcAft>
                <a:spcPts val="1200"/>
              </a:spcAft>
            </a:pPr>
            <a:r>
              <a:rPr sz="1800">
                <a:solidFill>
                  <a:srgbClr val="1F2937"/>
                </a:solidFill>
                <a:latin typeface="Calibri"/>
              </a:rPr>
              <a:t>▸  Diqqat, xato xavfi: fenolftalein sinamasida qizg‘ish rang 10-15 soniya ichida paydo bo‘lsa, natija musbat. Bir daqiqadan keyingi rang hisobga olinmaydi, chunki oksidlanish havo yoki nur ta’sirida ham bo‘lishi mumkin.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Hodisa joyida umumiy amaliyot shifokori ishtirok etmoqda. Qon izlarini olish qonun hujjatlariga ko‘ra kimning vakolatiga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sud-gistologik bo‘limning mutaxassisi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Tergovchi; zarur hollarda shifokor jalb etiladi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hodisa joyiga chiqqan klinitsist-shifokor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Sud-kimyo bo‘limida ishlovchi laborant xodim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Devorda noksimon, undov belgisi shaklidagi qon dog‘i topildi. Dog‘ning ensiz tomoni nimani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Yuzaning yuqoriroq joylashgan tarafini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 tomchisi tushgan balandlikni aniqlashni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Atrofdagi sachralar soni ko‘pligini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Harakat yo‘nalishi yoki yuzaning pastroq tarafini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 izi bor katta gobelenni to‘liq olishning imkoni bo‘lmadi. Laboratoriyaga qanday namuna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 dog‘li va ifloslanmagan sohalardan bo‘laklar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qon dog‘i bor soha bo‘lagi olinadi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Gobelenning butun yuzasi yuvma qilinadi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ifloslanmagan sohadan bo‘lak olinadi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Fenolftalein sinamasida qizg‘ish rang bir daqiqadan so‘ng paydo bo‘ldi. Natija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Musbat natija, qon borligi qat’iy tasdiqlanadi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Musbat natija, faqat eski qonni bildiradi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Inobatga olinmaydi, oksidlanish havoda ham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Manfiy natija, qon yo‘qligi qat’iy isbotlanadi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 ekspertizasida dog‘da qon borligi aniqlandi. Masalalar ketma-ketligida keyingi qadam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Qonning muayyan shaxsga tegishliligini aniqlash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Qonning tur mansubligini aniqlash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Qonning homilador ayolga mansubligini aniqlash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Qonning regional mansubligini aniqlash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qon dog‘idan tortilma tayyorladi, u loyqa chiqdi. Tur mansubligini aniqlash uchun qaysi usul maqsadga muvofiq?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Atsetat-sellyuloza plenkasida elektroforez</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Gelli agarda pretsipitatsiya (Ouxterloni) usuli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Teyxman mikrokristallik sinamasi usuli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Benzidin va vodorod peroksid sinamasi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Nomusga tegish bo‘yicha tekshiruvda qin sohasidan doka tiqim bilan namuna olindi. Kontrol sifatida nima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Gumondorning so‘lak namunasi qog‘ozga o‘ralgan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Jabrlanuvchining qon namunasi shisha flakonda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Ifloslanmagan sohadan olingan doka bo‘lagi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Xuddi shunday toza doka tiqimi qog‘ozga o‘ralgan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Gumondor maniysida spermatozoid yo‘q (azospermiya), shuning uchun morfologik usul yaroqsiz. Qaysi usul qo‘llaniladi?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Qog‘ozda xromatografiya usuli qo‘llanadi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Kartoshka sharbati bilan reaksiya o‘tkaziladi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Florans mikrokristallik reaksiyasi o‘tkaziladi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Ultrabinafsha nurlarda tekshirish o‘tkaziladi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Qon tekshiruvida shaxs Le (a+ b-) guruhiga mansub chiqdi. Uning ajratmalarida guruhiy antigenlar qanday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Ajratuvchi: antigenlar maniyda ham topiladi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Aniq belgilab bo‘lmaydi, tekshirib bo‘lmaydi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Ajratuvchi emas: ajratmalarda antigen yo‘q</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so‘lakda guruhiy antigenlar aniqlanadi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Hodisa joyidagi sigaret qoldig‘ida so‘lak borligi qaysi fermentni aniqlash orqali tasdiqlanadi?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Katalaza fermentini aniqlash orqali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Amilaza fermentini aniqlash orqali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Peroksidaza fermentini aniqlash orqali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Xolinesteraza fermentini aniqlash orqali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Hodisa joyida jabrlanuvchining timoq osti sohasidan mayda zarracha topildi. Uning qaysi a‘zo yoki to‘qimaga mansubligi qanday tekshiruv bilan hal etiladi?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 guruhini aniqlovchi absorbsiya-elyusiya reaksiyasi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Tur mansubligini aniqlovchi pretsipitatsiya reaksiyasi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Gistologik yoki sitologik tekshiruv orqali aniqlanadi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 borligini aniqlovchi benzidin sinamasi orqali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Ayblanuvchining sochi hodisa joyidagi sochlar bilan taqqoslanmoqda. Taqqoslash uchun namuna qanday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tepadan bitta soch tolasi yulib olinadi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peshonadan 5 ta tola sug‘urib olinadi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ensadan butun bir tutam yulib olinadi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Besh sohadan 20-30 tolali tutamlar teriga yaqin kesib olinadi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Mikroskopda ko‘rilgan sochning tashqi qavati mayda tishchali, tishchalar bir-biriga yaqin. Kutikula bosmasida bir-biriga yaqin to‘lqinsimon chiziqlar bor. Bu soch kimniki?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Odamniki, chunki kutikula belgilari shunday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Hayvonniki, chunki tishchalar bir-biriga yaqin turadi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Hayvonniki, chunki bosmada to‘lqinsimon chiziqlar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Odamniki, chunki magiz qavati eng keng qavat bo‘ladi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Yo‘l-transport hodisasida topilgan sochning uchi mikroskopda zinasimon yuza hosil qilgan. Bu qanday ta‘sirni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O‘tkir jism bilan kesilganini ko‘rsatadi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Sochning sekinroq harakat bilan uzilganini ko‘rsatadi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Sochning keskin harakat bilan uzilganini ko‘rsatadi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Sochga yuqori harorat ta‘sir qilganini ko‘rsatadi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ekspertizasi o‘tkazildi, ammo a‘zo va to‘qimalar chirigan. Sud-gistologik tekshiruvga material olishga nisbatan bu holat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Tekshiruvni rad etish uchun yetarli asos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diatom tekshiruvini o‘tkazishga to‘siq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Tekshiruvni rad etish uchun asos bo‘la olmaydi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Material olinmasligi va arxivlanmasligini bildiradi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ekspertizasi paytida ichki a‘zolar chirishni boshlagan. Gistologik tekshiruv bo‘yicha qaysi qaror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Chirish gistologik tekshiruvni rad etishga asos bo‘lmaydi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Chirigan to‘qimalar gistologik tekshiruvga umuman yaroqsiz</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Gistologiya o‘rniga faqat sud-kimyoviy tekshiruv o‘tkaziladi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Gistologik tekshiruv faqat tergovchi iltimosi bilan o‘tkaziladi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Takroriy tekshiruv ehtimoli bor. Gistologik preparatlar va bloklar arxivda kamida qancha saqlanishi lozim?</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Kamida 1 yil</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Kamida 3 yil</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Kamida 2 yil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Kamida 30 kun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Daryodan murda topildi. Diatom planktoni tekshiruvi uchun biomateriallardan tashqari nima taqdim etilishi lozim?</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Murda kiyimidan olingan qon izlari namunalari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Murdadan olingan bir tutam soch namunalari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Murda topilgan havzadan olingan suv namunalari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Hodisa joyidagi tuproq va qum namunalari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Blokdan tayyorlangan kesmalar (preparatlar) barcha holatlarda qaysi bo‘yoq bilan bo‘yalishi lozim?</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Azur-eozin bo‘yog‘i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Akrixin bo‘yog‘i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Benzidin eritmasi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Gematoksilin-eozin bilan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79</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sud-gistologik tekshiruvni hujjatlashtirmoqda. Dalolatnomaning to‘g‘ri tarkibini tanlang.</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Kirish, tekshiruv, xulosa to‘xtami va taklif qismlari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Kirish, tekshiruv, sud-gistologik tashhis va xotima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Tekshiruv, savollar, tavsiyalar va ilovalar qismlari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Kirish, tavsif, mexanizm va yakuniy ilova qismlari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Tergovchi; zarur hollarda shifokor jalb etiladi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Qonun hujjatlariga binoan hodisa joyidan qon izlari kabi ashyoviy dalillarni olishni tergovchi amalga oshiradi. Zaruriy hollarda shifokorlar ham bu jarayonga jalb qilinishi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304-bet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Harakat yo‘nalishi yoki yuzaning pastroq tarafini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Tomchi harakatdagi tana qismidan yoki qiya yuzaga tushsa, dog‘ noksimon bo‘ladi. Uning ensiz tomoni harakat yo‘nalishi yoki yuzaning pastroq tarafida joylashadi.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304-bet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Qon dog‘li va ifloslanmagan sohalardan bo‘laklar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Katta o‘lchamli predmetni to‘liq olish imkoni bo‘lmasa, qon dog‘i bor sohadan va kontrol sifatida ifloslanmagan sohadan bo‘lak qirqib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304-bet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Inobatga olinmaydi, oksidlanish havoda ham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Musbat natija 10-15 soniya ichida qizg‘ish rang paydo bo‘lishidir. Bir daqiqadan keyingi rang inobatga olinmaydi, chunki oksidlanish havo yoki nur ta’sirida ham sodir bo‘lishi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305-bet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Qonning tur mansubligini aniqlash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Ketma-ketlik: avval qon borligi, keyin tur mansubligi, so‘ng guruhiy mansubligi va oxirida muayyan shaxsga tegishliligi aniqlanadi. Jins va regional mansublik ba’zan qo‘shimcha savol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305-bet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Gelli agarda pretsipitatsiya (Ouxterloni) usuli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Dog‘dan tayyorlangan tortilma loyqa bo‘lsa, gelli agarda pretsipitatsiya (Ouxterloni) usuli qo‘llanadi. Atsetat-sellyuloza plenkasida elektroforez tortilmada qon miqdori kam bo‘lganda ishlatiladi. Teyxman mikrokristallik, benzidin sinamasi esa tur mansubligini aniqlamaydi.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306-bet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Xuddi shunday toza doka tiqimi qog‘ozga o‘ralgan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Qin va orqa teshik sohasidan namuna doka tiqim bilan olinadi. Kontrol namuna sifatida ayni shunday toza doka tiqimi olinib, qog‘ozga o‘raladi. Qon va so‘lak namunalari esa taqqoslash uchun alohida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309-bet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Qog‘ozda xromatografiya usuli qo‘llanadi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Azospermiya va nekrospermiyada spermatozoid bo‘lmagani uchun qog‘ozda xromatografiya qo‘llanadi. Xolin, spermin va nordon fosfataza birga topilsa, dog‘da maniy borligi ishonchli ko‘rsatiladi. Boshqa variantlar taxminiy usullar bo‘lib, Florans reaksiyasi amaliy ahamiyatini yo‘qotgan.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310-bet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Ajratuvchi emas: ajratmalarda antigen yo‘q</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Le (a+ b-) guruhi “ajratuvchi emaslar”ga xos: ularning ajratmalarida qonning guruhiy antigenlari aniqlanmaydi. Le (a- b+) esa “ajratuvchilar” guruhi, Le (a- b-) bo‘yicha ajratuvchanlikni aniq belgilab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311-bet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Amilaza fermentini aniqlash orqali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So‘lakning borligi amilaza fermentini aniqlash orqali hal etiladi. Katalaza va peroksidaza qon borligining taxminiy sinamalariga asos bo‘ladi, ter esa serin aminokislotasi orqali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311-bet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Gistologik yoki sitologik tekshiruv orqali aniqlanadi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Topilgan bo‘lak yoki zarraning muayyan a‘zo yoki to‘qimaga mansubligi uning o‘lchamlariga qarab gistologik yoki sitologik tekshiruv bilan hal etiladi. Pretsipitatsiya tur mansubligini, absorbsiya-elyusiya esa guruhiy mansublikni aniqlaydi.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312-bet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Besh sohadan 20-30 tolali tutamlar teriga yaqin kesib olinadi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Namuna boshning besh sohasidan (peshona, tepa, ikki chekka, ensa) olinadi. Har joydan 20-30 tolali tutam imkon qadar teriga yaqin kesiladi va alohida qog‘ozga o‘raladi.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313-bet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Odamniki, chunki kutikula belgilari shunday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Odam sochida kutikula optik chekkasi mayda tishchali, tishchalar zich va soch o‘qiga mahkam yopishgan, bosmada to‘lqinsimon chiziqlar ko‘rinadi. Hayvon sochida tishchalar yirik, ba‘zan arrasimon va bir-biridan uzoq.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313-bet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Sochning sekinroq harakat bilan uzilganini ko‘rsatadi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Soch keskin harakat bilan uzilsa, yuzasi tekis bo‘ladi. Sekinroq harakat bilan uzilsa, zinasimon yuza qoladi. O‘tkir jism bilan kesilganda uch tekis yoki mayda tishli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315-bet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Tekshiruvni rad etish uchun asos bo‘la olmaydi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Murda ekspertizasi o‘tkazilgan barcha holatlarda sud-gistologik tekshiruv uchun material olinishi kerak. A‘zo va to‘qimalarning chirishi yoki boshqa o‘limdan keyingi o‘zgarishlari tekshiruvni rad etish uchun asos bo‘la 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316-bet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Chirish gistologik tekshiruvni rad etishga asos bo‘lmaydi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Darslikka ko‘ra, murda a‘zo va to‘qimalarining chirishi hamda o‘limdan keyingi boshqa o‘zgarishlar sud-gistologik tekshiruvni rad etish uchun asos bo‘la 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316-bet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Kamida 3 yil</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Gistologik preparatlar va to‘qima bo‘lakchalari quyilgan bloklar kamida 3 yil saqlanadi. Murda a‘zolarining formalinli birlamchi arxivi esa kamida 2 yil saqlanadi.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317-bet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Murda topilgan havzadan olingan suv namunalari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Diatom planktoni tekshiruvida suvga tirik yoki o‘lik holda tushganlik hal etiladi. Buning uchun biomateriallar bilan birga murda topilgan yoki cho‘kish taxmin qilingan havzadan suv namunalari ham beriladi.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316-bet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Gematoksilin-eozin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Barcha holatlarda a‘zo yoki to‘qima bo‘lakchasi quyilgan bloklardan tayyorlangan kesmalar gematoksilin-eozin bilan bo‘yaladi. Selektiv usullar esa faqat tegishli hollarda qo‘shimcha qo‘llanadi.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316-bet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79</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Kirish, tekshiruv, sud-gistologik tashhis va xotima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Sud-gistologik va diatom planktoni tekshiruvlari dalolatnoma bilan hujjatlashtiriladi. U kirish, tekshiruv, sud-gistologik tashhis va xotima qismlaridan iborat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316-bet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Sud-gistologik tekshiruvini o'tkazish qoidalari va tartibi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79</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13. Ashyoviy dalillarni sud-tibbiy tekshirish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