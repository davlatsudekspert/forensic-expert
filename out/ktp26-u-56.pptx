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savollari: 1) Nega yong‘in o‘chog‘idagi murdada o‘lim sababini darhol aytib bo‘lmaydi? 2) Yuqori haroratning umumiy va mahalliy ta’siri nimasi bilan farq qiladi? Doskada chizish: mavzu rejasini 4 bo‘limli sxema ko‘rinishida chizdiring. Tipik xato: talabalar issiq urishi va quyosh urishini bir xil holat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savollari: 1) Nega nam va shamolsiz muhitda issiqlik ajralishi qiyinlashadi? 2) Qaysi yo‘l issiqlik ajratishda eng katta ulushga ega? Doskada chizish: odam siluetini chizib, to‘rt ajralish yo‘lini o‘q bilan ko‘rsating. Tipik xato: ter orqali ajralish eng katta ulush deb o‘ylash (aslida nurlanish — 55%).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savollari: 1) Qanday sharoitlar issiq urishiga moyillik tug‘diradi? 2) Qaysi omillar mahalliy ta’sirni keltirib chiqaradi? Doskada chizish: umumiy va mahalliy ta’sirni ikki shoxli daraxt shaklida chizdiring. Tipik xato: quyosh urishini mahalliy ta’sir deb hisoblash; u umumiy ta’sirga kiradi.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nega issiq urish faqat ob-havoga bog‘liq emas? Nega go‘daklar xavf guruhida? Doskada chizing: ikki pallali tarozi, bir pallada «issiqlik ishlab chiqarilishi», ikkinchisida «issiqlik ajratilishi». Tipik xato: talabalar issiq urishni faqat yozgi quyoshda bo‘ladi deb o‘ylaydi, issiq sex va og‘ir mehnatni unutadi.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qon quyuqlashishi nega gipertermiyani kuchaytiradi? Stress reaksiyasi qanday moddalar ajratadi? Doskada chizing: 5 tugunli zanjirni strelkalar bilan, talabalar tartibni xotiradan tiklasin. Tipik xato: gipertermiya va gipoksiyani aralashtirish (gipertermiya – ortiqcha harorat, gipoksiya – kislorod yetishmasligi).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nega o‘rganmagan organizmda o‘tkir shakl xavfliroq? Uzaytirilgan shaklda uch davrni sanab bering. Doskada chizing: solishtirma jadvalni talabalar daftarga ko‘chirsin. Tipik xato: o‘tkir shaklga ham uch davrni yozish. Manbada uch davr uzaytirilgan shakl uchun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birinchi davr "latent" deyiladi? Qo‘zg‘alish davrida qaysi tizimlar buziladi? Doskada: uch davr va o‘lim zanjirini strelkalar bilan chizdiring. Tipik xato: holsizlik davrini boshlang‘ich davr deb o‘ylash; aslida u predagonal davr.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talabalarga juft-juft bo‘lib bering, javobni 30 soniyada yozdiring. Muhokama: o‘tkir va uzaytirilgan shakl farqi nimada? Doskada: ikki shaklni yonma-yon ustun qilib yozing. Tipik xato: o‘tkir shaklda ham uch davr bor deb o‘ylash; davrlar uzaytirilgan shaklga xos.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quyosh urishi bilan issiq urishining kelib chiqish sharti qanday farq qiladi? Nega bosh kiyim muhim? Doskada: ikki ustunli solishtirish (issiq urishi va quyosh urishi: sabab, harorat, asosiy belgi) chizdiring. Tipik xato: quyosh urishida ham harorat albatta keskin ko‘tariladi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MNT — markaziy nerv tizimi (birinchi uchrashganda ochib bering). Muhokama: nega ochiq joyda bosh kiyimsiz yurish quyosh urishiga olib keladi? Nima uchun issiq sexda ishlovchi va quyoshda qolgan odam holatlari farqlanadi? Doskada chizish: ikki ustunli solishtirish jadvalini daftarga ko‘chirtiring. Tipik xato: talabalar quyosh urishida ham tana harorati keskin ko‘tariladi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qon quyuqlashishi ichki a’zolar to‘laqonligi bilan bog‘liq bo‘lishi mumkin? Bu topilmalar nega issiq urishini quyosh urishidan ajratmaydi? Doskada chizish: a’zo — o‘zgarish jadvalini yozdiring. Tipik xato: shu belgilarni faqat issiq urishiga xos spetsifik belgi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nima uchun anamnez (voqea tafsilotlari) bu holatda diagnozning asosiy tayanchi bo‘ladi? Xato klinik diagnoz sud-tibbiy ekspertizaga qanday ta’sir qilishi mumkin? Doskada chizish: ikki ustun — «tez/kuchli» va «kech/oz» — murda qotishi va dog‘larni joylashtiring. Tipik xato: murda qotishi ham dog‘lar kabi kech va sust rivojlanadi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Qaysi omillar issiqlik ishlab chiqarishni oshirib, ajratishni kamaytirgan? 2) Nega voqea tafsilotini (anamnez) o‘rganish zarur? Doskada: issiq urishining turtki omillari va murdadagi belgilar ikki ustunli ro‘yxatini chizdiring. Tipik xato: murdadagi morfologik o‘zgarishlarni issiq urishiga xos spetsifik belgi deb hisoblash; shuningdek murda dog‘larining kech paydo bo‘lishini e’tiborsiz qoldirish.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bir xil ta’sirda teri yupqa joyda kuyish chuqurroq bo‘ladi? 2) Kuyish chuqurligini qaysi omillar belgilaydi? Doskada: manba turlarini sxema shaklida chizdiring. Tipik xato: termik kuyishni faqat alangadan bo‘ladi deb o‘ylash; manbalar ichida qaynoq suv, bug‘ va qizdirilgan jism ham bor.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I darajali kuyish murdada ko‘pincha aniqlanmaydi? 2) Pufak tubidan qon chiqmasligi nimani anglatadi? Doskada: I va II daraja uchun teri qavatlarini chizib, shikastlanish chuqurligini ko‘rsating. Tipik xato: I va II daraja tuzalish muddatlarini (3-4 kun va 10-20 kun)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III-A va III-B ni nekroz chuqurligi bo‘yicha qanday farqlaysiz? 2) IV darajada nega chuqur to‘qimalar ham zararlanadi? Doskada: terining qatlamlarini (epidermis, derma, mushak, suyak) chizib, III-A, III-B va IV chegaralarini rangli bo‘r bilan belgilang. Tipik xato: III-B ni IV daraja bilan aralashtirish; III-B da mushak zararlanmaydi, faqat teri to‘liq nekrozga uchraydi.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Nega bitta jarohatda bir necha daraja uchraydi? 2) Ekspertiza xulosasida IV daraja topilsa, manba haqida nima deyish mumkin? Doskada: ikki ustunli ro‘yxat chizing: chap tomonda yuzaki (I-II), o‘ng tomonda chuqur (III-IV). Tipik xato: IV darajani qaynoq suyuqlik yoki bug‘ ta’siriga bog‘lash.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Javoblar: 1) I daraja (eritema); 2) II daraja (seroz pufaklar); 3) alanga (soch va kiyim shikastlanadi, qurum bor; issiq suyuqlikda soch va kiyim shikastlanmaydi); 4) IV daraja, faqat alanga. Muhokama: talabalar javobini belgilari bilan asoslasin. Doskada: har savol uchun javobni bir so‘z bilan yozdiring. Tipik xato: pufakli kuyishni III daraja deb belgilash; pufakda tiniq seroz suyuqlik bo‘lsa, bu II daraja.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Soch va kiyim shikastlanmagan, yaralar oqma shaklida bo‘lsa, qaysi manba taxmin qilinadi? 2) Qurum izi nimani ko‘rsatadi? Doskada: uchta manba bo‘yicha jadvalni talabalar bilan birga chizing. Tipik xato: issiq suyuqlik kuyishini chuqur deb o‘ylash; aslida u yuzaki bo‘ladi, chuqur kuyish alanga va qizdirilgan jism uchun xos. Diqqat: issiq suyuqlik ≠ alanga (soch-kiyim holati farq qiladi).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Oqmalar pastga, alanga tillari yuqoriga yo‘nalishi jabrlanganning holati haqida nima deydi? 2) Nafas yo‘llari kuyishi qaysi omillar uchun xos? Doskada: tik turgan odam sxemasini chizib, oqma va alanga tili yo‘nalishini o‘qlar bilan ko‘rsating. Tipik xato: nafas yo‘llari kuyishini har qanday alanga ta’siriga xos deb hisoblash; manbada u faqat bug‘ va issiq gazlar uchun xos deyilgan.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5-6 daq. Muhokama: 1) Nega darajadan tashqari maydon ham hisobga olinadi? 2) Kaft qoidasi qachon qulay? Doskada: tana sxemasini chizib, qismlarga foizlarni yozdiring. Tipik xato: ulushlarni eslab qolishda adashish; manbada bosh-bo‘yin, qo‘l, son, boldir-tovon uchun 9%, old va orqa yuza uchun 18%, oraliq soha uchun 1% berilgan. Manbadagi rasm 7.2 ga qarab ulushlarni tekshiring.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kuyish darajasi ham, maydoni ham diagnozda ko‘rsatilishi kerak? 2) “30% (10%) / II-III” yozuvini talabalar o‘z so‘zi bilan izohlasin. Doskada: kasr chizib, suratga maydon, maxrajga daraja yozdiring va bitta misol tuzdiring. Tipik xato: surat va maxrajni almashtirib yozish yoki qavs ichidagi foizni umumiy maydon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chuqurroq kuyishda foiz chegarasi pastroq? 2) Nafas yo‘llari kuyishi qachon xavfli hisoblanadi? Doskada: jadvalni daftarga ko‘chirib, har qatorga bittadan misol yozdiring. Tipik xato: II va III darajaning foiz chegaralarini (20% va 15%) chalkashtirish. Tezkor savol: tananing 12% yuzasida III-IV daraja kuyish xavfli bo‘ladimi?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bolalar va keksalarda kuyish kasalligi og‘irroq kechadi? 2) Kuyish maydoni va chuqurligi kasallik oqibatiga qanday ta’sir qiladi? Doskada: to‘rt davrni ketma-ket strelkalar bilan chizdiring. Tipik xato: kuyish kasalligini faqat kuyishning o‘zi deb qarash; aslida bu ichki a’zolardagi patologik o‘zgarishlardir.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shok davrida nafas yo‘llari kuyishi xavfni oshiradi? 2) Septikotoksemiyada qanday asoratlar kuzatiladi? Doskada 4 davrni vaqt chizig‘ida chizdiring va muddatlarini yozdiring. Tipik xato: toksemiya va septikotoksemiyani aralashtirish yoki shok davrini 1 sutka bilan cheklab qo‘yish (ba’zan 2-3 sutka).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Oqma yo‘nalishi nimani ko‘rsatadi? 2) Qurum izi qaysi manbaga xos? Doskada ikki jarohatning sxemasini (oqmalar pastga, alanga tillari yuqoriga) chizdiring. Tipik xato: kiyim butun bo‘lsa, kuyish issiq suyuqlikdan emas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yong‘inda topilgan har bir kuygan murda alanga tufayli o‘lgan deb hisoblanmaydi? 2) Qanday tekshiruvlar kerak bo‘ladi? Doskada savol chizing: ‘alanga — tirikmi / o‘likmi?’ va mezonlarni ikki ustunga ajrating. Tipik xato: murdaning ko‘mirlanishini o‘lim sababi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yong‘inda o‘lim ko‘pincha is gazidan bo‘ladi, murda esa keyin ko‘mirlanadi? 2) Qurum qaysi a’zolarda topilsa hayotiylikni isbotlaydi? Doskada: nafas yo‘lidan oshqozongacha qurum yo‘lini va 20% hamda 60% chegaralarini chizing. Tipik xato: murda ko‘mirlangani uchun alanga tirik paytda ta’sir qilgan, deb xulosa qilish. Qurum va karboksigemoglobin bilan tekshirish kerak.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qon aynan yurak kameralaridan olinadi? 2) “G‘oz panjasi” qanday hosil bo‘ladi, ya’ni burma tubi nega kuymaydi? Doskada: yoyilgan qovoq terisini navbatlashuvchi kuygan va kuymagan sohalar bilan chizing. Tipik xato: namunani yuza tomir va yuza mushakdan olish. Diqqat: yuza tomirdagi karboksigemoglobin hayotiylikni isbotlamaydi.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Yong‘indan keyin topilgan epidural gematomani qanday farqlaysiz? 2) Pufak suyuqligi tekshiruvi nimani ko‘rsatadi? Doskada: urchuqsimon va o‘roqsimon gematomalarni qattiq parda bilan birga chizing. Tipik xato: har qanday epidural gematomani travma deb hisoblash. Diqqat: urchuqsimon ≠ o‘roqsimon. Hayotiylikni bitta belgi bilan emas, belgilar majmui va mikroskopik tekshiruv bilan baholang.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qurum hayotiylik belgisi hisoblanadi? 2) Karboksigemoglobin foizi nima uchun hal qiluvchi? Doskada: ikki ustunli ro‘yxat chizing: “hayot paytida” va “o‘limdan keyin”, belgilarni joylashtiring. Tipik xato: karboksigemoglobin topilishining o‘zini hayotiylik isboti deb hisoblash. Muhimi — uning konsentratsiyasi.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Mushaklar kaltalashishi nega qo‘l-oyoqni bukadi? 2) Terida yoriqlar nega har xil joyda hosil bo‘ladi? Doskada: 4 bosqichli zanjirni talabalar bilan birga chizing. Tipik xato: “bokser pozasi”ni “sovuq qotgan odam pozasi” bilan aralashtirish. Ular boshqa sabab va mexanizmga ega.</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krematoriy va yong‘in muddatlari bunchalik farq qiladi? 2) Kuldan qanday masalalarni hal etish mumkin? Doskada: uch qatorli solishtirish jadvalini chizing. Tipik xato: go‘dak va kattalar muddatlarini, shuningdek krematoriy va yong‘in sharoitini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faqat poza hayotiylikni isbotlamaydi? 2) Qaysi belgilar birgalikda ishonchli xulosa beradi? Doskada: hayotiy va o‘limdan keyingi ta’sir belgilarini ikki ustunda yozdiring. Tipik xato: talabalar bokser pozasini hayotiylik belgisi deb hisoblaydi; epidural gematoma shaklini (urchuqsimon va o‘roqsimon) chalkashtiradi.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qon yuza tomirlardan emas, yurak va chuqur tomirlardan olinadi? 2) Gistologiya xulosaga nima qo‘shadi? Doskada: 5 bosqichli zanjirni talabalar o‘zlari chizsin. Tipik xato: namunani yuza tomirdan olish; bu holatda o‘limdan keyingi karboksigemoglobin ham chiqishi mumkin.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Issiq urishdan o‘lim holatida murdada qaysi belgilar xos? 2) Kuyish chuqurligi va maydoni nima uchun birga ko‘rsatiladi? Doskada: kuyish darajalari va hayotiylik belgilarining qisqa konspektini chizdiring. Tipik xato: IV daraja kuyishni barcha manbalarga xos deb hisoblash va quyosh urishida yuqori harorat kutish.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Yuqori harorat tufayli o'lim holatlarini sud-tibbiy ekspertizasi: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Mavzu: yuqori haroratning umumiy ta’siri (issiq urishi, quyosh urishi) va mahalliy ta’siri (termik kuyish) tufayli o‘lim holatlarining sud-tibbiy ekspertizasi.</a:t>
            </a:r>
          </a:p>
          <a:p>
            <a:pPr>
              <a:spcAft>
                <a:spcPts val="1200"/>
              </a:spcAft>
            </a:pPr>
            <a:r>
              <a:rPr sz="2200">
                <a:solidFill>
                  <a:srgbClr val="1F2937"/>
                </a:solidFill>
                <a:latin typeface="Calibri"/>
              </a:rPr>
              <a:t>▸  Reja: issiqlik almashinuvi, issiq urishi va quyosh urishi, termik kuyish darajalari, kuyish kasalligi, alanga ta’sirining hayotiyligi.</a:t>
            </a:r>
          </a:p>
          <a:p>
            <a:pPr>
              <a:spcAft>
                <a:spcPts val="1200"/>
              </a:spcAft>
            </a:pPr>
            <a:r>
              <a:rPr sz="2200">
                <a:solidFill>
                  <a:srgbClr val="1F2937"/>
                </a:solidFill>
                <a:latin typeface="Calibri"/>
              </a:rPr>
              <a:t>▸  Maqsad: yong‘indan keyin topilgan murdada alanga ta’siri tiriklikda yoki o‘limdan keyin bo‘lganini aniqlash asoslarini o‘rganish.</a:t>
            </a:r>
          </a:p>
          <a:p>
            <a:pPr>
              <a:spcAft>
                <a:spcPts val="1200"/>
              </a:spcAft>
            </a:pPr>
            <a:r>
              <a:rPr sz="2200">
                <a:solidFill>
                  <a:srgbClr val="1F2937"/>
                </a:solidFill>
                <a:latin typeface="Calibri"/>
              </a:rPr>
              <a:t>▸  Diqqat: xato qilish xavfi. Issiq urishi ≠ quyosh urishi, lekin murdadagi morfologik o‘zgarishlari o‘xshash va spetsifik emas.</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183, 183-189, 188, 184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Tana harorati va issiqlik ajralish yo‘llari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Normal tana harorati 36–37°S; modda almashinuvida issiqlik hosil bo‘ladi va u boshqarilib ajratiladi.</a:t>
            </a:r>
          </a:p>
          <a:p>
            <a:pPr>
              <a:spcAft>
                <a:spcPts val="800"/>
              </a:spcAft>
            </a:pPr>
            <a:r>
              <a:rPr sz="1800">
                <a:solidFill>
                  <a:srgbClr val="1F2937"/>
                </a:solidFill>
                <a:latin typeface="Calibri"/>
              </a:rPr>
              <a:t>▸  22–25°S dan past yoki 43–44°S dan baland haroratda to‘qimalarda hayotga mos kelmas o‘zgarishlar bo‘ladi.</a:t>
            </a:r>
          </a:p>
          <a:p>
            <a:pPr>
              <a:spcAft>
                <a:spcPts val="800"/>
              </a:spcAft>
            </a:pPr>
            <a:r>
              <a:rPr sz="1800">
                <a:solidFill>
                  <a:srgbClr val="1F2937"/>
                </a:solidFill>
                <a:latin typeface="Calibri"/>
              </a:rPr>
              <a:t>▸  Umumiy ta’sir issiq urishiga, mahalliy ta’sir esa kuyishga olib keladi.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643987"/>
                <a:gridCol w="2643987"/>
              </a:tblGrid>
              <a:tr h="411480">
                <a:tc>
                  <a:txBody>
                    <a:bodyPr/>
                    <a:lstStyle/>
                    <a:p>
                      <a:r>
                        <a:rPr sz="1400" b="1">
                          <a:solidFill>
                            <a:srgbClr val="FFFFFF"/>
                          </a:solidFill>
                        </a:rPr>
                        <a:t>Yo‘l</a:t>
                      </a:r>
                    </a:p>
                  </a:txBody>
                  <a:tcPr marL="73152" marR="73152" marT="36576" marB="36576">
                    <a:solidFill>
                      <a:srgbClr val="0B1F3A"/>
                    </a:solidFill>
                  </a:tcPr>
                </a:tc>
                <a:tc>
                  <a:txBody>
                    <a:bodyPr/>
                    <a:lstStyle/>
                    <a:p>
                      <a:r>
                        <a:rPr sz="1400" b="1">
                          <a:solidFill>
                            <a:srgbClr val="FFFFFF"/>
                          </a:solidFill>
                        </a:rPr>
                        <a:t>Ulushi</a:t>
                      </a:r>
                    </a:p>
                  </a:txBody>
                  <a:tcPr marL="73152" marR="73152" marT="36576" marB="36576">
                    <a:solidFill>
                      <a:srgbClr val="0B1F3A"/>
                    </a:solidFill>
                  </a:tcPr>
                </a:tc>
              </a:tr>
              <a:tr h="411480">
                <a:tc>
                  <a:txBody>
                    <a:bodyPr/>
                    <a:lstStyle/>
                    <a:p>
                      <a:r>
                        <a:rPr sz="1300" b="0">
                          <a:solidFill>
                            <a:srgbClr val="1F2937"/>
                          </a:solidFill>
                        </a:rPr>
                        <a:t>Nurlanish</a:t>
                      </a:r>
                    </a:p>
                  </a:txBody>
                  <a:tcPr marL="73152" marR="73152" marT="36576" marB="36576">
                    <a:solidFill>
                      <a:srgbClr val="E8EEF6"/>
                    </a:solidFill>
                  </a:tcPr>
                </a:tc>
                <a:tc>
                  <a:txBody>
                    <a:bodyPr/>
                    <a:lstStyle/>
                    <a:p>
                      <a:r>
                        <a:rPr sz="1300" b="0">
                          <a:solidFill>
                            <a:srgbClr val="1F2937"/>
                          </a:solidFill>
                        </a:rPr>
                        <a:t>55%</a:t>
                      </a:r>
                    </a:p>
                  </a:txBody>
                  <a:tcPr marL="73152" marR="73152" marT="36576" marB="36576">
                    <a:solidFill>
                      <a:srgbClr val="E8EEF6"/>
                    </a:solidFill>
                  </a:tcPr>
                </a:tc>
              </a:tr>
              <a:tr h="411480">
                <a:tc>
                  <a:txBody>
                    <a:bodyPr/>
                    <a:lstStyle/>
                    <a:p>
                      <a:r>
                        <a:rPr sz="1300" b="0">
                          <a:solidFill>
                            <a:srgbClr val="1F2937"/>
                          </a:solidFill>
                        </a:rPr>
                        <a:t>Ter bilan</a:t>
                      </a:r>
                    </a:p>
                  </a:txBody>
                  <a:tcPr marL="73152" marR="73152" marT="36576" marB="36576">
                    <a:solidFill>
                      <a:srgbClr val="FFFFFF"/>
                    </a:solidFill>
                  </a:tcPr>
                </a:tc>
                <a:tc>
                  <a:txBody>
                    <a:bodyPr/>
                    <a:lstStyle/>
                    <a:p>
                      <a:r>
                        <a:rPr sz="1300" b="0">
                          <a:solidFill>
                            <a:srgbClr val="1F2937"/>
                          </a:solidFill>
                        </a:rPr>
                        <a:t>27%</a:t>
                      </a:r>
                    </a:p>
                  </a:txBody>
                  <a:tcPr marL="73152" marR="73152" marT="36576" marB="36576">
                    <a:solidFill>
                      <a:srgbClr val="FFFFFF"/>
                    </a:solidFill>
                  </a:tcPr>
                </a:tc>
              </a:tr>
              <a:tr h="411480">
                <a:tc>
                  <a:txBody>
                    <a:bodyPr/>
                    <a:lstStyle/>
                    <a:p>
                      <a:r>
                        <a:rPr sz="1300" b="0">
                          <a:solidFill>
                            <a:srgbClr val="1F2937"/>
                          </a:solidFill>
                        </a:rPr>
                        <a:t>O‘tkazish</a:t>
                      </a:r>
                    </a:p>
                  </a:txBody>
                  <a:tcPr marL="73152" marR="73152" marT="36576" marB="36576">
                    <a:solidFill>
                      <a:srgbClr val="E8EEF6"/>
                    </a:solidFill>
                  </a:tcPr>
                </a:tc>
                <a:tc>
                  <a:txBody>
                    <a:bodyPr/>
                    <a:lstStyle/>
                    <a:p>
                      <a:r>
                        <a:rPr sz="1300" b="0">
                          <a:solidFill>
                            <a:srgbClr val="1F2937"/>
                          </a:solidFill>
                        </a:rPr>
                        <a:t>15%</a:t>
                      </a:r>
                    </a:p>
                  </a:txBody>
                  <a:tcPr marL="73152" marR="73152" marT="36576" marB="36576">
                    <a:solidFill>
                      <a:srgbClr val="E8EEF6"/>
                    </a:solidFill>
                  </a:tcPr>
                </a:tc>
              </a:tr>
              <a:tr h="411480">
                <a:tc>
                  <a:txBody>
                    <a:bodyPr/>
                    <a:lstStyle/>
                    <a:p>
                      <a:r>
                        <a:rPr sz="1300" b="0">
                          <a:solidFill>
                            <a:srgbClr val="1F2937"/>
                          </a:solidFill>
                        </a:rPr>
                        <a:t>Turli ajratmalar</a:t>
                      </a:r>
                    </a:p>
                  </a:txBody>
                  <a:tcPr marL="73152" marR="73152" marT="36576" marB="36576">
                    <a:solidFill>
                      <a:srgbClr val="FFFFFF"/>
                    </a:solidFill>
                  </a:tcPr>
                </a:tc>
                <a:tc>
                  <a:txBody>
                    <a:bodyPr/>
                    <a:lstStyle/>
                    <a:p>
                      <a:r>
                        <a:rPr sz="1300" b="0">
                          <a:solidFill>
                            <a:srgbClr val="1F2937"/>
                          </a:solidFill>
                        </a:rPr>
                        <a:t>3%</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Issiqlik ajralish yo‘llari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Yuqori haroratning shikastlovchi omillari va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Omillar: issiq tashqi muhit, alanga, yonuvchi gazlar, suyuqliklar va qattiq moddalar.</a:t>
            </a:r>
          </a:p>
          <a:p>
            <a:pPr>
              <a:spcAft>
                <a:spcPts val="800"/>
              </a:spcAft>
            </a:pPr>
            <a:r>
              <a:rPr sz="1800">
                <a:solidFill>
                  <a:srgbClr val="1F2937"/>
                </a:solidFill>
                <a:latin typeface="Calibri"/>
              </a:rPr>
              <a:t>▸  Quyosh urishi bosh kiyimsiz, ochiq joyda quyosh nurlarining boshga uzoq ta’siridan kelib chiqadi.</a:t>
            </a:r>
          </a:p>
          <a:p>
            <a:pPr>
              <a:spcAft>
                <a:spcPts val="800"/>
              </a:spcAft>
            </a:pPr>
            <a:r>
              <a:rPr sz="1800">
                <a:solidFill>
                  <a:srgbClr val="1F2937"/>
                </a:solidFill>
                <a:latin typeface="Calibri"/>
              </a:rPr>
              <a:t>▸  Issiq urishida issiqlik ko‘p hosil bo‘lib, kam ajraladi; mahalliy ta’sirda termik kuyish bo‘ladi.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2250202"/>
                <a:gridCol w="3037772"/>
              </a:tblGrid>
              <a:tr h="411480">
                <a:tc>
                  <a:txBody>
                    <a:bodyPr/>
                    <a:lstStyle/>
                    <a:p>
                      <a:r>
                        <a:rPr sz="1400" b="1">
                          <a:solidFill>
                            <a:srgbClr val="FFFFFF"/>
                          </a:solidFill>
                        </a:rPr>
                        <a:t>Ta’sir turi</a:t>
                      </a:r>
                    </a:p>
                  </a:txBody>
                  <a:tcPr marL="73152" marR="73152" marT="36576" marB="36576">
                    <a:solidFill>
                      <a:srgbClr val="0B1F3A"/>
                    </a:solidFill>
                  </a:tcPr>
                </a:tc>
                <a:tc>
                  <a:txBody>
                    <a:bodyPr/>
                    <a:lstStyle/>
                    <a:p>
                      <a:r>
                        <a:rPr sz="1400" b="1">
                          <a:solidFill>
                            <a:srgbClr val="FFFFFF"/>
                          </a:solidFill>
                        </a:rPr>
                        <a:t>Oqibati</a:t>
                      </a:r>
                    </a:p>
                  </a:txBody>
                  <a:tcPr marL="73152" marR="73152" marT="36576" marB="36576">
                    <a:solidFill>
                      <a:srgbClr val="0B1F3A"/>
                    </a:solidFill>
                  </a:tcPr>
                </a:tc>
              </a:tr>
              <a:tr h="411480">
                <a:tc>
                  <a:txBody>
                    <a:bodyPr/>
                    <a:lstStyle/>
                    <a:p>
                      <a:r>
                        <a:rPr sz="1300" b="0">
                          <a:solidFill>
                            <a:srgbClr val="1F2937"/>
                          </a:solidFill>
                        </a:rPr>
                        <a:t>Umumiy (butun tana)</a:t>
                      </a:r>
                    </a:p>
                  </a:txBody>
                  <a:tcPr marL="73152" marR="73152" marT="36576" marB="36576">
                    <a:solidFill>
                      <a:srgbClr val="E8EEF6"/>
                    </a:solidFill>
                  </a:tcPr>
                </a:tc>
                <a:tc>
                  <a:txBody>
                    <a:bodyPr/>
                    <a:lstStyle/>
                    <a:p>
                      <a:r>
                        <a:rPr sz="1300" b="0">
                          <a:solidFill>
                            <a:srgbClr val="1F2937"/>
                          </a:solidFill>
                        </a:rPr>
                        <a:t>Issiq urishi</a:t>
                      </a:r>
                    </a:p>
                  </a:txBody>
                  <a:tcPr marL="73152" marR="73152" marT="36576" marB="36576">
                    <a:solidFill>
                      <a:srgbClr val="E8EEF6"/>
                    </a:solidFill>
                  </a:tcPr>
                </a:tc>
              </a:tr>
              <a:tr h="411480">
                <a:tc>
                  <a:txBody>
                    <a:bodyPr/>
                    <a:lstStyle/>
                    <a:p>
                      <a:r>
                        <a:rPr sz="1300" b="0">
                          <a:solidFill>
                            <a:srgbClr val="1F2937"/>
                          </a:solidFill>
                        </a:rPr>
                        <a:t>Umumiy (bosh isishi)</a:t>
                      </a:r>
                    </a:p>
                  </a:txBody>
                  <a:tcPr marL="73152" marR="73152" marT="36576" marB="36576">
                    <a:solidFill>
                      <a:srgbClr val="FFFFFF"/>
                    </a:solidFill>
                  </a:tcPr>
                </a:tc>
                <a:tc>
                  <a:txBody>
                    <a:bodyPr/>
                    <a:lstStyle/>
                    <a:p>
                      <a:r>
                        <a:rPr sz="1300" b="0">
                          <a:solidFill>
                            <a:srgbClr val="1F2937"/>
                          </a:solidFill>
                        </a:rPr>
                        <a:t>Quyosh urishi (insolyasiya)</a:t>
                      </a:r>
                    </a:p>
                  </a:txBody>
                  <a:tcPr marL="73152" marR="73152" marT="36576" marB="36576">
                    <a:solidFill>
                      <a:srgbClr val="FFFFFF"/>
                    </a:solidFill>
                  </a:tcPr>
                </a:tc>
              </a:tr>
              <a:tr h="411480">
                <a:tc>
                  <a:txBody>
                    <a:bodyPr/>
                    <a:lstStyle/>
                    <a:p>
                      <a:r>
                        <a:rPr sz="1300" b="0">
                          <a:solidFill>
                            <a:srgbClr val="1F2937"/>
                          </a:solidFill>
                        </a:rPr>
                        <a:t>Mahalliy</a:t>
                      </a:r>
                    </a:p>
                  </a:txBody>
                  <a:tcPr marL="73152" marR="73152" marT="36576" marB="36576">
                    <a:solidFill>
                      <a:srgbClr val="E8EEF6"/>
                    </a:solidFill>
                  </a:tcPr>
                </a:tc>
                <a:tc>
                  <a:txBody>
                    <a:bodyPr/>
                    <a:lstStyle/>
                    <a:p>
                      <a:r>
                        <a:rPr sz="1300" b="0">
                          <a:solidFill>
                            <a:srgbClr val="1F2937"/>
                          </a:solidFill>
                        </a:rPr>
                        <a:t>Termik kuyish</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Ta’sir turlari va oqibati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183, 184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Issiq urishi: moyillik yaratuvchi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Issiq urishi organizmda issiqlik ko‘p ishlab chiqarilib, kam ajratilganda rivojlanadi.</a:t>
            </a:r>
          </a:p>
          <a:p>
            <a:pPr>
              <a:spcAft>
                <a:spcPts val="1200"/>
              </a:spcAft>
            </a:pPr>
            <a:r>
              <a:rPr sz="2200">
                <a:solidFill>
                  <a:srgbClr val="1F2937"/>
                </a:solidFill>
                <a:latin typeface="Calibri"/>
              </a:rPr>
              <a:t>▸  Havo harorati va namligi baland, shamol yo‘q bo‘lganda xavf ortadi. Bu issiq sexlarda, og‘ir jismoniy ishda, sportchilar va harbiylar mashqida kuzatiladi.</a:t>
            </a:r>
          </a:p>
          <a:p>
            <a:pPr>
              <a:spcAft>
                <a:spcPts val="1200"/>
              </a:spcAft>
            </a:pPr>
            <a:r>
              <a:rPr sz="2200">
                <a:solidFill>
                  <a:srgbClr val="1F2937"/>
                </a:solidFill>
                <a:latin typeface="Calibri"/>
              </a:rPr>
              <a:t>▸  Havo va namlik o‘tkazmaydigan kiyim moyillik yaratadi. Yurak-qon tomir kasalliklari, qalqonsimon bez giperfunksiyasi, semizlik va keksalikda issiq urish ko‘proq uchraydi.</a:t>
            </a:r>
          </a:p>
          <a:p>
            <a:pPr>
              <a:spcAft>
                <a:spcPts val="1200"/>
              </a:spcAft>
            </a:pPr>
            <a:r>
              <a:rPr sz="2200">
                <a:solidFill>
                  <a:srgbClr val="1F2937"/>
                </a:solidFill>
                <a:latin typeface="Calibri"/>
              </a:rPr>
              <a:t>▸  Bir yoshgacha bo‘lgan bolalarda termoregulyatsiya mexanizmlari to‘liq shakllanmagan. Shu sababli ular yuqori haroratga o‘ta sezgir.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Issiq urishining rivojlanish mexanizmi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Asosiy o‘rinda gemodinamikaning buzilishi turadi: qon quyuqlashadi, qon aylanishi sustlashadi.</a:t>
            </a:r>
          </a:p>
          <a:p>
            <a:pPr>
              <a:spcAft>
                <a:spcPts val="800"/>
              </a:spcAft>
            </a:pPr>
            <a:r>
              <a:rPr sz="1800">
                <a:solidFill>
                  <a:srgbClr val="1F2937"/>
                </a:solidFill>
                <a:latin typeface="Calibri"/>
              </a:rPr>
              <a:t>▸  Bu to‘qima gipertermiyasini yanada kuchaytirib, to‘qima gipoksiyasiga olib keladi.</a:t>
            </a:r>
          </a:p>
          <a:p>
            <a:pPr>
              <a:spcAft>
                <a:spcPts val="800"/>
              </a:spcAft>
            </a:pPr>
            <a:r>
              <a:rPr sz="1800">
                <a:solidFill>
                  <a:srgbClr val="1F2937"/>
                </a:solidFill>
                <a:latin typeface="Calibri"/>
              </a:rPr>
              <a:t>▸  Stress reaksiyasida katexolaminlar va glyukokortikoidlar ajraladi; mikrotsirkulyatorda staz bo‘ladi.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Gemodinamika buzilishi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Qon quyuqlashadi, aylanish sust</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Gipertermiya kuchayadi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To‘qima gipoksiyasi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Metabolik jarayon buziladi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Mexanizm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Issiq urishining o‘tkir va uzaytirilgan shakllari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O‘rganmagan organizmda o‘ta baland harorat issiq urishning o‘tkir shaklini keltirib chiqaradi.</a:t>
            </a:r>
          </a:p>
          <a:p>
            <a:pPr>
              <a:spcAft>
                <a:spcPts val="800"/>
              </a:spcAft>
            </a:pPr>
            <a:r>
              <a:rPr sz="1800">
                <a:solidFill>
                  <a:srgbClr val="1F2937"/>
                </a:solidFill>
                <a:latin typeface="Calibri"/>
              </a:rPr>
              <a:t>▸  O‘tkir shaklda yurak-qon tomir va nafas tizimi keskin buzilib, o‘lim qisqa vaqtda sodir bo‘ladi.</a:t>
            </a:r>
          </a:p>
          <a:p>
            <a:pPr>
              <a:spcAft>
                <a:spcPts val="800"/>
              </a:spcAft>
            </a:pPr>
            <a:r>
              <a:rPr sz="1800">
                <a:solidFill>
                  <a:srgbClr val="1F2937"/>
                </a:solidFill>
                <a:latin typeface="Calibri"/>
              </a:rPr>
              <a:t>▸  Uzaytirilgan shaklda klinik belgilar va og‘irlik darajasi sekin-asta ortadi.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961450"/>
                <a:gridCol w="1922900"/>
                <a:gridCol w="2403625"/>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O‘tkir shakl</a:t>
                      </a:r>
                    </a:p>
                  </a:txBody>
                  <a:tcPr marL="73152" marR="73152" marT="36576" marB="36576">
                    <a:solidFill>
                      <a:srgbClr val="0B1F3A"/>
                    </a:solidFill>
                  </a:tcPr>
                </a:tc>
                <a:tc>
                  <a:txBody>
                    <a:bodyPr/>
                    <a:lstStyle/>
                    <a:p>
                      <a:r>
                        <a:rPr sz="1300" b="1">
                          <a:solidFill>
                            <a:srgbClr val="FFFFFF"/>
                          </a:solidFill>
                        </a:rPr>
                        <a:t>Uzaytirilgan</a:t>
                      </a:r>
                    </a:p>
                  </a:txBody>
                  <a:tcPr marL="73152" marR="73152" marT="36576" marB="36576">
                    <a:solidFill>
                      <a:srgbClr val="0B1F3A"/>
                    </a:solidFill>
                  </a:tcPr>
                </a:tc>
              </a:tr>
              <a:tr h="411480">
                <a:tc>
                  <a:txBody>
                    <a:bodyPr/>
                    <a:lstStyle/>
                    <a:p>
                      <a:r>
                        <a:rPr sz="1200" b="0">
                          <a:solidFill>
                            <a:srgbClr val="1F2937"/>
                          </a:solidFill>
                        </a:rPr>
                        <a:t>Sharoit</a:t>
                      </a:r>
                    </a:p>
                  </a:txBody>
                  <a:tcPr marL="73152" marR="73152" marT="36576" marB="36576">
                    <a:solidFill>
                      <a:srgbClr val="E8EEF6"/>
                    </a:solidFill>
                  </a:tcPr>
                </a:tc>
                <a:tc>
                  <a:txBody>
                    <a:bodyPr/>
                    <a:lstStyle/>
                    <a:p>
                      <a:r>
                        <a:rPr sz="1200" b="0">
                          <a:solidFill>
                            <a:srgbClr val="1F2937"/>
                          </a:solidFill>
                        </a:rPr>
                        <a:t>O‘ta baland harorat, ko‘nikmagan</a:t>
                      </a:r>
                    </a:p>
                  </a:txBody>
                  <a:tcPr marL="73152" marR="73152" marT="36576" marB="36576">
                    <a:solidFill>
                      <a:srgbClr val="E8EEF6"/>
                    </a:solidFill>
                  </a:tcPr>
                </a:tc>
                <a:tc>
                  <a:txBody>
                    <a:bodyPr/>
                    <a:lstStyle/>
                    <a:p>
                      <a:r>
                        <a:rPr sz="1200" b="0">
                          <a:solidFill>
                            <a:srgbClr val="1F2937"/>
                          </a:solidFill>
                        </a:rPr>
                        <a:t>Nisbatan uzoqroq ta’sir</a:t>
                      </a:r>
                    </a:p>
                  </a:txBody>
                  <a:tcPr marL="73152" marR="73152" marT="36576" marB="36576">
                    <a:solidFill>
                      <a:srgbClr val="E8EEF6"/>
                    </a:solidFill>
                  </a:tcPr>
                </a:tc>
              </a:tr>
              <a:tr h="411480">
                <a:tc>
                  <a:txBody>
                    <a:bodyPr/>
                    <a:lstStyle/>
                    <a:p>
                      <a:r>
                        <a:rPr sz="1200" b="0">
                          <a:solidFill>
                            <a:srgbClr val="1F2937"/>
                          </a:solidFill>
                        </a:rPr>
                        <a:t>Boshlanish</a:t>
                      </a:r>
                    </a:p>
                  </a:txBody>
                  <a:tcPr marL="73152" marR="73152" marT="36576" marB="36576">
                    <a:solidFill>
                      <a:srgbClr val="FFFFFF"/>
                    </a:solidFill>
                  </a:tcPr>
                </a:tc>
                <a:tc>
                  <a:txBody>
                    <a:bodyPr/>
                    <a:lstStyle/>
                    <a:p>
                      <a:r>
                        <a:rPr sz="1200" b="0">
                          <a:solidFill>
                            <a:srgbClr val="1F2937"/>
                          </a:solidFill>
                        </a:rPr>
                        <a:t>Birdan hush yo‘qoladi, koma</a:t>
                      </a:r>
                    </a:p>
                  </a:txBody>
                  <a:tcPr marL="73152" marR="73152" marT="36576" marB="36576">
                    <a:solidFill>
                      <a:srgbClr val="FFFFFF"/>
                    </a:solidFill>
                  </a:tcPr>
                </a:tc>
                <a:tc>
                  <a:txBody>
                    <a:bodyPr/>
                    <a:lstStyle/>
                    <a:p>
                      <a:r>
                        <a:rPr sz="1200" b="0">
                          <a:solidFill>
                            <a:srgbClr val="1F2937"/>
                          </a:solidFill>
                        </a:rPr>
                        <a:t>Belgilar sekin-asta oshadi</a:t>
                      </a:r>
                    </a:p>
                  </a:txBody>
                  <a:tcPr marL="73152" marR="73152" marT="36576" marB="36576">
                    <a:solidFill>
                      <a:srgbClr val="FFFFFF"/>
                    </a:solidFill>
                  </a:tcPr>
                </a:tc>
              </a:tr>
              <a:tr h="411480">
                <a:tc>
                  <a:txBody>
                    <a:bodyPr/>
                    <a:lstStyle/>
                    <a:p>
                      <a:r>
                        <a:rPr sz="1200" b="0">
                          <a:solidFill>
                            <a:srgbClr val="1F2937"/>
                          </a:solidFill>
                        </a:rPr>
                        <a:t>Tizimlar</a:t>
                      </a:r>
                    </a:p>
                  </a:txBody>
                  <a:tcPr marL="73152" marR="73152" marT="36576" marB="36576">
                    <a:solidFill>
                      <a:srgbClr val="E8EEF6"/>
                    </a:solidFill>
                  </a:tcPr>
                </a:tc>
                <a:tc>
                  <a:txBody>
                    <a:bodyPr/>
                    <a:lstStyle/>
                    <a:p>
                      <a:r>
                        <a:rPr sz="1200" b="0">
                          <a:solidFill>
                            <a:srgbClr val="1F2937"/>
                          </a:solidFill>
                        </a:rPr>
                        <a:t>Yurak va nafas keskin buziladi</a:t>
                      </a:r>
                    </a:p>
                  </a:txBody>
                  <a:tcPr marL="73152" marR="73152" marT="36576" marB="36576">
                    <a:solidFill>
                      <a:srgbClr val="E8EEF6"/>
                    </a:solidFill>
                  </a:tcPr>
                </a:tc>
                <a:tc>
                  <a:txBody>
                    <a:bodyPr/>
                    <a:lstStyle/>
                    <a:p>
                      <a:r>
                        <a:rPr sz="1200" b="0">
                          <a:solidFill>
                            <a:srgbClr val="1F2937"/>
                          </a:solidFill>
                        </a:rPr>
                        <a:t>Davrlar: susayish, qo‘zg‘alish, holsizlik</a:t>
                      </a:r>
                    </a:p>
                  </a:txBody>
                  <a:tcPr marL="73152" marR="73152" marT="36576" marB="36576">
                    <a:solidFill>
                      <a:srgbClr val="E8EEF6"/>
                    </a:solidFill>
                  </a:tcPr>
                </a:tc>
              </a:tr>
              <a:tr h="411480">
                <a:tc>
                  <a:txBody>
                    <a:bodyPr/>
                    <a:lstStyle/>
                    <a:p>
                      <a:r>
                        <a:rPr sz="1200" b="0">
                          <a:solidFill>
                            <a:srgbClr val="1F2937"/>
                          </a:solidFill>
                        </a:rPr>
                        <a:t>Oqibat</a:t>
                      </a:r>
                    </a:p>
                  </a:txBody>
                  <a:tcPr marL="73152" marR="73152" marT="36576" marB="36576">
                    <a:solidFill>
                      <a:srgbClr val="FFFFFF"/>
                    </a:solidFill>
                  </a:tcPr>
                </a:tc>
                <a:tc>
                  <a:txBody>
                    <a:bodyPr/>
                    <a:lstStyle/>
                    <a:p>
                      <a:r>
                        <a:rPr sz="1200" b="0">
                          <a:solidFill>
                            <a:srgbClr val="1F2937"/>
                          </a:solidFill>
                        </a:rPr>
                        <a:t>Qisqa muddatda o‘lim</a:t>
                      </a:r>
                    </a:p>
                  </a:txBody>
                  <a:tcPr marL="73152" marR="73152" marT="36576" marB="36576">
                    <a:solidFill>
                      <a:srgbClr val="FFFFFF"/>
                    </a:solidFill>
                  </a:tcPr>
                </a:tc>
                <a:tc>
                  <a:txBody>
                    <a:bodyPr/>
                    <a:lstStyle/>
                    <a:p>
                      <a:r>
                        <a:rPr sz="1200" b="0">
                          <a:solidFill>
                            <a:srgbClr val="1F2937"/>
                          </a:solidFill>
                        </a:rPr>
                        <a:t>Holsizlik davri predagonal hisoblanadi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shakl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183-184, 184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Uzaytirilgan shaklning uch davri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Birinchi davrda markaziy nerv tizimi (MNT) faoliyati susayadi; bu qisqa latent davr.</a:t>
            </a:r>
          </a:p>
          <a:p>
            <a:pPr>
              <a:spcAft>
                <a:spcPts val="800"/>
              </a:spcAft>
            </a:pPr>
            <a:r>
              <a:rPr sz="1800">
                <a:solidFill>
                  <a:srgbClr val="1F2937"/>
                </a:solidFill>
                <a:latin typeface="Calibri"/>
              </a:rPr>
              <a:t>▸  Qo‘zg‘alishda bezovtalik, bosh og‘rig‘i, taxikardiya, qon bosimi ko‘tarilishi va hansirash kuzatiladi.</a:t>
            </a:r>
          </a:p>
          <a:p>
            <a:pPr>
              <a:spcAft>
                <a:spcPts val="800"/>
              </a:spcAft>
            </a:pPr>
            <a:r>
              <a:rPr sz="1800">
                <a:solidFill>
                  <a:srgbClr val="1F2937"/>
                </a:solidFill>
                <a:latin typeface="Calibri"/>
              </a:rPr>
              <a:t>▸  Holsizlikda harorat 41-42°S dan oshishi mumkin; koma, talvasa bo‘ladi. Bu predagonal davr.</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MNT susayishi (latent davr)</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Qo‘zg‘alish davri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Holsizlik (predagonal) davri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Harorat 42-43°S dan oshadi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Nafasning birlamchi to‘xtashi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Davrlar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issiq urishi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uzaytirilgan issiq urishda nechta davr farqlanadi? Javob: uchta — MNT susayishi, qo‘zg‘alish va holsizlik davrlari.</a:t>
            </a:r>
          </a:p>
          <a:p>
            <a:pPr>
              <a:spcAft>
                <a:spcPts val="1200"/>
              </a:spcAft>
            </a:pPr>
            <a:r>
              <a:rPr sz="2200">
                <a:solidFill>
                  <a:srgbClr val="1F2937"/>
                </a:solidFill>
                <a:latin typeface="Calibri"/>
              </a:rPr>
              <a:t>▸  Savol: qaysi davr predagonal hisoblanadi? Javob: holsizlik davri; unda koma, talvasa, nafas sekinlashishi va bosim pasayishi kuzatiladi.</a:t>
            </a:r>
          </a:p>
          <a:p>
            <a:pPr>
              <a:spcAft>
                <a:spcPts val="1200"/>
              </a:spcAft>
            </a:pPr>
            <a:r>
              <a:rPr sz="2200">
                <a:solidFill>
                  <a:srgbClr val="1F2937"/>
                </a:solidFill>
                <a:latin typeface="Calibri"/>
              </a:rPr>
              <a:t>▸  Savol: harorat qanchadan oshganda nafasning birlamchi to‘xtashidan o‘lim bo‘ladi? Javob: tana harorati 42-43°S dan oshganda.</a:t>
            </a:r>
          </a:p>
          <a:p>
            <a:pPr>
              <a:spcAft>
                <a:spcPts val="1200"/>
              </a:spcAft>
            </a:pPr>
            <a:r>
              <a:rPr sz="2200">
                <a:solidFill>
                  <a:srgbClr val="1F2937"/>
                </a:solidFill>
                <a:latin typeface="Calibri"/>
              </a:rPr>
              <a:t>▸  Savol: o‘tkir shaklda o‘lim qanday kechadi? Javob: birdan hush yo‘qoladi, koma rivojlanadi; yurak-qon tomir va nafas tizimlari keskin buziladi.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184, 183-184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Quyosh urishi (insolyasiya)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Quyosh urishi ochiq joyda, bosh kiyimsiz, quyosh nuri boshga uzoq vaqt ta’sir qilganda rivojlanadi.</a:t>
            </a:r>
          </a:p>
          <a:p>
            <a:pPr>
              <a:spcAft>
                <a:spcPts val="1200"/>
              </a:spcAft>
            </a:pPr>
            <a:r>
              <a:rPr sz="2200">
                <a:solidFill>
                  <a:srgbClr val="1F2937"/>
                </a:solidFill>
                <a:latin typeface="Calibri"/>
              </a:rPr>
              <a:t>▸  Bosh isib, markaziy nerv tizimi (MNT) jiddiy buziladi: bosh og‘rig‘i, hush xiralashuvi, ko‘rish buzilishi, gallyusinatsiya, talvasa.</a:t>
            </a:r>
          </a:p>
          <a:p>
            <a:pPr>
              <a:spcAft>
                <a:spcPts val="1200"/>
              </a:spcAft>
            </a:pPr>
            <a:r>
              <a:rPr sz="2200">
                <a:solidFill>
                  <a:srgbClr val="1F2937"/>
                </a:solidFill>
                <a:latin typeface="Calibri"/>
              </a:rPr>
              <a:t>▸  Puls va nafas avval tezlashadi, keyin puls sekinlashadi. Patologik nafas va nafas markazining falajlanishi mumkin.</a:t>
            </a:r>
          </a:p>
          <a:p>
            <a:pPr>
              <a:spcAft>
                <a:spcPts val="1200"/>
              </a:spcAft>
            </a:pPr>
            <a:r>
              <a:rPr sz="2200">
                <a:solidFill>
                  <a:srgbClr val="1F2937"/>
                </a:solidFill>
                <a:latin typeface="Calibri"/>
              </a:rPr>
              <a:t>▸  Diqqat: quyosh urishida tana harorati salmoqli ko‘tarilmaydi. Terida I-darajali kuyish belgilari (eritema) bo‘lishi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Issiq urishi va quyosh urishini solishtirish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Issiq urishi issiqlik ko‘p ishlanib, kam ajralganda, ayniqsa nam va shamolsiz havoda rivojlanadi.</a:t>
            </a:r>
          </a:p>
          <a:p>
            <a:pPr>
              <a:spcAft>
                <a:spcPts val="800"/>
              </a:spcAft>
            </a:pPr>
            <a:r>
              <a:rPr sz="1800">
                <a:solidFill>
                  <a:srgbClr val="1F2937"/>
                </a:solidFill>
                <a:latin typeface="Calibri"/>
              </a:rPr>
              <a:t>▸  Quyosh urishi bosh kiyimsiz, ochiq joyda quyosh nurlarining boshga uzoq ta’siridan kelib chiqadi.</a:t>
            </a:r>
          </a:p>
          <a:p>
            <a:pPr>
              <a:spcAft>
                <a:spcPts val="800"/>
              </a:spcAft>
            </a:pPr>
            <a:r>
              <a:rPr sz="1800">
                <a:solidFill>
                  <a:srgbClr val="1F2937"/>
                </a:solidFill>
                <a:latin typeface="Calibri"/>
              </a:rPr>
              <a:t>▸  Diqqat: issiq urishi ≠ quyosh urishi; ikkinchisida tana harorati salmoqli ko‘tarilmaydi.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40084"/>
                <a:gridCol w="2173945"/>
                <a:gridCol w="2173945"/>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Issiq urishi</a:t>
                      </a:r>
                    </a:p>
                  </a:txBody>
                  <a:tcPr marL="73152" marR="73152" marT="36576" marB="36576">
                    <a:solidFill>
                      <a:srgbClr val="0B1F3A"/>
                    </a:solidFill>
                  </a:tcPr>
                </a:tc>
                <a:tc>
                  <a:txBody>
                    <a:bodyPr/>
                    <a:lstStyle/>
                    <a:p>
                      <a:r>
                        <a:rPr sz="1300" b="1">
                          <a:solidFill>
                            <a:srgbClr val="FFFFFF"/>
                          </a:solidFill>
                        </a:rPr>
                        <a:t>Quyosh urishi</a:t>
                      </a:r>
                    </a:p>
                  </a:txBody>
                  <a:tcPr marL="73152" marR="73152" marT="36576" marB="36576">
                    <a:solidFill>
                      <a:srgbClr val="0B1F3A"/>
                    </a:solidFill>
                  </a:tcPr>
                </a:tc>
              </a:tr>
              <a:tr h="411480">
                <a:tc>
                  <a:txBody>
                    <a:bodyPr/>
                    <a:lstStyle/>
                    <a:p>
                      <a:r>
                        <a:rPr sz="1200" b="0">
                          <a:solidFill>
                            <a:srgbClr val="1F2937"/>
                          </a:solidFill>
                        </a:rPr>
                        <a:t>Sababi</a:t>
                      </a:r>
                    </a:p>
                  </a:txBody>
                  <a:tcPr marL="73152" marR="73152" marT="36576" marB="36576">
                    <a:solidFill>
                      <a:srgbClr val="E8EEF6"/>
                    </a:solidFill>
                  </a:tcPr>
                </a:tc>
                <a:tc>
                  <a:txBody>
                    <a:bodyPr/>
                    <a:lstStyle/>
                    <a:p>
                      <a:r>
                        <a:rPr sz="1200" b="0">
                          <a:solidFill>
                            <a:srgbClr val="1F2937"/>
                          </a:solidFill>
                        </a:rPr>
                        <a:t>Issiqlik ko‘p ishlanadi, kam ajraladi</a:t>
                      </a:r>
                    </a:p>
                  </a:txBody>
                  <a:tcPr marL="73152" marR="73152" marT="36576" marB="36576">
                    <a:solidFill>
                      <a:srgbClr val="E8EEF6"/>
                    </a:solidFill>
                  </a:tcPr>
                </a:tc>
                <a:tc>
                  <a:txBody>
                    <a:bodyPr/>
                    <a:lstStyle/>
                    <a:p>
                      <a:r>
                        <a:rPr sz="1200" b="0">
                          <a:solidFill>
                            <a:srgbClr val="1F2937"/>
                          </a:solidFill>
                        </a:rPr>
                        <a:t>Quyosh nuri boshga uzoq ta’sir qiladi</a:t>
                      </a:r>
                    </a:p>
                  </a:txBody>
                  <a:tcPr marL="73152" marR="73152" marT="36576" marB="36576">
                    <a:solidFill>
                      <a:srgbClr val="E8EEF6"/>
                    </a:solidFill>
                  </a:tcPr>
                </a:tc>
              </a:tr>
              <a:tr h="411480">
                <a:tc>
                  <a:txBody>
                    <a:bodyPr/>
                    <a:lstStyle/>
                    <a:p>
                      <a:r>
                        <a:rPr sz="1200" b="0">
                          <a:solidFill>
                            <a:srgbClr val="1F2937"/>
                          </a:solidFill>
                        </a:rPr>
                        <a:t>Asosiy zarar</a:t>
                      </a:r>
                    </a:p>
                  </a:txBody>
                  <a:tcPr marL="73152" marR="73152" marT="36576" marB="36576">
                    <a:solidFill>
                      <a:srgbClr val="FFFFFF"/>
                    </a:solidFill>
                  </a:tcPr>
                </a:tc>
                <a:tc>
                  <a:txBody>
                    <a:bodyPr/>
                    <a:lstStyle/>
                    <a:p>
                      <a:r>
                        <a:rPr sz="1200" b="0">
                          <a:solidFill>
                            <a:srgbClr val="1F2937"/>
                          </a:solidFill>
                        </a:rPr>
                        <a:t>Qon quyuqlashadi, gipoksiya</a:t>
                      </a:r>
                    </a:p>
                  </a:txBody>
                  <a:tcPr marL="73152" marR="73152" marT="36576" marB="36576">
                    <a:solidFill>
                      <a:srgbClr val="FFFFFF"/>
                    </a:solidFill>
                  </a:tcPr>
                </a:tc>
                <a:tc>
                  <a:txBody>
                    <a:bodyPr/>
                    <a:lstStyle/>
                    <a:p>
                      <a:r>
                        <a:rPr sz="1200" b="0">
                          <a:solidFill>
                            <a:srgbClr val="1F2937"/>
                          </a:solidFill>
                        </a:rPr>
                        <a:t>Bosh isib, MNT buziladi</a:t>
                      </a:r>
                    </a:p>
                  </a:txBody>
                  <a:tcPr marL="73152" marR="73152" marT="36576" marB="36576">
                    <a:solidFill>
                      <a:srgbClr val="FFFFFF"/>
                    </a:solidFill>
                  </a:tcPr>
                </a:tc>
              </a:tr>
              <a:tr h="411480">
                <a:tc>
                  <a:txBody>
                    <a:bodyPr/>
                    <a:lstStyle/>
                    <a:p>
                      <a:r>
                        <a:rPr sz="1200" b="0">
                          <a:solidFill>
                            <a:srgbClr val="1F2937"/>
                          </a:solidFill>
                        </a:rPr>
                        <a:t>Tana harorati</a:t>
                      </a:r>
                    </a:p>
                  </a:txBody>
                  <a:tcPr marL="73152" marR="73152" marT="36576" marB="36576">
                    <a:solidFill>
                      <a:srgbClr val="E8EEF6"/>
                    </a:solidFill>
                  </a:tcPr>
                </a:tc>
                <a:tc>
                  <a:txBody>
                    <a:bodyPr/>
                    <a:lstStyle/>
                    <a:p>
                      <a:r>
                        <a:rPr sz="1200" b="0">
                          <a:solidFill>
                            <a:srgbClr val="1F2937"/>
                          </a:solidFill>
                        </a:rPr>
                        <a:t>41–42°S dan oshishi mumkin</a:t>
                      </a:r>
                    </a:p>
                  </a:txBody>
                  <a:tcPr marL="73152" marR="73152" marT="36576" marB="36576">
                    <a:solidFill>
                      <a:srgbClr val="E8EEF6"/>
                    </a:solidFill>
                  </a:tcPr>
                </a:tc>
                <a:tc>
                  <a:txBody>
                    <a:bodyPr/>
                    <a:lstStyle/>
                    <a:p>
                      <a:r>
                        <a:rPr sz="1200" b="0">
                          <a:solidFill>
                            <a:srgbClr val="1F2937"/>
                          </a:solidFill>
                        </a:rPr>
                        <a:t>Salmoqli ko‘tarilish xos emas</a:t>
                      </a:r>
                    </a:p>
                  </a:txBody>
                  <a:tcPr marL="73152" marR="73152" marT="36576" marB="36576">
                    <a:solidFill>
                      <a:srgbClr val="E8EEF6"/>
                    </a:solidFill>
                  </a:tcPr>
                </a:tc>
              </a:tr>
              <a:tr h="411480">
                <a:tc>
                  <a:txBody>
                    <a:bodyPr/>
                    <a:lstStyle/>
                    <a:p>
                      <a:r>
                        <a:rPr sz="1200" b="0">
                          <a:solidFill>
                            <a:srgbClr val="1F2937"/>
                          </a:solidFill>
                        </a:rPr>
                        <a:t>O‘lim mexanizmi</a:t>
                      </a:r>
                    </a:p>
                  </a:txBody>
                  <a:tcPr marL="73152" marR="73152" marT="36576" marB="36576">
                    <a:solidFill>
                      <a:srgbClr val="FFFFFF"/>
                    </a:solidFill>
                  </a:tcPr>
                </a:tc>
                <a:tc>
                  <a:txBody>
                    <a:bodyPr/>
                    <a:lstStyle/>
                    <a:p>
                      <a:r>
                        <a:rPr sz="1200" b="0">
                          <a:solidFill>
                            <a:srgbClr val="1F2937"/>
                          </a:solidFill>
                        </a:rPr>
                        <a:t>42–43°S dan oshsa nafas to‘xtaydi</a:t>
                      </a:r>
                    </a:p>
                  </a:txBody>
                  <a:tcPr marL="73152" marR="73152" marT="36576" marB="36576">
                    <a:solidFill>
                      <a:srgbClr val="FFFFFF"/>
                    </a:solidFill>
                  </a:tcPr>
                </a:tc>
                <a:tc>
                  <a:txBody>
                    <a:bodyPr/>
                    <a:lstStyle/>
                    <a:p>
                      <a:r>
                        <a:rPr sz="1200" b="0">
                          <a:solidFill>
                            <a:srgbClr val="1F2937"/>
                          </a:solidFill>
                        </a:rPr>
                        <a:t>Nafas markazi falaji mumkin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Issiq urishi va quyosh urishi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183, 184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tekshiruvi: ichki o‘zgarishlar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Issiq va quyosh urishidan o‘lim holatida morfologik o‘zgarishlar o‘xshash, spetsifik emas.</a:t>
            </a:r>
          </a:p>
          <a:p>
            <a:pPr>
              <a:spcAft>
                <a:spcPts val="800"/>
              </a:spcAft>
            </a:pPr>
            <a:r>
              <a:rPr sz="1800">
                <a:solidFill>
                  <a:srgbClr val="1F2937"/>
                </a:solidFill>
                <a:latin typeface="Calibri"/>
              </a:rPr>
              <a:t>▸  Miya va pardalarda keskin to‘laqonlik, shish hamda mayda perivaskulyar qon quyilishlar topiladi.</a:t>
            </a:r>
          </a:p>
          <a:p>
            <a:pPr>
              <a:spcAft>
                <a:spcPts val="800"/>
              </a:spcAft>
            </a:pPr>
            <a:r>
              <a:rPr sz="1800">
                <a:solidFill>
                  <a:srgbClr val="1F2937"/>
                </a:solidFill>
                <a:latin typeface="Calibri"/>
              </a:rPr>
              <a:t>▸  O‘pka quyuq qon tufayli qo‘ng‘ir tus oladi; nafas yo‘llarida shilliq to‘planadi.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820450"/>
                <a:gridCol w="3467524"/>
              </a:tblGrid>
              <a:tr h="411480">
                <a:tc>
                  <a:txBody>
                    <a:bodyPr/>
                    <a:lstStyle/>
                    <a:p>
                      <a:r>
                        <a:rPr sz="1400" b="1">
                          <a:solidFill>
                            <a:srgbClr val="FFFFFF"/>
                          </a:solidFill>
                        </a:rPr>
                        <a:t>A’zo</a:t>
                      </a:r>
                    </a:p>
                  </a:txBody>
                  <a:tcPr marL="73152" marR="73152" marT="36576" marB="36576">
                    <a:solidFill>
                      <a:srgbClr val="0B1F3A"/>
                    </a:solidFill>
                  </a:tcPr>
                </a:tc>
                <a:tc>
                  <a:txBody>
                    <a:bodyPr/>
                    <a:lstStyle/>
                    <a:p>
                      <a:r>
                        <a:rPr sz="1400" b="1">
                          <a:solidFill>
                            <a:srgbClr val="FFFFFF"/>
                          </a:solidFill>
                        </a:rPr>
                        <a:t>O‘zgarish</a:t>
                      </a:r>
                    </a:p>
                  </a:txBody>
                  <a:tcPr marL="73152" marR="73152" marT="36576" marB="36576">
                    <a:solidFill>
                      <a:srgbClr val="0B1F3A"/>
                    </a:solidFill>
                  </a:tcPr>
                </a:tc>
              </a:tr>
              <a:tr h="411480">
                <a:tc>
                  <a:txBody>
                    <a:bodyPr/>
                    <a:lstStyle/>
                    <a:p>
                      <a:r>
                        <a:rPr sz="1300" b="0">
                          <a:solidFill>
                            <a:srgbClr val="1F2937"/>
                          </a:solidFill>
                        </a:rPr>
                        <a:t>Bosh miya</a:t>
                      </a:r>
                    </a:p>
                  </a:txBody>
                  <a:tcPr marL="73152" marR="73152" marT="36576" marB="36576">
                    <a:solidFill>
                      <a:srgbClr val="E8EEF6"/>
                    </a:solidFill>
                  </a:tcPr>
                </a:tc>
                <a:tc>
                  <a:txBody>
                    <a:bodyPr/>
                    <a:lstStyle/>
                    <a:p>
                      <a:r>
                        <a:rPr sz="1300" b="0">
                          <a:solidFill>
                            <a:srgbClr val="1F2937"/>
                          </a:solidFill>
                        </a:rPr>
                        <a:t>To‘laqon, shish, mayda perivaskulyar qon</a:t>
                      </a:r>
                    </a:p>
                  </a:txBody>
                  <a:tcPr marL="73152" marR="73152" marT="36576" marB="36576">
                    <a:solidFill>
                      <a:srgbClr val="E8EEF6"/>
                    </a:solidFill>
                  </a:tcPr>
                </a:tc>
              </a:tr>
              <a:tr h="411480">
                <a:tc>
                  <a:txBody>
                    <a:bodyPr/>
                    <a:lstStyle/>
                    <a:p>
                      <a:r>
                        <a:rPr sz="1300" b="0">
                          <a:solidFill>
                            <a:srgbClr val="1F2937"/>
                          </a:solidFill>
                        </a:rPr>
                        <a:t>Ichki a’zolar</a:t>
                      </a:r>
                    </a:p>
                  </a:txBody>
                  <a:tcPr marL="73152" marR="73152" marT="36576" marB="36576">
                    <a:solidFill>
                      <a:srgbClr val="FFFFFF"/>
                    </a:solidFill>
                  </a:tcPr>
                </a:tc>
                <a:tc>
                  <a:txBody>
                    <a:bodyPr/>
                    <a:lstStyle/>
                    <a:p>
                      <a:r>
                        <a:rPr sz="1300" b="0">
                          <a:solidFill>
                            <a:srgbClr val="1F2937"/>
                          </a:solidFill>
                        </a:rPr>
                        <a:t>To‘laqon; seroz osti mayda qon quyilishi</a:t>
                      </a:r>
                    </a:p>
                  </a:txBody>
                  <a:tcPr marL="73152" marR="73152" marT="36576" marB="36576">
                    <a:solidFill>
                      <a:srgbClr val="FFFFFF"/>
                    </a:solidFill>
                  </a:tcPr>
                </a:tc>
              </a:tr>
              <a:tr h="411480">
                <a:tc>
                  <a:txBody>
                    <a:bodyPr/>
                    <a:lstStyle/>
                    <a:p>
                      <a:r>
                        <a:rPr sz="1300" b="0">
                          <a:solidFill>
                            <a:srgbClr val="1F2937"/>
                          </a:solidFill>
                        </a:rPr>
                        <a:t>Yurak, yirik tomirlar</a:t>
                      </a:r>
                    </a:p>
                  </a:txBody>
                  <a:tcPr marL="73152" marR="73152" marT="36576" marB="36576">
                    <a:solidFill>
                      <a:srgbClr val="E8EEF6"/>
                    </a:solidFill>
                  </a:tcPr>
                </a:tc>
                <a:tc>
                  <a:txBody>
                    <a:bodyPr/>
                    <a:lstStyle/>
                    <a:p>
                      <a:r>
                        <a:rPr sz="1300" b="0">
                          <a:solidFill>
                            <a:srgbClr val="1F2937"/>
                          </a:solidFill>
                        </a:rPr>
                        <a:t>Kameralarda va tomirlarda quyuq qon</a:t>
                      </a:r>
                    </a:p>
                  </a:txBody>
                  <a:tcPr marL="73152" marR="73152" marT="36576" marB="36576">
                    <a:solidFill>
                      <a:srgbClr val="E8EEF6"/>
                    </a:solidFill>
                  </a:tcPr>
                </a:tc>
              </a:tr>
              <a:tr h="411480">
                <a:tc>
                  <a:txBody>
                    <a:bodyPr/>
                    <a:lstStyle/>
                    <a:p>
                      <a:r>
                        <a:rPr sz="1300" b="0">
                          <a:solidFill>
                            <a:srgbClr val="1F2937"/>
                          </a:solidFill>
                        </a:rPr>
                        <a:t>Nafas yo‘llari, o‘pka</a:t>
                      </a:r>
                    </a:p>
                  </a:txBody>
                  <a:tcPr marL="73152" marR="73152" marT="36576" marB="36576">
                    <a:solidFill>
                      <a:srgbClr val="FFFFFF"/>
                    </a:solidFill>
                  </a:tcPr>
                </a:tc>
                <a:tc>
                  <a:txBody>
                    <a:bodyPr/>
                    <a:lstStyle/>
                    <a:p>
                      <a:r>
                        <a:rPr sz="1300" b="0">
                          <a:solidFill>
                            <a:srgbClr val="1F2937"/>
                          </a:solidFill>
                        </a:rPr>
                        <a:t>Shilliq to‘planadi; o‘pka qo‘ng‘ir tusda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Ichki a’zolardagi topilmalar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qotishi, dog‘lari va diagnostik qiyinchilik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Issiq va quyosh urishidan o‘lganda murda qotishi tez rivojlanadi va kuchli bo‘ladi.</a:t>
            </a:r>
          </a:p>
          <a:p>
            <a:pPr>
              <a:spcAft>
                <a:spcPts val="1200"/>
              </a:spcAft>
            </a:pPr>
            <a:r>
              <a:rPr sz="2200">
                <a:solidFill>
                  <a:srgbClr val="1F2937"/>
                </a:solidFill>
                <a:latin typeface="Calibri"/>
              </a:rPr>
              <a:t>▸  Murda dog‘lari esa kech paydo bo‘ladi va oz miqdorda bo‘ladi. Diqqat: qotish kuchli, dog‘lar kam.</a:t>
            </a:r>
          </a:p>
          <a:p>
            <a:pPr>
              <a:spcAft>
                <a:spcPts val="1200"/>
              </a:spcAft>
            </a:pPr>
            <a:r>
              <a:rPr sz="2200">
                <a:solidFill>
                  <a:srgbClr val="1F2937"/>
                </a:solidFill>
                <a:latin typeface="Calibri"/>
              </a:rPr>
              <a:t>▸  Jabrlanganlarda spetsifik klinik belgilar yo‘q, shifokorlar esa anamnezga (voqea tafsilotiga) yetarli e’tibor bermaydi.</a:t>
            </a:r>
          </a:p>
          <a:p>
            <a:pPr>
              <a:spcAft>
                <a:spcPts val="1200"/>
              </a:spcAft>
            </a:pPr>
            <a:r>
              <a:rPr sz="2200">
                <a:solidFill>
                  <a:srgbClr val="1F2937"/>
                </a:solidFill>
                <a:latin typeface="Calibri"/>
              </a:rPr>
              <a:t>▸  Shu sababli ba’zan xato tarzda boshqa klinik diagnozlar qo‘yiladi.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184, 185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issiq muhitdagi o‘lim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issiq sexda og‘ir ish bajargan, havo o‘tkazmaydigan kiyim kiygan, semiz yoki keksa ishchi birdan hushini yo‘qotadi.</a:t>
            </a:r>
          </a:p>
          <a:p>
            <a:pPr>
              <a:spcAft>
                <a:spcPts val="1200"/>
              </a:spcAft>
            </a:pPr>
            <a:r>
              <a:rPr sz="2200">
                <a:solidFill>
                  <a:srgbClr val="1F2937"/>
                </a:solidFill>
                <a:latin typeface="Calibri"/>
              </a:rPr>
              <a:t>▸  Turtki omillari: yuqori harorat va namlik, shamolning yo‘qligi, og‘ir jismoniy ish, yurak-qon tomir kasalligi, semizlik, keksalik.</a:t>
            </a:r>
          </a:p>
          <a:p>
            <a:pPr>
              <a:spcAft>
                <a:spcPts val="1200"/>
              </a:spcAft>
            </a:pPr>
            <a:r>
              <a:rPr sz="2200">
                <a:solidFill>
                  <a:srgbClr val="1F2937"/>
                </a:solidFill>
                <a:latin typeface="Calibri"/>
              </a:rPr>
              <a:t>▸  Murdada: miya va pardalar to‘laqonligi, mayda perivaskulyar qon quyilishlar, quyuq qon, murda qotishi tez va kuchli, murda dog‘lari kech va oz.</a:t>
            </a:r>
          </a:p>
          <a:p>
            <a:pPr>
              <a:spcAft>
                <a:spcPts val="1200"/>
              </a:spcAft>
            </a:pPr>
            <a:r>
              <a:rPr sz="2200">
                <a:solidFill>
                  <a:srgbClr val="1F2937"/>
                </a:solidFill>
                <a:latin typeface="Calibri"/>
              </a:rPr>
              <a:t>▸  Savol: bu belgilar issiq urishiga xosmi yoki quyosh urishidanmi? Morfologik o‘zgarishlar o‘xshash, spetsifik xususiyat yo‘q.</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183, 184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Termik kuyish: sabablar va xususiyatlari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Teri va uning ostida harorat 45-50°S dan oshsa, termik kuyish hosil bo‘ladi.</a:t>
            </a:r>
          </a:p>
          <a:p>
            <a:pPr>
              <a:spcAft>
                <a:spcPts val="1200"/>
              </a:spcAft>
            </a:pPr>
            <a:r>
              <a:rPr sz="2200">
                <a:solidFill>
                  <a:srgbClr val="1F2937"/>
                </a:solidFill>
                <a:latin typeface="Calibri"/>
              </a:rPr>
              <a:t>▸  Kuyish xususiyati manba turi, harorati, ta’sir davomiyligi va shikastlangan sohaga bog‘liq.</a:t>
            </a:r>
          </a:p>
          <a:p>
            <a:pPr>
              <a:spcAft>
                <a:spcPts val="1200"/>
              </a:spcAft>
            </a:pPr>
            <a:r>
              <a:rPr sz="2200">
                <a:solidFill>
                  <a:srgbClr val="1F2937"/>
                </a:solidFill>
                <a:latin typeface="Calibri"/>
              </a:rPr>
              <a:t>▸  Bir xil ta’sirda teri yupqa sohalarda kuyish chuqurroq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 va II darajali kuyishlar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II darajada pufak suyuqligi keyinroq oqsilning ivishi hisobiga xiralashib, quyuladi.</a:t>
            </a:r>
          </a:p>
          <a:p>
            <a:pPr>
              <a:spcAft>
                <a:spcPts val="1200"/>
              </a:spcAft>
            </a:pPr>
            <a:r>
              <a:rPr sz="2200">
                <a:solidFill>
                  <a:srgbClr val="1F2937"/>
                </a:solidFill>
                <a:latin typeface="Calibri"/>
              </a:rPr>
              <a:t>▸  Murdada I daraja ba’zan sarg‘ish, quruq, biroz qabargan soha ko‘rinishida bo‘ladi.</a:t>
            </a:r>
          </a:p>
          <a:p>
            <a:pPr>
              <a:spcAft>
                <a:spcPts val="1200"/>
              </a:spcAft>
            </a:pPr>
            <a:r>
              <a:rPr sz="2200">
                <a:solidFill>
                  <a:srgbClr val="1F2937"/>
                </a:solidFill>
                <a:latin typeface="Calibri"/>
              </a:rPr>
              <a:t>▸  Diqqat: murdadagi II darajali kuyish pufagi tubi kesilganda qon chiqmaydi.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III va IV darajali kuyishlar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III-A darajada nekroz epidermis va dermaning faqat yuzaki qavatida bo‘ladi.</a:t>
            </a:r>
          </a:p>
          <a:p>
            <a:pPr>
              <a:spcAft>
                <a:spcPts val="800"/>
              </a:spcAft>
            </a:pPr>
            <a:r>
              <a:rPr sz="1800">
                <a:solidFill>
                  <a:srgbClr val="1F2937"/>
                </a:solidFill>
                <a:latin typeface="Calibri"/>
              </a:rPr>
              <a:t>▸  III-B darajada epidermis va derma to‘liq nekrozga uchraydi; yuza strup bilan qoplanadi.</a:t>
            </a:r>
          </a:p>
          <a:p>
            <a:pPr>
              <a:spcAft>
                <a:spcPts val="800"/>
              </a:spcAft>
            </a:pPr>
            <a:r>
              <a:rPr sz="1800">
                <a:solidFill>
                  <a:srgbClr val="1F2937"/>
                </a:solidFill>
                <a:latin typeface="Calibri"/>
              </a:rPr>
              <a:t>▸  IV darajada teri bilan birga mushak, boylam va suyak ham nekrozga uchraydi.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909759"/>
                <a:gridCol w="2103818"/>
                <a:gridCol w="2274397"/>
              </a:tblGrid>
              <a:tr h="411480">
                <a:tc>
                  <a:txBody>
                    <a:bodyPr/>
                    <a:lstStyle/>
                    <a:p>
                      <a:r>
                        <a:rPr sz="1300" b="1">
                          <a:solidFill>
                            <a:srgbClr val="FFFFFF"/>
                          </a:solidFill>
                        </a:rPr>
                        <a:t>Daraja</a:t>
                      </a:r>
                    </a:p>
                  </a:txBody>
                  <a:tcPr marL="73152" marR="73152" marT="36576" marB="36576">
                    <a:solidFill>
                      <a:srgbClr val="0B1F3A"/>
                    </a:solidFill>
                  </a:tcPr>
                </a:tc>
                <a:tc>
                  <a:txBody>
                    <a:bodyPr/>
                    <a:lstStyle/>
                    <a:p>
                      <a:r>
                        <a:rPr sz="1300" b="1">
                          <a:solidFill>
                            <a:srgbClr val="FFFFFF"/>
                          </a:solidFill>
                        </a:rPr>
                        <a:t>Nekroz</a:t>
                      </a:r>
                    </a:p>
                  </a:txBody>
                  <a:tcPr marL="73152" marR="73152" marT="36576" marB="36576">
                    <a:solidFill>
                      <a:srgbClr val="0B1F3A"/>
                    </a:solidFill>
                  </a:tcPr>
                </a:tc>
                <a:tc>
                  <a:txBody>
                    <a:bodyPr/>
                    <a:lstStyle/>
                    <a:p>
                      <a:r>
                        <a:rPr sz="1300" b="1">
                          <a:solidFill>
                            <a:srgbClr val="FFFFFF"/>
                          </a:solidFill>
                        </a:rPr>
                        <a:t>Ko‘rinish</a:t>
                      </a:r>
                    </a:p>
                  </a:txBody>
                  <a:tcPr marL="73152" marR="73152" marT="36576" marB="36576">
                    <a:solidFill>
                      <a:srgbClr val="0B1F3A"/>
                    </a:solidFill>
                  </a:tcPr>
                </a:tc>
              </a:tr>
              <a:tr h="411480">
                <a:tc>
                  <a:txBody>
                    <a:bodyPr/>
                    <a:lstStyle/>
                    <a:p>
                      <a:r>
                        <a:rPr sz="1200" b="0">
                          <a:solidFill>
                            <a:srgbClr val="1F2937"/>
                          </a:solidFill>
                        </a:rPr>
                        <a:t>III-A</a:t>
                      </a:r>
                    </a:p>
                  </a:txBody>
                  <a:tcPr marL="73152" marR="73152" marT="36576" marB="36576">
                    <a:solidFill>
                      <a:srgbClr val="E8EEF6"/>
                    </a:solidFill>
                  </a:tcPr>
                </a:tc>
                <a:tc>
                  <a:txBody>
                    <a:bodyPr/>
                    <a:lstStyle/>
                    <a:p>
                      <a:r>
                        <a:rPr sz="1200" b="0">
                          <a:solidFill>
                            <a:srgbClr val="1F2937"/>
                          </a:solidFill>
                        </a:rPr>
                        <a:t>Epidermis va dermaning yuzaki qavati</a:t>
                      </a:r>
                    </a:p>
                  </a:txBody>
                  <a:tcPr marL="73152" marR="73152" marT="36576" marB="36576">
                    <a:solidFill>
                      <a:srgbClr val="E8EEF6"/>
                    </a:solidFill>
                  </a:tcPr>
                </a:tc>
                <a:tc>
                  <a:txBody>
                    <a:bodyPr/>
                    <a:lstStyle/>
                    <a:p>
                      <a:r>
                        <a:rPr sz="1200" b="0">
                          <a:solidFill>
                            <a:srgbClr val="1F2937"/>
                          </a:solidFill>
                        </a:rPr>
                        <a:t>Strup, granulyatsiya, so‘ng chandiq</a:t>
                      </a:r>
                    </a:p>
                  </a:txBody>
                  <a:tcPr marL="73152" marR="73152" marT="36576" marB="36576">
                    <a:solidFill>
                      <a:srgbClr val="E8EEF6"/>
                    </a:solidFill>
                  </a:tcPr>
                </a:tc>
              </a:tr>
              <a:tr h="411480">
                <a:tc>
                  <a:txBody>
                    <a:bodyPr/>
                    <a:lstStyle/>
                    <a:p>
                      <a:r>
                        <a:rPr sz="1200" b="0">
                          <a:solidFill>
                            <a:srgbClr val="1F2937"/>
                          </a:solidFill>
                        </a:rPr>
                        <a:t>III-B</a:t>
                      </a:r>
                    </a:p>
                  </a:txBody>
                  <a:tcPr marL="73152" marR="73152" marT="36576" marB="36576">
                    <a:solidFill>
                      <a:srgbClr val="FFFFFF"/>
                    </a:solidFill>
                  </a:tcPr>
                </a:tc>
                <a:tc>
                  <a:txBody>
                    <a:bodyPr/>
                    <a:lstStyle/>
                    <a:p>
                      <a:r>
                        <a:rPr sz="1200" b="0">
                          <a:solidFill>
                            <a:srgbClr val="1F2937"/>
                          </a:solidFill>
                        </a:rPr>
                        <a:t>Epidermis va dermaning to‘liq nekrozi</a:t>
                      </a:r>
                    </a:p>
                  </a:txBody>
                  <a:tcPr marL="73152" marR="73152" marT="36576" marB="36576">
                    <a:solidFill>
                      <a:srgbClr val="FFFFFF"/>
                    </a:solidFill>
                  </a:tcPr>
                </a:tc>
                <a:tc>
                  <a:txBody>
                    <a:bodyPr/>
                    <a:lstStyle/>
                    <a:p>
                      <a:r>
                        <a:rPr sz="1200" b="0">
                          <a:solidFill>
                            <a:srgbClr val="1F2937"/>
                          </a:solidFill>
                        </a:rPr>
                        <a:t>Sariq yoki qo‘ng‘ir-jigar strup; chandiq</a:t>
                      </a:r>
                    </a:p>
                  </a:txBody>
                  <a:tcPr marL="73152" marR="73152" marT="36576" marB="36576">
                    <a:solidFill>
                      <a:srgbClr val="FFFFFF"/>
                    </a:solidFill>
                  </a:tcPr>
                </a:tc>
              </a:tr>
              <a:tr h="411480">
                <a:tc>
                  <a:txBody>
                    <a:bodyPr/>
                    <a:lstStyle/>
                    <a:p>
                      <a:r>
                        <a:rPr sz="1200" b="0">
                          <a:solidFill>
                            <a:srgbClr val="1F2937"/>
                          </a:solidFill>
                        </a:rPr>
                        <a:t>IV</a:t>
                      </a:r>
                    </a:p>
                  </a:txBody>
                  <a:tcPr marL="73152" marR="73152" marT="36576" marB="36576">
                    <a:solidFill>
                      <a:srgbClr val="E8EEF6"/>
                    </a:solidFill>
                  </a:tcPr>
                </a:tc>
                <a:tc>
                  <a:txBody>
                    <a:bodyPr/>
                    <a:lstStyle/>
                    <a:p>
                      <a:r>
                        <a:rPr sz="1200" b="0">
                          <a:solidFill>
                            <a:srgbClr val="1F2937"/>
                          </a:solidFill>
                        </a:rPr>
                        <a:t>Teri, mushak, boylam, suyak</a:t>
                      </a:r>
                    </a:p>
                  </a:txBody>
                  <a:tcPr marL="73152" marR="73152" marT="36576" marB="36576">
                    <a:solidFill>
                      <a:srgbClr val="E8EEF6"/>
                    </a:solidFill>
                  </a:tcPr>
                </a:tc>
                <a:tc>
                  <a:txBody>
                    <a:bodyPr/>
                    <a:lstStyle/>
                    <a:p>
                      <a:r>
                        <a:rPr sz="1200" b="0">
                          <a:solidFill>
                            <a:srgbClr val="1F2937"/>
                          </a:solidFill>
                        </a:rPr>
                        <a:t>Faqat alanga ta’sirida hosil bo‘ladi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III-IV daraja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Yuzaki va chuqur kuyishlar; aralash darajalar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 va II darajali kuyishlar yuzaki, III va IV darajalilar esa chuqur kuyishlar hisoblanadi.</a:t>
            </a:r>
          </a:p>
          <a:p>
            <a:pPr>
              <a:spcAft>
                <a:spcPts val="1200"/>
              </a:spcAft>
            </a:pPr>
            <a:r>
              <a:rPr sz="2200">
                <a:solidFill>
                  <a:srgbClr val="1F2937"/>
                </a:solidFill>
                <a:latin typeface="Calibri"/>
              </a:rPr>
              <a:t>▸  Aksariyat jabrlanganlarda bir jarohatda turli darajalar birga topiladi: masalan, I-II, II-III yoki III-IV.</a:t>
            </a:r>
          </a:p>
          <a:p>
            <a:pPr>
              <a:spcAft>
                <a:spcPts val="1200"/>
              </a:spcAft>
            </a:pPr>
            <a:r>
              <a:rPr sz="2200">
                <a:solidFill>
                  <a:srgbClr val="1F2937"/>
                </a:solidFill>
                <a:latin typeface="Calibri"/>
              </a:rPr>
              <a:t>▸  I, II va III darajali kuyish yuqori haroratning barcha manbalaridan chiqadi, IV daraja esa faqat alanga ta’siridan hosil bo‘ladi.</a:t>
            </a:r>
          </a:p>
          <a:p>
            <a:pPr>
              <a:spcAft>
                <a:spcPts val="1200"/>
              </a:spcAft>
            </a:pPr>
            <a:r>
              <a:rPr sz="2200">
                <a:solidFill>
                  <a:srgbClr val="1F2937"/>
                </a:solidFill>
                <a:latin typeface="Calibri"/>
              </a:rPr>
              <a:t>▸  Diqqat: yuzaki (I-II) va chuqur (III-IV) guruhlarni adashtirmang; IV darajani faqat alanga bilan bog‘lang.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185, 185-186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kuyish darajalari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terida qizarish, engil shish va og‘riq bor, 3-4 kunda izsiz o‘tadi. Bu qaysi daraja?</a:t>
            </a:r>
          </a:p>
          <a:p>
            <a:pPr>
              <a:spcAft>
                <a:spcPts val="1200"/>
              </a:spcAft>
            </a:pPr>
            <a:r>
              <a:rPr sz="2200">
                <a:solidFill>
                  <a:srgbClr val="1F2937"/>
                </a:solidFill>
                <a:latin typeface="Calibri"/>
              </a:rPr>
              <a:t>▸  2-savol: tiniq seroz suyuqlikli pufaklar bor, 10-20 kunda chandiqsiz tuzaladi. Bu qaysi daraja?</a:t>
            </a:r>
          </a:p>
          <a:p>
            <a:pPr>
              <a:spcAft>
                <a:spcPts val="1200"/>
              </a:spcAft>
            </a:pPr>
            <a:r>
              <a:rPr sz="2200">
                <a:solidFill>
                  <a:srgbClr val="1F2937"/>
                </a:solidFill>
                <a:latin typeface="Calibri"/>
              </a:rPr>
              <a:t>▸  3-savol: soch va kiyim shikastlangan, yarada qurum izi bor. Manba alangami yoki issiq suyuqlikmi?</a:t>
            </a:r>
          </a:p>
          <a:p>
            <a:pPr>
              <a:spcAft>
                <a:spcPts val="1200"/>
              </a:spcAft>
            </a:pPr>
            <a:r>
              <a:rPr sz="2200">
                <a:solidFill>
                  <a:srgbClr val="1F2937"/>
                </a:solidFill>
                <a:latin typeface="Calibri"/>
              </a:rPr>
              <a:t>▸  4-savol: mushak va suyak nekrozi aniqlandi. Bu qaysi daraja va qaysi manba ta’sirida bo‘lishi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185, 186, 185-186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Yuqori harorat manbasini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Termik kuyishning xususiyatlariga qarab yuqori harorat manbaini aniqlash mumkin.</a:t>
            </a:r>
          </a:p>
          <a:p>
            <a:pPr>
              <a:spcAft>
                <a:spcPts val="800"/>
              </a:spcAft>
            </a:pPr>
            <a:r>
              <a:rPr sz="1800">
                <a:solidFill>
                  <a:srgbClr val="1F2937"/>
                </a:solidFill>
                <a:latin typeface="Calibri"/>
              </a:rPr>
              <a:t>▸  Issiq suyuqlik kiyim va poyafzal ostiga oqib kirib, yopiq sohalarni ham kuydirishi mumkin.</a:t>
            </a:r>
          </a:p>
          <a:p>
            <a:pPr>
              <a:spcAft>
                <a:spcPts val="800"/>
              </a:spcAft>
            </a:pPr>
            <a:r>
              <a:rPr sz="1800">
                <a:solidFill>
                  <a:srgbClr val="1F2937"/>
                </a:solidFill>
                <a:latin typeface="Calibri"/>
              </a:rPr>
              <a:t>▸  Alanga kuyishi yarasida qurum izlari topiladi; qizdirilgan jism esa tamg‘asimon kuyish qoldiradi.</a:t>
            </a:r>
          </a:p>
        </p:txBody>
      </p:sp>
      <p:graphicFrame>
        <p:nvGraphicFramePr>
          <p:cNvPr id="9" name="Table 8"/>
          <p:cNvGraphicFramePr>
            <a:graphicFrameLocks noGrp="1"/>
          </p:cNvGraphicFramePr>
          <p:nvPr/>
        </p:nvGraphicFramePr>
        <p:xfrm>
          <a:off x="6263640" y="1463040"/>
          <a:ext cx="5287975" cy="1645920"/>
        </p:xfrm>
        <a:graphic>
          <a:graphicData uri="http://schemas.openxmlformats.org/drawingml/2006/table">
            <a:tbl>
              <a:tblPr firstRow="1" bandRow="1">
                <a:tableStyleId>{5C22544A-7EE6-4342-B048-85BDC9FD1C3A}</a:tableStyleId>
              </a:tblPr>
              <a:tblGrid>
                <a:gridCol w="1031800"/>
                <a:gridCol w="2063600"/>
                <a:gridCol w="2192575"/>
              </a:tblGrid>
              <a:tr h="411480">
                <a:tc>
                  <a:txBody>
                    <a:bodyPr/>
                    <a:lstStyle/>
                    <a:p>
                      <a:r>
                        <a:rPr sz="1300" b="1">
                          <a:solidFill>
                            <a:srgbClr val="FFFFFF"/>
                          </a:solidFill>
                        </a:rPr>
                        <a:t>Manba</a:t>
                      </a:r>
                    </a:p>
                  </a:txBody>
                  <a:tcPr marL="73152" marR="73152" marT="36576" marB="36576">
                    <a:solidFill>
                      <a:srgbClr val="0B1F3A"/>
                    </a:solidFill>
                  </a:tcPr>
                </a:tc>
                <a:tc>
                  <a:txBody>
                    <a:bodyPr/>
                    <a:lstStyle/>
                    <a:p>
                      <a:r>
                        <a:rPr sz="1300" b="1">
                          <a:solidFill>
                            <a:srgbClr val="FFFFFF"/>
                          </a:solidFill>
                        </a:rPr>
                        <a:t>Kuyish xususiyati</a:t>
                      </a:r>
                    </a:p>
                  </a:txBody>
                  <a:tcPr marL="73152" marR="73152" marT="36576" marB="36576">
                    <a:solidFill>
                      <a:srgbClr val="0B1F3A"/>
                    </a:solidFill>
                  </a:tcPr>
                </a:tc>
                <a:tc>
                  <a:txBody>
                    <a:bodyPr/>
                    <a:lstStyle/>
                    <a:p>
                      <a:r>
                        <a:rPr sz="1300" b="1">
                          <a:solidFill>
                            <a:srgbClr val="FFFFFF"/>
                          </a:solidFill>
                        </a:rPr>
                        <a:t>Qo‘shimcha belgi</a:t>
                      </a:r>
                    </a:p>
                  </a:txBody>
                  <a:tcPr marL="73152" marR="73152" marT="36576" marB="36576">
                    <a:solidFill>
                      <a:srgbClr val="0B1F3A"/>
                    </a:solidFill>
                  </a:tcPr>
                </a:tc>
              </a:tr>
              <a:tr h="411480">
                <a:tc>
                  <a:txBody>
                    <a:bodyPr/>
                    <a:lstStyle/>
                    <a:p>
                      <a:r>
                        <a:rPr sz="1200" b="0">
                          <a:solidFill>
                            <a:srgbClr val="1F2937"/>
                          </a:solidFill>
                        </a:rPr>
                        <a:t>Issiq suyuqlik</a:t>
                      </a:r>
                    </a:p>
                  </a:txBody>
                  <a:tcPr marL="73152" marR="73152" marT="36576" marB="36576">
                    <a:solidFill>
                      <a:srgbClr val="E8EEF6"/>
                    </a:solidFill>
                  </a:tcPr>
                </a:tc>
                <a:tc>
                  <a:txBody>
                    <a:bodyPr/>
                    <a:lstStyle/>
                    <a:p>
                      <a:r>
                        <a:rPr sz="1200" b="0">
                          <a:solidFill>
                            <a:srgbClr val="1F2937"/>
                          </a:solidFill>
                        </a:rPr>
                        <a:t>Yuzaki, oqmalar shaklida</a:t>
                      </a:r>
                    </a:p>
                  </a:txBody>
                  <a:tcPr marL="73152" marR="73152" marT="36576" marB="36576">
                    <a:solidFill>
                      <a:srgbClr val="E8EEF6"/>
                    </a:solidFill>
                  </a:tcPr>
                </a:tc>
                <a:tc>
                  <a:txBody>
                    <a:bodyPr/>
                    <a:lstStyle/>
                    <a:p>
                      <a:r>
                        <a:rPr sz="1200" b="0">
                          <a:solidFill>
                            <a:srgbClr val="1F2937"/>
                          </a:solidFill>
                        </a:rPr>
                        <a:t>Soch va kiyim shikastlanmaydi</a:t>
                      </a:r>
                    </a:p>
                  </a:txBody>
                  <a:tcPr marL="73152" marR="73152" marT="36576" marB="36576">
                    <a:solidFill>
                      <a:srgbClr val="E8EEF6"/>
                    </a:solidFill>
                  </a:tcPr>
                </a:tc>
              </a:tr>
              <a:tr h="411480">
                <a:tc>
                  <a:txBody>
                    <a:bodyPr/>
                    <a:lstStyle/>
                    <a:p>
                      <a:r>
                        <a:rPr sz="1200" b="0">
                          <a:solidFill>
                            <a:srgbClr val="1F2937"/>
                          </a:solidFill>
                        </a:rPr>
                        <a:t>Alanga</a:t>
                      </a:r>
                    </a:p>
                  </a:txBody>
                  <a:tcPr marL="73152" marR="73152" marT="36576" marB="36576">
                    <a:solidFill>
                      <a:srgbClr val="FFFFFF"/>
                    </a:solidFill>
                  </a:tcPr>
                </a:tc>
                <a:tc>
                  <a:txBody>
                    <a:bodyPr/>
                    <a:lstStyle/>
                    <a:p>
                      <a:r>
                        <a:rPr sz="1200" b="0">
                          <a:solidFill>
                            <a:srgbClr val="1F2937"/>
                          </a:solidFill>
                        </a:rPr>
                        <a:t>Chuqur, tilsimon shaklli yaralar</a:t>
                      </a:r>
                    </a:p>
                  </a:txBody>
                  <a:tcPr marL="73152" marR="73152" marT="36576" marB="36576">
                    <a:solidFill>
                      <a:srgbClr val="FFFFFF"/>
                    </a:solidFill>
                  </a:tcPr>
                </a:tc>
                <a:tc>
                  <a:txBody>
                    <a:bodyPr/>
                    <a:lstStyle/>
                    <a:p>
                      <a:r>
                        <a:rPr sz="1200" b="0">
                          <a:solidFill>
                            <a:srgbClr val="1F2937"/>
                          </a:solidFill>
                        </a:rPr>
                        <a:t>Soch, kiyim shikastlanadi; qurum</a:t>
                      </a:r>
                    </a:p>
                  </a:txBody>
                  <a:tcPr marL="73152" marR="73152" marT="36576" marB="36576">
                    <a:solidFill>
                      <a:srgbClr val="FFFFFF"/>
                    </a:solidFill>
                  </a:tcPr>
                </a:tc>
              </a:tr>
              <a:tr h="411480">
                <a:tc>
                  <a:txBody>
                    <a:bodyPr/>
                    <a:lstStyle/>
                    <a:p>
                      <a:r>
                        <a:rPr sz="1200" b="0">
                          <a:solidFill>
                            <a:srgbClr val="1F2937"/>
                          </a:solidFill>
                        </a:rPr>
                        <a:t>Qizdirilgan jism</a:t>
                      </a:r>
                    </a:p>
                  </a:txBody>
                  <a:tcPr marL="73152" marR="73152" marT="36576" marB="36576">
                    <a:solidFill>
                      <a:srgbClr val="E8EEF6"/>
                    </a:solidFill>
                  </a:tcPr>
                </a:tc>
                <a:tc>
                  <a:txBody>
                    <a:bodyPr/>
                    <a:lstStyle/>
                    <a:p>
                      <a:r>
                        <a:rPr sz="1200" b="0">
                          <a:solidFill>
                            <a:srgbClr val="1F2937"/>
                          </a:solidFill>
                        </a:rPr>
                        <a:t>Chuqur, yuzasi cheklangan</a:t>
                      </a:r>
                    </a:p>
                  </a:txBody>
                  <a:tcPr marL="73152" marR="73152" marT="36576" marB="36576">
                    <a:solidFill>
                      <a:srgbClr val="E8EEF6"/>
                    </a:solidFill>
                  </a:tcPr>
                </a:tc>
                <a:tc>
                  <a:txBody>
                    <a:bodyPr/>
                    <a:lstStyle/>
                    <a:p>
                      <a:r>
                        <a:rPr sz="1200" b="0">
                          <a:solidFill>
                            <a:srgbClr val="1F2937"/>
                          </a:solidFill>
                        </a:rPr>
                        <a:t>Shakli jismning kontakt yuziga mos</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Manbalarni solishtirish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Jabrlanganning holati va nafas yo‘llari kuyishi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Issiq suyuqlikdan kuyishda oqmalar tananing past joylashgan sohalariga qarab yo‘naladi.</a:t>
            </a:r>
          </a:p>
          <a:p>
            <a:pPr>
              <a:spcAft>
                <a:spcPts val="1200"/>
              </a:spcAft>
            </a:pPr>
            <a:r>
              <a:rPr sz="2200">
                <a:solidFill>
                  <a:srgbClr val="1F2937"/>
                </a:solidFill>
                <a:latin typeface="Calibri"/>
              </a:rPr>
              <a:t>▸  Alangadan kuyishda “alanga tillari” tananing yuqori joylashgan sohalari tomon yo‘naladi. Bu yaralar jabrlanganning hodisa paytidagi holatini baholashga yordam beradi.</a:t>
            </a:r>
          </a:p>
          <a:p>
            <a:pPr>
              <a:spcAft>
                <a:spcPts val="1200"/>
              </a:spcAft>
            </a:pPr>
            <a:r>
              <a:rPr sz="2200">
                <a:solidFill>
                  <a:srgbClr val="1F2937"/>
                </a:solidFill>
                <a:latin typeface="Calibri"/>
              </a:rPr>
              <a:t>▸  Nafas yo‘llarining kuyishi faqat bug‘ va issiq gazlarning ta’siri uchun xos jarohatdir.</a:t>
            </a:r>
          </a:p>
          <a:p>
            <a:pPr>
              <a:spcAft>
                <a:spcPts val="1200"/>
              </a:spcAft>
            </a:pPr>
            <a:r>
              <a:rPr sz="2200">
                <a:solidFill>
                  <a:srgbClr val="1F2937"/>
                </a:solidFill>
                <a:latin typeface="Calibri"/>
              </a:rPr>
              <a:t>▸  Chuqur kuyishlar ko‘pincha yiringlaydi va juda sekin tuzaladi. Ular bo‘g‘imlar harakatini cheklovchi qo‘pol chandiq qoldirib, tananing badburushligiga olib kelishi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Kuyish maydoni: to‘qqizliklar qoidasi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Kuyish maydoni taxminan “to‘qqizliklar qoidasi” (A. Wallace, 1951) bo‘yicha aniqlanadi.</a:t>
            </a:r>
          </a:p>
          <a:p>
            <a:pPr>
              <a:spcAft>
                <a:spcPts val="800"/>
              </a:spcAft>
            </a:pPr>
            <a:r>
              <a:rPr sz="1800">
                <a:solidFill>
                  <a:srgbClr val="1F2937"/>
                </a:solidFill>
                <a:latin typeface="Calibri"/>
              </a:rPr>
              <a:t>▸  Qo‘l kafti qoidasi: bir kaft yuzasi tana umumiy yuzasining taxminan 1% ini tashkil etadi.</a:t>
            </a:r>
          </a:p>
          <a:p>
            <a:pPr>
              <a:spcAft>
                <a:spcPts val="800"/>
              </a:spcAft>
            </a:pPr>
            <a:r>
              <a:rPr sz="1800">
                <a:solidFill>
                  <a:srgbClr val="1F2937"/>
                </a:solidFill>
                <a:latin typeface="Calibri"/>
              </a:rPr>
              <a:t>▸  Sud-tibbiy baholashda kuyish darajasidan tashqari jarohat egallagan maydon ham muhim.</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3749655"/>
                <a:gridCol w="1538320"/>
              </a:tblGrid>
              <a:tr h="411480">
                <a:tc>
                  <a:txBody>
                    <a:bodyPr/>
                    <a:lstStyle/>
                    <a:p>
                      <a:r>
                        <a:rPr sz="1400" b="1">
                          <a:solidFill>
                            <a:srgbClr val="FFFFFF"/>
                          </a:solidFill>
                        </a:rPr>
                        <a:t>Tana qismi</a:t>
                      </a:r>
                    </a:p>
                  </a:txBody>
                  <a:tcPr marL="73152" marR="73152" marT="36576" marB="36576">
                    <a:solidFill>
                      <a:srgbClr val="0B1F3A"/>
                    </a:solidFill>
                  </a:tcPr>
                </a:tc>
                <a:tc>
                  <a:txBody>
                    <a:bodyPr/>
                    <a:lstStyle/>
                    <a:p>
                      <a:r>
                        <a:rPr sz="1400" b="1">
                          <a:solidFill>
                            <a:srgbClr val="FFFFFF"/>
                          </a:solidFill>
                        </a:rPr>
                        <a:t>Ulushi</a:t>
                      </a:r>
                    </a:p>
                  </a:txBody>
                  <a:tcPr marL="73152" marR="73152" marT="36576" marB="36576">
                    <a:solidFill>
                      <a:srgbClr val="0B1F3A"/>
                    </a:solidFill>
                  </a:tcPr>
                </a:tc>
              </a:tr>
              <a:tr h="411480">
                <a:tc>
                  <a:txBody>
                    <a:bodyPr/>
                    <a:lstStyle/>
                    <a:p>
                      <a:r>
                        <a:rPr sz="1300" b="0">
                          <a:solidFill>
                            <a:srgbClr val="1F2937"/>
                          </a:solidFill>
                        </a:rPr>
                        <a:t>Bosh-bo‘yin, qo‘l, son, boldir va tovon</a:t>
                      </a:r>
                    </a:p>
                  </a:txBody>
                  <a:tcPr marL="73152" marR="73152" marT="36576" marB="36576">
                    <a:solidFill>
                      <a:srgbClr val="E8EEF6"/>
                    </a:solidFill>
                  </a:tcPr>
                </a:tc>
                <a:tc>
                  <a:txBody>
                    <a:bodyPr/>
                    <a:lstStyle/>
                    <a:p>
                      <a:r>
                        <a:rPr sz="1300" b="0">
                          <a:solidFill>
                            <a:srgbClr val="1F2937"/>
                          </a:solidFill>
                        </a:rPr>
                        <a:t>9%</a:t>
                      </a:r>
                    </a:p>
                  </a:txBody>
                  <a:tcPr marL="73152" marR="73152" marT="36576" marB="36576">
                    <a:solidFill>
                      <a:srgbClr val="E8EEF6"/>
                    </a:solidFill>
                  </a:tcPr>
                </a:tc>
              </a:tr>
              <a:tr h="411480">
                <a:tc>
                  <a:txBody>
                    <a:bodyPr/>
                    <a:lstStyle/>
                    <a:p>
                      <a:r>
                        <a:rPr sz="1300" b="0">
                          <a:solidFill>
                            <a:srgbClr val="1F2937"/>
                          </a:solidFill>
                        </a:rPr>
                        <a:t>Tananing old yuzasi</a:t>
                      </a:r>
                    </a:p>
                  </a:txBody>
                  <a:tcPr marL="73152" marR="73152" marT="36576" marB="36576">
                    <a:solidFill>
                      <a:srgbClr val="FFFFFF"/>
                    </a:solidFill>
                  </a:tcPr>
                </a:tc>
                <a:tc>
                  <a:txBody>
                    <a:bodyPr/>
                    <a:lstStyle/>
                    <a:p>
                      <a:r>
                        <a:rPr sz="1300" b="0">
                          <a:solidFill>
                            <a:srgbClr val="1F2937"/>
                          </a:solidFill>
                        </a:rPr>
                        <a:t>18%</a:t>
                      </a:r>
                    </a:p>
                  </a:txBody>
                  <a:tcPr marL="73152" marR="73152" marT="36576" marB="36576">
                    <a:solidFill>
                      <a:srgbClr val="FFFFFF"/>
                    </a:solidFill>
                  </a:tcPr>
                </a:tc>
              </a:tr>
              <a:tr h="411480">
                <a:tc>
                  <a:txBody>
                    <a:bodyPr/>
                    <a:lstStyle/>
                    <a:p>
                      <a:r>
                        <a:rPr sz="1300" b="0">
                          <a:solidFill>
                            <a:srgbClr val="1F2937"/>
                          </a:solidFill>
                        </a:rPr>
                        <a:t>Tananing orqa yuzasi</a:t>
                      </a:r>
                    </a:p>
                  </a:txBody>
                  <a:tcPr marL="73152" marR="73152" marT="36576" marB="36576">
                    <a:solidFill>
                      <a:srgbClr val="E8EEF6"/>
                    </a:solidFill>
                  </a:tcPr>
                </a:tc>
                <a:tc>
                  <a:txBody>
                    <a:bodyPr/>
                    <a:lstStyle/>
                    <a:p>
                      <a:r>
                        <a:rPr sz="1300" b="0">
                          <a:solidFill>
                            <a:srgbClr val="1F2937"/>
                          </a:solidFill>
                        </a:rPr>
                        <a:t>18%</a:t>
                      </a:r>
                    </a:p>
                  </a:txBody>
                  <a:tcPr marL="73152" marR="73152" marT="36576" marB="36576">
                    <a:solidFill>
                      <a:srgbClr val="E8EEF6"/>
                    </a:solidFill>
                  </a:tcPr>
                </a:tc>
              </a:tr>
              <a:tr h="411480">
                <a:tc>
                  <a:txBody>
                    <a:bodyPr/>
                    <a:lstStyle/>
                    <a:p>
                      <a:r>
                        <a:rPr sz="1300" b="0">
                          <a:solidFill>
                            <a:srgbClr val="1F2937"/>
                          </a:solidFill>
                        </a:rPr>
                        <a:t>Oraliq soha</a:t>
                      </a:r>
                    </a:p>
                  </a:txBody>
                  <a:tcPr marL="73152" marR="73152" marT="36576" marB="36576">
                    <a:solidFill>
                      <a:srgbClr val="FFFFFF"/>
                    </a:solidFill>
                  </a:tcPr>
                </a:tc>
                <a:tc>
                  <a:txBody>
                    <a:bodyPr/>
                    <a:lstStyle/>
                    <a:p>
                      <a:r>
                        <a:rPr sz="1300" b="0">
                          <a:solidFill>
                            <a:srgbClr val="1F2937"/>
                          </a:solidFill>
                        </a:rPr>
                        <a:t>1%</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To‘qqizliklar qoidasi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186-187, 187, 186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Kaft qoidasi va diagnozni kasr shaklida yozish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Qo‘l kafti yuzasi tananing umumiy yuzasining taxminan 1% ini tashkil etadi. Bu “qo‘l kafti qoidasi” deb ataladi.</a:t>
            </a:r>
          </a:p>
          <a:p>
            <a:pPr>
              <a:spcAft>
                <a:spcPts val="1200"/>
              </a:spcAft>
            </a:pPr>
            <a:r>
              <a:rPr sz="2200">
                <a:solidFill>
                  <a:srgbClr val="1F2937"/>
                </a:solidFill>
                <a:latin typeface="Calibri"/>
              </a:rPr>
              <a:t>▸  Kuyish maydonini aniqroq belgilash uchun maxsus jadvallar ham mavjud.</a:t>
            </a:r>
          </a:p>
          <a:p>
            <a:pPr>
              <a:spcAft>
                <a:spcPts val="1200"/>
              </a:spcAft>
            </a:pPr>
            <a:r>
              <a:rPr sz="2200">
                <a:solidFill>
                  <a:srgbClr val="1F2937"/>
                </a:solidFill>
                <a:latin typeface="Calibri"/>
              </a:rPr>
              <a:t>▸  Diagnozda kuyish kasr shaklida yoziladi: suratda kuyish yuzasi, maxrajda kuyish darajalari. Diqqat: surat ≠ maxraj.</a:t>
            </a:r>
          </a:p>
          <a:p>
            <a:pPr>
              <a:spcAft>
                <a:spcPts val="1200"/>
              </a:spcAft>
            </a:pPr>
            <a:r>
              <a:rPr sz="2200">
                <a:solidFill>
                  <a:srgbClr val="1F2937"/>
                </a:solidFill>
                <a:latin typeface="Calibri"/>
              </a:rPr>
              <a:t>▸  Misol: 10 % / II yoki 30% (10%) / II-III. Qavs ichida chuqurroq kuyish yuzasi ko‘rsatiladi.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187, 188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Hayot uchun xavfli kuyish mezonlari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Kuyish kasalligi rivojlansa, kichikroq yuzali kuyish ham hayotga tahdid soladi.</a:t>
            </a:r>
          </a:p>
          <a:p>
            <a:pPr>
              <a:spcAft>
                <a:spcPts val="800"/>
              </a:spcAft>
            </a:pPr>
            <a:r>
              <a:rPr sz="1800">
                <a:solidFill>
                  <a:srgbClr val="1F2937"/>
                </a:solidFill>
                <a:latin typeface="Calibri"/>
              </a:rPr>
              <a:t>▸  Nafas yo‘llari kuyishi shish va ovoz yorig‘ining torayishi bilan kechsa, hayot uchun xavfli.</a:t>
            </a:r>
          </a:p>
          <a:p>
            <a:pPr>
              <a:spcAft>
                <a:spcPts val="800"/>
              </a:spcAft>
            </a:pPr>
            <a:r>
              <a:rPr sz="1800">
                <a:solidFill>
                  <a:srgbClr val="1F2937"/>
                </a:solidFill>
                <a:latin typeface="Calibri"/>
              </a:rPr>
              <a:t>▸  Diqqat: kuyish qancha chuqur bo‘lsa, xavfli deb topiladigan maydon chegarasi shuncha kichik.</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658972"/>
                <a:gridCol w="1762658"/>
                <a:gridCol w="1866344"/>
              </a:tblGrid>
              <a:tr h="411480">
                <a:tc>
                  <a:txBody>
                    <a:bodyPr/>
                    <a:lstStyle/>
                    <a:p>
                      <a:r>
                        <a:rPr sz="1300" b="1">
                          <a:solidFill>
                            <a:srgbClr val="FFFFFF"/>
                          </a:solidFill>
                        </a:rPr>
                        <a:t>Daraja</a:t>
                      </a:r>
                    </a:p>
                  </a:txBody>
                  <a:tcPr marL="73152" marR="73152" marT="36576" marB="36576">
                    <a:solidFill>
                      <a:srgbClr val="0B1F3A"/>
                    </a:solidFill>
                  </a:tcPr>
                </a:tc>
                <a:tc>
                  <a:txBody>
                    <a:bodyPr/>
                    <a:lstStyle/>
                    <a:p>
                      <a:r>
                        <a:rPr sz="1300" b="1">
                          <a:solidFill>
                            <a:srgbClr val="FFFFFF"/>
                          </a:solidFill>
                        </a:rPr>
                        <a:t>Tana yuzasi</a:t>
                      </a:r>
                    </a:p>
                  </a:txBody>
                  <a:tcPr marL="73152" marR="73152" marT="36576" marB="36576">
                    <a:solidFill>
                      <a:srgbClr val="0B1F3A"/>
                    </a:solidFill>
                  </a:tcPr>
                </a:tc>
                <a:tc>
                  <a:txBody>
                    <a:bodyPr/>
                    <a:lstStyle/>
                    <a:p>
                      <a:r>
                        <a:rPr sz="1300" b="1">
                          <a:solidFill>
                            <a:srgbClr val="FFFFFF"/>
                          </a:solidFill>
                        </a:rPr>
                        <a:t>Baho</a:t>
                      </a:r>
                    </a:p>
                  </a:txBody>
                  <a:tcPr marL="73152" marR="73152" marT="36576" marB="36576">
                    <a:solidFill>
                      <a:srgbClr val="0B1F3A"/>
                    </a:solidFill>
                  </a:tcPr>
                </a:tc>
              </a:tr>
              <a:tr h="411480">
                <a:tc>
                  <a:txBody>
                    <a:bodyPr/>
                    <a:lstStyle/>
                    <a:p>
                      <a:r>
                        <a:rPr sz="1200" b="0">
                          <a:solidFill>
                            <a:srgbClr val="1F2937"/>
                          </a:solidFill>
                        </a:rPr>
                        <a:t>III-IV daraja</a:t>
                      </a:r>
                    </a:p>
                  </a:txBody>
                  <a:tcPr marL="73152" marR="73152" marT="36576" marB="36576">
                    <a:solidFill>
                      <a:srgbClr val="E8EEF6"/>
                    </a:solidFill>
                  </a:tcPr>
                </a:tc>
                <a:tc>
                  <a:txBody>
                    <a:bodyPr/>
                    <a:lstStyle/>
                    <a:p>
                      <a:r>
                        <a:rPr sz="1200" b="0">
                          <a:solidFill>
                            <a:srgbClr val="1F2937"/>
                          </a:solidFill>
                        </a:rPr>
                        <a:t>10% dan ortiq</a:t>
                      </a:r>
                    </a:p>
                  </a:txBody>
                  <a:tcPr marL="73152" marR="73152" marT="36576" marB="36576">
                    <a:solidFill>
                      <a:srgbClr val="E8EEF6"/>
                    </a:solidFill>
                  </a:tcPr>
                </a:tc>
                <a:tc>
                  <a:txBody>
                    <a:bodyPr/>
                    <a:lstStyle/>
                    <a:p>
                      <a:r>
                        <a:rPr sz="1200" b="0">
                          <a:solidFill>
                            <a:srgbClr val="1F2937"/>
                          </a:solidFill>
                        </a:rPr>
                        <a:t>Hayot uchun xavfli</a:t>
                      </a:r>
                    </a:p>
                  </a:txBody>
                  <a:tcPr marL="73152" marR="73152" marT="36576" marB="36576">
                    <a:solidFill>
                      <a:srgbClr val="E8EEF6"/>
                    </a:solidFill>
                  </a:tcPr>
                </a:tc>
              </a:tr>
              <a:tr h="411480">
                <a:tc>
                  <a:txBody>
                    <a:bodyPr/>
                    <a:lstStyle/>
                    <a:p>
                      <a:r>
                        <a:rPr sz="1200" b="0">
                          <a:solidFill>
                            <a:srgbClr val="1F2937"/>
                          </a:solidFill>
                        </a:rPr>
                        <a:t>III daraja</a:t>
                      </a:r>
                    </a:p>
                  </a:txBody>
                  <a:tcPr marL="73152" marR="73152" marT="36576" marB="36576">
                    <a:solidFill>
                      <a:srgbClr val="FFFFFF"/>
                    </a:solidFill>
                  </a:tcPr>
                </a:tc>
                <a:tc>
                  <a:txBody>
                    <a:bodyPr/>
                    <a:lstStyle/>
                    <a:p>
                      <a:r>
                        <a:rPr sz="1200" b="0">
                          <a:solidFill>
                            <a:srgbClr val="1F2937"/>
                          </a:solidFill>
                        </a:rPr>
                        <a:t>15% dan ortiq</a:t>
                      </a:r>
                    </a:p>
                  </a:txBody>
                  <a:tcPr marL="73152" marR="73152" marT="36576" marB="36576">
                    <a:solidFill>
                      <a:srgbClr val="FFFFFF"/>
                    </a:solidFill>
                  </a:tcPr>
                </a:tc>
                <a:tc>
                  <a:txBody>
                    <a:bodyPr/>
                    <a:lstStyle/>
                    <a:p>
                      <a:r>
                        <a:rPr sz="1200" b="0">
                          <a:solidFill>
                            <a:srgbClr val="1F2937"/>
                          </a:solidFill>
                        </a:rPr>
                        <a:t>Hayot uchun xavfli</a:t>
                      </a:r>
                    </a:p>
                  </a:txBody>
                  <a:tcPr marL="73152" marR="73152" marT="36576" marB="36576">
                    <a:solidFill>
                      <a:srgbClr val="FFFFFF"/>
                    </a:solidFill>
                  </a:tcPr>
                </a:tc>
              </a:tr>
              <a:tr h="411480">
                <a:tc>
                  <a:txBody>
                    <a:bodyPr/>
                    <a:lstStyle/>
                    <a:p>
                      <a:r>
                        <a:rPr sz="1200" b="0">
                          <a:solidFill>
                            <a:srgbClr val="1F2937"/>
                          </a:solidFill>
                        </a:rPr>
                        <a:t>II daraja</a:t>
                      </a:r>
                    </a:p>
                  </a:txBody>
                  <a:tcPr marL="73152" marR="73152" marT="36576" marB="36576">
                    <a:solidFill>
                      <a:srgbClr val="E8EEF6"/>
                    </a:solidFill>
                  </a:tcPr>
                </a:tc>
                <a:tc>
                  <a:txBody>
                    <a:bodyPr/>
                    <a:lstStyle/>
                    <a:p>
                      <a:r>
                        <a:rPr sz="1200" b="0">
                          <a:solidFill>
                            <a:srgbClr val="1F2937"/>
                          </a:solidFill>
                        </a:rPr>
                        <a:t>20% dan ortiq</a:t>
                      </a:r>
                    </a:p>
                  </a:txBody>
                  <a:tcPr marL="73152" marR="73152" marT="36576" marB="36576">
                    <a:solidFill>
                      <a:srgbClr val="E8EEF6"/>
                    </a:solidFill>
                  </a:tcPr>
                </a:tc>
                <a:tc>
                  <a:txBody>
                    <a:bodyPr/>
                    <a:lstStyle/>
                    <a:p>
                      <a:r>
                        <a:rPr sz="1200" b="0">
                          <a:solidFill>
                            <a:srgbClr val="1F2937"/>
                          </a:solidFill>
                        </a:rPr>
                        <a:t>Hayot uchun xavfli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Xavfli kuyish chegaralari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187-188, 188, 187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Kuyish kasalligi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 darajali kuyish tana yuzasining 50%idan, II–IV darajali kuyish 10–15%idan ortig‘ini egallab, o‘lim darhol bo‘lmasa, ichki a’zolarda o‘zgarishlar vujudga keladi.</a:t>
            </a:r>
          </a:p>
          <a:p>
            <a:pPr>
              <a:spcAft>
                <a:spcPts val="1200"/>
              </a:spcAft>
            </a:pPr>
            <a:r>
              <a:rPr sz="2200">
                <a:solidFill>
                  <a:srgbClr val="1F2937"/>
                </a:solidFill>
                <a:latin typeface="Calibri"/>
              </a:rPr>
              <a:t>▸  Kasallik og‘irligi va oqibati kuyish chuqurligi, maydoni va boshqa omillarga bog‘liq. Kechuvida to‘rt davr bor: shok, toksemiya, septikotoksemiya, rekonvalessensiya.</a:t>
            </a:r>
          </a:p>
          <a:p>
            <a:pPr>
              <a:spcAft>
                <a:spcPts val="1200"/>
              </a:spcAft>
            </a:pPr>
            <a:r>
              <a:rPr sz="2200">
                <a:solidFill>
                  <a:srgbClr val="1F2937"/>
                </a:solidFill>
                <a:latin typeface="Calibri"/>
              </a:rPr>
              <a:t>▸  Kichik yoshdagi bolalarda kuyish maydoni va chuqurligi katta bo‘lmasa ham kasallik rivojlanadi va kattalarga nisbatan og‘irroq kechadi.</a:t>
            </a:r>
          </a:p>
          <a:p>
            <a:pPr>
              <a:spcAft>
                <a:spcPts val="1200"/>
              </a:spcAft>
            </a:pPr>
            <a:r>
              <a:rPr sz="2200">
                <a:solidFill>
                  <a:srgbClr val="1F2937"/>
                </a:solidFill>
                <a:latin typeface="Calibri"/>
              </a:rPr>
              <a:t>▸  Hamroh kasalliklar, ayniqsa keksalarda, kuyish kasalligining og‘irroq kechishiga olib keladi.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Kuyish kasalligining to‘rt davri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Kuyish kasalligi I daraja &gt;50%, II–IV daraja &gt;10–15% maydonda va o‘lim tez bo‘lmaganda rivojlanadi.</a:t>
            </a:r>
          </a:p>
          <a:p>
            <a:pPr>
              <a:spcAft>
                <a:spcPts val="800"/>
              </a:spcAft>
            </a:pPr>
            <a:r>
              <a:rPr sz="1800">
                <a:solidFill>
                  <a:srgbClr val="1F2937"/>
                </a:solidFill>
                <a:latin typeface="Calibri"/>
              </a:rPr>
              <a:t>▸  Shok davrida nafas yo‘llari kuyishi yoki is gazi qo‘shilsa, o‘lim ehtimoli 2 va undan ko‘p marta ortadi.</a:t>
            </a:r>
          </a:p>
          <a:p>
            <a:pPr>
              <a:spcAft>
                <a:spcPts val="800"/>
              </a:spcAft>
            </a:pPr>
            <a:r>
              <a:rPr sz="1800">
                <a:solidFill>
                  <a:srgbClr val="1F2937"/>
                </a:solidFill>
                <a:latin typeface="Calibri"/>
              </a:rPr>
              <a:t>▸  Diqqat: toksemiya (oqsil parchalanishidan zaharlanish) ≠ septikotoksemiya (yiringlash va asoratlar davri).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057595"/>
                <a:gridCol w="1928555"/>
                <a:gridCol w="2301824"/>
              </a:tblGrid>
              <a:tr h="411480">
                <a:tc>
                  <a:txBody>
                    <a:bodyPr/>
                    <a:lstStyle/>
                    <a:p>
                      <a:r>
                        <a:rPr sz="1300" b="1">
                          <a:solidFill>
                            <a:srgbClr val="FFFFFF"/>
                          </a:solidFill>
                        </a:rPr>
                        <a:t>Davr</a:t>
                      </a:r>
                    </a:p>
                  </a:txBody>
                  <a:tcPr marL="73152" marR="73152" marT="36576" marB="36576">
                    <a:solidFill>
                      <a:srgbClr val="0B1F3A"/>
                    </a:solidFill>
                  </a:tcPr>
                </a:tc>
                <a:tc>
                  <a:txBody>
                    <a:bodyPr/>
                    <a:lstStyle/>
                    <a:p>
                      <a:r>
                        <a:rPr sz="1300" b="1">
                          <a:solidFill>
                            <a:srgbClr val="FFFFFF"/>
                          </a:solidFill>
                        </a:rPr>
                        <a:t>Muddat</a:t>
                      </a:r>
                    </a:p>
                  </a:txBody>
                  <a:tcPr marL="73152" marR="73152" marT="36576" marB="36576">
                    <a:solidFill>
                      <a:srgbClr val="0B1F3A"/>
                    </a:solidFill>
                  </a:tcPr>
                </a:tc>
                <a:tc>
                  <a:txBody>
                    <a:bodyPr/>
                    <a:lstStyle/>
                    <a:p>
                      <a:r>
                        <a:rPr sz="1300" b="1">
                          <a:solidFill>
                            <a:srgbClr val="FFFFFF"/>
                          </a:solidFill>
                        </a:rPr>
                        <a:t>Mohiyati</a:t>
                      </a:r>
                    </a:p>
                  </a:txBody>
                  <a:tcPr marL="73152" marR="73152" marT="36576" marB="36576">
                    <a:solidFill>
                      <a:srgbClr val="0B1F3A"/>
                    </a:solidFill>
                  </a:tcPr>
                </a:tc>
              </a:tr>
              <a:tr h="411480">
                <a:tc>
                  <a:txBody>
                    <a:bodyPr/>
                    <a:lstStyle/>
                    <a:p>
                      <a:r>
                        <a:rPr sz="1200" b="0">
                          <a:solidFill>
                            <a:srgbClr val="1F2937"/>
                          </a:solidFill>
                        </a:rPr>
                        <a:t>Kuyish shoki</a:t>
                      </a:r>
                    </a:p>
                  </a:txBody>
                  <a:tcPr marL="73152" marR="73152" marT="36576" marB="36576">
                    <a:solidFill>
                      <a:srgbClr val="E8EEF6"/>
                    </a:solidFill>
                  </a:tcPr>
                </a:tc>
                <a:tc>
                  <a:txBody>
                    <a:bodyPr/>
                    <a:lstStyle/>
                    <a:p>
                      <a:r>
                        <a:rPr sz="1200" b="0">
                          <a:solidFill>
                            <a:srgbClr val="1F2937"/>
                          </a:solidFill>
                        </a:rPr>
                        <a:t>Odatda 1 sutkagacha, ba’zan 2-3</a:t>
                      </a:r>
                    </a:p>
                  </a:txBody>
                  <a:tcPr marL="73152" marR="73152" marT="36576" marB="36576">
                    <a:solidFill>
                      <a:srgbClr val="E8EEF6"/>
                    </a:solidFill>
                  </a:tcPr>
                </a:tc>
                <a:tc>
                  <a:txBody>
                    <a:bodyPr/>
                    <a:lstStyle/>
                    <a:p>
                      <a:r>
                        <a:rPr sz="1200" b="0">
                          <a:solidFill>
                            <a:srgbClr val="1F2937"/>
                          </a:solidFill>
                        </a:rPr>
                        <a:t>Og‘ir shok va o‘lim xavfi</a:t>
                      </a:r>
                    </a:p>
                  </a:txBody>
                  <a:tcPr marL="73152" marR="73152" marT="36576" marB="36576">
                    <a:solidFill>
                      <a:srgbClr val="E8EEF6"/>
                    </a:solidFill>
                  </a:tcPr>
                </a:tc>
              </a:tr>
              <a:tr h="411480">
                <a:tc>
                  <a:txBody>
                    <a:bodyPr/>
                    <a:lstStyle/>
                    <a:p>
                      <a:r>
                        <a:rPr sz="1200" b="0">
                          <a:solidFill>
                            <a:srgbClr val="1F2937"/>
                          </a:solidFill>
                        </a:rPr>
                        <a:t>Toksemiya</a:t>
                      </a:r>
                    </a:p>
                  </a:txBody>
                  <a:tcPr marL="73152" marR="73152" marT="36576" marB="36576">
                    <a:solidFill>
                      <a:srgbClr val="FFFFFF"/>
                    </a:solidFill>
                  </a:tcPr>
                </a:tc>
                <a:tc>
                  <a:txBody>
                    <a:bodyPr/>
                    <a:lstStyle/>
                    <a:p>
                      <a:r>
                        <a:rPr sz="1200" b="0">
                          <a:solidFill>
                            <a:srgbClr val="1F2937"/>
                          </a:solidFill>
                        </a:rPr>
                        <a:t>1-2 hafta</a:t>
                      </a:r>
                    </a:p>
                  </a:txBody>
                  <a:tcPr marL="73152" marR="73152" marT="36576" marB="36576">
                    <a:solidFill>
                      <a:srgbClr val="FFFFFF"/>
                    </a:solidFill>
                  </a:tcPr>
                </a:tc>
                <a:tc>
                  <a:txBody>
                    <a:bodyPr/>
                    <a:lstStyle/>
                    <a:p>
                      <a:r>
                        <a:rPr sz="1200" b="0">
                          <a:solidFill>
                            <a:srgbClr val="1F2937"/>
                          </a:solidFill>
                        </a:rPr>
                        <a:t>Oqsil parchalanishidan intoksikatsiya</a:t>
                      </a:r>
                    </a:p>
                  </a:txBody>
                  <a:tcPr marL="73152" marR="73152" marT="36576" marB="36576">
                    <a:solidFill>
                      <a:srgbClr val="FFFFFF"/>
                    </a:solidFill>
                  </a:tcPr>
                </a:tc>
              </a:tr>
              <a:tr h="411480">
                <a:tc>
                  <a:txBody>
                    <a:bodyPr/>
                    <a:lstStyle/>
                    <a:p>
                      <a:r>
                        <a:rPr sz="1200" b="0">
                          <a:solidFill>
                            <a:srgbClr val="1F2937"/>
                          </a:solidFill>
                        </a:rPr>
                        <a:t>Septikotoksemiya</a:t>
                      </a:r>
                    </a:p>
                  </a:txBody>
                  <a:tcPr marL="73152" marR="73152" marT="36576" marB="36576">
                    <a:solidFill>
                      <a:srgbClr val="E8EEF6"/>
                    </a:solidFill>
                  </a:tcPr>
                </a:tc>
                <a:tc>
                  <a:txBody>
                    <a:bodyPr/>
                    <a:lstStyle/>
                    <a:p>
                      <a:r>
                        <a:rPr sz="1200" b="0">
                          <a:solidFill>
                            <a:srgbClr val="1F2937"/>
                          </a:solidFill>
                        </a:rPr>
                        <a:t>2-3 hafta – bir necha oy</a:t>
                      </a:r>
                    </a:p>
                  </a:txBody>
                  <a:tcPr marL="73152" marR="73152" marT="36576" marB="36576">
                    <a:solidFill>
                      <a:srgbClr val="E8EEF6"/>
                    </a:solidFill>
                  </a:tcPr>
                </a:tc>
                <a:tc>
                  <a:txBody>
                    <a:bodyPr/>
                    <a:lstStyle/>
                    <a:p>
                      <a:r>
                        <a:rPr sz="1200" b="0">
                          <a:solidFill>
                            <a:srgbClr val="1F2937"/>
                          </a:solidFill>
                        </a:rPr>
                        <a:t>Yiringlash, pnevmoniya, sepsis</a:t>
                      </a:r>
                    </a:p>
                  </a:txBody>
                  <a:tcPr marL="73152" marR="73152" marT="36576" marB="36576">
                    <a:solidFill>
                      <a:srgbClr val="E8EEF6"/>
                    </a:solidFill>
                  </a:tcPr>
                </a:tc>
              </a:tr>
              <a:tr h="411480">
                <a:tc>
                  <a:txBody>
                    <a:bodyPr/>
                    <a:lstStyle/>
                    <a:p>
                      <a:r>
                        <a:rPr sz="1200" b="0">
                          <a:solidFill>
                            <a:srgbClr val="1F2937"/>
                          </a:solidFill>
                        </a:rPr>
                        <a:t>Rekonvalessensiya</a:t>
                      </a:r>
                    </a:p>
                  </a:txBody>
                  <a:tcPr marL="73152" marR="73152" marT="36576" marB="36576">
                    <a:solidFill>
                      <a:srgbClr val="FFFFFF"/>
                    </a:solidFill>
                  </a:tcPr>
                </a:tc>
                <a:tc>
                  <a:txBody>
                    <a:bodyPr/>
                    <a:lstStyle/>
                    <a:p>
                      <a:r>
                        <a:rPr sz="1200" b="0">
                          <a:solidFill>
                            <a:srgbClr val="1F2937"/>
                          </a:solidFill>
                        </a:rPr>
                        <a:t>Muddati ko‘rsatilmagan</a:t>
                      </a:r>
                    </a:p>
                  </a:txBody>
                  <a:tcPr marL="73152" marR="73152" marT="36576" marB="36576">
                    <a:solidFill>
                      <a:srgbClr val="FFFFFF"/>
                    </a:solidFill>
                  </a:tcPr>
                </a:tc>
                <a:tc>
                  <a:txBody>
                    <a:bodyPr/>
                    <a:lstStyle/>
                    <a:p>
                      <a:r>
                        <a:rPr sz="1200" b="0">
                          <a:solidFill>
                            <a:srgbClr val="1F2937"/>
                          </a:solidFill>
                        </a:rPr>
                        <a:t>Yaralar bitadi, funksiya tiklanadi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Kuyish kasalligi davrlari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qaynoq suv va alanga kuyishi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A: yuzaki kuyish oqma shaklida, soch va kiyim shikastlanmagan, oqmalar tananing pastki qismlariga yo‘nalgan.</a:t>
            </a:r>
          </a:p>
          <a:p>
            <a:pPr>
              <a:spcAft>
                <a:spcPts val="1200"/>
              </a:spcAft>
            </a:pPr>
            <a:r>
              <a:rPr sz="2200">
                <a:solidFill>
                  <a:srgbClr val="1F2937"/>
                </a:solidFill>
                <a:latin typeface="Calibri"/>
              </a:rPr>
              <a:t>▸  Vaziyat B: chuqur kuyish tilsimon shaklda, soch va kiyim shikastlangan, yaralarda qurum izi, ‘alanga tillari’ yuqoriga qaragan.</a:t>
            </a:r>
          </a:p>
          <a:p>
            <a:pPr>
              <a:spcAft>
                <a:spcPts val="1200"/>
              </a:spcAft>
            </a:pPr>
            <a:r>
              <a:rPr sz="2200">
                <a:solidFill>
                  <a:srgbClr val="1F2937"/>
                </a:solidFill>
                <a:latin typeface="Calibri"/>
              </a:rPr>
              <a:t>▸  Savol: qaysi vaziyat issiq suyuqlik, qaysi biri alanga ta’siri? Jarohat yo‘nalishi jabrlanganning holati haqida nima deydi?</a:t>
            </a:r>
          </a:p>
          <a:p>
            <a:pPr>
              <a:spcAft>
                <a:spcPts val="1200"/>
              </a:spcAft>
            </a:pPr>
            <a:r>
              <a:rPr sz="2200">
                <a:solidFill>
                  <a:srgbClr val="1F2937"/>
                </a:solidFill>
                <a:latin typeface="Calibri"/>
              </a:rPr>
              <a:t>▸  Diqqat: qaynoq suyuqlik oqib kirsa, kiyim yoki poyafzal bilan yopiq sohalar ham kuyishi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Alanga ta’sirining hayotiyligi: muammo</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Yong‘inda jabrlanganlar ko‘pincha is gazidan zaharlanib o‘ladi, murda esa keyin alanga ta’sirida ko‘mirlanadi.</a:t>
            </a:r>
          </a:p>
          <a:p>
            <a:pPr>
              <a:spcAft>
                <a:spcPts val="1200"/>
              </a:spcAft>
            </a:pPr>
            <a:r>
              <a:rPr sz="2200">
                <a:solidFill>
                  <a:srgbClr val="1F2937"/>
                </a:solidFill>
                <a:latin typeface="Calibri"/>
              </a:rPr>
              <a:t>▸  Shu sababli yuqori harorat izlari bor murdada alanga tiriklikda ta’sir qilganmi yoki o‘limdan keyinmi, aniqlash zarur.</a:t>
            </a:r>
          </a:p>
          <a:p>
            <a:pPr>
              <a:spcAft>
                <a:spcPts val="1200"/>
              </a:spcAft>
            </a:pPr>
            <a:r>
              <a:rPr sz="2200">
                <a:solidFill>
                  <a:srgbClr val="1F2937"/>
                </a:solidFill>
                <a:latin typeface="Calibri"/>
              </a:rPr>
              <a:t>▸  Hal qiluvchi dalil: tashqi jarohatlar hamda teri, yumshoq to‘qima va ichki a’zolarning mikroskopik tekshiruvi.</a:t>
            </a:r>
          </a:p>
          <a:p>
            <a:pPr>
              <a:spcAft>
                <a:spcPts val="1200"/>
              </a:spcAft>
            </a:pPr>
            <a:r>
              <a:rPr sz="2200">
                <a:solidFill>
                  <a:srgbClr val="1F2937"/>
                </a:solidFill>
                <a:latin typeface="Calibri"/>
              </a:rPr>
              <a:t>▸  Mezonlar: nafas yo‘llaridagi qurum, qonda karboksigemoglobin, qovoqlarda ‘g‘oz panjasi’ belgisi.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188-189, 188, 190, 189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Hayotiylik belgilari: qurum va karboksigemoglobin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Nafas yo‘llari, qizilo‘ngach va oshqozonda qurum bo‘lsa, alanga tirik paytda ta’sir qilgan.</a:t>
            </a:r>
          </a:p>
          <a:p>
            <a:pPr>
              <a:spcAft>
                <a:spcPts val="800"/>
              </a:spcAft>
            </a:pPr>
            <a:r>
              <a:rPr sz="1800">
                <a:solidFill>
                  <a:srgbClr val="1F2937"/>
                </a:solidFill>
                <a:latin typeface="Calibri"/>
              </a:rPr>
              <a:t>▸  Qurum peshona va asos suyagi bo‘shliqlarida, leykotsitlarda, jigar Kupfer hujayralarida ham topilishi mumkin.</a:t>
            </a:r>
          </a:p>
          <a:p>
            <a:pPr>
              <a:spcAft>
                <a:spcPts val="800"/>
              </a:spcAft>
            </a:pPr>
            <a:r>
              <a:rPr sz="1800">
                <a:solidFill>
                  <a:srgbClr val="1F2937"/>
                </a:solidFill>
                <a:latin typeface="Calibri"/>
              </a:rPr>
              <a:t>▸  Karboksigemoglobin o‘limdan keyin 20% dan oshmaydi, hayotiy ta’sirda esa 60% gacha bo‘lishi mumkin.</a:t>
            </a:r>
          </a:p>
        </p:txBody>
      </p:sp>
      <p:graphicFrame>
        <p:nvGraphicFramePr>
          <p:cNvPr id="9" name="Table 8"/>
          <p:cNvGraphicFramePr>
            <a:graphicFrameLocks noGrp="1"/>
          </p:cNvGraphicFramePr>
          <p:nvPr/>
        </p:nvGraphicFramePr>
        <p:xfrm>
          <a:off x="6263640" y="1463040"/>
          <a:ext cx="5287973" cy="1234440"/>
        </p:xfrm>
        <a:graphic>
          <a:graphicData uri="http://schemas.openxmlformats.org/drawingml/2006/table">
            <a:tbl>
              <a:tblPr firstRow="1" bandRow="1">
                <a:tableStyleId>{5C22544A-7EE6-4342-B048-85BDC9FD1C3A}</a:tableStyleId>
              </a:tblPr>
              <a:tblGrid>
                <a:gridCol w="1487242"/>
                <a:gridCol w="1817741"/>
                <a:gridCol w="1982990"/>
              </a:tblGrid>
              <a:tr h="411480">
                <a:tc>
                  <a:txBody>
                    <a:bodyPr/>
                    <a:lstStyle/>
                    <a:p>
                      <a:r>
                        <a:rPr sz="1300" b="1">
                          <a:solidFill>
                            <a:srgbClr val="FFFFFF"/>
                          </a:solidFill>
                        </a:rPr>
                        <a:t>Ko‘rsatkich</a:t>
                      </a:r>
                    </a:p>
                  </a:txBody>
                  <a:tcPr marL="73152" marR="73152" marT="36576" marB="36576">
                    <a:solidFill>
                      <a:srgbClr val="0B1F3A"/>
                    </a:solidFill>
                  </a:tcPr>
                </a:tc>
                <a:tc>
                  <a:txBody>
                    <a:bodyPr/>
                    <a:lstStyle/>
                    <a:p>
                      <a:r>
                        <a:rPr sz="1300" b="1">
                          <a:solidFill>
                            <a:srgbClr val="FFFFFF"/>
                          </a:solidFill>
                        </a:rPr>
                        <a:t>O‘limdan keyin</a:t>
                      </a:r>
                    </a:p>
                  </a:txBody>
                  <a:tcPr marL="73152" marR="73152" marT="36576" marB="36576">
                    <a:solidFill>
                      <a:srgbClr val="0B1F3A"/>
                    </a:solidFill>
                  </a:tcPr>
                </a:tc>
                <a:tc>
                  <a:txBody>
                    <a:bodyPr/>
                    <a:lstStyle/>
                    <a:p>
                      <a:r>
                        <a:rPr sz="1300" b="1">
                          <a:solidFill>
                            <a:srgbClr val="FFFFFF"/>
                          </a:solidFill>
                        </a:rPr>
                        <a:t>Hayotda</a:t>
                      </a:r>
                    </a:p>
                  </a:txBody>
                  <a:tcPr marL="73152" marR="73152" marT="36576" marB="36576">
                    <a:solidFill>
                      <a:srgbClr val="0B1F3A"/>
                    </a:solidFill>
                  </a:tcPr>
                </a:tc>
              </a:tr>
              <a:tr h="411480">
                <a:tc>
                  <a:txBody>
                    <a:bodyPr/>
                    <a:lstStyle/>
                    <a:p>
                      <a:r>
                        <a:rPr sz="1200" b="0">
                          <a:solidFill>
                            <a:srgbClr val="1F2937"/>
                          </a:solidFill>
                        </a:rPr>
                        <a:t>Karboksigemoglobin</a:t>
                      </a:r>
                    </a:p>
                  </a:txBody>
                  <a:tcPr marL="73152" marR="73152" marT="36576" marB="36576">
                    <a:solidFill>
                      <a:srgbClr val="E8EEF6"/>
                    </a:solidFill>
                  </a:tcPr>
                </a:tc>
                <a:tc>
                  <a:txBody>
                    <a:bodyPr/>
                    <a:lstStyle/>
                    <a:p>
                      <a:r>
                        <a:rPr sz="1200" b="0">
                          <a:solidFill>
                            <a:srgbClr val="1F2937"/>
                          </a:solidFill>
                        </a:rPr>
                        <a:t>20% dan oshmaydi</a:t>
                      </a:r>
                    </a:p>
                  </a:txBody>
                  <a:tcPr marL="73152" marR="73152" marT="36576" marB="36576">
                    <a:solidFill>
                      <a:srgbClr val="E8EEF6"/>
                    </a:solidFill>
                  </a:tcPr>
                </a:tc>
                <a:tc>
                  <a:txBody>
                    <a:bodyPr/>
                    <a:lstStyle/>
                    <a:p>
                      <a:r>
                        <a:rPr sz="1200" b="0">
                          <a:solidFill>
                            <a:srgbClr val="1F2937"/>
                          </a:solidFill>
                        </a:rPr>
                        <a:t>60% gacha</a:t>
                      </a:r>
                    </a:p>
                  </a:txBody>
                  <a:tcPr marL="73152" marR="73152" marT="36576" marB="36576">
                    <a:solidFill>
                      <a:srgbClr val="E8EEF6"/>
                    </a:solidFill>
                  </a:tcPr>
                </a:tc>
              </a:tr>
              <a:tr h="411480">
                <a:tc>
                  <a:txBody>
                    <a:bodyPr/>
                    <a:lstStyle/>
                    <a:p>
                      <a:r>
                        <a:rPr sz="1200" b="0">
                          <a:solidFill>
                            <a:srgbClr val="1F2937"/>
                          </a:solidFill>
                        </a:rPr>
                        <a:t>Qon topilishi</a:t>
                      </a:r>
                    </a:p>
                  </a:txBody>
                  <a:tcPr marL="73152" marR="73152" marT="36576" marB="36576">
                    <a:solidFill>
                      <a:srgbClr val="FFFFFF"/>
                    </a:solidFill>
                  </a:tcPr>
                </a:tc>
                <a:tc>
                  <a:txBody>
                    <a:bodyPr/>
                    <a:lstStyle/>
                    <a:p>
                      <a:r>
                        <a:rPr sz="1200" b="0">
                          <a:solidFill>
                            <a:srgbClr val="1F2937"/>
                          </a:solidFill>
                        </a:rPr>
                        <a:t>Yuza tomirlarda mumkin</a:t>
                      </a:r>
                    </a:p>
                  </a:txBody>
                  <a:tcPr marL="73152" marR="73152" marT="36576" marB="36576">
                    <a:solidFill>
                      <a:srgbClr val="FFFFFF"/>
                    </a:solidFill>
                  </a:tcPr>
                </a:tc>
                <a:tc>
                  <a:txBody>
                    <a:bodyPr/>
                    <a:lstStyle/>
                    <a:p>
                      <a:r>
                        <a:rPr sz="1200" b="0">
                          <a:solidFill>
                            <a:srgbClr val="1F2937"/>
                          </a:solidFill>
                        </a:rPr>
                        <a:t>Yurak, chuqur tomirlarda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Karboksigemoglobin: hayot va o‘lim</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Namuna olish va “g‘oz panjasi” belgisi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Alanganing hayotiy ta’sirini aniqlash uchun qon yurak kameralari va chuqur tomirlardan olinadi, chunki yuza tomirda o‘limdan keyin ham karboksigemoglobin bo‘lishi mumkin.</a:t>
            </a:r>
          </a:p>
          <a:p>
            <a:pPr>
              <a:spcAft>
                <a:spcPts val="1200"/>
              </a:spcAft>
            </a:pPr>
            <a:r>
              <a:rPr sz="2200">
                <a:solidFill>
                  <a:srgbClr val="1F2937"/>
                </a:solidFill>
                <a:latin typeface="Calibri"/>
              </a:rPr>
              <a:t>▸  Karboksimioglobinni aniqlash uchun laboratoriyaga chuqur joylashgan mushaklardan namuna olinadi.</a:t>
            </a:r>
          </a:p>
          <a:p>
            <a:pPr>
              <a:spcAft>
                <a:spcPts val="1200"/>
              </a:spcAft>
            </a:pPr>
            <a:r>
              <a:rPr sz="2200">
                <a:solidFill>
                  <a:srgbClr val="1F2937"/>
                </a:solidFill>
                <a:latin typeface="Calibri"/>
              </a:rPr>
              <a:t>▸  Hayotiy alanga ta’sirida ko‘z olmalari odatda shikastlanmaydi. Qovoq burmasining yuqori qismida kuyish va qurum bor, burma tubida esa yo‘q.</a:t>
            </a:r>
          </a:p>
          <a:p>
            <a:pPr>
              <a:spcAft>
                <a:spcPts val="1200"/>
              </a:spcAft>
            </a:pPr>
            <a:r>
              <a:rPr sz="2200">
                <a:solidFill>
                  <a:srgbClr val="1F2937"/>
                </a:solidFill>
                <a:latin typeface="Calibri"/>
              </a:rPr>
              <a:t>▸  Qovoq terisi yoyilganda shikastlangan va shikastlanmagan sohalar navbatlashadi. Bu “g‘oz panjasi” belgisi deyiladi.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Boshqa belgilar: epidural gematoma va pufaklar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Travmadan hosil bo‘lgan epidural gematoma urchuqsimon bo‘lib, qattiq pardaga birikkan bo‘ladi.</a:t>
            </a:r>
          </a:p>
          <a:p>
            <a:pPr>
              <a:spcAft>
                <a:spcPts val="800"/>
              </a:spcAft>
            </a:pPr>
            <a:r>
              <a:rPr sz="1800">
                <a:solidFill>
                  <a:srgbClr val="1F2937"/>
                </a:solidFill>
                <a:latin typeface="Calibri"/>
              </a:rPr>
              <a:t>▸  O‘limdan keyin alanga tufayli hosil bo‘lgan gematoma o‘roqsimon, qattiq pardaga birikmagan bo‘ladi.</a:t>
            </a:r>
          </a:p>
          <a:p>
            <a:pPr>
              <a:spcAft>
                <a:spcPts val="800"/>
              </a:spcAft>
            </a:pPr>
            <a:r>
              <a:rPr sz="1800">
                <a:solidFill>
                  <a:srgbClr val="1F2937"/>
                </a:solidFill>
                <a:latin typeface="Calibri"/>
              </a:rPr>
              <a:t>▸  Hayotiy kuyish pufaklarida oqsil o‘limdan keyin hosil bo‘lganlarga nisbatan ikki barobar ko‘p.</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510850"/>
                <a:gridCol w="1888562"/>
                <a:gridCol w="1888562"/>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Hayotda/travma</a:t>
                      </a:r>
                    </a:p>
                  </a:txBody>
                  <a:tcPr marL="73152" marR="73152" marT="36576" marB="36576">
                    <a:solidFill>
                      <a:srgbClr val="0B1F3A"/>
                    </a:solidFill>
                  </a:tcPr>
                </a:tc>
                <a:tc>
                  <a:txBody>
                    <a:bodyPr/>
                    <a:lstStyle/>
                    <a:p>
                      <a:r>
                        <a:rPr sz="1300" b="1">
                          <a:solidFill>
                            <a:srgbClr val="FFFFFF"/>
                          </a:solidFill>
                        </a:rPr>
                        <a:t>O‘limdan keyin</a:t>
                      </a:r>
                    </a:p>
                  </a:txBody>
                  <a:tcPr marL="73152" marR="73152" marT="36576" marB="36576">
                    <a:solidFill>
                      <a:srgbClr val="0B1F3A"/>
                    </a:solidFill>
                  </a:tcPr>
                </a:tc>
              </a:tr>
              <a:tr h="411480">
                <a:tc>
                  <a:txBody>
                    <a:bodyPr/>
                    <a:lstStyle/>
                    <a:p>
                      <a:r>
                        <a:rPr sz="1200" b="0">
                          <a:solidFill>
                            <a:srgbClr val="1F2937"/>
                          </a:solidFill>
                        </a:rPr>
                        <a:t>Gematoma shakli</a:t>
                      </a:r>
                    </a:p>
                  </a:txBody>
                  <a:tcPr marL="73152" marR="73152" marT="36576" marB="36576">
                    <a:solidFill>
                      <a:srgbClr val="E8EEF6"/>
                    </a:solidFill>
                  </a:tcPr>
                </a:tc>
                <a:tc>
                  <a:txBody>
                    <a:bodyPr/>
                    <a:lstStyle/>
                    <a:p>
                      <a:r>
                        <a:rPr sz="1200" b="0">
                          <a:solidFill>
                            <a:srgbClr val="1F2937"/>
                          </a:solidFill>
                        </a:rPr>
                        <a:t>Urchuqsimon</a:t>
                      </a:r>
                    </a:p>
                  </a:txBody>
                  <a:tcPr marL="73152" marR="73152" marT="36576" marB="36576">
                    <a:solidFill>
                      <a:srgbClr val="E8EEF6"/>
                    </a:solidFill>
                  </a:tcPr>
                </a:tc>
                <a:tc>
                  <a:txBody>
                    <a:bodyPr/>
                    <a:lstStyle/>
                    <a:p>
                      <a:r>
                        <a:rPr sz="1200" b="0">
                          <a:solidFill>
                            <a:srgbClr val="1F2937"/>
                          </a:solidFill>
                        </a:rPr>
                        <a:t>O‘roqsimon</a:t>
                      </a:r>
                    </a:p>
                  </a:txBody>
                  <a:tcPr marL="73152" marR="73152" marT="36576" marB="36576">
                    <a:solidFill>
                      <a:srgbClr val="E8EEF6"/>
                    </a:solidFill>
                  </a:tcPr>
                </a:tc>
              </a:tr>
              <a:tr h="411480">
                <a:tc>
                  <a:txBody>
                    <a:bodyPr/>
                    <a:lstStyle/>
                    <a:p>
                      <a:r>
                        <a:rPr sz="1200" b="0">
                          <a:solidFill>
                            <a:srgbClr val="1F2937"/>
                          </a:solidFill>
                        </a:rPr>
                        <a:t>Qattiq pardaga</a:t>
                      </a:r>
                    </a:p>
                  </a:txBody>
                  <a:tcPr marL="73152" marR="73152" marT="36576" marB="36576">
                    <a:solidFill>
                      <a:srgbClr val="FFFFFF"/>
                    </a:solidFill>
                  </a:tcPr>
                </a:tc>
                <a:tc>
                  <a:txBody>
                    <a:bodyPr/>
                    <a:lstStyle/>
                    <a:p>
                      <a:r>
                        <a:rPr sz="1200" b="0">
                          <a:solidFill>
                            <a:srgbClr val="1F2937"/>
                          </a:solidFill>
                        </a:rPr>
                        <a:t>Birikkan</a:t>
                      </a:r>
                    </a:p>
                  </a:txBody>
                  <a:tcPr marL="73152" marR="73152" marT="36576" marB="36576">
                    <a:solidFill>
                      <a:srgbClr val="FFFFFF"/>
                    </a:solidFill>
                  </a:tcPr>
                </a:tc>
                <a:tc>
                  <a:txBody>
                    <a:bodyPr/>
                    <a:lstStyle/>
                    <a:p>
                      <a:r>
                        <a:rPr sz="1200" b="0">
                          <a:solidFill>
                            <a:srgbClr val="1F2937"/>
                          </a:solidFill>
                        </a:rPr>
                        <a:t>Birikmagan</a:t>
                      </a:r>
                    </a:p>
                  </a:txBody>
                  <a:tcPr marL="73152" marR="73152" marT="36576" marB="36576">
                    <a:solidFill>
                      <a:srgbClr val="FFFFFF"/>
                    </a:solidFill>
                  </a:tcPr>
                </a:tc>
              </a:tr>
              <a:tr h="411480">
                <a:tc>
                  <a:txBody>
                    <a:bodyPr/>
                    <a:lstStyle/>
                    <a:p>
                      <a:r>
                        <a:rPr sz="1200" b="0">
                          <a:solidFill>
                            <a:srgbClr val="1F2937"/>
                          </a:solidFill>
                        </a:rPr>
                        <a:t>Pufakda oqsil</a:t>
                      </a:r>
                    </a:p>
                  </a:txBody>
                  <a:tcPr marL="73152" marR="73152" marT="36576" marB="36576">
                    <a:solidFill>
                      <a:srgbClr val="E8EEF6"/>
                    </a:solidFill>
                  </a:tcPr>
                </a:tc>
                <a:tc>
                  <a:txBody>
                    <a:bodyPr/>
                    <a:lstStyle/>
                    <a:p>
                      <a:r>
                        <a:rPr sz="1200" b="0">
                          <a:solidFill>
                            <a:srgbClr val="1F2937"/>
                          </a:solidFill>
                        </a:rPr>
                        <a:t>2 barobar ko‘p</a:t>
                      </a:r>
                    </a:p>
                  </a:txBody>
                  <a:tcPr marL="73152" marR="73152" marT="36576" marB="36576">
                    <a:solidFill>
                      <a:srgbClr val="E8EEF6"/>
                    </a:solidFill>
                  </a:tcPr>
                </a:tc>
                <a:tc>
                  <a:txBody>
                    <a:bodyPr/>
                    <a:lstStyle/>
                    <a:p>
                      <a:r>
                        <a:rPr sz="1200" b="0">
                          <a:solidFill>
                            <a:srgbClr val="1F2937"/>
                          </a:solidFill>
                        </a:rPr>
                        <a:t>Kamroq</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Gematoma va pufak belgilari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190, 189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hayotiylik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nafas yo‘llari, qizilo‘ngach va oshqozonda qurum topilsa, alanga qachon ta’sir qilgan? Javob: hayot paytida.</a:t>
            </a:r>
          </a:p>
          <a:p>
            <a:pPr>
              <a:spcAft>
                <a:spcPts val="1200"/>
              </a:spcAft>
            </a:pPr>
            <a:r>
              <a:rPr sz="2200">
                <a:solidFill>
                  <a:srgbClr val="1F2937"/>
                </a:solidFill>
                <a:latin typeface="Calibri"/>
              </a:rPr>
              <a:t>▸  Diqqat: karboksigemoglobin o‘limdan keyin ham topiladi, lekin 20% dan oshmaydi. Hayotiy ta’sirda 60% gacha bo‘ladi.</a:t>
            </a:r>
          </a:p>
          <a:p>
            <a:pPr>
              <a:spcAft>
                <a:spcPts val="1200"/>
              </a:spcAft>
            </a:pPr>
            <a:r>
              <a:rPr sz="2200">
                <a:solidFill>
                  <a:srgbClr val="1F2937"/>
                </a:solidFill>
                <a:latin typeface="Calibri"/>
              </a:rPr>
              <a:t>▸  Travmatik epidural gematoma urchuqsimon, qattiq pardaga birikkan. O‘limdan keyingi alanga gematomasi o‘roqsimon, birikmagan.</a:t>
            </a:r>
          </a:p>
          <a:p>
            <a:pPr>
              <a:spcAft>
                <a:spcPts val="1200"/>
              </a:spcAft>
            </a:pPr>
            <a:r>
              <a:rPr sz="2200">
                <a:solidFill>
                  <a:srgbClr val="1F2937"/>
                </a:solidFill>
                <a:latin typeface="Calibri"/>
              </a:rPr>
              <a:t>▸  Yong‘indan keyingi murdalarda teri, yumshoq to‘qima va ichki a’zolarning mikroskopik tekshiruvi o‘tkazilishi zarur.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189, 190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Bokser pozasi va murdaning ko‘mirlanishi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Alanga ta’sirida murdada namlik bug‘lanadi, oqsillar ivib, mushaklar zichlashadi va kaltalashadi.</a:t>
            </a:r>
          </a:p>
          <a:p>
            <a:pPr>
              <a:spcAft>
                <a:spcPts val="800"/>
              </a:spcAft>
            </a:pPr>
            <a:r>
              <a:rPr sz="1800">
                <a:solidFill>
                  <a:srgbClr val="1F2937"/>
                </a:solidFill>
                <a:latin typeface="Calibri"/>
              </a:rPr>
              <a:t>▸  Natijada qo‘l-oyoqlar bukiladi — “bokser pozasi”. Tana to‘liq ko‘mirlanishi ham mumkin.</a:t>
            </a:r>
          </a:p>
          <a:p>
            <a:pPr>
              <a:spcAft>
                <a:spcPts val="800"/>
              </a:spcAft>
            </a:pPr>
            <a:r>
              <a:rPr sz="1800">
                <a:solidFill>
                  <a:srgbClr val="1F2937"/>
                </a:solidFill>
                <a:latin typeface="Calibri"/>
              </a:rPr>
              <a:t>▸  Teri zichlashadi; ta’sir notekis bo‘lsa, terida darz va yoriqlar hosil bo‘ladi.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Alanga ta’siri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Namlik bug‘lanadi, oqsil ivishi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Mushaklar kaltalashadi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Bokser pozasi paydo bo‘ladi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Bokser pozasi hosil bo‘lishi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Murdaning yonish muddati va kulni tekshirish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Yonish muddati yoshga bog‘liq: go‘dak murdasi kattalarnikiga qaraganda ancha tez yonadi.</a:t>
            </a:r>
          </a:p>
          <a:p>
            <a:pPr>
              <a:spcAft>
                <a:spcPts val="800"/>
              </a:spcAft>
            </a:pPr>
            <a:r>
              <a:rPr sz="1800">
                <a:solidFill>
                  <a:srgbClr val="1F2937"/>
                </a:solidFill>
                <a:latin typeface="Calibri"/>
              </a:rPr>
              <a:t>▸  Krematoriy sharoiti oddiy alanga ta’siridan farq qiladi: kattalar murdasi uchun muddat ancha qisqa.</a:t>
            </a:r>
          </a:p>
          <a:p>
            <a:pPr>
              <a:spcAft>
                <a:spcPts val="800"/>
              </a:spcAft>
            </a:pPr>
            <a:r>
              <a:rPr sz="1800">
                <a:solidFill>
                  <a:srgbClr val="1F2937"/>
                </a:solidFill>
                <a:latin typeface="Calibri"/>
              </a:rPr>
              <a:t>▸  Kuldan tur mansublik, jins, yosh va boshqa masalalarni hal etish uchun sud-tibbiy tekshiruv o‘tkaziladi.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2237220"/>
                <a:gridCol w="3050754"/>
              </a:tblGrid>
              <a:tr h="411480">
                <a:tc>
                  <a:txBody>
                    <a:bodyPr/>
                    <a:lstStyle/>
                    <a:p>
                      <a:r>
                        <a:rPr sz="1400" b="1">
                          <a:solidFill>
                            <a:srgbClr val="FFFFFF"/>
                          </a:solidFill>
                        </a:rPr>
                        <a:t>Holat</a:t>
                      </a:r>
                    </a:p>
                  </a:txBody>
                  <a:tcPr marL="73152" marR="73152" marT="36576" marB="36576">
                    <a:solidFill>
                      <a:srgbClr val="0B1F3A"/>
                    </a:solidFill>
                  </a:tcPr>
                </a:tc>
                <a:tc>
                  <a:txBody>
                    <a:bodyPr/>
                    <a:lstStyle/>
                    <a:p>
                      <a:r>
                        <a:rPr sz="1400" b="1">
                          <a:solidFill>
                            <a:srgbClr val="FFFFFF"/>
                          </a:solidFill>
                        </a:rPr>
                        <a:t>Muddat</a:t>
                      </a:r>
                    </a:p>
                  </a:txBody>
                  <a:tcPr marL="73152" marR="73152" marT="36576" marB="36576">
                    <a:solidFill>
                      <a:srgbClr val="0B1F3A"/>
                    </a:solidFill>
                  </a:tcPr>
                </a:tc>
              </a:tr>
              <a:tr h="411480">
                <a:tc>
                  <a:txBody>
                    <a:bodyPr/>
                    <a:lstStyle/>
                    <a:p>
                      <a:r>
                        <a:rPr sz="1300" b="0">
                          <a:solidFill>
                            <a:srgbClr val="1F2937"/>
                          </a:solidFill>
                        </a:rPr>
                        <a:t>Go‘dak murdasi</a:t>
                      </a:r>
                    </a:p>
                  </a:txBody>
                  <a:tcPr marL="73152" marR="73152" marT="36576" marB="36576">
                    <a:solidFill>
                      <a:srgbClr val="E8EEF6"/>
                    </a:solidFill>
                  </a:tcPr>
                </a:tc>
                <a:tc>
                  <a:txBody>
                    <a:bodyPr/>
                    <a:lstStyle/>
                    <a:p>
                      <a:r>
                        <a:rPr sz="1300" b="0">
                          <a:solidFill>
                            <a:srgbClr val="1F2937"/>
                          </a:solidFill>
                        </a:rPr>
                        <a:t>2-3 soat ichida kulga aylanadi</a:t>
                      </a:r>
                    </a:p>
                  </a:txBody>
                  <a:tcPr marL="73152" marR="73152" marT="36576" marB="36576">
                    <a:solidFill>
                      <a:srgbClr val="E8EEF6"/>
                    </a:solidFill>
                  </a:tcPr>
                </a:tc>
              </a:tr>
              <a:tr h="411480">
                <a:tc>
                  <a:txBody>
                    <a:bodyPr/>
                    <a:lstStyle/>
                    <a:p>
                      <a:r>
                        <a:rPr sz="1300" b="0">
                          <a:solidFill>
                            <a:srgbClr val="1F2937"/>
                          </a:solidFill>
                        </a:rPr>
                        <a:t>Katta yoshli murda</a:t>
                      </a:r>
                    </a:p>
                  </a:txBody>
                  <a:tcPr marL="73152" marR="73152" marT="36576" marB="36576">
                    <a:solidFill>
                      <a:srgbClr val="FFFFFF"/>
                    </a:solidFill>
                  </a:tcPr>
                </a:tc>
                <a:tc>
                  <a:txBody>
                    <a:bodyPr/>
                    <a:lstStyle/>
                    <a:p>
                      <a:r>
                        <a:rPr sz="1300" b="0">
                          <a:solidFill>
                            <a:srgbClr val="1F2937"/>
                          </a:solidFill>
                        </a:rPr>
                        <a:t>20 soatga yaqin</a:t>
                      </a:r>
                    </a:p>
                  </a:txBody>
                  <a:tcPr marL="73152" marR="73152" marT="36576" marB="36576">
                    <a:solidFill>
                      <a:srgbClr val="FFFFFF"/>
                    </a:solidFill>
                  </a:tcPr>
                </a:tc>
              </a:tr>
              <a:tr h="411480">
                <a:tc>
                  <a:txBody>
                    <a:bodyPr/>
                    <a:lstStyle/>
                    <a:p>
                      <a:r>
                        <a:rPr sz="1300" b="0">
                          <a:solidFill>
                            <a:srgbClr val="1F2937"/>
                          </a:solidFill>
                        </a:rPr>
                        <a:t>Krematoriy, tabiiy gaz</a:t>
                      </a:r>
                    </a:p>
                  </a:txBody>
                  <a:tcPr marL="73152" marR="73152" marT="36576" marB="36576">
                    <a:solidFill>
                      <a:srgbClr val="E8EEF6"/>
                    </a:solidFill>
                  </a:tcPr>
                </a:tc>
                <a:tc>
                  <a:txBody>
                    <a:bodyPr/>
                    <a:lstStyle/>
                    <a:p>
                      <a:r>
                        <a:rPr sz="1300" b="0">
                          <a:solidFill>
                            <a:srgbClr val="1F2937"/>
                          </a:solidFill>
                        </a:rPr>
                        <a:t>bir soatdan kam (kattalar)</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Yonish muddatlari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yong‘indan keyin topilgan murda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yong‘indan so‘ng ko‘mirlangan murda topildi, qo‘l-oyoqlari bukilgan (“bokser pozasi”). Savol: alanga tirikligida ta’sir qilganmi?</a:t>
            </a:r>
          </a:p>
          <a:p>
            <a:pPr>
              <a:spcAft>
                <a:spcPts val="1200"/>
              </a:spcAft>
            </a:pPr>
            <a:r>
              <a:rPr sz="2200">
                <a:solidFill>
                  <a:srgbClr val="1F2937"/>
                </a:solidFill>
                <a:latin typeface="Calibri"/>
              </a:rPr>
              <a:t>▸  Bokser pozasi mushaklarning zichlashib kaltalashishidan hosil bo‘ladi (namlik bug‘lanishi, oqsil ivishi).</a:t>
            </a:r>
          </a:p>
          <a:p>
            <a:pPr>
              <a:spcAft>
                <a:spcPts val="1200"/>
              </a:spcAft>
            </a:pPr>
            <a:r>
              <a:rPr sz="2200">
                <a:solidFill>
                  <a:srgbClr val="1F2937"/>
                </a:solidFill>
                <a:latin typeface="Calibri"/>
              </a:rPr>
              <a:t>▸  Nafas yo‘llari, qizilo‘ngach, oshqozonda qurum bo‘lsa, alanga hayot paytida ta’sir qilgan. Qonda karboksigemoglobin o‘limdan keyin 20% dan oshmaydi, tirikligida 60% gacha.</a:t>
            </a:r>
          </a:p>
          <a:p>
            <a:pPr>
              <a:spcAft>
                <a:spcPts val="1200"/>
              </a:spcAft>
            </a:pPr>
            <a:r>
              <a:rPr sz="2200">
                <a:solidFill>
                  <a:srgbClr val="1F2937"/>
                </a:solidFill>
                <a:latin typeface="Calibri"/>
              </a:rPr>
              <a:t>▸  Diqqat: epidural gematoma urchuqsimon va qattiq pardaga birikkan bo‘lsa travma; o‘roqsimon va birikmagan bo‘lsa o‘limdan keyingi alanga ta’siri.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188, 190, 189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bosqichlari: yong‘in murdasi tekshiruvi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Qurum nafas yo‘li, qizilo‘ngach, oshqozonda qidiriladi; qovoqda “g‘oz panjasi” belgisi tekshiriladi.</a:t>
            </a:r>
          </a:p>
          <a:p>
            <a:pPr>
              <a:spcAft>
                <a:spcPts val="800"/>
              </a:spcAft>
            </a:pPr>
            <a:r>
              <a:rPr sz="1800">
                <a:solidFill>
                  <a:srgbClr val="1F2937"/>
                </a:solidFill>
                <a:latin typeface="Calibri"/>
              </a:rPr>
              <a:t>▸  Qon yurak kameralari va chuqur tomirlardan, mushak namunasi chuqur qatlamdan olinadi.</a:t>
            </a:r>
          </a:p>
          <a:p>
            <a:pPr>
              <a:spcAft>
                <a:spcPts val="800"/>
              </a:spcAft>
            </a:pPr>
            <a:r>
              <a:rPr sz="1800">
                <a:solidFill>
                  <a:srgbClr val="1F2937"/>
                </a:solidFill>
                <a:latin typeface="Calibri"/>
              </a:rPr>
              <a:t>▸  Teri, yumshoq to‘qima va ichki a’zolarning mikroskopik tekshiruvi o‘tkazilishi zarur.</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Tashqi ko‘zdan kechirish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Qon: yurak va chuqur tomirlar</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Namuna: chuqur mushaklar</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Gistologiya: teri, a’zolar</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Xulosa: hayotiy yoki keyingi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Yong‘in murdasi: ketma-ketlik</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189, 190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eslab qolinadigan nuqtalar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Issiq urishda issiqlik ko‘p ishlab chiqarilib, kam ajraladi. Quyosh urishida tana harorati salmoqli ko‘tarilmaydi. Murdada o‘zgarishlar o‘xshash, spetsifik emas.</a:t>
            </a:r>
          </a:p>
          <a:p>
            <a:pPr>
              <a:spcAft>
                <a:spcPts val="1200"/>
              </a:spcAft>
            </a:pPr>
            <a:r>
              <a:rPr sz="2200">
                <a:solidFill>
                  <a:srgbClr val="1F2937"/>
                </a:solidFill>
                <a:latin typeface="Calibri"/>
              </a:rPr>
              <a:t>▸  Kuyish to‘rt darajali: I-III daraja barcha manbadan, IV faqat alangadan. Maydon “to‘qqizliklar qoidasi” va kaft (taxminan 1%) qoidasi bilan baholanadi.</a:t>
            </a:r>
          </a:p>
          <a:p>
            <a:pPr>
              <a:spcAft>
                <a:spcPts val="1200"/>
              </a:spcAft>
            </a:pPr>
            <a:r>
              <a:rPr sz="2200">
                <a:solidFill>
                  <a:srgbClr val="1F2937"/>
                </a:solidFill>
                <a:latin typeface="Calibri"/>
              </a:rPr>
              <a:t>▸  Kuyish kasalligi to‘rt davrdan iborat: kuyish shoki, toksemiya, septikotoksemiya va rekonvalessensiya.</a:t>
            </a:r>
          </a:p>
          <a:p>
            <a:pPr>
              <a:spcAft>
                <a:spcPts val="1200"/>
              </a:spcAft>
            </a:pPr>
            <a:r>
              <a:rPr sz="2200">
                <a:solidFill>
                  <a:srgbClr val="1F2937"/>
                </a:solidFill>
                <a:latin typeface="Calibri"/>
              </a:rPr>
              <a:t>▸  Hayotiylik belgilari: nafas yo‘llarida qurum, qonda karboksigemoglobin, mushakda karboksimioglobin va qovoqdagi “g‘oz panjasi”.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183-184, 185-187, 188, 189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80</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“G‘oz panjasi” belgisi: alanga tiriklikda ta’sir qilsa, qovoq terisining burmalar tubi qurum bosmaydi va kuymaydi. Teri yoyilganda shikastlangan va shikastlanmagan sohalar navbatlashadi. Sababi: tirik odam ko‘zini qisadi.</a:t>
            </a:r>
          </a:p>
          <a:p>
            <a:pPr>
              <a:spcAft>
                <a:spcPts val="1200"/>
              </a:spcAft>
            </a:pPr>
            <a:r>
              <a:rPr sz="1800">
                <a:solidFill>
                  <a:srgbClr val="1F2937"/>
                </a:solidFill>
                <a:latin typeface="Calibri"/>
              </a:rPr>
              <a:t>▸  Karboksigemoglobin ko‘rsatkichi bo‘yicha farq: o‘limdan keyingi alanga ta’sirida uning miqdori 20% dan oshmaydi, tiriklikdagi ta’sirda esa 60% gacha yetishi mumkin. Shuning uchun qon yurak kameralari va chuqur tomirlardan olinadi.</a:t>
            </a:r>
          </a:p>
          <a:p>
            <a:pPr>
              <a:spcAft>
                <a:spcPts val="1200"/>
              </a:spcAft>
            </a:pPr>
            <a:r>
              <a:rPr sz="1800">
                <a:solidFill>
                  <a:srgbClr val="1F2937"/>
                </a:solidFill>
                <a:latin typeface="Calibri"/>
              </a:rPr>
              <a:t>▸  Yong‘indan keyin topilgan murdada epidural gematomani farqlash: jarohatdan hosil bo‘lgani urchuqsimon va qattiq pardaga birikkan. O‘limdan keyin alangadan hosil bo‘lgani o‘roqsimon va qattiq pardaga birikmagan.</a:t>
            </a:r>
          </a:p>
          <a:p>
            <a:pPr>
              <a:spcAft>
                <a:spcPts val="1200"/>
              </a:spcAft>
            </a:pPr>
            <a:r>
              <a:rPr sz="1800">
                <a:solidFill>
                  <a:srgbClr val="1F2937"/>
                </a:solidFill>
                <a:latin typeface="Calibri"/>
              </a:rPr>
              <a:t>▸  Murda yonish tezligi: go‘dak murdasi 2-3 soatda kulga aylanadi, kattalar murdasi uchun taxminan 20 soat kerak. Krematoriyda tabiiy gazda kattalar murdasi bir soatdan kam vaqtda yoqiladi.</a:t>
            </a:r>
          </a:p>
          <a:p>
            <a:pPr>
              <a:spcAft>
                <a:spcPts val="1200"/>
              </a:spcAft>
            </a:pPr>
            <a:r>
              <a:rPr sz="1800">
                <a:solidFill>
                  <a:srgbClr val="1F2937"/>
                </a:solidFill>
                <a:latin typeface="Calibri"/>
              </a:rPr>
              <a:t>▸  Eslab qolish usuli — “to‘qqizliklar qoidasi”: bosh va bo‘yin 9%, qo‘l 9%, tananing old yuzasi 18%, orqa yuzasi 18%, son 9%, boldir va tovon 9%, oraliq soha 1%. Kaft esa taxminan 1% (kaft qoidasi).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Organizmdagi ortiqcha issiqlik energiyasining eng katta qismi qaysi yo‘l bilan tashqariga chiqariladi?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Ter ajralishi orqali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Nurlanish orqali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Teri bilan o‘tkazish orqali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Turli ajratmalar orqali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Issiq sexda havo va namlik o‘tkazmaydigan kiyimda og‘ir ish bajargan ishchida issiq urishi rivojlandi. Bu holatda organizmda qanday o‘zgarish bo‘lgan?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Issiqlik kam ishlab chiqarilib, ko‘p ajratilgan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Issiqlik ham kam ishlab chiqarilib, kam ajratilgan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Issiqlik me’yorda ishlab chiqarilib, ko‘p ajratilgan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Issiqlik ko‘p ishlab chiqarilib, kam ajratilgan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Bir yoshgacha bo‘lgan bola yuqori haroratning umumiy ta’siriga o‘ta sezgir bo‘lib chiqdi. Buning asosiy sababi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Termoregulyasiya mexanizmlari to‘liq shakllanmagan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Qalqonsimon bez giperfunksiyasi har doim mavjud bo‘ladi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Bolalarda terlash juda kuchli rivojlangan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Bolalar og‘ir jismoniy ish bilan shug‘ullanadi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O‘rganmagan odamda o‘ta baland harorat ta’sirida birdan hush yo‘qolib, koma rivojlandi va qisqa muddatda o‘lim sodir bo‘ldi. Bu issiq urishining qaysi shakli?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Uzaytirilgan shakl</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Quyosh urishi shakli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O‘tkir shakl</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Mahalliy termik kuyish</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Quyosh urishi (insolyasiya) haqidagi qaysi fikr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Tana harorati odatda 41-42°S dan oshib ketadi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Tana haroratining salmoqli ko‘tarilishi unga xos emas</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Murda dog‘lari erta va juda ko‘p paydo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nafas yo‘llarining kuyishi xos belgidir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Ochiq joyda bosh kiyimsiz uzoq quyosh ostida qolgan odamda bosh og‘rig‘i, hushning xiralashuvi va gallyusinatsiyalar kuzatildi. Tana harorati salmoqli ko‘tarilmagan. Bu qaysi holat?</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Issiq urishning o‘tkir shakli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Quyosh urishi (insolyasiya)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Tananing sovuq qotishi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Kuyish toksemiyasi davri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Issiq urishdan o‘lgan murdani ichki tekshirishda o‘pka to‘qimasi qanday tus 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Quyuq qon hisobiga qo‘ng‘ir tus</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Kislorod ko‘pligidan pushti-qizg‘ish tus</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Havo ko‘pligidan oqimtir kulrang tus</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Yog‘ to‘planishidan sarg‘ish tus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Issiq urishdan o‘lgan murdada murda qotishi va murda dog‘lari qanday rivojlanadi?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Qotish sust, dog‘lar erta va ko‘p paydo bo‘ladi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Qotish kech, dog‘lar kech va oz paydo bo‘ladi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Qotish tez va kuchli, dog‘lar erta va ko‘p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Qotish tez va kuchli, dog‘lar kech va oz bo‘ladi</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Harbiy xizmatchi shamolsiz, issiq va nam sharoitda havo o‘tkazmaydigan kiyimda mashq qildi. Tana harorati 43°S dan oshdi. Bu holatda o‘lim qaysi mexanizmda sodir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Kuyish shokidan hushning yo‘qolishi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Sovuq suv ta’siridagi qon tomir kollapsi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Nafas olishning birlamchi to‘xtashi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Yurak qorinchalarining fibrillyasiyasi</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Murdada kuyish sohasida teri bilan birga mushak va suyak nekrozi aniqlandi. Ushbu kuyishni qaysi manba chaqirishi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alanga ta’siri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Qaynayotgan suv ta’siri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Qaynoq bug‘ ta’siri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Issiq (60°S dan baland) suv</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Jabrlanganda soch va kiyim shikastlanmagan, kuyish yuzaki, jarohatlar tananing past sohalariga qarab oqmalar shaklida yo‘nalgan. Yuqori harorat manbai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Ochiq alanga ta’siri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Qaynoq suyuqlik ta’siri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Qizdirilgan jism ta’siri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Qaynoq gaz va bug‘ ta’siri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Kuyish tananing old yuzasini va bitta qo‘lni egallagan. To‘qqizliklar qoidasi bo‘yicha umumiy kuyish maydoni qancha?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18 foiz</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36 foiz</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27 foiz</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45 foiz</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Tibbiy hujjatdagi diagnozda “30% (10%) / II-III” deb yozilgan. Qavs ichidagi 10% nimani bildiradi?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Chuqurroq kuyish egallagan yuza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Yuzaki kuyish egallagan yuza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Kaft qoidasi bo‘yicha o‘lchangan yuza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II darajali kuyish yuzasi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Jabrlanganda tananing 12% yuzasida III-IV darajali termik kuyish aniqlandi. Tan jarohatlari og‘irligini aniqlash qoidalariga ko‘ra u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Hayot uchun xavfsiz jarohat</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yuzaki jarohat hisoblanadi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Kuyish kasalligisiz xavfli emas</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Hayot uchun xavfli jarohat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Kuyishdan keyin kuyish sohalaridagi oqsil parchalanish mahsulotlari qonga so‘rilib, intoksikatsiya rivojlandi. Bu kuyish kasalligining qaysi davri?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Kuyish shoki davri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Kuyish toksemiyasi davri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Septikotoksemiya davri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Rekonvalessensiya davri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Yong‘indan topilgan murdaning nafas yo‘llari, qizilo‘ngachi va oshqozonida qurum aniqlandi. Bu holat nimadan dalolat beradi?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Murda o‘lgandan keyin alanga ta’sirida ko‘mirlanganidan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Alanga ta’siri hayot paytida bo‘lganidan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Murda yonishdan oldin sovuq qotganidan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Qurum o‘lim paytida tashqaridan tushganidan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Yong‘in o‘chog‘idagi murdaning yuza tomirlaridagi qonda karboksigemoglobin 35% topildi. Qaysi xulosa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O‘limdan keyingi ta’sir, chunki bunda 35% ham bo‘lishi mumkin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Natija xulosa bermaydi, faqat chuqur mushak tekshiriladi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Natija faqat boshqa jarohat bo‘lsa ahamiyatga ega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Hayotiy ta’sir, chunki o‘limdan keyin 20% dan oshmaydi</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Yong‘indan keyin topilgan murdada kalla ichida o‘roqsimon, qattiq pardaga birikmagan epidural gematoma aniqlandi. Bu nimani ko‘rsatadi?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Alanga boshga o‘limdan keyin ta’sir qilganini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Gematoma travma natijasida hayotda hosil bo‘lganini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Hayotiy kuyish pufaklari borligini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Is gazidan zaharlanish bo‘lganini</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Yong‘in qurboni qovoqlari terisi yoyilganda kuygan va kuymagan sohalar ketma-ket almashib keldi. Bu belgi nimani ko‘rsatadi?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“Bokser pozasi” murdaning o‘limdan keyin ko‘mirlanganini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“Yashin figurasi” jabrlanganga yashin urganini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“G‘oz panjasi” alanga hayotda ta’sir qilganini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“Marvarid marjonlari” elektr toki ta’sirini</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Alanga ta’sirida murdaning qo‘l-oyoqlari bukilib, “bokser pozasi” hosil bo‘lishining asosiy sababi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Hayotlikda mushaklarning talvasasi bo‘lishi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Namlik bug‘lanishi va oqsil ivishidan mushaklarning kaltalashishi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Murda qotishining kechikib rivojlanishi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Alanga ta’sirida suyaklarning sinishi</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Nurlanish orqali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Issiqlikning 55 foizi nurlanish, 27 foizi ter, 15 foizi o‘tkazish va 3 foizi turli ajratmalar bilan chiqariladi. Shuning uchun eng katta ulush nurlanishga to‘g‘ri keladi.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183-bet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Issiqlik ko‘p ishlab chiqarilib, kam ajratilgan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Issiq urishi issiqlik ko‘p ishlab chiqarilib, kam ajratilganda vujudga keladi. Issiq sex, og‘ir jismoniy ish va havo o‘tkazmaydigan kiyim shunday sharoitni yaratadi.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183-bet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Termoregulyasiya mexanizmlari to‘liq shakllanmagan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Bir yoshgacha bo‘lgan bolalarda termoregulyasiya mexanizmlari to‘liq shakllanmagan. Shu sababli ular yuqori haroratning umumiy ta’siriga o‘ta sezgir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183-bet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O‘tkir shakl</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O‘rganmagan organizmda o‘ta baland harorat ta’sirida o‘tkir shakl rivojlanadi. Unda hush birdan yo‘qoladi, koma boshlanadi va yurak-qon tomir hamda nafas tizimlari keskin buzilib, qisqa muddatda o‘lim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183-184-bet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Tana haroratining salmoqli ko‘tarilishi unga xos emas</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Quyosh urishi uchun tana haroratining salmoqli ko‘tarilishi xos emas. U bosh kiyimsiz quyosh nurlari ostida qolganda boshning isishi bilan MNT (markaziy nerv tizimi) faoliyatining buzilishiga olib keladi.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184-bet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Quyosh urishi (insolyasiya)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Quyosh urishi quyosh nurlarining boshga uzoq ta’sirida rivojlanadi. Unda MNT (markaziy nerv tizimi) buziladi, tana harorati esa salmoqli ko‘tarilmaydi. Issiq urishda asosiy o‘rinni issiqlik to‘planishi va gemodinamika buzilishi egallaydi.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184-bet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Quyuq qon hisobiga qo‘ng‘ir tus</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Issiq urishda yurak kameralarida va yirik qon tomirlarda quyuq qon topiladi. O‘pka to‘qimasi shu quyuq qon hisobiga qo‘ng‘ir tusga kiradi. Pushti-qizg‘ish tus esa sovuq qotishga xos.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184-bet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Qotish tez va kuchli, dog‘lar kech va oz bo‘ladi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Issiq urishda murda qotishi tez rivojlanadi va kuchli bo‘ladi. Murda dog‘lari esa kech paydo bo‘ladi va oz miqdorda bo‘ladi. Aralash variantlar bu juftlikni buzib ko‘rsatadi.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184-bet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Nafas olishning birlamchi to‘xtashi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Issiq, nam, shamolsiz muhit va havo o‘tkazmaydigan kiyim issiq urishga moyillik yaratadi. Tana harorati 42-43°S dan oshganda o‘lim nafas olishning birlamchi to‘xtashidan sodir bo‘ladi. Qorinchalar fibrillyasiyasi manbada past harorat va elektr toki bilan bog‘langan.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183-184-bet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Faqat alanga ta’siri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Teri va chuqur to‘qimalar (mushak, boylam, suyak) nekrozi IV darajali kuyishga xos. Manbaga ko‘ra I, II, III darajalar barcha manbalardan, IV daraja esa faqat alanga ta’siridan hosil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185-186-bet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Qaynoq suyuqlik ta’siri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Issiq suyuqlikdan kuyganda soch va kiyim shikastlanmaydi, kuyish yuzaki bo‘ladi, jarohat oqmalar shaklida bo‘lib, ular tananing past sohalariga yo‘naladi. Alangadan kuyganda soch va kiyim shikastlanadi, kuyish chuqur bo‘ladi va qurum izlari topiladi. Qizdirilgan jism jarohati kontakt yuzasining shakliga mos keladi.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186-bet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27 foiz</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To‘qqizliklar qoidasiga ko‘ra tananing old yuzasi 18%, bitta qo‘l 9% ni egallaydi. Ularning yig‘indisi 27%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186-187-bet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Chuqurroq kuyish egallagan yuza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Diagnozda kuyish kasr shaklida yoziladi: suratda kuyish yuzasi, mahrajda kuyish darajalari ko‘rsatiladi. Qavs ichida chuqurroq kuyish yuzasi beriladi.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188-bet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Hayot uchun xavfli jarohat</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Tananing 10% dan ortiq yuzasining III-IV darajali kuyishi hayot uchun xavfli jarohatlar qatoriga kiritilgan. Boshqa mezonlar: 15% dan ortiq III darajali va 20% dan ortiq II darajali kuyish.</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187-188-bet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Kuyish toksemiyasi davri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Kuyish toksemiyasi davrida oqsil parchalanishidan hosil bo‘lgan moddalar qonga so‘riladi va intoksikatsiya vujudga keladi. U 1-2 hafta davom etadi. Septikotoksemiya esa yiringlash va asoratlar bilan bog‘liq.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188-bet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Alanga ta’siri hayot paytida bo‘lganidan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Nafas yo‘llari, qizilo‘ngach va oshqozonda qurum bo‘lishi odam tirikligida alanga ta’sir qilganini ko‘rsatadi. Qurum shunday joylarga o‘lgan odamda tushmaydi, chunki nafas olish to‘xtagan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189-bet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Hayotiy ta’sir, chunki o‘limdan keyin 20% dan oshmaydi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Alanganing o‘limdan keyingi ta’sirida ham yuza tomirlar qonida karboksigemoglobin chiqishi mumkin, lekin 20% dan oshmaydi. Hayotiy ta’sirda u 60% gacha yetadi. Shuning uchun 35% hayotiy ta’sirni ko‘rsatadi.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189-bet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Alanga boshga o‘limdan keyin ta’sir qilganini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Travmadan hosil bo‘lgan epidural gematoma urchuqsimon va qattiq pardaga birikkan bo‘ladi. O‘limdan keyin alanga ta’sirida hosil bo‘lgani esa o‘roqsimon va birikmagan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190-bet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“G‘oz panjasi” alanga hayotda ta’sir qilganini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Hayotiy alanga ta’sirida qovoqlar burmalarining yuqori qismida kuyish va qurum bo‘ladi, burma tubida esa bo‘lmaydi. Terini yoyganda shikastlangan va shikastlanmagan sohalar ketma-ket keladi (“g‘oz panjasi”).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189-bet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Namlik bug‘lanishi va oqsil ivishidan mushaklarning kaltalashishi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Alanga ta’sirida namlik bug‘lanadi va oqsillar ivib mushaklar zichlashib kaltalashadi. Natijada qo‘l-oyoqlar bukiladi va “bokser pozasi” hosil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190-bet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Yuqori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80</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7. Fizik omillar ta’siri (qisman mos)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