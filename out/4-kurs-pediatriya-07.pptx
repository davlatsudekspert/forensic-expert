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pediatr talabaga toksikologiya muhim? 2) Zaharlanish zo‘raki o‘limda nechanchi o‘rinda? Doskada: zo‘raki o‘lim sabablarining 3 o‘rinli ketma-ketligini yozdiring. Tipik xato: zaharlanishni birinchi o‘ringa qo‘yish. Chaqaloq murdasi mavzusi bo‘yicha qo‘shimcha manba kerakligini talabalarga ochiq ayting.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Oddiy dori qaysi holatda zaharga aylanadi? 2) Nega mutlaq zahar tushunchasi yo‘q? Doskada: «modda → doza → ta’sir → zaharlanish» zanjirini chizdiring. Tipik xato: zahar va zaharlanishni sinonim deb hisoblash. Eslab qoling: doza hal qiladi.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Klinik toksikolog va sud-tibbiy ekspert vazifalari qanday farqlanadi? 2) Pediatr bola zaharlanganda qaysi tarmoq bilan ko‘proq ishlaydi? Doskada: jadvalni daftarga ko‘chirtiring. Tipik xato: sud-tibbiy toksikologiyani davolash fani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amalda baxtsiz hodisalar ko‘p, qotillik kam? 2) Pediatriyada yatrogen zaharlanish qanday bo‘lishi mumkin (doza xatosi)? Doskada chizish: uch ustunli sxema (qotillik / o‘z-o‘zini o‘ldirish / baxtsiz hodisa) va ostiga ‘qasddan’ yoki ‘tasodifan’ deb belgilash. Diqqat: qasddan ≠ tasodifan; yatrogen zaharlanish baxtsiz hodisaning bir ko‘rinishi. Tipik xato: talabalar yatrogen holatni qotillik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yo‘l (teri, og‘iz, nafas yo‘llari) toksik ta’sirni o‘zgartiradi? 2) Qaysi moddalarda tashqi sharoit ahamiyatli? Doskada chizish: to‘rt omilni markazdagi ‘zaharlanish’ atrofida joylashtiring. Tipik xato: tashqi sharoitni barcha zaharlarga tegishli deb o‘ylash, aslida u faqat ayrim moddalarda muhim.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bolalarda bir xil doza kattalarga qaraganda xavfliroq? 2) Tolerantlik bilan bog‘liqlik qanday farqlanadi? Doskada chizish: ikki ustun – ‘zahar omillari’ va ‘organizm omillari’, har biriga 4-5 so‘z yozing. Diqqat: tolerantlik (o‘rganib qolish) ≠ idiosinkraziya (o‘ta sezgirlik). Tipik xato: talabalar doza bir xil bo‘lsa, ta’sir ham hamma uchun bir xil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jigardan o‘tmasdan so‘riladigan yo‘llar xavfliroq? 2) Yog‘da eruvchi zahar teri orqali kirsa, qanday xavf bor? Doskada: kirish yo‘llarini ’jigardan o‘tadi / o‘tmaydi’ deb ikki ustunga bo‘lib chizing. Tipik xato: barcha zaharlar faqat og‘iz orqali kiradi deb o‘ylash va tashqi sharoit (yopiq, issiq muhit) ahamiyatini unutish.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Dozani vazn bo‘yicha hisoblash nimani anglatadi? 2) Qon, siydik, oshqozon yuvmasi, qusuq massasi, axlat va zahar qoldig‘i nega tez olinadi? Doskada: ’kattalar dozasi – bolalar dozasi’ ikki ustunli solishtirma yozing. Tipik xato: bolani ’kichik kattalar’ deb hisoblab, dozani kattalarnikidan faqat sal kamaytirish; yana yo‘l qo‘yiladigan xato – namunalarni kech olish.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murdada xos o‘zgarish topilmasa ham zaharlanishni inkor etib bo‘lmaydi? 2) ’Uch nuqta’ qoidasiga misol keltiring. Doskada: to‘rt qutili zanjirni chizib, har qutiga bittadan misol yozing. Tipik xato: faqat laboratoriya natijasiga tayanish; natijalar voqea tafsiloti va klinik ma’lumotlar bilan birga tanqidiy baholanishi kerak.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is gazi va sianidda dog‘ rangi bir-biriga yaqin tuyulishi mumkin, ularni qaysi belgilar bilan ajratamiz? 2) Mushak qotishi tezligi zahar turi haqida nima deydi? Doskada: jadvalni ustunlar bilan (zahar – dog‘ rangi – hid – mushak qotishi) o‘zingiz chizing. Tipik xato: talabalar achchiq bodom hidini hamma zaharlanishga xos deb o‘ylaydi; bu hid sianidga xos, sirka kislotasida esa o‘tkir spetsifik hid bo‘ladi.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metabolit ba’zan o‘zidan kuchliroq zahar bo‘lishi mumkin? 2) Sirka kislotasida birlamchi, keyingi va metatoksik ta’sir ketma-ketligini sanang. Doskada: kirish – taqsimlanish – biotransformatsiya – chiqarilish zanjirini chizing va metanol/etilenglikol metabolitlarini yozing. Tipik xato: toksikokinetika (zahar bilan organizm nima qiladi) va toksikodinamika (organizm zaharga qanday javob beradi)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Javob kaliti: chuqur chirishda ko‘krak va qorin bo‘shlig‘i ichki a’zolari aralashmasidan 1,5-2,0 kg massa – “o‘rta sinama” – olinadi. Muhokama: 1) Nima uchun zaharning kirgan, ta’sir etgan va chiqqan joyidan namuna olinadi? 2) Manba noma’lum bo‘lganda nega a’zolar ko‘p olinadi? Doskada: tana sxemasini chizib, qaysi a’zodan qancha olinishini belgilang. Tipik xato: qon va ichki a’zolarni bitta idishga solish; qon har bir namuna kabi alohida idishda olinadi.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og‘zaki oling. Muhokama: nega bir xil doza bolada kattalarga qaraganda kuchliroq ta’sir qiladi? Doskada chizish: “Kirish → taqsimlanish → metabolizm → chiqish” zanjiri (toksikokinetika) va uning yoniga “organizm javobi” (toksikodinamika). Tipik xato: ikki tushunchani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funksional zaharlar murdada ko‘pincha aniq morfologik o‘zgarish qoldirmaydi? Qaysi guruhda sud-kimyoviy tekshiruv hal qiluvchi? Doskada chizish: tasnif daraxti (mahalliy / umumiy → destruktiv, gemotrop, funksional). Tipik xato: mahalliy ta’sirli zaharni rezorbtiv guruhga qo‘shib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ishqor bilan kuygan joy ushlab ko‘rilganda sirpanuvchan bo‘ladi? Nima uchun sulfat kislotada oshqozon teshilishi ko‘proq? Doskada chizish: ikki ustunli jadval (kislota | ishqor), nekroz turi va to‘qima holatini yozing. Tipik xato: letal dozalarni konsentratsiyadan mustaqil deb o‘ylash — doza konsentratsiyaga bog‘liq.</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sirka kislotasi boshqa kislotalardan farq qiladi? 2) Nashatir spirtini alkogol bilan birga ichish nega xavfli? Doskada: har modda — o‘ziga xos murda belgisi juftligini chizdiring. Tipik xato: kislotada quruq (koagulyasion), ishqorda yumshoq (kollikvatsion) nekrozni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Erta va kech o‘lim sabablarini ajrating. 2) Sulfat kislotada qo‘ng‘ir-qora shilliq va perforatsiya ko‘proq; sirkada gemolitik ta’sir va o‘tkir hid ustun. Doskada: vaqt o‘qi (soatlar — kunlar) bo‘yicha o‘lim sabablarini joylashtiring. Tipik xato: o‘lim sababini faqat kuyish bilan bog‘lab, gemoliz va asoratlarni unutish.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Anorganik va organik simob klinikasi qanday farq qiladi? 2) Nega ekshumatsiyadan keyin ham tekshirish mumkin? Doskada: sulema bo‘yicha uch a’zo (og‘iz, yo‘g‘on ichak, buyrak) va ularning nomlarini chizing. Tipik xato: sof simob metalli ichilganda ham zaharlaydi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margimush birikmalari yillar o‘tgach ham aniqlanadi? 2) Qo‘rg‘oshin tuzlari va tetraetilqo‘rg‘oshin ta’sirida qanday umumiy va farqli jihatlar bor? Doskada: jadvalni ko‘chirib, har zahar yoniga bitta eng xos belgini yozdiring. Tipik xato: letal dozalarni aralashtirish va qo‘rg‘oshin tuzlari bilan tetraetilqo‘rg‘oshinni bir xil deb hisoblash; manbada tuzlar uchun letal doza berilmagan.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Talliy va surunkali margimush belgilari qayerda o‘xshash, qayerda farq qiladi? 2) Anamnez va toksikologik tekshiruv diagnozda qanday o‘rin tutadi? Doskada: ’belgi → ehtimoliy zahar → tasdiqlovchi tekshiruv’ zanjirini chizdiring. Tipik xato: alopetsiyani faqat talliyga bog‘lash va toksikologik tekshiruvsiz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kislotalar quruq, ishqorlar yumshoq nekroz beradi? 2) Sulema va kalomel farqi klinik jihatdan nimani anglatadi? Doskada: tasnif daraxtini (mahalliy / umumiy → destruktiv, gemotrop, funksional) chizdiring. Tipik xato: sulema bilan kalomelni aralashtirish va kislota nekrozini ishqor nekrozi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Is gazi nima uchun gemoglobinga ‘turg‘un’ bog‘lanishi xavfli? 2) Yashinsimon shaklda nima uchun o‘lim juda tez bo‘ladi? Doskada zanjirni chizing: is gazi → karboksigemoglobin → gipoksiya → koma. Tipik xato: is gazi (uglerod monooksidi) bilan karbonat angidridni aralashtirish. Ikkalasi uglerod va kislorodden iborat, lekin toksikligi bir xil emas. Tezkor savol: karboksigemoglobin necha foizdan oshganda dastlabki belgilar paydo bo‘ladi?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Dastlabki sinamalarni klinikada ham o‘tkazish mumkinmi va nima uchun? 2) Metgemoglobin zaharlanishida nima uchun 1-2 kundan keyin qonda metgemoglobin topilmasligi mumkin? Doskada ikki ustunli taqqoslash jadvali chizing: karboksigemoglobin va metgemoglobin (murda dog‘lari rangi, foiz chegaralari). Tipik xato: pushti-qizg‘ish murda dog‘larini (is gazi) ko‘kimtir-qo‘ng‘ir dog‘lar (metgemoglobin) bilan almashtirish. Eslab qoling: is gazi bo‘lsa dog‘lar pushti, metgemoglobinda qo‘ng‘ir. Tezkor savol: Goppe-Zeyler sinamasida qon rangi o‘zgarmasa, nimani bildiradi?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Murda dog‘lari pushti, lekin karboksigemoglobin past bo‘lsa, qanday xulosa qilinadi? 2) Pediatr sifatida go‘daklarda zaharlanishda qon namunasini qachon olasiz? Javob: katta konsentratsiyadagi is gazi miyaga bevosita ta’sir etib tez o‘ldirganda yoki jabrlangan o‘limdan oldin toza havoda bo‘lganda natija past yoki manfiy bo‘lishi mumkin. Doskada tekshiruv ketma-ketligini chizing: ko‘zdan kechirish → tezkor sinama → spektrofotometriya. Tipik xato: past natijani zaharlanishni inkor etuvchi dalil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Sianid va vodorod sulfid ta’sir mexanizmi nimasi bilan o‘xshash? 2) Fosfororganik birikmalardan kech o‘limda nega zahar topilmasligi mumkin, lekin xolinesteraza aktivligi past bo‘ladi? Doskada chizish: sitoxromoksidaza – temir – gipoksiya zanjiri. Tipik xato: achchiq bodom hidi faqat sianidga xos deb o‘ylash; manbada nitrobenzolda bu hid uzoqroq saqlanishi aytilgan (154-bet). Diqqat: gemik gipoksiya (is gazi) bilan to‘qima gipoksiyasi (sianid) bir narsa emas.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Nega rezorbsiya davrida qondagi spirt siydikdagidan yuqori bo‘ladi? 2) Alkogoldegidrogenaza va aldegiddegidrogenazaning atipik shakllari intoksikatsiyani qanday kuchaytiradi? Doskada chizish: etanol – atsetaldegid – sirka kislotasi zanjiri va formuladagi harflar izohi (A, R, r, C, p, T). Tipik xato: promille chegaralarini aralashtirish; murdada 5,0 promille va undan ortiq o‘tkir zaharlanishdan o‘lim sababi hisoblanadi. Formuladagi Ct – olingan vaqtdagi qon konsentratsiyasi (manbada belgi OCR tufayli noaniq bosilgan).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metanol etil spirtiga nisbatan kuchliroq zaharlaydi (metabolitlar, sekin oksidlanish)? 2) Yashirin bosqichdagi bemorni tibbiy muassasada nega yaxshi deb baholab bo‘lmaydi? Doskada chizish: metanol → formaldegid → chumoli kislotasi; etilenglikol → glikol aldegid → oksalat kislotasi. Tipik xato: ko‘rish buzilishini etil spirtiga bog‘lash; manbada (161-bet) bu jumla «etil spirti» deb bosilgan, mazmunan metanolga tegishli ko‘rinadi, shuning uchun band ishonchsiz deb belgilandi – o‘qituvchi tekshirib olsin.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uyqu dorilarida murda tekshiruvi o‘zi yetarli emas? 2) Nega bolalar strixninga sezgirroq? Doskada: guruhlar bo‘yicha (uyqu dorilari, talvasa chaqiruvchi, nerv oxirlariga ta’sir etuvchi) uch ustunli ro‘yxat chizdiring. Tipik xato: atropin (qorachiq kengayadi) va pilokarpin (qorachiq torayadi) belgilarini aralashtirish; murdada xos belgi yo‘qligini zaharlanish yo‘q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Klofelin va atropinning klinik belgilari qanday farqlanadi? 2) Davolash muassasasida toksikologik laboratoriya bo‘lmasa, namunalar kimga topshiriladi? Doskada: vaziyat belgilarini uch zahar bo‘yicha ustunlarga ajratib yozdiring. Tipik xato: namunani kech olish yoki faqat qon bilan cheklanish; botanik tekshiruvni unutish.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metanol metabolitlari uning o‘zidan xavfliroq? 2) Is gazida qon namunasini nega imkon qadar erta olish kerak? Doskada: etanol va metanolning ikki bosqichli oksidlanish zanjirini yonma-yon chizdiring. Tipik xato: etanol va metanol metabolitlarini aralashtirish; funksional zaharlarda murdada xos belgi bo‘lmasa, zaharlanishni inkor etish.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DRD tushunchasiga nima uchun baxtsiz hodisa va qotillik ham kiritilgan? 2) Nima uchun morfin murdada oylab aniqlanadi, nasha esa tez parchalanadi? Doskada: moddalarni tabiiy, yarim sintetik va sintetik ustunlarga bo‘lib yozdiring. Tipik xato: tolerantlikni (dozani oshirish zarurati) va ruhiy bog‘liqlikni (yengib bo‘lmas intilish)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In’eksiya izi va tatirovka nimani bildiradi, nimani isbotlamaydi? 2) Namuna olishda vaqt nima uchun muhim? Doskada: bilvosita belgilar va hal qiluvchi sud-kimyoviy tekshiruv o‘rtasidagi bog‘lanishni chizdiring. Tipik xato: bilvosita belgilarni (ozginlik, tatirovka) qat’iy dalil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Toksikoinfeksiya va intoksikatsiya qanday farqlanadi? 2) Nima uchun botulizm uy konservalari bilan bog‘liq? Doskada: ovqatdan zaharlanish tasnif daraxtini (bakterial va nobakterial, ularning tarmoqlari) chizdiring. Tipik xato: toksikoinfeksiyani (mikroblar bilan ifloslangan mahsulot) intoksikatsiya (to‘plangan toksin)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Guruhiy zaharlanishda epidemiologik tekshiruv nimani aniqlaydi? 2) Donda geliotrop, kampircho‘pon yoki zamburug‘ bo‘lsa klinika qanday farqlanadi? Doskada chizish: oila a‘zolari – umumiy mahsulot – tekshiruv turlari sxemasi. Tipik xato: guruhiy holatni faqat bakterial toksikoinfeksiya deb baholash va qo‘shimchali (zaharli) mahsulotni unutish.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Soxta musbat va soxta manfiy natija sabablarini taqqoslang. 2) Nima uchun namunani erta olish muhim? Doskada chizish: ikki ustunli jadval – "zahar topildi, zaharlanish yo‘q" va "zaharlanish bor, zahar topilmadi". Tipik xato: laboratoriya natijasini boshqa ma‘lumotlardan ajratib, yakka dalil sifatida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Yakuniy savollar: 1) Zaharlanishning sud-tibbiy diagnostikasi bosqichlarini sanang. 2) Zaharlarning sud-tibbiy tasnifini ayting. 3) Laboratoriya natijasi qanday baholanadi? Doskada chizish: zaharlar tasnifi daraxti (mahalliy / umumiy – destruktiv, gemotrop, funksional). Tipik xato: gemotrop va funksional zaharlarni aralashtirish hamda laboratoriya natijasini yakka dalil deb olish.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№3. Maʻruza: Yangi tugʻilgan goʻdaklar murdasining sud tibbiy ekspertizasi. Sud tibbiy toksikologiya</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manba chegarasi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Ma’ruza maqsadi: kimyoviy omillar ta’siridan sog‘liq buzilishi va o‘lim holatlarini hamda sud-tibbiy toksikologiya asoslarini o‘rganish.</a:t>
            </a:r>
          </a:p>
          <a:p>
            <a:pPr>
              <a:spcAft>
                <a:spcPts val="1200"/>
              </a:spcAft>
            </a:pPr>
            <a:r>
              <a:rPr sz="2200">
                <a:solidFill>
                  <a:srgbClr val="1F2937"/>
                </a:solidFill>
                <a:latin typeface="Calibri"/>
              </a:rPr>
              <a:t>▸  Zo‘raki o‘lim tarkibida zaharlanishlar uchinchi o‘rinda turadi, ulardan oldin mexanik jarohatlar va mexanik asfiksiya keladi.</a:t>
            </a:r>
          </a:p>
          <a:p>
            <a:pPr>
              <a:spcAft>
                <a:spcPts val="1200"/>
              </a:spcAft>
            </a:pPr>
            <a:r>
              <a:rPr sz="2200">
                <a:solidFill>
                  <a:srgbClr val="1F2937"/>
                </a:solidFill>
                <a:latin typeface="Calibri"/>
              </a:rPr>
              <a:t>▸  Bolalar kattalarga nisbatan zaharga sezgirroq: vazni kichik, umumiy qarshilik tizimi esa to‘liq shakllanmagan.</a:t>
            </a:r>
          </a:p>
          <a:p>
            <a:pPr>
              <a:spcAft>
                <a:spcPts val="1200"/>
              </a:spcAft>
            </a:pPr>
            <a:r>
              <a:rPr sz="2200">
                <a:solidFill>
                  <a:srgbClr val="1F2937"/>
                </a:solidFill>
                <a:latin typeface="Calibri"/>
              </a:rPr>
              <a:t>▸  Diqqat: berilgan manbada yangi tug‘ilgan chaqaloq murdasi bo‘limi yo‘q, shuning uchun bugun toksikologiya va bolalarning zaharga sezgirligi yoritiladi.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134, 132-181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miqdorda ta’sir etib, sog‘liqni buzadigan yoki o‘limga olib keladigan modda.</a:t>
            </a:r>
          </a:p>
          <a:p>
            <a:pPr>
              <a:spcAft>
                <a:spcPts val="1200"/>
              </a:spcAft>
            </a:pPr>
            <a:r>
              <a:rPr sz="2200">
                <a:solidFill>
                  <a:srgbClr val="1F2937"/>
                </a:solidFill>
                <a:latin typeface="Calibri"/>
              </a:rPr>
              <a:t>▸  Tabiatda mutlaq zahar yo‘q, mutlaq beziyon modda ham yo‘q.</a:t>
            </a:r>
          </a:p>
          <a:p>
            <a:pPr>
              <a:spcAft>
                <a:spcPts val="1200"/>
              </a:spcAft>
            </a:pPr>
            <a:r>
              <a:rPr sz="2200">
                <a:solidFill>
                  <a:srgbClr val="1F2937"/>
                </a:solidFill>
                <a:latin typeface="Calibri"/>
              </a:rPr>
              <a:t>▸  Paratsels iborasi: faqat doza ma’lum moddani dori yoki zaharga aylantiradi.</a:t>
            </a:r>
          </a:p>
          <a:p>
            <a:pPr>
              <a:spcAft>
                <a:spcPts val="1200"/>
              </a:spcAft>
            </a:pPr>
            <a:r>
              <a:rPr sz="2200">
                <a:solidFill>
                  <a:srgbClr val="1F2937"/>
                </a:solidFill>
                <a:latin typeface="Calibri"/>
              </a:rPr>
              <a:t>▸  Diqqat: zahar — modda, zaharlanish — uning oz miqdori ta’siridan kelib chiqqan sog‘liq buzilishi. Ikkisini adashtirmang.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Toksikologiya tarmoqlari va sud-tibbiy vazifa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Toksikologiya yo‘nalishlari: sanoat, qishloq xo‘jaligi, harbiy, oziq-ovqat, maishiy va sud-tibbiy.</a:t>
            </a:r>
          </a:p>
          <a:p>
            <a:pPr>
              <a:spcAft>
                <a:spcPts val="800"/>
              </a:spcAft>
            </a:pPr>
            <a:r>
              <a:rPr sz="1800">
                <a:solidFill>
                  <a:srgbClr val="1F2937"/>
                </a:solidFill>
                <a:latin typeface="Calibri"/>
              </a:rPr>
              <a:t>▸  Sud-tibbiy toksikologiya zaharlanishda huquqni muhofaza idoralari qo‘ygan vazifalarni hal etadi.</a:t>
            </a:r>
          </a:p>
          <a:p>
            <a:pPr>
              <a:spcAft>
                <a:spcPts val="800"/>
              </a:spcAft>
            </a:pPr>
            <a:r>
              <a:rPr sz="1800">
                <a:solidFill>
                  <a:srgbClr val="1F2937"/>
                </a:solidFill>
                <a:latin typeface="Calibri"/>
              </a:rPr>
              <a:t>▸  Sud tibbiyotining fan sifatida shakllanishi sud-tibbiy toksikologiyadan boshlangan.</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007233"/>
                <a:gridCol w="1888562"/>
                <a:gridCol w="2392179"/>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Boshqa turlar</a:t>
                      </a:r>
                    </a:p>
                  </a:txBody>
                  <a:tcPr marL="73152" marR="73152" marT="36576" marB="36576">
                    <a:solidFill>
                      <a:srgbClr val="0B1F3A"/>
                    </a:solidFill>
                  </a:tcPr>
                </a:tc>
                <a:tc>
                  <a:txBody>
                    <a:bodyPr/>
                    <a:lstStyle/>
                    <a:p>
                      <a:r>
                        <a:rPr sz="1300" b="1">
                          <a:solidFill>
                            <a:srgbClr val="FFFFFF"/>
                          </a:solidFill>
                        </a:rPr>
                        <a:t>Sud-tibbiy</a:t>
                      </a:r>
                    </a:p>
                  </a:txBody>
                  <a:tcPr marL="73152" marR="73152" marT="36576" marB="36576">
                    <a:solidFill>
                      <a:srgbClr val="0B1F3A"/>
                    </a:solidFill>
                  </a:tcPr>
                </a:tc>
              </a:tr>
              <a:tr h="411480">
                <a:tc>
                  <a:txBody>
                    <a:bodyPr/>
                    <a:lstStyle/>
                    <a:p>
                      <a:r>
                        <a:rPr sz="1200" b="0">
                          <a:solidFill>
                            <a:srgbClr val="1F2937"/>
                          </a:solidFill>
                        </a:rPr>
                        <a:t>Asosiy yo‘nalish</a:t>
                      </a:r>
                    </a:p>
                  </a:txBody>
                  <a:tcPr marL="73152" marR="73152" marT="36576" marB="36576">
                    <a:solidFill>
                      <a:srgbClr val="E8EEF6"/>
                    </a:solidFill>
                  </a:tcPr>
                </a:tc>
                <a:tc>
                  <a:txBody>
                    <a:bodyPr/>
                    <a:lstStyle/>
                    <a:p>
                      <a:r>
                        <a:rPr sz="1200" b="0">
                          <a:solidFill>
                            <a:srgbClr val="1F2937"/>
                          </a:solidFill>
                        </a:rPr>
                        <a:t>Sabablar, yordam, oldini olish</a:t>
                      </a:r>
                    </a:p>
                  </a:txBody>
                  <a:tcPr marL="73152" marR="73152" marT="36576" marB="36576">
                    <a:solidFill>
                      <a:srgbClr val="E8EEF6"/>
                    </a:solidFill>
                  </a:tcPr>
                </a:tc>
                <a:tc>
                  <a:txBody>
                    <a:bodyPr/>
                    <a:lstStyle/>
                    <a:p>
                      <a:r>
                        <a:rPr sz="1200" b="0">
                          <a:solidFill>
                            <a:srgbClr val="1F2937"/>
                          </a:solidFill>
                        </a:rPr>
                        <a:t>Idoralar qo‘ygan vazifalarni hal etish</a:t>
                      </a:r>
                    </a:p>
                  </a:txBody>
                  <a:tcPr marL="73152" marR="73152" marT="36576" marB="36576">
                    <a:solidFill>
                      <a:srgbClr val="E8EEF6"/>
                    </a:solidFill>
                  </a:tcPr>
                </a:tc>
              </a:tr>
              <a:tr h="411480">
                <a:tc>
                  <a:txBody>
                    <a:bodyPr/>
                    <a:lstStyle/>
                    <a:p>
                      <a:r>
                        <a:rPr sz="1200" b="0">
                          <a:solidFill>
                            <a:srgbClr val="1F2937"/>
                          </a:solidFill>
                        </a:rPr>
                        <a:t>Kimga xizmat</a:t>
                      </a:r>
                    </a:p>
                  </a:txBody>
                  <a:tcPr marL="73152" marR="73152" marT="36576" marB="36576">
                    <a:solidFill>
                      <a:srgbClr val="FFFFFF"/>
                    </a:solidFill>
                  </a:tcPr>
                </a:tc>
                <a:tc>
                  <a:txBody>
                    <a:bodyPr/>
                    <a:lstStyle/>
                    <a:p>
                      <a:r>
                        <a:rPr sz="1200" b="0">
                          <a:solidFill>
                            <a:srgbClr val="1F2937"/>
                          </a:solidFill>
                        </a:rPr>
                        <a:t>Jabrlanganlar, profilaktika</a:t>
                      </a:r>
                    </a:p>
                  </a:txBody>
                  <a:tcPr marL="73152" marR="73152" marT="36576" marB="36576">
                    <a:solidFill>
                      <a:srgbClr val="FFFFFF"/>
                    </a:solidFill>
                  </a:tcPr>
                </a:tc>
                <a:tc>
                  <a:txBody>
                    <a:bodyPr/>
                    <a:lstStyle/>
                    <a:p>
                      <a:r>
                        <a:rPr sz="1200" b="0">
                          <a:solidFill>
                            <a:srgbClr val="1F2937"/>
                          </a:solidFill>
                        </a:rPr>
                        <a:t>Huquqni muhofaza etuvchi idoralar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Toksikologiya turlarini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Zaharlanishlar turlari: qotillik, o‘z-o‘zini o‘ldirish, baxtsiz hodisa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tafsiloti bo‘yicha zaharlanish uch ko‘rinishda bo‘ladi: qotillik, o‘z-o‘zini o‘ldirish va baxtsiz hodisa.</a:t>
            </a:r>
          </a:p>
          <a:p>
            <a:pPr>
              <a:spcAft>
                <a:spcPts val="1200"/>
              </a:spcAft>
            </a:pPr>
            <a:r>
              <a:rPr sz="2200">
                <a:solidFill>
                  <a:srgbClr val="1F2937"/>
                </a:solidFill>
                <a:latin typeface="Calibri"/>
              </a:rPr>
              <a:t>▸  Sud-tibbiy ekspertiza ma’lumotlariga ko‘ra aksariyat holatlar baxtsiz hodisa. Keyingi o‘rinda zaharlanish orqali o‘z-o‘zini o‘ldirish turadi.</a:t>
            </a:r>
          </a:p>
          <a:p>
            <a:pPr>
              <a:spcAft>
                <a:spcPts val="1200"/>
              </a:spcAft>
            </a:pPr>
            <a:r>
              <a:rPr sz="2200">
                <a:solidFill>
                  <a:srgbClr val="1F2937"/>
                </a:solidFill>
                <a:latin typeface="Calibri"/>
              </a:rPr>
              <a:t>▸  Zaharlash yo‘li bilan qotillik kamdan-kam kuzatiladi. Qotillik va o‘z-o‘zini o‘ldirishda zahar qasddan, baxtsiz hodisada tasodifan kiradi.</a:t>
            </a:r>
          </a:p>
          <a:p>
            <a:pPr>
              <a:spcAft>
                <a:spcPts val="1200"/>
              </a:spcAft>
            </a:pPr>
            <a:r>
              <a:rPr sz="2200">
                <a:solidFill>
                  <a:srgbClr val="1F2937"/>
                </a:solidFill>
                <a:latin typeface="Calibri"/>
              </a:rPr>
              <a:t>▸  Ayrim tasodifiy zaharlanishlar yatrogen bo‘ladi: tibbiy muolajada dori dozasini belgilashda xato yoki bir dori o‘rniga boshqasini qo‘llash.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Zaharlanishga ta’sir etuvchi to‘rt guruh omil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 to‘rt guruh omil ta’siriga bog‘liq: zahar, organizm, kirish yo‘li va tashqi sharoit.</a:t>
            </a:r>
          </a:p>
          <a:p>
            <a:pPr>
              <a:spcAft>
                <a:spcPts val="800"/>
              </a:spcAft>
            </a:pPr>
            <a:r>
              <a:rPr sz="1800">
                <a:solidFill>
                  <a:srgbClr val="1F2937"/>
                </a:solidFill>
                <a:latin typeface="Calibri"/>
              </a:rPr>
              <a:t>▸  Zahar qonga qanchalik tez va to‘liq o‘tsa, toksik ta’sir shunchalik kuchli bo‘ladi.</a:t>
            </a:r>
          </a:p>
          <a:p>
            <a:pPr>
              <a:spcAft>
                <a:spcPts val="800"/>
              </a:spcAft>
            </a:pPr>
            <a:r>
              <a:rPr sz="1800">
                <a:solidFill>
                  <a:srgbClr val="1F2937"/>
                </a:solidFill>
                <a:latin typeface="Calibri"/>
              </a:rPr>
              <a:t>▸  Tashqi sharoit faqat ayrim moddalarda muhim: yopiq, issiq, nam muhit alkogol va is gazi ta’sirini oshiradi.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Zaharlanish omillari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Zaharli modda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Organizm</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Zaharning kirish yo‘li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Tashqi shart-sharoit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guruh omil</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134, 135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organizm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Ta’sirga kimyoviy tuzilish, doza, suyuqlik konsentratsiyasi, agregat holat (gaz &gt; suyuq &gt; qattiq) va eruvchanlik ta’sir qiladi.</a:t>
            </a:r>
          </a:p>
          <a:p>
            <a:pPr>
              <a:spcAft>
                <a:spcPts val="1200"/>
              </a:spcAft>
            </a:pPr>
            <a:r>
              <a:rPr sz="2200">
                <a:solidFill>
                  <a:srgbClr val="1F2937"/>
                </a:solidFill>
                <a:latin typeface="Calibri"/>
              </a:rPr>
              <a:t>▸  Zaharni olib kiruvchi muhit – vexikulum – ta’sir darajasini o‘zgartiradi. Og‘ir metall birikmalari organizmda to‘planadi (kumulyasiya).</a:t>
            </a:r>
          </a:p>
          <a:p>
            <a:pPr>
              <a:spcAft>
                <a:spcPts val="1200"/>
              </a:spcAft>
            </a:pPr>
            <a:r>
              <a:rPr sz="2200">
                <a:solidFill>
                  <a:srgbClr val="1F2937"/>
                </a:solidFill>
                <a:latin typeface="Calibri"/>
              </a:rPr>
              <a:t>▸  Organizm omillari: vazn, yosh va salomatlik. Bolalar sezgirroq: vazni kichik, umumiy qarshilik tizimi to‘liq shakllanmagan.</a:t>
            </a:r>
          </a:p>
          <a:p>
            <a:pPr>
              <a:spcAft>
                <a:spcPts val="1200"/>
              </a:spcAft>
            </a:pPr>
            <a:r>
              <a:rPr sz="2200">
                <a:solidFill>
                  <a:srgbClr val="1F2937"/>
                </a:solidFill>
                <a:latin typeface="Calibri"/>
              </a:rPr>
              <a:t>▸  Genetika sezgirlikni o‘zgartiradi (idiosinkraziya). Takroriy ta’sirda tolerantlik, giyohvandlikda esa bog‘liqlik va abstinensiya sindromi paydo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132–133, 133, 133–134, 134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yo‘li va tashqi 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 teri, og‘iz, nafas yo‘llari, to‘g‘ri ichak va in’eksiya orqali kiradi. Qonga qanchalik tez va to‘liq o‘tsa, ta’siri shunchalik kuchli bo‘ladi.</a:t>
            </a:r>
          </a:p>
          <a:p>
            <a:pPr>
              <a:spcAft>
                <a:spcPts val="1200"/>
              </a:spcAft>
            </a:pPr>
            <a:r>
              <a:rPr sz="2000">
                <a:solidFill>
                  <a:srgbClr val="1F2937"/>
                </a:solidFill>
                <a:latin typeface="Calibri"/>
              </a:rPr>
              <a:t>▸  Yog‘da yaxshi eriydigan moddalar (masalan, fosfororganik birikmalar) shilliq qavat va butun teri orqali ham so‘riladi. Suvda va yog‘da erimaydiganlar faqat mahalliy ta’sir qiladi.</a:t>
            </a:r>
          </a:p>
          <a:p>
            <a:pPr>
              <a:spcAft>
                <a:spcPts val="1200"/>
              </a:spcAft>
            </a:pPr>
            <a:r>
              <a:rPr sz="2000">
                <a:solidFill>
                  <a:srgbClr val="1F2937"/>
                </a:solidFill>
                <a:latin typeface="Calibri"/>
              </a:rPr>
              <a:t>▸  Nafas yo‘llari, to‘g‘ri ichak va qin shilliq qavatidan so‘rilgan modda jigardan o‘tmaydi. Shuning uchun oshqozon-ichakdan so‘rilganiga nisbatan kuchliroq ta’sir qiladi.</a:t>
            </a:r>
          </a:p>
          <a:p>
            <a:pPr>
              <a:spcAft>
                <a:spcPts val="1200"/>
              </a:spcAft>
            </a:pPr>
            <a:r>
              <a:rPr sz="2000">
                <a:solidFill>
                  <a:srgbClr val="1F2937"/>
                </a:solidFill>
                <a:latin typeface="Calibri"/>
              </a:rPr>
              <a:t>▸  Alkogol va is gazi uchun yopiq, issiq, nam muhit moyillik yaratadi; ochiq va sovuq muhit ta’sirni susaytiradi. Vodorod sulfid kanalizatsiya quduqlarida xavfli.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134, 134-135, 135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bolalarning zaharga sezgirligi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oilada ichimlikka klofelin qo‘shilgan. Kattalar ham, kichik bola ham ichgan. Bola tezroq og‘ir ahvolga tushgan.</a:t>
            </a:r>
          </a:p>
          <a:p>
            <a:pPr>
              <a:spcAft>
                <a:spcPts val="1200"/>
              </a:spcAft>
            </a:pPr>
            <a:r>
              <a:rPr sz="2200">
                <a:solidFill>
                  <a:srgbClr val="1F2937"/>
                </a:solidFill>
                <a:latin typeface="Calibri"/>
              </a:rPr>
              <a:t>▸  Strixnin: kattalarda letal doza 0,1-0,3 g, kichik bolalarda 0,005 g. Klofelin: kattalarda 0,005-0,01 g, bolalarda 0,004 g va undan kam.</a:t>
            </a:r>
          </a:p>
          <a:p>
            <a:pPr>
              <a:spcAft>
                <a:spcPts val="1200"/>
              </a:spcAft>
            </a:pPr>
            <a:r>
              <a:rPr sz="2200">
                <a:solidFill>
                  <a:srgbClr val="1F2937"/>
                </a:solidFill>
                <a:latin typeface="Calibri"/>
              </a:rPr>
              <a:t>▸  Sabab: bolalarning vazni kichik, umumiy qarshilik ko‘rsatish tizimi esa hali to‘liq shakllanmagan.</a:t>
            </a:r>
          </a:p>
          <a:p>
            <a:pPr>
              <a:spcAft>
                <a:spcPts val="1200"/>
              </a:spcAft>
            </a:pPr>
            <a:r>
              <a:rPr sz="2200">
                <a:solidFill>
                  <a:srgbClr val="1F2937"/>
                </a:solidFill>
                <a:latin typeface="Calibri"/>
              </a:rPr>
              <a:t>▸  Savol: nima uchun bir xil miqdor bolada xavfliroq? Shifokor qaysi namunalarni imkon qadar tezroq olishi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167, 165, 167, 134, 134, 180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sud-tibbiy diagnostikasi: 3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1-bosqich: joydagi sharoit, yot hid, dori idishlari, shpritslar, qusuq; tibbiy hujjatlar.</a:t>
            </a:r>
          </a:p>
          <a:p>
            <a:pPr>
              <a:spcAft>
                <a:spcPts val="800"/>
              </a:spcAft>
            </a:pPr>
            <a:r>
              <a:rPr sz="1800">
                <a:solidFill>
                  <a:srgbClr val="1F2937"/>
                </a:solidFill>
                <a:latin typeface="Calibri"/>
              </a:rPr>
              <a:t>▸  2-bosqich: teri, murda dog‘i rangi, yot hid, mushak qotishi; funksional zaharda belgi bo‘lmasligi mumkin.</a:t>
            </a:r>
          </a:p>
          <a:p>
            <a:pPr>
              <a:spcAft>
                <a:spcPts val="800"/>
              </a:spcAft>
            </a:pPr>
            <a:r>
              <a:rPr sz="1800">
                <a:solidFill>
                  <a:srgbClr val="1F2937"/>
                </a:solidFill>
                <a:latin typeface="Calibri"/>
              </a:rPr>
              <a:t>▸  3-bosqich: sud-kimyoviy ko‘proq; “uch nuqta” qoidasi: zahar kirgan, ta’sir etgan, chiqqan joydan namuna.</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Hodisa joyi va tibbiy hujjatlar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Murda tashqi va ichki ko‘rigi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Laboratoriya tekshiruvlari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Natijalarni birgalikda baholash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Diagnostika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135, 135-136, 136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Murdadagi belgilar: dog‘ rangi va hidlar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Metgemoglobin hosil qiluvchilarda dog‘ jigar rang, qo‘ng‘ir; gemoliz chaqiruvchilarda – sargimtir.</a:t>
            </a:r>
          </a:p>
          <a:p>
            <a:pPr>
              <a:spcAft>
                <a:spcPts val="800"/>
              </a:spcAft>
            </a:pPr>
            <a:r>
              <a:rPr sz="1800">
                <a:solidFill>
                  <a:srgbClr val="1F2937"/>
                </a:solidFill>
                <a:latin typeface="Calibri"/>
              </a:rPr>
              <a:t>▸  Sianidda ichki a’zolardan achchiq bodom hidi, sirka kislotasida o‘tkir spetsifik hid seziladi.</a:t>
            </a:r>
          </a:p>
          <a:p>
            <a:pPr>
              <a:spcAft>
                <a:spcPts val="800"/>
              </a:spcAft>
            </a:pPr>
            <a:r>
              <a:rPr sz="1800">
                <a:solidFill>
                  <a:srgbClr val="1F2937"/>
                </a:solidFill>
                <a:latin typeface="Calibri"/>
              </a:rPr>
              <a:t>▸  Diqqat: funksional zaharlarda murdada xos o‘zgarish topilmasligi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955044"/>
                <a:gridCol w="2332930"/>
              </a:tblGrid>
              <a:tr h="411480">
                <a:tc>
                  <a:txBody>
                    <a:bodyPr/>
                    <a:lstStyle/>
                    <a:p>
                      <a:r>
                        <a:rPr sz="1400" b="1">
                          <a:solidFill>
                            <a:srgbClr val="FFFFFF"/>
                          </a:solidFill>
                        </a:rPr>
                        <a:t>Zahar</a:t>
                      </a:r>
                    </a:p>
                  </a:txBody>
                  <a:tcPr marL="73152" marR="73152" marT="36576" marB="36576">
                    <a:solidFill>
                      <a:srgbClr val="0B1F3A"/>
                    </a:solidFill>
                  </a:tcPr>
                </a:tc>
                <a:tc>
                  <a:txBody>
                    <a:bodyPr/>
                    <a:lstStyle/>
                    <a:p>
                      <a:r>
                        <a:rPr sz="1400" b="1">
                          <a:solidFill>
                            <a:srgbClr val="FFFFFF"/>
                          </a:solidFill>
                        </a:rPr>
                        <a:t>Belgi</a:t>
                      </a:r>
                    </a:p>
                  </a:txBody>
                  <a:tcPr marL="73152" marR="73152" marT="36576" marB="36576">
                    <a:solidFill>
                      <a:srgbClr val="0B1F3A"/>
                    </a:solidFill>
                  </a:tcPr>
                </a:tc>
              </a:tr>
              <a:tr h="411480">
                <a:tc>
                  <a:txBody>
                    <a:bodyPr/>
                    <a:lstStyle/>
                    <a:p>
                      <a:r>
                        <a:rPr sz="1300" b="0">
                          <a:solidFill>
                            <a:srgbClr val="1F2937"/>
                          </a:solidFill>
                        </a:rPr>
                        <a:t>Is gazi</a:t>
                      </a:r>
                    </a:p>
                  </a:txBody>
                  <a:tcPr marL="73152" marR="73152" marT="36576" marB="36576">
                    <a:solidFill>
                      <a:srgbClr val="E8EEF6"/>
                    </a:solidFill>
                  </a:tcPr>
                </a:tc>
                <a:tc>
                  <a:txBody>
                    <a:bodyPr/>
                    <a:lstStyle/>
                    <a:p>
                      <a:r>
                        <a:rPr sz="1300" b="0">
                          <a:solidFill>
                            <a:srgbClr val="1F2937"/>
                          </a:solidFill>
                        </a:rPr>
                        <a:t>Murda dog‘lari pushti tusda</a:t>
                      </a:r>
                    </a:p>
                  </a:txBody>
                  <a:tcPr marL="73152" marR="73152" marT="36576" marB="36576">
                    <a:solidFill>
                      <a:srgbClr val="E8EEF6"/>
                    </a:solidFill>
                  </a:tcPr>
                </a:tc>
              </a:tr>
              <a:tr h="411480">
                <a:tc>
                  <a:txBody>
                    <a:bodyPr/>
                    <a:lstStyle/>
                    <a:p>
                      <a:r>
                        <a:rPr sz="1300" b="0">
                          <a:solidFill>
                            <a:srgbClr val="1F2937"/>
                          </a:solidFill>
                        </a:rPr>
                        <a:t>Sianid kislotasi va tuzlari</a:t>
                      </a:r>
                    </a:p>
                  </a:txBody>
                  <a:tcPr marL="73152" marR="73152" marT="36576" marB="36576">
                    <a:solidFill>
                      <a:srgbClr val="FFFFFF"/>
                    </a:solidFill>
                  </a:tcPr>
                </a:tc>
                <a:tc>
                  <a:txBody>
                    <a:bodyPr/>
                    <a:lstStyle/>
                    <a:p>
                      <a:r>
                        <a:rPr sz="1300" b="0">
                          <a:solidFill>
                            <a:srgbClr val="1F2937"/>
                          </a:solidFill>
                        </a:rPr>
                        <a:t>Dog‘lar yorqin olcha rangda</a:t>
                      </a:r>
                    </a:p>
                  </a:txBody>
                  <a:tcPr marL="73152" marR="73152" marT="36576" marB="36576">
                    <a:solidFill>
                      <a:srgbClr val="FFFFFF"/>
                    </a:solidFill>
                  </a:tcPr>
                </a:tc>
              </a:tr>
              <a:tr h="411480">
                <a:tc>
                  <a:txBody>
                    <a:bodyPr/>
                    <a:lstStyle/>
                    <a:p>
                      <a:r>
                        <a:rPr sz="1300" b="0">
                          <a:solidFill>
                            <a:srgbClr val="1F2937"/>
                          </a:solidFill>
                        </a:rPr>
                        <a:t>Strixnin va talvasa chaqiruvchilar</a:t>
                      </a:r>
                    </a:p>
                  </a:txBody>
                  <a:tcPr marL="73152" marR="73152" marT="36576" marB="36576">
                    <a:solidFill>
                      <a:srgbClr val="E8EEF6"/>
                    </a:solidFill>
                  </a:tcPr>
                </a:tc>
                <a:tc>
                  <a:txBody>
                    <a:bodyPr/>
                    <a:lstStyle/>
                    <a:p>
                      <a:r>
                        <a:rPr sz="1300" b="0">
                          <a:solidFill>
                            <a:srgbClr val="1F2937"/>
                          </a:solidFill>
                        </a:rPr>
                        <a:t>Mushak qotishi tez va kuchli</a:t>
                      </a:r>
                    </a:p>
                  </a:txBody>
                  <a:tcPr marL="73152" marR="73152" marT="36576" marB="36576">
                    <a:solidFill>
                      <a:srgbClr val="E8EEF6"/>
                    </a:solidFill>
                  </a:tcPr>
                </a:tc>
              </a:tr>
              <a:tr h="411480">
                <a:tc>
                  <a:txBody>
                    <a:bodyPr/>
                    <a:lstStyle/>
                    <a:p>
                      <a:r>
                        <a:rPr sz="1300" b="0">
                          <a:solidFill>
                            <a:srgbClr val="1F2937"/>
                          </a:solidFill>
                        </a:rPr>
                        <a:t>Xloral gidrat, kurare, miorelaksantlar</a:t>
                      </a:r>
                    </a:p>
                  </a:txBody>
                  <a:tcPr marL="73152" marR="73152" marT="36576" marB="36576">
                    <a:solidFill>
                      <a:srgbClr val="FFFFFF"/>
                    </a:solidFill>
                  </a:tcPr>
                </a:tc>
                <a:tc>
                  <a:txBody>
                    <a:bodyPr/>
                    <a:lstStyle/>
                    <a:p>
                      <a:r>
                        <a:rPr sz="1300" b="0">
                          <a:solidFill>
                            <a:srgbClr val="1F2937"/>
                          </a:solidFill>
                        </a:rPr>
                        <a:t>Mushak qotishi sust va kuchsiz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Dog‘ rangi va mushak qotishi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Toksikokinetika: zaharning kirishi, taqsimlanishi, metabolizmi va chiqarilishi majmui.</a:t>
            </a:r>
          </a:p>
          <a:p>
            <a:pPr>
              <a:spcAft>
                <a:spcPts val="800"/>
              </a:spcAft>
            </a:pPr>
            <a:r>
              <a:rPr sz="1800">
                <a:solidFill>
                  <a:srgbClr val="1F2937"/>
                </a:solidFill>
                <a:latin typeface="Calibri"/>
              </a:rPr>
              <a:t>▸  Biotransformatsiya jigarda; metanol va etilenglikolning metabolitlari kuchliroq zaharli.</a:t>
            </a:r>
          </a:p>
          <a:p>
            <a:pPr>
              <a:spcAft>
                <a:spcPts val="800"/>
              </a:spcAft>
            </a:pPr>
            <a:r>
              <a:rPr sz="1800">
                <a:solidFill>
                  <a:srgbClr val="1F2937"/>
                </a:solidFill>
                <a:latin typeface="Calibri"/>
              </a:rPr>
              <a:t>▸  Toksikodinamika – organizm javobi: birlamchi, keyingi va metatoksik ta’sir (sirka kislotasi misolida).</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291249"/>
                <a:gridCol w="1844642"/>
                <a:gridCol w="2152082"/>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Jarayon</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Metanol</a:t>
                      </a:r>
                    </a:p>
                  </a:txBody>
                  <a:tcPr marL="73152" marR="73152" marT="36576" marB="36576">
                    <a:solidFill>
                      <a:srgbClr val="E8EEF6"/>
                    </a:solidFill>
                  </a:tcPr>
                </a:tc>
                <a:tc>
                  <a:txBody>
                    <a:bodyPr/>
                    <a:lstStyle/>
                    <a:p>
                      <a:r>
                        <a:rPr sz="1200" b="0">
                          <a:solidFill>
                            <a:srgbClr val="1F2937"/>
                          </a:solidFill>
                        </a:rPr>
                        <a:t>Oksidlanish: formaldegid</a:t>
                      </a:r>
                    </a:p>
                  </a:txBody>
                  <a:tcPr marL="73152" marR="73152" marT="36576" marB="36576">
                    <a:solidFill>
                      <a:srgbClr val="E8EEF6"/>
                    </a:solidFill>
                  </a:tcPr>
                </a:tc>
                <a:tc>
                  <a:txBody>
                    <a:bodyPr/>
                    <a:lstStyle/>
                    <a:p>
                      <a:r>
                        <a:rPr sz="1200" b="0">
                          <a:solidFill>
                            <a:srgbClr val="1F2937"/>
                          </a:solidFill>
                        </a:rPr>
                        <a:t>Kardio-, nefro-, neyrotoksik ta’sir</a:t>
                      </a:r>
                    </a:p>
                  </a:txBody>
                  <a:tcPr marL="73152" marR="73152" marT="36576" marB="36576">
                    <a:solidFill>
                      <a:srgbClr val="E8EEF6"/>
                    </a:solidFill>
                  </a:tcPr>
                </a:tc>
              </a:tr>
              <a:tr h="411480">
                <a:tc>
                  <a:txBody>
                    <a:bodyPr/>
                    <a:lstStyle/>
                    <a:p>
                      <a:r>
                        <a:rPr sz="1200" b="0">
                          <a:solidFill>
                            <a:srgbClr val="1F2937"/>
                          </a:solidFill>
                        </a:rPr>
                        <a:t>Etilenglikol</a:t>
                      </a:r>
                    </a:p>
                  </a:txBody>
                  <a:tcPr marL="73152" marR="73152" marT="36576" marB="36576">
                    <a:solidFill>
                      <a:srgbClr val="FFFFFF"/>
                    </a:solidFill>
                  </a:tcPr>
                </a:tc>
                <a:tc>
                  <a:txBody>
                    <a:bodyPr/>
                    <a:lstStyle/>
                    <a:p>
                      <a:r>
                        <a:rPr sz="1200" b="0">
                          <a:solidFill>
                            <a:srgbClr val="1F2937"/>
                          </a:solidFill>
                        </a:rPr>
                        <a:t>Oksidlanish: oksalat kislotasi</a:t>
                      </a:r>
                    </a:p>
                  </a:txBody>
                  <a:tcPr marL="73152" marR="73152" marT="36576" marB="36576">
                    <a:solidFill>
                      <a:srgbClr val="FFFFFF"/>
                    </a:solidFill>
                  </a:tcPr>
                </a:tc>
                <a:tc>
                  <a:txBody>
                    <a:bodyPr/>
                    <a:lstStyle/>
                    <a:p>
                      <a:r>
                        <a:rPr sz="1200" b="0">
                          <a:solidFill>
                            <a:srgbClr val="1F2937"/>
                          </a:solidFill>
                        </a:rPr>
                        <a:t>Gepato- va nefrotoksik ta’sir</a:t>
                      </a:r>
                    </a:p>
                  </a:txBody>
                  <a:tcPr marL="73152" marR="73152" marT="36576" marB="36576">
                    <a:solidFill>
                      <a:srgbClr val="FFFFFF"/>
                    </a:solidFill>
                  </a:tcPr>
                </a:tc>
              </a:tr>
              <a:tr h="411480">
                <a:tc>
                  <a:txBody>
                    <a:bodyPr/>
                    <a:lstStyle/>
                    <a:p>
                      <a:r>
                        <a:rPr sz="1200" b="0">
                          <a:solidFill>
                            <a:srgbClr val="1F2937"/>
                          </a:solidFill>
                        </a:rPr>
                        <a:t>Fosfororganik birikma</a:t>
                      </a:r>
                    </a:p>
                  </a:txBody>
                  <a:tcPr marL="73152" marR="73152" marT="36576" marB="36576">
                    <a:solidFill>
                      <a:srgbClr val="E8EEF6"/>
                    </a:solidFill>
                  </a:tcPr>
                </a:tc>
                <a:tc>
                  <a:txBody>
                    <a:bodyPr/>
                    <a:lstStyle/>
                    <a:p>
                      <a:r>
                        <a:rPr sz="1200" b="0">
                          <a:solidFill>
                            <a:srgbClr val="1F2937"/>
                          </a:solidFill>
                        </a:rPr>
                        <a:t>Oksidlanish</a:t>
                      </a:r>
                    </a:p>
                  </a:txBody>
                  <a:tcPr marL="73152" marR="73152" marT="36576" marB="36576">
                    <a:solidFill>
                      <a:srgbClr val="E8EEF6"/>
                    </a:solidFill>
                  </a:tcPr>
                </a:tc>
                <a:tc>
                  <a:txBody>
                    <a:bodyPr/>
                    <a:lstStyle/>
                    <a:p>
                      <a:r>
                        <a:rPr sz="1200" b="0">
                          <a:solidFill>
                            <a:srgbClr val="1F2937"/>
                          </a:solidFill>
                        </a:rPr>
                        <a:t>Toksik xususiyat kuchayadi</a:t>
                      </a:r>
                    </a:p>
                  </a:txBody>
                  <a:tcPr marL="73152" marR="73152" marT="36576" marB="36576">
                    <a:solidFill>
                      <a:srgbClr val="E8EEF6"/>
                    </a:solidFill>
                  </a:tcPr>
                </a:tc>
              </a:tr>
              <a:tr h="411480">
                <a:tc>
                  <a:txBody>
                    <a:bodyPr/>
                    <a:lstStyle/>
                    <a:p>
                      <a:r>
                        <a:rPr sz="1200" b="0">
                          <a:solidFill>
                            <a:srgbClr val="1F2937"/>
                          </a:solidFill>
                        </a:rPr>
                        <a:t>Fosfororganik birikma</a:t>
                      </a:r>
                    </a:p>
                  </a:txBody>
                  <a:tcPr marL="73152" marR="73152" marT="36576" marB="36576">
                    <a:solidFill>
                      <a:srgbClr val="FFFFFF"/>
                    </a:solidFill>
                  </a:tcPr>
                </a:tc>
                <a:tc>
                  <a:txBody>
                    <a:bodyPr/>
                    <a:lstStyle/>
                    <a:p>
                      <a:r>
                        <a:rPr sz="1200" b="0">
                          <a:solidFill>
                            <a:srgbClr val="1F2937"/>
                          </a:solidFill>
                        </a:rPr>
                        <a:t>Gidroliz</a:t>
                      </a:r>
                    </a:p>
                  </a:txBody>
                  <a:tcPr marL="73152" marR="73152" marT="36576" marB="36576">
                    <a:solidFill>
                      <a:srgbClr val="FFFFFF"/>
                    </a:solidFill>
                  </a:tcPr>
                </a:tc>
                <a:tc>
                  <a:txBody>
                    <a:bodyPr/>
                    <a:lstStyle/>
                    <a:p>
                      <a:r>
                        <a:rPr sz="1200" b="0">
                          <a:solidFill>
                            <a:srgbClr val="1F2937"/>
                          </a:solidFill>
                        </a:rPr>
                        <a:t>Toksik xususiyat ancha susayadi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Metabolizm toksiklikni o‘zgartiradi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136-137, 137, 138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material olish va “uch nuqta” qoidasi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topilgan, zahar og‘iz orqali qabul qilingani ma’lum; u asosan jigarga ta’sir etib, siydik bilan chiqadi.</a:t>
            </a:r>
          </a:p>
          <a:p>
            <a:pPr>
              <a:spcAft>
                <a:spcPts val="1200"/>
              </a:spcAft>
            </a:pPr>
            <a:r>
              <a:rPr sz="2200">
                <a:solidFill>
                  <a:srgbClr val="1F2937"/>
                </a:solidFill>
                <a:latin typeface="Calibri"/>
              </a:rPr>
              <a:t>▸  “Uch nuqta” qoidasi: namuna zahar kirgan, asosan ta’sir etgan va chiqqan joydan olinadi – oshqozon massasi, jigar bo‘lagi, butun buyrak siydik bilan.</a:t>
            </a:r>
          </a:p>
          <a:p>
            <a:pPr>
              <a:spcAft>
                <a:spcPts val="1200"/>
              </a:spcAft>
            </a:pPr>
            <a:r>
              <a:rPr sz="2200">
                <a:solidFill>
                  <a:srgbClr val="1F2937"/>
                </a:solidFill>
                <a:latin typeface="Calibri"/>
              </a:rPr>
              <a:t>▸  Manba noma’lum bo‘lsa: miyaning 1/3, o‘pkaning 1/4, jigarning 1/3 o‘t qopi va o‘t bilan, buyrak siydik bilan, oshqozon massasi, ichakdan bir metrdan, 100-200 ml qon (har biri alohida idishda).</a:t>
            </a:r>
          </a:p>
          <a:p>
            <a:pPr>
              <a:spcAft>
                <a:spcPts val="1200"/>
              </a:spcAft>
            </a:pPr>
            <a:r>
              <a:rPr sz="2200">
                <a:solidFill>
                  <a:srgbClr val="1F2937"/>
                </a:solidFill>
                <a:latin typeface="Calibri"/>
              </a:rPr>
              <a:t>▸  Savol: chuqur chirish holatida toksikologik tekshiruv uchun qanday namuna olinadi va “uch nuqta” qoidasi nega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1-blok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zahar nima? Javob: oz miqdori sog‘liqni buzadigan yoki o‘limga olib keladigan nisbiy tushuncha; Paratsels: hammasini doza belgilaydi.</a:t>
            </a:r>
          </a:p>
          <a:p>
            <a:pPr>
              <a:spcAft>
                <a:spcPts val="1200"/>
              </a:spcAft>
            </a:pPr>
            <a:r>
              <a:rPr sz="2200">
                <a:solidFill>
                  <a:srgbClr val="1F2937"/>
                </a:solidFill>
                <a:latin typeface="Calibri"/>
              </a:rPr>
              <a:t>▸  2-savol: zaharlanish omillari nechta guruh? Javob: to‘rtta: zahar, organizm, kirish yo‘li va tashqi shart-sharoit.</a:t>
            </a:r>
          </a:p>
          <a:p>
            <a:pPr>
              <a:spcAft>
                <a:spcPts val="1200"/>
              </a:spcAft>
            </a:pPr>
            <a:r>
              <a:rPr sz="2200">
                <a:solidFill>
                  <a:srgbClr val="1F2937"/>
                </a:solidFill>
                <a:latin typeface="Calibri"/>
              </a:rPr>
              <a:t>▸  3-savol: sud-tibbiy diagnostika necha bosqichli? Javob: uch bosqich: hodisa joyi, murda tekshiruvi, laboratoriya tekshiruvlari.</a:t>
            </a:r>
          </a:p>
          <a:p>
            <a:pPr>
              <a:spcAft>
                <a:spcPts val="1200"/>
              </a:spcAft>
            </a:pPr>
            <a:r>
              <a:rPr sz="2200">
                <a:solidFill>
                  <a:srgbClr val="1F2937"/>
                </a:solidFill>
                <a:latin typeface="Calibri"/>
              </a:rPr>
              <a:t>▸  Diqqat: toksikokinetika ≠ toksikodinamika. Birinchisi zahar yo‘li (kirish, taqsimlanish, metabolizm, chiqish); ikkinchisi organizm javobi.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135–136, 136–138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Zaharlar asosan mahalliy va asosan umumiy ta’sir etuvchilarga bo‘linadi (V.L. Popov bo‘yicha, 1990).</a:t>
            </a:r>
          </a:p>
          <a:p>
            <a:pPr>
              <a:spcAft>
                <a:spcPts val="800"/>
              </a:spcAft>
            </a:pPr>
            <a:r>
              <a:rPr sz="1800">
                <a:solidFill>
                  <a:srgbClr val="1F2937"/>
                </a:solidFill>
                <a:latin typeface="Calibri"/>
              </a:rPr>
              <a:t>▸  Umumiy ta’sirlilar qonga so‘rilgach ta’sir qiladi, shu sababli ularni rezorbtiv zaharlar ham deyishadi.</a:t>
            </a:r>
          </a:p>
          <a:p>
            <a:pPr>
              <a:spcAft>
                <a:spcPts val="800"/>
              </a:spcAft>
            </a:pPr>
            <a:r>
              <a:rPr sz="1800">
                <a:solidFill>
                  <a:srgbClr val="1F2937"/>
                </a:solidFill>
                <a:latin typeface="Calibri"/>
              </a:rPr>
              <a:t>▸  Rezorbtiv zaharlar uch qismga bo‘linadi: destruktiv, qon (gemotrop) va funksional zaharlar.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83809"/>
                <a:gridCol w="1844642"/>
                <a:gridCol w="2459523"/>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Ta’sir</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Asosan mahalliy</a:t>
                      </a:r>
                    </a:p>
                  </a:txBody>
                  <a:tcPr marL="73152" marR="73152" marT="36576" marB="36576">
                    <a:solidFill>
                      <a:srgbClr val="E8EEF6"/>
                    </a:solidFill>
                  </a:tcPr>
                </a:tc>
                <a:tc>
                  <a:txBody>
                    <a:bodyPr/>
                    <a:lstStyle/>
                    <a:p>
                      <a:r>
                        <a:rPr sz="1200" b="0">
                          <a:solidFill>
                            <a:srgbClr val="1F2937"/>
                          </a:solidFill>
                        </a:rPr>
                        <a:t>Kontakt joyida nekroz</a:t>
                      </a:r>
                    </a:p>
                  </a:txBody>
                  <a:tcPr marL="73152" marR="73152" marT="36576" marB="36576">
                    <a:solidFill>
                      <a:srgbClr val="E8EEF6"/>
                    </a:solidFill>
                  </a:tcPr>
                </a:tc>
                <a:tc>
                  <a:txBody>
                    <a:bodyPr/>
                    <a:lstStyle/>
                    <a:p>
                      <a:r>
                        <a:rPr sz="1200" b="0">
                          <a:solidFill>
                            <a:srgbClr val="1F2937"/>
                          </a:solidFill>
                        </a:rPr>
                        <a:t>kislota, ishqor, yod tindirmasi</a:t>
                      </a:r>
                    </a:p>
                  </a:txBody>
                  <a:tcPr marL="73152" marR="73152" marT="36576" marB="36576">
                    <a:solidFill>
                      <a:srgbClr val="E8EEF6"/>
                    </a:solidFill>
                  </a:tcPr>
                </a:tc>
              </a:tr>
              <a:tr h="411480">
                <a:tc>
                  <a:txBody>
                    <a:bodyPr/>
                    <a:lstStyle/>
                    <a:p>
                      <a:r>
                        <a:rPr sz="1200" b="0">
                          <a:solidFill>
                            <a:srgbClr val="1F2937"/>
                          </a:solidFill>
                        </a:rPr>
                        <a:t>Destruktiv</a:t>
                      </a:r>
                    </a:p>
                  </a:txBody>
                  <a:tcPr marL="73152" marR="73152" marT="36576" marB="36576">
                    <a:solidFill>
                      <a:srgbClr val="FFFFFF"/>
                    </a:solidFill>
                  </a:tcPr>
                </a:tc>
                <a:tc>
                  <a:txBody>
                    <a:bodyPr/>
                    <a:lstStyle/>
                    <a:p>
                      <a:r>
                        <a:rPr sz="1200" b="0">
                          <a:solidFill>
                            <a:srgbClr val="1F2937"/>
                          </a:solidFill>
                        </a:rPr>
                        <a:t>To‘qima strukturasi buziladi</a:t>
                      </a:r>
                    </a:p>
                  </a:txBody>
                  <a:tcPr marL="73152" marR="73152" marT="36576" marB="36576">
                    <a:solidFill>
                      <a:srgbClr val="FFFFFF"/>
                    </a:solidFill>
                  </a:tcPr>
                </a:tc>
                <a:tc>
                  <a:txBody>
                    <a:bodyPr/>
                    <a:lstStyle/>
                    <a:p>
                      <a:r>
                        <a:rPr sz="1200" b="0">
                          <a:solidFill>
                            <a:srgbClr val="1F2937"/>
                          </a:solidFill>
                        </a:rPr>
                        <a:t>simob, qo‘rg‘oshin, margimush</a:t>
                      </a:r>
                    </a:p>
                  </a:txBody>
                  <a:tcPr marL="73152" marR="73152" marT="36576" marB="36576">
                    <a:solidFill>
                      <a:srgbClr val="FFFFFF"/>
                    </a:solidFill>
                  </a:tcPr>
                </a:tc>
              </a:tr>
              <a:tr h="411480">
                <a:tc>
                  <a:txBody>
                    <a:bodyPr/>
                    <a:lstStyle/>
                    <a:p>
                      <a:r>
                        <a:rPr sz="1200" b="0">
                          <a:solidFill>
                            <a:srgbClr val="1F2937"/>
                          </a:solidFill>
                        </a:rPr>
                        <a:t>Gemotrop</a:t>
                      </a:r>
                    </a:p>
                  </a:txBody>
                  <a:tcPr marL="73152" marR="73152" marT="36576" marB="36576">
                    <a:solidFill>
                      <a:srgbClr val="E8EEF6"/>
                    </a:solidFill>
                  </a:tcPr>
                </a:tc>
                <a:tc>
                  <a:txBody>
                    <a:bodyPr/>
                    <a:lstStyle/>
                    <a:p>
                      <a:r>
                        <a:rPr sz="1200" b="0">
                          <a:solidFill>
                            <a:srgbClr val="1F2937"/>
                          </a:solidFill>
                        </a:rPr>
                        <a:t>Qon tarkibiga ta’sir</a:t>
                      </a:r>
                    </a:p>
                  </a:txBody>
                  <a:tcPr marL="73152" marR="73152" marT="36576" marB="36576">
                    <a:solidFill>
                      <a:srgbClr val="E8EEF6"/>
                    </a:solidFill>
                  </a:tcPr>
                </a:tc>
                <a:tc>
                  <a:txBody>
                    <a:bodyPr/>
                    <a:lstStyle/>
                    <a:p>
                      <a:r>
                        <a:rPr sz="1200" b="0">
                          <a:solidFill>
                            <a:srgbClr val="1F2937"/>
                          </a:solidFill>
                        </a:rPr>
                        <a:t>is gazi, metgemoglobin hosil qiluvchilar</a:t>
                      </a:r>
                    </a:p>
                  </a:txBody>
                  <a:tcPr marL="73152" marR="73152" marT="36576" marB="36576">
                    <a:solidFill>
                      <a:srgbClr val="E8EEF6"/>
                    </a:solidFill>
                  </a:tcPr>
                </a:tc>
              </a:tr>
              <a:tr h="411480">
                <a:tc>
                  <a:txBody>
                    <a:bodyPr/>
                    <a:lstStyle/>
                    <a:p>
                      <a:r>
                        <a:rPr sz="1200" b="0">
                          <a:solidFill>
                            <a:srgbClr val="1F2937"/>
                          </a:solidFill>
                        </a:rPr>
                        <a:t>Funksional</a:t>
                      </a:r>
                    </a:p>
                  </a:txBody>
                  <a:tcPr marL="73152" marR="73152" marT="36576" marB="36576">
                    <a:solidFill>
                      <a:srgbClr val="FFFFFF"/>
                    </a:solidFill>
                  </a:tcPr>
                </a:tc>
                <a:tc>
                  <a:txBody>
                    <a:bodyPr/>
                    <a:lstStyle/>
                    <a:p>
                      <a:r>
                        <a:rPr sz="1200" b="0">
                          <a:solidFill>
                            <a:srgbClr val="1F2937"/>
                          </a:solidFill>
                        </a:rPr>
                        <a:t>Nerv tizimi faoliyati buziladi</a:t>
                      </a:r>
                    </a:p>
                  </a:txBody>
                  <a:tcPr marL="73152" marR="73152" marT="36576" marB="36576">
                    <a:solidFill>
                      <a:srgbClr val="FFFFFF"/>
                    </a:solidFill>
                  </a:tcPr>
                </a:tc>
                <a:tc>
                  <a:txBody>
                    <a:bodyPr/>
                    <a:lstStyle/>
                    <a:p>
                      <a:r>
                        <a:rPr sz="1200" b="0">
                          <a:solidFill>
                            <a:srgbClr val="1F2937"/>
                          </a:solidFill>
                        </a:rPr>
                        <a:t>sianid, spirt, strixnin, atropin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Zaharlar tasnifi (soddalashtirilgan)</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138–139, 138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Kislotalar va ishqorlar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Kislota to‘qimani suvsizlantirib, oqsilni ivitadi; ishqor oqsilni eritib, yog‘ni sovunlaydi.</a:t>
            </a:r>
          </a:p>
          <a:p>
            <a:pPr>
              <a:spcAft>
                <a:spcPts val="800"/>
              </a:spcAft>
            </a:pPr>
            <a:r>
              <a:rPr sz="1800">
                <a:solidFill>
                  <a:srgbClr val="1F2937"/>
                </a:solidFill>
                <a:latin typeface="Calibri"/>
              </a:rPr>
              <a:t>▸  Ishqordan chiqqan qon ivimaydi; kislotada esa qon ivishi va gemoliz kuzatiladi.</a:t>
            </a:r>
          </a:p>
          <a:p>
            <a:pPr>
              <a:spcAft>
                <a:spcPts val="800"/>
              </a:spcAft>
            </a:pPr>
            <a:r>
              <a:rPr sz="1800">
                <a:solidFill>
                  <a:srgbClr val="1F2937"/>
                </a:solidFill>
                <a:latin typeface="Calibri"/>
              </a:rPr>
              <a:t>▸  Diqqat: koagulyasion (quruq) nekroz ≠ kollikvatsion (yumshoq) nekroz — kislota va ishqor farqi.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184163"/>
                <a:gridCol w="2184163"/>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Kislota</a:t>
                      </a:r>
                    </a:p>
                  </a:txBody>
                  <a:tcPr marL="73152" marR="73152" marT="36576" marB="36576">
                    <a:solidFill>
                      <a:srgbClr val="0B1F3A"/>
                    </a:solidFill>
                  </a:tcPr>
                </a:tc>
                <a:tc>
                  <a:txBody>
                    <a:bodyPr/>
                    <a:lstStyle/>
                    <a:p>
                      <a:r>
                        <a:rPr sz="1300" b="1">
                          <a:solidFill>
                            <a:srgbClr val="FFFFFF"/>
                          </a:solidFill>
                        </a:rPr>
                        <a:t>Ishqor</a:t>
                      </a:r>
                    </a:p>
                  </a:txBody>
                  <a:tcPr marL="73152" marR="73152" marT="36576" marB="36576">
                    <a:solidFill>
                      <a:srgbClr val="0B1F3A"/>
                    </a:solidFill>
                  </a:tcPr>
                </a:tc>
              </a:tr>
              <a:tr h="411480">
                <a:tc>
                  <a:txBody>
                    <a:bodyPr/>
                    <a:lstStyle/>
                    <a:p>
                      <a:r>
                        <a:rPr sz="1200" b="0">
                          <a:solidFill>
                            <a:srgbClr val="1F2937"/>
                          </a:solidFill>
                        </a:rPr>
                        <a:t>Nekroz turi</a:t>
                      </a:r>
                    </a:p>
                  </a:txBody>
                  <a:tcPr marL="73152" marR="73152" marT="36576" marB="36576">
                    <a:solidFill>
                      <a:srgbClr val="E8EEF6"/>
                    </a:solidFill>
                  </a:tcPr>
                </a:tc>
                <a:tc>
                  <a:txBody>
                    <a:bodyPr/>
                    <a:lstStyle/>
                    <a:p>
                      <a:r>
                        <a:rPr sz="1200" b="0">
                          <a:solidFill>
                            <a:srgbClr val="1F2937"/>
                          </a:solidFill>
                        </a:rPr>
                        <a:t>Koagulyasion (quruq)</a:t>
                      </a:r>
                    </a:p>
                  </a:txBody>
                  <a:tcPr marL="73152" marR="73152" marT="36576" marB="36576">
                    <a:solidFill>
                      <a:srgbClr val="E8EEF6"/>
                    </a:solidFill>
                  </a:tcPr>
                </a:tc>
                <a:tc>
                  <a:txBody>
                    <a:bodyPr/>
                    <a:lstStyle/>
                    <a:p>
                      <a:r>
                        <a:rPr sz="1200" b="0">
                          <a:solidFill>
                            <a:srgbClr val="1F2937"/>
                          </a:solidFill>
                        </a:rPr>
                        <a:t>Kollikvatsion (oqsil suyulishi)</a:t>
                      </a:r>
                    </a:p>
                  </a:txBody>
                  <a:tcPr marL="73152" marR="73152" marT="36576" marB="36576">
                    <a:solidFill>
                      <a:srgbClr val="E8EEF6"/>
                    </a:solidFill>
                  </a:tcPr>
                </a:tc>
              </a:tr>
              <a:tr h="411480">
                <a:tc>
                  <a:txBody>
                    <a:bodyPr/>
                    <a:lstStyle/>
                    <a:p>
                      <a:r>
                        <a:rPr sz="1200" b="0">
                          <a:solidFill>
                            <a:srgbClr val="1F2937"/>
                          </a:solidFill>
                        </a:rPr>
                        <a:t>Ta’sir qiluvchi</a:t>
                      </a:r>
                    </a:p>
                  </a:txBody>
                  <a:tcPr marL="73152" marR="73152" marT="36576" marB="36576">
                    <a:solidFill>
                      <a:srgbClr val="FFFFFF"/>
                    </a:solidFill>
                  </a:tcPr>
                </a:tc>
                <a:tc>
                  <a:txBody>
                    <a:bodyPr/>
                    <a:lstStyle/>
                    <a:p>
                      <a:r>
                        <a:rPr sz="1200" b="0">
                          <a:solidFill>
                            <a:srgbClr val="1F2937"/>
                          </a:solidFill>
                        </a:rPr>
                        <a:t>Erkin vodorod ionlari</a:t>
                      </a:r>
                    </a:p>
                  </a:txBody>
                  <a:tcPr marL="73152" marR="73152" marT="36576" marB="36576">
                    <a:solidFill>
                      <a:srgbClr val="FFFFFF"/>
                    </a:solidFill>
                  </a:tcPr>
                </a:tc>
                <a:tc>
                  <a:txBody>
                    <a:bodyPr/>
                    <a:lstStyle/>
                    <a:p>
                      <a:r>
                        <a:rPr sz="1200" b="0">
                          <a:solidFill>
                            <a:srgbClr val="1F2937"/>
                          </a:solidFill>
                        </a:rPr>
                        <a:t>Gidroksil anionlari</a:t>
                      </a:r>
                    </a:p>
                  </a:txBody>
                  <a:tcPr marL="73152" marR="73152" marT="36576" marB="36576">
                    <a:solidFill>
                      <a:srgbClr val="FFFFFF"/>
                    </a:solidFill>
                  </a:tcPr>
                </a:tc>
              </a:tr>
              <a:tr h="411480">
                <a:tc>
                  <a:txBody>
                    <a:bodyPr/>
                    <a:lstStyle/>
                    <a:p>
                      <a:r>
                        <a:rPr sz="1200" b="0">
                          <a:solidFill>
                            <a:srgbClr val="1F2937"/>
                          </a:solidFill>
                        </a:rPr>
                        <a:t>To‘qima holati</a:t>
                      </a:r>
                    </a:p>
                  </a:txBody>
                  <a:tcPr marL="73152" marR="73152" marT="36576" marB="36576">
                    <a:solidFill>
                      <a:srgbClr val="E8EEF6"/>
                    </a:solidFill>
                  </a:tcPr>
                </a:tc>
                <a:tc>
                  <a:txBody>
                    <a:bodyPr/>
                    <a:lstStyle/>
                    <a:p>
                      <a:r>
                        <a:rPr sz="1200" b="0">
                          <a:solidFill>
                            <a:srgbClr val="1F2937"/>
                          </a:solidFill>
                        </a:rPr>
                        <a:t>Quruq, zich, qo‘ng‘ir strup</a:t>
                      </a:r>
                    </a:p>
                  </a:txBody>
                  <a:tcPr marL="73152" marR="73152" marT="36576" marB="36576">
                    <a:solidFill>
                      <a:srgbClr val="E8EEF6"/>
                    </a:solidFill>
                  </a:tcPr>
                </a:tc>
                <a:tc>
                  <a:txBody>
                    <a:bodyPr/>
                    <a:lstStyle/>
                    <a:p>
                      <a:r>
                        <a:rPr sz="1200" b="0">
                          <a:solidFill>
                            <a:srgbClr val="1F2937"/>
                          </a:solidFill>
                        </a:rPr>
                        <a:t>Yumshoq, sirpanuvchan, qo‘ng‘ir</a:t>
                      </a:r>
                    </a:p>
                  </a:txBody>
                  <a:tcPr marL="73152" marR="73152" marT="36576" marB="36576">
                    <a:solidFill>
                      <a:srgbClr val="E8EEF6"/>
                    </a:solidFill>
                  </a:tcPr>
                </a:tc>
              </a:tr>
              <a:tr h="411480">
                <a:tc>
                  <a:txBody>
                    <a:bodyPr/>
                    <a:lstStyle/>
                    <a:p>
                      <a:r>
                        <a:rPr sz="1200" b="0">
                          <a:solidFill>
                            <a:srgbClr val="1F2937"/>
                          </a:solidFill>
                        </a:rPr>
                        <a:t>Letal doza</a:t>
                      </a:r>
                    </a:p>
                  </a:txBody>
                  <a:tcPr marL="73152" marR="73152" marT="36576" marB="36576">
                    <a:solidFill>
                      <a:srgbClr val="FFFFFF"/>
                    </a:solidFill>
                  </a:tcPr>
                </a:tc>
                <a:tc>
                  <a:txBody>
                    <a:bodyPr/>
                    <a:lstStyle/>
                    <a:p>
                      <a:r>
                        <a:rPr sz="1200" b="0">
                          <a:solidFill>
                            <a:srgbClr val="1F2937"/>
                          </a:solidFill>
                        </a:rPr>
                        <a:t>Sulfat/nitrat 5–10 ml; xlorid 15–20 ml</a:t>
                      </a:r>
                    </a:p>
                  </a:txBody>
                  <a:tcPr marL="73152" marR="73152" marT="36576" marB="36576">
                    <a:solidFill>
                      <a:srgbClr val="FFFFFF"/>
                    </a:solidFill>
                  </a:tcPr>
                </a:tc>
                <a:tc>
                  <a:txBody>
                    <a:bodyPr/>
                    <a:lstStyle/>
                    <a:p>
                      <a:r>
                        <a:rPr sz="1200" b="0">
                          <a:solidFill>
                            <a:srgbClr val="1F2937"/>
                          </a:solidFill>
                        </a:rPr>
                        <a:t>Kaliy/natriy 10–15 g; ammoniy 25–40 ml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Kislota va ishqor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140; 142–143, 140; 143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Sirka, karbol kislotasi va boshqa o‘yuvchi 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Sirka kislotasi boshqa kislotalarga nisbatan kuchliroq gemolitik ta’sir ko‘rsatadi. Gemoliz gemoglobinuriyali nefrozga va o‘tkir buyrak yetishmovchiligiga olib keladi.</a:t>
            </a:r>
          </a:p>
          <a:p>
            <a:pPr>
              <a:spcAft>
                <a:spcPts val="1200"/>
              </a:spcAft>
            </a:pPr>
            <a:r>
              <a:rPr sz="2000">
                <a:solidFill>
                  <a:srgbClr val="1F2937"/>
                </a:solidFill>
                <a:latin typeface="Calibri"/>
              </a:rPr>
              <a:t>▸  Fenol (90% li eritmasi karbol kislotasi) og‘iz, nafas yo‘llari va butun teri orqali kiradi. U kuchli nerv-protoplazmatik zahar: koma va nafas markazi falaji rivojlanadi.</a:t>
            </a:r>
          </a:p>
          <a:p>
            <a:pPr>
              <a:spcAft>
                <a:spcPts val="1200"/>
              </a:spcAft>
            </a:pPr>
            <a:r>
              <a:rPr sz="2000">
                <a:solidFill>
                  <a:srgbClr val="1F2937"/>
                </a:solidFill>
                <a:latin typeface="Calibri"/>
              </a:rPr>
              <a:t>▸  Ammoniy gidroksidning (nashatir spirt) mahalliy ta’siri kuchsizroq. Qonga so‘rilgach u nafas markazini buzadi, murdadan ammiak hidi keladi.</a:t>
            </a:r>
          </a:p>
          <a:p>
            <a:pPr>
              <a:spcAft>
                <a:spcPts val="1200"/>
              </a:spcAft>
            </a:pPr>
            <a:r>
              <a:rPr sz="2000">
                <a:solidFill>
                  <a:srgbClr val="1F2937"/>
                </a:solidFill>
                <a:latin typeface="Calibri"/>
              </a:rPr>
              <a:t>▸  Formalinda shilliq qavatlar fiksatsiyalangan ko‘rinadi. Kaliy permanganatda jigarrang-qizg‘ish strup, vodorod peroksidda ko‘piklangan oqimtir shilliq, yodda qo‘ng‘ir strup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142, 143, 144-145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o‘yuvchi modda ichilgan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o‘z-o‘zini o‘ldirish maqsadida sirka essensiyasi ichilgan. Murdada og‘iz atrofida sarg‘ish-kulrang-qo‘ng‘ir, pergament zichlikdagi oqmalar va ichki a’zolardan o‘tkir sirka hidi topildi.</a:t>
            </a:r>
          </a:p>
          <a:p>
            <a:pPr>
              <a:spcAft>
                <a:spcPts val="1200"/>
              </a:spcAft>
            </a:pPr>
            <a:r>
              <a:rPr sz="2000">
                <a:solidFill>
                  <a:srgbClr val="1F2937"/>
                </a:solidFill>
                <a:latin typeface="Calibri"/>
              </a:rPr>
              <a:t>▸  Dastlabki soatlarda o‘lim ekzotoksik shok, hiqildoq shishi tufayli mexanik asfiksiya yoki ichki qon ketishdan bo‘lishi mumkin.</a:t>
            </a:r>
          </a:p>
          <a:p>
            <a:pPr>
              <a:spcAft>
                <a:spcPts val="1200"/>
              </a:spcAft>
            </a:pPr>
            <a:r>
              <a:rPr sz="2000">
                <a:solidFill>
                  <a:srgbClr val="1F2937"/>
                </a:solidFill>
                <a:latin typeface="Calibri"/>
              </a:rPr>
              <a:t>▸  Kech muddatda sabab: pnevmoniya, o‘tkir jigar-buyrak yetishmovchiligi, perforatsiyadan keyingi mediastenit yoki peritonit. Sirkada gemoliz tufayli buyrak yetishmovchiligi ham qo‘shiladi.</a:t>
            </a:r>
          </a:p>
          <a:p>
            <a:pPr>
              <a:spcAft>
                <a:spcPts val="1200"/>
              </a:spcAft>
            </a:pPr>
            <a:r>
              <a:rPr sz="2000">
                <a:solidFill>
                  <a:srgbClr val="1F2937"/>
                </a:solidFill>
                <a:latin typeface="Calibri"/>
              </a:rPr>
              <a:t>▸  Savol: nega erta va kech o‘lim sabablari farq qiladi? Sulfat kislotasida oshqozon shilliq qavati qanday bo‘ladi va u sirka kislotasidan nimasi bilan ajraladi?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140-142, 141-142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Destruktiv zaharlar: simob birikmalari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Sof simob erimagani uchun ichilganda zaharlamaydi. Mayda dispers va bug‘ holatida nafas yo‘llari orqali kuchli zaharlaydi. Sulema (simob dixlorid) suvda eriydi, kuchli protoplazmatik zahar.</a:t>
            </a:r>
          </a:p>
          <a:p>
            <a:pPr>
              <a:spcAft>
                <a:spcPts val="1200"/>
              </a:spcAft>
            </a:pPr>
            <a:r>
              <a:rPr sz="2000">
                <a:solidFill>
                  <a:srgbClr val="1F2937"/>
                </a:solidFill>
                <a:latin typeface="Calibri"/>
              </a:rPr>
              <a:t>▸  Sulema zaharlanishida: og‘izda stomatit va gingivit, yo‘g‘on ichakda difteritik yallig‘lanish (“sulema dizenteriyasi”), buyrakda toksik nekronefroz (“sulema buyragi”).</a:t>
            </a:r>
          </a:p>
          <a:p>
            <a:pPr>
              <a:spcAft>
                <a:spcPts val="1200"/>
              </a:spcAft>
            </a:pPr>
            <a:r>
              <a:rPr sz="2000">
                <a:solidFill>
                  <a:srgbClr val="1F2937"/>
                </a:solidFill>
                <a:latin typeface="Calibri"/>
              </a:rPr>
              <a:t>▸  Kalomel suvda yomon eriydi. Organik simob (granozan, merkuzan) odatda surunkali, neyrotoksik ta’sir qiladi: yashirin davr, ensefalopatiya, tremor; stomatit rivojlanmaydi.</a:t>
            </a:r>
          </a:p>
          <a:p>
            <a:pPr>
              <a:spcAft>
                <a:spcPts val="1200"/>
              </a:spcAft>
            </a:pPr>
            <a:r>
              <a:rPr sz="2000">
                <a:solidFill>
                  <a:srgbClr val="1F2937"/>
                </a:solidFill>
                <a:latin typeface="Calibri"/>
              </a:rPr>
              <a:t>▸  Simob miya, suyak va buyrakda to‘planadi, shuning uchun murdada bir necha o‘n yildan keyin ham aniqlanishi mumkin. Sulemaning letal dozasi 0,1-0,3 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145, 146, 146-147, 147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Qo‘rg‘oshin, talliy va margimush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Og‘ir metallar sulfgidril guruhlarini bog‘lab, fermentlarni inaktivlaydi va modda almashinuvini buzadi.</a:t>
            </a:r>
          </a:p>
          <a:p>
            <a:pPr>
              <a:spcAft>
                <a:spcPts val="800"/>
              </a:spcAft>
            </a:pPr>
            <a:r>
              <a:rPr sz="1800">
                <a:solidFill>
                  <a:srgbClr val="1F2937"/>
                </a:solidFill>
                <a:latin typeface="Calibri"/>
              </a:rPr>
              <a:t>▸  Talliy tuzlari osh tuziga o‘xshaydi; zaharlanish ko‘pincha baxtsiz hodisa, qotillik hollari ham bo‘lgan.</a:t>
            </a:r>
          </a:p>
          <a:p>
            <a:pPr>
              <a:spcAft>
                <a:spcPts val="800"/>
              </a:spcAft>
            </a:pPr>
            <a:r>
              <a:rPr sz="1800">
                <a:solidFill>
                  <a:srgbClr val="1F2937"/>
                </a:solidFill>
                <a:latin typeface="Calibri"/>
              </a:rPr>
              <a:t>▸  Margimush jigar, soch, timoq, suyakda to‘planadi va murdada yillar davomida saqlanadi.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289750"/>
                <a:gridCol w="2579500"/>
                <a:gridCol w="1418725"/>
              </a:tblGrid>
              <a:tr h="411480">
                <a:tc>
                  <a:txBody>
                    <a:bodyPr/>
                    <a:lstStyle/>
                    <a:p>
                      <a:r>
                        <a:rPr sz="1300" b="1">
                          <a:solidFill>
                            <a:srgbClr val="FFFFFF"/>
                          </a:solidFill>
                        </a:rPr>
                        <a:t>Zahar</a:t>
                      </a:r>
                    </a:p>
                  </a:txBody>
                  <a:tcPr marL="73152" marR="73152" marT="36576" marB="36576">
                    <a:solidFill>
                      <a:srgbClr val="0B1F3A"/>
                    </a:solidFill>
                  </a:tcPr>
                </a:tc>
                <a:tc>
                  <a:txBody>
                    <a:bodyPr/>
                    <a:lstStyle/>
                    <a:p>
                      <a:r>
                        <a:rPr sz="1300" b="1">
                          <a:solidFill>
                            <a:srgbClr val="FFFFFF"/>
                          </a:solidFill>
                        </a:rPr>
                        <a:t>Asosiy ta’sir</a:t>
                      </a:r>
                    </a:p>
                  </a:txBody>
                  <a:tcPr marL="73152" marR="73152" marT="36576" marB="36576">
                    <a:solidFill>
                      <a:srgbClr val="0B1F3A"/>
                    </a:solidFill>
                  </a:tcPr>
                </a:tc>
                <a:tc>
                  <a:txBody>
                    <a:bodyPr/>
                    <a:lstStyle/>
                    <a:p>
                      <a:r>
                        <a:rPr sz="1300" b="1">
                          <a:solidFill>
                            <a:srgbClr val="FFFFFF"/>
                          </a:solidFill>
                        </a:rPr>
                        <a:t>Letal doza</a:t>
                      </a:r>
                    </a:p>
                  </a:txBody>
                  <a:tcPr marL="73152" marR="73152" marT="36576" marB="36576">
                    <a:solidFill>
                      <a:srgbClr val="0B1F3A"/>
                    </a:solidFill>
                  </a:tcPr>
                </a:tc>
              </a:tr>
              <a:tr h="411480">
                <a:tc>
                  <a:txBody>
                    <a:bodyPr/>
                    <a:lstStyle/>
                    <a:p>
                      <a:r>
                        <a:rPr sz="1200" b="0">
                          <a:solidFill>
                            <a:srgbClr val="1F2937"/>
                          </a:solidFill>
                        </a:rPr>
                        <a:t>Qo‘rg‘oshin tuzlari</a:t>
                      </a:r>
                    </a:p>
                  </a:txBody>
                  <a:tcPr marL="73152" marR="73152" marT="36576" marB="36576">
                    <a:solidFill>
                      <a:srgbClr val="E8EEF6"/>
                    </a:solidFill>
                  </a:tcPr>
                </a:tc>
                <a:tc>
                  <a:txBody>
                    <a:bodyPr/>
                    <a:lstStyle/>
                    <a:p>
                      <a:r>
                        <a:rPr sz="1200" b="0">
                          <a:solidFill>
                            <a:srgbClr val="1F2937"/>
                          </a:solidFill>
                        </a:rPr>
                        <a:t>Fermentlar buziladi; nerv shikasti</a:t>
                      </a:r>
                    </a:p>
                  </a:txBody>
                  <a:tcPr marL="73152" marR="73152" marT="36576" marB="36576">
                    <a:solidFill>
                      <a:srgbClr val="E8EEF6"/>
                    </a:solidFill>
                  </a:tcPr>
                </a:tc>
                <a:tc>
                  <a:txBody>
                    <a:bodyPr/>
                    <a:lstStyle/>
                    <a:p>
                      <a:r>
                        <a:rPr sz="1200" b="0">
                          <a:solidFill>
                            <a:srgbClr val="1F2937"/>
                          </a:solidFill>
                        </a:rPr>
                        <a:t>Manbada ko‘rsatilmagan</a:t>
                      </a:r>
                    </a:p>
                  </a:txBody>
                  <a:tcPr marL="73152" marR="73152" marT="36576" marB="36576">
                    <a:solidFill>
                      <a:srgbClr val="E8EEF6"/>
                    </a:solidFill>
                  </a:tcPr>
                </a:tc>
              </a:tr>
              <a:tr h="411480">
                <a:tc>
                  <a:txBody>
                    <a:bodyPr/>
                    <a:lstStyle/>
                    <a:p>
                      <a:r>
                        <a:rPr sz="1200" b="0">
                          <a:solidFill>
                            <a:srgbClr val="1F2937"/>
                          </a:solidFill>
                        </a:rPr>
                        <a:t>Tetraetilqo‘rg‘oshin</a:t>
                      </a:r>
                    </a:p>
                  </a:txBody>
                  <a:tcPr marL="73152" marR="73152" marT="36576" marB="36576">
                    <a:solidFill>
                      <a:srgbClr val="FFFFFF"/>
                    </a:solidFill>
                  </a:tcPr>
                </a:tc>
                <a:tc>
                  <a:txBody>
                    <a:bodyPr/>
                    <a:lstStyle/>
                    <a:p>
                      <a:r>
                        <a:rPr sz="1200" b="0">
                          <a:solidFill>
                            <a:srgbClr val="1F2937"/>
                          </a:solidFill>
                        </a:rPr>
                        <a:t>Miya fermentlari bloki; psixoz, koma</a:t>
                      </a:r>
                    </a:p>
                  </a:txBody>
                  <a:tcPr marL="73152" marR="73152" marT="36576" marB="36576">
                    <a:solidFill>
                      <a:srgbClr val="FFFFFF"/>
                    </a:solidFill>
                  </a:tcPr>
                </a:tc>
                <a:tc>
                  <a:txBody>
                    <a:bodyPr/>
                    <a:lstStyle/>
                    <a:p>
                      <a:r>
                        <a:rPr sz="1200" b="0">
                          <a:solidFill>
                            <a:srgbClr val="1F2937"/>
                          </a:solidFill>
                        </a:rPr>
                        <a:t>10–15 ml</a:t>
                      </a:r>
                    </a:p>
                  </a:txBody>
                  <a:tcPr marL="73152" marR="73152" marT="36576" marB="36576">
                    <a:solidFill>
                      <a:srgbClr val="FFFFFF"/>
                    </a:solidFill>
                  </a:tcPr>
                </a:tc>
              </a:tr>
              <a:tr h="411480">
                <a:tc>
                  <a:txBody>
                    <a:bodyPr/>
                    <a:lstStyle/>
                    <a:p>
                      <a:r>
                        <a:rPr sz="1200" b="0">
                          <a:solidFill>
                            <a:srgbClr val="1F2937"/>
                          </a:solidFill>
                        </a:rPr>
                        <a:t>Talliy</a:t>
                      </a:r>
                    </a:p>
                  </a:txBody>
                  <a:tcPr marL="73152" marR="73152" marT="36576" marB="36576">
                    <a:solidFill>
                      <a:srgbClr val="E8EEF6"/>
                    </a:solidFill>
                  </a:tcPr>
                </a:tc>
                <a:tc>
                  <a:txBody>
                    <a:bodyPr/>
                    <a:lstStyle/>
                    <a:p>
                      <a:r>
                        <a:rPr sz="1200" b="0">
                          <a:solidFill>
                            <a:srgbClr val="1F2937"/>
                          </a:solidFill>
                        </a:rPr>
                        <a:t>Gastroenterit, alopetsiya, polineyropatiya</a:t>
                      </a:r>
                    </a:p>
                  </a:txBody>
                  <a:tcPr marL="73152" marR="73152" marT="36576" marB="36576">
                    <a:solidFill>
                      <a:srgbClr val="E8EEF6"/>
                    </a:solidFill>
                  </a:tcPr>
                </a:tc>
                <a:tc>
                  <a:txBody>
                    <a:bodyPr/>
                    <a:lstStyle/>
                    <a:p>
                      <a:r>
                        <a:rPr sz="1200" b="0">
                          <a:solidFill>
                            <a:srgbClr val="1F2937"/>
                          </a:solidFill>
                        </a:rPr>
                        <a:t>Manbada ko‘rsatilmagan</a:t>
                      </a:r>
                    </a:p>
                  </a:txBody>
                  <a:tcPr marL="73152" marR="73152" marT="36576" marB="36576">
                    <a:solidFill>
                      <a:srgbClr val="E8EEF6"/>
                    </a:solidFill>
                  </a:tcPr>
                </a:tc>
              </a:tr>
              <a:tr h="411480">
                <a:tc>
                  <a:txBody>
                    <a:bodyPr/>
                    <a:lstStyle/>
                    <a:p>
                      <a:r>
                        <a:rPr sz="1200" b="0">
                          <a:solidFill>
                            <a:srgbClr val="1F2937"/>
                          </a:solidFill>
                        </a:rPr>
                        <a:t>Margimush</a:t>
                      </a:r>
                    </a:p>
                  </a:txBody>
                  <a:tcPr marL="73152" marR="73152" marT="36576" marB="36576">
                    <a:solidFill>
                      <a:srgbClr val="FFFFFF"/>
                    </a:solidFill>
                  </a:tcPr>
                </a:tc>
                <a:tc>
                  <a:txBody>
                    <a:bodyPr/>
                    <a:lstStyle/>
                    <a:p>
                      <a:r>
                        <a:rPr sz="1200" b="0">
                          <a:solidFill>
                            <a:srgbClr val="1F2937"/>
                          </a:solidFill>
                        </a:rPr>
                        <a:t>Oshqozon-ichak va paralitik turlar</a:t>
                      </a:r>
                    </a:p>
                  </a:txBody>
                  <a:tcPr marL="73152" marR="73152" marT="36576" marB="36576">
                    <a:solidFill>
                      <a:srgbClr val="FFFFFF"/>
                    </a:solidFill>
                  </a:tcPr>
                </a:tc>
                <a:tc>
                  <a:txBody>
                    <a:bodyPr/>
                    <a:lstStyle/>
                    <a:p>
                      <a:r>
                        <a:rPr sz="1200" b="0">
                          <a:solidFill>
                            <a:srgbClr val="1F2937"/>
                          </a:solidFill>
                        </a:rPr>
                        <a:t>0,1–0,2 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Og‘ir metallar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145, 147, 149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og‘ir metall bilan surunkali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bemorda soch to‘kilishi, ataksiya, gastroenteritga xos belgilar va kuchli og‘riqli polineyropatiya aniqlandi; talliy zaharlanishi ehtimol.</a:t>
            </a:r>
          </a:p>
          <a:p>
            <a:pPr>
              <a:spcAft>
                <a:spcPts val="1200"/>
              </a:spcAft>
            </a:pPr>
            <a:r>
              <a:rPr sz="2200">
                <a:solidFill>
                  <a:srgbClr val="1F2937"/>
                </a:solidFill>
                <a:latin typeface="Calibri"/>
              </a:rPr>
              <a:t>▸  Og‘ir metall zaharlanishini aniqlash qiyin va diagnostik xatoga olib kelishi mumkin; anamnez, klinika va toksikologik natija hal qiluvchi.</a:t>
            </a:r>
          </a:p>
          <a:p>
            <a:pPr>
              <a:spcAft>
                <a:spcPts val="1200"/>
              </a:spcAft>
            </a:pPr>
            <a:r>
              <a:rPr sz="2200">
                <a:solidFill>
                  <a:srgbClr val="1F2937"/>
                </a:solidFill>
                <a:latin typeface="Calibri"/>
              </a:rPr>
              <a:t>▸  Diqqat: sochning to‘kilishi faqat talliyga xos emas — surunkali margimush zaharlanishida ham kuzatiladi. Margimush soch va timoqda to‘planadi.</a:t>
            </a:r>
          </a:p>
          <a:p>
            <a:pPr>
              <a:spcAft>
                <a:spcPts val="1200"/>
              </a:spcAft>
            </a:pPr>
            <a:r>
              <a:rPr sz="2200">
                <a:solidFill>
                  <a:srgbClr val="1F2937"/>
                </a:solidFill>
                <a:latin typeface="Calibri"/>
              </a:rPr>
              <a:t>▸  Savol: qaysi zahar ehtimol, nega faqat klinikaga tayanib bo‘lmaydi va qanday tekshiruv natijasi tasdiqlaydi?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148, 149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2-blok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zaharlar tasnifi qanday? Javob: asosan mahalliy va asosan umumiy ta’sir etuvchilar; umumiylari destruktiv, gemotrop va funksional zaharlarga bo‘linadi.</a:t>
            </a:r>
          </a:p>
          <a:p>
            <a:pPr>
              <a:spcAft>
                <a:spcPts val="1200"/>
              </a:spcAft>
            </a:pPr>
            <a:r>
              <a:rPr sz="2200">
                <a:solidFill>
                  <a:srgbClr val="1F2937"/>
                </a:solidFill>
                <a:latin typeface="Calibri"/>
              </a:rPr>
              <a:t>▸  Savol: kislota va ishqor nekrozi qanday farqlanadi? Javob: kislotada koagulyasion (quruq) nekroz, ishqorda kollikvatsion (yumshoq, sirpanuvchan) nekroz.</a:t>
            </a:r>
          </a:p>
          <a:p>
            <a:pPr>
              <a:spcAft>
                <a:spcPts val="1200"/>
              </a:spcAft>
            </a:pPr>
            <a:r>
              <a:rPr sz="2200">
                <a:solidFill>
                  <a:srgbClr val="1F2937"/>
                </a:solidFill>
                <a:latin typeface="Calibri"/>
              </a:rPr>
              <a:t>▸  Savol: margimushning o‘tkir zaharlanishida qanday turlar bor? Javob: oshqozon-ichak va paralitik turlar; letal doza 0,1–0,2 g.</a:t>
            </a:r>
          </a:p>
          <a:p>
            <a:pPr>
              <a:spcAft>
                <a:spcPts val="1200"/>
              </a:spcAft>
            </a:pPr>
            <a:r>
              <a:rPr sz="2200">
                <a:solidFill>
                  <a:srgbClr val="1F2937"/>
                </a:solidFill>
                <a:latin typeface="Calibri"/>
              </a:rPr>
              <a:t>▸  Diqqat: sulema ≠ kalomel. Sulema suvda yaxshi eriydi, letal dozasi 0,1–0,3 g; kalomel suvda yaxshi erimaydi, letal dozasi 2,0–3,0 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138–139, 140, 143, 148, 145–147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 gazi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 gazi organik moddalar to‘liq yonmaganda hosil bo‘ladi, rangsiz va hidsiz.</a:t>
            </a:r>
          </a:p>
          <a:p>
            <a:pPr>
              <a:spcAft>
                <a:spcPts val="800"/>
              </a:spcAft>
            </a:pPr>
            <a:r>
              <a:rPr sz="1800">
                <a:solidFill>
                  <a:srgbClr val="1F2937"/>
                </a:solidFill>
                <a:latin typeface="Calibri"/>
              </a:rPr>
              <a:t>▸  Belgilar karboksigemoglobin 25-30% dan oshganda boshlanadi; 60% dan oshsa nafas markazi falajlanadi.</a:t>
            </a:r>
          </a:p>
          <a:p>
            <a:pPr>
              <a:spcAft>
                <a:spcPts val="800"/>
              </a:spcAft>
            </a:pPr>
            <a:r>
              <a:rPr sz="1800">
                <a:solidFill>
                  <a:srgbClr val="1F2937"/>
                </a:solidFill>
                <a:latin typeface="Calibri"/>
              </a:rPr>
              <a:t>▸  Havoda 1% dan ortiq bo‘lsa yashinsimon shakl: hush yo‘qolib, bir necha soniyada o‘lim.</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 gazi + gemoglobin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Turg‘un karboksigemoglobin</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Kislorod tashish buziladi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Gipoksiya, sitoxromlar susayadi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Koma, nafas markazi falaji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Patogenez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 gazi sinamalari va metgemoglobin zaharlari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Goppe-Zeyler (ishqor) va Libman (formaldegid) sinamalarida normal qon qo‘ng‘ir-qora tusga kiradi. Karboksigemoglobinli qonning rangi o‘zgarmaydi.</a:t>
            </a:r>
          </a:p>
          <a:p>
            <a:pPr>
              <a:spcAft>
                <a:spcPts val="1200"/>
              </a:spcAft>
            </a:pPr>
            <a:r>
              <a:rPr sz="2000">
                <a:solidFill>
                  <a:srgbClr val="1F2937"/>
                </a:solidFill>
                <a:latin typeface="Calibri"/>
              </a:rPr>
              <a:t>▸  Spektroskopiyada oksi- va karboksigemoglobinda ikki yutish yo‘lagi bor. Natriy gidrosulfit qo‘shilsa normal qonda u bittaga aylanadi, karboksigemoglobinli qonda o‘zgarmaydi.</a:t>
            </a:r>
          </a:p>
          <a:p>
            <a:pPr>
              <a:spcAft>
                <a:spcPts val="1200"/>
              </a:spcAft>
            </a:pPr>
            <a:r>
              <a:rPr sz="2000">
                <a:solidFill>
                  <a:srgbClr val="1F2937"/>
                </a:solidFill>
                <a:latin typeface="Calibri"/>
              </a:rPr>
              <a:t>▸  Metgemoglobin zaharlari: nitrit va nitratlar, nitrobenzol, anilin, Bertole tuzi, gidroxinon. Metgemoglobinda uch valentli temir kislorodni tashimaydi.</a:t>
            </a:r>
          </a:p>
          <a:p>
            <a:pPr>
              <a:spcAft>
                <a:spcPts val="1200"/>
              </a:spcAft>
            </a:pPr>
            <a:r>
              <a:rPr sz="2000">
                <a:solidFill>
                  <a:srgbClr val="1F2937"/>
                </a:solidFill>
                <a:latin typeface="Calibri"/>
              </a:rPr>
              <a:t>▸  Belgilar metgemoglobin 30% dan oshganda boshlanadi, 70% dan oshsa o‘lim. Murda dog‘lari ko‘kimtir-kulrang yoki qo‘ng‘ir; nitrobenzolda achchiq bodom hidi.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151, 152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yong‘in va nosoz pechka holati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Yong‘in yoki nosoz pech ishlagan yopiq joyda murda topildi: murda dog‘lari, mushak va suyuq qon pushti-qizg‘ish.</a:t>
            </a:r>
          </a:p>
          <a:p>
            <a:pPr>
              <a:spcAft>
                <a:spcPts val="1200"/>
              </a:spcAft>
            </a:pPr>
            <a:r>
              <a:rPr sz="2200">
                <a:solidFill>
                  <a:srgbClr val="1F2937"/>
                </a:solidFill>
                <a:latin typeface="Calibri"/>
              </a:rPr>
              <a:t>▸  Tezkor sinamada qonning rangi o‘zgarmadi. Tasdiqlash uchun karboksigemoglobinning miqdoriy spektrofotometrik tekshiruvi zarur.</a:t>
            </a:r>
          </a:p>
          <a:p>
            <a:pPr>
              <a:spcAft>
                <a:spcPts val="1200"/>
              </a:spcAft>
            </a:pPr>
            <a:r>
              <a:rPr sz="2200">
                <a:solidFill>
                  <a:srgbClr val="1F2937"/>
                </a:solidFill>
                <a:latin typeface="Calibri"/>
              </a:rPr>
              <a:t>▸  Go‘daklar kattalardan chidamliroq. Tez o‘lim yoki toza havoda bo‘lish natijani pasaytirishi mumkin, shuning uchun qon namunasi imkon qadar erta olinadi.</a:t>
            </a:r>
          </a:p>
          <a:p>
            <a:pPr>
              <a:spcAft>
                <a:spcPts val="1200"/>
              </a:spcAft>
            </a:pPr>
            <a:r>
              <a:rPr sz="2200">
                <a:solidFill>
                  <a:srgbClr val="1F2937"/>
                </a:solidFill>
                <a:latin typeface="Calibri"/>
              </a:rPr>
              <a:t>▸  Savol: qonda karboksigemoglobin past chiqdi. Is gazi bilan zaharlanishni inkor etish mumkinmi va nima uchun?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150-151, 151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Funksional zaharlar: sianid, sulfid, fosfororganik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Sian anioni hujayra nafas fermenti sitoxromoksidazadagi temirni bog‘laydi. Qonda kislorod yetarli bo‘lsa ham to‘qima gipoksiyasi vujudga keladi.</a:t>
            </a:r>
          </a:p>
          <a:p>
            <a:pPr>
              <a:spcAft>
                <a:spcPts val="1200"/>
              </a:spcAft>
            </a:pPr>
            <a:r>
              <a:rPr sz="2200">
                <a:solidFill>
                  <a:srgbClr val="1F2937"/>
                </a:solidFill>
                <a:latin typeface="Calibri"/>
              </a:rPr>
              <a:t>▸  Sianid zaharlanishida murda dog‘lari olcha rang-qizg‘ish, bo‘shliqlardan achchiq bodom hidi keladi. Hid uchuvchanligi tufayli tez yo‘qolishi mumkin.</a:t>
            </a:r>
          </a:p>
          <a:p>
            <a:pPr>
              <a:spcAft>
                <a:spcPts val="1200"/>
              </a:spcAft>
            </a:pPr>
            <a:r>
              <a:rPr sz="2200">
                <a:solidFill>
                  <a:srgbClr val="1F2937"/>
                </a:solidFill>
                <a:latin typeface="Calibri"/>
              </a:rPr>
              <a:t>▸  Vodorod sulfid ham sitoxromoksidazadagi temirni bog‘laydi. Murdada palag‘da tuxum hidi seziladi, qon va ichki a’zolar olcha rang-qizil bo‘ladi.</a:t>
            </a:r>
          </a:p>
          <a:p>
            <a:pPr>
              <a:spcAft>
                <a:spcPts val="1200"/>
              </a:spcAft>
            </a:pPr>
            <a:r>
              <a:rPr sz="2200">
                <a:solidFill>
                  <a:srgbClr val="1F2937"/>
                </a:solidFill>
                <a:latin typeface="Calibri"/>
              </a:rPr>
              <a:t>▸  Fosfororganik birikmalar xolinesterazani so‘ndirib, atsetilxolin to‘planishiga olib keladi. Murdada qorachiqlar torayadi, mushak qotishi tez va kuchli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153, 154, 154, 155, 155, 156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 toksikokinetika va mastlik darajalari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Rezorbsiya davri 1–2 soat, so‘ng eliminatsiya. Metabolizm ikki bosqichli: atsetaldegid, keyin sirka kislotasi.</a:t>
            </a:r>
          </a:p>
          <a:p>
            <a:pPr>
              <a:spcAft>
                <a:spcPts val="800"/>
              </a:spcAft>
            </a:pPr>
            <a:r>
              <a:rPr sz="1800">
                <a:solidFill>
                  <a:srgbClr val="1F2937"/>
                </a:solidFill>
                <a:latin typeface="Calibri"/>
              </a:rPr>
              <a:t>▸  Rappoport sinamasi: sulfat kislota va kaliy permanganatning pushti rangi alkogol bo‘lsa yo‘qoladi.</a:t>
            </a:r>
          </a:p>
          <a:p>
            <a:pPr>
              <a:spcAft>
                <a:spcPts val="800"/>
              </a:spcAft>
            </a:pPr>
            <a:r>
              <a:rPr sz="1800">
                <a:solidFill>
                  <a:srgbClr val="1F2937"/>
                </a:solidFill>
                <a:latin typeface="Calibri"/>
              </a:rPr>
              <a:t>▸  Vidmark–Balyakin formulasi: A = R·r·(Ct + pT). Reduksiya omili erkakda o‘rtacha 0,68, ayolda 0,55.</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90594"/>
                <a:gridCol w="3197380"/>
              </a:tblGrid>
              <a:tr h="411480">
                <a:tc>
                  <a:txBody>
                    <a:bodyPr/>
                    <a:lstStyle/>
                    <a:p>
                      <a:r>
                        <a:rPr sz="1400" b="1">
                          <a:solidFill>
                            <a:srgbClr val="FFFFFF"/>
                          </a:solidFill>
                        </a:rPr>
                        <a:t>Promille</a:t>
                      </a:r>
                    </a:p>
                  </a:txBody>
                  <a:tcPr marL="73152" marR="73152" marT="36576" marB="36576">
                    <a:solidFill>
                      <a:srgbClr val="0B1F3A"/>
                    </a:solidFill>
                  </a:tcPr>
                </a:tc>
                <a:tc>
                  <a:txBody>
                    <a:bodyPr/>
                    <a:lstStyle/>
                    <a:p>
                      <a:r>
                        <a:rPr sz="1400" b="1">
                          <a:solidFill>
                            <a:srgbClr val="FFFFFF"/>
                          </a:solidFill>
                        </a:rPr>
                        <a:t>Baho</a:t>
                      </a:r>
                    </a:p>
                  </a:txBody>
                  <a:tcPr marL="73152" marR="73152" marT="36576" marB="36576">
                    <a:solidFill>
                      <a:srgbClr val="0B1F3A"/>
                    </a:solidFill>
                  </a:tcPr>
                </a:tc>
              </a:tr>
              <a:tr h="411480">
                <a:tc>
                  <a:txBody>
                    <a:bodyPr/>
                    <a:lstStyle/>
                    <a:p>
                      <a:r>
                        <a:rPr sz="1300" b="0">
                          <a:solidFill>
                            <a:srgbClr val="1F2937"/>
                          </a:solidFill>
                        </a:rPr>
                        <a:t>0,5 dan 1,5 gacha</a:t>
                      </a:r>
                    </a:p>
                  </a:txBody>
                  <a:tcPr marL="73152" marR="73152" marT="36576" marB="36576">
                    <a:solidFill>
                      <a:srgbClr val="E8EEF6"/>
                    </a:solidFill>
                  </a:tcPr>
                </a:tc>
                <a:tc>
                  <a:txBody>
                    <a:bodyPr/>
                    <a:lstStyle/>
                    <a:p>
                      <a:r>
                        <a:rPr sz="1300" b="0">
                          <a:solidFill>
                            <a:srgbClr val="1F2937"/>
                          </a:solidFill>
                        </a:rPr>
                        <a:t>Yengil mastlik</a:t>
                      </a:r>
                    </a:p>
                  </a:txBody>
                  <a:tcPr marL="73152" marR="73152" marT="36576" marB="36576">
                    <a:solidFill>
                      <a:srgbClr val="E8EEF6"/>
                    </a:solidFill>
                  </a:tcPr>
                </a:tc>
              </a:tr>
              <a:tr h="411480">
                <a:tc>
                  <a:txBody>
                    <a:bodyPr/>
                    <a:lstStyle/>
                    <a:p>
                      <a:r>
                        <a:rPr sz="1300" b="0">
                          <a:solidFill>
                            <a:srgbClr val="1F2937"/>
                          </a:solidFill>
                        </a:rPr>
                        <a:t>1,5 dan 2,5 gacha</a:t>
                      </a:r>
                    </a:p>
                  </a:txBody>
                  <a:tcPr marL="73152" marR="73152" marT="36576" marB="36576">
                    <a:solidFill>
                      <a:srgbClr val="FFFFFF"/>
                    </a:solidFill>
                  </a:tcPr>
                </a:tc>
                <a:tc>
                  <a:txBody>
                    <a:bodyPr/>
                    <a:lstStyle/>
                    <a:p>
                      <a:r>
                        <a:rPr sz="1300" b="0">
                          <a:solidFill>
                            <a:srgbClr val="1F2937"/>
                          </a:solidFill>
                        </a:rPr>
                        <a:t>O‘rta darajali mastlik</a:t>
                      </a:r>
                    </a:p>
                  </a:txBody>
                  <a:tcPr marL="73152" marR="73152" marT="36576" marB="36576">
                    <a:solidFill>
                      <a:srgbClr val="FFFFFF"/>
                    </a:solidFill>
                  </a:tcPr>
                </a:tc>
              </a:tr>
              <a:tr h="411480">
                <a:tc>
                  <a:txBody>
                    <a:bodyPr/>
                    <a:lstStyle/>
                    <a:p>
                      <a:r>
                        <a:rPr sz="1300" b="0">
                          <a:solidFill>
                            <a:srgbClr val="1F2937"/>
                          </a:solidFill>
                        </a:rPr>
                        <a:t>2,5 dan 3,0 gacha</a:t>
                      </a:r>
                    </a:p>
                  </a:txBody>
                  <a:tcPr marL="73152" marR="73152" marT="36576" marB="36576">
                    <a:solidFill>
                      <a:srgbClr val="E8EEF6"/>
                    </a:solidFill>
                  </a:tcPr>
                </a:tc>
                <a:tc>
                  <a:txBody>
                    <a:bodyPr/>
                    <a:lstStyle/>
                    <a:p>
                      <a:r>
                        <a:rPr sz="1300" b="0">
                          <a:solidFill>
                            <a:srgbClr val="1F2937"/>
                          </a:solidFill>
                        </a:rPr>
                        <a:t>Kuchli mastlik</a:t>
                      </a:r>
                    </a:p>
                  </a:txBody>
                  <a:tcPr marL="73152" marR="73152" marT="36576" marB="36576">
                    <a:solidFill>
                      <a:srgbClr val="E8EEF6"/>
                    </a:solidFill>
                  </a:tcPr>
                </a:tc>
              </a:tr>
              <a:tr h="411480">
                <a:tc>
                  <a:txBody>
                    <a:bodyPr/>
                    <a:lstStyle/>
                    <a:p>
                      <a:r>
                        <a:rPr sz="1300" b="0">
                          <a:solidFill>
                            <a:srgbClr val="1F2937"/>
                          </a:solidFill>
                        </a:rPr>
                        <a:t>3,0 dan yuqori</a:t>
                      </a:r>
                    </a:p>
                  </a:txBody>
                  <a:tcPr marL="73152" marR="73152" marT="36576" marB="36576">
                    <a:solidFill>
                      <a:srgbClr val="FFFFFF"/>
                    </a:solidFill>
                  </a:tcPr>
                </a:tc>
                <a:tc>
                  <a:txBody>
                    <a:bodyPr/>
                    <a:lstStyle/>
                    <a:p>
                      <a:r>
                        <a:rPr sz="1300" b="0">
                          <a:solidFill>
                            <a:srgbClr val="1F2937"/>
                          </a:solidFill>
                        </a:rPr>
                        <a:t>Zaharlanish deb baholanadi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Mastlik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157, 158, 159, 160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Metanol, etilenglikol va spirt surrogatlari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Metanolda qisqa kuchsiz mastlikdan so‘ng yashirin bosqich (bir necha soatdan kungacha) keladi, keyin ahvol yomonlashadi. Letal doza 30–100 ml.</a:t>
            </a:r>
          </a:p>
          <a:p>
            <a:pPr>
              <a:spcAft>
                <a:spcPts val="1200"/>
              </a:spcAft>
            </a:pPr>
            <a:r>
              <a:rPr sz="2200">
                <a:solidFill>
                  <a:srgbClr val="1F2937"/>
                </a:solidFill>
                <a:latin typeface="Calibri"/>
              </a:rPr>
              <a:t>▸  Metanol metabolitlari (formaldegid, chumoli kislotasi) atsidoz chaqiradi. Ko‘rish susayib, to‘liq yo‘qolishi mumkin; o‘lim ko‘pincha 2–3 kunda. (?)</a:t>
            </a:r>
          </a:p>
          <a:p>
            <a:pPr>
              <a:spcAft>
                <a:spcPts val="1200"/>
              </a:spcAft>
            </a:pPr>
            <a:r>
              <a:rPr sz="2200">
                <a:solidFill>
                  <a:srgbClr val="1F2937"/>
                </a:solidFill>
                <a:latin typeface="Calibri"/>
              </a:rPr>
              <a:t>▸  Etilenglikol zaharlanishi to‘rt bosqichli: mastlik, qisqa yashirin davr, markaziy nerv tizimi shikastlanishi, jigar va buyrak shikastlanishi. Letal doza 100–200 ml.</a:t>
            </a:r>
          </a:p>
          <a:p>
            <a:pPr>
              <a:spcAft>
                <a:spcPts val="1200"/>
              </a:spcAft>
            </a:pPr>
            <a:r>
              <a:rPr sz="2200">
                <a:solidFill>
                  <a:srgbClr val="1F2937"/>
                </a:solidFill>
                <a:latin typeface="Calibri"/>
              </a:rPr>
              <a:t>▸  Propil, butil, amil spirtlari bosh miya va buyrakka toksik: letal doza 300, 200–250 va 20–30 ml. Tetraetilqo‘rg‘oshinniki 10–15 ml.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161, 162, 163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Uyqu dorilari, strixnin va nerv zaharlari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Barbituratlar MNT (markaziy nerv tizimi) faoliyatini so‘ndiradi va qon tomirlar o‘tkazuvchanligini oshiradi. Chuqur uyqu, bosim va harorat pasayishi, koma kuzatiladi; o‘lim nafas markazi falajidan.</a:t>
            </a:r>
          </a:p>
          <a:p>
            <a:pPr>
              <a:spcAft>
                <a:spcPts val="1200"/>
              </a:spcAft>
            </a:pPr>
            <a:r>
              <a:rPr sz="2000">
                <a:solidFill>
                  <a:srgbClr val="1F2937"/>
                </a:solidFill>
                <a:latin typeface="Calibri"/>
              </a:rPr>
              <a:t>▸  Murdada uyqu dorilariga xos o‘zgarish topilmaydi, oshqozonda tabletka qoldig‘i bo‘lishi mumkin. Terapevtik doza ehtimoli uchun sifat va miqdoriy sud-kimyoviy tekshiruv zarur.</a:t>
            </a:r>
          </a:p>
          <a:p>
            <a:pPr>
              <a:spcAft>
                <a:spcPts val="1200"/>
              </a:spcAft>
            </a:pPr>
            <a:r>
              <a:rPr sz="2000">
                <a:solidFill>
                  <a:srgbClr val="1F2937"/>
                </a:solidFill>
                <a:latin typeface="Calibri"/>
              </a:rPr>
              <a:t>▸  Strixnin tonik talvasa va opistotonus (yoysimon tana) chaqiradi, hush saqlanadi. Kattalarda letal doza 0,1-0,3 g, kichik bolalarda 0,005 g; murdada mushak qotishi tez va kuchli.</a:t>
            </a:r>
          </a:p>
          <a:p>
            <a:pPr>
              <a:spcAft>
                <a:spcPts val="1200"/>
              </a:spcAft>
            </a:pPr>
            <a:r>
              <a:rPr sz="2000">
                <a:solidFill>
                  <a:srgbClr val="1F2937"/>
                </a:solidFill>
                <a:latin typeface="Calibri"/>
              </a:rPr>
              <a:t>▸  Atropinda qorachiq kengayadi, og‘iz quriydi, alahsirash bo‘ladi; pilokarpinda qorachiq torayadi, ter va so‘lak ko‘payadi. Paxikarpin va miorelaksantlarda murdada xos belgi yo‘q, sud-kimyo hal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163-164, 164, 165, 166-167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bolada dori yoki o‘simlikdan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bolaga ichimlik bilan dori berilgan; bosh aylanishi, keskin holsizlik, uyquchanlik, bradikardiya, bosim pasayishi. Bolalarda klofelinning 0,004 g va undan kam dozasi ham o‘limga olib kelishi mumkin.</a:t>
            </a:r>
          </a:p>
          <a:p>
            <a:pPr>
              <a:spcAft>
                <a:spcPts val="1200"/>
              </a:spcAft>
            </a:pPr>
            <a:r>
              <a:rPr sz="2000">
                <a:solidFill>
                  <a:srgbClr val="1F2937"/>
                </a:solidFill>
                <a:latin typeface="Calibri"/>
              </a:rPr>
              <a:t>▸  Boshqa variant: yuz qizargan, og‘iz quruq, qorachiq keng, alahsirash bor — atropin belgilari. Oshqozonda o‘simlik qoldig‘i topilsa, botanik tekshiruv o‘tkaziladi.</a:t>
            </a:r>
          </a:p>
          <a:p>
            <a:pPr>
              <a:spcAft>
                <a:spcPts val="1200"/>
              </a:spcAft>
            </a:pPr>
            <a:r>
              <a:rPr sz="2000">
                <a:solidFill>
                  <a:srgbClr val="1F2937"/>
                </a:solidFill>
                <a:latin typeface="Calibri"/>
              </a:rPr>
              <a:t>▸  Strixnindan bolalar ayniqsa sezgir, letal doza 0,005 g. Nur, tovush yoki tanaga tegish ham yangi talvasa xurujini chaqiradi; murdada mushak qotishi kuchli rivojlanadi.</a:t>
            </a:r>
          </a:p>
          <a:p>
            <a:pPr>
              <a:spcAft>
                <a:spcPts val="1200"/>
              </a:spcAft>
            </a:pPr>
            <a:r>
              <a:rPr sz="2000">
                <a:solidFill>
                  <a:srgbClr val="1F2937"/>
                </a:solidFill>
                <a:latin typeface="Calibri"/>
              </a:rPr>
              <a:t>▸  Savol: bu uch zaharni klinik belgilar bilan qanday farqlaysiz va tekshiruvga qaysi namunalar (qon, siydik, oshqozon yuvmasi, o‘simlik qoldig‘i) olinadi?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167, 166, 165, 180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3-blok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1-savol: Is gazida murda dog‘lari va qon qanday rangda? Javob: pushti-qizg‘ish, chunki karboksigemoglobin va karboksimioglobin shu rangga ega.</a:t>
            </a:r>
          </a:p>
          <a:p>
            <a:pPr>
              <a:spcAft>
                <a:spcPts val="1200"/>
              </a:spcAft>
            </a:pPr>
            <a:r>
              <a:rPr sz="2000">
                <a:solidFill>
                  <a:srgbClr val="1F2937"/>
                </a:solidFill>
                <a:latin typeface="Calibri"/>
              </a:rPr>
              <a:t>▸  2-savol: Is gazida belgilar va o‘lim qaysi karboksigemoglobin darajasida? Javob: 25-30% dan belgilar boshlanadi, 60% dan oshsa nafas markazi falajlanadi.</a:t>
            </a:r>
          </a:p>
          <a:p>
            <a:pPr>
              <a:spcAft>
                <a:spcPts val="1200"/>
              </a:spcAft>
            </a:pPr>
            <a:r>
              <a:rPr sz="2000">
                <a:solidFill>
                  <a:srgbClr val="1F2937"/>
                </a:solidFill>
                <a:latin typeface="Calibri"/>
              </a:rPr>
              <a:t>▸  3-savol: Funksional zaharlarda murdada nima kutiladi? Javob: odatda aniq morfologik o‘zgarish bo‘lmaydi; tashxis voqea tafsiloti, klinika va laboratoriyaga tayanadi.</a:t>
            </a:r>
          </a:p>
          <a:p>
            <a:pPr>
              <a:spcAft>
                <a:spcPts val="1200"/>
              </a:spcAft>
            </a:pPr>
            <a:r>
              <a:rPr sz="2000">
                <a:solidFill>
                  <a:srgbClr val="1F2937"/>
                </a:solidFill>
                <a:latin typeface="Calibri"/>
              </a:rPr>
              <a:t>▸  Diqqat: etanol ≠ metanol. Etanol atsetaldegid va sirka kislotasiga aylanadi; metanol formaldegid va chumoli kislotasiga aylanadi, bu metabolitlar kuchli toksik va atsidoz chaqiradi.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151, 150, 153, 157, 161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 vositalar va psixotrop 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Moddalar tabiiy (nasha, morfin, kokain), yarim sintetik (geroin) va sintetik (amfetamin) bo‘ladi. Opiatlar va nasha tinchlantiradi, kokain va amfetaminlar qo‘zg‘atadi.</a:t>
            </a:r>
          </a:p>
          <a:p>
            <a:pPr>
              <a:spcAft>
                <a:spcPts val="1200"/>
              </a:spcAft>
            </a:pPr>
            <a:r>
              <a:rPr sz="2000">
                <a:solidFill>
                  <a:srgbClr val="1F2937"/>
                </a:solidFill>
                <a:latin typeface="Calibri"/>
              </a:rPr>
              <a:t>▸  Opiatlardan o‘lim nafas olish markazi falajidan bo‘ladi; morfin murdada uzoq parchalanmaydi. Nasha tez parchalanadi, spayslar esa nashadan kuchliroq ta’sir qiladi.</a:t>
            </a:r>
          </a:p>
          <a:p>
            <a:pPr>
              <a:spcAft>
                <a:spcPts val="1200"/>
              </a:spcAft>
            </a:pPr>
            <a:r>
              <a:rPr sz="2000">
                <a:solidFill>
                  <a:srgbClr val="1F2937"/>
                </a:solidFill>
                <a:latin typeface="Calibri"/>
              </a:rPr>
              <a:t>▸  DRD (drug related death) — narkotiklar bilan bog‘liq o‘lim: katta dozadan zaharlanish, uzoq qabul oqibati, o‘z-o‘zini o‘ldirish, baxtsiz hodisa va qotillik.</a:t>
            </a:r>
          </a:p>
          <a:p>
            <a:pPr>
              <a:spcAft>
                <a:spcPts val="1200"/>
              </a:spcAft>
            </a:pPr>
            <a:r>
              <a:rPr sz="2000">
                <a:solidFill>
                  <a:srgbClr val="1F2937"/>
                </a:solidFill>
                <a:latin typeface="Calibri"/>
              </a:rPr>
              <a:t>▸  Takroran qabul qilinganda tolerantlik, ruhiy-jismoniy bog‘liqlik va abstinensiya sindromi rivojlanadi. Prekursorlar (masalan, kaliy permanganat) ro‘yxati nazoratda.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167-168, 169-170, 168, 170-171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narkotik iste’moli gumon qilingan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Murdada venalar bo‘ylab turli muddatli mayda yaralar va chandiqlar, ozg‘inlik, terida shprits shaklidagi tatirovka topildi.</a:t>
            </a:r>
          </a:p>
          <a:p>
            <a:pPr>
              <a:spcAft>
                <a:spcPts val="1200"/>
              </a:spcAft>
            </a:pPr>
            <a:r>
              <a:rPr sz="2200">
                <a:solidFill>
                  <a:srgbClr val="1F2937"/>
                </a:solidFill>
                <a:latin typeface="Calibri"/>
              </a:rPr>
              <a:t>▸  Diqqat: bu belgilar bilvosita dalil, iste’molni qat’iy isbotlamaydi; ular voqea tafsiloti, klinika va asosan sud-kimyo bilan baholanadi.</a:t>
            </a:r>
          </a:p>
          <a:p>
            <a:pPr>
              <a:spcAft>
                <a:spcPts val="1200"/>
              </a:spcAft>
            </a:pPr>
            <a:r>
              <a:rPr sz="2200">
                <a:solidFill>
                  <a:srgbClr val="1F2937"/>
                </a:solidFill>
                <a:latin typeface="Calibri"/>
              </a:rPr>
              <a:t>▸  Tirik shaxsdan 15-20 ml qon va kamida 200 ml siydik olinadi. Siydikda geroin 2-6 soatdan keyin 24-72 soat, kannabinoidlar 1-3 soatdan keyin 24-168 soat aniqlanadi.</a:t>
            </a:r>
          </a:p>
          <a:p>
            <a:pPr>
              <a:spcAft>
                <a:spcPts val="1200"/>
              </a:spcAft>
            </a:pPr>
            <a:r>
              <a:rPr sz="2200">
                <a:solidFill>
                  <a:srgbClr val="1F2937"/>
                </a:solidFill>
                <a:latin typeface="Calibri"/>
              </a:rPr>
              <a:t>▸  Savol: faqat shu belgilarga tayanib «narkotikdan zaharlanib o‘lgan» deb xulosa qilish mumkinmi? Qaysi tekshiruv hal qiluvchi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172, 171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Ovqatdan zaharlanish tasnifi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Ovqat tarkibidagi omil — ovqatdan zaharlanish; tashqaridan qo‘shilgan zahar bunga kirmaydi.</a:t>
            </a:r>
          </a:p>
          <a:p>
            <a:pPr>
              <a:spcAft>
                <a:spcPts val="800"/>
              </a:spcAft>
            </a:pPr>
            <a:r>
              <a:rPr sz="1800">
                <a:solidFill>
                  <a:srgbClr val="1F2937"/>
                </a:solidFill>
                <a:latin typeface="Calibri"/>
              </a:rPr>
              <a:t>▸  Botulizm — intoksikatsiya: konservalarda anaerob mikroblar toksini; o‘lim odatda nafas markazi falajidan.</a:t>
            </a:r>
          </a:p>
          <a:p>
            <a:pPr>
              <a:spcAft>
                <a:spcPts val="800"/>
              </a:spcAft>
            </a:pPr>
            <a:r>
              <a:rPr sz="1800">
                <a:solidFill>
                  <a:srgbClr val="1F2937"/>
                </a:solidFill>
                <a:latin typeface="Calibri"/>
              </a:rPr>
              <a:t>▸  Qo‘ziqorinlar: blednaya poganka, strochok, muxomor. O‘simliklar: kurashchi, zangpoya, sikuta, krasavka.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91656"/>
                <a:gridCol w="1191656"/>
                <a:gridCol w="2904662"/>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Bakterial</a:t>
                      </a:r>
                    </a:p>
                  </a:txBody>
                  <a:tcPr marL="73152" marR="73152" marT="36576" marB="36576">
                    <a:solidFill>
                      <a:srgbClr val="E8EEF6"/>
                    </a:solidFill>
                  </a:tcPr>
                </a:tc>
                <a:tc>
                  <a:txBody>
                    <a:bodyPr/>
                    <a:lstStyle/>
                    <a:p>
                      <a:r>
                        <a:rPr sz="1200" b="0">
                          <a:solidFill>
                            <a:srgbClr val="1F2937"/>
                          </a:solidFill>
                        </a:rPr>
                        <a:t>Toksikoinfeksiya</a:t>
                      </a:r>
                    </a:p>
                  </a:txBody>
                  <a:tcPr marL="73152" marR="73152" marT="36576" marB="36576">
                    <a:solidFill>
                      <a:srgbClr val="E8EEF6"/>
                    </a:solidFill>
                  </a:tcPr>
                </a:tc>
                <a:tc>
                  <a:txBody>
                    <a:bodyPr/>
                    <a:lstStyle/>
                    <a:p>
                      <a:r>
                        <a:rPr sz="1200" b="0">
                          <a:solidFill>
                            <a:srgbClr val="1F2937"/>
                          </a:solidFill>
                        </a:rPr>
                        <a:t>Salmonellalar, ichak tayoqchasi</a:t>
                      </a:r>
                    </a:p>
                  </a:txBody>
                  <a:tcPr marL="73152" marR="73152" marT="36576" marB="36576">
                    <a:solidFill>
                      <a:srgbClr val="E8EEF6"/>
                    </a:solidFill>
                  </a:tcPr>
                </a:tc>
              </a:tr>
              <a:tr h="411480">
                <a:tc>
                  <a:txBody>
                    <a:bodyPr/>
                    <a:lstStyle/>
                    <a:p>
                      <a:r>
                        <a:rPr sz="1200" b="0">
                          <a:solidFill>
                            <a:srgbClr val="1F2937"/>
                          </a:solidFill>
                        </a:rPr>
                        <a:t>Bakterial</a:t>
                      </a:r>
                    </a:p>
                  </a:txBody>
                  <a:tcPr marL="73152" marR="73152" marT="36576" marB="36576">
                    <a:solidFill>
                      <a:srgbClr val="FFFFFF"/>
                    </a:solidFill>
                  </a:tcPr>
                </a:tc>
                <a:tc>
                  <a:txBody>
                    <a:bodyPr/>
                    <a:lstStyle/>
                    <a:p>
                      <a:r>
                        <a:rPr sz="1200" b="0">
                          <a:solidFill>
                            <a:srgbClr val="1F2937"/>
                          </a:solidFill>
                        </a:rPr>
                        <a:t>Intoksikatsiya</a:t>
                      </a:r>
                    </a:p>
                  </a:txBody>
                  <a:tcPr marL="73152" marR="73152" marT="36576" marB="36576">
                    <a:solidFill>
                      <a:srgbClr val="FFFFFF"/>
                    </a:solidFill>
                  </a:tcPr>
                </a:tc>
                <a:tc>
                  <a:txBody>
                    <a:bodyPr/>
                    <a:lstStyle/>
                    <a:p>
                      <a:r>
                        <a:rPr sz="1200" b="0">
                          <a:solidFill>
                            <a:srgbClr val="1F2937"/>
                          </a:solidFill>
                        </a:rPr>
                        <a:t>Botulizm, stafilokok enterotoksini</a:t>
                      </a:r>
                    </a:p>
                  </a:txBody>
                  <a:tcPr marL="73152" marR="73152" marT="36576" marB="36576">
                    <a:solidFill>
                      <a:srgbClr val="FFFFFF"/>
                    </a:solidFill>
                  </a:tcPr>
                </a:tc>
              </a:tr>
              <a:tr h="411480">
                <a:tc>
                  <a:txBody>
                    <a:bodyPr/>
                    <a:lstStyle/>
                    <a:p>
                      <a:r>
                        <a:rPr sz="1200" b="0">
                          <a:solidFill>
                            <a:srgbClr val="1F2937"/>
                          </a:solidFill>
                        </a:rPr>
                        <a:t>Nobakterial</a:t>
                      </a:r>
                    </a:p>
                  </a:txBody>
                  <a:tcPr marL="73152" marR="73152" marT="36576" marB="36576">
                    <a:solidFill>
                      <a:srgbClr val="E8EEF6"/>
                    </a:solidFill>
                  </a:tcPr>
                </a:tc>
                <a:tc>
                  <a:txBody>
                    <a:bodyPr/>
                    <a:lstStyle/>
                    <a:p>
                      <a:r>
                        <a:rPr sz="1200" b="0">
                          <a:solidFill>
                            <a:srgbClr val="1F2937"/>
                          </a:solidFill>
                        </a:rPr>
                        <a:t>O‘simlik, hayvon</a:t>
                      </a:r>
                    </a:p>
                  </a:txBody>
                  <a:tcPr marL="73152" marR="73152" marT="36576" marB="36576">
                    <a:solidFill>
                      <a:srgbClr val="E8EEF6"/>
                    </a:solidFill>
                  </a:tcPr>
                </a:tc>
                <a:tc>
                  <a:txBody>
                    <a:bodyPr/>
                    <a:lstStyle/>
                    <a:p>
                      <a:r>
                        <a:rPr sz="1200" b="0">
                          <a:solidFill>
                            <a:srgbClr val="1F2937"/>
                          </a:solidFill>
                        </a:rPr>
                        <a:t>Blednaya poganka; marinka baliq ikrasi</a:t>
                      </a:r>
                    </a:p>
                  </a:txBody>
                  <a:tcPr marL="73152" marR="73152" marT="36576" marB="36576">
                    <a:solidFill>
                      <a:srgbClr val="E8EEF6"/>
                    </a:solidFill>
                  </a:tcPr>
                </a:tc>
              </a:tr>
              <a:tr h="411480">
                <a:tc>
                  <a:txBody>
                    <a:bodyPr/>
                    <a:lstStyle/>
                    <a:p>
                      <a:r>
                        <a:rPr sz="1200" b="0">
                          <a:solidFill>
                            <a:srgbClr val="1F2937"/>
                          </a:solidFill>
                        </a:rPr>
                        <a:t>Nobakterial</a:t>
                      </a:r>
                    </a:p>
                  </a:txBody>
                  <a:tcPr marL="73152" marR="73152" marT="36576" marB="36576">
                    <a:solidFill>
                      <a:srgbClr val="FFFFFF"/>
                    </a:solidFill>
                  </a:tcPr>
                </a:tc>
                <a:tc>
                  <a:txBody>
                    <a:bodyPr/>
                    <a:lstStyle/>
                    <a:p>
                      <a:r>
                        <a:rPr sz="1200" b="0">
                          <a:solidFill>
                            <a:srgbClr val="1F2937"/>
                          </a:solidFill>
                        </a:rPr>
                        <a:t>Qo‘shimchalar</a:t>
                      </a:r>
                    </a:p>
                  </a:txBody>
                  <a:tcPr marL="73152" marR="73152" marT="36576" marB="36576">
                    <a:solidFill>
                      <a:srgbClr val="FFFFFF"/>
                    </a:solidFill>
                  </a:tcPr>
                </a:tc>
                <a:tc>
                  <a:txBody>
                    <a:bodyPr/>
                    <a:lstStyle/>
                    <a:p>
                      <a:r>
                        <a:rPr sz="1200" b="0">
                          <a:solidFill>
                            <a:srgbClr val="1F2937"/>
                          </a:solidFill>
                        </a:rPr>
                        <a:t>Ishlov berilgan urug‘lik don, geliotrop</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Ovqatdan zaharlanish tasnifi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172-173, 173-174, 175-176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guruhiy ovqatdan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marosimdan keyin bir oilaning bir necha a‘zosida bir xil mahsulotdan so‘ng zaharlanish belgilari paydo bo‘ldi.</a:t>
            </a:r>
          </a:p>
          <a:p>
            <a:pPr>
              <a:spcAft>
                <a:spcPts val="1200"/>
              </a:spcAft>
            </a:pPr>
            <a:r>
              <a:rPr sz="2200">
                <a:solidFill>
                  <a:srgbClr val="1F2937"/>
                </a:solidFill>
                <a:latin typeface="Calibri"/>
              </a:rPr>
              <a:t>▸  Zaharli qo‘shimchali mahsulotlar oila, odamlar guruhi yoki hudud aholisida zaharlanish chaqiradi. Begona o‘t yoki zamburug‘ ham sabab bo‘ladi.</a:t>
            </a:r>
          </a:p>
          <a:p>
            <a:pPr>
              <a:spcAft>
                <a:spcPts val="1200"/>
              </a:spcAft>
            </a:pPr>
            <a:r>
              <a:rPr sz="2200">
                <a:solidFill>
                  <a:srgbClr val="1F2937"/>
                </a:solidFill>
                <a:latin typeface="Calibri"/>
              </a:rPr>
              <a:t>▸  Klinik, morfologik va sud-kimyoviy tekshiruv bilan birga epidemiologik tekshiruv ham o‘tkazilishi lozim.</a:t>
            </a:r>
          </a:p>
          <a:p>
            <a:pPr>
              <a:spcAft>
                <a:spcPts val="1200"/>
              </a:spcAft>
            </a:pPr>
            <a:r>
              <a:rPr sz="2200">
                <a:solidFill>
                  <a:srgbClr val="1F2937"/>
                </a:solidFill>
                <a:latin typeface="Calibri"/>
              </a:rPr>
              <a:t>▸  Savol: nima uchun bunda faqat murda tekshiruvi yetarli emas? Botanik va bakteriologik tekshiruv qaysi holatda kerak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179, 180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tekshiruvlari ahamiyati va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 topilsa ham zaharlanish bo‘lmasligi mumkin: dori, chirish, kasbiy aloqa yoki namuna olishdagi xato.</a:t>
            </a:r>
          </a:p>
          <a:p>
            <a:pPr>
              <a:spcAft>
                <a:spcPts val="800"/>
              </a:spcAft>
            </a:pPr>
            <a:r>
              <a:rPr sz="1800">
                <a:solidFill>
                  <a:srgbClr val="1F2937"/>
                </a:solidFill>
                <a:latin typeface="Calibri"/>
              </a:rPr>
              <a:t>▸  Zaharlanishda zahar topilmasligi mumkin: tez parchalanish, infuziya, vaqt o‘tishi, usul yo‘qligi.</a:t>
            </a:r>
          </a:p>
          <a:p>
            <a:pPr>
              <a:spcAft>
                <a:spcPts val="800"/>
              </a:spcAft>
            </a:pPr>
            <a:r>
              <a:rPr sz="1800">
                <a:solidFill>
                  <a:srgbClr val="1F2937"/>
                </a:solidFill>
                <a:latin typeface="Calibri"/>
              </a:rPr>
              <a:t>▸  Bemor kelsa, namunani imkon qadar tez oling: qon, siydik, yuvma suv, qusuq, axlat.</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116128"/>
                <a:gridCol w="2171846"/>
              </a:tblGrid>
              <a:tr h="411480">
                <a:tc>
                  <a:txBody>
                    <a:bodyPr/>
                    <a:lstStyle/>
                    <a:p>
                      <a:r>
                        <a:rPr sz="1400" b="1">
                          <a:solidFill>
                            <a:srgbClr val="FFFFFF"/>
                          </a:solidFill>
                        </a:rPr>
                        <a:t>Zaharlanish</a:t>
                      </a:r>
                    </a:p>
                  </a:txBody>
                  <a:tcPr marL="73152" marR="73152" marT="36576" marB="36576">
                    <a:solidFill>
                      <a:srgbClr val="0B1F3A"/>
                    </a:solidFill>
                  </a:tcPr>
                </a:tc>
                <a:tc>
                  <a:txBody>
                    <a:bodyPr/>
                    <a:lstStyle/>
                    <a:p>
                      <a:r>
                        <a:rPr sz="1400" b="1">
                          <a:solidFill>
                            <a:srgbClr val="FFFFFF"/>
                          </a:solidFill>
                        </a:rPr>
                        <a:t>Tekshiruv</a:t>
                      </a:r>
                    </a:p>
                  </a:txBody>
                  <a:tcPr marL="73152" marR="73152" marT="36576" marB="36576">
                    <a:solidFill>
                      <a:srgbClr val="0B1F3A"/>
                    </a:solidFill>
                  </a:tcPr>
                </a:tc>
              </a:tr>
              <a:tr h="411480">
                <a:tc>
                  <a:txBody>
                    <a:bodyPr/>
                    <a:lstStyle/>
                    <a:p>
                      <a:r>
                        <a:rPr sz="1300" b="0">
                          <a:solidFill>
                            <a:srgbClr val="1F2937"/>
                          </a:solidFill>
                        </a:rPr>
                        <a:t>Metall saqlovchi moddalar</a:t>
                      </a:r>
                    </a:p>
                  </a:txBody>
                  <a:tcPr marL="73152" marR="73152" marT="36576" marB="36576">
                    <a:solidFill>
                      <a:srgbClr val="E8EEF6"/>
                    </a:solidFill>
                  </a:tcPr>
                </a:tc>
                <a:tc>
                  <a:txBody>
                    <a:bodyPr/>
                    <a:lstStyle/>
                    <a:p>
                      <a:r>
                        <a:rPr sz="1300" b="0">
                          <a:solidFill>
                            <a:srgbClr val="1F2937"/>
                          </a:solidFill>
                        </a:rPr>
                        <a:t>Fizik (spektral)</a:t>
                      </a:r>
                    </a:p>
                  </a:txBody>
                  <a:tcPr marL="73152" marR="73152" marT="36576" marB="36576">
                    <a:solidFill>
                      <a:srgbClr val="E8EEF6"/>
                    </a:solidFill>
                  </a:tcPr>
                </a:tc>
              </a:tr>
              <a:tr h="411480">
                <a:tc>
                  <a:txBody>
                    <a:bodyPr/>
                    <a:lstStyle/>
                    <a:p>
                      <a:r>
                        <a:rPr sz="1300" b="0">
                          <a:solidFill>
                            <a:srgbClr val="1F2937"/>
                          </a:solidFill>
                        </a:rPr>
                        <a:t>O‘simlik / qo‘ziqorin</a:t>
                      </a:r>
                    </a:p>
                  </a:txBody>
                  <a:tcPr marL="73152" marR="73152" marT="36576" marB="36576">
                    <a:solidFill>
                      <a:srgbClr val="FFFFFF"/>
                    </a:solidFill>
                  </a:tcPr>
                </a:tc>
                <a:tc>
                  <a:txBody>
                    <a:bodyPr/>
                    <a:lstStyle/>
                    <a:p>
                      <a:r>
                        <a:rPr sz="1300" b="0">
                          <a:solidFill>
                            <a:srgbClr val="1F2937"/>
                          </a:solidFill>
                        </a:rPr>
                        <a:t>Botanik / mikologik</a:t>
                      </a:r>
                    </a:p>
                  </a:txBody>
                  <a:tcPr marL="73152" marR="73152" marT="36576" marB="36576">
                    <a:solidFill>
                      <a:srgbClr val="FFFFFF"/>
                    </a:solidFill>
                  </a:tcPr>
                </a:tc>
              </a:tr>
              <a:tr h="411480">
                <a:tc>
                  <a:txBody>
                    <a:bodyPr/>
                    <a:lstStyle/>
                    <a:p>
                      <a:r>
                        <a:rPr sz="1300" b="0">
                          <a:solidFill>
                            <a:srgbClr val="1F2937"/>
                          </a:solidFill>
                        </a:rPr>
                        <a:t>Ovqatdan zaharlanish</a:t>
                      </a:r>
                    </a:p>
                  </a:txBody>
                  <a:tcPr marL="73152" marR="73152" marT="36576" marB="36576">
                    <a:solidFill>
                      <a:srgbClr val="E8EEF6"/>
                    </a:solidFill>
                  </a:tcPr>
                </a:tc>
                <a:tc>
                  <a:txBody>
                    <a:bodyPr/>
                    <a:lstStyle/>
                    <a:p>
                      <a:r>
                        <a:rPr sz="1300" b="0">
                          <a:solidFill>
                            <a:srgbClr val="1F2937"/>
                          </a:solidFill>
                        </a:rPr>
                        <a:t>Bakteriologik, biologik</a:t>
                      </a:r>
                    </a:p>
                  </a:txBody>
                  <a:tcPr marL="73152" marR="73152" marT="36576" marB="36576">
                    <a:solidFill>
                      <a:srgbClr val="E8EEF6"/>
                    </a:solidFill>
                  </a:tcPr>
                </a:tc>
              </a:tr>
              <a:tr h="411480">
                <a:tc>
                  <a:txBody>
                    <a:bodyPr/>
                    <a:lstStyle/>
                    <a:p>
                      <a:r>
                        <a:rPr sz="1300" b="0">
                          <a:solidFill>
                            <a:srgbClr val="1F2937"/>
                          </a:solidFill>
                        </a:rPr>
                        <a:t>Fermentlarga ta’sir etuvchi modda</a:t>
                      </a:r>
                    </a:p>
                  </a:txBody>
                  <a:tcPr marL="73152" marR="73152" marT="36576" marB="36576">
                    <a:solidFill>
                      <a:srgbClr val="FFFFFF"/>
                    </a:solidFill>
                  </a:tcPr>
                </a:tc>
                <a:tc>
                  <a:txBody>
                    <a:bodyPr/>
                    <a:lstStyle/>
                    <a:p>
                      <a:r>
                        <a:rPr sz="1300" b="0">
                          <a:solidFill>
                            <a:srgbClr val="1F2937"/>
                          </a:solidFill>
                        </a:rPr>
                        <a:t>Biokimyoviy</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 turiga mos tekshiruv</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mustahkamlash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Zaharlanishda to‘rt omil muhim: zaharli modda, organizm, kirish yo‘li va ta’sir vaqtidagi tashqi shart-sharoit.</a:t>
            </a:r>
          </a:p>
          <a:p>
            <a:pPr>
              <a:spcAft>
                <a:spcPts val="1200"/>
              </a:spcAft>
            </a:pPr>
            <a:r>
              <a:rPr sz="2200">
                <a:solidFill>
                  <a:srgbClr val="1F2937"/>
                </a:solidFill>
                <a:latin typeface="Calibri"/>
              </a:rPr>
              <a:t>▸  Diagnostika uch bosqichli: hodisa joyi va hujjatlar, murda tekshiruvi, so‘ng qo‘shimcha laboratoriya tekshiruvlari.</a:t>
            </a:r>
          </a:p>
          <a:p>
            <a:pPr>
              <a:spcAft>
                <a:spcPts val="1200"/>
              </a:spcAft>
            </a:pPr>
            <a:r>
              <a:rPr sz="2200">
                <a:solidFill>
                  <a:srgbClr val="1F2937"/>
                </a:solidFill>
                <a:latin typeface="Calibri"/>
              </a:rPr>
              <a:t>▸  Zaharlar asosan mahalliy va asosan umumiy ta’sir etuvchilarga bo‘linadi. Umumiylari destruktiv, gemotrop va funksional zaharlardir.</a:t>
            </a:r>
          </a:p>
          <a:p>
            <a:pPr>
              <a:spcAft>
                <a:spcPts val="1200"/>
              </a:spcAft>
            </a:pPr>
            <a:r>
              <a:rPr sz="2200">
                <a:solidFill>
                  <a:srgbClr val="1F2937"/>
                </a:solidFill>
                <a:latin typeface="Calibri"/>
              </a:rPr>
              <a:t>▸  Laboratoriya natijasi voqea tafsilotlari, klinik va makroskopik ma‘lumotlar bilan birga tanqidiy baholanadi. Savol: nega yakka natija yetmaydi?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132, 135-136, 138-139, 181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Bolalar kattalarga qaraganda zaharga sezgirroq. Sababi ikkita: tana vazni kichik va umumiy qarshilik tizimi hali to‘liq shakllanmagan. Shuning uchun pediatrda dori dozasi har kg vaznga hisoblanadi.</a:t>
            </a:r>
          </a:p>
          <a:p>
            <a:pPr>
              <a:spcAft>
                <a:spcPts val="1200"/>
              </a:spcAft>
            </a:pPr>
            <a:r>
              <a:rPr sz="1800">
                <a:solidFill>
                  <a:srgbClr val="1F2937"/>
                </a:solidFill>
                <a:latin typeface="Calibri"/>
              </a:rPr>
              <a:t>▸  Letal dozalar solishtirilganda farq yaqqol ko‘rinadi. Strixnin kattalar uchun 0,1–0,3 g, kichik bolalar uchun atigi 0,005 g. Klofelin kattalar uchun 0,005–0,01 g, bolalar uchun 0,004 g va undan kam.</a:t>
            </a:r>
          </a:p>
          <a:p>
            <a:pPr>
              <a:spcAft>
                <a:spcPts val="1200"/>
              </a:spcAft>
            </a:pPr>
            <a:r>
              <a:rPr sz="1800">
                <a:solidFill>
                  <a:srgbClr val="1F2937"/>
                </a:solidFill>
                <a:latin typeface="Calibri"/>
              </a:rPr>
              <a:t>▸  Eslab qolish usuli: murda dog‘lari rangi zaharni ko‘rsatadi. Is gazi – pushti, sianid – yorqin olcha rang, metgemoglobin hosil qiluvchilar – jigar rang yoki qo‘ng‘ir, gemoliz chaqiruvchilar – sargimtir.</a:t>
            </a:r>
          </a:p>
          <a:p>
            <a:pPr>
              <a:spcAft>
                <a:spcPts val="1200"/>
              </a:spcAft>
            </a:pPr>
            <a:r>
              <a:rPr sz="1800">
                <a:solidFill>
                  <a:srgbClr val="1F2937"/>
                </a:solidFill>
                <a:latin typeface="Calibri"/>
              </a:rPr>
              <a:t>▸  Is gazidan zaharlanishda go‘daklar katta yoshdagilarga nisbatan chidamliroq, ayollar esa erkaklarga qaraganda chidamliroq. Ammo bu xavfsizlik degani emas. Havoda is gazi 0,4% bo‘lsa, 20–30 daqiqada o‘lim yuz beradi.</a:t>
            </a:r>
          </a:p>
          <a:p>
            <a:pPr>
              <a:spcAft>
                <a:spcPts val="1200"/>
              </a:spcAft>
            </a:pPr>
            <a:r>
              <a:rPr sz="1800">
                <a:solidFill>
                  <a:srgbClr val="1F2937"/>
                </a:solidFill>
                <a:latin typeface="Calibri"/>
              </a:rPr>
              <a:t>▸  Laboratoriya uchun material “uch nuqta” qoidasi bilan olinadi: zahar kirgan joydan, asosan ta’sir etgan joydan va organizmdan chiqqan joydan. Masalan, ichilgan zaharda oshqozon massasi, jigar bo‘lagi va buyrak siydik bilan olinadi.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Paratsels iborasiga ko‘ra, bir moddani dori yoki zaharga aylantiradigan asosiy omil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Moddaning organizmga tushgan dozasi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Moddaning rangi va tashqi ko‘rinishi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Moddaning hidi va ta’mining kuchi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Moddaning kashf etilgan vaqti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Zaharlanish holatida huquqni muhofaza etuvchi idoralar qo‘ygan vazifalarni hal etish toksikologiyaning qaysi yo‘nalishiga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Sanoat toksikologiyasiga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Sud-tibbiy toksikologiyaga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Qishloq xo‘jaligi toksikologiyasiga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Oziq-ovqat toksikologiyasiga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xil miqdordagi zahar bolada kattalarga qaraganda kuchliroq ta’sir qildi. Bunga asosiy sabab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Bolaning jinsi va ovqatlanish tartibi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Bolaning ruhiy holati va uyqu rejimi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Vazni kichik, qarshilik tizimi to‘liq shakllanmagan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Bolaning yashash joyidagi havo harorati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Zaharli modda nafas yo‘llari orqali qonga so‘rildi va kuchli ta’sir qildi. Bu ta’sir kuchliroq bo‘lishining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Modda har doim suvda erimaydi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Modda faqat mahalliy ta’sir ko‘rsatadi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Modda hech qachon qonga o‘tmaydi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Modda jigar orqali o‘tmasdan qonga tushadi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Zaharlanish diagnostikasida tibbiy hujjatlar va katamnez ma’lumotlari bilan tanishish qaysi bosqichga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bosqichga: voqea joyi va hujjatlar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Ikkinchi bosqichga: murdaning tekshiruvi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Uchinchi bosqichga: laboratoriya tekshiruvi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Hech qaysi bosqichga kirmaydi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Yong‘in joyidan topilgan murdada murda dog‘lari pushti tusda. Qaysi zaharlanishga shubha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Sianid kislotasi tuzlari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 gazi (uglerod monooksidi)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Metgemoglobin hosil qiluvchi modda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Gemoliz chaqiruvchi modda bilan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Sirka kislotasidan zaharlangan bemorda og‘iz va oshqozon kuyganidan keyin atsidoz tufayli eritrotsitlar gemolizi rivojlandi. Bu qaysi ta’sir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Birlamchi toksik ta’sir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Metatoksik ta’sir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Biotransformatsiya ta’siri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Keyingi toksik ta’sir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 og‘iz orqali qabul qilingan, jigarga ta’sir etgan va siydik bilan chiqqan. “Uch nuqta” qoidasiga ko‘ra qaysi namunalar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Bosh miyaning uchdan biri va o‘pkaning to‘rtdan biri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100-200 ml qon va ingichka ichakning bir metri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 massasi, jigar bo‘lagi va siydikli butun buyrak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Ko‘krak-qorin a’zolaridan 1,5-2,0 kg aralash massa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Paratselsning iborasiga ko‘ra, moddani doriga yoki zaharga aylantiradigan omil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Moddaning miqdori (dozasi)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Moddaning tashqi rangi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Moddaning hid xususiyati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Moddaning saqlanish joyi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Ishqorlar bilan zaharlanishda kontakt joyidagi to‘qimada qanday nekroz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Koagulyasion (quruq) nekroz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Yog‘li (fermentativ) nekroz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Kollikvatsion (suyuq) nekroz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Kazeoz (pishloqsimon) nekroz</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Simob birikmalari bilan zaharlanishdan farqli ravishda, qo‘rg‘oshin birikmalari bilan zaharlanishda qaysi o‘zgarish jiddiyroq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Buyraklarning toksik nekronefrozi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Nerv tizimining shikastlanishi (talvasa, falaj)</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Yo‘g‘on ichak shilliq qavatining nekrozi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Milk chekkasida iflos-kulrang hoshiya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Fermer hasharotlarga qarshi “Parij yashili” bilan ishlagan. Unda soch to‘kilishi, timoqlarda ko‘ndalang oq yo‘lkalar, dispepsiya va polineyropatiya kuzatildi. Qaysi zahar guruhi bilan surunkali zaharlanish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Simobning organik birikmalari (granozan)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Tetraetilqo‘rg‘oshin (etillangan benzin)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Qo‘rg‘oshinning suvda eruvchi tuzlari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Margimush birikmalari (Parij yashili)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Nosoz pech bor xonada topilgan murdadan olingan qonga 33% ishqor eritmasi (Goppe-Zeyler sinamasi) qo‘shildi, qon rangi o‘zgarmadi. Bu natija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Qonda karboksigemoglobin mavjudligini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Qonda metgemoglobin mavjudligini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 tarkibi normal ekanligini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Qonda sianid mavjudligini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Bola ko‘p miqdorda o‘rik danagi mag‘zini yeb zaharlandi. Murdada ichki a’zolardan achchiq bodom hidi keldi, murda dog‘lari olcha rang edi. Zaharning asosiy ta’sir mexanizmi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Xolinesterazani faolsizlantirib, atsetilxolin to‘plash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Gemoglobin bilan turg‘un birikma hosil qilish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Sitoxromoksidaza temirini bog‘lab, to‘qima nafasini buzish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Eritrotsitlarni parchalab, gemoliz chaqirish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Yo‘l-transport hodisasidan o‘lgan haydovchining qonida 2,0 promille etil spirti aniqlandi. Amaldagi qoidalarga ko‘ra mastlik darajasi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Yengil darajali mastlik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O‘rta darajali mastlik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Kuchli darajali mastlik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Etil spirti bilan zaharlanish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Bolada mushaklar tortishishi, yutish va nafas olishning qiyinlashishi, tonik talvasa xurujlari kuzatildi. Hush saqlangan, tana yoysimon egilgan, kuchsiz ta’sir yangi xurujni chaqiradi. Qaysi zahar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Atropin bilan zaharlanish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Klofelin bilan zaharlanish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Strixnin bilan zaharlanish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Pilokarpin bilan zaharlanish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Nasha chekilganligi gumon qilingan shaxsdan yuvma olish kerak. Tibbiyot xodimi buni qaysi usulda bajaradi?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Qo‘l barmoqlari etil spirtli paxta yoki doka tiqini bilan artiladi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Yuz terisi suv bilan namlangan doka tiqini bilan artib olinadi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Og‘iz bo‘shlig‘i distillangan suv bilan chayilib, suv yig‘iladi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Ko‘krak terisi quruq paxta tiqini bilan artib namuna olinadi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Ovqatdan zaharlanishning bakterial turlari qaysi ikki guruhga bo‘linadi?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Toksikoinfeksiyalar va nobakterial zaharlanishlar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Intoksikatsiyalar va o‘simliklar bilan bog‘liq turlar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Hayvonlar bilan bog‘liq va qo‘shimchali turlar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Toksikoinfeksiyalar va intoksikatsiyalar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Marosimda qatnashgan bir guruh odamlar zaharli begona o‘tli dondan tayyorlangan mahsulotdan zaharlandi. Klinik, morfologik va sud-kimyoviy tekshiruvga qo‘shimcha qaysi tekshiruv lozim?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Farmakologik tekshiruv</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Epidemiologik tekshiruv</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Botanik tekshiruv</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Spektral tekshiruv</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Zaharlanish bo‘lmagan holatda ham laboratoriyada zaharli modda topilishi mumkin. Quyidagilardan qaysi biri shunday natijaga sabab bo‘la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Zahar organizmda tez parchalanib ketgan bo‘lsa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Davolashda intensiv infuzion muolaja o‘tkazilgan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Modda chirish jarayonida hosil bo‘lgan bo‘lsa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Zaharlanishdan keyin ancha ko‘p vaqt o‘tgan bo‘lsa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Moddaning organizmga tushgan dozasi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Zahar nisbiy tushuncha: mutlaq zahar ham, mutlaq zararsiz modda ham yo‘q. Paratselsning fikricha, moddani dori yoki zaharga aylantiradigan narsa uning dozasidir.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Sud-tibbiy toksikologiyaga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Boshqa yo‘nalishlar asosan zaharlanish sabablari, jabrlanganlarga yordam va profilaktikani o‘rganadi. Sud-tibbiy toksikologiya esa huquqni muhofaza etuvchi idoralar qo‘ygan vazifalarni hal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Vazni kichik, qarshilik tizimi to‘liq shakllanmagan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Bolalar kattalarga nisbatan sezgirroq. Buni ularning vazni kichikligi va umumiy qarshilik ko‘rsatish tizimining to‘liq shakllanmaganligi bilan tushuntirish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134-bet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Modda jigar orqali o‘tmasdan qonga tushadi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Nafas yo‘llari, to‘g‘ri ichak va qin shilliq qavatidan so‘rilgan moddalar jigar orqali o‘tmaydi. Shu sababli ular oshqozon va ichakdan so‘rilganlarga nisbatan kuchliroq ta’sir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135-bet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Birinchi bosqichga: voqea joyi va hujjatlar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Birinchi bosqichda hodisa joyi mutaxassis ishtirokida ko‘zdan kechiriladi. Shu bosqichga ish materiallari, katamnez va tibbiy hujjatlar bilan tanishish ham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135-bet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Is gazi (uglerod monooksidi)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 gazidan zaharlanganda murda dog‘lari pushti tusda bo‘ladi. Sianidlarda ular yorqin olcha rang, metgemoglobin hosil qiluvchilarda jigar rang yoki qo‘ng‘ir, gemoliz chaqiruvchilarda sarg‘ish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Keyingi toksik ta’sir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Shilliq qavatlarning kimyoviy kuyishi birlamchi ta’sir, atsidoz tufayli gemoliz keyingi toksik ta’sir. Toksik gepatit va toksik nefroz esa metatoksik ta’sir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138-bet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Oshqozon massasi, jigar bo‘lagi va siydikli butun buyrak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Zahar kirgan, asosan ta’sir etgan va chiqqan joylardan olinadi: oshqozon massasi, jigar bo‘lagi va siydik bilan butun buyrak. Boshqa variantlar zahar noma’lum bo‘lganda yoki chuqur chirishda olinadigan namunalardir.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Moddaning miqdori (dozasi)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Zahar nisbiy tushuncha: mutlaq zahar ham, mutlaq beziyon modda ham yo‘q. Paratsels fikricha, faqat doza moddani doriga yoki zaharga aylantiradi.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Kollikvatsion (suyuq) nekroz</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Ishqorlar to‘qima oqsillarini suyultirib eritadi va kollikvatsion nekroz chiqaradi. Koagulyasion (quruq) nekroz esa kislotalarga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143-bet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Nerv tizimining shikastlanishi (talvasa, falaj)</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Qo‘rg‘oshin zaharlanishida ichak va buyrak shikastlanishi simobdagiga nisbatan kuchsizroq bo‘ladi. Markaziy va periferik nerv tizimining shikastlanishi (alahsirash, talvasa, paresteziya, falaj) jiddiyroq kechadi, odatda kamqonlik ham rivojlanadi. Nekronefroz, ichakdagi o‘zgarishlar va milk hoshiyasi simobga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147-bet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Margimush birikmalari (Parij yashili)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“Parij yashili” margimush birikmasi bo‘lib, qishloq xo‘jaligida hasharotlarga qarshi qo‘llanishi mumkin. Surunkali margimush zaharlanishida dispepsiya, polineyropatiya, ozish, soch to‘kilishi va timoqlarda ko‘ndalang oqish yo‘lkalar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148-149-bet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Qonda karboksigemoglobin mavjudligini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Normal qonga ishqor qo‘shilganda ishqoriy gematin hosil bo‘lib, qon qo‘ng‘ir yoki jigarrang-qora tusga kiradi. Karboksigemoglobin bo‘lsa, qon rangi o‘zgarmaydi. Bu is gazi bilan zaharlanishga dastlabki dalil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151-bet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Sitoxromoksidaza temirini bog‘lab, to‘qima nafasini buzish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Danak mag‘zidagi amigdalin ichakda parchalanib, sianid kislotasi hosil qiladi. Sian anioni sitoxromoksidazadagi temirni bog‘laydi. Qonda kislorod yetarli bo‘lsa ham to‘qima gipoksiyasi rivojlanadi. Xolinesterazani fosfororganik birikmalar so‘ndiradi, karboksigemoglobinni is gazi hosil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153-154-bet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O‘rta darajali mastlik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Qonda 0,5-1,5 promille yengil, 1,5-2,5 promille o‘rta, 2,5-3,0 promille kuchli mastlik hisoblanadi. 3,0 promilledan yuqori bo‘lsa zaharlanish deb baholanadi. 2,0 promille o‘rta daraja oralig‘iga tushadi.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160-bet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Strixnin bilan zaharlanish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Strixnin orqa miyaning reflektor qo‘zg‘aluvchanligini oshiradi. Hush saqlangan holda tonik talvasalar va opistotonus rivojlanadi, nur, tovush yoki teginish yangi xurujni chaqiradi. Bolalarda sezgirlik yuqori bo‘lib, letal doza 0,005 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165-bet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Qo‘l barmoqlari etil spirtli paxta yoki doka tiqini bilan artiladi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Yuvma uchun qo‘l barmoqlari yuzalari etil spirti shimdirilgan paxta yoki doka tiqini bilan artiladi. Xona haroratida spirt bug‘latiladi, so‘ng tiqin polietilen qopchaga solinib o‘raladi. Qon, siydik va so‘lak ham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171-bet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Toksikoinfeksiyalar va intoksikatsiyalar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Ovqatdan zaharlanish bakterial va nobakterial turlarga bo‘linadi. Bakterial zaharlanishlar toksikoinfeksiyalar va intoksikatsiyalarga ajraladi. Nobakterial turlar o‘simliklar, hayvonlar va qo‘shimchalar bilan bog‘liq.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173-bet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Epidemiologik tekshiruv</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Zaharli qo‘shimchali mahsulotdan zaharlanish guruhiy xususiyatga ega: oila, marosim ishtirokchilari yoki hudud aholisida uchraydi. Shu sababli boshqa tekshiruvlar bilan birga epidemiologik tekshiruv ham o‘tkaziladi.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179-bet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Modda chirish jarayonida hosil bo‘lgan bo‘lsa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Zahar topilishi zaharlanishni isbotlamaydi: modda dori sifatida qo‘llangan, chirishda hosil bo‘lgan yoki kasbiy aloqador bo‘lishi mumkin. Boshqa uchta variant aksincha zahar topilmasligiga olib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180-bet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Maʻruza: Yangi tugʻilgan goʻdaklar murdasining sud tibbiy ekspertizasi. Sud tibbiy tok</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6. Sud-tibbiy toksikologiya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