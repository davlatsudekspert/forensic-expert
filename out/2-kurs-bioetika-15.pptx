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savoli: nima uchun ilmiy yutuq bir vaqtning o‘zida axloqiy muammo ham bo‘lishi mumkin? Doskada chizish: dars rejasining 5 bandini ketma-ket strelkalar bilan yozing. Tipik xato: talabalar klonlashni faqat odamni nusxalash deb o‘ylaydi, holbuki mavzu hayvonlar, o‘simliklar va hujayralarni ham qamrab oladi.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kundalik hayotda ‘nusxa’ so‘zi qaysi hollarda ishlatiladi? ‘Novda’ so‘zi klon g‘oyasiga nega mos keladi? Doskada chizish: ‘klonlash → klon’ strelkasi va uning ostiga ikki ma’noni yozing. Tipik xato: klon va klonlash tushunchalarini bir xil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savollari: gameta nega o‘zi rivojlana olmaydi? Yangi genom paydo bo‘lishi klonlashdan qanday farq qiladi? Doskada chizish: to‘rt qutili zanjirni chizing, so‘ng yoniga ‘klon: genom o‘zgarmaydi’ deb yozing. Tipik xato: jinsiy ko‘payishda ona nusxasi hosil bo‘ladi deb o‘ylash; aslida urug‘lantirishda yangi genom paydo bo‘ladi.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zigota bo‘linishi natijasida genom bir xil qoladi? Tabiatda klon uchraydimi? Doskada chizing: bitta zigota → ikkiga bo‘linish → ikki bola va ikki zigota → ikki bola sxemasi. Tipik xato: dizigotali egizaklarni ham klon deb hisoblash; klon faqat bir zigotadan hosil bo‘lgan egizaklar.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Blastomer nima? Nega o‘simliklarda klonlash osonroq? Doskada chizing: 8 blastomerli embrion va undan ajralgan alohida hujayralar. Tipik xato: totipotentlikni faqat embrionga xos deb o‘ylash; manbada u o‘simlik hujayralarining xususiyati sifatida ham keltirilgan. Diqqat: blastomerlarga bo‘linish matnda 8 blastomer bosqichigacha deb aytilgan.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Turli muhitda o‘sgan egizaklar nega farq qiladi? Klonga e’tiroz klonning o‘ziga qaratilganmi yoki texnikagami? Doskada chizing: genotip + tarbiya/muhit = shaxsiyat. Tipik xato: genetik o‘xshashlikni shaxsiyat o‘xshashligi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Jinsiy ko‘payishda ona nega avlodda to‘liq takrorlanmaydi (urug‘lanishda yangi genom paydo bo‘ladi)? 2) Egizaklar nega tabiiy klon deyiladi? Doskada chizish: zigota ikkiga bo‘linib, ikki bir xil genomli organizm hosil bo‘lishi sxemasi. Tipik xato: monozigotali va dizigotali egizaklarni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Gerdon tajribasi muhim, chunki donor hujayra jinsiy emas, ixtisoslashgan hujayra edi? 2) Nega amfibiyalardan sut emizuvchilarga o‘tish qiyin bo‘lgan? Doskada chizish: vaqt chizig‘ini daftarga ko‘chirish. Tipik xato: Gerdon tajribasini Dolli bilan, ya’ni baqa bilan qo‘yni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Somatik hujayra bilan jinsiy hujayra yadrosi nimasi bilan farq qiladi? 2) Nega tuxumning yadrosi avval olib tashlanadi? Doskada chizish: 5 bosqichli zanjirni strelkalar bilan chizish. Tipik xato: enukleatsiya deganda butun tuxumni olib tashlashni tushunish, aslida faqat yadro olinadi.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tuxum hujayra o‘lchami klonlashni qiyinlashtiradi? Tajriba bosqichlari ketma-ketligi nima uchun muhim? Doskada: 70–80-yillar vaqt chizig‘ini chizdirish. Tipik xato: 80-yillar boshidagi natijani (sichqon) oxiridagi natija (quyon, yirik hayvonlar)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Dolli jamoatchilikda shov-shuv uyg‘otdi? Nima uchun aynan yirik hayvon hujayrasidan foydalanish yangilik edi? Doskada: Dolli bilan bog‘liq 4 ta kalit so‘z (1996, PPL Therapeutics, Vilmut, somatik hujayra). Tipik xato: Dollini ‘birinchi klon hayvon’ deb atash; darslikda ‘sut emizuvchilarning ilk klonlari’ deyilgan, amfibiyalar tajribalari esa undan oldin o‘tkazilgan.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tuxum hujayra ‘rekonstruksiyalangan’ deyiladi? Yadro donori va tuxum hujayraning roli qanday farq qiladi? Doskada: 5 bosqichli zanjirni talabalar o‘zlari chizsin. Tipik xato: yadro donorini jinsiy hujayra deb o‘ylash; darslikda donor — sut bezi (somatik) hujayrasi.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Podalarni klonlash chorvachilikka qanday foyda beradi? 2) Noyob turlarni saqlashda klonlash qanday rol o‘ynashi mumkin? Doskada: «Klonlash → mahsuldor sigir → butun pода» zanjirini chizdiring. Tipik xato: «mumkin» so‘zini e’tiborsiz qoldirib, istiqbolni tasdiqlangan amaliyot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2-3 kishilik guruhda javob tayyorlaydi. Muhokama: 1) Nima uchun aynan katta hayvon hujayrasidan klon olinishi odamga ham bog‘landi? 2) Olimlarning «10 yil» taxmini nimani ko‘rsatadi? Doskada: Dolli yaratilish sxemasini (sut bezi hujayrasi → tuxum hujayra → klon) chizdiring. Tipik xato: Dolli yadro donori qo‘y, tuxum hujayra bilan chalkashtirish; bu taxminni isbotlangan fakt deb olish.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Terapevtik va reproduktiv klonlash maqsadlari qanday farq qiladi? 2) Nega reproduktiv klonlash ko‘proq e’tiroz uyg‘otadi? Doskada: ikki ustunli solishtirma («Terapevtik» va «Reproduktiv») chizdiring. Tipik xato: terapevtik klonlashni inson nusxasini yaratish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bugun asosiy maqsad terapevtik yo‘nalish hisoblanadi? 2) Nega terapevtik klonlashda ham embrion mavqei bahsli? Doskada: ikki ustunli jadvalni (maqsad, ahamiyati, etik muammo, huquqiy holat) talabalar bilan birga to‘ldiring. Tipik xato: terapevtik klonlashni a‘zo yoki odam nusxasini yetishtirish deb tushunish; u embrional ildiz hujayra olishga qaratilgan.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Turli oilada o‘sgan egizaklar nimani ko‘rsatadi? 2) Genotip va shaxsiyat farqi klonlashga qarshi dalillarga qanday ta‘sir qiladi? Doskada: ikki ustun yozing: «Klonlanadi» (genotip) va «Klonlanmaydi» (tarbiya, bilim, shaxsiyat). Tipik xato: klonni odamning ruhiy va aqliy nusxasi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Tabiiy klon (egizaklar) va sun‘iy yadro ko‘chirish o‘rtasidagi etik farq nimada? 2) Bepushtlikda yordam imkoni reproduktiv klonlashni oqlaydimi? Doskada: ikki shoxli sxema chizing: «tabiiy bo‘linish → egizaklar» va «sun‘iy yadro ko‘chirish → e‘tiroz». Tipik xato: e‘tirozni klonning o‘ziga qaratilgan deb o‘ylash; manbaga ko‘ra u usulga qaratilgan. Eslatma: reproduktiv klonlash ko‘p mamlakatda taqiqlangan.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taqiq aynan reproduktiv klonlashga qaratilgan? 2) Nega qolgan masalalar davlatlar ixtiyorida qoldirilgan? Doskada: uch ustunli jadvalni (hujjat — qoida — izoh) talabalar bilan birga to‘ldiring. Tipik xato: taqiqni barcha turdagi klonlashga tegishli deb o‘ylash. Eslatma: manbaning bir joyida deklaratsiya yili 1997, boshqa joyida 1977 deb yozilgan; yilni slaydda aytmang, o‘qituvchi aniqlab olsin.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tezkor so‘rang; talabalar kitobsiz javob bersin. Muhokama: bugungi kunda klonlashning bosh maqsadi qaysi turga tegishli? Doskada: ikki ustun — «terapevtik» va «reproduktiv» — qilib maqsadlarini yozdiring. Tipik xato: reproduktiv klonlashni asosiy maqsad deb hisoblash; manbada u ikkinchi darajali vazifa deyilgan.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Talabalarni ikki guruhga bo‘ling: «ruxsat berish» va «ruxsat bermaslik» tarafi. Muhokama: 1) Og‘ir kasallikni davolash imkoniyati taqiqni yumshatishga asos bo‘ladimi? 2) Embrionning mavqei bu yerda nega hal qiluvchi? Doskada: «terapevtik klonlash → o‘ziga xos embrion → reproduktiv klonlash xavfi» zanjirini chizing. Tipik xato: genotipni takrorlashni shaxsni takrorlash bilan aralashtirish; tabiiy klonlar bo‘lmish bir tuxumli egizaklar bunga misol.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embrion eng yirik manba hisoblanadi, bu qanday axloqiy savol tug‘diradi? 2) Ildiz hujayra ‘har nimaga aylanishi’ nima uchun xavf ham bo‘lishi mumkin? Doskada: to‘rt manbani ustun qilib chizing va embrionni belgilang. Tipik xato: terapevtik klonlashni reproduktiv klonlash (bola tug‘ilishi) bilan aralashtirish. Tezkor savol: ildiz hujayralarning to‘rt manbasini ayting.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Voyaga yetgan bemorni davolash uchun maxsus embrion yaratish mumkinmi? 2) Ayollarga bosim qanday shaklda bo‘lishi mumkin? Doskada: vaqt chizig‘i chizing — urug‘lanish → 14 kun, Britaniya chegarasini belgilang. Tipik xato: 14 kunni butun dunyo uchun yagona qonun deb o‘ylash. Voqea tahlili: klinika davolash uchun ildiz hujayra olmoqchi; ayol donorning roziligi va bosim xavfini baholang.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davlatlar va dinlar embrionga turlicha qaraydi? 2) Shifokor boshqa e’tiqoddagi bemor bilan bu mavzuda qanday muomala qilishi kerak? Doskada: Islom (40 kun) va yahudiylik (implantatsiya) qarashlarini ikki ustunda solishtiring. Tipik xato: barcha dinlar bir xil qarashda deb o‘ylash. Tezkor savol: islomda embrionga ruxsat necha kungacha berilgan?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Embrion mavqei haqidagi qarash ildiz hujayra tadqiqotiga qanday ta’sir qiladi? 2) Nega bir dinning ichida ham qarashlar farq qilishi mumkin? Doskada: uch cherkovni ustun qilib chizib, har birining chegarasini (urug‘lanish / implantatsiya / keyin) belgilang. Tipik xato: protestant va katolik qarashini bir xil deb olish. Eslatma: manbadagi protestant haqidagi ibora noaniq, talabalarga ehtiyotkorlik bilan aytilsin.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aniq belgilangan qonun va maxsus idora kerak? 2) Ruxsat doirasining kengayishi qanday xavf tug‘dirishi mumkin? Doskada: besh bosqichli zanjirni chizib, har bosqichga bitta so‘z izoh yozing. Tipik xato: 1990-yil aktini 2000-yildagi ekspert hisoboti bilan aralashtirish. Qo‘shimcha: embrion yoshi chegarasi 14 kun (jinsiy hujayralar qo‘shilgandan boshlab).</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bir xil Yevropa ichida qonunlar bunchalik farq qiladi? 2) Embrion tadqiqoti bilan abort o‘rtasidagi o‘xshashlik nimada? Doskada: to‘rt guruhni xaritasiz, faqat ro‘yxat ko‘rinishida yozing. Tipik xato: ‘qonun yo‘q’ degani ‘taqiqlangan’ degani deb o‘ylash (Belgiya va Niderlandiyada tadqiqot qonunsiz o‘tkaziladi). Fransiyada embrionni zarar yetkazmasdan o‘rganish va implantatsiyadan oldingi diagnostika imkoniyati bor.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Embrion mavqei tadqiqotga munosabatni qanday belgilaydi? 2) Milliy konstitutsiya va xalqaro sud qarori to‘qnashsa, nima bo‘ladi? Doskada: ikki ustunli chizma (embrion tadqiqoti | abort) va o‘xshash jihatlarni yozing. Tipik xato: Irlandiya qoidasini butun Yevropa Ittifoqiga umumlashtirish.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Moliyalashni taqiqlash tadqiqotni to‘liq to‘xtatadimi? 2) Konvensiya nega embrion yaratishni taqiqlaydi? Doskada: jadvalni daftarga ko‘chirib, har hujjat darajasini (shtat, federal, Yevropa) belgilang. Tipik xato: federal moliyalash taqiqini tadqiqotning o‘zi taqiqlangan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Plyuralistik dunyoda yagona axloqiy norma mumkinmi? 2) Davlat qonuni diniy qarashga qanchalik tayanishi kerak? Doskada: to‘rt davlat (Buyuk Britaniya, Fransiya, Germaniya, Niderlandiya) va ularning yondashuvini strelkalar bilan chizing. Tipik xato: bir davlat misolini butun Yevropa siyosati deb umumlashtirish.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Embrion maqomi nima uchun hal qiluvchi? 2) Qaysi yondashuvni qo‘llab-quvvatlaysiz va nega? Doskaga: uch yondashuv jadvalini chizdiring va har biriga bittadan dalil yozdiring. Tipik xato: talabalar shartli ruxsatni erkin ruxsat deb tushunadi.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Kasallik belgisiz bo‘lsa, natijani kimga aytish kerak? 2) Qarindoshlar bilish huquqiga egami? Doskaga: qaror qabul qiluvchilar zanjirini chizdiring. Tipik xato: talabalar qarorni har doim bemorning o‘zi qabul qiladi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Zarar yetkazma tamoyili ildiz hujayra davosida nega murakkablashadi? 2) Noaniq uzoq oqibatlarda bemorga nimani tushuntirish kerak? Doskaga: «xavf» va «foyda» ustunli ikki ustunni chizdiring. Tipik xato: nazariy xavfni isbotlangan fakt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Homila jinsini aniqlash nega notibbiy maqsad hisoblanadi? 2) Implantatsiyadan oldingi diagnostikada qanday yangi xavflar paydo bo‘ladi? Doskada chizish: ikki ustun, «tibbiy maqsad» va «notibbiy maqsad», har biriga misol yozing. Tipik xato: talabalar prenatal diagnostikaning o‘zini taqiqlangan deb o‘ylaydi. Aslida masala uning notibbiy maqsadda ishlatilishida.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Terapevtik klonlashga ruxsat berilsa, u reproduktiv klonlashga olib kelmaydimi? 2) Embrionga qaysi yoshgacha «embrion» sifatida qarash mumkin? Doskada chizish: «klonlash – ildiz hujayra – genetik muhandislik» zanjiri, har bo‘g‘inga bitta asosiy etik savol yozing. Tipik xato: genotipning takrorlanishini shaxsiyatning takrorlanishi bilan adashtirish (genotip ≠ shaxsiyat).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Biotexnologiya, bioxavfsizlik va genetik muhandislik: ildiz hujayralar, klonlashning bioetik jihatlari (A9)</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o‘quv maqsadlari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Biotibbiyot va biotexnologiyaning tez rivoji axloqiy jihatdan juda murakkab savollarni kun tartibiga qo‘ydi: inson hujayralarini klonlash, genetik testlash, ildiz hujayralar.</a:t>
            </a:r>
          </a:p>
          <a:p>
            <a:pPr>
              <a:spcAft>
                <a:spcPts val="1200"/>
              </a:spcAft>
            </a:pPr>
            <a:r>
              <a:rPr sz="2200">
                <a:solidFill>
                  <a:srgbClr val="1F2937"/>
                </a:solidFill>
                <a:latin typeface="Calibri"/>
              </a:rPr>
              <a:t>▸  Ildiz hujayralar asosan inson embrionidan olinadi. Shu sabab embrion maqomi haqidagi bahs eng keskin bioetik masalalardan biriga aylangan.</a:t>
            </a:r>
          </a:p>
          <a:p>
            <a:pPr>
              <a:spcAft>
                <a:spcPts val="1200"/>
              </a:spcAft>
            </a:pPr>
            <a:r>
              <a:rPr sz="2200">
                <a:solidFill>
                  <a:srgbClr val="1F2937"/>
                </a:solidFill>
                <a:latin typeface="Calibri"/>
              </a:rPr>
              <a:t>▸  Dars rejasi: klonlash tushunchasi, Dolli tajribasi, terapevtik va reproduktiv klonlash, ildiz hujayra manbalari, din va davlatlarning yondashuvi.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Klonlash tushunchasi va atamasi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Klonlash (inglizcha cloning) — biror obyektni aniq o‘xshash qilib qayta ishlab chiqarish. Natijada hosil bo‘lgan obyektlar klon deb ataladi.</a:t>
            </a:r>
          </a:p>
          <a:p>
            <a:pPr>
              <a:spcAft>
                <a:spcPts val="1200"/>
              </a:spcAft>
            </a:pPr>
            <a:r>
              <a:rPr sz="2200">
                <a:solidFill>
                  <a:srgbClr val="1F2937"/>
                </a:solidFill>
                <a:latin typeface="Calibri"/>
              </a:rPr>
              <a:t>▸  Atama yunoncha so‘zdan kelib chiqqan va shoxcha, novda, bachki degan ma’noni bildiradi.</a:t>
            </a:r>
          </a:p>
          <a:p>
            <a:pPr>
              <a:spcAft>
                <a:spcPts val="1200"/>
              </a:spcAft>
            </a:pPr>
            <a:r>
              <a:rPr sz="2200">
                <a:solidFill>
                  <a:srgbClr val="1F2937"/>
                </a:solidFill>
                <a:latin typeface="Calibri"/>
              </a:rPr>
              <a:t>▸  Biologiyada atama ikki ma’noda ishlatiladi: tabiiy yo‘l bilan yuzaga kelish yoki genetik jihatdan o‘xshash organizmlarni jinssiz ko‘paytirib olish.</a:t>
            </a:r>
          </a:p>
          <a:p>
            <a:pPr>
              <a:spcAft>
                <a:spcPts val="1200"/>
              </a:spcAft>
            </a:pPr>
            <a:r>
              <a:rPr sz="2200">
                <a:solidFill>
                  <a:srgbClr val="1F2937"/>
                </a:solidFill>
                <a:latin typeface="Calibri"/>
              </a:rPr>
              <a:t>▸  Diqqat: xato qilish xavfi — klon (hosil bo‘lgan nusxa organizm) va klonlash (uni olish jarayoni) bir narsa emas, ularni aralashtirmang.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ko‘payish va klonlash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Gametada xromosomalar haploid to‘plamda, shu sabab u o‘zicha yangi organizmgacha rivojlana olmaydi.</a:t>
            </a:r>
          </a:p>
          <a:p>
            <a:pPr>
              <a:spcAft>
                <a:spcPts val="800"/>
              </a:spcAft>
            </a:pPr>
            <a:r>
              <a:rPr sz="1800">
                <a:solidFill>
                  <a:srgbClr val="1F2937"/>
                </a:solidFill>
                <a:latin typeface="Calibri"/>
              </a:rPr>
              <a:t>▸  Urug‘lantirishda zigota va yangi genom hosil bo‘ladi, shu sabab ona avlodda to‘liq takrorlanmaydi.</a:t>
            </a:r>
          </a:p>
          <a:p>
            <a:pPr>
              <a:spcAft>
                <a:spcPts val="800"/>
              </a:spcAft>
            </a:pPr>
            <a:r>
              <a:rPr sz="1800">
                <a:solidFill>
                  <a:srgbClr val="1F2937"/>
                </a:solidFill>
                <a:latin typeface="Calibri"/>
              </a:rPr>
              <a:t>▸  Ona genetik ma’lumoti o‘zgarishsiz o‘tsagina, uni to‘liq takrorlaydigan organizmlarni olish mumkin.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Gameta: haploid xromosomalar</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Urug‘lantirish (ikki gameta)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Zigota — yangi hujayra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genom: ona takrorlanmaydi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Jinsiy ko‘payish zanjiri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Tabiiy klonlar: monozigotali egizaklar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Zigota erta bosqichda bo‘linsa, ikki bolaning genomi bir xil bo‘ladi.</a:t>
            </a:r>
          </a:p>
          <a:p>
            <a:pPr>
              <a:spcAft>
                <a:spcPts val="800"/>
              </a:spcAft>
            </a:pPr>
            <a:r>
              <a:rPr sz="1800">
                <a:solidFill>
                  <a:srgbClr val="1F2937"/>
                </a:solidFill>
                <a:latin typeface="Calibri"/>
              </a:rPr>
              <a:t>▸  Monozigotali egizaklar haqiqiy klonlardir: ular bir jinsli va juda o‘xshash bo‘ladi.</a:t>
            </a:r>
          </a:p>
          <a:p>
            <a:pPr>
              <a:spcAft>
                <a:spcPts val="800"/>
              </a:spcAft>
            </a:pPr>
            <a:r>
              <a:rPr sz="1800">
                <a:solidFill>
                  <a:srgbClr val="1F2937"/>
                </a:solidFill>
                <a:latin typeface="Calibri"/>
              </a:rPr>
              <a:t>▸  Rasm yozuviga ko‘ra, dizigotali egizaklarda genotip va fenotip har xil. (?)</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10850"/>
                <a:gridCol w="1699706"/>
                <a:gridCol w="2077418"/>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Monozigotali</a:t>
                      </a:r>
                    </a:p>
                  </a:txBody>
                  <a:tcPr marL="73152" marR="73152" marT="36576" marB="36576">
                    <a:solidFill>
                      <a:srgbClr val="0B1F3A"/>
                    </a:solidFill>
                  </a:tcPr>
                </a:tc>
                <a:tc>
                  <a:txBody>
                    <a:bodyPr/>
                    <a:lstStyle/>
                    <a:p>
                      <a:r>
                        <a:rPr sz="1300" b="1">
                          <a:solidFill>
                            <a:srgbClr val="FFFFFF"/>
                          </a:solidFill>
                        </a:rPr>
                        <a:t>Dizigotali</a:t>
                      </a:r>
                    </a:p>
                  </a:txBody>
                  <a:tcPr marL="73152" marR="73152" marT="36576" marB="36576">
                    <a:solidFill>
                      <a:srgbClr val="0B1F3A"/>
                    </a:solidFill>
                  </a:tcPr>
                </a:tc>
              </a:tr>
              <a:tr h="411480">
                <a:tc>
                  <a:txBody>
                    <a:bodyPr/>
                    <a:lstStyle/>
                    <a:p>
                      <a:r>
                        <a:rPr sz="1200" b="0">
                          <a:solidFill>
                            <a:srgbClr val="1F2937"/>
                          </a:solidFill>
                        </a:rPr>
                        <a:t>Genom</a:t>
                      </a:r>
                    </a:p>
                  </a:txBody>
                  <a:tcPr marL="73152" marR="73152" marT="36576" marB="36576">
                    <a:solidFill>
                      <a:srgbClr val="E8EEF6"/>
                    </a:solidFill>
                  </a:tcPr>
                </a:tc>
                <a:tc>
                  <a:txBody>
                    <a:bodyPr/>
                    <a:lstStyle/>
                    <a:p>
                      <a:r>
                        <a:rPr sz="1200" b="0">
                          <a:solidFill>
                            <a:srgbClr val="1F2937"/>
                          </a:solidFill>
                        </a:rPr>
                        <a:t>Bir xil</a:t>
                      </a:r>
                    </a:p>
                  </a:txBody>
                  <a:tcPr marL="73152" marR="73152" marT="36576" marB="36576">
                    <a:solidFill>
                      <a:srgbClr val="E8EEF6"/>
                    </a:solidFill>
                  </a:tcPr>
                </a:tc>
                <a:tc>
                  <a:txBody>
                    <a:bodyPr/>
                    <a:lstStyle/>
                    <a:p>
                      <a:r>
                        <a:rPr sz="1200" b="0">
                          <a:solidFill>
                            <a:srgbClr val="1F2937"/>
                          </a:solidFill>
                        </a:rPr>
                        <a:t>Har xil genotip</a:t>
                      </a:r>
                    </a:p>
                  </a:txBody>
                  <a:tcPr marL="73152" marR="73152" marT="36576" marB="36576">
                    <a:solidFill>
                      <a:srgbClr val="E8EEF6"/>
                    </a:solidFill>
                  </a:tcPr>
                </a:tc>
              </a:tr>
              <a:tr h="411480">
                <a:tc>
                  <a:txBody>
                    <a:bodyPr/>
                    <a:lstStyle/>
                    <a:p>
                      <a:r>
                        <a:rPr sz="1200" b="0">
                          <a:solidFill>
                            <a:srgbClr val="1F2937"/>
                          </a:solidFill>
                        </a:rPr>
                        <a:t>Jins</a:t>
                      </a:r>
                    </a:p>
                  </a:txBody>
                  <a:tcPr marL="73152" marR="73152" marT="36576" marB="36576">
                    <a:solidFill>
                      <a:srgbClr val="FFFFFF"/>
                    </a:solidFill>
                  </a:tcPr>
                </a:tc>
                <a:tc>
                  <a:txBody>
                    <a:bodyPr/>
                    <a:lstStyle/>
                    <a:p>
                      <a:r>
                        <a:rPr sz="1200" b="0">
                          <a:solidFill>
                            <a:srgbClr val="1F2937"/>
                          </a:solidFill>
                        </a:rPr>
                        <a:t>Doim bir jinsli</a:t>
                      </a:r>
                    </a:p>
                  </a:txBody>
                  <a:tcPr marL="73152" marR="73152" marT="36576" marB="36576">
                    <a:solidFill>
                      <a:srgbClr val="FFFFFF"/>
                    </a:solidFill>
                  </a:tcPr>
                </a:tc>
                <a:tc>
                  <a:txBody>
                    <a:bodyPr/>
                    <a:lstStyle/>
                    <a:p>
                      <a:r>
                        <a:rPr sz="1200" b="0">
                          <a:solidFill>
                            <a:srgbClr val="1F2937"/>
                          </a:solidFill>
                        </a:rPr>
                        <a:t>Monozigotalidan farqli</a:t>
                      </a:r>
                    </a:p>
                  </a:txBody>
                  <a:tcPr marL="73152" marR="73152" marT="36576" marB="36576">
                    <a:solidFill>
                      <a:srgbClr val="FFFFFF"/>
                    </a:solidFill>
                  </a:tcPr>
                </a:tc>
              </a:tr>
              <a:tr h="411480">
                <a:tc>
                  <a:txBody>
                    <a:bodyPr/>
                    <a:lstStyle/>
                    <a:p>
                      <a:r>
                        <a:rPr sz="1200" b="0">
                          <a:solidFill>
                            <a:srgbClr val="1F2937"/>
                          </a:solidFill>
                        </a:rPr>
                        <a:t>O‘xshashlik</a:t>
                      </a:r>
                    </a:p>
                  </a:txBody>
                  <a:tcPr marL="73152" marR="73152" marT="36576" marB="36576">
                    <a:solidFill>
                      <a:srgbClr val="E8EEF6"/>
                    </a:solidFill>
                  </a:tcPr>
                </a:tc>
                <a:tc>
                  <a:txBody>
                    <a:bodyPr/>
                    <a:lstStyle/>
                    <a:p>
                      <a:r>
                        <a:rPr sz="1200" b="0">
                          <a:solidFill>
                            <a:srgbClr val="1F2937"/>
                          </a:solidFill>
                        </a:rPr>
                        <a:t>Juda o‘xshash</a:t>
                      </a:r>
                    </a:p>
                  </a:txBody>
                  <a:tcPr marL="73152" marR="73152" marT="36576" marB="36576">
                    <a:solidFill>
                      <a:srgbClr val="E8EEF6"/>
                    </a:solidFill>
                  </a:tcPr>
                </a:tc>
                <a:tc>
                  <a:txBody>
                    <a:bodyPr/>
                    <a:lstStyle/>
                    <a:p>
                      <a:r>
                        <a:rPr sz="1200" b="0">
                          <a:solidFill>
                            <a:srgbClr val="1F2937"/>
                          </a:solidFill>
                        </a:rPr>
                        <a:t>Bir xil emas</a:t>
                      </a:r>
                    </a:p>
                  </a:txBody>
                  <a:tcPr marL="73152" marR="73152" marT="36576" marB="36576">
                    <a:solidFill>
                      <a:srgbClr val="E8EEF6"/>
                    </a:solidFill>
                  </a:tcPr>
                </a:tc>
              </a:tr>
              <a:tr h="411480">
                <a:tc>
                  <a:txBody>
                    <a:bodyPr/>
                    <a:lstStyle/>
                    <a:p>
                      <a:r>
                        <a:rPr sz="1200" b="0">
                          <a:solidFill>
                            <a:srgbClr val="1F2937"/>
                          </a:solidFill>
                        </a:rPr>
                        <a:t>Klonmi?</a:t>
                      </a:r>
                    </a:p>
                  </a:txBody>
                  <a:tcPr marL="73152" marR="73152" marT="36576" marB="36576">
                    <a:solidFill>
                      <a:srgbClr val="FFFFFF"/>
                    </a:solidFill>
                  </a:tcPr>
                </a:tc>
                <a:tc>
                  <a:txBody>
                    <a:bodyPr/>
                    <a:lstStyle/>
                    <a:p>
                      <a:r>
                        <a:rPr sz="1200" b="0">
                          <a:solidFill>
                            <a:srgbClr val="1F2937"/>
                          </a:solidFill>
                        </a:rPr>
                        <a:t>Ha, tabiiy klon</a:t>
                      </a:r>
                    </a:p>
                  </a:txBody>
                  <a:tcPr marL="73152" marR="73152" marT="36576" marB="36576">
                    <a:solidFill>
                      <a:srgbClr val="FFFFFF"/>
                    </a:solidFill>
                  </a:tcPr>
                </a:tc>
                <a:tc>
                  <a:txBody>
                    <a:bodyPr/>
                    <a:lstStyle/>
                    <a:p>
                      <a:r>
                        <a:rPr sz="1200" b="0">
                          <a:solidFill>
                            <a:srgbClr val="1F2937"/>
                          </a:solidFill>
                        </a:rPr>
                        <a:t>Matnda klon deyilmagan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Egizak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 (3.2-bo‘lim)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Blastomerlar va o‘simliklarda totipotentlik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Sut emizuvchilar, jumladan inson embrioni, rivojlanishning dastlabki bosqichida (8 blastomer bosqichigacha) zararsiz alohida blastomerlarga bo‘linishi mumkin.</a:t>
            </a:r>
          </a:p>
          <a:p>
            <a:pPr>
              <a:spcAft>
                <a:spcPts val="1200"/>
              </a:spcAft>
            </a:pPr>
            <a:r>
              <a:rPr sz="2200">
                <a:solidFill>
                  <a:srgbClr val="1F2937"/>
                </a:solidFill>
                <a:latin typeface="Calibri"/>
              </a:rPr>
              <a:t>▸  Ma’lum sharoitda bu blastomerlardan monozigotali egizaklarga o‘xshab, genotipi bir xil zotlar paydo bo‘lishi mumkin.</a:t>
            </a:r>
          </a:p>
          <a:p>
            <a:pPr>
              <a:spcAft>
                <a:spcPts val="1200"/>
              </a:spcAft>
            </a:pPr>
            <a:r>
              <a:rPr sz="2200">
                <a:solidFill>
                  <a:srgbClr val="1F2937"/>
                </a:solidFill>
                <a:latin typeface="Calibri"/>
              </a:rPr>
              <a:t>▸  Masalan, bitta 8 hujayrali embriondan bir-biriga mutlaqo o‘xshash 8 o‘g‘il yoki 8 qiz tug‘ilishi mumkin.</a:t>
            </a:r>
          </a:p>
          <a:p>
            <a:pPr>
              <a:spcAft>
                <a:spcPts val="1200"/>
              </a:spcAft>
            </a:pPr>
            <a:r>
              <a:rPr sz="2200">
                <a:solidFill>
                  <a:srgbClr val="1F2937"/>
                </a:solidFill>
                <a:latin typeface="Calibri"/>
              </a:rPr>
              <a:t>▸  O‘simliklarda klonlash hayvonlarnikidan keng tarqalgan (vegetativ ko‘payish): hujayralari totipotentligini, ya’ni yadrodagi barcha axborotni amalga oshirish qobiliyatini yo‘qotmaydi.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 (3.2-bo‘lim)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egizaklar va klon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bitta zigota erta bosqichda bo‘lingan, natijada ikki aka-uka tug‘ilgan. Ularning genomi bir xil.</a:t>
            </a:r>
          </a:p>
          <a:p>
            <a:pPr>
              <a:spcAft>
                <a:spcPts val="1200"/>
              </a:spcAft>
            </a:pPr>
            <a:r>
              <a:rPr sz="2200">
                <a:solidFill>
                  <a:srgbClr val="1F2937"/>
                </a:solidFill>
                <a:latin typeface="Calibri"/>
              </a:rPr>
              <a:t>▸  Savol: ular nega tabiiy klon hisoblanadi va ularni sun’iy klonlashdan nima farqlaydi?</a:t>
            </a:r>
          </a:p>
          <a:p>
            <a:pPr>
              <a:spcAft>
                <a:spcPts val="1200"/>
              </a:spcAft>
            </a:pPr>
            <a:r>
              <a:rPr sz="2200">
                <a:solidFill>
                  <a:srgbClr val="1F2937"/>
                </a:solidFill>
                <a:latin typeface="Calibri"/>
              </a:rPr>
              <a:t>▸  Javob: genomi bir xil bo‘lgani uchun. Tabiiy tug‘ilish axloqan benuqson; e’tiroz faqat yadroni sun’iy ko‘chirish texnikasiga qaratiladi.</a:t>
            </a:r>
          </a:p>
          <a:p>
            <a:pPr>
              <a:spcAft>
                <a:spcPts val="1200"/>
              </a:spcAft>
            </a:pPr>
            <a:r>
              <a:rPr sz="2200">
                <a:solidFill>
                  <a:srgbClr val="1F2937"/>
                </a:solidFill>
                <a:latin typeface="Calibri"/>
              </a:rPr>
              <a:t>▸  Diqqat: klon ≠ bir xil shaxs. Faqat genotip takrorlanadi; xarakter va qobiliyat tarbiyada shakllanadi, qiyofa ham farq qilishi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 (3.2-bo‘lim)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klonlash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klon nima? Biror obyektni aniq o‘xshash qilib qayta ishlab chiqarish klonlash, hosil bo‘lgan obyekt esa klon deyiladi.</a:t>
            </a:r>
          </a:p>
          <a:p>
            <a:pPr>
              <a:spcAft>
                <a:spcPts val="1200"/>
              </a:spcAft>
            </a:pPr>
            <a:r>
              <a:rPr sz="2200">
                <a:solidFill>
                  <a:srgbClr val="1F2937"/>
                </a:solidFill>
                <a:latin typeface="Calibri"/>
              </a:rPr>
              <a:t>▸  Savol: nega o‘simliklarda klonlash keng tarqalgan? Ularning hujayralari totipotentlikni, ya’ni yadrodagi barcha axborotni amalga oshirish qobiliyatini yo‘qotmaydi.</a:t>
            </a:r>
          </a:p>
          <a:p>
            <a:pPr>
              <a:spcAft>
                <a:spcPts val="1200"/>
              </a:spcAft>
            </a:pPr>
            <a:r>
              <a:rPr sz="2200">
                <a:solidFill>
                  <a:srgbClr val="1F2937"/>
                </a:solidFill>
                <a:latin typeface="Calibri"/>
              </a:rPr>
              <a:t>▸  Savol: monozigotali egizaklar nega tabiiy klon? Zigota erta bo‘linganda ularning genomi bir xil bo‘ladi, ikkalasi ham bir jinsli.</a:t>
            </a:r>
          </a:p>
          <a:p>
            <a:pPr>
              <a:spcAft>
                <a:spcPts val="1200"/>
              </a:spcAft>
            </a:pPr>
            <a:r>
              <a:rPr sz="2200">
                <a:solidFill>
                  <a:srgbClr val="1F2937"/>
                </a:solidFill>
                <a:latin typeface="Calibri"/>
              </a:rPr>
              <a:t>▸  Diqqat: monozigotali (tuxumdosh) egizaklar ≠ dizigotali egizaklar; haqiqiy klon faqat birinchisi, ikkinchisining genomi bir xil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Klonlash tarixi: Lopashovdan Gerdongacha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Tarix rus embriologi Lopashovning baqalarda yadro ko‘chirish usulidan boshlanadi.</a:t>
            </a:r>
          </a:p>
          <a:p>
            <a:pPr>
              <a:spcAft>
                <a:spcPts val="800"/>
              </a:spcAft>
            </a:pPr>
            <a:r>
              <a:rPr sz="1800">
                <a:solidFill>
                  <a:srgbClr val="1F2937"/>
                </a:solidFill>
                <a:latin typeface="Calibri"/>
              </a:rPr>
              <a:t>▸  Gerdon yadro donori qilib jinsiy emas, itbaliq ichagining ixtisoslashgan epiteliy hujayralarini oldi.</a:t>
            </a:r>
          </a:p>
          <a:p>
            <a:pPr>
              <a:spcAft>
                <a:spcPts val="800"/>
              </a:spcAft>
            </a:pPr>
            <a:r>
              <a:rPr sz="1800">
                <a:solidFill>
                  <a:srgbClr val="1F2937"/>
                </a:solidFill>
                <a:latin typeface="Calibri"/>
              </a:rPr>
              <a:t>▸  Bugungi klonlash tajribalarining barchasi shu yadro ko‘chirish usuliga asoslanadi.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77115"/>
                <a:gridCol w="3710859"/>
              </a:tblGrid>
              <a:tr h="411480">
                <a:tc>
                  <a:txBody>
                    <a:bodyPr/>
                    <a:lstStyle/>
                    <a:p>
                      <a:r>
                        <a:rPr sz="1400" b="1">
                          <a:solidFill>
                            <a:srgbClr val="FFFFFF"/>
                          </a:solidFill>
                        </a:rPr>
                        <a:t>Davr</a:t>
                      </a:r>
                    </a:p>
                  </a:txBody>
                  <a:tcPr marL="73152" marR="73152" marT="36576" marB="36576">
                    <a:solidFill>
                      <a:srgbClr val="0B1F3A"/>
                    </a:solidFill>
                  </a:tcPr>
                </a:tc>
                <a:tc>
                  <a:txBody>
                    <a:bodyPr/>
                    <a:lstStyle/>
                    <a:p>
                      <a:r>
                        <a:rPr sz="1400" b="1">
                          <a:solidFill>
                            <a:srgbClr val="FFFFFF"/>
                          </a:solidFill>
                        </a:rPr>
                        <a:t>Voqea</a:t>
                      </a:r>
                    </a:p>
                  </a:txBody>
                  <a:tcPr marL="73152" marR="73152" marT="36576" marB="36576">
                    <a:solidFill>
                      <a:srgbClr val="0B1F3A"/>
                    </a:solidFill>
                  </a:tcPr>
                </a:tc>
              </a:tr>
              <a:tr h="411480">
                <a:tc>
                  <a:txBody>
                    <a:bodyPr/>
                    <a:lstStyle/>
                    <a:p>
                      <a:r>
                        <a:rPr sz="1300" b="0">
                          <a:solidFill>
                            <a:srgbClr val="1F2937"/>
                          </a:solidFill>
                        </a:rPr>
                        <a:t>XX asr 40-yillari</a:t>
                      </a:r>
                    </a:p>
                  </a:txBody>
                  <a:tcPr marL="73152" marR="73152" marT="36576" marB="36576">
                    <a:solidFill>
                      <a:srgbClr val="E8EEF6"/>
                    </a:solidFill>
                  </a:tcPr>
                </a:tc>
                <a:tc>
                  <a:txBody>
                    <a:bodyPr/>
                    <a:lstStyle/>
                    <a:p>
                      <a:r>
                        <a:rPr sz="1300" b="0">
                          <a:solidFill>
                            <a:srgbClr val="1F2937"/>
                          </a:solidFill>
                        </a:rPr>
                        <a:t>Lopashov baqalarda yadro ko‘chirdi</a:t>
                      </a:r>
                    </a:p>
                  </a:txBody>
                  <a:tcPr marL="73152" marR="73152" marT="36576" marB="36576">
                    <a:solidFill>
                      <a:srgbClr val="E8EEF6"/>
                    </a:solidFill>
                  </a:tcPr>
                </a:tc>
              </a:tr>
              <a:tr h="411480">
                <a:tc>
                  <a:txBody>
                    <a:bodyPr/>
                    <a:lstStyle/>
                    <a:p>
                      <a:r>
                        <a:rPr sz="1300" b="0">
                          <a:solidFill>
                            <a:srgbClr val="1F2937"/>
                          </a:solidFill>
                        </a:rPr>
                        <a:t>1962-yil</a:t>
                      </a:r>
                    </a:p>
                  </a:txBody>
                  <a:tcPr marL="73152" marR="73152" marT="36576" marB="36576">
                    <a:solidFill>
                      <a:srgbClr val="FFFFFF"/>
                    </a:solidFill>
                  </a:tcPr>
                </a:tc>
                <a:tc>
                  <a:txBody>
                    <a:bodyPr/>
                    <a:lstStyle/>
                    <a:p>
                      <a:r>
                        <a:rPr sz="1300" b="0">
                          <a:solidFill>
                            <a:srgbClr val="1F2937"/>
                          </a:solidFill>
                        </a:rPr>
                        <a:t>Gerdon: itbaliq ichagi epiteliysi</a:t>
                      </a:r>
                    </a:p>
                  </a:txBody>
                  <a:tcPr marL="73152" marR="73152" marT="36576" marB="36576">
                    <a:solidFill>
                      <a:srgbClr val="FFFFFF"/>
                    </a:solidFill>
                  </a:tcPr>
                </a:tc>
              </a:tr>
              <a:tr h="411480">
                <a:tc>
                  <a:txBody>
                    <a:bodyPr/>
                    <a:lstStyle/>
                    <a:p>
                      <a:r>
                        <a:rPr sz="1300" b="0">
                          <a:solidFill>
                            <a:srgbClr val="1F2937"/>
                          </a:solidFill>
                        </a:rPr>
                        <a:t>70-yillar oxiri</a:t>
                      </a:r>
                    </a:p>
                  </a:txBody>
                  <a:tcPr marL="73152" marR="73152" marT="36576" marB="36576">
                    <a:solidFill>
                      <a:srgbClr val="E8EEF6"/>
                    </a:solidFill>
                  </a:tcPr>
                </a:tc>
                <a:tc>
                  <a:txBody>
                    <a:bodyPr/>
                    <a:lstStyle/>
                    <a:p>
                      <a:r>
                        <a:rPr sz="1300" b="0">
                          <a:solidFill>
                            <a:srgbClr val="1F2937"/>
                          </a:solidFill>
                        </a:rPr>
                        <a:t>Sut emizuvchilardagi qiyinchilik yengildi</a:t>
                      </a:r>
                    </a:p>
                  </a:txBody>
                  <a:tcPr marL="73152" marR="73152" marT="36576" marB="36576">
                    <a:solidFill>
                      <a:srgbClr val="E8EEF6"/>
                    </a:solidFill>
                  </a:tcPr>
                </a:tc>
              </a:tr>
              <a:tr h="411480">
                <a:tc>
                  <a:txBody>
                    <a:bodyPr/>
                    <a:lstStyle/>
                    <a:p>
                      <a:r>
                        <a:rPr sz="1300" b="0">
                          <a:solidFill>
                            <a:srgbClr val="1F2937"/>
                          </a:solidFill>
                        </a:rPr>
                        <a:t>1996-yil</a:t>
                      </a:r>
                    </a:p>
                  </a:txBody>
                  <a:tcPr marL="73152" marR="73152" marT="36576" marB="36576">
                    <a:solidFill>
                      <a:srgbClr val="FFFFFF"/>
                    </a:solidFill>
                  </a:tcPr>
                </a:tc>
                <a:tc>
                  <a:txBody>
                    <a:bodyPr/>
                    <a:lstStyle/>
                    <a:p>
                      <a:r>
                        <a:rPr sz="1300" b="0">
                          <a:solidFill>
                            <a:srgbClr val="1F2937"/>
                          </a:solidFill>
                        </a:rPr>
                        <a:t>Dolli qo‘yi — katta hayvon klon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Klonlash tarixi vaqt chizig‘i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Yadro ko‘chirish usuli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Usul: somatik hujayra yadrosini ajratib, enukleirlangan (yadrosiz) tuxum hujayraga joylash.</a:t>
            </a:r>
          </a:p>
          <a:p>
            <a:pPr>
              <a:spcAft>
                <a:spcPts val="800"/>
              </a:spcAft>
            </a:pPr>
            <a:r>
              <a:rPr sz="1800">
                <a:solidFill>
                  <a:srgbClr val="1F2937"/>
                </a:solidFill>
                <a:latin typeface="Calibri"/>
              </a:rPr>
              <a:t>▸  Sut emizuvchilar tuxumi amfibiyalarnikidan ming barobar kichik, shuning uchun o‘tish qiyin bo‘lgan.</a:t>
            </a:r>
          </a:p>
          <a:p>
            <a:pPr>
              <a:spcAft>
                <a:spcPts val="800"/>
              </a:spcAft>
            </a:pPr>
            <a:r>
              <a:rPr sz="1800">
                <a:solidFill>
                  <a:srgbClr val="1F2937"/>
                </a:solidFill>
                <a:latin typeface="Calibri"/>
              </a:rPr>
              <a:t>▸  Dollida sut bezi hujayra madaniyatidan olingan yadro donor bo‘lgan (Finn Dorset zoti).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Somatik hujayra yadrosini olish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Tuxumni yadrosizlantirish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Yadroni tuxumga joylash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Rekonstruksiya qilingan tuxum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Klon organizm rivojlanishi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Yadro ko‘chirish jarayoni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Sut emizuvchilarda klonlash qiyinchiliklari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Sut emizuvchilarning tuxum hujayrasi amfibiyalarnikidan ming baravar kichik. Shu sababli amfibiyadan o‘tish qiyin bo‘ldi.</a:t>
            </a:r>
          </a:p>
          <a:p>
            <a:pPr>
              <a:spcAft>
                <a:spcPts val="800"/>
              </a:spcAft>
            </a:pPr>
            <a:r>
              <a:rPr sz="1800">
                <a:solidFill>
                  <a:srgbClr val="1F2937"/>
                </a:solidFill>
                <a:latin typeface="Calibri"/>
              </a:rPr>
              <a:t>▸  Bu qiyinchiliklar 70-yillar oxiriga kelib bartaraf etildi.</a:t>
            </a:r>
          </a:p>
          <a:p>
            <a:pPr>
              <a:spcAft>
                <a:spcPts val="800"/>
              </a:spcAft>
            </a:pPr>
            <a:r>
              <a:rPr sz="1800">
                <a:solidFill>
                  <a:srgbClr val="1F2937"/>
                </a:solidFill>
                <a:latin typeface="Calibri"/>
              </a:rPr>
              <a:t>▸  Diqqat: amfibiya ≠ sut emizuvchi. Ular tuxum hujayrasining o‘lchami bilan farq qiladi.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658972"/>
                <a:gridCol w="3629002"/>
              </a:tblGrid>
              <a:tr h="411480">
                <a:tc>
                  <a:txBody>
                    <a:bodyPr/>
                    <a:lstStyle/>
                    <a:p>
                      <a:r>
                        <a:rPr sz="1400" b="1">
                          <a:solidFill>
                            <a:srgbClr val="FFFFFF"/>
                          </a:solidFill>
                        </a:rPr>
                        <a:t>Davr</a:t>
                      </a:r>
                    </a:p>
                  </a:txBody>
                  <a:tcPr marL="73152" marR="73152" marT="36576" marB="36576">
                    <a:solidFill>
                      <a:srgbClr val="0B1F3A"/>
                    </a:solidFill>
                  </a:tcPr>
                </a:tc>
                <a:tc>
                  <a:txBody>
                    <a:bodyPr/>
                    <a:lstStyle/>
                    <a:p>
                      <a:r>
                        <a:rPr sz="1400" b="1">
                          <a:solidFill>
                            <a:srgbClr val="FFFFFF"/>
                          </a:solidFill>
                        </a:rPr>
                        <a:t>Natija</a:t>
                      </a:r>
                    </a:p>
                  </a:txBody>
                  <a:tcPr marL="73152" marR="73152" marT="36576" marB="36576">
                    <a:solidFill>
                      <a:srgbClr val="0B1F3A"/>
                    </a:solidFill>
                  </a:tcPr>
                </a:tc>
              </a:tr>
              <a:tr h="411480">
                <a:tc>
                  <a:txBody>
                    <a:bodyPr/>
                    <a:lstStyle/>
                    <a:p>
                      <a:r>
                        <a:rPr sz="1300" b="0">
                          <a:solidFill>
                            <a:srgbClr val="1F2937"/>
                          </a:solidFill>
                        </a:rPr>
                        <a:t>70-yillar oxiri</a:t>
                      </a:r>
                    </a:p>
                  </a:txBody>
                  <a:tcPr marL="73152" marR="73152" marT="36576" marB="36576">
                    <a:solidFill>
                      <a:srgbClr val="E8EEF6"/>
                    </a:solidFill>
                  </a:tcPr>
                </a:tc>
                <a:tc>
                  <a:txBody>
                    <a:bodyPr/>
                    <a:lstStyle/>
                    <a:p>
                      <a:r>
                        <a:rPr sz="1300" b="0">
                          <a:solidFill>
                            <a:srgbClr val="1F2937"/>
                          </a:solidFill>
                        </a:rPr>
                        <a:t>Qiyinchiliklar bartaraf etildi</a:t>
                      </a:r>
                    </a:p>
                  </a:txBody>
                  <a:tcPr marL="73152" marR="73152" marT="36576" marB="36576">
                    <a:solidFill>
                      <a:srgbClr val="E8EEF6"/>
                    </a:solidFill>
                  </a:tcPr>
                </a:tc>
              </a:tr>
              <a:tr h="411480">
                <a:tc>
                  <a:txBody>
                    <a:bodyPr/>
                    <a:lstStyle/>
                    <a:p>
                      <a:r>
                        <a:rPr sz="1300" b="0">
                          <a:solidFill>
                            <a:srgbClr val="1F2937"/>
                          </a:solidFill>
                        </a:rPr>
                        <a:t>80-yillar boshi</a:t>
                      </a:r>
                    </a:p>
                  </a:txBody>
                  <a:tcPr marL="73152" marR="73152" marT="36576" marB="36576">
                    <a:solidFill>
                      <a:srgbClr val="FFFFFF"/>
                    </a:solidFill>
                  </a:tcPr>
                </a:tc>
                <a:tc>
                  <a:txBody>
                    <a:bodyPr/>
                    <a:lstStyle/>
                    <a:p>
                      <a:r>
                        <a:rPr sz="1300" b="0">
                          <a:solidFill>
                            <a:srgbClr val="1F2937"/>
                          </a:solidFill>
                        </a:rPr>
                        <a:t>Sichqon embrionlari klonlandi</a:t>
                      </a:r>
                    </a:p>
                  </a:txBody>
                  <a:tcPr marL="73152" marR="73152" marT="36576" marB="36576">
                    <a:solidFill>
                      <a:srgbClr val="FFFFFF"/>
                    </a:solidFill>
                  </a:tcPr>
                </a:tc>
              </a:tr>
              <a:tr h="411480">
                <a:tc>
                  <a:txBody>
                    <a:bodyPr/>
                    <a:lstStyle/>
                    <a:p>
                      <a:r>
                        <a:rPr sz="1300" b="0">
                          <a:solidFill>
                            <a:srgbClr val="1F2937"/>
                          </a:solidFill>
                        </a:rPr>
                        <a:t>80-yillar oxiri</a:t>
                      </a:r>
                    </a:p>
                  </a:txBody>
                  <a:tcPr marL="73152" marR="73152" marT="36576" marB="36576">
                    <a:solidFill>
                      <a:srgbClr val="E8EEF6"/>
                    </a:solidFill>
                  </a:tcPr>
                </a:tc>
                <a:tc>
                  <a:txBody>
                    <a:bodyPr/>
                    <a:lstStyle/>
                    <a:p>
                      <a:r>
                        <a:rPr sz="1300" b="0">
                          <a:solidFill>
                            <a:srgbClr val="1F2937"/>
                          </a:solidFill>
                        </a:rPr>
                        <a:t>Uy quyonlari va yirik uy hayvonlari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Tajribalar bosqichlari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 (3.2-bo‘lim)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Dolli qo‘yi: sut emizuvchining ilk klonlari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1996-yilda Shotlandiyadagi PPL Therapeutics firmasida Dolli qo‘yini klonlash tarixi shov-shuv bo‘ldi.</a:t>
            </a:r>
          </a:p>
          <a:p>
            <a:pPr>
              <a:spcAft>
                <a:spcPts val="1200"/>
              </a:spcAft>
            </a:pPr>
            <a:r>
              <a:rPr sz="2200">
                <a:solidFill>
                  <a:srgbClr val="1F2937"/>
                </a:solidFill>
                <a:latin typeface="Calibri"/>
              </a:rPr>
              <a:t>▸  Yan Vilmut boshchiligidagi olimlar guruhi katta hayvonning somatik hujayralaridan klon hayvon — Dollini yaratdi.</a:t>
            </a:r>
          </a:p>
          <a:p>
            <a:pPr>
              <a:spcAft>
                <a:spcPts val="1200"/>
              </a:spcAft>
            </a:pPr>
            <a:r>
              <a:rPr sz="2200">
                <a:solidFill>
                  <a:srgbClr val="1F2937"/>
                </a:solidFill>
                <a:latin typeface="Calibri"/>
              </a:rPr>
              <a:t>▸  Darslikda Dolli sut emizuvchilarning ilk klonlari sifatida ko‘rsatilgan.</a:t>
            </a:r>
          </a:p>
          <a:p>
            <a:pPr>
              <a:spcAft>
                <a:spcPts val="1200"/>
              </a:spcAft>
            </a:pPr>
            <a:r>
              <a:rPr sz="2200">
                <a:solidFill>
                  <a:srgbClr val="1F2937"/>
                </a:solidFill>
                <a:latin typeface="Calibri"/>
              </a:rPr>
              <a:t>▸  90-yillar o‘rtalarigacha yirik sut emizuvchilarni yadro donori sifatida ishlatish masalasi amalda qo‘yilmagan edi.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 (3.2-bo‘lim)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Dolli qanday yaratildi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Dolli rekonstruksiyalangan tuxum hujayradan paydo bo‘lgan.</a:t>
            </a:r>
          </a:p>
          <a:p>
            <a:pPr>
              <a:spcAft>
                <a:spcPts val="800"/>
              </a:spcAft>
            </a:pPr>
            <a:r>
              <a:rPr sz="1800">
                <a:solidFill>
                  <a:srgbClr val="1F2937"/>
                </a:solidFill>
                <a:latin typeface="Calibri"/>
              </a:rPr>
              <a:t>▸  Yadro donori — ‘Finn Dorset’ zotli qo‘yning sut bezi hujayra kulturasi bo‘lgan.</a:t>
            </a:r>
          </a:p>
          <a:p>
            <a:pPr>
              <a:spcAft>
                <a:spcPts val="800"/>
              </a:spcAft>
            </a:pPr>
            <a:r>
              <a:rPr sz="1800">
                <a:solidFill>
                  <a:srgbClr val="1F2937"/>
                </a:solidFill>
                <a:latin typeface="Calibri"/>
              </a:rPr>
              <a:t>▸  Usul: somatik hujayra yadrosi ajratilib, yadrosiz (enukleirlangan) tuxum hujayraga o‘tkaziladi.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Sut bezi hujayra kulturasi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Yadro ajratib olinadi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Yadrosiz (enukleirlangan) tuxum</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Rekonstruksiyalangan tuxum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Klon: Dolli qo‘yi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Yadro ko‘chirish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 (3.2-bo‘lim)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Hayvonlarni klonlashning amaliy imkoniyatlari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Klonlash qimmatli hayvonlarning genotipini saqlabgina qolmay, ularni cheksiz ko‘paytirish imkonini ham berdi.</a:t>
            </a:r>
          </a:p>
          <a:p>
            <a:pPr>
              <a:spcAft>
                <a:spcPts val="1200"/>
              </a:spcAft>
            </a:pPr>
            <a:r>
              <a:rPr sz="2200">
                <a:solidFill>
                  <a:srgbClr val="1F2937"/>
                </a:solidFill>
                <a:latin typeface="Calibri"/>
              </a:rPr>
              <a:t>▸  Yuqori mahsuldor sigirlarni klonlash qishloq xo‘jaligida inqilob qilishi mumkin: alohida nusxalar emas, butun podalar yaratiladi.</a:t>
            </a:r>
          </a:p>
          <a:p>
            <a:pPr>
              <a:spcAft>
                <a:spcPts val="1200"/>
              </a:spcAft>
            </a:pPr>
            <a:r>
              <a:rPr sz="2200">
                <a:solidFill>
                  <a:srgbClr val="1F2937"/>
                </a:solidFill>
                <a:latin typeface="Calibri"/>
              </a:rPr>
              <a:t>▸  Usul mashhur sport otlari va qimmatbaho mo‘ynali hayvonlarni ko‘paytirishga, noyob va yo‘qolib borayotgan hayvonlarni saqlashga ham tegishli.</a:t>
            </a:r>
          </a:p>
          <a:p>
            <a:pPr>
              <a:spcAft>
                <a:spcPts val="1200"/>
              </a:spcAft>
            </a:pPr>
            <a:r>
              <a:rPr sz="2200">
                <a:solidFill>
                  <a:srgbClr val="1F2937"/>
                </a:solidFill>
                <a:latin typeface="Calibri"/>
              </a:rPr>
              <a:t>▸  Diqqat: turlararo yadro ko‘chirish yo‘qolish arafasidagi turlarni qutqarishda yangi istiqbol ochishi «mumkin» — bu hali kafolatlangan natija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Dolli va jamoatchilik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1996-yilda Shotlandiyadagi PPL Therapeutics firmasida Yan Vilmut guruhi katta yoshdagi qo‘yning somatik hujayralaridan Dolli laqabli klon qo‘yni yaratdi.</a:t>
            </a:r>
          </a:p>
          <a:p>
            <a:pPr>
              <a:spcAft>
                <a:spcPts val="1200"/>
              </a:spcAft>
            </a:pPr>
            <a:r>
              <a:rPr sz="2200">
                <a:solidFill>
                  <a:srgbClr val="1F2937"/>
                </a:solidFill>
                <a:latin typeface="Calibri"/>
              </a:rPr>
              <a:t>▸  Dolli rekonstruksiyalangan tuxum hujayradan paydo bo‘lgan. Yadro donori — «Finn Dorset» zotli qo‘yning sut bezi hujayra kulturasi.</a:t>
            </a:r>
          </a:p>
          <a:p>
            <a:pPr>
              <a:spcAft>
                <a:spcPts val="1200"/>
              </a:spcAft>
            </a:pPr>
            <a:r>
              <a:rPr sz="2200">
                <a:solidFill>
                  <a:srgbClr val="1F2937"/>
                </a:solidFill>
                <a:latin typeface="Calibri"/>
              </a:rPr>
              <a:t>▸  Ayrim olimlar taxminicha, odamni klonlashgacha atigi 10 yil qolgan edi. Bu jamoatchilik oldiga bir qator etik va falsafiy savollarni qo‘ydi.</a:t>
            </a:r>
          </a:p>
          <a:p>
            <a:pPr>
              <a:spcAft>
                <a:spcPts val="1200"/>
              </a:spcAft>
            </a:pPr>
            <a:r>
              <a:rPr sz="2200">
                <a:solidFill>
                  <a:srgbClr val="1F2937"/>
                </a:solidFill>
                <a:latin typeface="Calibri"/>
              </a:rPr>
              <a:t>▸  Savol: nega Dolli yaratilgach jamiyat xavotirga tushdi? Katta hayvon somatik hujayrasidan klon olinishi nimani anglatadi?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Inson klonlash: isbotlangan fakt yo‘q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Hozirgi kunga kelib ham inson klonlanganining isbotlangan fakti mavjud emas.</a:t>
            </a:r>
          </a:p>
          <a:p>
            <a:pPr>
              <a:spcAft>
                <a:spcPts val="1200"/>
              </a:spcAft>
            </a:pPr>
            <a:r>
              <a:rPr sz="2200">
                <a:solidFill>
                  <a:srgbClr val="1F2937"/>
                </a:solidFill>
                <a:latin typeface="Calibri"/>
              </a:rPr>
              <a:t>▸  Inson klonlashning asosiy maqsadi — shaxsiy embrional ildiz hujayralar va ulardan o‘stirilgan a’zo hamda to‘qimalarni olish. Bu yo‘nalish terapevtik klonlash deyiladi.</a:t>
            </a:r>
          </a:p>
          <a:p>
            <a:pPr>
              <a:spcAft>
                <a:spcPts val="1200"/>
              </a:spcAft>
            </a:pPr>
            <a:r>
              <a:rPr sz="2200">
                <a:solidFill>
                  <a:srgbClr val="1F2937"/>
                </a:solidFill>
                <a:latin typeface="Calibri"/>
              </a:rPr>
              <a:t>▸  Reproduktiv klonlash, ya’ni yetilgan organizmni yetishtirish, ikkinchi darajali vazifa. U bepushtlik muammosini hal qilish nuqtai nazaridan ko‘riladi.</a:t>
            </a:r>
          </a:p>
          <a:p>
            <a:pPr>
              <a:spcAft>
                <a:spcPts val="1200"/>
              </a:spcAft>
            </a:pPr>
            <a:r>
              <a:rPr sz="2200">
                <a:solidFill>
                  <a:srgbClr val="1F2937"/>
                </a:solidFill>
                <a:latin typeface="Calibri"/>
              </a:rPr>
              <a:t>▸  Diqqat: terapevtik ≠ reproduktiv klonlash. Ko‘p axloqiy muammo va xurofotni aynan reproduktiv klonlash keltirib chiqargan.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Terapevtik va reproduktiv klonlash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Hozir klonlashning bosh maqsadi reproduktiv emas, terapevtik yo‘nalish: embrional ildiz hujayralar olish.</a:t>
            </a:r>
          </a:p>
          <a:p>
            <a:pPr>
              <a:spcAft>
                <a:spcPts val="800"/>
              </a:spcAft>
            </a:pPr>
            <a:r>
              <a:rPr sz="1800">
                <a:solidFill>
                  <a:srgbClr val="1F2937"/>
                </a:solidFill>
                <a:latin typeface="Calibri"/>
              </a:rPr>
              <a:t>▸  Reproduktiv klonlash yetilgan organizm yetishtirishdir. U ko‘plab axloqiy muammo va xurofotlarni keltirib chiqargan.</a:t>
            </a:r>
          </a:p>
          <a:p>
            <a:pPr>
              <a:spcAft>
                <a:spcPts val="800"/>
              </a:spcAft>
            </a:pPr>
            <a:r>
              <a:rPr sz="1800">
                <a:solidFill>
                  <a:srgbClr val="1F2937"/>
                </a:solidFill>
                <a:latin typeface="Calibri"/>
              </a:rPr>
              <a:t>▸  Terapevtik klonlashda 14 kunlik embriondan foydalaniladi; shu sabab embrion mavqei haqida savollar tug‘iladi.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Terapevtik</a:t>
                      </a:r>
                    </a:p>
                  </a:txBody>
                  <a:tcPr marL="73152" marR="73152" marT="36576" marB="36576">
                    <a:solidFill>
                      <a:srgbClr val="0B1F3A"/>
                    </a:solidFill>
                  </a:tcPr>
                </a:tc>
                <a:tc>
                  <a:txBody>
                    <a:bodyPr/>
                    <a:lstStyle/>
                    <a:p>
                      <a:r>
                        <a:rPr sz="1300" b="1">
                          <a:solidFill>
                            <a:srgbClr val="FFFFFF"/>
                          </a:solidFill>
                        </a:rPr>
                        <a:t>Reproduktiv</a:t>
                      </a:r>
                    </a:p>
                  </a:txBody>
                  <a:tcPr marL="73152" marR="73152" marT="36576" marB="36576">
                    <a:solidFill>
                      <a:srgbClr val="0B1F3A"/>
                    </a:solidFill>
                  </a:tcPr>
                </a:tc>
              </a:tr>
              <a:tr h="411480">
                <a:tc>
                  <a:txBody>
                    <a:bodyPr/>
                    <a:lstStyle/>
                    <a:p>
                      <a:r>
                        <a:rPr sz="1200" b="0">
                          <a:solidFill>
                            <a:srgbClr val="1F2937"/>
                          </a:solidFill>
                        </a:rPr>
                        <a:t>Maqsad</a:t>
                      </a:r>
                    </a:p>
                  </a:txBody>
                  <a:tcPr marL="73152" marR="73152" marT="36576" marB="36576">
                    <a:solidFill>
                      <a:srgbClr val="E8EEF6"/>
                    </a:solidFill>
                  </a:tcPr>
                </a:tc>
                <a:tc>
                  <a:txBody>
                    <a:bodyPr/>
                    <a:lstStyle/>
                    <a:p>
                      <a:r>
                        <a:rPr sz="1200" b="0">
                          <a:solidFill>
                            <a:srgbClr val="1F2937"/>
                          </a:solidFill>
                        </a:rPr>
                        <a:t>Shaxsiy embrional ildiz hujayra, a‘zo, to‘qima olish</a:t>
                      </a:r>
                    </a:p>
                  </a:txBody>
                  <a:tcPr marL="73152" marR="73152" marT="36576" marB="36576">
                    <a:solidFill>
                      <a:srgbClr val="E8EEF6"/>
                    </a:solidFill>
                  </a:tcPr>
                </a:tc>
                <a:tc>
                  <a:txBody>
                    <a:bodyPr/>
                    <a:lstStyle/>
                    <a:p>
                      <a:r>
                        <a:rPr sz="1200" b="0">
                          <a:solidFill>
                            <a:srgbClr val="1F2937"/>
                          </a:solidFill>
                        </a:rPr>
                        <a:t>Yetilgan organizmni yetishtirish</a:t>
                      </a:r>
                    </a:p>
                  </a:txBody>
                  <a:tcPr marL="73152" marR="73152" marT="36576" marB="36576">
                    <a:solidFill>
                      <a:srgbClr val="E8EEF6"/>
                    </a:solidFill>
                  </a:tcPr>
                </a:tc>
              </a:tr>
              <a:tr h="411480">
                <a:tc>
                  <a:txBody>
                    <a:bodyPr/>
                    <a:lstStyle/>
                    <a:p>
                      <a:r>
                        <a:rPr sz="1200" b="0">
                          <a:solidFill>
                            <a:srgbClr val="1F2937"/>
                          </a:solidFill>
                        </a:rPr>
                        <a:t>Ahamiyati</a:t>
                      </a:r>
                    </a:p>
                  </a:txBody>
                  <a:tcPr marL="73152" marR="73152" marT="36576" marB="36576">
                    <a:solidFill>
                      <a:srgbClr val="FFFFFF"/>
                    </a:solidFill>
                  </a:tcPr>
                </a:tc>
                <a:tc>
                  <a:txBody>
                    <a:bodyPr/>
                    <a:lstStyle/>
                    <a:p>
                      <a:r>
                        <a:rPr sz="1200" b="0">
                          <a:solidFill>
                            <a:srgbClr val="1F2937"/>
                          </a:solidFill>
                        </a:rPr>
                        <a:t>Hozirgi asosiy maqsad</a:t>
                      </a:r>
                    </a:p>
                  </a:txBody>
                  <a:tcPr marL="73152" marR="73152" marT="36576" marB="36576">
                    <a:solidFill>
                      <a:srgbClr val="FFFFFF"/>
                    </a:solidFill>
                  </a:tcPr>
                </a:tc>
                <a:tc>
                  <a:txBody>
                    <a:bodyPr/>
                    <a:lstStyle/>
                    <a:p>
                      <a:r>
                        <a:rPr sz="1200" b="0">
                          <a:solidFill>
                            <a:srgbClr val="1F2937"/>
                          </a:solidFill>
                        </a:rPr>
                        <a:t>Ikkinchi darajali; bepushtlikni hal qilish</a:t>
                      </a:r>
                    </a:p>
                  </a:txBody>
                  <a:tcPr marL="73152" marR="73152" marT="36576" marB="36576">
                    <a:solidFill>
                      <a:srgbClr val="FFFFFF"/>
                    </a:solidFill>
                  </a:tcPr>
                </a:tc>
              </a:tr>
              <a:tr h="411480">
                <a:tc>
                  <a:txBody>
                    <a:bodyPr/>
                    <a:lstStyle/>
                    <a:p>
                      <a:r>
                        <a:rPr sz="1200" b="0">
                          <a:solidFill>
                            <a:srgbClr val="1F2937"/>
                          </a:solidFill>
                        </a:rPr>
                        <a:t>Etik muammo</a:t>
                      </a:r>
                    </a:p>
                  </a:txBody>
                  <a:tcPr marL="73152" marR="73152" marT="36576" marB="36576">
                    <a:solidFill>
                      <a:srgbClr val="E8EEF6"/>
                    </a:solidFill>
                  </a:tcPr>
                </a:tc>
                <a:tc>
                  <a:txBody>
                    <a:bodyPr/>
                    <a:lstStyle/>
                    <a:p>
                      <a:r>
                        <a:rPr sz="1200" b="0">
                          <a:solidFill>
                            <a:srgbClr val="1F2937"/>
                          </a:solidFill>
                        </a:rPr>
                        <a:t>Embrion mavqei; ayollarga bosim</a:t>
                      </a:r>
                    </a:p>
                  </a:txBody>
                  <a:tcPr marL="73152" marR="73152" marT="36576" marB="36576">
                    <a:solidFill>
                      <a:srgbClr val="E8EEF6"/>
                    </a:solidFill>
                  </a:tcPr>
                </a:tc>
                <a:tc>
                  <a:txBody>
                    <a:bodyPr/>
                    <a:lstStyle/>
                    <a:p>
                      <a:r>
                        <a:rPr sz="1200" b="0">
                          <a:solidFill>
                            <a:srgbClr val="1F2937"/>
                          </a:solidFill>
                        </a:rPr>
                        <a:t>Ko‘plab axloqiy muammo va xurofot</a:t>
                      </a:r>
                    </a:p>
                  </a:txBody>
                  <a:tcPr marL="73152" marR="73152" marT="36576" marB="36576">
                    <a:solidFill>
                      <a:srgbClr val="E8EEF6"/>
                    </a:solidFill>
                  </a:tcPr>
                </a:tc>
              </a:tr>
              <a:tr h="411480">
                <a:tc>
                  <a:txBody>
                    <a:bodyPr/>
                    <a:lstStyle/>
                    <a:p>
                      <a:r>
                        <a:rPr sz="1200" b="0">
                          <a:solidFill>
                            <a:srgbClr val="1F2937"/>
                          </a:solidFill>
                        </a:rPr>
                        <a:t>Huquqiy holat</a:t>
                      </a:r>
                    </a:p>
                  </a:txBody>
                  <a:tcPr marL="73152" marR="73152" marT="36576" marB="36576">
                    <a:solidFill>
                      <a:srgbClr val="FFFFFF"/>
                    </a:solidFill>
                  </a:tcPr>
                </a:tc>
                <a:tc>
                  <a:txBody>
                    <a:bodyPr/>
                    <a:lstStyle/>
                    <a:p>
                      <a:r>
                        <a:rPr sz="1200" b="0">
                          <a:solidFill>
                            <a:srgbClr val="1F2937"/>
                          </a:solidFill>
                        </a:rPr>
                        <a:t>Qarorlar mamlakatlarda turlicha</a:t>
                      </a:r>
                    </a:p>
                  </a:txBody>
                  <a:tcPr marL="73152" marR="73152" marT="36576" marB="36576">
                    <a:solidFill>
                      <a:srgbClr val="FFFFFF"/>
                    </a:solidFill>
                  </a:tcPr>
                </a:tc>
                <a:tc>
                  <a:txBody>
                    <a:bodyPr/>
                    <a:lstStyle/>
                    <a:p>
                      <a:r>
                        <a:rPr sz="1200" b="0">
                          <a:solidFill>
                            <a:srgbClr val="1F2937"/>
                          </a:solidFill>
                        </a:rPr>
                        <a:t>Ko‘p mamlakatda taqiq (to‘liq/vaqtincha)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yo‘nalish solishtirilishi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genotip klonlanadi, shaxsiyat emas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Reproduktiv klonlashni tanqid qiluvchilar unutadilarki, faqat genotip, ya‘ni organizmning o‘zi klonlanadi.</a:t>
            </a:r>
          </a:p>
          <a:p>
            <a:pPr>
              <a:spcAft>
                <a:spcPts val="1200"/>
              </a:spcAft>
            </a:pPr>
            <a:r>
              <a:rPr sz="2200">
                <a:solidFill>
                  <a:srgbClr val="1F2937"/>
                </a:solidFill>
                <a:latin typeface="Calibri"/>
              </a:rPr>
              <a:t>▸  Inson shaxsiyati tarbiya va bilim olish jarayonida shakllanadi. Bunday sharoitlarni aynan bir xilda takrorlab bo‘lmaydi.</a:t>
            </a:r>
          </a:p>
          <a:p>
            <a:pPr>
              <a:spcAft>
                <a:spcPts val="1200"/>
              </a:spcAft>
            </a:pPr>
            <a:r>
              <a:rPr sz="2200">
                <a:solidFill>
                  <a:srgbClr val="1F2937"/>
                </a:solidFill>
                <a:latin typeface="Calibri"/>
              </a:rPr>
              <a:t>▸  Turli sharoitda tarbiya olgan monozigotali (tuxumdosh) egizaklar tabiiy klonlardir. Ularning feli, mayli va aqliy qobiliyati har xil bo‘ladi.</a:t>
            </a:r>
          </a:p>
          <a:p>
            <a:pPr>
              <a:spcAft>
                <a:spcPts val="1200"/>
              </a:spcAft>
            </a:pPr>
            <a:r>
              <a:rPr sz="2200">
                <a:solidFill>
                  <a:srgbClr val="1F2937"/>
                </a:solidFill>
                <a:latin typeface="Calibri"/>
              </a:rPr>
              <a:t>▸  Diqqat: klon ≠ shaxsning aynan nusxasi. Genotip bir xil bo‘lsa ham, tashqi qiyofa ko‘pincha o‘xshamaydi.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Klonlashning tabiiyligi va e‘tirozlar mohiyati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Monozigotali egizaklar tug‘ilishi tabiiy bo‘lgani uchungina klonlashning tabiiyligi haqida gapirish mumkin.</a:t>
            </a:r>
          </a:p>
          <a:p>
            <a:pPr>
              <a:spcAft>
                <a:spcPts val="1200"/>
              </a:spcAft>
            </a:pPr>
            <a:r>
              <a:rPr sz="2200">
                <a:solidFill>
                  <a:srgbClr val="1F2937"/>
                </a:solidFill>
                <a:latin typeface="Calibri"/>
              </a:rPr>
              <a:t>▸  Inson genomining bunday klonlanishi tabiiy yuz bergani sababli etik jihatdan benuqson. Egizaklar tug‘ilishida noo‘rin narsa yo‘q.</a:t>
            </a:r>
          </a:p>
          <a:p>
            <a:pPr>
              <a:spcAft>
                <a:spcPts val="1200"/>
              </a:spcAft>
            </a:pPr>
            <a:r>
              <a:rPr sz="2200">
                <a:solidFill>
                  <a:srgbClr val="1F2937"/>
                </a:solidFill>
                <a:latin typeface="Calibri"/>
              </a:rPr>
              <a:t>▸  E‘tiroz yadro sun‘iy ko‘chirilganda paydo bo‘ladi. Demak, e‘tiroz klonlash faktiga emas, usulning texnik xususiyatlariga bog‘liq.</a:t>
            </a:r>
          </a:p>
          <a:p>
            <a:pPr>
              <a:spcAft>
                <a:spcPts val="1200"/>
              </a:spcAft>
            </a:pPr>
            <a:r>
              <a:rPr sz="2200">
                <a:solidFill>
                  <a:srgbClr val="1F2937"/>
                </a:solidFill>
                <a:latin typeface="Calibri"/>
              </a:rPr>
              <a:t>▸  Oddiy tibbiyot ojiz bo‘lgan holatlarda klonlash texnologiyalari odamlarga farzand ko‘rishda yordam berishi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Inson klonlashga taqiqlar va UNESKO deklaratsiyasi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Reproduktiv klonlash — yetuk organizm yetishtirish; ko‘p axloqiy muammo aynan undan kelib chiqqan.</a:t>
            </a:r>
          </a:p>
          <a:p>
            <a:pPr>
              <a:spcAft>
                <a:spcPts val="800"/>
              </a:spcAft>
            </a:pPr>
            <a:r>
              <a:rPr sz="1800">
                <a:solidFill>
                  <a:srgbClr val="1F2937"/>
                </a:solidFill>
                <a:latin typeface="Calibri"/>
              </a:rPr>
              <a:t>▸  UNESKO deklaratsiyasi inson zotini qayta ishlab chiqarish maqsadidagi klonlashni man etadi.</a:t>
            </a:r>
          </a:p>
          <a:p>
            <a:pPr>
              <a:spcAft>
                <a:spcPts val="800"/>
              </a:spcAft>
            </a:pPr>
            <a:r>
              <a:rPr sz="1800">
                <a:solidFill>
                  <a:srgbClr val="1F2937"/>
                </a:solidFill>
                <a:latin typeface="Calibri"/>
              </a:rPr>
              <a:t>▸  Taqiq reproduktiv klonlashga tegishli; terapevtik klonlash masalasi hali hal bo‘lmagan.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388093"/>
                <a:gridCol w="2115190"/>
                <a:gridCol w="1784691"/>
              </a:tblGrid>
              <a:tr h="411480">
                <a:tc>
                  <a:txBody>
                    <a:bodyPr/>
                    <a:lstStyle/>
                    <a:p>
                      <a:r>
                        <a:rPr sz="1300" b="1">
                          <a:solidFill>
                            <a:srgbClr val="FFFFFF"/>
                          </a:solidFill>
                        </a:rPr>
                        <a:t>Hujjat/hudud</a:t>
                      </a:r>
                    </a:p>
                  </a:txBody>
                  <a:tcPr marL="73152" marR="73152" marT="36576" marB="36576">
                    <a:solidFill>
                      <a:srgbClr val="0B1F3A"/>
                    </a:solidFill>
                  </a:tcPr>
                </a:tc>
                <a:tc>
                  <a:txBody>
                    <a:bodyPr/>
                    <a:lstStyle/>
                    <a:p>
                      <a:r>
                        <a:rPr sz="1300" b="1">
                          <a:solidFill>
                            <a:srgbClr val="FFFFFF"/>
                          </a:solidFill>
                        </a:rPr>
                        <a:t>Qoida</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UNESKO deklaratsiyasi</a:t>
                      </a:r>
                    </a:p>
                  </a:txBody>
                  <a:tcPr marL="73152" marR="73152" marT="36576" marB="36576">
                    <a:solidFill>
                      <a:srgbClr val="E8EEF6"/>
                    </a:solidFill>
                  </a:tcPr>
                </a:tc>
                <a:tc>
                  <a:txBody>
                    <a:bodyPr/>
                    <a:lstStyle/>
                    <a:p>
                      <a:r>
                        <a:rPr sz="1200" b="0">
                          <a:solidFill>
                            <a:srgbClr val="1F2937"/>
                          </a:solidFill>
                        </a:rPr>
                        <a:t>Reproduktiv klonlash man etilgan</a:t>
                      </a:r>
                    </a:p>
                  </a:txBody>
                  <a:tcPr marL="73152" marR="73152" marT="36576" marB="36576">
                    <a:solidFill>
                      <a:srgbClr val="E8EEF6"/>
                    </a:solidFill>
                  </a:tcPr>
                </a:tc>
                <a:tc>
                  <a:txBody>
                    <a:bodyPr/>
                    <a:lstStyle/>
                    <a:p>
                      <a:r>
                        <a:rPr sz="1200" b="0">
                          <a:solidFill>
                            <a:srgbClr val="1F2937"/>
                          </a:solidFill>
                        </a:rPr>
                        <a:t>Inson qadr-qimmatiga zid</a:t>
                      </a:r>
                    </a:p>
                  </a:txBody>
                  <a:tcPr marL="73152" marR="73152" marT="36576" marB="36576">
                    <a:solidFill>
                      <a:srgbClr val="E8EEF6"/>
                    </a:solidFill>
                  </a:tcPr>
                </a:tc>
              </a:tr>
              <a:tr h="411480">
                <a:tc>
                  <a:txBody>
                    <a:bodyPr/>
                    <a:lstStyle/>
                    <a:p>
                      <a:r>
                        <a:rPr sz="1200" b="0">
                          <a:solidFill>
                            <a:srgbClr val="1F2937"/>
                          </a:solidFill>
                        </a:rPr>
                        <a:t>Yevropa protokoli</a:t>
                      </a:r>
                    </a:p>
                  </a:txBody>
                  <a:tcPr marL="73152" marR="73152" marT="36576" marB="36576">
                    <a:solidFill>
                      <a:srgbClr val="FFFFFF"/>
                    </a:solidFill>
                  </a:tcPr>
                </a:tc>
                <a:tc>
                  <a:txBody>
                    <a:bodyPr/>
                    <a:lstStyle/>
                    <a:p>
                      <a:r>
                        <a:rPr sz="1200" b="0">
                          <a:solidFill>
                            <a:srgbClr val="1F2937"/>
                          </a:solidFill>
                        </a:rPr>
                        <a:t>Inson klonlashni taqiqlaydi</a:t>
                      </a:r>
                    </a:p>
                  </a:txBody>
                  <a:tcPr marL="73152" marR="73152" marT="36576" marB="36576">
                    <a:solidFill>
                      <a:srgbClr val="FFFFFF"/>
                    </a:solidFill>
                  </a:tcPr>
                </a:tc>
                <a:tc>
                  <a:txBody>
                    <a:bodyPr/>
                    <a:lstStyle/>
                    <a:p>
                      <a:r>
                        <a:rPr sz="1200" b="0">
                          <a:solidFill>
                            <a:srgbClr val="1F2937"/>
                          </a:solidFill>
                        </a:rPr>
                        <a:t>2002-yilda kuchga kirgan</a:t>
                      </a:r>
                    </a:p>
                  </a:txBody>
                  <a:tcPr marL="73152" marR="73152" marT="36576" marB="36576">
                    <a:solidFill>
                      <a:srgbClr val="FFFFFF"/>
                    </a:solidFill>
                  </a:tcPr>
                </a:tc>
              </a:tr>
              <a:tr h="411480">
                <a:tc>
                  <a:txBody>
                    <a:bodyPr/>
                    <a:lstStyle/>
                    <a:p>
                      <a:r>
                        <a:rPr sz="1200" b="0">
                          <a:solidFill>
                            <a:srgbClr val="1F2937"/>
                          </a:solidFill>
                        </a:rPr>
                        <a:t>Ko‘p mamlakatlar</a:t>
                      </a:r>
                    </a:p>
                  </a:txBody>
                  <a:tcPr marL="73152" marR="73152" marT="36576" marB="36576">
                    <a:solidFill>
                      <a:srgbClr val="E8EEF6"/>
                    </a:solidFill>
                  </a:tcPr>
                </a:tc>
                <a:tc>
                  <a:txBody>
                    <a:bodyPr/>
                    <a:lstStyle/>
                    <a:p>
                      <a:r>
                        <a:rPr sz="1200" b="0">
                          <a:solidFill>
                            <a:srgbClr val="1F2937"/>
                          </a:solidFill>
                        </a:rPr>
                        <a:t>To‘liq yoki vaqtincha taqiq</a:t>
                      </a:r>
                    </a:p>
                  </a:txBody>
                  <a:tcPr marL="73152" marR="73152" marT="36576" marB="36576">
                    <a:solidFill>
                      <a:srgbClr val="E8EEF6"/>
                    </a:solidFill>
                  </a:tcPr>
                </a:tc>
                <a:tc>
                  <a:txBody>
                    <a:bodyPr/>
                    <a:lstStyle/>
                    <a:p>
                      <a:r>
                        <a:rPr sz="1200" b="0">
                          <a:solidFill>
                            <a:srgbClr val="1F2937"/>
                          </a:solidFill>
                        </a:rPr>
                        <a:t>Milliy qonunlar bilan</a:t>
                      </a:r>
                    </a:p>
                  </a:txBody>
                  <a:tcPr marL="73152" marR="73152" marT="36576" marB="36576">
                    <a:solidFill>
                      <a:srgbClr val="E8EEF6"/>
                    </a:solidFill>
                  </a:tcPr>
                </a:tc>
              </a:tr>
              <a:tr h="411480">
                <a:tc>
                  <a:txBody>
                    <a:bodyPr/>
                    <a:lstStyle/>
                    <a:p>
                      <a:r>
                        <a:rPr sz="1200" b="0">
                          <a:solidFill>
                            <a:srgbClr val="1F2937"/>
                          </a:solidFill>
                        </a:rPr>
                        <a:t>Boshqa masalalar</a:t>
                      </a:r>
                    </a:p>
                  </a:txBody>
                  <a:tcPr marL="73152" marR="73152" marT="36576" marB="36576">
                    <a:solidFill>
                      <a:srgbClr val="FFFFFF"/>
                    </a:solidFill>
                  </a:tcPr>
                </a:tc>
                <a:tc>
                  <a:txBody>
                    <a:bodyPr/>
                    <a:lstStyle/>
                    <a:p>
                      <a:r>
                        <a:rPr sz="1200" b="0">
                          <a:solidFill>
                            <a:srgbClr val="1F2937"/>
                          </a:solidFill>
                        </a:rPr>
                        <a:t>Har bir davlat ixtiyorida</a:t>
                      </a:r>
                    </a:p>
                  </a:txBody>
                  <a:tcPr marL="73152" marR="73152" marT="36576" marB="36576">
                    <a:solidFill>
                      <a:srgbClr val="FFFFFF"/>
                    </a:solidFill>
                  </a:tcPr>
                </a:tc>
                <a:tc>
                  <a:txBody>
                    <a:bodyPr/>
                    <a:lstStyle/>
                    <a:p>
                      <a:r>
                        <a:rPr sz="1200" b="0">
                          <a:solidFill>
                            <a:srgbClr val="1F2937"/>
                          </a:solidFill>
                        </a:rPr>
                        <a:t>Xalqaro qo‘llanma aniq emas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Taqiqlar ko‘lami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inson klonlash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terapevtik klonlashning asosiy maqsadi nima? Javob: shaxsiy embrional o‘zak hujayralar va ulardan o‘stirilgan a’zo, to‘qimalar olish.</a:t>
            </a:r>
          </a:p>
          <a:p>
            <a:pPr>
              <a:spcAft>
                <a:spcPts val="1200"/>
              </a:spcAft>
            </a:pPr>
            <a:r>
              <a:rPr sz="2200">
                <a:solidFill>
                  <a:srgbClr val="1F2937"/>
                </a:solidFill>
                <a:latin typeface="Calibri"/>
              </a:rPr>
              <a:t>▸  Savol: reproduktiv klonlash nima? Javob: yetuk organizmni yetishtirish; bepushtlik muammosini hal qilish nuqtayi nazaridan ko‘riladi.</a:t>
            </a:r>
          </a:p>
          <a:p>
            <a:pPr>
              <a:spcAft>
                <a:spcPts val="1200"/>
              </a:spcAft>
            </a:pPr>
            <a:r>
              <a:rPr sz="2200">
                <a:solidFill>
                  <a:srgbClr val="1F2937"/>
                </a:solidFill>
                <a:latin typeface="Calibri"/>
              </a:rPr>
              <a:t>▸  Savol: UNESKO deklaratsiyasi nimani man etadi? Javob: inson zotini qayta ishlab chiqarish maqsadidagi klonlashni.</a:t>
            </a:r>
          </a:p>
          <a:p>
            <a:pPr>
              <a:spcAft>
                <a:spcPts val="1200"/>
              </a:spcAft>
            </a:pPr>
            <a:r>
              <a:rPr sz="2200">
                <a:solidFill>
                  <a:srgbClr val="1F2937"/>
                </a:solidFill>
                <a:latin typeface="Calibri"/>
              </a:rPr>
              <a:t>▸  Diqqat: xato qilish xavfi — terapevtik klonlash ≠ reproduktiv klonlash; maqsadi va taqiq holati har xil.</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terapevtik klonlash dilemmasi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olimlar Parkinson yoki Alsgeymer kabi og‘ir, hozircha davosiz kasallikni davolash uchun terapevtik klonlashga ruxsat so‘ramoqda.</a:t>
            </a:r>
          </a:p>
          <a:p>
            <a:pPr>
              <a:spcAft>
                <a:spcPts val="1200"/>
              </a:spcAft>
            </a:pPr>
            <a:r>
              <a:rPr sz="2200">
                <a:solidFill>
                  <a:srgbClr val="1F2937"/>
                </a:solidFill>
                <a:latin typeface="Calibri"/>
              </a:rPr>
              <a:t>▸  Yadro ko‘chirib klonlash faqat o‘zak hujayra olish uchun mo‘ljallangan o‘ziga xos «embrion» yaratilishiga olib keladi.</a:t>
            </a:r>
          </a:p>
          <a:p>
            <a:pPr>
              <a:spcAft>
                <a:spcPts val="1200"/>
              </a:spcAft>
            </a:pPr>
            <a:r>
              <a:rPr sz="2200">
                <a:solidFill>
                  <a:srgbClr val="1F2937"/>
                </a:solidFill>
                <a:latin typeface="Calibri"/>
              </a:rPr>
              <a:t>▸  Savol: ruxsat berilsa va texnologiya yaratilsa, bu nasl qoldirish maqsadidagi klonlashga olib kelmaydimi?</a:t>
            </a:r>
          </a:p>
          <a:p>
            <a:pPr>
              <a:spcAft>
                <a:spcPts val="1200"/>
              </a:spcAft>
            </a:pPr>
            <a:r>
              <a:rPr sz="2200">
                <a:solidFill>
                  <a:srgbClr val="1F2937"/>
                </a:solidFill>
                <a:latin typeface="Calibri"/>
              </a:rPr>
              <a:t>▸  Qarshi dalil: klonlashda faqat genotip takrorlanadi, shaxsiyat esa tarbiya va bilim olish jarayonida shakllanadi.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Ildiz hujayralar manbalari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Terapevtik klonlashning bosh maqsadi — shaxsiy embrional ildiz hujayralar va ulardan o‘stirilgan a’zo, to‘qimalar olish.</a:t>
            </a:r>
          </a:p>
          <a:p>
            <a:pPr>
              <a:spcAft>
                <a:spcPts val="800"/>
              </a:spcAft>
            </a:pPr>
            <a:r>
              <a:rPr sz="1800">
                <a:solidFill>
                  <a:srgbClr val="1F2937"/>
                </a:solidFill>
                <a:latin typeface="Calibri"/>
              </a:rPr>
              <a:t>▸  Terapevtik maqsadda ildiz hujayralarning eng yirik manbai embrionlar ekani hamma tomonidan tan olingan.</a:t>
            </a:r>
          </a:p>
          <a:p>
            <a:pPr>
              <a:spcAft>
                <a:spcPts val="800"/>
              </a:spcAft>
            </a:pPr>
            <a:r>
              <a:rPr sz="1800">
                <a:solidFill>
                  <a:srgbClr val="1F2937"/>
                </a:solidFill>
                <a:latin typeface="Calibri"/>
              </a:rPr>
              <a:t>▸  Ildiz hujayra har nimaga aylanishi mumkin, shuning uchun oqibatni oldindan ko‘rish qiyin.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177401"/>
                <a:gridCol w="3110573"/>
              </a:tblGrid>
              <a:tr h="411480">
                <a:tc>
                  <a:txBody>
                    <a:bodyPr/>
                    <a:lstStyle/>
                    <a:p>
                      <a:r>
                        <a:rPr sz="1400" b="1">
                          <a:solidFill>
                            <a:srgbClr val="FFFFFF"/>
                          </a:solidFill>
                        </a:rPr>
                        <a:t>Manba</a:t>
                      </a:r>
                    </a:p>
                  </a:txBody>
                  <a:tcPr marL="73152" marR="73152" marT="36576" marB="36576">
                    <a:solidFill>
                      <a:srgbClr val="0B1F3A"/>
                    </a:solidFill>
                  </a:tcPr>
                </a:tc>
                <a:tc>
                  <a:txBody>
                    <a:bodyPr/>
                    <a:lstStyle/>
                    <a:p>
                      <a:r>
                        <a:rPr sz="1400" b="1">
                          <a:solidFill>
                            <a:srgbClr val="FFFFFF"/>
                          </a:solidFill>
                        </a:rPr>
                        <a:t>Izoh</a:t>
                      </a:r>
                    </a:p>
                  </a:txBody>
                  <a:tcPr marL="73152" marR="73152" marT="36576" marB="36576">
                    <a:solidFill>
                      <a:srgbClr val="0B1F3A"/>
                    </a:solidFill>
                  </a:tcPr>
                </a:tc>
              </a:tr>
              <a:tr h="411480">
                <a:tc>
                  <a:txBody>
                    <a:bodyPr/>
                    <a:lstStyle/>
                    <a:p>
                      <a:r>
                        <a:rPr sz="1300" b="0">
                          <a:solidFill>
                            <a:srgbClr val="1F2937"/>
                          </a:solidFill>
                        </a:rPr>
                        <a:t>Yetuk organizm</a:t>
                      </a:r>
                    </a:p>
                  </a:txBody>
                  <a:tcPr marL="73152" marR="73152" marT="36576" marB="36576">
                    <a:solidFill>
                      <a:srgbClr val="E8EEF6"/>
                    </a:solidFill>
                  </a:tcPr>
                </a:tc>
                <a:tc>
                  <a:txBody>
                    <a:bodyPr/>
                    <a:lstStyle/>
                    <a:p>
                      <a:r>
                        <a:rPr sz="1300" b="0">
                          <a:solidFill>
                            <a:srgbClr val="1F2937"/>
                          </a:solidFill>
                        </a:rPr>
                        <a:t>Manba bo‘lishi mumkin</a:t>
                      </a:r>
                    </a:p>
                  </a:txBody>
                  <a:tcPr marL="73152" marR="73152" marT="36576" marB="36576">
                    <a:solidFill>
                      <a:srgbClr val="E8EEF6"/>
                    </a:solidFill>
                  </a:tcPr>
                </a:tc>
              </a:tr>
              <a:tr h="411480">
                <a:tc>
                  <a:txBody>
                    <a:bodyPr/>
                    <a:lstStyle/>
                    <a:p>
                      <a:r>
                        <a:rPr sz="1300" b="0">
                          <a:solidFill>
                            <a:srgbClr val="1F2937"/>
                          </a:solidFill>
                        </a:rPr>
                        <a:t>Kindik arqonidagi qon</a:t>
                      </a:r>
                    </a:p>
                  </a:txBody>
                  <a:tcPr marL="73152" marR="73152" marT="36576" marB="36576">
                    <a:solidFill>
                      <a:srgbClr val="FFFFFF"/>
                    </a:solidFill>
                  </a:tcPr>
                </a:tc>
                <a:tc>
                  <a:txBody>
                    <a:bodyPr/>
                    <a:lstStyle/>
                    <a:p>
                      <a:r>
                        <a:rPr sz="1300" b="0">
                          <a:solidFill>
                            <a:srgbClr val="1F2937"/>
                          </a:solidFill>
                        </a:rPr>
                        <a:t>Manba bo‘lishi mumkin</a:t>
                      </a:r>
                    </a:p>
                  </a:txBody>
                  <a:tcPr marL="73152" marR="73152" marT="36576" marB="36576">
                    <a:solidFill>
                      <a:srgbClr val="FFFFFF"/>
                    </a:solidFill>
                  </a:tcPr>
                </a:tc>
              </a:tr>
              <a:tr h="411480">
                <a:tc>
                  <a:txBody>
                    <a:bodyPr/>
                    <a:lstStyle/>
                    <a:p>
                      <a:r>
                        <a:rPr sz="1300" b="0">
                          <a:solidFill>
                            <a:srgbClr val="1F2937"/>
                          </a:solidFill>
                        </a:rPr>
                        <a:t>Embrion to‘qimasi</a:t>
                      </a:r>
                    </a:p>
                  </a:txBody>
                  <a:tcPr marL="73152" marR="73152" marT="36576" marB="36576">
                    <a:solidFill>
                      <a:srgbClr val="E8EEF6"/>
                    </a:solidFill>
                  </a:tcPr>
                </a:tc>
                <a:tc>
                  <a:txBody>
                    <a:bodyPr/>
                    <a:lstStyle/>
                    <a:p>
                      <a:r>
                        <a:rPr sz="1300" b="0">
                          <a:solidFill>
                            <a:srgbClr val="1F2937"/>
                          </a:solidFill>
                        </a:rPr>
                        <a:t>Eng yirik manba</a:t>
                      </a:r>
                    </a:p>
                  </a:txBody>
                  <a:tcPr marL="73152" marR="73152" marT="36576" marB="36576">
                    <a:solidFill>
                      <a:srgbClr val="E8EEF6"/>
                    </a:solidFill>
                  </a:tcPr>
                </a:tc>
              </a:tr>
              <a:tr h="411480">
                <a:tc>
                  <a:txBody>
                    <a:bodyPr/>
                    <a:lstStyle/>
                    <a:p>
                      <a:r>
                        <a:rPr sz="1300" b="0">
                          <a:solidFill>
                            <a:srgbClr val="1F2937"/>
                          </a:solidFill>
                        </a:rPr>
                        <a:t>Homila to‘qimasi</a:t>
                      </a:r>
                    </a:p>
                  </a:txBody>
                  <a:tcPr marL="73152" marR="73152" marT="36576" marB="36576">
                    <a:solidFill>
                      <a:srgbClr val="FFFFFF"/>
                    </a:solidFill>
                  </a:tcPr>
                </a:tc>
                <a:tc>
                  <a:txBody>
                    <a:bodyPr/>
                    <a:lstStyle/>
                    <a:p>
                      <a:r>
                        <a:rPr sz="1300" b="0">
                          <a:solidFill>
                            <a:srgbClr val="1F2937"/>
                          </a:solidFill>
                        </a:rPr>
                        <a:t>Turli rivojlanish bosqichidagi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Ildiz hujayra manbalari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Embrion mavqei, 14 kun va ayollar huquqi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Terapevtik klonlashda 14 kunlik embriondan foydalaniladi. Embrionni qachongacha inson zoti emas, embrion deb qarash mumkin, degan savol paydo bo‘lgan.</a:t>
            </a:r>
          </a:p>
          <a:p>
            <a:pPr>
              <a:spcAft>
                <a:spcPts val="1200"/>
              </a:spcAft>
            </a:pPr>
            <a:r>
              <a:rPr sz="2200">
                <a:solidFill>
                  <a:srgbClr val="1F2937"/>
                </a:solidFill>
                <a:latin typeface="Calibri"/>
              </a:rPr>
              <a:t>▸  Buyuk Britaniyada embrion yoshi jinsiy hujayralar qo‘shilgan paytdan boshlab ko‘pi bilan 14 kun deb maxsus belgilab qo‘yilgan.</a:t>
            </a:r>
          </a:p>
          <a:p>
            <a:pPr>
              <a:spcAft>
                <a:spcPts val="1200"/>
              </a:spcAft>
            </a:pPr>
            <a:r>
              <a:rPr sz="2200">
                <a:solidFill>
                  <a:srgbClr val="1F2937"/>
                </a:solidFill>
                <a:latin typeface="Calibri"/>
              </a:rPr>
              <a:t>▸  Embrional material va kindik arqoni qoni manbaga aylansa, ayollar alohida bosim ostida qolishi mumkin. Yevropa etika guruhi bu masalani birinchi darajali deb biladi.</a:t>
            </a:r>
          </a:p>
          <a:p>
            <a:pPr>
              <a:spcAft>
                <a:spcPts val="1200"/>
              </a:spcAft>
            </a:pPr>
            <a:r>
              <a:rPr sz="2200">
                <a:solidFill>
                  <a:srgbClr val="1F2937"/>
                </a:solidFill>
                <a:latin typeface="Calibri"/>
              </a:rPr>
              <a:t>▸  Diqqat: UNESKO huzuridagi xalqaro bioetika qo‘mitasi embrion yaratish va undan foydalanish bo‘yicha yagona fikrga kelmagan; qarorlar davlatlarda farq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Dinlarning qarashlari: Islom va yahudiylik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Islom embrionda hali jon yo‘q deb hisoblaydi va urug‘lantirilgandan keyingi 40 kungacha inson embrionidan foydalanishga ruxsat beradi.</a:t>
            </a:r>
          </a:p>
          <a:p>
            <a:pPr>
              <a:spcAft>
                <a:spcPts val="1200"/>
              </a:spcAft>
            </a:pPr>
            <a:r>
              <a:rPr sz="2200">
                <a:solidFill>
                  <a:srgbClr val="1F2937"/>
                </a:solidFill>
                <a:latin typeface="Calibri"/>
              </a:rPr>
              <a:t>▸  Yahudiylikda urug‘langan tuxum hujayra hali inson zoti emas; u ona ichida rivojlanish jarayonida inson zotiga aylanadi.</a:t>
            </a:r>
          </a:p>
          <a:p>
            <a:pPr>
              <a:spcAft>
                <a:spcPts val="1200"/>
              </a:spcAft>
            </a:pPr>
            <a:r>
              <a:rPr sz="2200">
                <a:solidFill>
                  <a:srgbClr val="1F2937"/>
                </a:solidFill>
                <a:latin typeface="Calibri"/>
              </a:rPr>
              <a:t>▸  Ona tanasidan tashqarida rivojlanayotgan embrion gametaga tenglashtiriladi; onaga implantatsiya qilingach, mavjudot hisoblanadi.</a:t>
            </a:r>
          </a:p>
          <a:p>
            <a:pPr>
              <a:spcAft>
                <a:spcPts val="1200"/>
              </a:spcAft>
            </a:pPr>
            <a:r>
              <a:rPr sz="2200">
                <a:solidFill>
                  <a:srgbClr val="1F2937"/>
                </a:solidFill>
                <a:latin typeface="Calibri"/>
              </a:rPr>
              <a:t>▸  Plyuralistik dunyoda bunday tafovutlar muqarrar: buddaviylikda ruxsat etilgan narsa xristianlikda ruxsat etilmasligi mumkin va aksincha.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Dinlarning qarashlari: nasroniylik tarmoqlari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Buddaviylikda ruxsat etilgan narsaga nasroniylikda ruxsat yo‘q bo‘lishi mumkin va aksincha.</a:t>
            </a:r>
          </a:p>
          <a:p>
            <a:pPr>
              <a:spcAft>
                <a:spcPts val="800"/>
              </a:spcAft>
            </a:pPr>
            <a:r>
              <a:rPr sz="1800">
                <a:solidFill>
                  <a:srgbClr val="1F2937"/>
                </a:solidFill>
                <a:latin typeface="Calibri"/>
              </a:rPr>
              <a:t>▸  Rim katolik cherkovi embrionga eng qat’iy munosabatda bo‘ladi.</a:t>
            </a:r>
          </a:p>
          <a:p>
            <a:pPr>
              <a:spcAft>
                <a:spcPts val="800"/>
              </a:spcAft>
            </a:pPr>
            <a:r>
              <a:rPr sz="1800">
                <a:solidFill>
                  <a:srgbClr val="1F2937"/>
                </a:solidFill>
                <a:latin typeface="Calibri"/>
              </a:rPr>
              <a:t>▸  Diqqat: protestant qarashi katolikdan farq qiladi va uning o‘zida ham bir xil emas. (?)</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Cherkov</a:t>
                      </a:r>
                    </a:p>
                  </a:txBody>
                  <a:tcPr marL="73152" marR="73152" marT="36576" marB="36576">
                    <a:solidFill>
                      <a:srgbClr val="0B1F3A"/>
                    </a:solidFill>
                  </a:tcPr>
                </a:tc>
                <a:tc>
                  <a:txBody>
                    <a:bodyPr/>
                    <a:lstStyle/>
                    <a:p>
                      <a:r>
                        <a:rPr sz="1400" b="1">
                          <a:solidFill>
                            <a:srgbClr val="FFFFFF"/>
                          </a:solidFill>
                        </a:rPr>
                        <a:t>Embrion mavqei</a:t>
                      </a:r>
                    </a:p>
                  </a:txBody>
                  <a:tcPr marL="73152" marR="73152" marT="36576" marB="36576">
                    <a:solidFill>
                      <a:srgbClr val="0B1F3A"/>
                    </a:solidFill>
                  </a:tcPr>
                </a:tc>
              </a:tr>
              <a:tr h="411480">
                <a:tc>
                  <a:txBody>
                    <a:bodyPr/>
                    <a:lstStyle/>
                    <a:p>
                      <a:r>
                        <a:rPr sz="1300" b="0">
                          <a:solidFill>
                            <a:srgbClr val="1F2937"/>
                          </a:solidFill>
                        </a:rPr>
                        <a:t>Rim katolik</a:t>
                      </a:r>
                    </a:p>
                  </a:txBody>
                  <a:tcPr marL="73152" marR="73152" marT="36576" marB="36576">
                    <a:solidFill>
                      <a:srgbClr val="E8EEF6"/>
                    </a:solidFill>
                  </a:tcPr>
                </a:tc>
                <a:tc>
                  <a:txBody>
                    <a:bodyPr/>
                    <a:lstStyle/>
                    <a:p>
                      <a:r>
                        <a:rPr sz="1300" b="0">
                          <a:solidFill>
                            <a:srgbClr val="1F2937"/>
                          </a:solidFill>
                        </a:rPr>
                        <a:t>Inson urug‘lanish paytidan paydo bo‘ladi</a:t>
                      </a:r>
                    </a:p>
                  </a:txBody>
                  <a:tcPr marL="73152" marR="73152" marT="36576" marB="36576">
                    <a:solidFill>
                      <a:srgbClr val="E8EEF6"/>
                    </a:solidFill>
                  </a:tcPr>
                </a:tc>
              </a:tr>
              <a:tr h="411480">
                <a:tc>
                  <a:txBody>
                    <a:bodyPr/>
                    <a:lstStyle/>
                    <a:p>
                      <a:r>
                        <a:rPr sz="1300" b="0">
                          <a:solidFill>
                            <a:srgbClr val="1F2937"/>
                          </a:solidFill>
                        </a:rPr>
                        <a:t>Protestant</a:t>
                      </a:r>
                    </a:p>
                  </a:txBody>
                  <a:tcPr marL="73152" marR="73152" marT="36576" marB="36576">
                    <a:solidFill>
                      <a:srgbClr val="FFFFFF"/>
                    </a:solidFill>
                  </a:tcPr>
                </a:tc>
                <a:tc>
                  <a:txBody>
                    <a:bodyPr/>
                    <a:lstStyle/>
                    <a:p>
                      <a:r>
                        <a:rPr sz="1300" b="0">
                          <a:solidFill>
                            <a:srgbClr val="1F2937"/>
                          </a:solidFill>
                        </a:rPr>
                        <a:t>Embrion to‘la huquqli inson zoti emas</a:t>
                      </a:r>
                    </a:p>
                  </a:txBody>
                  <a:tcPr marL="73152" marR="73152" marT="36576" marB="36576">
                    <a:solidFill>
                      <a:srgbClr val="FFFFFF"/>
                    </a:solidFill>
                  </a:tcPr>
                </a:tc>
              </a:tr>
              <a:tr h="411480">
                <a:tc>
                  <a:txBody>
                    <a:bodyPr/>
                    <a:lstStyle/>
                    <a:p>
                      <a:r>
                        <a:rPr sz="1300" b="0">
                          <a:solidFill>
                            <a:srgbClr val="1F2937"/>
                          </a:solidFill>
                        </a:rPr>
                        <a:t>Rus pravoslav</a:t>
                      </a:r>
                    </a:p>
                  </a:txBody>
                  <a:tcPr marL="73152" marR="73152" marT="36576" marB="36576">
                    <a:solidFill>
                      <a:srgbClr val="E8EEF6"/>
                    </a:solidFill>
                  </a:tcPr>
                </a:tc>
                <a:tc>
                  <a:txBody>
                    <a:bodyPr/>
                    <a:lstStyle/>
                    <a:p>
                      <a:r>
                        <a:rPr sz="1300" b="0">
                          <a:solidFill>
                            <a:srgbClr val="1F2937"/>
                          </a:solidFill>
                        </a:rPr>
                        <a:t>Homila paydo bo‘lgandan inson va shaxs</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Nasroniy cherkovlari va embrion</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3-bob, 3.2-bo‘lim, 44-54-betlar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Buyuk Britaniya: qonuniy tartibga solish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Yevropada birinchi bo‘lib, maxsus ehtiyot choralari sharti bilan ildiz hujayra tadqiqotini ma’qulladi.</a:t>
            </a:r>
          </a:p>
          <a:p>
            <a:pPr>
              <a:spcAft>
                <a:spcPts val="800"/>
              </a:spcAft>
            </a:pPr>
            <a:r>
              <a:rPr sz="1800">
                <a:solidFill>
                  <a:srgbClr val="1F2937"/>
                </a:solidFill>
                <a:latin typeface="Calibri"/>
              </a:rPr>
              <a:t>▸  HFEA — Inson urug‘lantirishi va embriologiya bo‘yicha boshqarma; tadqiqotlarni shu idora tartibga soladi.</a:t>
            </a:r>
          </a:p>
          <a:p>
            <a:pPr>
              <a:spcAft>
                <a:spcPts val="800"/>
              </a:spcAft>
            </a:pPr>
            <a:r>
              <a:rPr sz="1800">
                <a:solidFill>
                  <a:srgbClr val="1F2937"/>
                </a:solidFill>
                <a:latin typeface="Calibri"/>
              </a:rPr>
              <a:t>▸  Dastlab ruxsat bepushtlikni o‘rganish bilan cheklangan edi; endi ildiz hujayra tadqiqoti ham kiradi.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1990-yil embriologiya akti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guruhi fikri, 2000-avg.</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Parlament palatalari ma’qulladi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HFEA tartibga soladi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Maqsadlar ro‘yxati kengaydi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Britaniyada tartibga solish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3-bob, 3.2-bo‘lim, 44-54-betlar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Yevropa davlatlarida embrion tadqiqotlari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Yevropa Ittifoqining ko‘p davlatlarida embrional ildiz hujayra bo‘yicha qonun umuman yo‘q.</a:t>
            </a:r>
          </a:p>
          <a:p>
            <a:pPr>
              <a:spcAft>
                <a:spcPts val="800"/>
              </a:spcAft>
            </a:pPr>
            <a:r>
              <a:rPr sz="1800">
                <a:solidFill>
                  <a:srgbClr val="1F2937"/>
                </a:solidFill>
                <a:latin typeface="Calibri"/>
              </a:rPr>
              <a:t>▸  Qonunlar mutlaq taqiqdan tortib, tadqiqot uchun embrion yaratishga ruxsatgacha bo‘lgan oraliqni qamraydi.</a:t>
            </a:r>
          </a:p>
          <a:p>
            <a:pPr>
              <a:spcAft>
                <a:spcPts val="800"/>
              </a:spcAft>
            </a:pPr>
            <a:r>
              <a:rPr sz="1800">
                <a:solidFill>
                  <a:srgbClr val="1F2937"/>
                </a:solidFill>
                <a:latin typeface="Calibri"/>
              </a:rPr>
              <a:t>▸  Ko‘p mamlakatda embrion tadqiqoti va abort o‘rtasida o‘xshashlik ko‘rilmoqda.</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94063"/>
                <a:gridCol w="1945002"/>
                <a:gridCol w="2248908"/>
              </a:tblGrid>
              <a:tr h="411480">
                <a:tc>
                  <a:txBody>
                    <a:bodyPr/>
                    <a:lstStyle/>
                    <a:p>
                      <a:r>
                        <a:rPr sz="1300" b="1">
                          <a:solidFill>
                            <a:srgbClr val="FFFFFF"/>
                          </a:solidFill>
                        </a:rPr>
                        <a:t>Yondashuv</a:t>
                      </a:r>
                    </a:p>
                  </a:txBody>
                  <a:tcPr marL="73152" marR="73152" marT="36576" marB="36576">
                    <a:solidFill>
                      <a:srgbClr val="0B1F3A"/>
                    </a:solidFill>
                  </a:tcPr>
                </a:tc>
                <a:tc>
                  <a:txBody>
                    <a:bodyPr/>
                    <a:lstStyle/>
                    <a:p>
                      <a:r>
                        <a:rPr sz="1300" b="1">
                          <a:solidFill>
                            <a:srgbClr val="FFFFFF"/>
                          </a:solidFill>
                        </a:rPr>
                        <a:t>Davlatlar</a:t>
                      </a:r>
                    </a:p>
                  </a:txBody>
                  <a:tcPr marL="73152" marR="73152" marT="36576" marB="36576">
                    <a:solidFill>
                      <a:srgbClr val="0B1F3A"/>
                    </a:solidFill>
                  </a:tcPr>
                </a:tc>
                <a:tc>
                  <a:txBody>
                    <a:bodyPr/>
                    <a:lstStyle/>
                    <a:p>
                      <a:r>
                        <a:rPr sz="1300" b="1">
                          <a:solidFill>
                            <a:srgbClr val="FFFFFF"/>
                          </a:solidFill>
                        </a:rPr>
                        <a:t>Holat</a:t>
                      </a:r>
                    </a:p>
                  </a:txBody>
                  <a:tcPr marL="73152" marR="73152" marT="36576" marB="36576">
                    <a:solidFill>
                      <a:srgbClr val="0B1F3A"/>
                    </a:solidFill>
                  </a:tcPr>
                </a:tc>
              </a:tr>
              <a:tr h="411480">
                <a:tc>
                  <a:txBody>
                    <a:bodyPr/>
                    <a:lstStyle/>
                    <a:p>
                      <a:r>
                        <a:rPr sz="1200" b="0">
                          <a:solidFill>
                            <a:srgbClr val="1F2937"/>
                          </a:solidFill>
                        </a:rPr>
                        <a:t>Taqiqlovchi</a:t>
                      </a:r>
                    </a:p>
                  </a:txBody>
                  <a:tcPr marL="73152" marR="73152" marT="36576" marB="36576">
                    <a:solidFill>
                      <a:srgbClr val="E8EEF6"/>
                    </a:solidFill>
                  </a:tcPr>
                </a:tc>
                <a:tc>
                  <a:txBody>
                    <a:bodyPr/>
                    <a:lstStyle/>
                    <a:p>
                      <a:r>
                        <a:rPr sz="1200" b="0">
                          <a:solidFill>
                            <a:srgbClr val="1F2937"/>
                          </a:solidFill>
                        </a:rPr>
                        <a:t>Fransiya, Germaniya, Irlandiya</a:t>
                      </a:r>
                    </a:p>
                  </a:txBody>
                  <a:tcPr marL="73152" marR="73152" marT="36576" marB="36576">
                    <a:solidFill>
                      <a:srgbClr val="E8EEF6"/>
                    </a:solidFill>
                  </a:tcPr>
                </a:tc>
                <a:tc>
                  <a:txBody>
                    <a:bodyPr/>
                    <a:lstStyle/>
                    <a:p>
                      <a:r>
                        <a:rPr sz="1200" b="0">
                          <a:solidFill>
                            <a:srgbClr val="1F2937"/>
                          </a:solidFill>
                        </a:rPr>
                        <a:t>Embrionda tadqiqot man etilgan</a:t>
                      </a:r>
                    </a:p>
                  </a:txBody>
                  <a:tcPr marL="73152" marR="73152" marT="36576" marB="36576">
                    <a:solidFill>
                      <a:srgbClr val="E8EEF6"/>
                    </a:solidFill>
                  </a:tcPr>
                </a:tc>
              </a:tr>
              <a:tr h="411480">
                <a:tc>
                  <a:txBody>
                    <a:bodyPr/>
                    <a:lstStyle/>
                    <a:p>
                      <a:r>
                        <a:rPr sz="1200" b="0">
                          <a:solidFill>
                            <a:srgbClr val="1F2937"/>
                          </a:solidFill>
                        </a:rPr>
                        <a:t>Shartli ruxsat</a:t>
                      </a:r>
                    </a:p>
                  </a:txBody>
                  <a:tcPr marL="73152" marR="73152" marT="36576" marB="36576">
                    <a:solidFill>
                      <a:srgbClr val="FFFFFF"/>
                    </a:solidFill>
                  </a:tcPr>
                </a:tc>
                <a:tc>
                  <a:txBody>
                    <a:bodyPr/>
                    <a:lstStyle/>
                    <a:p>
                      <a:r>
                        <a:rPr sz="1200" b="0">
                          <a:solidFill>
                            <a:srgbClr val="1F2937"/>
                          </a:solidFill>
                        </a:rPr>
                        <a:t>Ispaniya, Finlyandiya, Shvetsiya</a:t>
                      </a:r>
                    </a:p>
                  </a:txBody>
                  <a:tcPr marL="73152" marR="73152" marT="36576" marB="36576">
                    <a:solidFill>
                      <a:srgbClr val="FFFFFF"/>
                    </a:solidFill>
                  </a:tcPr>
                </a:tc>
                <a:tc>
                  <a:txBody>
                    <a:bodyPr/>
                    <a:lstStyle/>
                    <a:p>
                      <a:r>
                        <a:rPr sz="1200" b="0">
                          <a:solidFill>
                            <a:srgbClr val="1F2937"/>
                          </a:solidFill>
                        </a:rPr>
                        <a:t>Ortiqcha embrionlarda tadqiqot mumkin</a:t>
                      </a:r>
                    </a:p>
                  </a:txBody>
                  <a:tcPr marL="73152" marR="73152" marT="36576" marB="36576">
                    <a:solidFill>
                      <a:srgbClr val="FFFFFF"/>
                    </a:solidFill>
                  </a:tcPr>
                </a:tc>
              </a:tr>
              <a:tr h="411480">
                <a:tc>
                  <a:txBody>
                    <a:bodyPr/>
                    <a:lstStyle/>
                    <a:p>
                      <a:r>
                        <a:rPr sz="1200" b="0">
                          <a:solidFill>
                            <a:srgbClr val="1F2937"/>
                          </a:solidFill>
                        </a:rPr>
                        <a:t>Qonunsiz o‘tkazadi</a:t>
                      </a:r>
                    </a:p>
                  </a:txBody>
                  <a:tcPr marL="73152" marR="73152" marT="36576" marB="36576">
                    <a:solidFill>
                      <a:srgbClr val="E8EEF6"/>
                    </a:solidFill>
                  </a:tcPr>
                </a:tc>
                <a:tc>
                  <a:txBody>
                    <a:bodyPr/>
                    <a:lstStyle/>
                    <a:p>
                      <a:r>
                        <a:rPr sz="1200" b="0">
                          <a:solidFill>
                            <a:srgbClr val="1F2937"/>
                          </a:solidFill>
                        </a:rPr>
                        <a:t>Belgiya, Niderlandiya</a:t>
                      </a:r>
                    </a:p>
                  </a:txBody>
                  <a:tcPr marL="73152" marR="73152" marT="36576" marB="36576">
                    <a:solidFill>
                      <a:srgbClr val="E8EEF6"/>
                    </a:solidFill>
                  </a:tcPr>
                </a:tc>
                <a:tc>
                  <a:txBody>
                    <a:bodyPr/>
                    <a:lstStyle/>
                    <a:p>
                      <a:r>
                        <a:rPr sz="1200" b="0">
                          <a:solidFill>
                            <a:srgbClr val="1F2937"/>
                          </a:solidFill>
                        </a:rPr>
                        <a:t>Qonun doirasi yo‘q, tadqiqot bor</a:t>
                      </a:r>
                    </a:p>
                  </a:txBody>
                  <a:tcPr marL="73152" marR="73152" marT="36576" marB="36576">
                    <a:solidFill>
                      <a:srgbClr val="E8EEF6"/>
                    </a:solidFill>
                  </a:tcPr>
                </a:tc>
              </a:tr>
              <a:tr h="411480">
                <a:tc>
                  <a:txBody>
                    <a:bodyPr/>
                    <a:lstStyle/>
                    <a:p>
                      <a:r>
                        <a:rPr sz="1200" b="0">
                          <a:solidFill>
                            <a:srgbClr val="1F2937"/>
                          </a:solidFill>
                        </a:rPr>
                        <a:t>Qonun yo‘q</a:t>
                      </a:r>
                    </a:p>
                  </a:txBody>
                  <a:tcPr marL="73152" marR="73152" marT="36576" marB="36576">
                    <a:solidFill>
                      <a:srgbClr val="FFFFFF"/>
                    </a:solidFill>
                  </a:tcPr>
                </a:tc>
                <a:tc>
                  <a:txBody>
                    <a:bodyPr/>
                    <a:lstStyle/>
                    <a:p>
                      <a:r>
                        <a:rPr sz="1200" b="0">
                          <a:solidFill>
                            <a:srgbClr val="1F2937"/>
                          </a:solidFill>
                        </a:rPr>
                        <a:t>Portugaliya</a:t>
                      </a:r>
                    </a:p>
                  </a:txBody>
                  <a:tcPr marL="73152" marR="73152" marT="36576" marB="36576">
                    <a:solidFill>
                      <a:srgbClr val="FFFFFF"/>
                    </a:solidFill>
                  </a:tcPr>
                </a:tc>
                <a:tc>
                  <a:txBody>
                    <a:bodyPr/>
                    <a:lstStyle/>
                    <a:p>
                      <a:r>
                        <a:rPr sz="1200" b="0">
                          <a:solidFill>
                            <a:srgbClr val="1F2937"/>
                          </a:solidFill>
                        </a:rPr>
                        <a:t>Qonun ham, tadqiqot ham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Yevropada yondashuvlar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3-bob, 3.2-bo‘lim, 44-54-betlar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Embrion tadqiqoti va abort o‘rtasidagi o‘xshashlik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Ko‘plab mamlakatlarda embrion tadqiqotlari va abort masalasi o‘rtasida o‘xshashlik borligi aniqlanmoqda. Ikkalasida ham gap embrion mavqei haqida ketadi.</a:t>
            </a:r>
          </a:p>
          <a:p>
            <a:pPr>
              <a:spcAft>
                <a:spcPts val="1200"/>
              </a:spcAft>
            </a:pPr>
            <a:r>
              <a:rPr sz="2000">
                <a:solidFill>
                  <a:srgbClr val="1F2937"/>
                </a:solidFill>
                <a:latin typeface="Calibri"/>
              </a:rPr>
              <a:t>▸  Irlandiya Konstitutsiyasi tug‘ilmagan odamning yashash huquqini tasdiqlaydi va uni onaning huquqiga tenglashtiradi. Yevropa Ittifoqida bunday davlat yagona.</a:t>
            </a:r>
          </a:p>
          <a:p>
            <a:pPr>
              <a:spcAft>
                <a:spcPts val="1200"/>
              </a:spcAft>
            </a:pPr>
            <a:r>
              <a:rPr sz="2000">
                <a:solidFill>
                  <a:srgbClr val="1F2937"/>
                </a:solidFill>
                <a:latin typeface="Calibri"/>
              </a:rPr>
              <a:t>▸  Abort faqat ona hayoti bevosita xavf ostida bo‘lsa mumkin. Zo‘rlash natijasi yoki embrion anomaliyasi abort uchun sabab bo‘lmaydi. Bu qoida Yevropa adliya sudi qaroriga zid.</a:t>
            </a:r>
          </a:p>
          <a:p>
            <a:pPr>
              <a:spcAft>
                <a:spcPts val="1200"/>
              </a:spcAft>
            </a:pPr>
            <a:r>
              <a:rPr sz="2000">
                <a:solidFill>
                  <a:srgbClr val="1F2937"/>
                </a:solidFill>
                <a:latin typeface="Calibri"/>
              </a:rPr>
              <a:t>▸  Diqqat: xato qilish xavfi. Irlandiyadagi huquq urug‘lantirishdanmi yoki implantatsiyadanmi boshlanishi manbada aniq emas. Buni aniq muddat deb aytmang.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AQSh va xalqaro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AQShning bir qator shtatlarida embrion tadqiqotlarini tartibga soluvchi va cheklovchi qonunlar bor.</a:t>
            </a:r>
          </a:p>
          <a:p>
            <a:pPr>
              <a:spcAft>
                <a:spcPts val="800"/>
              </a:spcAft>
            </a:pPr>
            <a:r>
              <a:rPr sz="1800">
                <a:solidFill>
                  <a:srgbClr val="1F2937"/>
                </a:solidFill>
                <a:latin typeface="Calibri"/>
              </a:rPr>
              <a:t>▸  Embrionga zarar yetkazadigan tadqiqotlarni federal darajada moliyalashtirish taqiqlangan.</a:t>
            </a:r>
          </a:p>
          <a:p>
            <a:pPr>
              <a:spcAft>
                <a:spcPts val="800"/>
              </a:spcAft>
            </a:pPr>
            <a:r>
              <a:rPr sz="1800">
                <a:solidFill>
                  <a:srgbClr val="1F2937"/>
                </a:solidFill>
                <a:latin typeface="Calibri"/>
              </a:rPr>
              <a:t>▸  Xalqaro qo‘llanmalar masalani aniqlashtirmaydi: reproduktiv klonlash taqiqidan boshqasi har davlat ixtiyorida.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02907"/>
                <a:gridCol w="3585067"/>
              </a:tblGrid>
              <a:tr h="411480">
                <a:tc>
                  <a:txBody>
                    <a:bodyPr/>
                    <a:lstStyle/>
                    <a:p>
                      <a:r>
                        <a:rPr sz="1400" b="1">
                          <a:solidFill>
                            <a:srgbClr val="FFFFFF"/>
                          </a:solidFill>
                        </a:rPr>
                        <a:t>Hujjat</a:t>
                      </a:r>
                    </a:p>
                  </a:txBody>
                  <a:tcPr marL="73152" marR="73152" marT="36576" marB="36576">
                    <a:solidFill>
                      <a:srgbClr val="0B1F3A"/>
                    </a:solidFill>
                  </a:tcPr>
                </a:tc>
                <a:tc>
                  <a:txBody>
                    <a:bodyPr/>
                    <a:lstStyle/>
                    <a:p>
                      <a:r>
                        <a:rPr sz="1400" b="1">
                          <a:solidFill>
                            <a:srgbClr val="FFFFFF"/>
                          </a:solidFill>
                        </a:rPr>
                        <a:t>Mazmun</a:t>
                      </a:r>
                    </a:p>
                  </a:txBody>
                  <a:tcPr marL="73152" marR="73152" marT="36576" marB="36576">
                    <a:solidFill>
                      <a:srgbClr val="0B1F3A"/>
                    </a:solidFill>
                  </a:tcPr>
                </a:tc>
              </a:tr>
              <a:tr h="411480">
                <a:tc>
                  <a:txBody>
                    <a:bodyPr/>
                    <a:lstStyle/>
                    <a:p>
                      <a:r>
                        <a:rPr sz="1300" b="0">
                          <a:solidFill>
                            <a:srgbClr val="1F2937"/>
                          </a:solidFill>
                        </a:rPr>
                        <a:t>AQSh shtatlari</a:t>
                      </a:r>
                    </a:p>
                  </a:txBody>
                  <a:tcPr marL="73152" marR="73152" marT="36576" marB="36576">
                    <a:solidFill>
                      <a:srgbClr val="E8EEF6"/>
                    </a:solidFill>
                  </a:tcPr>
                </a:tc>
                <a:tc>
                  <a:txBody>
                    <a:bodyPr/>
                    <a:lstStyle/>
                    <a:p>
                      <a:r>
                        <a:rPr sz="1300" b="0">
                          <a:solidFill>
                            <a:srgbClr val="1F2937"/>
                          </a:solidFill>
                        </a:rPr>
                        <a:t>Tadqiqotni tartibga soluvchi qonunlar bor</a:t>
                      </a:r>
                    </a:p>
                  </a:txBody>
                  <a:tcPr marL="73152" marR="73152" marT="36576" marB="36576">
                    <a:solidFill>
                      <a:srgbClr val="E8EEF6"/>
                    </a:solidFill>
                  </a:tcPr>
                </a:tc>
              </a:tr>
              <a:tr h="411480">
                <a:tc>
                  <a:txBody>
                    <a:bodyPr/>
                    <a:lstStyle/>
                    <a:p>
                      <a:r>
                        <a:rPr sz="1300" b="0">
                          <a:solidFill>
                            <a:srgbClr val="1F2937"/>
                          </a:solidFill>
                        </a:rPr>
                        <a:t>AQSh federal</a:t>
                      </a:r>
                    </a:p>
                  </a:txBody>
                  <a:tcPr marL="73152" marR="73152" marT="36576" marB="36576">
                    <a:solidFill>
                      <a:srgbClr val="FFFFFF"/>
                    </a:solidFill>
                  </a:tcPr>
                </a:tc>
                <a:tc>
                  <a:txBody>
                    <a:bodyPr/>
                    <a:lstStyle/>
                    <a:p>
                      <a:r>
                        <a:rPr sz="1300" b="0">
                          <a:solidFill>
                            <a:srgbClr val="1F2937"/>
                          </a:solidFill>
                        </a:rPr>
                        <a:t>Zarar yetkazuvchi tadqiqotga mablag‘ yo‘q</a:t>
                      </a:r>
                    </a:p>
                  </a:txBody>
                  <a:tcPr marL="73152" marR="73152" marT="36576" marB="36576">
                    <a:solidFill>
                      <a:srgbClr val="FFFFFF"/>
                    </a:solidFill>
                  </a:tcPr>
                </a:tc>
              </a:tr>
              <a:tr h="411480">
                <a:tc>
                  <a:txBody>
                    <a:bodyPr/>
                    <a:lstStyle/>
                    <a:p>
                      <a:r>
                        <a:rPr sz="1300" b="0">
                          <a:solidFill>
                            <a:srgbClr val="1F2937"/>
                          </a:solidFill>
                        </a:rPr>
                        <a:t>Yevropa Kengashi</a:t>
                      </a:r>
                    </a:p>
                  </a:txBody>
                  <a:tcPr marL="73152" marR="73152" marT="36576" marB="36576">
                    <a:solidFill>
                      <a:srgbClr val="E8EEF6"/>
                    </a:solidFill>
                  </a:tcPr>
                </a:tc>
                <a:tc>
                  <a:txBody>
                    <a:bodyPr/>
                    <a:lstStyle/>
                    <a:p>
                      <a:r>
                        <a:rPr sz="1300" b="0">
                          <a:solidFill>
                            <a:srgbClr val="1F2937"/>
                          </a:solidFill>
                        </a:rPr>
                        <a:t>Himoya shart; tadqiqot uchun yaratish taqiq</a:t>
                      </a:r>
                    </a:p>
                  </a:txBody>
                  <a:tcPr marL="73152" marR="73152" marT="36576" marB="36576">
                    <a:solidFill>
                      <a:srgbClr val="E8EEF6"/>
                    </a:solidFill>
                  </a:tcPr>
                </a:tc>
              </a:tr>
              <a:tr h="411480">
                <a:tc>
                  <a:txBody>
                    <a:bodyPr/>
                    <a:lstStyle/>
                    <a:p>
                      <a:r>
                        <a:rPr sz="1300" b="0">
                          <a:solidFill>
                            <a:srgbClr val="1F2937"/>
                          </a:solidFill>
                        </a:rPr>
                        <a:t>Qo‘shimcha protokol</a:t>
                      </a:r>
                    </a:p>
                  </a:txBody>
                  <a:tcPr marL="73152" marR="73152" marT="36576" marB="36576">
                    <a:solidFill>
                      <a:srgbClr val="FFFFFF"/>
                    </a:solidFill>
                  </a:tcPr>
                </a:tc>
                <a:tc>
                  <a:txBody>
                    <a:bodyPr/>
                    <a:lstStyle/>
                    <a:p>
                      <a:r>
                        <a:rPr sz="1300" b="0">
                          <a:solidFill>
                            <a:srgbClr val="1F2937"/>
                          </a:solidFill>
                        </a:rPr>
                        <a:t>2002-yilda kuchga kirgan: klonlash taqiqi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Hujjatlar xaritasi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turli davlat qonunlari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embrion tadqiqoti Buyuk Britaniyada maxsus ehtiyot choralari va HFEA (Inson urug‘lantirishi va embriologiya bo‘yicha boshqarma) nazoratida ruxsat etilgan.</a:t>
            </a:r>
          </a:p>
          <a:p>
            <a:pPr>
              <a:spcAft>
                <a:spcPts val="1200"/>
              </a:spcAft>
            </a:pPr>
            <a:r>
              <a:rPr sz="2200">
                <a:solidFill>
                  <a:srgbClr val="1F2937"/>
                </a:solidFill>
                <a:latin typeface="Calibri"/>
              </a:rPr>
              <a:t>▸  Avstriya, Germaniya va Fransiyada bunday tadqiqotlar taqiqlangan. Belgiya va Niderlandiyada esa ular qonuniy doiralarsiz o‘tkaziladi.</a:t>
            </a:r>
          </a:p>
          <a:p>
            <a:pPr>
              <a:spcAft>
                <a:spcPts val="1200"/>
              </a:spcAft>
            </a:pPr>
            <a:r>
              <a:rPr sz="2200">
                <a:solidFill>
                  <a:srgbClr val="1F2937"/>
                </a:solidFill>
                <a:latin typeface="Calibri"/>
              </a:rPr>
              <a:t>▸  Sabablardan biri: dinlar embrionga turlicha qaraydi. Islom urug‘lantirilgandan 40 kungacha ruxsat beradi, katolik cherkovi esa inson urug‘lantirishdan boshlanadi deydi.</a:t>
            </a:r>
          </a:p>
          <a:p>
            <a:pPr>
              <a:spcAft>
                <a:spcPts val="1200"/>
              </a:spcAft>
            </a:pPr>
            <a:r>
              <a:rPr sz="2200">
                <a:solidFill>
                  <a:srgbClr val="1F2937"/>
                </a:solidFill>
                <a:latin typeface="Calibri"/>
              </a:rPr>
              <a:t>▸  Savol: xalqaro kelishuv nega qiyin? Reproduktiv klonlash taqiqidan boshqa masalalar davlatlar ixtiyoriga qoldirilganini hisobga oling.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UNESKO qo‘mitasi: uch yondashuv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UNESKO bioetika qo‘mitasi: tadqiqotning axloqiyligi ko‘p jihatdan embrion maqomiga bog‘liq.</a:t>
            </a:r>
          </a:p>
          <a:p>
            <a:pPr>
              <a:spcAft>
                <a:spcPts val="800"/>
              </a:spcAft>
            </a:pPr>
            <a:r>
              <a:rPr sz="1800">
                <a:solidFill>
                  <a:srgbClr val="1F2937"/>
                </a:solidFill>
                <a:latin typeface="Calibri"/>
              </a:rPr>
              <a:t>▸  Hujjatda embrion ildiz hujayralari borasida axloqan uch xil qarash ko‘rsatilgan.</a:t>
            </a:r>
          </a:p>
          <a:p>
            <a:pPr>
              <a:spcAft>
                <a:spcPts val="800"/>
              </a:spcAft>
            </a:pPr>
            <a:r>
              <a:rPr sz="1800">
                <a:solidFill>
                  <a:srgbClr val="1F2937"/>
                </a:solidFill>
                <a:latin typeface="Calibri"/>
              </a:rPr>
              <a:t>▸  Diqqat: xato qilish xavfi. Shartli ruxsat ≠ mutlaq ruxsat: ikkinchi yondashuvda qat’iy shartlar talab qilinadi.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930530"/>
                <a:gridCol w="3357444"/>
              </a:tblGrid>
              <a:tr h="411480">
                <a:tc>
                  <a:txBody>
                    <a:bodyPr/>
                    <a:lstStyle/>
                    <a:p>
                      <a:r>
                        <a:rPr sz="1400" b="1">
                          <a:solidFill>
                            <a:srgbClr val="FFFFFF"/>
                          </a:solidFill>
                        </a:rPr>
                        <a:t>Yondashuv</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a) Mutlaq taqiq</a:t>
                      </a:r>
                    </a:p>
                  </a:txBody>
                  <a:tcPr marL="73152" marR="73152" marT="36576" marB="36576">
                    <a:solidFill>
                      <a:srgbClr val="E8EEF6"/>
                    </a:solidFill>
                  </a:tcPr>
                </a:tc>
                <a:tc>
                  <a:txBody>
                    <a:bodyPr/>
                    <a:lstStyle/>
                    <a:p>
                      <a:r>
                        <a:rPr sz="1300" b="0">
                          <a:solidFill>
                            <a:srgbClr val="1F2937"/>
                          </a:solidFill>
                        </a:rPr>
                        <a:t>Embrionni ishlatish axloqqa butunlay zid</a:t>
                      </a:r>
                    </a:p>
                  </a:txBody>
                  <a:tcPr marL="73152" marR="73152" marT="36576" marB="36576">
                    <a:solidFill>
                      <a:srgbClr val="E8EEF6"/>
                    </a:solidFill>
                  </a:tcPr>
                </a:tc>
              </a:tr>
              <a:tr h="411480">
                <a:tc>
                  <a:txBody>
                    <a:bodyPr/>
                    <a:lstStyle/>
                    <a:p>
                      <a:r>
                        <a:rPr sz="1300" b="0">
                          <a:solidFill>
                            <a:srgbClr val="1F2937"/>
                          </a:solidFill>
                        </a:rPr>
                        <a:t>b) Shartli ruxsat</a:t>
                      </a:r>
                    </a:p>
                  </a:txBody>
                  <a:tcPr marL="73152" marR="73152" marT="36576" marB="36576">
                    <a:solidFill>
                      <a:srgbClr val="FFFFFF"/>
                    </a:solidFill>
                  </a:tcPr>
                </a:tc>
                <a:tc>
                  <a:txBody>
                    <a:bodyPr/>
                    <a:lstStyle/>
                    <a:p>
                      <a:r>
                        <a:rPr sz="1300" b="0">
                          <a:solidFill>
                            <a:srgbClr val="1F2937"/>
                          </a:solidFill>
                        </a:rPr>
                        <a:t>Faqat tibbiy maqsad va qat’iy shartlar bilan</a:t>
                      </a:r>
                    </a:p>
                  </a:txBody>
                  <a:tcPr marL="73152" marR="73152" marT="36576" marB="36576">
                    <a:solidFill>
                      <a:srgbClr val="FFFFFF"/>
                    </a:solidFill>
                  </a:tcPr>
                </a:tc>
              </a:tr>
              <a:tr h="411480">
                <a:tc>
                  <a:txBody>
                    <a:bodyPr/>
                    <a:lstStyle/>
                    <a:p>
                      <a:r>
                        <a:rPr sz="1300" b="0">
                          <a:solidFill>
                            <a:srgbClr val="1F2937"/>
                          </a:solidFill>
                        </a:rPr>
                        <a:t>v) Tadqiqotni taqiqlash</a:t>
                      </a:r>
                    </a:p>
                  </a:txBody>
                  <a:tcPr marL="73152" marR="73152" marT="36576" marB="36576">
                    <a:solidFill>
                      <a:srgbClr val="E8EEF6"/>
                    </a:solidFill>
                  </a:tcPr>
                </a:tc>
                <a:tc>
                  <a:txBody>
                    <a:bodyPr/>
                    <a:lstStyle/>
                    <a:p>
                      <a:r>
                        <a:rPr sz="1300" b="0">
                          <a:solidFill>
                            <a:srgbClr val="1F2937"/>
                          </a:solidFill>
                        </a:rPr>
                        <a:t>Xavf va oqibatlar tufayli taqiqlash lozim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Embrion ildiz hujayralari: 3 qarash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genetika etikasi va genetik testlash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Tibbiy genetikada bemor yoshi yoki holati tufayli qarorni ota-ona yoki vasiy qabul qiladi.</a:t>
            </a:r>
          </a:p>
          <a:p>
            <a:pPr>
              <a:spcAft>
                <a:spcPts val="800"/>
              </a:spcAft>
            </a:pPr>
            <a:r>
              <a:rPr sz="1800">
                <a:solidFill>
                  <a:srgbClr val="1F2937"/>
                </a:solidFill>
                <a:latin typeface="Calibri"/>
              </a:rPr>
              <a:t>▸  Genom buzilishi kasallik belgisiz bosqichda ham aniqlanadi: Alsgeymer kasalligi, Gentington xoreyasi.</a:t>
            </a:r>
          </a:p>
          <a:p>
            <a:pPr>
              <a:spcAft>
                <a:spcPts val="800"/>
              </a:spcAft>
            </a:pPr>
            <a:r>
              <a:rPr sz="1800">
                <a:solidFill>
                  <a:srgbClr val="1F2937"/>
                </a:solidFill>
                <a:latin typeface="Calibri"/>
              </a:rPr>
              <a:t>▸  Ikki masala: irsiy jihatlarni bilish huquqi kimda; patologik genotipni o‘zgartirish mumkinmi.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Irsiy patologiya aniqlanadi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o‘zi qaror qilolmaydi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Qaror ota-ona/vasiyga o‘tadi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Simptomsiz bosqichda aniqlash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Kim bilish huquqiga ega?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Genetik testlash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Xavf–foyda muammosi va ildiz hujayra bilan davolash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Tibbiy texnologiyalar kengayib, bemorga foyda ham, xavf darajasi ham oshdi; shifokorlar «xavf–foyda»ni yolg‘iz hal qilishga qiynalmoqda.</a:t>
            </a:r>
          </a:p>
          <a:p>
            <a:pPr>
              <a:spcAft>
                <a:spcPts val="1200"/>
              </a:spcAft>
            </a:pPr>
            <a:r>
              <a:rPr sz="2200">
                <a:solidFill>
                  <a:srgbClr val="1F2937"/>
                </a:solidFill>
                <a:latin typeface="Calibri"/>
              </a:rPr>
              <a:t>▸  Ildiz hujayralar asosan embriondan olinadi; ular jigar va bosh miya funksiyasini, bo‘g‘im tog‘ayini tiklashda foydali bo‘lishi mumkin.</a:t>
            </a:r>
          </a:p>
          <a:p>
            <a:pPr>
              <a:spcAft>
                <a:spcPts val="1200"/>
              </a:spcAft>
            </a:pPr>
            <a:r>
              <a:rPr sz="2200">
                <a:solidFill>
                  <a:srgbClr val="1F2937"/>
                </a:solidFill>
                <a:latin typeface="Calibri"/>
              </a:rPr>
              <a:t>▸  Ildiz hujayralar har narsaga aylanishi mumkin; nazariy jihatdan yillar o‘tib saraton o‘smasi ham rivojlanishi mumkin, bu esa faqat farazdir.</a:t>
            </a:r>
          </a:p>
          <a:p>
            <a:pPr>
              <a:spcAft>
                <a:spcPts val="1200"/>
              </a:spcAft>
            </a:pPr>
            <a:r>
              <a:rPr sz="2200">
                <a:solidFill>
                  <a:srgbClr val="1F2937"/>
                </a:solidFill>
                <a:latin typeface="Calibri"/>
              </a:rPr>
              <a:t>▸  Uzoq oqibatlar yetarli o‘rganilmagan; Gippokratning «Zarar yetkazma» tamoyili murakkablashdi, klinik tadqiqotlar xavfsizlikni kafolatlamaydi.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Prenatal diagnostika va uning etik chegarasi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Bioetika tug‘ruqdan oldingi, ya’ni homiladorlik davridagi diagnostikaning notibbiy maqsadlarda ishlatilishiga yo‘l qo‘ymaslik masalasi bilan shug‘ullangan.</a:t>
            </a:r>
          </a:p>
          <a:p>
            <a:pPr>
              <a:spcAft>
                <a:spcPts val="1200"/>
              </a:spcAft>
            </a:pPr>
            <a:r>
              <a:rPr sz="2200">
                <a:solidFill>
                  <a:srgbClr val="1F2937"/>
                </a:solidFill>
                <a:latin typeface="Calibri"/>
              </a:rPr>
              <a:t>▸  Notibbiy maqsadga misol: homila jinsini aniqlash, ya’ni qiz tug‘ilmasligi uchun diagnostikadan foydalanish.</a:t>
            </a:r>
          </a:p>
          <a:p>
            <a:pPr>
              <a:spcAft>
                <a:spcPts val="1200"/>
              </a:spcAft>
            </a:pPr>
            <a:r>
              <a:rPr sz="2200">
                <a:solidFill>
                  <a:srgbClr val="1F2937"/>
                </a:solidFill>
                <a:latin typeface="Calibri"/>
              </a:rPr>
              <a:t>▸  Fan rivoji implantatsiyadan (embrionning bachadonga o‘rnashishidan) oldingi irsiy diagnostika bilan bog‘liq yangi xavf-xatarlarni keltirib chiqardi.</a:t>
            </a:r>
          </a:p>
          <a:p>
            <a:pPr>
              <a:spcAft>
                <a:spcPts val="1200"/>
              </a:spcAft>
            </a:pPr>
            <a:r>
              <a:rPr sz="2200">
                <a:solidFill>
                  <a:srgbClr val="1F2937"/>
                </a:solidFill>
                <a:latin typeface="Calibri"/>
              </a:rPr>
              <a:t>▸  Tezkor savol: genom buzilishini aniqlash tibbiy maqsad, homila jinsini tanlash esa notibbiy maqsad. Ikkalasini aralashtirmang (A ≠ B).</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Klonlashda faqat genotip takrorlanadi. Shaxsiyat tarbiya va bilim olish jarayonida shakllanadi. Tabiiy klonlar bo‘lgan monozigotali egizaklar ham bir-biridan farq qiladi.</a:t>
            </a:r>
          </a:p>
          <a:p>
            <a:pPr>
              <a:spcAft>
                <a:spcPts val="1200"/>
              </a:spcAft>
            </a:pPr>
            <a:r>
              <a:rPr sz="2000">
                <a:solidFill>
                  <a:srgbClr val="1F2937"/>
                </a:solidFill>
                <a:latin typeface="Calibri"/>
              </a:rPr>
              <a:t>▸  Ko‘p mamlakatda reproduktiv klonlash taqiqlangan. Terapevtik klonlashning asosiy maqsadi embrional ildiz hujayralar olish, va unga oid savollar hali hal bo‘lmagan.</a:t>
            </a:r>
          </a:p>
          <a:p>
            <a:pPr>
              <a:spcAft>
                <a:spcPts val="1200"/>
              </a:spcAft>
            </a:pPr>
            <a:r>
              <a:rPr sz="2000">
                <a:solidFill>
                  <a:srgbClr val="1F2937"/>
                </a:solidFill>
                <a:latin typeface="Calibri"/>
              </a:rPr>
              <a:t>▸  Ildiz hujayralar Parkinson, Alsgeymer, tarqoq skleroz davosiga umid beradi. Biroq xavfsizlikni kafolatlash uchun klinik tadqiqotlarning o‘zi yetarli emas.</a:t>
            </a:r>
          </a:p>
          <a:p>
            <a:pPr>
              <a:spcAft>
                <a:spcPts val="1200"/>
              </a:spcAft>
            </a:pPr>
            <a:r>
              <a:rPr sz="2000">
                <a:solidFill>
                  <a:srgbClr val="1F2937"/>
                </a:solidFill>
                <a:latin typeface="Calibri"/>
              </a:rPr>
              <a:t>▸  Irsiy muhandislik «Zarar yetkazma» tamoyilini murakkablashtirdi: foyda ham, xavf ham oshdi. Genetik ma’lumotni bilish huquqi masalasi ham ochiq qolmoqda.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44-54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79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Tabiiy klon: monozigotali (tuxumdosh) egizaklar. Zigota erta bo‘linganda genomi bir xil bo‘ladi. Ammo har xil sharoitda tarbiya olsa, ularning fe’li, mayli va aqliy qobiliyati farq qiladi, ba’zan tashqi qiyofasi ham. Demak, klonlanadigan narsa genotip, shaxsiyat emas.</a:t>
            </a:r>
          </a:p>
          <a:p>
            <a:pPr>
              <a:spcAft>
                <a:spcPts val="1200"/>
              </a:spcAft>
            </a:pPr>
            <a:r>
              <a:rPr sz="1800">
                <a:solidFill>
                  <a:srgbClr val="1F2937"/>
                </a:solidFill>
                <a:latin typeface="Calibri"/>
              </a:rPr>
              <a:t>▸  Eslab qolish usuli (vaqt chizig‘i): 1940-yillar, Lopashov, baqada yadro ko‘chirish → 1962, Gerdon, baqa ichak epiteliysi yadrosi → 1996, Vilmut, Dolli qo‘yi. Hamma zamonaviy klonlash tajribasi Lopashov usuliga asoslanadi.</a:t>
            </a:r>
          </a:p>
          <a:p>
            <a:pPr>
              <a:spcAft>
                <a:spcPts val="1200"/>
              </a:spcAft>
            </a:pPr>
            <a:r>
              <a:rPr sz="1800">
                <a:solidFill>
                  <a:srgbClr val="1F2937"/>
                </a:solidFill>
                <a:latin typeface="Calibri"/>
              </a:rPr>
              <a:t>▸  Hodisa tahlili: nega baqadan sutemizuvchiga o‘tish qiyin bo‘ldi? Sutemizuvchilarning tuxum hujayrasi amfibiyalarnikidan ming barobar kichik. 1970-yillar oxirida bu to‘siq yengildi. Dolli esa Finn Dorset zotli qo‘yning sut bezi hujayra yadrosidan hosil bo‘ldi.</a:t>
            </a:r>
          </a:p>
          <a:p>
            <a:pPr>
              <a:spcAft>
                <a:spcPts val="1200"/>
              </a:spcAft>
            </a:pPr>
            <a:r>
              <a:rPr sz="1800">
                <a:solidFill>
                  <a:srgbClr val="1F2937"/>
                </a:solidFill>
                <a:latin typeface="Calibri"/>
              </a:rPr>
              <a:t>▸  Eslab qoling: embrion mavqei haqida dinlarda farq bor. Islomda urug‘lanishdan keyin 40 kungacha ruxsat beriladi. Katolik cherkovi insonni urug‘lanish onidan boshlab hisoblaydi. Terapevtik klonlashda esa 14 kunlik embrion ishlatiladi.</a:t>
            </a:r>
          </a:p>
          <a:p>
            <a:pPr>
              <a:spcAft>
                <a:spcPts val="1200"/>
              </a:spcAft>
            </a:pPr>
            <a:r>
              <a:rPr sz="1800">
                <a:solidFill>
                  <a:srgbClr val="1F2937"/>
                </a:solidFill>
                <a:latin typeface="Calibri"/>
              </a:rPr>
              <a:t>▸  Diqqat, tushunchalarni aralashtirmang: terapevtik klonlash maqsadi shaxsiy embrional ildiz hujayralar olish. Reproduktiv klonlash esa yetilgan organizm yetishtirish. Aynan reproduktiv klonlash ko‘p axloqiy muammo keltirib chiqargan va UNESKO deklaratsiyasida taqiqlangan.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Yunon tilidagi «klon» so‘zining asl ma’nosi qaysi javobda to‘g‘ri berilgan?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Urug‘ va nasl ma’nosini bildiradi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Shoxcha, novda, bachki ma’nosini bildiradi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Nusxa va aks ma’nosini bildiradi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Ildiz va poya ma’nosini bildiradi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Ota va ona gametalari qo‘shilib zigota hosil bo‘ldi. Nima uchun bola onaning genetik jihatdan aniq nusxasi bo‘lmaydi?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Chunki gametalar diploid xromosoma to‘plamiga ega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Chunki zigota hech qachon hujayra bo‘linishiga uchramaydi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Chunki ona genomi urug‘lanishdan oldin butunlay yo‘qoladi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Chunki urug‘lantirish paytida yangi genom hosil bo‘ladi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Ikki qiz bola zigotaning erta bo‘linishidan tug‘ildi va genomlari bir xil. Ularni qanday atash to‘g‘ri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Tabiiy klonlar, ya’ni monozigotali egizaklar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Dizigotali egizaklar, genomi har xil bolalar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Gaploid zigotalardan rivojlangan bolalar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Sun’iy klonlar, ya’ni yadro ko‘chirilgan bolalar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Embrion hozir 8 ta blastomer bosqichida. Darslikka ko‘ra, uni alohida blastomerlarga ajratsak nima bo‘lishi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Embrion albatta halok bo‘ladi, rivojlanish to‘xtaydi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Blastomerlardan faqat bitta yashovchan organizm o‘sadi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Salbiy oqibatsiz bo‘linib, genotipi bir xil zotlar hosil bo‘lishi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Blastomerlar o‘z-o‘zidan gametaga aylanib ketadi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Sir Jon Gerdon 1962-yilda Janubiy Afrika qurbaqalari bilan o‘tkazgan tajribada yadro donori sifatida qaysi hujayralardan foydalangan?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Qurbaqaning jinsiy hujayralaridan foydalangan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Itbaliq ichagining to‘liq ixtisoslashgan epiteliy hujayralaridan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Erta embrionning ajratilgan blastomerlaridan foydalangan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O‘simlik hujayralaridan foydalangan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Laboratoriyada voyaga yetgan organizmning somatik hujayrasidan yadro ajratib olindi. Yadro keyingi qadamda qayerga joylanadi?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Spermatozoid bilan qo‘shilgan zigota ichiga joylanadi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Yadrosi olib tashlangan tuxum hujayraga joylanadi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Sakkiz hujayrali embrionning blastomeriga joylanadi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Yadrosi saqlangan tuxum hujayraga qo‘shib qo‘yiladi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Olim baqalarda ishlagan usulni sichqonlarda qo‘llamoqchi bo‘ldi, ammo qiyinchilikka duch keldi. Asosiy sabab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Somatik hujayralarda yadro umuman bo‘lmasligi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Tuxum hujayralari amfibiyalarnikidan ancha katta bo‘lishi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Embrion blastomerlarga hech qachon bo‘linmasligi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Tuxum hujayralari amfibiyalarnikidan ming barobar kichik bo‘lishi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Dolli qo‘yi qaysi hujayra yadrosidan yaratilganini so‘radi. Darslikka ko‘ra to‘g‘ri javob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Finn Dorset zotli qo‘yning sut bezi hujayra kulturasi yadrosi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Voyaga yetgan qo‘yning spermatozoidi tarkibidagi yadro</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Itbaliq ichagining ixtisoslashgan epiteliy hujayrasi yadrosi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Sakkiz hujayrali qo‘y embrionining blastomeri yadrosi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Yo‘qolib borayotgan hayvon turini saqlab qolish rejalashtirilmoqda. Darslikka ko‘ra, qaysi texnika yangi istiqbol ochishi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Tur ichida faqat tabiiy jinsiy ko‘payishni kuzatish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o‘simliklarda qo‘llanadigan vegetativ ko‘paytirish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Yadrolarni turlararo ko‘chirib o‘tkazish usullarini joriy etish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Zigotani bo‘lib, dizigotali egizaklar hosil qilish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Laboratoriya bemorga mos shaxsiy embrional ildiz hujayralar olish uchun klonlashdan foydalanmoqchi. Bu klonlashning qaysi turi?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Reproduktiv klonlash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Terapevtik klonlash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Vegetativ klonlash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Tabiiy klonlash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Turli sharoitda tarbiyalangan monozigotali (tuxumdosh) egizaklar xulq-atvori va qobiliyatida farq qilmoqda. Bu farqning asosiy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Ularning genotiplari tarbiya tufayli turlicha bo‘lib qolgan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Shaxsiyat tarbiya va bilim olish jarayonida shakllanadi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Egizaklar dizigotali bo‘lgani uchun genomi farq qiladi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Klonlashda shaxsiyat ham genotip bilan to‘liq ko‘chiriladi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Monozigotali egizaklarning tug‘ilishiga e’tiroz bildirilmaydi, ammo yadroni sun’iy ko‘chirish bilan hosil qilinsa e’tiroz paydo bo‘ladi. E’tirozlar nimaga bog‘liq?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Egizaklar genomining tabiiy ravishda bir xil bo‘lishiga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Klonlangan odam shaxsiyatining to‘liq takrorlanishiga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Klonlash faktining o‘zi axloqqa mutlaqo zid ekaniga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Metodikaning texnik xususiyatlariga, klonlash faktiga emas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Bepushtlik muammosi bor juftlikka klinika reproduktiv klonlash orqali farzand ko‘rishni taklif qildi. UNESKO deklaratsiyasi bo‘yicha bu amaliyot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Inson qadr-qimmatiga zid amaliyot sifatida taqiqlanadi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ota-onalarning yozma roziligi bilan ruxsat etiladi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14 kunlik embrion bilan ruxsat etiladi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Har bir klinika o‘z qaroriga ko‘ra ruxsat berishi mumkin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Darslikka ko‘ra, insonni klonlash borasida hozirgi kundagi holat qanday?</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Dolli bilan bir yilda birinchi inson klonlari olingan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reproduktiv klonlash orqali isbotlangan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Isbotlangan fakt hozirgacha mavjud emas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terapevtik klonlash orqali isbotlangan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Parlamentda og‘ir davolab bo‘lmas kasalliklarni davolash uchun terapevtik klonlashga ruxsat berish muhokama qilinmoqda. Bioetik mutaxassis qaysi asosiy xavotirni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Davolash uchun embrion yaratish kerak bo‘lmay qolishi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Bu keyinchalik nasl qoldirish maqsadidagi klonlashga olib kelmasmikan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Ildiz hujayralar faqat kattalardan olinadigan bo‘lib qolishi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Embrion ildiz hujayralarining boshqa manbalari yo‘qolishi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munozarada «inson homila hosil bo‘lgan, ya’ni tuxum hujayra urug‘lantirilgan paytdan boshlanadi» degan qarashni keltirdi. U qaysi diniy yondashuvni nazarda tutgan?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Islom dinining embrionga qarashi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Iudaizm dinining embrionga qarashi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Rim katolik cherkovining qarashi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Protestant cherkovining qarashi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Britaniyalik tadqiqotchi inson embrionlari ustida ish boshlamoqchi. Bunday tadqiqotlarni qaysi maxsus idora tartibga soladi?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Inson urug‘lantirishi va embriologiya boshqarmasi (HFEA)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Yevropa komissiyasi qoshidagi etika guruhi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UNESKOning Xalqaro bioetika qo‘mitasi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Yevropa adolat sudining maxsus bo‘limi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Qaysi davlatlar juftligida embrionlar tadqiqoti qonunchilik doirasi bo‘lmagan holda olib boriladi?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Fransiya va Germaniya davlatlari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Irlandiya va Avstriya davlatlari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Portugaliya va Ispaniya davlatlari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Belgiya va Niderlandiya davlatlari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Hujjatda «embrion ildiz hujayralarini olish faqat aniq tibbiy maqsadda va qat’iy shartlar bajarilgandagina axloqan o‘rinli» deyilgan. Bu UNESKO qo‘mitasi hujjatidagi qaysi yondashuvga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Mutlaq axloqqa zid deb baholovchi yondashuv</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Shartli ruxsat beruvchi yondashuv</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Tadqiqotni to‘liq taqiqlovchi yondashuv</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Embrion maqomiga bog‘liq bo‘lmagan yondashuv</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Oila prenatal diagnostika orqali homila jinsini aniqlab, qiz tug‘ilmasligi uchun foydalanmoqchi. Bioetikada bu amaliyotga nisbatan qanday masala qo‘yilgan?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Uni ota-onaning mutlaq huquqi deb tan olish masalasi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Diagnostikadan notibbiy maqsadda foydalanishga yo‘l qo‘ymaslik masalasi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Uni faqat homiladorlikning 14-haftasidan keyin ruxsat etish masalasi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Uni barcha shifoxonalarda majburiy qilish masalasi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Shoxcha, novda, bachki ma’nosini bildiradi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Darslikda klonlash atamasi yunoncha «shoxcha, novda, bachki» so‘zidan olingani aytilgan. Klonlash deganda biror obyektni aynan o‘xshash qilib qayta ishlab chiqarish tushuniladi.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Chunki urug‘lantirish paytida yangi genom hosil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Jinsiy ko‘payishda ikki gameta qo‘shilganda yangi genom paydo bo‘ladi. Shu sababli onani avlodda to‘liq takrorlab bo‘lmaydi. Gametalar esa diploid emas, gaploid to‘plamga ega.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Tabiiy klonlar, ya’ni monozigotali egizaklar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Zigota rivojlanishning ilk bosqichida bo‘linsa, genom bir xil bo‘ladi. Bunday monozigotali egizaklar bir jinsli bo‘ladi va haqiqiy tabiiy klonlardir. Dizigotali egizaklarning genomi har xil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Salbiy oqibatsiz bo‘linib, genotipi bir xil zotlar hosil bo‘lishi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Sut emizuvchilar, shu jumladan inson embrioni 8 blastomer bosqichigacha salbiy oqibatsiz alohida blastomerlarga bo‘linishi mumkin. Natijada monozigotali egizaklarga o‘xshash, genotipi bir xil zotlar hosil bo‘lishi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Itbaliq ichagining to‘liq ixtisoslashgan epiteliy hujayralaridan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Gerdon yadro donori sifatida jinsiy hujayralarni emas, itbaliq ichagining to‘liq ixtisoslashgan epiteliy hujayralarini oldi. Yadro soma hujayradan ajratilib, yadrosi olib tashlangan tuxum hujayraga ko‘chirilgan.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Yadrosi olib tashlangan tuxum hujayraga joylanadi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Yadro ko‘chirish usuli somatik hujayradan yadroni ajratib olish va uni yadrosizlantirilgan (enukleirlangan) tuxum hujayraga joylashdan iborat. Bu usul 1940-yillarda Lopashov baqalarda ishlab chiqqan va hozirgi barcha klonlash tajribalari shunga asoslangan.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Tuxum hujayralari amfibiyalarnikidan ming barobar kichik bo‘lishi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Sut emizuvchilarning tuxum hujayralari amfibiyalarnikidan ming barobar kichik, shu sababli amfibiyalardan sut emizuvchilarga o‘tish juda qiyin bo‘lgan. Bu qiyinchilik 1970-yillar oxiriga kelib bartaraf etilgan.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Finn Dorset zotli qo‘yning sut bezi hujayra kulturasi yadrosi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Dolli reconstruksiyalangan tuxum hujayradan paydo bo‘lgan, yadro donori Finn Dorset zotli qo‘yning sut bezi hujayra kulturasi bo‘lgan. Itbaliq ichagi epiteliysi Gerdonning 1962-yildagi baqa tajribasiga tegishli, uni Dolli bilan adashtirmang.</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Yadrolarni turlararo ko‘chirib o‘tkazish usullarini joriy etish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Darslikda yadrolarni turlararo ko‘chirish usullarini amaliyotga joriy qilish yo‘q bo‘lib ketish arafasidagi hayvon turlarini qutqarish uchun misli ko‘rilmagan istiqbollar ochishi mumkinligi aytilgan. Klonlash sara sigirlar va sport otlarini ko‘paytirishga ham imkon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Terapevtik klonlash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Inson klonlashning asosiy maqsadi shaxsiy embrional ildiz hujayralar va ulardan o‘stirilgan a’zo hamda to‘qimalarni olishdir, bu yo‘nalish terapevtik klonlash deyiladi. Reproduktiv klonlash esa yetilgan organizmni yetishtirishdir, uning isbotlangan fakti hozircha yo‘q.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Shaxsiyat tarbiya va bilim olish jarayonida shakllanadi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Klonlashda faqat genotip takrorlanadi. Shaxsiyat tarbiya va bilim olish jarayonida shakllanadi, uning bir xil sharoitlarini takrorlab bo‘lmaydi. Turli muhitda o‘sgan tabiiy klonlar (monozigotali egizaklar) xarakteri, mayli va aqliy qobiliyati bilan farq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Metodikaning texnik xususiyatlariga, klonlash faktiga emas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Darslikka ko‘ra monozigotali egizaklarning tabiiy tug‘ilishida noto‘g‘ri narsa yo‘q. E’tirozlar klonlash faktining o‘ziga emas, yadroni sun’iy ko‘chirish usulining texnik xususiyatlariga qaratilgan.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Inson qadr-qimmatiga zid amaliyot sifatida taqiqlanadi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UNESKO ning Inson genomi va huquqlari to‘g‘risidagi umumiy deklaratsiyasida inson qadr-qimmatiga zid, inson zotini qayta ishlab chiqarish maqsadidagi klonlash kabi amaliyot man etiladi. Ko‘p mamlakatlarda ham reproduktiv klonlashga to‘liq yoki vaqtincha taqiq bor.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Isbotlangan fakt hozirgacha mavjud emas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Darslikda yozilishicha, ba’zi olimlar Dolli yaratilgach odamni klonlashgacha atigi 10 yil qoldi, deb taxmin qilgan. Biroq hozirgi kunga kelib ham inson klonlanganining isbotlangan fakti mavjud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Bu keyinchalik nasl qoldirish maqsadidagi klonlashga olib kelmasmikan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 savol qo‘yadi: agar terapevtik klonlashga ruxsat berilsa va zarur texnologiyalar yaratilsa, bu nasl qoldirish maqsadidagi klonlashga olib kelmaydimi? Yadroni ko‘chirish bilan klonlash ildiz hujayra olish uchun maxsus «embrion» yaratilishiga olib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Rim katolik cherkovining qarashi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Katolik qonunlariga ko‘ra, inson homila hosil bo‘lgan paytdan, ya’ni tuxum hujayra urug‘lantirilgan vaqtdan paydo bo‘ladi. Islomda urug‘lantirilgandan keyin 40 kungacha embriondan foydalanishga ruxsat beriladi. Iudaizmda urug‘langan tuxum hali inson emas. Protestantlarning ayrim tarmoqlari embrionni to‘la huquqli inson deb hisoblamaydi.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 (3.2-bo‘lim)-bet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Inson urug‘lantirishi va embriologiya boshqarmasi (HFEA)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Buyuk Britaniyada 1990-yilgi «Inson urug‘lantirishi va embriologiya haqida akt» asosida tadqiqotlarni tartibga solishni maxsus idora — Inson urug‘lantirishi va embriologiya bo‘yicha boshqarma (HFEA) amalga oshiradi.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 (3.2-bo‘lim)-bet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Belgiya va Niderlandiya davlatlari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Belgiya va Niderlandiya embrionlardagi tadqiqotlarni qonunchilik doiralari yo‘qligida o‘tkazadi. Fransiya, Germaniya, Irlandiya va Avstriyada bunday tadqiqotlar taqiqlangan. Portugaliyada qonunchilik ham, tadqiqotlar ham yo‘q.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 (3.2-bo‘lim)-bet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Shartli ruxsat beruvchi yondashuv</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UNESKO qo‘mitasi hujjatida uch yondashuv ko‘rsatilgan: mutlaq axloqqa zid; faqat tibbiy maqsad va qat’iy shartlar bilan o‘rinli; xavf-xatar tufayli taqiqlash lozim. Berilgan ibora ikkinchisi — shartli ruxsatga tegishli. Hujjatda ahloqiy asoslanganlik embrion maqomiga ko‘p jihatdan bog‘liq deyilgan.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 (3.2-bo‘lim)-bet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Diagnostikadan notibbiy maqsadda foydalanishga yo‘l qo‘ymaslik masalasi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Bioetika tug‘ruqdan oldingi diagnostikadan notibbiy maqsadlarda, masalan «homila jinsini aniqlash» orqali qiz tug‘ilmasligi uchun foydalanishga yo‘l qo‘ymaslik masalasi bilan shug‘ullangan. Fan rivoji implantatsiyadan oldingi irsiy diagnostika bilan bog‘liq yangi xavflarni ham keltirib chiqardi.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44-54 (3.2-bo‘lim)-bet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Biotexnologiya, bioxavfsizlik va genetik muhandislik: ildiz hujayralar, klonlashning bioet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79</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Yuldashev N.M., Saydalixodjayeva O.Z., Saidov A.B. Bioetika (tibbiyot OTM talabalari uchun darslik), Toshkent tibbiyot akademiyasi, Toshkent, 2019 (titul betida 2018). 2019. 3-bob 3.2 «Klonlashtirish» (kitob beti 44-54)</a:t>
            </a:r>
          </a:p>
          <a:p>
            <a:pPr>
              <a:spcAft>
                <a:spcPts val="1200"/>
              </a:spcAft>
            </a:pPr>
            <a:r>
              <a:rPr sz="2000">
                <a:solidFill>
                  <a:srgbClr val="1F2937"/>
                </a:solidFill>
                <a:latin typeface="Calibri"/>
              </a:rPr>
              <a:t>▸  Muhamedova Z.M. Bioetika (o‘quv qo‘llanma, falsafa fakulteti), Toshkent, 2006. 2006. II bob 3-bo‘lim: inson hujayralari va to‘qimalarini klonlash, ildiz hujayralar bilan davolash, embrional hujayralar, inson klonlash muammosi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