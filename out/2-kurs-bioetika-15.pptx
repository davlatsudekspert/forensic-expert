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savoli: nima uchun ilmiy yutuq bir vaqtning o‘zida axloqiy muammo ham bo‘lishi mumkin? Doskada chizish: dars rejasining 5 bandini ketma-ket strelkalar bilan yozing. Tipik xato: talabalar klonlashni faqat odamni nusxalash deb o‘ylaydi, holbuki mavzu hayvonlar, o‘simliklar va hujayralarni ham qamrab oladi.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savollari: kundalik hayotda ‘nusxa’ so‘zi qaysi hollarda ishlatiladi? ‘Novda’ so‘zi klon g‘oyasiga nega mos keladi? Doskada chizish: ‘klonlash → klon’ strelkasi va uning ostiga ikki ma’noni yozing. Tipik xato: klon va klonlash tushunchalarini bir xil deb qabul qilish.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savollari: gameta nega o‘zi rivojlana olmaydi? Yangi genom paydo bo‘lishi klonlashdan qanday farq qiladi? Doskada chizish: to‘rt qutili zanjirni chizing, so‘ng yoniga ‘klon: genom o‘zgarmaydi’ deb yozing. Tipik xato: jinsiy ko‘payishda ona nusxasi hosil bo‘ladi deb o‘ylash; aslida urug‘lantirishda yangi genom paydo bo‘ladi.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zigota bo‘linishi natijasida genom bir xil qoladi? Tabiatda klon uchraydimi? Doskada chizing: bitta zigota → ikkiga bo‘linish → ikki bola va ikki zigota → ikki bola sxemasi. Tipik xato: dizigotali egizaklarni ham klon deb hisoblash; klon faqat bir zigotadan hosil bo‘lgan egizaklar.</a:t>
            </a:r>
          </a:p>
          <a:p/>
          <a:p>
            <a:r>
              <a:t>Tekshirish kerak (manbada noaniq):</a:t>
            </a:r>
          </a:p>
          <a:p>
            <a:r>
              <a:t>- Rasm yozuviga ko‘ra, dizigotali egizaklarda genotip va fenotip har xil.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Blastomer nima? Nega o‘simliklarda klonlash osonroq? Doskada chizing: 8 blastomerli embrion va undan ajralgan alohida hujayralar. Tipik xato: totipotentlikni faqat embrionga xos deb o‘ylash; manbada u o‘simlik hujayralarining xususiyati sifatida ham keltirilgan. Diqqat: blastomerlarga bo‘linish matnda 8 blastomer bosqichigacha deb aytilgan.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Turli muhitda o‘sgan egizaklar nega farq qiladi? Klonga e’tiroz klonning o‘ziga qaratilganmi yoki texnikagami? Doskada chizing: genotip + tarbiya/muhit = shaxsiyat. Tipik xato: genetik o‘xshashlikni shaxsiyat o‘xshashligi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Jinsiy ko‘payishda ona nega avlodda to‘liq takrorlanmaydi (urug‘lanishda yangi genom paydo bo‘ladi)? 2) Egizaklar nega tabiiy klon deyiladi? Doskada chizish: zigota ikkiga bo‘linib, ikki bir xil genomli organizm hosil bo‘lishi sxemasi. Tipik xato: monozigotali va dizigotali egizaklarni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Gerdon tajribasi muhim, chunki donor hujayra jinsiy emas, ixtisoslashgan hujayra edi? 2) Nega amfibiyalardan sut emizuvchilarga o‘tish qiyin bo‘lgan? Doskada chizish: vaqt chizig‘ini daftarga ko‘chirish. Tipik xato: Gerdon tajribasini Dolli bilan, ya’ni baqa bilan qo‘yni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Somatik hujayra bilan jinsiy hujayra yadrosi nimasi bilan farq qiladi? 2) Nega tuxumning yadrosi avval olib tashlanadi? Doskada chizish: 5 bosqichli zanjirni strelkalar bilan chizish. Tipik xato: enukleatsiya deganda butun tuxumni olib tashlashni tushunish, aslida faqat yadro olinadi.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nima uchun tuxum hujayra o‘lchami klonlashni qiyinlashtiradi? Tajriba bosqichlari ketma-ketligi nima uchun muhim? Doskada: 70–80-yillar vaqt chizig‘ini chizdirish. Tipik xato: 80-yillar boshidagi natijani (sichqon) oxiridagi natija (quyon, yirik hayvonlar) bilan almashtirish.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nega Dolli jamoatchilikda shov-shuv uyg‘otdi? Nima uchun aynan yirik hayvon hujayrasidan foydalanish yangilik edi? Doskada: Dolli bilan bog‘liq 4 ta kalit so‘z (1996, PPL Therapeutics, Vilmut, somatik hujayra). Tipik xato: Dollini ‘birinchi klon hayvon’ deb atash; darslikda ‘sut emizuvchilarning ilk klonlari’ deyilgan, amfibiyalar tajribalari esa undan oldin o‘tkazilgan.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nima uchun tuxum hujayra ‘rekonstruksiyalangan’ deyiladi? Yadro donori va tuxum hujayraning roli qanday farq qiladi? Doskada: 5 bosqichli zanjirni talabalar o‘zlari chizsin. Tipik xato: yadro donorini jinsiy hujayra deb o‘ylash; darslikda donor — sut bezi (somatik) hujayrasi.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Podalarni klonlash chorvachilikka qanday foyda beradi? 2) Noyob turlarni saqlashda klonlash qanday rol o‘ynashi mumkin? Doskada: «Klonlash → mahsuldor sigir → butun poda» zanjirini chizdiring. Tipik xato: «mumkin» so‘zini e’tiborsiz qoldirib, istiqbolni tasdiqlangan amaliyot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Talabalar 2-3 kishilik guruhda javob tayyorlaydi. Muhokama: 1) Nima uchun aynan katta hayvon hujayrasidan klon olinishi odamga ham bog‘landi? 2) Olimlarning «10 yil» taxmini nimani ko‘rsatadi? Doskada: Dolli yaratilish sxemasini (sut bezi hujayrasi → tuxum hujayra → klon) chizdiring. Tipik xato: Dolli yadro donori qo‘y, tuxum hujayra bilan chalkashtirish; bu taxminni isbotlangan fakt deb olish.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Terapevtik va reproduktiv klonlash maqsadlari qanday farq qiladi? 2) Nega reproduktiv klonlash ko‘proq e’tiroz uyg‘otadi? Doskada: ikki ustunli solishtirma («Terapevtik» va «Reproduktiv») chizdiring. Tipik xato: terapevtik klonlashni inson nusxasini yaratish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bugun asosiy maqsad terapevtik yo‘nalish hisoblanadi? 2) Nega terapevtik klonlashda ham embrion mavqei bahsli? Doskada: ikki ustunli jadvalni (maqsad, ahamiyati, etik muammo, huquqiy holat) talabalar bilan birga to‘ldiring. Tipik xato: terapevtik klonlashni a‘zo yoki odam nusxasini yetishtirish deb tushunish; u embrional ildiz hujayra olishga qaratilgan.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taqiq reproduktiv klonlashgami yoki barcha tadqiqotlargami? Ikkisini farqlang.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Turli oilada o‘sgan egizaklar nimani ko‘rsatadi? 2) Genotip va shaxsiyat farqi klonlashga qarshi dalillarga qanday ta‘sir qiladi? Doskada: ikki ustun yozing: «Klonlanadi» (genotip) va «Klonlanmaydi» (tarbiya, bilim, shaxsiyat). Tipik xato: klonni odamning ruhiy va aqliy nusxasi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Tabiiy klon (egizaklar) va sun‘iy yadro ko‘chirish o‘rtasidagi etik farq nimada? 2) Bepushtlikda yordam imkoni reproduktiv klonlashni oqlaydimi? Doskada: ikki shoxli sxema chizing: «tabiiy bo‘linish → egizaklar» va «sun‘iy yadro ko‘chirish → e‘tiroz». Tipik xato: e‘tirozni klonning o‘ziga qaratilgan deb o‘ylash; manbaga ko‘ra u usulga qaratilgan. Eslatma: reproduktiv klonlash ko‘p mamlakatda taqiqlangan.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«47,XYY mudofaasi» misolida genetik xususiyat jinoyat uchun oqlov bo‘la oladimi? (150–151-betlar).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taqiq aynan reproduktiv klonlashga qaratilgan? 2) Nega qolgan masalalar davlatlar ixtiyorida qoldirilgan? Doskada: uch ustunli jadvalni (hujjat — qoida — izoh) talabalar bilan birga to‘ldiring. Tipik xato: taqiqni barcha turdagi klonlashga tegishli deb o‘ylash. Eslatma: manbaning bir joyida deklaratsiya yili 1997, boshqa joyida 1977 deb yozilgan; yilni slaydda aytmang, o‘qituvchi aniqlab olsin.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Savollarni og‘zaki, tezkor so‘rang; talabalar kitobsiz javob bersin. Muhokama: bugungi kunda klonlashning bosh maqsadi qaysi turga tegishli? Doskada: ikki ustun — «terapevtik» va «reproduktiv» — qilib maqsadlarini yozdiring. Tipik xato: reproduktiv klonlashni asosiy maqsad deb hisoblash; manbada u ikkinchi darajali vazifa deyilgan.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Talabalarni ikki guruhga bo‘ling: «ruxsat berish» va «ruxsat bermaslik» tarafi. Muhokama: 1) Og‘ir kasallikni davolash imkoniyati taqiqni yumshatishga asos bo‘ladimi? 2) Embrionning mavqei bu yerda nega hal qiluvchi? Doskada: «terapevtik klonlash → o‘ziga xos embrion → reproduktiv klonlash xavfi» zanjirini chizing. Tipik xato: genotipni takrorlashni shaxsni takrorlash bilan aralashtirish; tabiiy klonlar bo‘lmish bir tuxumli egizaklar bunga misol.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Savol: usul embrionning axloqiy maqomini o‘zgartiradimi? Kitob: har usulda embrion o‘z maqomiga ega.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embrion eng yirik manba hisoblanadi, bu qanday axloqiy savol tug‘diradi? 2) Ildiz hujayra ‘har nimaga aylanishi’ nima uchun xavf ham bo‘lishi mumkin? Doskada: to‘rt manbani ustun qilib chizing va embrionni belgilang. Tipik xato: terapevtik klonlashni reproduktiv klonlash (bola tug‘ilishi) bilan aralashtirish. Tezkor savol: ildiz hujayralarning to‘rt manbasini ayting.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Tipik xato: pluripotentlik axloqiy muammoni butunlay yo‘q qiladi deb o‘ylash; kitob buni retrospektiv aniqlash qiyinligini ham aytadi.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Voyaga yetgan bemorni davolash uchun maxsus embrion yaratish mumkinmi? 2) Ayollarga bosim qanday shaklda bo‘lishi mumkin? Doskada: vaqt chizig‘i chizing — urug‘lanish → 14 kun, Britaniya chegarasini belgilang. Tipik xato: 14 kunni butun dunyo uchun yagona qonun deb o‘ylash. Voqea tahlili: klinika davolash uchun ildiz hujayra olmoqchi; ayol donorning roziligi va bosim xavfini baholang.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davlatlar va dinlar embrionga turlicha qaraydi? 2) Shifokor boshqa e’tiqoddagi bemor bilan bu mavzuda qanday muomala qilishi kerak? Doskada: Islom (40 kun) va yahudiylik (implantatsiya) qarashlarini ikki ustunda solishtiring. Tipik xato: barcha dinlar bir xil qarashda deb o‘ylash. Tezkor savol: islomda embrionga ruxsat necha kungacha berilgan?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Embrion mavqei haqidagi qarash ildiz hujayra tadqiqotiga qanday ta’sir qiladi? 2) Nega bir dinning ichida ham qarashlar farq qilishi mumkin? Doskada: uch cherkovni ustun qilib chizib, har birining chegarasini (urug‘lanish / implantatsiya / keyin) belgilang. Tipik xato: protestant va katolik qarashini bir xil deb olish. Eslatma: manbadagi protestant haqidagi ibora noaniq, talabalarga ehtiyotkorlik bilan aytilsin.</a:t>
            </a:r>
          </a:p>
          <a:p/>
          <a:p>
            <a:r>
              <a:t>Tekshirish kerak (manbada noaniq):</a:t>
            </a:r>
          </a:p>
          <a:p>
            <a:r>
              <a:t>- Diqqat: protestant qarashi katolikdan farq qiladi va uning o‘zida ham bir xil emas.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aniq belgilangan qonun va maxsus idora kerak? 2) Ruxsat doirasining kengayishi qanday xavf tug‘dirishi mumkin? Doskada: besh bosqichli zanjirni chizib, har bosqichga bitta so‘z izoh yozing. Tipik xato: 1990-yil aktini 2000-yildagi ekspert hisoboti bilan aralashtirish. Qo‘shimcha: embrion yoshi chegarasi 14 kun (jinsiy hujayralar qo‘shilgandan boshlab).</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Nega bir xil Yevropa ichida qonunlar bunchalik farq qiladi? 2) Embrion tadqiqoti bilan abort o‘rtasidagi o‘xshashlik nimada? Doskada: to‘rt guruhni xaritasiz, faqat ro‘yxat ko‘rinishida yozing. Tipik xato: ‘qonun yo‘q’ degani ‘taqiqlangan’ degani deb o‘ylash (Belgiya va Niderlandiyada tadqiqot qonunsiz o‘tkaziladi). Fransiyada embrionni zarar yetkazmasdan o‘rganish va implantatsiyadan oldingi diagnostika imkoniyati bor.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Embrion mavqei tadqiqotga munosabatni qanday belgilaydi? 2) Milliy konstitutsiya va xalqaro sud qarori to‘qnashsa, nima bo‘ladi? Doskada: ikki ustunli chizma (embrion tadqiqoti | abort) va o‘xshash jihatlarni yozing. Tipik xato: Irlandiya qoidasini butun Yevropa Ittifoqiga umumlashtirish.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Moliyalashni taqiqlash tadqiqotni to‘liq to‘xtatadimi? 2) Konvensiya nega embrion yaratishni taqiqlaydi? Doskada: jadvalni daftarga ko‘chirib, har hujjat darajasini (shtat, federal, Yevropa) belgilang. Tipik xato: federal moliyalash taqiqini tadqiqotning o‘zi taqiqlangan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Plyuralistik dunyoda yagona axloqiy norma mumkinmi? 2) Davlat qonuni diniy qarashga qanchalik tayanishi kerak? Doskada: to‘rt davlat (Buyuk Britaniya, Fransiya, Germaniya, Niderlandiya) va ularning yondashuvini strelkalar bilan chizing. Tipik xato: bir davlat misolini butun Yevropa siyosati deb umumlashtirish.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Embrion maqomi nima uchun hal qiluvchi? 2) Qaysi yondashuvni qo‘llab-quvvatlaysiz va nega? Doskaga: uch yondashuv jadvalini chizdiring va har biriga bittadan dalil yozdiring. Tipik xato: talabalar shartli ruxsatni erkin ruxsat deb tushunadi.</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Kasallik belgisiz bo‘lsa, natijani kimga aytish kerak? 2) Qarindoshlar bilish huquqiga egami? Doskaga: qaror qabul qiluvchilar zanjirini chizdiring. Tipik xato: talabalar qarorni har doim bemorning o‘zi qabul qiladi deb o‘ylaydi.</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Zarar yetkazma tamoyili ildiz hujayra davosida nega murakkablashadi? 2) Noaniq uzoq oqibatlarda bemorga nimani tushuntirish kerak? Doskaga: «xavf» va «foyda» ustunli ikki ustunni chizdiring. Tipik xato: nazariy xavfni isbotlangan fakt deb talqin qilish.</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Homila jinsini aniqlash nega notibbiy maqsad hisoblanadi? 2) Implantatsiyadan oldingi diagnostikada qanday yangi xavflar paydo bo‘ladi? Doskada chizish: ikki ustun, «tibbiy maqsad» va «notibbiy maqsad», har biriga misol yozing. Tipik xato: talabalar prenatal diagnostikaning o‘zini taqiqlangan deb o‘ylaydi. Aslida masala uning notibbiy maqsadda ishlatilishida.</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Diqqat: kitob bu savollarga tayyor javob bermaydi — munozara uchun beriladi.</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Terapevtik klonlashga ruxsat berilsa, u reproduktiv klonlashga olib kelmaydimi? 2) Embrionga qaysi yoshgacha «embrion» sifatida qarash mumkin? Doskada chizish: «klonlash – ildiz hujayra – genetik muhandislik» zanjiri, har bo‘g‘inga bitta asosiy etik savol yozing. Tipik xato: genotipning takrorlanishini shaxsiyatning takrorlanishi bilan adashtirish (genotip ≠ shaxsiyat).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Biotexnologiya, bioxavfsizlik va genetik muhandislik: ildiz hujayralar, klonlashning bioetik jihatlari (A9)</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va o‘quv maqsadlari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Biotibbiyot va biotexnologiya rivoji murakkab savollar tug‘dirdi: inson hujayralarini klonlash, genetik testlash, ildiz hujayralar.</a:t>
            </a:r>
          </a:p>
          <a:p>
            <a:pPr>
              <a:spcAft>
                <a:spcPts val="1200"/>
              </a:spcAft>
            </a:pPr>
            <a:r>
              <a:rPr sz="2200">
                <a:solidFill>
                  <a:srgbClr val="1F2937"/>
                </a:solidFill>
                <a:latin typeface="Calibri"/>
              </a:rPr>
              <a:t>▸  Ildiz hujayralar asosan inson embrionidan olinadi. Shu sabab embrion maqomi haqidagi bahs eng keskin bioetik masalalardan biriga aylangan.</a:t>
            </a:r>
          </a:p>
          <a:p>
            <a:pPr>
              <a:spcAft>
                <a:spcPts val="1200"/>
              </a:spcAft>
            </a:pPr>
            <a:r>
              <a:rPr sz="2200">
                <a:solidFill>
                  <a:srgbClr val="1F2937"/>
                </a:solidFill>
                <a:latin typeface="Calibri"/>
              </a:rPr>
              <a:t>▸  Dars rejasi: klonlash tushunchasi, Dolli tajribasi, terapevtik va reproduktiv klonlash, ildiz hujayra manbalari, din va davlatlarning yondashuvi.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44-54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Klonlash tushunchasi va atamasi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Klonlash (inglizcha cloning) — biror obyektni aniq o‘xshash qilib qayta ishlab chiqarish. Natijada hosil bo‘lgan obyektlar klon deb ataladi.</a:t>
            </a:r>
          </a:p>
          <a:p>
            <a:pPr>
              <a:spcAft>
                <a:spcPts val="1200"/>
              </a:spcAft>
            </a:pPr>
            <a:r>
              <a:rPr sz="2200">
                <a:solidFill>
                  <a:srgbClr val="1F2937"/>
                </a:solidFill>
                <a:latin typeface="Calibri"/>
              </a:rPr>
              <a:t>▸  Atama yunoncha so‘zdan kelib chiqqan va shoxcha, novda, bachki degan ma’noni bildiradi.</a:t>
            </a:r>
          </a:p>
          <a:p>
            <a:pPr>
              <a:spcAft>
                <a:spcPts val="1200"/>
              </a:spcAft>
            </a:pPr>
            <a:r>
              <a:rPr sz="2200">
                <a:solidFill>
                  <a:srgbClr val="1F2937"/>
                </a:solidFill>
                <a:latin typeface="Calibri"/>
              </a:rPr>
              <a:t>▸  Biologiyada atama ikki ma’noda ishlatiladi: tabiiy yo‘l bilan yuzaga kelish yoki genetik jihatdan o‘xshash organizmlarni jinssiz ko‘paytirib olish.</a:t>
            </a:r>
          </a:p>
          <a:p>
            <a:pPr>
              <a:spcAft>
                <a:spcPts val="1200"/>
              </a:spcAft>
            </a:pPr>
            <a:r>
              <a:rPr sz="2200">
                <a:solidFill>
                  <a:srgbClr val="1F2937"/>
                </a:solidFill>
                <a:latin typeface="Calibri"/>
              </a:rPr>
              <a:t>▸  Diqqat: xato qilish xavfi — klon (hosil bo‘lgan nusxa organizm) va klonlash (uni olish jarayoni) bir narsa emas, ularni aralashtirmang.</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44-54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Jinsiy ko‘payish va klonlash farqi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Gametada xromosomalar haploid to‘plamda, shu sabab u o‘zicha yangi organizmgacha rivojlana olmaydi.</a:t>
            </a:r>
          </a:p>
          <a:p>
            <a:pPr>
              <a:spcAft>
                <a:spcPts val="800"/>
              </a:spcAft>
            </a:pPr>
            <a:r>
              <a:rPr sz="1800">
                <a:solidFill>
                  <a:srgbClr val="1F2937"/>
                </a:solidFill>
                <a:latin typeface="Calibri"/>
              </a:rPr>
              <a:t>▸  Urug‘lantirishda zigota va yangi genom hosil bo‘ladi, shu sabab ona avlodda to‘liq takrorlanmaydi.</a:t>
            </a:r>
          </a:p>
          <a:p>
            <a:pPr>
              <a:spcAft>
                <a:spcPts val="800"/>
              </a:spcAft>
            </a:pPr>
            <a:r>
              <a:rPr sz="1800">
                <a:solidFill>
                  <a:srgbClr val="1F2937"/>
                </a:solidFill>
                <a:latin typeface="Calibri"/>
              </a:rPr>
              <a:t>▸  Ona genetik ma’lumoti o‘zgarishsiz o‘tsagina, uni to‘liq takrorlaydigan organizmlarni olish mumkin.</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Gameta: haploid xromosomalar</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Urug‘lantirish (ikki gameta)</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Zigota — yangi hujayra</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Yangi genom: ona takrorlanmaydi</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Jinsiy ko‘payish zanjiri</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44-54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Tabiiy klonlar: monozigotali egizaklar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Zigota erta bosqichda bo‘linsa, ikki bolaning genomi bir xil bo‘ladi.</a:t>
            </a:r>
          </a:p>
          <a:p>
            <a:pPr>
              <a:spcAft>
                <a:spcPts val="800"/>
              </a:spcAft>
            </a:pPr>
            <a:r>
              <a:rPr sz="1800">
                <a:solidFill>
                  <a:srgbClr val="1F2937"/>
                </a:solidFill>
                <a:latin typeface="Calibri"/>
              </a:rPr>
              <a:t>▸  Monozigotali egizaklar haqiqiy klonlardir: ular bir jinsli va juda o‘xshash bo‘ladi.</a:t>
            </a:r>
          </a:p>
          <a:p>
            <a:pPr>
              <a:spcAft>
                <a:spcPts val="800"/>
              </a:spcAft>
            </a:pPr>
            <a:r>
              <a:rPr sz="1800">
                <a:solidFill>
                  <a:srgbClr val="1F2937"/>
                </a:solidFill>
                <a:latin typeface="Calibri"/>
              </a:rPr>
              <a:t>▸  Rasm yozuviga ko‘ra, dizigotali egizaklarda genotip va fenotip har xil.</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Monozigotali</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Genom: Bir xil</a:t>
            </a:r>
          </a:p>
          <a:p>
            <a:pPr algn="l">
              <a:spcAft>
                <a:spcPts val="700"/>
              </a:spcAft>
            </a:pPr>
            <a:r>
              <a:rPr sz="1500" b="1">
                <a:solidFill>
                  <a:srgbClr val="C9A227"/>
                </a:solidFill>
                <a:latin typeface="Calibri"/>
              </a:rPr>
              <a:t>●  </a:t>
            </a:r>
            <a:r>
              <a:rPr sz="1500" b="0">
                <a:solidFill>
                  <a:srgbClr val="1F2937"/>
                </a:solidFill>
                <a:latin typeface="Calibri"/>
              </a:rPr>
              <a:t>Jins: Doim bir jinsli</a:t>
            </a:r>
          </a:p>
          <a:p>
            <a:pPr algn="l">
              <a:spcAft>
                <a:spcPts val="700"/>
              </a:spcAft>
            </a:pPr>
            <a:r>
              <a:rPr sz="1500" b="1">
                <a:solidFill>
                  <a:srgbClr val="C9A227"/>
                </a:solidFill>
                <a:latin typeface="Calibri"/>
              </a:rPr>
              <a:t>●  </a:t>
            </a:r>
            <a:r>
              <a:rPr sz="1500" b="0">
                <a:solidFill>
                  <a:srgbClr val="1F2937"/>
                </a:solidFill>
                <a:latin typeface="Calibri"/>
              </a:rPr>
              <a:t>O‘xshashlik: Juda o‘xshash</a:t>
            </a:r>
          </a:p>
          <a:p>
            <a:pPr algn="l">
              <a:spcAft>
                <a:spcPts val="700"/>
              </a:spcAft>
            </a:pPr>
            <a:r>
              <a:rPr sz="1500" b="1">
                <a:solidFill>
                  <a:srgbClr val="C9A227"/>
                </a:solidFill>
                <a:latin typeface="Calibri"/>
              </a:rPr>
              <a:t>●  </a:t>
            </a:r>
            <a:r>
              <a:rPr sz="1500" b="0">
                <a:solidFill>
                  <a:srgbClr val="1F2937"/>
                </a:solidFill>
                <a:latin typeface="Calibri"/>
              </a:rPr>
              <a:t>Klonmi?: Ha, tabiiy klon</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Dizigotali</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Genom: Har xil genotip</a:t>
            </a:r>
          </a:p>
          <a:p>
            <a:pPr algn="l">
              <a:spcAft>
                <a:spcPts val="700"/>
              </a:spcAft>
            </a:pPr>
            <a:r>
              <a:rPr sz="1500" b="1">
                <a:solidFill>
                  <a:srgbClr val="C9A227"/>
                </a:solidFill>
                <a:latin typeface="Calibri"/>
              </a:rPr>
              <a:t>●  </a:t>
            </a:r>
            <a:r>
              <a:rPr sz="1500" b="0">
                <a:solidFill>
                  <a:srgbClr val="1F2937"/>
                </a:solidFill>
                <a:latin typeface="Calibri"/>
              </a:rPr>
              <a:t>Jins: Monozigotalidan farqli</a:t>
            </a:r>
          </a:p>
          <a:p>
            <a:pPr algn="l">
              <a:spcAft>
                <a:spcPts val="700"/>
              </a:spcAft>
            </a:pPr>
            <a:r>
              <a:rPr sz="1500" b="1">
                <a:solidFill>
                  <a:srgbClr val="C9A227"/>
                </a:solidFill>
                <a:latin typeface="Calibri"/>
              </a:rPr>
              <a:t>●  </a:t>
            </a:r>
            <a:r>
              <a:rPr sz="1500" b="0">
                <a:solidFill>
                  <a:srgbClr val="1F2937"/>
                </a:solidFill>
                <a:latin typeface="Calibri"/>
              </a:rPr>
              <a:t>O‘xshashlik: Bir xil emas</a:t>
            </a:r>
          </a:p>
          <a:p>
            <a:pPr algn="l">
              <a:spcAft>
                <a:spcPts val="700"/>
              </a:spcAft>
            </a:pPr>
            <a:r>
              <a:rPr sz="1500" b="1">
                <a:solidFill>
                  <a:srgbClr val="C9A227"/>
                </a:solidFill>
                <a:latin typeface="Calibri"/>
              </a:rPr>
              <a:t>●  </a:t>
            </a:r>
            <a:r>
              <a:rPr sz="1500" b="0">
                <a:solidFill>
                  <a:srgbClr val="1F2937"/>
                </a:solidFill>
                <a:latin typeface="Calibri"/>
              </a:rPr>
              <a:t>Klonmi?: Matnda klon deyilmagan</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Monozigotali va dizigotali egizaklar</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44-54 (3.2-bo‘lim)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Blastomerlar va o‘simliklarda totipotentlik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Sut emizuvchilar, jumladan inson embrioni, rivojlanishning dastlabki bosqichida (8 blastomer bosqichigacha) zararsiz alohida blastomerlarga bo‘linishi mumkin.</a:t>
            </a:r>
          </a:p>
          <a:p>
            <a:pPr>
              <a:spcAft>
                <a:spcPts val="1200"/>
              </a:spcAft>
            </a:pPr>
            <a:r>
              <a:rPr sz="2200">
                <a:solidFill>
                  <a:srgbClr val="1F2937"/>
                </a:solidFill>
                <a:latin typeface="Calibri"/>
              </a:rPr>
              <a:t>▸  Ma’lum sharoitda bu blastomerlardan monozigotali egizaklarga o‘xshab, genotipi bir xil zotlar paydo bo‘lishi mumkin.</a:t>
            </a:r>
          </a:p>
          <a:p>
            <a:pPr>
              <a:spcAft>
                <a:spcPts val="1200"/>
              </a:spcAft>
            </a:pPr>
            <a:r>
              <a:rPr sz="2200">
                <a:solidFill>
                  <a:srgbClr val="1F2937"/>
                </a:solidFill>
                <a:latin typeface="Calibri"/>
              </a:rPr>
              <a:t>▸  Masalan, bitta 8 hujayrali embriondan bir-biriga mutlaqo o‘xshash 8 o‘g‘il yoki 8 qiz tug‘ilishi mumkin.</a:t>
            </a:r>
          </a:p>
          <a:p>
            <a:pPr>
              <a:spcAft>
                <a:spcPts val="1200"/>
              </a:spcAft>
            </a:pPr>
            <a:r>
              <a:rPr sz="2200">
                <a:solidFill>
                  <a:srgbClr val="1F2937"/>
                </a:solidFill>
                <a:latin typeface="Calibri"/>
              </a:rPr>
              <a:t>▸  O‘simliklarda klonlash keng tarqalgan (vegetativ ko‘payish): hujayralar totipotentlikni, ya’ni yadrodagi barcha axborotni amalga oshirishni yo‘qotmaydi.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44-54 (3.2-bo‘lim)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egizaklar va klon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bitta zigota erta bosqichda bo‘lingan, natijada ikki aka-uka tug‘ilgan. Ularning genomi bir xil.</a:t>
            </a:r>
          </a:p>
          <a:p>
            <a:pPr>
              <a:spcAft>
                <a:spcPts val="1200"/>
              </a:spcAft>
            </a:pPr>
            <a:r>
              <a:rPr sz="2200">
                <a:solidFill>
                  <a:srgbClr val="1F2937"/>
                </a:solidFill>
                <a:latin typeface="Calibri"/>
              </a:rPr>
              <a:t>▸  Savol: ular nega tabiiy klon hisoblanadi va ularni sun’iy klonlashdan nima farqlaydi?</a:t>
            </a:r>
          </a:p>
          <a:p>
            <a:pPr>
              <a:spcAft>
                <a:spcPts val="1200"/>
              </a:spcAft>
            </a:pPr>
            <a:r>
              <a:rPr sz="2200">
                <a:solidFill>
                  <a:srgbClr val="1F2937"/>
                </a:solidFill>
                <a:latin typeface="Calibri"/>
              </a:rPr>
              <a:t>▸  Javob: genomi bir xil bo‘lgani uchun. Tabiiy tug‘ilish axloqan benuqson; e’tiroz faqat yadroni sun’iy ko‘chirish texnikasiga qaratiladi.</a:t>
            </a:r>
          </a:p>
          <a:p>
            <a:pPr>
              <a:spcAft>
                <a:spcPts val="1200"/>
              </a:spcAft>
            </a:pPr>
            <a:r>
              <a:rPr sz="2200">
                <a:solidFill>
                  <a:srgbClr val="1F2937"/>
                </a:solidFill>
                <a:latin typeface="Calibri"/>
              </a:rPr>
              <a:t>▸  Diqqat: klon ≠ bir xil shaxs. Faqat genotip takrorlanadi; xarakter va qobiliyat tarbiyada shakllanadi, qiyofa ham farq qilishi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44-54 (3.2-bo‘lim)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klonlash asoslari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klon nima? Biror obyektni aniq o‘xshash qilib qayta ishlab chiqarish klonlash, hosil bo‘lgan obyekt esa klon deyiladi.</a:t>
            </a:r>
          </a:p>
          <a:p>
            <a:pPr>
              <a:spcAft>
                <a:spcPts val="1200"/>
              </a:spcAft>
            </a:pPr>
            <a:r>
              <a:rPr sz="2200">
                <a:solidFill>
                  <a:srgbClr val="1F2937"/>
                </a:solidFill>
                <a:latin typeface="Calibri"/>
              </a:rPr>
              <a:t>▸  Savol: nega o‘simliklarda klonlash keng tarqalgan? Javob: hujayralari totipotentlikni, ya’ni yadrodagi barcha axborotni ishga solish qobiliyatini yo‘qotmaydi.</a:t>
            </a:r>
          </a:p>
          <a:p>
            <a:pPr>
              <a:spcAft>
                <a:spcPts val="1200"/>
              </a:spcAft>
            </a:pPr>
            <a:r>
              <a:rPr sz="2200">
                <a:solidFill>
                  <a:srgbClr val="1F2937"/>
                </a:solidFill>
                <a:latin typeface="Calibri"/>
              </a:rPr>
              <a:t>▸  Savol: monozigotali egizaklar nega tabiiy klon? Zigota erta bo‘linganda ularning genomi bir xil bo‘ladi, ikkalasi ham bir jinsli.</a:t>
            </a:r>
          </a:p>
          <a:p>
            <a:pPr>
              <a:spcAft>
                <a:spcPts val="1200"/>
              </a:spcAft>
            </a:pPr>
            <a:r>
              <a:rPr sz="2200">
                <a:solidFill>
                  <a:srgbClr val="1F2937"/>
                </a:solidFill>
                <a:latin typeface="Calibri"/>
              </a:rPr>
              <a:t>▸  Diqqat: monozigotali (tuxumdosh) egizaklar ≠ dizigotali egizaklar; haqiqiy klon faqat birinchisi, ikkinchisining genomi bir xil emas.</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44-54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Klonlash tarixi: Lopashovdan Gerdongacha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Tarix rus embriologi Lopashovning baqalarda yadro ko‘chirish usulidan boshlanadi.</a:t>
            </a:r>
          </a:p>
          <a:p>
            <a:pPr>
              <a:spcAft>
                <a:spcPts val="800"/>
              </a:spcAft>
            </a:pPr>
            <a:r>
              <a:rPr sz="1800">
                <a:solidFill>
                  <a:srgbClr val="1F2937"/>
                </a:solidFill>
                <a:latin typeface="Calibri"/>
              </a:rPr>
              <a:t>▸  Gerdon yadro donori qilib jinsiy emas, itbaliq ichagining ixtisoslashgan epiteliy hujayralarini oldi.</a:t>
            </a:r>
          </a:p>
          <a:p>
            <a:pPr>
              <a:spcAft>
                <a:spcPts val="800"/>
              </a:spcAft>
            </a:pPr>
            <a:r>
              <a:rPr sz="1800">
                <a:solidFill>
                  <a:srgbClr val="1F2937"/>
                </a:solidFill>
                <a:latin typeface="Calibri"/>
              </a:rPr>
              <a:t>▸  Bugungi klonlash tajribalarining barchasi shu yadro ko‘chirish usuliga asoslanadi.</a:t>
            </a:r>
          </a:p>
        </p:txBody>
      </p:sp>
      <p:sp>
        <p:nvSpPr>
          <p:cNvPr id="9" name="Rounded Rectangle 8"/>
          <p:cNvSpPr/>
          <p:nvPr/>
        </p:nvSpPr>
        <p:spPr>
          <a:xfrm>
            <a:off x="5440680"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XX asr 40-yillari</a:t>
            </a:r>
          </a:p>
          <a:p>
            <a:pPr algn="l">
              <a:spcAft>
                <a:spcPts val="200"/>
              </a:spcAft>
            </a:pPr>
            <a:r>
              <a:rPr sz="1400" b="0">
                <a:solidFill>
                  <a:srgbClr val="1F2937"/>
                </a:solidFill>
                <a:latin typeface="Calibri"/>
              </a:rPr>
              <a:t>Lopashov baqalarda yadro ko‘chirdi</a:t>
            </a:r>
          </a:p>
        </p:txBody>
      </p:sp>
      <p:sp>
        <p:nvSpPr>
          <p:cNvPr id="12" name="Rounded Rectangle 11"/>
          <p:cNvSpPr/>
          <p:nvPr/>
        </p:nvSpPr>
        <p:spPr>
          <a:xfrm>
            <a:off x="8578443"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1962-yil</a:t>
            </a:r>
          </a:p>
          <a:p>
            <a:pPr algn="l">
              <a:spcAft>
                <a:spcPts val="200"/>
              </a:spcAft>
            </a:pPr>
            <a:r>
              <a:rPr sz="1400" b="0">
                <a:solidFill>
                  <a:srgbClr val="1F2937"/>
                </a:solidFill>
                <a:latin typeface="Calibri"/>
              </a:rPr>
              <a:t>Gerdon: itbaliq ichagi epiteliysi</a:t>
            </a:r>
          </a:p>
        </p:txBody>
      </p:sp>
      <p:sp>
        <p:nvSpPr>
          <p:cNvPr id="15" name="Rounded Rectangle 14"/>
          <p:cNvSpPr/>
          <p:nvPr/>
        </p:nvSpPr>
        <p:spPr>
          <a:xfrm>
            <a:off x="5440680"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70-yillar oxiri</a:t>
            </a:r>
          </a:p>
          <a:p>
            <a:pPr algn="l">
              <a:spcAft>
                <a:spcPts val="200"/>
              </a:spcAft>
            </a:pPr>
            <a:r>
              <a:rPr sz="1400" b="0">
                <a:solidFill>
                  <a:srgbClr val="1F2937"/>
                </a:solidFill>
                <a:latin typeface="Calibri"/>
              </a:rPr>
              <a:t>Sut emizuvchilardagi qiyinchilik yengildi</a:t>
            </a:r>
          </a:p>
        </p:txBody>
      </p:sp>
      <p:sp>
        <p:nvSpPr>
          <p:cNvPr id="18" name="Rounded Rectangle 17"/>
          <p:cNvSpPr/>
          <p:nvPr/>
        </p:nvSpPr>
        <p:spPr>
          <a:xfrm>
            <a:off x="8578443"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1996-yil</a:t>
            </a:r>
          </a:p>
          <a:p>
            <a:pPr algn="l">
              <a:spcAft>
                <a:spcPts val="200"/>
              </a:spcAft>
            </a:pPr>
            <a:r>
              <a:rPr sz="1400" b="0">
                <a:solidFill>
                  <a:srgbClr val="1F2937"/>
                </a:solidFill>
                <a:latin typeface="Calibri"/>
              </a:rPr>
              <a:t>Dolli qo‘yi — katta hayvon klon</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Klonlash tarixi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44-54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Yadro ko‘chirish usuli bosqichlari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Usul: somatik hujayra yadrosini ajratib, enukleirlangan (yadrosiz) tuxum hujayraga joylash.</a:t>
            </a:r>
          </a:p>
          <a:p>
            <a:pPr>
              <a:spcAft>
                <a:spcPts val="800"/>
              </a:spcAft>
            </a:pPr>
            <a:r>
              <a:rPr sz="1800">
                <a:solidFill>
                  <a:srgbClr val="1F2937"/>
                </a:solidFill>
                <a:latin typeface="Calibri"/>
              </a:rPr>
              <a:t>▸  Sut emizuvchilar tuxumi amfibiyalarnikidan ming barobar kichik, shuning uchun o‘tish qiyin bo‘lgan.</a:t>
            </a:r>
          </a:p>
          <a:p>
            <a:pPr>
              <a:spcAft>
                <a:spcPts val="800"/>
              </a:spcAft>
            </a:pPr>
            <a:r>
              <a:rPr sz="1800">
                <a:solidFill>
                  <a:srgbClr val="1F2937"/>
                </a:solidFill>
                <a:latin typeface="Calibri"/>
              </a:rPr>
              <a:t>▸  Dollida sut bezi hujayra madaniyatidan olingan yadro donor bo‘lgan (Finn Dorset zoti).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Somatik hujayra yadrosini olish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Tuxumni yadrosizlantirish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Yadroni tuxumga joylash</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Rekonstruksiya qilingan tuxum</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Klon organizm rivojlanishi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Yadro ko‘chirish jarayoni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44-54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Sut emizuvchilarda klonlash qiyinchiliklari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Sut emizuvchilarning tuxum hujayrasi amfibiyalarnikidan ming baravar kichik. Shu sababli amfibiyadan o‘tish qiyin bo‘ldi.</a:t>
            </a:r>
          </a:p>
          <a:p>
            <a:pPr>
              <a:spcAft>
                <a:spcPts val="800"/>
              </a:spcAft>
            </a:pPr>
            <a:r>
              <a:rPr sz="1800">
                <a:solidFill>
                  <a:srgbClr val="1F2937"/>
                </a:solidFill>
                <a:latin typeface="Calibri"/>
              </a:rPr>
              <a:t>▸  Bu qiyinchiliklar 70-yillar oxiriga kelib bartaraf etildi.</a:t>
            </a:r>
          </a:p>
          <a:p>
            <a:pPr>
              <a:spcAft>
                <a:spcPts val="800"/>
              </a:spcAft>
            </a:pPr>
            <a:r>
              <a:rPr sz="1800">
                <a:solidFill>
                  <a:srgbClr val="1F2937"/>
                </a:solidFill>
                <a:latin typeface="Calibri"/>
              </a:rPr>
              <a:t>▸  Diqqat: amfibiya ≠ sut emizuvchi. Ular tuxum hujayrasining o‘lchami bilan farq qiladi.</a:t>
            </a:r>
          </a:p>
        </p:txBody>
      </p:sp>
      <p:sp>
        <p:nvSpPr>
          <p:cNvPr id="9" name="Rounded Rectangle 8"/>
          <p:cNvSpPr/>
          <p:nvPr/>
        </p:nvSpPr>
        <p:spPr>
          <a:xfrm>
            <a:off x="5440680" y="1417320"/>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70-yillar oxiri</a:t>
            </a:r>
          </a:p>
          <a:p>
            <a:pPr algn="l">
              <a:spcAft>
                <a:spcPts val="200"/>
              </a:spcAft>
            </a:pPr>
            <a:r>
              <a:rPr sz="1400" b="0">
                <a:solidFill>
                  <a:srgbClr val="1F2937"/>
                </a:solidFill>
                <a:latin typeface="Calibri"/>
              </a:rPr>
              <a:t>Qiyinchiliklar bartaraf etildi</a:t>
            </a:r>
          </a:p>
        </p:txBody>
      </p:sp>
      <p:sp>
        <p:nvSpPr>
          <p:cNvPr id="12" name="Rounded Rectangle 11"/>
          <p:cNvSpPr/>
          <p:nvPr/>
        </p:nvSpPr>
        <p:spPr>
          <a:xfrm>
            <a:off x="5440680" y="2801112"/>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6080760" y="2801112"/>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80-yillar boshi</a:t>
            </a:r>
          </a:p>
          <a:p>
            <a:pPr algn="l">
              <a:spcAft>
                <a:spcPts val="200"/>
              </a:spcAft>
            </a:pPr>
            <a:r>
              <a:rPr sz="1400" b="0">
                <a:solidFill>
                  <a:srgbClr val="1F2937"/>
                </a:solidFill>
                <a:latin typeface="Calibri"/>
              </a:rPr>
              <a:t>Sichqon embrionlari klonlandi</a:t>
            </a:r>
          </a:p>
        </p:txBody>
      </p:sp>
      <p:sp>
        <p:nvSpPr>
          <p:cNvPr id="15" name="Rounded Rectangle 14"/>
          <p:cNvSpPr/>
          <p:nvPr/>
        </p:nvSpPr>
        <p:spPr>
          <a:xfrm>
            <a:off x="5440680" y="4184904"/>
            <a:ext cx="6110935"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4184904"/>
            <a:ext cx="5397703"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80-yillar oxiri</a:t>
            </a:r>
          </a:p>
          <a:p>
            <a:pPr algn="l">
              <a:spcAft>
                <a:spcPts val="200"/>
              </a:spcAft>
            </a:pPr>
            <a:r>
              <a:rPr sz="1400" b="0">
                <a:solidFill>
                  <a:srgbClr val="1F2937"/>
                </a:solidFill>
                <a:latin typeface="Calibri"/>
              </a:rPr>
              <a:t>Uy quyonlari va yirik uy hayvonlari</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Qiyinchiliklardan natijagacha</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44-54 (3.2-bo‘lim)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Dolli qo‘yi: sut emizuvchining ilk klonlari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1996-yilda Shotlandiyadagi PPL Therapeutics firmasida Dolli qo‘yini klonlash tarixi shov-shuv bo‘ldi.</a:t>
            </a:r>
          </a:p>
          <a:p>
            <a:pPr>
              <a:spcAft>
                <a:spcPts val="800"/>
              </a:spcAft>
            </a:pPr>
            <a:r>
              <a:rPr sz="1800">
                <a:solidFill>
                  <a:srgbClr val="1F2937"/>
                </a:solidFill>
                <a:latin typeface="Calibri"/>
              </a:rPr>
              <a:t>▸  Yan Vilmut boshchiligidagi olimlar guruhi katta hayvonning somatik hujayralaridan klon hayvon — Dollini yaratdi.</a:t>
            </a:r>
          </a:p>
          <a:p>
            <a:pPr>
              <a:spcAft>
                <a:spcPts val="800"/>
              </a:spcAft>
            </a:pPr>
            <a:r>
              <a:rPr sz="1800">
                <a:solidFill>
                  <a:srgbClr val="1F2937"/>
                </a:solidFill>
                <a:latin typeface="Calibri"/>
              </a:rPr>
              <a:t>▸  Darslikda Dolli sut emizuvchilarning ilk klonlari sifatida ko‘rsatilgan.</a:t>
            </a:r>
          </a:p>
          <a:p>
            <a:pPr>
              <a:spcAft>
                <a:spcPts val="800"/>
              </a:spcAft>
            </a:pPr>
            <a:r>
              <a:rPr sz="1800">
                <a:solidFill>
                  <a:srgbClr val="1F2937"/>
                </a:solidFill>
                <a:latin typeface="Calibri"/>
              </a:rPr>
              <a:t>▸  90-yillar o‘rtalarigacha yirik sut emizuvchilarni yadro donori sifatida ishlatish masalasi amalda qo‘yilmagan edi.</a:t>
            </a:r>
          </a:p>
        </p:txBody>
      </p:sp>
      <p:sp>
        <p:nvSpPr>
          <p:cNvPr id="9" name="Rounded Rectangle 8"/>
          <p:cNvSpPr/>
          <p:nvPr/>
        </p:nvSpPr>
        <p:spPr>
          <a:xfrm>
            <a:off x="5440680"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Dolli yaratildi</a:t>
            </a:r>
          </a:p>
          <a:p>
            <a:pPr algn="l">
              <a:spcAft>
                <a:spcPts val="100"/>
              </a:spcAft>
            </a:pPr>
            <a:r>
              <a:rPr sz="3000" b="1">
                <a:solidFill>
                  <a:srgbClr val="0B1F3A"/>
                </a:solidFill>
                <a:latin typeface="Calibri"/>
              </a:rPr>
              <a:t>1996</a:t>
            </a:r>
          </a:p>
        </p:txBody>
      </p:sp>
      <p:sp>
        <p:nvSpPr>
          <p:cNvPr id="12" name="Rounded Rectangle 11"/>
          <p:cNvSpPr/>
          <p:nvPr/>
        </p:nvSpPr>
        <p:spPr>
          <a:xfrm>
            <a:off x="7532522"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32522"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42250"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Yadro donori zoti</a:t>
            </a:r>
          </a:p>
          <a:p>
            <a:pPr algn="l">
              <a:spcAft>
                <a:spcPts val="100"/>
              </a:spcAft>
            </a:pPr>
            <a:r>
              <a:rPr sz="2300" b="1">
                <a:solidFill>
                  <a:srgbClr val="0B1F3A"/>
                </a:solidFill>
                <a:latin typeface="Calibri"/>
              </a:rPr>
              <a:t>Finn Dorset</a:t>
            </a:r>
          </a:p>
        </p:txBody>
      </p:sp>
      <p:sp>
        <p:nvSpPr>
          <p:cNvPr id="15" name="Rounded Rectangle 14"/>
          <p:cNvSpPr/>
          <p:nvPr/>
        </p:nvSpPr>
        <p:spPr>
          <a:xfrm>
            <a:off x="9624364"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24364"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34092"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Odam klonlashgacha</a:t>
            </a:r>
          </a:p>
          <a:p>
            <a:pPr algn="l">
              <a:spcAft>
                <a:spcPts val="100"/>
              </a:spcAft>
            </a:pPr>
            <a:r>
              <a:rPr sz="3000" b="1">
                <a:solidFill>
                  <a:srgbClr val="0B1F3A"/>
                </a:solidFill>
                <a:latin typeface="Calibri"/>
              </a:rPr>
              <a:t>10 yil</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Dolli: asosiy faktlar</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44-54 (3.2-bo‘lim)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Dolli qanday yaratildi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Dolli rekonstruksiyalangan tuxum hujayradan paydo bo‘lgan.</a:t>
            </a:r>
          </a:p>
          <a:p>
            <a:pPr>
              <a:spcAft>
                <a:spcPts val="800"/>
              </a:spcAft>
            </a:pPr>
            <a:r>
              <a:rPr sz="1800">
                <a:solidFill>
                  <a:srgbClr val="1F2937"/>
                </a:solidFill>
                <a:latin typeface="Calibri"/>
              </a:rPr>
              <a:t>▸  Yadro donori — ‘Finn Dorset’ zotli qo‘yning sut bezi hujayra kulturasi bo‘lgan.</a:t>
            </a:r>
          </a:p>
          <a:p>
            <a:pPr>
              <a:spcAft>
                <a:spcPts val="800"/>
              </a:spcAft>
            </a:pPr>
            <a:r>
              <a:rPr sz="1800">
                <a:solidFill>
                  <a:srgbClr val="1F2937"/>
                </a:solidFill>
                <a:latin typeface="Calibri"/>
              </a:rPr>
              <a:t>▸  Usul: somatik hujayra yadrosi ajratilib, yadrosiz (enukleirlangan) tuxum hujayraga o‘tkaziladi.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Sut bezi hujayra kulturasi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Yadro ajratib olinadi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Yadrosiz (enukleirlangan) tuxum</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Rekonstruksiyalangan tuxum</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Klon: Dolli qo‘yi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Yadro ko‘chirish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44-54 (3.2-bo‘lim)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Hayvonlarni klonlashning amaliy imkoniyatlari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Klonlash qimmatli hayvonlarning genotipini saqlabgina qolmay, ularni cheksiz ko‘paytirish imkonini ham berdi.</a:t>
            </a:r>
          </a:p>
          <a:p>
            <a:pPr>
              <a:spcAft>
                <a:spcPts val="1200"/>
              </a:spcAft>
            </a:pPr>
            <a:r>
              <a:rPr sz="2200">
                <a:solidFill>
                  <a:srgbClr val="1F2937"/>
                </a:solidFill>
                <a:latin typeface="Calibri"/>
              </a:rPr>
              <a:t>▸  Yuqori mahsuldor sigirlarni klonlash qishloq xo‘jaligida inqilob qilishi mumkin: alohida nusxalar emas, butun podalar yaratiladi.</a:t>
            </a:r>
          </a:p>
          <a:p>
            <a:pPr>
              <a:spcAft>
                <a:spcPts val="1200"/>
              </a:spcAft>
            </a:pPr>
            <a:r>
              <a:rPr sz="2200">
                <a:solidFill>
                  <a:srgbClr val="1F2937"/>
                </a:solidFill>
                <a:latin typeface="Calibri"/>
              </a:rPr>
              <a:t>▸  Usul mashhur sport otlari va qimmatbaho mo‘ynali hayvonlarni ko‘paytirishga, noyob va yo‘qolib borayotgan hayvonlarni saqlashga ham tegishli.</a:t>
            </a:r>
          </a:p>
          <a:p>
            <a:pPr>
              <a:spcAft>
                <a:spcPts val="1200"/>
              </a:spcAft>
            </a:pPr>
            <a:r>
              <a:rPr sz="2200">
                <a:solidFill>
                  <a:srgbClr val="1F2937"/>
                </a:solidFill>
                <a:latin typeface="Calibri"/>
              </a:rPr>
              <a:t>▸  Diqqat: turlararo yadro ko‘chirish yo‘qolish arafasidagi turlarni qutqarishda yangi istiqbol ochishi «mumkin» — bu hali kafolatlangan natija emas.</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44-54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Dolli va jamoatchilik savollari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1996-yilda PPL Therapeutics (Shotlandiya) firmasida Yan Vilmut guruhi katta qo‘yning somatik hujayralaridan Dolli laqabli klon qo‘yni yaratdi.</a:t>
            </a:r>
          </a:p>
          <a:p>
            <a:pPr>
              <a:spcAft>
                <a:spcPts val="1200"/>
              </a:spcAft>
            </a:pPr>
            <a:r>
              <a:rPr sz="2200">
                <a:solidFill>
                  <a:srgbClr val="1F2937"/>
                </a:solidFill>
                <a:latin typeface="Calibri"/>
              </a:rPr>
              <a:t>▸  Dolli rekonstruksiyalangan tuxum hujayradan paydo bo‘lgan. Yadro donori — «Finn Dorset» zotli qo‘yning sut bezi hujayra kulturasi.</a:t>
            </a:r>
          </a:p>
          <a:p>
            <a:pPr>
              <a:spcAft>
                <a:spcPts val="1200"/>
              </a:spcAft>
            </a:pPr>
            <a:r>
              <a:rPr sz="2200">
                <a:solidFill>
                  <a:srgbClr val="1F2937"/>
                </a:solidFill>
                <a:latin typeface="Calibri"/>
              </a:rPr>
              <a:t>▸  Ayrim olimlar taxminicha, odamni klonlashgacha atigi 10 yil qolgan edi. Bu jamoatchilik oldiga bir qator etik va falsafiy savollarni qo‘ydi.</a:t>
            </a:r>
          </a:p>
          <a:p>
            <a:pPr>
              <a:spcAft>
                <a:spcPts val="1200"/>
              </a:spcAft>
            </a:pPr>
            <a:r>
              <a:rPr sz="2200">
                <a:solidFill>
                  <a:srgbClr val="1F2937"/>
                </a:solidFill>
                <a:latin typeface="Calibri"/>
              </a:rPr>
              <a:t>▸  Savol: nega Dolli yaratilgach jamiyat xavotirga tushdi? Katta hayvon somatik hujayrasidan klon olinishi nimani anglatadi?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44-54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Inson klonlash: isbotlangan fakt yo‘q</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Hozirgi kunga kelib ham inson klonlanganining isbotlangan fakti mavjud emas.</a:t>
            </a:r>
          </a:p>
          <a:p>
            <a:pPr>
              <a:spcAft>
                <a:spcPts val="1200"/>
              </a:spcAft>
            </a:pPr>
            <a:r>
              <a:rPr sz="2200">
                <a:solidFill>
                  <a:srgbClr val="1F2937"/>
                </a:solidFill>
                <a:latin typeface="Calibri"/>
              </a:rPr>
              <a:t>▸  Inson klonlashning asosiy maqsadi — shaxsiy embrional ildiz hujayralar va ulardan o‘stirilgan a’zo, to‘qimalar olish; bu terapevtik klonlash deyiladi.</a:t>
            </a:r>
          </a:p>
          <a:p>
            <a:pPr>
              <a:spcAft>
                <a:spcPts val="1200"/>
              </a:spcAft>
            </a:pPr>
            <a:r>
              <a:rPr sz="2200">
                <a:solidFill>
                  <a:srgbClr val="1F2937"/>
                </a:solidFill>
                <a:latin typeface="Calibri"/>
              </a:rPr>
              <a:t>▸  Reproduktiv klonlash, ya’ni yetilgan organizmni yetishtirish, ikkinchi darajali vazifa. U bepushtlik muammosini hal qilish nuqtai nazaridan ko‘riladi.</a:t>
            </a:r>
          </a:p>
          <a:p>
            <a:pPr>
              <a:spcAft>
                <a:spcPts val="1200"/>
              </a:spcAft>
            </a:pPr>
            <a:r>
              <a:rPr sz="2200">
                <a:solidFill>
                  <a:srgbClr val="1F2937"/>
                </a:solidFill>
                <a:latin typeface="Calibri"/>
              </a:rPr>
              <a:t>▸  Diqqat: terapevtik ≠ reproduktiv klonlash. Ko‘p axloqiy muammo va xurofotni aynan reproduktiv klonlash keltirib chiqargan.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44-54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Terapevtik va reproduktiv klonlash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Hozir klonlashning bosh maqsadi reproduktiv emas, terapevtik yo‘nalish: embrional ildiz hujayralar olish.</a:t>
            </a:r>
          </a:p>
          <a:p>
            <a:pPr>
              <a:spcAft>
                <a:spcPts val="800"/>
              </a:spcAft>
            </a:pPr>
            <a:r>
              <a:rPr sz="1800">
                <a:solidFill>
                  <a:srgbClr val="1F2937"/>
                </a:solidFill>
                <a:latin typeface="Calibri"/>
              </a:rPr>
              <a:t>▸  Reproduktiv klonlash yetilgan organizm yetishtirishdir. U ko‘plab axloqiy muammo va xurofotlarni keltirib chiqargan.</a:t>
            </a:r>
          </a:p>
          <a:p>
            <a:pPr>
              <a:spcAft>
                <a:spcPts val="800"/>
              </a:spcAft>
            </a:pPr>
            <a:r>
              <a:rPr sz="1800">
                <a:solidFill>
                  <a:srgbClr val="1F2937"/>
                </a:solidFill>
                <a:latin typeface="Calibri"/>
              </a:rPr>
              <a:t>▸  Terapevtik klonlashda 14 kunlik embriondan foydalaniladi; shu sabab embrion mavqei haqida savollar tug‘iladi.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Terapevtik</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Maqsad: Shaxsiy embrional ildiz hujayra, a‘zo, to‘qima olish</a:t>
            </a:r>
          </a:p>
          <a:p>
            <a:pPr algn="l">
              <a:spcAft>
                <a:spcPts val="700"/>
              </a:spcAft>
            </a:pPr>
            <a:r>
              <a:rPr sz="1500" b="1">
                <a:solidFill>
                  <a:srgbClr val="C9A227"/>
                </a:solidFill>
                <a:latin typeface="Calibri"/>
              </a:rPr>
              <a:t>●  </a:t>
            </a:r>
            <a:r>
              <a:rPr sz="1500" b="0">
                <a:solidFill>
                  <a:srgbClr val="1F2937"/>
                </a:solidFill>
                <a:latin typeface="Calibri"/>
              </a:rPr>
              <a:t>Ahamiyati: Hozirgi asosiy maqsad</a:t>
            </a:r>
          </a:p>
          <a:p>
            <a:pPr algn="l">
              <a:spcAft>
                <a:spcPts val="700"/>
              </a:spcAft>
            </a:pPr>
            <a:r>
              <a:rPr sz="1500" b="1">
                <a:solidFill>
                  <a:srgbClr val="C9A227"/>
                </a:solidFill>
                <a:latin typeface="Calibri"/>
              </a:rPr>
              <a:t>●  </a:t>
            </a:r>
            <a:r>
              <a:rPr sz="1500" b="0">
                <a:solidFill>
                  <a:srgbClr val="1F2937"/>
                </a:solidFill>
                <a:latin typeface="Calibri"/>
              </a:rPr>
              <a:t>Etik muammo: Embrion mavqei; ayollarga bosim</a:t>
            </a:r>
          </a:p>
          <a:p>
            <a:pPr algn="l">
              <a:spcAft>
                <a:spcPts val="700"/>
              </a:spcAft>
            </a:pPr>
            <a:r>
              <a:rPr sz="1500" b="1">
                <a:solidFill>
                  <a:srgbClr val="C9A227"/>
                </a:solidFill>
                <a:latin typeface="Calibri"/>
              </a:rPr>
              <a:t>●  </a:t>
            </a:r>
            <a:r>
              <a:rPr sz="1500" b="0">
                <a:solidFill>
                  <a:srgbClr val="1F2937"/>
                </a:solidFill>
                <a:latin typeface="Calibri"/>
              </a:rPr>
              <a:t>Huquqiy holat: Qarorlar mamlakatlarda turlicha</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Reproduktiv</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Maqsad: Yetilgan organizmni yetishtirish</a:t>
            </a:r>
          </a:p>
          <a:p>
            <a:pPr algn="l">
              <a:spcAft>
                <a:spcPts val="700"/>
              </a:spcAft>
            </a:pPr>
            <a:r>
              <a:rPr sz="1500" b="1">
                <a:solidFill>
                  <a:srgbClr val="C9A227"/>
                </a:solidFill>
                <a:latin typeface="Calibri"/>
              </a:rPr>
              <a:t>●  </a:t>
            </a:r>
            <a:r>
              <a:rPr sz="1500" b="0">
                <a:solidFill>
                  <a:srgbClr val="1F2937"/>
                </a:solidFill>
                <a:latin typeface="Calibri"/>
              </a:rPr>
              <a:t>Ahamiyati: Ikkinchi darajali; bepushtlikni hal qilish</a:t>
            </a:r>
          </a:p>
          <a:p>
            <a:pPr algn="l">
              <a:spcAft>
                <a:spcPts val="700"/>
              </a:spcAft>
            </a:pPr>
            <a:r>
              <a:rPr sz="1500" b="1">
                <a:solidFill>
                  <a:srgbClr val="C9A227"/>
                </a:solidFill>
                <a:latin typeface="Calibri"/>
              </a:rPr>
              <a:t>●  </a:t>
            </a:r>
            <a:r>
              <a:rPr sz="1500" b="0">
                <a:solidFill>
                  <a:srgbClr val="1F2937"/>
                </a:solidFill>
                <a:latin typeface="Calibri"/>
              </a:rPr>
              <a:t>Etik muammo: Ko‘plab axloqiy muammo va xurofot</a:t>
            </a:r>
          </a:p>
          <a:p>
            <a:pPr algn="l">
              <a:spcAft>
                <a:spcPts val="700"/>
              </a:spcAft>
            </a:pPr>
            <a:r>
              <a:rPr sz="1500" b="1">
                <a:solidFill>
                  <a:srgbClr val="C9A227"/>
                </a:solidFill>
                <a:latin typeface="Calibri"/>
              </a:rPr>
              <a:t>●  </a:t>
            </a:r>
            <a:r>
              <a:rPr sz="1500" b="0">
                <a:solidFill>
                  <a:srgbClr val="1F2937"/>
                </a:solidFill>
                <a:latin typeface="Calibri"/>
              </a:rPr>
              <a:t>Huquqiy holat: Ko‘p mamlakatda taqiq (to‘liq/vaqtincha)</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Terapevtik ≠ reproduktiv</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44-54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Klonlashni taqiqlash uchun biotibbiy sabablar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Hayvonlarni klonlash usullari mukammal emas: embrion va yangi tug‘ilganlar o‘limi yuqori, shu sababli tajribani odamlarga o‘tkazish qabul qilinmaydi.</a:t>
            </a:r>
          </a:p>
          <a:p>
            <a:pPr>
              <a:spcAft>
                <a:spcPts val="800"/>
              </a:spcAft>
            </a:pPr>
            <a:r>
              <a:rPr sz="1600">
                <a:solidFill>
                  <a:srgbClr val="1F2937"/>
                </a:solidFill>
                <a:latin typeface="Calibri"/>
              </a:rPr>
              <a:t>▸  Probirkada hujayra o‘stirishda turli mutatsiyalar paydo bo‘lib, genetik nuqsonli odamlar soni ko‘payishi mumkin.</a:t>
            </a:r>
          </a:p>
          <a:p>
            <a:pPr>
              <a:spcAft>
                <a:spcPts val="800"/>
              </a:spcAft>
            </a:pPr>
            <a:r>
              <a:rPr sz="1600">
                <a:solidFill>
                  <a:srgbClr val="1F2937"/>
                </a:solidFill>
                <a:latin typeface="Calibri"/>
              </a:rPr>
              <a:t>▸  Klonlash natijasi ota-onaning bolasi emas, ularning egizagi bo‘lib, yangi axloqiy va huquqiy muammolar tug‘diradi.</a:t>
            </a:r>
          </a:p>
          <a:p>
            <a:pPr>
              <a:spcAft>
                <a:spcPts val="800"/>
              </a:spcAft>
            </a:pPr>
            <a:r>
              <a:rPr sz="1600">
                <a:solidFill>
                  <a:srgbClr val="1F2937"/>
                </a:solidFill>
                <a:latin typeface="Calibri"/>
              </a:rPr>
              <a:t>▸  Tarafdorlar uni genini ko‘paytira olmaydiganlar uchun usul deb biladi; taqiqlash esa butun ilmiy yo‘nalishni to‘xtatish deb baholanadi.</a:t>
            </a:r>
          </a:p>
        </p:txBody>
      </p:sp>
      <p:sp>
        <p:nvSpPr>
          <p:cNvPr id="9" name="Rounded Rectangle 8"/>
          <p:cNvSpPr/>
          <p:nvPr/>
        </p:nvSpPr>
        <p:spPr>
          <a:xfrm>
            <a:off x="5440680"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400" b="1">
                <a:solidFill>
                  <a:srgbClr val="FFFFFF"/>
                </a:solidFill>
                <a:latin typeface="Calibri"/>
              </a:rPr>
              <a:t>Biotibbiy sabablar</a:t>
            </a:r>
          </a:p>
        </p:txBody>
      </p:sp>
      <p:sp>
        <p:nvSpPr>
          <p:cNvPr id="10" name="Rectangle 9"/>
          <p:cNvSpPr/>
          <p:nvPr/>
        </p:nvSpPr>
        <p:spPr>
          <a:xfrm>
            <a:off x="5440680"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Embrion va yangi tug‘ilganlar o‘limi</a:t>
            </a:r>
          </a:p>
          <a:p>
            <a:pPr algn="l">
              <a:spcAft>
                <a:spcPts val="700"/>
              </a:spcAft>
            </a:pPr>
            <a:r>
              <a:rPr sz="1500" b="1">
                <a:solidFill>
                  <a:srgbClr val="C9A227"/>
                </a:solidFill>
                <a:latin typeface="Calibri"/>
              </a:rPr>
              <a:t>●  </a:t>
            </a:r>
            <a:r>
              <a:rPr sz="1500" b="0">
                <a:solidFill>
                  <a:srgbClr val="1F2937"/>
                </a:solidFill>
                <a:latin typeface="Calibri"/>
              </a:rPr>
              <a:t>Mutatsiya va genetik nuqson xavfi</a:t>
            </a:r>
          </a:p>
        </p:txBody>
      </p:sp>
      <p:sp>
        <p:nvSpPr>
          <p:cNvPr id="11" name="Rounded Rectangle 10"/>
          <p:cNvSpPr/>
          <p:nvPr/>
        </p:nvSpPr>
        <p:spPr>
          <a:xfrm>
            <a:off x="7523378" y="1417320"/>
            <a:ext cx="1945538"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Axloqiy-huquqiy</a:t>
            </a:r>
          </a:p>
        </p:txBody>
      </p:sp>
      <p:sp>
        <p:nvSpPr>
          <p:cNvPr id="12" name="Rectangle 11"/>
          <p:cNvSpPr/>
          <p:nvPr/>
        </p:nvSpPr>
        <p:spPr>
          <a:xfrm>
            <a:off x="7523378"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Bola — ota-ona egizagi</a:t>
            </a:r>
          </a:p>
          <a:p>
            <a:pPr algn="l">
              <a:spcAft>
                <a:spcPts val="700"/>
              </a:spcAft>
            </a:pPr>
            <a:r>
              <a:rPr sz="1500" b="1">
                <a:solidFill>
                  <a:srgbClr val="C9A227"/>
                </a:solidFill>
                <a:latin typeface="Calibri"/>
              </a:rPr>
              <a:t>●  </a:t>
            </a:r>
            <a:r>
              <a:rPr sz="1500" b="0">
                <a:solidFill>
                  <a:srgbClr val="1F2937"/>
                </a:solidFill>
                <a:latin typeface="Calibri"/>
              </a:rPr>
              <a:t>Noto‘g‘ri foydalanish xavfi</a:t>
            </a:r>
          </a:p>
        </p:txBody>
      </p:sp>
      <p:sp>
        <p:nvSpPr>
          <p:cNvPr id="13" name="Rounded Rectangle 12"/>
          <p:cNvSpPr/>
          <p:nvPr/>
        </p:nvSpPr>
        <p:spPr>
          <a:xfrm>
            <a:off x="9606076"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400" b="1">
                <a:solidFill>
                  <a:srgbClr val="FFFFFF"/>
                </a:solidFill>
                <a:latin typeface="Calibri"/>
              </a:rPr>
              <a:t>Tarafdorlar fikri</a:t>
            </a:r>
          </a:p>
        </p:txBody>
      </p:sp>
      <p:sp>
        <p:nvSpPr>
          <p:cNvPr id="14" name="Rectangle 13"/>
          <p:cNvSpPr/>
          <p:nvPr/>
        </p:nvSpPr>
        <p:spPr>
          <a:xfrm>
            <a:off x="9606076"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Farzand ko‘ra olmaganlarga usul</a:t>
            </a:r>
          </a:p>
          <a:p>
            <a:pPr algn="l">
              <a:spcAft>
                <a:spcPts val="700"/>
              </a:spcAft>
            </a:pPr>
            <a:r>
              <a:rPr sz="1500" b="1">
                <a:solidFill>
                  <a:srgbClr val="C9A227"/>
                </a:solidFill>
                <a:latin typeface="Calibri"/>
              </a:rPr>
              <a:t>●  </a:t>
            </a:r>
            <a:r>
              <a:rPr sz="1500" b="0">
                <a:solidFill>
                  <a:srgbClr val="1F2937"/>
                </a:solidFill>
                <a:latin typeface="Calibri"/>
              </a:rPr>
              <a:t>Taqiq — fan to‘xtashi</a:t>
            </a:r>
          </a:p>
        </p:txBody>
      </p:sp>
      <p:sp>
        <p:nvSpPr>
          <p:cNvPr id="15" name="TextBox 14"/>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Taqiq tomonlari va qarshi fikr</a:t>
            </a:r>
          </a:p>
        </p:txBody>
      </p:sp>
      <p:sp>
        <p:nvSpPr>
          <p:cNvPr id="16" name="TextBox 15"/>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Muxamedova Z.M., Bioetika, betlar: 273-274, 274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Diqqat: genotip klonlanadi, shaxsiyat emas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Reproduktiv klonlashni tanqid qiluvchilar unutadilarki, faqat genotip, ya‘ni organizmning o‘zi klonlanadi.</a:t>
            </a:r>
          </a:p>
          <a:p>
            <a:pPr>
              <a:spcAft>
                <a:spcPts val="1200"/>
              </a:spcAft>
            </a:pPr>
            <a:r>
              <a:rPr sz="2200">
                <a:solidFill>
                  <a:srgbClr val="1F2937"/>
                </a:solidFill>
                <a:latin typeface="Calibri"/>
              </a:rPr>
              <a:t>▸  Inson shaxsiyati tarbiya va bilim olish jarayonida shakllanadi. Bunday sharoitlarni aynan bir xilda takrorlab bo‘lmaydi.</a:t>
            </a:r>
          </a:p>
          <a:p>
            <a:pPr>
              <a:spcAft>
                <a:spcPts val="1200"/>
              </a:spcAft>
            </a:pPr>
            <a:r>
              <a:rPr sz="2200">
                <a:solidFill>
                  <a:srgbClr val="1F2937"/>
                </a:solidFill>
                <a:latin typeface="Calibri"/>
              </a:rPr>
              <a:t>▸  Turli sharoitda tarbiya olgan monozigotali (tuxumdosh) egizaklar tabiiy klonlardir. Ularning feli, mayli va aqliy qobiliyati har xil bo‘ladi.</a:t>
            </a:r>
          </a:p>
          <a:p>
            <a:pPr>
              <a:spcAft>
                <a:spcPts val="1200"/>
              </a:spcAft>
            </a:pPr>
            <a:r>
              <a:rPr sz="2200">
                <a:solidFill>
                  <a:srgbClr val="1F2937"/>
                </a:solidFill>
                <a:latin typeface="Calibri"/>
              </a:rPr>
              <a:t>▸  Diqqat: klon ≠ shaxsning aynan nusxasi. Genotip bir xil bo‘lsa ham, tashqi qiyofa ko‘pincha o‘xshamaydi.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44-54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Klonlashning tabiiyligi va e‘tirozlar mohiyati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Monozigotali egizaklar tug‘ilishi tabiiy bo‘lgani uchungina klonlashning tabiiyligi haqida gapirish mumkin.</a:t>
            </a:r>
          </a:p>
          <a:p>
            <a:pPr>
              <a:spcAft>
                <a:spcPts val="1200"/>
              </a:spcAft>
            </a:pPr>
            <a:r>
              <a:rPr sz="2200">
                <a:solidFill>
                  <a:srgbClr val="1F2937"/>
                </a:solidFill>
                <a:latin typeface="Calibri"/>
              </a:rPr>
              <a:t>▸  Inson genomining bunday klonlanishi tabiiy yuz bergani sababli etik jihatdan benuqson. Egizaklar tug‘ilishida noo‘rin narsa yo‘q.</a:t>
            </a:r>
          </a:p>
          <a:p>
            <a:pPr>
              <a:spcAft>
                <a:spcPts val="1200"/>
              </a:spcAft>
            </a:pPr>
            <a:r>
              <a:rPr sz="2200">
                <a:solidFill>
                  <a:srgbClr val="1F2937"/>
                </a:solidFill>
                <a:latin typeface="Calibri"/>
              </a:rPr>
              <a:t>▸  E‘tiroz yadro sun‘iy ko‘chirilganda paydo bo‘ladi. Demak, e‘tiroz klonlash faktiga emas, usulning texnik xususiyatlariga bog‘liq.</a:t>
            </a:r>
          </a:p>
          <a:p>
            <a:pPr>
              <a:spcAft>
                <a:spcPts val="1200"/>
              </a:spcAft>
            </a:pPr>
            <a:r>
              <a:rPr sz="2200">
                <a:solidFill>
                  <a:srgbClr val="1F2937"/>
                </a:solidFill>
                <a:latin typeface="Calibri"/>
              </a:rPr>
              <a:t>▸  Oddiy tibbiyot ojiz bo‘lgan holatlarda klonlash texnologiyalari odamlarga farzand ko‘rishda yordam berishi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44-54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Genetik determinizm va «normallik diktaturasi»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Genlarning rolini oshirib yuborish shaxsiy javobgarlikni olib tashlaydi; iqtidor, nuqson va og‘ishlarni irsiyat belgilagan deb hisoblash xavfi bor.</a:t>
            </a:r>
          </a:p>
          <a:p>
            <a:pPr>
              <a:spcAft>
                <a:spcPts val="800"/>
              </a:spcAft>
            </a:pPr>
            <a:r>
              <a:rPr sz="1600">
                <a:solidFill>
                  <a:srgbClr val="1F2937"/>
                </a:solidFill>
                <a:latin typeface="Calibri"/>
              </a:rPr>
              <a:t>▸  Genetik determinizm erkin iroda va javobgarlik g‘oyasiga zid kelishi mumkin; sudlar bunday dalillarni odatda qabul qilmaydi.</a:t>
            </a:r>
          </a:p>
          <a:p>
            <a:pPr>
              <a:spcAft>
                <a:spcPts val="800"/>
              </a:spcAft>
            </a:pPr>
            <a:r>
              <a:rPr sz="1600">
                <a:solidFill>
                  <a:srgbClr val="1F2937"/>
                </a:solidFill>
                <a:latin typeface="Calibri"/>
              </a:rPr>
              <a:t>▸  Har kimda o‘rtacha «norma»dan chetga chiqadigan ko‘p gen bor, shuning uchun «normallik diktaturasi» xavfi real.</a:t>
            </a:r>
          </a:p>
          <a:p>
            <a:pPr>
              <a:spcAft>
                <a:spcPts val="800"/>
              </a:spcAft>
            </a:pPr>
            <a:r>
              <a:rPr sz="1600">
                <a:solidFill>
                  <a:srgbClr val="1F2937"/>
                </a:solidFill>
                <a:latin typeface="Calibri"/>
              </a:rPr>
              <a:t>▸  Reduksionizm insonni ma’lum tarzda tashkil etilgan molekulalar majmuasi sifatida ko‘rishga olib kelishi mumkin.</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Genetika xavflari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Determinizm</a:t>
            </a:r>
          </a:p>
          <a:p>
            <a:pPr algn="l">
              <a:spcAft>
                <a:spcPts val="0"/>
              </a:spcAft>
            </a:pPr>
            <a:r>
              <a:rPr sz="1200" b="0">
                <a:solidFill>
                  <a:srgbClr val="1F2937"/>
                </a:solidFill>
                <a:latin typeface="Calibri"/>
              </a:rPr>
              <a:t>Genlar rolini oshirib yuborish</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Javobgarlik</a:t>
            </a:r>
          </a:p>
          <a:p>
            <a:pPr algn="l">
              <a:spcAft>
                <a:spcPts val="0"/>
              </a:spcAft>
            </a:pPr>
            <a:r>
              <a:rPr sz="1200" b="0">
                <a:solidFill>
                  <a:srgbClr val="1F2937"/>
                </a:solidFill>
                <a:latin typeface="Calibri"/>
              </a:rPr>
              <a:t>Erkin iroda masalasi</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Normallik diktaturasi</a:t>
            </a:r>
          </a:p>
          <a:p>
            <a:pPr algn="l">
              <a:spcAft>
                <a:spcPts val="0"/>
              </a:spcAft>
            </a:pPr>
            <a:r>
              <a:rPr sz="1200" b="0">
                <a:solidFill>
                  <a:srgbClr val="1F2937"/>
                </a:solidFill>
                <a:latin typeface="Calibri"/>
              </a:rPr>
              <a:t>Kamsitish, irqchi stereotip</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Reduksionizm</a:t>
            </a:r>
          </a:p>
          <a:p>
            <a:pPr algn="l">
              <a:spcAft>
                <a:spcPts val="0"/>
              </a:spcAft>
            </a:pPr>
            <a:r>
              <a:rPr sz="1200" b="0">
                <a:solidFill>
                  <a:srgbClr val="1F2937"/>
                </a:solidFill>
                <a:latin typeface="Calibri"/>
              </a:rPr>
              <a:t>Inson — molekulalar majmuasi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Muxamedova (2021), 148–151-betlar</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Muxamedova Z.M., Bioetika, betlar: 150, 150-151, 148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Inson klonlashga taqiqlar va UNESKO deklaratsiyasi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Reproduktiv klonlash — yetuk organizm yetishtirish; ko‘p axloqiy muammo aynan undan kelib chiqqan.</a:t>
            </a:r>
          </a:p>
          <a:p>
            <a:pPr>
              <a:spcAft>
                <a:spcPts val="800"/>
              </a:spcAft>
            </a:pPr>
            <a:r>
              <a:rPr sz="1800">
                <a:solidFill>
                  <a:srgbClr val="1F2937"/>
                </a:solidFill>
                <a:latin typeface="Calibri"/>
              </a:rPr>
              <a:t>▸  UNESKO deklaratsiyasi inson zotini qayta ishlab chiqarish maqsadidagi klonlashni man etadi.</a:t>
            </a:r>
          </a:p>
          <a:p>
            <a:pPr>
              <a:spcAft>
                <a:spcPts val="800"/>
              </a:spcAft>
            </a:pPr>
            <a:r>
              <a:rPr sz="1800">
                <a:solidFill>
                  <a:srgbClr val="1F2937"/>
                </a:solidFill>
                <a:latin typeface="Calibri"/>
              </a:rPr>
              <a:t>▸  Taqiq reproduktiv klonlashga tegishli; terapevtik klonlash masalasi hali hal bo‘lmagan.</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Taqiqlar ko‘lami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UNESKO deklaratsiyasi</a:t>
            </a:r>
          </a:p>
          <a:p>
            <a:pPr algn="l">
              <a:spcAft>
                <a:spcPts val="0"/>
              </a:spcAft>
            </a:pPr>
            <a:r>
              <a:rPr sz="1200" b="0">
                <a:solidFill>
                  <a:srgbClr val="1F2937"/>
                </a:solidFill>
                <a:latin typeface="Calibri"/>
              </a:rPr>
              <a:t>Reproduktiv klonlash man etilgan  ·  Inson qadr-qimmatiga zid</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Yevropa protokoli</a:t>
            </a:r>
          </a:p>
          <a:p>
            <a:pPr algn="l">
              <a:spcAft>
                <a:spcPts val="0"/>
              </a:spcAft>
            </a:pPr>
            <a:r>
              <a:rPr sz="1200" b="0">
                <a:solidFill>
                  <a:srgbClr val="1F2937"/>
                </a:solidFill>
                <a:latin typeface="Calibri"/>
              </a:rPr>
              <a:t>Inson klonlashni taqiqlaydi  ·  2002-yilda kuchga kirgan</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Ko‘p mamlakatlar</a:t>
            </a:r>
          </a:p>
          <a:p>
            <a:pPr algn="l">
              <a:spcAft>
                <a:spcPts val="0"/>
              </a:spcAft>
            </a:pPr>
            <a:r>
              <a:rPr sz="1200" b="0">
                <a:solidFill>
                  <a:srgbClr val="1F2937"/>
                </a:solidFill>
                <a:latin typeface="Calibri"/>
              </a:rPr>
              <a:t>To‘liq yoki vaqtincha taqiq  ·  Milliy qonunlar bilan</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Boshqa masalalar</a:t>
            </a:r>
          </a:p>
          <a:p>
            <a:pPr algn="l">
              <a:spcAft>
                <a:spcPts val="0"/>
              </a:spcAft>
            </a:pPr>
            <a:r>
              <a:rPr sz="1200" b="0">
                <a:solidFill>
                  <a:srgbClr val="1F2937"/>
                </a:solidFill>
                <a:latin typeface="Calibri"/>
              </a:rPr>
              <a:t>Har bir davlat ixtiyorida  ·  Xalqaro qo‘llanma aniq emas</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Taqiqlar ko‘lami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44-54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inson klonlash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terapevtik klonlashning asosiy maqsadi nima? Javob: shaxsiy embrional o‘zak hujayralar va ulardan o‘stirilgan a’zo, to‘qimalar olish.</a:t>
            </a:r>
          </a:p>
          <a:p>
            <a:pPr>
              <a:spcAft>
                <a:spcPts val="1200"/>
              </a:spcAft>
            </a:pPr>
            <a:r>
              <a:rPr sz="2200">
                <a:solidFill>
                  <a:srgbClr val="1F2937"/>
                </a:solidFill>
                <a:latin typeface="Calibri"/>
              </a:rPr>
              <a:t>▸  Savol: reproduktiv klonlash nima? Javob: yetuk organizmni yetishtirish; bepushtlik muammosini hal qilish nuqtayi nazaridan ko‘riladi.</a:t>
            </a:r>
          </a:p>
          <a:p>
            <a:pPr>
              <a:spcAft>
                <a:spcPts val="1200"/>
              </a:spcAft>
            </a:pPr>
            <a:r>
              <a:rPr sz="2200">
                <a:solidFill>
                  <a:srgbClr val="1F2937"/>
                </a:solidFill>
                <a:latin typeface="Calibri"/>
              </a:rPr>
              <a:t>▸  Savol: UNESKO deklaratsiyasi nimani man etadi? Javob: inson zotini qayta ishlab chiqarish maqsadidagi klonlashni.</a:t>
            </a:r>
          </a:p>
          <a:p>
            <a:pPr>
              <a:spcAft>
                <a:spcPts val="1200"/>
              </a:spcAft>
            </a:pPr>
            <a:r>
              <a:rPr sz="2200">
                <a:solidFill>
                  <a:srgbClr val="1F2937"/>
                </a:solidFill>
                <a:latin typeface="Calibri"/>
              </a:rPr>
              <a:t>▸  Diqqat: xato qilish xavfi — terapevtik klonlash ≠ reproduktiv klonlash; maqsadi va taqiq holati har xil.</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44-54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terapevtik klonlash dilemmasi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olimlar Parkinson yoki Alsgeymer kabi og‘ir, hozircha davosiz kasallikni davolash uchun terapevtik klonlashga ruxsat so‘ramoqda.</a:t>
            </a:r>
          </a:p>
          <a:p>
            <a:pPr>
              <a:spcAft>
                <a:spcPts val="1200"/>
              </a:spcAft>
            </a:pPr>
            <a:r>
              <a:rPr sz="2200">
                <a:solidFill>
                  <a:srgbClr val="1F2937"/>
                </a:solidFill>
                <a:latin typeface="Calibri"/>
              </a:rPr>
              <a:t>▸  Yadro ko‘chirib klonlash faqat o‘zak hujayra olish uchun mo‘ljallangan o‘ziga xos «embrion» yaratilishiga olib keladi.</a:t>
            </a:r>
          </a:p>
          <a:p>
            <a:pPr>
              <a:spcAft>
                <a:spcPts val="1200"/>
              </a:spcAft>
            </a:pPr>
            <a:r>
              <a:rPr sz="2200">
                <a:solidFill>
                  <a:srgbClr val="1F2937"/>
                </a:solidFill>
                <a:latin typeface="Calibri"/>
              </a:rPr>
              <a:t>▸  Savol: ruxsat berilsa va texnologiya yaratilsa, bu nasl qoldirish maqsadidagi klonlashga olib kelmaydimi?</a:t>
            </a:r>
          </a:p>
          <a:p>
            <a:pPr>
              <a:spcAft>
                <a:spcPts val="1200"/>
              </a:spcAft>
            </a:pPr>
            <a:r>
              <a:rPr sz="2200">
                <a:solidFill>
                  <a:srgbClr val="1F2937"/>
                </a:solidFill>
                <a:latin typeface="Calibri"/>
              </a:rPr>
              <a:t>▸  Qarshi dalil: klonlashda faqat genotip takrorlanadi, shaxsiyat esa tarbiya va bilim olish jarayonida shakllanadi.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44-54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Embrionni sun’iy yaratishning to‘rt usuli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Hozir embrionlarni sun’iy yaratishning to‘rtta asosiy usuli bor: IVF embrioni bachadonga joylash; implantatsiya uchun olingan «ortiqcha» embrionlar.</a:t>
            </a:r>
          </a:p>
          <a:p>
            <a:pPr>
              <a:spcAft>
                <a:spcPts val="800"/>
              </a:spcAft>
            </a:pPr>
            <a:r>
              <a:rPr sz="1600">
                <a:solidFill>
                  <a:srgbClr val="1F2937"/>
                </a:solidFill>
                <a:latin typeface="Calibri"/>
              </a:rPr>
              <a:t>▸  Yana ikki usul: tadqiqot yoki ildiz hujayra olish uchun urug‘lantirib yaratilgan embrion va tuxum hujayra yadrosini ko‘chirish yo‘li bilan yaratilgan embrion.</a:t>
            </a:r>
          </a:p>
          <a:p>
            <a:pPr>
              <a:spcAft>
                <a:spcPts val="800"/>
              </a:spcAft>
            </a:pPr>
            <a:r>
              <a:rPr sz="1600">
                <a:solidFill>
                  <a:srgbClr val="1F2937"/>
                </a:solidFill>
                <a:latin typeface="Calibri"/>
              </a:rPr>
              <a:t>▸  Birinchi usulda embrionning potensialini ro‘yobga chiqarishga to‘sqinlik qiluvchi urinishlar rad etiladi (onaning hayoti xavfi bundan mustasno).</a:t>
            </a:r>
          </a:p>
          <a:p>
            <a:pPr>
              <a:spcAft>
                <a:spcPts val="800"/>
              </a:spcAft>
            </a:pPr>
            <a:r>
              <a:rPr sz="1600">
                <a:solidFill>
                  <a:srgbClr val="1F2937"/>
                </a:solidFill>
                <a:latin typeface="Calibri"/>
              </a:rPr>
              <a:t>▸  Tadqiqot yoki foydalanish uchun yaratilgan embrionlar maxsus ko‘rib chiqishni talab qiladi.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Embrion yaratish usullari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IVF + joylashtirish</a:t>
            </a:r>
          </a:p>
          <a:p>
            <a:pPr algn="l">
              <a:spcAft>
                <a:spcPts val="0"/>
              </a:spcAft>
            </a:pPr>
            <a:r>
              <a:rPr sz="1200" b="0">
                <a:solidFill>
                  <a:srgbClr val="1F2937"/>
                </a:solidFill>
                <a:latin typeface="Calibri"/>
              </a:rPr>
              <a:t>Bachadonga joylash uchun</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«Ortiqcha» embrionlar</a:t>
            </a:r>
          </a:p>
          <a:p>
            <a:pPr algn="l">
              <a:spcAft>
                <a:spcPts val="0"/>
              </a:spcAft>
            </a:pPr>
            <a:r>
              <a:rPr sz="1200" b="0">
                <a:solidFill>
                  <a:srgbClr val="1F2937"/>
                </a:solidFill>
                <a:latin typeface="Calibri"/>
              </a:rPr>
              <a:t>Implantatsiya uchun olinganlar</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Tadqiqot uchun IVF</a:t>
            </a:r>
          </a:p>
          <a:p>
            <a:pPr algn="l">
              <a:spcAft>
                <a:spcPts val="0"/>
              </a:spcAft>
            </a:pPr>
            <a:r>
              <a:rPr sz="1200" b="0">
                <a:solidFill>
                  <a:srgbClr val="1F2937"/>
                </a:solidFill>
                <a:latin typeface="Calibri"/>
              </a:rPr>
              <a:t>Tadqiqot yoki ildiz hujayra uchun</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Yadro ko‘chirish</a:t>
            </a:r>
          </a:p>
          <a:p>
            <a:pPr algn="l">
              <a:spcAft>
                <a:spcPts val="0"/>
              </a:spcAft>
            </a:pPr>
            <a:r>
              <a:rPr sz="1200" b="0">
                <a:solidFill>
                  <a:srgbClr val="1F2937"/>
                </a:solidFill>
                <a:latin typeface="Calibri"/>
              </a:rPr>
              <a:t>Tuxum hujayra yadrosini almashtirish</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Muxamedova (2021), 126-bet</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Muxamedova Z.M., Bioetika, betlar: 126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Ildiz hujayralar manbalari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Terapevtik klonlashning bosh maqsadi — shaxsiy embrional ildiz hujayralar va ulardan o‘stirilgan a’zo, to‘qimalar olish.</a:t>
            </a:r>
          </a:p>
          <a:p>
            <a:pPr>
              <a:spcAft>
                <a:spcPts val="800"/>
              </a:spcAft>
            </a:pPr>
            <a:r>
              <a:rPr sz="1800">
                <a:solidFill>
                  <a:srgbClr val="1F2937"/>
                </a:solidFill>
                <a:latin typeface="Calibri"/>
              </a:rPr>
              <a:t>▸  Terapevtik maqsadda ildiz hujayralarning eng yirik manbai embrionlar ekani hamma tomonidan tan olingan.</a:t>
            </a:r>
          </a:p>
          <a:p>
            <a:pPr>
              <a:spcAft>
                <a:spcPts val="800"/>
              </a:spcAft>
            </a:pPr>
            <a:r>
              <a:rPr sz="1800">
                <a:solidFill>
                  <a:srgbClr val="1F2937"/>
                </a:solidFill>
                <a:latin typeface="Calibri"/>
              </a:rPr>
              <a:t>▸  Ildiz hujayra har nimaga aylanishi mumkin, shuning uchun oqibatni oldindan ko‘rish qiyin.</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Ildiz hujayra manbalari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Yetuk organizm</a:t>
            </a:r>
          </a:p>
          <a:p>
            <a:pPr algn="l">
              <a:spcAft>
                <a:spcPts val="0"/>
              </a:spcAft>
            </a:pPr>
            <a:r>
              <a:rPr sz="1200" b="0">
                <a:solidFill>
                  <a:srgbClr val="1F2937"/>
                </a:solidFill>
                <a:latin typeface="Calibri"/>
              </a:rPr>
              <a:t>Manba bo‘lishi mumkin</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Kindik arqonidagi qon</a:t>
            </a:r>
          </a:p>
          <a:p>
            <a:pPr algn="l">
              <a:spcAft>
                <a:spcPts val="0"/>
              </a:spcAft>
            </a:pPr>
            <a:r>
              <a:rPr sz="1200" b="0">
                <a:solidFill>
                  <a:srgbClr val="1F2937"/>
                </a:solidFill>
                <a:latin typeface="Calibri"/>
              </a:rPr>
              <a:t>Manba bo‘lishi mumkin</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Embrion to‘qimasi</a:t>
            </a:r>
          </a:p>
          <a:p>
            <a:pPr algn="l">
              <a:spcAft>
                <a:spcPts val="0"/>
              </a:spcAft>
            </a:pPr>
            <a:r>
              <a:rPr sz="1200" b="0">
                <a:solidFill>
                  <a:srgbClr val="1F2937"/>
                </a:solidFill>
                <a:latin typeface="Calibri"/>
              </a:rPr>
              <a:t>Eng yirik manba</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Homila to‘qimasi</a:t>
            </a:r>
          </a:p>
          <a:p>
            <a:pPr algn="l">
              <a:spcAft>
                <a:spcPts val="0"/>
              </a:spcAft>
            </a:pPr>
            <a:r>
              <a:rPr sz="1200" b="0">
                <a:solidFill>
                  <a:srgbClr val="1F2937"/>
                </a:solidFill>
                <a:latin typeface="Calibri"/>
              </a:rPr>
              <a:t>Turli rivojlanish bosqichidagi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Ildiz hujayra manbalari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44-54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Totipotent va pluripotent hujayralar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Erta preimplantatsion embrionning alohida hujayralarini zarar yetkazmasdan olib tashlash mumkin; bu ildiz hujayra olish muammosining yechimlaridan biri.</a:t>
            </a:r>
          </a:p>
          <a:p>
            <a:pPr>
              <a:spcAft>
                <a:spcPts val="800"/>
              </a:spcAft>
            </a:pPr>
            <a:r>
              <a:rPr sz="1600">
                <a:solidFill>
                  <a:srgbClr val="1F2937"/>
                </a:solidFill>
                <a:latin typeface="Calibri"/>
              </a:rPr>
              <a:t>▸  Hujayralar totipotent bo‘lsa (istalgan organ yoki mustaqil tanaga aylana oladi), ular aslida alohida zigota va embrion: asl embrionlar kabi himoyalanadi.</a:t>
            </a:r>
          </a:p>
          <a:p>
            <a:pPr>
              <a:spcAft>
                <a:spcPts val="800"/>
              </a:spcAft>
            </a:pPr>
            <a:r>
              <a:rPr sz="1600">
                <a:solidFill>
                  <a:srgbClr val="1F2937"/>
                </a:solidFill>
                <a:latin typeface="Calibri"/>
              </a:rPr>
              <a:t>▸  Agar hujayralar faqat pluripotent bo‘lsa, ular embrion deb qaralmaydi; ularni ishlatish embrionni inson deb biluvchilarni xafa qilmaydi.</a:t>
            </a:r>
          </a:p>
          <a:p>
            <a:pPr>
              <a:spcAft>
                <a:spcPts val="800"/>
              </a:spcAft>
            </a:pPr>
            <a:r>
              <a:rPr sz="1600">
                <a:solidFill>
                  <a:srgbClr val="1F2937"/>
                </a:solidFill>
                <a:latin typeface="Calibri"/>
              </a:rPr>
              <a:t>▸  Hujayra totipotent yoki pluripotent ekanini faqat retrospektiv, ya’ni keyin kuzatib aniqlash mumkin.</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Totipotent hujayra</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Organga yoki butun tanaga aylanadi</a:t>
            </a:r>
          </a:p>
          <a:p>
            <a:pPr algn="l">
              <a:spcAft>
                <a:spcPts val="700"/>
              </a:spcAft>
            </a:pPr>
            <a:r>
              <a:rPr sz="1500" b="1">
                <a:solidFill>
                  <a:srgbClr val="C9A227"/>
                </a:solidFill>
                <a:latin typeface="Calibri"/>
              </a:rPr>
              <a:t>●  </a:t>
            </a:r>
            <a:r>
              <a:rPr sz="1500" b="0">
                <a:solidFill>
                  <a:srgbClr val="1F2937"/>
                </a:solidFill>
                <a:latin typeface="Calibri"/>
              </a:rPr>
              <a:t>Alohida zigota/embrion kabi</a:t>
            </a:r>
          </a:p>
          <a:p>
            <a:pPr algn="l">
              <a:spcAft>
                <a:spcPts val="700"/>
              </a:spcAft>
            </a:pPr>
            <a:r>
              <a:rPr sz="1500" b="1">
                <a:solidFill>
                  <a:srgbClr val="C9A227"/>
                </a:solidFill>
                <a:latin typeface="Calibri"/>
              </a:rPr>
              <a:t>●  </a:t>
            </a:r>
            <a:r>
              <a:rPr sz="1500" b="0">
                <a:solidFill>
                  <a:srgbClr val="1F2937"/>
                </a:solidFill>
                <a:latin typeface="Calibri"/>
              </a:rPr>
              <a:t>Embrion kabi himoyalanadi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Pluripotent hujayra</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Embrion deb qaralmaydi</a:t>
            </a:r>
          </a:p>
          <a:p>
            <a:pPr algn="l">
              <a:spcAft>
                <a:spcPts val="700"/>
              </a:spcAft>
            </a:pPr>
            <a:r>
              <a:rPr sz="1500" b="1">
                <a:solidFill>
                  <a:srgbClr val="C9A227"/>
                </a:solidFill>
                <a:latin typeface="Calibri"/>
              </a:rPr>
              <a:t>●  </a:t>
            </a:r>
            <a:r>
              <a:rPr sz="1500" b="0">
                <a:solidFill>
                  <a:srgbClr val="1F2937"/>
                </a:solidFill>
                <a:latin typeface="Calibri"/>
              </a:rPr>
              <a:t>Foydalanish axloqan osonroq</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Hujayra turi — himoya darajasi</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Muxamedova Z.M., Bioetika, betlar: 125, 125-126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Embrion mavqei, 14 kun va ayollar huquqi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Terapevtik klonlashda 14 kunlik embriondan foydalaniladi. Embrionni qachongacha inson zoti emas, embrion deb qarash mumkin, degan savol paydo bo‘lgan.</a:t>
            </a:r>
          </a:p>
          <a:p>
            <a:pPr>
              <a:spcAft>
                <a:spcPts val="1200"/>
              </a:spcAft>
            </a:pPr>
            <a:r>
              <a:rPr sz="2200">
                <a:solidFill>
                  <a:srgbClr val="1F2937"/>
                </a:solidFill>
                <a:latin typeface="Calibri"/>
              </a:rPr>
              <a:t>▸  Buyuk Britaniyada embrion yoshi jinsiy hujayralar qo‘shilgan paytdan boshlab ko‘pi bilan 14 kun deb maxsus belgilab qo‘yilgan.</a:t>
            </a:r>
          </a:p>
          <a:p>
            <a:pPr>
              <a:spcAft>
                <a:spcPts val="1200"/>
              </a:spcAft>
            </a:pPr>
            <a:r>
              <a:rPr sz="2200">
                <a:solidFill>
                  <a:srgbClr val="1F2937"/>
                </a:solidFill>
                <a:latin typeface="Calibri"/>
              </a:rPr>
              <a:t>▸  Embrional material va kindik qoni manbaga aylansa, ayollar alohida bosim ostida qolishi mumkin. Yevropa etika guruhi buni birinchi darajali deb biladi.</a:t>
            </a:r>
          </a:p>
          <a:p>
            <a:pPr>
              <a:spcAft>
                <a:spcPts val="1200"/>
              </a:spcAft>
            </a:pPr>
            <a:r>
              <a:rPr sz="2200">
                <a:solidFill>
                  <a:srgbClr val="1F2937"/>
                </a:solidFill>
                <a:latin typeface="Calibri"/>
              </a:rPr>
              <a:t>▸  Diqqat: UNESKO huzuridagi xalqaro bioetika qo‘mitasi embrion yaratish va undan foydalanish bo‘yicha yagona fikrga kelmagan; qarorlar davlatlarda farq 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44-54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Dinlarning qarashlari: Islom va yahudiylik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Islom embrionda hali jon yo‘q deb hisoblaydi va urug‘lantirilgandan keyingi 40 kungacha inson embrionidan foydalanishga ruxsat beradi.</a:t>
            </a:r>
          </a:p>
          <a:p>
            <a:pPr>
              <a:spcAft>
                <a:spcPts val="1200"/>
              </a:spcAft>
            </a:pPr>
            <a:r>
              <a:rPr sz="2200">
                <a:solidFill>
                  <a:srgbClr val="1F2937"/>
                </a:solidFill>
                <a:latin typeface="Calibri"/>
              </a:rPr>
              <a:t>▸  Yahudiylikda urug‘langan tuxum hujayra hali inson zoti emas; u ona ichida rivojlanish jarayonida inson zotiga aylanadi.</a:t>
            </a:r>
          </a:p>
          <a:p>
            <a:pPr>
              <a:spcAft>
                <a:spcPts val="1200"/>
              </a:spcAft>
            </a:pPr>
            <a:r>
              <a:rPr sz="2200">
                <a:solidFill>
                  <a:srgbClr val="1F2937"/>
                </a:solidFill>
                <a:latin typeface="Calibri"/>
              </a:rPr>
              <a:t>▸  Ona tanasidan tashqarida rivojlanayotgan embrion gametaga tenglashtiriladi; onaga implantatsiya qilingach, mavjudot hisoblanadi.</a:t>
            </a:r>
          </a:p>
          <a:p>
            <a:pPr>
              <a:spcAft>
                <a:spcPts val="1200"/>
              </a:spcAft>
            </a:pPr>
            <a:r>
              <a:rPr sz="2200">
                <a:solidFill>
                  <a:srgbClr val="1F2937"/>
                </a:solidFill>
                <a:latin typeface="Calibri"/>
              </a:rPr>
              <a:t>▸  Plyuralistik dunyoda bunday tafovutlar muqarrar: buddaviylikda ruxsat etilgan narsa xristianlikda ruxsat etilmasligi mumkin va aksincha.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44-54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Dinlarning qarashlari: nasroniylik tarmoqlari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Buddaviylikda ruxsat etilgan narsaga nasroniylikda ruxsat yo‘q bo‘lishi mumkin va aksincha.</a:t>
            </a:r>
          </a:p>
          <a:p>
            <a:pPr>
              <a:spcAft>
                <a:spcPts val="800"/>
              </a:spcAft>
            </a:pPr>
            <a:r>
              <a:rPr sz="1800">
                <a:solidFill>
                  <a:srgbClr val="1F2937"/>
                </a:solidFill>
                <a:latin typeface="Calibri"/>
              </a:rPr>
              <a:t>▸  Rim katolik cherkovi embrionga eng qat’iy munosabatda bo‘ladi.</a:t>
            </a:r>
          </a:p>
          <a:p>
            <a:pPr>
              <a:spcAft>
                <a:spcPts val="800"/>
              </a:spcAft>
            </a:pPr>
            <a:r>
              <a:rPr sz="1800">
                <a:solidFill>
                  <a:srgbClr val="1F2937"/>
                </a:solidFill>
                <a:latin typeface="Calibri"/>
              </a:rPr>
              <a:t>▸  Diqqat: protestant qarashi katolikdan farq qiladi va uning o‘zida ham bir xil emas.</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Nasroniy cherkovlari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Rim katolik</a:t>
            </a:r>
          </a:p>
          <a:p>
            <a:pPr algn="l">
              <a:spcAft>
                <a:spcPts val="0"/>
              </a:spcAft>
            </a:pPr>
            <a:r>
              <a:rPr sz="1200" b="0">
                <a:solidFill>
                  <a:srgbClr val="1F2937"/>
                </a:solidFill>
                <a:latin typeface="Calibri"/>
              </a:rPr>
              <a:t>Inson urug‘lanish paytidan paydo bo‘ladi</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Protestant</a:t>
            </a:r>
          </a:p>
          <a:p>
            <a:pPr algn="l">
              <a:spcAft>
                <a:spcPts val="0"/>
              </a:spcAft>
            </a:pPr>
            <a:r>
              <a:rPr sz="1200" b="0">
                <a:solidFill>
                  <a:srgbClr val="1F2937"/>
                </a:solidFill>
                <a:latin typeface="Calibri"/>
              </a:rPr>
              <a:t>Embrion to‘la huquqli inson zoti emas</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Rus pravoslav</a:t>
            </a:r>
          </a:p>
          <a:p>
            <a:pPr algn="l">
              <a:spcAft>
                <a:spcPts val="0"/>
              </a:spcAft>
            </a:pPr>
            <a:r>
              <a:rPr sz="1200" b="0">
                <a:solidFill>
                  <a:srgbClr val="1F2937"/>
                </a:solidFill>
                <a:latin typeface="Calibri"/>
              </a:rPr>
              <a:t>Homila paydo bo‘lgandan inson va shaxs</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Nasroniy cherkovlari va embrion</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3-bob, 3.2-bo‘lim, 44-54-betlar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Buyuk Britaniya: qonuniy tartibga solish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Yevropada birinchi bo‘lib, maxsus ehtiyot choralari sharti bilan ildiz hujayra tadqiqotini ma’qulladi.</a:t>
            </a:r>
          </a:p>
          <a:p>
            <a:pPr>
              <a:spcAft>
                <a:spcPts val="800"/>
              </a:spcAft>
            </a:pPr>
            <a:r>
              <a:rPr sz="1800">
                <a:solidFill>
                  <a:srgbClr val="1F2937"/>
                </a:solidFill>
                <a:latin typeface="Calibri"/>
              </a:rPr>
              <a:t>▸  HFEA — Inson urug‘lantirishi va embriologiya bo‘yicha boshqarma; tadqiqotlarni shu idora tartibga soladi.</a:t>
            </a:r>
          </a:p>
          <a:p>
            <a:pPr>
              <a:spcAft>
                <a:spcPts val="800"/>
              </a:spcAft>
            </a:pPr>
            <a:r>
              <a:rPr sz="1800">
                <a:solidFill>
                  <a:srgbClr val="1F2937"/>
                </a:solidFill>
                <a:latin typeface="Calibri"/>
              </a:rPr>
              <a:t>▸  Dastlab ruxsat bepushtlikni o‘rganish bilan cheklangan edi; endi ildiz hujayra tadqiqoti ham kiradi.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1990-yil embriologiya akti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Ekspert guruhi fikri, 2000-avg.</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Parlament palatalari ma’qulladi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HFEA tartibga soladi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Maqsadlar ro‘yxati kengaydi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Britaniyada tartibga solish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3-bob, 3.2-bo‘lim, 44-54-betlar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Yevropa davlatlarida embrion tadqiqotlari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Yevropa Ittifoqining ko‘p davlatlarida embrional ildiz hujayra bo‘yicha qonun umuman yo‘q.</a:t>
            </a:r>
          </a:p>
          <a:p>
            <a:pPr>
              <a:spcAft>
                <a:spcPts val="800"/>
              </a:spcAft>
            </a:pPr>
            <a:r>
              <a:rPr sz="1800">
                <a:solidFill>
                  <a:srgbClr val="1F2937"/>
                </a:solidFill>
                <a:latin typeface="Calibri"/>
              </a:rPr>
              <a:t>▸  Qonunlar mutlaq taqiqdan tortib, tadqiqot uchun embrion yaratishga ruxsatgacha bo‘lgan oraliqni qamraydi.</a:t>
            </a:r>
          </a:p>
          <a:p>
            <a:pPr>
              <a:spcAft>
                <a:spcPts val="800"/>
              </a:spcAft>
            </a:pPr>
            <a:r>
              <a:rPr sz="1800">
                <a:solidFill>
                  <a:srgbClr val="1F2937"/>
                </a:solidFill>
                <a:latin typeface="Calibri"/>
              </a:rPr>
              <a:t>▸  Ko‘p mamlakatda embrion tadqiqoti va abort o‘rtasida o‘xshashlik ko‘rilmoqda.</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Yevropada yondashuvlar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Taqiqlovchi</a:t>
            </a:r>
          </a:p>
          <a:p>
            <a:pPr algn="l">
              <a:spcAft>
                <a:spcPts val="0"/>
              </a:spcAft>
            </a:pPr>
            <a:r>
              <a:rPr sz="1200" b="0">
                <a:solidFill>
                  <a:srgbClr val="1F2937"/>
                </a:solidFill>
                <a:latin typeface="Calibri"/>
              </a:rPr>
              <a:t>Fransiya, Germaniya, Irlandiya  ·  Embrionda tadqiqot man etilgan</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Shartli ruxsat</a:t>
            </a:r>
          </a:p>
          <a:p>
            <a:pPr algn="l">
              <a:spcAft>
                <a:spcPts val="0"/>
              </a:spcAft>
            </a:pPr>
            <a:r>
              <a:rPr sz="1200" b="0">
                <a:solidFill>
                  <a:srgbClr val="1F2937"/>
                </a:solidFill>
                <a:latin typeface="Calibri"/>
              </a:rPr>
              <a:t>Ispaniya, Finlyandiya, Shvetsiya  ·  Ortiqcha embrionlarda tadqiqot mumkin</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Qonunsiz o‘tkazadi</a:t>
            </a:r>
          </a:p>
          <a:p>
            <a:pPr algn="l">
              <a:spcAft>
                <a:spcPts val="0"/>
              </a:spcAft>
            </a:pPr>
            <a:r>
              <a:rPr sz="1200" b="0">
                <a:solidFill>
                  <a:srgbClr val="1F2937"/>
                </a:solidFill>
                <a:latin typeface="Calibri"/>
              </a:rPr>
              <a:t>Belgiya, Niderlandiya  ·  Qonun doirasi yo‘q, tadqiqot bor</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Qonun yo‘q</a:t>
            </a:r>
          </a:p>
          <a:p>
            <a:pPr algn="l">
              <a:spcAft>
                <a:spcPts val="0"/>
              </a:spcAft>
            </a:pPr>
            <a:r>
              <a:rPr sz="1200" b="0">
                <a:solidFill>
                  <a:srgbClr val="1F2937"/>
                </a:solidFill>
                <a:latin typeface="Calibri"/>
              </a:rPr>
              <a:t>Portugaliya  ·  Qonun ham, tadqiqot ham yo‘q</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Yevropada yondashuvlar solishtirmasi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3-bob, 3.2-bo‘lim, 44-54-betlar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Embrion tadqiqoti va abort o‘rtasidagi o‘xshashlik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Ko‘plab mamlakatlarda embrion tadqiqotlari va abort masalasi o‘rtasida o‘xshashlik borligi aniqlanmoqda. Ikkalasida ham gap embrion mavqei haqida ketadi.</a:t>
            </a:r>
          </a:p>
          <a:p>
            <a:pPr>
              <a:spcAft>
                <a:spcPts val="1200"/>
              </a:spcAft>
            </a:pPr>
            <a:r>
              <a:rPr sz="2000">
                <a:solidFill>
                  <a:srgbClr val="1F2937"/>
                </a:solidFill>
                <a:latin typeface="Calibri"/>
              </a:rPr>
              <a:t>▸  Irlandiya Konstitutsiyasi tug‘ilmagan odamning yashash huquqini tasdiqlaydi va uni onaning huquqiga tenglashtiradi. Yevropa Ittifoqida bunday davlat yagona.</a:t>
            </a:r>
          </a:p>
          <a:p>
            <a:pPr>
              <a:spcAft>
                <a:spcPts val="1200"/>
              </a:spcAft>
            </a:pPr>
            <a:r>
              <a:rPr sz="2000">
                <a:solidFill>
                  <a:srgbClr val="1F2937"/>
                </a:solidFill>
                <a:latin typeface="Calibri"/>
              </a:rPr>
              <a:t>▸  Abort faqat ona hayoti bevosita xavf ostida bo‘lsa mumkin. Zo‘rlash yoki embrion anomaliyasi sabab bo‘lmaydi. Bu qoida Yevropa adliya sudi qaroriga zid.</a:t>
            </a:r>
          </a:p>
          <a:p>
            <a:pPr>
              <a:spcAft>
                <a:spcPts val="1200"/>
              </a:spcAft>
            </a:pPr>
            <a:r>
              <a:rPr sz="2000">
                <a:solidFill>
                  <a:srgbClr val="1F2937"/>
                </a:solidFill>
                <a:latin typeface="Calibri"/>
              </a:rPr>
              <a:t>▸  Diqqat: xato qilish xavfi. Irlandiyadagi huquq urug‘lantirishdanmi yoki implantatsiyadanmi boshlanishi manbada aniq emas. Buni aniq muddat deb aytmang.</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44-54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AQSh va xalqaro hujjatlar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AQShning bir qator shtatlarida embrion tadqiqotlarini tartibga soluvchi va cheklovchi qonunlar bor.</a:t>
            </a:r>
          </a:p>
          <a:p>
            <a:pPr>
              <a:spcAft>
                <a:spcPts val="800"/>
              </a:spcAft>
            </a:pPr>
            <a:r>
              <a:rPr sz="1800">
                <a:solidFill>
                  <a:srgbClr val="1F2937"/>
                </a:solidFill>
                <a:latin typeface="Calibri"/>
              </a:rPr>
              <a:t>▸  Embrionga zarar yetkazadigan tadqiqotlarni federal darajada moliyalashtirish taqiqlangan.</a:t>
            </a:r>
          </a:p>
          <a:p>
            <a:pPr>
              <a:spcAft>
                <a:spcPts val="800"/>
              </a:spcAft>
            </a:pPr>
            <a:r>
              <a:rPr sz="1800">
                <a:solidFill>
                  <a:srgbClr val="1F2937"/>
                </a:solidFill>
                <a:latin typeface="Calibri"/>
              </a:rPr>
              <a:t>▸  Xalqaro qo‘llanmalar masalani aniqlashtirmaydi: reproduktiv klonlash taqiqidan boshqasi har davlat ixtiyorida.</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762658"/>
                <a:gridCol w="3525316"/>
              </a:tblGrid>
              <a:tr h="614476">
                <a:tc>
                  <a:txBody>
                    <a:bodyPr/>
                    <a:lstStyle/>
                    <a:p>
                      <a:r>
                        <a:rPr sz="1800" b="1">
                          <a:solidFill>
                            <a:srgbClr val="FFFFFF"/>
                          </a:solidFill>
                        </a:rPr>
                        <a:t>Hujjat</a:t>
                      </a:r>
                    </a:p>
                  </a:txBody>
                  <a:tcPr marL="73152" marR="73152" marT="36576" marB="36576">
                    <a:solidFill>
                      <a:srgbClr val="0B1F3A"/>
                    </a:solidFill>
                  </a:tcPr>
                </a:tc>
                <a:tc>
                  <a:txBody>
                    <a:bodyPr/>
                    <a:lstStyle/>
                    <a:p>
                      <a:r>
                        <a:rPr sz="1800" b="1">
                          <a:solidFill>
                            <a:srgbClr val="FFFFFF"/>
                          </a:solidFill>
                        </a:rPr>
                        <a:t>Mazmun</a:t>
                      </a:r>
                    </a:p>
                  </a:txBody>
                  <a:tcPr marL="73152" marR="73152" marT="36576" marB="36576">
                    <a:solidFill>
                      <a:srgbClr val="0B1F3A"/>
                    </a:solidFill>
                  </a:tcPr>
                </a:tc>
              </a:tr>
              <a:tr h="614476">
                <a:tc>
                  <a:txBody>
                    <a:bodyPr/>
                    <a:lstStyle/>
                    <a:p>
                      <a:r>
                        <a:rPr sz="1700" b="0">
                          <a:solidFill>
                            <a:srgbClr val="1F2937"/>
                          </a:solidFill>
                        </a:rPr>
                        <a:t>AQSh shtatlari</a:t>
                      </a:r>
                    </a:p>
                  </a:txBody>
                  <a:tcPr marL="73152" marR="73152" marT="36576" marB="36576">
                    <a:solidFill>
                      <a:srgbClr val="E8EEF6"/>
                    </a:solidFill>
                  </a:tcPr>
                </a:tc>
                <a:tc>
                  <a:txBody>
                    <a:bodyPr/>
                    <a:lstStyle/>
                    <a:p>
                      <a:r>
                        <a:rPr sz="1700" b="0">
                          <a:solidFill>
                            <a:srgbClr val="1F2937"/>
                          </a:solidFill>
                        </a:rPr>
                        <a:t>Tadqiqotni tartibga soluvchi qonun bor</a:t>
                      </a:r>
                    </a:p>
                  </a:txBody>
                  <a:tcPr marL="73152" marR="73152" marT="36576" marB="36576">
                    <a:solidFill>
                      <a:srgbClr val="E8EEF6"/>
                    </a:solidFill>
                  </a:tcPr>
                </a:tc>
              </a:tr>
              <a:tr h="614476">
                <a:tc>
                  <a:txBody>
                    <a:bodyPr/>
                    <a:lstStyle/>
                    <a:p>
                      <a:r>
                        <a:rPr sz="1700" b="0">
                          <a:solidFill>
                            <a:srgbClr val="1F2937"/>
                          </a:solidFill>
                        </a:rPr>
                        <a:t>AQSh federal</a:t>
                      </a:r>
                    </a:p>
                  </a:txBody>
                  <a:tcPr marL="73152" marR="73152" marT="36576" marB="36576">
                    <a:solidFill>
                      <a:srgbClr val="FFFFFF"/>
                    </a:solidFill>
                  </a:tcPr>
                </a:tc>
                <a:tc>
                  <a:txBody>
                    <a:bodyPr/>
                    <a:lstStyle/>
                    <a:p>
                      <a:r>
                        <a:rPr sz="1700" b="0">
                          <a:solidFill>
                            <a:srgbClr val="1F2937"/>
                          </a:solidFill>
                        </a:rPr>
                        <a:t>Zararli tadqiqotga mablag‘ yo‘q</a:t>
                      </a:r>
                    </a:p>
                  </a:txBody>
                  <a:tcPr marL="73152" marR="73152" marT="36576" marB="36576">
                    <a:solidFill>
                      <a:srgbClr val="FFFFFF"/>
                    </a:solidFill>
                  </a:tcPr>
                </a:tc>
              </a:tr>
              <a:tr h="614476">
                <a:tc>
                  <a:txBody>
                    <a:bodyPr/>
                    <a:lstStyle/>
                    <a:p>
                      <a:r>
                        <a:rPr sz="1700" b="0">
                          <a:solidFill>
                            <a:srgbClr val="1F2937"/>
                          </a:solidFill>
                        </a:rPr>
                        <a:t>Yevropa Kengashi</a:t>
                      </a:r>
                    </a:p>
                  </a:txBody>
                  <a:tcPr marL="73152" marR="73152" marT="36576" marB="36576">
                    <a:solidFill>
                      <a:srgbClr val="E8EEF6"/>
                    </a:solidFill>
                  </a:tcPr>
                </a:tc>
                <a:tc>
                  <a:txBody>
                    <a:bodyPr/>
                    <a:lstStyle/>
                    <a:p>
                      <a:r>
                        <a:rPr sz="1700" b="0">
                          <a:solidFill>
                            <a:srgbClr val="1F2937"/>
                          </a:solidFill>
                        </a:rPr>
                        <a:t>Himoya shart; yaratish taqiq</a:t>
                      </a:r>
                    </a:p>
                  </a:txBody>
                  <a:tcPr marL="73152" marR="73152" marT="36576" marB="36576">
                    <a:solidFill>
                      <a:srgbClr val="E8EEF6"/>
                    </a:solidFill>
                  </a:tcPr>
                </a:tc>
              </a:tr>
              <a:tr h="614476">
                <a:tc>
                  <a:txBody>
                    <a:bodyPr/>
                    <a:lstStyle/>
                    <a:p>
                      <a:r>
                        <a:rPr sz="1700" b="0">
                          <a:solidFill>
                            <a:srgbClr val="1F2937"/>
                          </a:solidFill>
                        </a:rPr>
                        <a:t>Qo‘shimcha protokol</a:t>
                      </a:r>
                    </a:p>
                  </a:txBody>
                  <a:tcPr marL="73152" marR="73152" marT="36576" marB="36576">
                    <a:solidFill>
                      <a:srgbClr val="FFFFFF"/>
                    </a:solidFill>
                  </a:tcPr>
                </a:tc>
                <a:tc>
                  <a:txBody>
                    <a:bodyPr/>
                    <a:lstStyle/>
                    <a:p>
                      <a:r>
                        <a:rPr sz="1700" b="0">
                          <a:solidFill>
                            <a:srgbClr val="1F2937"/>
                          </a:solidFill>
                        </a:rPr>
                        <a:t>2002-yilda kuchga kirgan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Hujjatlar xaritasi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44-54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turli davlat qonunlari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embrion tadqiqoti Buyuk Britaniyada maxsus ehtiyot choralari va HFEA (embriologiya boshqarmasi) nazoratida ruxsat etilgan.</a:t>
            </a:r>
          </a:p>
          <a:p>
            <a:pPr>
              <a:spcAft>
                <a:spcPts val="1200"/>
              </a:spcAft>
            </a:pPr>
            <a:r>
              <a:rPr sz="2200">
                <a:solidFill>
                  <a:srgbClr val="1F2937"/>
                </a:solidFill>
                <a:latin typeface="Calibri"/>
              </a:rPr>
              <a:t>▸  Avstriya, Germaniya va Fransiyada bunday tadqiqotlar taqiqlangan. Belgiya va Niderlandiyada esa ular qonuniy doiralarsiz o‘tkaziladi.</a:t>
            </a:r>
          </a:p>
          <a:p>
            <a:pPr>
              <a:spcAft>
                <a:spcPts val="1200"/>
              </a:spcAft>
            </a:pPr>
            <a:r>
              <a:rPr sz="2200">
                <a:solidFill>
                  <a:srgbClr val="1F2937"/>
                </a:solidFill>
                <a:latin typeface="Calibri"/>
              </a:rPr>
              <a:t>▸  Sabab: dinlar embrionga turlicha qaraydi. Islom urug‘lantirilgandan 40 kungacha ruxsat beradi, katolik cherkovi esa inson urug‘lanishdan boshlanadi deydi.</a:t>
            </a:r>
          </a:p>
          <a:p>
            <a:pPr>
              <a:spcAft>
                <a:spcPts val="1200"/>
              </a:spcAft>
            </a:pPr>
            <a:r>
              <a:rPr sz="2200">
                <a:solidFill>
                  <a:srgbClr val="1F2937"/>
                </a:solidFill>
                <a:latin typeface="Calibri"/>
              </a:rPr>
              <a:t>▸  Savol: xalqaro kelishuv nega qiyin? Reproduktiv klonlash taqiqidan boshqa masalalar davlatlar ixtiyoriga qoldirilganini hisobga oling.</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44-54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UNESKO qo‘mitasi: uch yondashuv</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UNESKO bioetika qo‘mitasi: tadqiqotning axloqiyligi ko‘p jihatdan embrion maqomiga bog‘liq.</a:t>
            </a:r>
          </a:p>
          <a:p>
            <a:pPr>
              <a:spcAft>
                <a:spcPts val="800"/>
              </a:spcAft>
            </a:pPr>
            <a:r>
              <a:rPr sz="1800">
                <a:solidFill>
                  <a:srgbClr val="1F2937"/>
                </a:solidFill>
                <a:latin typeface="Calibri"/>
              </a:rPr>
              <a:t>▸  Hujjatda embrion ildiz hujayralari borasida axloqan uch xil qarash ko‘rsatilgan.</a:t>
            </a:r>
          </a:p>
          <a:p>
            <a:pPr>
              <a:spcAft>
                <a:spcPts val="800"/>
              </a:spcAft>
            </a:pPr>
            <a:r>
              <a:rPr sz="1800">
                <a:solidFill>
                  <a:srgbClr val="1F2937"/>
                </a:solidFill>
                <a:latin typeface="Calibri"/>
              </a:rPr>
              <a:t>▸  Diqqat: xato qilish xavfi. Shartli ruxsat ≠ mutlaq ruxsat: ikkinchi yondashuvda qat’iy shartlar talab qilinadi.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UNESKO: uch yondashuv</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 Mutlaq taqiq</a:t>
            </a:r>
          </a:p>
          <a:p>
            <a:pPr algn="l">
              <a:spcAft>
                <a:spcPts val="0"/>
              </a:spcAft>
            </a:pPr>
            <a:r>
              <a:rPr sz="1200" b="0">
                <a:solidFill>
                  <a:srgbClr val="1F2937"/>
                </a:solidFill>
                <a:latin typeface="Calibri"/>
              </a:rPr>
              <a:t>Embrionni ishlatish axloqqa butunlay zid</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b) Shartli ruxsat</a:t>
            </a:r>
          </a:p>
          <a:p>
            <a:pPr algn="l">
              <a:spcAft>
                <a:spcPts val="0"/>
              </a:spcAft>
            </a:pPr>
            <a:r>
              <a:rPr sz="1200" b="0">
                <a:solidFill>
                  <a:srgbClr val="1F2937"/>
                </a:solidFill>
                <a:latin typeface="Calibri"/>
              </a:rPr>
              <a:t>Faqat tibbiy maqsad va qat’iy shart</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v) Tadqiqotni taqiqlash</a:t>
            </a:r>
          </a:p>
          <a:p>
            <a:pPr algn="l">
              <a:spcAft>
                <a:spcPts val="0"/>
              </a:spcAft>
            </a:pPr>
            <a:r>
              <a:rPr sz="1200" b="0">
                <a:solidFill>
                  <a:srgbClr val="1F2937"/>
                </a:solidFill>
                <a:latin typeface="Calibri"/>
              </a:rPr>
              <a:t>Xavf sababli taqiqlash lozim</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Embrion ildiz hujayralari: 3 qarash</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44-54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Tibbiy genetika etikasi va genetik testlash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Tibbiy genetikada bemor yoshi yoki holati tufayli qarorni ota-ona yoki vasiy qabul qiladi.</a:t>
            </a:r>
          </a:p>
          <a:p>
            <a:pPr>
              <a:spcAft>
                <a:spcPts val="800"/>
              </a:spcAft>
            </a:pPr>
            <a:r>
              <a:rPr sz="1800">
                <a:solidFill>
                  <a:srgbClr val="1F2937"/>
                </a:solidFill>
                <a:latin typeface="Calibri"/>
              </a:rPr>
              <a:t>▸  Genom buzilishi kasallik belgisiz bosqichda ham aniqlanadi: Alsgeymer kasalligi, Gentington xoreyasi.</a:t>
            </a:r>
          </a:p>
          <a:p>
            <a:pPr>
              <a:spcAft>
                <a:spcPts val="800"/>
              </a:spcAft>
            </a:pPr>
            <a:r>
              <a:rPr sz="1800">
                <a:solidFill>
                  <a:srgbClr val="1F2937"/>
                </a:solidFill>
                <a:latin typeface="Calibri"/>
              </a:rPr>
              <a:t>▸  Ikki masala: irsiy jihatlarni bilish huquqi kimda; patologik genotipni o‘zgartirish mumkinmi.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Irsiy patologiya aniqlanadi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Bemor o‘zi qaror qilolmaydi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Qaror ota-ona/vasiyga o‘tadi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Simptomsiz bosqichda aniqlash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Kim bilish huquqiga ega?</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Genetik testlash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44-54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Xavf–foyda muammosi va ildiz hujayra bilan davolash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Tibbiy texnologiyalar kengayib, bemorga foyda ham, xavf darajasi ham oshdi; shifokorlar «xavf–foyda»ni yolg‘iz hal qilishga qiynalmoqda.</a:t>
            </a:r>
          </a:p>
          <a:p>
            <a:pPr>
              <a:spcAft>
                <a:spcPts val="1200"/>
              </a:spcAft>
            </a:pPr>
            <a:r>
              <a:rPr sz="2200">
                <a:solidFill>
                  <a:srgbClr val="1F2937"/>
                </a:solidFill>
                <a:latin typeface="Calibri"/>
              </a:rPr>
              <a:t>▸  Ildiz hujayralar asosan embriondan olinadi; ular jigar va bosh miya funksiyasini, bo‘g‘im tog‘ayini tiklashda foydali bo‘lishi mumkin.</a:t>
            </a:r>
          </a:p>
          <a:p>
            <a:pPr>
              <a:spcAft>
                <a:spcPts val="1200"/>
              </a:spcAft>
            </a:pPr>
            <a:r>
              <a:rPr sz="2200">
                <a:solidFill>
                  <a:srgbClr val="1F2937"/>
                </a:solidFill>
                <a:latin typeface="Calibri"/>
              </a:rPr>
              <a:t>▸  Ildiz hujayralar har narsaga aylanishi mumkin; nazariy jihatdan yillar o‘tib saraton o‘smasi ham rivojlanishi mumkin, bu esa faqat farazdir.</a:t>
            </a:r>
          </a:p>
          <a:p>
            <a:pPr>
              <a:spcAft>
                <a:spcPts val="1200"/>
              </a:spcAft>
            </a:pPr>
            <a:r>
              <a:rPr sz="2200">
                <a:solidFill>
                  <a:srgbClr val="1F2937"/>
                </a:solidFill>
                <a:latin typeface="Calibri"/>
              </a:rPr>
              <a:t>▸  Uzoq oqibatlar yetarli o‘rganilmagan; Gippokratning «Zarar yetkazma» tamoyili murakkablashdi, klinik tadqiqotlar xavfsizlikni kafolatlamaydi.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44-54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Prenatal diagnostika va uning etik chegarasi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Bioetika tug‘ruqdan oldingi, ya’ni homiladorlik davridagi diagnostikaning notibbiy maqsadlarda ishlatilishiga yo‘l qo‘ymaslik masalasi bilan shug‘ullangan.</a:t>
            </a:r>
          </a:p>
          <a:p>
            <a:pPr>
              <a:spcAft>
                <a:spcPts val="1200"/>
              </a:spcAft>
            </a:pPr>
            <a:r>
              <a:rPr sz="2200">
                <a:solidFill>
                  <a:srgbClr val="1F2937"/>
                </a:solidFill>
                <a:latin typeface="Calibri"/>
              </a:rPr>
              <a:t>▸  Notibbiy maqsadga misol: homila jinsini aniqlash, ya’ni qiz tug‘ilmasligi uchun diagnostikadan foydalanish.</a:t>
            </a:r>
          </a:p>
          <a:p>
            <a:pPr>
              <a:spcAft>
                <a:spcPts val="1200"/>
              </a:spcAft>
            </a:pPr>
            <a:r>
              <a:rPr sz="2200">
                <a:solidFill>
                  <a:srgbClr val="1F2937"/>
                </a:solidFill>
                <a:latin typeface="Calibri"/>
              </a:rPr>
              <a:t>▸  Fan rivoji implantatsiyadan (embrionning bachadonga o‘rnashishidan) oldingi irsiy diagnostika bilan bog‘liq yangi xavf-xatarlarni keltirib chiqardi.</a:t>
            </a:r>
          </a:p>
          <a:p>
            <a:pPr>
              <a:spcAft>
                <a:spcPts val="1200"/>
              </a:spcAft>
            </a:pPr>
            <a:r>
              <a:rPr sz="2200">
                <a:solidFill>
                  <a:srgbClr val="1F2937"/>
                </a:solidFill>
                <a:latin typeface="Calibri"/>
              </a:rPr>
              <a:t>▸  Tezkor savol: genom buzilishini aniqlash tibbiy maqsad, homila jinsini tanlash esa notibbiy maqsad. Ikkalasini aralashtirmang (A ≠ B).</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44-54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«Buyurtma bo‘yicha» bolalar va ota-ona javobgarligi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Embrion va bolalarni «buyurtma bo‘yicha» ishlab chiqarish istalgan genetik xususiyat olishga qaratilishi mumkin; inson zoti jarayoni texnologiyalashmoqda.</a:t>
            </a:r>
          </a:p>
          <a:p>
            <a:pPr>
              <a:spcAft>
                <a:spcPts val="800"/>
              </a:spcAft>
            </a:pPr>
            <a:r>
              <a:rPr sz="1600">
                <a:solidFill>
                  <a:srgbClr val="1F2937"/>
                </a:solidFill>
                <a:latin typeface="Calibri"/>
              </a:rPr>
              <a:t>▸  Chet el amaliyotida og‘ir irsiy kasalli nogironlar abortdan voz kechgan ota-onalarga nisbatan qonuniy chora ko‘rgan holatlar bor.</a:t>
            </a:r>
          </a:p>
          <a:p>
            <a:pPr>
              <a:spcAft>
                <a:spcPts val="800"/>
              </a:spcAft>
            </a:pPr>
            <a:r>
              <a:rPr sz="1600">
                <a:solidFill>
                  <a:srgbClr val="1F2937"/>
                </a:solidFill>
                <a:latin typeface="Calibri"/>
              </a:rPr>
              <a:t>▸  Amerikalik biolog B. Glass (1971) zamonaviy biologiya barcha yangi tug‘ilganlar sifatini kafolatlay oladi, deb yozgan.</a:t>
            </a:r>
          </a:p>
          <a:p>
            <a:pPr>
              <a:spcAft>
                <a:spcPts val="800"/>
              </a:spcAft>
            </a:pPr>
            <a:r>
              <a:rPr sz="1600">
                <a:solidFill>
                  <a:srgbClr val="1F2937"/>
                </a:solidFill>
                <a:latin typeface="Calibri"/>
              </a:rPr>
              <a:t>▸  Savol: ota-onalar tanlov natijasiga javobgar bo‘lishi kerakmi? Kitob bu masalani ochiq qoldiradi.</a:t>
            </a:r>
          </a:p>
        </p:txBody>
      </p:sp>
      <p:sp>
        <p:nvSpPr>
          <p:cNvPr id="9" name="Rounded Rectangle 8"/>
          <p:cNvSpPr/>
          <p:nvPr/>
        </p:nvSpPr>
        <p:spPr>
          <a:xfrm>
            <a:off x="5440680"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400" b="1">
                <a:solidFill>
                  <a:srgbClr val="FFFFFF"/>
                </a:solidFill>
                <a:latin typeface="Calibri"/>
              </a:rPr>
              <a:t>Texnologiya imkoni</a:t>
            </a:r>
          </a:p>
        </p:txBody>
      </p:sp>
      <p:sp>
        <p:nvSpPr>
          <p:cNvPr id="10" name="Rectangle 9"/>
          <p:cNvSpPr/>
          <p:nvPr/>
        </p:nvSpPr>
        <p:spPr>
          <a:xfrm>
            <a:off x="5440680"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Embrionni oldindan tanlash</a:t>
            </a:r>
          </a:p>
          <a:p>
            <a:pPr algn="l">
              <a:spcAft>
                <a:spcPts val="700"/>
              </a:spcAft>
            </a:pPr>
            <a:r>
              <a:rPr sz="1500" b="1">
                <a:solidFill>
                  <a:srgbClr val="C9A227"/>
                </a:solidFill>
                <a:latin typeface="Calibri"/>
              </a:rPr>
              <a:t>●  </a:t>
            </a:r>
            <a:r>
              <a:rPr sz="1500" b="0">
                <a:solidFill>
                  <a:srgbClr val="1F2937"/>
                </a:solidFill>
                <a:latin typeface="Calibri"/>
              </a:rPr>
              <a:t>Klonlash orqali nusxalash</a:t>
            </a:r>
          </a:p>
        </p:txBody>
      </p:sp>
      <p:sp>
        <p:nvSpPr>
          <p:cNvPr id="11" name="Rounded Rectangle 10"/>
          <p:cNvSpPr/>
          <p:nvPr/>
        </p:nvSpPr>
        <p:spPr>
          <a:xfrm>
            <a:off x="7523378" y="1417320"/>
            <a:ext cx="1945538"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Axloqiy savol</a:t>
            </a:r>
          </a:p>
        </p:txBody>
      </p:sp>
      <p:sp>
        <p:nvSpPr>
          <p:cNvPr id="12" name="Rectangle 11"/>
          <p:cNvSpPr/>
          <p:nvPr/>
        </p:nvSpPr>
        <p:spPr>
          <a:xfrm>
            <a:off x="7523378"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Ota-ona bolaga javobgarmi?</a:t>
            </a:r>
          </a:p>
          <a:p>
            <a:pPr algn="l">
              <a:spcAft>
                <a:spcPts val="700"/>
              </a:spcAft>
            </a:pPr>
            <a:r>
              <a:rPr sz="1500" b="1">
                <a:solidFill>
                  <a:srgbClr val="C9A227"/>
                </a:solidFill>
                <a:latin typeface="Calibri"/>
              </a:rPr>
              <a:t>●  </a:t>
            </a:r>
            <a:r>
              <a:rPr sz="1500" b="0">
                <a:solidFill>
                  <a:srgbClr val="1F2937"/>
                </a:solidFill>
                <a:latin typeface="Calibri"/>
              </a:rPr>
              <a:t>Tabiiy tug‘ilganlar o‘rni?</a:t>
            </a:r>
          </a:p>
        </p:txBody>
      </p:sp>
      <p:sp>
        <p:nvSpPr>
          <p:cNvPr id="13" name="Rounded Rectangle 12"/>
          <p:cNvSpPr/>
          <p:nvPr/>
        </p:nvSpPr>
        <p:spPr>
          <a:xfrm>
            <a:off x="9606076"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500" b="1">
                <a:solidFill>
                  <a:srgbClr val="FFFFFF"/>
                </a:solidFill>
                <a:latin typeface="Calibri"/>
              </a:rPr>
              <a:t>Tarixiy misollar</a:t>
            </a:r>
          </a:p>
        </p:txBody>
      </p:sp>
      <p:sp>
        <p:nvSpPr>
          <p:cNvPr id="14" name="Rectangle 13"/>
          <p:cNvSpPr/>
          <p:nvPr/>
        </p:nvSpPr>
        <p:spPr>
          <a:xfrm>
            <a:off x="9606076"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Nogiron bolaning ota-onaga da’vosi</a:t>
            </a:r>
          </a:p>
          <a:p>
            <a:pPr algn="l">
              <a:spcAft>
                <a:spcPts val="700"/>
              </a:spcAft>
            </a:pPr>
            <a:r>
              <a:rPr sz="1500" b="1">
                <a:solidFill>
                  <a:srgbClr val="C9A227"/>
                </a:solidFill>
                <a:latin typeface="Calibri"/>
              </a:rPr>
              <a:t>●  </a:t>
            </a:r>
            <a:r>
              <a:rPr sz="1500" b="0">
                <a:solidFill>
                  <a:srgbClr val="1F2937"/>
                </a:solidFill>
                <a:latin typeface="Calibri"/>
              </a:rPr>
              <a:t>Glass (1971): sifat kafolati g‘oyasi</a:t>
            </a:r>
          </a:p>
        </p:txBody>
      </p:sp>
      <p:sp>
        <p:nvSpPr>
          <p:cNvPr id="15" name="TextBox 14"/>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Tanlov va javobgarlik</a:t>
            </a:r>
          </a:p>
        </p:txBody>
      </p:sp>
      <p:sp>
        <p:nvSpPr>
          <p:cNvPr id="16" name="TextBox 15"/>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Muxamedova Z.M., Bioetika, betlar: 150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asosiy xulosalar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Klonlashda faqat genotip takrorlanadi. Shaxsiyat tarbiya va bilim olishda shakllanadi. Tabiiy klonlar — monozigotali egizaklar ham bir-biridan farq qiladi.</a:t>
            </a:r>
          </a:p>
          <a:p>
            <a:pPr>
              <a:spcAft>
                <a:spcPts val="1200"/>
              </a:spcAft>
            </a:pPr>
            <a:r>
              <a:rPr sz="2000">
                <a:solidFill>
                  <a:srgbClr val="1F2937"/>
                </a:solidFill>
                <a:latin typeface="Calibri"/>
              </a:rPr>
              <a:t>▸  Ko‘p mamlakatda reproduktiv klonlash taqiqlangan. Terapevtik klonlashning asosiy maqsadi — embrional ildiz hujayra olish; unga oid savollar hal bo‘lmagan.</a:t>
            </a:r>
          </a:p>
          <a:p>
            <a:pPr>
              <a:spcAft>
                <a:spcPts val="1200"/>
              </a:spcAft>
            </a:pPr>
            <a:r>
              <a:rPr sz="2000">
                <a:solidFill>
                  <a:srgbClr val="1F2937"/>
                </a:solidFill>
                <a:latin typeface="Calibri"/>
              </a:rPr>
              <a:t>▸  Ildiz hujayralar Parkinson, Alsgeymer, tarqoq skleroz davosiga umid beradi. Biroq xavfsizlikni kafolatlash uchun klinik tadqiqotlarning o‘zi yetarli emas.</a:t>
            </a:r>
          </a:p>
          <a:p>
            <a:pPr>
              <a:spcAft>
                <a:spcPts val="1200"/>
              </a:spcAft>
            </a:pPr>
            <a:r>
              <a:rPr sz="2000">
                <a:solidFill>
                  <a:srgbClr val="1F2937"/>
                </a:solidFill>
                <a:latin typeface="Calibri"/>
              </a:rPr>
              <a:t>▸  Irsiy muhandislik «Zarar yetkazma» tamoyilini murakkablashtirdi: foyda ham, xavf ham oshdi. Genetik ma’lumotni bilish huquqi masalasi ham ochiq qolmoqda.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Yuldashev N.M., Saydalixodjayeva O.Z., Saidov A.B., Bioetika, betlar: 44-54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43</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Tabiiy klon: monozigotali (tuxumdosh) egizaklar. Zigota erta bo‘linganda genomi bir xil bo‘ladi. Ammo har xil sharoitda tarbiya olsa, ularning fe’li, mayli va aqliy qobiliyati farq qiladi, ba’zan tashqi qiyofasi ham. Demak, klonlanadigan narsa genotip, shaxsiyat emas.</a:t>
            </a:r>
          </a:p>
          <a:p>
            <a:pPr>
              <a:spcAft>
                <a:spcPts val="1200"/>
              </a:spcAft>
            </a:pPr>
            <a:r>
              <a:rPr sz="1800">
                <a:solidFill>
                  <a:srgbClr val="1F2937"/>
                </a:solidFill>
                <a:latin typeface="Calibri"/>
              </a:rPr>
              <a:t>▸  Eslab qolish usuli (vaqt chizig‘i): 1940-yillar, Lopashov, baqada yadro ko‘chirish → 1962, Gerdon, baqa ichak epiteliysi yadrosi → 1996, Vilmut, Dolli qo‘yi. Hamma zamonaviy klonlash tajribasi Lopashov usuliga asoslanadi.</a:t>
            </a:r>
          </a:p>
          <a:p>
            <a:pPr>
              <a:spcAft>
                <a:spcPts val="1200"/>
              </a:spcAft>
            </a:pPr>
            <a:r>
              <a:rPr sz="1800">
                <a:solidFill>
                  <a:srgbClr val="1F2937"/>
                </a:solidFill>
                <a:latin typeface="Calibri"/>
              </a:rPr>
              <a:t>▸  Hodisa tahlili: nega baqadan sutemizuvchiga o‘tish qiyin bo‘ldi? Sutemizuvchilarning tuxum hujayrasi amfibiyalarnikidan ming barobar kichik. 1970-yillar oxirida bu to‘siq yengildi. Dolli esa Finn Dorset zotli qo‘yning sut bezi hujayra yadrosidan hosil bo‘ldi.</a:t>
            </a:r>
          </a:p>
          <a:p>
            <a:pPr>
              <a:spcAft>
                <a:spcPts val="1200"/>
              </a:spcAft>
            </a:pPr>
            <a:r>
              <a:rPr sz="1800">
                <a:solidFill>
                  <a:srgbClr val="1F2937"/>
                </a:solidFill>
                <a:latin typeface="Calibri"/>
              </a:rPr>
              <a:t>▸  Eslab qoling: embrion mavqei haqida dinlarda farq bor. Islomda urug‘lanishdan keyin 40 kungacha ruxsat beriladi. Katolik cherkovi insonni urug‘lanish onidan boshlab hisoblaydi. Terapevtik klonlashda esa 14 kunlik embrion ishlatiladi.</a:t>
            </a:r>
          </a:p>
          <a:p>
            <a:pPr>
              <a:spcAft>
                <a:spcPts val="1200"/>
              </a:spcAft>
            </a:pPr>
            <a:r>
              <a:rPr sz="1800">
                <a:solidFill>
                  <a:srgbClr val="1F2937"/>
                </a:solidFill>
                <a:latin typeface="Calibri"/>
              </a:rPr>
              <a:t>▸  Diqqat, tushunchalarni aralashtirmang: terapevtik klonlash maqsadi shaxsiy embrional ildiz hujayralar olish. Reproduktiv klonlash esa yetilgan organizm yetishtirish. Aynan reproduktiv klonlash ko‘p axloqiy muammo keltirib chiqargan va UNESKO deklaratsiyasida taqiqlangan.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Biotexnologiya, bioxavfsizlik va genetik muhandislik: ildiz hujayralar, klonlashning bioet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43</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Yuldashev N.M., Saydalixodjayeva O.Z., Saidov A.B. Bioetika (tibbiyot OTM talabalari uchun darslik), Toshkent tibbiyot akademiyasi, Toshkent, 2019 (titul betida 2018). 2019. 3-bob 3.2 «Klonlashtirish» (kitob beti 44-54)</a:t>
            </a:r>
          </a:p>
          <a:p>
            <a:pPr>
              <a:spcAft>
                <a:spcPts val="800"/>
              </a:spcAft>
            </a:pPr>
            <a:r>
              <a:rPr sz="2000">
                <a:solidFill>
                  <a:srgbClr val="1F2937"/>
                </a:solidFill>
                <a:latin typeface="Calibri"/>
              </a:rPr>
              <a:t>▸  Muhamedova Z.M. Bioetika (o‘quv qo‘llanma, falsafa fakulteti), Toshkent, 2006. 2006. II bob 3-bo‘lim: inson hujayralari va to‘qimalarini klonlash, ildiz hujayralar bilan davolash, embrional hujayralar, inson klonlash muammosi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