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kam uchrasa-da, bunday jarohatlar alohida e’tibor talab qiladi? 2) Ekspertiza oldiga qanday savollar qo‘yilishi mumkin? Doskada: mashg‘ulot rejasini 5 ta bandda yozdirish. Tipik xato: talabalar o‘q otar jarohatni faqat mexanik shikast deb o‘ylaydi.</a:t>
            </a:r>
          </a:p>
          <a:p/>
          <a:p>
            <a:r>
              <a:t>Tekshirish kerak (manbada noaniq):</a:t>
            </a:r>
          </a:p>
          <a:p>
            <a:r>
              <a:t>- Mashg‘ulot maqsadi: jarohat belgilariga qarab qurol, distansiya va yara kanali yo‘nalishi haqida xulosa qilishni o‘rganish.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Kichik massali, ammo katta tezlikli snaryad nima uchun xavfli? 2) Qaysi qo‘shimcha ta’sirlar o‘tmas jism jarohatida bo‘lmaydi? Doskada: ’porox gazlari energiyasi → snaryad → mexanik + termik + kimyoviy ta’sir’ zanjirini chizdirish. Tipik xato: o‘q otar jarohat tushunchasini faqat o‘q tekkan yara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Tinchlik davrida qaysi hollar ekspertizada uchraydi? 2) Portlovchi moddalar ham nega shu mavzuga kiradi? Doskada: ikki ustunli jadvalni talabalar mustaqil to‘ldirsin. Tipik xato: portlash travmasini faqat jang sharoitiga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qo‘lbola qurolni atipik deymiz? Tipik va atipik qurol ekspertiza uchun nimani o‘zgartiradi? Doskada: tasnif daraxtini (maqsad → jangovor → artillerik/xususan → individual/guruhiy) chizdiring. Tipik xato: tipik va atipik tushunchalarini aralashtirish; xususan o‘q otar qurolni artillerik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o‘yiqlar o‘q uchishini nega aniqroq qiladi? Ov kalibri soni ortsa stvol diametri qanday o‘zgaradi? Doskada: stvolning ko‘ndalang kesimini (silliq va o‘yiqli) chizing, o‘yiqlararo yuzani belgilang. Tipik xato: kalibr soni katta bo‘lsa diametr ham katta deb o‘ylash — aksincha, diametr kichrayadi. Kalibrni o‘yiqli (mm) va silliq (funt, sharlar soni) stvolda bir xil o‘lchash ham xato.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ov qurollarida 12 va 16 kalibr keng tarqalgan deb o‘ylaysiz? Maxsus qurollarni jangovordan farqlovchi belgi nima? Doskada: ov, sport va maxsus qurollarni stvol turi va o‘q-sochma bo‘yicha 3 ustunli qisqa jadvalga yozing. Tipik xato: sport qurolini ham silliq stvolli deb hisoblash (u odatda o‘yiqli); maxsus qurolni porox energiyasisiz ishlaydi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kitobga qaramay aytadi. Muhokama: 1) Nega kalibr turli stvollarda turlicha o‘lchanadi? 2) Atipik qurol tipikdan nimasi bilan farq qiladi? Doskada: qurol tasnifi daraxtini chizing (maqsad, stvol uzunligi, ichki yuza). Tipik xato: silliq stvolli ov qurolida kalibr soni ortishini diametr ortishi deb o‘ylash. Aslida u teskari bog‘liq.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kapsyul tarkibida oksidlovchi kerak? 2) O‘q shakli qurol turiga qarab nega farqlanadi? Doskada: patron kesimini chizib, snaryad, gilza, kapsyul va poroxni belgilang. Qo‘shimcha: gilza po‘lat, latun yoki temirdan tayyorlanadi. Tipik xato: kapsyulni porox zaryadining bir qismi deb hisoblash. Kapsyul alohida, gilza tubida joylashadi.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Gaz hajmi ortishi o‘qning uchish masofasiga qanday ta’sir qiladi? 2) Nega yorma o‘q taqiqlangan? Doskada: ikki porox solishtirma jadvalini talabalar o‘zi to‘ldirsin. Tipik xato: yorma o‘qni yorma ta’sir bilan aralashtirish. Yorma o‘q maxsus snaryad turi, yorma ta’sir esa katta energiyaning yara shaklidagi natijasidir.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porox tiqin bilan yopiladi (germetiklik)? 2) Sochma va kartechning farqi nimada? Doskada: patron qatlamlarini pastdan yuqoriga chizing va har birini nomlang. Tipik xato: sochmali patron tuzilishini o‘yiqli stvolli qurolning unitar patroni bilan aralashtirish; kapsyul ikkala turda ham o‘xshash.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Qurolning atipikligi ekspertiza uchun nimani anglatadi? 2) 6 mm li sharcha qaysi guruhga kiradi? Doskada: qurol–patron–stvol belgilari bo‘yicha qisqa qaror sxemasini chizing. Tipik xato: 5,5 mm dan katta sharchani ham sochma deb atash. To‘g‘ri javob: sharchalar kartech, sochmali patron silliq stvolli ov qurolida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suyak bo‘lagi ikkilamchi snaryad bo‘la oladi? 2) Qaysi omillar yaqin masofada izlar qoldiradi? Doskada: jadvalni chizib, har guruhga mexanik, termik yoki kimyoviy ta’sir belgisini qo‘ying. Tipik xato: qo‘shimcha omillarni asosiy snaryad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o‘yiqli stvolda bosim va tezlik yuqori? 2) Stvol yorilishi kimlarga xavf soladi? Doskada jadvalni o‘zlari chizsin va Makarov bilan AKM tezligini solishtirsin. Tipik xato: silliq va o‘yiqli stvolning bosim hamda tezlik ko‘rsatkichlarini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Energiya kamayganda yara shakli qanday o‘zgaradi? 2) Chiqish teshigi ko‘pincha qaysi ta’sir natijasi? Doskada energiya zinapoyasini chizing: yorma → yulma → ponasimon. Tipik xato: yulma ta’sirdagi defekt o‘lchamini snaryad diametridan katta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Pushti tus qaysi omil ta’siridan va nega muhim? 2) Alanga ta’sir masofasi mexanik ta’sir masofasidan nimasi bilan farq qiladi? Doskada porox gazlarining termik va kimyoviy oqibatlarini ikki ustunda yozing. Tipik xato: karboksigemoglobin (qonda) bilan karboksimioglobinni (mushakda)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Yara atrofida faqat porox va metall zarrachalari qolsa, otish masofasi haqida nima deyish mumkin? 2) Porox gazi belgilari yo‘qligi qaysi zonani bildiradi? Doskaga chizing: stvol va nishon, ular orasida uch zonani rangli chiziqlar bilan belgilang. Tipik xato: qurum va porox zarrachalarini porox gazlarining ta’siri deb hisoblash; ular alohida qo‘shimcha omillardir.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masofani faqat belgilarga qarab aniqlab bo‘lmaydi? 2) Eksperimentda qanday qurol, patron va nishon olinadi? Doskaga chizing: ikki xil qurol uchun bir xil distansiya va turli masofani ko‘rsatuvchi sxema. Tipik xato: ‘distansiya’ va ‘masofa’ so‘zlarini sinonim sifatida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shtansmarka stvol uchining shaklini aks ettiradi? 2) Qiyalab otishda qurum nega faqat bir tomonda to‘planadi? Doskaga chizing: stvol uchi teriga tiralgan holat va gazlarning teri ostiga kirib, uni stvolga bosishi. Tipik xato: shtansmarkani faqat to‘liq tirab otishning har qanday turiga xos deb hisoblash; u germetik turda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xil distansiya turli qurolda turli masofaga to‘g‘ri keladi? 2) Nega masofani faqat eksperiment bilan aniqlash mumkin? Doskada: ikki ustunli “distansiya | masofa” sxemasini chizdiring. Tipik xato: distansiya va masofani bir-biriga aynan teng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1-zonada kirish yarasi qanday omillar ta’sirida hosil bo‘ladi? 2) To‘siq bo‘lganda nega kirish teshigi atrofida belgilar topilmaydi? Doskada: stvol va nishon oralig‘ida uchta zonani ketma-ket chizing. Qo‘shimcha: silliq stvolli ov miltig‘ida 3-zona 500 sm gacha bo‘lishi mumkin. Tipik xato: 2-zonada porox gazi izini qidirish — u faqat 1-zonada bo‘ladi.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Fenomen uchun qanday uch shart kerak? 2) Qurumning joylashishi yaqin distansiyadagidan qanday farq qiladi (periferiya tomon intensivlik ortadi, yaqin distansiyada aksincha)? Doskada: ikki qavat kiyim va o‘q ortidagi bo‘shliqni chizib, qurum qayerda qolishini ko‘rsating. Tipik xato: ichki qavatdagi qurumni yaqin distansiya belgisi deb olish.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Qurum kiyimning qaysi yuzasida topilsa, yaqin distansiya deb hisoblanadi? 2) Fenomen uchun qaysi uch shart zarur? Doskaga: ikki qavat kiyim va tana kesimini chizib, qurum joylashuvini ikki holat uchun belgilang. Tipik xato: kiyim ichidagi qurumni avtomatik yaqin distansiya deb olish; distansiya (belgilar majmui) va masofa (sm)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Vaqtincha bo‘shliq nima uchun qonning tashqariga chiqishiga sabab bo‘ladi? 2) Uch guruh omilni sanab bering. Doskaga: yara kanalini va undan tashqariga kengayuvchi uch zonani konsentrik chizing. Tipik xato: lat yeyish va chayqalish zonalarining kengligini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Uzlukli kanal nimani ko‘rsatadi? 2) Bir o‘qdan nega ikkita kirish va chiqish bo‘lishi mumkin? Doskaga: teshib o‘tar, ko‘r va yalama yaralarning sxemasini yonma-yon chizing. Tipik xato: ko‘r yarani yalama bilan aralashtirish; bitta o‘q uchun doim bitta kirish va bitta chiqish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Doskada: hoshiyalarni ikki halqa shaklida chizing. Tipik xato: hoshiyalarni chiqish teshigiga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kesik konusning kichik asosi qaysi tomonga qaraydi? Tipik xato: yo‘nalishni teskari aytish.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kirishda ikki hoshiya bor, chiqishda yo‘q? 2) Qaysi belgi yaqin distansiyani ko‘rsatadi? Doskada jadvalni talabalar bilan birga chizing. Tipik xato: to‘qima defekti chiqishda hech qachon bo‘lmaydi deb o‘ylash; bilak, elka kabi yupqa sohalarda uchrashi mumkin.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2-3 talabadan javob oling. Muhokama: suyakdagi defekt shakli o‘q yo‘nalishini qanday ko‘rsatadi? Doskada kesik konus va naysimon suyak sxemasini chizdiring. Tipik xato: kirish va chiqish tomonidagi darzlar yo‘nalishini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Talabalarni juftlikka bo‘lib, javobni jadval 4.3 asosida asoslashni so‘rang. Muhokama: 1) Teri belgilari va suyak belgilari mos kelmasa nima qilinadi? 2) Yara kanali yo‘nalishi nima uchun muhim? Doskada ikki teshik va suyak kesimini chizdiring. Tipik xato: faqat teshik shakliga qarab xulosa chiqarish, hoshiyalar va suyak defektini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sochmali otishda yaqin distansiya uzunroq? Kompakt va tarqalma ta’sirni qanday farqlaymiz? Doskada: masofa bo‘yicha sochmalar tarqalish sxemasini chizdiring. Tipik xato: ‘distansiya’ va ‘masofa’ tushunchalarini aralashtirish; masofa – stvol uchi va nishon orasidagi uzunlik, distansiya – belgilar majmui.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pnevmatik qurol jarohati yaqin bo‘lmagan distansiyadagi otishga o‘xshaydi? Gaz qurolidan zararlanishda sud-kimyoviy tekshiruv nimaga kerak? Doskada: jadvalni daftarga ko‘chirib, har qurol uchun bittadan ayirib turuvchi belgi yozdiring. Tipik xato: pnevmatik qurolda ham porox gazlari ta’siri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qurol turini aniqlashda stvol uchi bosma izi (shtansmarka) qanday yordam beradi? Masofani nega faqat eksperiment bilan aniqlaymiz? Doskada: ekspertiza savollarining 8 ta bandini ketma-ket ro‘yxat qilib yozdiring. Tipik xato: masofani faqat jarohat ko‘rinishiga qarab aniq aytish mumkin deb hisoblash. Diqqat: distansiya ≠ masofa.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Ketma-ketlikni qaysi belgilar ko‘rsatadi (qon quyilish, qurum va metall ko‘pligi, moy kamligi, darz chiziqlari kesishmasligi)? 2) Shifokor nega kirish va chiqish teshigini hujjatga to‘liq yozishi kerak? Doskada: jadvalni chizing, har usulga bitta misol qo‘shing. Tipik xato: moy zarralarini keyingi jarohatda ko‘p deb o‘ylash; aslida dastlabkida ko‘proq, qurum va metall esa keyingisida ko‘proq.</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nega porox patronda detonatsiyalanmasdan yonadi? (tarqatuvchi modda). Tipik xato: yonish va detonatsiyani tezlik bo‘yicha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Doskada: uch guruhni «qaysi qurolda uchraydi» ustuni bilan to‘ldiring. Tipik xato: poroxni brizant modda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moslama bo‘laklari bilan ikkilamchi snaryadlar jarohati farqi. Tipik xato: baroakustik travmani faqat quloqqa bog‘lash.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Detonatsiya va yonish qanday farqlanadi? 2) Zarb to‘lqini tananing qaysi tomonida qanday jarohat beradi? Doskada: beshta omilni chizib, har biriga ta’sir turini (mexanik, termik, kimyoviy, baroakustik) o‘qlar bilan bog‘lang. Tipik xato: poroxni detonatsiyaga uchraydi deb o‘ylash; u tarqatuvchi modda bo‘lib, yonish yo‘li bilan parchalanadi. Diqqat: detonatsiya ≠ yonish.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Masofa oshganda qaysi omillar yo‘qoladi? 2) Bug‘ qozoni va gaz ballonidagi jarohat nimasi bilan farqlanadi? Doskada: portlash markazidan uzoqlashuvchi to‘rt zonani chizib, omillarni joylashtiring. Tipik xato: distansiyalarga aniq santimetr berish; kitobda ular zaryad va moslamaga bog‘liq deyilgan, aniq raqam yo‘q.</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Qaysi omillar yaqin va yaqin bo‘lmagan distansiyada asosiy bo‘ladi? 2) Nega vrach yot jismlarni tezda topshirishi kerak? Doskada to‘rtta distansiya va ularning shikastlovchi omillarini chizdiring. Tipik xato: talabalar distansiyani aniq metrga tenglashtiradi, aslida masofa zaryad quvvatiga bog‘liq.</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Distansiya va masofa farqini o‘z so‘zingiz bilan ayting. 2) Kirish va chiqish teshigini qaysi belgilar bilan ajratasiz? Doskada kirish va chiqish teshigi belgilarini ikki ustunda yozdiring. Tipik xato: distansiya va masofani bir tushuncha deb olish. Yakunda bobning nazorat savollaridan 3-4 tasini og‘zaki so‘rang.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O‘q otar qurollardan yetkazilgan jarohatlar.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o‘q otar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jarohatlar sud-tibbiy amaliyotda o‘tmas va o‘tkir jismlardan yetkazilgan mexanik jarohatlarga nisbatan kamroq uchraydi.</a:t>
            </a:r>
          </a:p>
          <a:p>
            <a:pPr>
              <a:spcAft>
                <a:spcPts val="1200"/>
              </a:spcAft>
            </a:pPr>
            <a:r>
              <a:rPr sz="2200">
                <a:solidFill>
                  <a:srgbClr val="1F2937"/>
                </a:solidFill>
                <a:latin typeface="Calibri"/>
              </a:rPr>
              <a:t>▸  Shunga qaramay, huquqni muhofaza etuvchi idoralar bunday hodisalarga alohida e’tibor beradi va atroflicha tekshiruv o‘tkazadi.</a:t>
            </a:r>
          </a:p>
          <a:p>
            <a:pPr>
              <a:spcAft>
                <a:spcPts val="1200"/>
              </a:spcAft>
            </a:pPr>
            <a:r>
              <a:rPr sz="2200">
                <a:solidFill>
                  <a:srgbClr val="1F2937"/>
                </a:solidFill>
                <a:latin typeface="Calibri"/>
              </a:rPr>
              <a:t>▸  Reja: qurol va patron tuzilishi, shikastlovchi omillar, otish distansiyasi, kirish va chiqish teshiklari, portlash travmasi.</a:t>
            </a:r>
          </a:p>
          <a:p>
            <a:pPr>
              <a:spcAft>
                <a:spcPts val="1200"/>
              </a:spcAft>
            </a:pPr>
            <a:r>
              <a:rPr sz="2200">
                <a:solidFill>
                  <a:srgbClr val="1F2937"/>
                </a:solidFill>
                <a:latin typeface="Calibri"/>
              </a:rPr>
              <a:t>▸  Mashg‘ulot maqsadi: jarohat belgilariga qarab qurol, distansiya va yara kanali yo‘nalishi haqida xulosa qilishni o‘rganish.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80-102, 96-97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 tushunchasi va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Bunday qurolda shikastlovchi omil porox gazlari energiyasi hisobiga harakatga keladi; undan yetkazilgan shikast o‘q otar jarohat deyiladi.</a:t>
            </a:r>
          </a:p>
          <a:p>
            <a:pPr>
              <a:spcAft>
                <a:spcPts val="1200"/>
              </a:spcAft>
            </a:pPr>
            <a:r>
              <a:rPr sz="2200">
                <a:solidFill>
                  <a:srgbClr val="1F2937"/>
                </a:solidFill>
                <a:latin typeface="Calibri"/>
              </a:rPr>
              <a:t>▸  Snaryad nisbatan kichik massali, lekin katta tezlikli bo‘ladi; jarohat katta masofadan ham yetkazilishi mumkin.</a:t>
            </a:r>
          </a:p>
          <a:p>
            <a:pPr>
              <a:spcAft>
                <a:spcPts val="1200"/>
              </a:spcAft>
            </a:pPr>
            <a:r>
              <a:rPr sz="2200">
                <a:solidFill>
                  <a:srgbClr val="1F2937"/>
                </a:solidFill>
                <a:latin typeface="Calibri"/>
              </a:rPr>
              <a:t>▸  Mexanik omildan tashqari termik, kimyoviy va boshqa turdagi ta’sirlar ham kuzatiladi.</a:t>
            </a:r>
          </a:p>
          <a:p>
            <a:pPr>
              <a:spcAft>
                <a:spcPts val="1200"/>
              </a:spcAft>
            </a:pPr>
            <a:r>
              <a:rPr sz="2200">
                <a:solidFill>
                  <a:srgbClr val="1F2937"/>
                </a:solidFill>
                <a:latin typeface="Calibri"/>
              </a:rPr>
              <a:t>▸  Bu o‘ziga xoslik qurol va aslahalar tuzilishi bilan bog‘liq, shuning uchun o‘tmas va o‘tkir jismlardan jarohatdan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Jarohatlarning ikki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 tibbiyotida bu shikastlar shartli ravishda ikki guruhga bo‘linadi.</a:t>
            </a:r>
          </a:p>
          <a:p>
            <a:pPr>
              <a:spcAft>
                <a:spcPts val="800"/>
              </a:spcAft>
            </a:pPr>
            <a:r>
              <a:rPr sz="1800">
                <a:solidFill>
                  <a:srgbClr val="1F2937"/>
                </a:solidFill>
                <a:latin typeface="Calibri"/>
              </a:rPr>
              <a:t>▸  Snaryad, mina, granata portlashidagi jarohatlar asosan jang harakatlari sharoitida kuzatiladi.</a:t>
            </a:r>
          </a:p>
          <a:p>
            <a:pPr>
              <a:spcAft>
                <a:spcPts val="800"/>
              </a:spcAft>
            </a:pPr>
            <a:r>
              <a:rPr sz="1800">
                <a:solidFill>
                  <a:srgbClr val="1F2937"/>
                </a:solidFill>
                <a:latin typeface="Calibri"/>
              </a:rPr>
              <a:t>▸  Tinchlik davrida ekspertiza uchun o‘q otar qurol va portlash jarohatlari ahamiyatli.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O‘q otar jarohat</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O‘q otar qurol (porox gazlari)</a:t>
            </a:r>
          </a:p>
          <a:p>
            <a:pPr algn="l">
              <a:spcAft>
                <a:spcPts val="700"/>
              </a:spcAft>
            </a:pPr>
            <a:r>
              <a:rPr sz="1500" b="1">
                <a:solidFill>
                  <a:srgbClr val="C9A227"/>
                </a:solidFill>
                <a:latin typeface="Calibri"/>
              </a:rPr>
              <a:t>●  </a:t>
            </a:r>
            <a:r>
              <a:rPr sz="1500" b="0">
                <a:solidFill>
                  <a:srgbClr val="1F2937"/>
                </a:solidFill>
                <a:latin typeface="Calibri"/>
              </a:rPr>
              <a:t>Tinchlik davrida ham muhim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Portlash travmasi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Snaryad, mina, granata, portlovchi modda</a:t>
            </a:r>
          </a:p>
          <a:p>
            <a:pPr algn="l">
              <a:spcAft>
                <a:spcPts val="700"/>
              </a:spcAft>
            </a:pPr>
            <a:r>
              <a:rPr sz="1500" b="1">
                <a:solidFill>
                  <a:srgbClr val="C9A227"/>
                </a:solidFill>
                <a:latin typeface="Calibri"/>
              </a:rPr>
              <a:t>●  </a:t>
            </a:r>
            <a:r>
              <a:rPr sz="1500" b="0">
                <a:solidFill>
                  <a:srgbClr val="1F2937"/>
                </a:solidFill>
                <a:latin typeface="Calibri"/>
              </a:rPr>
              <a:t>Jangda ko‘p, tinchlikda ham muhim</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guruh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Maqsad bo‘yicha jangovor, ov, sport, gaz va maxsus o‘q otar qurollar farqlanadi.</a:t>
            </a:r>
          </a:p>
          <a:p>
            <a:pPr>
              <a:spcAft>
                <a:spcPts val="800"/>
              </a:spcAft>
            </a:pPr>
            <a:r>
              <a:rPr sz="1800">
                <a:solidFill>
                  <a:srgbClr val="1F2937"/>
                </a:solidFill>
                <a:latin typeface="Calibri"/>
              </a:rPr>
              <a:t>▸  Tipik qurol maxsus ishlab chiqarishda tayyorlanadi; atipik qurol qo‘lbola yoki o‘zgartirilgan bo‘ladi.</a:t>
            </a:r>
          </a:p>
          <a:p>
            <a:pPr>
              <a:spcAft>
                <a:spcPts val="800"/>
              </a:spcAft>
            </a:pPr>
            <a:r>
              <a:rPr sz="1800">
                <a:solidFill>
                  <a:srgbClr val="1F2937"/>
                </a:solidFill>
                <a:latin typeface="Calibri"/>
              </a:rPr>
              <a:t>▸  Individual: miltiq, avtomat, pistolet; guruhiy: pulemet. Artillerik qurol alohida guruh.</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O‘q otar qurollar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Tipik</a:t>
            </a:r>
          </a:p>
          <a:p>
            <a:pPr algn="l">
              <a:spcAft>
                <a:spcPts val="0"/>
              </a:spcAft>
            </a:pPr>
            <a:r>
              <a:rPr sz="1200" b="0">
                <a:solidFill>
                  <a:srgbClr val="1F2937"/>
                </a:solidFill>
                <a:latin typeface="Calibri"/>
              </a:rPr>
              <a:t>Maxsus sharoitda zavodda tayyorlangan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Atipik</a:t>
            </a:r>
          </a:p>
          <a:p>
            <a:pPr algn="l">
              <a:spcAft>
                <a:spcPts val="0"/>
              </a:spcAft>
            </a:pPr>
            <a:r>
              <a:rPr sz="1200" b="0">
                <a:solidFill>
                  <a:srgbClr val="1F2937"/>
                </a:solidFill>
                <a:latin typeface="Calibri"/>
              </a:rPr>
              <a:t>Qo‘lbola yoki o‘zgartirilgan  ·  Kalta stvolli miltiq</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Maqsad bo‘yicha</a:t>
            </a:r>
          </a:p>
          <a:p>
            <a:pPr algn="l">
              <a:spcAft>
                <a:spcPts val="0"/>
              </a:spcAft>
            </a:pPr>
            <a:r>
              <a:rPr sz="1200" b="0">
                <a:solidFill>
                  <a:srgbClr val="1F2937"/>
                </a:solidFill>
                <a:latin typeface="Calibri"/>
              </a:rPr>
              <a:t>Jangovor, ov, sport  ·  Gaz va maxsus</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Xususan o‘q otar</a:t>
            </a:r>
          </a:p>
          <a:p>
            <a:pPr algn="l">
              <a:spcAft>
                <a:spcPts val="0"/>
              </a:spcAft>
            </a:pPr>
            <a:r>
              <a:rPr sz="1200" b="0">
                <a:solidFill>
                  <a:srgbClr val="1F2937"/>
                </a:solidFill>
                <a:latin typeface="Calibri"/>
              </a:rPr>
              <a:t>Individual: miltiq, avtomat, pistolet  ·  Guruhiy: pulemet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Qurollar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Stvol, o‘yiqlar va kalibr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yuzasi bo‘yicha silliq va o‘yiqli stvol bor; jangovor stvolda 4-6 vintsimon o‘yiq bo‘ladi.</a:t>
            </a:r>
          </a:p>
          <a:p>
            <a:pPr>
              <a:spcAft>
                <a:spcPts val="800"/>
              </a:spcAft>
            </a:pPr>
            <a:r>
              <a:rPr sz="1800">
                <a:solidFill>
                  <a:srgbClr val="1F2937"/>
                </a:solidFill>
                <a:latin typeface="Calibri"/>
              </a:rPr>
              <a:t>▸  O‘yiqlar o‘qqa aylanma harakat beradi, natijada o‘q tezroq, uzoqroq va aniqroq uchadi.</a:t>
            </a:r>
          </a:p>
          <a:p>
            <a:pPr>
              <a:spcAft>
                <a:spcPts val="800"/>
              </a:spcAft>
            </a:pPr>
            <a:r>
              <a:rPr sz="1800">
                <a:solidFill>
                  <a:srgbClr val="1F2937"/>
                </a:solidFill>
                <a:latin typeface="Calibri"/>
              </a:rPr>
              <a:t>▸  Silliq ov stvolida kalibr 1 funt (453,6 g) qo‘rg‘oshindan chiqadigan sharlar soni bilan belgilanadi.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Turlari va misol</a:t>
                      </a:r>
                    </a:p>
                  </a:txBody>
                  <a:tcPr marL="73152" marR="73152" marT="36576" marB="36576">
                    <a:solidFill>
                      <a:srgbClr val="0B1F3A"/>
                    </a:solidFill>
                  </a:tcPr>
                </a:tc>
              </a:tr>
              <a:tr h="614476">
                <a:tc>
                  <a:txBody>
                    <a:bodyPr/>
                    <a:lstStyle/>
                    <a:p>
                      <a:r>
                        <a:rPr sz="1700" b="0">
                          <a:solidFill>
                            <a:srgbClr val="1F2937"/>
                          </a:solidFill>
                        </a:rPr>
                        <a:t>Uzun stvol</a:t>
                      </a:r>
                    </a:p>
                  </a:txBody>
                  <a:tcPr marL="73152" marR="73152" marT="36576" marB="36576">
                    <a:solidFill>
                      <a:srgbClr val="E8EEF6"/>
                    </a:solidFill>
                  </a:tcPr>
                </a:tc>
                <a:tc>
                  <a:txBody>
                    <a:bodyPr/>
                    <a:lstStyle/>
                    <a:p>
                      <a:r>
                        <a:rPr sz="1700" b="0">
                          <a:solidFill>
                            <a:srgbClr val="1F2937"/>
                          </a:solidFill>
                        </a:rPr>
                        <a:t>Miltiq, karabin</a:t>
                      </a:r>
                    </a:p>
                  </a:txBody>
                  <a:tcPr marL="73152" marR="73152" marT="36576" marB="36576">
                    <a:solidFill>
                      <a:srgbClr val="E8EEF6"/>
                    </a:solidFill>
                  </a:tcPr>
                </a:tc>
              </a:tr>
              <a:tr h="614476">
                <a:tc>
                  <a:txBody>
                    <a:bodyPr/>
                    <a:lstStyle/>
                    <a:p>
                      <a:r>
                        <a:rPr sz="1700" b="0">
                          <a:solidFill>
                            <a:srgbClr val="1F2937"/>
                          </a:solidFill>
                        </a:rPr>
                        <a:t>O‘rta stvol</a:t>
                      </a:r>
                    </a:p>
                  </a:txBody>
                  <a:tcPr marL="73152" marR="73152" marT="36576" marB="36576">
                    <a:solidFill>
                      <a:srgbClr val="FFFFFF"/>
                    </a:solidFill>
                  </a:tcPr>
                </a:tc>
                <a:tc>
                  <a:txBody>
                    <a:bodyPr/>
                    <a:lstStyle/>
                    <a:p>
                      <a:r>
                        <a:rPr sz="1700" b="0">
                          <a:solidFill>
                            <a:srgbClr val="1F2937"/>
                          </a:solidFill>
                        </a:rPr>
                        <a:t>Pistolet-pulemet</a:t>
                      </a:r>
                    </a:p>
                  </a:txBody>
                  <a:tcPr marL="73152" marR="73152" marT="36576" marB="36576">
                    <a:solidFill>
                      <a:srgbClr val="FFFFFF"/>
                    </a:solidFill>
                  </a:tcPr>
                </a:tc>
              </a:tr>
              <a:tr h="614476">
                <a:tc>
                  <a:txBody>
                    <a:bodyPr/>
                    <a:lstStyle/>
                    <a:p>
                      <a:r>
                        <a:rPr sz="1700" b="0">
                          <a:solidFill>
                            <a:srgbClr val="1F2937"/>
                          </a:solidFill>
                        </a:rPr>
                        <a:t>Kalta stvol</a:t>
                      </a:r>
                    </a:p>
                  </a:txBody>
                  <a:tcPr marL="73152" marR="73152" marT="36576" marB="36576">
                    <a:solidFill>
                      <a:srgbClr val="E8EEF6"/>
                    </a:solidFill>
                  </a:tcPr>
                </a:tc>
                <a:tc>
                  <a:txBody>
                    <a:bodyPr/>
                    <a:lstStyle/>
                    <a:p>
                      <a:r>
                        <a:rPr sz="1700" b="0">
                          <a:solidFill>
                            <a:srgbClr val="1F2937"/>
                          </a:solidFill>
                        </a:rPr>
                        <a:t>Pistolet, revolver</a:t>
                      </a:r>
                    </a:p>
                  </a:txBody>
                  <a:tcPr marL="73152" marR="73152" marT="36576" marB="36576">
                    <a:solidFill>
                      <a:srgbClr val="E8EEF6"/>
                    </a:solidFill>
                  </a:tcPr>
                </a:tc>
              </a:tr>
              <a:tr h="614476">
                <a:tc>
                  <a:txBody>
                    <a:bodyPr/>
                    <a:lstStyle/>
                    <a:p>
                      <a:r>
                        <a:rPr sz="1700" b="0">
                          <a:solidFill>
                            <a:srgbClr val="1F2937"/>
                          </a:solidFill>
                        </a:rPr>
                        <a:t>O‘yiqli kalibr</a:t>
                      </a:r>
                    </a:p>
                  </a:txBody>
                  <a:tcPr marL="73152" marR="73152" marT="36576" marB="36576">
                    <a:solidFill>
                      <a:srgbClr val="FFFFFF"/>
                    </a:solidFill>
                  </a:tcPr>
                </a:tc>
                <a:tc>
                  <a:txBody>
                    <a:bodyPr/>
                    <a:lstStyle/>
                    <a:p>
                      <a:r>
                        <a:rPr sz="1700" b="0">
                          <a:solidFill>
                            <a:srgbClr val="1F2937"/>
                          </a:solidFill>
                        </a:rPr>
                        <a:t>6 mm gacha; 7-9 mm; 10 mm va undan katta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Stvol va kalibr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 sport, gaz va maxsus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Ov qurollari silliq yoki o‘yiqli stvolli bo‘ladi. Silliq stvolli ov qurollari sochma bilan otishga mo‘ljallangan, ular 1 tadan 4 tagacha stvolli.</a:t>
            </a:r>
          </a:p>
          <a:p>
            <a:pPr>
              <a:spcAft>
                <a:spcPts val="1200"/>
              </a:spcAft>
            </a:pPr>
            <a:r>
              <a:rPr sz="2200">
                <a:solidFill>
                  <a:srgbClr val="1F2937"/>
                </a:solidFill>
                <a:latin typeface="Calibri"/>
              </a:rPr>
              <a:t>▸  Silliq ov qurollari kalibri 10 dan 32 gacha; 12 va 16 ko‘proq tarqalgan. Ba’zilarida silliq va o‘yiqli stvol bor, o‘q va sochma bilan otiladi.</a:t>
            </a:r>
          </a:p>
          <a:p>
            <a:pPr>
              <a:spcAft>
                <a:spcPts val="1200"/>
              </a:spcAft>
            </a:pPr>
            <a:r>
              <a:rPr sz="2200">
                <a:solidFill>
                  <a:srgbClr val="1F2937"/>
                </a:solidFill>
                <a:latin typeface="Calibri"/>
              </a:rPr>
              <a:t>▸  Sport qurollari tuzilishi jihatidan jangovorlardan deyarli farq qilmaydi; stvoli odatda mayda kalibrli (5,6 mm) va o‘yiqli bo‘ladi.</a:t>
            </a:r>
          </a:p>
          <a:p>
            <a:pPr>
              <a:spcAft>
                <a:spcPts val="1200"/>
              </a:spcAft>
            </a:pPr>
            <a:r>
              <a:rPr sz="2200">
                <a:solidFill>
                  <a:srgbClr val="1F2937"/>
                </a:solidFill>
                <a:latin typeface="Calibri"/>
              </a:rPr>
              <a:t>▸  Maxsus o‘q otar qurollar ham porox gazlari energiyasidan foydalanadi: start, signal va qurilish-montaj pistoletlari shu guruhga kiradi.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81,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qurollar tayyorlanish va qo‘llanish maqsadiga ko‘ra qanday guruhlanadi? Javob: jangovor, ov, sport, gaz va maxsus o‘q otar qurollar.</a:t>
            </a:r>
          </a:p>
          <a:p>
            <a:pPr>
              <a:spcAft>
                <a:spcPts val="1200"/>
              </a:spcAft>
            </a:pPr>
            <a:r>
              <a:rPr sz="2200">
                <a:solidFill>
                  <a:srgbClr val="1F2937"/>
                </a:solidFill>
                <a:latin typeface="Calibri"/>
              </a:rPr>
              <a:t>▸  Savol: stvol uzunligiga ko‘ra qurollar qanday farqlanadi? Javob: uzun (miltiq, karabin), o‘rta (pistolet-pulemet), kalta (pistolet, revolver).</a:t>
            </a:r>
          </a:p>
          <a:p>
            <a:pPr>
              <a:spcAft>
                <a:spcPts val="1200"/>
              </a:spcAft>
            </a:pPr>
            <a:r>
              <a:rPr sz="2200">
                <a:solidFill>
                  <a:srgbClr val="1F2937"/>
                </a:solidFill>
                <a:latin typeface="Calibri"/>
              </a:rPr>
              <a:t>▸  Savol: o‘yiqli stvol kalibri nima? Javob: qarama-qarshi o‘yiqlararo yuzalar orasidagi masofa (mm). Mayda 6 mm gacha, o‘rta 7-9 mm, yirik 10 mm+.</a:t>
            </a:r>
          </a:p>
          <a:p>
            <a:pPr>
              <a:spcAft>
                <a:spcPts val="1200"/>
              </a:spcAft>
            </a:pPr>
            <a:r>
              <a:rPr sz="2200">
                <a:solidFill>
                  <a:srgbClr val="1F2937"/>
                </a:solidFill>
                <a:latin typeface="Calibri"/>
              </a:rPr>
              <a:t>▸  Diqqat: silliq stvolli ov qurolida kalibr soni qancha katta bo‘lsa, sochma va stvol kanalining diametri shuncha kichik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Jangovar patronning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Unitar patronda snaryad (o‘q), porox zaryadi va kapsyul bir butun holda gilza ichiga joylangan.</a:t>
            </a:r>
          </a:p>
          <a:p>
            <a:pPr>
              <a:spcAft>
                <a:spcPts val="800"/>
              </a:spcAft>
            </a:pPr>
            <a:r>
              <a:rPr sz="1800">
                <a:solidFill>
                  <a:srgbClr val="1F2937"/>
                </a:solidFill>
                <a:latin typeface="Calibri"/>
              </a:rPr>
              <a:t>▸  Kapsyul tarkibi: qo‘rg‘oshin stifnat (boshlovchi), antimoniy (yonilg‘i), bertole tuzi (oksidlovchi).</a:t>
            </a:r>
          </a:p>
          <a:p>
            <a:pPr>
              <a:spcAft>
                <a:spcPts val="800"/>
              </a:spcAft>
            </a:pPr>
            <a:r>
              <a:rPr sz="1800">
                <a:solidFill>
                  <a:srgbClr val="1F2937"/>
                </a:solidFill>
                <a:latin typeface="Calibri"/>
              </a:rPr>
              <a:t>▸  Uzun stvolli qurol o‘qining uchi biroz o‘tkir; kalta stvolli qurolda uchi dumaloq yoki kesik konus shaklida.</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Tepki</a:t>
            </a:r>
          </a:p>
          <a:p>
            <a:pPr algn="l">
              <a:spcAft>
                <a:spcPts val="200"/>
              </a:spcAft>
            </a:pPr>
            <a:r>
              <a:rPr sz="1400" b="0">
                <a:solidFill>
                  <a:srgbClr val="1F2937"/>
                </a:solidFill>
                <a:latin typeface="Calibri"/>
              </a:rPr>
              <a:t>Tepki kapsyulga uradi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Kapsyul</a:t>
            </a:r>
          </a:p>
          <a:p>
            <a:pPr algn="l">
              <a:spcAft>
                <a:spcPts val="200"/>
              </a:spcAft>
            </a:pPr>
            <a:r>
              <a:rPr sz="1400" b="0">
                <a:solidFill>
                  <a:srgbClr val="1F2937"/>
                </a:solidFill>
                <a:latin typeface="Calibri"/>
              </a:rPr>
              <a:t>Kapsyul poroxni yondiradi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Gazlar</a:t>
            </a:r>
          </a:p>
          <a:p>
            <a:pPr algn="l">
              <a:spcAft>
                <a:spcPts val="200"/>
              </a:spcAft>
            </a:pPr>
            <a:r>
              <a:rPr sz="1400" b="0">
                <a:solidFill>
                  <a:srgbClr val="1F2937"/>
                </a:solidFill>
                <a:latin typeface="Calibri"/>
              </a:rPr>
              <a:t>Porox gazlari bosim hosil qiladi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Snaryad</a:t>
            </a:r>
          </a:p>
          <a:p>
            <a:pPr algn="l">
              <a:spcAft>
                <a:spcPts val="200"/>
              </a:spcAft>
            </a:pPr>
            <a:r>
              <a:rPr sz="1400" b="0">
                <a:solidFill>
                  <a:srgbClr val="1F2937"/>
                </a:solidFill>
                <a:latin typeface="Calibri"/>
              </a:rPr>
              <a:t>Snaryad stvoldan chiqadi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Otish zanjiri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Porox va maxsus o‘qlar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Tutunsiz porox kuchliroq energiya beradi, shuning uchun o‘q uzoq nishonni yaxshiroq shikastlaydi.</a:t>
            </a:r>
          </a:p>
          <a:p>
            <a:pPr>
              <a:spcAft>
                <a:spcPts val="800"/>
              </a:spcAft>
            </a:pPr>
            <a:r>
              <a:rPr sz="1800">
                <a:solidFill>
                  <a:srgbClr val="1F2937"/>
                </a:solidFill>
                <a:latin typeface="Calibri"/>
              </a:rPr>
              <a:t>▸  Zirxteshar o‘q asosi maxsus po‘latdan; yondiruvchida fosfor, iz qoldiruvchida bariy, magniy birikmalari bor.</a:t>
            </a:r>
          </a:p>
          <a:p>
            <a:pPr>
              <a:spcAft>
                <a:spcPts val="800"/>
              </a:spcAft>
            </a:pPr>
            <a:r>
              <a:rPr sz="1800">
                <a:solidFill>
                  <a:srgbClr val="1F2937"/>
                </a:solidFill>
                <a:latin typeface="Calibri"/>
              </a:rPr>
              <a:t>▸  Yorma o‘q nishonda mayda qismlarga bo‘linadi; xalqaro bitimlar uni jangovar harakatda taqiqlaydi.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Tutunsiz porox</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 nitrotsellyuloza</a:t>
            </a:r>
          </a:p>
          <a:p>
            <a:pPr algn="l">
              <a:spcAft>
                <a:spcPts val="700"/>
              </a:spcAft>
            </a:pPr>
            <a:r>
              <a:rPr sz="1500" b="1">
                <a:solidFill>
                  <a:srgbClr val="C9A227"/>
                </a:solidFill>
                <a:latin typeface="Calibri"/>
              </a:rPr>
              <a:t>●  </a:t>
            </a:r>
            <a:r>
              <a:rPr sz="1500" b="0">
                <a:solidFill>
                  <a:srgbClr val="1F2937"/>
                </a:solidFill>
                <a:latin typeface="Calibri"/>
              </a:rPr>
              <a:t>1 g yonganda qora poroxdan 3 barobar ko‘p gaz</a:t>
            </a:r>
          </a:p>
          <a:p>
            <a:pPr algn="l">
              <a:spcAft>
                <a:spcPts val="700"/>
              </a:spcAft>
            </a:pPr>
            <a:r>
              <a:rPr sz="1500" b="1">
                <a:solidFill>
                  <a:srgbClr val="C9A227"/>
                </a:solidFill>
                <a:latin typeface="Calibri"/>
              </a:rPr>
              <a:t>●  </a:t>
            </a:r>
            <a:r>
              <a:rPr sz="1500" b="0">
                <a:solidFill>
                  <a:srgbClr val="1F2937"/>
                </a:solidFill>
                <a:latin typeface="Calibri"/>
              </a:rPr>
              <a:t>Jangovor va sport qurollari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Qora porox</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Kaliy selitrasi, pista ko‘mir, oltingugurt</a:t>
            </a:r>
          </a:p>
          <a:p>
            <a:pPr algn="l">
              <a:spcAft>
                <a:spcPts val="700"/>
              </a:spcAft>
            </a:pPr>
            <a:r>
              <a:rPr sz="1500" b="1">
                <a:solidFill>
                  <a:srgbClr val="C9A227"/>
                </a:solidFill>
                <a:latin typeface="Calibri"/>
              </a:rPr>
              <a:t>●  </a:t>
            </a:r>
            <a:r>
              <a:rPr sz="1500" b="0">
                <a:solidFill>
                  <a:srgbClr val="1F2937"/>
                </a:solidFill>
                <a:latin typeface="Calibri"/>
              </a:rPr>
              <a:t>1 g yonganda taxminan 300 kub. sm gaz</a:t>
            </a:r>
          </a:p>
          <a:p>
            <a:pPr algn="l">
              <a:spcAft>
                <a:spcPts val="700"/>
              </a:spcAft>
            </a:pPr>
            <a:r>
              <a:rPr sz="1500" b="1">
                <a:solidFill>
                  <a:srgbClr val="C9A227"/>
                </a:solidFill>
                <a:latin typeface="Calibri"/>
              </a:rPr>
              <a:t>●  </a:t>
            </a:r>
            <a:r>
              <a:rPr sz="1500" b="0">
                <a:solidFill>
                  <a:srgbClr val="1F2937"/>
                </a:solidFill>
                <a:latin typeface="Calibri"/>
              </a:rPr>
              <a:t>Ov qurollari, signal pistoletlari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Porox turlari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Gilza latun, plastmassa yoki kartondan yasaladi; porox kigiz, karton yoki plastmassa tiqin bilan yopiladi.</a:t>
            </a:r>
          </a:p>
          <a:p>
            <a:pPr>
              <a:spcAft>
                <a:spcPts val="800"/>
              </a:spcAft>
            </a:pPr>
            <a:r>
              <a:rPr sz="1800">
                <a:solidFill>
                  <a:srgbClr val="1F2937"/>
                </a:solidFill>
                <a:latin typeface="Calibri"/>
              </a:rPr>
              <a:t>▸  Sochma — diametri 1 dan 5,5 mm gacha bo‘lgan sharcha; undan kattasi katta sochma (kartech) deyiladi.</a:t>
            </a:r>
          </a:p>
          <a:p>
            <a:pPr>
              <a:spcAft>
                <a:spcPts val="800"/>
              </a:spcAft>
            </a:pPr>
            <a:r>
              <a:rPr sz="1800">
                <a:solidFill>
                  <a:srgbClr val="1F2937"/>
                </a:solidFill>
                <a:latin typeface="Calibri"/>
              </a:rPr>
              <a:t>▸  Silliq stvolli qurolning o‘qli patronida diametri 10 mm dan katta sharsimon o‘q, Yakan yoki Brenneke o‘qi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Gilza + kapsyul</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zaryadi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Karton/kigiz tiqin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Sochma (1–5,5 mm)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Sochma tiqini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Sochmali patron qatlamlari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qurol va patron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joyidan stvoli va qo‘ndog‘i kalta qilingan miltiq topildi. Bunday qurol tipik emas, atipik hisoblanadi.</a:t>
            </a:r>
          </a:p>
          <a:p>
            <a:pPr>
              <a:spcAft>
                <a:spcPts val="1200"/>
              </a:spcAft>
            </a:pPr>
            <a:r>
              <a:rPr sz="2200">
                <a:solidFill>
                  <a:srgbClr val="1F2937"/>
                </a:solidFill>
                <a:latin typeface="Calibri"/>
              </a:rPr>
              <a:t>▸  Patron gilzasi kartondan, ichida porox, tiqinlar va diametri 6 mm li sharchalar bor. Bu sochmali patron tuzilishiga mos keladi.</a:t>
            </a:r>
          </a:p>
          <a:p>
            <a:pPr>
              <a:spcAft>
                <a:spcPts val="1200"/>
              </a:spcAft>
            </a:pPr>
            <a:r>
              <a:rPr sz="2200">
                <a:solidFill>
                  <a:srgbClr val="1F2937"/>
                </a:solidFill>
                <a:latin typeface="Calibri"/>
              </a:rPr>
              <a:t>▸  Savol: sharchalar sochmami yoki kartechmi? Bunday patron qanday stvolli ov qurolida ishlatiladi: silliqmi yoki o‘yiqlimi?</a:t>
            </a:r>
          </a:p>
          <a:p>
            <a:pPr>
              <a:spcAft>
                <a:spcPts val="1200"/>
              </a:spcAft>
            </a:pPr>
            <a:r>
              <a:rPr sz="2200">
                <a:solidFill>
                  <a:srgbClr val="1F2937"/>
                </a:solidFill>
                <a:latin typeface="Calibri"/>
              </a:rPr>
              <a:t>▸  Diqqat: xato qilish xavfi — sochma (1–5,5 mm) ≠ katta sochma (kartech); kartech sochmadan kattaroq sharcha.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Poroxning yonishi 0,01–0,001 sek da katta gaz bosimini hosil qiladi va snaryadni stvoldan otib chiqaradi.</a:t>
            </a:r>
          </a:p>
          <a:p>
            <a:pPr>
              <a:spcAft>
                <a:spcPts val="800"/>
              </a:spcAft>
            </a:pPr>
            <a:r>
              <a:rPr sz="1800">
                <a:solidFill>
                  <a:srgbClr val="1F2937"/>
                </a:solidFill>
                <a:latin typeface="Calibri"/>
              </a:rPr>
              <a:t>▸  Ta’sir turlari: mexanik, termik, kimyoviy va murakkab; omillarning ko‘pi mexanik ta’sir qiladi.</a:t>
            </a:r>
          </a:p>
          <a:p>
            <a:pPr>
              <a:spcAft>
                <a:spcPts val="800"/>
              </a:spcAft>
            </a:pPr>
            <a:r>
              <a:rPr sz="1800">
                <a:solidFill>
                  <a:srgbClr val="1F2937"/>
                </a:solidFill>
                <a:latin typeface="Calibri"/>
              </a:rPr>
              <a:t>▸  Qo‘shimcha omillar ta’siri qurol va patron tuzilishiga, oldingi otishlarga va to‘siqlarga bog‘liq.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O‘q otish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Asosiy snaryad</a:t>
            </a:r>
          </a:p>
          <a:p>
            <a:pPr algn="l">
              <a:spcAft>
                <a:spcPts val="0"/>
              </a:spcAft>
            </a:pPr>
            <a:r>
              <a:rPr sz="1200" b="0">
                <a:solidFill>
                  <a:srgbClr val="1F2937"/>
                </a:solidFill>
                <a:latin typeface="Calibri"/>
              </a:rPr>
              <a:t>O‘q, sochmalar va ularning qismlari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Qo‘shimcha omillar</a:t>
            </a:r>
          </a:p>
          <a:p>
            <a:pPr algn="l">
              <a:spcAft>
                <a:spcPts val="0"/>
              </a:spcAft>
            </a:pPr>
            <a:r>
              <a:rPr sz="1200" b="0">
                <a:solidFill>
                  <a:srgbClr val="1F2937"/>
                </a:solidFill>
                <a:latin typeface="Calibri"/>
              </a:rPr>
              <a:t>O‘q oldi havo, alanga, gaz  ·  Qurum, porox</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O‘q otar qurol</a:t>
            </a:r>
          </a:p>
          <a:p>
            <a:pPr algn="l">
              <a:spcAft>
                <a:spcPts val="0"/>
              </a:spcAft>
            </a:pPr>
            <a:r>
              <a:rPr sz="1200" b="0">
                <a:solidFill>
                  <a:srgbClr val="1F2937"/>
                </a:solidFill>
                <a:latin typeface="Calibri"/>
              </a:rPr>
              <a:t>Orqaga harakat  ·  Stvol yorilishi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snaryad</a:t>
            </a:r>
          </a:p>
          <a:p>
            <a:pPr algn="l">
              <a:spcAft>
                <a:spcPts val="0"/>
              </a:spcAft>
            </a:pPr>
            <a:r>
              <a:rPr sz="1200" b="0">
                <a:solidFill>
                  <a:srgbClr val="1F2937"/>
                </a:solidFill>
                <a:latin typeface="Calibri"/>
              </a:rPr>
              <a:t>To‘siq, kiyim  ·  Suyak bo‘laklari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Shikastlovchi omillar guruhi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Porox gazlari bosimi va snaryad tezligi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Porox 0,01–0,001 sek ichida yonib, gaz bosimi hosil qiladi va snaryadni stvoldan chiqaradi.</a:t>
            </a:r>
          </a:p>
          <a:p>
            <a:pPr>
              <a:spcAft>
                <a:spcPts val="800"/>
              </a:spcAft>
            </a:pPr>
            <a:r>
              <a:rPr sz="1800">
                <a:solidFill>
                  <a:srgbClr val="1F2937"/>
                </a:solidFill>
                <a:latin typeface="Calibri"/>
              </a:rPr>
              <a:t>▸  Bosim stvol devorining barcha tomoniga ham ta’sir etadi, shu sabab qurol biroz orqaga siljiydi.</a:t>
            </a:r>
          </a:p>
          <a:p>
            <a:pPr>
              <a:spcAft>
                <a:spcPts val="800"/>
              </a:spcAft>
            </a:pPr>
            <a:r>
              <a:rPr sz="1800">
                <a:solidFill>
                  <a:srgbClr val="1F2937"/>
                </a:solidFill>
                <a:latin typeface="Calibri"/>
              </a:rPr>
              <a:t>▸  Ayniqsa qo‘lbola qurolda stvol yorilib, qurolni ushlagan shaxsga shikast yetishi mumkin.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Silliq stvol: bosim</a:t>
            </a:r>
          </a:p>
          <a:p>
            <a:pPr algn="l">
              <a:spcAft>
                <a:spcPts val="100"/>
              </a:spcAft>
            </a:pPr>
            <a:r>
              <a:rPr sz="3000" b="1">
                <a:solidFill>
                  <a:srgbClr val="0B1F3A"/>
                </a:solidFill>
                <a:latin typeface="Calibri"/>
              </a:rPr>
              <a:t>400–700</a:t>
            </a:r>
            <a:r>
              <a:rPr sz="1500" b="0">
                <a:solidFill>
                  <a:srgbClr val="6B7280"/>
                </a:solidFill>
                <a:latin typeface="Calibri"/>
              </a:rPr>
              <a:t>  atm</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Silliq stvol: tezlik</a:t>
            </a:r>
          </a:p>
          <a:p>
            <a:pPr algn="l">
              <a:spcAft>
                <a:spcPts val="100"/>
              </a:spcAft>
            </a:pPr>
            <a:r>
              <a:rPr sz="2900" b="1">
                <a:solidFill>
                  <a:srgbClr val="0B1F3A"/>
                </a:solidFill>
                <a:latin typeface="Calibri"/>
              </a:rPr>
              <a:t>500 gacha</a:t>
            </a:r>
            <a:r>
              <a:rPr sz="1400" b="0">
                <a:solidFill>
                  <a:srgbClr val="6B7280"/>
                </a:solidFill>
                <a:latin typeface="Calibri"/>
              </a:rPr>
              <a:t>  m/s</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O‘yiqli stvol: bosim</a:t>
            </a:r>
          </a:p>
          <a:p>
            <a:pPr algn="l">
              <a:spcAft>
                <a:spcPts val="100"/>
              </a:spcAft>
            </a:pPr>
            <a:r>
              <a:rPr sz="2900" b="1">
                <a:solidFill>
                  <a:srgbClr val="0B1F3A"/>
                </a:solidFill>
                <a:latin typeface="Calibri"/>
              </a:rPr>
              <a:t>2000–3000</a:t>
            </a:r>
            <a:r>
              <a:rPr sz="1400" b="0">
                <a:solidFill>
                  <a:srgbClr val="6B7280"/>
                </a:solidFill>
                <a:latin typeface="Calibri"/>
              </a:rPr>
              <a:t>  atm</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Makarov pistoleti</a:t>
            </a:r>
          </a:p>
          <a:p>
            <a:pPr algn="l">
              <a:spcAft>
                <a:spcPts val="100"/>
              </a:spcAft>
            </a:pPr>
            <a:r>
              <a:rPr sz="3000" b="1">
                <a:solidFill>
                  <a:srgbClr val="0B1F3A"/>
                </a:solidFill>
                <a:latin typeface="Calibri"/>
              </a:rPr>
              <a:t>315</a:t>
            </a:r>
            <a:r>
              <a:rPr sz="1500" b="0">
                <a:solidFill>
                  <a:srgbClr val="6B7280"/>
                </a:solidFill>
                <a:latin typeface="Calibri"/>
              </a:rPr>
              <a:t>  m/s</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AKM avtomati</a:t>
            </a:r>
          </a:p>
          <a:p>
            <a:pPr algn="l">
              <a:spcAft>
                <a:spcPts val="100"/>
              </a:spcAft>
            </a:pPr>
            <a:r>
              <a:rPr sz="3000" b="1">
                <a:solidFill>
                  <a:srgbClr val="0B1F3A"/>
                </a:solidFill>
                <a:latin typeface="Calibri"/>
              </a:rPr>
              <a:t>710</a:t>
            </a:r>
            <a:r>
              <a:rPr sz="1500" b="0">
                <a:solidFill>
                  <a:srgbClr val="6B7280"/>
                </a:solidFill>
                <a:latin typeface="Calibri"/>
              </a:rPr>
              <a:t>  m/s</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Gaz bosimi va snaryad tezligi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83,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ta’sir: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Pirogov 1849 yilda to‘qima defektini (minus-to‘qima) tasvirlab, uni “to‘qima o‘zligini yo‘qotishi” deb atagan.</a:t>
            </a:r>
          </a:p>
          <a:p>
            <a:pPr>
              <a:spcAft>
                <a:spcPts val="800"/>
              </a:spcAft>
            </a:pPr>
            <a:r>
              <a:rPr sz="1800">
                <a:solidFill>
                  <a:srgbClr val="1F2937"/>
                </a:solidFill>
                <a:latin typeface="Calibri"/>
              </a:rPr>
              <a:t>▸  Yorma ta’sir tirab otishda hamda maxsus yoki og‘irlik markazi siljigan o‘qlarda ham bo‘lishi mumkin.</a:t>
            </a:r>
          </a:p>
          <a:p>
            <a:pPr>
              <a:spcAft>
                <a:spcPts val="800"/>
              </a:spcAft>
            </a:pPr>
            <a:r>
              <a:rPr sz="1800">
                <a:solidFill>
                  <a:srgbClr val="1F2937"/>
                </a:solidFill>
                <a:latin typeface="Calibri"/>
              </a:rPr>
              <a:t>▸  O‘q oldi havo 3–5 sm, porox gazlari 10–15 sm masofada mexanik ta’sir ko‘rsatadi.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Yorma ta’sir</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Energiya: bir necha ming joul</a:t>
            </a:r>
          </a:p>
          <a:p>
            <a:pPr algn="l">
              <a:spcAft>
                <a:spcPts val="700"/>
              </a:spcAft>
            </a:pPr>
            <a:r>
              <a:rPr sz="1500" b="1">
                <a:solidFill>
                  <a:srgbClr val="C9A227"/>
                </a:solidFill>
                <a:latin typeface="Calibri"/>
              </a:rPr>
              <a:t>●  </a:t>
            </a:r>
            <a:r>
              <a:rPr sz="1500" b="0">
                <a:solidFill>
                  <a:srgbClr val="1F2937"/>
                </a:solidFill>
                <a:latin typeface="Calibri"/>
              </a:rPr>
              <a:t>Yara snaryaddan bir necha barobar katta</a:t>
            </a:r>
          </a:p>
          <a:p>
            <a:pPr algn="l">
              <a:spcAft>
                <a:spcPts val="700"/>
              </a:spcAft>
            </a:pPr>
            <a:r>
              <a:rPr sz="1500" b="1">
                <a:solidFill>
                  <a:srgbClr val="C9A227"/>
                </a:solidFill>
                <a:latin typeface="Calibri"/>
              </a:rPr>
              <a:t>●  </a:t>
            </a:r>
            <a:r>
              <a:rPr sz="1500" b="0">
                <a:solidFill>
                  <a:srgbClr val="1F2937"/>
                </a:solidFill>
                <a:latin typeface="Calibri"/>
              </a:rPr>
              <a:t>Chetlari notekis</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Yulma ta’sir</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Energiya: bir necha yuz joul</a:t>
            </a:r>
          </a:p>
          <a:p>
            <a:pPr algn="l">
              <a:spcAft>
                <a:spcPts val="700"/>
              </a:spcAft>
            </a:pPr>
            <a:r>
              <a:rPr sz="1500" b="1">
                <a:solidFill>
                  <a:srgbClr val="C9A227"/>
                </a:solidFill>
                <a:latin typeface="Calibri"/>
              </a:rPr>
              <a:t>●  </a:t>
            </a:r>
            <a:r>
              <a:rPr sz="1500" b="0">
                <a:solidFill>
                  <a:srgbClr val="1F2937"/>
                </a:solidFill>
                <a:latin typeface="Calibri"/>
              </a:rPr>
              <a:t>Defekt kichik</a:t>
            </a:r>
          </a:p>
          <a:p>
            <a:pPr algn="l">
              <a:spcAft>
                <a:spcPts val="700"/>
              </a:spcAft>
            </a:pPr>
            <a:r>
              <a:rPr sz="1500" b="1">
                <a:solidFill>
                  <a:srgbClr val="C9A227"/>
                </a:solidFill>
                <a:latin typeface="Calibri"/>
              </a:rPr>
              <a:t>●  </a:t>
            </a:r>
            <a:r>
              <a:rPr sz="1500" b="0">
                <a:solidFill>
                  <a:srgbClr val="1F2937"/>
                </a:solidFill>
                <a:latin typeface="Calibri"/>
              </a:rPr>
              <a:t>Chetlari tekis</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a:solidFill>
                  <a:srgbClr val="FFFFFF"/>
                </a:solidFill>
                <a:latin typeface="Calibri"/>
              </a:rPr>
              <a:t>Ponasimon ta’sir</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Energiya: bir necha o‘n joul</a:t>
            </a:r>
          </a:p>
          <a:p>
            <a:pPr algn="l">
              <a:spcAft>
                <a:spcPts val="700"/>
              </a:spcAft>
            </a:pPr>
            <a:r>
              <a:rPr sz="1500" b="1">
                <a:solidFill>
                  <a:srgbClr val="C9A227"/>
                </a:solidFill>
                <a:latin typeface="Calibri"/>
              </a:rPr>
              <a:t>●  </a:t>
            </a:r>
            <a:r>
              <a:rPr sz="1500" b="0">
                <a:solidFill>
                  <a:srgbClr val="1F2937"/>
                </a:solidFill>
                <a:latin typeface="Calibri"/>
              </a:rPr>
              <a:t>Yoriqsimon, yulduzsimon</a:t>
            </a:r>
          </a:p>
          <a:p>
            <a:pPr algn="l">
              <a:spcAft>
                <a:spcPts val="700"/>
              </a:spcAft>
            </a:pPr>
            <a:r>
              <a:rPr sz="1500" b="1">
                <a:solidFill>
                  <a:srgbClr val="C9A227"/>
                </a:solidFill>
                <a:latin typeface="Calibri"/>
              </a:rPr>
              <a:t>●  </a:t>
            </a:r>
            <a:r>
              <a:rPr sz="1500" b="0">
                <a:solidFill>
                  <a:srgbClr val="1F2937"/>
                </a:solidFill>
                <a:latin typeface="Calibri"/>
              </a:rPr>
              <a:t>To‘qima defekti yo‘q</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Energiyaga qarab ta’sir turi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va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otish alangasi to‘liq yonmagan porox zarralarining havo kislorodi bilan portlashidan hosil bo‘lib, 3–10 sm masofada ta’sir etadi.</a:t>
            </a:r>
          </a:p>
          <a:p>
            <a:pPr>
              <a:spcAft>
                <a:spcPts val="1200"/>
              </a:spcAft>
            </a:pPr>
            <a:r>
              <a:rPr sz="2200">
                <a:solidFill>
                  <a:srgbClr val="1F2937"/>
                </a:solidFill>
                <a:latin typeface="Calibri"/>
              </a:rPr>
              <a:t>▸  Alanga va porox gazlari kiyim, teri, sochni kuydiradi; kiyimning ikkilamchi alangalanishi ham termik jarohat beradi.</a:t>
            </a:r>
          </a:p>
          <a:p>
            <a:pPr>
              <a:spcAft>
                <a:spcPts val="1200"/>
              </a:spcAft>
            </a:pPr>
            <a:r>
              <a:rPr sz="2200">
                <a:solidFill>
                  <a:srgbClr val="1F2937"/>
                </a:solidFill>
                <a:latin typeface="Calibri"/>
              </a:rPr>
              <a:t>▸  Kirish teshigi atrofida qonda karboksigemoglobin, mushakda karboksimioglobin hosil bo‘lib, soha pushti tusga kiradi.</a:t>
            </a:r>
          </a:p>
          <a:p>
            <a:pPr>
              <a:spcAft>
                <a:spcPts val="1200"/>
              </a:spcAft>
            </a:pPr>
            <a:r>
              <a:rPr sz="2200">
                <a:solidFill>
                  <a:srgbClr val="1F2937"/>
                </a:solidFill>
                <a:latin typeface="Calibri"/>
              </a:rPr>
              <a:t>▸  Yondiruvchi va kimyoviy modda saqlovchi maxsus o‘qlar mos ravishda termik va kimyoviy shikast yetkazadi.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kirish teshigi atrofida qurum, porox va metall zarrachalari bor. Kuyish va porox gazi ta’siri belgilari yo‘q.</a:t>
            </a:r>
          </a:p>
          <a:p>
            <a:pPr>
              <a:spcAft>
                <a:spcPts val="1200"/>
              </a:spcAft>
            </a:pPr>
            <a:r>
              <a:rPr sz="2200">
                <a:solidFill>
                  <a:srgbClr val="1F2937"/>
                </a:solidFill>
                <a:latin typeface="Calibri"/>
              </a:rPr>
              <a:t>▸  Savol: bu holat yaqin distansiyaning qaysi zonasiga mos va qaysi qo‘shimcha omillar ta’sir qilgan?</a:t>
            </a:r>
          </a:p>
          <a:p>
            <a:pPr>
              <a:spcAft>
                <a:spcPts val="1200"/>
              </a:spcAft>
            </a:pPr>
            <a:r>
              <a:rPr sz="2200">
                <a:solidFill>
                  <a:srgbClr val="1F2937"/>
                </a:solidFill>
                <a:latin typeface="Calibri"/>
              </a:rPr>
              <a:t>▸  Javob: ikkinchi zona. Porox gazi belgisi yo‘q, teshik faqat o‘q ta’sirida hosil bo‘ladi; aksariyat jangovor qurolda 25–35 sm.</a:t>
            </a:r>
          </a:p>
          <a:p>
            <a:pPr>
              <a:spcAft>
                <a:spcPts val="1200"/>
              </a:spcAft>
            </a:pPr>
            <a:r>
              <a:rPr sz="2200">
                <a:solidFill>
                  <a:srgbClr val="1F2937"/>
                </a:solidFill>
                <a:latin typeface="Calibri"/>
              </a:rPr>
              <a:t>▸  Diqqat: pushti tus va kuyish porox gazlariga xos. Qurum, porox va metall zarrachalari esa faqat yuzaki, yengil ta’sir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 85-86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Diqqat: distansiya ≠ masofa. Distansiya — belgilar majmui, masofa — stvol uchidan nishongacha uzunlik.</a:t>
            </a:r>
          </a:p>
          <a:p>
            <a:pPr>
              <a:spcAft>
                <a:spcPts val="800"/>
              </a:spcAft>
            </a:pPr>
            <a:r>
              <a:rPr sz="1800">
                <a:solidFill>
                  <a:srgbClr val="1F2937"/>
                </a:solidFill>
                <a:latin typeface="Calibri"/>
              </a:rPr>
              <a:t>▸  Bir xil distansiya turli rusumli qurollarda uzunlik birligidagi har xil masofaga to‘g‘ri kelishi mumkin.</a:t>
            </a:r>
          </a:p>
          <a:p>
            <a:pPr>
              <a:spcAft>
                <a:spcPts val="800"/>
              </a:spcAft>
            </a:pPr>
            <a:r>
              <a:rPr sz="1800">
                <a:solidFill>
                  <a:srgbClr val="1F2937"/>
                </a:solidFill>
                <a:latin typeface="Calibri"/>
              </a:rPr>
              <a:t>▸  Distansiya belgilardan aniqlanadi; masofa uchun shu qurol va patron bilan eksperiment o‘tkaziladi.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Distansiya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Tirab otish</a:t>
            </a:r>
          </a:p>
          <a:p>
            <a:pPr algn="l">
              <a:spcAft>
                <a:spcPts val="0"/>
              </a:spcAft>
            </a:pPr>
            <a:r>
              <a:rPr sz="1200" b="0">
                <a:solidFill>
                  <a:srgbClr val="1F2937"/>
                </a:solidFill>
                <a:latin typeface="Calibri"/>
              </a:rPr>
              <a:t>Stvol uchi nishon bilan kontaktda</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Yaqin distansiya</a:t>
            </a:r>
          </a:p>
          <a:p>
            <a:pPr algn="l">
              <a:spcAft>
                <a:spcPts val="0"/>
              </a:spcAft>
            </a:pPr>
            <a:r>
              <a:rPr sz="1200" b="0">
                <a:solidFill>
                  <a:srgbClr val="1F2937"/>
                </a:solidFill>
                <a:latin typeface="Calibri"/>
              </a:rPr>
              <a:t>Qo‘shimcha omillar belgisi bor  ·  Uch zona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Yaqin bo‘lmagan</a:t>
            </a:r>
          </a:p>
          <a:p>
            <a:pPr algn="l">
              <a:spcAft>
                <a:spcPts val="0"/>
              </a:spcAft>
            </a:pPr>
            <a:r>
              <a:rPr sz="1200" b="0">
                <a:solidFill>
                  <a:srgbClr val="1F2937"/>
                </a:solidFill>
                <a:latin typeface="Calibri"/>
              </a:rPr>
              <a:t>Qo‘shimcha omillar belgisi yo‘q</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Otish distansiyalari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Tirab o‘q otishda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To‘liq tirab otishda stvol uchi butun yuzasi bilan tegib turadi; qurum va porox yara kanali ichida topiladi.</a:t>
            </a:r>
          </a:p>
          <a:p>
            <a:pPr>
              <a:spcAft>
                <a:spcPts val="800"/>
              </a:spcAft>
            </a:pPr>
            <a:r>
              <a:rPr sz="1800">
                <a:solidFill>
                  <a:srgbClr val="1F2937"/>
                </a:solidFill>
                <a:latin typeface="Calibri"/>
              </a:rPr>
              <a:t>▸  Porox gazlari bo‘shliqqa yetsa, ichki a’zolar yorilishi mumkin; kanal boshida to‘qima pushti tusda bo‘ladi.</a:t>
            </a:r>
          </a:p>
          <a:p>
            <a:pPr>
              <a:spcAft>
                <a:spcPts val="800"/>
              </a:spcAft>
            </a:pPr>
            <a:r>
              <a:rPr sz="1800">
                <a:solidFill>
                  <a:srgbClr val="1F2937"/>
                </a:solidFill>
                <a:latin typeface="Calibri"/>
              </a:rPr>
              <a:t>▸  Germetik tirab otishda stvol uchi kesimiga mos shilinma yoki qontalash — shtansmarka — hosil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02907"/>
                <a:gridCol w="3585067"/>
              </a:tblGrid>
              <a:tr h="768096">
                <a:tc>
                  <a:txBody>
                    <a:bodyPr/>
                    <a:lstStyle/>
                    <a:p>
                      <a:r>
                        <a:rPr sz="1800" b="1">
                          <a:solidFill>
                            <a:srgbClr val="FFFFFF"/>
                          </a:solidFill>
                        </a:rPr>
                        <a:t>Turi</a:t>
                      </a:r>
                    </a:p>
                  </a:txBody>
                  <a:tcPr marL="73152" marR="73152" marT="36576" marB="36576">
                    <a:solidFill>
                      <a:srgbClr val="0B1F3A"/>
                    </a:solidFill>
                  </a:tcPr>
                </a:tc>
                <a:tc>
                  <a:txBody>
                    <a:bodyPr/>
                    <a:lstStyle/>
                    <a:p>
                      <a:r>
                        <a:rPr sz="1800" b="1">
                          <a:solidFill>
                            <a:srgbClr val="FFFFFF"/>
                          </a:solidFill>
                        </a:rPr>
                        <a:t>Xususiyat</a:t>
                      </a:r>
                    </a:p>
                  </a:txBody>
                  <a:tcPr marL="73152" marR="73152" marT="36576" marB="36576">
                    <a:solidFill>
                      <a:srgbClr val="0B1F3A"/>
                    </a:solidFill>
                  </a:tcPr>
                </a:tc>
              </a:tr>
              <a:tr h="768096">
                <a:tc>
                  <a:txBody>
                    <a:bodyPr/>
                    <a:lstStyle/>
                    <a:p>
                      <a:r>
                        <a:rPr sz="1700" b="0">
                          <a:solidFill>
                            <a:srgbClr val="1F2937"/>
                          </a:solidFill>
                        </a:rPr>
                        <a:t>To‘liq germetik</a:t>
                      </a:r>
                    </a:p>
                  </a:txBody>
                  <a:tcPr marL="73152" marR="73152" marT="36576" marB="36576">
                    <a:solidFill>
                      <a:srgbClr val="E8EEF6"/>
                    </a:solidFill>
                  </a:tcPr>
                </a:tc>
                <a:tc>
                  <a:txBody>
                    <a:bodyPr/>
                    <a:lstStyle/>
                    <a:p>
                      <a:r>
                        <a:rPr sz="1700" b="0">
                          <a:solidFill>
                            <a:srgbClr val="1F2937"/>
                          </a:solidFill>
                        </a:rPr>
                        <a:t>Terida stvol uchiga mos shtansmarka</a:t>
                      </a:r>
                    </a:p>
                  </a:txBody>
                  <a:tcPr marL="73152" marR="73152" marT="36576" marB="36576">
                    <a:solidFill>
                      <a:srgbClr val="E8EEF6"/>
                    </a:solidFill>
                  </a:tcPr>
                </a:tc>
              </a:tr>
              <a:tr h="768096">
                <a:tc>
                  <a:txBody>
                    <a:bodyPr/>
                    <a:lstStyle/>
                    <a:p>
                      <a:r>
                        <a:rPr sz="1700" b="0">
                          <a:solidFill>
                            <a:srgbClr val="1F2937"/>
                          </a:solidFill>
                        </a:rPr>
                        <a:t>To‘liq tirab otish</a:t>
                      </a:r>
                    </a:p>
                  </a:txBody>
                  <a:tcPr marL="73152" marR="73152" marT="36576" marB="36576">
                    <a:solidFill>
                      <a:srgbClr val="FFFFFF"/>
                    </a:solidFill>
                  </a:tcPr>
                </a:tc>
                <a:tc>
                  <a:txBody>
                    <a:bodyPr/>
                    <a:lstStyle/>
                    <a:p>
                      <a:r>
                        <a:rPr sz="1700" b="0">
                          <a:solidFill>
                            <a:srgbClr val="1F2937"/>
                          </a:solidFill>
                        </a:rPr>
                        <a:t>Defekt kalibrdan katta, chetlari yoriqli</a:t>
                      </a:r>
                    </a:p>
                  </a:txBody>
                  <a:tcPr marL="73152" marR="73152" marT="36576" marB="36576">
                    <a:solidFill>
                      <a:srgbClr val="FFFFFF"/>
                    </a:solidFill>
                  </a:tcPr>
                </a:tc>
              </a:tr>
              <a:tr h="768096">
                <a:tc>
                  <a:txBody>
                    <a:bodyPr/>
                    <a:lstStyle/>
                    <a:p>
                      <a:r>
                        <a:rPr sz="1700" b="0">
                          <a:solidFill>
                            <a:srgbClr val="1F2937"/>
                          </a:solidFill>
                        </a:rPr>
                        <a:t>Qiyalab tirab otish</a:t>
                      </a:r>
                    </a:p>
                  </a:txBody>
                  <a:tcPr marL="73152" marR="73152" marT="36576" marB="36576">
                    <a:solidFill>
                      <a:srgbClr val="E8EEF6"/>
                    </a:solidFill>
                  </a:tcPr>
                </a:tc>
                <a:tc>
                  <a:txBody>
                    <a:bodyPr/>
                    <a:lstStyle/>
                    <a:p>
                      <a:r>
                        <a:rPr sz="1700" b="0">
                          <a:solidFill>
                            <a:srgbClr val="1F2937"/>
                          </a:solidFill>
                        </a:rPr>
                        <a:t>Bir tomonda yoriq, tilsimon qurum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Tirab otish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distansiya va masofa bir xilmi? Yo‘q. Distansiya — belgilar majmui (tirab, yaqin, yaqin bo‘lmagan); masofa — stvol uchi va nishon oralig‘i.</a:t>
            </a:r>
          </a:p>
          <a:p>
            <a:pPr>
              <a:spcAft>
                <a:spcPts val="1200"/>
              </a:spcAft>
            </a:pPr>
            <a:r>
              <a:rPr sz="2200">
                <a:solidFill>
                  <a:srgbClr val="1F2937"/>
                </a:solidFill>
                <a:latin typeface="Calibri"/>
              </a:rPr>
              <a:t>▸  2-savol: otish masofasi qanday aniqlanadi? Aynan shu qurol va patronlardan o‘xshash ob’ektga turli masofadan o‘q uzilib, jarohatlar taqqoslanadi.</a:t>
            </a:r>
          </a:p>
          <a:p>
            <a:pPr>
              <a:spcAft>
                <a:spcPts val="1200"/>
              </a:spcAft>
            </a:pPr>
            <a:r>
              <a:rPr sz="2200">
                <a:solidFill>
                  <a:srgbClr val="1F2937"/>
                </a:solidFill>
                <a:latin typeface="Calibri"/>
              </a:rPr>
              <a:t>▸  3-savol: to‘liq germetik tirab otishda terida qanday iz qoladi? Stvol uchi kesimiga mos shilinma yoki qontalash ko‘rinishidagi bosma iz — “shtansmarka”.</a:t>
            </a:r>
          </a:p>
          <a:p>
            <a:pPr>
              <a:spcAft>
                <a:spcPts val="1200"/>
              </a:spcAft>
            </a:pPr>
            <a:r>
              <a:rPr sz="2200">
                <a:solidFill>
                  <a:srgbClr val="1F2937"/>
                </a:solidFill>
                <a:latin typeface="Calibri"/>
              </a:rPr>
              <a:t>▸  Diqqat: tirab otishda yara kanalida qurum va porox topiladi, kanal boshida to‘qima pushti tusda bo‘ladi (karboksigemoglobin, karboksimioglobin hisobiga).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86, 86-87,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Zona uzunligi qurol stvolining uzunligi, kalibri va patron tuzilishiga bog‘liq.</a:t>
            </a:r>
          </a:p>
          <a:p>
            <a:pPr>
              <a:spcAft>
                <a:spcPts val="800"/>
              </a:spcAft>
            </a:pPr>
            <a:r>
              <a:rPr sz="1800">
                <a:solidFill>
                  <a:srgbClr val="1F2937"/>
                </a:solidFill>
                <a:latin typeface="Calibri"/>
              </a:rPr>
              <a:t>▸  1–2-zonada masofa ortgan sari qoplangan yuza kattalashadi; 3-zonada zarrachalar miqdori kamayadi.</a:t>
            </a:r>
          </a:p>
          <a:p>
            <a:pPr>
              <a:spcAft>
                <a:spcPts val="800"/>
              </a:spcAft>
            </a:pPr>
            <a:r>
              <a:rPr sz="1800">
                <a:solidFill>
                  <a:srgbClr val="1F2937"/>
                </a:solidFill>
                <a:latin typeface="Calibri"/>
              </a:rPr>
              <a:t>▸  To‘siq bo‘lsa, qo‘shimcha omillar to‘siqda qoladi; o‘q deformatsiyalanib, atipik jarohat hosil bo‘lishi mumkin.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82980"/>
                <a:gridCol w="2076703"/>
                <a:gridCol w="2228291"/>
              </a:tblGrid>
              <a:tr h="768096">
                <a:tc>
                  <a:txBody>
                    <a:bodyPr/>
                    <a:lstStyle/>
                    <a:p>
                      <a:r>
                        <a:rPr sz="1600" b="1">
                          <a:solidFill>
                            <a:srgbClr val="FFFFFF"/>
                          </a:solidFill>
                        </a:rPr>
                        <a:t>Zona</a:t>
                      </a:r>
                    </a:p>
                  </a:txBody>
                  <a:tcPr marL="73152" marR="73152" marT="36576" marB="36576">
                    <a:solidFill>
                      <a:srgbClr val="0B1F3A"/>
                    </a:solidFill>
                  </a:tcPr>
                </a:tc>
                <a:tc>
                  <a:txBody>
                    <a:bodyPr/>
                    <a:lstStyle/>
                    <a:p>
                      <a:r>
                        <a:rPr sz="1600" b="1">
                          <a:solidFill>
                            <a:srgbClr val="FFFFFF"/>
                          </a:solidFill>
                        </a:rPr>
                        <a:t>Belgilar</a:t>
                      </a:r>
                    </a:p>
                  </a:txBody>
                  <a:tcPr marL="73152" marR="73152" marT="36576" marB="36576">
                    <a:solidFill>
                      <a:srgbClr val="0B1F3A"/>
                    </a:solidFill>
                  </a:tcPr>
                </a:tc>
                <a:tc>
                  <a:txBody>
                    <a:bodyPr/>
                    <a:lstStyle/>
                    <a:p>
                      <a:r>
                        <a:rPr sz="1600" b="1">
                          <a:solidFill>
                            <a:srgbClr val="FFFFFF"/>
                          </a:solidFill>
                        </a:rPr>
                        <a:t>Masofa</a:t>
                      </a:r>
                    </a:p>
                  </a:txBody>
                  <a:tcPr marL="73152" marR="73152" marT="36576" marB="36576">
                    <a:solidFill>
                      <a:srgbClr val="0B1F3A"/>
                    </a:solidFill>
                  </a:tcPr>
                </a:tc>
              </a:tr>
              <a:tr h="768096">
                <a:tc>
                  <a:txBody>
                    <a:bodyPr/>
                    <a:lstStyle/>
                    <a:p>
                      <a:r>
                        <a:rPr sz="1500" b="0">
                          <a:solidFill>
                            <a:srgbClr val="1F2937"/>
                          </a:solidFill>
                        </a:rPr>
                        <a:t>1-zona</a:t>
                      </a:r>
                    </a:p>
                  </a:txBody>
                  <a:tcPr marL="73152" marR="73152" marT="36576" marB="36576">
                    <a:solidFill>
                      <a:srgbClr val="E8EEF6"/>
                    </a:solidFill>
                  </a:tcPr>
                </a:tc>
                <a:tc>
                  <a:txBody>
                    <a:bodyPr/>
                    <a:lstStyle/>
                    <a:p>
                      <a:r>
                        <a:rPr sz="1500" b="0">
                          <a:solidFill>
                            <a:srgbClr val="1F2937"/>
                          </a:solidFill>
                        </a:rPr>
                        <a:t>Porox gazi, qurum, zarracha, moy</a:t>
                      </a:r>
                    </a:p>
                  </a:txBody>
                  <a:tcPr marL="73152" marR="73152" marT="36576" marB="36576">
                    <a:solidFill>
                      <a:srgbClr val="E8EEF6"/>
                    </a:solidFill>
                  </a:tcPr>
                </a:tc>
                <a:tc>
                  <a:txBody>
                    <a:bodyPr/>
                    <a:lstStyle/>
                    <a:p>
                      <a:r>
                        <a:rPr sz="1500" b="0">
                          <a:solidFill>
                            <a:srgbClr val="1F2937"/>
                          </a:solidFill>
                        </a:rPr>
                        <a:t>Makarov ≈1; Kalashnikov ≤3; miltiq ≈5 sm</a:t>
                      </a:r>
                    </a:p>
                  </a:txBody>
                  <a:tcPr marL="73152" marR="73152" marT="36576" marB="36576">
                    <a:solidFill>
                      <a:srgbClr val="E8EEF6"/>
                    </a:solidFill>
                  </a:tcPr>
                </a:tc>
              </a:tr>
              <a:tr h="768096">
                <a:tc>
                  <a:txBody>
                    <a:bodyPr/>
                    <a:lstStyle/>
                    <a:p>
                      <a:r>
                        <a:rPr sz="1500" b="0">
                          <a:solidFill>
                            <a:srgbClr val="1F2937"/>
                          </a:solidFill>
                        </a:rPr>
                        <a:t>2-zona</a:t>
                      </a:r>
                    </a:p>
                  </a:txBody>
                  <a:tcPr marL="73152" marR="73152" marT="36576" marB="36576">
                    <a:solidFill>
                      <a:srgbClr val="FFFFFF"/>
                    </a:solidFill>
                  </a:tcPr>
                </a:tc>
                <a:tc>
                  <a:txBody>
                    <a:bodyPr/>
                    <a:lstStyle/>
                    <a:p>
                      <a:r>
                        <a:rPr sz="1500" b="0">
                          <a:solidFill>
                            <a:srgbClr val="1F2937"/>
                          </a:solidFill>
                        </a:rPr>
                        <a:t>Porox gazi yo‘q; qurum, zarracha, moy</a:t>
                      </a:r>
                    </a:p>
                  </a:txBody>
                  <a:tcPr marL="73152" marR="73152" marT="36576" marB="36576">
                    <a:solidFill>
                      <a:srgbClr val="FFFFFF"/>
                    </a:solidFill>
                  </a:tcPr>
                </a:tc>
                <a:tc>
                  <a:txBody>
                    <a:bodyPr/>
                    <a:lstStyle/>
                    <a:p>
                      <a:r>
                        <a:rPr sz="1500" b="0">
                          <a:solidFill>
                            <a:srgbClr val="1F2937"/>
                          </a:solidFill>
                        </a:rPr>
                        <a:t>Ko‘pchilik jangovor qurolda 25–35 sm</a:t>
                      </a:r>
                    </a:p>
                  </a:txBody>
                  <a:tcPr marL="73152" marR="73152" marT="36576" marB="36576">
                    <a:solidFill>
                      <a:srgbClr val="FFFFFF"/>
                    </a:solidFill>
                  </a:tcPr>
                </a:tc>
              </a:tr>
              <a:tr h="768096">
                <a:tc>
                  <a:txBody>
                    <a:bodyPr/>
                    <a:lstStyle/>
                    <a:p>
                      <a:r>
                        <a:rPr sz="1500" b="0">
                          <a:solidFill>
                            <a:srgbClr val="1F2937"/>
                          </a:solidFill>
                        </a:rPr>
                        <a:t>3-zona</a:t>
                      </a:r>
                    </a:p>
                  </a:txBody>
                  <a:tcPr marL="73152" marR="73152" marT="36576" marB="36576">
                    <a:solidFill>
                      <a:srgbClr val="E8EEF6"/>
                    </a:solidFill>
                  </a:tcPr>
                </a:tc>
                <a:tc>
                  <a:txBody>
                    <a:bodyPr/>
                    <a:lstStyle/>
                    <a:p>
                      <a:r>
                        <a:rPr sz="1500" b="0">
                          <a:solidFill>
                            <a:srgbClr val="1F2937"/>
                          </a:solidFill>
                        </a:rPr>
                        <a:t>Faqat porox va metall zarrachalari</a:t>
                      </a:r>
                    </a:p>
                  </a:txBody>
                  <a:tcPr marL="73152" marR="73152" marT="36576" marB="36576">
                    <a:solidFill>
                      <a:srgbClr val="E8EEF6"/>
                    </a:solidFill>
                  </a:tcPr>
                </a:tc>
                <a:tc>
                  <a:txBody>
                    <a:bodyPr/>
                    <a:lstStyle/>
                    <a:p>
                      <a:r>
                        <a:rPr sz="1500" b="0">
                          <a:solidFill>
                            <a:srgbClr val="1F2937"/>
                          </a:solidFill>
                        </a:rPr>
                        <a:t>Makarov 150; Kalashnikov 200; miltiq 250</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Yaqin distansiyaning uch zonasi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kirish teshigi atrofida qo‘shimcha omillar belgisi aniqlanmaydi.</a:t>
            </a:r>
          </a:p>
          <a:p>
            <a:pPr>
              <a:spcAft>
                <a:spcPts val="800"/>
              </a:spcAft>
            </a:pPr>
            <a:r>
              <a:rPr sz="1800">
                <a:solidFill>
                  <a:srgbClr val="1F2937"/>
                </a:solidFill>
                <a:latin typeface="Calibri"/>
              </a:rPr>
              <a:t>▸  Fenomen sharti: tezlik 500 m/s dan kam emas, kiyim tanaga zich yopishmagan, kuchli shamol yo‘q.</a:t>
            </a:r>
          </a:p>
          <a:p>
            <a:pPr>
              <a:spcAft>
                <a:spcPts val="800"/>
              </a:spcAft>
            </a:pPr>
            <a:r>
              <a:rPr sz="1800">
                <a:solidFill>
                  <a:srgbClr val="1F2937"/>
                </a:solidFill>
                <a:latin typeface="Calibri"/>
              </a:rPr>
              <a:t>▸  Diqqat: yaqin distansiyadan farqli, 1-qavat kiyim tashqi yuzasida qurum bo‘lmaydi; qurum miqdori oz.</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Tezlik</a:t>
            </a:r>
          </a:p>
          <a:p>
            <a:pPr algn="l">
              <a:spcAft>
                <a:spcPts val="200"/>
              </a:spcAft>
            </a:pPr>
            <a:r>
              <a:rPr sz="1400" b="0">
                <a:solidFill>
                  <a:srgbClr val="1F2937"/>
                </a:solidFill>
                <a:latin typeface="Calibri"/>
              </a:rPr>
              <a:t>O‘q tezligi 500 m/s dan kam emas</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Bo‘shliq</a:t>
            </a:r>
          </a:p>
          <a:p>
            <a:pPr algn="l">
              <a:spcAft>
                <a:spcPts val="200"/>
              </a:spcAft>
            </a:pPr>
            <a:r>
              <a:rPr sz="1400" b="0">
                <a:solidFill>
                  <a:srgbClr val="1F2937"/>
                </a:solidFill>
                <a:latin typeface="Calibri"/>
              </a:rPr>
              <a:t>O‘q orqasida past bosimli bo‘shliq</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Qurum</a:t>
            </a:r>
          </a:p>
          <a:p>
            <a:pPr algn="l">
              <a:spcAft>
                <a:spcPts val="200"/>
              </a:spcAft>
            </a:pPr>
            <a:r>
              <a:rPr sz="1400" b="0">
                <a:solidFill>
                  <a:srgbClr val="1F2937"/>
                </a:solidFill>
                <a:latin typeface="Calibri"/>
              </a:rPr>
              <a:t>Qurum bo‘shliqqa tushadi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To‘siq</a:t>
            </a:r>
          </a:p>
          <a:p>
            <a:pPr algn="l">
              <a:spcAft>
                <a:spcPts val="200"/>
              </a:spcAft>
            </a:pPr>
            <a:r>
              <a:rPr sz="1400" b="0">
                <a:solidFill>
                  <a:srgbClr val="1F2937"/>
                </a:solidFill>
                <a:latin typeface="Calibri"/>
              </a:rPr>
              <a:t>O‘q birinchi to‘siqdan o‘tadi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Natija</a:t>
            </a:r>
          </a:p>
          <a:p>
            <a:pPr algn="l">
              <a:spcAft>
                <a:spcPts val="200"/>
              </a:spcAft>
            </a:pPr>
            <a:r>
              <a:rPr sz="1400" b="0">
                <a:solidFill>
                  <a:srgbClr val="1F2937"/>
                </a:solidFill>
                <a:latin typeface="Calibri"/>
              </a:rPr>
              <a:t>Qurum ichki yuzada qoladi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Vinogradov fenomeni mexanizmi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jarohat atrofida birinchi qavat kiyimning tashqi yuzasida qurum yo‘q, kiyimning ichki yuzasida esa oz miqdorda qurum bor. Qaysi distansiya?</a:t>
            </a:r>
          </a:p>
          <a:p>
            <a:pPr>
              <a:spcAft>
                <a:spcPts val="1200"/>
              </a:spcAft>
            </a:pPr>
            <a:r>
              <a:rPr sz="2200">
                <a:solidFill>
                  <a:srgbClr val="1F2937"/>
                </a:solidFill>
                <a:latin typeface="Calibri"/>
              </a:rPr>
              <a:t>▸  Bu Vinogradov fenomeni bo‘lishi mumkin. Shartlar: o‘q tezligi 500 m/sek.dan kam emas, kiyim tanaga zich yopishmagan, kuchli shamol yo‘q.</a:t>
            </a:r>
          </a:p>
          <a:p>
            <a:pPr>
              <a:spcAft>
                <a:spcPts val="1200"/>
              </a:spcAft>
            </a:pPr>
            <a:r>
              <a:rPr sz="2200">
                <a:solidFill>
                  <a:srgbClr val="1F2937"/>
                </a:solidFill>
                <a:latin typeface="Calibri"/>
              </a:rPr>
              <a:t>▸  Diqqat: yaqin distansiyada qurum birinchi qavat kiyimning tashqi yuzasida ham bo‘ladi; Vinogradov fenomenida bo‘lmaydi.</a:t>
            </a:r>
          </a:p>
          <a:p>
            <a:pPr>
              <a:spcAft>
                <a:spcPts val="1200"/>
              </a:spcAft>
            </a:pPr>
            <a:r>
              <a:rPr sz="2200">
                <a:solidFill>
                  <a:srgbClr val="1F2937"/>
                </a:solidFill>
                <a:latin typeface="Calibri"/>
              </a:rPr>
              <a:t>▸  Fenomenda qurum oz bo‘ladi va periferiya tomon intensivligi ortadi. Yaqin distansiyada esa aksincha holat kuzatiladi.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88-89,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Morfologiya: zarb ta’siri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Jarohat morfologiyasi uch guruh omilga bog‘liq: snaryad, uning ballistikasi va shikastlangan soha xususiyatlari.</a:t>
            </a:r>
          </a:p>
          <a:p>
            <a:pPr>
              <a:spcAft>
                <a:spcPts val="800"/>
              </a:spcAft>
            </a:pPr>
            <a:r>
              <a:rPr sz="1800">
                <a:solidFill>
                  <a:srgbClr val="1F2937"/>
                </a:solidFill>
                <a:latin typeface="Calibri"/>
              </a:rPr>
              <a:t>▸  Zarb ta’siri nazariyasi: snaryad kichik yuzaga kuchli zarb beradi, kuch yon va orqa tomonlarga ham tarqaladi.</a:t>
            </a:r>
          </a:p>
          <a:p>
            <a:pPr>
              <a:spcAft>
                <a:spcPts val="800"/>
              </a:spcAft>
            </a:pPr>
            <a:r>
              <a:rPr sz="1800">
                <a:solidFill>
                  <a:srgbClr val="1F2937"/>
                </a:solidFill>
                <a:latin typeface="Calibri"/>
              </a:rPr>
              <a:t>▸  Vaqtincha bo‘shliq pulsatsiyasi musbat va manfiy bosim fazalarini hosil qilib, o‘qni chuqurroq kirishiga sharoit yaratadi.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Yara kanali</a:t>
            </a:r>
          </a:p>
          <a:p>
            <a:pPr algn="l">
              <a:spcAft>
                <a:spcPts val="100"/>
              </a:spcAft>
            </a:pPr>
            <a:r>
              <a:rPr sz="2900" b="1">
                <a:solidFill>
                  <a:srgbClr val="0B1F3A"/>
                </a:solidFill>
                <a:latin typeface="Calibri"/>
              </a:rPr>
              <a:t>bevosita</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Lat yeyish zonasi</a:t>
            </a:r>
          </a:p>
          <a:p>
            <a:pPr algn="l">
              <a:spcAft>
                <a:spcPts val="100"/>
              </a:spcAft>
            </a:pPr>
            <a:r>
              <a:rPr sz="2900" b="1">
                <a:solidFill>
                  <a:srgbClr val="0B1F3A"/>
                </a:solidFill>
                <a:latin typeface="Calibri"/>
              </a:rPr>
              <a:t>0,3-2</a:t>
            </a:r>
            <a:r>
              <a:rPr sz="1400" b="0">
                <a:solidFill>
                  <a:srgbClr val="6B7280"/>
                </a:solidFill>
                <a:latin typeface="Calibri"/>
              </a:rPr>
              <a:t>  sm</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Chayqalish zonasi</a:t>
            </a:r>
          </a:p>
          <a:p>
            <a:pPr algn="l">
              <a:spcAft>
                <a:spcPts val="100"/>
              </a:spcAft>
            </a:pPr>
            <a:r>
              <a:rPr sz="2300" b="1">
                <a:solidFill>
                  <a:srgbClr val="0B1F3A"/>
                </a:solidFill>
                <a:latin typeface="Calibri"/>
              </a:rPr>
              <a:t>4-5 va ortiq</a:t>
            </a:r>
            <a:r>
              <a:rPr sz="1100" b="0">
                <a:solidFill>
                  <a:srgbClr val="6B7280"/>
                </a:solidFill>
                <a:latin typeface="Calibri"/>
              </a:rPr>
              <a:t>  sm</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Yara devoridagi zonalar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turlari va yara kanali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ko‘r ≠ yalama. Teshib o‘tarda kirish, kanal, chiqish bor; ko‘rda chiqish yo‘q, o‘q kanal oxirida qoladi; yalamada o‘q tanaga to‘liq kirmaydi.</a:t>
            </a:r>
          </a:p>
          <a:p>
            <a:pPr>
              <a:spcAft>
                <a:spcPts val="1200"/>
              </a:spcAft>
            </a:pPr>
            <a:r>
              <a:rPr sz="2200">
                <a:solidFill>
                  <a:srgbClr val="1F2937"/>
                </a:solidFill>
                <a:latin typeface="Calibri"/>
              </a:rPr>
              <a:t>▸  Yalama shikastlanishda uzunchoq shilinma yoki o‘rta qismi ariqchasimon chuqurlashgan yara hosil bo‘ladi. Kanal to‘g‘ri, siniq yoki yoysimon bo‘lishi mumkin.</a:t>
            </a:r>
          </a:p>
          <a:p>
            <a:pPr>
              <a:spcAft>
                <a:spcPts val="1200"/>
              </a:spcAft>
            </a:pPr>
            <a:r>
              <a:rPr sz="2200">
                <a:solidFill>
                  <a:srgbClr val="1F2937"/>
                </a:solidFill>
                <a:latin typeface="Calibri"/>
              </a:rPr>
              <a:t>▸  Uzlukli kanal ayrim to‘qimalarning qisqarishidan hosil bo‘ladi va odatda shikastlanishning hayotiyligidan dalolat beradi.</a:t>
            </a:r>
          </a:p>
          <a:p>
            <a:pPr>
              <a:spcAft>
                <a:spcPts val="1200"/>
              </a:spcAft>
            </a:pPr>
            <a:r>
              <a:rPr sz="2200">
                <a:solidFill>
                  <a:srgbClr val="1F2937"/>
                </a:solidFill>
                <a:latin typeface="Calibri"/>
              </a:rPr>
              <a:t>▸  Og‘irlik markazi siljigan o‘q turg‘unlikni yo‘qotadi: katta kanal, ichki a’zo yorilishi, suyak sinishi. Yupqa sohada ikki kirish, ikki chiqish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teshigi: hoshiyalar va to‘qima defekti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O‘q kirayotganda yon tomoni teriga ishqalanib, kirish teshigi chetlarida kengligi 1-3 mm shilinish hoshiyasi hosil qiladi.</a:t>
            </a:r>
          </a:p>
          <a:p>
            <a:pPr>
              <a:spcAft>
                <a:spcPts val="800"/>
              </a:spcAft>
            </a:pPr>
            <a:r>
              <a:rPr sz="1600">
                <a:solidFill>
                  <a:srgbClr val="1F2937"/>
                </a:solidFill>
                <a:latin typeface="Calibri"/>
              </a:rPr>
              <a:t>▸  Hoshiyaning tashqi diametri snaryad diametriga teng; yumshoq sohalarda (qorin, dumba) suyak yaqin joylarga nisbatan kengroq bo‘ladi.</a:t>
            </a:r>
          </a:p>
          <a:p>
            <a:pPr>
              <a:spcAft>
                <a:spcPts val="800"/>
              </a:spcAft>
            </a:pPr>
            <a:r>
              <a:rPr sz="1600">
                <a:solidFill>
                  <a:srgbClr val="1F2937"/>
                </a:solidFill>
                <a:latin typeface="Calibri"/>
              </a:rPr>
              <a:t>▸  O‘q yuzasidagi qurum va moy zarralari yara chetida ifloslanish hoshiyasini hosil qiladi; ikki hoshiya ustma-ust joylashadi.</a:t>
            </a:r>
          </a:p>
          <a:p>
            <a:pPr>
              <a:spcAft>
                <a:spcPts val="800"/>
              </a:spcAft>
            </a:pPr>
            <a:r>
              <a:rPr sz="1600">
                <a:solidFill>
                  <a:srgbClr val="1F2937"/>
                </a:solidFill>
                <a:latin typeface="Calibri"/>
              </a:rPr>
              <a:t>▸  To‘qima defekti bor yaraning chetlari yaqinlashtirilganda atrofda teri burmalari hosil bo‘ladi; defekt yo‘q bo‘lsa chetlar bir-biriga mos tushadi.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Kirish teshigi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Shilinish hoshiyasi</a:t>
            </a:r>
          </a:p>
          <a:p>
            <a:pPr algn="l">
              <a:spcAft>
                <a:spcPts val="0"/>
              </a:spcAft>
            </a:pPr>
            <a:r>
              <a:rPr sz="1200" b="0">
                <a:solidFill>
                  <a:srgbClr val="1F2937"/>
                </a:solidFill>
                <a:latin typeface="Calibri"/>
              </a:rPr>
              <a:t>Kengligi 1-3 mm  ·  Tashqi diametri o‘q diametriga teng</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Ifloslanish hoshiyasi</a:t>
            </a:r>
          </a:p>
          <a:p>
            <a:pPr algn="l">
              <a:spcAft>
                <a:spcPts val="0"/>
              </a:spcAft>
            </a:pPr>
            <a:r>
              <a:rPr sz="1200" b="0">
                <a:solidFill>
                  <a:srgbClr val="1F2937"/>
                </a:solidFill>
                <a:latin typeface="Calibri"/>
              </a:rPr>
              <a:t>Qurum, moy zarralari  ·  Shilinish hoshiyasi bilan ustma-ust</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To‘qima defekti</a:t>
            </a:r>
          </a:p>
          <a:p>
            <a:pPr algn="l">
              <a:spcAft>
                <a:spcPts val="0"/>
              </a:spcAft>
            </a:pPr>
            <a:r>
              <a:rPr sz="1200" b="0">
                <a:solidFill>
                  <a:srgbClr val="1F2937"/>
                </a:solidFill>
                <a:latin typeface="Calibri"/>
              </a:rPr>
              <a:t>Chetlarni yaqinlashtirish sinovi  ·  Defektda teri burmalari hosil bo‘ladi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Tarix</a:t>
            </a:r>
          </a:p>
          <a:p>
            <a:pPr algn="l">
              <a:spcAft>
                <a:spcPts val="0"/>
              </a:spcAft>
            </a:pPr>
            <a:r>
              <a:rPr sz="1200" b="0">
                <a:solidFill>
                  <a:srgbClr val="1F2937"/>
                </a:solidFill>
                <a:latin typeface="Calibri"/>
              </a:rPr>
              <a:t>Pirogov, 1865 yil</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Kirish teshigi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Suyaklardagi o‘q izi: yassi va naysimon suyak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Yassi suyakda o‘q kirgan joyda kesik konus shaklidagi defekt hosil bo‘ladi; snaryad yo‘nalishi kichik asosdan katta asos tomon.</a:t>
            </a:r>
          </a:p>
          <a:p>
            <a:pPr>
              <a:spcAft>
                <a:spcPts val="800"/>
              </a:spcAft>
            </a:pPr>
            <a:r>
              <a:rPr sz="1800">
                <a:solidFill>
                  <a:srgbClr val="1F2937"/>
                </a:solidFill>
                <a:latin typeface="Calibri"/>
              </a:rPr>
              <a:t>▸  Uzun naysimon suyakda o‘q kirgan tomonda radial darzli dumaloq defekt aniqlanadi.</a:t>
            </a:r>
          </a:p>
          <a:p>
            <a:pPr>
              <a:spcAft>
                <a:spcPts val="800"/>
              </a:spcAft>
            </a:pPr>
            <a:r>
              <a:rPr sz="1800">
                <a:solidFill>
                  <a:srgbClr val="1F2937"/>
                </a:solidFill>
                <a:latin typeface="Calibri"/>
              </a:rPr>
              <a:t>▸  O‘q chiqqan tomonda suyak defekti kattaroq, undan boshlangan darzlar uzunasiga yo‘nalgan bo‘ladi.</a:t>
            </a:r>
          </a:p>
          <a:p>
            <a:pPr>
              <a:spcAft>
                <a:spcPts val="800"/>
              </a:spcAft>
            </a:pPr>
            <a:r>
              <a:rPr sz="1800">
                <a:solidFill>
                  <a:srgbClr val="1F2937"/>
                </a:solidFill>
                <a:latin typeface="Calibri"/>
              </a:rPr>
              <a:t>▸  Chiqish teshigi yaqinida tana qattiq jismga tirangan bo‘lsa, chetda shilinish hoshiyasi hosil bo‘lishi mumkin.</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Yassi suyak</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Kirishda kesik konus defekt</a:t>
            </a:r>
          </a:p>
          <a:p>
            <a:pPr algn="l">
              <a:spcAft>
                <a:spcPts val="700"/>
              </a:spcAft>
            </a:pPr>
            <a:r>
              <a:rPr sz="1500" b="1">
                <a:solidFill>
                  <a:srgbClr val="C9A227"/>
                </a:solidFill>
                <a:latin typeface="Calibri"/>
              </a:rPr>
              <a:t>●  </a:t>
            </a:r>
            <a:r>
              <a:rPr sz="1500" b="0">
                <a:solidFill>
                  <a:srgbClr val="1F2937"/>
                </a:solidFill>
                <a:latin typeface="Calibri"/>
              </a:rPr>
              <a:t>Yo‘nalish: kichik asosdan katta asosga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Naysimon suyak: kirish</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Dumaloq defekt</a:t>
            </a:r>
          </a:p>
          <a:p>
            <a:pPr algn="l">
              <a:spcAft>
                <a:spcPts val="700"/>
              </a:spcAft>
            </a:pPr>
            <a:r>
              <a:rPr sz="1500" b="1">
                <a:solidFill>
                  <a:srgbClr val="C9A227"/>
                </a:solidFill>
                <a:latin typeface="Calibri"/>
              </a:rPr>
              <a:t>●  </a:t>
            </a:r>
            <a:r>
              <a:rPr sz="1500" b="0">
                <a:solidFill>
                  <a:srgbClr val="1F2937"/>
                </a:solidFill>
                <a:latin typeface="Calibri"/>
              </a:rPr>
              <a:t>Radial darzlar</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Naysimon suyak: chiqish</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Defekt kattaroq</a:t>
            </a:r>
          </a:p>
          <a:p>
            <a:pPr algn="l">
              <a:spcAft>
                <a:spcPts val="700"/>
              </a:spcAft>
            </a:pPr>
            <a:r>
              <a:rPr sz="1500" b="1">
                <a:solidFill>
                  <a:srgbClr val="C9A227"/>
                </a:solidFill>
                <a:latin typeface="Calibri"/>
              </a:rPr>
              <a:t>●  </a:t>
            </a:r>
            <a:r>
              <a:rPr sz="1500" b="0">
                <a:solidFill>
                  <a:srgbClr val="1F2937"/>
                </a:solidFill>
                <a:latin typeface="Calibri"/>
              </a:rPr>
              <a:t>Darzlar uzunasiga yo‘nalgan</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Suyak shikastlanishi belgilari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teshigi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distansiyada qo‘shimcha omillar belgisi faqat kirish teshigi atrofida bo‘ladi, chiqishda yo‘q.</a:t>
            </a:r>
          </a:p>
          <a:p>
            <a:pPr>
              <a:spcAft>
                <a:spcPts val="800"/>
              </a:spcAft>
            </a:pPr>
            <a:r>
              <a:rPr sz="1800">
                <a:solidFill>
                  <a:srgbClr val="1F2937"/>
                </a:solidFill>
                <a:latin typeface="Calibri"/>
              </a:rPr>
              <a:t>▸  Kirishda yumshoq to‘qimada muftasimon qon quyilish; chiqishda assimetrik qon quyilish bo‘ladi.</a:t>
            </a:r>
          </a:p>
          <a:p>
            <a:pPr>
              <a:spcAft>
                <a:spcPts val="800"/>
              </a:spcAft>
            </a:pPr>
            <a:r>
              <a:rPr sz="1800">
                <a:solidFill>
                  <a:srgbClr val="1F2937"/>
                </a:solidFill>
                <a:latin typeface="Calibri"/>
              </a:rPr>
              <a:t>▸  Diqqat: defekt konusi uchi kirishda ichkariga, chiqishda (kam uchrasa) tashqariga yo‘nalgan.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989131"/>
                <a:gridCol w="1843423"/>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Kirish</a:t>
                      </a:r>
                    </a:p>
                  </a:txBody>
                  <a:tcPr marL="73152" marR="73152" marT="36576" marB="36576">
                    <a:solidFill>
                      <a:srgbClr val="0B1F3A"/>
                    </a:solidFill>
                  </a:tcPr>
                </a:tc>
                <a:tc>
                  <a:txBody>
                    <a:bodyPr/>
                    <a:lstStyle/>
                    <a:p>
                      <a:r>
                        <a:rPr sz="1600" b="1">
                          <a:solidFill>
                            <a:srgbClr val="FFFFFF"/>
                          </a:solidFill>
                        </a:rPr>
                        <a:t>Chiqish</a:t>
                      </a:r>
                    </a:p>
                  </a:txBody>
                  <a:tcPr marL="73152" marR="73152" marT="36576" marB="36576">
                    <a:solidFill>
                      <a:srgbClr val="0B1F3A"/>
                    </a:solidFill>
                  </a:tcPr>
                </a:tc>
              </a:tr>
              <a:tr h="614476">
                <a:tc>
                  <a:txBody>
                    <a:bodyPr/>
                    <a:lstStyle/>
                    <a:p>
                      <a:r>
                        <a:rPr sz="1500" b="0">
                          <a:solidFill>
                            <a:srgbClr val="1F2937"/>
                          </a:solidFill>
                        </a:rPr>
                        <a:t>Shakli</a:t>
                      </a:r>
                    </a:p>
                  </a:txBody>
                  <a:tcPr marL="73152" marR="73152" marT="36576" marB="36576">
                    <a:solidFill>
                      <a:srgbClr val="E8EEF6"/>
                    </a:solidFill>
                  </a:tcPr>
                </a:tc>
                <a:tc>
                  <a:txBody>
                    <a:bodyPr/>
                    <a:lstStyle/>
                    <a:p>
                      <a:r>
                        <a:rPr sz="1500" b="0">
                          <a:solidFill>
                            <a:srgbClr val="1F2937"/>
                          </a:solidFill>
                        </a:rPr>
                        <a:t>dumaloq, oval</a:t>
                      </a:r>
                    </a:p>
                  </a:txBody>
                  <a:tcPr marL="73152" marR="73152" marT="36576" marB="36576">
                    <a:solidFill>
                      <a:srgbClr val="E8EEF6"/>
                    </a:solidFill>
                  </a:tcPr>
                </a:tc>
                <a:tc>
                  <a:txBody>
                    <a:bodyPr/>
                    <a:lstStyle/>
                    <a:p>
                      <a:r>
                        <a:rPr sz="1500" b="0">
                          <a:solidFill>
                            <a:srgbClr val="1F2937"/>
                          </a:solidFill>
                        </a:rPr>
                        <a:t>yoriqsimon, yoysimon, yulduzsimon</a:t>
                      </a:r>
                    </a:p>
                  </a:txBody>
                  <a:tcPr marL="73152" marR="73152" marT="36576" marB="36576">
                    <a:solidFill>
                      <a:srgbClr val="E8EEF6"/>
                    </a:solidFill>
                  </a:tcPr>
                </a:tc>
              </a:tr>
              <a:tr h="614476">
                <a:tc>
                  <a:txBody>
                    <a:bodyPr/>
                    <a:lstStyle/>
                    <a:p>
                      <a:r>
                        <a:rPr sz="1500" b="0">
                          <a:solidFill>
                            <a:srgbClr val="1F2937"/>
                          </a:solidFill>
                        </a:rPr>
                        <a:t>Yara chetlari</a:t>
                      </a:r>
                    </a:p>
                  </a:txBody>
                  <a:tcPr marL="73152" marR="73152" marT="36576" marB="36576">
                    <a:solidFill>
                      <a:srgbClr val="FFFFFF"/>
                    </a:solidFill>
                  </a:tcPr>
                </a:tc>
                <a:tc>
                  <a:txBody>
                    <a:bodyPr/>
                    <a:lstStyle/>
                    <a:p>
                      <a:r>
                        <a:rPr sz="1500" b="0">
                          <a:solidFill>
                            <a:srgbClr val="1F2937"/>
                          </a:solidFill>
                        </a:rPr>
                        <a:t>nisbatan tekis, ichkariga qayrilgan</a:t>
                      </a:r>
                    </a:p>
                  </a:txBody>
                  <a:tcPr marL="73152" marR="73152" marT="36576" marB="36576">
                    <a:solidFill>
                      <a:srgbClr val="FFFFFF"/>
                    </a:solidFill>
                  </a:tcPr>
                </a:tc>
                <a:tc>
                  <a:txBody>
                    <a:bodyPr/>
                    <a:lstStyle/>
                    <a:p>
                      <a:r>
                        <a:rPr sz="1500" b="0">
                          <a:solidFill>
                            <a:srgbClr val="1F2937"/>
                          </a:solidFill>
                        </a:rPr>
                        <a:t>notekis, tashqariga qayrilgan</a:t>
                      </a:r>
                    </a:p>
                  </a:txBody>
                  <a:tcPr marL="73152" marR="73152" marT="36576" marB="36576">
                    <a:solidFill>
                      <a:srgbClr val="FFFFFF"/>
                    </a:solidFill>
                  </a:tcPr>
                </a:tc>
              </a:tr>
              <a:tr h="614476">
                <a:tc>
                  <a:txBody>
                    <a:bodyPr/>
                    <a:lstStyle/>
                    <a:p>
                      <a:r>
                        <a:rPr sz="1500" b="0">
                          <a:solidFill>
                            <a:srgbClr val="1F2937"/>
                          </a:solidFill>
                        </a:rPr>
                        <a:t>To‘qima defekti</a:t>
                      </a:r>
                    </a:p>
                  </a:txBody>
                  <a:tcPr marL="73152" marR="73152" marT="36576" marB="36576">
                    <a:solidFill>
                      <a:srgbClr val="E8EEF6"/>
                    </a:solidFill>
                  </a:tcPr>
                </a:tc>
                <a:tc>
                  <a:txBody>
                    <a:bodyPr/>
                    <a:lstStyle/>
                    <a:p>
                      <a:r>
                        <a:rPr sz="1500" b="0">
                          <a:solidFill>
                            <a:srgbClr val="1F2937"/>
                          </a:solidFill>
                        </a:rPr>
                        <a:t>ko‘pincha bo‘ladi</a:t>
                      </a:r>
                    </a:p>
                  </a:txBody>
                  <a:tcPr marL="73152" marR="73152" marT="36576" marB="36576">
                    <a:solidFill>
                      <a:srgbClr val="E8EEF6"/>
                    </a:solidFill>
                  </a:tcPr>
                </a:tc>
                <a:tc>
                  <a:txBody>
                    <a:bodyPr/>
                    <a:lstStyle/>
                    <a:p>
                      <a:r>
                        <a:rPr sz="1500" b="0">
                          <a:solidFill>
                            <a:srgbClr val="1F2937"/>
                          </a:solidFill>
                        </a:rPr>
                        <a:t>kamdan kam hollarda</a:t>
                      </a:r>
                    </a:p>
                  </a:txBody>
                  <a:tcPr marL="73152" marR="73152" marT="36576" marB="36576">
                    <a:solidFill>
                      <a:srgbClr val="E8EEF6"/>
                    </a:solidFill>
                  </a:tcPr>
                </a:tc>
              </a:tr>
              <a:tr h="614476">
                <a:tc>
                  <a:txBody>
                    <a:bodyPr/>
                    <a:lstStyle/>
                    <a:p>
                      <a:r>
                        <a:rPr sz="1500" b="0">
                          <a:solidFill>
                            <a:srgbClr val="1F2937"/>
                          </a:solidFill>
                        </a:rPr>
                        <a:t>Hoshiyalar</a:t>
                      </a:r>
                    </a:p>
                  </a:txBody>
                  <a:tcPr marL="73152" marR="73152" marT="36576" marB="36576">
                    <a:solidFill>
                      <a:srgbClr val="FFFFFF"/>
                    </a:solidFill>
                  </a:tcPr>
                </a:tc>
                <a:tc>
                  <a:txBody>
                    <a:bodyPr/>
                    <a:lstStyle/>
                    <a:p>
                      <a:r>
                        <a:rPr sz="1500" b="0">
                          <a:solidFill>
                            <a:srgbClr val="1F2937"/>
                          </a:solidFill>
                        </a:rPr>
                        <a:t>shilinish (1-3 mm) va ifloslanish bor</a:t>
                      </a:r>
                    </a:p>
                  </a:txBody>
                  <a:tcPr marL="73152" marR="73152" marT="36576" marB="36576">
                    <a:solidFill>
                      <a:srgbClr val="FFFFFF"/>
                    </a:solidFill>
                  </a:tcPr>
                </a:tc>
                <a:tc>
                  <a:txBody>
                    <a:bodyPr/>
                    <a:lstStyle/>
                    <a:p>
                      <a:r>
                        <a:rPr sz="1500" b="0">
                          <a:solidFill>
                            <a:srgbClr val="1F2937"/>
                          </a:solidFill>
                        </a:rPr>
                        <a:t>ko‘pincha yo‘q; ifloslanish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92, 90,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teshikda shilinish va ifloslanish hoshiyasi yaqqol bo‘ladi? Javob: kirish teshigida; chiqishda ular ko‘pincha bo‘lmaydi.</a:t>
            </a:r>
          </a:p>
          <a:p>
            <a:pPr>
              <a:spcAft>
                <a:spcPts val="1200"/>
              </a:spcAft>
            </a:pPr>
            <a:r>
              <a:rPr sz="2200">
                <a:solidFill>
                  <a:srgbClr val="1F2937"/>
                </a:solidFill>
                <a:latin typeface="Calibri"/>
              </a:rPr>
              <a:t>▸  Savol: ko‘r jarohat teshib o‘tar jarohatdan nimasi bilan farq qiladi? Javob: chiqish teshigi yo‘q, snaryad yara kanali oxirida qoladi.</a:t>
            </a:r>
          </a:p>
          <a:p>
            <a:pPr>
              <a:spcAft>
                <a:spcPts val="1200"/>
              </a:spcAft>
            </a:pPr>
            <a:r>
              <a:rPr sz="2200">
                <a:solidFill>
                  <a:srgbClr val="1F2937"/>
                </a:solidFill>
                <a:latin typeface="Calibri"/>
              </a:rPr>
              <a:t>▸  Savol: yassi suyakda o‘q kirgan joydagi defekt qanday? Javob: kesik konus; o‘q yo‘nalishi kichik asosdan katta asos tomonga.</a:t>
            </a:r>
          </a:p>
          <a:p>
            <a:pPr>
              <a:spcAft>
                <a:spcPts val="1200"/>
              </a:spcAft>
            </a:pPr>
            <a:r>
              <a:rPr sz="2200">
                <a:solidFill>
                  <a:srgbClr val="1F2937"/>
                </a:solidFill>
                <a:latin typeface="Calibri"/>
              </a:rPr>
              <a:t>▸  Savol: naysimon suyakda chiqish tomoni nimasi bilan farq qiladi? Javob: defekt kattaroq, darzlar uzunasiga; kirishda radial darzlar.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 92, 90, 92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kirish va chiqish teshigi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A teshik dumaloq, chetlari tekis, ichkariga qayrilgan; atrofida 1-3 mm shilinish va ifloslanish hoshiyasi bor.</a:t>
            </a:r>
          </a:p>
          <a:p>
            <a:pPr>
              <a:spcAft>
                <a:spcPts val="1200"/>
              </a:spcAft>
            </a:pPr>
            <a:r>
              <a:rPr sz="2200">
                <a:solidFill>
                  <a:srgbClr val="1F2937"/>
                </a:solidFill>
                <a:latin typeface="Calibri"/>
              </a:rPr>
              <a:t>▸  B teshik yoriqsimon, chetlari notekis, tashqariga qayrilgan; hoshiyalar yo‘q, qon quyilishlari assimetrik joylashgan.</a:t>
            </a:r>
          </a:p>
          <a:p>
            <a:pPr>
              <a:spcAft>
                <a:spcPts val="1200"/>
              </a:spcAft>
            </a:pPr>
            <a:r>
              <a:rPr sz="2200">
                <a:solidFill>
                  <a:srgbClr val="1F2937"/>
                </a:solidFill>
                <a:latin typeface="Calibri"/>
              </a:rPr>
              <a:t>▸  Yassi suyakda A tomonda kesik konusli defekt. Naysimon suyakda bir tomonda dumaloq defekt va radial darzlar, ikkinchisida katta defekt.</a:t>
            </a:r>
          </a:p>
          <a:p>
            <a:pPr>
              <a:spcAft>
                <a:spcPts val="1200"/>
              </a:spcAft>
            </a:pPr>
            <a:r>
              <a:rPr sz="2200">
                <a:solidFill>
                  <a:srgbClr val="1F2937"/>
                </a:solidFill>
                <a:latin typeface="Calibri"/>
              </a:rPr>
              <a:t>▸  Savol: qaysi teshik kirish, qaysi biri chiqish? Suyaklardagi defektlar yara kanali yo‘nalishi haqida nimani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90, 91, 92, 93, 92, 90, 92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patrondan shikastlanish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Sochmali patron silliq stvolli ov miltiqlarida ishlatiladi. Yaqin distansiya bu qurollarda uzunroq bo‘ladi.</a:t>
            </a:r>
          </a:p>
          <a:p>
            <a:pPr>
              <a:spcAft>
                <a:spcPts val="800"/>
              </a:spcAft>
            </a:pPr>
            <a:r>
              <a:rPr sz="1800">
                <a:solidFill>
                  <a:srgbClr val="1F2937"/>
                </a:solidFill>
                <a:latin typeface="Calibri"/>
              </a:rPr>
              <a:t>▸  Porox va metall zarrachalari belgilari 200-500 sm masofada aniqlanishi mumkin.</a:t>
            </a:r>
          </a:p>
          <a:p>
            <a:pPr>
              <a:spcAft>
                <a:spcPts val="800"/>
              </a:spcAft>
            </a:pPr>
            <a:r>
              <a:rPr sz="1800">
                <a:solidFill>
                  <a:srgbClr val="1F2937"/>
                </a:solidFill>
                <a:latin typeface="Calibri"/>
              </a:rPr>
              <a:t>▸  Sochma 200-400 m, katta sochma 600 m gacha uchadi; tiqin 40 m gacha ta’sir qiladi. Yaralar odatda ko‘r.</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555286"/>
                <a:gridCol w="1321993"/>
                <a:gridCol w="2410694"/>
              </a:tblGrid>
              <a:tr h="768096">
                <a:tc>
                  <a:txBody>
                    <a:bodyPr/>
                    <a:lstStyle/>
                    <a:p>
                      <a:r>
                        <a:rPr sz="1600" b="1">
                          <a:solidFill>
                            <a:srgbClr val="FFFFFF"/>
                          </a:solidFill>
                        </a:rPr>
                        <a:t>Masofa</a:t>
                      </a:r>
                    </a:p>
                  </a:txBody>
                  <a:tcPr marL="73152" marR="73152" marT="36576" marB="36576">
                    <a:solidFill>
                      <a:srgbClr val="0B1F3A"/>
                    </a:solidFill>
                  </a:tcPr>
                </a:tc>
                <a:tc>
                  <a:txBody>
                    <a:bodyPr/>
                    <a:lstStyle/>
                    <a:p>
                      <a:r>
                        <a:rPr sz="1600" b="1">
                          <a:solidFill>
                            <a:srgbClr val="FFFFFF"/>
                          </a:solidFill>
                        </a:rPr>
                        <a:t>Ta’sir turi</a:t>
                      </a:r>
                    </a:p>
                  </a:txBody>
                  <a:tcPr marL="73152" marR="73152" marT="36576" marB="36576">
                    <a:solidFill>
                      <a:srgbClr val="0B1F3A"/>
                    </a:solidFill>
                  </a:tcPr>
                </a:tc>
                <a:tc>
                  <a:txBody>
                    <a:bodyPr/>
                    <a:lstStyle/>
                    <a:p>
                      <a:r>
                        <a:rPr sz="1600" b="1">
                          <a:solidFill>
                            <a:srgbClr val="FFFFFF"/>
                          </a:solidFill>
                        </a:rPr>
                        <a:t>Kirish teshigi</a:t>
                      </a:r>
                    </a:p>
                  </a:txBody>
                  <a:tcPr marL="73152" marR="73152" marT="36576" marB="36576">
                    <a:solidFill>
                      <a:srgbClr val="0B1F3A"/>
                    </a:solidFill>
                  </a:tcPr>
                </a:tc>
              </a:tr>
              <a:tr h="768096">
                <a:tc>
                  <a:txBody>
                    <a:bodyPr/>
                    <a:lstStyle/>
                    <a:p>
                      <a:r>
                        <a:rPr sz="1500" b="0">
                          <a:solidFill>
                            <a:srgbClr val="1F2937"/>
                          </a:solidFill>
                        </a:rPr>
                        <a:t>Tirab yoki 1 m gacha</a:t>
                      </a:r>
                    </a:p>
                  </a:txBody>
                  <a:tcPr marL="73152" marR="73152" marT="36576" marB="36576">
                    <a:solidFill>
                      <a:srgbClr val="E8EEF6"/>
                    </a:solidFill>
                  </a:tcPr>
                </a:tc>
                <a:tc>
                  <a:txBody>
                    <a:bodyPr/>
                    <a:lstStyle/>
                    <a:p>
                      <a:r>
                        <a:rPr sz="1500" b="0">
                          <a:solidFill>
                            <a:srgbClr val="1F2937"/>
                          </a:solidFill>
                        </a:rPr>
                        <a:t>Kompakt</a:t>
                      </a:r>
                    </a:p>
                  </a:txBody>
                  <a:tcPr marL="73152" marR="73152" marT="36576" marB="36576">
                    <a:solidFill>
                      <a:srgbClr val="E8EEF6"/>
                    </a:solidFill>
                  </a:tcPr>
                </a:tc>
                <a:tc>
                  <a:txBody>
                    <a:bodyPr/>
                    <a:lstStyle/>
                    <a:p>
                      <a:r>
                        <a:rPr sz="1500" b="0">
                          <a:solidFill>
                            <a:srgbClr val="1F2937"/>
                          </a:solidFill>
                        </a:rPr>
                        <a:t>Bitta, patron diametriga teng</a:t>
                      </a:r>
                    </a:p>
                  </a:txBody>
                  <a:tcPr marL="73152" marR="73152" marT="36576" marB="36576">
                    <a:solidFill>
                      <a:srgbClr val="E8EEF6"/>
                    </a:solidFill>
                  </a:tcPr>
                </a:tc>
              </a:tr>
              <a:tr h="768096">
                <a:tc>
                  <a:txBody>
                    <a:bodyPr/>
                    <a:lstStyle/>
                    <a:p>
                      <a:r>
                        <a:rPr sz="1500" b="0">
                          <a:solidFill>
                            <a:srgbClr val="1F2937"/>
                          </a:solidFill>
                        </a:rPr>
                        <a:t>5 m gacha</a:t>
                      </a:r>
                    </a:p>
                  </a:txBody>
                  <a:tcPr marL="73152" marR="73152" marT="36576" marB="36576">
                    <a:solidFill>
                      <a:srgbClr val="FFFFFF"/>
                    </a:solidFill>
                  </a:tcPr>
                </a:tc>
                <a:tc>
                  <a:txBody>
                    <a:bodyPr/>
                    <a:lstStyle/>
                    <a:p>
                      <a:r>
                        <a:rPr sz="1500" b="0">
                          <a:solidFill>
                            <a:srgbClr val="1F2937"/>
                          </a:solidFill>
                        </a:rPr>
                        <a:t>Nisbiy tarqalma</a:t>
                      </a:r>
                    </a:p>
                  </a:txBody>
                  <a:tcPr marL="73152" marR="73152" marT="36576" marB="36576">
                    <a:solidFill>
                      <a:srgbClr val="FFFFFF"/>
                    </a:solidFill>
                  </a:tcPr>
                </a:tc>
                <a:tc>
                  <a:txBody>
                    <a:bodyPr/>
                    <a:lstStyle/>
                    <a:p>
                      <a:r>
                        <a:rPr sz="1500" b="0">
                          <a:solidFill>
                            <a:srgbClr val="1F2937"/>
                          </a:solidFill>
                        </a:rPr>
                        <a:t>Asosiy + atrofida mayda yaralar</a:t>
                      </a:r>
                    </a:p>
                  </a:txBody>
                  <a:tcPr marL="73152" marR="73152" marT="36576" marB="36576">
                    <a:solidFill>
                      <a:srgbClr val="FFFFFF"/>
                    </a:solidFill>
                  </a:tcPr>
                </a:tc>
              </a:tr>
              <a:tr h="768096">
                <a:tc>
                  <a:txBody>
                    <a:bodyPr/>
                    <a:lstStyle/>
                    <a:p>
                      <a:r>
                        <a:rPr sz="1500" b="0">
                          <a:solidFill>
                            <a:srgbClr val="1F2937"/>
                          </a:solidFill>
                        </a:rPr>
                        <a:t>5 m dan uzoq</a:t>
                      </a:r>
                    </a:p>
                  </a:txBody>
                  <a:tcPr marL="73152" marR="73152" marT="36576" marB="36576">
                    <a:solidFill>
                      <a:srgbClr val="E8EEF6"/>
                    </a:solidFill>
                  </a:tcPr>
                </a:tc>
                <a:tc>
                  <a:txBody>
                    <a:bodyPr/>
                    <a:lstStyle/>
                    <a:p>
                      <a:r>
                        <a:rPr sz="1500" b="0">
                          <a:solidFill>
                            <a:srgbClr val="1F2937"/>
                          </a:solidFill>
                        </a:rPr>
                        <a:t>Tarqalma</a:t>
                      </a:r>
                    </a:p>
                  </a:txBody>
                  <a:tcPr marL="73152" marR="73152" marT="36576" marB="36576">
                    <a:solidFill>
                      <a:srgbClr val="E8EEF6"/>
                    </a:solidFill>
                  </a:tcPr>
                </a:tc>
                <a:tc>
                  <a:txBody>
                    <a:bodyPr/>
                    <a:lstStyle/>
                    <a:p>
                      <a:r>
                        <a:rPr sz="1500" b="0">
                          <a:solidFill>
                            <a:srgbClr val="1F2937"/>
                          </a:solidFill>
                        </a:rPr>
                        <a:t>Mayda, o‘xshash yaralar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Sochmalar ta’sirining masofaga bog‘liqligi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Snaryadsiz, gaz va pnevmatik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Snaryadsiz patronda o‘q yo‘q: jarohat tirab yoki yaqindan otishda porox gazlaridan hosil bo‘ladi.</a:t>
            </a:r>
          </a:p>
          <a:p>
            <a:pPr>
              <a:spcAft>
                <a:spcPts val="800"/>
              </a:spcAft>
            </a:pPr>
            <a:r>
              <a:rPr sz="1800">
                <a:solidFill>
                  <a:srgbClr val="1F2937"/>
                </a:solidFill>
                <a:latin typeface="Calibri"/>
              </a:rPr>
              <a:t>▸  Gaz quroli odamni vaqtincha ishdan chiqaradi; irritant ta’siri taxminan bir soat, oqibati 7 kungacha.</a:t>
            </a:r>
          </a:p>
          <a:p>
            <a:pPr>
              <a:spcAft>
                <a:spcPts val="800"/>
              </a:spcAft>
            </a:pPr>
            <a:r>
              <a:rPr sz="1800">
                <a:solidFill>
                  <a:srgbClr val="1F2937"/>
                </a:solidFill>
                <a:latin typeface="Calibri"/>
              </a:rPr>
              <a:t>▸  Pnevmatik qurolda snaryad siqilgan havo bilan uchadi, 30-50 m ga yetadi; tanani teshib o‘tmaydi.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Snaryadsiz patron</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Porox gazlari, tiqin</a:t>
            </a:r>
          </a:p>
          <a:p>
            <a:pPr algn="l">
              <a:spcAft>
                <a:spcPts val="700"/>
              </a:spcAft>
            </a:pPr>
            <a:r>
              <a:rPr sz="1500" b="1">
                <a:solidFill>
                  <a:srgbClr val="C9A227"/>
                </a:solidFill>
                <a:latin typeface="Calibri"/>
              </a:rPr>
              <a:t>●  </a:t>
            </a:r>
            <a:r>
              <a:rPr sz="1500" b="0">
                <a:solidFill>
                  <a:srgbClr val="1F2937"/>
                </a:solidFill>
                <a:latin typeface="Calibri"/>
              </a:rPr>
              <a:t>Tirab: ko‘r yara</a:t>
            </a:r>
          </a:p>
          <a:p>
            <a:pPr algn="l">
              <a:spcAft>
                <a:spcPts val="700"/>
              </a:spcAft>
            </a:pPr>
            <a:r>
              <a:rPr sz="1500" b="1">
                <a:solidFill>
                  <a:srgbClr val="C9A227"/>
                </a:solidFill>
                <a:latin typeface="Calibri"/>
              </a:rPr>
              <a:t>●  </a:t>
            </a:r>
            <a:r>
              <a:rPr sz="1500" b="0">
                <a:solidFill>
                  <a:srgbClr val="1F2937"/>
                </a:solidFill>
                <a:latin typeface="Calibri"/>
              </a:rPr>
              <a:t>Ichki a’zolar yorilishi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Gaz quroli</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Irritantlar</a:t>
            </a:r>
          </a:p>
          <a:p>
            <a:pPr algn="l">
              <a:spcAft>
                <a:spcPts val="700"/>
              </a:spcAft>
            </a:pPr>
            <a:r>
              <a:rPr sz="1500" b="1">
                <a:solidFill>
                  <a:srgbClr val="C9A227"/>
                </a:solidFill>
                <a:latin typeface="Calibri"/>
              </a:rPr>
              <a:t>●  </a:t>
            </a:r>
            <a:r>
              <a:rPr sz="1500" b="0">
                <a:solidFill>
                  <a:srgbClr val="1F2937"/>
                </a:solidFill>
                <a:latin typeface="Calibri"/>
              </a:rPr>
              <a:t>Ko‘z yoshi, yo‘tal</a:t>
            </a:r>
          </a:p>
          <a:p>
            <a:pPr algn="l">
              <a:spcAft>
                <a:spcPts val="700"/>
              </a:spcAft>
            </a:pPr>
            <a:r>
              <a:rPr sz="1500" b="1">
                <a:solidFill>
                  <a:srgbClr val="C9A227"/>
                </a:solidFill>
                <a:latin typeface="Calibri"/>
              </a:rPr>
              <a:t>●  </a:t>
            </a:r>
            <a:r>
              <a:rPr sz="1500" b="0">
                <a:solidFill>
                  <a:srgbClr val="1F2937"/>
                </a:solidFill>
                <a:latin typeface="Calibri"/>
              </a:rPr>
              <a:t>Ta’sir 2-3 m</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Pnevmatik qurol</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Siqilgan havo</a:t>
            </a:r>
          </a:p>
          <a:p>
            <a:pPr algn="l">
              <a:spcAft>
                <a:spcPts val="700"/>
              </a:spcAft>
            </a:pPr>
            <a:r>
              <a:rPr sz="1500" b="1">
                <a:solidFill>
                  <a:srgbClr val="C9A227"/>
                </a:solidFill>
                <a:latin typeface="Calibri"/>
              </a:rPr>
              <a:t>●  </a:t>
            </a:r>
            <a:r>
              <a:rPr sz="1500" b="0">
                <a:solidFill>
                  <a:srgbClr val="1F2937"/>
                </a:solidFill>
                <a:latin typeface="Calibri"/>
              </a:rPr>
              <a:t>Qo‘shimcha omil izi yo‘q</a:t>
            </a:r>
          </a:p>
          <a:p>
            <a:pPr algn="l">
              <a:spcAft>
                <a:spcPts val="700"/>
              </a:spcAft>
            </a:pPr>
            <a:r>
              <a:rPr sz="1500" b="1">
                <a:solidFill>
                  <a:srgbClr val="C9A227"/>
                </a:solidFill>
                <a:latin typeface="Calibri"/>
              </a:rPr>
              <a:t>●  </a:t>
            </a:r>
            <a:r>
              <a:rPr sz="1500" b="0">
                <a:solidFill>
                  <a:srgbClr val="1F2937"/>
                </a:solidFill>
                <a:latin typeface="Calibri"/>
              </a:rPr>
              <a:t>Ko‘r yara</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qurol turini solishtirish</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94, 95, 95-96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jarohatlarda ekspertiza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Savollar: jarohat o‘q otar quroldan etkazilganmi, qanday qurol va snaryad, distansiya va masofa, kirish-chiqish teshigi, yara kanali yo‘nalishi.</a:t>
            </a:r>
          </a:p>
          <a:p>
            <a:pPr>
              <a:spcAft>
                <a:spcPts val="1200"/>
              </a:spcAft>
            </a:pPr>
            <a:r>
              <a:rPr sz="2200">
                <a:solidFill>
                  <a:srgbClr val="1F2937"/>
                </a:solidFill>
                <a:latin typeface="Calibri"/>
              </a:rPr>
              <a:t>▸  Yana aniqlanadi: stvol va jabrlanganning o‘zaro holati, jarohatlar ketma-ketligi, qurol avtomatikmi, jabrlangan o‘zi etkazganmi.</a:t>
            </a:r>
          </a:p>
          <a:p>
            <a:pPr>
              <a:spcAft>
                <a:spcPts val="1200"/>
              </a:spcAft>
            </a:pPr>
            <a:r>
              <a:rPr sz="2200">
                <a:solidFill>
                  <a:srgbClr val="1F2937"/>
                </a:solidFill>
                <a:latin typeface="Calibri"/>
              </a:rPr>
              <a:t>▸  O‘q otar quroldan ekanini to‘qima defekti, shilinish va ifloslanish hoshiyalari, qo‘shimcha omillar izi va tanada snaryad topilishi ko‘rsatadi.</a:t>
            </a:r>
          </a:p>
          <a:p>
            <a:pPr>
              <a:spcAft>
                <a:spcPts val="1200"/>
              </a:spcAft>
            </a:pPr>
            <a:r>
              <a:rPr sz="2200">
                <a:solidFill>
                  <a:srgbClr val="1F2937"/>
                </a:solidFill>
                <a:latin typeface="Calibri"/>
              </a:rPr>
              <a:t>▸  Distansiya belgilar majmuidan aniqlanadi; masofa esa faqat o‘sha qurol va patron bilan eksperimentda aniqlanadi. Qurol turini aniqlash murakkabroq.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96, 97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Ketma-ketlik, o‘zini otish va tekshiruv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jarohatda qon quyilish yaqqolroq. Avtomatik qurolda ko‘p jarohat bir tomonda va o‘xshash bo‘ladi.</a:t>
            </a:r>
          </a:p>
          <a:p>
            <a:pPr>
              <a:spcAft>
                <a:spcPts val="800"/>
              </a:spcAft>
            </a:pPr>
            <a:r>
              <a:rPr sz="1800">
                <a:solidFill>
                  <a:srgbClr val="1F2937"/>
                </a:solidFill>
                <a:latin typeface="Calibri"/>
              </a:rPr>
              <a:t>▸  O‘zi otganda qo‘l yuzasi, burun va quloqda qurum; stvol uchi va kaftda qon izi topilishi mumkin.</a:t>
            </a:r>
          </a:p>
          <a:p>
            <a:pPr>
              <a:spcAft>
                <a:spcPts val="800"/>
              </a:spcAft>
            </a:pPr>
            <a:r>
              <a:rPr sz="1800">
                <a:solidFill>
                  <a:srgbClr val="1F2937"/>
                </a:solidFill>
                <a:latin typeface="Calibri"/>
              </a:rPr>
              <a:t>▸  Shifokor kirish-chiqish teshigi va yara kanalini yozib, o‘q va kiyimni huquq idoralariga topshirishi kerak.</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282190"/>
                <a:gridCol w="3005785"/>
              </a:tblGrid>
              <a:tr h="614476">
                <a:tc>
                  <a:txBody>
                    <a:bodyPr/>
                    <a:lstStyle/>
                    <a:p>
                      <a:r>
                        <a:rPr sz="1800" b="1">
                          <a:solidFill>
                            <a:srgbClr val="FFFFFF"/>
                          </a:solidFill>
                        </a:rPr>
                        <a:t>Usul</a:t>
                      </a:r>
                    </a:p>
                  </a:txBody>
                  <a:tcPr marL="73152" marR="73152" marT="36576" marB="36576">
                    <a:solidFill>
                      <a:srgbClr val="0B1F3A"/>
                    </a:solidFill>
                  </a:tcPr>
                </a:tc>
                <a:tc>
                  <a:txBody>
                    <a:bodyPr/>
                    <a:lstStyle/>
                    <a:p>
                      <a:r>
                        <a:rPr sz="1800" b="1">
                          <a:solidFill>
                            <a:srgbClr val="FFFFFF"/>
                          </a:solidFill>
                        </a:rPr>
                        <a:t>Aniqlaydi</a:t>
                      </a:r>
                    </a:p>
                  </a:txBody>
                  <a:tcPr marL="73152" marR="73152" marT="36576" marB="36576">
                    <a:solidFill>
                      <a:srgbClr val="0B1F3A"/>
                    </a:solidFill>
                  </a:tcPr>
                </a:tc>
              </a:tr>
              <a:tr h="614476">
                <a:tc>
                  <a:txBody>
                    <a:bodyPr/>
                    <a:lstStyle/>
                    <a:p>
                      <a:r>
                        <a:rPr sz="1700" b="0">
                          <a:solidFill>
                            <a:srgbClr val="1F2937"/>
                          </a:solidFill>
                        </a:rPr>
                        <a:t>Rentgenografiya</a:t>
                      </a:r>
                    </a:p>
                  </a:txBody>
                  <a:tcPr marL="73152" marR="73152" marT="36576" marB="36576">
                    <a:solidFill>
                      <a:srgbClr val="E8EEF6"/>
                    </a:solidFill>
                  </a:tcPr>
                </a:tc>
                <a:tc>
                  <a:txBody>
                    <a:bodyPr/>
                    <a:lstStyle/>
                    <a:p>
                      <a:r>
                        <a:rPr sz="1700" b="0">
                          <a:solidFill>
                            <a:srgbClr val="1F2937"/>
                          </a:solidFill>
                        </a:rPr>
                        <a:t>Tanadagi o‘q va sochmalar</a:t>
                      </a:r>
                    </a:p>
                  </a:txBody>
                  <a:tcPr marL="73152" marR="73152" marT="36576" marB="36576">
                    <a:solidFill>
                      <a:srgbClr val="E8EEF6"/>
                    </a:solidFill>
                  </a:tcPr>
                </a:tc>
              </a:tr>
              <a:tr h="614476">
                <a:tc>
                  <a:txBody>
                    <a:bodyPr/>
                    <a:lstStyle/>
                    <a:p>
                      <a:r>
                        <a:rPr sz="1700" b="0">
                          <a:solidFill>
                            <a:srgbClr val="1F2937"/>
                          </a:solidFill>
                        </a:rPr>
                        <a:t>Yumshoq nurlar (Bukki)</a:t>
                      </a:r>
                    </a:p>
                  </a:txBody>
                  <a:tcPr marL="73152" marR="73152" marT="36576" marB="36576">
                    <a:solidFill>
                      <a:srgbClr val="FFFFFF"/>
                    </a:solidFill>
                  </a:tcPr>
                </a:tc>
                <a:tc>
                  <a:txBody>
                    <a:bodyPr/>
                    <a:lstStyle/>
                    <a:p>
                      <a:r>
                        <a:rPr sz="1700" b="0">
                          <a:solidFill>
                            <a:srgbClr val="1F2937"/>
                          </a:solidFill>
                        </a:rPr>
                        <a:t>Kirish atrofidagi metall zarralari</a:t>
                      </a:r>
                    </a:p>
                  </a:txBody>
                  <a:tcPr marL="73152" marR="73152" marT="36576" marB="36576">
                    <a:solidFill>
                      <a:srgbClr val="FFFFFF"/>
                    </a:solidFill>
                  </a:tcPr>
                </a:tc>
              </a:tr>
              <a:tr h="614476">
                <a:tc>
                  <a:txBody>
                    <a:bodyPr/>
                    <a:lstStyle/>
                    <a:p>
                      <a:r>
                        <a:rPr sz="1700" b="0">
                          <a:solidFill>
                            <a:srgbClr val="1F2937"/>
                          </a:solidFill>
                        </a:rPr>
                        <a:t>Ultrabinafsha nur</a:t>
                      </a:r>
                    </a:p>
                  </a:txBody>
                  <a:tcPr marL="73152" marR="73152" marT="36576" marB="36576">
                    <a:solidFill>
                      <a:srgbClr val="E8EEF6"/>
                    </a:solidFill>
                  </a:tcPr>
                </a:tc>
                <a:tc>
                  <a:txBody>
                    <a:bodyPr/>
                    <a:lstStyle/>
                    <a:p>
                      <a:r>
                        <a:rPr sz="1700" b="0">
                          <a:solidFill>
                            <a:srgbClr val="1F2937"/>
                          </a:solidFill>
                        </a:rPr>
                        <a:t>Oz miqdordagi qurum va moy</a:t>
                      </a:r>
                    </a:p>
                  </a:txBody>
                  <a:tcPr marL="73152" marR="73152" marT="36576" marB="36576">
                    <a:solidFill>
                      <a:srgbClr val="E8EEF6"/>
                    </a:solidFill>
                  </a:tcPr>
                </a:tc>
              </a:tr>
              <a:tr h="614476">
                <a:tc>
                  <a:txBody>
                    <a:bodyPr/>
                    <a:lstStyle/>
                    <a:p>
                      <a:r>
                        <a:rPr sz="1700" b="0">
                          <a:solidFill>
                            <a:srgbClr val="1F2937"/>
                          </a:solidFill>
                        </a:rPr>
                        <a:t>Infraqizil fotografiya</a:t>
                      </a:r>
                    </a:p>
                  </a:txBody>
                  <a:tcPr marL="73152" marR="73152" marT="36576" marB="36576">
                    <a:solidFill>
                      <a:srgbClr val="FFFFFF"/>
                    </a:solidFill>
                  </a:tcPr>
                </a:tc>
                <a:tc>
                  <a:txBody>
                    <a:bodyPr/>
                    <a:lstStyle/>
                    <a:p>
                      <a:r>
                        <a:rPr sz="1700" b="0">
                          <a:solidFill>
                            <a:srgbClr val="1F2937"/>
                          </a:solidFill>
                        </a:rPr>
                        <a:t>To‘q kiyimda qurum, porox, metall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Instrumental usullar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97, 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turlari, yonish va detonatsiya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Moddalarning fizik yoki kimyoviy o‘zgarishida o‘ta qisqa vaqtda katta energiya ajralishi portlash deyiladi.</a:t>
            </a:r>
          </a:p>
          <a:p>
            <a:pPr>
              <a:spcAft>
                <a:spcPts val="800"/>
              </a:spcAft>
            </a:pPr>
            <a:r>
              <a:rPr sz="1600">
                <a:solidFill>
                  <a:srgbClr val="1F2937"/>
                </a:solidFill>
                <a:latin typeface="Calibri"/>
              </a:rPr>
              <a:t>▸  Portlash turlari (Strehlow, Bacer, 1976): tabiiy (yashin, vulqon, meteorit), qasddan va tasodifiy (gaz ballonlari, bug‘ qozonlari).</a:t>
            </a:r>
          </a:p>
          <a:p>
            <a:pPr>
              <a:spcAft>
                <a:spcPts val="800"/>
              </a:spcAft>
            </a:pPr>
            <a:r>
              <a:rPr sz="1600">
                <a:solidFill>
                  <a:srgbClr val="1F2937"/>
                </a:solidFill>
                <a:latin typeface="Calibri"/>
              </a:rPr>
              <a:t>▸  Yonish nisbatan sekin; qora porox yonish tezligi yopiq muhitda 400 m/s ga yetib, bir necha ming atmosfera bosimli gaz hosil qiladi.</a:t>
            </a:r>
          </a:p>
          <a:p>
            <a:pPr>
              <a:spcAft>
                <a:spcPts val="800"/>
              </a:spcAft>
            </a:pPr>
            <a:r>
              <a:rPr sz="1600">
                <a:solidFill>
                  <a:srgbClr val="1F2937"/>
                </a:solidFill>
                <a:latin typeface="Calibri"/>
              </a:rPr>
              <a:t>▸  Detonatsiyada o‘zgarish zarb to‘lqini ta’sirida bo‘lib, tezligi bir necha ming m/s; trotilda bosim yuz ming atmosferadan oshadi.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Yonish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Nisbatan sekin</a:t>
            </a:r>
          </a:p>
          <a:p>
            <a:pPr algn="l">
              <a:spcAft>
                <a:spcPts val="700"/>
              </a:spcAft>
            </a:pPr>
            <a:r>
              <a:rPr sz="1500" b="1">
                <a:solidFill>
                  <a:srgbClr val="C9A227"/>
                </a:solidFill>
                <a:latin typeface="Calibri"/>
              </a:rPr>
              <a:t>●  </a:t>
            </a:r>
            <a:r>
              <a:rPr sz="1500" b="0">
                <a:solidFill>
                  <a:srgbClr val="1F2937"/>
                </a:solidFill>
                <a:latin typeface="Calibri"/>
              </a:rPr>
              <a:t>Qora porox: 400 m/s gacha</a:t>
            </a:r>
          </a:p>
          <a:p>
            <a:pPr algn="l">
              <a:spcAft>
                <a:spcPts val="700"/>
              </a:spcAft>
            </a:pPr>
            <a:r>
              <a:rPr sz="1500" b="1">
                <a:solidFill>
                  <a:srgbClr val="C9A227"/>
                </a:solidFill>
                <a:latin typeface="Calibri"/>
              </a:rPr>
              <a:t>●  </a:t>
            </a:r>
            <a:r>
              <a:rPr sz="1500" b="0">
                <a:solidFill>
                  <a:srgbClr val="1F2937"/>
                </a:solidFill>
                <a:latin typeface="Calibri"/>
              </a:rPr>
              <a:t>Bosim: bir necha ming atm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Detonatsiya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Zarb to‘lqini ta’sirida</a:t>
            </a:r>
          </a:p>
          <a:p>
            <a:pPr algn="l">
              <a:spcAft>
                <a:spcPts val="700"/>
              </a:spcAft>
            </a:pPr>
            <a:r>
              <a:rPr sz="1500" b="1">
                <a:solidFill>
                  <a:srgbClr val="C9A227"/>
                </a:solidFill>
                <a:latin typeface="Calibri"/>
              </a:rPr>
              <a:t>●  </a:t>
            </a:r>
            <a:r>
              <a:rPr sz="1500" b="0">
                <a:solidFill>
                  <a:srgbClr val="1F2937"/>
                </a:solidFill>
                <a:latin typeface="Calibri"/>
              </a:rPr>
              <a:t>Tezlik: bir necha ming m/s</a:t>
            </a:r>
          </a:p>
          <a:p>
            <a:pPr algn="l">
              <a:spcAft>
                <a:spcPts val="700"/>
              </a:spcAft>
            </a:pPr>
            <a:r>
              <a:rPr sz="1500" b="1">
                <a:solidFill>
                  <a:srgbClr val="C9A227"/>
                </a:solidFill>
                <a:latin typeface="Calibri"/>
              </a:rPr>
              <a:t>●  </a:t>
            </a:r>
            <a:r>
              <a:rPr sz="1500" b="0">
                <a:solidFill>
                  <a:srgbClr val="1F2937"/>
                </a:solidFill>
                <a:latin typeface="Calibri"/>
              </a:rPr>
              <a:t>Trotil: bosim 100 000 atm dan ortiq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Yonish va detonatsiya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Portlovchi moddalar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Agregat holati bo‘yicha portlovchi moddalar qattiq, suyuq va gazsimon bo‘ladi.</a:t>
            </a:r>
          </a:p>
          <a:p>
            <a:pPr>
              <a:spcAft>
                <a:spcPts val="800"/>
              </a:spcAft>
            </a:pPr>
            <a:r>
              <a:rPr sz="1600">
                <a:solidFill>
                  <a:srgbClr val="1F2937"/>
                </a:solidFill>
                <a:latin typeface="Calibri"/>
              </a:rPr>
              <a:t>▸  Birlamchi (initsial) moddalar ta’sirga juda sezgir: kapsyul va detonatorlarda; simob sianid, qo‘rg‘oshin trinitrorezorsinat.</a:t>
            </a:r>
          </a:p>
          <a:p>
            <a:pPr>
              <a:spcAft>
                <a:spcPts val="800"/>
              </a:spcAft>
            </a:pPr>
            <a:r>
              <a:rPr sz="1600">
                <a:solidFill>
                  <a:srgbClr val="1F2937"/>
                </a:solidFill>
                <a:latin typeface="Calibri"/>
              </a:rPr>
              <a:t>▸  Ikkilamchi (brizant) moddalar detonatsiya ta’sirida qo‘zg‘aladi; snaryad, granata, mina, bomba, qurilish va tog‘-kon sanoatida: trotil, ammonal.</a:t>
            </a:r>
          </a:p>
          <a:p>
            <a:pPr>
              <a:spcAft>
                <a:spcPts val="800"/>
              </a:spcAft>
            </a:pPr>
            <a:r>
              <a:rPr sz="1600">
                <a:solidFill>
                  <a:srgbClr val="1F2937"/>
                </a:solidFill>
                <a:latin typeface="Calibri"/>
              </a:rPr>
              <a:t>▸  Tarqatuvchi moddalar detonatsiyalanmaydi, yonish yo‘li bilan parchalanadi: porox. Pirotexnik tarkiblar — oksidlovchi va yonilg‘i aralashmasi.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Portlovchi moddalar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Birlamchi (initsial)</a:t>
            </a:r>
          </a:p>
          <a:p>
            <a:pPr algn="l">
              <a:spcAft>
                <a:spcPts val="0"/>
              </a:spcAft>
            </a:pPr>
            <a:r>
              <a:rPr sz="1200" b="0">
                <a:solidFill>
                  <a:srgbClr val="1F2937"/>
                </a:solidFill>
                <a:latin typeface="Calibri"/>
              </a:rPr>
              <a:t>Simob sianid  ·  Qo‘rg‘oshin trinitrorezorsinat</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(brizant)</a:t>
            </a:r>
          </a:p>
          <a:p>
            <a:pPr algn="l">
              <a:spcAft>
                <a:spcPts val="0"/>
              </a:spcAft>
            </a:pPr>
            <a:r>
              <a:rPr sz="1200" b="0">
                <a:solidFill>
                  <a:srgbClr val="1F2937"/>
                </a:solidFill>
                <a:latin typeface="Calibri"/>
              </a:rPr>
              <a:t>Trotil, ammonal  ·  Snaryad, granata, mina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Tarqatuvchi</a:t>
            </a:r>
          </a:p>
          <a:p>
            <a:pPr algn="l">
              <a:spcAft>
                <a:spcPts val="0"/>
              </a:spcAft>
            </a:pPr>
            <a:r>
              <a:rPr sz="1200" b="0">
                <a:solidFill>
                  <a:srgbClr val="1F2937"/>
                </a:solidFill>
                <a:latin typeface="Calibri"/>
              </a:rPr>
              <a:t>Porox  ·  Yonish yo‘li bilan parchalanadi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Pirotexnik tarkiblar</a:t>
            </a:r>
          </a:p>
          <a:p>
            <a:pPr algn="l">
              <a:spcAft>
                <a:spcPts val="0"/>
              </a:spcAft>
            </a:pPr>
            <a:r>
              <a:rPr sz="1200" b="0">
                <a:solidFill>
                  <a:srgbClr val="1F2937"/>
                </a:solidFill>
                <a:latin typeface="Calibri"/>
              </a:rPr>
              <a:t>Oksidlovchi + yonilg‘i  ·  Signal, yoritgich raketalar</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Portlash ta’siriga qarab</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omillarining ta’sir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Portlash gazlari mexanik (yorma, lat yara, qontalash), termik (teri, soch kuyishi) va kimyoviy (karboksigemoglobin) ta’sir ko‘rsatadi.</a:t>
            </a:r>
          </a:p>
          <a:p>
            <a:pPr>
              <a:spcAft>
                <a:spcPts val="800"/>
              </a:spcAft>
            </a:pPr>
            <a:r>
              <a:rPr sz="1600">
                <a:solidFill>
                  <a:srgbClr val="1F2937"/>
                </a:solidFill>
                <a:latin typeface="Calibri"/>
              </a:rPr>
              <a:t>▸  Atrof-muhit zarb to‘lqini cheklanmagan yassi yuzali o‘tmas jism kabi ta’sir qiladi: portlash markazi tomonidagi yuzada jarohat bo‘ladi.</a:t>
            </a:r>
          </a:p>
          <a:p>
            <a:pPr>
              <a:spcAft>
                <a:spcPts val="800"/>
              </a:spcAft>
            </a:pPr>
            <a:r>
              <a:rPr sz="1600">
                <a:solidFill>
                  <a:srgbClr val="1F2937"/>
                </a:solidFill>
                <a:latin typeface="Calibri"/>
              </a:rPr>
              <a:t>▸  Moslama bo‘laklarining boshlang‘ich tezligi bir necha ming m/s gacha; shilinma, yara, suyak sinishi, ichki a’zo shikasti, tana qismlari ajralishi mumkin.</a:t>
            </a:r>
          </a:p>
          <a:p>
            <a:pPr>
              <a:spcAft>
                <a:spcPts val="800"/>
              </a:spcAft>
            </a:pPr>
            <a:r>
              <a:rPr sz="1600">
                <a:solidFill>
                  <a:srgbClr val="1F2937"/>
                </a:solidFill>
                <a:latin typeface="Calibri"/>
              </a:rPr>
              <a:t>▸  Baroakustik travma asosan zarb to‘lqinidan: quloq nog‘ora pardasi va o‘pka shikastlanadi. Ikkilamchi snaryadlar jarohati odatda yengilroq.</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Ta’sir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Mexanik</a:t>
            </a:r>
          </a:p>
          <a:p>
            <a:pPr algn="l">
              <a:spcAft>
                <a:spcPts val="0"/>
              </a:spcAft>
            </a:pPr>
            <a:r>
              <a:rPr sz="1200" b="0">
                <a:solidFill>
                  <a:srgbClr val="1F2937"/>
                </a:solidFill>
                <a:latin typeface="Calibri"/>
              </a:rPr>
              <a:t>Portlash gazlari, zarb to‘lqini  ·  Bo‘laklar, ikkilamchi snaryadlar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Termik</a:t>
            </a:r>
          </a:p>
          <a:p>
            <a:pPr algn="l">
              <a:spcAft>
                <a:spcPts val="0"/>
              </a:spcAft>
            </a:pPr>
            <a:r>
              <a:rPr sz="1200" b="0">
                <a:solidFill>
                  <a:srgbClr val="1F2937"/>
                </a:solidFill>
                <a:latin typeface="Calibri"/>
              </a:rPr>
              <a:t>Gazlar, zarralar  ·  Kiyimning yonishi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Kimyoviy</a:t>
            </a:r>
          </a:p>
          <a:p>
            <a:pPr algn="l">
              <a:spcAft>
                <a:spcPts val="0"/>
              </a:spcAft>
            </a:pPr>
            <a:r>
              <a:rPr sz="1200" b="0">
                <a:solidFill>
                  <a:srgbClr val="1F2937"/>
                </a:solidFill>
                <a:latin typeface="Calibri"/>
              </a:rPr>
              <a:t>Karboksigemoglobin hosil bo‘lishi  ·  Maxsus kimyoviy vositalar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Baroakustik</a:t>
            </a:r>
          </a:p>
          <a:p>
            <a:pPr algn="l">
              <a:spcAft>
                <a:spcPts val="0"/>
              </a:spcAft>
            </a:pPr>
            <a:r>
              <a:rPr sz="1200" b="0">
                <a:solidFill>
                  <a:srgbClr val="1F2937"/>
                </a:solidFill>
                <a:latin typeface="Calibri"/>
              </a:rPr>
              <a:t>Zarb to‘lqini  ·  Nog‘ora parda, o‘pka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Portlash ta’sir turlari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100, 101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 turlari va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Portlash — o‘ta qisqa vaqtda katta energiya ajralishi. Turlari: tabiiy, qasddan va tasodifiy.</a:t>
            </a:r>
          </a:p>
          <a:p>
            <a:pPr>
              <a:spcAft>
                <a:spcPts val="800"/>
              </a:spcAft>
            </a:pPr>
            <a:r>
              <a:rPr sz="1800">
                <a:solidFill>
                  <a:srgbClr val="1F2937"/>
                </a:solidFill>
                <a:latin typeface="Calibri"/>
              </a:rPr>
              <a:t>▸  Moddalar: birlamchi (simob sianid), ikkilamchi (trotil) — detonatsiya; tarqatuvchi (porox) yonadi.</a:t>
            </a:r>
          </a:p>
          <a:p>
            <a:pPr>
              <a:spcAft>
                <a:spcPts val="800"/>
              </a:spcAft>
            </a:pPr>
            <a:r>
              <a:rPr sz="1800">
                <a:solidFill>
                  <a:srgbClr val="1F2937"/>
                </a:solidFill>
                <a:latin typeface="Calibri"/>
              </a:rPr>
              <a:t>▸  Ta’sir: mexanik, termik, kimyoviy, baroakustik; oxirgisida nog‘ora parda va o‘pka shikastlanadi.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Portlash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Detonatsiya mahsulotlari</a:t>
            </a:r>
          </a:p>
          <a:p>
            <a:pPr algn="l">
              <a:spcAft>
                <a:spcPts val="0"/>
              </a:spcAft>
            </a:pPr>
            <a:r>
              <a:rPr sz="1200" b="0">
                <a:solidFill>
                  <a:srgbClr val="1F2937"/>
                </a:solidFill>
                <a:latin typeface="Calibri"/>
              </a:rPr>
              <a:t>Portlash gazlari, zarralar</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Zarb to‘lqini</a:t>
            </a:r>
          </a:p>
          <a:p>
            <a:pPr algn="l">
              <a:spcAft>
                <a:spcPts val="0"/>
              </a:spcAft>
            </a:pPr>
            <a:r>
              <a:rPr sz="1200" b="0">
                <a:solidFill>
                  <a:srgbClr val="1F2937"/>
                </a:solidFill>
                <a:latin typeface="Calibri"/>
              </a:rPr>
              <a:t>Atrof-muhit zarb to‘lqini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Moslama bo‘laklari</a:t>
            </a:r>
          </a:p>
          <a:p>
            <a:pPr algn="l">
              <a:spcAft>
                <a:spcPts val="0"/>
              </a:spcAft>
            </a:pPr>
            <a:r>
              <a:rPr sz="1200" b="0">
                <a:solidFill>
                  <a:srgbClr val="1F2937"/>
                </a:solidFill>
                <a:latin typeface="Calibri"/>
              </a:rPr>
              <a:t>Portlovchi moslama bo‘laklari</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 vositalar</a:t>
            </a:r>
          </a:p>
          <a:p>
            <a:pPr algn="l">
              <a:spcAft>
                <a:spcPts val="0"/>
              </a:spcAft>
            </a:pPr>
            <a:r>
              <a:rPr sz="1200" b="0">
                <a:solidFill>
                  <a:srgbClr val="1F2937"/>
                </a:solidFill>
                <a:latin typeface="Calibri"/>
              </a:rPr>
              <a:t>Mexanik, termik, kimyoviy elementlar</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Ikkilamchi snaryadlar</a:t>
            </a:r>
          </a:p>
          <a:p>
            <a:pPr algn="l">
              <a:spcAft>
                <a:spcPts val="0"/>
              </a:spcAft>
            </a:pPr>
            <a:r>
              <a:rPr sz="1200" b="0">
                <a:solidFill>
                  <a:srgbClr val="1F2937"/>
                </a:solidFill>
                <a:latin typeface="Calibri"/>
              </a:rPr>
              <a:t>Kiyim, poyafzal, jismlar bo‘laklari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Portlashning beshta shikastlovchi omili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98, 98–99, 99–101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distansiyalari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Har distansiyaga mos masofa portlovchi modda, moslama va zaryad quvvatiga bog‘liq bo‘ladi.</a:t>
            </a:r>
          </a:p>
          <a:p>
            <a:pPr>
              <a:spcAft>
                <a:spcPts val="800"/>
              </a:spcAft>
            </a:pPr>
            <a:r>
              <a:rPr sz="1800">
                <a:solidFill>
                  <a:srgbClr val="1F2937"/>
                </a:solidFill>
                <a:latin typeface="Calibri"/>
              </a:rPr>
              <a:t>▸  Zaryadsiz moslama portlashida jarohat turi, oraliq masofa va atrofdagi jismlarga bog‘liq.</a:t>
            </a:r>
          </a:p>
          <a:p>
            <a:pPr>
              <a:spcAft>
                <a:spcPts val="800"/>
              </a:spcAft>
            </a:pPr>
            <a:r>
              <a:rPr sz="1800">
                <a:solidFill>
                  <a:srgbClr val="1F2937"/>
                </a:solidFill>
                <a:latin typeface="Calibri"/>
              </a:rPr>
              <a:t>▸  Ballonda devor bo‘laklari, bug‘ qozonida termik; gaz, ko‘mir, un changida termik va zarb to‘lqini jarohati.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Distansiya</a:t>
                      </a:r>
                    </a:p>
                  </a:txBody>
                  <a:tcPr marL="73152" marR="73152" marT="36576" marB="36576">
                    <a:solidFill>
                      <a:srgbClr val="0B1F3A"/>
                    </a:solidFill>
                  </a:tcPr>
                </a:tc>
                <a:tc>
                  <a:txBody>
                    <a:bodyPr/>
                    <a:lstStyle/>
                    <a:p>
                      <a:r>
                        <a:rPr sz="1800" b="1">
                          <a:solidFill>
                            <a:srgbClr val="FFFFFF"/>
                          </a:solidFill>
                        </a:rPr>
                        <a:t>Asosiy omillar</a:t>
                      </a:r>
                    </a:p>
                  </a:txBody>
                  <a:tcPr marL="73152" marR="73152" marT="36576" marB="36576">
                    <a:solidFill>
                      <a:srgbClr val="0B1F3A"/>
                    </a:solidFill>
                  </a:tcPr>
                </a:tc>
              </a:tr>
              <a:tr h="614476">
                <a:tc>
                  <a:txBody>
                    <a:bodyPr/>
                    <a:lstStyle/>
                    <a:p>
                      <a:r>
                        <a:rPr sz="1700" b="0">
                          <a:solidFill>
                            <a:srgbClr val="1F2937"/>
                          </a:solidFill>
                        </a:rPr>
                        <a:t>Kontakt</a:t>
                      </a:r>
                    </a:p>
                  </a:txBody>
                  <a:tcPr marL="73152" marR="73152" marT="36576" marB="36576">
                    <a:solidFill>
                      <a:srgbClr val="E8EEF6"/>
                    </a:solidFill>
                  </a:tcPr>
                </a:tc>
                <a:tc>
                  <a:txBody>
                    <a:bodyPr/>
                    <a:lstStyle/>
                    <a:p>
                      <a:r>
                        <a:rPr sz="1700" b="0">
                          <a:solidFill>
                            <a:srgbClr val="1F2937"/>
                          </a:solidFill>
                        </a:rPr>
                        <a:t>Mahsulot, moslama bo‘laklari</a:t>
                      </a:r>
                    </a:p>
                  </a:txBody>
                  <a:tcPr marL="73152" marR="73152" marT="36576" marB="36576">
                    <a:solidFill>
                      <a:srgbClr val="E8EEF6"/>
                    </a:solidFill>
                  </a:tcPr>
                </a:tc>
              </a:tr>
              <a:tr h="614476">
                <a:tc>
                  <a:txBody>
                    <a:bodyPr/>
                    <a:lstStyle/>
                    <a:p>
                      <a:r>
                        <a:rPr sz="1700" b="0">
                          <a:solidFill>
                            <a:srgbClr val="1F2937"/>
                          </a:solidFill>
                        </a:rPr>
                        <a:t>Yaqin</a:t>
                      </a:r>
                    </a:p>
                  </a:txBody>
                  <a:tcPr marL="73152" marR="73152" marT="36576" marB="36576">
                    <a:solidFill>
                      <a:srgbClr val="FFFFFF"/>
                    </a:solidFill>
                  </a:tcPr>
                </a:tc>
                <a:tc>
                  <a:txBody>
                    <a:bodyPr/>
                    <a:lstStyle/>
                    <a:p>
                      <a:r>
                        <a:rPr sz="1700" b="0">
                          <a:solidFill>
                            <a:srgbClr val="1F2937"/>
                          </a:solidFill>
                        </a:rPr>
                        <a:t>Mahsulotlar, bo‘laklar, zarb to‘lqini</a:t>
                      </a:r>
                    </a:p>
                  </a:txBody>
                  <a:tcPr marL="73152" marR="73152" marT="36576" marB="36576">
                    <a:solidFill>
                      <a:srgbClr val="FFFFFF"/>
                    </a:solidFill>
                  </a:tcPr>
                </a:tc>
              </a:tr>
              <a:tr h="614476">
                <a:tc>
                  <a:txBody>
                    <a:bodyPr/>
                    <a:lstStyle/>
                    <a:p>
                      <a:r>
                        <a:rPr sz="1700" b="0">
                          <a:solidFill>
                            <a:srgbClr val="1F2937"/>
                          </a:solidFill>
                        </a:rPr>
                        <a:t>Nisbatan yaqin</a:t>
                      </a:r>
                    </a:p>
                  </a:txBody>
                  <a:tcPr marL="73152" marR="73152" marT="36576" marB="36576">
                    <a:solidFill>
                      <a:srgbClr val="E8EEF6"/>
                    </a:solidFill>
                  </a:tcPr>
                </a:tc>
                <a:tc>
                  <a:txBody>
                    <a:bodyPr/>
                    <a:lstStyle/>
                    <a:p>
                      <a:r>
                        <a:rPr sz="1700" b="0">
                          <a:solidFill>
                            <a:srgbClr val="1F2937"/>
                          </a:solidFill>
                        </a:rPr>
                        <a:t>Zarb to‘lqini, bo‘laklar, snaryadlar</a:t>
                      </a:r>
                    </a:p>
                  </a:txBody>
                  <a:tcPr marL="73152" marR="73152" marT="36576" marB="36576">
                    <a:solidFill>
                      <a:srgbClr val="E8EEF6"/>
                    </a:solidFill>
                  </a:tcPr>
                </a:tc>
              </a:tr>
              <a:tr h="614476">
                <a:tc>
                  <a:txBody>
                    <a:bodyPr/>
                    <a:lstStyle/>
                    <a:p>
                      <a:r>
                        <a:rPr sz="1700" b="0">
                          <a:solidFill>
                            <a:srgbClr val="1F2937"/>
                          </a:solidFill>
                        </a:rPr>
                        <a:t>Yaqin bo‘lmagan</a:t>
                      </a:r>
                    </a:p>
                  </a:txBody>
                  <a:tcPr marL="73152" marR="73152" marT="36576" marB="36576">
                    <a:solidFill>
                      <a:srgbClr val="FFFFFF"/>
                    </a:solidFill>
                  </a:tcPr>
                </a:tc>
                <a:tc>
                  <a:txBody>
                    <a:bodyPr/>
                    <a:lstStyle/>
                    <a:p>
                      <a:r>
                        <a:rPr sz="1700" b="0">
                          <a:solidFill>
                            <a:srgbClr val="1F2937"/>
                          </a:solidFill>
                        </a:rPr>
                        <a:t>Bo‘laklar va ikkilamchi snaryadlar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distansiya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101, 101–102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portlash holati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portlashdan so‘ng jabrlanganning kiyimi va tanasida moslama bo‘laklari topildi. Tananing portlash tomonidagi yuzasida mexanik jarohatlar bor.</a:t>
            </a:r>
          </a:p>
          <a:p>
            <a:pPr>
              <a:spcAft>
                <a:spcPts val="1200"/>
              </a:spcAft>
            </a:pPr>
            <a:r>
              <a:rPr sz="2200">
                <a:solidFill>
                  <a:srgbClr val="1F2937"/>
                </a:solidFill>
                <a:latin typeface="Calibri"/>
              </a:rPr>
              <a:t>▸  Savol 1: portlashning to‘rtta distansiyasi (kontakt, yaqin, nisbatan yaqin, yaqin bo‘lmagan) ichida qaysi biri bu holatga mos kelishi mumkin?</a:t>
            </a:r>
          </a:p>
          <a:p>
            <a:pPr>
              <a:spcAft>
                <a:spcPts val="1200"/>
              </a:spcAft>
            </a:pPr>
            <a:r>
              <a:rPr sz="2200">
                <a:solidFill>
                  <a:srgbClr val="1F2937"/>
                </a:solidFill>
                <a:latin typeface="Calibri"/>
              </a:rPr>
              <a:t>▸  Diqqat: distansiyaga mos aniq masofa zaryad quvvati va moslama xususiyatlariga bog‘liq. Bu bilan nog‘ora parda va o‘pka shikasti ham baholanadi.</a:t>
            </a:r>
          </a:p>
          <a:p>
            <a:pPr>
              <a:spcAft>
                <a:spcPts val="1200"/>
              </a:spcAft>
            </a:pPr>
            <a:r>
              <a:rPr sz="2200">
                <a:solidFill>
                  <a:srgbClr val="1F2937"/>
                </a:solidFill>
                <a:latin typeface="Calibri"/>
              </a:rPr>
              <a:t>▸  Savol 2: vrach jarohatlarni qanday hujjatlashtiradi? Kiyim va tanadan topilgan yot jismlar kimga, qanday muddatda topshiriladi?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100, 101, 102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jarohat porox gazlari energiyasi bilan harakatga kelgan snaryaddan yetkaziladi. Portlash jarohatlari ham shu guruhga kiritiladi.</a:t>
            </a:r>
          </a:p>
          <a:p>
            <a:pPr>
              <a:spcAft>
                <a:spcPts val="1200"/>
              </a:spcAft>
            </a:pPr>
            <a:r>
              <a:rPr sz="2200">
                <a:solidFill>
                  <a:srgbClr val="1F2937"/>
                </a:solidFill>
                <a:latin typeface="Calibri"/>
              </a:rPr>
              <a:t>▸  Diqqat: distansiya ≠ masofa. Distansiya — belgilar majmui (tirab, yaqin, yaqin bo‘lmagan); masofa — stvol uchi bilan nishon oralig‘i, eksperimentda aniqlanadi.</a:t>
            </a:r>
          </a:p>
          <a:p>
            <a:pPr>
              <a:spcAft>
                <a:spcPts val="1200"/>
              </a:spcAft>
            </a:pPr>
            <a:r>
              <a:rPr sz="2200">
                <a:solidFill>
                  <a:srgbClr val="1F2937"/>
                </a:solidFill>
                <a:latin typeface="Calibri"/>
              </a:rPr>
              <a:t>▸  Kirish teshigi tekis, ichkariga qayrilgan, shilinish va ifloslanish hoshiyali. Chiqish teshigi notekis, tashqariga qayrilgan, hoshiyalarsiz bo‘ladi.</a:t>
            </a:r>
          </a:p>
          <a:p>
            <a:pPr>
              <a:spcAft>
                <a:spcPts val="1200"/>
              </a:spcAft>
            </a:pPr>
            <a:r>
              <a:rPr sz="2200">
                <a:solidFill>
                  <a:srgbClr val="1F2937"/>
                </a:solidFill>
                <a:latin typeface="Calibri"/>
              </a:rPr>
              <a:t>▸  Takrorlang: o‘q otar jarohatning boshqa shikastlardan farqi, qurollar tasnifi, patron tuzilishi, shikastlovchi omillar va ularning ta’sir turlari.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80, 86, 92, 102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N.I.Pirogov 1849 yilda to‘qima defektini (minus-to‘qima) tasvirlagan, 1865 yilda esa shilinish va ifloslanish hoshiyalarini kitobida keltirgan. Bugungi kirish teshigi belgilari shu kuzatuvlarga borib taqaladi.</a:t>
            </a:r>
          </a:p>
          <a:p>
            <a:pPr>
              <a:spcAft>
                <a:spcPts val="1200"/>
              </a:spcAft>
            </a:pPr>
            <a:r>
              <a:rPr sz="1800">
                <a:solidFill>
                  <a:srgbClr val="1F2937"/>
                </a:solidFill>
                <a:latin typeface="Calibri"/>
              </a:rPr>
              <a:t>▸  Hodisa tahlili (Vinogradov fenomeni): tashqi kiyimda qurum yo‘q, lekin ichki qavat kiyimda yoki teri ustida oz qurum bor. Bu yaqin masofani inkor etadi. Sharti: o‘q tezligi kamida 500 m/sek, kiyim tanaga yopishmagan, kuchli shamol yo‘q.</a:t>
            </a:r>
          </a:p>
          <a:p>
            <a:pPr>
              <a:spcAft>
                <a:spcPts val="1200"/>
              </a:spcAft>
            </a:pPr>
            <a:r>
              <a:rPr sz="1800">
                <a:solidFill>
                  <a:srgbClr val="1F2937"/>
                </a:solidFill>
                <a:latin typeface="Calibri"/>
              </a:rPr>
              <a:t>▸  Eslab qolish usuli (muallifning iborasi emas, o‘quv tavsiyasi): yaqin distansiya zonalarida omillar ketma-ket kamayadi. 1-zonada hammasi bor, 2-zonada porox gazi yo‘q, 3-zonada faqat porox va metall zarrachalari qoladi.</a:t>
            </a:r>
          </a:p>
          <a:p>
            <a:pPr>
              <a:spcAft>
                <a:spcPts val="1200"/>
              </a:spcAft>
            </a:pPr>
            <a:r>
              <a:rPr sz="1800">
                <a:solidFill>
                  <a:srgbClr val="1F2937"/>
                </a:solidFill>
                <a:latin typeface="Calibri"/>
              </a:rPr>
              <a:t>▸  Hodisa tahlili (o‘z-o‘ziga o‘q uzish): o‘lgan kishining qo‘llarida, burun va quloq teshiklarida qurum izi, stvol uchi va kaftda uning o‘z qoni topilishi mumkin. Tepkini o‘zi bosa olishi, masofa va yara kanali yo‘nalishi ham baholanadi.</a:t>
            </a:r>
          </a:p>
          <a:p>
            <a:pPr>
              <a:spcAft>
                <a:spcPts val="1200"/>
              </a:spcAft>
            </a:pPr>
            <a:r>
              <a:rPr sz="1800">
                <a:solidFill>
                  <a:srgbClr val="1F2937"/>
                </a:solidFill>
                <a:latin typeface="Calibri"/>
              </a:rPr>
              <a:t>▸  Qiziqarli fakt: qora porox 1 gr yonganda taxminan 300 kub sm gaz hosil qiladi. Tutunsiz poroxda gaz uch barobar ko‘p, shuning uchun o‘qqa ko‘proq energiya beriladi va u uzoq nishonga yetadi.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O‘q otar qurollardan yetkazilgan jarohatlar.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4. O'q otar qurollardan jarohatlar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