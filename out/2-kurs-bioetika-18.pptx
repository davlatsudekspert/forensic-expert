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Telefon orqali shifokor bilan gaplashgan bo‘lsangiz, qanday xavotir paydo bo‘ldi? 2) Sog‘liq ma’lumotingiz kimda saqlanishini bilasizmi? Doskada: mavzuning 3 ustunini chizing (teletibbiyot, katta ma’lumotlar, raqamli salomatlik va SI). Tipik xato: talabalar etik doirani qonun yoki nazariya deb o‘ylaydi, aslida u qaror qabul qilishga yordam beruvchi vosita.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JSST va CMS ta’riflari qaysi jihati bilan farq qiladi? 2) Nega “oltin standart” yuzma-yuz maslahat deb qoladi? Doskada: 4 qatorli vaqt chizig‘ini ko‘chiring. Tipik xato: AKT (axborot-kommunikatsiya texnologiyalari) va CMS (AQShdagi Medicare va Medicaid xizmatlari markazlari) qisqartmalarini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Yashash joyingizdan eng yaqin mutaxassisgacha masofa qancha va teletibbiyot qaysi holatda yordam bergan bo‘lardi? 2) “Arzonroq xarajat” har doim to‘g‘rimi? Doskada: bemor–internet–shifokor zanjirini chizing. Tipik xato: adolatli kirish va’da qilingan imkoniyat deb emas, tayyor natija deb tushunish (manbada bu hali munozarali).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pandemiya teletibbiyot sohalarini kengaytirdi? 2) Qaysi sohada masofaviy ko‘rik ayniqsa qiyin bo‘lishi mumkin? Doskada: jadvalni chizing va talabalar yana bir sohani qo‘shsin. Tipik xato: teletibbiyotni faqat videoqo‘ng‘iroq deb tushunish; manbada telefon va yozishmalar ham aytilgan. Jadvaldagi guruhlash o‘qituvchi tomonidan soddalashtirilgan.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talabalar javobini yopiq daftarda yozsin. Muhokama: nima uchun yuzma-yuz ko‘rik ‘oltin standart‘ deyiladi? Doskada: ‘teletibbiyot = qo‘shimcha, almashtiruvchi emas‘ formulasini yozing. Tipik xato: teletibbiyotni an’anaviy yordamning to‘liq o‘rnini bosuvchi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rozilik eng ko‘p tilga olingan? 2) Qonunlar farqi bemorga qanday ta’sir qiladi? Doskada: jadvalni to‘ldirib, qolgan muammolarni (maxfiylik, adolat, sifat) strelkalar bilan qo‘shing. Tipik xato: privatlik (shaxsiy hayot) va maxfiylik (ishonch munosabatida aytilgan ma’lumotni oshkor qilmaslik)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telemeditsinada ham rozilik an’anaviy xizmatdagi talablarga teng bo‘lishi kerak? 2) Og‘zaki rozilik qaysi holatda yozuvga qayd etilishi muhim? Doskada: rozilik zanjirini chizdiring (ma’lumot berish → bemor roziligi → tibbiy yozuvga qayd). Tipik xato: og‘zaki rozilikni ’rozilik shart emas’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Privatlik va maxfiylik farqini o‘z misolingiz bilan tushuntiring. 2) Bemor ommaviy joyda telekonsultatsiya olsa, qanday xavf bor? Doskada: ikki ustunli qisqa taqqoslash (privatlik | maxfiylik). Tipik xato: ikki tushunchani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 Muhokama: 1) Nega davlatlar o‘rtasidagi qoidalar farqi shifokor va bemor uchun muammo? 2) Telekonsultatsiyani yozib olish nega bahsli? Doskada: ochiq huquqiy masalalar ro‘yxatini (’narx, sug‘urta, retsept, akkreditatsiya, litsenziya, tijorat, yozib olish’) yozdiring. Tipik xato: telemeditsinani an’anaviy tibbiyotning to‘liq o‘rnini bosuvchi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Qishloqdagi keksa bemor smartfonsiz bo‘lsa, adolat qanday ta’minlanadi? 2) Xarajat kim hisobidan barqaror bo‘ladi? Doskada: ikki ustunli jadval chizing (imkoniyat va xavf), talabalar misol qo‘shsin. Tipik xato: telemeditsina avtomatik ravishda teng kirishni beradi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og‘zaki rozilik ham yozib qo‘yilishi kerak? 2) Bemor kafeda ulansa, shifokor nima qilishi kerak? Doskada: besh bosqichli zanjirni talabalar o‘zi chizib, har bosqichga bitta xavfni yozsin. Tipik xato: og‘zaki rozilikni qayd etmaslik yoki konsultatsiyani ommaviy joyda o‘tkazish.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Virtual retsept qanday huquqiy muammolar tug‘diradi? 2) Stomatologik ko‘rikda qaysi bosqichlarni masofadan o‘tkazib bo‘lmaydi? Doskada: telefarmatsiya ishtirokchilari (farmatsevt, bemor, AKT) sxemasini chizing. Tipik xato: telestomatologiya uchun manbada alohida qoida bor deb aytish — bu faqat umumiy tamoyillardan kelib chiqqan taxmin.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videokonsultatsiya yuzma-yuz qabulning o‘rnini bosa olmaydi? 2) Dalil kamligi amaliyotga qanday ta’sir qiladi? Doskada: ikki ustunli taqqoslash jadvalini o‘zlari chizsin. Tipik xato: talabalar teletibbiyotni to‘liq almashtirish deb o‘ylaydi, aslida u qo‘shimcha vosita.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Internet yo‘q bemorga qanday adolatli muqobil taklif qilish mumkin? 2) Og‘zaki rozilik tibbiy yozuvda qanday qayd etiladi? Doskada: vaziyat bo‘yicha tamoyillar (adolat, maxfiylik, rozilik) xaritasini chizdiring. Tipik xato: rozilik faqat imzolangan blankada bo‘lishi shart deb o‘ylash; manbaga ko‘ra og‘zaki rozilik ham mumkin.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Teletibbiyotda maxfiylikni saqlash uchun shifokor nimalarga e’tibor beradi? 2) Qoidalar mamlakatlarda turlicha bo‘lsa, bemor qanday xavfga duch keladi? Doskada: 4 ustunli emas, ro‘yxat ko‘rinishida rozilik, maxfiylik, adolat, mas’uliyatni yozdiring. Tipik xato: maxfiylik va rozilikni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Eslab qoling: 3V = Hajm, Xilma-xillik, Tezlik (inglizcha Volume, Variety, Velocity) — uchala so‘z V harfi bilan boshlanadi. Muhokama: 1) Bemor yozuvlari, rasmlar va fitnes-qurilma ma‘lumoti qaysi ‘V’ ga mos keladi? 2) Nega tezlik axloqiy xavf tug‘diradi? Doskada chizish: manbalar → shakllar → hajm → tezlik → tahlil zanjirini chizing, har bosqichga bitta sog‘liq misoli yozing. Tipik xato: hajmni faqat fayl o‘lchami deb tushunish; manbaga ko‘ra hajm odamlar soni va har bir odam haqidagi tafsilotni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Tezkor savol: 6V modelida qaysi ikki ‘V’ 4V ga qo‘shiladi? Muhokama: 1) Nega mualliflar aynan 3V ga e‘tibor qaratdi? 2) Ishonchlilik (veracity) tibbiy qarorlarga qanday ta’sir qiladi? Doskada chizish: 3V dan 7V gacha ‘narvon’ chizing, har pog‘onaga yangi V ni yozing. Tipik xato: 3V va 7V ni bir xil model deb o‘ylash. Diqqat: 3V ≠ 7V — bular turli mualliflar taklif qilgan ro‘yxatlar, mualliflar esa umumiy asosga tayanadi.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Klinik qaror aniqligi oshishi bemor uchun qanday foyda beradi? 2) Maxfiylik va ma‘lumot egaligi nega ‘boshqaruv’ muammosi hisoblanadi? Doskada chizish: ikki ustun — ‘Foyda’ va ‘Muammo’; muammo ustunini uch toifaga bo‘ling. Tipik xato: uch muammo guruhini bir-biriga bog‘liq emas deb o‘ylash; manbaga ko‘ra ular o‘zaro ta’sir qiladi. Voqea tahlili (qisqa): shifoxona turli manbalardan ma‘lumot birlashtirmoqchi — bu qaysi toifadagi muammolarni keltirib chiqaradi?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‘anonim’ ma’lumot ham to‘liq xavfsiz emas? 2) Ma’lumot qiymatini yo‘qotmasdan maxfiylikni saqlash mumkinmi? Doskada chizish: maskalash -&gt; ko‘p manbani birlashtirish -&gt; qayta aniqlash xavfi zanjirini chizing. Tipik xato: ‘anonimlashtirilgan = to‘liq xavfsiz’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Bemor saraton registrida ekani oshkor bo‘lsa, unga qanday zarar yetishi mumkin? 2) Xulosaviy oshkorlik nega yashirin xavf? Doskada chizish: uch turli jadvalni daftarga ko‘chirib, har biriga o‘z misolingizni yozing. Tipik xato: atributiv oshkorlikni identifikatsion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Ma’lumot yillar o‘tib boshqa maqsadda ishlatilsa, dastlabki rozilik yetarlimi? 2) Rozilik o‘rniga qanday qo‘shimcha himoya choralari o‘ylash mumkin? Doskada chizish: ma’lumot manbadan ko‘p tizimlarga tarqalish sxemasini chizing. Tipik xato: rozilik butunlay kerak emas degan xulosa chiqarish; manbada u faqat yagona tayanch bo‘la olmasligi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Anonimlashtirilgan ma’lumot to‘liq xavfsizmi? 2) Rozilik o‘rniga qanday muqobil himoya mumkin? Doskada: ma’lumot manbalari → birlashtirish → qayta aniqlash xavfi zanjirini chizdiring. Tipik xato: ‘anonimlashtirilgan’ degani ‘xavfsiz’ deb o‘ylash. Vaziyat manbadagi ma’lumotlar asosida tuzilgan taxminiy misol.”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so‘rang, talabalar javobini avval eshiting. Muhokama: 3V ichidan qaysi biri maxfiylikka eng ko‘p xavf tug‘diradi? Doskada: 3V ni uch ustun qilib yozdiring. Tipik xato: oshkorlik turlarini (shaxs, atribut, xulosa)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Etik doira qonundan nimasi bilan farq qiladi? 2) Nega qadriyatlar boshida teng vaznli deb olinadi? Doskada: yaxshi doiraning 6 xususiyatini ro‘yxat qilib yozdiring. Tipik xato: doirani qat’iy qoidalar to‘plami yoki nazariya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Rozilik olingan bo‘lsa, ijtimoiy litsenziya avtomatik mavjud bo‘ladimi? 2) Jamoatchilik bilan muloqot nega loyiha boshida boshlanishi kerak? Doskada: muloqot → ishonch → litsenziya zanjirini chizdiring. Tipik xato: ijtimoiy litsenziyani yakka shaxsning rozilik varaqasi bilan aralashtirish. Muallif rozilik olinganda ham litsenziyani oldindan taxmin qilmaslikni aytadi. Qo‘shimcha misol: Shotlandiya sog‘liq informatikasi dasturi jamoatchilikning qo‘llab-quvvatlashiga erishgan.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Bir odam qaysi vaziyatda zaif, qaysida zaif emas? 2) Zaiflikni kamaytirish urinishi uni kuchaytirishi mumkinmi (masalan, homilador ayollarni tadqiqotdan chiqarish)? Doskada: uch turli zaiflik jadvalini chizdiring va har biriga o‘z misolingizni qo‘shing. Tipik xato: butun guruhni zaif deb hisoblash. Manba: guruhning hamma a’zosi zaif bo‘lavermaydi. Shuningdek, zaiflik iqtisodiy, siyosiy yoki intellektual kuch munosabatlari orqali tahlil qilinadi.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Genetik ma’lumot davlat mulki deyilsa (Meksika misoli), guruh himoyalanadimi yoki huquqi cheklanadimi? 2) Hamboshqaruvda vakil tanlash qanday muammo tug‘diradi? Doskada: «saralovchilar — saralanuvchilar» sxemasini chizdiring. Tipik xato: hamboshqaruvni barcha muammoning yechimi deb o‘ylash. Manbada u ideal bo‘lishi mumkin, to‘liq bo‘lmasa ham shaffoflik va hisobdorlik hurmatni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natija va jarayon qadriyatlarini alohida ajratish kerak? 2) Shaffoflik adolatni qanday qo‘llab-quvvatlaydi? Doskada: ikki ustunli jadval chizing, har ustunga o‘zingiz tanlagan bittadan qadriyat yozing. Tipik xato: talabalar protsessual qadriyatni qaror natijasi deb o‘ylaydi; qadriyatlar ro‘yxati to‘liq emasligini ham eslating.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Ommaviy foyda privatlik bilan qachon to‘qnashadi? 2) Cheklangan resurslarda qanday adolatli tartib kelishish mumkin? Doskada: ikki pallali tarozi chizib, bir pallaga ommaviy foyda, ikkinchisiga privatlikni qo‘ying. Tipik xato: ko‘p qadriyat qondirilgan variantni avtomatik to‘g‘ri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qaror barcha manfaatdor tomonlarga shaffof aytilishi kerak? 2) Refleksiya qarorni qanday yaxshilaydi? Doskada: 6 qadamni zanjir qilib chizing (1-qadamda muammo, 2-qadamda qadriyatlar alohida). Tipik xato: 2-qadamda faqat mazmuniy qadriyatlarni olib, protsessualarini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Jamoat foydasi va privatlik to‘qnashganda qaror qanday asoslanadi? 2) Natijani ishtirokchilarga qanday shaffof yetkazish kerak? Doskaga: qadriyatlar to‘qnashuvi sxemasini chizdiring (muammo, qadriyatlar, variantlar, tanlov, e‘lon). Tipik xato: qaysi tomonda ko‘proq qadriyat bo‘lsa, o‘sha g‘olib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T&amp;C orqali olingan rozilik haqiqiy xabardor rozilikmi? 2) Nega kompaniya mahsuloti tekshiruvi ham tadqiqotga o‘xshab ketadi? Doskaga: ‘foydalanuvchi – ma‘lumot – algoritm – reklama/mahsulot‘ zanjirini chizdiring. Tipik xato: IRB va REC ni ikki xil mazmundagi tuzilma deb o‘ylash, aslida ular turli hududlardagi nomlar.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MoodFlex misolida qaysi domenlar buzilgan? 2) Nega domenlar kesishuvchi deb ko‘rsatiladi? Doskaga: beshta kesishuvchi doira chizib, har biriga bittadan savol yozdiring. Tipik xato: domenlarni mustaqil, ketma-ket bosqich deb qabul qilish. Eslab qoling: P-X-K-M-E (privatlik, xavf, kirish, ma‘lumot, etika).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Vaziyatni o‘qing: ilova yozish va ovoz belgilaridan ruhiy salomatlikni aniqlaydi, shahar xizmatlariga kiritilmoqda. Muhokama: 1) Nima xato? 2) Nega T&amp;C ichidagi rozilik qabul qilinmaydi? Doskada 5 bosqichli tahlil oqimini chizdiring. Tipik xato: ilova klinik tashxis qo‘ymasa, tekshiruv shart emas deb o‘ylash. REC va IRB — tadqiqot etikasi kengashlari (REC — Buyuk Britaniya va Yevropa Ittifoqida, IRB — AQShda).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texnolog, shifokor va etika kengashi bir-birini tushunmasligi xavfli? 2) Standartlar bo‘lmasa, kim mas’ul? Doskada uch bo‘shliqni uchta ustun qilib chizdiring va har biriga bitta yechim yozdiring. Tipik xato: tashabbuslarni qonun deb o‘ylash; ular standart ishlab chiqishga qaratilgan, majburiy emas. IEEE va ACM — muhandislik va hisoblash bo‘yicha kasbiy birlashmalar.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Tezkor savol: teletibbiyot an’anaviy xizmatni almashtiradimi? (Yo‘q, to‘ldiradi.) Muhokama: katta ma’lumotda qaysi ikki qadriyat ko‘p to‘qnashadi va nega? Doskada uch mavzu (teletibbiyot, katta ma’lumot, raqamli sog‘liq) va har birining bitta asosiy xabarini yozdiring. Tipik xato: qadriyatlar ro‘yxatini qiyoslab, ko‘pi qondirilgan variantni avtomatik tanlash; kerakli narsa asoslangan muvozanat. Yakunda uchala xabarni talabalar o‘z so‘zlari bilan takrorlasin.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Teletibbiyot, telestomatologiya; raqamli tibbiyotda biotibbiyot ma’lumotlari va katta ma’lumotlar (A12)</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dars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Dars teletibbiyot (masofadan tibbiy xizmat) va telestomatologiyaning etik hamda huquqiy muammolarini ko‘rib chiqadi.</a:t>
            </a:r>
          </a:p>
          <a:p>
            <a:pPr>
              <a:spcAft>
                <a:spcPts val="1200"/>
              </a:spcAft>
            </a:pPr>
            <a:r>
              <a:rPr sz="2200">
                <a:solidFill>
                  <a:srgbClr val="1F2937"/>
                </a:solidFill>
                <a:latin typeface="Calibri"/>
              </a:rPr>
              <a:t>▸  Katta ma’lumotlar sog‘liqni saqlash va tadqiqotda keng ishlatiladi. Sun’iy intellekt (SI) kabi texnologiyalar katta ma’lumotlarsiz rivojlana olmaydi.</a:t>
            </a:r>
          </a:p>
          <a:p>
            <a:pPr>
              <a:spcAft>
                <a:spcPts val="1200"/>
              </a:spcAft>
            </a:pPr>
            <a:r>
              <a:rPr sz="2200">
                <a:solidFill>
                  <a:srgbClr val="1F2937"/>
                </a:solidFill>
                <a:latin typeface="Calibri"/>
              </a:rPr>
              <a:t>▸  Raqamli salomatlik tadqiqotida qaror qabul qilish 5 doiraga tayanadi: maxfiylik, xavf va foyda, qulaylik, ma’lumotlarni boshqarish, etik tamoyillar.</a:t>
            </a:r>
          </a:p>
          <a:p>
            <a:pPr>
              <a:spcAft>
                <a:spcPts val="1200"/>
              </a:spcAft>
            </a:pPr>
            <a:r>
              <a:rPr sz="2200">
                <a:solidFill>
                  <a:srgbClr val="1F2937"/>
                </a:solidFill>
                <a:latin typeface="Calibri"/>
              </a:rPr>
              <a:t>▸  Etik doira javobni tayyor bermaydi. U qadriyatlarni aniqlab, ularni tortib ko‘rishga va qarorni asoslashga bosqichma-bosqich yordam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 (Abstract); Xafis et al., An Ethics Framework for Big Data in Health and Research, betlar: PMID 33717314 (Background), PMID 33717314 (What is an Ethical Decision-making Framework?); Nebeker et al., Building the case for actionable ethics in digital health research supported by artificial intelligence, betlar: PMID 31311535 (Decision-making framework)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Teletibbiyot: tarix va ta’riflar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Teletibbiyot atamasi 1970-yillarda “masofadan davolash” ma’nosida kiritilgan.</a:t>
            </a:r>
          </a:p>
          <a:p>
            <a:pPr>
              <a:spcAft>
                <a:spcPts val="800"/>
              </a:spcAft>
            </a:pPr>
            <a:r>
              <a:rPr sz="1800">
                <a:solidFill>
                  <a:srgbClr val="1F2937"/>
                </a:solidFill>
                <a:latin typeface="Calibri"/>
              </a:rPr>
              <a:t>▸  JSST (Jahon sog‘liqni saqlash tashkiloti) 1998-yilda masofa hal qiluvchi omil bo‘lgan xizmatni AKT orqali ko‘rsatish deb ta’rifladi.</a:t>
            </a:r>
          </a:p>
          <a:p>
            <a:pPr>
              <a:spcAft>
                <a:spcPts val="800"/>
              </a:spcAft>
            </a:pPr>
            <a:r>
              <a:rPr sz="1800">
                <a:solidFill>
                  <a:srgbClr val="1F2937"/>
                </a:solidFill>
                <a:latin typeface="Calibri"/>
              </a:rPr>
              <a:t>▸  Diqqat: telesalomatlik ≠ yuzma-yuz qabul o‘rnini bosuvchi xizmat; yuzma-yuz maslahat hamon oltin standart.</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29753"/>
                <a:gridCol w="2033836"/>
                <a:gridCol w="2324384"/>
              </a:tblGrid>
              <a:tr h="411480">
                <a:tc>
                  <a:txBody>
                    <a:bodyPr/>
                    <a:lstStyle/>
                    <a:p>
                      <a:r>
                        <a:rPr sz="1300" b="1">
                          <a:solidFill>
                            <a:srgbClr val="FFFFFF"/>
                          </a:solidFill>
                        </a:rPr>
                        <a:t>Davr</a:t>
                      </a:r>
                    </a:p>
                  </a:txBody>
                  <a:tcPr marL="73152" marR="73152" marT="36576" marB="36576">
                    <a:solidFill>
                      <a:srgbClr val="0B1F3A"/>
                    </a:solidFill>
                  </a:tcPr>
                </a:tc>
                <a:tc>
                  <a:txBody>
                    <a:bodyPr/>
                    <a:lstStyle/>
                    <a:p>
                      <a:r>
                        <a:rPr sz="1300" b="1">
                          <a:solidFill>
                            <a:srgbClr val="FFFFFF"/>
                          </a:solidFill>
                        </a:rPr>
                        <a:t>Kim/nima</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1970-yillar</a:t>
                      </a:r>
                    </a:p>
                  </a:txBody>
                  <a:tcPr marL="73152" marR="73152" marT="36576" marB="36576">
                    <a:solidFill>
                      <a:srgbClr val="E8EEF6"/>
                    </a:solidFill>
                  </a:tcPr>
                </a:tc>
                <a:tc>
                  <a:txBody>
                    <a:bodyPr/>
                    <a:lstStyle/>
                    <a:p>
                      <a:r>
                        <a:rPr sz="1200" b="0">
                          <a:solidFill>
                            <a:srgbClr val="1F2937"/>
                          </a:solidFill>
                        </a:rPr>
                        <a:t>Atama paydo bo‘ldi</a:t>
                      </a:r>
                    </a:p>
                  </a:txBody>
                  <a:tcPr marL="73152" marR="73152" marT="36576" marB="36576">
                    <a:solidFill>
                      <a:srgbClr val="E8EEF6"/>
                    </a:solidFill>
                  </a:tcPr>
                </a:tc>
                <a:tc>
                  <a:txBody>
                    <a:bodyPr/>
                    <a:lstStyle/>
                    <a:p>
                      <a:r>
                        <a:rPr sz="1200" b="0">
                          <a:solidFill>
                            <a:srgbClr val="1F2937"/>
                          </a:solidFill>
                        </a:rPr>
                        <a:t>“Masofadan davolash”</a:t>
                      </a:r>
                    </a:p>
                  </a:txBody>
                  <a:tcPr marL="73152" marR="73152" marT="36576" marB="36576">
                    <a:solidFill>
                      <a:srgbClr val="E8EEF6"/>
                    </a:solidFill>
                  </a:tcPr>
                </a:tc>
              </a:tr>
              <a:tr h="411480">
                <a:tc>
                  <a:txBody>
                    <a:bodyPr/>
                    <a:lstStyle/>
                    <a:p>
                      <a:r>
                        <a:rPr sz="1200" b="0">
                          <a:solidFill>
                            <a:srgbClr val="1F2937"/>
                          </a:solidFill>
                        </a:rPr>
                        <a:t>1998</a:t>
                      </a:r>
                    </a:p>
                  </a:txBody>
                  <a:tcPr marL="73152" marR="73152" marT="36576" marB="36576">
                    <a:solidFill>
                      <a:srgbClr val="FFFFFF"/>
                    </a:solidFill>
                  </a:tcPr>
                </a:tc>
                <a:tc>
                  <a:txBody>
                    <a:bodyPr/>
                    <a:lstStyle/>
                    <a:p>
                      <a:r>
                        <a:rPr sz="1200" b="0">
                          <a:solidFill>
                            <a:srgbClr val="1F2937"/>
                          </a:solidFill>
                        </a:rPr>
                        <a:t>JSST ta’rifi</a:t>
                      </a:r>
                    </a:p>
                  </a:txBody>
                  <a:tcPr marL="73152" marR="73152" marT="36576" marB="36576">
                    <a:solidFill>
                      <a:srgbClr val="FFFFFF"/>
                    </a:solidFill>
                  </a:tcPr>
                </a:tc>
                <a:tc>
                  <a:txBody>
                    <a:bodyPr/>
                    <a:lstStyle/>
                    <a:p>
                      <a:r>
                        <a:rPr sz="1200" b="0">
                          <a:solidFill>
                            <a:srgbClr val="1F2937"/>
                          </a:solidFill>
                        </a:rPr>
                        <a:t>Masofa muhim; AKT orqali xizmat</a:t>
                      </a:r>
                    </a:p>
                  </a:txBody>
                  <a:tcPr marL="73152" marR="73152" marT="36576" marB="36576">
                    <a:solidFill>
                      <a:srgbClr val="FFFFFF"/>
                    </a:solidFill>
                  </a:tcPr>
                </a:tc>
              </a:tr>
              <a:tr h="411480">
                <a:tc>
                  <a:txBody>
                    <a:bodyPr/>
                    <a:lstStyle/>
                    <a:p>
                      <a:r>
                        <a:rPr sz="1200" b="0">
                          <a:solidFill>
                            <a:srgbClr val="1F2937"/>
                          </a:solidFill>
                        </a:rPr>
                        <a:t>2020</a:t>
                      </a:r>
                    </a:p>
                  </a:txBody>
                  <a:tcPr marL="73152" marR="73152" marT="36576" marB="36576">
                    <a:solidFill>
                      <a:srgbClr val="E8EEF6"/>
                    </a:solidFill>
                  </a:tcPr>
                </a:tc>
                <a:tc>
                  <a:txBody>
                    <a:bodyPr/>
                    <a:lstStyle/>
                    <a:p>
                      <a:r>
                        <a:rPr sz="1200" b="0">
                          <a:solidFill>
                            <a:srgbClr val="1F2937"/>
                          </a:solidFill>
                        </a:rPr>
                        <a:t>AQSh CMS ta’rifi</a:t>
                      </a:r>
                    </a:p>
                  </a:txBody>
                  <a:tcPr marL="73152" marR="73152" marT="36576" marB="36576">
                    <a:solidFill>
                      <a:srgbClr val="E8EEF6"/>
                    </a:solidFill>
                  </a:tcPr>
                </a:tc>
                <a:tc>
                  <a:txBody>
                    <a:bodyPr/>
                    <a:lstStyle/>
                    <a:p>
                      <a:r>
                        <a:rPr sz="1200" b="0">
                          <a:solidFill>
                            <a:srgbClr val="1F2937"/>
                          </a:solidFill>
                        </a:rPr>
                        <a:t>Elektron aloqa orqali tibbiy ma’lumot almashish</a:t>
                      </a:r>
                    </a:p>
                  </a:txBody>
                  <a:tcPr marL="73152" marR="73152" marT="36576" marB="36576">
                    <a:solidFill>
                      <a:srgbClr val="E8EEF6"/>
                    </a:solidFill>
                  </a:tcPr>
                </a:tc>
              </a:tr>
              <a:tr h="411480">
                <a:tc>
                  <a:txBody>
                    <a:bodyPr/>
                    <a:lstStyle/>
                    <a:p>
                      <a:r>
                        <a:rPr sz="1200" b="0">
                          <a:solidFill>
                            <a:srgbClr val="1F2937"/>
                          </a:solidFill>
                        </a:rPr>
                        <a:t>Hozirgi</a:t>
                      </a:r>
                    </a:p>
                  </a:txBody>
                  <a:tcPr marL="73152" marR="73152" marT="36576" marB="36576">
                    <a:solidFill>
                      <a:srgbClr val="FFFFFF"/>
                    </a:solidFill>
                  </a:tcPr>
                </a:tc>
                <a:tc>
                  <a:txBody>
                    <a:bodyPr/>
                    <a:lstStyle/>
                    <a:p>
                      <a:r>
                        <a:rPr sz="1200" b="0">
                          <a:solidFill>
                            <a:srgbClr val="1F2937"/>
                          </a:solidFill>
                        </a:rPr>
                        <a:t>Butunjahon tibbiyot assotsiatsiyasi</a:t>
                      </a:r>
                    </a:p>
                  </a:txBody>
                  <a:tcPr marL="73152" marR="73152" marT="36576" marB="36576">
                    <a:solidFill>
                      <a:srgbClr val="FFFFFF"/>
                    </a:solidFill>
                  </a:tcPr>
                </a:tc>
                <a:tc>
                  <a:txBody>
                    <a:bodyPr/>
                    <a:lstStyle/>
                    <a:p>
                      <a:r>
                        <a:rPr sz="1200" b="0">
                          <a:solidFill>
                            <a:srgbClr val="1F2937"/>
                          </a:solidFill>
                        </a:rPr>
                        <a:t>Yuzma-yuz qabul — oltin standart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Ta’riflar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 (Introduction), PMID 34946259 (Introduction, Conclusions)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Teletibbiyotning foydalari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Teletibbiyot bemor va shifokor orasidagi masofani qisqartiradi, ayniqsa yetib borish qiyin hududlarda.</a:t>
            </a:r>
          </a:p>
          <a:p>
            <a:pPr>
              <a:spcAft>
                <a:spcPts val="800"/>
              </a:spcAft>
            </a:pPr>
            <a:r>
              <a:rPr sz="1800">
                <a:solidFill>
                  <a:srgbClr val="1F2937"/>
                </a:solidFill>
                <a:latin typeface="Calibri"/>
              </a:rPr>
              <a:t>▸  Og‘ir bo‘lmagan bemorlar uyda davolanib, kasalxonada yotish muddatini qisqartirishi mumkin.</a:t>
            </a:r>
          </a:p>
          <a:p>
            <a:pPr>
              <a:spcAft>
                <a:spcPts val="800"/>
              </a:spcAft>
            </a:pPr>
            <a:r>
              <a:rPr sz="1800">
                <a:solidFill>
                  <a:srgbClr val="1F2937"/>
                </a:solidFill>
                <a:latin typeface="Calibri"/>
              </a:rPr>
              <a:t>▸  COVID-19 pandemiyasida yuzma-yuz aloqani kamaytirib, bemor va xodimlar uchun yuqish xavfini pasaytirdi.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467721"/>
                <a:gridCol w="2820253"/>
              </a:tblGrid>
              <a:tr h="411480">
                <a:tc>
                  <a:txBody>
                    <a:bodyPr/>
                    <a:lstStyle/>
                    <a:p>
                      <a:r>
                        <a:rPr sz="1400" b="1">
                          <a:solidFill>
                            <a:srgbClr val="FFFFFF"/>
                          </a:solidFill>
                        </a:rPr>
                        <a:t>Kim</a:t>
                      </a:r>
                    </a:p>
                  </a:txBody>
                  <a:tcPr marL="73152" marR="73152" marT="36576" marB="36576">
                    <a:solidFill>
                      <a:srgbClr val="0B1F3A"/>
                    </a:solidFill>
                  </a:tcPr>
                </a:tc>
                <a:tc>
                  <a:txBody>
                    <a:bodyPr/>
                    <a:lstStyle/>
                    <a:p>
                      <a:r>
                        <a:rPr sz="1400" b="1">
                          <a:solidFill>
                            <a:srgbClr val="FFFFFF"/>
                          </a:solidFill>
                        </a:rPr>
                        <a:t>Qanday foyda</a:t>
                      </a:r>
                    </a:p>
                  </a:txBody>
                  <a:tcPr marL="73152" marR="73152" marT="36576" marB="36576">
                    <a:solidFill>
                      <a:srgbClr val="0B1F3A"/>
                    </a:solidFill>
                  </a:tcPr>
                </a:tc>
              </a:tr>
              <a:tr h="411480">
                <a:tc>
                  <a:txBody>
                    <a:bodyPr/>
                    <a:lstStyle/>
                    <a:p>
                      <a:r>
                        <a:rPr sz="1300" b="0">
                          <a:solidFill>
                            <a:srgbClr val="1F2937"/>
                          </a:solidFill>
                        </a:rPr>
                        <a:t>Olis hudud aholisi, dengizchilar</a:t>
                      </a:r>
                    </a:p>
                  </a:txBody>
                  <a:tcPr marL="73152" marR="73152" marT="36576" marB="36576">
                    <a:solidFill>
                      <a:srgbClr val="E8EEF6"/>
                    </a:solidFill>
                  </a:tcPr>
                </a:tc>
                <a:tc>
                  <a:txBody>
                    <a:bodyPr/>
                    <a:lstStyle/>
                    <a:p>
                      <a:r>
                        <a:rPr sz="1300" b="0">
                          <a:solidFill>
                            <a:srgbClr val="1F2937"/>
                          </a:solidFill>
                        </a:rPr>
                        <a:t>Tibbiy muassasaga osonroq yetib borish</a:t>
                      </a:r>
                    </a:p>
                  </a:txBody>
                  <a:tcPr marL="73152" marR="73152" marT="36576" marB="36576">
                    <a:solidFill>
                      <a:srgbClr val="E8EEF6"/>
                    </a:solidFill>
                  </a:tcPr>
                </a:tc>
              </a:tr>
              <a:tr h="411480">
                <a:tc>
                  <a:txBody>
                    <a:bodyPr/>
                    <a:lstStyle/>
                    <a:p>
                      <a:r>
                        <a:rPr sz="1300" b="0">
                          <a:solidFill>
                            <a:srgbClr val="1F2937"/>
                          </a:solidFill>
                        </a:rPr>
                        <a:t>Harakati cheklangan, keksa bemorlar</a:t>
                      </a:r>
                    </a:p>
                  </a:txBody>
                  <a:tcPr marL="73152" marR="73152" marT="36576" marB="36576">
                    <a:solidFill>
                      <a:srgbClr val="FFFFFF"/>
                    </a:solidFill>
                  </a:tcPr>
                </a:tc>
                <a:tc>
                  <a:txBody>
                    <a:bodyPr/>
                    <a:lstStyle/>
                    <a:p>
                      <a:r>
                        <a:rPr sz="1300" b="0">
                          <a:solidFill>
                            <a:srgbClr val="1F2937"/>
                          </a:solidFill>
                        </a:rPr>
                        <a:t>Shifokorga murojaat qilish osonlashadi</a:t>
                      </a:r>
                    </a:p>
                  </a:txBody>
                  <a:tcPr marL="73152" marR="73152" marT="36576" marB="36576">
                    <a:solidFill>
                      <a:srgbClr val="FFFFFF"/>
                    </a:solidFill>
                  </a:tcPr>
                </a:tc>
              </a:tr>
              <a:tr h="411480">
                <a:tc>
                  <a:txBody>
                    <a:bodyPr/>
                    <a:lstStyle/>
                    <a:p>
                      <a:r>
                        <a:rPr sz="1300" b="0">
                          <a:solidFill>
                            <a:srgbClr val="1F2937"/>
                          </a:solidFill>
                        </a:rPr>
                        <a:t>Yengil kasal bemorlar</a:t>
                      </a:r>
                    </a:p>
                  </a:txBody>
                  <a:tcPr marL="73152" marR="73152" marT="36576" marB="36576">
                    <a:solidFill>
                      <a:srgbClr val="E8EEF6"/>
                    </a:solidFill>
                  </a:tcPr>
                </a:tc>
                <a:tc>
                  <a:txBody>
                    <a:bodyPr/>
                    <a:lstStyle/>
                    <a:p>
                      <a:r>
                        <a:rPr sz="1300" b="0">
                          <a:solidFill>
                            <a:srgbClr val="1F2937"/>
                          </a:solidFill>
                        </a:rPr>
                        <a:t>Uyda davolanish, yotish qisqarishi</a:t>
                      </a:r>
                    </a:p>
                  </a:txBody>
                  <a:tcPr marL="73152" marR="73152" marT="36576" marB="36576">
                    <a:solidFill>
                      <a:srgbClr val="E8EEF6"/>
                    </a:solidFill>
                  </a:tcPr>
                </a:tc>
              </a:tr>
              <a:tr h="411480">
                <a:tc>
                  <a:txBody>
                    <a:bodyPr/>
                    <a:lstStyle/>
                    <a:p>
                      <a:r>
                        <a:rPr sz="1300" b="0">
                          <a:solidFill>
                            <a:srgbClr val="1F2937"/>
                          </a:solidFill>
                        </a:rPr>
                        <a:t>Sog‘liqni saqlash tizimi</a:t>
                      </a:r>
                    </a:p>
                  </a:txBody>
                  <a:tcPr marL="73152" marR="73152" marT="36576" marB="36576">
                    <a:solidFill>
                      <a:srgbClr val="FFFFFF"/>
                    </a:solidFill>
                  </a:tcPr>
                </a:tc>
                <a:tc>
                  <a:txBody>
                    <a:bodyPr/>
                    <a:lstStyle/>
                    <a:p>
                      <a:r>
                        <a:rPr sz="1300" b="0">
                          <a:solidFill>
                            <a:srgbClr val="1F2937"/>
                          </a:solidFill>
                        </a:rPr>
                        <a:t>Adolatli kirish, tez jalb, arzonroq xarajat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Kim qanday foyda oladi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 (Introduction)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COVID-19 davrida teletibbiyotning kengayishi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COVID-19 pandemiyasida teletibbiyot yuqumdan saqlanish uchun zarur xizmatga aylandi.</a:t>
            </a:r>
          </a:p>
          <a:p>
            <a:pPr>
              <a:spcAft>
                <a:spcPts val="800"/>
              </a:spcAft>
            </a:pPr>
            <a:r>
              <a:rPr sz="1800">
                <a:solidFill>
                  <a:srgbClr val="1F2937"/>
                </a:solidFill>
                <a:latin typeface="Calibri"/>
              </a:rPr>
              <a:t>▸  Yuzma-yuz aloqa kamaydi, shu sabab bemor va tibbiyot xodimlarining yuqish xavfi pasaydi.</a:t>
            </a:r>
          </a:p>
          <a:p>
            <a:pPr>
              <a:spcAft>
                <a:spcPts val="800"/>
              </a:spcAft>
            </a:pPr>
            <a:r>
              <a:rPr sz="1800">
                <a:solidFill>
                  <a:srgbClr val="1F2937"/>
                </a:solidFill>
                <a:latin typeface="Calibri"/>
              </a:rPr>
              <a:t>▸  Teletibbiyot qamragan tibbiyot sohalari soni pandemiya davrida ortdi.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982990"/>
                <a:gridCol w="3304984"/>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Klinik fanlar</a:t>
                      </a:r>
                    </a:p>
                  </a:txBody>
                  <a:tcPr marL="73152" marR="73152" marT="36576" marB="36576">
                    <a:solidFill>
                      <a:srgbClr val="E8EEF6"/>
                    </a:solidFill>
                  </a:tcPr>
                </a:tc>
                <a:tc>
                  <a:txBody>
                    <a:bodyPr/>
                    <a:lstStyle/>
                    <a:p>
                      <a:r>
                        <a:rPr sz="1300" b="0">
                          <a:solidFill>
                            <a:srgbClr val="1F2937"/>
                          </a:solidFill>
                        </a:rPr>
                        <a:t>Dermatologiya, kardiologiya, nevrologiya</a:t>
                      </a:r>
                    </a:p>
                  </a:txBody>
                  <a:tcPr marL="73152" marR="73152" marT="36576" marB="36576">
                    <a:solidFill>
                      <a:srgbClr val="E8EEF6"/>
                    </a:solidFill>
                  </a:tcPr>
                </a:tc>
              </a:tr>
              <a:tr h="411480">
                <a:tc>
                  <a:txBody>
                    <a:bodyPr/>
                    <a:lstStyle/>
                    <a:p>
                      <a:r>
                        <a:rPr sz="1300" b="0">
                          <a:solidFill>
                            <a:srgbClr val="1F2937"/>
                          </a:solidFill>
                        </a:rPr>
                        <a:t>Ona va bola</a:t>
                      </a:r>
                    </a:p>
                  </a:txBody>
                  <a:tcPr marL="73152" marR="73152" marT="36576" marB="36576">
                    <a:solidFill>
                      <a:srgbClr val="FFFFFF"/>
                    </a:solidFill>
                  </a:tcPr>
                </a:tc>
                <a:tc>
                  <a:txBody>
                    <a:bodyPr/>
                    <a:lstStyle/>
                    <a:p>
                      <a:r>
                        <a:rPr sz="1300" b="0">
                          <a:solidFill>
                            <a:srgbClr val="1F2937"/>
                          </a:solidFill>
                        </a:rPr>
                        <a:t>Pediatriya (perinatal, neonatal), ginekologiya</a:t>
                      </a:r>
                    </a:p>
                  </a:txBody>
                  <a:tcPr marL="73152" marR="73152" marT="36576" marB="36576">
                    <a:solidFill>
                      <a:srgbClr val="FFFFFF"/>
                    </a:solidFill>
                  </a:tcPr>
                </a:tc>
              </a:tr>
              <a:tr h="411480">
                <a:tc>
                  <a:txBody>
                    <a:bodyPr/>
                    <a:lstStyle/>
                    <a:p>
                      <a:r>
                        <a:rPr sz="1300" b="0">
                          <a:solidFill>
                            <a:srgbClr val="1F2937"/>
                          </a:solidFill>
                        </a:rPr>
                        <a:t>Sezgi va tayanch a’zolar</a:t>
                      </a:r>
                    </a:p>
                  </a:txBody>
                  <a:tcPr marL="73152" marR="73152" marT="36576" marB="36576">
                    <a:solidFill>
                      <a:srgbClr val="E8EEF6"/>
                    </a:solidFill>
                  </a:tcPr>
                </a:tc>
                <a:tc>
                  <a:txBody>
                    <a:bodyPr/>
                    <a:lstStyle/>
                    <a:p>
                      <a:r>
                        <a:rPr sz="1300" b="0">
                          <a:solidFill>
                            <a:srgbClr val="1F2937"/>
                          </a:solidFill>
                        </a:rPr>
                        <a:t>Oftalmologiya, otorinolaringologiya, ortopediya</a:t>
                      </a:r>
                    </a:p>
                  </a:txBody>
                  <a:tcPr marL="73152" marR="73152" marT="36576" marB="36576">
                    <a:solidFill>
                      <a:srgbClr val="E8EEF6"/>
                    </a:solidFill>
                  </a:tcPr>
                </a:tc>
              </a:tr>
              <a:tr h="411480">
                <a:tc>
                  <a:txBody>
                    <a:bodyPr/>
                    <a:lstStyle/>
                    <a:p>
                      <a:r>
                        <a:rPr sz="1300" b="0">
                          <a:solidFill>
                            <a:srgbClr val="1F2937"/>
                          </a:solidFill>
                        </a:rPr>
                        <a:t>Davomiy parvarish</a:t>
                      </a:r>
                    </a:p>
                  </a:txBody>
                  <a:tcPr marL="73152" marR="73152" marT="36576" marB="36576">
                    <a:solidFill>
                      <a:srgbClr val="FFFFFF"/>
                    </a:solidFill>
                  </a:tcPr>
                </a:tc>
                <a:tc>
                  <a:txBody>
                    <a:bodyPr/>
                    <a:lstStyle/>
                    <a:p>
                      <a:r>
                        <a:rPr sz="1300" b="0">
                          <a:solidFill>
                            <a:srgbClr val="1F2937"/>
                          </a:solidFill>
                        </a:rPr>
                        <a:t>Surunkali kasalliklar, COVID-19, kuzatuv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Teletibbiyot qamragan sohalar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ta’riflar va foydalar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JSST (1998) ta’rifida teletibbiyotning o‘ziga xos sharti nima? Javob: masofa muhim omil bo‘lgan holatda axborot-kommunikatsiya texnologiyalaridan foydalanish.</a:t>
            </a:r>
          </a:p>
          <a:p>
            <a:pPr>
              <a:spcAft>
                <a:spcPts val="1200"/>
              </a:spcAft>
            </a:pPr>
            <a:r>
              <a:rPr sz="2000">
                <a:solidFill>
                  <a:srgbClr val="1F2937"/>
                </a:solidFill>
                <a:latin typeface="Calibri"/>
              </a:rPr>
              <a:t>▸  2-savol: 2020 yilgi CMS ta’rifi nimani nazarda tutadi? Javob: tibbiy ma’lumotni bir joydan boshqasiga elektron aloqa orqali almashish. CMS — AQShdagi Medicare va Medicaid xizmatlari markazlari.</a:t>
            </a:r>
          </a:p>
          <a:p>
            <a:pPr>
              <a:spcAft>
                <a:spcPts val="1200"/>
              </a:spcAft>
            </a:pPr>
            <a:r>
              <a:rPr sz="2000">
                <a:solidFill>
                  <a:srgbClr val="1F2937"/>
                </a:solidFill>
                <a:latin typeface="Calibri"/>
              </a:rPr>
              <a:t>▸  3-savol: Asosiy foydalari qaysilar? Javob: tibbiy yordamga kirish osonlashadi, shifokor bilan masofa qisqaradi; uzoq hududlar, dengizchilar va harakati cheklangan bemorlar uchun muhim.</a:t>
            </a:r>
          </a:p>
          <a:p>
            <a:pPr>
              <a:spcAft>
                <a:spcPts val="1200"/>
              </a:spcAft>
            </a:pPr>
            <a:r>
              <a:rPr sz="2000">
                <a:solidFill>
                  <a:srgbClr val="1F2937"/>
                </a:solidFill>
                <a:latin typeface="Calibri"/>
              </a:rPr>
              <a:t>▸  Diqqat: xato qilish xavfi — teletibbiyot ≠ yuzma-yuz ko‘rikning o‘rnini bosuvchi xizmat. Butunjahon tibbiyot assotsiatsiyasiga ko‘ra, yuzma-yuz maslahat klinik yordamning ‘oltin standarti‘ bo‘lib qoladi.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Etik-huquqiy muammolar xaritasi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Tahlil uchun 85 ta maqoladan 24 tasi saralandi; ularda etik va huquqiy masalalar o‘zaro bog‘liq ko‘rsatilgan.</a:t>
            </a:r>
          </a:p>
          <a:p>
            <a:pPr>
              <a:spcAft>
                <a:spcPts val="800"/>
              </a:spcAft>
            </a:pPr>
            <a:r>
              <a:rPr sz="1800">
                <a:solidFill>
                  <a:srgbClr val="1F2937"/>
                </a:solidFill>
                <a:latin typeface="Calibri"/>
              </a:rPr>
              <a:t>▸  Maxfiylik 57%, adolatli kirish va xizmat sifati 30% dan, kasb egasi–bemor munosabati 22% maqolada uchradi.</a:t>
            </a:r>
          </a:p>
          <a:p>
            <a:pPr>
              <a:spcAft>
                <a:spcPts val="800"/>
              </a:spcAft>
            </a:pPr>
            <a:r>
              <a:rPr sz="1800">
                <a:solidFill>
                  <a:srgbClr val="1F2937"/>
                </a:solidFill>
                <a:latin typeface="Calibri"/>
              </a:rPr>
              <a:t>▸  Qonun-qoidalar masalasi 83% maqolada ko‘tarilgan: davlatlar o‘rtasida qoidalar yo‘q yoki farq qiladi.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525316"/>
                <a:gridCol w="1762658"/>
              </a:tblGrid>
              <a:tr h="411480">
                <a:tc>
                  <a:txBody>
                    <a:bodyPr/>
                    <a:lstStyle/>
                    <a:p>
                      <a:r>
                        <a:rPr sz="1400" b="1">
                          <a:solidFill>
                            <a:srgbClr val="FFFFFF"/>
                          </a:solidFill>
                        </a:rPr>
                        <a:t>Muammo</a:t>
                      </a:r>
                    </a:p>
                  </a:txBody>
                  <a:tcPr marL="73152" marR="73152" marT="36576" marB="36576">
                    <a:solidFill>
                      <a:srgbClr val="0B1F3A"/>
                    </a:solidFill>
                  </a:tcPr>
                </a:tc>
                <a:tc>
                  <a:txBody>
                    <a:bodyPr/>
                    <a:lstStyle/>
                    <a:p>
                      <a:r>
                        <a:rPr sz="1400" b="1">
                          <a:solidFill>
                            <a:srgbClr val="FFFFFF"/>
                          </a:solidFill>
                        </a:rPr>
                        <a:t>Ulushi</a:t>
                      </a:r>
                    </a:p>
                  </a:txBody>
                  <a:tcPr marL="73152" marR="73152" marT="36576" marB="36576">
                    <a:solidFill>
                      <a:srgbClr val="0B1F3A"/>
                    </a:solidFill>
                  </a:tcPr>
                </a:tc>
              </a:tr>
              <a:tr h="411480">
                <a:tc>
                  <a:txBody>
                    <a:bodyPr/>
                    <a:lstStyle/>
                    <a:p>
                      <a:r>
                        <a:rPr sz="1300" b="0">
                          <a:solidFill>
                            <a:srgbClr val="1F2937"/>
                          </a:solidFill>
                        </a:rPr>
                        <a:t>Rozilik va avtonomiya</a:t>
                      </a:r>
                    </a:p>
                  </a:txBody>
                  <a:tcPr marL="73152" marR="73152" marT="36576" marB="36576">
                    <a:solidFill>
                      <a:srgbClr val="E8EEF6"/>
                    </a:solidFill>
                  </a:tcPr>
                </a:tc>
                <a:tc>
                  <a:txBody>
                    <a:bodyPr/>
                    <a:lstStyle/>
                    <a:p>
                      <a:r>
                        <a:rPr sz="1300" b="0">
                          <a:solidFill>
                            <a:srgbClr val="1F2937"/>
                          </a:solidFill>
                        </a:rPr>
                        <a:t>87%</a:t>
                      </a:r>
                    </a:p>
                  </a:txBody>
                  <a:tcPr marL="73152" marR="73152" marT="36576" marB="36576">
                    <a:solidFill>
                      <a:srgbClr val="E8EEF6"/>
                    </a:solidFill>
                  </a:tcPr>
                </a:tc>
              </a:tr>
              <a:tr h="411480">
                <a:tc>
                  <a:txBody>
                    <a:bodyPr/>
                    <a:lstStyle/>
                    <a:p>
                      <a:r>
                        <a:rPr sz="1300" b="0">
                          <a:solidFill>
                            <a:srgbClr val="1F2937"/>
                          </a:solidFill>
                        </a:rPr>
                        <a:t>Bemor privatligi</a:t>
                      </a:r>
                    </a:p>
                  </a:txBody>
                  <a:tcPr marL="73152" marR="73152" marT="36576" marB="36576">
                    <a:solidFill>
                      <a:srgbClr val="FFFFFF"/>
                    </a:solidFill>
                  </a:tcPr>
                </a:tc>
                <a:tc>
                  <a:txBody>
                    <a:bodyPr/>
                    <a:lstStyle/>
                    <a:p>
                      <a:r>
                        <a:rPr sz="1300" b="0">
                          <a:solidFill>
                            <a:srgbClr val="1F2937"/>
                          </a:solidFill>
                        </a:rPr>
                        <a:t>78%</a:t>
                      </a:r>
                    </a:p>
                  </a:txBody>
                  <a:tcPr marL="73152" marR="73152" marT="36576" marB="36576">
                    <a:solidFill>
                      <a:srgbClr val="FFFFFF"/>
                    </a:solidFill>
                  </a:tcPr>
                </a:tc>
              </a:tr>
              <a:tr h="411480">
                <a:tc>
                  <a:txBody>
                    <a:bodyPr/>
                    <a:lstStyle/>
                    <a:p>
                      <a:r>
                        <a:rPr sz="1300" b="0">
                          <a:solidFill>
                            <a:srgbClr val="1F2937"/>
                          </a:solidFill>
                        </a:rPr>
                        <a:t>Ma’lumot himoyasi va xavfsizligi</a:t>
                      </a:r>
                    </a:p>
                  </a:txBody>
                  <a:tcPr marL="73152" marR="73152" marT="36576" marB="36576">
                    <a:solidFill>
                      <a:srgbClr val="E8EEF6"/>
                    </a:solidFill>
                  </a:tcPr>
                </a:tc>
                <a:tc>
                  <a:txBody>
                    <a:bodyPr/>
                    <a:lstStyle/>
                    <a:p>
                      <a:r>
                        <a:rPr sz="1300" b="0">
                          <a:solidFill>
                            <a:srgbClr val="1F2937"/>
                          </a:solidFill>
                        </a:rPr>
                        <a:t>74%</a:t>
                      </a:r>
                    </a:p>
                  </a:txBody>
                  <a:tcPr marL="73152" marR="73152" marT="36576" marB="36576">
                    <a:solidFill>
                      <a:srgbClr val="E8EEF6"/>
                    </a:solidFill>
                  </a:tcPr>
                </a:tc>
              </a:tr>
              <a:tr h="411480">
                <a:tc>
                  <a:txBody>
                    <a:bodyPr/>
                    <a:lstStyle/>
                    <a:p>
                      <a:r>
                        <a:rPr sz="1300" b="0">
                          <a:solidFill>
                            <a:srgbClr val="1F2937"/>
                          </a:solidFill>
                        </a:rPr>
                        <a:t>Xato va kasbiy mas’uliyat</a:t>
                      </a:r>
                    </a:p>
                  </a:txBody>
                  <a:tcPr marL="73152" marR="73152" marT="36576" marB="36576">
                    <a:solidFill>
                      <a:srgbClr val="FFFFFF"/>
                    </a:solidFill>
                  </a:tcPr>
                </a:tc>
                <a:tc>
                  <a:txBody>
                    <a:bodyPr/>
                    <a:lstStyle/>
                    <a:p>
                      <a:r>
                        <a:rPr sz="1300" b="0">
                          <a:solidFill>
                            <a:srgbClr val="1F2937"/>
                          </a:solidFill>
                        </a:rPr>
                        <a:t>70%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Eng ko‘p uchragan muammolar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Rozilik va avtonomiya telemeditsinada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Telemeditsinada axborotli rozilik an’anaviy tibbiy xizmatdagi bilan bir xil asosiy talablarga javob berishi kerak. Telemeditsina xizmatning boshqacha shakli, natijasi esa bir xil bo‘lishi lozim.</a:t>
            </a:r>
          </a:p>
          <a:p>
            <a:pPr>
              <a:spcAft>
                <a:spcPts val="1200"/>
              </a:spcAft>
            </a:pPr>
            <a:r>
              <a:rPr sz="2000">
                <a:solidFill>
                  <a:srgbClr val="1F2937"/>
                </a:solidFill>
                <a:latin typeface="Calibri"/>
              </a:rPr>
              <a:t>▸  Bemorga masofaviy davolashning xavf va foydalari tushuntirilishi shart. Ko‘rib chiqilgan maqolalarning 87 foizida rozilik va avtonomiya masalasi ko‘tarilgan.</a:t>
            </a:r>
          </a:p>
          <a:p>
            <a:pPr>
              <a:spcAft>
                <a:spcPts val="1200"/>
              </a:spcAft>
            </a:pPr>
            <a:r>
              <a:rPr sz="2000">
                <a:solidFill>
                  <a:srgbClr val="1F2937"/>
                </a:solidFill>
                <a:latin typeface="Calibri"/>
              </a:rPr>
              <a:t>▸  Telesog‘liqni saqlash tashrifi bemorning og‘zaki roziligi bilan ham o‘tkazilishi mumkin. Rozilik tibbiy yozuvga qayd etiladi.</a:t>
            </a:r>
          </a:p>
          <a:p>
            <a:pPr>
              <a:spcAft>
                <a:spcPts val="1200"/>
              </a:spcAft>
            </a:pPr>
            <a:r>
              <a:rPr sz="2000">
                <a:solidFill>
                  <a:srgbClr val="1F2937"/>
                </a:solidFill>
                <a:latin typeface="Calibri"/>
              </a:rPr>
              <a:t>▸  Diqqat: og‘zaki rozilik ≠ rozilik shart emas. Imzolangan shakl kerak bo‘lsa, bemor portali yoki pochta orqali olinadi; imzoni kutish shart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Maxfiylik, privatlik va ma’lumot xavfsizligi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Privatlik shaxs haqidagi ma’lumotga kirishni nazorat qilishdir. Maxfiylik esa ishonch munosabatida aytilgan ma’lumotni oshkor qilmaslik majburiyatidir.</a:t>
            </a:r>
          </a:p>
          <a:p>
            <a:pPr>
              <a:spcAft>
                <a:spcPts val="1200"/>
              </a:spcAft>
            </a:pPr>
            <a:r>
              <a:rPr sz="2000">
                <a:solidFill>
                  <a:srgbClr val="1F2937"/>
                </a:solidFill>
                <a:latin typeface="Calibri"/>
              </a:rPr>
              <a:t>▸  Diqqat: privatlik ≠ maxfiylik. Ular yaqin, lekin alohida tushunchalar; maxfiylikni privatlik bilan birga ko‘rib chiqish tavsiya etiladi.</a:t>
            </a:r>
          </a:p>
          <a:p>
            <a:pPr>
              <a:spcAft>
                <a:spcPts val="1200"/>
              </a:spcAft>
            </a:pPr>
            <a:r>
              <a:rPr sz="2000">
                <a:solidFill>
                  <a:srgbClr val="1F2937"/>
                </a:solidFill>
                <a:latin typeface="Calibri"/>
              </a:rPr>
              <a:t>▸  Telesog‘liqni saqlash video, telefon, elektron pochta yoki matnli xabar orqali bo‘lishi mumkin. Rasm, laboratoriya natijalari va hayotiy ko‘rsatkichlar xavfsiz saqlanishi kerak.</a:t>
            </a:r>
          </a:p>
          <a:p>
            <a:pPr>
              <a:spcAft>
                <a:spcPts val="1200"/>
              </a:spcAft>
            </a:pPr>
            <a:r>
              <a:rPr sz="2000">
                <a:solidFill>
                  <a:srgbClr val="1F2937"/>
                </a:solidFill>
                <a:latin typeface="Calibri"/>
              </a:rPr>
              <a:t>▸  Shifokor klinika yoki ofis kabi shaxsiy joydan ulanishi kerak. Bemor ommaviy yoki yarim ommaviy joyda xizmat olmasligi lozim, roziligi yoki shoshilinch holat bo‘lmasa.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 Solimini et al., Ethical and Legal Challenges of Telemedicine in the Era of the COVID-19 Pandemic, betlar: PMID 34946259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Kasbiy mas’uliyat va huquqiy tartibga solish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Malpraktika va kasbiy mas’uliyat masalasi ko‘rib chiqilgan maqolalarning 70 foizida uchragan. Qonun va tartibga solish masalalari esa 83 foizida tilga olingan.</a:t>
            </a:r>
          </a:p>
          <a:p>
            <a:pPr>
              <a:spcAft>
                <a:spcPts val="1200"/>
              </a:spcAft>
            </a:pPr>
            <a:r>
              <a:rPr sz="2000">
                <a:solidFill>
                  <a:srgbClr val="1F2937"/>
                </a:solidFill>
                <a:latin typeface="Calibri"/>
              </a:rPr>
              <a:t>▸  Davlatlar o‘rtasida qoidalar yo‘q yoki bir-biridan farq qiladi. Shuning uchun yo‘riqnomalar, eng yaxshi amaliyotlar va xizmatlarni standartlashtirish kerak.</a:t>
            </a:r>
          </a:p>
          <a:p>
            <a:pPr>
              <a:spcAft>
                <a:spcPts val="1200"/>
              </a:spcAft>
            </a:pPr>
            <a:r>
              <a:rPr sz="2000">
                <a:solidFill>
                  <a:srgbClr val="1F2937"/>
                </a:solidFill>
                <a:latin typeface="Calibri"/>
              </a:rPr>
              <a:t>▸  Ochiq savollar: xizmat narxi va to‘lovni qaytarish, sug‘urta qoplamasi, virtual dori retsepti, akkreditatsiya, litsenziya, tijoratlashtirish. Yozib olish bahsli soha hisoblanadi.</a:t>
            </a:r>
          </a:p>
          <a:p>
            <a:pPr>
              <a:spcAft>
                <a:spcPts val="1200"/>
              </a:spcAft>
            </a:pPr>
            <a:r>
              <a:rPr sz="2000">
                <a:solidFill>
                  <a:srgbClr val="1F2937"/>
                </a:solidFill>
                <a:latin typeface="Calibri"/>
              </a:rPr>
              <a:t>▸  Maxsus qoidalar bo‘lmaganda amaldagi amaliyot umumiy huquqiy asosga mosligi jihatidan baholanadi. Telemeditsina hozircha an’anaviy xizmatning to‘ldiruvchisi, o‘rnini bosuvchi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Adolat va teng kirish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Adolat tamoyili: yordamga teng kirish va texnikani chetda qolgan jamoalarga adolatli taqsimlash.</a:t>
            </a:r>
          </a:p>
          <a:p>
            <a:pPr>
              <a:spcAft>
                <a:spcPts val="800"/>
              </a:spcAft>
            </a:pPr>
            <a:r>
              <a:rPr sz="1800">
                <a:solidFill>
                  <a:srgbClr val="1F2937"/>
                </a:solidFill>
                <a:latin typeface="Calibri"/>
              </a:rPr>
              <a:t>▸  Internet yoki smartfon yo‘qligi bolaning tibbiy yordamga kirishiga to‘siq bo‘lmasligi kerak.</a:t>
            </a:r>
          </a:p>
          <a:p>
            <a:pPr>
              <a:spcAft>
                <a:spcPts val="800"/>
              </a:spcAft>
            </a:pPr>
            <a:r>
              <a:rPr sz="1800">
                <a:solidFill>
                  <a:srgbClr val="1F2937"/>
                </a:solidFill>
                <a:latin typeface="Calibri"/>
              </a:rPr>
              <a:t>▸  Diqqat: teng kirish — va’da, haqiqat emas; pandemiyada tengsizlik va xarajat muammosi kuchaydi.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50647"/>
                <a:gridCol w="1960709"/>
                <a:gridCol w="2376617"/>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Imkoniyat</a:t>
                      </a:r>
                    </a:p>
                  </a:txBody>
                  <a:tcPr marL="73152" marR="73152" marT="36576" marB="36576">
                    <a:solidFill>
                      <a:srgbClr val="0B1F3A"/>
                    </a:solidFill>
                  </a:tcPr>
                </a:tc>
                <a:tc>
                  <a:txBody>
                    <a:bodyPr/>
                    <a:lstStyle/>
                    <a:p>
                      <a:r>
                        <a:rPr sz="1300" b="1">
                          <a:solidFill>
                            <a:srgbClr val="FFFFFF"/>
                          </a:solidFill>
                        </a:rPr>
                        <a:t>Xavf</a:t>
                      </a:r>
                    </a:p>
                  </a:txBody>
                  <a:tcPr marL="73152" marR="73152" marT="36576" marB="36576">
                    <a:solidFill>
                      <a:srgbClr val="0B1F3A"/>
                    </a:solidFill>
                  </a:tcPr>
                </a:tc>
              </a:tr>
              <a:tr h="411480">
                <a:tc>
                  <a:txBody>
                    <a:bodyPr/>
                    <a:lstStyle/>
                    <a:p>
                      <a:r>
                        <a:rPr sz="1200" b="0">
                          <a:solidFill>
                            <a:srgbClr val="1F2937"/>
                          </a:solidFill>
                        </a:rPr>
                        <a:t>Masofa</a:t>
                      </a:r>
                    </a:p>
                  </a:txBody>
                  <a:tcPr marL="73152" marR="73152" marT="36576" marB="36576">
                    <a:solidFill>
                      <a:srgbClr val="E8EEF6"/>
                    </a:solidFill>
                  </a:tcPr>
                </a:tc>
                <a:tc>
                  <a:txBody>
                    <a:bodyPr/>
                    <a:lstStyle/>
                    <a:p>
                      <a:r>
                        <a:rPr sz="1200" b="0">
                          <a:solidFill>
                            <a:srgbClr val="1F2937"/>
                          </a:solidFill>
                        </a:rPr>
                        <a:t>Olis hududlarga yetib borish</a:t>
                      </a:r>
                    </a:p>
                  </a:txBody>
                  <a:tcPr marL="73152" marR="73152" marT="36576" marB="36576">
                    <a:solidFill>
                      <a:srgbClr val="E8EEF6"/>
                    </a:solidFill>
                  </a:tcPr>
                </a:tc>
                <a:tc>
                  <a:txBody>
                    <a:bodyPr/>
                    <a:lstStyle/>
                    <a:p>
                      <a:r>
                        <a:rPr sz="1200" b="0">
                          <a:solidFill>
                            <a:srgbClr val="1F2937"/>
                          </a:solidFill>
                        </a:rPr>
                        <a:t>Internet bo‘lmasa, kirish yopiladi</a:t>
                      </a:r>
                    </a:p>
                  </a:txBody>
                  <a:tcPr marL="73152" marR="73152" marT="36576" marB="36576">
                    <a:solidFill>
                      <a:srgbClr val="E8EEF6"/>
                    </a:solidFill>
                  </a:tcPr>
                </a:tc>
              </a:tr>
              <a:tr h="411480">
                <a:tc>
                  <a:txBody>
                    <a:bodyPr/>
                    <a:lstStyle/>
                    <a:p>
                      <a:r>
                        <a:rPr sz="1200" b="0">
                          <a:solidFill>
                            <a:srgbClr val="1F2937"/>
                          </a:solidFill>
                        </a:rPr>
                        <a:t>Xarajat</a:t>
                      </a:r>
                    </a:p>
                  </a:txBody>
                  <a:tcPr marL="73152" marR="73152" marT="36576" marB="36576">
                    <a:solidFill>
                      <a:srgbClr val="FFFFFF"/>
                    </a:solidFill>
                  </a:tcPr>
                </a:tc>
                <a:tc>
                  <a:txBody>
                    <a:bodyPr/>
                    <a:lstStyle/>
                    <a:p>
                      <a:r>
                        <a:rPr sz="1200" b="0">
                          <a:solidFill>
                            <a:srgbClr val="1F2937"/>
                          </a:solidFill>
                        </a:rPr>
                        <a:t>Qatnov va qabul harajati kamayadi</a:t>
                      </a:r>
                    </a:p>
                  </a:txBody>
                  <a:tcPr marL="73152" marR="73152" marT="36576" marB="36576">
                    <a:solidFill>
                      <a:srgbClr val="FFFFFF"/>
                    </a:solidFill>
                  </a:tcPr>
                </a:tc>
                <a:tc>
                  <a:txBody>
                    <a:bodyPr/>
                    <a:lstStyle/>
                    <a:p>
                      <a:r>
                        <a:rPr sz="1200" b="0">
                          <a:solidFill>
                            <a:srgbClr val="1F2937"/>
                          </a:solidFill>
                        </a:rPr>
                        <a:t>Xizmat uchun to‘lov tizimida barqaror emas</a:t>
                      </a:r>
                    </a:p>
                  </a:txBody>
                  <a:tcPr marL="73152" marR="73152" marT="36576" marB="36576">
                    <a:solidFill>
                      <a:srgbClr val="FFFFFF"/>
                    </a:solidFill>
                  </a:tcPr>
                </a:tc>
              </a:tr>
              <a:tr h="411480">
                <a:tc>
                  <a:txBody>
                    <a:bodyPr/>
                    <a:lstStyle/>
                    <a:p>
                      <a:r>
                        <a:rPr sz="1200" b="0">
                          <a:solidFill>
                            <a:srgbClr val="1F2937"/>
                          </a:solidFill>
                        </a:rPr>
                        <a:t>Bemorlar</a:t>
                      </a:r>
                    </a:p>
                  </a:txBody>
                  <a:tcPr marL="73152" marR="73152" marT="36576" marB="36576">
                    <a:solidFill>
                      <a:srgbClr val="E8EEF6"/>
                    </a:solidFill>
                  </a:tcPr>
                </a:tc>
                <a:tc>
                  <a:txBody>
                    <a:bodyPr/>
                    <a:lstStyle/>
                    <a:p>
                      <a:r>
                        <a:rPr sz="1200" b="0">
                          <a:solidFill>
                            <a:srgbClr val="1F2937"/>
                          </a:solidFill>
                        </a:rPr>
                        <a:t>Nogiron va keksalarga qulay</a:t>
                      </a:r>
                    </a:p>
                  </a:txBody>
                  <a:tcPr marL="73152" marR="73152" marT="36576" marB="36576">
                    <a:solidFill>
                      <a:srgbClr val="E8EEF6"/>
                    </a:solidFill>
                  </a:tcPr>
                </a:tc>
                <a:tc>
                  <a:txBody>
                    <a:bodyPr/>
                    <a:lstStyle/>
                    <a:p>
                      <a:r>
                        <a:rPr sz="1200" b="0">
                          <a:solidFill>
                            <a:srgbClr val="1F2937"/>
                          </a:solidFill>
                        </a:rPr>
                        <a:t>Smartfonsizlar chetda qoladi</a:t>
                      </a:r>
                    </a:p>
                  </a:txBody>
                  <a:tcPr marL="73152" marR="73152" marT="36576" marB="36576">
                    <a:solidFill>
                      <a:srgbClr val="E8EEF6"/>
                    </a:solidFill>
                  </a:tcPr>
                </a:tc>
              </a:tr>
              <a:tr h="411480">
                <a:tc>
                  <a:txBody>
                    <a:bodyPr/>
                    <a:lstStyle/>
                    <a:p>
                      <a:r>
                        <a:rPr sz="1200" b="0">
                          <a:solidFill>
                            <a:srgbClr val="1F2937"/>
                          </a:solidFill>
                        </a:rPr>
                        <a:t>Sifat</a:t>
                      </a:r>
                    </a:p>
                  </a:txBody>
                  <a:tcPr marL="73152" marR="73152" marT="36576" marB="36576">
                    <a:solidFill>
                      <a:srgbClr val="FFFFFF"/>
                    </a:solidFill>
                  </a:tcPr>
                </a:tc>
                <a:tc>
                  <a:txBody>
                    <a:bodyPr/>
                    <a:lstStyle/>
                    <a:p>
                      <a:r>
                        <a:rPr sz="1200" b="0">
                          <a:solidFill>
                            <a:srgbClr val="1F2937"/>
                          </a:solidFill>
                        </a:rPr>
                        <a:t>Tez aloqa va jalb qilish</a:t>
                      </a:r>
                    </a:p>
                  </a:txBody>
                  <a:tcPr marL="73152" marR="73152" marT="36576" marB="36576">
                    <a:solidFill>
                      <a:srgbClr val="FFFFFF"/>
                    </a:solidFill>
                  </a:tcPr>
                </a:tc>
                <a:tc>
                  <a:txBody>
                    <a:bodyPr/>
                    <a:lstStyle/>
                    <a:p>
                      <a:r>
                        <a:rPr sz="1200" b="0">
                          <a:solidFill>
                            <a:srgbClr val="1F2937"/>
                          </a:solidFill>
                        </a:rPr>
                        <a:t>Sifat ko‘rsatkichlari yetarli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Teletibbiyot: imkoniyat va xavf</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uchun amaliy ko‘rsatmalar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Shifokor klinika yoki ofisdan ulansin; bemor ommaviy yoki yarim ommaviy joyda xizmat olmasin.</a:t>
            </a:r>
          </a:p>
          <a:p>
            <a:pPr>
              <a:spcAft>
                <a:spcPts val="800"/>
              </a:spcAft>
            </a:pPr>
            <a:r>
              <a:rPr sz="1800">
                <a:solidFill>
                  <a:srgbClr val="1F2937"/>
                </a:solidFill>
                <a:latin typeface="Calibri"/>
              </a:rPr>
              <a:t>▸  Rozilik og‘zaki olinib, tibbiy yozuvga qayd etilishi mumkin; imzolangan blankani kutish shart emas.</a:t>
            </a:r>
          </a:p>
          <a:p>
            <a:pPr>
              <a:spcAft>
                <a:spcPts val="800"/>
              </a:spcAft>
            </a:pPr>
            <a:r>
              <a:rPr sz="1800">
                <a:solidFill>
                  <a:srgbClr val="1F2937"/>
                </a:solidFill>
                <a:latin typeface="Calibri"/>
              </a:rPr>
              <a:t>▸  Telesalomatlik qabuli yuzma-yuz qabuldek o‘tkaziladi; bemor savol berishdan tortinmasin.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Shaxsiy joy tanlash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Bemordan og‘zaki rozilik 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Rozilikni kartaga yozib qo‘yish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Qabulni yuzma-yuz kabi o‘tkazish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Savol va tushuntirish imkoni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Telekonsultatsiya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Telestomatologiya va telefarmatsiya: chegaralar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Telefarmatsiya — farmatsevt va bemor bir joyda emas, aloqa axborot-kommunikatsiya texnologiyalari (AKT) orqali bo‘ladigan dori yordami.</a:t>
            </a:r>
          </a:p>
          <a:p>
            <a:pPr>
              <a:spcAft>
                <a:spcPts val="1200"/>
              </a:spcAft>
            </a:pPr>
            <a:r>
              <a:rPr sz="2200">
                <a:solidFill>
                  <a:srgbClr val="1F2937"/>
                </a:solidFill>
                <a:latin typeface="Calibri"/>
              </a:rPr>
              <a:t>▸  Virtual retsept va telefarmatsiyada huquqiy oqibatlar kabi hal etilmagan cheklovlar bor.</a:t>
            </a:r>
          </a:p>
          <a:p>
            <a:pPr>
              <a:spcAft>
                <a:spcPts val="1200"/>
              </a:spcAft>
            </a:pPr>
            <a:r>
              <a:rPr sz="2200">
                <a:solidFill>
                  <a:srgbClr val="1F2937"/>
                </a:solidFill>
                <a:latin typeface="Calibri"/>
              </a:rPr>
              <a:t>▸  Teletibbiyot an‘anaviy xizmatni to‘ldiradi, uning o‘rnini to‘liq bosmaydi; qoidalar hali standartlashtirilmagan.</a:t>
            </a:r>
          </a:p>
          <a:p>
            <a:pPr>
              <a:spcAft>
                <a:spcPts val="1200"/>
              </a:spcAft>
            </a:pPr>
            <a:r>
              <a:rPr sz="2200">
                <a:solidFill>
                  <a:srgbClr val="1F2937"/>
                </a:solidFill>
                <a:latin typeface="Calibri"/>
              </a:rPr>
              <a:t>▸  Telestomatologiya manbalarda alohida yoritilmagan; unga umumiy teletibbiyot tamoyillari (rozilik, maxfiylik) qo‘llanadi deb hisoblanadi.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Teletibbiyot: to‘ldiruvchi, o‘rnini bosmaydi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Videokonsultatsiya dalili kam, lekin samaradorlik, xavfsizlik va qoniqishga ishora qiladi.</a:t>
            </a:r>
          </a:p>
          <a:p>
            <a:pPr>
              <a:spcAft>
                <a:spcPts val="800"/>
              </a:spcAft>
            </a:pPr>
            <a:r>
              <a:rPr sz="1800">
                <a:solidFill>
                  <a:srgbClr val="1F2937"/>
                </a:solidFill>
                <a:latin typeface="Calibri"/>
              </a:rPr>
              <a:t>▸  Teletibbiyotni baholash kelgusi tadqiqotlarning ustuvor vazifasi hisoblanadi.</a:t>
            </a:r>
          </a:p>
          <a:p>
            <a:pPr>
              <a:spcAft>
                <a:spcPts val="800"/>
              </a:spcAft>
            </a:pPr>
            <a:r>
              <a:rPr sz="1800">
                <a:solidFill>
                  <a:srgbClr val="1F2937"/>
                </a:solidFill>
                <a:latin typeface="Calibri"/>
              </a:rPr>
              <a:t>▸  Diqqat: teletibbiyot yuzma-yuz yordamning o‘rnini bosmaydi, u faqat qo‘shimcha vosita.</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50647"/>
                <a:gridCol w="1960709"/>
                <a:gridCol w="2376617"/>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Yuzma-yuz</a:t>
                      </a:r>
                    </a:p>
                  </a:txBody>
                  <a:tcPr marL="73152" marR="73152" marT="36576" marB="36576">
                    <a:solidFill>
                      <a:srgbClr val="0B1F3A"/>
                    </a:solidFill>
                  </a:tcPr>
                </a:tc>
                <a:tc>
                  <a:txBody>
                    <a:bodyPr/>
                    <a:lstStyle/>
                    <a:p>
                      <a:r>
                        <a:rPr sz="1300" b="1">
                          <a:solidFill>
                            <a:srgbClr val="FFFFFF"/>
                          </a:solidFill>
                        </a:rPr>
                        <a:t>Teletibbiyot</a:t>
                      </a:r>
                    </a:p>
                  </a:txBody>
                  <a:tcPr marL="73152" marR="73152" marT="36576" marB="36576">
                    <a:solidFill>
                      <a:srgbClr val="0B1F3A"/>
                    </a:solidFill>
                  </a:tcPr>
                </a:tc>
              </a:tr>
              <a:tr h="411480">
                <a:tc>
                  <a:txBody>
                    <a:bodyPr/>
                    <a:lstStyle/>
                    <a:p>
                      <a:r>
                        <a:rPr sz="1200" b="0">
                          <a:solidFill>
                            <a:srgbClr val="1F2937"/>
                          </a:solidFill>
                        </a:rPr>
                        <a:t>Maqom</a:t>
                      </a:r>
                    </a:p>
                  </a:txBody>
                  <a:tcPr marL="73152" marR="73152" marT="36576" marB="36576">
                    <a:solidFill>
                      <a:srgbClr val="E8EEF6"/>
                    </a:solidFill>
                  </a:tcPr>
                </a:tc>
                <a:tc>
                  <a:txBody>
                    <a:bodyPr/>
                    <a:lstStyle/>
                    <a:p>
                      <a:r>
                        <a:rPr sz="1200" b="0">
                          <a:solidFill>
                            <a:srgbClr val="1F2937"/>
                          </a:solidFill>
                        </a:rPr>
                        <a:t>Klinik yordamning oltin standarti</a:t>
                      </a:r>
                    </a:p>
                  </a:txBody>
                  <a:tcPr marL="73152" marR="73152" marT="36576" marB="36576">
                    <a:solidFill>
                      <a:srgbClr val="E8EEF6"/>
                    </a:solidFill>
                  </a:tcPr>
                </a:tc>
                <a:tc>
                  <a:txBody>
                    <a:bodyPr/>
                    <a:lstStyle/>
                    <a:p>
                      <a:r>
                        <a:rPr sz="1200" b="0">
                          <a:solidFill>
                            <a:srgbClr val="1F2937"/>
                          </a:solidFill>
                        </a:rPr>
                        <a:t>To‘ldiruvchi, qo‘shimcha vosita</a:t>
                      </a:r>
                    </a:p>
                  </a:txBody>
                  <a:tcPr marL="73152" marR="73152" marT="36576" marB="36576">
                    <a:solidFill>
                      <a:srgbClr val="E8EEF6"/>
                    </a:solidFill>
                  </a:tcPr>
                </a:tc>
              </a:tr>
              <a:tr h="411480">
                <a:tc>
                  <a:txBody>
                    <a:bodyPr/>
                    <a:lstStyle/>
                    <a:p>
                      <a:r>
                        <a:rPr sz="1200" b="0">
                          <a:solidFill>
                            <a:srgbClr val="1F2937"/>
                          </a:solidFill>
                        </a:rPr>
                        <a:t>Imkoniyat</a:t>
                      </a:r>
                    </a:p>
                  </a:txBody>
                  <a:tcPr marL="73152" marR="73152" marT="36576" marB="36576">
                    <a:solidFill>
                      <a:srgbClr val="FFFFFF"/>
                    </a:solidFill>
                  </a:tcPr>
                </a:tc>
                <a:tc>
                  <a:txBody>
                    <a:bodyPr/>
                    <a:lstStyle/>
                    <a:p>
                      <a:r>
                        <a:rPr sz="1200" b="0">
                          <a:solidFill>
                            <a:srgbClr val="1F2937"/>
                          </a:solidFill>
                        </a:rPr>
                        <a:t>Uzoq joylarda yetib borish qiyin</a:t>
                      </a:r>
                    </a:p>
                  </a:txBody>
                  <a:tcPr marL="73152" marR="73152" marT="36576" marB="36576">
                    <a:solidFill>
                      <a:srgbClr val="FFFFFF"/>
                    </a:solidFill>
                  </a:tcPr>
                </a:tc>
                <a:tc>
                  <a:txBody>
                    <a:bodyPr/>
                    <a:lstStyle/>
                    <a:p>
                      <a:r>
                        <a:rPr sz="1200" b="0">
                          <a:solidFill>
                            <a:srgbClr val="1F2937"/>
                          </a:solidFill>
                        </a:rPr>
                        <a:t>Masofani qisqartiradi, kirishni yengillatadi</a:t>
                      </a:r>
                    </a:p>
                  </a:txBody>
                  <a:tcPr marL="73152" marR="73152" marT="36576" marB="36576">
                    <a:solidFill>
                      <a:srgbClr val="FFFFFF"/>
                    </a:solidFill>
                  </a:tcPr>
                </a:tc>
              </a:tr>
              <a:tr h="411480">
                <a:tc>
                  <a:txBody>
                    <a:bodyPr/>
                    <a:lstStyle/>
                    <a:p>
                      <a:r>
                        <a:rPr sz="1200" b="0">
                          <a:solidFill>
                            <a:srgbClr val="1F2937"/>
                          </a:solidFill>
                        </a:rPr>
                        <a:t>Yuqish xavfi</a:t>
                      </a:r>
                    </a:p>
                  </a:txBody>
                  <a:tcPr marL="73152" marR="73152" marT="36576" marB="36576">
                    <a:solidFill>
                      <a:srgbClr val="E8EEF6"/>
                    </a:solidFill>
                  </a:tcPr>
                </a:tc>
                <a:tc>
                  <a:txBody>
                    <a:bodyPr/>
                    <a:lstStyle/>
                    <a:p>
                      <a:r>
                        <a:rPr sz="1200" b="0">
                          <a:solidFill>
                            <a:srgbClr val="1F2937"/>
                          </a:solidFill>
                        </a:rPr>
                        <a:t>Jismoniy aloqa saqlanadi</a:t>
                      </a:r>
                    </a:p>
                  </a:txBody>
                  <a:tcPr marL="73152" marR="73152" marT="36576" marB="36576">
                    <a:solidFill>
                      <a:srgbClr val="E8EEF6"/>
                    </a:solidFill>
                  </a:tcPr>
                </a:tc>
                <a:tc>
                  <a:txBody>
                    <a:bodyPr/>
                    <a:lstStyle/>
                    <a:p>
                      <a:r>
                        <a:rPr sz="1200" b="0">
                          <a:solidFill>
                            <a:srgbClr val="1F2937"/>
                          </a:solidFill>
                        </a:rPr>
                        <a:t>Aloqa kamayadi, yuqish xavfi pasayadi</a:t>
                      </a:r>
                    </a:p>
                  </a:txBody>
                  <a:tcPr marL="73152" marR="73152" marT="36576" marB="36576">
                    <a:solidFill>
                      <a:srgbClr val="E8EEF6"/>
                    </a:solidFill>
                  </a:tcPr>
                </a:tc>
              </a:tr>
              <a:tr h="411480">
                <a:tc>
                  <a:txBody>
                    <a:bodyPr/>
                    <a:lstStyle/>
                    <a:p>
                      <a:r>
                        <a:rPr sz="1200" b="0">
                          <a:solidFill>
                            <a:srgbClr val="1F2937"/>
                          </a:solidFill>
                        </a:rPr>
                        <a:t>Rozilik</a:t>
                      </a:r>
                    </a:p>
                  </a:txBody>
                  <a:tcPr marL="73152" marR="73152" marT="36576" marB="36576">
                    <a:solidFill>
                      <a:srgbClr val="FFFFFF"/>
                    </a:solidFill>
                  </a:tcPr>
                </a:tc>
                <a:tc>
                  <a:txBody>
                    <a:bodyPr/>
                    <a:lstStyle/>
                    <a:p>
                      <a:r>
                        <a:rPr sz="1200" b="0">
                          <a:solidFill>
                            <a:srgbClr val="1F2937"/>
                          </a:solidFill>
                        </a:rPr>
                        <a:t>Odatiy talablar</a:t>
                      </a:r>
                    </a:p>
                  </a:txBody>
                  <a:tcPr marL="73152" marR="73152" marT="36576" marB="36576">
                    <a:solidFill>
                      <a:srgbClr val="FFFFFF"/>
                    </a:solidFill>
                  </a:tcPr>
                </a:tc>
                <a:tc>
                  <a:txBody>
                    <a:bodyPr/>
                    <a:lstStyle/>
                    <a:p>
                      <a:r>
                        <a:rPr sz="1200" b="0">
                          <a:solidFill>
                            <a:srgbClr val="1F2937"/>
                          </a:solidFill>
                        </a:rPr>
                        <a:t>Xuddi shunday asosiy talablar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Yuzma-yuz va teletibbiyot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teletibbiyot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uzoq hududdagi bemorga shifokor videokonsultatsiya taklif qiladi, ammo bemorda internet yoki smartfon yo‘q.</a:t>
            </a:r>
          </a:p>
          <a:p>
            <a:pPr>
              <a:spcAft>
                <a:spcPts val="1200"/>
              </a:spcAft>
            </a:pPr>
            <a:r>
              <a:rPr sz="2200">
                <a:solidFill>
                  <a:srgbClr val="1F2937"/>
                </a:solidFill>
                <a:latin typeface="Calibri"/>
              </a:rPr>
              <a:t>▸  Adolat tamoyili teng kirishni va texnologiyani chetda qolgan jamoalarga adolatli taqsimlashni talab qiladi.</a:t>
            </a:r>
          </a:p>
          <a:p>
            <a:pPr>
              <a:spcAft>
                <a:spcPts val="1200"/>
              </a:spcAft>
            </a:pPr>
            <a:r>
              <a:rPr sz="2200">
                <a:solidFill>
                  <a:srgbClr val="1F2937"/>
                </a:solidFill>
                <a:latin typeface="Calibri"/>
              </a:rPr>
              <a:t>▸  Bemor jamoat yoki yarim jamoat joyidan ulansa, bu rozilik yoki shoshilinch holatsiz tavsiya etilmaydi; shifokor ham xususiy joyda bo‘lishi kerak.</a:t>
            </a:r>
          </a:p>
          <a:p>
            <a:pPr>
              <a:spcAft>
                <a:spcPts val="1200"/>
              </a:spcAft>
            </a:pPr>
            <a:r>
              <a:rPr sz="2200">
                <a:solidFill>
                  <a:srgbClr val="1F2937"/>
                </a:solidFill>
                <a:latin typeface="Calibri"/>
              </a:rPr>
              <a:t>▸  Savol: bu holatda qaysi tamoyillar xavf ostida va rozilik qanday olinib, qayerda qayd etilishi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teletibbiyot 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(rozilik): og‘zaki rozilik yetarlimi? Javob: ha, u tibbiy yozuvda qayd etilsa; imzolangan blankani kutish shart emas.</a:t>
            </a:r>
          </a:p>
          <a:p>
            <a:pPr>
              <a:spcAft>
                <a:spcPts val="1200"/>
              </a:spcAft>
            </a:pPr>
            <a:r>
              <a:rPr sz="2200">
                <a:solidFill>
                  <a:srgbClr val="1F2937"/>
                </a:solidFill>
                <a:latin typeface="Calibri"/>
              </a:rPr>
              <a:t>▸  2-savol (maxfiylik): qayerdan ulanish kerak? Javob: shifokor ham, bemor ham xususiy joyda bo‘lishi kerak; jamoat joyi odatda mumkin emas.</a:t>
            </a:r>
          </a:p>
          <a:p>
            <a:pPr>
              <a:spcAft>
                <a:spcPts val="1200"/>
              </a:spcAft>
            </a:pPr>
            <a:r>
              <a:rPr sz="2200">
                <a:solidFill>
                  <a:srgbClr val="1F2937"/>
                </a:solidFill>
                <a:latin typeface="Calibri"/>
              </a:rPr>
              <a:t>▸  3-savol (adolat): internetsiz bemorlarda nima muhim? Javob: texnologiyaga teng kirish va uning chetda qolgan jamoalarga adolatli taqsimlanishi.</a:t>
            </a:r>
          </a:p>
          <a:p>
            <a:pPr>
              <a:spcAft>
                <a:spcPts val="1200"/>
              </a:spcAft>
            </a:pPr>
            <a:r>
              <a:rPr sz="2200">
                <a:solidFill>
                  <a:srgbClr val="1F2937"/>
                </a:solidFill>
                <a:latin typeface="Calibri"/>
              </a:rPr>
              <a:t>▸  4-savol (mas’uliyat): qaysi jihatlar noaniq? Javob: litsenziya, akkreditatsiya, virtual retsept, qoplash va javobgarlik qoidalari mamlakatlarda turlicha.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 ma‘lumotlar nima: uch ‘V’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Hajm (volume): ma‘lumot miqdori — qancha odam va har biri haqida qanchalik batafsil ma‘lumot bor.</a:t>
            </a:r>
          </a:p>
          <a:p>
            <a:pPr>
              <a:spcAft>
                <a:spcPts val="800"/>
              </a:spcAft>
            </a:pPr>
            <a:r>
              <a:rPr sz="1800">
                <a:solidFill>
                  <a:srgbClr val="1F2937"/>
                </a:solidFill>
                <a:latin typeface="Calibri"/>
              </a:rPr>
              <a:t>▸  Xilma-xillik (variety): ma‘lumot shakllari (tuzilgan, tuzilmagan, rasm, audio) va manbalari turlicha.</a:t>
            </a:r>
          </a:p>
          <a:p>
            <a:pPr>
              <a:spcAft>
                <a:spcPts val="800"/>
              </a:spcAft>
            </a:pPr>
            <a:r>
              <a:rPr sz="1800">
                <a:solidFill>
                  <a:srgbClr val="1F2937"/>
                </a:solidFill>
                <a:latin typeface="Calibri"/>
              </a:rPr>
              <a:t>▸  Tezlik (velocity): ma‘lumotni juda tez uzatish va tahlil qilish imkoniyati.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Ilmiy, veb, foydalanuvchi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Xilma-xil shakllar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hajm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Tez uzatish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Tahlil</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Manbadan tahlilgacha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3V dan 7V gacha: xususiyatlar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Katta ma‘lumotning ta’riflari turlicha; xususiyatlar ro‘yxati 3V dan 7V gacha kengayadi.</a:t>
            </a:r>
          </a:p>
          <a:p>
            <a:pPr>
              <a:spcAft>
                <a:spcPts val="800"/>
              </a:spcAft>
            </a:pPr>
            <a:r>
              <a:rPr sz="1800">
                <a:solidFill>
                  <a:srgbClr val="1F2937"/>
                </a:solidFill>
                <a:latin typeface="Calibri"/>
              </a:rPr>
              <a:t>▸  Mualliflar o‘z ta’rifini bermaydi; hamma e’tirof etgan hajm, xilma-xillik va tezlikka tayanadi.</a:t>
            </a:r>
          </a:p>
          <a:p>
            <a:pPr>
              <a:spcAft>
                <a:spcPts val="800"/>
              </a:spcAft>
            </a:pPr>
            <a:r>
              <a:rPr sz="1800">
                <a:solidFill>
                  <a:srgbClr val="1F2937"/>
                </a:solidFill>
                <a:latin typeface="Calibri"/>
              </a:rPr>
              <a:t>▸  Bu xususiyatlar murakkablikni ko‘rsatadi va sog‘liqni saqlashda alohida axloqiy muammolar tug‘diradi.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410126"/>
                <a:gridCol w="2291455"/>
                <a:gridCol w="1586392"/>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Tarkibi</a:t>
                      </a:r>
                    </a:p>
                  </a:txBody>
                  <a:tcPr marL="73152" marR="73152" marT="36576" marB="36576">
                    <a:solidFill>
                      <a:srgbClr val="0B1F3A"/>
                    </a:solidFill>
                  </a:tcPr>
                </a:tc>
                <a:tc>
                  <a:txBody>
                    <a:bodyPr/>
                    <a:lstStyle/>
                    <a:p>
                      <a:r>
                        <a:rPr sz="1300" b="1">
                          <a:solidFill>
                            <a:srgbClr val="FFFFFF"/>
                          </a:solidFill>
                        </a:rPr>
                        <a:t>Qo‘shilgan V</a:t>
                      </a:r>
                    </a:p>
                  </a:txBody>
                  <a:tcPr marL="73152" marR="73152" marT="36576" marB="36576">
                    <a:solidFill>
                      <a:srgbClr val="0B1F3A"/>
                    </a:solidFill>
                  </a:tcPr>
                </a:tc>
              </a:tr>
              <a:tr h="411480">
                <a:tc>
                  <a:txBody>
                    <a:bodyPr/>
                    <a:lstStyle/>
                    <a:p>
                      <a:r>
                        <a:rPr sz="1200" b="0">
                          <a:solidFill>
                            <a:srgbClr val="1F2937"/>
                          </a:solidFill>
                        </a:rPr>
                        <a:t>3V</a:t>
                      </a:r>
                    </a:p>
                  </a:txBody>
                  <a:tcPr marL="73152" marR="73152" marT="36576" marB="36576">
                    <a:solidFill>
                      <a:srgbClr val="E8EEF6"/>
                    </a:solidFill>
                  </a:tcPr>
                </a:tc>
                <a:tc>
                  <a:txBody>
                    <a:bodyPr/>
                    <a:lstStyle/>
                    <a:p>
                      <a:r>
                        <a:rPr sz="1200" b="0">
                          <a:solidFill>
                            <a:srgbClr val="1F2937"/>
                          </a:solidFill>
                        </a:rPr>
                        <a:t>Hajm, xilma-xillik, tezlik</a:t>
                      </a:r>
                    </a:p>
                  </a:txBody>
                  <a:tcPr marL="73152" marR="73152" marT="36576" marB="36576">
                    <a:solidFill>
                      <a:srgbClr val="E8EEF6"/>
                    </a:solidFill>
                  </a:tcPr>
                </a:tc>
                <a:tc>
                  <a:txBody>
                    <a:bodyPr/>
                    <a:lstStyle/>
                    <a:p>
                      <a:r>
                        <a:rPr sz="1200" b="0">
                          <a:solidFill>
                            <a:srgbClr val="1F2937"/>
                          </a:solidFill>
                        </a:rPr>
                        <a:t>Asosiy uchlik</a:t>
                      </a:r>
                    </a:p>
                  </a:txBody>
                  <a:tcPr marL="73152" marR="73152" marT="36576" marB="36576">
                    <a:solidFill>
                      <a:srgbClr val="E8EEF6"/>
                    </a:solidFill>
                  </a:tcPr>
                </a:tc>
              </a:tr>
              <a:tr h="411480">
                <a:tc>
                  <a:txBody>
                    <a:bodyPr/>
                    <a:lstStyle/>
                    <a:p>
                      <a:r>
                        <a:rPr sz="1200" b="0">
                          <a:solidFill>
                            <a:srgbClr val="1F2937"/>
                          </a:solidFill>
                        </a:rPr>
                        <a:t>4V</a:t>
                      </a:r>
                    </a:p>
                  </a:txBody>
                  <a:tcPr marL="73152" marR="73152" marT="36576" marB="36576">
                    <a:solidFill>
                      <a:srgbClr val="FFFFFF"/>
                    </a:solidFill>
                  </a:tcPr>
                </a:tc>
                <a:tc>
                  <a:txBody>
                    <a:bodyPr/>
                    <a:lstStyle/>
                    <a:p>
                      <a:r>
                        <a:rPr sz="1200" b="0">
                          <a:solidFill>
                            <a:srgbClr val="1F2937"/>
                          </a:solidFill>
                        </a:rPr>
                        <a:t>3V + o‘zgaruvchanlik</a:t>
                      </a:r>
                    </a:p>
                  </a:txBody>
                  <a:tcPr marL="73152" marR="73152" marT="36576" marB="36576">
                    <a:solidFill>
                      <a:srgbClr val="FFFFFF"/>
                    </a:solidFill>
                  </a:tcPr>
                </a:tc>
                <a:tc>
                  <a:txBody>
                    <a:bodyPr/>
                    <a:lstStyle/>
                    <a:p>
                      <a:r>
                        <a:rPr sz="1200" b="0">
                          <a:solidFill>
                            <a:srgbClr val="1F2937"/>
                          </a:solidFill>
                        </a:rPr>
                        <a:t>Variability</a:t>
                      </a:r>
                    </a:p>
                  </a:txBody>
                  <a:tcPr marL="73152" marR="73152" marT="36576" marB="36576">
                    <a:solidFill>
                      <a:srgbClr val="FFFFFF"/>
                    </a:solidFill>
                  </a:tcPr>
                </a:tc>
              </a:tr>
              <a:tr h="411480">
                <a:tc>
                  <a:txBody>
                    <a:bodyPr/>
                    <a:lstStyle/>
                    <a:p>
                      <a:r>
                        <a:rPr sz="1200" b="0">
                          <a:solidFill>
                            <a:srgbClr val="1F2937"/>
                          </a:solidFill>
                        </a:rPr>
                        <a:t>6V</a:t>
                      </a:r>
                    </a:p>
                  </a:txBody>
                  <a:tcPr marL="73152" marR="73152" marT="36576" marB="36576">
                    <a:solidFill>
                      <a:srgbClr val="E8EEF6"/>
                    </a:solidFill>
                  </a:tcPr>
                </a:tc>
                <a:tc>
                  <a:txBody>
                    <a:bodyPr/>
                    <a:lstStyle/>
                    <a:p>
                      <a:r>
                        <a:rPr sz="1200" b="0">
                          <a:solidFill>
                            <a:srgbClr val="1F2937"/>
                          </a:solidFill>
                        </a:rPr>
                        <a:t>4V + ishonchlilik, qiymat</a:t>
                      </a:r>
                    </a:p>
                  </a:txBody>
                  <a:tcPr marL="73152" marR="73152" marT="36576" marB="36576">
                    <a:solidFill>
                      <a:srgbClr val="E8EEF6"/>
                    </a:solidFill>
                  </a:tcPr>
                </a:tc>
                <a:tc>
                  <a:txBody>
                    <a:bodyPr/>
                    <a:lstStyle/>
                    <a:p>
                      <a:r>
                        <a:rPr sz="1200" b="0">
                          <a:solidFill>
                            <a:srgbClr val="1F2937"/>
                          </a:solidFill>
                        </a:rPr>
                        <a:t>Veracity, value</a:t>
                      </a:r>
                    </a:p>
                  </a:txBody>
                  <a:tcPr marL="73152" marR="73152" marT="36576" marB="36576">
                    <a:solidFill>
                      <a:srgbClr val="E8EEF6"/>
                    </a:solidFill>
                  </a:tcPr>
                </a:tc>
              </a:tr>
              <a:tr h="411480">
                <a:tc>
                  <a:txBody>
                    <a:bodyPr/>
                    <a:lstStyle/>
                    <a:p>
                      <a:r>
                        <a:rPr sz="1200" b="0">
                          <a:solidFill>
                            <a:srgbClr val="1F2937"/>
                          </a:solidFill>
                        </a:rPr>
                        <a:t>7V</a:t>
                      </a:r>
                    </a:p>
                  </a:txBody>
                  <a:tcPr marL="73152" marR="73152" marT="36576" marB="36576">
                    <a:solidFill>
                      <a:srgbClr val="FFFFFF"/>
                    </a:solidFill>
                  </a:tcPr>
                </a:tc>
                <a:tc>
                  <a:txBody>
                    <a:bodyPr/>
                    <a:lstStyle/>
                    <a:p>
                      <a:r>
                        <a:rPr sz="1200" b="0">
                          <a:solidFill>
                            <a:srgbClr val="1F2937"/>
                          </a:solidFill>
                        </a:rPr>
                        <a:t>6V + vizuallashtirish</a:t>
                      </a:r>
                    </a:p>
                  </a:txBody>
                  <a:tcPr marL="73152" marR="73152" marT="36576" marB="36576">
                    <a:solidFill>
                      <a:srgbClr val="FFFFFF"/>
                    </a:solidFill>
                  </a:tcPr>
                </a:tc>
                <a:tc>
                  <a:txBody>
                    <a:bodyPr/>
                    <a:lstStyle/>
                    <a:p>
                      <a:r>
                        <a:rPr sz="1200" b="0">
                          <a:solidFill>
                            <a:srgbClr val="1F2937"/>
                          </a:solidFill>
                        </a:rPr>
                        <a:t>Visualisation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Modellar tarkibi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Foydalar va uch xil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Foydalar: yaxshiroq davolash, samaraliroq xizmat va sog‘liqni saqlash tashkilotlari uchun xarajat tejash.</a:t>
            </a:r>
          </a:p>
          <a:p>
            <a:pPr>
              <a:spcAft>
                <a:spcPts val="800"/>
              </a:spcAft>
            </a:pPr>
            <a:r>
              <a:rPr sz="1800">
                <a:solidFill>
                  <a:srgbClr val="1F2937"/>
                </a:solidFill>
                <a:latin typeface="Calibri"/>
              </a:rPr>
              <a:t>▸  Bevosita bemorga ta’sir qiladigan foyda — klinik qarorlarning sifati va aniqligi oshishi.</a:t>
            </a:r>
          </a:p>
          <a:p>
            <a:pPr>
              <a:spcAft>
                <a:spcPts val="800"/>
              </a:spcAft>
            </a:pPr>
            <a:r>
              <a:rPr sz="1800">
                <a:solidFill>
                  <a:srgbClr val="1F2937"/>
                </a:solidFill>
                <a:latin typeface="Calibri"/>
              </a:rPr>
              <a:t>▸  Muammolar uch xil: ma‘lumot, jarayon va boshqaruv; mualliflar asosan boshqaruv muammolariga e’tibor beradi.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ma‘lumot</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Ma‘lumot: xususiyatlari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Jarayon: yig‘ish, tahlil</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Boshqaruv: maxfiylik, egalik</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turdagi muammo</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Anonimlashtirish cheklovlari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Maskalash va deidentifikatsiya katta ma’lumotlarda ishonchli emas: qayta aniqlash xavfi oshadi.</a:t>
            </a:r>
          </a:p>
          <a:p>
            <a:pPr>
              <a:spcAft>
                <a:spcPts val="800"/>
              </a:spcAft>
            </a:pPr>
            <a:r>
              <a:rPr sz="1800">
                <a:solidFill>
                  <a:srgbClr val="1F2937"/>
                </a:solidFill>
                <a:latin typeface="Calibri"/>
              </a:rPr>
              <a:t>▸  Maxfiylik modellari dastlab statik to‘plamlar uchun ishlab chiqilgan, shuning uchun mukammal emas.</a:t>
            </a:r>
          </a:p>
          <a:p>
            <a:pPr>
              <a:spcAft>
                <a:spcPts val="800"/>
              </a:spcAft>
            </a:pPr>
            <a:r>
              <a:rPr sz="1800">
                <a:solidFill>
                  <a:srgbClr val="1F2937"/>
                </a:solidFill>
                <a:latin typeface="Calibri"/>
              </a:rPr>
              <a:t>▸  Oshkor bo‘lish xavfi faqat ma’lumot umuman ulashilmasa to‘liq yo‘qoladi.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Xususiyat</a:t>
                      </a:r>
                    </a:p>
                  </a:txBody>
                  <a:tcPr marL="73152" marR="73152" marT="36576" marB="36576">
                    <a:solidFill>
                      <a:srgbClr val="0B1F3A"/>
                    </a:solidFill>
                  </a:tcPr>
                </a:tc>
                <a:tc>
                  <a:txBody>
                    <a:bodyPr/>
                    <a:lstStyle/>
                    <a:p>
                      <a:r>
                        <a:rPr sz="1400" b="1">
                          <a:solidFill>
                            <a:srgbClr val="FFFFFF"/>
                          </a:solidFill>
                        </a:rPr>
                        <a:t>Ma’nosi</a:t>
                      </a:r>
                    </a:p>
                  </a:txBody>
                  <a:tcPr marL="73152" marR="73152" marT="36576" marB="36576">
                    <a:solidFill>
                      <a:srgbClr val="0B1F3A"/>
                    </a:solidFill>
                  </a:tcPr>
                </a:tc>
              </a:tr>
              <a:tr h="411480">
                <a:tc>
                  <a:txBody>
                    <a:bodyPr/>
                    <a:lstStyle/>
                    <a:p>
                      <a:r>
                        <a:rPr sz="1300" b="0">
                          <a:solidFill>
                            <a:srgbClr val="1F2937"/>
                          </a:solidFill>
                        </a:rPr>
                        <a:t>Bog‘lanuvchanlik</a:t>
                      </a:r>
                    </a:p>
                  </a:txBody>
                  <a:tcPr marL="73152" marR="73152" marT="36576" marB="36576">
                    <a:solidFill>
                      <a:srgbClr val="E8EEF6"/>
                    </a:solidFill>
                  </a:tcPr>
                </a:tc>
                <a:tc>
                  <a:txBody>
                    <a:bodyPr/>
                    <a:lstStyle/>
                    <a:p>
                      <a:r>
                        <a:rPr sz="1300" b="0">
                          <a:solidFill>
                            <a:srgbClr val="1F2937"/>
                          </a:solidFill>
                        </a:rPr>
                        <a:t>Anonim ma’lumot bog‘lanuvchan qolishi</a:t>
                      </a:r>
                    </a:p>
                  </a:txBody>
                  <a:tcPr marL="73152" marR="73152" marT="36576" marB="36576">
                    <a:solidFill>
                      <a:srgbClr val="E8EEF6"/>
                    </a:solidFill>
                  </a:tcPr>
                </a:tc>
              </a:tr>
              <a:tr h="411480">
                <a:tc>
                  <a:txBody>
                    <a:bodyPr/>
                    <a:lstStyle/>
                    <a:p>
                      <a:r>
                        <a:rPr sz="1300" b="0">
                          <a:solidFill>
                            <a:srgbClr val="1F2937"/>
                          </a:solidFill>
                        </a:rPr>
                        <a:t>Kompozitsiyalik</a:t>
                      </a:r>
                    </a:p>
                  </a:txBody>
                  <a:tcPr marL="73152" marR="73152" marT="36576" marB="36576">
                    <a:solidFill>
                      <a:srgbClr val="FFFFFF"/>
                    </a:solidFill>
                  </a:tcPr>
                </a:tc>
                <a:tc>
                  <a:txBody>
                    <a:bodyPr/>
                    <a:lstStyle/>
                    <a:p>
                      <a:r>
                        <a:rPr sz="1300" b="0">
                          <a:solidFill>
                            <a:srgbClr val="1F2937"/>
                          </a:solidFill>
                        </a:rPr>
                        <a:t>Ko‘p manba birlashsa ham himoya kafolati</a:t>
                      </a:r>
                    </a:p>
                  </a:txBody>
                  <a:tcPr marL="73152" marR="73152" marT="36576" marB="36576">
                    <a:solidFill>
                      <a:srgbClr val="FFFFFF"/>
                    </a:solidFill>
                  </a:tcPr>
                </a:tc>
              </a:tr>
              <a:tr h="411480">
                <a:tc>
                  <a:txBody>
                    <a:bodyPr/>
                    <a:lstStyle/>
                    <a:p>
                      <a:r>
                        <a:rPr sz="1300" b="0">
                          <a:solidFill>
                            <a:srgbClr val="1F2937"/>
                          </a:solidFill>
                        </a:rPr>
                        <a:t>Kam hisoblash</a:t>
                      </a:r>
                    </a:p>
                  </a:txBody>
                  <a:tcPr marL="73152" marR="73152" marT="36576" marB="36576">
                    <a:solidFill>
                      <a:srgbClr val="E8EEF6"/>
                    </a:solidFill>
                  </a:tcPr>
                </a:tc>
                <a:tc>
                  <a:txBody>
                    <a:bodyPr/>
                    <a:lstStyle/>
                    <a:p>
                      <a:r>
                        <a:rPr sz="1300" b="0">
                          <a:solidFill>
                            <a:srgbClr val="1F2937"/>
                          </a:solidFill>
                        </a:rPr>
                        <a:t>Algoritm kam vaqt va xotira sarflashi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Maxfiylik modeli xususiyatlari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Oshkor bo‘lish xavfi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Maskalangan ma’lumotda ham uch xil oshkor bo‘lish xavfi qayta aniqlashga olib kelishi mumkin.</a:t>
            </a:r>
          </a:p>
          <a:p>
            <a:pPr>
              <a:spcAft>
                <a:spcPts val="800"/>
              </a:spcAft>
            </a:pPr>
            <a:r>
              <a:rPr sz="1800">
                <a:solidFill>
                  <a:srgbClr val="1F2937"/>
                </a:solidFill>
                <a:latin typeface="Calibri"/>
              </a:rPr>
              <a:t>▸  Xulosaviy oshkorlikda ma’lumot aytilmaydi, lekin chiqarilgan ma’lumotdan yuqori ishonch bilan taxmin qilinadi.</a:t>
            </a:r>
          </a:p>
          <a:p>
            <a:pPr>
              <a:spcAft>
                <a:spcPts val="800"/>
              </a:spcAft>
            </a:pPr>
            <a:r>
              <a:rPr sz="1800">
                <a:solidFill>
                  <a:srgbClr val="1F2937"/>
                </a:solidFill>
                <a:latin typeface="Calibri"/>
              </a:rPr>
              <a:t>▸  Diqqat: identifikatsion ≠ atributiv — birida shaxs aniqlanadi, ikkinchisida guruh a’zoligi oshkor bo‘ladi.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961450"/>
                <a:gridCol w="2403625"/>
                <a:gridCol w="1922900"/>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Ma’nosi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Identifikatsion</a:t>
                      </a:r>
                    </a:p>
                  </a:txBody>
                  <a:tcPr marL="73152" marR="73152" marT="36576" marB="36576">
                    <a:solidFill>
                      <a:srgbClr val="E8EEF6"/>
                    </a:solidFill>
                  </a:tcPr>
                </a:tc>
                <a:tc>
                  <a:txBody>
                    <a:bodyPr/>
                    <a:lstStyle/>
                    <a:p>
                      <a:r>
                        <a:rPr sz="1200" b="0">
                          <a:solidFill>
                            <a:srgbClr val="1F2937"/>
                          </a:solidFill>
                        </a:rPr>
                        <a:t>Ma’lumot X shaxsga bog‘lanadi</a:t>
                      </a:r>
                    </a:p>
                  </a:txBody>
                  <a:tcPr marL="73152" marR="73152" marT="36576" marB="36576">
                    <a:solidFill>
                      <a:srgbClr val="E8EEF6"/>
                    </a:solidFill>
                  </a:tcPr>
                </a:tc>
                <a:tc>
                  <a:txBody>
                    <a:bodyPr/>
                    <a:lstStyle/>
                    <a:p>
                      <a:r>
                        <a:rPr sz="1200" b="0">
                          <a:solidFill>
                            <a:srgbClr val="1F2937"/>
                          </a:solidFill>
                        </a:rPr>
                        <a:t>Qatorning egasi X deb aniqlanadi</a:t>
                      </a:r>
                    </a:p>
                  </a:txBody>
                  <a:tcPr marL="73152" marR="73152" marT="36576" marB="36576">
                    <a:solidFill>
                      <a:srgbClr val="E8EEF6"/>
                    </a:solidFill>
                  </a:tcPr>
                </a:tc>
              </a:tr>
              <a:tr h="411480">
                <a:tc>
                  <a:txBody>
                    <a:bodyPr/>
                    <a:lstStyle/>
                    <a:p>
                      <a:r>
                        <a:rPr sz="1200" b="0">
                          <a:solidFill>
                            <a:srgbClr val="1F2937"/>
                          </a:solidFill>
                        </a:rPr>
                        <a:t>Atributiv</a:t>
                      </a:r>
                    </a:p>
                  </a:txBody>
                  <a:tcPr marL="73152" marR="73152" marT="36576" marB="36576">
                    <a:solidFill>
                      <a:srgbClr val="FFFFFF"/>
                    </a:solidFill>
                  </a:tcPr>
                </a:tc>
                <a:tc>
                  <a:txBody>
                    <a:bodyPr/>
                    <a:lstStyle/>
                    <a:p>
                      <a:r>
                        <a:rPr sz="1200" b="0">
                          <a:solidFill>
                            <a:srgbClr val="1F2937"/>
                          </a:solidFill>
                        </a:rPr>
                        <a:t>X ma’lum guruh a’zosi ekani oshkor bo‘ladi</a:t>
                      </a:r>
                    </a:p>
                  </a:txBody>
                  <a:tcPr marL="73152" marR="73152" marT="36576" marB="36576">
                    <a:solidFill>
                      <a:srgbClr val="FFFFFF"/>
                    </a:solidFill>
                  </a:tcPr>
                </a:tc>
                <a:tc>
                  <a:txBody>
                    <a:bodyPr/>
                    <a:lstStyle/>
                    <a:p>
                      <a:r>
                        <a:rPr sz="1200" b="0">
                          <a:solidFill>
                            <a:srgbClr val="1F2937"/>
                          </a:solidFill>
                        </a:rPr>
                        <a:t>Saraton registri a’zoligi</a:t>
                      </a:r>
                    </a:p>
                  </a:txBody>
                  <a:tcPr marL="73152" marR="73152" marT="36576" marB="36576">
                    <a:solidFill>
                      <a:srgbClr val="FFFFFF"/>
                    </a:solidFill>
                  </a:tcPr>
                </a:tc>
              </a:tr>
              <a:tr h="411480">
                <a:tc>
                  <a:txBody>
                    <a:bodyPr/>
                    <a:lstStyle/>
                    <a:p>
                      <a:r>
                        <a:rPr sz="1200" b="0">
                          <a:solidFill>
                            <a:srgbClr val="1F2937"/>
                          </a:solidFill>
                        </a:rPr>
                        <a:t>Xulosaviy</a:t>
                      </a:r>
                    </a:p>
                  </a:txBody>
                  <a:tcPr marL="73152" marR="73152" marT="36576" marB="36576">
                    <a:solidFill>
                      <a:srgbClr val="E8EEF6"/>
                    </a:solidFill>
                  </a:tcPr>
                </a:tc>
                <a:tc>
                  <a:txBody>
                    <a:bodyPr/>
                    <a:lstStyle/>
                    <a:p>
                      <a:r>
                        <a:rPr sz="1200" b="0">
                          <a:solidFill>
                            <a:srgbClr val="1F2937"/>
                          </a:solidFill>
                        </a:rPr>
                        <a:t>X haqida yuqori ishonch bilan taxmin</a:t>
                      </a:r>
                    </a:p>
                  </a:txBody>
                  <a:tcPr marL="73152" marR="73152" marT="36576" marB="36576">
                    <a:solidFill>
                      <a:srgbClr val="E8EEF6"/>
                    </a:solidFill>
                  </a:tcPr>
                </a:tc>
                <a:tc>
                  <a:txBody>
                    <a:bodyPr/>
                    <a:lstStyle/>
                    <a:p>
                      <a:r>
                        <a:rPr sz="1200" b="0">
                          <a:solidFill>
                            <a:srgbClr val="1F2937"/>
                          </a:solidFill>
                        </a:rPr>
                        <a:t>Alohida misol keltirilmagan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turdagi oshkorlik</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Rozilik rolining pasayishi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Xabardor rozilik uzoq vaqt tadqiqotga kiritishning asosiy talabi bo‘lgan: shaxs ishtirok xavfini o‘z zimmasiga olishga rozilik beradi.</a:t>
            </a:r>
          </a:p>
          <a:p>
            <a:pPr>
              <a:spcAft>
                <a:spcPts val="1200"/>
              </a:spcAft>
            </a:pPr>
            <a:r>
              <a:rPr sz="2200">
                <a:solidFill>
                  <a:srgbClr val="1F2937"/>
                </a:solidFill>
                <a:latin typeface="Calibri"/>
              </a:rPr>
              <a:t>▸  Katta ma’lumotlarda rozilikka tayanish qiyinlashadi: ma’lumot dastlabki manbadan uzoq tizimlarda bog‘lanib ishlatilishi mumkin.</a:t>
            </a:r>
          </a:p>
          <a:p>
            <a:pPr>
              <a:spcAft>
                <a:spcPts val="1200"/>
              </a:spcAft>
            </a:pPr>
            <a:r>
              <a:rPr sz="2200">
                <a:solidFill>
                  <a:srgbClr val="1F2937"/>
                </a:solidFill>
                <a:latin typeface="Calibri"/>
              </a:rPr>
              <a:t>▸  Shaxsga qayta murojaat qilish mumkin bo‘lsa ham, ma’lumot turli foydalanuvchilar qo‘lida qanday ishlatilishini to‘liq tushuntirib bo‘lmaydi.</a:t>
            </a:r>
          </a:p>
          <a:p>
            <a:pPr>
              <a:spcAft>
                <a:spcPts val="1200"/>
              </a:spcAft>
            </a:pPr>
            <a:r>
              <a:rPr sz="2200">
                <a:solidFill>
                  <a:srgbClr val="1F2937"/>
                </a:solidFill>
                <a:latin typeface="Calibri"/>
              </a:rPr>
              <a:t>▸  Ishtirokchilar ko‘pligi, mablag‘ va muddat cheklovlari qayta bog‘lanishni ham qiyinlashtiradi, shuning uchun muqobil himoya mexanizmlari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katta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Faraz qilaylik, tadqiqotchilar saraton reyestridagi anonimlashtirilgan yozuvlarni boshqa manbalar bilan birlashtirmoqchi. Rozilik faqat dastlabki maqsad uchun olingan.</a:t>
            </a:r>
          </a:p>
          <a:p>
            <a:pPr>
              <a:spcAft>
                <a:spcPts val="1200"/>
              </a:spcAft>
            </a:pPr>
            <a:r>
              <a:rPr sz="2200">
                <a:solidFill>
                  <a:srgbClr val="1F2937"/>
                </a:solidFill>
                <a:latin typeface="Calibri"/>
              </a:rPr>
              <a:t>▸  Ma’lumotlar bog‘lansa, yashirilgan shaxs qayta aniqlanishi mumkin. Reyestrga a’zolikning o‘zi ham oshkor bo‘ladi (atribut oshkorligi).</a:t>
            </a:r>
          </a:p>
          <a:p>
            <a:pPr>
              <a:spcAft>
                <a:spcPts val="1200"/>
              </a:spcAft>
            </a:pPr>
            <a:r>
              <a:rPr sz="2200">
                <a:solidFill>
                  <a:srgbClr val="1F2937"/>
                </a:solidFill>
                <a:latin typeface="Calibri"/>
              </a:rPr>
              <a:t>▸  Ma’lumot asl manbadan uzoq tizimlarda ishlatiladi. Bemorni qayta topish mumkin bo‘lsa ham, barcha foydalanishlar haqida to‘liq xabar berish qiyin.</a:t>
            </a:r>
          </a:p>
          <a:p>
            <a:pPr>
              <a:spcAft>
                <a:spcPts val="1200"/>
              </a:spcAft>
            </a:pPr>
            <a:r>
              <a:rPr sz="2200">
                <a:solidFill>
                  <a:srgbClr val="1F2937"/>
                </a:solidFill>
                <a:latin typeface="Calibri"/>
              </a:rPr>
              <a:t>▸  Savol: qaysi qadriyatlar to‘qnashadi (masalan, jamoat manfaati va maxfiylik)? Rozilikdan tashqari qanday himoya mexanizmi o‘ylab topish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katta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katta ma’lumotlarning uchta asosiy xususiyati (3V) qaysilar? Javob: hajm (volume), xilma-xillik (variety) va tezlik (velocity).</a:t>
            </a:r>
          </a:p>
          <a:p>
            <a:pPr>
              <a:spcAft>
                <a:spcPts val="1200"/>
              </a:spcAft>
            </a:pPr>
            <a:r>
              <a:rPr sz="2200">
                <a:solidFill>
                  <a:srgbClr val="1F2937"/>
                </a:solidFill>
                <a:latin typeface="Calibri"/>
              </a:rPr>
              <a:t>▸  2-savol: maskalashga qaramay qayta aniqlashning uch xavfi qaysi? Javob: shaxsni aniqlash, atribut (guruh a’zoligi) va xulosa chiqarish orqali oshkor bo‘lish.</a:t>
            </a:r>
          </a:p>
          <a:p>
            <a:pPr>
              <a:spcAft>
                <a:spcPts val="1200"/>
              </a:spcAft>
            </a:pPr>
            <a:r>
              <a:rPr sz="2200">
                <a:solidFill>
                  <a:srgbClr val="1F2937"/>
                </a:solidFill>
                <a:latin typeface="Calibri"/>
              </a:rPr>
              <a:t>▸  3-savol: nega rozilikka tayanish qiyinlashmoqda? Javob: ma’lumot ko‘plab tizimlarda ishlatiladi, ishtirokchilar soni katta, mablag‘ va muddat cheklangan.</a:t>
            </a:r>
          </a:p>
          <a:p>
            <a:pPr>
              <a:spcAft>
                <a:spcPts val="1200"/>
              </a:spcAft>
            </a:pPr>
            <a:r>
              <a:rPr sz="2200">
                <a:solidFill>
                  <a:srgbClr val="1F2937"/>
                </a:solidFill>
                <a:latin typeface="Calibri"/>
              </a:rPr>
              <a:t>▸  Diqqat: xato qilish xavfi. Xavfni butunlay yo‘qotish faqat ma’lumot umuman almashilmasa mumkin; maxfiylik modellari ham mukammal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 qaror qabul qilish doirasi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Doira tayyor javob bermaydi. U qadriyatlarni ochiq ko‘rsatib, masala ustida o‘ylashga va javobga kelishga yordam beruvchi vositadir.</a:t>
            </a:r>
          </a:p>
          <a:p>
            <a:pPr>
              <a:spcAft>
                <a:spcPts val="1200"/>
              </a:spcAft>
            </a:pPr>
            <a:r>
              <a:rPr sz="2200">
                <a:solidFill>
                  <a:srgbClr val="1F2937"/>
                </a:solidFill>
                <a:latin typeface="Calibri"/>
              </a:rPr>
              <a:t>▸  Doira nazariya ham, murakkab masalani soddalashtiruvchi model ham emas. U nazariyalar bilan bog‘lanishi mumkin, lekin real dilemmalarga qaratilgan.</a:t>
            </a:r>
          </a:p>
          <a:p>
            <a:pPr>
              <a:spcAft>
                <a:spcPts val="1200"/>
              </a:spcAft>
            </a:pPr>
            <a:r>
              <a:rPr sz="2200">
                <a:solidFill>
                  <a:srgbClr val="1F2937"/>
                </a:solidFill>
                <a:latin typeface="Calibri"/>
              </a:rPr>
              <a:t>▸  Yaxshi doira: maqsadi aniq, amaliy, qadriyatlar ochiq (boshida teng vaznli), moslashuvchan va tuzilgan savollar orqali nimani ko‘rish kerakligini ko‘rsatadi.</a:t>
            </a:r>
          </a:p>
          <a:p>
            <a:pPr>
              <a:spcAft>
                <a:spcPts val="1200"/>
              </a:spcAft>
            </a:pPr>
            <a:r>
              <a:rPr sz="2200">
                <a:solidFill>
                  <a:srgbClr val="1F2937"/>
                </a:solidFill>
                <a:latin typeface="Calibri"/>
              </a:rPr>
              <a:t>▸  Auditoriya: biotibbiyot tadqiqotchilari, siyosatchilar va etika qo‘mitalari, ma’lumot nazoratchilari; shuningdek bemorlar va qiziquvchilar.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Hurmat va ijtimoiy litsenziya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Shaxsga hurmat — boshqalarga bo‘lgan axloqiy munosabat. U ko‘pincha muloqotda ko‘rinadi.</a:t>
            </a:r>
          </a:p>
          <a:p>
            <a:pPr>
              <a:spcAft>
                <a:spcPts val="800"/>
              </a:spcAft>
            </a:pPr>
            <a:r>
              <a:rPr sz="1800">
                <a:solidFill>
                  <a:srgbClr val="1F2937"/>
                </a:solidFill>
                <a:latin typeface="Calibri"/>
              </a:rPr>
              <a:t>▸  Ochiq, tushunarli axborot va jamoatchilik fikrini tinglash ishonchni mustahkamlaydi.</a:t>
            </a:r>
          </a:p>
          <a:p>
            <a:pPr>
              <a:spcAft>
                <a:spcPts val="800"/>
              </a:spcAft>
            </a:pPr>
            <a:r>
              <a:rPr sz="1800">
                <a:solidFill>
                  <a:srgbClr val="1F2937"/>
                </a:solidFill>
                <a:latin typeface="Calibri"/>
              </a:rPr>
              <a:t>▸  Ijtimoiy litsenziya — keng ta’sirli faoliyat qonuniyligiga nisbatan jamoatchilikning ijobiy kutishi.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Ochiq muloqot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Jamoatchilikni tinglash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Ishonch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Ijtimoiy litsenziya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Muloqotni davom ettirish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Hurmatdan litsenziyagacha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Zaiflik va kuch munosabatlari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Zaiflik — zarar yoki haqsizlikka moyillik. U ko‘pincha kontekstga bog‘liq.</a:t>
            </a:r>
          </a:p>
          <a:p>
            <a:pPr>
              <a:spcAft>
                <a:spcPts val="800"/>
              </a:spcAft>
            </a:pPr>
            <a:r>
              <a:rPr sz="1800">
                <a:solidFill>
                  <a:srgbClr val="1F2937"/>
                </a:solidFill>
                <a:latin typeface="Calibri"/>
              </a:rPr>
              <a:t>▸  Bir vaziyatda zaif odam boshqasida zaif bo‘lmasligi mumkin; vaziyat o‘zgarsa, holat ham o‘zgaradi.</a:t>
            </a:r>
          </a:p>
          <a:p>
            <a:pPr>
              <a:spcAft>
                <a:spcPts val="800"/>
              </a:spcAft>
            </a:pPr>
            <a:r>
              <a:rPr sz="1800">
                <a:solidFill>
                  <a:srgbClr val="1F2937"/>
                </a:solidFill>
                <a:latin typeface="Calibri"/>
              </a:rPr>
              <a:t>▸  Diqqat: zaif shaxs ≠ zaiflashtiruvchi vaziyat. Muammo ko‘pincha odamda emas, vaziyatda.</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77125"/>
                <a:gridCol w="2011729"/>
                <a:gridCol w="2299119"/>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Mohiyat</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Tug‘ma</a:t>
                      </a:r>
                    </a:p>
                  </a:txBody>
                  <a:tcPr marL="73152" marR="73152" marT="36576" marB="36576">
                    <a:solidFill>
                      <a:srgbClr val="E8EEF6"/>
                    </a:solidFill>
                  </a:tcPr>
                </a:tc>
                <a:tc>
                  <a:txBody>
                    <a:bodyPr/>
                    <a:lstStyle/>
                    <a:p>
                      <a:r>
                        <a:rPr sz="1200" b="0">
                          <a:solidFill>
                            <a:srgbClr val="1F2937"/>
                          </a:solidFill>
                        </a:rPr>
                        <a:t>Har bir inson hayotiga xos</a:t>
                      </a:r>
                    </a:p>
                  </a:txBody>
                  <a:tcPr marL="73152" marR="73152" marT="36576" marB="36576">
                    <a:solidFill>
                      <a:srgbClr val="E8EEF6"/>
                    </a:solidFill>
                  </a:tcPr>
                </a:tc>
                <a:tc>
                  <a:txBody>
                    <a:bodyPr/>
                    <a:lstStyle/>
                    <a:p>
                      <a:r>
                        <a:rPr sz="1200" b="0">
                          <a:solidFill>
                            <a:srgbClr val="1F2937"/>
                          </a:solidFill>
                        </a:rPr>
                        <a:t>Kasallikka moyillik</a:t>
                      </a:r>
                    </a:p>
                  </a:txBody>
                  <a:tcPr marL="73152" marR="73152" marT="36576" marB="36576">
                    <a:solidFill>
                      <a:srgbClr val="E8EEF6"/>
                    </a:solidFill>
                  </a:tcPr>
                </a:tc>
              </a:tr>
              <a:tr h="411480">
                <a:tc>
                  <a:txBody>
                    <a:bodyPr/>
                    <a:lstStyle/>
                    <a:p>
                      <a:r>
                        <a:rPr sz="1200" b="0">
                          <a:solidFill>
                            <a:srgbClr val="1F2937"/>
                          </a:solidFill>
                        </a:rPr>
                        <a:t>Vaziyatga bog‘liq</a:t>
                      </a:r>
                    </a:p>
                  </a:txBody>
                  <a:tcPr marL="73152" marR="73152" marT="36576" marB="36576">
                    <a:solidFill>
                      <a:srgbClr val="FFFFFF"/>
                    </a:solidFill>
                  </a:tcPr>
                </a:tc>
                <a:tc>
                  <a:txBody>
                    <a:bodyPr/>
                    <a:lstStyle/>
                    <a:p>
                      <a:r>
                        <a:rPr sz="1200" b="0">
                          <a:solidFill>
                            <a:srgbClr val="1F2937"/>
                          </a:solidFill>
                        </a:rPr>
                        <a:t>Axborot muhitidagi o‘rniga bog‘liq</a:t>
                      </a:r>
                    </a:p>
                  </a:txBody>
                  <a:tcPr marL="73152" marR="73152" marT="36576" marB="36576">
                    <a:solidFill>
                      <a:srgbClr val="FFFFFF"/>
                    </a:solidFill>
                  </a:tcPr>
                </a:tc>
                <a:tc>
                  <a:txBody>
                    <a:bodyPr/>
                    <a:lstStyle/>
                    <a:p>
                      <a:r>
                        <a:rPr sz="1200" b="0">
                          <a:solidFill>
                            <a:srgbClr val="1F2937"/>
                          </a:solidFill>
                        </a:rPr>
                        <a:t>Ma’lumotdan noto‘g‘ri foydalanish</a:t>
                      </a:r>
                    </a:p>
                  </a:txBody>
                  <a:tcPr marL="73152" marR="73152" marT="36576" marB="36576">
                    <a:solidFill>
                      <a:srgbClr val="FFFFFF"/>
                    </a:solidFill>
                  </a:tcPr>
                </a:tc>
              </a:tr>
              <a:tr h="411480">
                <a:tc>
                  <a:txBody>
                    <a:bodyPr/>
                    <a:lstStyle/>
                    <a:p>
                      <a:r>
                        <a:rPr sz="1200" b="0">
                          <a:solidFill>
                            <a:srgbClr val="1F2937"/>
                          </a:solidFill>
                        </a:rPr>
                        <a:t>Patogen</a:t>
                      </a:r>
                    </a:p>
                  </a:txBody>
                  <a:tcPr marL="73152" marR="73152" marT="36576" marB="36576">
                    <a:solidFill>
                      <a:srgbClr val="E8EEF6"/>
                    </a:solidFill>
                  </a:tcPr>
                </a:tc>
                <a:tc>
                  <a:txBody>
                    <a:bodyPr/>
                    <a:lstStyle/>
                    <a:p>
                      <a:r>
                        <a:rPr sz="1200" b="0">
                          <a:solidFill>
                            <a:srgbClr val="1F2937"/>
                          </a:solidFill>
                        </a:rPr>
                        <a:t>Zulm, adolatsizlikdan kelib chiqadi</a:t>
                      </a:r>
                    </a:p>
                  </a:txBody>
                  <a:tcPr marL="73152" marR="73152" marT="36576" marB="36576">
                    <a:solidFill>
                      <a:srgbClr val="E8EEF6"/>
                    </a:solidFill>
                  </a:tcPr>
                </a:tc>
                <a:tc>
                  <a:txBody>
                    <a:bodyPr/>
                    <a:lstStyle/>
                    <a:p>
                      <a:r>
                        <a:rPr sz="1200" b="0">
                          <a:solidFill>
                            <a:srgbClr val="1F2937"/>
                          </a:solidFill>
                        </a:rPr>
                        <a:t>Yagona davo — tadqiqot: rozilik shubhali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Zaiflik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Ma‘lumot tafovuti, guruh zarari, hamboshqaruv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Tafovut: bazani boshqaruvchi «saralovchilar» va faqat unda qayd etilgan «saralanuvchilar» o‘rtasida.</a:t>
            </a:r>
          </a:p>
          <a:p>
            <a:pPr>
              <a:spcAft>
                <a:spcPts val="800"/>
              </a:spcAft>
            </a:pPr>
            <a:r>
              <a:rPr sz="1800">
                <a:solidFill>
                  <a:srgbClr val="1F2937"/>
                </a:solidFill>
                <a:latin typeface="Calibri"/>
              </a:rPr>
              <a:t>▸  Guruh zarari jamoaning umumiy manfaatiga tegadi; har bir a’zo zarar ko‘rishi shart emas.</a:t>
            </a:r>
          </a:p>
          <a:p>
            <a:pPr>
              <a:spcAft>
                <a:spcPts val="800"/>
              </a:spcAft>
            </a:pPr>
            <a:r>
              <a:rPr sz="1800">
                <a:solidFill>
                  <a:srgbClr val="1F2937"/>
                </a:solidFill>
                <a:latin typeface="Calibri"/>
              </a:rPr>
              <a:t>▸  Hamboshqaruv hammaga so‘z beradi, lekin katta guruhda amalga oshmaydi va nizolarni hal qilmaydi.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096287"/>
                <a:gridCol w="2579500"/>
                <a:gridCol w="1612187"/>
              </a:tblGrid>
              <a:tr h="411480">
                <a:tc>
                  <a:txBody>
                    <a:bodyPr/>
                    <a:lstStyle/>
                    <a:p>
                      <a:r>
                        <a:rPr sz="1300" b="1">
                          <a:solidFill>
                            <a:srgbClr val="FFFFFF"/>
                          </a:solidFill>
                        </a:rPr>
                        <a:t>Tushuncha</a:t>
                      </a:r>
                    </a:p>
                  </a:txBody>
                  <a:tcPr marL="73152" marR="73152" marT="36576" marB="36576">
                    <a:solidFill>
                      <a:srgbClr val="0B1F3A"/>
                    </a:solidFill>
                  </a:tcPr>
                </a:tc>
                <a:tc>
                  <a:txBody>
                    <a:bodyPr/>
                    <a:lstStyle/>
                    <a:p>
                      <a:r>
                        <a:rPr sz="1300" b="1">
                          <a:solidFill>
                            <a:srgbClr val="FFFFFF"/>
                          </a:solidFill>
                        </a:rPr>
                        <a:t>Mohiyat</a:t>
                      </a:r>
                    </a:p>
                  </a:txBody>
                  <a:tcPr marL="73152" marR="73152" marT="36576" marB="36576">
                    <a:solidFill>
                      <a:srgbClr val="0B1F3A"/>
                    </a:solidFill>
                  </a:tcPr>
                </a:tc>
                <a:tc>
                  <a:txBody>
                    <a:bodyPr/>
                    <a:lstStyle/>
                    <a:p>
                      <a:r>
                        <a:rPr sz="1300" b="1">
                          <a:solidFill>
                            <a:srgbClr val="FFFFFF"/>
                          </a:solidFill>
                        </a:rPr>
                        <a:t>Yechim</a:t>
                      </a:r>
                    </a:p>
                  </a:txBody>
                  <a:tcPr marL="73152" marR="73152" marT="36576" marB="36576">
                    <a:solidFill>
                      <a:srgbClr val="0B1F3A"/>
                    </a:solidFill>
                  </a:tcPr>
                </a:tc>
              </a:tr>
              <a:tr h="411480">
                <a:tc>
                  <a:txBody>
                    <a:bodyPr/>
                    <a:lstStyle/>
                    <a:p>
                      <a:r>
                        <a:rPr sz="1200" b="0">
                          <a:solidFill>
                            <a:srgbClr val="1F2937"/>
                          </a:solidFill>
                        </a:rPr>
                        <a:t>Ma’lumot tafovuti</a:t>
                      </a:r>
                    </a:p>
                  </a:txBody>
                  <a:tcPr marL="73152" marR="73152" marT="36576" marB="36576">
                    <a:solidFill>
                      <a:srgbClr val="E8EEF6"/>
                    </a:solidFill>
                  </a:tcPr>
                </a:tc>
                <a:tc>
                  <a:txBody>
                    <a:bodyPr/>
                    <a:lstStyle/>
                    <a:p>
                      <a:r>
                        <a:rPr sz="1200" b="0">
                          <a:solidFill>
                            <a:srgbClr val="1F2937"/>
                          </a:solidFill>
                        </a:rPr>
                        <a:t>Foyda notekis taqsimlanadi</a:t>
                      </a:r>
                    </a:p>
                  </a:txBody>
                  <a:tcPr marL="73152" marR="73152" marT="36576" marB="36576">
                    <a:solidFill>
                      <a:srgbClr val="E8EEF6"/>
                    </a:solidFill>
                  </a:tcPr>
                </a:tc>
                <a:tc>
                  <a:txBody>
                    <a:bodyPr/>
                    <a:lstStyle/>
                    <a:p>
                      <a:r>
                        <a:rPr sz="1200" b="0">
                          <a:solidFill>
                            <a:srgbClr val="1F2937"/>
                          </a:solidFill>
                        </a:rPr>
                        <a:t>Adolat va hamjihatlik</a:t>
                      </a:r>
                    </a:p>
                  </a:txBody>
                  <a:tcPr marL="73152" marR="73152" marT="36576" marB="36576">
                    <a:solidFill>
                      <a:srgbClr val="E8EEF6"/>
                    </a:solidFill>
                  </a:tcPr>
                </a:tc>
              </a:tr>
              <a:tr h="411480">
                <a:tc>
                  <a:txBody>
                    <a:bodyPr/>
                    <a:lstStyle/>
                    <a:p>
                      <a:r>
                        <a:rPr sz="1200" b="0">
                          <a:solidFill>
                            <a:srgbClr val="1F2937"/>
                          </a:solidFill>
                        </a:rPr>
                        <a:t>Guruh zarari</a:t>
                      </a:r>
                    </a:p>
                  </a:txBody>
                  <a:tcPr marL="73152" marR="73152" marT="36576" marB="36576">
                    <a:solidFill>
                      <a:srgbClr val="FFFFFF"/>
                    </a:solidFill>
                  </a:tcPr>
                </a:tc>
                <a:tc>
                  <a:txBody>
                    <a:bodyPr/>
                    <a:lstStyle/>
                    <a:p>
                      <a:r>
                        <a:rPr sz="1200" b="0">
                          <a:solidFill>
                            <a:srgbClr val="1F2937"/>
                          </a:solidFill>
                        </a:rPr>
                        <a:t>Jamoa manfaatiga zarar</a:t>
                      </a:r>
                    </a:p>
                  </a:txBody>
                  <a:tcPr marL="73152" marR="73152" marT="36576" marB="36576">
                    <a:solidFill>
                      <a:srgbClr val="FFFFFF"/>
                    </a:solidFill>
                  </a:tcPr>
                </a:tc>
                <a:tc>
                  <a:txBody>
                    <a:bodyPr/>
                    <a:lstStyle/>
                    <a:p>
                      <a:r>
                        <a:rPr sz="1200" b="0">
                          <a:solidFill>
                            <a:srgbClr val="1F2937"/>
                          </a:solidFill>
                        </a:rPr>
                        <a:t>Ehtiyotkor yondashuv</a:t>
                      </a:r>
                    </a:p>
                  </a:txBody>
                  <a:tcPr marL="73152" marR="73152" marT="36576" marB="36576">
                    <a:solidFill>
                      <a:srgbClr val="FFFFFF"/>
                    </a:solidFill>
                  </a:tcPr>
                </a:tc>
              </a:tr>
              <a:tr h="411480">
                <a:tc>
                  <a:txBody>
                    <a:bodyPr/>
                    <a:lstStyle/>
                    <a:p>
                      <a:r>
                        <a:rPr sz="1200" b="0">
                          <a:solidFill>
                            <a:srgbClr val="1F2937"/>
                          </a:solidFill>
                        </a:rPr>
                        <a:t>Hamboshqaruv</a:t>
                      </a:r>
                    </a:p>
                  </a:txBody>
                  <a:tcPr marL="73152" marR="73152" marT="36576" marB="36576">
                    <a:solidFill>
                      <a:srgbClr val="E8EEF6"/>
                    </a:solidFill>
                  </a:tcPr>
                </a:tc>
                <a:tc>
                  <a:txBody>
                    <a:bodyPr/>
                    <a:lstStyle/>
                    <a:p>
                      <a:r>
                        <a:rPr sz="1200" b="0">
                          <a:solidFill>
                            <a:srgbClr val="1F2937"/>
                          </a:solidFill>
                        </a:rPr>
                        <a:t>Barcha manfaatdorlar qarorda ishtirok etadi</a:t>
                      </a:r>
                    </a:p>
                  </a:txBody>
                  <a:tcPr marL="73152" marR="73152" marT="36576" marB="36576">
                    <a:solidFill>
                      <a:srgbClr val="E8EEF6"/>
                    </a:solidFill>
                  </a:tcPr>
                </a:tc>
                <a:tc>
                  <a:txBody>
                    <a:bodyPr/>
                    <a:lstStyle/>
                    <a:p>
                      <a:r>
                        <a:rPr sz="1200" b="0">
                          <a:solidFill>
                            <a:srgbClr val="1F2937"/>
                          </a:solidFill>
                        </a:rPr>
                        <a:t>Shaffoflik va hisobdorlik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tushuncha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16 etik qadriyat: mazmuniy va protsessual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Ishchi guruh big data uchun 16 ta etik qadriyatni ajratdi: 9 tasi mazmuniy, 7 tasi protsessual.</a:t>
            </a:r>
          </a:p>
          <a:p>
            <a:pPr>
              <a:spcAft>
                <a:spcPts val="800"/>
              </a:spcAft>
            </a:pPr>
            <a:r>
              <a:rPr sz="1800">
                <a:solidFill>
                  <a:srgbClr val="1F2937"/>
                </a:solidFill>
                <a:latin typeface="Calibri"/>
              </a:rPr>
              <a:t>▸  Mazmuniy qadriyatlar qaror natijasida amalga oshishi kerak bo‘lgan jihatlardir.</a:t>
            </a:r>
          </a:p>
          <a:p>
            <a:pPr>
              <a:spcAft>
                <a:spcPts val="800"/>
              </a:spcAft>
            </a:pPr>
            <a:r>
              <a:rPr sz="1800">
                <a:solidFill>
                  <a:srgbClr val="1F2937"/>
                </a:solidFill>
                <a:latin typeface="Calibri"/>
              </a:rPr>
              <a:t>▸  Protsessual qadriyatlar muhokama va qaror qabul qilish jarayonining o‘zini yo‘naltiradi.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44229"/>
                <a:gridCol w="1244229"/>
                <a:gridCol w="2799516"/>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Qadriyat</a:t>
                      </a:r>
                    </a:p>
                  </a:txBody>
                  <a:tcPr marL="73152" marR="73152" marT="36576" marB="36576">
                    <a:solidFill>
                      <a:srgbClr val="0B1F3A"/>
                    </a:solidFill>
                  </a:tcPr>
                </a:tc>
                <a:tc>
                  <a:txBody>
                    <a:bodyPr/>
                    <a:lstStyle/>
                    <a:p>
                      <a:r>
                        <a:rPr sz="1300" b="1">
                          <a:solidFill>
                            <a:srgbClr val="FFFFFF"/>
                          </a:solidFill>
                        </a:rPr>
                        <a:t>Ma’nosi</a:t>
                      </a:r>
                    </a:p>
                  </a:txBody>
                  <a:tcPr marL="73152" marR="73152" marT="36576" marB="36576">
                    <a:solidFill>
                      <a:srgbClr val="0B1F3A"/>
                    </a:solidFill>
                  </a:tcPr>
                </a:tc>
              </a:tr>
              <a:tr h="411480">
                <a:tc>
                  <a:txBody>
                    <a:bodyPr/>
                    <a:lstStyle/>
                    <a:p>
                      <a:r>
                        <a:rPr sz="1200" b="0">
                          <a:solidFill>
                            <a:srgbClr val="1F2937"/>
                          </a:solidFill>
                        </a:rPr>
                        <a:t>Mazmuniy</a:t>
                      </a:r>
                    </a:p>
                  </a:txBody>
                  <a:tcPr marL="73152" marR="73152" marT="36576" marB="36576">
                    <a:solidFill>
                      <a:srgbClr val="E8EEF6"/>
                    </a:solidFill>
                  </a:tcPr>
                </a:tc>
                <a:tc>
                  <a:txBody>
                    <a:bodyPr/>
                    <a:lstStyle/>
                    <a:p>
                      <a:r>
                        <a:rPr sz="1200" b="0">
                          <a:solidFill>
                            <a:srgbClr val="1F2937"/>
                          </a:solidFill>
                        </a:rPr>
                        <a:t>Adolat</a:t>
                      </a:r>
                    </a:p>
                  </a:txBody>
                  <a:tcPr marL="73152" marR="73152" marT="36576" marB="36576">
                    <a:solidFill>
                      <a:srgbClr val="E8EEF6"/>
                    </a:solidFill>
                  </a:tcPr>
                </a:tc>
                <a:tc>
                  <a:txBody>
                    <a:bodyPr/>
                    <a:lstStyle/>
                    <a:p>
                      <a:r>
                        <a:rPr sz="1200" b="0">
                          <a:solidFill>
                            <a:srgbClr val="1F2937"/>
                          </a:solidFill>
                        </a:rPr>
                        <a:t>Foyda va yukning teng taqsimlanishi</a:t>
                      </a:r>
                    </a:p>
                  </a:txBody>
                  <a:tcPr marL="73152" marR="73152" marT="36576" marB="36576">
                    <a:solidFill>
                      <a:srgbClr val="E8EEF6"/>
                    </a:solidFill>
                  </a:tcPr>
                </a:tc>
              </a:tr>
              <a:tr h="411480">
                <a:tc>
                  <a:txBody>
                    <a:bodyPr/>
                    <a:lstStyle/>
                    <a:p>
                      <a:r>
                        <a:rPr sz="1200" b="0">
                          <a:solidFill>
                            <a:srgbClr val="1F2937"/>
                          </a:solidFill>
                        </a:rPr>
                        <a:t>Mazmuniy</a:t>
                      </a:r>
                    </a:p>
                  </a:txBody>
                  <a:tcPr marL="73152" marR="73152" marT="36576" marB="36576">
                    <a:solidFill>
                      <a:srgbClr val="FFFFFF"/>
                    </a:solidFill>
                  </a:tcPr>
                </a:tc>
                <a:tc>
                  <a:txBody>
                    <a:bodyPr/>
                    <a:lstStyle/>
                    <a:p>
                      <a:r>
                        <a:rPr sz="1200" b="0">
                          <a:solidFill>
                            <a:srgbClr val="1F2937"/>
                          </a:solidFill>
                        </a:rPr>
                        <a:t>Privatlik</a:t>
                      </a:r>
                    </a:p>
                  </a:txBody>
                  <a:tcPr marL="73152" marR="73152" marT="36576" marB="36576">
                    <a:solidFill>
                      <a:srgbClr val="FFFFFF"/>
                    </a:solidFill>
                  </a:tcPr>
                </a:tc>
                <a:tc>
                  <a:txBody>
                    <a:bodyPr/>
                    <a:lstStyle/>
                    <a:p>
                      <a:r>
                        <a:rPr sz="1200" b="0">
                          <a:solidFill>
                            <a:srgbClr val="1F2937"/>
                          </a:solidFill>
                        </a:rPr>
                        <a:t>Axborotga kirishni nazorat qilish</a:t>
                      </a:r>
                    </a:p>
                  </a:txBody>
                  <a:tcPr marL="73152" marR="73152" marT="36576" marB="36576">
                    <a:solidFill>
                      <a:srgbClr val="FFFFFF"/>
                    </a:solidFill>
                  </a:tcPr>
                </a:tc>
              </a:tr>
              <a:tr h="411480">
                <a:tc>
                  <a:txBody>
                    <a:bodyPr/>
                    <a:lstStyle/>
                    <a:p>
                      <a:r>
                        <a:rPr sz="1200" b="0">
                          <a:solidFill>
                            <a:srgbClr val="1F2937"/>
                          </a:solidFill>
                        </a:rPr>
                        <a:t>Protsessual</a:t>
                      </a:r>
                    </a:p>
                  </a:txBody>
                  <a:tcPr marL="73152" marR="73152" marT="36576" marB="36576">
                    <a:solidFill>
                      <a:srgbClr val="E8EEF6"/>
                    </a:solidFill>
                  </a:tcPr>
                </a:tc>
                <a:tc>
                  <a:txBody>
                    <a:bodyPr/>
                    <a:lstStyle/>
                    <a:p>
                      <a:r>
                        <a:rPr sz="1200" b="0">
                          <a:solidFill>
                            <a:srgbClr val="1F2937"/>
                          </a:solidFill>
                        </a:rPr>
                        <a:t>Shaffoflik</a:t>
                      </a:r>
                    </a:p>
                  </a:txBody>
                  <a:tcPr marL="73152" marR="73152" marT="36576" marB="36576">
                    <a:solidFill>
                      <a:srgbClr val="E8EEF6"/>
                    </a:solidFill>
                  </a:tcPr>
                </a:tc>
                <a:tc>
                  <a:txBody>
                    <a:bodyPr/>
                    <a:lstStyle/>
                    <a:p>
                      <a:r>
                        <a:rPr sz="1200" b="0">
                          <a:solidFill>
                            <a:srgbClr val="1F2937"/>
                          </a:solidFill>
                        </a:rPr>
                        <a:t>Qarorlar jamoatchilik nazoriga ochiq</a:t>
                      </a:r>
                    </a:p>
                  </a:txBody>
                  <a:tcPr marL="73152" marR="73152" marT="36576" marB="36576">
                    <a:solidFill>
                      <a:srgbClr val="E8EEF6"/>
                    </a:solidFill>
                  </a:tcPr>
                </a:tc>
              </a:tr>
              <a:tr h="411480">
                <a:tc>
                  <a:txBody>
                    <a:bodyPr/>
                    <a:lstStyle/>
                    <a:p>
                      <a:r>
                        <a:rPr sz="1200" b="0">
                          <a:solidFill>
                            <a:srgbClr val="1F2937"/>
                          </a:solidFill>
                        </a:rPr>
                        <a:t>Protsessual</a:t>
                      </a:r>
                    </a:p>
                  </a:txBody>
                  <a:tcPr marL="73152" marR="73152" marT="36576" marB="36576">
                    <a:solidFill>
                      <a:srgbClr val="FFFFFF"/>
                    </a:solidFill>
                  </a:tcPr>
                </a:tc>
                <a:tc>
                  <a:txBody>
                    <a:bodyPr/>
                    <a:lstStyle/>
                    <a:p>
                      <a:r>
                        <a:rPr sz="1200" b="0">
                          <a:solidFill>
                            <a:srgbClr val="1F2937"/>
                          </a:solidFill>
                        </a:rPr>
                        <a:t>Hisobdorlik</a:t>
                      </a:r>
                    </a:p>
                  </a:txBody>
                  <a:tcPr marL="73152" marR="73152" marT="36576" marB="36576">
                    <a:solidFill>
                      <a:srgbClr val="FFFFFF"/>
                    </a:solidFill>
                  </a:tcPr>
                </a:tc>
                <a:tc>
                  <a:txBody>
                    <a:bodyPr/>
                    <a:lstStyle/>
                    <a:p>
                      <a:r>
                        <a:rPr sz="1200" b="0">
                          <a:solidFill>
                            <a:srgbClr val="1F2937"/>
                          </a:solidFill>
                        </a:rPr>
                        <a:t>Qaror uchun javobgar bo‘la olish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tur qadriyatlardan misollar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Qadriyatlar to‘qnashuvi va muvozanat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Barcha qadriyatni bir vaqtda qondirish odatda mumkin emas. Masalan, ma’lumot almashish ommaviy foydaga xizmat qilsa-da, privatlikka putur yetkazishi mumkin.</a:t>
            </a:r>
          </a:p>
          <a:p>
            <a:pPr>
              <a:spcAft>
                <a:spcPts val="1200"/>
              </a:spcAft>
            </a:pPr>
            <a:r>
              <a:rPr sz="2000">
                <a:solidFill>
                  <a:srgbClr val="1F2937"/>
                </a:solidFill>
                <a:latin typeface="Calibri"/>
              </a:rPr>
              <a:t>▸  Qaysi qadriyat ustun turishini qaror qabul qiluvchi o‘zi baholaydi. Framework ustuvorlik tartibi bo‘yicha ko‘rsatma bermaydi.</a:t>
            </a:r>
          </a:p>
          <a:p>
            <a:pPr>
              <a:spcAft>
                <a:spcPts val="1200"/>
              </a:spcAft>
            </a:pPr>
            <a:r>
              <a:rPr sz="2000">
                <a:solidFill>
                  <a:srgbClr val="1F2937"/>
                </a:solidFill>
                <a:latin typeface="Calibri"/>
              </a:rPr>
              <a:t>▸  Qondirilgan va buzilgan qadriyatlar ro‘yxati uzunligini solishtirish yetarli emas. Birini ustun qo‘yish asoslanishi va zararni kamaytiruvchi mexanizmlar bo‘lishi kerak.</a:t>
            </a:r>
          </a:p>
          <a:p>
            <a:pPr>
              <a:spcAft>
                <a:spcPts val="1200"/>
              </a:spcAft>
            </a:pPr>
            <a:r>
              <a:rPr sz="2000">
                <a:solidFill>
                  <a:srgbClr val="1F2937"/>
                </a:solidFill>
                <a:latin typeface="Calibri"/>
              </a:rPr>
              <a:t>▸  Diqqat: mazmun bo‘yicha kelishmovchilik ≠ protsedura bo‘yicha kelishmovchilik. Ehtiyojlarga ustuvorlik berish bahsli bo‘lsa ham, xarajat qarorlarining adolatli tartibiga kelishish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Olti qadamli qaror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Qadamlar takrorlanishi mumkin: yangi variant ko‘rib chiqilganda qo‘shimcha qadriyatlar ochilib qoladi.</a:t>
            </a:r>
          </a:p>
          <a:p>
            <a:pPr>
              <a:spcAft>
                <a:spcPts val="800"/>
              </a:spcAft>
            </a:pPr>
            <a:r>
              <a:rPr sz="1800">
                <a:solidFill>
                  <a:srgbClr val="1F2937"/>
                </a:solidFill>
                <a:latin typeface="Calibri"/>
              </a:rPr>
              <a:t>▸  Eng qiyin bosqich — to‘rtinchisi: ziddiyatli qadriyatlarni asoslab tortish.</a:t>
            </a:r>
          </a:p>
          <a:p>
            <a:pPr>
              <a:spcAft>
                <a:spcPts val="800"/>
              </a:spcAft>
            </a:pPr>
            <a:r>
              <a:rPr sz="1800">
                <a:solidFill>
                  <a:srgbClr val="1F2937"/>
                </a:solidFill>
                <a:latin typeface="Calibri"/>
              </a:rPr>
              <a:t>▸  Tanlovga shaxsiy yoki guruh manfaatlari qanday ta’sir qilganini ham o‘ylab ko‘rish kerak.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Muammo va qadriyatlar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Harakat variantlari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Tarozida tortish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Tanlash va refleksiya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 Shaffof xabar qilish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Qaror qadamlari (1–6)</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qadriyatlar to‘qnashuvi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kam uchraydigan kasallik tadqiqoti uchun turli manbalardagi tibbiy yozuvlar birlashtirilmoqchi. Bunday yig‘ish tadqiqotni ancha osonlashtiradi.</a:t>
            </a:r>
          </a:p>
          <a:p>
            <a:pPr>
              <a:spcAft>
                <a:spcPts val="1200"/>
              </a:spcAft>
            </a:pPr>
            <a:r>
              <a:rPr sz="2200">
                <a:solidFill>
                  <a:srgbClr val="1F2937"/>
                </a:solidFill>
                <a:latin typeface="Calibri"/>
              </a:rPr>
              <a:t>▸  Xavf: ma‘lumotlarni birlashtirish anonimlikni buzish, ya‘ni shaxsni qayta aniqlash (de-anonimlashtirish) ehtimolini oshiradi.</a:t>
            </a:r>
          </a:p>
          <a:p>
            <a:pPr>
              <a:spcAft>
                <a:spcPts val="1200"/>
              </a:spcAft>
            </a:pPr>
            <a:r>
              <a:rPr sz="2200">
                <a:solidFill>
                  <a:srgbClr val="1F2937"/>
                </a:solidFill>
                <a:latin typeface="Calibri"/>
              </a:rPr>
              <a:t>▸  To‘qnashuv: jamoat foydasi bilan privatlik (shaxsiy ma‘lumotni nazorat qilish) qarama-qarshi turadi. Xavf shu qadar katta bo‘lmasligi mumkin, shuning uchun tadqiqotdan voz kechish shart emas.</a:t>
            </a:r>
          </a:p>
          <a:p>
            <a:pPr>
              <a:spcAft>
                <a:spcPts val="1200"/>
              </a:spcAft>
            </a:pPr>
            <a:r>
              <a:rPr sz="2200">
                <a:solidFill>
                  <a:srgbClr val="1F2937"/>
                </a:solidFill>
                <a:latin typeface="Calibri"/>
              </a:rPr>
              <a:t>▸  Savol: qaysi qadriyat ustun? Diqqat: ustuvorlikni qadriyatlar ro‘yxatining uzunligi emas, asosli izoh hal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Xafis et al., An Ethics Framework for Big Data in Health and Research, betlar: PMID 33717314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Raqamli salomatlik: ‘Yovvoyi G‘arb‘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Ilovalar, kiyiladigan sensorlar va ijtimoiy tarmoq ma‘lumotlari odamni ‘tabiiy sharoitda’ kun bo‘yi kuzatishga imkon beradi. Sun‘iy intellekt (SI) ham kengayib bormoqda.</a:t>
            </a:r>
          </a:p>
          <a:p>
            <a:pPr>
              <a:spcAft>
                <a:spcPts val="1200"/>
              </a:spcAft>
            </a:pPr>
            <a:r>
              <a:rPr sz="2000">
                <a:solidFill>
                  <a:srgbClr val="1F2937"/>
                </a:solidFill>
                <a:latin typeface="Calibri"/>
              </a:rPr>
              <a:t>▸  Yangi ishtirokchilar: texnologiya gigantlari, startaplar, notijorat tashkilotlar, fuqaro olimlar. Ularga akademik tadqiqot qoidalari tarixan majburiy bo‘lmagan.</a:t>
            </a:r>
          </a:p>
          <a:p>
            <a:pPr>
              <a:spcAft>
                <a:spcPts val="1200"/>
              </a:spcAft>
            </a:pPr>
            <a:r>
              <a:rPr sz="2000">
                <a:solidFill>
                  <a:srgbClr val="1F2937"/>
                </a:solidFill>
                <a:latin typeface="Calibri"/>
              </a:rPr>
              <a:t>▸  ‘Mahsulot bepul bo‘lsa, siz mahsulotsiz‘: bosish va yozishlaringiz ma‘lumotga aylanadi. ‘Qabul qilaman‘ tugmasi orqali T&amp;C (foydalanish shartlari) bo‘yicha rozilik olinadi.</a:t>
            </a:r>
          </a:p>
          <a:p>
            <a:pPr>
              <a:spcAft>
                <a:spcPts val="1200"/>
              </a:spcAft>
            </a:pPr>
            <a:r>
              <a:rPr sz="2000">
                <a:solidFill>
                  <a:srgbClr val="1F2937"/>
                </a:solidFill>
                <a:latin typeface="Calibri"/>
              </a:rPr>
              <a:t>▸  Etik komissiya akademik tadqiqotda majburiy: AQShda IRB, Buyuk Britaniya va Yevropa Ittifoqida REC. Texnologiya kompaniyalari uchun bunday talab yo‘q.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Nebeker et al., Building the case for actionable ethics in digital health research supported by artificial intelligence, betlar: PMID 31311535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Raqamli qaror doirasining beshta domeni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Doira tadqiqotchilarga raqamli texnologiyani tanlashda asosli qaror qabul qilishga yordam beradi.</a:t>
            </a:r>
          </a:p>
          <a:p>
            <a:pPr>
              <a:spcAft>
                <a:spcPts val="800"/>
              </a:spcAft>
            </a:pPr>
            <a:r>
              <a:rPr sz="1800">
                <a:solidFill>
                  <a:srgbClr val="1F2937"/>
                </a:solidFill>
                <a:latin typeface="Calibri"/>
              </a:rPr>
              <a:t>▸  Beshta domen o‘zaro kesishadi va ularga hamroh nazorat ro‘yxati (checklist) tuzilgan.</a:t>
            </a:r>
          </a:p>
          <a:p>
            <a:pPr>
              <a:spcAft>
                <a:spcPts val="800"/>
              </a:spcAft>
            </a:pPr>
            <a:r>
              <a:rPr sz="1800">
                <a:solidFill>
                  <a:srgbClr val="1F2937"/>
                </a:solidFill>
                <a:latin typeface="Calibri"/>
              </a:rPr>
              <a:t>▸  Etik tamoyillar: shaxsni hurmat qilish, ezgulik (beneficence) va adolat.</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Ishtirokchi privatligi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Xavf va foyda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Kirish va qulaylik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Ma‘lumot boshqaruvi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Etik tamoyillar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Beshta domen (kesishuvchi)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Nebeker et al., Building the case for actionable ethics in digital health research supported by artificial intelligence, betlar: PMID 31311535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MoodFlex ilovasi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MoodFlex ilovasining xavfsiz va ishonchli ekani haqida dalil yo‘q; algoritm yopiq, tashqaridan tekshirib bo‘lmaydi.</a:t>
            </a:r>
          </a:p>
          <a:p>
            <a:pPr>
              <a:spcAft>
                <a:spcPts val="800"/>
              </a:spcAft>
            </a:pPr>
            <a:r>
              <a:rPr sz="1800">
                <a:solidFill>
                  <a:srgbClr val="1F2937"/>
                </a:solidFill>
                <a:latin typeface="Calibri"/>
              </a:rPr>
              <a:t>▸  Rozilik faqat Terms and Conditions (T&amp;C) orqali olinadi; ma’lumotlar kompaniyaga tegishli.</a:t>
            </a:r>
          </a:p>
          <a:p>
            <a:pPr>
              <a:spcAft>
                <a:spcPts val="800"/>
              </a:spcAft>
            </a:pPr>
            <a:r>
              <a:rPr sz="1800">
                <a:solidFill>
                  <a:srgbClr val="1F2937"/>
                </a:solidFill>
                <a:latin typeface="Calibri"/>
              </a:rPr>
              <a:t>▸  Tadqiqot rejasini tashqi etika kengashi ko‘rishi, rozilik esa alohida, tushunarli shaklda olinishi kerak.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Samaradorlik isboti bormi?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Etika kengashi (REC/IRB)</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Xabardor rozilik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Ma’lumotlarni boshqarish rejasi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Zaif guruhni himoyalash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Tahlil oqimi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Nebeker et al., Building the case for actionable ethics in digital health research supported by artificial intelligence, betlar: PMID 31311535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Bo‘shliqlar, tashabbuslar va mas’uliyat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Bo‘shliqlar: fanlararo uzilish, texnologik savodxonlik va sun’iy intellekt (AI) standartlari yo‘qligi.</a:t>
            </a:r>
          </a:p>
          <a:p>
            <a:pPr>
              <a:spcAft>
                <a:spcPts val="800"/>
              </a:spcAft>
            </a:pPr>
            <a:r>
              <a:rPr sz="1800">
                <a:solidFill>
                  <a:srgbClr val="1F2937"/>
                </a:solidFill>
                <a:latin typeface="Calibri"/>
              </a:rPr>
              <a:t>▸  Texnologlar bemor ehtiyojini, shifokorlar esa murakkab ma’lumot va AI qarorini yetarli bilmasligi mumkin.</a:t>
            </a:r>
          </a:p>
          <a:p>
            <a:pPr>
              <a:spcAft>
                <a:spcPts val="800"/>
              </a:spcAft>
            </a:pPr>
            <a:r>
              <a:rPr sz="1800">
                <a:solidFill>
                  <a:srgbClr val="1F2937"/>
                </a:solidFill>
                <a:latin typeface="Calibri"/>
              </a:rPr>
              <a:t>▸  Tashabbuslar ko‘p, ammo ko‘pchiligi keng qamrovli, ustma-ust tushadi va aniqlikka ega emas.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88562"/>
                <a:gridCol w="2158357"/>
                <a:gridCol w="1241055"/>
              </a:tblGrid>
              <a:tr h="411480">
                <a:tc>
                  <a:txBody>
                    <a:bodyPr/>
                    <a:lstStyle/>
                    <a:p>
                      <a:r>
                        <a:rPr sz="1300" b="1">
                          <a:solidFill>
                            <a:srgbClr val="FFFFFF"/>
                          </a:solidFill>
                        </a:rPr>
                        <a:t>Tashabbus</a:t>
                      </a:r>
                    </a:p>
                  </a:txBody>
                  <a:tcPr marL="73152" marR="73152" marT="36576" marB="36576">
                    <a:solidFill>
                      <a:srgbClr val="0B1F3A"/>
                    </a:solidFill>
                  </a:tcPr>
                </a:tc>
                <a:tc>
                  <a:txBody>
                    <a:bodyPr/>
                    <a:lstStyle/>
                    <a:p>
                      <a:r>
                        <a:rPr sz="1300" b="1">
                          <a:solidFill>
                            <a:srgbClr val="FFFFFF"/>
                          </a:solidFill>
                        </a:rPr>
                        <a:t>Maqsad</a:t>
                      </a:r>
                    </a:p>
                  </a:txBody>
                  <a:tcPr marL="73152" marR="73152" marT="36576" marB="36576">
                    <a:solidFill>
                      <a:srgbClr val="0B1F3A"/>
                    </a:solidFill>
                  </a:tcPr>
                </a:tc>
                <a:tc>
                  <a:txBody>
                    <a:bodyPr/>
                    <a:lstStyle/>
                    <a:p>
                      <a:r>
                        <a:rPr sz="1300" b="1">
                          <a:solidFill>
                            <a:srgbClr val="FFFFFF"/>
                          </a:solidFill>
                        </a:rPr>
                        <a:t>Hamkor</a:t>
                      </a:r>
                    </a:p>
                  </a:txBody>
                  <a:tcPr marL="73152" marR="73152" marT="36576" marB="36576">
                    <a:solidFill>
                      <a:srgbClr val="0B1F3A"/>
                    </a:solidFill>
                  </a:tcPr>
                </a:tc>
              </a:tr>
              <a:tr h="411480">
                <a:tc>
                  <a:txBody>
                    <a:bodyPr/>
                    <a:lstStyle/>
                    <a:p>
                      <a:r>
                        <a:rPr sz="1200" b="0">
                          <a:solidFill>
                            <a:srgbClr val="1F2937"/>
                          </a:solidFill>
                        </a:rPr>
                        <a:t>Partnership on AI</a:t>
                      </a:r>
                    </a:p>
                  </a:txBody>
                  <a:tcPr marL="73152" marR="73152" marT="36576" marB="36576">
                    <a:solidFill>
                      <a:srgbClr val="E8EEF6"/>
                    </a:solidFill>
                  </a:tcPr>
                </a:tc>
                <a:tc>
                  <a:txBody>
                    <a:bodyPr/>
                    <a:lstStyle/>
                    <a:p>
                      <a:r>
                        <a:rPr sz="1200" b="0">
                          <a:solidFill>
                            <a:srgbClr val="1F2937"/>
                          </a:solidFill>
                        </a:rPr>
                        <a:t>Eng yaxshi amaliyotlarni sinash va ulashish</a:t>
                      </a:r>
                    </a:p>
                  </a:txBody>
                  <a:tcPr marL="73152" marR="73152" marT="36576" marB="36576">
                    <a:solidFill>
                      <a:srgbClr val="E8EEF6"/>
                    </a:solidFill>
                  </a:tcPr>
                </a:tc>
                <a:tc>
                  <a:txBody>
                    <a:bodyPr/>
                    <a:lstStyle/>
                    <a:p>
                      <a:r>
                        <a:rPr sz="1200" b="0">
                          <a:solidFill>
                            <a:srgbClr val="1F2937"/>
                          </a:solidFill>
                        </a:rPr>
                        <a:t>80+ hamkor, 13 mamlakat</a:t>
                      </a:r>
                    </a:p>
                  </a:txBody>
                  <a:tcPr marL="73152" marR="73152" marT="36576" marB="36576">
                    <a:solidFill>
                      <a:srgbClr val="E8EEF6"/>
                    </a:solidFill>
                  </a:tcPr>
                </a:tc>
              </a:tr>
              <a:tr h="411480">
                <a:tc>
                  <a:txBody>
                    <a:bodyPr/>
                    <a:lstStyle/>
                    <a:p>
                      <a:r>
                        <a:rPr sz="1200" b="0">
                          <a:solidFill>
                            <a:srgbClr val="1F2937"/>
                          </a:solidFill>
                        </a:rPr>
                        <a:t>AI Now Institute</a:t>
                      </a:r>
                    </a:p>
                  </a:txBody>
                  <a:tcPr marL="73152" marR="73152" marT="36576" marB="36576">
                    <a:solidFill>
                      <a:srgbClr val="FFFFFF"/>
                    </a:solidFill>
                  </a:tcPr>
                </a:tc>
                <a:tc>
                  <a:txBody>
                    <a:bodyPr/>
                    <a:lstStyle/>
                    <a:p>
                      <a:r>
                        <a:rPr sz="1200" b="0">
                          <a:solidFill>
                            <a:srgbClr val="1F2937"/>
                          </a:solidFill>
                        </a:rPr>
                        <a:t>Dalilga asoslangan tadqiqot</a:t>
                      </a:r>
                    </a:p>
                  </a:txBody>
                  <a:tcPr marL="73152" marR="73152" marT="36576" marB="36576">
                    <a:solidFill>
                      <a:srgbClr val="FFFFFF"/>
                    </a:solidFill>
                  </a:tcPr>
                </a:tc>
                <a:tc>
                  <a:txBody>
                    <a:bodyPr/>
                    <a:lstStyle/>
                    <a:p>
                      <a:r>
                        <a:rPr sz="1200" b="0">
                          <a:solidFill>
                            <a:srgbClr val="1F2937"/>
                          </a:solidFill>
                        </a:rPr>
                        <a:t>Nyu-York universiteti</a:t>
                      </a:r>
                    </a:p>
                  </a:txBody>
                  <a:tcPr marL="73152" marR="73152" marT="36576" marB="36576">
                    <a:solidFill>
                      <a:srgbClr val="FFFFFF"/>
                    </a:solidFill>
                  </a:tcPr>
                </a:tc>
              </a:tr>
              <a:tr h="411480">
                <a:tc>
                  <a:txBody>
                    <a:bodyPr/>
                    <a:lstStyle/>
                    <a:p>
                      <a:r>
                        <a:rPr sz="1200" b="0">
                          <a:solidFill>
                            <a:srgbClr val="1F2937"/>
                          </a:solidFill>
                        </a:rPr>
                        <a:t>Avtonom tizimlar etikasi tashabbusi</a:t>
                      </a:r>
                    </a:p>
                  </a:txBody>
                  <a:tcPr marL="73152" marR="73152" marT="36576" marB="36576">
                    <a:solidFill>
                      <a:srgbClr val="E8EEF6"/>
                    </a:solidFill>
                  </a:tcPr>
                </a:tc>
                <a:tc>
                  <a:txBody>
                    <a:bodyPr/>
                    <a:lstStyle/>
                    <a:p>
                      <a:r>
                        <a:rPr sz="1200" b="0">
                          <a:solidFill>
                            <a:srgbClr val="1F2937"/>
                          </a:solidFill>
                        </a:rPr>
                        <a:t>Standart va kodekslar ishlab chiqish</a:t>
                      </a:r>
                    </a:p>
                  </a:txBody>
                  <a:tcPr marL="73152" marR="73152" marT="36576" marB="36576">
                    <a:solidFill>
                      <a:srgbClr val="E8EEF6"/>
                    </a:solidFill>
                  </a:tcPr>
                </a:tc>
                <a:tc>
                  <a:txBody>
                    <a:bodyPr/>
                    <a:lstStyle/>
                    <a:p>
                      <a:r>
                        <a:rPr sz="1200" b="0">
                          <a:solidFill>
                            <a:srgbClr val="1F2937"/>
                          </a:solidFill>
                        </a:rPr>
                        <a:t>IEEE va ACM</a:t>
                      </a:r>
                    </a:p>
                  </a:txBody>
                  <a:tcPr marL="73152" marR="73152" marT="36576" marB="36576">
                    <a:solidFill>
                      <a:srgbClr val="E8EEF6"/>
                    </a:solidFill>
                  </a:tcPr>
                </a:tc>
              </a:tr>
              <a:tr h="411480">
                <a:tc>
                  <a:txBody>
                    <a:bodyPr/>
                    <a:lstStyle/>
                    <a:p>
                      <a:r>
                        <a:rPr sz="1200" b="0">
                          <a:solidFill>
                            <a:srgbClr val="1F2937"/>
                          </a:solidFill>
                        </a:rPr>
                        <a:t>Yuqori darajali ekspertlar guruhi</a:t>
                      </a:r>
                    </a:p>
                  </a:txBody>
                  <a:tcPr marL="73152" marR="73152" marT="36576" marB="36576">
                    <a:solidFill>
                      <a:srgbClr val="FFFFFF"/>
                    </a:solidFill>
                  </a:tcPr>
                </a:tc>
                <a:tc>
                  <a:txBody>
                    <a:bodyPr/>
                    <a:lstStyle/>
                    <a:p>
                      <a:r>
                        <a:rPr sz="1200" b="0">
                          <a:solidFill>
                            <a:srgbClr val="1F2937"/>
                          </a:solidFill>
                        </a:rPr>
                        <a:t>Sun’iy intellekt siyosati tavsiyalari</a:t>
                      </a:r>
                    </a:p>
                  </a:txBody>
                  <a:tcPr marL="73152" marR="73152" marT="36576" marB="36576">
                    <a:solidFill>
                      <a:srgbClr val="FFFFFF"/>
                    </a:solidFill>
                  </a:tcPr>
                </a:tc>
                <a:tc>
                  <a:txBody>
                    <a:bodyPr/>
                    <a:lstStyle/>
                    <a:p>
                      <a:r>
                        <a:rPr sz="1200" b="0">
                          <a:solidFill>
                            <a:srgbClr val="1F2937"/>
                          </a:solidFill>
                        </a:rPr>
                        <a:t>Yevropa Komissiyasi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AI etikasi tashabbuslari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Nebeker et al., Building the case for actionable ethics in digital health research supported by artificial intelligence, betlar: PMID 31311535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xabarlar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Teletibbiyot an’anaviy tibbiy xizmatni to‘ldiradi, uning o‘rnini to‘liq bosa olmaydi. Aniq standart va qoidalar hali kerak.</a:t>
            </a:r>
          </a:p>
          <a:p>
            <a:pPr>
              <a:spcAft>
                <a:spcPts val="1200"/>
              </a:spcAft>
            </a:pPr>
            <a:r>
              <a:rPr sz="2200">
                <a:solidFill>
                  <a:srgbClr val="1F2937"/>
                </a:solidFill>
                <a:latin typeface="Calibri"/>
              </a:rPr>
              <a:t>▸  Teletibbiyotda asosiy masalalar: xabardor rozilik, maxfiylik, ma’lumotlar himoyasi, javobgarlik, teng kirish va xizmat sifati.</a:t>
            </a:r>
          </a:p>
          <a:p>
            <a:pPr>
              <a:spcAft>
                <a:spcPts val="1200"/>
              </a:spcAft>
            </a:pPr>
            <a:r>
              <a:rPr sz="2200">
                <a:solidFill>
                  <a:srgbClr val="1F2937"/>
                </a:solidFill>
                <a:latin typeface="Calibri"/>
              </a:rPr>
              <a:t>▸  Katta ma’lumotda qadriyatlar to‘qnashadi, masalan, jamoat manfaati va maxfiylik. Qarorni asoslab, shaffof bildirish kerak.</a:t>
            </a:r>
          </a:p>
          <a:p>
            <a:pPr>
              <a:spcAft>
                <a:spcPts val="1200"/>
              </a:spcAft>
            </a:pPr>
            <a:r>
              <a:rPr sz="2200">
                <a:solidFill>
                  <a:srgbClr val="1F2937"/>
                </a:solidFill>
                <a:latin typeface="Calibri"/>
              </a:rPr>
              <a:t>▸  Raqamli sog‘liqda mahsulot qo‘llanishidan oldin uning qiymati, ya’ni to‘g‘riligi va ishonchliligi, ilmiy isbotlanishi shart.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Solimini et al., Ethical and Legal Challenges of Telemedicine in the Era of the COVID-19 Pandemic, betlar: PMID 34946259; Xafis et al., An Ethics Framework for Big Data in Health and Research, betlar: PMID 33717314; Nebeker et al., Building the case for actionable ethics in digital health research supported by artificial intelligence, betlar: PMID 31311535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fakt: “teletibbiyot” atamasi 1970-yillarda “masofadan davolash” ma’nosida paydo bo‘lgan. Jahon sog‘liqni saqlash tashkiloti (JSST) 1998-yilgi hisobotida uni axborot-kommunikatsiya texnologiyalari orqali masofadan tibbiy xizmat ko‘rsatish deb ta’riflagan. JSST o‘sha paytdayoq maxfiylik, bemor daxlsizligi va axborot tizimlari yaxlitligi kabi axloqiy muammolarga ishora qilgan.</a:t>
            </a:r>
          </a:p>
          <a:p>
            <a:pPr>
              <a:spcAft>
                <a:spcPts val="1200"/>
              </a:spcAft>
            </a:pPr>
            <a:r>
              <a:rPr sz="1800">
                <a:solidFill>
                  <a:srgbClr val="1F2937"/>
                </a:solidFill>
                <a:latin typeface="Calibri"/>
              </a:rPr>
              <a:t>▸  Amaliy hodisa tahlili: telesalomatlik tashrifida bemorning og‘zaki roziligi yetarli bo‘lishi mumkin. Uni tibbiy yozuvda qayd etish kerak, imzolangan shakl kelishini kutish shart emas. Shifokor xizmatni xususiy joydan ko‘rsatishi kerak. Telekonsultatsiyani yuzma-yuz qabul bilan bir xil jiddiylikda olib borish lozim.</a:t>
            </a:r>
          </a:p>
          <a:p>
            <a:pPr>
              <a:spcAft>
                <a:spcPts val="1200"/>
              </a:spcAft>
            </a:pPr>
            <a:r>
              <a:rPr sz="1800">
                <a:solidFill>
                  <a:srgbClr val="1F2937"/>
                </a:solidFill>
                <a:latin typeface="Calibri"/>
              </a:rPr>
              <a:t>▸  Eslab qolish usuli: katta ma’lumotlarning asosiy “3 V” xususiyati. Volume (hajm) ma’lumot miqdori va tafsilotini bildiradi. Variety (xilma-xillik) ma’lumot shakllari va manbalarini bildiradi. Velocity (tezlik) uzatish va tahlil tezligini bildiradi. Kengroq ta’riflarda variability, veracity, value va visualisation qo‘shiladi.</a:t>
            </a:r>
          </a:p>
          <a:p>
            <a:pPr>
              <a:spcAft>
                <a:spcPts val="1200"/>
              </a:spcAft>
            </a:pPr>
            <a:r>
              <a:rPr sz="1800">
                <a:solidFill>
                  <a:srgbClr val="1F2937"/>
                </a:solidFill>
                <a:latin typeface="Calibri"/>
              </a:rPr>
              <a:t>▸  Qiziqarli hodisa: “mahsulot bepul bo‘lsa, mahsulot — sizning o‘zingizsiz” degan gap bor. Qidiruvlar, bosishlar va teruvlar algoritmlarni o‘qitadigan ma’lumotga aylanadi. Foydalanuvchi “Qabul qilaman” tugmasini bosganda shartlarni o‘qimasligi mumkin. Bu tadqiqot roziligining o‘rnini bosmaydi.</a:t>
            </a:r>
          </a:p>
          <a:p>
            <a:pPr>
              <a:spcAft>
                <a:spcPts val="1200"/>
              </a:spcAft>
            </a:pPr>
            <a:r>
              <a:rPr sz="1800">
                <a:solidFill>
                  <a:srgbClr val="1F2937"/>
                </a:solidFill>
                <a:latin typeface="Calibri"/>
              </a:rPr>
              <a:t>▸  Paradoks tahlili: homilador ayollarni tadqiqotlardan himoya qilish uchun chiqarib tashlash niyati yaxshi. Lekin bu ular uchun yetarli sinalgan dorilar yo‘qligiga olib keladi va zaifligini oshiradi. Demak, himoya choralari ham yangi zaiflik yaratishi mumkin. Shuning uchun har bir qarorning oqibatini ikki tomonlama baholash kerak.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Jahon sog‘liqni saqlash tashkiloti (JSST) 1998 yilgi hisobotida teletibbiyot ta’rifida qaysi omil hal qiluvchi deb ko‘rsatilgan?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Bemorning yoshi va jinsi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 va shifokor orasidagi masofa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Shifokorning ish staji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Dori vositalarining narxi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Poliklinika bemor bilan video qabulni imzolangan rozilik varaqasi kelmaguncha boshlamayapti. Tavsiyalarga ko‘ra, qaysi yo‘l joiz?</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Qabul faqat imzolangan qog‘oz kelgach boshlanadi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Rozilik so‘ralmaydi, chunki qabul masofaviy</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Rozilik shartlar oynasidagi tugma bilan o‘rnini bosadi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Og‘zaki rozilik olinib, tibbiy hujjatga yozib qo‘yiladi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video qabulga gavjum jamoat joyidan ulanmoqda, uning roziligi yo‘q. Telesog‘liqni saqlash tavsiyalariga ko‘ra, bu holatda nima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Shifokor va bemor shaxsiy joyda bo‘lishi talab etiladi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Jamoat joyi ruxsat etiladi, chunki aloqa yaxshi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shifokor shaxsiy joyda bo‘lsa, yetarli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 joyi ahamiyatga ega emas, muhimi – ilova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Karantindagi, COVID-19 bilan kasallanmagan bemorga davolanishning uzluksizligi kerak. Italiya Oliy sog‘liqni saqlash instituti qaysi yondashuvni tavsiya qilgan?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Teletibbiyotni butunlay taqiqlash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yuzma-yuz qabulni kutib turish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Sog‘liq holatini teletibbiyot orqali faol kuzatish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Bemorni kasalxonaga majburan yotqizish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Ko‘rib chiqilgan 24 ta maqolada etik-huquqiy muammolar ichida eng ko‘p tilga olingani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Axborotli rozilik va avtonomiya (87%)</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 privatligi (78%)</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Ma’lumotlarni himoya qilish (74%)</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Kasbiy mas’uliyat va xato (70%)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Qishloqdagi oilada Internet va smartfon yo‘q, shu sabab bola teletibbiy xizmatdan foydalana olmayapti. Qaysi tamoyil buzilmoqda?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Adolat: texnologiyaga teng kirish imkoniyati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Xayrixohlik: boshqalar foydasiga harakat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Zarar yetkazmaslik: zararning oldini olish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Avtonomiya: mustaqil qaror qabul qilish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uyda, shifokor teletashrif o‘tkazmoqchi, ammo bemor imzolangan shaklni hozir topshira olmaydi. Shifokor nima qilishi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Imzolangan qog‘oz kelguncha qabulni butunlay kechiktirish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Og‘zaki rozilikni olib, tibbiy yozuvda qayd etish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Rozilikni so‘ramasdan, qabulni darhol boshlash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Rozilikni faqat jamoat joyida bemordan so‘rash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video-maslahatdan keyin dorini masofadan retsept qilmoqchi, mamlakatda esa aniq qoida yo‘q. Manbaga ko‘ra bu qanday masala?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Barcha mamlakatlarda yagona qoida bilan to‘liq hal etilgan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texnik masala bo‘lib, huquqiy jihati umuman yo‘q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Mamlakatlarda farq qiluvchi, hali hal bo‘lmagan huquqiy masala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bemorning shaxsiy ishi, tartibga solish talab etilmaydi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Klinika rahbari barcha yuzma-yuz qabullarni to‘xtatib, faqat teletibbiyotga o‘tishni taklif qildi. Manbadagi xulosaga ko‘ra bu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To‘g‘ri, teletibbiyot an’anaviy yordamning to‘liq o‘rnini bosadi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To‘g‘ri, chunki yuzma-yuz qabul endi zamonaviy standart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To‘g‘ri, agar bemorlar xohlasa, sifat tekshirilishi shart emas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Noto‘g‘ri, teletibbiyot faqat to‘ldiruvchi vosita bo‘lishi kerak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Mualliflar katta ma‘lumotlarning barcha ta’riflarida uchraydigan asosiy uchta xususiyat sifatida qaysi qatorni ko‘rsatgan?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Hajm, qiymat va vizualizatsiya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Hajm, xilma-xillik va tezlik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Haqiqiylik, o‘zgaruvchanlik va qiymat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Tezlik, vizualizatsiya va haqiqiylik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Klinika katta ma‘lumotlar loyihasida ismlari olib tashlangan bazani ulashmoqchi va xavf yo‘q deb hisoblaydi. Bu ishonch nega asossiz?</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Anonimlashtirish qonunan taqiqlangan va qo‘llanilmaydi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Maxfiylik modellari dastlab statik to‘plamlar uchun yaratilgan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Katta ma‘lumotlar faqat tasvir shaklidagi fayllardan iborat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Ismi olib tashlangan ma‘lumot doim ochiq ma‘lumot sanaladi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Anonimlashtirilgan saraton reyestri ma‘lumotlaridan X shaxs shu reyestr a‘zosi ekani aniqlandi. Bu qaysi oshkor bo‘lish turi?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Shaxsni yozuvga bog‘lash orqali oshkor bo‘lish (identity)</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Ma‘lumotdan xulosa chiqarish orqali oshkor bo‘lish (inferential)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Guruhga a‘zolikning oshkor bo‘lishi (attribute disclosure)</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Ma‘lumotni ulashmaslik orqali xavfni to‘liq yo‘qotish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biobank ishtirokchilarining ma‘lumotini turli tizimlarda ulab ishlatmoqchi. Har bir foydalanish uchun rozilik olish nega amalda qiyin?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Rozilik faqat bolalar ishtirokidagi tadqiqotlarda talab etiladi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Ishtirokchilarni qayta bog‘lash har doim mutlaqo imkonsizdir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Shifokorlar rozilikni umuman talab qilmaslikka kelishgan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Ma‘lumotdan foydalanishning barcha yo‘nalishini oldindan aytib bo‘lmaydi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Katta ma‘lumotlar bo‘yicha etik qaror qabul qilish doirasida (Framework) birinchi qadam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Mavjud etik muammoni aniq ifodalash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Mos protsessual qadriyatlarni sanab chiqish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Eng kuchli variantni tanlab olish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Qarorni barcha manfaatdorlarga yetkazish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Kompaniya katta ma‘lumotlar bazasini boshqaradi, bazadagi shaxslar esa kim ularning qanday ma‘lumotini saqlayotganini bilmaydi. Bu qaysi tushunchaga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Hamboshqaruv, ya‘ni ulushlarni teng taqsimlash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Ma‘lumotlar tafovuti (big data divide)</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Guruh zarari, ya‘ni jamoa manfaatiga ziyon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Ijtimoiy litsenziya, ya‘ni jamoatchilik qo‘llab-quvvatlashi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Tadqiqotchilar kasallik registri ma’lumotlarini ulashmoqchi: bu jamoat manfaatini oshiradi, ammo maxfiylikni susaytiradi. Qaror qabul qiluvchilar nima qilishi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Qadriyatlar ro‘yxati uzunligini solishtirib, ko‘prog‘ini tanlash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Birini ustun qo‘yishni asoslab, zararni kamaytirish choralarini ko‘rish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qadriyatlarni bir vaqtda to‘liq qondirishga erishish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qonunda yozilgan qadriyatni avtomatik ustun qo‘yish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Katta ma’lumotlar bo‘yicha etik doirada quyidagilardan qaysi biri protsessual qadriyat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Adolat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Daxlsizlik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Mutanosiblik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Shaffoflik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Qaror qabul qiluvchi muammoni aniq ifodaladi. Olti qadamli jarayonda keyingi qadam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Tegishli mazmuniy va protsessual qadriyatlarni aniqlash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Variantlarning nisbiy axloqiy og‘irligini taqqoslash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Qarorni barcha manfaatdorlarga ochiq yetkazish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Eng kuchli variantni tanlab, o‘z ta’sirini aks ettirish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MoodFlex ilovasi tadqiqotga rozilikni faqat foydalanish shartlari (T&amp;C) ichiga joylamoqchi. Bu nega maqbul emas?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Ilova klinik tashxis qo‘yishni da’vo qilgani uchun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Ma’lumotlar egaligi sotuvchida qolishi sababli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Rozilik yetarli va tushunarli axborotga asoslanishi shart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Algoritm tijorat siri bo‘lgani uchun taqiqlangani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raqamli sensorni tanlayapti, lekin uni ingliz tilini bilmaydigan ishtirokchilar ishlata olmaydi. Qaysi domen birinchi navbatda e’tibor talab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Ishtirokchi maxfiyligi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Foydalanish imkoniyati va qulaylik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Ma’lumotlarni boshqarish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Etik tamoyillar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Bemor va shifokor orasidagi masofa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JSST ta’rifiga ko‘ra, teletibbiyot – masofa muhim omil bo‘lgan holda axborot-kommunikatsiya texnologiyalari yordamida tibbiy xizmat ko‘rsatish. Boshqa variantlar ta’rifda hal qiluvchi omil sifatida keltirilmagan.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Solimini et al., Ethical and Legal Challenges of Telemedicine in the Era of the COVID-19 Pandemic, PMID 34946259, 1-bo‘lim (Kirish)-bet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Og‘zaki rozilik olinib, tibbiy hujjatga yozib qo‘yiladi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Tavsiyalarga ko‘ra, rozilikni og‘zaki olish va tibbiy yozuvga qayd etish mumkin; imzolangan shaklni kutish shart emas. Imzo kerak bo‘lsa, bemor portali yoki pochtadan foydalaniladi.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Solimini et al., Ethical and Legal Challenges of Telemedicine in the Era of the COVID-19 Pandemic, PMID 34946259, 4-bo‘lim (Discussion)-bet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Shifokor va bemor shaxsiy joyda bo‘lishi talab etiladi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Tavsiyada telesog‘liqni saqlash shaxsiy joylarda o‘tkazilishi, bemor esa rozilik yoki shoshilinch holat bo‘lmasa, jamoat yoki yarim jamoat joyida xizmat olmasligi aytilgan. Bu maxfiylikni himoya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Solimini et al., Ethical and Legal Challenges of Telemedicine in the Era of the COVID-19 Pandemic, PMID 34946259, 4-bo‘lim (Discussion)-bet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Sog‘liq holatini teletibbiyot orqali faol kuzatish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Institut karantin, izolyatsiya yoki uyda ajratilgan, kasalxonadan chiqarilgan odamlarning sog‘lig‘ini teletibbiyot xizmatlari bilan faol kuzatishni tavsiya qilgan, hatto ular kasallanmagan bo‘lsa ham.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Solimini et al., Ethical and Legal Challenges of Telemedicine in the Era of the COVID-19 Pandemic, PMID 34946259, 4-bo‘lim (Discussion)-bet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Axborotli rozilik va avtonomiya (87%)</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Maqolada axborotli rozilik va avtonomiya 87% bilan birinchi o‘rinda, so‘ng privatlik 78%, ma’lumotlar himoyasi 74% va kasbiy mas’uliyat 70%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Solimini et al., Ethical and Legal Challenges of Telemedicine in the Era of the COVID-19 Pandemic, PMID 34946259, 3-bo‘lim (Results)-bet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Adolat: texnologiyaga teng kirish imkoniyati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adolat tamoyili tibbiy yordamga teng kirishni va texnologiyaning chetda qolgan jamoalar o‘rtasida adolatli taqsimlanishini o‘z ichiga oladi. Internet yoki smartfon yo‘qligi bolani tibbiy tizimdan chetlatmasligi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Solimini et al., Ethical and Legal Challenges of Telemedicine in the Era of the COVID-19 Pandemic, PMID 34946259-bet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Og‘zaki rozilikni olib, tibbiy yozuvda qayd etish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Manbadagi ko‘rsatmaga ko‘ra rozilikni og‘zaki olib, tibbiy yozuvga kiritish mumkin. Imzolangan shaklni kutish shart emas. Imzo kerak bo‘lsa, bemor portali yoki pochtadan foydalaniladi.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Solimini et al., Ethical and Legal Challenges of Telemedicine in the Era of the COVID-19 Pandemic, PMID 34946259-bet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Mamlakatlarda farq qiluvchi, hali hal bo‘lmagan huquqiy masala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dorilarni virtual retsept qilish tartibga solish talab qiladigan huquqiy savollar qatoriga kiritilgan. Qoidalar mamlakatlar o‘rtasida farq qiladi yoki yo‘q. Telefarmatsiya ham hal bo‘lmagan cheklovlarga ega.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Solimini et al., Ethical and Legal Challenges of Telemedicine in the Era of the COVID-19 Pandemic, PMID 34946259-bet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Noto‘g‘ri, teletibbiyot faqat to‘ldiruvchi vosita bo‘lishi kerak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teletibbiyot hozircha an’anaviy xizmatga qo‘shimcha yoki to‘ldiruvchi vosita sifatida ishlatilishi, to‘liq almashtirmasligi aytilgan. Yuzma-yuz maslahat klinik yordamning oltin standarti bo‘lib qolmoqda.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Solimini et al., Ethical and Legal Challenges of Telemedicine in the Era of the COVID-19 Pandemic, PMID 34946259-bet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Hajm, xilma-xillik va tezlik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 hamma tomonidan e’tirof etilgan asosiy xususiyatlar sifatida hajm (volume), xilma-xillik (variety) va tezlik (velocity)ni tanlagan. Qolganlari kengaytirilgan 4V, 6V va 7V ro‘yxatlarida uchraydi.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Xafis et al., An Ethics Framework for Big Data in Health and Research, PMID 33717314-bet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Maxfiylik modellari dastlab statik to‘plamlar uchun yaratilgan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Maxfiylik modellari dastlab statik ma‘lumotlar uchun ishlab chiqilgan, shuning uchun katta ma‘lumotlar muhitida mukammal emas. Ma‘lumotlarning xilma-xilligi qayta aniqlash xavfini ham oshiradi. Xavfni to‘liq yo‘qotish faqat ma‘lumot umuman ulashilmasa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Xafis et al., An Ethics Framework for Big Data in Health and Research, PMID 33717314-bet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Guruhga a‘zolikning oshkor bo‘lishi (attribute disclosure)</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Shaxs ma‘lum guruhga (masalan, saraton reyestriga) tegishli deb aniqlansa, bu attribute disclosure, ya‘ni a‘zolikning oshkor bo‘lishi. Identity disclosure da ma‘lumot to‘g‘ridan-to‘g‘ri shaxsga bog‘lanadi. Inferential disclosure da shaxs haqidagi axborot yuqori ishonch bilan chiqariladi.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Xafis et al., An Ethics Framework for Big Data in Health and Research, PMID 33717314-bet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Ma‘lumotdan foydalanishning barcha yo‘nalishini oldindan aytib bo‘lmaydi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Katta ma‘lumotlar asl manbadan uzoq tizimlarda bog‘lanib ishlatilishi mumkin. Ishtirokchini ba‘zan qayta bog‘lash mumkin bo‘lsa ham, barcha qo‘llanishlar haqida to‘liq xabar berib bo‘lmaydi. Shu sababli rozilikka haddan tashqari tayanish samarasiz bo‘lib bormoqda.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Xafis et al., An Ethics Framework for Big Data in Health and Research, PMID 33717314-bet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Mavjud etik muammoni aniq ifodalash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Doira muammoni aniq ifodalashdan boshlanadi. Keyin qadriyatlar aniqlanadi, mumkin bo‘lgan harakatlar topiladi va ular tortib ko‘riladi. So‘ngra variant tanlanadi va qaror shaffof tarzda yetkaziladi.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Xafis et al., An Ethics Framework for Big Data in Health and Research, PMID 33717314-bet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Ma‘lumotlar tafovuti (big data divide)</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Ma‘lumotlar tafovuti ma‘lumotlar bazasini boshqaruvchilar va faqat bazada qayd etilganlar o‘rtasidagi farqni bildiradi. Bunda foyda notekis taqsimlanadi. Hamboshqaruv esa shunday muammolarni yumshatishga qaratilgan yondashuvdir.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Xafis et al., An Ethics Framework for Big Data in Health and Research, PMID 33717314-bet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Birini ustun qo‘yishni asoslab, zararni kamaytirish choralarini ko‘rish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Qadriyatlar to‘qnashganda hammasini birdaniga qondirib bo‘lmaydi. Qaror qabul qiluvchi ma’lum qadriyatni ustun qo‘yishi yoki cheklashini asoslashi va zararni kamaytiruvchi mexanizm joriy etishi kerak. Qaysi qadriyat ustun ekanini qadriyatlar sonini taqqoslab aniqlab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Xafis et al., An Ethics Framework for Big Data in Health and Research, PMID 33717314-bet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Shaffoflik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Shaffoflik, hisobdorlik, izchillik, jalb etish, mantiqiylik, refleksivlik va ishonchlilik protsessual qadriyatlardir. Adolat, daxlsizlik va mutanosiblik qarorning natijasida ro‘yobga chiqishi kerak bo‘lgan mazmuniy qadriyatlardir.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Xafis et al., An Ethics Framework for Big Data in Health and Research, PMID 33717314-bet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Tegishli mazmuniy va protsessual qadriyatlarni aniqlash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qadam muammoni aniqlash, ikkinchisi tegishli qadriyatlarni (mazmuniy va protsessual) topishdir. Variantlarni taqqoslash to‘rtinchi, tanlash va aks ettirish beshinchi, qarorni yetkazish oltinchi qadamdir.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Xafis et al., An Ethics Framework for Big Data in Health and Research, PMID 33717314-bet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Rozilik yetarli va tushunarli axborotga asoslanishi shart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Tadqiqot roziligi odamning yetarli va tushunarli ma’lumot asosida erkin tanlov qilishini ta’minlashi kerak (shaxsga hurmat). Rozilik matnini foydalanish shartlariga joylash maqbul emas. Boshqa variantlar ilovadagi alohida muammolardir.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Nebeker et al., Building the case for actionable ethics in digital health research supported by artificial intelligence, PMID 31311535-bet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Foydalanish imkoniyati va qulaylik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Raqamli qaror doirasining beshta domenidan “Foydalanish imkoniyati va qulaylik” texnologiyani turli odamlar ishlata olishiga qaratilgan. Til to‘siqlari sababli ba’zi odamlar chetda qolishi mumkin, shuning uchun texnologiyani moslashtirish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Nebeker et al., Building the case for actionable ethics in digital health research supported by artificial intelligence, PMID 31311535-bet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Solimini et al. Ethical and Legal Challenges of Telemedicine in the Era of the COVID-19 Pandemic, Medicina. 2021. PMID 34946259; DOI 10.3390/medicina57121314</a:t>
            </a:r>
          </a:p>
          <a:p>
            <a:pPr>
              <a:spcAft>
                <a:spcPts val="1200"/>
              </a:spcAft>
            </a:pPr>
            <a:r>
              <a:rPr sz="2000">
                <a:solidFill>
                  <a:srgbClr val="1F2937"/>
                </a:solidFill>
                <a:latin typeface="Calibri"/>
              </a:rPr>
              <a:t>▸  Xafis et al. An Ethics Framework for Big Data in Health and Research, Asian Bioethics Review. 2019. PMID 33717314; DOI 10.1007/s41649-019-00099-x</a:t>
            </a:r>
          </a:p>
          <a:p>
            <a:pPr>
              <a:spcAft>
                <a:spcPts val="1200"/>
              </a:spcAft>
            </a:pPr>
            <a:r>
              <a:rPr sz="2000">
                <a:solidFill>
                  <a:srgbClr val="1F2937"/>
                </a:solidFill>
                <a:latin typeface="Calibri"/>
              </a:rPr>
              <a:t>▸  Nebeker et al. Building the case for actionable ethics in digital health research supported by artificial intelligence, BMC Medicine. 2019. PMID 31311535; DOI 10.1186/s12916-019-1377-7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