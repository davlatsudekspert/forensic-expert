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Telefon orqali shifokor bilan gaplashgan bo‘lsangiz, qanday xavotir paydo bo‘ldi? 2) Sog‘liq ma’lumotingiz kimda saqlanishini bilasizmi? Doskada: mavzuning 3 ustunini chizing (teletibbiyot, katta ma’lumotlar, raqamli salomatlik va SI). Tipik xato: talabalar etik doirani qonun yoki nazariya deb o‘ylaydi, aslida u qaror qabul qilishga yordam beruvchi vosita.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JSST va CMS ta’riflari qaysi jihati bilan farq qiladi? 2) Nega “oltin standart” yuzma-yuz maslahat deb qoladi? Doskada: 4 qatorli vaqt chizig‘ini ko‘chiring. Tipik xato: AKT (axborot-kommunikatsiya texnologiyalari) va CMS (AQShdagi Medicare va Medicaid xizmatlari markazlari) qisqartmalarini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Yashash joyingizdan eng yaqin mutaxassisgacha masofa qancha va teletibbiyot qaysi holatda yordam bergan bo‘lardi? 2) “Arzonroq xarajat” har doim to‘g‘rimi? Doskada: bemor–internet–shifokor zanjirini chizing. Tipik xato: adolatli kirish va’da qilingan imkoniyat deb emas, tayyor natija deb tushunish (manbada bu hali munozarali).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pandemiya teletibbiyot sohalarini kengaytirdi? 2) Qaysi sohada masofaviy ko‘rik ayniqsa qiyin bo‘lishi mumkin? Doskada: jadvalni chizing va talabalar yana bir sohani qo‘shsin. Tipik xato: teletibbiyotni faqat videoqo‘ng‘iroq deb tushunish; manbada telefon va yozishmalar ham aytilgan. Jadvaldagi guruhlash o‘qituvchi tomonidan soddalashtirilgan.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og‘zaki so‘rang, talabalar javobini yopiq daftarda yozsin. Muhokama: nima uchun yuzma-yuz ko‘rik ‘oltin standart‘ deyiladi? Doskada: ‘teletibbiyot = qo‘shimcha, almashtiruvchi emas‘ formulasini yozing. Tipik xato: teletibbiyotni an’anaviy yordamning to‘liq o‘rnini bosuvchi deb o‘ylash. Qo‘shimcha (slayddan ko‘chirilgan, manba shu bet): Javob: masofa muhim omil bo‘lgan holatda axborot-kommunikatsiya texnologiyalaridan foydalanish. CMS — AQShdagi Medicare va Medicaid xizmatlari markazlari. Javob: tibbiy yordamga kirish osonlashadi, shifokor bilan masofa qisqaradi; uzoq hududlar, dengizchilar va harakati cheklangan bemorlar uchun muhim. Butunjahon tibbiyot assotsiatsiyasiga ko‘ra, yuzma-yuz maslahat klinik yordamning ‘oltin standarti‘ bo‘lib qoladi.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rozilik eng ko‘p tilga olingan? 2) Qonunlar farqi bemorga qanday ta’sir qiladi? Doskada: jadvalni to‘ldirib, qolgan muammolarni (maxfiylik, adolat, sifat) strelkalar bilan qo‘shing. Tipik xato: privatlik (shaxsiy hayot) va maxfiylik (ishonch munosabatida aytilgan ma’lumotni oshkor qilmaslik) tushunchalarini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Nega telemeditsinada ham rozilik an’anaviy xizmatdagi talablarga teng bo‘lishi kerak? 2) Og‘zaki rozilik qaysi holatda yozuvga qayd etilishi muhim? Doskada: rozilik zanjirini chizdiring (ma’lumot berish → bemor roziligi → tibbiy yozuvga qayd). Tipik xato: og‘zaki rozilikni ’rozilik shart emas’ deb tushunish. Qo‘shimcha (slayddan ko‘chirilgan, manba shu bet): Telemeditsina xizmatning boshqacha shakli, natijasi esa bir xil bo‘lishi lozim.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Privatlik va maxfiylik farqini o‘z misolingiz bilan tushuntiring. 2) Bemor ommaviy joyda telekonsultatsiya olsa, qanday xavf bor? Doskada: ikki ustunli qisqa taqqoslash (privatlik | maxfiylik). Tipik xato: ikki tushunchani bir xil deb hisoblash. Qo‘shimcha (slayddan ko‘chirilgan, manba shu bet): Rasm, laboratoriya natijalari va hayotiy ko‘rsatkichlar xavfsiz saqlanishi kerak. Bemor ommaviy yoki yarim ommaviy joyda xizmat olmasligi lozim, roziligi yoki shoshilinch holat bo‘lmasa.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7-8 daq. Muhokama: 1) Nega davlatlar o‘rtasidagi qoidalar farqi shifokor va bemor uchun muammo? 2) Telekonsultatsiyani yozib olish nega bahsli? Doskada: ochiq huquqiy masalalar ro‘yxatini (’narx, sug‘urta, retsept, akkreditatsiya, litsenziya, tijorat, yozib olish’) yozdiring. Tipik xato: telemeditsinani an’anaviy tibbiyotning to‘liq o‘rnini bosuvchi deb hisoblash. Qo‘shimcha (slayddan ko‘chirilgan, manba shu bet): Yozib olish bahsli soha hisoblanadi. Telemeditsina hozircha an’anaviy xizmatning to‘ldiruvchisi, o‘rnini bosuvchi emas.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Qishloqdagi keksa bemor smartfonsiz bo‘lsa, adolat qanday ta’minlanadi? 2) Xarajat kim hisobidan barqaror bo‘ladi? Doskada: ikki ustunli jadval chizing (imkoniyat va xavf), talabalar misol qo‘shsin. Tipik xato: telemeditsina avtomatik ravishda teng kirishni beradi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og‘zaki rozilik ham yozib qo‘yilishi kerak? 2) Bemor kafeda ulansa, shifokor nima qilishi kerak? Doskada: besh bosqichli zanjirni talabalar o‘zi chizib, har bosqichga bitta xavfni yozsin. Tipik xato: og‘zaki rozilikni qayd etmaslik yoki konsultatsiyani ommaviy joyda o‘tkazish.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Virtual retsept qanday huquqiy muammolar tug‘diradi? 2) Stomatologik ko‘rikda qaysi bosqichlarni masofadan o‘tkazib bo‘lmaydi? Doskada: telefarmatsiya ishtirokchilari (farmatsevt, bemor, AKT) sxemasini chizing. Tipik xato: telestomatologiya uchun manbada alohida qoida bor deb aytish — bu faqat umumiy tamoyillardan kelib chiqqan taxmin.</a:t>
            </a:r>
          </a:p>
          <a:p/>
          <a:p>
            <a:r>
              <a:t>Tekshirish kerak (manbada noaniq):</a:t>
            </a:r>
          </a:p>
          <a:p>
            <a:r>
              <a:t>- Telestomatologiya manbalarda alohida yoritilmagan; unga umumiy teletibbiyot tamoyillari (rozilik, maxfiylik) qo‘llanadi deb hisoblanadi.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videokonsultatsiya yuzma-yuz qabulning o‘rnini bosa olmaydi? 2) Dalil kamligi amaliyotga qanday ta’sir qiladi? Doskada: ikki ustunli taqqoslash jadvalini o‘zlari chizsin. Tipik xato: talabalar teletibbiyotni to‘liq almashtirish deb o‘ylaydi, aslida u qo‘shimcha vosita.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Internet yo‘q bemorga qanday adolatli muqobil taklif qilish mumkin? 2) Og‘zaki rozilik tibbiy yozuvda qanday qayd etiladi? Doskada: vaziyat bo‘yicha tamoyillar (adolat, maxfiylik, rozilik) xaritasini chizdiring. Tipik xato: rozilik faqat imzolangan blankada bo‘lishi shart deb o‘ylash; manbaga ko‘ra og‘zaki rozilik ham mumkin.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Teletibbiyotda maxfiylikni saqlash uchun shifokor nimalarga e’tibor beradi? 2) Qoidalar mamlakatlarda turlicha bo‘lsa, bemor qanday xavfga duch keladi? Doskada: 4 ustunli emas, ro‘yxat ko‘rinishida rozilik, maxfiylik, adolat, mas’uliyatni yozdiring. Tipik xato: maxfiylik va rozilikni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Eslab qoling: 3V = Hajm, Xilma-xillik, Tezlik (inglizcha Volume, Variety, Velocity) — uchala so‘z V harfi bilan boshlanadi. Muhokama: 1) Bemor yozuvlari, rasmlar va fitnes-qurilma ma‘lumoti qaysi ‘V’ ga mos keladi? 2) Nega tezlik axloqiy xavf tug‘diradi? Doskada chizish: manbalar → shakllar → hajm → tezlik → tahlil zanjirini chizing, har bosqichga bitta sog‘liq misoli yozing. Tipik xato: hajmni faqat fayl o‘lchami deb tushunish; manbaga ko‘ra hajm odamlar soni va har bir odam haqidagi tafsilotni ham o‘z ichiga oladi.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Tezkor savol: 6V modelida qaysi ikki ‘V’ 4V ga qo‘shiladi? Muhokama: 1) Nega mualliflar aynan 3V ga e‘tibor qaratdi? 2) Ishonchlilik (veracity) tibbiy qarorlarga qanday ta’sir qiladi? Doskada chizish: 3V dan 7V gacha ‘narvon’ chizing, har pog‘onaga yangi V ni yozing. Tipik xato: 3V va 7V ni bir xil model deb o‘ylash. Diqqat: 3V ≠ 7V — bular turli mualliflar taklif qilgan ro‘yxatlar, mualliflar esa umumiy asosga tayanadi.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Klinik qaror aniqligi oshishi bemor uchun qanday foyda beradi? 2) Maxfiylik va ma‘lumot egaligi nega ‘boshqaruv’ muammosi hisoblanadi? Doskada chizish: ikki ustun — ‘Foyda’ va ‘Muammo’; muammo ustunini uch toifaga bo‘ling. Tipik xato: uch muammo guruhini bir-biriga bog‘liq emas deb o‘ylash; manbaga ko‘ra ular o‘zaro ta’sir qiladi. Voqea tahlili (qisqa): shifoxona turli manbalardan ma‘lumot birlashtirmoqchi — bu qaysi toifadagi muammolarni keltirib chiqaradi?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‘anonim’ ma’lumot ham to‘liq xavfsiz emas? 2) Ma’lumot qiymatini yo‘qotmasdan maxfiylikni saqlash mumkinmi? Doskada chizish: maskalash -&gt; ko‘p manbani birlashtirish -&gt; qayta aniqlash xavfi zanjirini chizing. Tipik xato: ‘anonimlashtirilgan = to‘liq xavfsiz’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Bemor saraton registrida ekani oshkor bo‘lsa, unga qanday zarar yetishi mumkin? 2) Xulosaviy oshkorlik nega yashirin xavf? Doskada chizish: uch turli jadvalni daftarga ko‘chirib, har biriga o‘z misolingizni yozing. Tipik xato: atributiv oshkorlikni identifikatsion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Ma’lumot yillar o‘tib boshqa maqsadda ishlatilsa, dastlabki rozilik yetarlimi? 2) Rozilik o‘rniga qanday qo‘shimcha himoya choralari o‘ylash mumkin? Doskada chizish: ma’lumot manbadan ko‘p tizimlarga tarqalish sxemasini chizing. Tipik xato: rozilik butunlay kerak emas degan xulosa chiqarish; manbada u faqat yagona tayanch bo‘la olmasligi aytilgan.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Anonimlashtirilgan ma’lumot to‘liq xavfsizmi? 2) Rozilik o‘rniga qanday muqobil himoya mumkin? Doskada: ma’lumot manbalari → birlashtirish → qayta aniqlash xavfi zanjirini chizdiring. Tipik xato: ‘anonimlashtirilgan’ degani ‘xavfsiz’ deb o‘ylash. Vaziyat manbadagi ma’lumotlar asosida tuzilgan taxminiy misol.” Qo‘shimcha (slayddan ko‘chirilgan, manba shu bet): Rozilik faqat dastlabki maqsad uchun olingan.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Savollarni og‘zaki so‘rang, talabalar javobini avval eshiting. Muhokama: 3V ichidan qaysi biri maxfiylikka eng ko‘p xavf tug‘diradi? Doskada: 3V ni uch ustun qilib yozdiring. Tipik xato: oshkorlik turlarini (shaxs, atribut, xulosa) aralashtirib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Etik doira qonundan nimasi bilan farq qiladi? 2) Nega qadriyatlar boshida teng vaznli deb olinadi? Doskada: yaxshi doiraning 6 xususiyatini ro‘yxat qilib yozdiring. Tipik xato: doirani qat’iy qoidalar to‘plami yoki nazariya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Rozilik olingan bo‘lsa, ijtimoiy litsenziya avtomatik mavjud bo‘ladimi? 2) Jamoatchilik bilan muloqot nega loyiha boshida boshlanishi kerak? Doskada: muloqot → ishonch → litsenziya zanjirini chizdiring. Tipik xato: ijtimoiy litsenziyani yakka shaxsning rozilik varaqasi bilan aralashtirish. Muallif rozilik olinganda ham litsenziyani oldindan taxmin qilmaslikni aytadi. Qo‘shimcha misol: Shotlandiya sog‘liq informatikasi dasturi jamoatchilikning qo‘llab-quvvatlashiga erishgan.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Bir odam qaysi vaziyatda zaif, qaysida zaif emas? 2) Zaiflikni kamaytirish urinishi uni kuchaytirishi mumkinmi (masalan, homilador ayollarni tadqiqotdan chiqarish)? Doskada: uch turli zaiflik jadvalini chizdiring va har biriga o‘z misolingizni qo‘shing. Tipik xato: butun guruhni zaif deb hisoblash. Manba: guruhning hamma a’zosi zaif bo‘lavermaydi. Shuningdek, zaiflik iqtisodiy, siyosiy yoki intellektual kuch munosabatlari orqali tahlil qilinadi.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Genetik ma’lumot davlat mulki deyilsa (Meksika misoli), guruh himoyalanadimi yoki huquqi cheklanadimi? 2) Hamboshqaruvda vakil tanlash qanday muammo tug‘diradi? Doskada: «saralovchilar — saralanuvchilar» sxemasini chizdiring. Tipik xato: hamboshqaruvni barcha muammoning yechimi deb o‘ylash. Manbada u ideal bo‘lishi mumkin, to‘liq bo‘lmasa ham shaffoflik va hisobdorlik hurmatni ko‘rsatadi.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natija va jarayon qadriyatlarini alohida ajratish kerak? 2) Shaffoflik adolatni qanday qo‘llab-quvvatlaydi? Doskada: ikki ustunli jadval chizing, har ustunga o‘zingiz tanlagan bittadan qadriyat yozing. Tipik xato: talabalar protsessual qadriyatni qaror natijasi deb o‘ylaydi; qadriyatlar ro‘yxati to‘liq emasligini ham eslating.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Ommaviy foyda privatlik bilan qachon to‘qnashadi? 2) Cheklangan resurslarda qanday adolatli tartib kelishish mumkin? Doskada: ikki pallali tarozi chizib, bir pallaga ommaviy foyda, ikkinchisiga privatlikni qo‘ying. Tipik xato: ko‘p qadriyat qondirilgan variantni avtomatik to‘g‘ri deb hisoblash. Qo‘shimcha (slayddan ko‘chirilgan, manba shu bet): Birini ustun qo‘yish asoslanishi va zararni kamaytiruvchi mexanizmlar bo‘lishi kerak. Ehtiyojlarga ustuvorlik berish bahsli bo‘lsa ham, xarajat qarorlarining adolatli tartibiga kelishish mumkin.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qaror barcha manfaatdor tomonlarga shaffof aytilishi kerak? 2) Refleksiya qarorni qanday yaxshilaydi? Doskada: 6 qadamni zanjir qilib chizing (1-qadamda muammo, 2-qadamda qadriyatlar alohida). Tipik xato: 2-qadamda faqat mazmuniy qadriyatlarni olib, protsessualarini unutish.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Jamoat foydasi va privatlik to‘qnashganda qaror qanday asoslanadi? 2) Natijani ishtirokchilarga qanday shaffof yetkazish kerak? Doskaga: qadriyatlar to‘qnashuvi sxemasini chizdiring (muammo, qadriyatlar, variantlar, tanlov, e‘lon). Tipik xato: qaysi tomonda ko‘proq qadriyat bo‘lsa, o‘sha g‘olib deb o‘ylash. Qo‘shimcha (slayddan ko‘chirilgan, manba shu bet): Xavf shu qadar katta bo‘lmasligi mumkin, shuning uchun tadqiqotdan voz kechish shart emas.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T&amp;C orqali olingan rozilik haqiqiy xabardor rozilikmi? 2) Nega kompaniya mahsuloti tekshiruvi ham tadqiqotga o‘xshab ketadi? Doskaga: ‘foydalanuvchi – ma‘lumot – algoritm – reklama/mahsulot‘ zanjirini chizdiring. Tipik xato: IRB va REC ni ikki xil mazmundagi tuzilma deb o‘ylash, aslida ular turli hududlardagi nomlar. Qo‘shimcha (slayddan ko‘chirilgan, manba shu bet): Sun‘iy intellekt (SI) ham kengayib bormoqda. ‘Qabul qilaman‘ tugmasi orqali T&amp;C (foydalanish shartlari) bo‘yicha rozilik olinadi.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nega 1% dan past prediktiv validlik klinik jihatdan yaroqsiz hisoblanadi? Tipik xato: yangi texnologiyani «innovatsiya» deb tekshirmay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Doskada: har bo‘shliqqa bitta amaliy yechim yozdiring. Tipik xato: bo‘shliqlarni faqat qonun yo‘qligiga bog‘lash — manbada uchta alohida bo‘shliq.</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MoodFlex misolida qaysi domenlar buzilgan? 2) Nega domenlar kesishuvchi deb ko‘rsatiladi? Doskaga: beshta kesishuvchi doira chizib, har biriga bittadan savol yozdiring. Tipik xato: domenlarni mustaqil, ketma-ket bosqich deb qabul qilish. Eslab qoling: P-X-K-M-E (privatlik, xavf, kirish, ma‘lumot, etika).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Vaziyatni o‘qing: ilova yozish va ovoz belgilaridan ruhiy salomatlikni aniqlaydi, shahar xizmatlariga kiritilmoqda. Muhokama: 1) Nima xato? 2) Nega T&amp;C ichidagi rozilik qabul qilinmaydi? Doskada 5 bosqichli tahlil oqimini chizdiring. Tipik xato: ilova klinik tashxis qo‘ymasa, tekshiruv shart emas deb o‘ylash. REC va IRB — tadqiqot etikasi kengashlari (REC — Buyuk Britaniya va Yevropa Ittifoqida, IRB — AQShda).</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texnolog, shifokor va etika kengashi bir-birini tushunmasligi xavfli? 2) Standartlar bo‘lmasa, kim mas’ul? Doskada uch bo‘shliqni uchta ustun qilib chizdiring va har biriga bitta yechim yozdiring. Tipik xato: tashabbuslarni qonun deb o‘ylash; ular standart ishlab chiqishga qaratilgan, majburiy emas. IEEE va ACM — muhandislik va hisoblash bo‘yicha kasbiy birlashmalar.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Tezkor savol: teletibbiyot an’anaviy xizmatni almashtiradimi? (Yo‘q, to‘ldiradi.) Muhokama: katta ma’lumotda qaysi ikki qadriyat ko‘p to‘qnashadi va nega? Doskada uch mavzu (teletibbiyot, katta ma’lumot, raqamli sog‘liq) va har birining bitta asosiy xabarini yozdiring. Tipik xato: qadriyatlar ro‘yxatini qiyoslab, ko‘pi qondirilgan variantni avtomatik tanlash; kerakli narsa asoslangan muvozanat. Yakunda uchala xabarni talabalar o‘z so‘zlari bilan takrorlasin.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Teletibbiyot, telestomatologiya; raqamli tibbiyotda biotibbiyot ma’lumotlari va katta ma’lumotlar (A12)</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va dars maqsadlari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Dars teletibbiyot (masofadan tibbiy xizmat) va telestomatologiyaning etik hamda huquqiy muammolarini ko‘rib chiqadi.</a:t>
            </a:r>
          </a:p>
          <a:p>
            <a:pPr>
              <a:spcAft>
                <a:spcPts val="1200"/>
              </a:spcAft>
            </a:pPr>
            <a:r>
              <a:rPr sz="2200">
                <a:solidFill>
                  <a:srgbClr val="1F2937"/>
                </a:solidFill>
                <a:latin typeface="Calibri"/>
              </a:rPr>
              <a:t>▸  Katta ma’lumotlar sog‘liqni saqlash va tadqiqotda keng ishlatiladi. Sun’iy intellekt (SI) kabi texnologiyalar katta ma’lumotlarsiz rivojlana olmaydi.</a:t>
            </a:r>
          </a:p>
          <a:p>
            <a:pPr>
              <a:spcAft>
                <a:spcPts val="1200"/>
              </a:spcAft>
            </a:pPr>
            <a:r>
              <a:rPr sz="2200">
                <a:solidFill>
                  <a:srgbClr val="1F2937"/>
                </a:solidFill>
                <a:latin typeface="Calibri"/>
              </a:rPr>
              <a:t>▸  Raqamli salomatlik tadqiqotida qaror qabul qilish 5 doiraga tayanadi: maxfiylik, xavf va foyda, qulaylik, ma’lumotlarni boshqarish, etik tamoyillar.</a:t>
            </a:r>
          </a:p>
          <a:p>
            <a:pPr>
              <a:spcAft>
                <a:spcPts val="1200"/>
              </a:spcAft>
            </a:pPr>
            <a:r>
              <a:rPr sz="2200">
                <a:solidFill>
                  <a:srgbClr val="1F2937"/>
                </a:solidFill>
                <a:latin typeface="Calibri"/>
              </a:rPr>
              <a:t>▸  Etik doira javobni tayyor bermaydi. U qadriyatlarni aniqlab, ularni tortib ko‘rishga va qarorni asoslashga bosqichma-bosqich yordam beradi.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 (Abstract); Xafis et al., An Ethics Framework for Big Data in Health and Research, betlar: PMID 33717314 (Background), PMID 33717314 (What is an Ethical Decision-making Framework?); Nebeker et al., Building the case for actionable ethics in digital health research supported by artificial intelligence, betlar: PMID 31311535 (Decision-making framework)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Teletibbiyot: tarix va ta’riflar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Teletibbiyot atamasi 1970-yillarda “masofadan davolash” ma’nosida kiritilgan.</a:t>
            </a:r>
          </a:p>
          <a:p>
            <a:pPr>
              <a:spcAft>
                <a:spcPts val="800"/>
              </a:spcAft>
            </a:pPr>
            <a:r>
              <a:rPr sz="1800">
                <a:solidFill>
                  <a:srgbClr val="1F2937"/>
                </a:solidFill>
                <a:latin typeface="Calibri"/>
              </a:rPr>
              <a:t>▸  JSST (Jahon sog‘liqni saqlash tashkiloti) 1998-yilda masofa hal qiluvchi omil bo‘lgan xizmatni AKT orqali ko‘rsatish deb ta’rifladi.</a:t>
            </a:r>
          </a:p>
          <a:p>
            <a:pPr>
              <a:spcAft>
                <a:spcPts val="800"/>
              </a:spcAft>
            </a:pPr>
            <a:r>
              <a:rPr sz="1800">
                <a:solidFill>
                  <a:srgbClr val="1F2937"/>
                </a:solidFill>
                <a:latin typeface="Calibri"/>
              </a:rPr>
              <a:t>▸  Diqqat: telesalomatlik ≠ yuzma-yuz qabul o‘rnini bosuvchi xizmat; yuzma-yuz maslahat hamon oltin standart.</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1970-yillar</a:t>
            </a:r>
          </a:p>
          <a:p>
            <a:pPr algn="l">
              <a:spcAft>
                <a:spcPts val="200"/>
              </a:spcAft>
            </a:pPr>
            <a:r>
              <a:rPr sz="1400" b="0">
                <a:solidFill>
                  <a:srgbClr val="1F2937"/>
                </a:solidFill>
                <a:latin typeface="Calibri"/>
              </a:rPr>
              <a:t>«Masofadan davolash» atamasi</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1998</a:t>
            </a:r>
          </a:p>
          <a:p>
            <a:pPr algn="l">
              <a:spcAft>
                <a:spcPts val="200"/>
              </a:spcAft>
            </a:pPr>
            <a:r>
              <a:rPr sz="1400" b="0">
                <a:solidFill>
                  <a:srgbClr val="1F2937"/>
                </a:solidFill>
                <a:latin typeface="Calibri"/>
              </a:rPr>
              <a:t>JSST: masofa muhim, AKT orqali xizmat</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2020</a:t>
            </a:r>
          </a:p>
          <a:p>
            <a:pPr algn="l">
              <a:spcAft>
                <a:spcPts val="200"/>
              </a:spcAft>
            </a:pPr>
            <a:r>
              <a:rPr sz="1400" b="0">
                <a:solidFill>
                  <a:srgbClr val="1F2937"/>
                </a:solidFill>
                <a:latin typeface="Calibri"/>
              </a:rPr>
              <a:t>AQSh CMS: elektron aloqa orqali ma’lumot</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Hozir</a:t>
            </a:r>
          </a:p>
          <a:p>
            <a:pPr algn="l">
              <a:spcAft>
                <a:spcPts val="200"/>
              </a:spcAft>
            </a:pPr>
            <a:r>
              <a:rPr sz="1400" b="0">
                <a:solidFill>
                  <a:srgbClr val="1F2937"/>
                </a:solidFill>
                <a:latin typeface="Calibri"/>
              </a:rPr>
              <a:t>WMA: yuzma-yuz — oltin standart</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Ta’riflar vaqt chizig‘i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 (Introduction), PMID 34946259 (Introduction, Conclusions)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Teletibbiyotning foydalari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Teletibbiyot bemor va shifokor orasidagi masofani qisqartiradi, ayniqsa yetib borish qiyin hududlarda.</a:t>
            </a:r>
          </a:p>
          <a:p>
            <a:pPr>
              <a:spcAft>
                <a:spcPts val="800"/>
              </a:spcAft>
            </a:pPr>
            <a:r>
              <a:rPr sz="1800">
                <a:solidFill>
                  <a:srgbClr val="1F2937"/>
                </a:solidFill>
                <a:latin typeface="Calibri"/>
              </a:rPr>
              <a:t>▸  Og‘ir bo‘lmagan bemorlar uyda davolanib, kasalxonada yotish muddatini qisqartirishi mumkin.</a:t>
            </a:r>
          </a:p>
          <a:p>
            <a:pPr>
              <a:spcAft>
                <a:spcPts val="800"/>
              </a:spcAft>
            </a:pPr>
            <a:r>
              <a:rPr sz="1800">
                <a:solidFill>
                  <a:srgbClr val="1F2937"/>
                </a:solidFill>
                <a:latin typeface="Calibri"/>
              </a:rPr>
              <a:t>▸  COVID-19 pandemiyasida yuzma-yuz aloqani kamaytirib, bemor va xodimlar uchun yuqish xavfini pasaytirdi.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Foydasi kimga</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Olis hudud, dengizchilar</a:t>
            </a:r>
          </a:p>
          <a:p>
            <a:pPr algn="l">
              <a:spcAft>
                <a:spcPts val="0"/>
              </a:spcAft>
            </a:pPr>
            <a:r>
              <a:rPr sz="1200" b="0">
                <a:solidFill>
                  <a:srgbClr val="1F2937"/>
                </a:solidFill>
                <a:latin typeface="Calibri"/>
              </a:rPr>
              <a:t>Muassasaga osonroq yetib borish</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Harakati cheklangan, keksa</a:t>
            </a:r>
          </a:p>
          <a:p>
            <a:pPr algn="l">
              <a:spcAft>
                <a:spcPts val="0"/>
              </a:spcAft>
            </a:pPr>
            <a:r>
              <a:rPr sz="1200" b="0">
                <a:solidFill>
                  <a:srgbClr val="1F2937"/>
                </a:solidFill>
                <a:latin typeface="Calibri"/>
              </a:rPr>
              <a:t>Shifokorga murojaat osonlashadi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Yengil kasal</a:t>
            </a:r>
          </a:p>
          <a:p>
            <a:pPr algn="l">
              <a:spcAft>
                <a:spcPts val="0"/>
              </a:spcAft>
            </a:pPr>
            <a:r>
              <a:rPr sz="1200" b="0">
                <a:solidFill>
                  <a:srgbClr val="1F2937"/>
                </a:solidFill>
                <a:latin typeface="Calibri"/>
              </a:rPr>
              <a:t>Uyda davolanish  ·  Yotish qisqarishi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Tizim</a:t>
            </a:r>
          </a:p>
          <a:p>
            <a:pPr algn="l">
              <a:spcAft>
                <a:spcPts val="0"/>
              </a:spcAft>
            </a:pPr>
            <a:r>
              <a:rPr sz="1200" b="0">
                <a:solidFill>
                  <a:srgbClr val="1F2937"/>
                </a:solidFill>
                <a:latin typeface="Calibri"/>
              </a:rPr>
              <a:t>Adolatli kirish  ·  Arzonroq xarajat</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Teletibbiyot foydalari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 (Introduction)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COVID-19 davrida teletibbiyotning kengayishi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COVID-19 pandemiyasida teletibbiyot yuqumdan saqlanish uchun zarur xizmatga aylandi.</a:t>
            </a:r>
          </a:p>
          <a:p>
            <a:pPr>
              <a:spcAft>
                <a:spcPts val="800"/>
              </a:spcAft>
            </a:pPr>
            <a:r>
              <a:rPr sz="1800">
                <a:solidFill>
                  <a:srgbClr val="1F2937"/>
                </a:solidFill>
                <a:latin typeface="Calibri"/>
              </a:rPr>
              <a:t>▸  Yuzma-yuz aloqa kamaydi, shu sabab bemor va tibbiyot xodimlarining yuqish xavfi pasaydi.</a:t>
            </a:r>
          </a:p>
          <a:p>
            <a:pPr>
              <a:spcAft>
                <a:spcPts val="800"/>
              </a:spcAft>
            </a:pPr>
            <a:r>
              <a:rPr sz="1800">
                <a:solidFill>
                  <a:srgbClr val="1F2937"/>
                </a:solidFill>
                <a:latin typeface="Calibri"/>
              </a:rPr>
              <a:t>▸  Teletibbiyot qamragan tibbiyot sohalari soni pandemiya davrida ortdi.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Sohalar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Klinik fanlar</a:t>
            </a:r>
          </a:p>
          <a:p>
            <a:pPr algn="l">
              <a:spcAft>
                <a:spcPts val="0"/>
              </a:spcAft>
            </a:pPr>
            <a:r>
              <a:rPr sz="1200" b="0">
                <a:solidFill>
                  <a:srgbClr val="1F2937"/>
                </a:solidFill>
                <a:latin typeface="Calibri"/>
              </a:rPr>
              <a:t>Dermatologiya, kardiologiya  ·  Nevrologiya</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Ona va bola</a:t>
            </a:r>
          </a:p>
          <a:p>
            <a:pPr algn="l">
              <a:spcAft>
                <a:spcPts val="0"/>
              </a:spcAft>
            </a:pPr>
            <a:r>
              <a:rPr sz="1200" b="0">
                <a:solidFill>
                  <a:srgbClr val="1F2937"/>
                </a:solidFill>
                <a:latin typeface="Calibri"/>
              </a:rPr>
              <a:t>Pediatriya (perinatal, neonatal)  ·  Ginekologiya</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Sezgi, tayanch</a:t>
            </a:r>
          </a:p>
          <a:p>
            <a:pPr algn="l">
              <a:spcAft>
                <a:spcPts val="0"/>
              </a:spcAft>
            </a:pPr>
            <a:r>
              <a:rPr sz="1200" b="0">
                <a:solidFill>
                  <a:srgbClr val="1F2937"/>
                </a:solidFill>
                <a:latin typeface="Calibri"/>
              </a:rPr>
              <a:t>Oftalmologiya, otorinolaringologiya  ·  Ortopediya</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Davomiy parvarish</a:t>
            </a:r>
          </a:p>
          <a:p>
            <a:pPr algn="l">
              <a:spcAft>
                <a:spcPts val="0"/>
              </a:spcAft>
            </a:pPr>
            <a:r>
              <a:rPr sz="1200" b="0">
                <a:solidFill>
                  <a:srgbClr val="1F2937"/>
                </a:solidFill>
                <a:latin typeface="Calibri"/>
              </a:rPr>
              <a:t>Surunkali kasalliklar, COVID-19</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Teletibbiyot qamragan sohalar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ta’riflar va foydalar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JSST (1998) ta’rifida teletibbiyotning o‘ziga xos sharti nima?</a:t>
            </a:r>
          </a:p>
          <a:p>
            <a:pPr>
              <a:spcAft>
                <a:spcPts val="1200"/>
              </a:spcAft>
            </a:pPr>
            <a:r>
              <a:rPr sz="2200">
                <a:solidFill>
                  <a:srgbClr val="1F2937"/>
                </a:solidFill>
                <a:latin typeface="Calibri"/>
              </a:rPr>
              <a:t>▸  2-savol: 2020 yilgi CMS ta’rifi nimani nazarda tutadi? Javob: tibbiy ma’lumotni bir joydan boshqasiga elektron aloqa orqali almashish.</a:t>
            </a:r>
          </a:p>
          <a:p>
            <a:pPr>
              <a:spcAft>
                <a:spcPts val="1200"/>
              </a:spcAft>
            </a:pPr>
            <a:r>
              <a:rPr sz="2200">
                <a:solidFill>
                  <a:srgbClr val="1F2937"/>
                </a:solidFill>
                <a:latin typeface="Calibri"/>
              </a:rPr>
              <a:t>▸  3-savol: Asosiy foydalari qaysilar?</a:t>
            </a:r>
          </a:p>
          <a:p>
            <a:pPr>
              <a:spcAft>
                <a:spcPts val="1200"/>
              </a:spcAft>
            </a:pPr>
            <a:r>
              <a:rPr sz="2200">
                <a:solidFill>
                  <a:srgbClr val="1F2937"/>
                </a:solidFill>
                <a:latin typeface="Calibri"/>
              </a:rPr>
              <a:t>▸  Diqqat: xato qilish xavfi — teletibbiyot ≠ yuzma-yuz ko‘rikning o‘rnini bosuvchi xizmat.</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Etik-huquqiy muammolar xaritasi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Tahlil uchun 85 ta maqoladan 24 tasi saralandi; ularda etik va huquqiy masalalar o‘zaro bog‘liq ko‘rsatilgan.</a:t>
            </a:r>
          </a:p>
          <a:p>
            <a:pPr>
              <a:spcAft>
                <a:spcPts val="800"/>
              </a:spcAft>
            </a:pPr>
            <a:r>
              <a:rPr sz="1800">
                <a:solidFill>
                  <a:srgbClr val="1F2937"/>
                </a:solidFill>
                <a:latin typeface="Calibri"/>
              </a:rPr>
              <a:t>▸  Maxfiylik 57%, adolatli kirish va xizmat sifati 30% dan, kasb egasi–bemor munosabati 22% maqolada uchradi.</a:t>
            </a:r>
          </a:p>
          <a:p>
            <a:pPr>
              <a:spcAft>
                <a:spcPts val="800"/>
              </a:spcAft>
            </a:pPr>
            <a:r>
              <a:rPr sz="1800">
                <a:solidFill>
                  <a:srgbClr val="1F2937"/>
                </a:solidFill>
                <a:latin typeface="Calibri"/>
              </a:rPr>
              <a:t>▸  Qonun-qoidalar masalasi 83% maqolada ko‘tarilgan: davlatlar o‘rtasida qoidalar yo‘q yoki farq qiladi.</a:t>
            </a:r>
          </a:p>
        </p:txBody>
      </p:sp>
      <p:sp>
        <p:nvSpPr>
          <p:cNvPr id="9" name="Rounded Rectangle 8"/>
          <p:cNvSpPr/>
          <p:nvPr/>
        </p:nvSpPr>
        <p:spPr>
          <a:xfrm>
            <a:off x="5440680"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Rozilik va avtonomiya</a:t>
            </a:r>
          </a:p>
          <a:p>
            <a:pPr algn="l">
              <a:spcAft>
                <a:spcPts val="100"/>
              </a:spcAft>
            </a:pPr>
            <a:r>
              <a:rPr sz="3000" b="1">
                <a:solidFill>
                  <a:srgbClr val="0B1F3A"/>
                </a:solidFill>
                <a:latin typeface="Calibri"/>
              </a:rPr>
              <a:t>87</a:t>
            </a:r>
            <a:r>
              <a:rPr sz="1500" b="0">
                <a:solidFill>
                  <a:srgbClr val="6B7280"/>
                </a:solidFill>
                <a:latin typeface="Calibri"/>
              </a:rPr>
              <a:t>  %</a:t>
            </a:r>
          </a:p>
        </p:txBody>
      </p:sp>
      <p:sp>
        <p:nvSpPr>
          <p:cNvPr id="12" name="Rounded Rectangle 11"/>
          <p:cNvSpPr/>
          <p:nvPr/>
        </p:nvSpPr>
        <p:spPr>
          <a:xfrm>
            <a:off x="8578443" y="1417320"/>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Bemor privatligi</a:t>
            </a:r>
          </a:p>
          <a:p>
            <a:pPr algn="l">
              <a:spcAft>
                <a:spcPts val="100"/>
              </a:spcAft>
            </a:pPr>
            <a:r>
              <a:rPr sz="3000" b="1">
                <a:solidFill>
                  <a:srgbClr val="0B1F3A"/>
                </a:solidFill>
                <a:latin typeface="Calibri"/>
              </a:rPr>
              <a:t>78</a:t>
            </a:r>
            <a:r>
              <a:rPr sz="1500" b="0">
                <a:solidFill>
                  <a:srgbClr val="6B7280"/>
                </a:solidFill>
                <a:latin typeface="Calibri"/>
              </a:rPr>
              <a:t>  %</a:t>
            </a:r>
          </a:p>
        </p:txBody>
      </p:sp>
      <p:sp>
        <p:nvSpPr>
          <p:cNvPr id="15" name="Rounded Rectangle 14"/>
          <p:cNvSpPr/>
          <p:nvPr/>
        </p:nvSpPr>
        <p:spPr>
          <a:xfrm>
            <a:off x="5440680"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Ma’lumot himoyasi</a:t>
            </a:r>
          </a:p>
          <a:p>
            <a:pPr algn="l">
              <a:spcAft>
                <a:spcPts val="100"/>
              </a:spcAft>
            </a:pPr>
            <a:r>
              <a:rPr sz="3000" b="1">
                <a:solidFill>
                  <a:srgbClr val="0B1F3A"/>
                </a:solidFill>
                <a:latin typeface="Calibri"/>
              </a:rPr>
              <a:t>74</a:t>
            </a:r>
            <a:r>
              <a:rPr sz="1500" b="0">
                <a:solidFill>
                  <a:srgbClr val="6B7280"/>
                </a:solidFill>
                <a:latin typeface="Calibri"/>
              </a:rPr>
              <a:t>  %</a:t>
            </a:r>
          </a:p>
        </p:txBody>
      </p:sp>
      <p:sp>
        <p:nvSpPr>
          <p:cNvPr id="18" name="Rounded Rectangle 17"/>
          <p:cNvSpPr/>
          <p:nvPr/>
        </p:nvSpPr>
        <p:spPr>
          <a:xfrm>
            <a:off x="8578443" y="2807208"/>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2898648"/>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2807208"/>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Xato, kasbiy mas’uliyat</a:t>
            </a:r>
          </a:p>
          <a:p>
            <a:pPr algn="l">
              <a:spcAft>
                <a:spcPts val="100"/>
              </a:spcAft>
            </a:pPr>
            <a:r>
              <a:rPr sz="3000" b="1">
                <a:solidFill>
                  <a:srgbClr val="0B1F3A"/>
                </a:solidFill>
                <a:latin typeface="Calibri"/>
              </a:rPr>
              <a:t>70</a:t>
            </a:r>
            <a:r>
              <a:rPr sz="1500" b="0">
                <a:solidFill>
                  <a:srgbClr val="6B7280"/>
                </a:solidFill>
                <a:latin typeface="Calibri"/>
              </a:rPr>
              <a:t>  %</a:t>
            </a:r>
          </a:p>
        </p:txBody>
      </p:sp>
      <p:sp>
        <p:nvSpPr>
          <p:cNvPr id="21" name="Rounded Rectangle 20"/>
          <p:cNvSpPr/>
          <p:nvPr/>
        </p:nvSpPr>
        <p:spPr>
          <a:xfrm>
            <a:off x="5440680"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50408"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Qonun-qoidalar</a:t>
            </a:r>
          </a:p>
          <a:p>
            <a:pPr algn="l">
              <a:spcAft>
                <a:spcPts val="100"/>
              </a:spcAft>
            </a:pPr>
            <a:r>
              <a:rPr sz="3000" b="1">
                <a:solidFill>
                  <a:srgbClr val="0B1F3A"/>
                </a:solidFill>
                <a:latin typeface="Calibri"/>
              </a:rPr>
              <a:t>83</a:t>
            </a:r>
            <a:r>
              <a:rPr sz="1500" b="0">
                <a:solidFill>
                  <a:srgbClr val="6B7280"/>
                </a:solidFill>
                <a:latin typeface="Calibri"/>
              </a:rPr>
              <a:t>  %</a:t>
            </a:r>
          </a:p>
        </p:txBody>
      </p:sp>
      <p:sp>
        <p:nvSpPr>
          <p:cNvPr id="24" name="Rounded Rectangle 23"/>
          <p:cNvSpPr/>
          <p:nvPr/>
        </p:nvSpPr>
        <p:spPr>
          <a:xfrm>
            <a:off x="8578443" y="4197096"/>
            <a:ext cx="2973171" cy="1243584"/>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578443" y="4288536"/>
            <a:ext cx="64008" cy="10607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8171" y="4197096"/>
            <a:ext cx="2863443" cy="1243584"/>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Maxfiylik</a:t>
            </a:r>
          </a:p>
          <a:p>
            <a:pPr algn="l">
              <a:spcAft>
                <a:spcPts val="100"/>
              </a:spcAft>
            </a:pPr>
            <a:r>
              <a:rPr sz="3000" b="1">
                <a:solidFill>
                  <a:srgbClr val="0B1F3A"/>
                </a:solidFill>
                <a:latin typeface="Calibri"/>
              </a:rPr>
              <a:t>57</a:t>
            </a:r>
            <a:r>
              <a:rPr sz="1500" b="0">
                <a:solidFill>
                  <a:srgbClr val="6B7280"/>
                </a:solidFill>
                <a:latin typeface="Calibri"/>
              </a:rPr>
              <a:t>  %</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Eng ko‘p uchragan muammolar</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Rozilik va avtonomiya telemeditsinada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Telemeditsinada axborotli rozilik an’anaviy tibbiy xizmatdagi bilan bir xil asosiy talablarga javob berishi kerak.</a:t>
            </a:r>
          </a:p>
          <a:p>
            <a:pPr>
              <a:spcAft>
                <a:spcPts val="800"/>
              </a:spcAft>
            </a:pPr>
            <a:r>
              <a:rPr sz="1600">
                <a:solidFill>
                  <a:srgbClr val="1F2937"/>
                </a:solidFill>
                <a:latin typeface="Calibri"/>
              </a:rPr>
              <a:t>▸  Bemorga masofaviy davolashning xavf va foydalari tushuntirilishi shart. Ko‘rib chiqilgan maqolalarning 87 foizida rozilik va avtonomiya masalasi ko‘tarilgan.</a:t>
            </a:r>
          </a:p>
          <a:p>
            <a:pPr>
              <a:spcAft>
                <a:spcPts val="800"/>
              </a:spcAft>
            </a:pPr>
            <a:r>
              <a:rPr sz="1600">
                <a:solidFill>
                  <a:srgbClr val="1F2937"/>
                </a:solidFill>
                <a:latin typeface="Calibri"/>
              </a:rPr>
              <a:t>▸  Telesog‘liqni saqlash tashrifi bemorning og‘zaki roziligi bilan ham o‘tkazilishi mumkin. Rozilik tibbiy yozuvga qayd etiladi.</a:t>
            </a:r>
          </a:p>
          <a:p>
            <a:pPr>
              <a:spcAft>
                <a:spcPts val="800"/>
              </a:spcAft>
            </a:pPr>
            <a:r>
              <a:rPr sz="1600">
                <a:solidFill>
                  <a:srgbClr val="1F2937"/>
                </a:solidFill>
                <a:latin typeface="Calibri"/>
              </a:rPr>
              <a:t>▸  Diqqat: og‘zaki rozilik ≠ rozilik shart emas. Imzolangan shakl kerak bo‘lsa, bemor portali yoki pochta orqali olinadi; imzoni kutish shart emas.</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Telemeditsinada rozilik</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Talab</a:t>
            </a:r>
          </a:p>
          <a:p>
            <a:pPr algn="l">
              <a:spcAft>
                <a:spcPts val="0"/>
              </a:spcAft>
            </a:pPr>
            <a:r>
              <a:rPr sz="1200" b="0">
                <a:solidFill>
                  <a:srgbClr val="1F2937"/>
                </a:solidFill>
                <a:latin typeface="Calibri"/>
              </a:rPr>
              <a:t>An’anaviy xizmat bilan bir xil</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Tushuntirish</a:t>
            </a:r>
          </a:p>
          <a:p>
            <a:pPr algn="l">
              <a:spcAft>
                <a:spcPts val="0"/>
              </a:spcAft>
            </a:pPr>
            <a:r>
              <a:rPr sz="1200" b="0">
                <a:solidFill>
                  <a:srgbClr val="1F2937"/>
                </a:solidFill>
                <a:latin typeface="Calibri"/>
              </a:rPr>
              <a:t>Masofaviy davolash xavf va foydalari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Shakl</a:t>
            </a:r>
          </a:p>
          <a:p>
            <a:pPr algn="l">
              <a:spcAft>
                <a:spcPts val="0"/>
              </a:spcAft>
            </a:pPr>
            <a:r>
              <a:rPr sz="1200" b="0">
                <a:solidFill>
                  <a:srgbClr val="1F2937"/>
                </a:solidFill>
                <a:latin typeface="Calibri"/>
              </a:rPr>
              <a:t>Og‘zaki rozilik mumkin  ·  Tibbiy yozuvga qayd etiladi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Imzo</a:t>
            </a:r>
          </a:p>
          <a:p>
            <a:pPr algn="l">
              <a:spcAft>
                <a:spcPts val="0"/>
              </a:spcAft>
            </a:pPr>
            <a:r>
              <a:rPr sz="1200" b="0">
                <a:solidFill>
                  <a:srgbClr val="1F2937"/>
                </a:solidFill>
                <a:latin typeface="Calibri"/>
              </a:rPr>
              <a:t>Portal yoki pochta orqali  ·  Imzoni kutish shart emas</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Rozilik va avtonomiya</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Maxfiylik, privatlik va ma’lumot xavfsizligi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Privatlik shaxs haqidagi ma’lumotga kirishni nazorat qilishdir. Maxfiylik esa ishonch munosabatida aytilgan ma’lumotni oshkor qilmaslik majburiyatidir.</a:t>
            </a:r>
          </a:p>
          <a:p>
            <a:pPr>
              <a:spcAft>
                <a:spcPts val="800"/>
              </a:spcAft>
            </a:pPr>
            <a:r>
              <a:rPr sz="1800">
                <a:solidFill>
                  <a:srgbClr val="1F2937"/>
                </a:solidFill>
                <a:latin typeface="Calibri"/>
              </a:rPr>
              <a:t>▸  Diqqat: privatlik ≠ maxfiylik. Ular yaqin, lekin alohida tushunchalar; maxfiylikni privatlik bilan birga ko‘rib chiqish tavsiya etiladi.</a:t>
            </a:r>
          </a:p>
          <a:p>
            <a:pPr>
              <a:spcAft>
                <a:spcPts val="800"/>
              </a:spcAft>
            </a:pPr>
            <a:r>
              <a:rPr sz="1800">
                <a:solidFill>
                  <a:srgbClr val="1F2937"/>
                </a:solidFill>
                <a:latin typeface="Calibri"/>
              </a:rPr>
              <a:t>▸  Telesog‘liqni saqlash video, telefon, elektron pochta yoki matnli xabar orqali bo‘lishi mumkin.</a:t>
            </a:r>
          </a:p>
          <a:p>
            <a:pPr>
              <a:spcAft>
                <a:spcPts val="800"/>
              </a:spcAft>
            </a:pPr>
            <a:r>
              <a:rPr sz="1800">
                <a:solidFill>
                  <a:srgbClr val="1F2937"/>
                </a:solidFill>
                <a:latin typeface="Calibri"/>
              </a:rPr>
              <a:t>▸  Shifokor klinika yoki ofis kabi shaxsiy joydan ulanishi kerak.</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Privatlik</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Shaxs haqidagi ma’lumotga kirishni nazorat qilish</a:t>
            </a:r>
          </a:p>
          <a:p>
            <a:pPr algn="l">
              <a:spcAft>
                <a:spcPts val="700"/>
              </a:spcAft>
            </a:pPr>
            <a:r>
              <a:rPr sz="1500" b="1">
                <a:solidFill>
                  <a:srgbClr val="C9A227"/>
                </a:solidFill>
                <a:latin typeface="Calibri"/>
              </a:rPr>
              <a:t>●  </a:t>
            </a:r>
            <a:r>
              <a:rPr sz="1500" b="0">
                <a:solidFill>
                  <a:srgbClr val="1F2937"/>
                </a:solidFill>
                <a:latin typeface="Calibri"/>
              </a:rPr>
              <a:t>Rasm, laboratoriya natijasi xavfsiz saqlanadi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Maxfiylik</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Ishonch munosabatida aytilgan ma’lumotni oshkor qilmaslik</a:t>
            </a:r>
          </a:p>
          <a:p>
            <a:pPr algn="l">
              <a:spcAft>
                <a:spcPts val="700"/>
              </a:spcAft>
            </a:pPr>
            <a:r>
              <a:rPr sz="1500" b="1">
                <a:solidFill>
                  <a:srgbClr val="C9A227"/>
                </a:solidFill>
                <a:latin typeface="Calibri"/>
              </a:rPr>
              <a:t>●  </a:t>
            </a:r>
            <a:r>
              <a:rPr sz="1500" b="0">
                <a:solidFill>
                  <a:srgbClr val="1F2937"/>
                </a:solidFill>
                <a:latin typeface="Calibri"/>
              </a:rPr>
              <a:t>Shifokor shaxsiy joydan ulanadi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Privatlik va maxfiylik</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 Solimini et al., Ethical and Legal Challenges of Telemedicine in the Era of the COVID-19 Pandemic, betlar: PMID 34946259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Kasbiy mas’uliyat va huquqiy tartibga solish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Malpraktika va kasbiy mas’uliyat masalasi ko‘rib chiqilgan maqolalarning 70 foizida uchragan. Qonun va tartibga solish masalalari esa 83 foizida tilga olingan.</a:t>
            </a:r>
          </a:p>
          <a:p>
            <a:pPr>
              <a:spcAft>
                <a:spcPts val="800"/>
              </a:spcAft>
            </a:pPr>
            <a:r>
              <a:rPr sz="1600">
                <a:solidFill>
                  <a:srgbClr val="1F2937"/>
                </a:solidFill>
                <a:latin typeface="Calibri"/>
              </a:rPr>
              <a:t>▸  Davlatlar o‘rtasida qoidalar yo‘q yoki bir-biridan farq qiladi. Shuning uchun yo‘riqnomalar, eng yaxshi amaliyotlar va xizmatlarni standartlashtirish kerak.</a:t>
            </a:r>
          </a:p>
          <a:p>
            <a:pPr>
              <a:spcAft>
                <a:spcPts val="800"/>
              </a:spcAft>
            </a:pPr>
            <a:r>
              <a:rPr sz="1600">
                <a:solidFill>
                  <a:srgbClr val="1F2937"/>
                </a:solidFill>
                <a:latin typeface="Calibri"/>
              </a:rPr>
              <a:t>▸  Ochiq savollar: xizmat narxi va to‘lovni qaytarish, sug‘urta qoplamasi, virtual dori retsepti, akkreditatsiya, litsenziya, tijoratlashtirish.</a:t>
            </a:r>
          </a:p>
          <a:p>
            <a:pPr>
              <a:spcAft>
                <a:spcPts val="800"/>
              </a:spcAft>
            </a:pPr>
            <a:r>
              <a:rPr sz="1600">
                <a:solidFill>
                  <a:srgbClr val="1F2937"/>
                </a:solidFill>
                <a:latin typeface="Calibri"/>
              </a:rPr>
              <a:t>▸  Maxsus qoidalar bo‘lmaganda amaldagi amaliyot umumiy huquqiy asosga mosligi jihatidan baholanadi.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Huquqiy tartibga solish</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Ulushlar</a:t>
            </a:r>
          </a:p>
          <a:p>
            <a:pPr algn="l">
              <a:spcAft>
                <a:spcPts val="0"/>
              </a:spcAft>
            </a:pPr>
            <a:r>
              <a:rPr sz="1200" b="0">
                <a:solidFill>
                  <a:srgbClr val="1F2937"/>
                </a:solidFill>
                <a:latin typeface="Calibri"/>
              </a:rPr>
              <a:t>Malpraktika — 70%  ·  Qonun-qoida — 83%</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Muammo</a:t>
            </a:r>
          </a:p>
          <a:p>
            <a:pPr algn="l">
              <a:spcAft>
                <a:spcPts val="0"/>
              </a:spcAft>
            </a:pPr>
            <a:r>
              <a:rPr sz="1200" b="0">
                <a:solidFill>
                  <a:srgbClr val="1F2937"/>
                </a:solidFill>
                <a:latin typeface="Calibri"/>
              </a:rPr>
              <a:t>Davlatlar o‘rtasida qoidalar farq qiladi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Ochiq savollar</a:t>
            </a:r>
          </a:p>
          <a:p>
            <a:pPr algn="l">
              <a:spcAft>
                <a:spcPts val="0"/>
              </a:spcAft>
            </a:pPr>
            <a:r>
              <a:rPr sz="1200" b="0">
                <a:solidFill>
                  <a:srgbClr val="1F2937"/>
                </a:solidFill>
                <a:latin typeface="Calibri"/>
              </a:rPr>
              <a:t>To‘lov, sug‘urta  ·  Virtual retsept, litsenziya</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Xulosa</a:t>
            </a:r>
          </a:p>
          <a:p>
            <a:pPr algn="l">
              <a:spcAft>
                <a:spcPts val="0"/>
              </a:spcAft>
            </a:pPr>
            <a:r>
              <a:rPr sz="1200" b="0">
                <a:solidFill>
                  <a:srgbClr val="1F2937"/>
                </a:solidFill>
                <a:latin typeface="Calibri"/>
              </a:rPr>
              <a:t>Teletibbiyot — to‘ldiruvchi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Kasbiy mas’uliyat va tartibga solish</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Adolat va teng kirish masalasi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Adolat tamoyili: yordamga teng kirish va texnikani chetda qolgan jamoalarga adolatli taqsimlash.</a:t>
            </a:r>
          </a:p>
          <a:p>
            <a:pPr>
              <a:spcAft>
                <a:spcPts val="800"/>
              </a:spcAft>
            </a:pPr>
            <a:r>
              <a:rPr sz="1800">
                <a:solidFill>
                  <a:srgbClr val="1F2937"/>
                </a:solidFill>
                <a:latin typeface="Calibri"/>
              </a:rPr>
              <a:t>▸  Internet yoki smartfon yo‘qligi bolaning tibbiy yordamga kirishiga to‘siq bo‘lmasligi kerak.</a:t>
            </a:r>
          </a:p>
          <a:p>
            <a:pPr>
              <a:spcAft>
                <a:spcPts val="800"/>
              </a:spcAft>
            </a:pPr>
            <a:r>
              <a:rPr sz="1800">
                <a:solidFill>
                  <a:srgbClr val="1F2937"/>
                </a:solidFill>
                <a:latin typeface="Calibri"/>
              </a:rPr>
              <a:t>▸  Diqqat: teng kirish — va’da, haqiqat emas; pandemiyada tengsizlik va xarajat muammosi kuchaydi.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Imkoniyat</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Olis hududlarga yetib borish</a:t>
            </a:r>
          </a:p>
          <a:p>
            <a:pPr algn="l">
              <a:spcAft>
                <a:spcPts val="700"/>
              </a:spcAft>
            </a:pPr>
            <a:r>
              <a:rPr sz="1500" b="1">
                <a:solidFill>
                  <a:srgbClr val="C9A227"/>
                </a:solidFill>
                <a:latin typeface="Calibri"/>
              </a:rPr>
              <a:t>●  </a:t>
            </a:r>
            <a:r>
              <a:rPr sz="1500" b="0">
                <a:solidFill>
                  <a:srgbClr val="1F2937"/>
                </a:solidFill>
                <a:latin typeface="Calibri"/>
              </a:rPr>
              <a:t>Qatnov va qabul xarajati kamayadi</a:t>
            </a:r>
          </a:p>
          <a:p>
            <a:pPr algn="l">
              <a:spcAft>
                <a:spcPts val="700"/>
              </a:spcAft>
            </a:pPr>
            <a:r>
              <a:rPr sz="1500" b="1">
                <a:solidFill>
                  <a:srgbClr val="C9A227"/>
                </a:solidFill>
                <a:latin typeface="Calibri"/>
              </a:rPr>
              <a:t>●  </a:t>
            </a:r>
            <a:r>
              <a:rPr sz="1500" b="0">
                <a:solidFill>
                  <a:srgbClr val="1F2937"/>
                </a:solidFill>
                <a:latin typeface="Calibri"/>
              </a:rPr>
              <a:t>Nogiron va keksalarga qulay</a:t>
            </a:r>
          </a:p>
          <a:p>
            <a:pPr algn="l">
              <a:spcAft>
                <a:spcPts val="700"/>
              </a:spcAft>
            </a:pPr>
            <a:r>
              <a:rPr sz="1500" b="1">
                <a:solidFill>
                  <a:srgbClr val="C9A227"/>
                </a:solidFill>
                <a:latin typeface="Calibri"/>
              </a:rPr>
              <a:t>●  </a:t>
            </a:r>
            <a:r>
              <a:rPr sz="1500" b="0">
                <a:solidFill>
                  <a:srgbClr val="1F2937"/>
                </a:solidFill>
                <a:latin typeface="Calibri"/>
              </a:rPr>
              <a:t>Tez aloqa va jalb qilish</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Xavf</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Internet bo‘lmasa, kirish yopiladi</a:t>
            </a:r>
          </a:p>
          <a:p>
            <a:pPr algn="l">
              <a:spcAft>
                <a:spcPts val="700"/>
              </a:spcAft>
            </a:pPr>
            <a:r>
              <a:rPr sz="1500" b="1">
                <a:solidFill>
                  <a:srgbClr val="C9A227"/>
                </a:solidFill>
                <a:latin typeface="Calibri"/>
              </a:rPr>
              <a:t>●  </a:t>
            </a:r>
            <a:r>
              <a:rPr sz="1500" b="0">
                <a:solidFill>
                  <a:srgbClr val="1F2937"/>
                </a:solidFill>
                <a:latin typeface="Calibri"/>
              </a:rPr>
              <a:t>To‘lov tizimida barqaror emas</a:t>
            </a:r>
          </a:p>
          <a:p>
            <a:pPr algn="l">
              <a:spcAft>
                <a:spcPts val="700"/>
              </a:spcAft>
            </a:pPr>
            <a:r>
              <a:rPr sz="1500" b="1">
                <a:solidFill>
                  <a:srgbClr val="C9A227"/>
                </a:solidFill>
                <a:latin typeface="Calibri"/>
              </a:rPr>
              <a:t>●  </a:t>
            </a:r>
            <a:r>
              <a:rPr sz="1500" b="0">
                <a:solidFill>
                  <a:srgbClr val="1F2937"/>
                </a:solidFill>
                <a:latin typeface="Calibri"/>
              </a:rPr>
              <a:t>Smartfonsizlar chetda qoladi</a:t>
            </a:r>
          </a:p>
          <a:p>
            <a:pPr algn="l">
              <a:spcAft>
                <a:spcPts val="700"/>
              </a:spcAft>
            </a:pPr>
            <a:r>
              <a:rPr sz="1500" b="1">
                <a:solidFill>
                  <a:srgbClr val="C9A227"/>
                </a:solidFill>
                <a:latin typeface="Calibri"/>
              </a:rPr>
              <a:t>●  </a:t>
            </a:r>
            <a:r>
              <a:rPr sz="1500" b="0">
                <a:solidFill>
                  <a:srgbClr val="1F2937"/>
                </a:solidFill>
                <a:latin typeface="Calibri"/>
              </a:rPr>
              <a:t>Sifat ko‘rsatkichlari yetarli emas</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Teletibbiyot: imkoniyat va xavf</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Shifokor uchun amaliy ko‘rsatmalar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Shifokor klinika yoki ofisdan ulansin; bemor ommaviy yoki yarim ommaviy joyda xizmat olmasin.</a:t>
            </a:r>
          </a:p>
          <a:p>
            <a:pPr>
              <a:spcAft>
                <a:spcPts val="800"/>
              </a:spcAft>
            </a:pPr>
            <a:r>
              <a:rPr sz="1800">
                <a:solidFill>
                  <a:srgbClr val="1F2937"/>
                </a:solidFill>
                <a:latin typeface="Calibri"/>
              </a:rPr>
              <a:t>▸  Rozilik og‘zaki olinib, tibbiy yozuvga qayd etilishi mumkin; imzolangan blankani kutish shart emas.</a:t>
            </a:r>
          </a:p>
          <a:p>
            <a:pPr>
              <a:spcAft>
                <a:spcPts val="800"/>
              </a:spcAft>
            </a:pPr>
            <a:r>
              <a:rPr sz="1800">
                <a:solidFill>
                  <a:srgbClr val="1F2937"/>
                </a:solidFill>
                <a:latin typeface="Calibri"/>
              </a:rPr>
              <a:t>▸  Telesalomatlik qabuli yuzma-yuz qabuldek o‘tkaziladi; bemor savol berishdan tortinmasin.</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Joy</a:t>
            </a:r>
          </a:p>
          <a:p>
            <a:pPr algn="l">
              <a:spcAft>
                <a:spcPts val="200"/>
              </a:spcAft>
            </a:pPr>
            <a:r>
              <a:rPr sz="1400" b="0">
                <a:solidFill>
                  <a:srgbClr val="1F2937"/>
                </a:solidFill>
                <a:latin typeface="Calibri"/>
              </a:rPr>
              <a:t>Shaxsiy joy tanlash</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Rozilik</a:t>
            </a:r>
          </a:p>
          <a:p>
            <a:pPr algn="l">
              <a:spcAft>
                <a:spcPts val="200"/>
              </a:spcAft>
            </a:pPr>
            <a:r>
              <a:rPr sz="1400" b="0">
                <a:solidFill>
                  <a:srgbClr val="1F2937"/>
                </a:solidFill>
                <a:latin typeface="Calibri"/>
              </a:rPr>
              <a:t>Bemordan og‘zaki rozilik</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Qayd</a:t>
            </a:r>
          </a:p>
          <a:p>
            <a:pPr algn="l">
              <a:spcAft>
                <a:spcPts val="200"/>
              </a:spcAft>
            </a:pPr>
            <a:r>
              <a:rPr sz="1400" b="0">
                <a:solidFill>
                  <a:srgbClr val="1F2937"/>
                </a:solidFill>
                <a:latin typeface="Calibri"/>
              </a:rPr>
              <a:t>Rozilikni kartaga yozish</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Qabul</a:t>
            </a:r>
          </a:p>
          <a:p>
            <a:pPr algn="l">
              <a:spcAft>
                <a:spcPts val="200"/>
              </a:spcAft>
            </a:pPr>
            <a:r>
              <a:rPr sz="1400" b="0">
                <a:solidFill>
                  <a:srgbClr val="1F2937"/>
                </a:solidFill>
                <a:latin typeface="Calibri"/>
              </a:rPr>
              <a:t>Yuzma-yuz kabi o‘tkazish</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Savol</a:t>
            </a:r>
          </a:p>
          <a:p>
            <a:pPr algn="l">
              <a:spcAft>
                <a:spcPts val="200"/>
              </a:spcAft>
            </a:pPr>
            <a:r>
              <a:rPr sz="1400" b="0">
                <a:solidFill>
                  <a:srgbClr val="1F2937"/>
                </a:solidFill>
                <a:latin typeface="Calibri"/>
              </a:rPr>
              <a:t>Tushuntirish imkoni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Telekonsultatsiya bosqichlari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Telestomatologiya va telefarmatsiya: chegaralar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Telefarmatsiya — farmatsevt va bemor bir joyda emas, aloqa axborot-kommunikatsiya texnologiyalari (AKT) orqali bo‘ladigan dori yordami.</a:t>
            </a:r>
          </a:p>
          <a:p>
            <a:pPr>
              <a:spcAft>
                <a:spcPts val="800"/>
              </a:spcAft>
            </a:pPr>
            <a:r>
              <a:rPr sz="1600">
                <a:solidFill>
                  <a:srgbClr val="1F2937"/>
                </a:solidFill>
                <a:latin typeface="Calibri"/>
              </a:rPr>
              <a:t>▸  Virtual retsept va telefarmatsiyada huquqiy oqibatlar kabi hal etilmagan cheklovlar bor.</a:t>
            </a:r>
          </a:p>
          <a:p>
            <a:pPr>
              <a:spcAft>
                <a:spcPts val="800"/>
              </a:spcAft>
            </a:pPr>
            <a:r>
              <a:rPr sz="1600">
                <a:solidFill>
                  <a:srgbClr val="1F2937"/>
                </a:solidFill>
                <a:latin typeface="Calibri"/>
              </a:rPr>
              <a:t>▸  Teletibbiyot an‘anaviy xizmatni to‘ldiradi, uning o‘rnini to‘liq bosmaydi; qoidalar hali standartlashtirilmagan.</a:t>
            </a:r>
          </a:p>
          <a:p>
            <a:pPr>
              <a:spcAft>
                <a:spcPts val="800"/>
              </a:spcAft>
            </a:pPr>
            <a:r>
              <a:rPr sz="1600">
                <a:solidFill>
                  <a:srgbClr val="1F2937"/>
                </a:solidFill>
                <a:latin typeface="Calibri"/>
              </a:rPr>
              <a:t>▸  Telestomatologiya manbalarda alohida yoritilmagan; unga umumiy teletibbiyot tamoyillari (rozilik, maxfiylik) qo‘llanadi deb hisoblanadi.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Telefarmatsiya</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Ta’rif</a:t>
            </a:r>
          </a:p>
          <a:p>
            <a:pPr algn="l">
              <a:spcAft>
                <a:spcPts val="0"/>
              </a:spcAft>
            </a:pPr>
            <a:r>
              <a:rPr sz="1200" b="0">
                <a:solidFill>
                  <a:srgbClr val="1F2937"/>
                </a:solidFill>
                <a:latin typeface="Calibri"/>
              </a:rPr>
              <a:t>Farmatsevt va bemor bir joyda emas  ·  AKT orqali dori yordami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Cheklov</a:t>
            </a:r>
          </a:p>
          <a:p>
            <a:pPr algn="l">
              <a:spcAft>
                <a:spcPts val="0"/>
              </a:spcAft>
            </a:pPr>
            <a:r>
              <a:rPr sz="1200" b="0">
                <a:solidFill>
                  <a:srgbClr val="1F2937"/>
                </a:solidFill>
                <a:latin typeface="Calibri"/>
              </a:rPr>
              <a:t>Virtual retsept  ·  Huquqiy oqibatlar noaniq</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Umumiy</a:t>
            </a:r>
          </a:p>
          <a:p>
            <a:pPr algn="l">
              <a:spcAft>
                <a:spcPts val="0"/>
              </a:spcAft>
            </a:pPr>
            <a:r>
              <a:rPr sz="1200" b="0">
                <a:solidFill>
                  <a:srgbClr val="1F2937"/>
                </a:solidFill>
                <a:latin typeface="Calibri"/>
              </a:rPr>
              <a:t>Xizmatni to‘ldiradi  ·  Qoidalar standartlashmagan</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Telefarmatsiya va cheklovlar</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Teletibbiyot: to‘ldiruvchi, o‘rnini bosmaydi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Videokonsultatsiya dalili kam, lekin samaradorlik, xavfsizlik va qoniqishga ishora qiladi.</a:t>
            </a:r>
          </a:p>
          <a:p>
            <a:pPr>
              <a:spcAft>
                <a:spcPts val="800"/>
              </a:spcAft>
            </a:pPr>
            <a:r>
              <a:rPr sz="1800">
                <a:solidFill>
                  <a:srgbClr val="1F2937"/>
                </a:solidFill>
                <a:latin typeface="Calibri"/>
              </a:rPr>
              <a:t>▸  Teletibbiyotni baholash kelgusi tadqiqotlarning ustuvor vazifasi hisoblanadi.</a:t>
            </a:r>
          </a:p>
          <a:p>
            <a:pPr>
              <a:spcAft>
                <a:spcPts val="800"/>
              </a:spcAft>
            </a:pPr>
            <a:r>
              <a:rPr sz="1800">
                <a:solidFill>
                  <a:srgbClr val="1F2937"/>
                </a:solidFill>
                <a:latin typeface="Calibri"/>
              </a:rPr>
              <a:t>▸  Diqqat: teletibbiyot yuzma-yuz yordamning o‘rnini bosmaydi, u faqat qo‘shimcha vosita.</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Yuzma-yuz</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Klinik yordamning oltin standarti</a:t>
            </a:r>
          </a:p>
          <a:p>
            <a:pPr algn="l">
              <a:spcAft>
                <a:spcPts val="700"/>
              </a:spcAft>
            </a:pPr>
            <a:r>
              <a:rPr sz="1500" b="1">
                <a:solidFill>
                  <a:srgbClr val="C9A227"/>
                </a:solidFill>
                <a:latin typeface="Calibri"/>
              </a:rPr>
              <a:t>●  </a:t>
            </a:r>
            <a:r>
              <a:rPr sz="1500" b="0">
                <a:solidFill>
                  <a:srgbClr val="1F2937"/>
                </a:solidFill>
                <a:latin typeface="Calibri"/>
              </a:rPr>
              <a:t>Uzoq joylarga yetib borish qiyin</a:t>
            </a:r>
          </a:p>
          <a:p>
            <a:pPr algn="l">
              <a:spcAft>
                <a:spcPts val="700"/>
              </a:spcAft>
            </a:pPr>
            <a:r>
              <a:rPr sz="1500" b="1">
                <a:solidFill>
                  <a:srgbClr val="C9A227"/>
                </a:solidFill>
                <a:latin typeface="Calibri"/>
              </a:rPr>
              <a:t>●  </a:t>
            </a:r>
            <a:r>
              <a:rPr sz="1500" b="0">
                <a:solidFill>
                  <a:srgbClr val="1F2937"/>
                </a:solidFill>
                <a:latin typeface="Calibri"/>
              </a:rPr>
              <a:t>Jismoniy aloqa saqlanadi</a:t>
            </a:r>
          </a:p>
          <a:p>
            <a:pPr algn="l">
              <a:spcAft>
                <a:spcPts val="700"/>
              </a:spcAft>
            </a:pPr>
            <a:r>
              <a:rPr sz="1500" b="1">
                <a:solidFill>
                  <a:srgbClr val="C9A227"/>
                </a:solidFill>
                <a:latin typeface="Calibri"/>
              </a:rPr>
              <a:t>●  </a:t>
            </a:r>
            <a:r>
              <a:rPr sz="1500" b="0">
                <a:solidFill>
                  <a:srgbClr val="1F2937"/>
                </a:solidFill>
                <a:latin typeface="Calibri"/>
              </a:rPr>
              <a:t>Odatiy rozilik talablari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Teletibbiyot</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To‘ldiruvchi, qo‘shimcha vosita</a:t>
            </a:r>
          </a:p>
          <a:p>
            <a:pPr algn="l">
              <a:spcAft>
                <a:spcPts val="700"/>
              </a:spcAft>
            </a:pPr>
            <a:r>
              <a:rPr sz="1500" b="1">
                <a:solidFill>
                  <a:srgbClr val="C9A227"/>
                </a:solidFill>
                <a:latin typeface="Calibri"/>
              </a:rPr>
              <a:t>●  </a:t>
            </a:r>
            <a:r>
              <a:rPr sz="1500" b="0">
                <a:solidFill>
                  <a:srgbClr val="1F2937"/>
                </a:solidFill>
                <a:latin typeface="Calibri"/>
              </a:rPr>
              <a:t>Masofani qisqartiradi</a:t>
            </a:r>
          </a:p>
          <a:p>
            <a:pPr algn="l">
              <a:spcAft>
                <a:spcPts val="700"/>
              </a:spcAft>
            </a:pPr>
            <a:r>
              <a:rPr sz="1500" b="1">
                <a:solidFill>
                  <a:srgbClr val="C9A227"/>
                </a:solidFill>
                <a:latin typeface="Calibri"/>
              </a:rPr>
              <a:t>●  </a:t>
            </a:r>
            <a:r>
              <a:rPr sz="1500" b="0">
                <a:solidFill>
                  <a:srgbClr val="1F2937"/>
                </a:solidFill>
                <a:latin typeface="Calibri"/>
              </a:rPr>
              <a:t>Aloqa kamayadi, yuqish xavfi pasayadi</a:t>
            </a:r>
          </a:p>
          <a:p>
            <a:pPr algn="l">
              <a:spcAft>
                <a:spcPts val="700"/>
              </a:spcAft>
            </a:pPr>
            <a:r>
              <a:rPr sz="1500" b="1">
                <a:solidFill>
                  <a:srgbClr val="C9A227"/>
                </a:solidFill>
                <a:latin typeface="Calibri"/>
              </a:rPr>
              <a:t>●  </a:t>
            </a:r>
            <a:r>
              <a:rPr sz="1500" b="0">
                <a:solidFill>
                  <a:srgbClr val="1F2937"/>
                </a:solidFill>
                <a:latin typeface="Calibri"/>
              </a:rPr>
              <a:t>Xuddi shunday rozilik talablari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Yuzma-yuz va teletibbiyot</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teletibbiyot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uzoq hududdagi bemorga shifokor videokonsultatsiya taklif qiladi, ammo bemorda internet yoki smartfon yo‘q.</a:t>
            </a:r>
          </a:p>
          <a:p>
            <a:pPr>
              <a:spcAft>
                <a:spcPts val="1200"/>
              </a:spcAft>
            </a:pPr>
            <a:r>
              <a:rPr sz="2200">
                <a:solidFill>
                  <a:srgbClr val="1F2937"/>
                </a:solidFill>
                <a:latin typeface="Calibri"/>
              </a:rPr>
              <a:t>▸  Adolat tamoyili teng kirishni va texnologiyani chetda qolgan jamoalarga adolatli taqsimlashni talab qiladi.</a:t>
            </a:r>
          </a:p>
          <a:p>
            <a:pPr>
              <a:spcAft>
                <a:spcPts val="1200"/>
              </a:spcAft>
            </a:pPr>
            <a:r>
              <a:rPr sz="2200">
                <a:solidFill>
                  <a:srgbClr val="1F2937"/>
                </a:solidFill>
                <a:latin typeface="Calibri"/>
              </a:rPr>
              <a:t>▸  Bemor jamoat yoki yarim jamoat joyidan ulansa, bu rozilik yoki shoshilinch holatsiz tavsiya etilmaydi; shifokor ham xususiy joyda bo‘lishi kerak.</a:t>
            </a:r>
          </a:p>
          <a:p>
            <a:pPr>
              <a:spcAft>
                <a:spcPts val="1200"/>
              </a:spcAft>
            </a:pPr>
            <a:r>
              <a:rPr sz="2200">
                <a:solidFill>
                  <a:srgbClr val="1F2937"/>
                </a:solidFill>
                <a:latin typeface="Calibri"/>
              </a:rPr>
              <a:t>▸  Savol: bu holatda qaysi tamoyillar xavf ostida va rozilik qanday olinib, qayerda qayd etilishi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teletibbiyot etikasi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(rozilik): og‘zaki rozilik yetarlimi? Javob: ha, u tibbiy yozuvda qayd etilsa; imzolangan blankani kutish shart emas.</a:t>
            </a:r>
          </a:p>
          <a:p>
            <a:pPr>
              <a:spcAft>
                <a:spcPts val="1200"/>
              </a:spcAft>
            </a:pPr>
            <a:r>
              <a:rPr sz="2200">
                <a:solidFill>
                  <a:srgbClr val="1F2937"/>
                </a:solidFill>
                <a:latin typeface="Calibri"/>
              </a:rPr>
              <a:t>▸  2-savol (maxfiylik): qayerdan ulanish kerak? Javob: shifokor ham, bemor ham xususiy joyda bo‘lishi kerak; jamoat joyi odatda mumkin emas.</a:t>
            </a:r>
          </a:p>
          <a:p>
            <a:pPr>
              <a:spcAft>
                <a:spcPts val="1200"/>
              </a:spcAft>
            </a:pPr>
            <a:r>
              <a:rPr sz="2200">
                <a:solidFill>
                  <a:srgbClr val="1F2937"/>
                </a:solidFill>
                <a:latin typeface="Calibri"/>
              </a:rPr>
              <a:t>▸  3-savol (adolat): internetsiz bemorlarda nima muhim? Javob: texnologiyaga teng kirish va uning chetda qolgan jamoalarga adolatli taqsimlanishi.</a:t>
            </a:r>
          </a:p>
          <a:p>
            <a:pPr>
              <a:spcAft>
                <a:spcPts val="1200"/>
              </a:spcAft>
            </a:pPr>
            <a:r>
              <a:rPr sz="2200">
                <a:solidFill>
                  <a:srgbClr val="1F2937"/>
                </a:solidFill>
                <a:latin typeface="Calibri"/>
              </a:rPr>
              <a:t>▸  4-savol (mas’uliyat): qaysi jihatlar noaniq? Javob: litsenziya, akkreditatsiya, virtual retsept, qoplash va javobgarlik qoidalari mamlakatlarda turlicha.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Katta ma‘lumotlar nima: uch ‘V’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Hajm (volume): ma‘lumot miqdori — qancha odam va har biri haqida qanchalik batafsil ma‘lumot bor.</a:t>
            </a:r>
          </a:p>
          <a:p>
            <a:pPr>
              <a:spcAft>
                <a:spcPts val="800"/>
              </a:spcAft>
            </a:pPr>
            <a:r>
              <a:rPr sz="1800">
                <a:solidFill>
                  <a:srgbClr val="1F2937"/>
                </a:solidFill>
                <a:latin typeface="Calibri"/>
              </a:rPr>
              <a:t>▸  Xilma-xillik (variety): ma‘lumot shakllari (tuzilgan, tuzilmagan, rasm, audio) va manbalari turlicha.</a:t>
            </a:r>
          </a:p>
          <a:p>
            <a:pPr>
              <a:spcAft>
                <a:spcPts val="800"/>
              </a:spcAft>
            </a:pPr>
            <a:r>
              <a:rPr sz="1800">
                <a:solidFill>
                  <a:srgbClr val="1F2937"/>
                </a:solidFill>
                <a:latin typeface="Calibri"/>
              </a:rPr>
              <a:t>▸  Tezlik (velocity): ma‘lumotni juda tez uzatish va tahlil qilish imkoniyati.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Katta ma’lumotlar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Hajm (volume)</a:t>
            </a:r>
          </a:p>
          <a:p>
            <a:pPr algn="l">
              <a:spcAft>
                <a:spcPts val="0"/>
              </a:spcAft>
            </a:pPr>
            <a:r>
              <a:rPr sz="1200" b="0">
                <a:solidFill>
                  <a:srgbClr val="1F2937"/>
                </a:solidFill>
                <a:latin typeface="Calibri"/>
              </a:rPr>
              <a:t>Qancha odam  ·  Har biri haqida qanchalik batafsil</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Xilma-xillik (variety)</a:t>
            </a:r>
          </a:p>
          <a:p>
            <a:pPr algn="l">
              <a:spcAft>
                <a:spcPts val="0"/>
              </a:spcAft>
            </a:pPr>
            <a:r>
              <a:rPr sz="1200" b="0">
                <a:solidFill>
                  <a:srgbClr val="1F2937"/>
                </a:solidFill>
                <a:latin typeface="Calibri"/>
              </a:rPr>
              <a:t>Tuzilgan, tuzilmagan  ·  Rasm, audio</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Tezlik (velocity)</a:t>
            </a:r>
          </a:p>
          <a:p>
            <a:pPr algn="l">
              <a:spcAft>
                <a:spcPts val="0"/>
              </a:spcAft>
            </a:pPr>
            <a:r>
              <a:rPr sz="1200" b="0">
                <a:solidFill>
                  <a:srgbClr val="1F2937"/>
                </a:solidFill>
                <a:latin typeface="Calibri"/>
              </a:rPr>
              <a:t>Tez uzatish va tahlil</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Katta ma’lumotlar: uch «V»</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3V dan 7V gacha: xususiyatlar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Katta ma‘lumotning ta’riflari turlicha; xususiyatlar ro‘yxati 3V dan 7V gacha kengayadi.</a:t>
            </a:r>
          </a:p>
          <a:p>
            <a:pPr>
              <a:spcAft>
                <a:spcPts val="800"/>
              </a:spcAft>
            </a:pPr>
            <a:r>
              <a:rPr sz="1800">
                <a:solidFill>
                  <a:srgbClr val="1F2937"/>
                </a:solidFill>
                <a:latin typeface="Calibri"/>
              </a:rPr>
              <a:t>▸  Mualliflar o‘z ta’rifini bermaydi; hamma e’tirof etgan hajm, xilma-xillik va tezlikka tayanadi.</a:t>
            </a:r>
          </a:p>
          <a:p>
            <a:pPr>
              <a:spcAft>
                <a:spcPts val="800"/>
              </a:spcAft>
            </a:pPr>
            <a:r>
              <a:rPr sz="1800">
                <a:solidFill>
                  <a:srgbClr val="1F2937"/>
                </a:solidFill>
                <a:latin typeface="Calibri"/>
              </a:rPr>
              <a:t>▸  Bu xususiyatlar murakkablikni ko‘rsatadi va sog‘liqni saqlashda alohida axloqiy muammolar tug‘diradi.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Katta ma’lumot modellari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3V</a:t>
            </a:r>
          </a:p>
          <a:p>
            <a:pPr algn="l">
              <a:spcAft>
                <a:spcPts val="0"/>
              </a:spcAft>
            </a:pPr>
            <a:r>
              <a:rPr sz="1200" b="0">
                <a:solidFill>
                  <a:srgbClr val="1F2937"/>
                </a:solidFill>
                <a:latin typeface="Calibri"/>
              </a:rPr>
              <a:t>Hajm, xilma-xillik, tezlik</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4V</a:t>
            </a:r>
          </a:p>
          <a:p>
            <a:pPr algn="l">
              <a:spcAft>
                <a:spcPts val="0"/>
              </a:spcAft>
            </a:pPr>
            <a:r>
              <a:rPr sz="1200" b="0">
                <a:solidFill>
                  <a:srgbClr val="1F2937"/>
                </a:solidFill>
                <a:latin typeface="Calibri"/>
              </a:rPr>
              <a:t>3V + o‘zgaruvchanlik (variability)</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6V</a:t>
            </a:r>
          </a:p>
          <a:p>
            <a:pPr algn="l">
              <a:spcAft>
                <a:spcPts val="0"/>
              </a:spcAft>
            </a:pPr>
            <a:r>
              <a:rPr sz="1200" b="0">
                <a:solidFill>
                  <a:srgbClr val="1F2937"/>
                </a:solidFill>
                <a:latin typeface="Calibri"/>
              </a:rPr>
              <a:t>4V + ishonchlilik (veracity)  ·  Qiymat (value)</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7V</a:t>
            </a:r>
          </a:p>
          <a:p>
            <a:pPr algn="l">
              <a:spcAft>
                <a:spcPts val="0"/>
              </a:spcAft>
            </a:pPr>
            <a:r>
              <a:rPr sz="1200" b="0">
                <a:solidFill>
                  <a:srgbClr val="1F2937"/>
                </a:solidFill>
                <a:latin typeface="Calibri"/>
              </a:rPr>
              <a:t>6V + vizuallashtirish</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3V dan 7V gacha</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Foydalar va uch xil muammo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Foydalar: yaxshiroq davolash, samaraliroq xizmat va sog‘liqni saqlash tashkilotlari uchun xarajat tejash.</a:t>
            </a:r>
          </a:p>
          <a:p>
            <a:pPr>
              <a:spcAft>
                <a:spcPts val="800"/>
              </a:spcAft>
            </a:pPr>
            <a:r>
              <a:rPr sz="1800">
                <a:solidFill>
                  <a:srgbClr val="1F2937"/>
                </a:solidFill>
                <a:latin typeface="Calibri"/>
              </a:rPr>
              <a:t>▸  Bevosita bemorga ta’sir qiladigan foyda — klinik qarorlarning sifati va aniqligi oshishi.</a:t>
            </a:r>
          </a:p>
          <a:p>
            <a:pPr>
              <a:spcAft>
                <a:spcPts val="800"/>
              </a:spcAft>
            </a:pPr>
            <a:r>
              <a:rPr sz="1800">
                <a:solidFill>
                  <a:srgbClr val="1F2937"/>
                </a:solidFill>
                <a:latin typeface="Calibri"/>
              </a:rPr>
              <a:t>▸  Muammolar uch xil: ma‘lumot, jarayon va boshqaruv; mualliflar asosan boshqaruv muammolariga e’tibor beradi.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Katta ma’lumot</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Foydalar</a:t>
            </a:r>
          </a:p>
          <a:p>
            <a:pPr algn="l">
              <a:spcAft>
                <a:spcPts val="0"/>
              </a:spcAft>
            </a:pPr>
            <a:r>
              <a:rPr sz="1200" b="0">
                <a:solidFill>
                  <a:srgbClr val="1F2937"/>
                </a:solidFill>
                <a:latin typeface="Calibri"/>
              </a:rPr>
              <a:t>Yaxshiroq davolash  ·  Samaraliroq xizmat, xarajat tejash</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Muammo: ma’lumot</a:t>
            </a:r>
          </a:p>
          <a:p>
            <a:pPr algn="l">
              <a:spcAft>
                <a:spcPts val="0"/>
              </a:spcAft>
            </a:pPr>
            <a:r>
              <a:rPr sz="1200" b="0">
                <a:solidFill>
                  <a:srgbClr val="1F2937"/>
                </a:solidFill>
                <a:latin typeface="Calibri"/>
              </a:rPr>
              <a:t>Xususiyatlari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Muammo: jarayon</a:t>
            </a:r>
          </a:p>
          <a:p>
            <a:pPr algn="l">
              <a:spcAft>
                <a:spcPts val="0"/>
              </a:spcAft>
            </a:pPr>
            <a:r>
              <a:rPr sz="1200" b="0">
                <a:solidFill>
                  <a:srgbClr val="1F2937"/>
                </a:solidFill>
                <a:latin typeface="Calibri"/>
              </a:rPr>
              <a:t>Yig‘ish, tahlil</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Muammo: boshqaruv</a:t>
            </a:r>
          </a:p>
          <a:p>
            <a:pPr algn="l">
              <a:spcAft>
                <a:spcPts val="0"/>
              </a:spcAft>
            </a:pPr>
            <a:r>
              <a:rPr sz="1200" b="0">
                <a:solidFill>
                  <a:srgbClr val="1F2937"/>
                </a:solidFill>
                <a:latin typeface="Calibri"/>
              </a:rPr>
              <a:t>Maxfiylik, egalik</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Foydalar va uch muammo</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Anonimlashtirish cheklovlari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Maskalash va deidentifikatsiya katta ma’lumotlarda ishonchli emas: qayta aniqlash xavfi oshadi.</a:t>
            </a:r>
          </a:p>
          <a:p>
            <a:pPr>
              <a:spcAft>
                <a:spcPts val="800"/>
              </a:spcAft>
            </a:pPr>
            <a:r>
              <a:rPr sz="1800">
                <a:solidFill>
                  <a:srgbClr val="1F2937"/>
                </a:solidFill>
                <a:latin typeface="Calibri"/>
              </a:rPr>
              <a:t>▸  Maxfiylik modellari dastlab statik to‘plamlar uchun ishlab chiqilgan, shuning uchun mukammal emas.</a:t>
            </a:r>
          </a:p>
          <a:p>
            <a:pPr>
              <a:spcAft>
                <a:spcPts val="800"/>
              </a:spcAft>
            </a:pPr>
            <a:r>
              <a:rPr sz="1800">
                <a:solidFill>
                  <a:srgbClr val="1F2937"/>
                </a:solidFill>
                <a:latin typeface="Calibri"/>
              </a:rPr>
              <a:t>▸  Oshkor bo‘lish xavfi faqat ma’lumot umuman ulashilmasa to‘liq yo‘qoladi.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Maxfiylik modeli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Bog‘lanuvchanlik</a:t>
            </a:r>
          </a:p>
          <a:p>
            <a:pPr algn="l">
              <a:spcAft>
                <a:spcPts val="0"/>
              </a:spcAft>
            </a:pPr>
            <a:r>
              <a:rPr sz="1200" b="0">
                <a:solidFill>
                  <a:srgbClr val="1F2937"/>
                </a:solidFill>
                <a:latin typeface="Calibri"/>
              </a:rPr>
              <a:t>Anonim ma’lumot bog‘lanuvchan qoladi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Kompozitsiyalik</a:t>
            </a:r>
          </a:p>
          <a:p>
            <a:pPr algn="l">
              <a:spcAft>
                <a:spcPts val="0"/>
              </a:spcAft>
            </a:pPr>
            <a:r>
              <a:rPr sz="1200" b="0">
                <a:solidFill>
                  <a:srgbClr val="1F2937"/>
                </a:solidFill>
                <a:latin typeface="Calibri"/>
              </a:rPr>
              <a:t>Ko‘p manba birlashsa ham himoya kafolati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Kam hisoblash</a:t>
            </a:r>
          </a:p>
          <a:p>
            <a:pPr algn="l">
              <a:spcAft>
                <a:spcPts val="0"/>
              </a:spcAft>
            </a:pPr>
            <a:r>
              <a:rPr sz="1200" b="0">
                <a:solidFill>
                  <a:srgbClr val="1F2937"/>
                </a:solidFill>
                <a:latin typeface="Calibri"/>
              </a:rPr>
              <a:t>Kam vaqt va xotira</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Maxfiylik modeli xususiyatlari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Oshkor bo‘lish xavfi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Maskalangan ma’lumotda ham uch xil oshkor bo‘lish xavfi qayta aniqlashga olib kelishi mumkin.</a:t>
            </a:r>
          </a:p>
          <a:p>
            <a:pPr>
              <a:spcAft>
                <a:spcPts val="800"/>
              </a:spcAft>
            </a:pPr>
            <a:r>
              <a:rPr sz="1800">
                <a:solidFill>
                  <a:srgbClr val="1F2937"/>
                </a:solidFill>
                <a:latin typeface="Calibri"/>
              </a:rPr>
              <a:t>▸  Xulosaviy oshkorlikda ma’lumot aytilmaydi, lekin chiqarilgan ma’lumotdan yuqori ishonch bilan taxmin qilinadi.</a:t>
            </a:r>
          </a:p>
          <a:p>
            <a:pPr>
              <a:spcAft>
                <a:spcPts val="800"/>
              </a:spcAft>
            </a:pPr>
            <a:r>
              <a:rPr sz="1800">
                <a:solidFill>
                  <a:srgbClr val="1F2937"/>
                </a:solidFill>
                <a:latin typeface="Calibri"/>
              </a:rPr>
              <a:t>▸  Diqqat: identifikatsion ≠ atributiv — birida shaxs aniqlanadi, ikkinchisida guruh a’zoligi oshkor bo‘ladi.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Oshkor bo‘lish xavfi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Identifikatsion</a:t>
            </a:r>
          </a:p>
          <a:p>
            <a:pPr algn="l">
              <a:spcAft>
                <a:spcPts val="0"/>
              </a:spcAft>
            </a:pPr>
            <a:r>
              <a:rPr sz="1200" b="0">
                <a:solidFill>
                  <a:srgbClr val="1F2937"/>
                </a:solidFill>
                <a:latin typeface="Calibri"/>
              </a:rPr>
              <a:t>Ma’lumot X shaxsga bog‘lanadi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Atributiv</a:t>
            </a:r>
          </a:p>
          <a:p>
            <a:pPr algn="l">
              <a:spcAft>
                <a:spcPts val="0"/>
              </a:spcAft>
            </a:pPr>
            <a:r>
              <a:rPr sz="1200" b="0">
                <a:solidFill>
                  <a:srgbClr val="1F2937"/>
                </a:solidFill>
                <a:latin typeface="Calibri"/>
              </a:rPr>
              <a:t>X guruh a’zosi ekani oshkor bo‘ladi  ·  Saraton registri a’zoligi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Xulosaviy</a:t>
            </a:r>
          </a:p>
          <a:p>
            <a:pPr algn="l">
              <a:spcAft>
                <a:spcPts val="0"/>
              </a:spcAft>
            </a:pPr>
            <a:r>
              <a:rPr sz="1200" b="0">
                <a:solidFill>
                  <a:srgbClr val="1F2937"/>
                </a:solidFill>
                <a:latin typeface="Calibri"/>
              </a:rPr>
              <a:t>X haqida yuqori ishonch bilan taxmin</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Uch turdagi oshkorlik</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Rozilik rolining pasayishi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Xabardor rozilik uzoq vaqt tadqiqotga kiritishning asosiy talabi bo‘lgan: shaxs ishtirok xavfini o‘z zimmasiga olishga rozilik beradi.</a:t>
            </a:r>
          </a:p>
          <a:p>
            <a:pPr>
              <a:spcAft>
                <a:spcPts val="800"/>
              </a:spcAft>
            </a:pPr>
            <a:r>
              <a:rPr sz="1600">
                <a:solidFill>
                  <a:srgbClr val="1F2937"/>
                </a:solidFill>
                <a:latin typeface="Calibri"/>
              </a:rPr>
              <a:t>▸  Katta ma’lumotlarda rozilikka tayanish qiyinlashadi: ma’lumot dastlabki manbadan uzoq tizimlarda bog‘lanib ishlatilishi mumkin.</a:t>
            </a:r>
          </a:p>
          <a:p>
            <a:pPr>
              <a:spcAft>
                <a:spcPts val="800"/>
              </a:spcAft>
            </a:pPr>
            <a:r>
              <a:rPr sz="1600">
                <a:solidFill>
                  <a:srgbClr val="1F2937"/>
                </a:solidFill>
                <a:latin typeface="Calibri"/>
              </a:rPr>
              <a:t>▸  Shaxsga qayta murojaat qilish mumkin bo‘lsa ham, ma’lumot turli foydalanuvchilar qo‘lida qanday ishlatilishini to‘liq tushuntirib bo‘lmaydi.</a:t>
            </a:r>
          </a:p>
          <a:p>
            <a:pPr>
              <a:spcAft>
                <a:spcPts val="800"/>
              </a:spcAft>
            </a:pPr>
            <a:r>
              <a:rPr sz="1600">
                <a:solidFill>
                  <a:srgbClr val="1F2937"/>
                </a:solidFill>
                <a:latin typeface="Calibri"/>
              </a:rPr>
              <a:t>▸  Ishtirokchilar ko‘pligi, mablag‘ va muddat cheklovlari qayta bog‘lanishni ham qiyinlashtiradi, shuning uchun muqobil himoya mexanizmlari kerak.</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Rozilik va big data</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Eski talab</a:t>
            </a:r>
          </a:p>
          <a:p>
            <a:pPr algn="l">
              <a:spcAft>
                <a:spcPts val="0"/>
              </a:spcAft>
            </a:pPr>
            <a:r>
              <a:rPr sz="1200" b="0">
                <a:solidFill>
                  <a:srgbClr val="1F2937"/>
                </a:solidFill>
                <a:latin typeface="Calibri"/>
              </a:rPr>
              <a:t>Xavfni zimmaga olishga rozilik</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Muammo</a:t>
            </a:r>
          </a:p>
          <a:p>
            <a:pPr algn="l">
              <a:spcAft>
                <a:spcPts val="0"/>
              </a:spcAft>
            </a:pPr>
            <a:r>
              <a:rPr sz="1200" b="0">
                <a:solidFill>
                  <a:srgbClr val="1F2937"/>
                </a:solidFill>
                <a:latin typeface="Calibri"/>
              </a:rPr>
              <a:t>Ma’lumot uzoq tizimlarda ishlatiladi  ·  Barcha foydalanish tushuntirilmaydi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Cheklovlar</a:t>
            </a:r>
          </a:p>
          <a:p>
            <a:pPr algn="l">
              <a:spcAft>
                <a:spcPts val="0"/>
              </a:spcAft>
            </a:pPr>
            <a:r>
              <a:rPr sz="1200" b="0">
                <a:solidFill>
                  <a:srgbClr val="1F2937"/>
                </a:solidFill>
                <a:latin typeface="Calibri"/>
              </a:rPr>
              <a:t>Ishtirokchilar ko‘p  ·  Mablag‘ va muddat cheklangan</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Yechim</a:t>
            </a:r>
          </a:p>
          <a:p>
            <a:pPr algn="l">
              <a:spcAft>
                <a:spcPts val="0"/>
              </a:spcAft>
            </a:pPr>
            <a:r>
              <a:rPr sz="1200" b="0">
                <a:solidFill>
                  <a:srgbClr val="1F2937"/>
                </a:solidFill>
                <a:latin typeface="Calibri"/>
              </a:rPr>
              <a:t>Muqobil himoya mexanizmlari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Rozilik rolining pasayishi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katta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Faraz qilaylik, tadqiqotchilar saraton reyestridagi anonimlashtirilgan yozuvlarni boshqa manbalar bilan birlashtirmoqchi.</a:t>
            </a:r>
          </a:p>
          <a:p>
            <a:pPr>
              <a:spcAft>
                <a:spcPts val="1200"/>
              </a:spcAft>
            </a:pPr>
            <a:r>
              <a:rPr sz="2200">
                <a:solidFill>
                  <a:srgbClr val="1F2937"/>
                </a:solidFill>
                <a:latin typeface="Calibri"/>
              </a:rPr>
              <a:t>▸  Ma’lumotlar bog‘lansa, yashirilgan shaxs qayta aniqlanishi mumkin. Reyestrga a’zolikning o‘zi ham oshkor bo‘ladi (atribut oshkorligi).</a:t>
            </a:r>
          </a:p>
          <a:p>
            <a:pPr>
              <a:spcAft>
                <a:spcPts val="1200"/>
              </a:spcAft>
            </a:pPr>
            <a:r>
              <a:rPr sz="2200">
                <a:solidFill>
                  <a:srgbClr val="1F2937"/>
                </a:solidFill>
                <a:latin typeface="Calibri"/>
              </a:rPr>
              <a:t>▸  Ma’lumot asl manbadan uzoq tizimlarda ishlatiladi. Bemorni qayta topish mumkin bo‘lsa ham, barcha foydalanishlar haqida to‘liq xabar berish qiyin.</a:t>
            </a:r>
          </a:p>
          <a:p>
            <a:pPr>
              <a:spcAft>
                <a:spcPts val="1200"/>
              </a:spcAft>
            </a:pPr>
            <a:r>
              <a:rPr sz="2200">
                <a:solidFill>
                  <a:srgbClr val="1F2937"/>
                </a:solidFill>
                <a:latin typeface="Calibri"/>
              </a:rPr>
              <a:t>▸  Savol: qaysi qadriyatlar to‘qnashadi (masalan, jamoat manfaati va maxfiylik)? Rozilikdan tashqari qanday himoya mexanizmi o‘ylab topish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katta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katta ma’lumotlarning uchta asosiy xususiyati (3V) qaysilar? Javob: hajm (volume), xilma-xillik (variety) va tezlik (velocity).</a:t>
            </a:r>
          </a:p>
          <a:p>
            <a:pPr>
              <a:spcAft>
                <a:spcPts val="1200"/>
              </a:spcAft>
            </a:pPr>
            <a:r>
              <a:rPr sz="2200">
                <a:solidFill>
                  <a:srgbClr val="1F2937"/>
                </a:solidFill>
                <a:latin typeface="Calibri"/>
              </a:rPr>
              <a:t>▸  2-savol: maskalashga qaramay qayta aniqlashning uch xavfi qaysi? Javob: shaxsni aniqlash, atribut (guruh a’zoligi) va xulosa chiqarish orqali oshkor bo‘lish.</a:t>
            </a:r>
          </a:p>
          <a:p>
            <a:pPr>
              <a:spcAft>
                <a:spcPts val="1200"/>
              </a:spcAft>
            </a:pPr>
            <a:r>
              <a:rPr sz="2200">
                <a:solidFill>
                  <a:srgbClr val="1F2937"/>
                </a:solidFill>
                <a:latin typeface="Calibri"/>
              </a:rPr>
              <a:t>▸  3-savol: nega rozilikka tayanish qiyinlashmoqda? Javob: ma’lumot ko‘plab tizimlarda ishlatiladi, ishtirokchilar soni katta, mablag‘ va muddat cheklangan.</a:t>
            </a:r>
          </a:p>
          <a:p>
            <a:pPr>
              <a:spcAft>
                <a:spcPts val="1200"/>
              </a:spcAft>
            </a:pPr>
            <a:r>
              <a:rPr sz="2200">
                <a:solidFill>
                  <a:srgbClr val="1F2937"/>
                </a:solidFill>
                <a:latin typeface="Calibri"/>
              </a:rPr>
              <a:t>▸  Diqqat: xato qilish xavfi. Xavfni butunlay yo‘qotish faqat ma’lumot umuman almashilmasa mumkin; maxfiylik modellari ham mukammal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Etik qaror qabul qilish doirasi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Doira tayyor javob bermaydi. U qadriyatlarni ochiq ko‘rsatib, masala ustida o‘ylashga va javobga kelishga yordam beruvchi vositadir.</a:t>
            </a:r>
          </a:p>
          <a:p>
            <a:pPr>
              <a:spcAft>
                <a:spcPts val="800"/>
              </a:spcAft>
            </a:pPr>
            <a:r>
              <a:rPr sz="1600">
                <a:solidFill>
                  <a:srgbClr val="1F2937"/>
                </a:solidFill>
                <a:latin typeface="Calibri"/>
              </a:rPr>
              <a:t>▸  Doira nazariya ham, murakkab masalani soddalashtiruvchi model ham emas. U nazariyalar bilan bog‘lanishi mumkin, lekin real dilemmalarga qaratilgan.</a:t>
            </a:r>
          </a:p>
          <a:p>
            <a:pPr>
              <a:spcAft>
                <a:spcPts val="800"/>
              </a:spcAft>
            </a:pPr>
            <a:r>
              <a:rPr sz="1600">
                <a:solidFill>
                  <a:srgbClr val="1F2937"/>
                </a:solidFill>
                <a:latin typeface="Calibri"/>
              </a:rPr>
              <a:t>▸  Yaxshi doira: maqsadi aniq, amaliy, qadriyatlar ochiq (boshida teng vaznli), moslashuvchan va tuzilgan savollar orqali nimani ko‘rish kerakligini ko‘rsatadi.</a:t>
            </a:r>
          </a:p>
          <a:p>
            <a:pPr>
              <a:spcAft>
                <a:spcPts val="800"/>
              </a:spcAft>
            </a:pPr>
            <a:r>
              <a:rPr sz="1600">
                <a:solidFill>
                  <a:srgbClr val="1F2937"/>
                </a:solidFill>
                <a:latin typeface="Calibri"/>
              </a:rPr>
              <a:t>▸  Auditoriya: biotibbiyot tadqiqotchilari, siyosatchilar va etika qo‘mitalari, ma’lumot nazoratchilari; shuningdek bemorlar va qiziquvchilar.</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Etik doira</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Mohiyati</a:t>
            </a:r>
          </a:p>
          <a:p>
            <a:pPr algn="l">
              <a:spcAft>
                <a:spcPts val="0"/>
              </a:spcAft>
            </a:pPr>
            <a:r>
              <a:rPr sz="1200" b="0">
                <a:solidFill>
                  <a:srgbClr val="1F2937"/>
                </a:solidFill>
                <a:latin typeface="Calibri"/>
              </a:rPr>
              <a:t>Tayyor javob bermaydi  ·  Qadriyatlarni ochiq ko‘rsatadi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Emas</a:t>
            </a:r>
          </a:p>
          <a:p>
            <a:pPr algn="l">
              <a:spcAft>
                <a:spcPts val="0"/>
              </a:spcAft>
            </a:pPr>
            <a:r>
              <a:rPr sz="1200" b="0">
                <a:solidFill>
                  <a:srgbClr val="1F2937"/>
                </a:solidFill>
                <a:latin typeface="Calibri"/>
              </a:rPr>
              <a:t>Nazariya emas  ·  Soddalashtiruvchi model emas</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Yaxshi doira</a:t>
            </a:r>
          </a:p>
          <a:p>
            <a:pPr algn="l">
              <a:spcAft>
                <a:spcPts val="0"/>
              </a:spcAft>
            </a:pPr>
            <a:r>
              <a:rPr sz="1200" b="0">
                <a:solidFill>
                  <a:srgbClr val="1F2937"/>
                </a:solidFill>
                <a:latin typeface="Calibri"/>
              </a:rPr>
              <a:t>Maqsadi aniq, amaliy  ·  Qadriyatlar ochiq, moslashuvchan</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Auditoriya</a:t>
            </a:r>
          </a:p>
          <a:p>
            <a:pPr algn="l">
              <a:spcAft>
                <a:spcPts val="0"/>
              </a:spcAft>
            </a:pPr>
            <a:r>
              <a:rPr sz="1200" b="0">
                <a:solidFill>
                  <a:srgbClr val="1F2937"/>
                </a:solidFill>
                <a:latin typeface="Calibri"/>
              </a:rPr>
              <a:t>Tadqiqotchi, siyosatchi  ·  Etika qo‘mitasi, nazoratchi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Etik qaror qabul qilish doirasi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Hurmat va ijtimoiy litsenziya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Shaxsga hurmat — boshqalarga bo‘lgan axloqiy munosabat. U ko‘pincha muloqotda ko‘rinadi.</a:t>
            </a:r>
          </a:p>
          <a:p>
            <a:pPr>
              <a:spcAft>
                <a:spcPts val="800"/>
              </a:spcAft>
            </a:pPr>
            <a:r>
              <a:rPr sz="1800">
                <a:solidFill>
                  <a:srgbClr val="1F2937"/>
                </a:solidFill>
                <a:latin typeface="Calibri"/>
              </a:rPr>
              <a:t>▸  Ochiq, tushunarli axborot va jamoatchilik fikrini tinglash ishonchni mustahkamlaydi.</a:t>
            </a:r>
          </a:p>
          <a:p>
            <a:pPr>
              <a:spcAft>
                <a:spcPts val="800"/>
              </a:spcAft>
            </a:pPr>
            <a:r>
              <a:rPr sz="1800">
                <a:solidFill>
                  <a:srgbClr val="1F2937"/>
                </a:solidFill>
                <a:latin typeface="Calibri"/>
              </a:rPr>
              <a:t>▸  Ijtimoiy litsenziya — keng ta’sirli faoliyat qonuniyligiga nisbatan jamoatchilikning ijobiy kutishi.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Muloqot</a:t>
            </a:r>
          </a:p>
          <a:p>
            <a:pPr algn="l">
              <a:spcAft>
                <a:spcPts val="200"/>
              </a:spcAft>
            </a:pPr>
            <a:r>
              <a:rPr sz="1400" b="0">
                <a:solidFill>
                  <a:srgbClr val="1F2937"/>
                </a:solidFill>
                <a:latin typeface="Calibri"/>
              </a:rPr>
              <a:t>Ochiq muloqot</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Tinglash</a:t>
            </a:r>
          </a:p>
          <a:p>
            <a:pPr algn="l">
              <a:spcAft>
                <a:spcPts val="200"/>
              </a:spcAft>
            </a:pPr>
            <a:r>
              <a:rPr sz="1400" b="0">
                <a:solidFill>
                  <a:srgbClr val="1F2937"/>
                </a:solidFill>
                <a:latin typeface="Calibri"/>
              </a:rPr>
              <a:t>Jamoatchilik fikri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Ishonch</a:t>
            </a:r>
          </a:p>
          <a:p>
            <a:pPr algn="l">
              <a:spcAft>
                <a:spcPts val="200"/>
              </a:spcAft>
            </a:pPr>
            <a:r>
              <a:rPr sz="1400" b="0">
                <a:solidFill>
                  <a:srgbClr val="1F2937"/>
                </a:solidFill>
                <a:latin typeface="Calibri"/>
              </a:rPr>
              <a:t>Mustahkamlanadi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Litsenziya</a:t>
            </a:r>
          </a:p>
          <a:p>
            <a:pPr algn="l">
              <a:spcAft>
                <a:spcPts val="200"/>
              </a:spcAft>
            </a:pPr>
            <a:r>
              <a:rPr sz="1400" b="0">
                <a:solidFill>
                  <a:srgbClr val="1F2937"/>
                </a:solidFill>
                <a:latin typeface="Calibri"/>
              </a:rPr>
              <a:t>Ijtimoiy litsenziya</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Davom</a:t>
            </a:r>
          </a:p>
          <a:p>
            <a:pPr algn="l">
              <a:spcAft>
                <a:spcPts val="200"/>
              </a:spcAft>
            </a:pPr>
            <a:r>
              <a:rPr sz="1400" b="0">
                <a:solidFill>
                  <a:srgbClr val="1F2937"/>
                </a:solidFill>
                <a:latin typeface="Calibri"/>
              </a:rPr>
              <a:t>Muloqot davom etadi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Hurmatdan litsenziyagacha</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Zaiflik va kuch munosabatlari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Zaiflik — zarar yoki haqsizlikka moyillik. U ko‘pincha kontekstga bog‘liq.</a:t>
            </a:r>
          </a:p>
          <a:p>
            <a:pPr>
              <a:spcAft>
                <a:spcPts val="800"/>
              </a:spcAft>
            </a:pPr>
            <a:r>
              <a:rPr sz="1800">
                <a:solidFill>
                  <a:srgbClr val="1F2937"/>
                </a:solidFill>
                <a:latin typeface="Calibri"/>
              </a:rPr>
              <a:t>▸  Bir vaziyatda zaif odam boshqasida zaif bo‘lmasligi mumkin; vaziyat o‘zgarsa, holat ham o‘zgaradi.</a:t>
            </a:r>
          </a:p>
          <a:p>
            <a:pPr>
              <a:spcAft>
                <a:spcPts val="800"/>
              </a:spcAft>
            </a:pPr>
            <a:r>
              <a:rPr sz="1800">
                <a:solidFill>
                  <a:srgbClr val="1F2937"/>
                </a:solidFill>
                <a:latin typeface="Calibri"/>
              </a:rPr>
              <a:t>▸  Diqqat: zaif shaxs ≠ zaiflashtiruvchi vaziyat. Muammo ko‘pincha odamda emas, vaziyatda.</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Zaiflik</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Tug‘ma</a:t>
            </a:r>
          </a:p>
          <a:p>
            <a:pPr algn="l">
              <a:spcAft>
                <a:spcPts val="0"/>
              </a:spcAft>
            </a:pPr>
            <a:r>
              <a:rPr sz="1200" b="0">
                <a:solidFill>
                  <a:srgbClr val="1F2937"/>
                </a:solidFill>
                <a:latin typeface="Calibri"/>
              </a:rPr>
              <a:t>Har bir inson hayotiga xos  ·  Kasallikka moyillik</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Vaziyatga bog‘liq</a:t>
            </a:r>
          </a:p>
          <a:p>
            <a:pPr algn="l">
              <a:spcAft>
                <a:spcPts val="0"/>
              </a:spcAft>
            </a:pPr>
            <a:r>
              <a:rPr sz="1200" b="0">
                <a:solidFill>
                  <a:srgbClr val="1F2937"/>
                </a:solidFill>
                <a:latin typeface="Calibri"/>
              </a:rPr>
              <a:t>Axborot muhitidagi o‘rniga bog‘liq</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Patogen</a:t>
            </a:r>
          </a:p>
          <a:p>
            <a:pPr algn="l">
              <a:spcAft>
                <a:spcPts val="0"/>
              </a:spcAft>
            </a:pPr>
            <a:r>
              <a:rPr sz="1200" b="0">
                <a:solidFill>
                  <a:srgbClr val="1F2937"/>
                </a:solidFill>
                <a:latin typeface="Calibri"/>
              </a:rPr>
              <a:t>Zulm, adolatsizlikdan  ·  Yagona davo — tadqiqot: rozilik shubhali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Zaiflik turlari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Ma‘lumot tafovuti, guruh zarari, hamboshqaruv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Tafovut: bazani boshqaruvchi «saralovchilar» va faqat unda qayd etilgan «saralanuvchilar» o‘rtasida.</a:t>
            </a:r>
          </a:p>
          <a:p>
            <a:pPr>
              <a:spcAft>
                <a:spcPts val="800"/>
              </a:spcAft>
            </a:pPr>
            <a:r>
              <a:rPr sz="1800">
                <a:solidFill>
                  <a:srgbClr val="1F2937"/>
                </a:solidFill>
                <a:latin typeface="Calibri"/>
              </a:rPr>
              <a:t>▸  Guruh zarari jamoaning umumiy manfaatiga tegadi; har bir a’zo zarar ko‘rishi shart emas.</a:t>
            </a:r>
          </a:p>
          <a:p>
            <a:pPr>
              <a:spcAft>
                <a:spcPts val="800"/>
              </a:spcAft>
            </a:pPr>
            <a:r>
              <a:rPr sz="1800">
                <a:solidFill>
                  <a:srgbClr val="1F2937"/>
                </a:solidFill>
                <a:latin typeface="Calibri"/>
              </a:rPr>
              <a:t>▸  Hamboshqaruv hammaga so‘z beradi, lekin katta guruhda amalga oshmaydi va nizolarni hal qilmaydi.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Uch tushuncha</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Ma’lumot tafovuti</a:t>
            </a:r>
          </a:p>
          <a:p>
            <a:pPr algn="l">
              <a:spcAft>
                <a:spcPts val="0"/>
              </a:spcAft>
            </a:pPr>
            <a:r>
              <a:rPr sz="1200" b="0">
                <a:solidFill>
                  <a:srgbClr val="1F2937"/>
                </a:solidFill>
                <a:latin typeface="Calibri"/>
              </a:rPr>
              <a:t>Foyda notekis taqsimlanadi  ·  Yechim: adolat, hamjihatlik</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Guruh zarari</a:t>
            </a:r>
          </a:p>
          <a:p>
            <a:pPr algn="l">
              <a:spcAft>
                <a:spcPts val="0"/>
              </a:spcAft>
            </a:pPr>
            <a:r>
              <a:rPr sz="1200" b="0">
                <a:solidFill>
                  <a:srgbClr val="1F2937"/>
                </a:solidFill>
                <a:latin typeface="Calibri"/>
              </a:rPr>
              <a:t>Jamoa manfaatiga zarar  ·  Yechim: ehtiyotkor yondashuv</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Hamboshqaruv</a:t>
            </a:r>
          </a:p>
          <a:p>
            <a:pPr algn="l">
              <a:spcAft>
                <a:spcPts val="0"/>
              </a:spcAft>
            </a:pPr>
            <a:r>
              <a:rPr sz="1200" b="0">
                <a:solidFill>
                  <a:srgbClr val="1F2937"/>
                </a:solidFill>
                <a:latin typeface="Calibri"/>
              </a:rPr>
              <a:t>Barcha manfaatdorlar qarorda  ·  Yechim: shaffoflik, hisobdorlik</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Tafovut, guruh zarari, hamboshqaruv</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16 etik qadriyat: mazmuniy va protsessual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Ishchi guruh big data uchun 16 ta etik qadriyatni ajratdi: 9 tasi mazmuniy, 7 tasi protsessual.</a:t>
            </a:r>
          </a:p>
          <a:p>
            <a:pPr>
              <a:spcAft>
                <a:spcPts val="800"/>
              </a:spcAft>
            </a:pPr>
            <a:r>
              <a:rPr sz="1800">
                <a:solidFill>
                  <a:srgbClr val="1F2937"/>
                </a:solidFill>
                <a:latin typeface="Calibri"/>
              </a:rPr>
              <a:t>▸  Mazmuniy qadriyatlar qaror natijasida amalga oshishi kerak bo‘lgan jihatlardir.</a:t>
            </a:r>
          </a:p>
          <a:p>
            <a:pPr>
              <a:spcAft>
                <a:spcPts val="800"/>
              </a:spcAft>
            </a:pPr>
            <a:r>
              <a:rPr sz="1800">
                <a:solidFill>
                  <a:srgbClr val="1F2937"/>
                </a:solidFill>
                <a:latin typeface="Calibri"/>
              </a:rPr>
              <a:t>▸  Protsessual qadriyatlar muhokama va qaror qabul qilish jarayonining o‘zini yo‘naltiradi.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Mazmuniy (9 ta)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Adolat: foyda va yuk taqsimoti</a:t>
            </a:r>
          </a:p>
          <a:p>
            <a:pPr algn="l">
              <a:spcAft>
                <a:spcPts val="700"/>
              </a:spcAft>
            </a:pPr>
            <a:r>
              <a:rPr sz="1500" b="1">
                <a:solidFill>
                  <a:srgbClr val="C9A227"/>
                </a:solidFill>
                <a:latin typeface="Calibri"/>
              </a:rPr>
              <a:t>●  </a:t>
            </a:r>
            <a:r>
              <a:rPr sz="1500" b="0">
                <a:solidFill>
                  <a:srgbClr val="1F2937"/>
                </a:solidFill>
                <a:latin typeface="Calibri"/>
              </a:rPr>
              <a:t>Privatlik: axborotga kirishni nazorat qilish</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Protsessual (7 ta)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Shaffoflik: qarorlar ochiq</a:t>
            </a:r>
          </a:p>
          <a:p>
            <a:pPr algn="l">
              <a:spcAft>
                <a:spcPts val="700"/>
              </a:spcAft>
            </a:pPr>
            <a:r>
              <a:rPr sz="1500" b="1">
                <a:solidFill>
                  <a:srgbClr val="C9A227"/>
                </a:solidFill>
                <a:latin typeface="Calibri"/>
              </a:rPr>
              <a:t>●  </a:t>
            </a:r>
            <a:r>
              <a:rPr sz="1500" b="0">
                <a:solidFill>
                  <a:srgbClr val="1F2937"/>
                </a:solidFill>
                <a:latin typeface="Calibri"/>
              </a:rPr>
              <a:t>Hisobdorlik: javobgar bo‘la olish</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16 etik qadriyat</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Qadriyatlar to‘qnashuvi va muvozanat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Barcha qadriyatni bir vaqtda qondirish odatda mumkin emas. Masalan, ma’lumot almashish ommaviy foydaga xizmat qilsa-da, privatlikka putur yetkazishi mumkin.</a:t>
            </a:r>
          </a:p>
          <a:p>
            <a:pPr>
              <a:spcAft>
                <a:spcPts val="800"/>
              </a:spcAft>
            </a:pPr>
            <a:r>
              <a:rPr sz="1800">
                <a:solidFill>
                  <a:srgbClr val="1F2937"/>
                </a:solidFill>
                <a:latin typeface="Calibri"/>
              </a:rPr>
              <a:t>▸  Qaysi qadriyat ustun turishini qaror qabul qiluvchi o‘zi baholaydi. Framework ustuvorlik tartibi bo‘yicha ko‘rsatma bermaydi.</a:t>
            </a:r>
          </a:p>
          <a:p>
            <a:pPr>
              <a:spcAft>
                <a:spcPts val="800"/>
              </a:spcAft>
            </a:pPr>
            <a:r>
              <a:rPr sz="1800">
                <a:solidFill>
                  <a:srgbClr val="1F2937"/>
                </a:solidFill>
                <a:latin typeface="Calibri"/>
              </a:rPr>
              <a:t>▸  Qondirilgan va buzilgan qadriyatlar ro‘yxati uzunligini solishtirish yetarli emas.</a:t>
            </a:r>
          </a:p>
          <a:p>
            <a:pPr>
              <a:spcAft>
                <a:spcPts val="800"/>
              </a:spcAft>
            </a:pPr>
            <a:r>
              <a:rPr sz="1800">
                <a:solidFill>
                  <a:srgbClr val="1F2937"/>
                </a:solidFill>
                <a:latin typeface="Calibri"/>
              </a:rPr>
              <a:t>▸  Diqqat: mazmun bo‘yicha kelishmovchilik ≠ protsedura bo‘yicha kelishmovchilik.</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Mazmun bo‘yicha</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Ehtiyojlarga ustuvorlik bahsli</a:t>
            </a:r>
          </a:p>
          <a:p>
            <a:pPr algn="l">
              <a:spcAft>
                <a:spcPts val="700"/>
              </a:spcAft>
            </a:pPr>
            <a:r>
              <a:rPr sz="1500" b="1">
                <a:solidFill>
                  <a:srgbClr val="C9A227"/>
                </a:solidFill>
                <a:latin typeface="Calibri"/>
              </a:rPr>
              <a:t>●  </a:t>
            </a:r>
            <a:r>
              <a:rPr sz="1500" b="0">
                <a:solidFill>
                  <a:srgbClr val="1F2937"/>
                </a:solidFill>
                <a:latin typeface="Calibri"/>
              </a:rPr>
              <a:t>Qaror qabul qiluvchi baholaydi</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Protsedura bo‘yicha</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Adolatli tartibga kelishish mumkin</a:t>
            </a:r>
          </a:p>
          <a:p>
            <a:pPr algn="l">
              <a:spcAft>
                <a:spcPts val="700"/>
              </a:spcAft>
            </a:pPr>
            <a:r>
              <a:rPr sz="1500" b="1">
                <a:solidFill>
                  <a:srgbClr val="C9A227"/>
                </a:solidFill>
                <a:latin typeface="Calibri"/>
              </a:rPr>
              <a:t>●  </a:t>
            </a:r>
            <a:r>
              <a:rPr sz="1500" b="0">
                <a:solidFill>
                  <a:srgbClr val="1F2937"/>
                </a:solidFill>
                <a:latin typeface="Calibri"/>
              </a:rPr>
              <a:t>Ustun qo‘yish asoslanadi</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Chora</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Zararni kamaytiruvchi mexanizm</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Qadriyatlar to‘qnashuvi</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Olti qadamli qaror jarayoni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Qadamlar takrorlanishi mumkin: yangi variant ko‘rib chiqilganda qo‘shimcha qadriyatlar ochilib qoladi.</a:t>
            </a:r>
          </a:p>
          <a:p>
            <a:pPr>
              <a:spcAft>
                <a:spcPts val="800"/>
              </a:spcAft>
            </a:pPr>
            <a:r>
              <a:rPr sz="1800">
                <a:solidFill>
                  <a:srgbClr val="1F2937"/>
                </a:solidFill>
                <a:latin typeface="Calibri"/>
              </a:rPr>
              <a:t>▸  Eng qiyin bosqich — to‘rtinchisi: ziddiyatli qadriyatlarni asoslab tortish.</a:t>
            </a:r>
          </a:p>
          <a:p>
            <a:pPr>
              <a:spcAft>
                <a:spcPts val="800"/>
              </a:spcAft>
            </a:pPr>
            <a:r>
              <a:rPr sz="1800">
                <a:solidFill>
                  <a:srgbClr val="1F2937"/>
                </a:solidFill>
                <a:latin typeface="Calibri"/>
              </a:rPr>
              <a:t>▸  Tanlovga shaxsiy yoki guruh manfaatlari qanday ta’sir qilganini ham o‘ylab ko‘rish kerak.</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500" b="1">
                <a:solidFill>
                  <a:srgbClr val="0B1F3A"/>
                </a:solidFill>
                <a:latin typeface="Calibri"/>
              </a:rPr>
              <a:t>1-2. Muammo, qadriyat</a:t>
            </a:r>
          </a:p>
          <a:p>
            <a:pPr algn="l">
              <a:spcAft>
                <a:spcPts val="200"/>
              </a:spcAft>
            </a:pPr>
            <a:r>
              <a:rPr sz="1400" b="0">
                <a:solidFill>
                  <a:srgbClr val="1F2937"/>
                </a:solidFill>
                <a:latin typeface="Calibri"/>
              </a:rPr>
              <a:t>Aniqlanadi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Variantlar</a:t>
            </a:r>
          </a:p>
          <a:p>
            <a:pPr algn="l">
              <a:spcAft>
                <a:spcPts val="200"/>
              </a:spcAft>
            </a:pPr>
            <a:r>
              <a:rPr sz="1400" b="0">
                <a:solidFill>
                  <a:srgbClr val="1F2937"/>
                </a:solidFill>
                <a:latin typeface="Calibri"/>
              </a:rPr>
              <a:t>Harakat variantlari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Tortish</a:t>
            </a:r>
          </a:p>
          <a:p>
            <a:pPr algn="l">
              <a:spcAft>
                <a:spcPts val="200"/>
              </a:spcAft>
            </a:pPr>
            <a:r>
              <a:rPr sz="1400" b="0">
                <a:solidFill>
                  <a:srgbClr val="1F2937"/>
                </a:solidFill>
                <a:latin typeface="Calibri"/>
              </a:rPr>
              <a:t>Eng qiyin bosqich</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Tanlash</a:t>
            </a:r>
          </a:p>
          <a:p>
            <a:pPr algn="l">
              <a:spcAft>
                <a:spcPts val="200"/>
              </a:spcAft>
            </a:pPr>
            <a:r>
              <a:rPr sz="1400" b="0">
                <a:solidFill>
                  <a:srgbClr val="1F2937"/>
                </a:solidFill>
                <a:latin typeface="Calibri"/>
              </a:rPr>
              <a:t>Tanlash va refleksiya</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Xabar</a:t>
            </a:r>
          </a:p>
          <a:p>
            <a:pPr algn="l">
              <a:spcAft>
                <a:spcPts val="200"/>
              </a:spcAft>
            </a:pPr>
            <a:r>
              <a:rPr sz="1400" b="0">
                <a:solidFill>
                  <a:srgbClr val="1F2937"/>
                </a:solidFill>
                <a:latin typeface="Calibri"/>
              </a:rPr>
              <a:t>Shaffof xabar qilish</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Qaror qadamlari (1–6)</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qadriyatlar to‘qnashuvi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kam uchraydigan kasallik tadqiqoti uchun turli manbalardagi tibbiy yozuvlar birlashtirilmoqchi. Bunday yig‘ish tadqiqotni ancha osonlashtiradi.</a:t>
            </a:r>
          </a:p>
          <a:p>
            <a:pPr>
              <a:spcAft>
                <a:spcPts val="1200"/>
              </a:spcAft>
            </a:pPr>
            <a:r>
              <a:rPr sz="2200">
                <a:solidFill>
                  <a:srgbClr val="1F2937"/>
                </a:solidFill>
                <a:latin typeface="Calibri"/>
              </a:rPr>
              <a:t>▸  Xavf: ma‘lumotlarni birlashtirish anonimlikni buzish, ya‘ni shaxsni qayta aniqlash (de-anonimlashtirish) ehtimolini oshiradi.</a:t>
            </a:r>
          </a:p>
          <a:p>
            <a:pPr>
              <a:spcAft>
                <a:spcPts val="1200"/>
              </a:spcAft>
            </a:pPr>
            <a:r>
              <a:rPr sz="2200">
                <a:solidFill>
                  <a:srgbClr val="1F2937"/>
                </a:solidFill>
                <a:latin typeface="Calibri"/>
              </a:rPr>
              <a:t>▸  To‘qnashuv: jamoat foydasi bilan privatlik (shaxsiy ma‘lumotni nazorat qilish) qarama-qarshi turadi.</a:t>
            </a:r>
          </a:p>
          <a:p>
            <a:pPr>
              <a:spcAft>
                <a:spcPts val="1200"/>
              </a:spcAft>
            </a:pPr>
            <a:r>
              <a:rPr sz="2200">
                <a:solidFill>
                  <a:srgbClr val="1F2937"/>
                </a:solidFill>
                <a:latin typeface="Calibri"/>
              </a:rPr>
              <a:t>▸  Savol: qaysi qadriyat ustun? Diqqat: ustuvorlikni qadriyatlar ro‘yxatining uzunligi emas, asosli izoh hal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Xafis et al., An Ethics Framework for Big Data in Health and Research, betlar: PMID 33717314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Raqamli salomatlik: ‘Yovvoyi G‘arb‘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Ilovalar, kiyiladigan sensorlar va ijtimoiy tarmoq ma‘lumotlari odamni ‘tabiiy sharoitda’ kun bo‘yi kuzatishga imkon beradi.</a:t>
            </a:r>
          </a:p>
          <a:p>
            <a:pPr>
              <a:spcAft>
                <a:spcPts val="800"/>
              </a:spcAft>
            </a:pPr>
            <a:r>
              <a:rPr sz="1600">
                <a:solidFill>
                  <a:srgbClr val="1F2937"/>
                </a:solidFill>
                <a:latin typeface="Calibri"/>
              </a:rPr>
              <a:t>▸  Yangi ishtirokchilar: texnologiya gigantlari, startaplar, notijorat tashkilotlar, fuqaro olimlar. Ularga akademik tadqiqot qoidalari tarixan majburiy bo‘lmagan.</a:t>
            </a:r>
          </a:p>
          <a:p>
            <a:pPr>
              <a:spcAft>
                <a:spcPts val="800"/>
              </a:spcAft>
            </a:pPr>
            <a:r>
              <a:rPr sz="1600">
                <a:solidFill>
                  <a:srgbClr val="1F2937"/>
                </a:solidFill>
                <a:latin typeface="Calibri"/>
              </a:rPr>
              <a:t>▸  ‘Mahsulot bepul bo‘lsa, siz mahsulotsiz‘: bosish va yozishlaringiz ma‘lumotga aylanadi.</a:t>
            </a:r>
          </a:p>
          <a:p>
            <a:pPr>
              <a:spcAft>
                <a:spcPts val="800"/>
              </a:spcAft>
            </a:pPr>
            <a:r>
              <a:rPr sz="1600">
                <a:solidFill>
                  <a:srgbClr val="1F2937"/>
                </a:solidFill>
                <a:latin typeface="Calibri"/>
              </a:rPr>
              <a:t>▸  Etik komissiya akademik tadqiqotda majburiy: AQShda IRB, Buyuk Britaniya va Yevropa Ittifoqida REC. Texnologiya kompaniyalari uchun bunday talab yo‘q.</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Raqamli tadqiqot</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Vositalar</a:t>
            </a:r>
          </a:p>
          <a:p>
            <a:pPr algn="l">
              <a:spcAft>
                <a:spcPts val="0"/>
              </a:spcAft>
            </a:pPr>
            <a:r>
              <a:rPr sz="1200" b="0">
                <a:solidFill>
                  <a:srgbClr val="1F2937"/>
                </a:solidFill>
                <a:latin typeface="Calibri"/>
              </a:rPr>
              <a:t>Ilovalar, kiyiladigan sensorlar  ·  Sun’iy intellekt</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Yangi ishtirokchilar</a:t>
            </a:r>
          </a:p>
          <a:p>
            <a:pPr algn="l">
              <a:spcAft>
                <a:spcPts val="0"/>
              </a:spcAft>
            </a:pPr>
            <a:r>
              <a:rPr sz="1200" b="0">
                <a:solidFill>
                  <a:srgbClr val="1F2937"/>
                </a:solidFill>
                <a:latin typeface="Calibri"/>
              </a:rPr>
              <a:t>Texnologiya gigantlari, startaplar  ·  Fuqaro olimlar</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Rozilik</a:t>
            </a:r>
          </a:p>
          <a:p>
            <a:pPr algn="l">
              <a:spcAft>
                <a:spcPts val="0"/>
              </a:spcAft>
            </a:pPr>
            <a:r>
              <a:rPr sz="1200" b="0">
                <a:solidFill>
                  <a:srgbClr val="1F2937"/>
                </a:solidFill>
                <a:latin typeface="Calibri"/>
              </a:rPr>
              <a:t>«Qabul qilaman» tugmasi, T&amp;C</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Etik komissiya</a:t>
            </a:r>
          </a:p>
          <a:p>
            <a:pPr algn="l">
              <a:spcAft>
                <a:spcPts val="0"/>
              </a:spcAft>
            </a:pPr>
            <a:r>
              <a:rPr sz="1200" b="0">
                <a:solidFill>
                  <a:srgbClr val="1F2937"/>
                </a:solidFill>
                <a:latin typeface="Calibri"/>
              </a:rPr>
              <a:t>Akademik: IRB (AQSh), REC (UK, YeI)  ·  Kompaniyalar uchun talab yo‘q</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Raqamli salomatlik: «Yovvoyi G‘arb»</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Nebeker et al., Building the case for actionable ethics in digital health research supported by artificial intelligence, betlar: PMID 31311535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Qanday savollar berish kerak: qiymat birinchi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Raqamli texnologiyadan foydalanishda birinchi qadam: ilova, sensor yoki SI natijalar bo‘yicha qiymatini ko‘rsatganmi, deb so‘rash.</a:t>
            </a:r>
          </a:p>
          <a:p>
            <a:pPr>
              <a:spcAft>
                <a:spcPts val="800"/>
              </a:spcAft>
            </a:pPr>
            <a:r>
              <a:rPr sz="1600">
                <a:solidFill>
                  <a:srgbClr val="1F2937"/>
                </a:solidFill>
                <a:latin typeface="Calibri"/>
              </a:rPr>
              <a:t>▸  Klinik samaralimi? Vosita nimani o‘lchashi kerak bo‘lsa, shuni (validlik) izchil (ishonchlilik) o‘lchaydimi?</a:t>
            </a:r>
          </a:p>
          <a:p>
            <a:pPr>
              <a:spcAft>
                <a:spcPts val="800"/>
              </a:spcAft>
            </a:pPr>
            <a:r>
              <a:rPr sz="1600">
                <a:solidFill>
                  <a:srgbClr val="1F2937"/>
                </a:solidFill>
                <a:latin typeface="Calibri"/>
              </a:rPr>
              <a:t>▸  Misol: o‘z joniga qasd qilish xavfini bashorat qiluvchi modellarning prediktiv validligi hozir 1% dan past — klinik jihatdan hali yaroqsiz.</a:t>
            </a:r>
          </a:p>
          <a:p>
            <a:pPr>
              <a:spcAft>
                <a:spcPts val="800"/>
              </a:spcAft>
            </a:pPr>
            <a:r>
              <a:rPr sz="1600">
                <a:solidFill>
                  <a:srgbClr val="1F2937"/>
                </a:solidFill>
                <a:latin typeface="Calibri"/>
              </a:rPr>
              <a:t>▸  Barcha vositalar qat’iy sinovdan o‘tmaydi; qiymatni ko‘rsatish tizimga joriy etishdan oldin shart, bu jamoatchilikni nuqsonli texnologiyadan himoya qiladi.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Natija</a:t>
            </a:r>
          </a:p>
          <a:p>
            <a:pPr algn="l">
              <a:spcAft>
                <a:spcPts val="200"/>
              </a:spcAft>
            </a:pPr>
            <a:r>
              <a:rPr sz="1400" b="0">
                <a:solidFill>
                  <a:srgbClr val="1F2937"/>
                </a:solidFill>
                <a:latin typeface="Calibri"/>
              </a:rPr>
              <a:t>Qiymati ko‘rsatilganmi?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Samaradorlik</a:t>
            </a:r>
          </a:p>
          <a:p>
            <a:pPr algn="l">
              <a:spcAft>
                <a:spcPts val="200"/>
              </a:spcAft>
            </a:pPr>
            <a:r>
              <a:rPr sz="1400" b="0">
                <a:solidFill>
                  <a:srgbClr val="1F2937"/>
                </a:solidFill>
                <a:latin typeface="Calibri"/>
              </a:rPr>
              <a:t>Klinik jihatdan samaralimi?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Validlik</a:t>
            </a:r>
          </a:p>
          <a:p>
            <a:pPr algn="l">
              <a:spcAft>
                <a:spcPts val="200"/>
              </a:spcAft>
            </a:pPr>
            <a:r>
              <a:rPr sz="1400" b="0">
                <a:solidFill>
                  <a:srgbClr val="1F2937"/>
                </a:solidFill>
                <a:latin typeface="Calibri"/>
              </a:rPr>
              <a:t>O‘lchaydigan narsani o‘lchaydimi?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Ishonchlilik</a:t>
            </a:r>
          </a:p>
          <a:p>
            <a:pPr algn="l">
              <a:spcAft>
                <a:spcPts val="200"/>
              </a:spcAft>
            </a:pPr>
            <a:r>
              <a:rPr sz="1400" b="0">
                <a:solidFill>
                  <a:srgbClr val="1F2937"/>
                </a:solidFill>
                <a:latin typeface="Calibri"/>
              </a:rPr>
              <a:t>Izchil o‘lchaydimi?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Kirish</a:t>
            </a:r>
          </a:p>
          <a:p>
            <a:pPr algn="l">
              <a:spcAft>
                <a:spcPts val="200"/>
              </a:spcAft>
            </a:pPr>
            <a:r>
              <a:rPr sz="1400" b="0">
                <a:solidFill>
                  <a:srgbClr val="1F2937"/>
                </a:solidFill>
                <a:latin typeface="Calibri"/>
              </a:rPr>
              <a:t>Xavfdagilar uchun kirish yaxshilanadimi?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Qiymatni tekshirish savollari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Nebeker et al., Building the case for actionable ethics in digital health research supported by artificial intelligence, betlar: PMID 31311535 (What questions should be asked?)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Uch bo‘shliq: fanlararo aloqa, savodxonlik, standartlar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Fanlararo uzilish: texnologlar bemor ehtiyojini bilmasligi, SI vakillik qilmaydigan ma’lumotda o‘qitilishi, klinitsistlar SI qaroriga ishonchsizligi mumkin.</a:t>
            </a:r>
          </a:p>
          <a:p>
            <a:pPr>
              <a:spcAft>
                <a:spcPts val="800"/>
              </a:spcAft>
            </a:pPr>
            <a:r>
              <a:rPr sz="1600">
                <a:solidFill>
                  <a:srgbClr val="1F2937"/>
                </a:solidFill>
                <a:latin typeface="Calibri"/>
              </a:rPr>
              <a:t>▸  Texnologik savodxonlik: klaviatura dinamikasi va ovoz bilan kasallikni aniqlash jamoatchilikda qo‘rquv va ishonchsizlik uyg‘otishi mumkin; maxsus ta’lim kerak.</a:t>
            </a:r>
          </a:p>
          <a:p>
            <a:pPr>
              <a:spcAft>
                <a:spcPts val="800"/>
              </a:spcAft>
            </a:pPr>
            <a:r>
              <a:rPr sz="1600">
                <a:solidFill>
                  <a:srgbClr val="1F2937"/>
                </a:solidFill>
                <a:latin typeface="Calibri"/>
              </a:rPr>
              <a:t>▸  Standartlar: etika komissiyalari xavfni baholash tajribasiga ega bo‘lmasligi mumkin; texnologlar etika ta’limini olmagan bo‘lishi mumkin.</a:t>
            </a:r>
          </a:p>
          <a:p>
            <a:pPr>
              <a:spcAft>
                <a:spcPts val="800"/>
              </a:spcAft>
            </a:pPr>
            <a:r>
              <a:rPr sz="1600">
                <a:solidFill>
                  <a:srgbClr val="1F2937"/>
                </a:solidFill>
                <a:latin typeface="Calibri"/>
              </a:rPr>
              <a:t>▸  SI o‘qitish ma’lumotlari ko‘pincha «inson ishtirokidagi tadqiqot» hisoblanmaydi, shuning uchun xavfsizlikni oldindan ko‘rib chiqish imkoni bo‘lmasligi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Raqamli sog‘liq bo‘shliqlari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Fanlararo aloqa</a:t>
            </a:r>
          </a:p>
          <a:p>
            <a:pPr algn="l">
              <a:spcAft>
                <a:spcPts val="0"/>
              </a:spcAft>
            </a:pPr>
            <a:r>
              <a:rPr sz="1200" b="0">
                <a:solidFill>
                  <a:srgbClr val="1F2937"/>
                </a:solidFill>
                <a:latin typeface="Calibri"/>
              </a:rPr>
              <a:t>Texnolog — bemor ehtiyojini bilmaydi  ·  Klinitsist — SI qaroriga ishonchsiz</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Savodxonlik</a:t>
            </a:r>
          </a:p>
          <a:p>
            <a:pPr algn="l">
              <a:spcAft>
                <a:spcPts val="0"/>
              </a:spcAft>
            </a:pPr>
            <a:r>
              <a:rPr sz="1200" b="0">
                <a:solidFill>
                  <a:srgbClr val="1F2937"/>
                </a:solidFill>
                <a:latin typeface="Calibri"/>
              </a:rPr>
              <a:t>Jamoatchilik, siyosatchi, tahrirchi  ·  Maxsus ta’lim resurslari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Standartlar</a:t>
            </a:r>
          </a:p>
          <a:p>
            <a:pPr algn="l">
              <a:spcAft>
                <a:spcPts val="0"/>
              </a:spcAft>
            </a:pPr>
            <a:r>
              <a:rPr sz="1200" b="0">
                <a:solidFill>
                  <a:srgbClr val="1F2937"/>
                </a:solidFill>
                <a:latin typeface="Calibri"/>
              </a:rPr>
              <a:t>IRB tajribasi yetarli emas  ·  Texnologlar etika ta’limisiz  ·  O‘qitish ma’lumoti nazoratdan chetda</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Uch bo‘shliq</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Nebeker et al., Building the case for actionable ethics in digital health research supported by artificial intelligence, betlar: PMID 31311535 (Inter/trans/cross-disciplinary and sector challenges), PMID 31311535 (Digital/tech-literacy), PMID 31311535 (Ethical and regulatory standards)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Raqamli qaror doirasining beshta domeni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Doira tadqiqotchilarga raqamli texnologiyani tanlashda asosli qaror qabul qilishga yordam beradi.</a:t>
            </a:r>
          </a:p>
          <a:p>
            <a:pPr>
              <a:spcAft>
                <a:spcPts val="800"/>
              </a:spcAft>
            </a:pPr>
            <a:r>
              <a:rPr sz="1800">
                <a:solidFill>
                  <a:srgbClr val="1F2937"/>
                </a:solidFill>
                <a:latin typeface="Calibri"/>
              </a:rPr>
              <a:t>▸  Beshta domen o‘zaro kesishadi va ularga hamroh nazorat ro‘yxati (checklist) tuzilgan.</a:t>
            </a:r>
          </a:p>
          <a:p>
            <a:pPr>
              <a:spcAft>
                <a:spcPts val="800"/>
              </a:spcAft>
            </a:pPr>
            <a:r>
              <a:rPr sz="1800">
                <a:solidFill>
                  <a:srgbClr val="1F2937"/>
                </a:solidFill>
                <a:latin typeface="Calibri"/>
              </a:rPr>
              <a:t>▸  Etik tamoyillar: shaxsni hurmat qilish, ezgulik (beneficence) va adolat.</a:t>
            </a:r>
          </a:p>
        </p:txBody>
      </p:sp>
      <p:cxnSp>
        <p:nvCxnSpPr>
          <p:cNvPr id="9" name="Connector 8"/>
          <p:cNvCxnSpPr/>
          <p:nvPr/>
        </p:nvCxnSpPr>
        <p:spPr>
          <a:xfrm>
            <a:off x="9318287" y="2295144"/>
            <a:ext cx="305031" cy="173023"/>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9894969" y="3400855"/>
            <a:ext cx="356409" cy="856389"/>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8352110" y="4723588"/>
            <a:ext cx="288074" cy="0"/>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6740916" y="3400855"/>
            <a:ext cx="356409" cy="856389"/>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368976" y="2295144"/>
            <a:ext cx="305031" cy="173023"/>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90307" y="1417320"/>
            <a:ext cx="2011680" cy="8229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Ishtirokchi privatligi</a:t>
            </a:r>
          </a:p>
        </p:txBody>
      </p:sp>
      <p:sp>
        <p:nvSpPr>
          <p:cNvPr id="15" name="Rounded Rectangle 14"/>
          <p:cNvSpPr/>
          <p:nvPr/>
        </p:nvSpPr>
        <p:spPr>
          <a:xfrm>
            <a:off x="9439619" y="2523031"/>
            <a:ext cx="2011680" cy="82296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Xavf va foyda</a:t>
            </a:r>
          </a:p>
        </p:txBody>
      </p:sp>
      <p:sp>
        <p:nvSpPr>
          <p:cNvPr id="16" name="Rounded Rectangle 15"/>
          <p:cNvSpPr/>
          <p:nvPr/>
        </p:nvSpPr>
        <p:spPr>
          <a:xfrm>
            <a:off x="8695048" y="4312108"/>
            <a:ext cx="2011680" cy="8229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Kirish va qulaylik</a:t>
            </a:r>
          </a:p>
        </p:txBody>
      </p:sp>
      <p:sp>
        <p:nvSpPr>
          <p:cNvPr id="17" name="Rounded Rectangle 16"/>
          <p:cNvSpPr/>
          <p:nvPr/>
        </p:nvSpPr>
        <p:spPr>
          <a:xfrm>
            <a:off x="6285566" y="4312108"/>
            <a:ext cx="2011680" cy="82296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Ma’lumot boshqaruvi</a:t>
            </a:r>
          </a:p>
        </p:txBody>
      </p:sp>
      <p:sp>
        <p:nvSpPr>
          <p:cNvPr id="18" name="Rounded Rectangle 17"/>
          <p:cNvSpPr/>
          <p:nvPr/>
        </p:nvSpPr>
        <p:spPr>
          <a:xfrm>
            <a:off x="5540995" y="2523031"/>
            <a:ext cx="2011680" cy="8229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Etik tamoyillar</a:t>
            </a:r>
          </a:p>
        </p:txBody>
      </p:sp>
      <p:sp>
        <p:nvSpPr>
          <p:cNvPr id="19" name="TextBox 18"/>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Beshta domen (kesishuvchi)</a:t>
            </a:r>
          </a:p>
        </p:txBody>
      </p:sp>
      <p:sp>
        <p:nvSpPr>
          <p:cNvPr id="20" name="TextBox 19"/>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Nebeker et al., Building the case for actionable ethics in digital health research supported by artificial intelligence, betlar: PMID 31311535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MoodFlex ilovasi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MoodFlex ilovasining xavfsiz va ishonchli ekani haqida dalil yo‘q; algoritm yopiq, tashqaridan tekshirib bo‘lmaydi.</a:t>
            </a:r>
          </a:p>
          <a:p>
            <a:pPr>
              <a:spcAft>
                <a:spcPts val="800"/>
              </a:spcAft>
            </a:pPr>
            <a:r>
              <a:rPr sz="1800">
                <a:solidFill>
                  <a:srgbClr val="1F2937"/>
                </a:solidFill>
                <a:latin typeface="Calibri"/>
              </a:rPr>
              <a:t>▸  Rozilik faqat Terms and Conditions (T&amp;C) orqali olinadi; ma’lumotlar kompaniyaga tegishli.</a:t>
            </a:r>
          </a:p>
          <a:p>
            <a:pPr>
              <a:spcAft>
                <a:spcPts val="800"/>
              </a:spcAft>
            </a:pPr>
            <a:r>
              <a:rPr sz="1800">
                <a:solidFill>
                  <a:srgbClr val="1F2937"/>
                </a:solidFill>
                <a:latin typeface="Calibri"/>
              </a:rPr>
              <a:t>▸  Tadqiqot rejasini tashqi etika kengashi ko‘rishi, rozilik esa alohida, tushunarli shaklda olinishi kerak.</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Samaradorlik</a:t>
            </a:r>
          </a:p>
          <a:p>
            <a:pPr algn="l">
              <a:spcAft>
                <a:spcPts val="200"/>
              </a:spcAft>
            </a:pPr>
            <a:r>
              <a:rPr sz="1400" b="0">
                <a:solidFill>
                  <a:srgbClr val="1F2937"/>
                </a:solidFill>
                <a:latin typeface="Calibri"/>
              </a:rPr>
              <a:t>Isboti bormi?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Etika kengashi</a:t>
            </a:r>
          </a:p>
          <a:p>
            <a:pPr algn="l">
              <a:spcAft>
                <a:spcPts val="200"/>
              </a:spcAft>
            </a:pPr>
            <a:r>
              <a:rPr sz="1400" b="0">
                <a:solidFill>
                  <a:srgbClr val="1F2937"/>
                </a:solidFill>
                <a:latin typeface="Calibri"/>
              </a:rPr>
              <a:t>REC / IRB</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Rozilik</a:t>
            </a:r>
          </a:p>
          <a:p>
            <a:pPr algn="l">
              <a:spcAft>
                <a:spcPts val="200"/>
              </a:spcAft>
            </a:pPr>
            <a:r>
              <a:rPr sz="1400" b="0">
                <a:solidFill>
                  <a:srgbClr val="1F2937"/>
                </a:solidFill>
                <a:latin typeface="Calibri"/>
              </a:rPr>
              <a:t>Xabardor rozilik</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Ma’lumot</a:t>
            </a:r>
          </a:p>
          <a:p>
            <a:pPr algn="l">
              <a:spcAft>
                <a:spcPts val="200"/>
              </a:spcAft>
            </a:pPr>
            <a:r>
              <a:rPr sz="1400" b="0">
                <a:solidFill>
                  <a:srgbClr val="1F2937"/>
                </a:solidFill>
                <a:latin typeface="Calibri"/>
              </a:rPr>
              <a:t>Boshqarish rejasi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Zaif guruh</a:t>
            </a:r>
          </a:p>
          <a:p>
            <a:pPr algn="l">
              <a:spcAft>
                <a:spcPts val="200"/>
              </a:spcAft>
            </a:pPr>
            <a:r>
              <a:rPr sz="1400" b="0">
                <a:solidFill>
                  <a:srgbClr val="1F2937"/>
                </a:solidFill>
                <a:latin typeface="Calibri"/>
              </a:rPr>
              <a:t>Himoyalash</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MoodFlex tahlili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Nebeker et al., Building the case for actionable ethics in digital health research supported by artificial intelligence, betlar: PMID 31311535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Bo‘shliqlar, tashabbuslar va mas’uliyat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Bo‘shliqlar: fanlararo uzilish, texnologik savodxonlik va sun’iy intellekt (AI) standartlari yo‘qligi.</a:t>
            </a:r>
          </a:p>
          <a:p>
            <a:pPr>
              <a:spcAft>
                <a:spcPts val="800"/>
              </a:spcAft>
            </a:pPr>
            <a:r>
              <a:rPr sz="1800">
                <a:solidFill>
                  <a:srgbClr val="1F2937"/>
                </a:solidFill>
                <a:latin typeface="Calibri"/>
              </a:rPr>
              <a:t>▸  Texnologlar bemor ehtiyojini, shifokorlar esa murakkab ma’lumot va AI qarorini yetarli bilmasligi mumkin.</a:t>
            </a:r>
          </a:p>
          <a:p>
            <a:pPr>
              <a:spcAft>
                <a:spcPts val="800"/>
              </a:spcAft>
            </a:pPr>
            <a:r>
              <a:rPr sz="1800">
                <a:solidFill>
                  <a:srgbClr val="1F2937"/>
                </a:solidFill>
                <a:latin typeface="Calibri"/>
              </a:rPr>
              <a:t>▸  Tashabbuslar ko‘p, ammo ko‘pchiligi keng qamrovli, ustma-ust tushadi va aniqlikka ega emas.</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Tashabbuslar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Partnership on AI</a:t>
            </a:r>
          </a:p>
          <a:p>
            <a:pPr algn="l">
              <a:spcAft>
                <a:spcPts val="0"/>
              </a:spcAft>
            </a:pPr>
            <a:r>
              <a:rPr sz="1200" b="0">
                <a:solidFill>
                  <a:srgbClr val="1F2937"/>
                </a:solidFill>
                <a:latin typeface="Calibri"/>
              </a:rPr>
              <a:t>Eng yaxshi amaliyotlar  ·  80+ hamkor, 13 mamlakat</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AI Now Institute</a:t>
            </a:r>
          </a:p>
          <a:p>
            <a:pPr algn="l">
              <a:spcAft>
                <a:spcPts val="0"/>
              </a:spcAft>
            </a:pPr>
            <a:r>
              <a:rPr sz="1200" b="0">
                <a:solidFill>
                  <a:srgbClr val="1F2937"/>
                </a:solidFill>
                <a:latin typeface="Calibri"/>
              </a:rPr>
              <a:t>Dalilga asoslangan tadqiqot  ·  Nyu-York universiteti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IEEE va ACM</a:t>
            </a:r>
          </a:p>
          <a:p>
            <a:pPr algn="l">
              <a:spcAft>
                <a:spcPts val="0"/>
              </a:spcAft>
            </a:pPr>
            <a:r>
              <a:rPr sz="1200" b="0">
                <a:solidFill>
                  <a:srgbClr val="1F2937"/>
                </a:solidFill>
                <a:latin typeface="Calibri"/>
              </a:rPr>
              <a:t>Standart va kodekslar</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Yevropa Komissiyasi</a:t>
            </a:r>
          </a:p>
          <a:p>
            <a:pPr algn="l">
              <a:spcAft>
                <a:spcPts val="0"/>
              </a:spcAft>
            </a:pPr>
            <a:r>
              <a:rPr sz="1200" b="0">
                <a:solidFill>
                  <a:srgbClr val="1F2937"/>
                </a:solidFill>
                <a:latin typeface="Calibri"/>
              </a:rPr>
              <a:t>Yuqori darajali ekspertlar guruhi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AI etikasi tashabbuslari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Nebeker et al., Building the case for actionable ethics in digital health research supported by artificial intelligence, betlar: PMID 31311535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xabarlar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Teletibbiyot an’anaviy tibbiy xizmatni to‘ldiradi, uning o‘rnini to‘liq bosa olmaydi. Aniq standart va qoidalar hali kerak.</a:t>
            </a:r>
          </a:p>
          <a:p>
            <a:pPr>
              <a:spcAft>
                <a:spcPts val="1200"/>
              </a:spcAft>
            </a:pPr>
            <a:r>
              <a:rPr sz="2200">
                <a:solidFill>
                  <a:srgbClr val="1F2937"/>
                </a:solidFill>
                <a:latin typeface="Calibri"/>
              </a:rPr>
              <a:t>▸  Teletibbiyotda asosiy masalalar: xabardor rozilik, maxfiylik, ma’lumotlar himoyasi, javobgarlik, teng kirish va xizmat sifati.</a:t>
            </a:r>
          </a:p>
          <a:p>
            <a:pPr>
              <a:spcAft>
                <a:spcPts val="1200"/>
              </a:spcAft>
            </a:pPr>
            <a:r>
              <a:rPr sz="2200">
                <a:solidFill>
                  <a:srgbClr val="1F2937"/>
                </a:solidFill>
                <a:latin typeface="Calibri"/>
              </a:rPr>
              <a:t>▸  Katta ma’lumotda qadriyatlar to‘qnashadi, masalan, jamoat manfaati va maxfiylik. Qarorni asoslab, shaffof bildirish kerak.</a:t>
            </a:r>
          </a:p>
          <a:p>
            <a:pPr>
              <a:spcAft>
                <a:spcPts val="1200"/>
              </a:spcAft>
            </a:pPr>
            <a:r>
              <a:rPr sz="2200">
                <a:solidFill>
                  <a:srgbClr val="1F2937"/>
                </a:solidFill>
                <a:latin typeface="Calibri"/>
              </a:rPr>
              <a:t>▸  Raqamli sog‘liqda mahsulot qo‘llanishidan oldin uning qiymati, ya’ni to‘g‘riligi va ishonchliligi, ilmiy isbotlanishi shart.</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Solimini et al., Ethical and Legal Challenges of Telemedicine in the Era of the COVID-19 Pandemic, betlar: PMID 34946259; Xafis et al., An Ethics Framework for Big Data in Health and Research, betlar: PMID 33717314; Nebeker et al., Building the case for actionable ethics in digital health research supported by artificial intelligence, betlar: PMID 31311535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Tarixiy fakt: “teletibbiyot” atamasi 1970-yillarda “masofadan davolash” ma’nosida paydo bo‘lgan. Jahon sog‘liqni saqlash tashkiloti (JSST) 1998-yilgi hisobotida uni axborot-kommunikatsiya texnologiyalari orqali masofadan tibbiy xizmat ko‘rsatish deb ta’riflagan. JSST o‘sha paytdayoq maxfiylik, bemor daxlsizligi va axborot tizimlari yaxlitligi kabi axloqiy muammolarga ishora qilgan.</a:t>
            </a:r>
          </a:p>
          <a:p>
            <a:pPr>
              <a:spcAft>
                <a:spcPts val="1200"/>
              </a:spcAft>
            </a:pPr>
            <a:r>
              <a:rPr sz="1800">
                <a:solidFill>
                  <a:srgbClr val="1F2937"/>
                </a:solidFill>
                <a:latin typeface="Calibri"/>
              </a:rPr>
              <a:t>▸  Amaliy hodisa tahlili: telesalomatlik tashrifida bemorning og‘zaki roziligi yetarli bo‘lishi mumkin. Uni tibbiy yozuvda qayd etish kerak, imzolangan shakl kelishini kutish shart emas. Shifokor xizmatni xususiy joydan ko‘rsatishi kerak. Telekonsultatsiyani yuzma-yuz qabul bilan bir xil jiddiylikda olib borish lozim.</a:t>
            </a:r>
          </a:p>
          <a:p>
            <a:pPr>
              <a:spcAft>
                <a:spcPts val="1200"/>
              </a:spcAft>
            </a:pPr>
            <a:r>
              <a:rPr sz="1800">
                <a:solidFill>
                  <a:srgbClr val="1F2937"/>
                </a:solidFill>
                <a:latin typeface="Calibri"/>
              </a:rPr>
              <a:t>▸  Eslab qolish usuli: katta ma’lumotlarning asosiy “3 V” xususiyati. Volume (hajm) ma’lumot miqdori va tafsilotini bildiradi. Variety (xilma-xillik) ma’lumot shakllari va manbalarini bildiradi. Velocity (tezlik) uzatish va tahlil tezligini bildiradi. Kengroq ta’riflarda variability, veracity, value va visualisation qo‘shiladi.</a:t>
            </a:r>
          </a:p>
          <a:p>
            <a:pPr>
              <a:spcAft>
                <a:spcPts val="1200"/>
              </a:spcAft>
            </a:pPr>
            <a:r>
              <a:rPr sz="1800">
                <a:solidFill>
                  <a:srgbClr val="1F2937"/>
                </a:solidFill>
                <a:latin typeface="Calibri"/>
              </a:rPr>
              <a:t>▸  Qiziqarli hodisa: “mahsulot bepul bo‘lsa, mahsulot — sizning o‘zingizsiz” degan gap bor. Qidiruvlar, bosishlar va teruvlar algoritmlarni o‘qitadigan ma’lumotga aylanadi. Foydalanuvchi “Qabul qilaman” tugmasini bosganda shartlarni o‘qimasligi mumkin. Bu tadqiqot roziligining o‘rnini bosmaydi.</a:t>
            </a:r>
          </a:p>
          <a:p>
            <a:pPr>
              <a:spcAft>
                <a:spcPts val="1200"/>
              </a:spcAft>
            </a:pPr>
            <a:r>
              <a:rPr sz="1800">
                <a:solidFill>
                  <a:srgbClr val="1F2937"/>
                </a:solidFill>
                <a:latin typeface="Calibri"/>
              </a:rPr>
              <a:t>▸  Paradoks tahlili: homilador ayollarni tadqiqotlardan himoya qilish uchun chiqarib tashlash niyati yaxshi. Lekin bu ular uchun yetarli sinalgan dorilar yo‘qligiga olib keladi va zaifligini oshiradi. Demak, himoya choralari ham yangi zaiflik yaratishi mumkin. Shuning uchun har bir qarorning oqibatini ikki tomonlama baholash kerak.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Teletibbiyot, telestomatologiya; raqamli tibbiyotda biotibbiyot ma’lumotlari va katta ma’l</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Solimini et al. Ethical and Legal Challenges of Telemedicine in the Era of the COVID-19 Pandemic, Medicina. 2021. PMID 34946259; DOI 10.3390/medicina57121314</a:t>
            </a:r>
          </a:p>
          <a:p>
            <a:pPr>
              <a:spcAft>
                <a:spcPts val="800"/>
              </a:spcAft>
            </a:pPr>
            <a:r>
              <a:rPr sz="2000">
                <a:solidFill>
                  <a:srgbClr val="1F2937"/>
                </a:solidFill>
                <a:latin typeface="Calibri"/>
              </a:rPr>
              <a:t>▸  Xafis et al. An Ethics Framework for Big Data in Health and Research, Asian Bioethics Review. 2019. PMID 33717314; DOI 10.1007/s41649-019-00099-x</a:t>
            </a:r>
          </a:p>
          <a:p>
            <a:pPr>
              <a:spcAft>
                <a:spcPts val="800"/>
              </a:spcAft>
            </a:pPr>
            <a:r>
              <a:rPr sz="2000">
                <a:solidFill>
                  <a:srgbClr val="1F2937"/>
                </a:solidFill>
                <a:latin typeface="Calibri"/>
              </a:rPr>
              <a:t>▸  Nebeker et al. Building the case for actionable ethics in digital health research supported by artificial intelligence, BMC Medicine. 2019. PMID 31311535; DOI 10.1186/s12916-019-1377-7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