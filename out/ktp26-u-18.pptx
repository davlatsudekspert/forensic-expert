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savoli: sud-tibbiy xizmat nega huquqiy asoslarni bilishni talab qiladi? Talabalar miya o‘limi bo‘limiga qanday tayyorlanishi kerak? Doskada chizish: mavzuning uch yo‘nalishini uchta shox ko‘rinishida chizdiring. Tipik xato: talabalar miya o‘limi mazmunini taqdim etilgan darslik bobidan topishga urinadi. Bu bo‘lim uchun qo‘shimcha manba kerakligini oldindan ayting.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savollari: nega ekspertizaning tartibi qat’iy belgilanishi kerak? Oddiy shifokor ko‘rigi bilan ekspertiza qanday farqlanadi? Doskada chizish: to‘rt xususiyatni jadval shaklida chizing. Tipik xato: ekspertiza va fan tushunchalarini aralashtirish. Ekspertiza fanning amaliy ko‘rinishi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savollari: nega predmet tizimi ekspertiza ob’ektlariga bog‘langan? Qaysi bo‘lim sizning kelajakdagi ishingizga eng yaqin? Doskada chizish: sakkiz bo‘limni juft-juft qilib guruhlab chizing. Tipik xato: bo‘limlar tartibini va Avdeev tizimi sanasini (1948)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fan tarkibi vaqt o‘tishi bilan o‘zgaradi? 2) 2002-yilda ajralgan qism nimaga oid edi? Doskada chizish: 9 qismli daraxt (tarix, asoslar, tanatologiya, travmatologiya, akusherlik-ginekologiya, toksikologiya, biologiya, tashqi omillar, identifikatsiya). Qo‘shimcha: V.L.Popov (1999) fanda asosan uch ta’limotni farqlaydi: o‘lim va undan keyingi o‘zgarishlar, jarohatlar, shaxs identifikatsiyasi. Tipik xato: kasb huquqbuzarliklari hali ham fan tarkibida deb o‘ylash. Jadvaldagi guruhlash o‘qituvchi tomonidan soddalashtirilgan.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mexanik jarohatda travmatologiya bilimi kerak? 2) Ekspert va davolovchi vrach maqsadi qanday farq qiladi? Doskada chizish: ikki ustun — “davolovchi vrach: diagnostika, davolash, profilaktika” va “ekspert: huquqiy baholash”. Diqqat: ekspert ≠ davolovchi vrach — ikkalasi bir holatga turli maqsadda qaraydi. Tipik xato: sud tibbiyotini fundamental fan deb hisoblash; u amaliy qo‘llanma fandir.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avval javobsiz o‘qing, 30 soniya o‘ylashga bering, so‘ng javobni oching. Muhokama: 1) Fan predmeti nega nazariya va amaliyotdan iborat? 2) Yana qaysi klinik fanlar kerak bo‘lishi mumkin? Doskada chizish: fan–klinik fan juftliklari (travmatologiya — mexanik jarohat). Tipik xato: Avdeev tizimini 2002-yil bilan adashtirish (1948 va 2002 boshqa voqealar).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Ekspertning mustaqilligi nega uning shaxsiy mas’uliyatini keltirib chiqaradi? 2) Tashabbus huquqi qachon foydali bo‘lishi mumkin? Doskada: 6 ta prinsipni ustun qilib yozdiring va har biriga bittadan qisqa misol keltirtiring. Tipik xato: talabalar xolislik va mustaqillikni bir xil tushuncha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Ob’ektning ishonchliligi uchun kim javob beradi? 2) Identifikatsiya davrini hisobga olmaslik ekspertiza samaradorligiga qanday ta’sir qiladi? Doskada: to‘rt ob’ekt turini sxema qilib chizdiring va har biriga bittadan misol yozdiring. Tipik xato: ob’ektni taqdim etuvchi shaxs bilan uni tekshiruvchi ekspertni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usul takroriy tekshirishga imkon berishi kerak? 2) Pichoq va teridagi jarohatni qiyoslash qaysi guruhga kiradi? Doskada: uch guruhni jadval qilib chizdiring va har biriga o‘zingiz bittadan yangi misol qo‘shing. Tipik xato: rentgenologik yoki kimyoviy usulni maxsus usullar deb hisoblash; ular xususiy usullar.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ob’ektni ekspert emas, ekspertiza tayinlagan shaxs taqdim etadi? 2) Nega ob’ektni tekshirish muddati muhim? Doskada: uch usul guruhini (umumilmiy, xususiy, maxsus) ustun qilib chizib, vaziyatdagi usullarni joylashtiring. Tipik xato: rentgenologik va kimyoviy usulni maxsus usul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Antistius xulosasi nima uchun sud-tibbiy ahamiyatga ega? 2) Yustinian kodeksida vrach xulosasi nega yuqoriroq baholangan? Doskada: vaqt chizig‘ini (e.a. IX asrdan VI asrgacha) chizing. Tipik xato: Sezar voqeasini eramizdan keyingi davrga qo‘yish.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“Si Yuan Lu” mazmuni zamonaviy sud tibbiyoti bo‘limlariga qanday mos keladi? 2) “Karolina” nega vrachlar ishtirokini talab qilgan? Doskada: jadvaldagi to‘rt voqeani yil bo‘yicha tartiblang. Tipik xato: Ambruaz Pare asarini XVII asrga, Karolinani XVI asrdan oldinga joylash.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fan dastlab anatomiya va xirurgiya bilan birga o‘qitilgan? O‘pka sinamasi nimani aniqlashga xizmat qiladi deb o‘ylaysiz? Doskada: XVI–XX asr voqealarining qisqa vaqt chizig‘ini chizdiring. Tipik xato: Shreer (o‘pka sinamasi) bilan Bon (fan nomi) 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allomalar asarlarini sud-tibbiy ekspertiza deb bo‘lmaydi? Ibn Sino keltirgan ma’lumotlar bugungi sud tibbiyotida qayerda kerak bo‘ladi? Doskada: ikki ustunli sxema – “tibbiy yordam maqsadi” va “odil sudlov maqsadi”. Tipik xato: allomalarni sud-tibbiy ekspertiza asoschilari deb atash.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talabalar juftlikda savollarni bir-biridan so‘rasin; qaysi shaxs va asar ko‘proq chalkashtirildi? Doskada: shaxs–asar–sana moslashtirish ro‘yxatini tuzdiring. Tipik xato: Bon bilan Shreerning hissasini, shuningdek 1681-yil bilan 1846-yilni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dastlabki kafedra tibbiyot fakultetida ochilgan? Kafedra faoliyati ekspertiza xizmatiga qanday ta’sir qilgan? Doskada: 1920 dan 1993 gacha vaqt chizig‘ini chizdiring. Tipik xato: yillarni va muassasalarni aralashtirish (masalan, 1935 va 1959).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ma’lumotning mavjudligi va uning maqsadi nima uchun alohida baholanadi? Shariat davrida tibbiyot vakillari nega jalb qilinmagan? Doskada: ikki ustun chizing — «tibbiy yordam maqsadi» va «odil sudlov maqsadi». Tipik xato: Beruniy, Ibn Sino va Jurjoniy asarlarini rasmiy sud-tibbiy ekspertiza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II davrda ekspertizani kafedralar o‘tkazgan? Mustaqillik xizmatga qanday yangi vazifalar qo‘ygan? Doskada: to‘rt davrli jadvalni talabalar bilan to‘ldiring. Tipik xato: II davr (50-yillargacha) bilan III davr (1950-yildan) chegarasini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murakkab hollarda ekspertiza bir necha bosqichdan o‘tgan? Rossiya ustavi Turkistonga qanday ta’sir qilgan? Doskada: uch instansiya zanjirini chizing. Tipik xato: I davrda Turkistonda ekspert-kriminalistika muassasasi bo‘lgan deb o‘ylash; manbada 20-yillarigacha bunday muassasa bo‘lmagan, ekspertizalar epizodik o‘tkazilgan.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kafedra bazasidan mustaqil byurolarga o‘tish nimani o‘zgartirdi? Nega yagona tartib-qoidalar muhim? Doskada: 1920 dan 1991 gacha vaqt chizig‘ini chizib, 1945 va 1950 ni belgilang. Tipik xato: 1945-yilgi kabinetni 1950-yilgi Bosh byuro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1991-yilgacha xizmat qaysi hujjatlarga tayangan va mustaqillik nimani o‘zgartirdi? Attestatsiya nima uchun kerak? Doskada: IV davrdagi to‘rt yangilikni ro‘yxat qilib yozing. Tipik xato: “Sud ekspertizasi to‘g‘risida”gi Qonunni sobiq ittifoq davriga tegishli deb hisoblash; u IV davrda ilk bor qabul qilingan.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1945-yilgi kabinet nega II davrga kiradi? 2) II va III davr asosiy farqi nimada? Doskada: to‘rt davrli vaqt chizig‘ini chizdiring (XX asr 20-yillarigacha, 50-yillargacha, 1991-yilgacha, hozirgacha). Tipik xato: 1945-yilni III davrga, 1950-yilni II davrga qo‘yish.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sud-tibbiy ekspert JK va JPK ni bilishi kerak? 2) Qonun va kodeksning farqi nimada? Doskada: qonun – kodeks – JK/JPK ko‘rinishidagi daraja sxemasini chizdiring. Tipik xato: qonun va kodeksni bir xil tushuncha deb hisoblash; JK va JPK vazifalarini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Yoshni aniqlash qaysi hollarda kerak bo‘ladi? 2) Nega jabrlanuvchi va guvohning jismoniy holati ham tekshiriladi? Doskada: 173-moddaning 6 bandini qisqa ro‘yxat qilib yozdiring. Tipik xato: ro‘yxatni to‘liq deb o‘ylash; modda boshqa maxsus bilim talab qiladigan holatlarni ham qamraydi.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shart-sharoitni ta’minlash mas’uliyati variantga qarab o‘zgaradi? 2) Sud tergovi dastlabki tergovdan nimasi bilan farq qiladi? Doskada: uch variantli sxemani chizdiring va eksgumatsiya misolini joylashtiring. Tipik xato: eksgumatsiya ekspertizasi faqat byuroda o‘tadi deb o‘ylash. Aslida jasad qabristonda ochiladi, olingan material laboratoriyada tekshiriladi.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talabalarga og‘zaki bering, avval javobni yashiring. Muhokama: 173-moddadagi qaysi holat amaliyotda ko‘proq uchraydi deb o‘ylaysiz? Doskada: moddadagi holatlarning qisqa ro‘yxatini yozdiring. Tipik xato: ro‘yxatni yopiq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ekspert ish yuzasidan manfaatdor tomonlar bilan shaxsiy aloqaga kirishmasligi kerak? 2) Tashabbus huquqi amalda nimani anglatadi? Doskada: ikki ustunli huquq/majburiyat jadvalini chizdiring. Tipik xato: ekspert faqat so‘ralgan savollarga javob beradi, deb o‘ylash. Aslida u muhim boshqa masalalarda ham fikr bildirishi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Ekspert qanday holatlarda o‘zini o‘zi rad etishi kerak? 2) Nega xulosani ruxsatsiz oshkor qilish jinoiy javobgarlikka olib keladi? Doskada: raddiya jarayoni sxemasini chizdiring (asos – ariza – tayinlagan shaxs qarori – muddat). Tipik xato: talabalar ilgari shu ishda mutaxassis bo‘lgan shaxs ekspert bo‘la olmaydi deb o‘ylaydi. Aslida bu to‘siq emas.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Tirik shaxsni guvohlantirishda davolash muassasasi vrachi qaysi rolda jalb qilinadi? 2) Mutaxassis nega hujjat tuzmaydi? Doskada: ikki ustunli solishtirish jadvalini chizdiring. Tipik xato: mutaxassis va ekspert rolini aralashtirish, mutaxassisga xulosa tuzish vakolatini berish.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daqiqa. Muhokama: 1) Yo‘l-transport hodisasida qaysi tur tayinlanadi va nega? 2) Manfaatdor tomonning noroziligi qayta ekspertiza uchun asos bo‘ladimi? Doskada: har tur uchun bitta qisqa misol yozdiring. Tipik xato: qo‘shimcha va qayta ekspertizani aralashtirish. Qo‘shimchada kamchilik to‘ldiriladi, qayta ekspertizada esa savol takroran qo‘yiladi. Dastlabki ekspert qayta ekspertizani o‘tkaza olmaydi.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avvalgi ekspert qayta ekspertizada xulosa tuzishda qatnashmaydi? 2) Taraflarning noroziligi nima uchun yetarli asos emas? Doskada: ikki ustunli jadval chizdiring: «Qo‘shimcha» va «Qayta» (maqsadi, kim bajaradi, asos). Tipik xato: qo‘shimcha ekspertizani qayta ekspertiza bilan aralashtirish. Qayta ekspertizada yangi savol emas, avvalgi savollar takroran qo‘yiladi.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Xulosaning tadqiqot qismi nega maxsus bilimi yo‘q odamga ham tushunarli bo‘lishi kerak? 2) Xulosa nega oldindan daliliy kuchga ega emas? Doskada: xulosaning uch qismini ketma-ket chizing va har biriga mazmunini yozing. Tipik xato: dalolatnomaning yakuniy qismini ham «to‘xtam» deb atash, aslida u «xotima».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Javoblar: 1) qayta ekspertiza, odatda ikki va undan ortiq ekspert, avvalgi ekspert qatnashmaydi, byuroning qayta va komission ekspertizalar bo‘limida; 2) yo‘q, norozilikning o‘zi asos emas; 3) sud xulosani boshqa dalillar qatori baholaydi, qo‘shilmasa qaror yoki ajrimda asoslaydi. Muhokama: qayta ekspertiza qarorida nima ko‘rsatilishi kerak? Doskada: «shubha → qayta ekspertiza → sud bahosi» zanjirini chizing. Tipik xato: noroziligi asos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hududiy byuro ikki tomonga bo‘ysunadi? 2) Qayta va komission ekspertiza qaysi bo‘limda o‘tkaziladi? Doskada: Bosh byurodan tuman bo‘linmasigacha bo‘ysunish sxemasini chizdiring. Tipik xato: tuman bo‘linmalari ham Bosh byuroga to‘g‘ridan-to‘g‘ri bo‘ysunadi deb o‘ylash; aslida ularga hududiy byuro rahbarlik qiladi.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Manbada nima bor, nima yo‘q? 2) Miya o‘limi mezonlari uchun qaysi me’yoriy hujjat va adabiyot kerak? Doskada: ‘Bor’ va ‘yo‘q’ ustunli ikki qismli ro‘yxat tuzdiring. Tipik xato: manbada bo‘lmagan mezonlarni o‘zidan qo‘shib aytish. O‘qituvchi qo‘shimcha manbani o‘zi ko‘rsatishi kerak.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Nazorat savollari: 1) To‘rt davrni ayting. 2) JPK 173-moddada qanday holatlar bor? 3) Ekspert va mutaxassisning farqi nima? 4) Qayta ekspertiza qachon tayinlanadi? Doskada: besh turni bir qatorda yozib, har biriga bittadan belgi qo‘ying. Tipik xato: qo‘shimcha va qayta ekspertizani aralashtirish; qo‘shimcha kamchilikni to‘ldiradi, qayta esa xulosa shubhali bo‘lganda tayinlanadi.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O’zbekistonda sud tibbiyotining tarixi. Sud-tibbiy ekspertiza faoliyatini belgilovchi me’yoriy hujjatlar. Miya o’limining diagnostikasi.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Mavzuning birinchi yo‘nalishi — sud tibbiyotining jahon va O‘zbekistondagi rivojlanish tarixi hamda xizmatning shakllanish davrlari.</a:t>
            </a:r>
          </a:p>
          <a:p>
            <a:pPr>
              <a:spcAft>
                <a:spcPts val="1200"/>
              </a:spcAft>
            </a:pPr>
            <a:r>
              <a:rPr sz="2200">
                <a:solidFill>
                  <a:srgbClr val="1F2937"/>
                </a:solidFill>
                <a:latin typeface="Calibri"/>
              </a:rPr>
              <a:t>▸  Ikkinchi yo‘nalish — ekspertiza faoliyatini belgilovchi me’yoriy-protsessual asoslar: “Sud ekspertizasi to‘g‘risida”gi Qonun, Jinoyat-protsessual kodeksi (JPK) va ekspert huquqlari.</a:t>
            </a:r>
          </a:p>
          <a:p>
            <a:pPr>
              <a:spcAft>
                <a:spcPts val="1200"/>
              </a:spcAft>
            </a:pPr>
            <a:r>
              <a:rPr sz="2200">
                <a:solidFill>
                  <a:srgbClr val="1F2937"/>
                </a:solidFill>
                <a:latin typeface="Calibri"/>
              </a:rPr>
              <a:t>▸  Uchinchi yo‘nalish — miya o‘limining diagnostikasi. Taqdim etilgan manba matnida bu mavzu yoritilmagan, shuning uchun alohida manba talab qilinadi. (?)</a:t>
            </a:r>
          </a:p>
          <a:p>
            <a:pPr>
              <a:spcAft>
                <a:spcPts val="1200"/>
              </a:spcAft>
            </a:pPr>
            <a:r>
              <a:rPr sz="2200">
                <a:solidFill>
                  <a:srgbClr val="1F2937"/>
                </a:solidFill>
                <a:latin typeface="Calibri"/>
              </a:rPr>
              <a:t>▸  O‘quv maqsadi: sud tibbiyoti va ekspertiza ta’rifini, fan predmetini va uning bo‘limlarini bilib, ularni bir-biridan farqlay olish.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9-13, 14-19, manbada yo‘q,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va sud-tibbiy ekspertiza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 — sud-tergov faoliyatidagi tibbiy-biologik masalalarni o‘rganuvchi alohida fan.</a:t>
            </a:r>
          </a:p>
          <a:p>
            <a:pPr>
              <a:spcAft>
                <a:spcPts val="800"/>
              </a:spcAft>
            </a:pPr>
            <a:r>
              <a:rPr sz="1800">
                <a:solidFill>
                  <a:srgbClr val="1F2937"/>
                </a:solidFill>
                <a:latin typeface="Calibri"/>
              </a:rPr>
              <a:t>▸  Ekspertiza — vazifa qo‘yilgan tadqiqot bo‘lib, ekspert xulosasi tuzish bilan yakunlanadi.</a:t>
            </a:r>
          </a:p>
          <a:p>
            <a:pPr>
              <a:spcAft>
                <a:spcPts val="800"/>
              </a:spcAft>
            </a:pPr>
            <a:r>
              <a:rPr sz="1800">
                <a:solidFill>
                  <a:srgbClr val="1F2937"/>
                </a:solidFill>
                <a:latin typeface="Calibri"/>
              </a:rPr>
              <a:t>▸  Diqqat: sud tibbiyoti (fan) ≠ sud-tibbiy ekspertiza (fan bilimlarining amaliy qo‘llanishi).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Xususiyat</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1. Mutaxassis</a:t>
                      </a:r>
                    </a:p>
                  </a:txBody>
                  <a:tcPr marL="73152" marR="73152" marT="36576" marB="36576">
                    <a:solidFill>
                      <a:srgbClr val="E8EEF6"/>
                    </a:solidFill>
                  </a:tcPr>
                </a:tc>
                <a:tc>
                  <a:txBody>
                    <a:bodyPr/>
                    <a:lstStyle/>
                    <a:p>
                      <a:r>
                        <a:rPr sz="1300" b="0">
                          <a:solidFill>
                            <a:srgbClr val="1F2937"/>
                          </a:solidFill>
                        </a:rPr>
                        <a:t>Tadqiqotni bilimli mutaxassis o‘tkazadi</a:t>
                      </a:r>
                    </a:p>
                  </a:txBody>
                  <a:tcPr marL="73152" marR="73152" marT="36576" marB="36576">
                    <a:solidFill>
                      <a:srgbClr val="E8EEF6"/>
                    </a:solidFill>
                  </a:tcPr>
                </a:tc>
              </a:tr>
              <a:tr h="411480">
                <a:tc>
                  <a:txBody>
                    <a:bodyPr/>
                    <a:lstStyle/>
                    <a:p>
                      <a:r>
                        <a:rPr sz="1300" b="0">
                          <a:solidFill>
                            <a:srgbClr val="1F2937"/>
                          </a:solidFill>
                        </a:rPr>
                        <a:t>2. Vazifa</a:t>
                      </a:r>
                    </a:p>
                  </a:txBody>
                  <a:tcPr marL="73152" marR="73152" marT="36576" marB="36576">
                    <a:solidFill>
                      <a:srgbClr val="FFFFFF"/>
                    </a:solidFill>
                  </a:tcPr>
                </a:tc>
                <a:tc>
                  <a:txBody>
                    <a:bodyPr/>
                    <a:lstStyle/>
                    <a:p>
                      <a:r>
                        <a:rPr sz="1300" b="0">
                          <a:solidFill>
                            <a:srgbClr val="1F2937"/>
                          </a:solidFill>
                        </a:rPr>
                        <a:t>Aniq vazifa bo‘yicha, odatda baholash uchun</a:t>
                      </a:r>
                    </a:p>
                  </a:txBody>
                  <a:tcPr marL="73152" marR="73152" marT="36576" marB="36576">
                    <a:solidFill>
                      <a:srgbClr val="FFFFFF"/>
                    </a:solidFill>
                  </a:tcPr>
                </a:tc>
              </a:tr>
              <a:tr h="411480">
                <a:tc>
                  <a:txBody>
                    <a:bodyPr/>
                    <a:lstStyle/>
                    <a:p>
                      <a:r>
                        <a:rPr sz="1300" b="0">
                          <a:solidFill>
                            <a:srgbClr val="1F2937"/>
                          </a:solidFill>
                        </a:rPr>
                        <a:t>3. Qat’iy tartib</a:t>
                      </a:r>
                    </a:p>
                  </a:txBody>
                  <a:tcPr marL="73152" marR="73152" marT="36576" marB="36576">
                    <a:solidFill>
                      <a:srgbClr val="E8EEF6"/>
                    </a:solidFill>
                  </a:tcPr>
                </a:tc>
                <a:tc>
                  <a:txBody>
                    <a:bodyPr/>
                    <a:lstStyle/>
                    <a:p>
                      <a:r>
                        <a:rPr sz="1300" b="0">
                          <a:solidFill>
                            <a:srgbClr val="1F2937"/>
                          </a:solidFill>
                        </a:rPr>
                        <a:t>O‘tkazish tartibi qat’iy belgilangan</a:t>
                      </a:r>
                    </a:p>
                  </a:txBody>
                  <a:tcPr marL="73152" marR="73152" marT="36576" marB="36576">
                    <a:solidFill>
                      <a:srgbClr val="E8EEF6"/>
                    </a:solidFill>
                  </a:tcPr>
                </a:tc>
              </a:tr>
              <a:tr h="411480">
                <a:tc>
                  <a:txBody>
                    <a:bodyPr/>
                    <a:lstStyle/>
                    <a:p>
                      <a:r>
                        <a:rPr sz="1300" b="0">
                          <a:solidFill>
                            <a:srgbClr val="1F2937"/>
                          </a:solidFill>
                        </a:rPr>
                        <a:t>4. Hujjat</a:t>
                      </a:r>
                    </a:p>
                  </a:txBody>
                  <a:tcPr marL="73152" marR="73152" marT="36576" marB="36576">
                    <a:solidFill>
                      <a:srgbClr val="FFFFFF"/>
                    </a:solidFill>
                  </a:tcPr>
                </a:tc>
                <a:tc>
                  <a:txBody>
                    <a:bodyPr/>
                    <a:lstStyle/>
                    <a:p>
                      <a:r>
                        <a:rPr sz="1300" b="0">
                          <a:solidFill>
                            <a:srgbClr val="1F2937"/>
                          </a:solidFill>
                        </a:rPr>
                        <a:t>Jarayon va natija hujjatda rasmiylashtiriladi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Ekspertizaning to‘rt xususiyati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predmeti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Predmet — sud-tibbiy ekspertizaning nazariyasi va amaliyoti.</a:t>
            </a:r>
          </a:p>
          <a:p>
            <a:pPr>
              <a:spcAft>
                <a:spcPts val="800"/>
              </a:spcAft>
            </a:pPr>
            <a:r>
              <a:rPr sz="1800">
                <a:solidFill>
                  <a:srgbClr val="1F2937"/>
                </a:solidFill>
                <a:latin typeface="Calibri"/>
              </a:rPr>
              <a:t>▸  M.I.Avdeev 1948-yilda predmetning ilmiy asoslangan tizimini birinchi bo‘lib taklif etgan.</a:t>
            </a:r>
          </a:p>
          <a:p>
            <a:pPr>
              <a:spcAft>
                <a:spcPts val="800"/>
              </a:spcAft>
            </a:pPr>
            <a:r>
              <a:rPr sz="1800">
                <a:solidFill>
                  <a:srgbClr val="1F2937"/>
                </a:solidFill>
                <a:latin typeface="Calibri"/>
              </a:rPr>
              <a:t>▸  Tizim sud-tibbiy amaliyotga tayanadi va ekspertiza ob’ektlari bilan uzviy bog‘liq.</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Bo‘lim №</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1-2</a:t>
                      </a:r>
                    </a:p>
                  </a:txBody>
                  <a:tcPr marL="73152" marR="73152" marT="36576" marB="36576">
                    <a:solidFill>
                      <a:srgbClr val="E8EEF6"/>
                    </a:solidFill>
                  </a:tcPr>
                </a:tc>
                <a:tc>
                  <a:txBody>
                    <a:bodyPr/>
                    <a:lstStyle/>
                    <a:p>
                      <a:r>
                        <a:rPr sz="1300" b="0">
                          <a:solidFill>
                            <a:srgbClr val="1F2937"/>
                          </a:solidFill>
                        </a:rPr>
                        <a:t>Tarix; tashkiliy va protsessual masalalar</a:t>
                      </a:r>
                    </a:p>
                  </a:txBody>
                  <a:tcPr marL="73152" marR="73152" marT="36576" marB="36576">
                    <a:solidFill>
                      <a:srgbClr val="E8EEF6"/>
                    </a:solidFill>
                  </a:tcPr>
                </a:tc>
              </a:tr>
              <a:tr h="411480">
                <a:tc>
                  <a:txBody>
                    <a:bodyPr/>
                    <a:lstStyle/>
                    <a:p>
                      <a:r>
                        <a:rPr sz="1300" b="0">
                          <a:solidFill>
                            <a:srgbClr val="1F2937"/>
                          </a:solidFill>
                        </a:rPr>
                        <a:t>3-4</a:t>
                      </a:r>
                    </a:p>
                  </a:txBody>
                  <a:tcPr marL="73152" marR="73152" marT="36576" marB="36576">
                    <a:solidFill>
                      <a:srgbClr val="FFFFFF"/>
                    </a:solidFill>
                  </a:tcPr>
                </a:tc>
                <a:tc>
                  <a:txBody>
                    <a:bodyPr/>
                    <a:lstStyle/>
                    <a:p>
                      <a:r>
                        <a:rPr sz="1300" b="0">
                          <a:solidFill>
                            <a:srgbClr val="1F2937"/>
                          </a:solidFill>
                        </a:rPr>
                        <a:t>Tashqi omillar va o‘lim; murda ekspertizasi</a:t>
                      </a:r>
                    </a:p>
                  </a:txBody>
                  <a:tcPr marL="73152" marR="73152" marT="36576" marB="36576">
                    <a:solidFill>
                      <a:srgbClr val="FFFFFF"/>
                    </a:solidFill>
                  </a:tcPr>
                </a:tc>
              </a:tr>
              <a:tr h="411480">
                <a:tc>
                  <a:txBody>
                    <a:bodyPr/>
                    <a:lstStyle/>
                    <a:p>
                      <a:r>
                        <a:rPr sz="1300" b="0">
                          <a:solidFill>
                            <a:srgbClr val="1F2937"/>
                          </a:solidFill>
                        </a:rPr>
                        <a:t>5-6</a:t>
                      </a:r>
                    </a:p>
                  </a:txBody>
                  <a:tcPr marL="73152" marR="73152" marT="36576" marB="36576">
                    <a:solidFill>
                      <a:srgbClr val="E8EEF6"/>
                    </a:solidFill>
                  </a:tcPr>
                </a:tc>
                <a:tc>
                  <a:txBody>
                    <a:bodyPr/>
                    <a:lstStyle/>
                    <a:p>
                      <a:r>
                        <a:rPr sz="1300" b="0">
                          <a:solidFill>
                            <a:srgbClr val="1F2937"/>
                          </a:solidFill>
                        </a:rPr>
                        <a:t>Tirik shaxslar; ashyoviy dalillar</a:t>
                      </a:r>
                    </a:p>
                  </a:txBody>
                  <a:tcPr marL="73152" marR="73152" marT="36576" marB="36576">
                    <a:solidFill>
                      <a:srgbClr val="E8EEF6"/>
                    </a:solidFill>
                  </a:tcPr>
                </a:tc>
              </a:tr>
              <a:tr h="411480">
                <a:tc>
                  <a:txBody>
                    <a:bodyPr/>
                    <a:lstStyle/>
                    <a:p>
                      <a:r>
                        <a:rPr sz="1300" b="0">
                          <a:solidFill>
                            <a:srgbClr val="1F2937"/>
                          </a:solidFill>
                        </a:rPr>
                        <a:t>7-8</a:t>
                      </a:r>
                    </a:p>
                  </a:txBody>
                  <a:tcPr marL="73152" marR="73152" marT="36576" marB="36576">
                    <a:solidFill>
                      <a:srgbClr val="FFFFFF"/>
                    </a:solidFill>
                  </a:tcPr>
                </a:tc>
                <a:tc>
                  <a:txBody>
                    <a:bodyPr/>
                    <a:lstStyle/>
                    <a:p>
                      <a:r>
                        <a:rPr sz="1300" b="0">
                          <a:solidFill>
                            <a:srgbClr val="1F2937"/>
                          </a:solidFill>
                        </a:rPr>
                        <a:t>Tergov-sud materiallari; kasb huquqbuzarligi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Predmetning sakkiz bo‘limi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Fanning zamonaviy tarkibiy qismlari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Fan hozir 9 qismdan iborat: tarix, asoslar, tanatologiya, travmatologiya va boshqalar.</a:t>
            </a:r>
          </a:p>
          <a:p>
            <a:pPr>
              <a:spcAft>
                <a:spcPts val="800"/>
              </a:spcAft>
            </a:pPr>
            <a:r>
              <a:rPr sz="1800">
                <a:solidFill>
                  <a:srgbClr val="1F2937"/>
                </a:solidFill>
                <a:latin typeface="Calibri"/>
              </a:rPr>
              <a:t>▸  Qolgan qismlar: akusherlik-ginekologiya, toksikologiya, biologiya, tashqi omillar va identifikatsiya.</a:t>
            </a:r>
          </a:p>
          <a:p>
            <a:pPr>
              <a:spcAft>
                <a:spcPts val="800"/>
              </a:spcAft>
            </a:pPr>
            <a:r>
              <a:rPr sz="1800">
                <a:solidFill>
                  <a:srgbClr val="1F2937"/>
                </a:solidFill>
                <a:latin typeface="Calibri"/>
              </a:rPr>
              <a:t>▸  2002-yilda kasb huquqbuzarliklari bo‘limi “Vrach faoliyatining huquqiy asoslari” fani sifatida ajraldi.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Qismlar</a:t>
                      </a:r>
                    </a:p>
                  </a:txBody>
                  <a:tcPr marL="73152" marR="73152" marT="36576" marB="36576">
                    <a:solidFill>
                      <a:srgbClr val="0B1F3A"/>
                    </a:solidFill>
                  </a:tcPr>
                </a:tc>
              </a:tr>
              <a:tr h="411480">
                <a:tc>
                  <a:txBody>
                    <a:bodyPr/>
                    <a:lstStyle/>
                    <a:p>
                      <a:r>
                        <a:rPr sz="1300" b="0">
                          <a:solidFill>
                            <a:srgbClr val="1F2937"/>
                          </a:solidFill>
                        </a:rPr>
                        <a:t>Tarix va huquq</a:t>
                      </a:r>
                    </a:p>
                  </a:txBody>
                  <a:tcPr marL="73152" marR="73152" marT="36576" marB="36576">
                    <a:solidFill>
                      <a:srgbClr val="E8EEF6"/>
                    </a:solidFill>
                  </a:tcPr>
                </a:tc>
                <a:tc>
                  <a:txBody>
                    <a:bodyPr/>
                    <a:lstStyle/>
                    <a:p>
                      <a:r>
                        <a:rPr sz="1300" b="0">
                          <a:solidFill>
                            <a:srgbClr val="1F2937"/>
                          </a:solidFill>
                        </a:rPr>
                        <a:t>Fan tarixi; tashkiliy va protsessual asoslar</a:t>
                      </a:r>
                    </a:p>
                  </a:txBody>
                  <a:tcPr marL="73152" marR="73152" marT="36576" marB="36576">
                    <a:solidFill>
                      <a:srgbClr val="E8EEF6"/>
                    </a:solidFill>
                  </a:tcPr>
                </a:tc>
              </a:tr>
              <a:tr h="411480">
                <a:tc>
                  <a:txBody>
                    <a:bodyPr/>
                    <a:lstStyle/>
                    <a:p>
                      <a:r>
                        <a:rPr sz="1300" b="0">
                          <a:solidFill>
                            <a:srgbClr val="1F2937"/>
                          </a:solidFill>
                        </a:rPr>
                        <a:t>Murda va jarohat</a:t>
                      </a:r>
                    </a:p>
                  </a:txBody>
                  <a:tcPr marL="73152" marR="73152" marT="36576" marB="36576">
                    <a:solidFill>
                      <a:srgbClr val="FFFFFF"/>
                    </a:solidFill>
                  </a:tcPr>
                </a:tc>
                <a:tc>
                  <a:txBody>
                    <a:bodyPr/>
                    <a:lstStyle/>
                    <a:p>
                      <a:r>
                        <a:rPr sz="1300" b="0">
                          <a:solidFill>
                            <a:srgbClr val="1F2937"/>
                          </a:solidFill>
                        </a:rPr>
                        <a:t>Tanatologiya, travmatologiya</a:t>
                      </a:r>
                    </a:p>
                  </a:txBody>
                  <a:tcPr marL="73152" marR="73152" marT="36576" marB="36576">
                    <a:solidFill>
                      <a:srgbClr val="FFFFFF"/>
                    </a:solidFill>
                  </a:tcPr>
                </a:tc>
              </a:tr>
              <a:tr h="411480">
                <a:tc>
                  <a:txBody>
                    <a:bodyPr/>
                    <a:lstStyle/>
                    <a:p>
                      <a:r>
                        <a:rPr sz="1300" b="0">
                          <a:solidFill>
                            <a:srgbClr val="1F2937"/>
                          </a:solidFill>
                        </a:rPr>
                        <a:t>Maxsus bo‘limlar</a:t>
                      </a:r>
                    </a:p>
                  </a:txBody>
                  <a:tcPr marL="73152" marR="73152" marT="36576" marB="36576">
                    <a:solidFill>
                      <a:srgbClr val="E8EEF6"/>
                    </a:solidFill>
                  </a:tcPr>
                </a:tc>
                <a:tc>
                  <a:txBody>
                    <a:bodyPr/>
                    <a:lstStyle/>
                    <a:p>
                      <a:r>
                        <a:rPr sz="1300" b="0">
                          <a:solidFill>
                            <a:srgbClr val="1F2937"/>
                          </a:solidFill>
                        </a:rPr>
                        <a:t>Akusherlik-ginekologiya, toksikologiya</a:t>
                      </a:r>
                    </a:p>
                  </a:txBody>
                  <a:tcPr marL="73152" marR="73152" marT="36576" marB="36576">
                    <a:solidFill>
                      <a:srgbClr val="E8EEF6"/>
                    </a:solidFill>
                  </a:tcPr>
                </a:tc>
              </a:tr>
              <a:tr h="411480">
                <a:tc>
                  <a:txBody>
                    <a:bodyPr/>
                    <a:lstStyle/>
                    <a:p>
                      <a:r>
                        <a:rPr sz="1300" b="0">
                          <a:solidFill>
                            <a:srgbClr val="1F2937"/>
                          </a:solidFill>
                        </a:rPr>
                        <a:t>Boshqa qismlar</a:t>
                      </a:r>
                    </a:p>
                  </a:txBody>
                  <a:tcPr marL="73152" marR="73152" marT="36576" marB="36576">
                    <a:solidFill>
                      <a:srgbClr val="FFFFFF"/>
                    </a:solidFill>
                  </a:tcPr>
                </a:tc>
                <a:tc>
                  <a:txBody>
                    <a:bodyPr/>
                    <a:lstStyle/>
                    <a:p>
                      <a:r>
                        <a:rPr sz="1300" b="0">
                          <a:solidFill>
                            <a:srgbClr val="1F2937"/>
                          </a:solidFill>
                        </a:rPr>
                        <a:t>Biologiya; tashqi omillar; identifikatsiya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Fan tarkibi (guruhlangan)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boshqa fanlar bilan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 fundamental emas, amaliy fan; tibbiy, yuridik, tabiiy va falsafa fanlari bilan bog‘liq.</a:t>
            </a:r>
          </a:p>
          <a:p>
            <a:pPr>
              <a:spcAft>
                <a:spcPts val="800"/>
              </a:spcAft>
            </a:pPr>
            <a:r>
              <a:rPr sz="1800">
                <a:solidFill>
                  <a:srgbClr val="1F2937"/>
                </a:solidFill>
                <a:latin typeface="Calibri"/>
              </a:rPr>
              <a:t>▸  Ekspert bir paytda barcha ixtisoslarni to‘liq bilolmaydi; klinik bilimlar esa ayrim ekspertizalarda muhim.</a:t>
            </a:r>
          </a:p>
          <a:p>
            <a:pPr>
              <a:spcAft>
                <a:spcPts val="800"/>
              </a:spcAft>
            </a:pPr>
            <a:r>
              <a:rPr sz="1800">
                <a:solidFill>
                  <a:srgbClr val="1F2937"/>
                </a:solidFill>
                <a:latin typeface="Calibri"/>
              </a:rPr>
              <a:t>▸  Davolovchi mutaxassis diagnostika va davolashga, ekspert esa holatni huquqiy baholashga yondashadi.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Fan guruhi</a:t>
                      </a:r>
                    </a:p>
                  </a:txBody>
                  <a:tcPr marL="73152" marR="73152" marT="36576" marB="36576">
                    <a:solidFill>
                      <a:srgbClr val="0B1F3A"/>
                    </a:solidFill>
                  </a:tcPr>
                </a:tc>
                <a:tc>
                  <a:txBody>
                    <a:bodyPr/>
                    <a:lstStyle/>
                    <a:p>
                      <a:r>
                        <a:rPr sz="1400" b="1">
                          <a:solidFill>
                            <a:srgbClr val="FFFFFF"/>
                          </a:solidFill>
                        </a:rPr>
                        <a:t>Roli</a:t>
                      </a:r>
                    </a:p>
                  </a:txBody>
                  <a:tcPr marL="73152" marR="73152" marT="36576" marB="36576">
                    <a:solidFill>
                      <a:srgbClr val="0B1F3A"/>
                    </a:solidFill>
                  </a:tcPr>
                </a:tc>
              </a:tr>
              <a:tr h="411480">
                <a:tc>
                  <a:txBody>
                    <a:bodyPr/>
                    <a:lstStyle/>
                    <a:p>
                      <a:r>
                        <a:rPr sz="1300" b="0">
                          <a:solidFill>
                            <a:srgbClr val="1F2937"/>
                          </a:solidFill>
                        </a:rPr>
                        <a:t>Fundamental tibbiy</a:t>
                      </a:r>
                    </a:p>
                  </a:txBody>
                  <a:tcPr marL="73152" marR="73152" marT="36576" marB="36576">
                    <a:solidFill>
                      <a:srgbClr val="E8EEF6"/>
                    </a:solidFill>
                  </a:tcPr>
                </a:tc>
                <a:tc>
                  <a:txBody>
                    <a:bodyPr/>
                    <a:lstStyle/>
                    <a:p>
                      <a:r>
                        <a:rPr sz="1300" b="0">
                          <a:solidFill>
                            <a:srgbClr val="1F2937"/>
                          </a:solidFill>
                        </a:rPr>
                        <a:t>Poydevor; ularsiz ekspertiza o‘tmaydi</a:t>
                      </a:r>
                    </a:p>
                  </a:txBody>
                  <a:tcPr marL="73152" marR="73152" marT="36576" marB="36576">
                    <a:solidFill>
                      <a:srgbClr val="E8EEF6"/>
                    </a:solidFill>
                  </a:tcPr>
                </a:tc>
              </a:tr>
              <a:tr h="411480">
                <a:tc>
                  <a:txBody>
                    <a:bodyPr/>
                    <a:lstStyle/>
                    <a:p>
                      <a:r>
                        <a:rPr sz="1300" b="0">
                          <a:solidFill>
                            <a:srgbClr val="1F2937"/>
                          </a:solidFill>
                        </a:rPr>
                        <a:t>Klinik fanlar</a:t>
                      </a:r>
                    </a:p>
                  </a:txBody>
                  <a:tcPr marL="73152" marR="73152" marT="36576" marB="36576">
                    <a:solidFill>
                      <a:srgbClr val="FFFFFF"/>
                    </a:solidFill>
                  </a:tcPr>
                </a:tc>
                <a:tc>
                  <a:txBody>
                    <a:bodyPr/>
                    <a:lstStyle/>
                    <a:p>
                      <a:r>
                        <a:rPr sz="1300" b="0">
                          <a:solidFill>
                            <a:srgbClr val="1F2937"/>
                          </a:solidFill>
                        </a:rPr>
                        <a:t>Travmatologiya, akusherlik, oftalmologiya</a:t>
                      </a:r>
                    </a:p>
                  </a:txBody>
                  <a:tcPr marL="73152" marR="73152" marT="36576" marB="36576">
                    <a:solidFill>
                      <a:srgbClr val="FFFFFF"/>
                    </a:solidFill>
                  </a:tcPr>
                </a:tc>
              </a:tr>
              <a:tr h="411480">
                <a:tc>
                  <a:txBody>
                    <a:bodyPr/>
                    <a:lstStyle/>
                    <a:p>
                      <a:r>
                        <a:rPr sz="1300" b="0">
                          <a:solidFill>
                            <a:srgbClr val="1F2937"/>
                          </a:solidFill>
                        </a:rPr>
                        <a:t>Kimyo va fizika</a:t>
                      </a:r>
                    </a:p>
                  </a:txBody>
                  <a:tcPr marL="73152" marR="73152" marT="36576" marB="36576">
                    <a:solidFill>
                      <a:srgbClr val="E8EEF6"/>
                    </a:solidFill>
                  </a:tcPr>
                </a:tc>
                <a:tc>
                  <a:txBody>
                    <a:bodyPr/>
                    <a:lstStyle/>
                    <a:p>
                      <a:r>
                        <a:rPr sz="1300" b="0">
                          <a:solidFill>
                            <a:srgbClr val="1F2937"/>
                          </a:solidFill>
                        </a:rPr>
                        <a:t>Toksikologiya; harorat, tok, bosim ta’siri</a:t>
                      </a:r>
                    </a:p>
                  </a:txBody>
                  <a:tcPr marL="73152" marR="73152" marT="36576" marB="36576">
                    <a:solidFill>
                      <a:srgbClr val="E8EEF6"/>
                    </a:solidFill>
                  </a:tcPr>
                </a:tc>
              </a:tr>
              <a:tr h="411480">
                <a:tc>
                  <a:txBody>
                    <a:bodyPr/>
                    <a:lstStyle/>
                    <a:p>
                      <a:r>
                        <a:rPr sz="1300" b="0">
                          <a:solidFill>
                            <a:srgbClr val="1F2937"/>
                          </a:solidFill>
                        </a:rPr>
                        <a:t>Falsafa va mantiq</a:t>
                      </a:r>
                    </a:p>
                  </a:txBody>
                  <a:tcPr marL="73152" marR="73152" marT="36576" marB="36576">
                    <a:solidFill>
                      <a:srgbClr val="FFFFFF"/>
                    </a:solidFill>
                  </a:tcPr>
                </a:tc>
                <a:tc>
                  <a:txBody>
                    <a:bodyPr/>
                    <a:lstStyle/>
                    <a:p>
                      <a:r>
                        <a:rPr sz="1300" b="0">
                          <a:solidFill>
                            <a:srgbClr val="1F2937"/>
                          </a:solidFill>
                        </a:rPr>
                        <a:t>Dialektik baholash, xulosada mantiq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Fanlar aloqasi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fan va uning tarkibi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Sud tibbiyotining predmeti nima? Javob: sud-tibbiy ekspertizaning nazariyasi va amaliyoti; tizimni 1948-yilda M.I.Avdeev taklif etgan.</a:t>
            </a:r>
          </a:p>
          <a:p>
            <a:pPr>
              <a:spcAft>
                <a:spcPts val="1200"/>
              </a:spcAft>
            </a:pPr>
            <a:r>
              <a:rPr sz="2200">
                <a:solidFill>
                  <a:srgbClr val="1F2937"/>
                </a:solidFill>
                <a:latin typeface="Calibri"/>
              </a:rPr>
              <a:t>▸  Savol 2. 2002-yilda qaysi qism alohida fanga aylandi? Javob: tibbiy xodimlarning kasb huquqbuzarliklari — “Vrach faoliyatining huquqiy asoslari”.</a:t>
            </a:r>
          </a:p>
          <a:p>
            <a:pPr>
              <a:spcAft>
                <a:spcPts val="1200"/>
              </a:spcAft>
            </a:pPr>
            <a:r>
              <a:rPr sz="2200">
                <a:solidFill>
                  <a:srgbClr val="1F2937"/>
                </a:solidFill>
                <a:latin typeface="Calibri"/>
              </a:rPr>
              <a:t>▸  Savol 3. Jinoiy abort va ko‘z shikasti holatlarida qaysi klinik bilim kerak? Javob: akusherlik-ginekologiya va oftalmologiya.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ekspertiza prinsiplari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ekspertizasi to‘g‘risida”gi Qonunda asosiy prinsiplar: qonuniylik, inson huquq va erkinliklariga rioya, ekspert mustaqilligi, xolislik, har tomonlamalik va to‘liqlik.</a:t>
            </a:r>
          </a:p>
          <a:p>
            <a:pPr>
              <a:spcAft>
                <a:spcPts val="1200"/>
              </a:spcAft>
            </a:pPr>
            <a:r>
              <a:rPr sz="2200">
                <a:solidFill>
                  <a:srgbClr val="1F2937"/>
                </a:solidFill>
                <a:latin typeface="Calibri"/>
              </a:rPr>
              <a:t>▸  Prinsiplar ko‘p yillik ekspertiza amaliyotini o‘rganish va tahlil qilishdan olingan, umumlashtirilgan faktlardir.</a:t>
            </a:r>
          </a:p>
          <a:p>
            <a:pPr>
              <a:spcAft>
                <a:spcPts val="1200"/>
              </a:spcAft>
            </a:pPr>
            <a:r>
              <a:rPr sz="2200">
                <a:solidFill>
                  <a:srgbClr val="1F2937"/>
                </a:solidFill>
                <a:latin typeface="Calibri"/>
              </a:rPr>
              <a:t>▸  Ekspert tekshiruvi doim ilmiy asoslanadi. Mustaqil ekspert tekshiruv, natija va xulosa uchun shaxsan mas’ul bo‘ladi va faqat o‘z vakolati doirasida ishlaydi.</a:t>
            </a:r>
          </a:p>
          <a:p>
            <a:pPr>
              <a:spcAft>
                <a:spcPts val="1200"/>
              </a:spcAft>
            </a:pPr>
            <a:r>
              <a:rPr sz="2200">
                <a:solidFill>
                  <a:srgbClr val="1F2937"/>
                </a:solidFill>
                <a:latin typeface="Calibri"/>
              </a:rPr>
              <a:t>▸  Tashabbus huquqi: ekspert xulosada so‘ralgan savollardan tashqari, ish uchun muhim boshqa masalalar bo‘yicha ham fikr bildirishi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7–9 (1.4-bo‘lim)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ob’ektlari va identifikatsiya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 ob’ektlari to‘rtta: murda, tirik shaxslar, ashyoviy dalillar hamda jinoiy va fuqarolik ishlari materiallari.</a:t>
            </a:r>
          </a:p>
          <a:p>
            <a:pPr>
              <a:spcAft>
                <a:spcPts val="1200"/>
              </a:spcAft>
            </a:pPr>
            <a:r>
              <a:rPr sz="2200">
                <a:solidFill>
                  <a:srgbClr val="1F2937"/>
                </a:solidFill>
                <a:latin typeface="Calibri"/>
              </a:rPr>
              <a:t>▸  Ob’ektlarni ekspertizani tayinlagan shaxs taqdim etadi va ularning ishonchliligiga o‘zi javob beradi.</a:t>
            </a:r>
          </a:p>
          <a:p>
            <a:pPr>
              <a:spcAft>
                <a:spcPts val="1200"/>
              </a:spcAft>
            </a:pPr>
            <a:r>
              <a:rPr sz="2200">
                <a:solidFill>
                  <a:srgbClr val="1F2937"/>
                </a:solidFill>
                <a:latin typeface="Calibri"/>
              </a:rPr>
              <a:t>▸  Ob’ekt faqat ma’lum davrda dalil manbai bo‘la oladi. Masalan, aksariyat shilinma va qontalashlarni dastlabki 10–15 kungacha tekshirish maqsadga muvofiq.</a:t>
            </a:r>
          </a:p>
          <a:p>
            <a:pPr>
              <a:spcAft>
                <a:spcPts val="1200"/>
              </a:spcAft>
            </a:pPr>
            <a:r>
              <a:rPr sz="2200">
                <a:solidFill>
                  <a:srgbClr val="1F2937"/>
                </a:solidFill>
                <a:latin typeface="Calibri"/>
              </a:rPr>
              <a:t>▸  Diqqat: xato qilish xavfi. 10–15 kun muddati aksariyat shilinma va qontalashga tegishli; uni barcha jarohatlarga umumlashtirmang.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7–9 (1.5-bo‘lim), 7–9 (1.4-bo‘lim)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ekspertiza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Usullar uch guruhga bo‘linadi: umumilmiy, xususiy va maxsus.</a:t>
            </a:r>
          </a:p>
          <a:p>
            <a:pPr>
              <a:spcAft>
                <a:spcPts val="800"/>
              </a:spcAft>
            </a:pPr>
            <a:r>
              <a:rPr sz="1800">
                <a:solidFill>
                  <a:srgbClr val="1F2937"/>
                </a:solidFill>
                <a:latin typeface="Calibri"/>
              </a:rPr>
              <a:t>▸  Usul ilmiy asosli, oddiy, barqaror natijali va takroriy tekshirishga imkon beradigan bo‘lishi kerak.</a:t>
            </a:r>
          </a:p>
          <a:p>
            <a:pPr>
              <a:spcAft>
                <a:spcPts val="800"/>
              </a:spcAft>
            </a:pPr>
            <a:r>
              <a:rPr sz="1800">
                <a:solidFill>
                  <a:srgbClr val="1F2937"/>
                </a:solidFill>
                <a:latin typeface="Calibri"/>
              </a:rPr>
              <a:t>▸  Faqat mamlakat Bosh sud-tibbiy ekspertizasi ruxsat etgan yoki tavsiya qilgan usullar qo‘llanadi.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r>
              <a:tr h="411480">
                <a:tc>
                  <a:txBody>
                    <a:bodyPr/>
                    <a:lstStyle/>
                    <a:p>
                      <a:r>
                        <a:rPr sz="1200" b="0">
                          <a:solidFill>
                            <a:srgbClr val="1F2937"/>
                          </a:solidFill>
                        </a:rPr>
                        <a:t>Umumilmiy</a:t>
                      </a:r>
                    </a:p>
                  </a:txBody>
                  <a:tcPr marL="73152" marR="73152" marT="36576" marB="36576">
                    <a:solidFill>
                      <a:srgbClr val="E8EEF6"/>
                    </a:solidFill>
                  </a:tcPr>
                </a:tc>
                <a:tc>
                  <a:txBody>
                    <a:bodyPr/>
                    <a:lstStyle/>
                    <a:p>
                      <a:r>
                        <a:rPr sz="1200" b="0">
                          <a:solidFill>
                            <a:srgbClr val="1F2937"/>
                          </a:solidFill>
                        </a:rPr>
                        <a:t>Kuzatuv, tavsif, taqqoslash, o‘lchash</a:t>
                      </a:r>
                    </a:p>
                  </a:txBody>
                  <a:tcPr marL="73152" marR="73152" marT="36576" marB="36576">
                    <a:solidFill>
                      <a:srgbClr val="E8EEF6"/>
                    </a:solidFill>
                  </a:tcPr>
                </a:tc>
                <a:tc>
                  <a:txBody>
                    <a:bodyPr/>
                    <a:lstStyle/>
                    <a:p>
                      <a:r>
                        <a:rPr sz="1200" b="0">
                          <a:solidFill>
                            <a:srgbClr val="1F2937"/>
                          </a:solidFill>
                        </a:rPr>
                        <a:t>Umumiy tusga ega, turli fanlarda qo‘llanadi</a:t>
                      </a:r>
                    </a:p>
                  </a:txBody>
                  <a:tcPr marL="73152" marR="73152" marT="36576" marB="36576">
                    <a:solidFill>
                      <a:srgbClr val="E8EEF6"/>
                    </a:solidFill>
                  </a:tcPr>
                </a:tc>
              </a:tr>
              <a:tr h="411480">
                <a:tc>
                  <a:txBody>
                    <a:bodyPr/>
                    <a:lstStyle/>
                    <a:p>
                      <a:r>
                        <a:rPr sz="1200" b="0">
                          <a:solidFill>
                            <a:srgbClr val="1F2937"/>
                          </a:solidFill>
                        </a:rPr>
                        <a:t>Xususiy</a:t>
                      </a:r>
                    </a:p>
                  </a:txBody>
                  <a:tcPr marL="73152" marR="73152" marT="36576" marB="36576">
                    <a:solidFill>
                      <a:srgbClr val="FFFFFF"/>
                    </a:solidFill>
                  </a:tcPr>
                </a:tc>
                <a:tc>
                  <a:txBody>
                    <a:bodyPr/>
                    <a:lstStyle/>
                    <a:p>
                      <a:r>
                        <a:rPr sz="1200" b="0">
                          <a:solidFill>
                            <a:srgbClr val="1F2937"/>
                          </a:solidFill>
                        </a:rPr>
                        <a:t>Morfologik, klinik, rentgenologik, kimyoviy</a:t>
                      </a:r>
                    </a:p>
                  </a:txBody>
                  <a:tcPr marL="73152" marR="73152" marT="36576" marB="36576">
                    <a:solidFill>
                      <a:srgbClr val="FFFFFF"/>
                    </a:solidFill>
                  </a:tcPr>
                </a:tc>
                <a:tc>
                  <a:txBody>
                    <a:bodyPr/>
                    <a:lstStyle/>
                    <a:p>
                      <a:r>
                        <a:rPr sz="1200" b="0">
                          <a:solidFill>
                            <a:srgbClr val="1F2937"/>
                          </a:solidFill>
                        </a:rPr>
                        <a:t>Bir fanga xos, ekspertizada ham ishlatiladi</a:t>
                      </a:r>
                    </a:p>
                  </a:txBody>
                  <a:tcPr marL="73152" marR="73152" marT="36576" marB="36576">
                    <a:solidFill>
                      <a:srgbClr val="FFFFFF"/>
                    </a:solidFill>
                  </a:tcPr>
                </a:tc>
              </a:tr>
              <a:tr h="411480">
                <a:tc>
                  <a:txBody>
                    <a:bodyPr/>
                    <a:lstStyle/>
                    <a:p>
                      <a:r>
                        <a:rPr sz="1200" b="0">
                          <a:solidFill>
                            <a:srgbClr val="1F2937"/>
                          </a:solidFill>
                        </a:rPr>
                        <a:t>Maxsus</a:t>
                      </a:r>
                    </a:p>
                  </a:txBody>
                  <a:tcPr marL="73152" marR="73152" marT="36576" marB="36576">
                    <a:solidFill>
                      <a:srgbClr val="E8EEF6"/>
                    </a:solidFill>
                  </a:tcPr>
                </a:tc>
                <a:tc>
                  <a:txBody>
                    <a:bodyPr/>
                    <a:lstStyle/>
                    <a:p>
                      <a:r>
                        <a:rPr sz="1200" b="0">
                          <a:solidFill>
                            <a:srgbClr val="1F2937"/>
                          </a:solidFill>
                        </a:rPr>
                        <a:t>Fototaqqoslash; jarohat–pichoq qiyosi</a:t>
                      </a:r>
                    </a:p>
                  </a:txBody>
                  <a:tcPr marL="73152" marR="73152" marT="36576" marB="36576">
                    <a:solidFill>
                      <a:srgbClr val="E8EEF6"/>
                    </a:solidFill>
                  </a:tcPr>
                </a:tc>
                <a:tc>
                  <a:txBody>
                    <a:bodyPr/>
                    <a:lstStyle/>
                    <a:p>
                      <a:r>
                        <a:rPr sz="1200" b="0">
                          <a:solidFill>
                            <a:srgbClr val="1F2937"/>
                          </a:solidFill>
                        </a:rPr>
                        <a:t>Shaxs va qurol aynanligini aniqlash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7–9 (1.5-bo‘lim)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ekspertiza asoslari bo‘yicha vaziyat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tergovchi murda, tirik shaxs va ashyoviy dalil (pichoq) bo‘yicha ekspertiza tayinladi. Ob’ektlarni tayinlagan shaxs taqdim etadi va ularning ishonchliligiga javob beradi.</a:t>
            </a:r>
          </a:p>
          <a:p>
            <a:pPr>
              <a:spcAft>
                <a:spcPts val="1200"/>
              </a:spcAft>
            </a:pPr>
            <a:r>
              <a:rPr sz="2000">
                <a:solidFill>
                  <a:srgbClr val="1F2937"/>
                </a:solidFill>
                <a:latin typeface="Calibri"/>
              </a:rPr>
              <a:t>▸  Ekspert kuzatuv va o‘lchashni (umumilmiy usul), rentgenologik va kimyoviy tekshiruvni (xususiy usul), pichoqni qiyosiy o‘rganishni (maxsus usul) qo‘llaydi.</a:t>
            </a:r>
          </a:p>
          <a:p>
            <a:pPr>
              <a:spcAft>
                <a:spcPts val="1200"/>
              </a:spcAft>
            </a:pPr>
            <a:r>
              <a:rPr sz="2000">
                <a:solidFill>
                  <a:srgbClr val="1F2937"/>
                </a:solidFill>
                <a:latin typeface="Calibri"/>
              </a:rPr>
              <a:t>▸  Davr: shilinma va qontalashlarni dastlabki 10-15 kungacha tekshirish maqsadga muvofiq. Kasallik belgilari uchun murda imkon qadar qisqa muddatda tekshirilishi kerak.</a:t>
            </a:r>
          </a:p>
          <a:p>
            <a:pPr>
              <a:spcAft>
                <a:spcPts val="1200"/>
              </a:spcAft>
            </a:pPr>
            <a:r>
              <a:rPr sz="2000">
                <a:solidFill>
                  <a:srgbClr val="1F2937"/>
                </a:solidFill>
                <a:latin typeface="Calibri"/>
              </a:rPr>
              <a:t>▸  Savol: kuzatuv, rentgen va pichoqni qiyosiy o‘rganish qaysi usul guruhlariga kiradi? Diqqat: xususiy ≠ maxsus; maxsus usullar asosan sud-tibbiy amaliyotda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7-8, 8, 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Jahon tarixi: qadimgi davr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Sparta: “Likurg qonunlari” (e.a. IX-VIII asr) tibbiy tekshiruvni qayd etgan; qoidalarda Gippokrat qatnashgan.</a:t>
            </a:r>
          </a:p>
          <a:p>
            <a:pPr>
              <a:spcAft>
                <a:spcPts val="800"/>
              </a:spcAft>
            </a:pPr>
            <a:r>
              <a:rPr sz="1800">
                <a:solidFill>
                  <a:srgbClr val="1F2937"/>
                </a:solidFill>
                <a:latin typeface="Calibri"/>
              </a:rPr>
              <a:t>▸  Sezar murdasini vrach Antistius ko‘zdan kechirdi: 23 jarohatdan faqat bittasi o‘limga olib kelgan.</a:t>
            </a:r>
          </a:p>
          <a:p>
            <a:pPr>
              <a:spcAft>
                <a:spcPts val="800"/>
              </a:spcAft>
            </a:pPr>
            <a:r>
              <a:rPr sz="1800">
                <a:solidFill>
                  <a:srgbClr val="1F2937"/>
                </a:solidFill>
                <a:latin typeface="Calibri"/>
              </a:rPr>
              <a:t>▸  Yustinian kodeksi (VI asr): vrach va doyalar xulosasi guvoh ko‘rsatmasidan ahamiyatliroq.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59008"/>
                <a:gridCol w="1231446"/>
                <a:gridCol w="2897520"/>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Voqea</a:t>
                      </a:r>
                    </a:p>
                  </a:txBody>
                  <a:tcPr marL="73152" marR="73152" marT="36576" marB="36576">
                    <a:solidFill>
                      <a:srgbClr val="0B1F3A"/>
                    </a:solidFill>
                  </a:tcPr>
                </a:tc>
                <a:tc>
                  <a:txBody>
                    <a:bodyPr/>
                    <a:lstStyle/>
                    <a:p>
                      <a:r>
                        <a:rPr sz="1300" b="1">
                          <a:solidFill>
                            <a:srgbClr val="FFFFFF"/>
                          </a:solidFill>
                        </a:rPr>
                        <a:t>Mazmun</a:t>
                      </a:r>
                    </a:p>
                  </a:txBody>
                  <a:tcPr marL="73152" marR="73152" marT="36576" marB="36576">
                    <a:solidFill>
                      <a:srgbClr val="0B1F3A"/>
                    </a:solidFill>
                  </a:tcPr>
                </a:tc>
              </a:tr>
              <a:tr h="411480">
                <a:tc>
                  <a:txBody>
                    <a:bodyPr/>
                    <a:lstStyle/>
                    <a:p>
                      <a:r>
                        <a:rPr sz="1200" b="0">
                          <a:solidFill>
                            <a:srgbClr val="1F2937"/>
                          </a:solidFill>
                        </a:rPr>
                        <a:t>E.a. IX-VIII asr</a:t>
                      </a:r>
                    </a:p>
                  </a:txBody>
                  <a:tcPr marL="73152" marR="73152" marT="36576" marB="36576">
                    <a:solidFill>
                      <a:srgbClr val="E8EEF6"/>
                    </a:solidFill>
                  </a:tcPr>
                </a:tc>
                <a:tc>
                  <a:txBody>
                    <a:bodyPr/>
                    <a:lstStyle/>
                    <a:p>
                      <a:r>
                        <a:rPr sz="1200" b="0">
                          <a:solidFill>
                            <a:srgbClr val="1F2937"/>
                          </a:solidFill>
                        </a:rPr>
                        <a:t>Likurg qonunlari</a:t>
                      </a:r>
                    </a:p>
                  </a:txBody>
                  <a:tcPr marL="73152" marR="73152" marT="36576" marB="36576">
                    <a:solidFill>
                      <a:srgbClr val="E8EEF6"/>
                    </a:solidFill>
                  </a:tcPr>
                </a:tc>
                <a:tc>
                  <a:txBody>
                    <a:bodyPr/>
                    <a:lstStyle/>
                    <a:p>
                      <a:r>
                        <a:rPr sz="1200" b="0">
                          <a:solidFill>
                            <a:srgbClr val="1F2937"/>
                          </a:solidFill>
                        </a:rPr>
                        <a:t>Ayrim hollarda tibbiy tekshiruv</a:t>
                      </a:r>
                    </a:p>
                  </a:txBody>
                  <a:tcPr marL="73152" marR="73152" marT="36576" marB="36576">
                    <a:solidFill>
                      <a:srgbClr val="E8EEF6"/>
                    </a:solidFill>
                  </a:tcPr>
                </a:tc>
              </a:tr>
              <a:tr h="411480">
                <a:tc>
                  <a:txBody>
                    <a:bodyPr/>
                    <a:lstStyle/>
                    <a:p>
                      <a:r>
                        <a:rPr sz="1200" b="0">
                          <a:solidFill>
                            <a:srgbClr val="1F2937"/>
                          </a:solidFill>
                        </a:rPr>
                        <a:t>460-370 e.a.</a:t>
                      </a:r>
                    </a:p>
                  </a:txBody>
                  <a:tcPr marL="73152" marR="73152" marT="36576" marB="36576">
                    <a:solidFill>
                      <a:srgbClr val="FFFFFF"/>
                    </a:solidFill>
                  </a:tcPr>
                </a:tc>
                <a:tc>
                  <a:txBody>
                    <a:bodyPr/>
                    <a:lstStyle/>
                    <a:p>
                      <a:r>
                        <a:rPr sz="1200" b="0">
                          <a:solidFill>
                            <a:srgbClr val="1F2937"/>
                          </a:solidFill>
                        </a:rPr>
                        <a:t>Gippokrat</a:t>
                      </a:r>
                    </a:p>
                  </a:txBody>
                  <a:tcPr marL="73152" marR="73152" marT="36576" marB="36576">
                    <a:solidFill>
                      <a:srgbClr val="FFFFFF"/>
                    </a:solidFill>
                  </a:tcPr>
                </a:tc>
                <a:tc>
                  <a:txBody>
                    <a:bodyPr/>
                    <a:lstStyle/>
                    <a:p>
                      <a:r>
                        <a:rPr sz="1200" b="0">
                          <a:solidFill>
                            <a:srgbClr val="1F2937"/>
                          </a:solidFill>
                        </a:rPr>
                        <a:t>Murda qoidalarini tayyorlashda ishtirok</a:t>
                      </a:r>
                    </a:p>
                  </a:txBody>
                  <a:tcPr marL="73152" marR="73152" marT="36576" marB="36576">
                    <a:solidFill>
                      <a:srgbClr val="FFFFFF"/>
                    </a:solidFill>
                  </a:tcPr>
                </a:tc>
              </a:tr>
              <a:tr h="411480">
                <a:tc>
                  <a:txBody>
                    <a:bodyPr/>
                    <a:lstStyle/>
                    <a:p>
                      <a:r>
                        <a:rPr sz="1200" b="0">
                          <a:solidFill>
                            <a:srgbClr val="1F2937"/>
                          </a:solidFill>
                        </a:rPr>
                        <a:t>E.a. 44</a:t>
                      </a:r>
                    </a:p>
                  </a:txBody>
                  <a:tcPr marL="73152" marR="73152" marT="36576" marB="36576">
                    <a:solidFill>
                      <a:srgbClr val="E8EEF6"/>
                    </a:solidFill>
                  </a:tcPr>
                </a:tc>
                <a:tc>
                  <a:txBody>
                    <a:bodyPr/>
                    <a:lstStyle/>
                    <a:p>
                      <a:r>
                        <a:rPr sz="1200" b="0">
                          <a:solidFill>
                            <a:srgbClr val="1F2937"/>
                          </a:solidFill>
                        </a:rPr>
                        <a:t>Sezar, Antistius</a:t>
                      </a:r>
                    </a:p>
                  </a:txBody>
                  <a:tcPr marL="73152" marR="73152" marT="36576" marB="36576">
                    <a:solidFill>
                      <a:srgbClr val="E8EEF6"/>
                    </a:solidFill>
                  </a:tcPr>
                </a:tc>
                <a:tc>
                  <a:txBody>
                    <a:bodyPr/>
                    <a:lstStyle/>
                    <a:p>
                      <a:r>
                        <a:rPr sz="1200" b="0">
                          <a:solidFill>
                            <a:srgbClr val="1F2937"/>
                          </a:solidFill>
                        </a:rPr>
                        <a:t>23 jarohatdan 1 tasi o‘limga olib kelgan</a:t>
                      </a:r>
                    </a:p>
                  </a:txBody>
                  <a:tcPr marL="73152" marR="73152" marT="36576" marB="36576">
                    <a:solidFill>
                      <a:srgbClr val="E8EEF6"/>
                    </a:solidFill>
                  </a:tcPr>
                </a:tc>
              </a:tr>
              <a:tr h="411480">
                <a:tc>
                  <a:txBody>
                    <a:bodyPr/>
                    <a:lstStyle/>
                    <a:p>
                      <a:r>
                        <a:rPr sz="1200" b="0">
                          <a:solidFill>
                            <a:srgbClr val="1F2937"/>
                          </a:solidFill>
                        </a:rPr>
                        <a:t>VI asr</a:t>
                      </a:r>
                    </a:p>
                  </a:txBody>
                  <a:tcPr marL="73152" marR="73152" marT="36576" marB="36576">
                    <a:solidFill>
                      <a:srgbClr val="FFFFFF"/>
                    </a:solidFill>
                  </a:tcPr>
                </a:tc>
                <a:tc>
                  <a:txBody>
                    <a:bodyPr/>
                    <a:lstStyle/>
                    <a:p>
                      <a:r>
                        <a:rPr sz="1200" b="0">
                          <a:solidFill>
                            <a:srgbClr val="1F2937"/>
                          </a:solidFill>
                        </a:rPr>
                        <a:t>Yustinian kodeksi</a:t>
                      </a:r>
                    </a:p>
                  </a:txBody>
                  <a:tcPr marL="73152" marR="73152" marT="36576" marB="36576">
                    <a:solidFill>
                      <a:srgbClr val="FFFFFF"/>
                    </a:solidFill>
                  </a:tcPr>
                </a:tc>
                <a:tc>
                  <a:txBody>
                    <a:bodyPr/>
                    <a:lstStyle/>
                    <a:p>
                      <a:r>
                        <a:rPr sz="1200" b="0">
                          <a:solidFill>
                            <a:srgbClr val="1F2937"/>
                          </a:solidFill>
                        </a:rPr>
                        <a:t>Vrach xulosasi guvohdan ahamiyatliroq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Qadimgi davr xronologiyasi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 8-9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Jahon tarixi: o‘rta asrlar va Uyg‘onish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 Yuan Lu” qismlari: murda va jarohat, qurol, bo‘g‘ish va cho‘kish, zahar.</a:t>
            </a:r>
          </a:p>
          <a:p>
            <a:pPr>
              <a:spcAft>
                <a:spcPts val="800"/>
              </a:spcAft>
            </a:pPr>
            <a:r>
              <a:rPr sz="1800">
                <a:solidFill>
                  <a:srgbClr val="1F2937"/>
                </a:solidFill>
                <a:latin typeface="Calibri"/>
              </a:rPr>
              <a:t>▸  “Karolina”da qotillik, o‘z-o‘zini o‘ldirish, zaharlanish ishlarida vrach ishtiroki zarur deyilgan.</a:t>
            </a:r>
          </a:p>
          <a:p>
            <a:pPr>
              <a:spcAft>
                <a:spcPts val="800"/>
              </a:spcAft>
            </a:pPr>
            <a:r>
              <a:rPr sz="1800">
                <a:solidFill>
                  <a:srgbClr val="1F2937"/>
                </a:solidFill>
                <a:latin typeface="Calibri"/>
              </a:rPr>
              <a:t>▸  Pare “Opera chirurgica”da jarohat, asfiksiya, is gazi va xulosa namunalarini yoritgan.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208680"/>
                <a:gridCol w="1208680"/>
                <a:gridCol w="2870615"/>
              </a:tblGrid>
              <a:tr h="411480">
                <a:tc>
                  <a:txBody>
                    <a:bodyPr/>
                    <a:lstStyle/>
                    <a:p>
                      <a:r>
                        <a:rPr sz="1300" b="1">
                          <a:solidFill>
                            <a:srgbClr val="FFFFFF"/>
                          </a:solidFill>
                        </a:rPr>
                        <a:t>Yil/asr</a:t>
                      </a:r>
                    </a:p>
                  </a:txBody>
                  <a:tcPr marL="73152" marR="73152" marT="36576" marB="36576">
                    <a:solidFill>
                      <a:srgbClr val="0B1F3A"/>
                    </a:solidFill>
                  </a:tcPr>
                </a:tc>
                <a:tc>
                  <a:txBody>
                    <a:bodyPr/>
                    <a:lstStyle/>
                    <a:p>
                      <a:r>
                        <a:rPr sz="1300" b="1">
                          <a:solidFill>
                            <a:srgbClr val="FFFFFF"/>
                          </a:solidFill>
                        </a:rPr>
                        <a:t>Joy</a:t>
                      </a:r>
                    </a:p>
                  </a:txBody>
                  <a:tcPr marL="73152" marR="73152" marT="36576" marB="36576">
                    <a:solidFill>
                      <a:srgbClr val="0B1F3A"/>
                    </a:solidFill>
                  </a:tcPr>
                </a:tc>
                <a:tc>
                  <a:txBody>
                    <a:bodyPr/>
                    <a:lstStyle/>
                    <a:p>
                      <a:r>
                        <a:rPr sz="1300" b="1">
                          <a:solidFill>
                            <a:srgbClr val="FFFFFF"/>
                          </a:solidFill>
                        </a:rPr>
                        <a:t>Voqea</a:t>
                      </a:r>
                    </a:p>
                  </a:txBody>
                  <a:tcPr marL="73152" marR="73152" marT="36576" marB="36576">
                    <a:solidFill>
                      <a:srgbClr val="0B1F3A"/>
                    </a:solidFill>
                  </a:tcPr>
                </a:tc>
              </a:tr>
              <a:tr h="411480">
                <a:tc>
                  <a:txBody>
                    <a:bodyPr/>
                    <a:lstStyle/>
                    <a:p>
                      <a:r>
                        <a:rPr sz="1200" b="0">
                          <a:solidFill>
                            <a:srgbClr val="1F2937"/>
                          </a:solidFill>
                        </a:rPr>
                        <a:t>1247</a:t>
                      </a:r>
                    </a:p>
                  </a:txBody>
                  <a:tcPr marL="73152" marR="73152" marT="36576" marB="36576">
                    <a:solidFill>
                      <a:srgbClr val="E8EEF6"/>
                    </a:solidFill>
                  </a:tcPr>
                </a:tc>
                <a:tc>
                  <a:txBody>
                    <a:bodyPr/>
                    <a:lstStyle/>
                    <a:p>
                      <a:r>
                        <a:rPr sz="1200" b="0">
                          <a:solidFill>
                            <a:srgbClr val="1F2937"/>
                          </a:solidFill>
                        </a:rPr>
                        <a:t>Xitoy</a:t>
                      </a:r>
                    </a:p>
                  </a:txBody>
                  <a:tcPr marL="73152" marR="73152" marT="36576" marB="36576">
                    <a:solidFill>
                      <a:srgbClr val="E8EEF6"/>
                    </a:solidFill>
                  </a:tcPr>
                </a:tc>
                <a:tc>
                  <a:txBody>
                    <a:bodyPr/>
                    <a:lstStyle/>
                    <a:p>
                      <a:r>
                        <a:rPr sz="1200" b="0">
                          <a:solidFill>
                            <a:srgbClr val="1F2937"/>
                          </a:solidFill>
                        </a:rPr>
                        <a:t>Sun-si: “Si Yuan Lu”</a:t>
                      </a:r>
                    </a:p>
                  </a:txBody>
                  <a:tcPr marL="73152" marR="73152" marT="36576" marB="36576">
                    <a:solidFill>
                      <a:srgbClr val="E8EEF6"/>
                    </a:solidFill>
                  </a:tcPr>
                </a:tc>
              </a:tr>
              <a:tr h="411480">
                <a:tc>
                  <a:txBody>
                    <a:bodyPr/>
                    <a:lstStyle/>
                    <a:p>
                      <a:r>
                        <a:rPr sz="1200" b="0">
                          <a:solidFill>
                            <a:srgbClr val="1F2937"/>
                          </a:solidFill>
                        </a:rPr>
                        <a:t>XIII asr</a:t>
                      </a:r>
                    </a:p>
                  </a:txBody>
                  <a:tcPr marL="73152" marR="73152" marT="36576" marB="36576">
                    <a:solidFill>
                      <a:srgbClr val="FFFFFF"/>
                    </a:solidFill>
                  </a:tcPr>
                </a:tc>
                <a:tc>
                  <a:txBody>
                    <a:bodyPr/>
                    <a:lstStyle/>
                    <a:p>
                      <a:r>
                        <a:rPr sz="1200" b="0">
                          <a:solidFill>
                            <a:srgbClr val="1F2937"/>
                          </a:solidFill>
                        </a:rPr>
                        <a:t>Bolonya, Italiya</a:t>
                      </a:r>
                    </a:p>
                  </a:txBody>
                  <a:tcPr marL="73152" marR="73152" marT="36576" marB="36576">
                    <a:solidFill>
                      <a:srgbClr val="FFFFFF"/>
                    </a:solidFill>
                  </a:tcPr>
                </a:tc>
                <a:tc>
                  <a:txBody>
                    <a:bodyPr/>
                    <a:lstStyle/>
                    <a:p>
                      <a:r>
                        <a:rPr sz="1200" b="0">
                          <a:solidFill>
                            <a:srgbClr val="1F2937"/>
                          </a:solidFill>
                        </a:rPr>
                        <a:t>Xugo Lukka tribunalda xulosa bergan</a:t>
                      </a:r>
                    </a:p>
                  </a:txBody>
                  <a:tcPr marL="73152" marR="73152" marT="36576" marB="36576">
                    <a:solidFill>
                      <a:srgbClr val="FFFFFF"/>
                    </a:solidFill>
                  </a:tcPr>
                </a:tc>
              </a:tr>
              <a:tr h="411480">
                <a:tc>
                  <a:txBody>
                    <a:bodyPr/>
                    <a:lstStyle/>
                    <a:p>
                      <a:r>
                        <a:rPr sz="1200" b="0">
                          <a:solidFill>
                            <a:srgbClr val="1F2937"/>
                          </a:solidFill>
                        </a:rPr>
                        <a:t>XIV asr</a:t>
                      </a:r>
                    </a:p>
                  </a:txBody>
                  <a:tcPr marL="73152" marR="73152" marT="36576" marB="36576">
                    <a:solidFill>
                      <a:srgbClr val="E8EEF6"/>
                    </a:solidFill>
                  </a:tcPr>
                </a:tc>
                <a:tc>
                  <a:txBody>
                    <a:bodyPr/>
                    <a:lstStyle/>
                    <a:p>
                      <a:r>
                        <a:rPr sz="1200" b="0">
                          <a:solidFill>
                            <a:srgbClr val="1F2937"/>
                          </a:solidFill>
                        </a:rPr>
                        <a:t>Fransiya</a:t>
                      </a:r>
                    </a:p>
                  </a:txBody>
                  <a:tcPr marL="73152" marR="73152" marT="36576" marB="36576">
                    <a:solidFill>
                      <a:srgbClr val="E8EEF6"/>
                    </a:solidFill>
                  </a:tcPr>
                </a:tc>
                <a:tc>
                  <a:txBody>
                    <a:bodyPr/>
                    <a:lstStyle/>
                    <a:p>
                      <a:r>
                        <a:rPr sz="1200" b="0">
                          <a:solidFill>
                            <a:srgbClr val="1F2937"/>
                          </a:solidFill>
                        </a:rPr>
                        <a:t>Qirol xirurglari; Monpelede ilk ko‘rik</a:t>
                      </a:r>
                    </a:p>
                  </a:txBody>
                  <a:tcPr marL="73152" marR="73152" marT="36576" marB="36576">
                    <a:solidFill>
                      <a:srgbClr val="E8EEF6"/>
                    </a:solidFill>
                  </a:tcPr>
                </a:tc>
              </a:tr>
              <a:tr h="411480">
                <a:tc>
                  <a:txBody>
                    <a:bodyPr/>
                    <a:lstStyle/>
                    <a:p>
                      <a:r>
                        <a:rPr sz="1200" b="0">
                          <a:solidFill>
                            <a:srgbClr val="1F2937"/>
                          </a:solidFill>
                        </a:rPr>
                        <a:t>1532</a:t>
                      </a:r>
                    </a:p>
                  </a:txBody>
                  <a:tcPr marL="73152" marR="73152" marT="36576" marB="36576">
                    <a:solidFill>
                      <a:srgbClr val="FFFFFF"/>
                    </a:solidFill>
                  </a:tcPr>
                </a:tc>
                <a:tc>
                  <a:txBody>
                    <a:bodyPr/>
                    <a:lstStyle/>
                    <a:p>
                      <a:r>
                        <a:rPr sz="1200" b="0">
                          <a:solidFill>
                            <a:srgbClr val="1F2937"/>
                          </a:solidFill>
                        </a:rPr>
                        <a:t>Germaniya</a:t>
                      </a:r>
                    </a:p>
                  </a:txBody>
                  <a:tcPr marL="73152" marR="73152" marT="36576" marB="36576">
                    <a:solidFill>
                      <a:srgbClr val="FFFFFF"/>
                    </a:solidFill>
                  </a:tcPr>
                </a:tc>
                <a:tc>
                  <a:txBody>
                    <a:bodyPr/>
                    <a:lstStyle/>
                    <a:p>
                      <a:r>
                        <a:rPr sz="1200" b="0">
                          <a:solidFill>
                            <a:srgbClr val="1F2937"/>
                          </a:solidFill>
                        </a:rPr>
                        <a:t>“Karolina”: vrach ishtiroki zarur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O‘rta asrlar voqealari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Fanning shakllanishi va XIX-XX asr olimlari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 XVI asr oxiri–XVII asr boshida alohida fan bo‘la boshladi. 1681-yilda I.Shreer chaqaloq murdasida birinchi marta o‘pka sinamasini qo‘lladi.</a:t>
            </a:r>
          </a:p>
          <a:p>
            <a:pPr>
              <a:spcAft>
                <a:spcPts val="1200"/>
              </a:spcAft>
            </a:pPr>
            <a:r>
              <a:rPr sz="2000">
                <a:solidFill>
                  <a:srgbClr val="1F2937"/>
                </a:solidFill>
                <a:latin typeface="Calibri"/>
              </a:rPr>
              <a:t>▸  I.Bonning “Medicina forensis specimen” asarida fanni “sud tibbiyoti” deb atash taklif qilindi. Bu nom hozir ham ko‘p mamlakatda ishlatiladi.</a:t>
            </a:r>
          </a:p>
          <a:p>
            <a:pPr>
              <a:spcAft>
                <a:spcPts val="1200"/>
              </a:spcAft>
            </a:pPr>
            <a:r>
              <a:rPr sz="2000">
                <a:solidFill>
                  <a:srgbClr val="1F2937"/>
                </a:solidFill>
                <a:latin typeface="Calibri"/>
              </a:rPr>
              <a:t>▸  XVIII asr oxiri–XIX asr boshida Evropa universitetlarida fan anatomiya va xirurgiya bilan birga o‘qitilgan. Alohida kafedralar keyinroq ochilgan.</a:t>
            </a:r>
          </a:p>
          <a:p>
            <a:pPr>
              <a:spcAft>
                <a:spcPts val="1200"/>
              </a:spcAft>
            </a:pPr>
            <a:r>
              <a:rPr sz="2000">
                <a:solidFill>
                  <a:srgbClr val="1F2937"/>
                </a:solidFill>
                <a:latin typeface="Calibri"/>
              </a:rPr>
              <a:t>▸  N.I.Pirogov 1846-yilda murda tekshiruvi uchun atlas yaratdi va o‘q otar jarohatlarga oid ma’lumot berdi. XX asrda, ayniqsa Ikkinchi jahon urushidan so‘ng, ko‘p darsliklar yozildi.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Markaziy Osiyo: shariat davri va allomalar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XX asr boshigacha hozirgi O‘zbekiston hududida odil sudlov shariat qoidalariga asoslangan. Tibbiyot vakillarini jalb qilish ko‘zda tutilmagan.</a:t>
            </a:r>
          </a:p>
          <a:p>
            <a:pPr>
              <a:spcAft>
                <a:spcPts val="1200"/>
              </a:spcAft>
            </a:pPr>
            <a:r>
              <a:rPr sz="2200">
                <a:solidFill>
                  <a:srgbClr val="1F2937"/>
                </a:solidFill>
                <a:latin typeface="Calibri"/>
              </a:rPr>
              <a:t>▸  Beruniy, Ibn Sino va Ismoil Jurjoniy asarlarida sud tibbiyotiga oid yoki unga aloqador ma’lumotlar uchraydi.</a:t>
            </a:r>
          </a:p>
          <a:p>
            <a:pPr>
              <a:spcAft>
                <a:spcPts val="1200"/>
              </a:spcAft>
            </a:pPr>
            <a:r>
              <a:rPr sz="2200">
                <a:solidFill>
                  <a:srgbClr val="1F2937"/>
                </a:solidFill>
                <a:latin typeface="Calibri"/>
              </a:rPr>
              <a:t>▸  Ibn Sinoning “Tib qonunlari”da o‘limdan keyingi murda o‘zgarishlari, zo‘raki o‘limning ayrim turlari, zaharlar va jarohatlar haqida yozilgan.</a:t>
            </a:r>
          </a:p>
          <a:p>
            <a:pPr>
              <a:spcAft>
                <a:spcPts val="1200"/>
              </a:spcAft>
            </a:pPr>
            <a:r>
              <a:rPr sz="2200">
                <a:solidFill>
                  <a:srgbClr val="1F2937"/>
                </a:solidFill>
                <a:latin typeface="Calibri"/>
              </a:rPr>
              <a:t>▸  Diqqat: xato qilish xavfi. Bu ma’lumotlar odil sudlov uchun emas, asosan to‘g‘ri tibbiy yordam ko‘rsatish maqsadidagi tadqiqot natijasidir.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jahon va Sharq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1681-yilda Seyts shahrida chaqaloq murdasi tekshiruvida qaysi sinama birinchi marta qo‘llangan? Javob: o‘pka sinamasi (I.Shreer).</a:t>
            </a:r>
          </a:p>
          <a:p>
            <a:pPr>
              <a:spcAft>
                <a:spcPts val="1200"/>
              </a:spcAft>
            </a:pPr>
            <a:r>
              <a:rPr sz="2200">
                <a:solidFill>
                  <a:srgbClr val="1F2937"/>
                </a:solidFill>
                <a:latin typeface="Calibri"/>
              </a:rPr>
              <a:t>▸  Savol: fanni “sud tibbiyoti” deb atashni kim, qaysi asarda taklif qilgan? Javob: I.Bon, “Medicina forensis specimen”.</a:t>
            </a:r>
          </a:p>
          <a:p>
            <a:pPr>
              <a:spcAft>
                <a:spcPts val="1200"/>
              </a:spcAft>
            </a:pPr>
            <a:r>
              <a:rPr sz="2200">
                <a:solidFill>
                  <a:srgbClr val="1F2937"/>
                </a:solidFill>
                <a:latin typeface="Calibri"/>
              </a:rPr>
              <a:t>▸  Savol: 1846-yilda murda tekshiruvlari uchun atlas yaratgan olim kim? Javob: N.I.Pirogov. Sharqdan: “Tib qonunlari” muallifi Ibn Sino.</a:t>
            </a:r>
          </a:p>
          <a:p>
            <a:pPr>
              <a:spcAft>
                <a:spcPts val="1200"/>
              </a:spcAft>
            </a:pPr>
            <a:r>
              <a:rPr sz="2200">
                <a:solidFill>
                  <a:srgbClr val="1F2937"/>
                </a:solidFill>
                <a:latin typeface="Calibri"/>
              </a:rPr>
              <a:t>▸  Eslab qoling: Shreer – o‘pka, Bon – nom, Pirogov – atlas, Ibn Sino – “Tib qonunlari”. Har shaxsni bitta asar yoki ish bilan bog‘lang.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 11, 10–11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sud tibbiyoti kafedralari xronologiyasi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Ilmiy izlanishlar XX asrning 20-yillaridan boshlangan va asosan oliy tibbiy o‘quv yurtlari kafedralari bilan bog‘liq.</a:t>
            </a:r>
          </a:p>
          <a:p>
            <a:pPr>
              <a:spcAft>
                <a:spcPts val="800"/>
              </a:spcAft>
            </a:pPr>
            <a:r>
              <a:rPr sz="1800">
                <a:solidFill>
                  <a:srgbClr val="1F2937"/>
                </a:solidFill>
                <a:latin typeface="Calibri"/>
              </a:rPr>
              <a:t>▸  Markovin, Kolosova, Shahobiddinov, Eydlin va boshqa olimlar fanning rivojiga salmoqli hissa qo‘shgan.</a:t>
            </a:r>
          </a:p>
          <a:p>
            <a:pPr>
              <a:spcAft>
                <a:spcPts val="800"/>
              </a:spcAft>
            </a:pPr>
            <a:r>
              <a:rPr sz="1800">
                <a:solidFill>
                  <a:srgbClr val="1F2937"/>
                </a:solidFill>
                <a:latin typeface="Calibri"/>
              </a:rPr>
              <a:t>▸  Hozir oliy tibbiy ta’limda 9 ta sud tibbiyoti kafedrasi bor; o‘quv jarayoni ilmiy va amaliy ish bilan birga boradi.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1920 – Turkiston universiteti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1935 – Samarqand tibbiyot inst.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1959 – Andijon tibbiyot inst.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1972 – Toshkent pediatriya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1993 – malaka oshirish kursi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Kafedralar ochilish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 11-12, 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tarixiy manbadan vaziyat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Ibn Sinoning «Tib qonunlari»da o‘limdan keyingi murda o‘zgarishlari, zaharlanish va jarohatlar haqida ma’lumot berilgan.</a:t>
            </a:r>
          </a:p>
          <a:p>
            <a:pPr>
              <a:spcAft>
                <a:spcPts val="1200"/>
              </a:spcAft>
            </a:pPr>
            <a:r>
              <a:rPr sz="2200">
                <a:solidFill>
                  <a:srgbClr val="1F2937"/>
                </a:solidFill>
                <a:latin typeface="Calibri"/>
              </a:rPr>
              <a:t>▸  Shu bilan birga XX asr boshlariga qadar bu hududda odil sudlov shariat qoidalariga asoslangan, tibbiyot vakillarini jalb qilish ko‘zda tutilmagan.</a:t>
            </a:r>
          </a:p>
          <a:p>
            <a:pPr>
              <a:spcAft>
                <a:spcPts val="1200"/>
              </a:spcAft>
            </a:pPr>
            <a:r>
              <a:rPr sz="2200">
                <a:solidFill>
                  <a:srgbClr val="1F2937"/>
                </a:solidFill>
                <a:latin typeface="Calibri"/>
              </a:rPr>
              <a:t>▸  Diqqat: xato qilish xavfi — sud tibbiyotiga oid ma’lumot bor ≠ sud-tibbiy ekspertiza o‘tkazilgan. Bu ma’lumotlar asosan to‘g‘ri tibbiy yordam ko‘rsatish uchun olingan.</a:t>
            </a:r>
          </a:p>
          <a:p>
            <a:pPr>
              <a:spcAft>
                <a:spcPts val="1200"/>
              </a:spcAft>
            </a:pPr>
            <a:r>
              <a:rPr sz="2200">
                <a:solidFill>
                  <a:srgbClr val="1F2937"/>
                </a:solidFill>
                <a:latin typeface="Calibri"/>
              </a:rPr>
              <a:t>▸  Savol: Ibn Sino ma’lumotlarining maqsadi nima edi va ularni nega odil sudlov uchun qilingan ekspertiza deb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ekspertiza xizmati: to‘rt davr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Xizmat sog‘liqni saqlash tizimiga kiradi; asosiy vazifasi — sud-tergovdagi tibbiy-biologik masalalarni hal etish.</a:t>
            </a:r>
          </a:p>
          <a:p>
            <a:pPr>
              <a:spcAft>
                <a:spcPts val="800"/>
              </a:spcAft>
            </a:pPr>
            <a:r>
              <a:rPr sz="1800">
                <a:solidFill>
                  <a:srgbClr val="1F2937"/>
                </a:solidFill>
                <a:latin typeface="Calibri"/>
              </a:rPr>
              <a:t>▸  Shartli ravishda 4 davr farqlanadi: 20-yillargacha, 50-yillargacha, 1950–1991 va 1991 dan hozirgacha.</a:t>
            </a:r>
          </a:p>
          <a:p>
            <a:pPr>
              <a:spcAft>
                <a:spcPts val="800"/>
              </a:spcAft>
            </a:pPr>
            <a:r>
              <a:rPr sz="1800">
                <a:solidFill>
                  <a:srgbClr val="1F2937"/>
                </a:solidFill>
                <a:latin typeface="Calibri"/>
              </a:rPr>
              <a:t>▸  1991-yilgacha xizmat sobiq ittifoq sog‘liqni saqlash vazirligi yo‘riqnomalariga tayangan; 1991 dan mustaqil tizim shakllandi.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208680"/>
                <a:gridCol w="1661935"/>
                <a:gridCol w="2417360"/>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r>
              <a:tr h="411480">
                <a:tc>
                  <a:txBody>
                    <a:bodyPr/>
                    <a:lstStyle/>
                    <a:p>
                      <a:r>
                        <a:rPr sz="1200" b="0">
                          <a:solidFill>
                            <a:srgbClr val="1F2937"/>
                          </a:solidFill>
                        </a:rPr>
                        <a:t>I davr</a:t>
                      </a:r>
                    </a:p>
                  </a:txBody>
                  <a:tcPr marL="73152" marR="73152" marT="36576" marB="36576">
                    <a:solidFill>
                      <a:srgbClr val="E8EEF6"/>
                    </a:solidFill>
                  </a:tcPr>
                </a:tc>
                <a:tc>
                  <a:txBody>
                    <a:bodyPr/>
                    <a:lstStyle/>
                    <a:p>
                      <a:r>
                        <a:rPr sz="1200" b="0">
                          <a:solidFill>
                            <a:srgbClr val="1F2937"/>
                          </a:solidFill>
                        </a:rPr>
                        <a:t>XX asr 20-yillarigacha</a:t>
                      </a:r>
                    </a:p>
                  </a:txBody>
                  <a:tcPr marL="73152" marR="73152" marT="36576" marB="36576">
                    <a:solidFill>
                      <a:srgbClr val="E8EEF6"/>
                    </a:solidFill>
                  </a:tcPr>
                </a:tc>
                <a:tc>
                  <a:txBody>
                    <a:bodyPr/>
                    <a:lstStyle/>
                    <a:p>
                      <a:r>
                        <a:rPr sz="1200" b="0">
                          <a:solidFill>
                            <a:srgbClr val="1F2937"/>
                          </a:solidFill>
                        </a:rPr>
                        <a:t>Epizodik ekspertizalar</a:t>
                      </a:r>
                    </a:p>
                  </a:txBody>
                  <a:tcPr marL="73152" marR="73152" marT="36576" marB="36576">
                    <a:solidFill>
                      <a:srgbClr val="E8EEF6"/>
                    </a:solidFill>
                  </a:tcPr>
                </a:tc>
              </a:tr>
              <a:tr h="411480">
                <a:tc>
                  <a:txBody>
                    <a:bodyPr/>
                    <a:lstStyle/>
                    <a:p>
                      <a:r>
                        <a:rPr sz="1200" b="0">
                          <a:solidFill>
                            <a:srgbClr val="1F2937"/>
                          </a:solidFill>
                        </a:rPr>
                        <a:t>II davr</a:t>
                      </a:r>
                    </a:p>
                  </a:txBody>
                  <a:tcPr marL="73152" marR="73152" marT="36576" marB="36576">
                    <a:solidFill>
                      <a:srgbClr val="FFFFFF"/>
                    </a:solidFill>
                  </a:tcPr>
                </a:tc>
                <a:tc>
                  <a:txBody>
                    <a:bodyPr/>
                    <a:lstStyle/>
                    <a:p>
                      <a:r>
                        <a:rPr sz="1200" b="0">
                          <a:solidFill>
                            <a:srgbClr val="1F2937"/>
                          </a:solidFill>
                        </a:rPr>
                        <a:t>XX asr 50-yillarigacha</a:t>
                      </a:r>
                    </a:p>
                  </a:txBody>
                  <a:tcPr marL="73152" marR="73152" marT="36576" marB="36576">
                    <a:solidFill>
                      <a:srgbClr val="FFFFFF"/>
                    </a:solidFill>
                  </a:tcPr>
                </a:tc>
                <a:tc>
                  <a:txBody>
                    <a:bodyPr/>
                    <a:lstStyle/>
                    <a:p>
                      <a:r>
                        <a:rPr sz="1200" b="0">
                          <a:solidFill>
                            <a:srgbClr val="1F2937"/>
                          </a:solidFill>
                        </a:rPr>
                        <a:t>Kafedralar bazasida ekspertiza</a:t>
                      </a:r>
                    </a:p>
                  </a:txBody>
                  <a:tcPr marL="73152" marR="73152" marT="36576" marB="36576">
                    <a:solidFill>
                      <a:srgbClr val="FFFFFF"/>
                    </a:solidFill>
                  </a:tcPr>
                </a:tc>
              </a:tr>
              <a:tr h="411480">
                <a:tc>
                  <a:txBody>
                    <a:bodyPr/>
                    <a:lstStyle/>
                    <a:p>
                      <a:r>
                        <a:rPr sz="1200" b="0">
                          <a:solidFill>
                            <a:srgbClr val="1F2937"/>
                          </a:solidFill>
                        </a:rPr>
                        <a:t>III davr</a:t>
                      </a:r>
                    </a:p>
                  </a:txBody>
                  <a:tcPr marL="73152" marR="73152" marT="36576" marB="36576">
                    <a:solidFill>
                      <a:srgbClr val="E8EEF6"/>
                    </a:solidFill>
                  </a:tcPr>
                </a:tc>
                <a:tc>
                  <a:txBody>
                    <a:bodyPr/>
                    <a:lstStyle/>
                    <a:p>
                      <a:r>
                        <a:rPr sz="1200" b="0">
                          <a:solidFill>
                            <a:srgbClr val="1F2937"/>
                          </a:solidFill>
                        </a:rPr>
                        <a:t>1950–1991</a:t>
                      </a:r>
                    </a:p>
                  </a:txBody>
                  <a:tcPr marL="73152" marR="73152" marT="36576" marB="36576">
                    <a:solidFill>
                      <a:srgbClr val="E8EEF6"/>
                    </a:solidFill>
                  </a:tcPr>
                </a:tc>
                <a:tc>
                  <a:txBody>
                    <a:bodyPr/>
                    <a:lstStyle/>
                    <a:p>
                      <a:r>
                        <a:rPr sz="1200" b="0">
                          <a:solidFill>
                            <a:srgbClr val="1F2937"/>
                          </a:solidFill>
                        </a:rPr>
                        <a:t>Bosh byuro va hududiy byurolar</a:t>
                      </a:r>
                    </a:p>
                  </a:txBody>
                  <a:tcPr marL="73152" marR="73152" marT="36576" marB="36576">
                    <a:solidFill>
                      <a:srgbClr val="E8EEF6"/>
                    </a:solidFill>
                  </a:tcPr>
                </a:tc>
              </a:tr>
              <a:tr h="411480">
                <a:tc>
                  <a:txBody>
                    <a:bodyPr/>
                    <a:lstStyle/>
                    <a:p>
                      <a:r>
                        <a:rPr sz="1200" b="0">
                          <a:solidFill>
                            <a:srgbClr val="1F2937"/>
                          </a:solidFill>
                        </a:rPr>
                        <a:t>IV davr</a:t>
                      </a:r>
                    </a:p>
                  </a:txBody>
                  <a:tcPr marL="73152" marR="73152" marT="36576" marB="36576">
                    <a:solidFill>
                      <a:srgbClr val="FFFFFF"/>
                    </a:solidFill>
                  </a:tcPr>
                </a:tc>
                <a:tc>
                  <a:txBody>
                    <a:bodyPr/>
                    <a:lstStyle/>
                    <a:p>
                      <a:r>
                        <a:rPr sz="1200" b="0">
                          <a:solidFill>
                            <a:srgbClr val="1F2937"/>
                          </a:solidFill>
                        </a:rPr>
                        <a:t>1991 dan hozirgacha</a:t>
                      </a:r>
                    </a:p>
                  </a:txBody>
                  <a:tcPr marL="73152" marR="73152" marT="36576" marB="36576">
                    <a:solidFill>
                      <a:srgbClr val="FFFFFF"/>
                    </a:solidFill>
                  </a:tcPr>
                </a:tc>
                <a:tc>
                  <a:txBody>
                    <a:bodyPr/>
                    <a:lstStyle/>
                    <a:p>
                      <a:r>
                        <a:rPr sz="1200" b="0">
                          <a:solidFill>
                            <a:srgbClr val="1F2937"/>
                          </a:solidFill>
                        </a:rPr>
                        <a:t>Mustaqil xizmat, yangi hujjatlar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Xizmat rivojining to‘rt davri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 12-13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 davr: Rossiya ustavi va uch instansiya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Xizmat Ichki ishlar vazirligi Tibbiy departamentiga bo‘ysunib, tartibni 1842-yilgi ustav belgilagan.</a:t>
            </a:r>
          </a:p>
          <a:p>
            <a:pPr>
              <a:spcAft>
                <a:spcPts val="800"/>
              </a:spcAft>
            </a:pPr>
            <a:r>
              <a:rPr sz="1800">
                <a:solidFill>
                  <a:srgbClr val="1F2937"/>
                </a:solidFill>
                <a:latin typeface="Calibri"/>
              </a:rPr>
              <a:t>▸  Gospital vrachlari birinchi instansiyada ishlagan; murakkab hollarda yuqori instansiyalar qo‘shilgan.</a:t>
            </a:r>
          </a:p>
          <a:p>
            <a:pPr>
              <a:spcAft>
                <a:spcPts val="800"/>
              </a:spcAft>
            </a:pPr>
            <a:r>
              <a:rPr sz="1800">
                <a:solidFill>
                  <a:srgbClr val="1F2937"/>
                </a:solidFill>
                <a:latin typeface="Calibri"/>
              </a:rPr>
              <a:t>▸  Turkistonda shu tartib qo‘llangan; 1916–1918-yillarda Toshkentda shtatdagi sud vrachi V.S.Elkin ishlagan.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Ma’muriy idora talabi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Gospital vrachlari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Uezd vrachlari va boshliqlar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Tibbiyot kengashi vrachlari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instansiya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 12-13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II va III davr: kafedralardan byurolargacha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II davrda kafedralar qoshida laboratoriyalar ochilib, ekspertizani o‘qituvchilar o‘tkazgan.</a:t>
            </a:r>
          </a:p>
          <a:p>
            <a:pPr>
              <a:spcAft>
                <a:spcPts val="800"/>
              </a:spcAft>
            </a:pPr>
            <a:r>
              <a:rPr sz="1800">
                <a:solidFill>
                  <a:srgbClr val="1F2937"/>
                </a:solidFill>
                <a:latin typeface="Calibri"/>
              </a:rPr>
              <a:t>▸  1945-yilda I.V.Markovin tashabbusi bilan Toshkentda Respublika sud-tibbiy ekspertiza kabineti ochilgan.</a:t>
            </a:r>
          </a:p>
          <a:p>
            <a:pPr>
              <a:spcAft>
                <a:spcPts val="800"/>
              </a:spcAft>
            </a:pPr>
            <a:r>
              <a:rPr sz="1800">
                <a:solidFill>
                  <a:srgbClr val="1F2937"/>
                </a:solidFill>
                <a:latin typeface="Calibri"/>
              </a:rPr>
              <a:t>▸  1950-yilda Bosh byuro tashkil topib, hududlarda byurolar ochilgan; tartib butun ittifoqda yagona edi.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Davr</a:t>
                      </a:r>
                    </a:p>
                  </a:txBody>
                  <a:tcPr marL="73152" marR="73152" marT="36576" marB="36576">
                    <a:solidFill>
                      <a:srgbClr val="0B1F3A"/>
                    </a:solidFill>
                  </a:tcPr>
                </a:tc>
                <a:tc>
                  <a:txBody>
                    <a:bodyPr/>
                    <a:lstStyle/>
                    <a:p>
                      <a:r>
                        <a:rPr sz="1400" b="1">
                          <a:solidFill>
                            <a:srgbClr val="FFFFFF"/>
                          </a:solidFill>
                        </a:rPr>
                        <a:t>Voqea</a:t>
                      </a:r>
                    </a:p>
                  </a:txBody>
                  <a:tcPr marL="73152" marR="73152" marT="36576" marB="36576">
                    <a:solidFill>
                      <a:srgbClr val="0B1F3A"/>
                    </a:solidFill>
                  </a:tcPr>
                </a:tc>
              </a:tr>
              <a:tr h="411480">
                <a:tc>
                  <a:txBody>
                    <a:bodyPr/>
                    <a:lstStyle/>
                    <a:p>
                      <a:r>
                        <a:rPr sz="1300" b="0">
                          <a:solidFill>
                            <a:srgbClr val="1F2937"/>
                          </a:solidFill>
                        </a:rPr>
                        <a:t>II davr</a:t>
                      </a:r>
                    </a:p>
                  </a:txBody>
                  <a:tcPr marL="73152" marR="73152" marT="36576" marB="36576">
                    <a:solidFill>
                      <a:srgbClr val="E8EEF6"/>
                    </a:solidFill>
                  </a:tcPr>
                </a:tc>
                <a:tc>
                  <a:txBody>
                    <a:bodyPr/>
                    <a:lstStyle/>
                    <a:p>
                      <a:r>
                        <a:rPr sz="1300" b="0">
                          <a:solidFill>
                            <a:srgbClr val="1F2937"/>
                          </a:solidFill>
                        </a:rPr>
                        <a:t>Kafedra xodimlari ekspertiza o‘tkazgan</a:t>
                      </a:r>
                    </a:p>
                  </a:txBody>
                  <a:tcPr marL="73152" marR="73152" marT="36576" marB="36576">
                    <a:solidFill>
                      <a:srgbClr val="E8EEF6"/>
                    </a:solidFill>
                  </a:tcPr>
                </a:tc>
              </a:tr>
              <a:tr h="411480">
                <a:tc>
                  <a:txBody>
                    <a:bodyPr/>
                    <a:lstStyle/>
                    <a:p>
                      <a:r>
                        <a:rPr sz="1300" b="0">
                          <a:solidFill>
                            <a:srgbClr val="1F2937"/>
                          </a:solidFill>
                        </a:rPr>
                        <a:t>II davr, 1945</a:t>
                      </a:r>
                    </a:p>
                  </a:txBody>
                  <a:tcPr marL="73152" marR="73152" marT="36576" marB="36576">
                    <a:solidFill>
                      <a:srgbClr val="FFFFFF"/>
                    </a:solidFill>
                  </a:tcPr>
                </a:tc>
                <a:tc>
                  <a:txBody>
                    <a:bodyPr/>
                    <a:lstStyle/>
                    <a:p>
                      <a:r>
                        <a:rPr sz="1300" b="0">
                          <a:solidFill>
                            <a:srgbClr val="1F2937"/>
                          </a:solidFill>
                        </a:rPr>
                        <a:t>Toshkentda Respublika kabineti ochilgan</a:t>
                      </a:r>
                    </a:p>
                  </a:txBody>
                  <a:tcPr marL="73152" marR="73152" marT="36576" marB="36576">
                    <a:solidFill>
                      <a:srgbClr val="FFFFFF"/>
                    </a:solidFill>
                  </a:tcPr>
                </a:tc>
              </a:tr>
              <a:tr h="411480">
                <a:tc>
                  <a:txBody>
                    <a:bodyPr/>
                    <a:lstStyle/>
                    <a:p>
                      <a:r>
                        <a:rPr sz="1300" b="0">
                          <a:solidFill>
                            <a:srgbClr val="1F2937"/>
                          </a:solidFill>
                        </a:rPr>
                        <a:t>III davr, 1950</a:t>
                      </a:r>
                    </a:p>
                  </a:txBody>
                  <a:tcPr marL="73152" marR="73152" marT="36576" marB="36576">
                    <a:solidFill>
                      <a:srgbClr val="E8EEF6"/>
                    </a:solidFill>
                  </a:tcPr>
                </a:tc>
                <a:tc>
                  <a:txBody>
                    <a:bodyPr/>
                    <a:lstStyle/>
                    <a:p>
                      <a:r>
                        <a:rPr sz="1300" b="0">
                          <a:solidFill>
                            <a:srgbClr val="1F2937"/>
                          </a:solidFill>
                        </a:rPr>
                        <a:t>Sog‘liqni saqlash vazirligi Bosh byurosi</a:t>
                      </a:r>
                    </a:p>
                  </a:txBody>
                  <a:tcPr marL="73152" marR="73152" marT="36576" marB="36576">
                    <a:solidFill>
                      <a:srgbClr val="E8EEF6"/>
                    </a:solidFill>
                  </a:tcPr>
                </a:tc>
              </a:tr>
              <a:tr h="411480">
                <a:tc>
                  <a:txBody>
                    <a:bodyPr/>
                    <a:lstStyle/>
                    <a:p>
                      <a:r>
                        <a:rPr sz="1300" b="0">
                          <a:solidFill>
                            <a:srgbClr val="1F2937"/>
                          </a:solidFill>
                        </a:rPr>
                        <a:t>III davr</a:t>
                      </a:r>
                    </a:p>
                  </a:txBody>
                  <a:tcPr marL="73152" marR="73152" marT="36576" marB="36576">
                    <a:solidFill>
                      <a:srgbClr val="FFFFFF"/>
                    </a:solidFill>
                  </a:tcPr>
                </a:tc>
                <a:tc>
                  <a:txBody>
                    <a:bodyPr/>
                    <a:lstStyle/>
                    <a:p>
                      <a:r>
                        <a:rPr sz="1300" b="0">
                          <a:solidFill>
                            <a:srgbClr val="1F2937"/>
                          </a:solidFill>
                        </a:rPr>
                        <a:t>Hududiy byurolar, yagona tartib-qoida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Davrlar xronologiyasi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IV davr: mustaqillik va yangi me’yoriy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IV davr 1991-yildan boshlanib, mustaqil davlat sud-tibbiy ekspertiza xizmati tizimining shakllanishini aks ettiradi.</a:t>
            </a:r>
          </a:p>
          <a:p>
            <a:pPr>
              <a:spcAft>
                <a:spcPts val="1200"/>
              </a:spcAft>
            </a:pPr>
            <a:r>
              <a:rPr sz="2200">
                <a:solidFill>
                  <a:srgbClr val="1F2937"/>
                </a:solidFill>
                <a:latin typeface="Calibri"/>
              </a:rPr>
              <a:t>▸  Huquqiy jamiyat va qonun ustuvorligi sharoitida huquqni muhofaza idoralarining ekspertizaga ehtiyojini to‘la, sifatli va o‘z vaqtida qondirish dolzarb vazifaga aylandi.</a:t>
            </a:r>
          </a:p>
          <a:p>
            <a:pPr>
              <a:spcAft>
                <a:spcPts val="1200"/>
              </a:spcAft>
            </a:pPr>
            <a:r>
              <a:rPr sz="2200">
                <a:solidFill>
                  <a:srgbClr val="1F2937"/>
                </a:solidFill>
                <a:latin typeface="Calibri"/>
              </a:rPr>
              <a:t>▸  Yangi me’yoriy hujjatlar majmui (qonunlar, yo‘riqnoma, qoidalar, tekshiruv standartlari) ishlab chiqildi; ilk bor “Sud ekspertizasi to‘g‘risida”gi Qonun qabul qilindi.</a:t>
            </a:r>
          </a:p>
          <a:p>
            <a:pPr>
              <a:spcAft>
                <a:spcPts val="1200"/>
              </a:spcAft>
            </a:pPr>
            <a:r>
              <a:rPr sz="2200">
                <a:solidFill>
                  <a:srgbClr val="1F2937"/>
                </a:solidFill>
                <a:latin typeface="Calibri"/>
              </a:rPr>
              <a:t>▸  Muassasalar tarkibi takomillashtirildi, yangi tuzilmalar ochildi; mutaxassis tayyorlash, malaka oshirish va attestatsiya tizimi yaratildi.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 13-14, 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xizmat rivojlanish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arxivda 1945-yilda Toshkentda “Respublika sud-tibbiy ekspertiza kabineti” ochilgani qayd etilgan. Tashabbuskor — professor I.V.Markovin.</a:t>
            </a:r>
          </a:p>
          <a:p>
            <a:pPr>
              <a:spcAft>
                <a:spcPts val="1200"/>
              </a:spcAft>
            </a:pPr>
            <a:r>
              <a:rPr sz="2000">
                <a:solidFill>
                  <a:srgbClr val="1F2937"/>
                </a:solidFill>
                <a:latin typeface="Calibri"/>
              </a:rPr>
              <a:t>▸  Savol: bu voqea xizmat rivojlanishining qaysi davriga kiradi? Javob: II davr (XX asrning 50-yillarigacha), ekspertizalar asosan tibbiyot oliy o‘quv yurtlari kafedralarida o‘tgan.</a:t>
            </a:r>
          </a:p>
          <a:p>
            <a:pPr>
              <a:spcAft>
                <a:spcPts val="1200"/>
              </a:spcAft>
            </a:pPr>
            <a:r>
              <a:rPr sz="2000">
                <a:solidFill>
                  <a:srgbClr val="1F2937"/>
                </a:solidFill>
                <a:latin typeface="Calibri"/>
              </a:rPr>
              <a:t>▸  Taqqoslang: 1950-yilda Sog‘liqni saqlash vazirligining sud-tibbiy ekspertiza Bosh byurosi tuzilgan. Bu III davr (1950–1991-yillar).</a:t>
            </a:r>
          </a:p>
          <a:p>
            <a:pPr>
              <a:spcAft>
                <a:spcPts val="1200"/>
              </a:spcAft>
            </a:pPr>
            <a:r>
              <a:rPr sz="2000">
                <a:solidFill>
                  <a:srgbClr val="1F2937"/>
                </a:solidFill>
                <a:latin typeface="Calibri"/>
              </a:rPr>
              <a:t>▸  Diqqat: xato qilish xavfi. 1991-yildan boshlangan IV davrda mustaqil xizmat shakllandi va ilk bor “Sud ekspertizasi to‘g‘risida”gi Qonun qabul qilindi.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 14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Huquqiy atamalar: huquq, qonun, kodeks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 — davlat kafolatlagan, ijtimoiy munosabatlarni tartibga soluvchi majburiy qoidalar tizimi.</a:t>
            </a:r>
          </a:p>
          <a:p>
            <a:pPr>
              <a:spcAft>
                <a:spcPts val="800"/>
              </a:spcAft>
            </a:pPr>
            <a:r>
              <a:rPr sz="1800">
                <a:solidFill>
                  <a:srgbClr val="1F2937"/>
                </a:solidFill>
                <a:latin typeface="Calibri"/>
              </a:rPr>
              <a:t>▸  Diqqat: qonun ≠ kodeks. Kodeks — bir sohadagi qonunlarning tizimlashtirilgan majmuasi.</a:t>
            </a:r>
          </a:p>
          <a:p>
            <a:pPr>
              <a:spcAft>
                <a:spcPts val="800"/>
              </a:spcAft>
            </a:pPr>
            <a:r>
              <a:rPr sz="1800">
                <a:solidFill>
                  <a:srgbClr val="1F2937"/>
                </a:solidFill>
                <a:latin typeface="Calibri"/>
              </a:rPr>
              <a:t>▸  Jinoyat-protsessual kodeksi (JPK) jinoiy ishni tergov qilish va sudda ko‘rish tartibini belgilaydi.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Atama</a:t>
                      </a:r>
                    </a:p>
                  </a:txBody>
                  <a:tcPr marL="73152" marR="73152" marT="36576" marB="36576">
                    <a:solidFill>
                      <a:srgbClr val="0B1F3A"/>
                    </a:solidFill>
                  </a:tcPr>
                </a:tc>
                <a:tc>
                  <a:txBody>
                    <a:bodyPr/>
                    <a:lstStyle/>
                    <a:p>
                      <a:r>
                        <a:rPr sz="1400" b="1">
                          <a:solidFill>
                            <a:srgbClr val="FFFFFF"/>
                          </a:solidFill>
                        </a:rPr>
                        <a:t>Ta’rifi</a:t>
                      </a:r>
                    </a:p>
                  </a:txBody>
                  <a:tcPr marL="73152" marR="73152" marT="36576" marB="36576">
                    <a:solidFill>
                      <a:srgbClr val="0B1F3A"/>
                    </a:solidFill>
                  </a:tcPr>
                </a:tc>
              </a:tr>
              <a:tr h="411480">
                <a:tc>
                  <a:txBody>
                    <a:bodyPr/>
                    <a:lstStyle/>
                    <a:p>
                      <a:r>
                        <a:rPr sz="1300" b="0">
                          <a:solidFill>
                            <a:srgbClr val="1F2937"/>
                          </a:solidFill>
                        </a:rPr>
                        <a:t>Huquq</a:t>
                      </a:r>
                    </a:p>
                  </a:txBody>
                  <a:tcPr marL="73152" marR="73152" marT="36576" marB="36576">
                    <a:solidFill>
                      <a:srgbClr val="E8EEF6"/>
                    </a:solidFill>
                  </a:tcPr>
                </a:tc>
                <a:tc>
                  <a:txBody>
                    <a:bodyPr/>
                    <a:lstStyle/>
                    <a:p>
                      <a:r>
                        <a:rPr sz="1300" b="0">
                          <a:solidFill>
                            <a:srgbClr val="1F2937"/>
                          </a:solidFill>
                        </a:rPr>
                        <a:t>Majburiy, davlat kafolatlagan qoidalar tizimi</a:t>
                      </a:r>
                    </a:p>
                  </a:txBody>
                  <a:tcPr marL="73152" marR="73152" marT="36576" marB="36576">
                    <a:solidFill>
                      <a:srgbClr val="E8EEF6"/>
                    </a:solidFill>
                  </a:tcPr>
                </a:tc>
              </a:tr>
              <a:tr h="411480">
                <a:tc>
                  <a:txBody>
                    <a:bodyPr/>
                    <a:lstStyle/>
                    <a:p>
                      <a:r>
                        <a:rPr sz="1300" b="0">
                          <a:solidFill>
                            <a:srgbClr val="1F2937"/>
                          </a:solidFill>
                        </a:rPr>
                        <a:t>Qonun</a:t>
                      </a:r>
                    </a:p>
                  </a:txBody>
                  <a:tcPr marL="73152" marR="73152" marT="36576" marB="36576">
                    <a:solidFill>
                      <a:srgbClr val="FFFFFF"/>
                    </a:solidFill>
                  </a:tcPr>
                </a:tc>
                <a:tc>
                  <a:txBody>
                    <a:bodyPr/>
                    <a:lstStyle/>
                    <a:p>
                      <a:r>
                        <a:rPr sz="1300" b="0">
                          <a:solidFill>
                            <a:srgbClr val="1F2937"/>
                          </a:solidFill>
                        </a:rPr>
                        <a:t>Umummajburiy me’yoriy-huquqiy hujjatlar</a:t>
                      </a:r>
                    </a:p>
                  </a:txBody>
                  <a:tcPr marL="73152" marR="73152" marT="36576" marB="36576">
                    <a:solidFill>
                      <a:srgbClr val="FFFFFF"/>
                    </a:solidFill>
                  </a:tcPr>
                </a:tc>
              </a:tr>
              <a:tr h="411480">
                <a:tc>
                  <a:txBody>
                    <a:bodyPr/>
                    <a:lstStyle/>
                    <a:p>
                      <a:r>
                        <a:rPr sz="1300" b="0">
                          <a:solidFill>
                            <a:srgbClr val="1F2937"/>
                          </a:solidFill>
                        </a:rPr>
                        <a:t>Kodeks</a:t>
                      </a:r>
                    </a:p>
                  </a:txBody>
                  <a:tcPr marL="73152" marR="73152" marT="36576" marB="36576">
                    <a:solidFill>
                      <a:srgbClr val="E8EEF6"/>
                    </a:solidFill>
                  </a:tcPr>
                </a:tc>
                <a:tc>
                  <a:txBody>
                    <a:bodyPr/>
                    <a:lstStyle/>
                    <a:p>
                      <a:r>
                        <a:rPr sz="1300" b="0">
                          <a:solidFill>
                            <a:srgbClr val="1F2937"/>
                          </a:solidFill>
                        </a:rPr>
                        <a:t>Bir soha qonunlarining tizimli to‘plami</a:t>
                      </a:r>
                    </a:p>
                  </a:txBody>
                  <a:tcPr marL="73152" marR="73152" marT="36576" marB="36576">
                    <a:solidFill>
                      <a:srgbClr val="E8EEF6"/>
                    </a:solidFill>
                  </a:tcPr>
                </a:tc>
              </a:tr>
              <a:tr h="411480">
                <a:tc>
                  <a:txBody>
                    <a:bodyPr/>
                    <a:lstStyle/>
                    <a:p>
                      <a:r>
                        <a:rPr sz="1300" b="0">
                          <a:solidFill>
                            <a:srgbClr val="1F2937"/>
                          </a:solidFill>
                        </a:rPr>
                        <a:t>Jinoyat kodeksi</a:t>
                      </a:r>
                    </a:p>
                  </a:txBody>
                  <a:tcPr marL="73152" marR="73152" marT="36576" marB="36576">
                    <a:solidFill>
                      <a:srgbClr val="FFFFFF"/>
                    </a:solidFill>
                  </a:tcPr>
                </a:tc>
                <a:tc>
                  <a:txBody>
                    <a:bodyPr/>
                    <a:lstStyle/>
                    <a:p>
                      <a:r>
                        <a:rPr sz="1300" b="0">
                          <a:solidFill>
                            <a:srgbClr val="1F2937"/>
                          </a:solidFill>
                        </a:rPr>
                        <a:t>Jinoyat, javobgarlik chegarasi va jazo</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huquqiy atamalar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JPK 173-modda: ekspertiza majburiy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surishtiruv, tergov qarori yoki sud ajrimi asosida o‘tkaziladi.</a:t>
            </a:r>
          </a:p>
          <a:p>
            <a:pPr>
              <a:spcAft>
                <a:spcPts val="800"/>
              </a:spcAft>
            </a:pPr>
            <a:r>
              <a:rPr sz="1800">
                <a:solidFill>
                  <a:srgbClr val="1F2937"/>
                </a:solidFill>
                <a:latin typeface="Calibri"/>
              </a:rPr>
              <a:t>▸  Moddada tanosil va boshqa yuqumli kasallarni davolash zarurati va imkoniyatini aniqlash ham ko‘zda tutilgan.</a:t>
            </a:r>
          </a:p>
          <a:p>
            <a:pPr>
              <a:spcAft>
                <a:spcPts val="800"/>
              </a:spcAft>
            </a:pPr>
            <a:r>
              <a:rPr sz="1800">
                <a:solidFill>
                  <a:srgbClr val="1F2937"/>
                </a:solidFill>
                <a:latin typeface="Calibri"/>
              </a:rPr>
              <a:t>▸  Ish uchun muhim va maxsus bilim talab qiladigan boshqa holatlarda ham ekspertiza tayinlanadi.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Aniqlanadi</a:t>
                      </a:r>
                    </a:p>
                  </a:txBody>
                  <a:tcPr marL="73152" marR="73152" marT="36576" marB="36576">
                    <a:solidFill>
                      <a:srgbClr val="0B1F3A"/>
                    </a:solidFill>
                  </a:tcPr>
                </a:tc>
              </a:tr>
              <a:tr h="411480">
                <a:tc>
                  <a:txBody>
                    <a:bodyPr/>
                    <a:lstStyle/>
                    <a:p>
                      <a:r>
                        <a:rPr sz="1300" b="0">
                          <a:solidFill>
                            <a:srgbClr val="1F2937"/>
                          </a:solidFill>
                        </a:rPr>
                        <a:t>O‘lim, jarohat</a:t>
                      </a:r>
                    </a:p>
                  </a:txBody>
                  <a:tcPr marL="73152" marR="73152" marT="36576" marB="36576">
                    <a:solidFill>
                      <a:srgbClr val="E8EEF6"/>
                    </a:solidFill>
                  </a:tcPr>
                </a:tc>
                <a:tc>
                  <a:txBody>
                    <a:bodyPr/>
                    <a:lstStyle/>
                    <a:p>
                      <a:r>
                        <a:rPr sz="1300" b="0">
                          <a:solidFill>
                            <a:srgbClr val="1F2937"/>
                          </a:solidFill>
                        </a:rPr>
                        <a:t>O‘lim sababi; jarohat turi va og‘irligi</a:t>
                      </a:r>
                    </a:p>
                  </a:txBody>
                  <a:tcPr marL="73152" marR="73152" marT="36576" marB="36576">
                    <a:solidFill>
                      <a:srgbClr val="E8EEF6"/>
                    </a:solidFill>
                  </a:tcPr>
                </a:tc>
              </a:tr>
              <a:tr h="411480">
                <a:tc>
                  <a:txBody>
                    <a:bodyPr/>
                    <a:lstStyle/>
                    <a:p>
                      <a:r>
                        <a:rPr sz="1300" b="0">
                          <a:solidFill>
                            <a:srgbClr val="1F2937"/>
                          </a:solidFill>
                        </a:rPr>
                        <a:t>Jinsiy soha</a:t>
                      </a:r>
                    </a:p>
                  </a:txBody>
                  <a:tcPr marL="73152" marR="73152" marT="36576" marB="36576">
                    <a:solidFill>
                      <a:srgbClr val="FFFFFF"/>
                    </a:solidFill>
                  </a:tcPr>
                </a:tc>
                <a:tc>
                  <a:txBody>
                    <a:bodyPr/>
                    <a:lstStyle/>
                    <a:p>
                      <a:r>
                        <a:rPr sz="1300" b="0">
                          <a:solidFill>
                            <a:srgbClr val="1F2937"/>
                          </a:solidFill>
                        </a:rPr>
                        <a:t>Aloqa, homiladorlik, homila tushirish</a:t>
                      </a:r>
                    </a:p>
                  </a:txBody>
                  <a:tcPr marL="73152" marR="73152" marT="36576" marB="36576">
                    <a:solidFill>
                      <a:srgbClr val="FFFFFF"/>
                    </a:solidFill>
                  </a:tcPr>
                </a:tc>
              </a:tr>
              <a:tr h="411480">
                <a:tc>
                  <a:txBody>
                    <a:bodyPr/>
                    <a:lstStyle/>
                    <a:p>
                      <a:r>
                        <a:rPr sz="1300" b="0">
                          <a:solidFill>
                            <a:srgbClr val="1F2937"/>
                          </a:solidFill>
                        </a:rPr>
                        <a:t>Yosh</a:t>
                      </a:r>
                    </a:p>
                  </a:txBody>
                  <a:tcPr marL="73152" marR="73152" marT="36576" marB="36576">
                    <a:solidFill>
                      <a:srgbClr val="E8EEF6"/>
                    </a:solidFill>
                  </a:tcPr>
                </a:tc>
                <a:tc>
                  <a:txBody>
                    <a:bodyPr/>
                    <a:lstStyle/>
                    <a:p>
                      <a:r>
                        <a:rPr sz="1300" b="0">
                          <a:solidFill>
                            <a:srgbClr val="1F2937"/>
                          </a:solidFill>
                        </a:rPr>
                        <a:t>Shaxs yoshi, hujjat yo‘q yoki shubhali bo‘lsa</a:t>
                      </a:r>
                    </a:p>
                  </a:txBody>
                  <a:tcPr marL="73152" marR="73152" marT="36576" marB="36576">
                    <a:solidFill>
                      <a:srgbClr val="E8EEF6"/>
                    </a:solidFill>
                  </a:tcPr>
                </a:tc>
              </a:tr>
              <a:tr h="411480">
                <a:tc>
                  <a:txBody>
                    <a:bodyPr/>
                    <a:lstStyle/>
                    <a:p>
                      <a:r>
                        <a:rPr sz="1300" b="0">
                          <a:solidFill>
                            <a:srgbClr val="1F2937"/>
                          </a:solidFill>
                        </a:rPr>
                        <a:t>Jismoniy ahvol</a:t>
                      </a:r>
                    </a:p>
                  </a:txBody>
                  <a:tcPr marL="73152" marR="73152" marT="36576" marB="36576">
                    <a:solidFill>
                      <a:srgbClr val="FFFFFF"/>
                    </a:solidFill>
                  </a:tcPr>
                </a:tc>
                <a:tc>
                  <a:txBody>
                    <a:bodyPr/>
                    <a:lstStyle/>
                    <a:p>
                      <a:r>
                        <a:rPr sz="1300" b="0">
                          <a:solidFill>
                            <a:srgbClr val="1F2937"/>
                          </a:solidFill>
                        </a:rPr>
                        <a:t>Ayblanuvchi, jabrlanuvchi, guvoh holati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173-modda: aniqlanadigan holatlar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 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o‘tkazilish joyi va sud tergovi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byuroda, undan tashqarida yoki aralash o‘tkazilishi mumkin; shart-sharoitni ta’minlovchi shaxs har xil.</a:t>
            </a:r>
          </a:p>
          <a:p>
            <a:pPr>
              <a:spcAft>
                <a:spcPts val="800"/>
              </a:spcAft>
            </a:pPr>
            <a:r>
              <a:rPr sz="1800">
                <a:solidFill>
                  <a:srgbClr val="1F2937"/>
                </a:solidFill>
                <a:latin typeface="Calibri"/>
              </a:rPr>
              <a:t>▸  Sud tergovida ekspert majlisda to‘liq qatnashadi, ish tafsilotlarini tekshiradi va savol berishga haqli.</a:t>
            </a:r>
          </a:p>
          <a:p>
            <a:pPr>
              <a:spcAft>
                <a:spcPts val="800"/>
              </a:spcAft>
            </a:pPr>
            <a:r>
              <a:rPr sz="1800">
                <a:solidFill>
                  <a:srgbClr val="1F2937"/>
                </a:solidFill>
                <a:latin typeface="Calibri"/>
              </a:rPr>
              <a:t>▸  Ekspert yozma xulosasini majlisda o‘qib eshittiradi; xulosa majlis bayonnomasiga ilova qilinadi.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Variant</a:t>
                      </a:r>
                    </a:p>
                  </a:txBody>
                  <a:tcPr marL="73152" marR="73152" marT="36576" marB="36576">
                    <a:solidFill>
                      <a:srgbClr val="0B1F3A"/>
                    </a:solidFill>
                  </a:tcPr>
                </a:tc>
                <a:tc>
                  <a:txBody>
                    <a:bodyPr/>
                    <a:lstStyle/>
                    <a:p>
                      <a:r>
                        <a:rPr sz="1400" b="1">
                          <a:solidFill>
                            <a:srgbClr val="FFFFFF"/>
                          </a:solidFill>
                        </a:rPr>
                        <a:t>Joyi va mas’ul</a:t>
                      </a:r>
                    </a:p>
                  </a:txBody>
                  <a:tcPr marL="73152" marR="73152" marT="36576" marB="36576">
                    <a:solidFill>
                      <a:srgbClr val="0B1F3A"/>
                    </a:solidFill>
                  </a:tcPr>
                </a:tc>
              </a:tr>
              <a:tr h="411480">
                <a:tc>
                  <a:txBody>
                    <a:bodyPr/>
                    <a:lstStyle/>
                    <a:p>
                      <a:r>
                        <a:rPr sz="1300" b="0">
                          <a:solidFill>
                            <a:srgbClr val="1F2937"/>
                          </a:solidFill>
                        </a:rPr>
                        <a:t>Muassasada</a:t>
                      </a:r>
                    </a:p>
                  </a:txBody>
                  <a:tcPr marL="73152" marR="73152" marT="36576" marB="36576">
                    <a:solidFill>
                      <a:srgbClr val="E8EEF6"/>
                    </a:solidFill>
                  </a:tcPr>
                </a:tc>
                <a:tc>
                  <a:txBody>
                    <a:bodyPr/>
                    <a:lstStyle/>
                    <a:p>
                      <a:r>
                        <a:rPr sz="1300" b="0">
                          <a:solidFill>
                            <a:srgbClr val="1F2937"/>
                          </a:solidFill>
                        </a:rPr>
                        <a:t>Byuroda; shart-sharoit — muassasa rahbari</a:t>
                      </a:r>
                    </a:p>
                  </a:txBody>
                  <a:tcPr marL="73152" marR="73152" marT="36576" marB="36576">
                    <a:solidFill>
                      <a:srgbClr val="E8EEF6"/>
                    </a:solidFill>
                  </a:tcPr>
                </a:tc>
              </a:tr>
              <a:tr h="411480">
                <a:tc>
                  <a:txBody>
                    <a:bodyPr/>
                    <a:lstStyle/>
                    <a:p>
                      <a:r>
                        <a:rPr sz="1300" b="0">
                          <a:solidFill>
                            <a:srgbClr val="1F2937"/>
                          </a:solidFill>
                        </a:rPr>
                        <a:t>Tashqarida</a:t>
                      </a:r>
                    </a:p>
                  </a:txBody>
                  <a:tcPr marL="73152" marR="73152" marT="36576" marB="36576">
                    <a:solidFill>
                      <a:srgbClr val="FFFFFF"/>
                    </a:solidFill>
                  </a:tcPr>
                </a:tc>
                <a:tc>
                  <a:txBody>
                    <a:bodyPr/>
                    <a:lstStyle/>
                    <a:p>
                      <a:r>
                        <a:rPr sz="1300" b="0">
                          <a:solidFill>
                            <a:srgbClr val="1F2937"/>
                          </a:solidFill>
                        </a:rPr>
                        <a:t>Byurodan tashqarida; mas’ul — tayinlovchi</a:t>
                      </a:r>
                    </a:p>
                  </a:txBody>
                  <a:tcPr marL="73152" marR="73152" marT="36576" marB="36576">
                    <a:solidFill>
                      <a:srgbClr val="FFFFFF"/>
                    </a:solidFill>
                  </a:tcPr>
                </a:tc>
              </a:tr>
              <a:tr h="411480">
                <a:tc>
                  <a:txBody>
                    <a:bodyPr/>
                    <a:lstStyle/>
                    <a:p>
                      <a:r>
                        <a:rPr sz="1300" b="0">
                          <a:solidFill>
                            <a:srgbClr val="1F2937"/>
                          </a:solidFill>
                        </a:rPr>
                        <a:t>Aralash</a:t>
                      </a:r>
                    </a:p>
                  </a:txBody>
                  <a:tcPr marL="73152" marR="73152" marT="36576" marB="36576">
                    <a:solidFill>
                      <a:srgbClr val="E8EEF6"/>
                    </a:solidFill>
                  </a:tcPr>
                </a:tc>
                <a:tc>
                  <a:txBody>
                    <a:bodyPr/>
                    <a:lstStyle/>
                    <a:p>
                      <a:r>
                        <a:rPr sz="1300" b="0">
                          <a:solidFill>
                            <a:srgbClr val="1F2937"/>
                          </a:solidFill>
                        </a:rPr>
                        <a:t>Bir qismi byuroda, bir qismi tashqarida</a:t>
                      </a:r>
                    </a:p>
                  </a:txBody>
                  <a:tcPr marL="73152" marR="73152" marT="36576" marB="36576">
                    <a:solidFill>
                      <a:srgbClr val="E8EEF6"/>
                    </a:solidFill>
                  </a:tcPr>
                </a:tc>
              </a:tr>
              <a:tr h="411480">
                <a:tc>
                  <a:txBody>
                    <a:bodyPr/>
                    <a:lstStyle/>
                    <a:p>
                      <a:r>
                        <a:rPr sz="1300" b="0">
                          <a:solidFill>
                            <a:srgbClr val="1F2937"/>
                          </a:solidFill>
                        </a:rPr>
                        <a:t>Misol: eksgumatsiya</a:t>
                      </a:r>
                    </a:p>
                  </a:txBody>
                  <a:tcPr marL="73152" marR="73152" marT="36576" marB="36576">
                    <a:solidFill>
                      <a:srgbClr val="FFFFFF"/>
                    </a:solidFill>
                  </a:tcPr>
                </a:tc>
                <a:tc>
                  <a:txBody>
                    <a:bodyPr/>
                    <a:lstStyle/>
                    <a:p>
                      <a:r>
                        <a:rPr sz="1300" b="0">
                          <a:solidFill>
                            <a:srgbClr val="1F2937"/>
                          </a:solidFill>
                        </a:rPr>
                        <a:t>Jasad qabristonda, material laboratoriyada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o‘tkazish variantlari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 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protsessual asoslar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Jinoyat-protsessual kodeksining (JPK) 173-moddasi qaysi holatlarda ekspertiza o‘tkazishni shart qiladi? Javob: o‘lim sababi, tan jarohatining xususiyati va og‘irligi aniqlanganda.</a:t>
            </a:r>
          </a:p>
          <a:p>
            <a:pPr>
              <a:spcAft>
                <a:spcPts val="1200"/>
              </a:spcAft>
            </a:pPr>
            <a:r>
              <a:rPr sz="2200">
                <a:solidFill>
                  <a:srgbClr val="1F2937"/>
                </a:solidFill>
                <a:latin typeface="Calibri"/>
              </a:rPr>
              <a:t>▸  Savol: yoshni aniqlash uchun ekspertiza qachon tayinlanadi? Javob: yosh haqida hujjat bo‘lmasa yoki hujjatlar shubha tug‘dirsa.</a:t>
            </a:r>
          </a:p>
          <a:p>
            <a:pPr>
              <a:spcAft>
                <a:spcPts val="1200"/>
              </a:spcAft>
            </a:pPr>
            <a:r>
              <a:rPr sz="2200">
                <a:solidFill>
                  <a:srgbClr val="1F2937"/>
                </a:solidFill>
                <a:latin typeface="Calibri"/>
              </a:rPr>
              <a:t>▸  Savol: ekspertiza qayerda o‘tkazilishi mumkin? Javob: byuroda, undan tashqarida yoki aralash; eksgumatsiyada jasad qabristonda ochiladi.</a:t>
            </a:r>
          </a:p>
          <a:p>
            <a:pPr>
              <a:spcAft>
                <a:spcPts val="1200"/>
              </a:spcAft>
            </a:pPr>
            <a:r>
              <a:rPr sz="2200">
                <a:solidFill>
                  <a:srgbClr val="1F2937"/>
                </a:solidFill>
                <a:latin typeface="Calibri"/>
              </a:rPr>
              <a:t>▸  Diqqat: xato qilish xavfi — 173-modda ro‘yxati yakuniy emas; maxsus bilim zarur bo‘lgan boshqa holatlarda ham ekspertiza tayinlanadi.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 15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eksperti: huquq va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 materiallari bilan tanishadi, iltimosnoma beradi va ruxsat bilan savol beradi.</a:t>
            </a:r>
          </a:p>
          <a:p>
            <a:pPr>
              <a:spcAft>
                <a:spcPts val="800"/>
              </a:spcAft>
            </a:pPr>
            <a:r>
              <a:rPr sz="1800">
                <a:solidFill>
                  <a:srgbClr val="1F2937"/>
                </a:solidFill>
                <a:latin typeface="Calibri"/>
              </a:rPr>
              <a:t>▸  Xulosada ish uchun muhim qo‘shimcha masalalar bo‘yicha ham fikr bildiradi (tashabbus huquqi).</a:t>
            </a:r>
          </a:p>
          <a:p>
            <a:pPr>
              <a:spcAft>
                <a:spcPts val="800"/>
              </a:spcAft>
            </a:pPr>
            <a:r>
              <a:rPr sz="1800">
                <a:solidFill>
                  <a:srgbClr val="1F2937"/>
                </a:solidFill>
                <a:latin typeface="Calibri"/>
              </a:rPr>
              <a:t>▸  Bila turib noto‘g‘ri xulosa berish jinoiy javobgarlik keltiradi; xolislik va sirni saqlash majburiy.</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Huquq</a:t>
                      </a:r>
                    </a:p>
                  </a:txBody>
                  <a:tcPr marL="73152" marR="73152" marT="36576" marB="36576">
                    <a:solidFill>
                      <a:srgbClr val="0B1F3A"/>
                    </a:solidFill>
                  </a:tcPr>
                </a:tc>
                <a:tc>
                  <a:txBody>
                    <a:bodyPr/>
                    <a:lstStyle/>
                    <a:p>
                      <a:r>
                        <a:rPr sz="1400" b="1">
                          <a:solidFill>
                            <a:srgbClr val="FFFFFF"/>
                          </a:solidFill>
                        </a:rPr>
                        <a:t>Majburiyat</a:t>
                      </a:r>
                    </a:p>
                  </a:txBody>
                  <a:tcPr marL="73152" marR="73152" marT="36576" marB="36576">
                    <a:solidFill>
                      <a:srgbClr val="0B1F3A"/>
                    </a:solidFill>
                  </a:tcPr>
                </a:tc>
              </a:tr>
              <a:tr h="411480">
                <a:tc>
                  <a:txBody>
                    <a:bodyPr/>
                    <a:lstStyle/>
                    <a:p>
                      <a:r>
                        <a:rPr sz="1300" b="0">
                          <a:solidFill>
                            <a:srgbClr val="1F2937"/>
                          </a:solidFill>
                        </a:rPr>
                        <a:t>Ish materiallari bilan tanishish</a:t>
                      </a:r>
                    </a:p>
                  </a:txBody>
                  <a:tcPr marL="73152" marR="73152" marT="36576" marB="36576">
                    <a:solidFill>
                      <a:srgbClr val="E8EEF6"/>
                    </a:solidFill>
                  </a:tcPr>
                </a:tc>
                <a:tc>
                  <a:txBody>
                    <a:bodyPr/>
                    <a:lstStyle/>
                    <a:p>
                      <a:r>
                        <a:rPr sz="1300" b="0">
                          <a:solidFill>
                            <a:srgbClr val="1F2937"/>
                          </a:solidFill>
                        </a:rPr>
                        <a:t>Har tomonlama, to‘liq tekshirish</a:t>
                      </a:r>
                    </a:p>
                  </a:txBody>
                  <a:tcPr marL="73152" marR="73152" marT="36576" marB="36576">
                    <a:solidFill>
                      <a:srgbClr val="E8EEF6"/>
                    </a:solidFill>
                  </a:tcPr>
                </a:tc>
              </a:tr>
              <a:tr h="411480">
                <a:tc>
                  <a:txBody>
                    <a:bodyPr/>
                    <a:lstStyle/>
                    <a:p>
                      <a:r>
                        <a:rPr sz="1300" b="0">
                          <a:solidFill>
                            <a:srgbClr val="1F2937"/>
                          </a:solidFill>
                        </a:rPr>
                        <a:t>Iltimosnoma berish</a:t>
                      </a:r>
                    </a:p>
                  </a:txBody>
                  <a:tcPr marL="73152" marR="73152" marT="36576" marB="36576">
                    <a:solidFill>
                      <a:srgbClr val="FFFFFF"/>
                    </a:solidFill>
                  </a:tcPr>
                </a:tc>
                <a:tc>
                  <a:txBody>
                    <a:bodyPr/>
                    <a:lstStyle/>
                    <a:p>
                      <a:r>
                        <a:rPr sz="1300" b="0">
                          <a:solidFill>
                            <a:srgbClr val="1F2937"/>
                          </a:solidFill>
                        </a:rPr>
                        <a:t>Asosli va xolisona xulosa berish</a:t>
                      </a:r>
                    </a:p>
                  </a:txBody>
                  <a:tcPr marL="73152" marR="73152" marT="36576" marB="36576">
                    <a:solidFill>
                      <a:srgbClr val="FFFFFF"/>
                    </a:solidFill>
                  </a:tcPr>
                </a:tc>
              </a:tr>
              <a:tr h="411480">
                <a:tc>
                  <a:txBody>
                    <a:bodyPr/>
                    <a:lstStyle/>
                    <a:p>
                      <a:r>
                        <a:rPr sz="1300" b="0">
                          <a:solidFill>
                            <a:srgbClr val="1F2937"/>
                          </a:solidFill>
                        </a:rPr>
                        <a:t>Savol berish (ruxsat bilan)</a:t>
                      </a:r>
                    </a:p>
                  </a:txBody>
                  <a:tcPr marL="73152" marR="73152" marT="36576" marB="36576">
                    <a:solidFill>
                      <a:srgbClr val="E8EEF6"/>
                    </a:solidFill>
                  </a:tcPr>
                </a:tc>
                <a:tc>
                  <a:txBody>
                    <a:bodyPr/>
                    <a:lstStyle/>
                    <a:p>
                      <a:r>
                        <a:rPr sz="1300" b="0">
                          <a:solidFill>
                            <a:srgbClr val="1F2937"/>
                          </a:solidFill>
                        </a:rPr>
                        <a:t>Ma’lumotni oshkor qilmaslik</a:t>
                      </a:r>
                    </a:p>
                  </a:txBody>
                  <a:tcPr marL="73152" marR="73152" marT="36576" marB="36576">
                    <a:solidFill>
                      <a:srgbClr val="E8EEF6"/>
                    </a:solidFill>
                  </a:tcPr>
                </a:tc>
              </a:tr>
              <a:tr h="411480">
                <a:tc>
                  <a:txBody>
                    <a:bodyPr/>
                    <a:lstStyle/>
                    <a:p>
                      <a:r>
                        <a:rPr sz="1300" b="0">
                          <a:solidFill>
                            <a:srgbClr val="1F2937"/>
                          </a:solidFill>
                        </a:rPr>
                        <a:t>Tarjimon, shikoyat qilish</a:t>
                      </a:r>
                    </a:p>
                  </a:txBody>
                  <a:tcPr marL="73152" marR="73152" marT="36576" marB="36576">
                    <a:solidFill>
                      <a:srgbClr val="FFFFFF"/>
                    </a:solidFill>
                  </a:tcPr>
                </a:tc>
                <a:tc>
                  <a:txBody>
                    <a:bodyPr/>
                    <a:lstStyle/>
                    <a:p>
                      <a:r>
                        <a:rPr sz="1300" b="0">
                          <a:solidFill>
                            <a:srgbClr val="1F2937"/>
                          </a:solidFill>
                        </a:rPr>
                        <a:t>Tekshirish ob’ektlarini saqlash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 va majburiyat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 17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javobgarligi va raddiya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Muomalaga layoqatsiz yoki layoqati cheklangan shaxs ekspert bo‘la olmaydi. Sudlanganligi tugallanmagan yoki olib tashlanmagan shaxs ham ekspert bo‘la olmaydi.</a:t>
            </a:r>
          </a:p>
          <a:p>
            <a:pPr>
              <a:spcAft>
                <a:spcPts val="1200"/>
              </a:spcAft>
            </a:pPr>
            <a:r>
              <a:rPr sz="2000">
                <a:solidFill>
                  <a:srgbClr val="1F2937"/>
                </a:solidFill>
                <a:latin typeface="Calibri"/>
              </a:rPr>
              <a:t>▸  Jinoyat kodeksida jinoiy javobgarlik belgilangan: bila turib noto‘g‘ri xulosa (238-modda), ma’lumotni ruxsatsiz oshkor qilish (239-modda), xulosa berishni rad etish yoki bo‘yin tovlash (240-modda).</a:t>
            </a:r>
          </a:p>
          <a:p>
            <a:pPr>
              <a:spcAft>
                <a:spcPts val="1200"/>
              </a:spcAft>
            </a:pPr>
            <a:r>
              <a:rPr sz="2000">
                <a:solidFill>
                  <a:srgbClr val="1F2937"/>
                </a:solidFill>
                <a:latin typeface="Calibri"/>
              </a:rPr>
              <a:t>▸  Raddiya asoslari: manfaatdor tomonlarga nisbatan qarindoshlik, moddiy yoki xizmat bog‘liqligi, shuningdek ixtisos bo‘yicha malakaning yetarli emasligi. Ekspert o‘zini o‘zi ham rad etishi mumkin.</a:t>
            </a:r>
          </a:p>
          <a:p>
            <a:pPr>
              <a:spcAft>
                <a:spcPts val="1200"/>
              </a:spcAft>
            </a:pPr>
            <a:r>
              <a:rPr sz="2000">
                <a:solidFill>
                  <a:srgbClr val="1F2937"/>
                </a:solidFill>
                <a:latin typeface="Calibri"/>
              </a:rPr>
              <a:t>▸  Raddiyani faqat ekspertizani tayinlagan shaxs hal qiladi. Surishtiruv va dastlabki tergovda 24 soat ichida, sud majlisida shu majlisning o‘zida hal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 17, 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Mutaxassis va ekspert: farqlar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Mutaxassis (Jinoyat-protsessual kodeksi, 69-modda) dalillarni topish va mustahkamlashda yordam beradi.</a:t>
            </a:r>
          </a:p>
          <a:p>
            <a:pPr>
              <a:spcAft>
                <a:spcPts val="800"/>
              </a:spcAft>
            </a:pPr>
            <a:r>
              <a:rPr sz="1800">
                <a:solidFill>
                  <a:srgbClr val="1F2937"/>
                </a:solidFill>
                <a:latin typeface="Calibri"/>
              </a:rPr>
              <a:t>▸  Huquq: maqsadni bilish, malakasiz bo‘lsa bosh tortish. Majburiyat: chaqiruvga kelish, sirni saqlash.</a:t>
            </a:r>
          </a:p>
          <a:p>
            <a:pPr>
              <a:spcAft>
                <a:spcPts val="800"/>
              </a:spcAft>
            </a:pPr>
            <a:r>
              <a:rPr sz="1800">
                <a:solidFill>
                  <a:srgbClr val="1F2937"/>
                </a:solidFill>
                <a:latin typeface="Calibri"/>
              </a:rPr>
              <a:t>▸  Diqqat: ekspert ≠ mutaxassis. Mutaxassis mustaqil hujjat tuzmaydi.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44538"/>
                <a:gridCol w="2219643"/>
                <a:gridCol w="202379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Ekspert</a:t>
                      </a:r>
                    </a:p>
                  </a:txBody>
                  <a:tcPr marL="73152" marR="73152" marT="36576" marB="36576">
                    <a:solidFill>
                      <a:srgbClr val="0B1F3A"/>
                    </a:solidFill>
                  </a:tcPr>
                </a:tc>
                <a:tc>
                  <a:txBody>
                    <a:bodyPr/>
                    <a:lstStyle/>
                    <a:p>
                      <a:r>
                        <a:rPr sz="1300" b="1">
                          <a:solidFill>
                            <a:srgbClr val="FFFFFF"/>
                          </a:solidFill>
                        </a:rPr>
                        <a:t>Mutaxassis</a:t>
                      </a:r>
                    </a:p>
                  </a:txBody>
                  <a:tcPr marL="73152" marR="73152" marT="36576" marB="36576">
                    <a:solidFill>
                      <a:srgbClr val="0B1F3A"/>
                    </a:solidFill>
                  </a:tcPr>
                </a:tc>
              </a:tr>
              <a:tr h="411480">
                <a:tc>
                  <a:txBody>
                    <a:bodyPr/>
                    <a:lstStyle/>
                    <a:p>
                      <a:r>
                        <a:rPr sz="1200" b="0">
                          <a:solidFill>
                            <a:srgbClr val="1F2937"/>
                          </a:solidFill>
                        </a:rPr>
                        <a:t>Vazifasi</a:t>
                      </a:r>
                    </a:p>
                  </a:txBody>
                  <a:tcPr marL="73152" marR="73152" marT="36576" marB="36576">
                    <a:solidFill>
                      <a:srgbClr val="E8EEF6"/>
                    </a:solidFill>
                  </a:tcPr>
                </a:tc>
                <a:tc>
                  <a:txBody>
                    <a:bodyPr/>
                    <a:lstStyle/>
                    <a:p>
                      <a:r>
                        <a:rPr sz="1200" b="0">
                          <a:solidFill>
                            <a:srgbClr val="1F2937"/>
                          </a:solidFill>
                        </a:rPr>
                        <a:t>Tibbiy faktni aniqlab baholaydi</a:t>
                      </a:r>
                    </a:p>
                  </a:txBody>
                  <a:tcPr marL="73152" marR="73152" marT="36576" marB="36576">
                    <a:solidFill>
                      <a:srgbClr val="E8EEF6"/>
                    </a:solidFill>
                  </a:tcPr>
                </a:tc>
                <a:tc>
                  <a:txBody>
                    <a:bodyPr/>
                    <a:lstStyle/>
                    <a:p>
                      <a:r>
                        <a:rPr sz="1200" b="0">
                          <a:solidFill>
                            <a:srgbClr val="1F2937"/>
                          </a:solidFill>
                        </a:rPr>
                        <a:t>Dalil topishda yordam beradi</a:t>
                      </a:r>
                    </a:p>
                  </a:txBody>
                  <a:tcPr marL="73152" marR="73152" marT="36576" marB="36576">
                    <a:solidFill>
                      <a:srgbClr val="E8EEF6"/>
                    </a:solidFill>
                  </a:tcPr>
                </a:tc>
              </a:tr>
              <a:tr h="411480">
                <a:tc>
                  <a:txBody>
                    <a:bodyPr/>
                    <a:lstStyle/>
                    <a:p>
                      <a:r>
                        <a:rPr sz="1200" b="0">
                          <a:solidFill>
                            <a:srgbClr val="1F2937"/>
                          </a:solidFill>
                        </a:rPr>
                        <a:t>Hujjat</a:t>
                      </a:r>
                    </a:p>
                  </a:txBody>
                  <a:tcPr marL="73152" marR="73152" marT="36576" marB="36576">
                    <a:solidFill>
                      <a:srgbClr val="FFFFFF"/>
                    </a:solidFill>
                  </a:tcPr>
                </a:tc>
                <a:tc>
                  <a:txBody>
                    <a:bodyPr/>
                    <a:lstStyle/>
                    <a:p>
                      <a:r>
                        <a:rPr sz="1200" b="0">
                          <a:solidFill>
                            <a:srgbClr val="1F2937"/>
                          </a:solidFill>
                        </a:rPr>
                        <a:t>Ekspert xulosasini tuzadi</a:t>
                      </a:r>
                    </a:p>
                  </a:txBody>
                  <a:tcPr marL="73152" marR="73152" marT="36576" marB="36576">
                    <a:solidFill>
                      <a:srgbClr val="FFFFFF"/>
                    </a:solidFill>
                  </a:tcPr>
                </a:tc>
                <a:tc>
                  <a:txBody>
                    <a:bodyPr/>
                    <a:lstStyle/>
                    <a:p>
                      <a:r>
                        <a:rPr sz="1200" b="0">
                          <a:solidFill>
                            <a:srgbClr val="1F2937"/>
                          </a:solidFill>
                        </a:rPr>
                        <a:t>Mustaqil hujjat tuzmaydi</a:t>
                      </a:r>
                    </a:p>
                  </a:txBody>
                  <a:tcPr marL="73152" marR="73152" marT="36576" marB="36576">
                    <a:solidFill>
                      <a:srgbClr val="FFFFFF"/>
                    </a:solidFill>
                  </a:tcPr>
                </a:tc>
              </a:tr>
              <a:tr h="411480">
                <a:tc>
                  <a:txBody>
                    <a:bodyPr/>
                    <a:lstStyle/>
                    <a:p>
                      <a:r>
                        <a:rPr sz="1200" b="0">
                          <a:solidFill>
                            <a:srgbClr val="1F2937"/>
                          </a:solidFill>
                        </a:rPr>
                        <a:t>Asos</a:t>
                      </a:r>
                    </a:p>
                  </a:txBody>
                  <a:tcPr marL="73152" marR="73152" marT="36576" marB="36576">
                    <a:solidFill>
                      <a:srgbClr val="E8EEF6"/>
                    </a:solidFill>
                  </a:tcPr>
                </a:tc>
                <a:tc>
                  <a:txBody>
                    <a:bodyPr/>
                    <a:lstStyle/>
                    <a:p>
                      <a:r>
                        <a:rPr sz="1200" b="0">
                          <a:solidFill>
                            <a:srgbClr val="1F2937"/>
                          </a:solidFill>
                        </a:rPr>
                        <a:t>Qaror yoki ajrim bilan tayinlanadi</a:t>
                      </a:r>
                    </a:p>
                  </a:txBody>
                  <a:tcPr marL="73152" marR="73152" marT="36576" marB="36576">
                    <a:solidFill>
                      <a:srgbClr val="E8EEF6"/>
                    </a:solidFill>
                  </a:tcPr>
                </a:tc>
                <a:tc>
                  <a:txBody>
                    <a:bodyPr/>
                    <a:lstStyle/>
                    <a:p>
                      <a:r>
                        <a:rPr sz="1200" b="0">
                          <a:solidFill>
                            <a:srgbClr val="1F2937"/>
                          </a:solidFill>
                        </a:rPr>
                        <a:t>Chaqiriladi (69-modda)</a:t>
                      </a:r>
                    </a:p>
                  </a:txBody>
                  <a:tcPr marL="73152" marR="73152" marT="36576" marB="36576">
                    <a:solidFill>
                      <a:srgbClr val="E8EEF6"/>
                    </a:solidFill>
                  </a:tcPr>
                </a:tc>
              </a:tr>
              <a:tr h="411480">
                <a:tc>
                  <a:txBody>
                    <a:bodyPr/>
                    <a:lstStyle/>
                    <a:p>
                      <a:r>
                        <a:rPr sz="1200" b="0">
                          <a:solidFill>
                            <a:srgbClr val="1F2937"/>
                          </a:solidFill>
                        </a:rPr>
                        <a:t>Ishtirok</a:t>
                      </a:r>
                    </a:p>
                  </a:txBody>
                  <a:tcPr marL="73152" marR="73152" marT="36576" marB="36576">
                    <a:solidFill>
                      <a:srgbClr val="FFFFFF"/>
                    </a:solidFill>
                  </a:tcPr>
                </a:tc>
                <a:tc>
                  <a:txBody>
                    <a:bodyPr/>
                    <a:lstStyle/>
                    <a:p>
                      <a:r>
                        <a:rPr sz="1200" b="0">
                          <a:solidFill>
                            <a:srgbClr val="1F2937"/>
                          </a:solidFill>
                        </a:rPr>
                        <a:t>Tekshiruv va xulosa berish</a:t>
                      </a:r>
                    </a:p>
                  </a:txBody>
                  <a:tcPr marL="73152" marR="73152" marT="36576" marB="36576">
                    <a:solidFill>
                      <a:srgbClr val="FFFFFF"/>
                    </a:solidFill>
                  </a:tcPr>
                </a:tc>
                <a:tc>
                  <a:txBody>
                    <a:bodyPr/>
                    <a:lstStyle/>
                    <a:p>
                      <a:r>
                        <a:rPr sz="1200" b="0">
                          <a:solidFill>
                            <a:srgbClr val="1F2937"/>
                          </a:solidFill>
                        </a:rPr>
                        <a:t>Ko‘zdan kechirish, eksgumatsiya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 va mutaxassis</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17-18, 18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Ekspertizaning protsessual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Komissiyaviy — kasb huquqbuzarligi, yosh, salomatlik; kompleks — boshqa fanlar ham kerak bo‘lsa.</a:t>
            </a:r>
          </a:p>
          <a:p>
            <a:pPr>
              <a:spcAft>
                <a:spcPts val="800"/>
              </a:spcAft>
            </a:pPr>
            <a:r>
              <a:rPr sz="1800">
                <a:solidFill>
                  <a:srgbClr val="1F2937"/>
                </a:solidFill>
                <a:latin typeface="Calibri"/>
              </a:rPr>
              <a:t>▸  Qo‘shimcha — kamchilikni to‘ldiradi, odatda oldingi ekspert bajaradi; qayta — xulosa shubhali bo‘lsa.</a:t>
            </a:r>
          </a:p>
          <a:p>
            <a:pPr>
              <a:spcAft>
                <a:spcPts val="800"/>
              </a:spcAft>
            </a:pPr>
            <a:r>
              <a:rPr sz="1800">
                <a:solidFill>
                  <a:srgbClr val="1F2937"/>
                </a:solidFill>
                <a:latin typeface="Calibri"/>
              </a:rPr>
              <a:t>▸  Qayta, komissiyaviy, kompleks ekspertiza faqat byuroning qayta-komission bo‘limida o‘tkaziladi.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Birlamchi: bir ekspert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Komissiyaviy: komissiya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Kompleks: turli fan sohalari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Qo‘shimcha: to‘ldirish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Qayta: odatda 2+ ekspert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Beshta turi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 20, 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Qayta va qo‘shimcha ekspertiza: asosiy farqlar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Diqqat: qo‘shimcha ≠ qayta. Qo‘shimcha ekspertiza avvalgi xulosadagi kamchilik va bo‘shliqlarni to‘ldirish uchun tayinlanadi. Uni odatda oldingi ekspert bajargani ma’qul.</a:t>
            </a:r>
          </a:p>
          <a:p>
            <a:pPr>
              <a:spcAft>
                <a:spcPts val="1200"/>
              </a:spcAft>
            </a:pPr>
            <a:r>
              <a:rPr sz="2000">
                <a:solidFill>
                  <a:srgbClr val="1F2937"/>
                </a:solidFill>
                <a:latin typeface="Calibri"/>
              </a:rPr>
              <a:t>▸  Qayta ekspertiza xulosa asoslanmagan yoki shubhali bo‘lsa, dalillar ishonchsiz bo‘lsa yoki protsessual qoidalar jiddiy buzilsa tayinlanadi. Odatda ikki va undan ortiq ekspert o‘tkazadi.</a:t>
            </a:r>
          </a:p>
          <a:p>
            <a:pPr>
              <a:spcAft>
                <a:spcPts val="1200"/>
              </a:spcAft>
            </a:pPr>
            <a:r>
              <a:rPr sz="2000">
                <a:solidFill>
                  <a:srgbClr val="1F2937"/>
                </a:solidFill>
                <a:latin typeface="Calibri"/>
              </a:rPr>
              <a:t>▸  Dastlabki ekspert qayta ekspertizani bajara olmaydi, faqat tushuntirish berishi mumkin. Taraflarning xulosadan noroziligi o‘z-o‘zidan qayta ekspertiza uchun asos bo‘lmaydi.</a:t>
            </a:r>
          </a:p>
          <a:p>
            <a:pPr>
              <a:spcAft>
                <a:spcPts val="1200"/>
              </a:spcAft>
            </a:pPr>
            <a:r>
              <a:rPr sz="2000">
                <a:solidFill>
                  <a:srgbClr val="1F2937"/>
                </a:solidFill>
                <a:latin typeface="Calibri"/>
              </a:rPr>
              <a:t>▸  Qayta, komissiyaviy va kompleks ekspertizalar faqat byuroning qayta va komission ekspertizalar bo‘limida o‘tkaziladi. Morfologik bo‘lim, ambulatoriya va tuman bo‘linmalarida taqiqlanadi.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 21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xulosasi va tekshiruv dalolatnomasi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 xulosasi uch qismdan iborat: kirish, tadqiqot va yakunlovchi qism (to‘xtam).</a:t>
            </a:r>
          </a:p>
          <a:p>
            <a:pPr>
              <a:spcAft>
                <a:spcPts val="800"/>
              </a:spcAft>
            </a:pPr>
            <a:r>
              <a:rPr sz="1800">
                <a:solidFill>
                  <a:srgbClr val="1F2937"/>
                </a:solidFill>
                <a:latin typeface="Calibri"/>
              </a:rPr>
              <a:t>▸  To‘xtam qo‘yilgan savollarga turli talqinga yo‘l qo‘ymaydigan, aniq va tushunarli tilda javob beradi.</a:t>
            </a:r>
          </a:p>
          <a:p>
            <a:pPr>
              <a:spcAft>
                <a:spcPts val="800"/>
              </a:spcAft>
            </a:pPr>
            <a:r>
              <a:rPr sz="1800">
                <a:solidFill>
                  <a:srgbClr val="1F2937"/>
                </a:solidFill>
                <a:latin typeface="Calibri"/>
              </a:rPr>
              <a:t>▸  Xulosa sud va tergovchi uchun oldindan muqarrar daliliy kuchga ega emas. Qo‘shilmasalar, buni qaror yoki ajrimda asoslaydilar.</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44538"/>
                <a:gridCol w="2284927"/>
                <a:gridCol w="195850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Xulosa</a:t>
                      </a:r>
                    </a:p>
                  </a:txBody>
                  <a:tcPr marL="73152" marR="73152" marT="36576" marB="36576">
                    <a:solidFill>
                      <a:srgbClr val="0B1F3A"/>
                    </a:solidFill>
                  </a:tcPr>
                </a:tc>
                <a:tc>
                  <a:txBody>
                    <a:bodyPr/>
                    <a:lstStyle/>
                    <a:p>
                      <a:r>
                        <a:rPr sz="1300" b="1">
                          <a:solidFill>
                            <a:srgbClr val="FFFFFF"/>
                          </a:solidFill>
                        </a:rPr>
                        <a:t>Dalolatnoma</a:t>
                      </a:r>
                    </a:p>
                  </a:txBody>
                  <a:tcPr marL="73152" marR="73152" marT="36576" marB="36576">
                    <a:solidFill>
                      <a:srgbClr val="0B1F3A"/>
                    </a:solidFill>
                  </a:tcPr>
                </a:tc>
              </a:tr>
              <a:tr h="411480">
                <a:tc>
                  <a:txBody>
                    <a:bodyPr/>
                    <a:lstStyle/>
                    <a:p>
                      <a:r>
                        <a:rPr sz="1200" b="0">
                          <a:solidFill>
                            <a:srgbClr val="1F2937"/>
                          </a:solidFill>
                        </a:rPr>
                        <a:t>Asos</a:t>
                      </a:r>
                    </a:p>
                  </a:txBody>
                  <a:tcPr marL="73152" marR="73152" marT="36576" marB="36576">
                    <a:solidFill>
                      <a:srgbClr val="E8EEF6"/>
                    </a:solidFill>
                  </a:tcPr>
                </a:tc>
                <a:tc>
                  <a:txBody>
                    <a:bodyPr/>
                    <a:lstStyle/>
                    <a:p>
                      <a:r>
                        <a:rPr sz="1200" b="0">
                          <a:solidFill>
                            <a:srgbClr val="1F2937"/>
                          </a:solidFill>
                        </a:rPr>
                        <a:t>Qaror yoki ajrim</a:t>
                      </a:r>
                    </a:p>
                  </a:txBody>
                  <a:tcPr marL="73152" marR="73152" marT="36576" marB="36576">
                    <a:solidFill>
                      <a:srgbClr val="E8EEF6"/>
                    </a:solidFill>
                  </a:tcPr>
                </a:tc>
                <a:tc>
                  <a:txBody>
                    <a:bodyPr/>
                    <a:lstStyle/>
                    <a:p>
                      <a:r>
                        <a:rPr sz="1200" b="0">
                          <a:solidFill>
                            <a:srgbClr val="1F2937"/>
                          </a:solidFill>
                        </a:rPr>
                        <a:t>Yozma topshiriq yoki yo‘llanma</a:t>
                      </a:r>
                    </a:p>
                  </a:txBody>
                  <a:tcPr marL="73152" marR="73152" marT="36576" marB="36576">
                    <a:solidFill>
                      <a:srgbClr val="E8EEF6"/>
                    </a:solidFill>
                  </a:tcPr>
                </a:tc>
              </a:tr>
              <a:tr h="411480">
                <a:tc>
                  <a:txBody>
                    <a:bodyPr/>
                    <a:lstStyle/>
                    <a:p>
                      <a:r>
                        <a:rPr sz="1200" b="0">
                          <a:solidFill>
                            <a:srgbClr val="1F2937"/>
                          </a:solidFill>
                        </a:rPr>
                        <a:t>Tilxat</a:t>
                      </a:r>
                    </a:p>
                  </a:txBody>
                  <a:tcPr marL="73152" marR="73152" marT="36576" marB="36576">
                    <a:solidFill>
                      <a:srgbClr val="FFFFFF"/>
                    </a:solidFill>
                  </a:tcPr>
                </a:tc>
                <a:tc>
                  <a:txBody>
                    <a:bodyPr/>
                    <a:lstStyle/>
                    <a:p>
                      <a:r>
                        <a:rPr sz="1200" b="0">
                          <a:solidFill>
                            <a:srgbClr val="1F2937"/>
                          </a:solidFill>
                        </a:rPr>
                        <a:t>Huquq va javobgarlik tushuntiriladi</a:t>
                      </a:r>
                    </a:p>
                  </a:txBody>
                  <a:tcPr marL="73152" marR="73152" marT="36576" marB="36576">
                    <a:solidFill>
                      <a:srgbClr val="FFFFFF"/>
                    </a:solidFill>
                  </a:tcPr>
                </a:tc>
                <a:tc>
                  <a:txBody>
                    <a:bodyPr/>
                    <a:lstStyle/>
                    <a:p>
                      <a:r>
                        <a:rPr sz="1200" b="0">
                          <a:solidFill>
                            <a:srgbClr val="1F2937"/>
                          </a:solidFill>
                        </a:rPr>
                        <a:t>Tilxat berilmaydi</a:t>
                      </a:r>
                    </a:p>
                  </a:txBody>
                  <a:tcPr marL="73152" marR="73152" marT="36576" marB="36576">
                    <a:solidFill>
                      <a:srgbClr val="FFFFFF"/>
                    </a:solidFill>
                  </a:tcPr>
                </a:tc>
              </a:tr>
              <a:tr h="411480">
                <a:tc>
                  <a:txBody>
                    <a:bodyPr/>
                    <a:lstStyle/>
                    <a:p>
                      <a:r>
                        <a:rPr sz="1200" b="0">
                          <a:solidFill>
                            <a:srgbClr val="1F2937"/>
                          </a:solidFill>
                        </a:rPr>
                        <a:t>Yakuniy qism</a:t>
                      </a:r>
                    </a:p>
                  </a:txBody>
                  <a:tcPr marL="73152" marR="73152" marT="36576" marB="36576">
                    <a:solidFill>
                      <a:srgbClr val="E8EEF6"/>
                    </a:solidFill>
                  </a:tcPr>
                </a:tc>
                <a:tc>
                  <a:txBody>
                    <a:bodyPr/>
                    <a:lstStyle/>
                    <a:p>
                      <a:r>
                        <a:rPr sz="1200" b="0">
                          <a:solidFill>
                            <a:srgbClr val="1F2937"/>
                          </a:solidFill>
                        </a:rPr>
                        <a:t>To‘xtam</a:t>
                      </a:r>
                    </a:p>
                  </a:txBody>
                  <a:tcPr marL="73152" marR="73152" marT="36576" marB="36576">
                    <a:solidFill>
                      <a:srgbClr val="E8EEF6"/>
                    </a:solidFill>
                  </a:tcPr>
                </a:tc>
                <a:tc>
                  <a:txBody>
                    <a:bodyPr/>
                    <a:lstStyle/>
                    <a:p>
                      <a:r>
                        <a:rPr sz="1200" b="0">
                          <a:solidFill>
                            <a:srgbClr val="1F2937"/>
                          </a:solidFill>
                        </a:rPr>
                        <a:t>Xotima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Xulosa va dalolatnoma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21, 22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protsessual hujjat va ekspertiza turi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birlamchi ekspertiza xulosasi asoslanmagan va uning to‘g‘riligiga shubha bor. Ishda oldingi ekspertiza o‘tkazish chog‘ida protsessual qoidalar buzilgani ham aniqlangan.</a:t>
            </a:r>
          </a:p>
          <a:p>
            <a:pPr>
              <a:spcAft>
                <a:spcPts val="1200"/>
              </a:spcAft>
            </a:pPr>
            <a:r>
              <a:rPr sz="2200">
                <a:solidFill>
                  <a:srgbClr val="1F2937"/>
                </a:solidFill>
                <a:latin typeface="Calibri"/>
              </a:rPr>
              <a:t>▸  Savol 1: qaysi turdagi ekspertiza tayinlanadi, uni kim bajaradi va qayerda o‘tkaziladi?</a:t>
            </a:r>
          </a:p>
          <a:p>
            <a:pPr>
              <a:spcAft>
                <a:spcPts val="1200"/>
              </a:spcAft>
            </a:pPr>
            <a:r>
              <a:rPr sz="2200">
                <a:solidFill>
                  <a:srgbClr val="1F2937"/>
                </a:solidFill>
                <a:latin typeface="Calibri"/>
              </a:rPr>
              <a:t>▸  Savol 2: ishdagi taraflardan biri xulosadan faqat norozi, boshqa asos keltirmaydi. Qayta ekspertiza tayinlanadimi?</a:t>
            </a:r>
          </a:p>
          <a:p>
            <a:pPr>
              <a:spcAft>
                <a:spcPts val="1200"/>
              </a:spcAft>
            </a:pPr>
            <a:r>
              <a:rPr sz="2200">
                <a:solidFill>
                  <a:srgbClr val="1F2937"/>
                </a:solidFill>
                <a:latin typeface="Calibri"/>
              </a:rPr>
              <a:t>▸  Savol 3: sud yangi xulosaga qo‘shilmasa, nima qilishi shart? Xulosa sud uchun majburiy kuchga egami?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 21, 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xizmatining tashkil etilishi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xizmat Sog‘liqni saqlash vazirligida; Mudofaa vazirligida harbiylar uchun alohida xizmat bor.</a:t>
            </a:r>
          </a:p>
          <a:p>
            <a:pPr>
              <a:spcAft>
                <a:spcPts val="800"/>
              </a:spcAft>
            </a:pPr>
            <a:r>
              <a:rPr sz="1800">
                <a:solidFill>
                  <a:srgbClr val="1F2937"/>
                </a:solidFill>
                <a:latin typeface="Calibri"/>
              </a:rPr>
              <a:t>▸  Hududiy byuro: ma’muriy-moliyaviy masalada mahalliy sog‘liqni saqlash idorasiga, ekspertizada Bosh byuroga bo‘ysunadi.</a:t>
            </a:r>
          </a:p>
          <a:p>
            <a:pPr>
              <a:spcAft>
                <a:spcPts val="800"/>
              </a:spcAft>
            </a:pPr>
            <a:r>
              <a:rPr sz="1800">
                <a:solidFill>
                  <a:srgbClr val="1F2937"/>
                </a:solidFill>
                <a:latin typeface="Calibri"/>
              </a:rPr>
              <a:t>▸  Byuro tarkibi: morfologik, ambulatoriya, qayta/komission, kimyo, biologiya, kriminalistika bo‘limlari.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Sog‘liqni saqlash vazirligi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 byuro</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13 hududiy byuro</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Tuman/shahar bo‘linmalari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Xizmat zanjiri (Sog‘liqni saqlash tizimi)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22, 22-23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diagnostikasi: manbada qamrov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Taqdim etilgan manbada miya o‘limining diagnostik mezonlari keltirilmagan; ularni bu yerda bayon qilib bo‘lmaydi. (?)</a:t>
            </a:r>
          </a:p>
          <a:p>
            <a:pPr>
              <a:spcAft>
                <a:spcPts val="1200"/>
              </a:spcAft>
            </a:pPr>
            <a:r>
              <a:rPr sz="2200">
                <a:solidFill>
                  <a:srgbClr val="1F2937"/>
                </a:solidFill>
                <a:latin typeface="Calibri"/>
              </a:rPr>
              <a:t>▸  Sud tibbiyoti tarkibida sud-tibbiy tanatologiya alohida qism; Popov uchta ta’limotdan birini o‘lim va undan keyingi o‘zgarishlar deb ajratadi.</a:t>
            </a:r>
          </a:p>
          <a:p>
            <a:pPr>
              <a:spcAft>
                <a:spcPts val="1200"/>
              </a:spcAft>
            </a:pPr>
            <a:r>
              <a:rPr sz="2200">
                <a:solidFill>
                  <a:srgbClr val="1F2937"/>
                </a:solidFill>
                <a:latin typeface="Calibri"/>
              </a:rPr>
              <a:t>▸  JPK 173-moddaga ko‘ra o‘lim sababini aniqlash zarur bo‘lganda sud-tibbiy ekspertiza tayinlanadi.</a:t>
            </a:r>
          </a:p>
          <a:p>
            <a:pPr>
              <a:spcAft>
                <a:spcPts val="1200"/>
              </a:spcAft>
            </a:pPr>
            <a:r>
              <a:rPr sz="2200">
                <a:solidFill>
                  <a:srgbClr val="1F2937"/>
                </a:solidFill>
                <a:latin typeface="Calibri"/>
              </a:rPr>
              <a:t>▸  Diqqat: o‘lim sababini aniqlash ≠ miya o‘limini diagnostika qilish. Mezonlar uchun qo‘shimcha ishonchli manba kerak.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 14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g‘oyalar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Xizmat 4 davrni bosib o‘tgan: XX asr 20-yillarigacha, 50-yillargacha, 1950–1991-yillar va 1991-yildan hozirgacha.</a:t>
            </a:r>
          </a:p>
          <a:p>
            <a:pPr>
              <a:spcAft>
                <a:spcPts val="1200"/>
              </a:spcAft>
            </a:pPr>
            <a:r>
              <a:rPr sz="2200">
                <a:solidFill>
                  <a:srgbClr val="1F2937"/>
                </a:solidFill>
                <a:latin typeface="Calibri"/>
              </a:rPr>
              <a:t>▸  Ekspertiza surishtiruv, tergov qarori yoki sud ajrimi bilan o‘tkaziladi; mustaqillikda ilk bor “Sud ekspertizasi to‘g‘risida”gi Qonun qabul qilindi.</a:t>
            </a:r>
          </a:p>
          <a:p>
            <a:pPr>
              <a:spcAft>
                <a:spcPts val="1200"/>
              </a:spcAft>
            </a:pPr>
            <a:r>
              <a:rPr sz="2200">
                <a:solidFill>
                  <a:srgbClr val="1F2937"/>
                </a:solidFill>
                <a:latin typeface="Calibri"/>
              </a:rPr>
              <a:t>▸  Diqqat: ekspert ≠ mutaxassis. Ekspert xulosa beradi; mutaxassis dalil topishda yordam beradi va mustaqil hujjat tuzmaydi.</a:t>
            </a:r>
          </a:p>
          <a:p>
            <a:pPr>
              <a:spcAft>
                <a:spcPts val="1200"/>
              </a:spcAft>
            </a:pPr>
            <a:r>
              <a:rPr sz="2200">
                <a:solidFill>
                  <a:srgbClr val="1F2937"/>
                </a:solidFill>
                <a:latin typeface="Calibri"/>
              </a:rPr>
              <a:t>▸  Ekspertiza turlari: birlamchi, komissiyaviy, kompleks, qo‘shimcha va qayta.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12-13, 13-14, 16-18, 19-21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hodisa tahlili: Yuliy Sezar o‘ldirilgach (e.a. 44-yil), murdasini vrach Antistius ko‘zdan kechirgan. Tanadagi 23 jarohatdan faqat bittasi o‘limga olib kelgan, deb baholangan. Bu jarohatlarning o‘lim bilan bog‘liqligini alohida baholashning dastlabki namunalaridan biridir.</a:t>
            </a:r>
          </a:p>
          <a:p>
            <a:pPr>
              <a:spcAft>
                <a:spcPts val="1200"/>
              </a:spcAft>
            </a:pPr>
            <a:r>
              <a:rPr sz="1800">
                <a:solidFill>
                  <a:srgbClr val="1F2937"/>
                </a:solidFill>
                <a:latin typeface="Calibri"/>
              </a:rPr>
              <a:t>▸  Qiziqarli fakt: Abu Ali ibn Sinoning “Tib qonunlari”da o‘limdan keyingi murda o‘zgarishlari, zaharlanishlar va jarohatlar haqida ma’lumot bor. Lekin bu ma’lumotlar odil sudlov uchun emas, asosan to‘g‘ri tibbiy yordam ko‘rsatish uchun yozilgan.</a:t>
            </a:r>
          </a:p>
          <a:p>
            <a:pPr>
              <a:spcAft>
                <a:spcPts val="1200"/>
              </a:spcAft>
            </a:pPr>
            <a:r>
              <a:rPr sz="1800">
                <a:solidFill>
                  <a:srgbClr val="1F2937"/>
                </a:solidFill>
                <a:latin typeface="Calibri"/>
              </a:rPr>
              <a:t>▸  Eslab qolish usuli: ekspert xulosasi 3 qismdan iborat – Kirish, Tadqiqot, To‘xtam (KTT). Kirishda ekspertiza asosi va savollar, tadqiqotda tekshiruv tavsifi, to‘xtamda savollarga aniq javoblar keltiriladi.</a:t>
            </a:r>
          </a:p>
          <a:p>
            <a:pPr>
              <a:spcAft>
                <a:spcPts val="1200"/>
              </a:spcAft>
            </a:pPr>
            <a:r>
              <a:rPr sz="1800">
                <a:solidFill>
                  <a:srgbClr val="1F2937"/>
                </a:solidFill>
                <a:latin typeface="Calibri"/>
              </a:rPr>
              <a:t>▸  Diqqat, xato qilish xavfi: tomonlarning oldingi xulosadan noroziligi o‘z-o‘zidan qayta ekspertiza tayinlash uchun asos bo‘lmaydi. Qayta ekspertiza qarorida dastlabki xulosaga qo‘shilmaslik sabablari ko‘rsatilishi shart.</a:t>
            </a:r>
          </a:p>
          <a:p>
            <a:pPr>
              <a:spcAft>
                <a:spcPts val="1200"/>
              </a:spcAft>
            </a:pPr>
            <a:r>
              <a:rPr sz="1800">
                <a:solidFill>
                  <a:srgbClr val="1F2937"/>
                </a:solidFill>
                <a:latin typeface="Calibri"/>
              </a:rPr>
              <a:t>▸  Hodisa tahlili: ikki ekspertizaning xulosalari bir-biriga zid chiqdi. Ekspert xulosasi sud va tergovchi uchun oldindan muqarrar kuchga ega emas. Ular xulosaga qo‘shilmasa, buni qaror yoki ajrimda asoslab berishi kerak.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Tergovchi qarori bilan shifokor tibbiy bilimlardan foydalanib, belgilangan tartibda tadqiqot o‘tkazdi va ekspert xulosasi tuzdi. Bu faoliyat qanday nomlanadi?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Tibbiy maslahat berish faoliyati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Klinik tashxis qo‘yish jarayoni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Sud-tibbiy ekspertiza o‘tkazish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Mutaxassis sifatida ishtirok etish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 tibbiyoti fani predmetining ilmiy asoslangan tizimini ilk bor 1948-yilda kim taklif etgan?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M.I.Avdeev</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V.L.Popov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N.I.Pirogov</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I.Bon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fanning zamonaviy tarkibida avval uning qismi bo‘lgan «Tibbiy xodimlarning kasb huquqbuzarliklari» bo‘limini izlamoqda. U 2002-yildan qayerda o‘rganiladi?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Sud-tibbiy toksikologiya bo‘limida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Sud-tibbiy travmatologiya bo‘limida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Shaxs identifikatsiyasi bo‘limida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Alohida «Vrach faoliyatining huquqiy asoslari» fanida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yuqori va past harorat hamda elektr toki ta’siri oqibatlarini tekshirmoqda. Qaysi sohadagi bilimlar bu yerda ayniqsa zarur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Kimyo sohasidagi bilimlar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Fizika sohasidagi bilimlar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Falsafa sohasidagi bilimlar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Mantiq sohasidagi bilimlar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Tergovchi shilinma va qontalashlar bo‘yicha ekspertiza tayinlamoqda. Aksariyat hollarda ularni qaysi muddatgacha tekshirish maqsadga muvofiq?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Dastlabki 3–4 kungacha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Dastlabki 10–15 kungacha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Dastlabki 2–3 oygacha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Dastlabki bir yilgacha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Ayblanuvchi oldingi ekspertiza xulosasidan norozi bo‘ldi, ammo xulosa asoslangan va protsessual qoidalar buzilmagan. Qayta ekspertiza haqida qaysi fikr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norozilikning o‘zi qayta ekspertiza uchun asos bo‘la 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Manfaatdor tomonning noroziligi qayta ekspertiza uchun yetarli asosdir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Qayta ekspertizani faqat dastlabki ekspert tayinlashi mumkin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Qayta ekspertiza hech qanday holatda tayinlanishi mumkin emas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Rim imperatori Yuliy Sezar o‘ldirilgach, vrach Antistius murdani ko‘zdan kechirdi. Tanadagi 23 jarohatdan nechtasi o‘limga olib kelgan deb baholandi?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Uchtasi o‘limga olib kelgan deb baholandi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bittasi o‘limga olib kelgan deb baholandi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O‘n ikkitasi o‘limga olib kelgan deb baholandi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Barcha jarohatlar o‘limga olib kelgan deb baholandi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1532-yilda Germaniyada Karl V davrida ishlab chiqilgan, jinoyat ishlarida vrachlar ishtirokini zarur deb qayd etgan qonunlar majmuasi nomini so‘radi. Bu qaysi hujjat?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Yustinian kodeksi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Likurg qonunlari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Karolina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 Yuan Lu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fanni birinchi marta “sud tibbiyoti” deb nomlash taklif qilingan asar qaysi ekanini so‘radi. To‘g‘ri javobni tanlang.</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A.Parening “Opera chirurgica” asari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Sun-sining “Si Yuan Lu” asari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Ibn Sinoning “Tib qonunlari” asari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I.Bonning “Medicina forensis specimen” asari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Arxiv hujjatida 1950-yilda Sog‘liqni saqlash vazirligining sud-tibbiy ekspertiza Bosh byurosi tashkil qilingani yozilgan. Bu voqea O‘zbekiston xizmati rivojlanishining qaysi davriga tegishli?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III davr (1950-yildan 1991-yilgacha)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 davr (XX asrning 20-yillarigacha)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II davr (XX asrning 50-yillarigacha)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IV davr (1991-yildan hozirgacha)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Turkistonda o‘ta murakkab sud-tibbiy ishda ikkinchi instansiya xulosa bergan. Yakuniy xulosani kim bergan?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Gospitalning bo‘lim mudirlari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Uezd shifoxonasi vrachlari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Tibbiyot kengashi vrachlari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Birinchi instansiya vrachlari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Tarixchi 1950–1991-yillar davrini tahlil qilmoqda. Shu davrda hududlarda yo‘lga qo‘yilgan ixtisoslashgan muassasa turi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Sud-tibbiy ekspertiza byurolari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Kafedra qoshidagi laboratoriyalar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Respublika ekspertiza kabineti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Ekspert-kriminalistika markazlari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Tergovchi jinoiy ishlarni tergov qilish va sudda ko‘rish tartibini belgilovchi me’yorlar to‘plamini qidirmoqda. U qaysi hujjat?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Jinoyat kodeksi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 ekspertizasi to‘g‘risidagi Qonun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Sog‘liqni saqlash vazirligi nizomi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Jinoyat-protsessual kodeksi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Ayblanuvchining yoshi haqidagi hujjat shubha tug‘dirdi. JPK 173-moddaga ko‘ra ekspertiza nimani aniqlash uchun tayinlanadi?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 sababini aniqlash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Ayblanuvchi yoshini aniqlash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Homiladorlik holatini aniqlash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Guvoh jismoniy holatini aniqlash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ishda qo‘shimcha material zarur deb topdi. Qonunga muvofiq u qanday yo‘l tutadi?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Iltimosnoma berib, qo‘shimcha material so‘raydi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O‘zi mustaqil ravishda material to‘playdi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Manfaatdor tomondan material olib keltiradi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Boshqa ekspertlardan norasmiy material oladi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ishda bila turib noto‘g‘ri xulosa berdi. Jinoyat kodeksining qaysi moddasida bunga jinoiy javobgarlik ko‘zda tutilgan?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239-modda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238-modda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240-modda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173-modda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Sud-tibbiyot sohasidagi shifokor murda topilgan joyni ko‘zdan kechirishda mutaxassis sifatida qatnashdi. Uning faoliyatiga xos holat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 xulosasini mustaqil tuzadi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Natijani tayinlovchidan boshqaga ham xabar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Xulosa o‘rniga sudga dalolatnoma topshiradi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Mustaqil ravishda hech qanday hujjat tuzmaydi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Murakkab yo‘l-transport hodisasida shikastlanishni aniqlash uchun tibbiy va avtotexnik bilim kerak. Qaysi ekspertiza turi tayinlanadi?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Kompleks ekspertiza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Qayta ekspertiza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Qo‘shimcha ekspertiza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Komissiyaviy ekspertiza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Dastlabki ekspertiza xulosasi asoslantirilmagan va uning to‘g‘riligiga shubha uyg‘otdi. Qaysi ekspertiza turi tayinlanadi?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Birlamchi ekspertiza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Qo‘shimcha ekspertiza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Qayta ekspertiza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Kompleks ekspertiza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tekshiruv dalolatnomasida yakuniy qism qanday nomlanadi?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To‘xtam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Xotima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Xulosa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Bayonnoma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Sud-tibbiy ekspertiza o‘tkazish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 tergov yoki surishtiruv vazifasini hal etish uchun tibbiy bilimlar bilan, umumbelgilangan tartibda o‘tkazilgan va ekspert xulosasi bilan yakunlanadigan tadqiqot sud-tibbiy ekspertiza deyiladi. Mutaxassis esa mustaqil hujjat tuzmaydi.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4–6-bet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M.I.Avdeev</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sud tibbiyoti predmeti tizimini ilk bor 1948-yilda M.I.Avdeev taklif etgani yozilgan. V.L.Popov (1999) fan tarkibida uchta ta’limotni farqlagan.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4–6-bet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Alohida «Vrach faoliyatining huquqiy asoslari» fanida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2002-yilda «Tibbiy xodimlarning kasb huquqbuzarliklari» sud tibbiyotidan ajralib, alohida «Vrach faoliyatining huquqiy asoslari» fani sifatida shakllandi.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4–6-bet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Fizika sohasidagi bilimlar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Ba’zi tashqi omillar (yuqori va past harorat, elektr toki, atmosfera bosimi) oqibatlarini tekshirishda fizika bilimlari zarur. Kimyo esa sud-tibbiy toksikologiya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4–6-bet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Dastlabki 10–15 kungacha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Ekspertiza ob’ektlari faqat ma’lum davr oralig‘ida dalil manbai bo‘ladi. Aksariyat shilinma va qontalashlarni dastlabki 10–15 kungacha tekshirish maqsadga muvofiqdir.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7–10-bet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Faqat norozilikning o‘zi qayta ekspertiza uchun asos bo‘la 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Qayta ekspertiza xulosa asoslantirilmagan, to‘g‘riligiga shubha tug‘ilgan, dalillar ishonchsiz bo‘lgan yoki protsessual qoidalar jiddiy buzilgan hollarda tayinlanadi. Tomonlarning noroziligi o‘zi asos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20-bet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Faqat bittasi o‘limga olib kelgan deb baholandi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Antistius tanadagi 23 jarohatdan faqat bittasini o‘limga olib kelgan, deb baholagan.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9-10-bet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Karolina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Karolina 1532-yilda Karl V davrida ishlab chiqilgan. Unga ko‘ra qotillik, zaharlanish, bola tushishi kabi ishlarni ko‘rishda vrachlar ishtiroki zarur bo‘lgan.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9-10-bet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I.Bonning “Medicina forensis specimen” asari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Leypsigda nashr qilingan I.Bonning “Medicina forensis specimen” asarida fanni “sud tibbiyoti” deb nomlash birinchi marta taklif qilingan.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III davr (1950-yildan 1991-yilgacha)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III davr 1950-yildan 1991-yilgacha davom etgan va Bosh byuro 1950-yilda tashkil qilingan. Shu davrda hududlarda ekspertiza byurolari ochilgan.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Tibbiyot kengashi vrachlari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1842-yilgi sud tibbiyoti ustaviga ko‘ra gospital vrachlari birinchi instansiya, gospital boshliqlari, bo‘lim mudirlari va uezd vrachlari ikkinchi instansiya edi. O‘ta murakkab holatlarda ikkinchi instansiya xulosasi bo‘yicha yakuniy xulosani uchinchi, oliy instansiya, ya’ni tibbiyot kengashi vrachlari bergan.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Sud-tibbiy ekspertiza byurolari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III davrda (1950–1991) Sog‘liqni saqlash vazirligining Bosh byurosi tashkil qilindi va barcha hududlarda sud-tibbiy ekspertiza byurolari ochildi. Kafedra qoshidagi laboratoriyalar va 1945-yilgi kabinet II davrga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Jinoyat-protsessual kodeksi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Jinoyat-protsessual kodeksi jinoiy ishlarni tergov qilish va sudda ko‘rish tartibini hamda ishtirokchilarning huquqiy munosabatlarini belgilaydi. Jinoyat kodeksi esa jinoiy javobgarlik chegaralari va jazo choralarini belgilaydi.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Ayblanuvchi yoshini aniqlash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173-moddaga ko‘ra gumon qilinuvchi, ayblanuvchi, sudlanuvchi yoki jabrlanuvchining yoshi, agar hujjat bo‘lmasa yoki hujjatlar shubha tug‘dirsa, sud-tibbiy ekspertiza bilan aniqlanadi. Boshqa variantlar moddadagi boshqa bandlarga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Iltimosnoma berib, qo‘shimcha material so‘raydi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Ekspert qo‘shimcha materiallar yoki tekshirish ob’ektlari taqdim etilishi haqida iltimosnoma berish huquqiga ega. Ekspertiza uchun mustaqil ravishda material to‘plash esa uning majburiyatlariga zid, ya’ni taqiqlangan.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16-17-bet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238-modda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Jinoyat kodeksining 238-moddasi ekspertning bila turib noto‘g‘ri xulosa berishi uchun javobgarlik belgilaydi. 239-modda tergov ma’lumotlarini ruxsatsiz oshkor qilishga, 240-modda xulosa berishni rad etishga tegishli. 173-modda Jinoyat-protsessual kodeksiga oid bo‘lib, ekspertiza tayinlanishi shart bo‘lgan holatlarni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Mustaqil ravishda hech qanday hujjat tuzmaydi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Mutaxassis dalillarni topish, o‘rganish va hujjatlashtirishda tergov va sudga yordam beradi. Bunday protsessual harakatlarda u mustaqil hujjat tuzmaydi, xulosani esa ekspert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Kompleks ekspertiza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 uchun muhim holatni tibbiyotdan tashqari fan sohalari bilan bir necha tekshiruv o‘tkazib aniqlash mumkin bo‘lsa, kompleks ekspertiza tayinlanadi. Darslikda aynan shu holatga misol sifatida sud-tibbiy va avtotexnik kompleks ekspertiza keltirilgan.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19-20-bet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Qayta ekspertiza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Qayta ekspertiza xulosa asoslantirilmagan yoki to‘g‘riligiga shubha bo‘lgan, dalillar ishonchsiz topilgan yoki protsessual qoidalar jiddiy buzilgan hollarda tayinlanadi. Qo‘shimcha ekspertiza esa xulosadagi kamchilik va bo‘shliqlarni to‘ldirish uchun tayinlanadi.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20-bet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Xotima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Dalolatnoma ekspert xulosasiga o‘xshash rasmiylashtiriladi. Farqi shuki, unda huquq va majburiyatlar tushuntirilgani va javobgarlik haqida ogohlantirilgani to‘g‘risida tilxat berilmaydi, yakuniy qism esa «xotima» deb ataladi. Ekspert xulosasida bu qism to‘xtam deyiladi.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22-bet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O’zbekistonda sud tibbiyotining tarixi. Sud-tibbiy ekspertiza faoliyatini belgilovchi me’y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 Fan, tarix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