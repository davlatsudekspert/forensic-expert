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sud-tibbiyot ekspertida asfiksiyani bilish muhim? 2) Mexanik asfiksiya qanday uch guruhga bo‘linadi? Doskada: mashg‘ulot rejasini 5–6 bandli ro‘yxat qilib yozing. Tipik xato: gipoksiya va asfiksiyani bir xil tushuncha deb olish. Asfiksiyada gipoksiya giperkapniya bilan birga keladi.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bosh miya kislorod yetishmasligiga eng sezgir? 2) Jismoniy zo‘riqishda havo ehtiyoji nega oshadi? Doskada: kislorodning organizmga kirish yo‘llarini (nafas a’zolari, teri, oshqozon-ichak) foizlari bilan chizing. Tipik xato: 5–10 minut muddatni barcha to‘qimaga tegishli deb hisoblash. U faqat markaziy nerv tizimiga tegishli.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Giperkapnik gipoksiya mexanik asfiksiyaga qaysi jihatdan yaqin? 2) Giperoksik gipoksiyada nega o‘pka birinchi zarar ko‘radi? Doskada: Gipoksiya → ekzogen (3 tur) va endogen (5 tur) daraxtini chizing. Tipik xato: giperoksik gipoksiyani ’kislorod kam’ deb o‘ylash. Aslida kislorod konsentratsiyasi katta bo‘ladi.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Respiratorning bevosita va bilvosita shakllari nimasi bilan farq qiladi? 2) Zaharlanish ikki xil gipoksiyaga qanday olib keladi? Doskada: 5 turning sabablarini jadval qilib chizdiring. Tipik xato: gemik va sitotoksik gipoksiyani aralashtirish. Gemikda qon, sitotoksikda to‘qima nafasi buziladi.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sud tibbiyotida aynan yashinsimon va o‘tkir tur muhim? 2) Qaysi tashqi ta’sirlar bunday gipoksiyaga olib keladi? Doskada: vaqt o‘qini soniyadan oygacha chizib, turlarni joylashtiring. Tipik xato: biroz o‘tkir turni ham sud-tibbiy asosiy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avval javobni mustaqil yozadi, so‘ng guruhda muhokama qiladi. Muhokama: 1) Qon yo‘qotish va zaharlanishda gipoksiya mexanizmi qanday farq qiladi? 2) Giperkapnik gipoksiyada havo tarkibi qanday o‘zgaradi? Doskada: ekzogen va endogen turlar daraxtini chizdiring. Tipik xato: giperkapnikni gemik bilan aralashtirish, chunki ikkalasi ham kislorod yetishmasligi bilan birga keladi.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asfiksiya atamasi “puls yo‘qligi” deb tarjima qilinadi, aslida esa nafas buzilishi bilan bog‘liq? 2) Gipoksiya va asfiksiya o‘rtasidagi farq nima? Doskada: “Asfiksiya = gipoksiya + giperkapniya” formulasini yozing va o‘qlar bilan mexanik omilni ko‘rsating. Tipik xato: talabalar gipoksiya va asfiksiyani bir xil tushuncha deb hisoblaydi; giperkapniya qo‘shilishini unutadi. Eslab qoling: a – inkor, sphygmos – puls.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Osilish va cho‘kish tasnifning qaysi bo‘limlariga kiradi? 2) Nega kompression asfiksiya qisilishdan asfiksiyaga kiritilgan? Doskada: tasnif daraxtini (3 ta asosiy shox, kichik turlari bilan) chizdiring. Tipik xato: strangulyatsion va kompression turlarni aralashtirish; cho‘kishni qisilishga kiritish.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hodisa joyini sinchiklab ko‘zdan kechirish bu holatlarda hal qiluvchi ahamiyatga ega? 2) Nima uchun bunday o‘lim o‘z-o‘zini o‘ldirish emas, baxtsiz hodisa deb baholanadi? Doskada: hodisa joyidagi belgilar ro‘yxatini (ashyolar, murda holati) chizma-sxema ko‘rinishida yozing. Tipik xato: sirtmoqdagi o‘limni avtomatik ravishda suitsid yoki qotillik deb baholash; hodisa joyini inobatga olmaslik. Mavzuni odobli va ilmiy tilda yoritish tavsiya etiladi.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preasfiktik davrda belgilar hali rivojlanmaydi? Kompensator moslashuvning uch usulini sanang. Doskada: besh bosqichli zanjirni chizdiring. Tipik xato: preasfiktik davrni asfiktik davrning bosqichi deb hisoblash; ular alohida davrlardir.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ko‘krak qafasi kengayganda plevra bosimi pasayadi? Talvasa jarohati va qotillik jarohatini qanday farqlash mumkin? Doskada: ikki ustunli solishtirish jadvalini ko‘chirib chizdiring. Tipik xato: bosim va puls o‘zgarishlarini ikki bosqichda aralashtirib yuborish (aksincha o‘zgaradi).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yurakning tez reflektor to‘xtashida murdada asfiksiya belgilari topilmasligi mumkin? Doskada: terminal bosqichdan klinik o‘limgacha qisqa vaqt chizig‘ini chizdiring. Tipik xato: davrlar davomiyligini qat’iy me’yor deb o‘rganish; darslikda ular shartli, taxminiy deb ta’kidlangan.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Vaziyatdagi bosqich qaysi (inspirator hansirash) va nimaga asoslanasiz? 2) Ekspirator bosqichda talvasadan hosil bo‘lgan jarohat sud-tibbiy ekspertizada qanday ahamiyatga ega? Doskada: asfiksiya bosqichlari zanjirini (preasfiktik, inspirator, ekspirator, nisbiy tinchlik, terminal, to‘liq to‘xtash) chizdiring. Tipik xato: inspirator va ekspirator bosqichlardagi bosim o‘zgarishlarini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qutqarilgan jabrlanganni keyinchalik ham kuzatish kerak? 2) Postasfiktik holat tibbiy hujjatlari sud-tibbiy ekspertizada qanday rol o‘ynaydi? Doskada: to‘rt davr ketma-ketligini strelkalar bilan chizing. Tipik xato: postasfiktik holatni asfiksiyaning o‘zi (preasfiktik va asfiktik davrlar)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Komaning uch bosqichi bir-biridan nimasi bilan farq qiladi? 2) Karaxtlik davrida hush qanday tartibda tiklanadi? Doskada: karaxtlik pog‘onalarini (sopor, chuqur, yengil karaxtlik, uyquchanlik) zinapoya shaklida chizing. Tipik xato: detserebratsion rigidlik va atoniya bosqichlarini aralashtirish, karaxtlik davrida talvasa bor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o‘limning sababi postasfiktik davr muddatiga qarab o‘zgaradi? 2) Nega klinitsist uchun ichki a‘zolardagi o‘zgarishlarni bilish muhim? Doskada: postasfiktik holatning 4 davrini ketma-ket strelka bilan chizdiring (koma → karaxtlik → dezorientatsiya → qoldiq oqibatlar). Tipik xato: konfabulyasiyani amneziyaning sinonimi deb o‘ylash; aslida u amneziyani soxta xotira bilan to‘ldirishdir.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Talvasa yo‘qligi va hush tiklanishi qaysi davrlarni ajratishga yordam beradi? 2) Tibbiy kartada qaysi ma‘lumotlar ekspert uchun kerak? Doskada: davrlarni belgilari bilan solishtiruvchi 2 ustunli jadval chizdiring. Tipik xato: 3-davrni 2-davr (karaxtlik) bilan aralashtirish — karaxtlikda hush hali asta-sekin tiklanadi, 3-davrda hush tiklangan, lekin orientatsiya buzilgan.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murda dog‘lari asfiksiyada tez va ko‘lamli hosil bo‘ladi? 2) Qaysi tashqi belgi eng ishonchsiz va nima uchun? Doskada: jadvalni ko‘chirib, har belgining sababini o‘zingiz to‘ldiring. Tipik xato: bu belgilarni mexanik asfiksiyaga xos (spetsifik) deb hisoblash; ular boshqa tez o‘limlarda ham uchraydi, shuning uchun faqat majmua sifatida baholanadi.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qon suyuq va to‘q qizil bo‘ladi? 2) Asfiktik yurak qanday hosil bo‘ladi? Doskada: jadvalni chizib, har belgi yoniga hosil bo‘lish bosqichini (preasfiktik yoki inspirator hansirash) yozdiring. Tipik xato: Tarde dog‘larini faqat cho‘kishga xos deb o‘ylash; ular umumasfiktik belgi.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Tezkor savol: bitta belgi asfiksiyani isbotlaydimi? Muhokama: majmua tamoyili nima uchun kerak; hodisa tafsilotlari va boshqa sabablarni istisno qilish nimaga yordam beradi. Doskada: ‘belgi → boshqa qaysi o‘limda uchraydi’ ustunli ro‘yxat tuzdiring. Tipik xato: sianoz yoki bitta nuqtali qon quyilishga qarab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tugunni buzmasdan olish kerak? 2) Notipik osilishda ham o‘lim bo‘lishi mumkinmi? Manbaga ko‘ra tizzalarga tayanib osilishda sirtmoq tana massasining 20%iga teng kuch bilan tortiladi, yotgan holda esa boshning massasi (4-5 kg) yetadi. Osilish asfiksiyadan o‘lim holatlarining 65-70% ini tashkil etadi (111-bet). Doskada: bo‘yin sxemasida tipik va atipik tugun joylarini belgilatdiring. Tipik xato: notipik osilishni o‘lim uchun kuchsiz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osilishda havo yo‘li ko‘pincha to‘liq yopilmaydi? 2) Yurak kasalligi bo‘lgan shaxsda qaysi omil xavfliroq? Doskada: sirtmoq → to‘rt omil → o‘lim sxemasini chizing. Qo‘shimcha: sirtmoq tuguni atipik joylashsa qizilo‘ngach to‘liq berkilmaydi, qusish va aspiratsiya bo‘lishi mumkin; keskin tipik osilishda umurtqalararo disk va orqa miya yorilishi hal qiluvchi bo‘lishi mumkin (114-bet). Tipik xato: o‘limni faqat bo‘g‘ilish deb tushunish, reflektor yurak to‘xtashini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Egatning qaysi xususiyatlari sirtmoqni aniqlashga yordam beradi? 2) Sochiq ustidan solingan sirtmoqda nima uchun teri o‘zgarishi kam bo‘ladi? Doskada: bo‘yin sxemasi, tipik va atipik egat balandligini chizing. Tipik xato: yumshoq sirtmoqda tashqi egat yo‘q bo‘lsa, osilish bo‘lmagan deb xulosa qilish. Diqqat: tugunning tipik (orqada) joylashuvi bilan egatning tipik joylashuvini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Egat hayotiyligi nima uchun bahsli holatlarda muhim? 2) Qisilish va cho‘zilish belgilarini qanday farqlaysiz? Doskada: to‘rt qatorli jadvalni talabalar bilan to‘ldiring. Qo‘shimcha: Amyuss belgisi uyqu arteriyasi intimasining ko‘ndalang yorilishi, Martin — tashqi qavatda, Valxer — to‘sh-o‘mrov-so‘rg‘ichsimon mushak pastki uchida, Simon — umurtqalararo disklarda qon quyilishi. Tipik xato: Bokarius sinamasi bilan Neyding va Kasyanov belgilarini aralashtirish (birinchisi laxtani yorug‘likda ko‘rish, qolganlari mikroskopik).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Nima uchun sirtmoq bilan bo‘g‘ishda qotillik ehtimoli yuqori? 2) Qo‘l bilan bo‘g‘ishda ichki jarohat nega tashqidan yaqqolroq bo‘ladi? Doskada: bo‘yin sxemasini chizib, sirtmoq egati (gorizontal) va barmoq izlari (old va orqa yuzada guruh) joylashuvini ko‘rsating. Tipik xato: sirtmoq bilan bo‘g‘ishni osilish egati (qiyshiq-yuqori)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Pozitsion asfiksiyada nima uchun o‘lim sababini istisno usuli bilan aniqlaymiz? 2) Burma va haqiqiy egatni ichki tekshiruvda qanday farqlash mumkin? Doskada: bukilgan bosh va bo‘yin burmasi proyeksiyasini chizing. Tipik xato: bo‘yin burmasini strangulyatsion egat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Egat joylashuvi va yo‘nalishi bo‘yicha qaysi belgilar sirtmoq bilan bo‘g‘ishni ko‘rsatadi? 2) Kurash izlari topilsa, qanday xulosa chiqariladi? Doskada: osilish egati (yuqori, qiyshiq) va sirtmoq bilan bo‘g‘ish egati (pastroq, gorizontal) ni yonma-yon chizing. Tipik xato: til osti suyagi sinishini avtomatik ravishda osilish belgisi deb olish.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Nega nafas teshiklari yopilishida qarshiliksiz holatda xos belgi topilmaydi? 2) Murdada qusuq topilsa, uni obturatsiyadan o‘lim deb hisoblash uchun nimani tekshirasiz? Doskada: nafas yo‘llarining yopilish sabablari (yot jism, sochiluvchan, suyuq modda) sxemasini chizdiring. Tipik xato: qusuq topilishini avtomatik obturatsion asfiksiya deb baholash. Qo‘shimcha: nordon muhitli qusuq qonga nisbatan agressivroq, shilliq qavatni kimyoviy shikastlaydi (120-bet).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15 daq. Muhokama: 1) Nega asfiktik cho‘kishda o‘pkada gemodilyusiya bo‘lmaydi? 2) Sho‘r suvda cho‘kish chin cho‘kishdan nimasi bilan farq qiladi? Doskada: laringospazm bor/yo‘q bo‘yicha ikki shoxli sxema chizdiring. Tipik xato: Tarde dog‘larini faqat chin cho‘kishga xos deb o‘ylash; ular umumasfiktik belgi, Rasskazov-Lukomskiy-Paltauf dog‘lari esa faqat chin turda. Voqea tahlili: bolada sovuq suvda cho‘kish, o‘pka quruq, oshqozonda ko‘p suv — qaysi tur? Qo‘shimcha: chin cho‘kishda Kasper belgisi (chap yurak qoni ochroq) va Moro belgisi ham bor (122-123-betlar).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Nega o‘pkada diatom topilishi yetarli dalil emas? 2) Nega chap va o‘ng yurak qonini taqqoslash kerak? Doskada: diatomning suvdan qon orqali a’zolarga o‘tish yo‘lini chizdiring. Tipik xato: o‘pkadagi diatomga asoslanib hayotiylik haqida xulosa qilish. Qo‘shimcha: krioskopik, refraktometrik, qon quyushqoqligi va elektr o‘tkazuvchanligi tekshiruvlari yurakning chap va o‘ng qonini taqqoslashga asoslanadi (126-bet).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suvdagi teri o‘zgarishlari bo‘yicha faqat taxminiy muddat aytish mumkin? 2) Suv harorati, kiyim va yosh muddatga qanday ta’sir qiladi (katta yoshlilarda matseratsiyaga moyillik kuchliroq, chaqaloqlarda mo‘msimon qoplama himoya qiladi)? Doskada: muddatlar chizig‘ini (soatlar – kunlar – haftalar) chizdiring. Tipik xato: suvda bo‘lish belgilarini o‘lim sababining belgisi deb o‘ylash; manbada bu o‘zgarishlar o‘lim sabablari bilan bog‘liq emasligi aytilgan (129-bet).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Chin cho‘kish va suvdagi to‘satdan o‘limni nima bilan farqlaymiz? 2) Qaysi tekshiruv kerak? Kutiladigan javob: diatom planktoni (parenximatoz a’zolar, suyak miyasida), psevdoplankton, bakteriologik, krioskopik, refraktometrik tekshiruvlar va ichki a’zolar mikroskopiyasi. Doskada: ikki ustunli taqqoslash (chin cho‘kish | suvdagi to‘satdan o‘lim) chizdiring. Tipik xato: o‘pka to‘qimasida diatom topilishini cho‘kishning hayotiyligi isboti deb hisoblash; u o‘limdan keyin suvga tushganda ham bo‘lishi mumkin. To‘satdan o‘limga moyillik: issiq urish, o‘ta charchash, to‘la oshqozon, mastlik.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ko‘krak qisilishi qorin qisilishidan xavfliroq (o‘pka, yurak va diafragma harakati buziladi)? 2) Ekximotik niqob (Olive-Danjer belgisi) va karmin shishish (Lakkasan belgisi) qanday hosil bo‘ladi? Doskada: qisilish joyi – nafas harakati – belgilar zanjirini chizdiring. Tipik xato: mexanik jarohatlarni e’tiborsiz qoldirish; ular ham o‘limga sabab bo‘lishi mumkin, shuning uchun differensial diagnostika zarur.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bolalar uchun xavfli CO2 darajasi kattalarnikidan past? 2) Notoʻliq yopiq muhitda toksik moddalar nega muhim? Doskada: yopiq xonada O2 pasayishi va CO2 ortishi strelkalarini chizing. Tipik xato: 8-10% va 2,0-2,5% raqamlarini kattalar va bolalar bo‘yicha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Savol: ikki holatda murda tekshiruvi nimasi bilan farq qiladi? Raqobatli sabablarni qanday ajratamiz? Doskada ikki ustunli solishtirish: olomon va sovutkich – xos belgilar. Tipik xato: yopiq muhit uchun ham ekximotik niqob kutish yoki umumasfiktik belgilarni tur uchun xos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bitta umumasfiktik belgi tashxis uchun yetarli emas? 2) Hayotiylikni aniqlashda qaysi usullar qo‘llanadi? Doskada: mexanik asfiksiya turlari daraxtini talabalar bilan chizing. Tipik xato: Tarde dog‘lari yoki sianozni mexanik asfiksiyaning yagona isboti deb hisoblash.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Mexanik asfiksiya.</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mashg‘ulot maqsadi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Mavzu — mexanik asfiksiya. Tashqi mexanik omil ta’sirida tashqi nafas olish buziladi va organizmda kislorod tanqisligi rivojlanadi.</a:t>
            </a:r>
          </a:p>
          <a:p>
            <a:pPr>
              <a:spcAft>
                <a:spcPts val="1200"/>
              </a:spcAft>
            </a:pPr>
            <a:r>
              <a:rPr sz="2200">
                <a:solidFill>
                  <a:srgbClr val="1F2937"/>
                </a:solidFill>
                <a:latin typeface="Calibri"/>
              </a:rPr>
              <a:t>▸  Tashqi ta’sirdan kelib chiqqan yashinsimon va o‘tkir gipoksiya sud-tibbiy ekspertiza obyekti sifatida ko‘p uchraydi.</a:t>
            </a:r>
          </a:p>
          <a:p>
            <a:pPr>
              <a:spcAft>
                <a:spcPts val="1200"/>
              </a:spcAft>
            </a:pPr>
            <a:r>
              <a:rPr sz="2200">
                <a:solidFill>
                  <a:srgbClr val="1F2937"/>
                </a:solidFill>
                <a:latin typeface="Calibri"/>
              </a:rPr>
              <a:t>▸  Sud-tibbiy tasnifda mexanik asfiksiyaning uch turi bor: qisilishdan, yopilishdan va cheklangan muhitdagi asfiksiya.</a:t>
            </a:r>
          </a:p>
          <a:p>
            <a:pPr>
              <a:spcAft>
                <a:spcPts val="1200"/>
              </a:spcAft>
            </a:pPr>
            <a:r>
              <a:rPr sz="2200">
                <a:solidFill>
                  <a:srgbClr val="1F2937"/>
                </a:solidFill>
                <a:latin typeface="Calibri"/>
              </a:rPr>
              <a:t>▸  Reja: gipoksiya tasnifi, asfiksiyaning kechishi, postasfiktik holat, umumiy belgilar, osilish, cho‘kish va boshqa turlar.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104–105, 104, 105, 103–130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Kislorod va gipoksiya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Organizmga kerakli kislorodning 98,5–99,0% i nafas a’zolari orqali, qolgani teri, oshqozon va ichaklar orqali olinadi.</a:t>
            </a:r>
          </a:p>
          <a:p>
            <a:pPr>
              <a:spcAft>
                <a:spcPts val="1200"/>
              </a:spcAft>
            </a:pPr>
            <a:r>
              <a:rPr sz="2200">
                <a:solidFill>
                  <a:srgbClr val="1F2937"/>
                </a:solidFill>
                <a:latin typeface="Calibri"/>
              </a:rPr>
              <a:t>▸  Tinch holatda bir minutda 6–8 litr havo kerak. Jismoniy zo‘riqishda bu ehtiyoj 10–20 barobargacha ortishi mumkin.</a:t>
            </a:r>
          </a:p>
          <a:p>
            <a:pPr>
              <a:spcAft>
                <a:spcPts val="1200"/>
              </a:spcAft>
            </a:pPr>
            <a:r>
              <a:rPr sz="2200">
                <a:solidFill>
                  <a:srgbClr val="1F2937"/>
                </a:solidFill>
                <a:latin typeface="Calibri"/>
              </a:rPr>
              <a:t>▸  Gipoksiya — kislorod tanqisligi. U to‘qimalarda modda almashinuvini buzadi. To‘qimalarning sezgirligi turlicha va filogenetik yoshiga bog‘liq.</a:t>
            </a:r>
          </a:p>
          <a:p>
            <a:pPr>
              <a:spcAft>
                <a:spcPts val="1200"/>
              </a:spcAft>
            </a:pPr>
            <a:r>
              <a:rPr sz="2200">
                <a:solidFill>
                  <a:srgbClr val="1F2937"/>
                </a:solidFill>
                <a:latin typeface="Calibri"/>
              </a:rPr>
              <a:t>▸  Markaziy nerv tizimida to‘qima nafasi 5–10 minut to‘xtasa, o‘zgarishlar qaytmaydi. Mushak va biriktiruvchi to‘qimada bu muddat ancha uzun.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Gipoksiya tasnifi: ekzogen va endogen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Gipoksiya ekzogen va endogen holatlarga bo‘linadi. Tasnif Yu.I. Pigolkin (2012) bo‘yicha keltirilgan.</a:t>
            </a:r>
          </a:p>
          <a:p>
            <a:pPr>
              <a:spcAft>
                <a:spcPts val="800"/>
              </a:spcAft>
            </a:pPr>
            <a:r>
              <a:rPr sz="1800">
                <a:solidFill>
                  <a:srgbClr val="1F2937"/>
                </a:solidFill>
                <a:latin typeface="Calibri"/>
              </a:rPr>
              <a:t>▸  Normada havoda kislorod 20,93%. Gipoksik turda nafas olinadigan aralashmada kislorod bundan kam bo‘ladi.</a:t>
            </a:r>
          </a:p>
          <a:p>
            <a:pPr>
              <a:spcAft>
                <a:spcPts val="800"/>
              </a:spcAft>
            </a:pPr>
            <a:r>
              <a:rPr sz="1800">
                <a:solidFill>
                  <a:srgbClr val="1F2937"/>
                </a:solidFill>
                <a:latin typeface="Calibri"/>
              </a:rPr>
              <a:t>▸  Endogen turlar: respirator, gemik, sirkulyator, sitotoksik va fiziologik — keyingi slaydlarda.</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083079"/>
                <a:gridCol w="1656474"/>
                <a:gridCol w="2548421"/>
              </a:tblGrid>
              <a:tr h="411480">
                <a:tc>
                  <a:txBody>
                    <a:bodyPr/>
                    <a:lstStyle/>
                    <a:p>
                      <a:r>
                        <a:rPr sz="1300" b="1">
                          <a:solidFill>
                            <a:srgbClr val="FFFFFF"/>
                          </a:solidFill>
                        </a:rPr>
                        <a:t>Ekzogen tur</a:t>
                      </a:r>
                    </a:p>
                  </a:txBody>
                  <a:tcPr marL="73152" marR="73152" marT="36576" marB="36576">
                    <a:solidFill>
                      <a:srgbClr val="0B1F3A"/>
                    </a:solidFill>
                  </a:tcPr>
                </a:tc>
                <a:tc>
                  <a:txBody>
                    <a:bodyPr/>
                    <a:lstStyle/>
                    <a:p>
                      <a:r>
                        <a:rPr sz="1300" b="1">
                          <a:solidFill>
                            <a:srgbClr val="FFFFFF"/>
                          </a:solidFill>
                        </a:rPr>
                        <a:t>Havo tarkibi</a:t>
                      </a:r>
                    </a:p>
                  </a:txBody>
                  <a:tcPr marL="73152" marR="73152" marT="36576" marB="36576">
                    <a:solidFill>
                      <a:srgbClr val="0B1F3A"/>
                    </a:solidFill>
                  </a:tcPr>
                </a:tc>
                <a:tc>
                  <a:txBody>
                    <a:bodyPr/>
                    <a:lstStyle/>
                    <a:p>
                      <a:r>
                        <a:rPr sz="1300" b="1">
                          <a:solidFill>
                            <a:srgbClr val="FFFFFF"/>
                          </a:solidFill>
                        </a:rPr>
                        <a:t>Holat</a:t>
                      </a:r>
                    </a:p>
                  </a:txBody>
                  <a:tcPr marL="73152" marR="73152" marT="36576" marB="36576">
                    <a:solidFill>
                      <a:srgbClr val="0B1F3A"/>
                    </a:solidFill>
                  </a:tcPr>
                </a:tc>
              </a:tr>
              <a:tr h="411480">
                <a:tc>
                  <a:txBody>
                    <a:bodyPr/>
                    <a:lstStyle/>
                    <a:p>
                      <a:r>
                        <a:rPr sz="1200" b="0">
                          <a:solidFill>
                            <a:srgbClr val="1F2937"/>
                          </a:solidFill>
                        </a:rPr>
                        <a:t>Gipoksik</a:t>
                      </a:r>
                    </a:p>
                  </a:txBody>
                  <a:tcPr marL="73152" marR="73152" marT="36576" marB="36576">
                    <a:solidFill>
                      <a:srgbClr val="E8EEF6"/>
                    </a:solidFill>
                  </a:tcPr>
                </a:tc>
                <a:tc>
                  <a:txBody>
                    <a:bodyPr/>
                    <a:lstStyle/>
                    <a:p>
                      <a:r>
                        <a:rPr sz="1200" b="0">
                          <a:solidFill>
                            <a:srgbClr val="1F2937"/>
                          </a:solidFill>
                        </a:rPr>
                        <a:t>Kislorod kam</a:t>
                      </a:r>
                    </a:p>
                  </a:txBody>
                  <a:tcPr marL="73152" marR="73152" marT="36576" marB="36576">
                    <a:solidFill>
                      <a:srgbClr val="E8EEF6"/>
                    </a:solidFill>
                  </a:tcPr>
                </a:tc>
                <a:tc>
                  <a:txBody>
                    <a:bodyPr/>
                    <a:lstStyle/>
                    <a:p>
                      <a:r>
                        <a:rPr sz="1200" b="0">
                          <a:solidFill>
                            <a:srgbClr val="1F2937"/>
                          </a:solidFill>
                        </a:rPr>
                        <a:t>Tog‘, balandlik kasalligi</a:t>
                      </a:r>
                    </a:p>
                  </a:txBody>
                  <a:tcPr marL="73152" marR="73152" marT="36576" marB="36576">
                    <a:solidFill>
                      <a:srgbClr val="E8EEF6"/>
                    </a:solidFill>
                  </a:tcPr>
                </a:tc>
              </a:tr>
              <a:tr h="411480">
                <a:tc>
                  <a:txBody>
                    <a:bodyPr/>
                    <a:lstStyle/>
                    <a:p>
                      <a:r>
                        <a:rPr sz="1200" b="0">
                          <a:solidFill>
                            <a:srgbClr val="1F2937"/>
                          </a:solidFill>
                        </a:rPr>
                        <a:t>Giperoksik</a:t>
                      </a:r>
                    </a:p>
                  </a:txBody>
                  <a:tcPr marL="73152" marR="73152" marT="36576" marB="36576">
                    <a:solidFill>
                      <a:srgbClr val="FFFFFF"/>
                    </a:solidFill>
                  </a:tcPr>
                </a:tc>
                <a:tc>
                  <a:txBody>
                    <a:bodyPr/>
                    <a:lstStyle/>
                    <a:p>
                      <a:r>
                        <a:rPr sz="1200" b="0">
                          <a:solidFill>
                            <a:srgbClr val="1F2937"/>
                          </a:solidFill>
                        </a:rPr>
                        <a:t>Kislorod ko‘p, uzoq muddat</a:t>
                      </a:r>
                    </a:p>
                  </a:txBody>
                  <a:tcPr marL="73152" marR="73152" marT="36576" marB="36576">
                    <a:solidFill>
                      <a:srgbClr val="FFFFFF"/>
                    </a:solidFill>
                  </a:tcPr>
                </a:tc>
                <a:tc>
                  <a:txBody>
                    <a:bodyPr/>
                    <a:lstStyle/>
                    <a:p>
                      <a:r>
                        <a:rPr sz="1200" b="0">
                          <a:solidFill>
                            <a:srgbClr val="1F2937"/>
                          </a:solidFill>
                        </a:rPr>
                        <a:t>O‘pkada o‘zgarish, qonga o‘tish buziladi</a:t>
                      </a:r>
                    </a:p>
                  </a:txBody>
                  <a:tcPr marL="73152" marR="73152" marT="36576" marB="36576">
                    <a:solidFill>
                      <a:srgbClr val="FFFFFF"/>
                    </a:solidFill>
                  </a:tcPr>
                </a:tc>
              </a:tr>
              <a:tr h="411480">
                <a:tc>
                  <a:txBody>
                    <a:bodyPr/>
                    <a:lstStyle/>
                    <a:p>
                      <a:r>
                        <a:rPr sz="1200" b="0">
                          <a:solidFill>
                            <a:srgbClr val="1F2937"/>
                          </a:solidFill>
                        </a:rPr>
                        <a:t>Giperkapnik</a:t>
                      </a:r>
                    </a:p>
                  </a:txBody>
                  <a:tcPr marL="73152" marR="73152" marT="36576" marB="36576">
                    <a:solidFill>
                      <a:srgbClr val="E8EEF6"/>
                    </a:solidFill>
                  </a:tcPr>
                </a:tc>
                <a:tc>
                  <a:txBody>
                    <a:bodyPr/>
                    <a:lstStyle/>
                    <a:p>
                      <a:r>
                        <a:rPr sz="1200" b="0">
                          <a:solidFill>
                            <a:srgbClr val="1F2937"/>
                          </a:solidFill>
                        </a:rPr>
                        <a:t>O₂ kamayadi, CO₂ ko‘payadi</a:t>
                      </a:r>
                    </a:p>
                  </a:txBody>
                  <a:tcPr marL="73152" marR="73152" marT="36576" marB="36576">
                    <a:solidFill>
                      <a:srgbClr val="E8EEF6"/>
                    </a:solidFill>
                  </a:tcPr>
                </a:tc>
                <a:tc>
                  <a:txBody>
                    <a:bodyPr/>
                    <a:lstStyle/>
                    <a:p>
                      <a:r>
                        <a:rPr sz="1200" b="0">
                          <a:solidFill>
                            <a:srgbClr val="1F2937"/>
                          </a:solidFill>
                        </a:rPr>
                        <a:t>Cheklangan yopiq muhit</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Ekzogen gipoksiya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103,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Endogen gipoksiya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Respirator gipoksiya o‘pka faoliyati bilan bog‘liq; bevosita va bilvosita shakllari bor.</a:t>
            </a:r>
          </a:p>
          <a:p>
            <a:pPr>
              <a:spcAft>
                <a:spcPts val="800"/>
              </a:spcAft>
            </a:pPr>
            <a:r>
              <a:rPr sz="1800">
                <a:solidFill>
                  <a:srgbClr val="1F2937"/>
                </a:solidFill>
                <a:latin typeface="Calibri"/>
              </a:rPr>
              <a:t>▸  Gemik gipoksiyada qonda gemoglobin kamayadi yoki uning kislorodni bog‘lashi buziladi.</a:t>
            </a:r>
          </a:p>
          <a:p>
            <a:pPr>
              <a:spcAft>
                <a:spcPts val="800"/>
              </a:spcAft>
            </a:pPr>
            <a:r>
              <a:rPr sz="1800">
                <a:solidFill>
                  <a:srgbClr val="1F2937"/>
                </a:solidFill>
                <a:latin typeface="Calibri"/>
              </a:rPr>
              <a:t>▸  Fiziologik gipoksiya ko‘pincha vaqtincha: jismoniy zo‘riqish, birdaniga ko‘p ovqat iste’mol qilish.</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Turi</a:t>
                      </a:r>
                    </a:p>
                  </a:txBody>
                  <a:tcPr marL="73152" marR="73152" marT="36576" marB="36576">
                    <a:solidFill>
                      <a:srgbClr val="0B1F3A"/>
                    </a:solidFill>
                  </a:tcPr>
                </a:tc>
                <a:tc>
                  <a:txBody>
                    <a:bodyPr/>
                    <a:lstStyle/>
                    <a:p>
                      <a:r>
                        <a:rPr sz="1400" b="1">
                          <a:solidFill>
                            <a:srgbClr val="FFFFFF"/>
                          </a:solidFill>
                        </a:rPr>
                        <a:t>Sababi</a:t>
                      </a:r>
                    </a:p>
                  </a:txBody>
                  <a:tcPr marL="73152" marR="73152" marT="36576" marB="36576">
                    <a:solidFill>
                      <a:srgbClr val="0B1F3A"/>
                    </a:solidFill>
                  </a:tcPr>
                </a:tc>
              </a:tr>
              <a:tr h="411480">
                <a:tc>
                  <a:txBody>
                    <a:bodyPr/>
                    <a:lstStyle/>
                    <a:p>
                      <a:r>
                        <a:rPr sz="1300" b="0">
                          <a:solidFill>
                            <a:srgbClr val="1F2937"/>
                          </a:solidFill>
                        </a:rPr>
                        <a:t>Respirator</a:t>
                      </a:r>
                    </a:p>
                  </a:txBody>
                  <a:tcPr marL="73152" marR="73152" marT="36576" marB="36576">
                    <a:solidFill>
                      <a:srgbClr val="E8EEF6"/>
                    </a:solidFill>
                  </a:tcPr>
                </a:tc>
                <a:tc>
                  <a:txBody>
                    <a:bodyPr/>
                    <a:lstStyle/>
                    <a:p>
                      <a:r>
                        <a:rPr sz="1300" b="0">
                          <a:solidFill>
                            <a:srgbClr val="1F2937"/>
                          </a:solidFill>
                        </a:rPr>
                        <a:t>Nafas yo‘llari yopilishi, bo‘yin qisilishi</a:t>
                      </a:r>
                    </a:p>
                  </a:txBody>
                  <a:tcPr marL="73152" marR="73152" marT="36576" marB="36576">
                    <a:solidFill>
                      <a:srgbClr val="E8EEF6"/>
                    </a:solidFill>
                  </a:tcPr>
                </a:tc>
              </a:tr>
              <a:tr h="411480">
                <a:tc>
                  <a:txBody>
                    <a:bodyPr/>
                    <a:lstStyle/>
                    <a:p>
                      <a:r>
                        <a:rPr sz="1300" b="0">
                          <a:solidFill>
                            <a:srgbClr val="1F2937"/>
                          </a:solidFill>
                        </a:rPr>
                        <a:t>Sirkulyator</a:t>
                      </a:r>
                    </a:p>
                  </a:txBody>
                  <a:tcPr marL="73152" marR="73152" marT="36576" marB="36576">
                    <a:solidFill>
                      <a:srgbClr val="FFFFFF"/>
                    </a:solidFill>
                  </a:tcPr>
                </a:tc>
                <a:tc>
                  <a:txBody>
                    <a:bodyPr/>
                    <a:lstStyle/>
                    <a:p>
                      <a:r>
                        <a:rPr sz="1300" b="0">
                          <a:solidFill>
                            <a:srgbClr val="1F2937"/>
                          </a:solidFill>
                        </a:rPr>
                        <a:t>Qon aylanishining buzilishi</a:t>
                      </a:r>
                    </a:p>
                  </a:txBody>
                  <a:tcPr marL="73152" marR="73152" marT="36576" marB="36576">
                    <a:solidFill>
                      <a:srgbClr val="FFFFFF"/>
                    </a:solidFill>
                  </a:tcPr>
                </a:tc>
              </a:tr>
              <a:tr h="411480">
                <a:tc>
                  <a:txBody>
                    <a:bodyPr/>
                    <a:lstStyle/>
                    <a:p>
                      <a:r>
                        <a:rPr sz="1300" b="0">
                          <a:solidFill>
                            <a:srgbClr val="1F2937"/>
                          </a:solidFill>
                        </a:rPr>
                        <a:t>Gemik</a:t>
                      </a:r>
                    </a:p>
                  </a:txBody>
                  <a:tcPr marL="73152" marR="73152" marT="36576" marB="36576">
                    <a:solidFill>
                      <a:srgbClr val="E8EEF6"/>
                    </a:solidFill>
                  </a:tcPr>
                </a:tc>
                <a:tc>
                  <a:txBody>
                    <a:bodyPr/>
                    <a:lstStyle/>
                    <a:p>
                      <a:r>
                        <a:rPr sz="1300" b="0">
                          <a:solidFill>
                            <a:srgbClr val="1F2937"/>
                          </a:solidFill>
                        </a:rPr>
                        <a:t>Gemoglobin kamayishi, zaharlanish</a:t>
                      </a:r>
                    </a:p>
                  </a:txBody>
                  <a:tcPr marL="73152" marR="73152" marT="36576" marB="36576">
                    <a:solidFill>
                      <a:srgbClr val="E8EEF6"/>
                    </a:solidFill>
                  </a:tcPr>
                </a:tc>
              </a:tr>
              <a:tr h="411480">
                <a:tc>
                  <a:txBody>
                    <a:bodyPr/>
                    <a:lstStyle/>
                    <a:p>
                      <a:r>
                        <a:rPr sz="1300" b="0">
                          <a:solidFill>
                            <a:srgbClr val="1F2937"/>
                          </a:solidFill>
                        </a:rPr>
                        <a:t>Sitotoksik</a:t>
                      </a:r>
                    </a:p>
                  </a:txBody>
                  <a:tcPr marL="73152" marR="73152" marT="36576" marB="36576">
                    <a:solidFill>
                      <a:srgbClr val="FFFFFF"/>
                    </a:solidFill>
                  </a:tcPr>
                </a:tc>
                <a:tc>
                  <a:txBody>
                    <a:bodyPr/>
                    <a:lstStyle/>
                    <a:p>
                      <a:r>
                        <a:rPr sz="1300" b="0">
                          <a:solidFill>
                            <a:srgbClr val="1F2937"/>
                          </a:solidFill>
                        </a:rPr>
                        <a:t>Zaharlanishda to‘qima nafasining buzilishi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Endogen gipoksiya sabablari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Gipoksiyaning rivojlanish jadalligi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Rivojlanish tezligi bo‘yicha to‘rt tur farqlanadi: yashinsimon, o‘tkir, biroz o‘tkir va surunkali.</a:t>
            </a:r>
          </a:p>
          <a:p>
            <a:pPr>
              <a:spcAft>
                <a:spcPts val="800"/>
              </a:spcAft>
            </a:pPr>
            <a:r>
              <a:rPr sz="1800">
                <a:solidFill>
                  <a:srgbClr val="1F2937"/>
                </a:solidFill>
                <a:latin typeface="Calibri"/>
              </a:rPr>
              <a:t>▸  Sud tibbiyoti uchun yashinsimon va o‘tkir gipoksiya ahamiyatli.</a:t>
            </a:r>
          </a:p>
          <a:p>
            <a:pPr>
              <a:spcAft>
                <a:spcPts val="800"/>
              </a:spcAft>
            </a:pPr>
            <a:r>
              <a:rPr sz="1800">
                <a:solidFill>
                  <a:srgbClr val="1F2937"/>
                </a:solidFill>
                <a:latin typeface="Calibri"/>
              </a:rPr>
              <a:t>▸  Tashqi ta’sirdan kelib chiqqan bunday holatlar ekspertiza obyekti sifatida ko‘p uchraydi.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566807"/>
                <a:gridCol w="1860583"/>
                <a:gridCol w="1860583"/>
              </a:tblGrid>
              <a:tr h="411480">
                <a:tc>
                  <a:txBody>
                    <a:bodyPr/>
                    <a:lstStyle/>
                    <a:p>
                      <a:r>
                        <a:rPr sz="1300" b="1">
                          <a:solidFill>
                            <a:srgbClr val="FFFFFF"/>
                          </a:solidFill>
                        </a:rPr>
                        <a:t>Turi</a:t>
                      </a:r>
                    </a:p>
                  </a:txBody>
                  <a:tcPr marL="73152" marR="73152" marT="36576" marB="36576">
                    <a:solidFill>
                      <a:srgbClr val="0B1F3A"/>
                    </a:solidFill>
                  </a:tcPr>
                </a:tc>
                <a:tc>
                  <a:txBody>
                    <a:bodyPr/>
                    <a:lstStyle/>
                    <a:p>
                      <a:r>
                        <a:rPr sz="1300" b="1">
                          <a:solidFill>
                            <a:srgbClr val="FFFFFF"/>
                          </a:solidFill>
                        </a:rPr>
                        <a:t>Davomiyligi</a:t>
                      </a:r>
                    </a:p>
                  </a:txBody>
                  <a:tcPr marL="73152" marR="73152" marT="36576" marB="36576">
                    <a:solidFill>
                      <a:srgbClr val="0B1F3A"/>
                    </a:solidFill>
                  </a:tcPr>
                </a:tc>
                <a:tc>
                  <a:txBody>
                    <a:bodyPr/>
                    <a:lstStyle/>
                    <a:p>
                      <a:r>
                        <a:rPr sz="1300" b="1">
                          <a:solidFill>
                            <a:srgbClr val="FFFFFF"/>
                          </a:solidFill>
                        </a:rPr>
                        <a:t>Sud tibbiyoti</a:t>
                      </a:r>
                    </a:p>
                  </a:txBody>
                  <a:tcPr marL="73152" marR="73152" marT="36576" marB="36576">
                    <a:solidFill>
                      <a:srgbClr val="0B1F3A"/>
                    </a:solidFill>
                  </a:tcPr>
                </a:tc>
              </a:tr>
              <a:tr h="411480">
                <a:tc>
                  <a:txBody>
                    <a:bodyPr/>
                    <a:lstStyle/>
                    <a:p>
                      <a:r>
                        <a:rPr sz="1200" b="0">
                          <a:solidFill>
                            <a:srgbClr val="1F2937"/>
                          </a:solidFill>
                        </a:rPr>
                        <a:t>Yashinsimon</a:t>
                      </a:r>
                    </a:p>
                  </a:txBody>
                  <a:tcPr marL="73152" marR="73152" marT="36576" marB="36576">
                    <a:solidFill>
                      <a:srgbClr val="E8EEF6"/>
                    </a:solidFill>
                  </a:tcPr>
                </a:tc>
                <a:tc>
                  <a:txBody>
                    <a:bodyPr/>
                    <a:lstStyle/>
                    <a:p>
                      <a:r>
                        <a:rPr sz="1200" b="0">
                          <a:solidFill>
                            <a:srgbClr val="1F2937"/>
                          </a:solidFill>
                        </a:rPr>
                        <a:t>Soniyalarda</a:t>
                      </a:r>
                    </a:p>
                  </a:txBody>
                  <a:tcPr marL="73152" marR="73152" marT="36576" marB="36576">
                    <a:solidFill>
                      <a:srgbClr val="E8EEF6"/>
                    </a:solidFill>
                  </a:tcPr>
                </a:tc>
                <a:tc>
                  <a:txBody>
                    <a:bodyPr/>
                    <a:lstStyle/>
                    <a:p>
                      <a:r>
                        <a:rPr sz="1200" b="0">
                          <a:solidFill>
                            <a:srgbClr val="1F2937"/>
                          </a:solidFill>
                        </a:rPr>
                        <a:t>Ahamiyatli</a:t>
                      </a:r>
                    </a:p>
                  </a:txBody>
                  <a:tcPr marL="73152" marR="73152" marT="36576" marB="36576">
                    <a:solidFill>
                      <a:srgbClr val="E8EEF6"/>
                    </a:solidFill>
                  </a:tcPr>
                </a:tc>
              </a:tr>
              <a:tr h="411480">
                <a:tc>
                  <a:txBody>
                    <a:bodyPr/>
                    <a:lstStyle/>
                    <a:p>
                      <a:r>
                        <a:rPr sz="1200" b="0">
                          <a:solidFill>
                            <a:srgbClr val="1F2937"/>
                          </a:solidFill>
                        </a:rPr>
                        <a:t>O‘tkir</a:t>
                      </a:r>
                    </a:p>
                  </a:txBody>
                  <a:tcPr marL="73152" marR="73152" marT="36576" marB="36576">
                    <a:solidFill>
                      <a:srgbClr val="FFFFFF"/>
                    </a:solidFill>
                  </a:tcPr>
                </a:tc>
                <a:tc>
                  <a:txBody>
                    <a:bodyPr/>
                    <a:lstStyle/>
                    <a:p>
                      <a:r>
                        <a:rPr sz="1200" b="0">
                          <a:solidFill>
                            <a:srgbClr val="1F2937"/>
                          </a:solidFill>
                        </a:rPr>
                        <a:t>Daqiqalarda</a:t>
                      </a:r>
                    </a:p>
                  </a:txBody>
                  <a:tcPr marL="73152" marR="73152" marT="36576" marB="36576">
                    <a:solidFill>
                      <a:srgbClr val="FFFFFF"/>
                    </a:solidFill>
                  </a:tcPr>
                </a:tc>
                <a:tc>
                  <a:txBody>
                    <a:bodyPr/>
                    <a:lstStyle/>
                    <a:p>
                      <a:r>
                        <a:rPr sz="1200" b="0">
                          <a:solidFill>
                            <a:srgbClr val="1F2937"/>
                          </a:solidFill>
                        </a:rPr>
                        <a:t>Ahamiyatli</a:t>
                      </a:r>
                    </a:p>
                  </a:txBody>
                  <a:tcPr marL="73152" marR="73152" marT="36576" marB="36576">
                    <a:solidFill>
                      <a:srgbClr val="FFFFFF"/>
                    </a:solidFill>
                  </a:tcPr>
                </a:tc>
              </a:tr>
              <a:tr h="411480">
                <a:tc>
                  <a:txBody>
                    <a:bodyPr/>
                    <a:lstStyle/>
                    <a:p>
                      <a:r>
                        <a:rPr sz="1200" b="0">
                          <a:solidFill>
                            <a:srgbClr val="1F2937"/>
                          </a:solidFill>
                        </a:rPr>
                        <a:t>Biroz o‘tkir</a:t>
                      </a:r>
                    </a:p>
                  </a:txBody>
                  <a:tcPr marL="73152" marR="73152" marT="36576" marB="36576">
                    <a:solidFill>
                      <a:srgbClr val="E8EEF6"/>
                    </a:solidFill>
                  </a:tcPr>
                </a:tc>
                <a:tc>
                  <a:txBody>
                    <a:bodyPr/>
                    <a:lstStyle/>
                    <a:p>
                      <a:r>
                        <a:rPr sz="1200" b="0">
                          <a:solidFill>
                            <a:srgbClr val="1F2937"/>
                          </a:solidFill>
                        </a:rPr>
                        <a:t>Soatlarda</a:t>
                      </a:r>
                    </a:p>
                  </a:txBody>
                  <a:tcPr marL="73152" marR="73152" marT="36576" marB="36576">
                    <a:solidFill>
                      <a:srgbClr val="E8EEF6"/>
                    </a:solidFill>
                  </a:tcPr>
                </a:tc>
                <a:tc>
                  <a:txBody>
                    <a:bodyPr/>
                    <a:lstStyle/>
                    <a:p>
                      <a:r>
                        <a:rPr sz="1200" b="0">
                          <a:solidFill>
                            <a:srgbClr val="1F2937"/>
                          </a:solidFill>
                        </a:rPr>
                        <a:t>Ta’kidlanmagan</a:t>
                      </a:r>
                    </a:p>
                  </a:txBody>
                  <a:tcPr marL="73152" marR="73152" marT="36576" marB="36576">
                    <a:solidFill>
                      <a:srgbClr val="E8EEF6"/>
                    </a:solidFill>
                  </a:tcPr>
                </a:tc>
              </a:tr>
              <a:tr h="411480">
                <a:tc>
                  <a:txBody>
                    <a:bodyPr/>
                    <a:lstStyle/>
                    <a:p>
                      <a:r>
                        <a:rPr sz="1200" b="0">
                          <a:solidFill>
                            <a:srgbClr val="1F2937"/>
                          </a:solidFill>
                        </a:rPr>
                        <a:t>Surunkali</a:t>
                      </a:r>
                    </a:p>
                  </a:txBody>
                  <a:tcPr marL="73152" marR="73152" marT="36576" marB="36576">
                    <a:solidFill>
                      <a:srgbClr val="FFFFFF"/>
                    </a:solidFill>
                  </a:tcPr>
                </a:tc>
                <a:tc>
                  <a:txBody>
                    <a:bodyPr/>
                    <a:lstStyle/>
                    <a:p>
                      <a:r>
                        <a:rPr sz="1200" b="0">
                          <a:solidFill>
                            <a:srgbClr val="1F2937"/>
                          </a:solidFill>
                        </a:rPr>
                        <a:t>Kun, hafta, oylarda</a:t>
                      </a:r>
                    </a:p>
                  </a:txBody>
                  <a:tcPr marL="73152" marR="73152" marT="36576" marB="36576">
                    <a:solidFill>
                      <a:srgbClr val="FFFFFF"/>
                    </a:solidFill>
                  </a:tcPr>
                </a:tc>
                <a:tc>
                  <a:txBody>
                    <a:bodyPr/>
                    <a:lstStyle/>
                    <a:p>
                      <a:r>
                        <a:rPr sz="1200" b="0">
                          <a:solidFill>
                            <a:srgbClr val="1F2937"/>
                          </a:solidFill>
                        </a:rPr>
                        <a:t>Ta’kidlanmagan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Jadallik bo‘yicha turlar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gipoksiya turini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 shaxs qon yo‘qotgan, qonida gemoglobin kamaygan, nafas yo‘llari ochiq. Bu qaysi gipoksiya turi?</a:t>
            </a:r>
          </a:p>
          <a:p>
            <a:pPr>
              <a:spcAft>
                <a:spcPts val="1200"/>
              </a:spcAft>
            </a:pPr>
            <a:r>
              <a:rPr sz="2200">
                <a:solidFill>
                  <a:srgbClr val="1F2937"/>
                </a:solidFill>
                <a:latin typeface="Calibri"/>
              </a:rPr>
              <a:t>▸  Vaziyat 2: zaharlanishda to‘qimalar kislorodni o‘zlashtira olmaydi, to‘qima nafasi buzilgan. Bu qaysi tur?</a:t>
            </a:r>
          </a:p>
          <a:p>
            <a:pPr>
              <a:spcAft>
                <a:spcPts val="1200"/>
              </a:spcAft>
            </a:pPr>
            <a:r>
              <a:rPr sz="2200">
                <a:solidFill>
                  <a:srgbClr val="1F2937"/>
                </a:solidFill>
                <a:latin typeface="Calibri"/>
              </a:rPr>
              <a:t>▸  Javob: birinchisi gemik gipoksiya, ikkinchisi sitotoksik (to‘qima) gipoksiya.</a:t>
            </a:r>
          </a:p>
          <a:p>
            <a:pPr>
              <a:spcAft>
                <a:spcPts val="1200"/>
              </a:spcAft>
            </a:pPr>
            <a:r>
              <a:rPr sz="2200">
                <a:solidFill>
                  <a:srgbClr val="1F2937"/>
                </a:solidFill>
                <a:latin typeface="Calibri"/>
              </a:rPr>
              <a:t>▸  Diqqat: giperkapnik ≠ gemik. Giperkapnik ekzogen: yopiq havoda kislorod kamayadi, karbonat angidrid ko‘payadi. Gemik endogen, qon bilan bog‘liq.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Asfiksiya va mexanik asfiksiya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Asfiksiya grek tilidan olingan: “a” – inkor, “sphygmos” – puls. Tub ma’nosi – pulsning yo‘qligi. Sud tibbiyotida kislorod tanqisligi shu atama bilan belgilanadi.</a:t>
            </a:r>
          </a:p>
          <a:p>
            <a:pPr>
              <a:spcAft>
                <a:spcPts val="1200"/>
              </a:spcAft>
            </a:pPr>
            <a:r>
              <a:rPr sz="2200">
                <a:solidFill>
                  <a:srgbClr val="1F2937"/>
                </a:solidFill>
                <a:latin typeface="Calibri"/>
              </a:rPr>
              <a:t>▸  Asfiksiya – tashqi nafas buzilishidan organizmda kislorod kamayib, karbonat angidrid ko‘payishi. Natijada hayot uchun muhim tizimlar faoliyati o‘tkir buziladi.</a:t>
            </a:r>
          </a:p>
          <a:p>
            <a:pPr>
              <a:spcAft>
                <a:spcPts val="1200"/>
              </a:spcAft>
            </a:pPr>
            <a:r>
              <a:rPr sz="2200">
                <a:solidFill>
                  <a:srgbClr val="1F2937"/>
                </a:solidFill>
                <a:latin typeface="Calibri"/>
              </a:rPr>
              <a:t>▸  Diqqat: gipoksiya ≠ asfiksiya. Asfiksiyada gipoksiya (kislorod tanqisligi) giperkapniya (CO₂ ko‘pligi) bilan birga rivojlanadi.</a:t>
            </a:r>
          </a:p>
          <a:p>
            <a:pPr>
              <a:spcAft>
                <a:spcPts val="1200"/>
              </a:spcAft>
            </a:pPr>
            <a:r>
              <a:rPr sz="2200">
                <a:solidFill>
                  <a:srgbClr val="1F2937"/>
                </a:solidFill>
                <a:latin typeface="Calibri"/>
              </a:rPr>
              <a:t>▸  Mexanik omil ta’sirida tashqi nafas buzilishidan kelib chiqqan holat mexanik asfiksiya deb ataladi.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104, 104-105, 105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Sud-tibbiy tasnifda mexanik asfiksiyaning uch turi farqlanadi: qisilishdan, yopilishdan va cheklangan muhitdagi asfiksiya.</a:t>
            </a:r>
          </a:p>
          <a:p>
            <a:pPr>
              <a:spcAft>
                <a:spcPts val="800"/>
              </a:spcAft>
            </a:pPr>
            <a:r>
              <a:rPr sz="1800">
                <a:solidFill>
                  <a:srgbClr val="1F2937"/>
                </a:solidFill>
                <a:latin typeface="Calibri"/>
              </a:rPr>
              <a:t>▸  Diqqat: strangulyatsion (bo‘yin) ≠ kompression (ko‘krak, qorin) – qisilishning ikki xil ko‘rinishi.</a:t>
            </a:r>
          </a:p>
          <a:p>
            <a:pPr>
              <a:spcAft>
                <a:spcPts val="800"/>
              </a:spcAft>
            </a:pPr>
            <a:r>
              <a:rPr sz="1800">
                <a:solidFill>
                  <a:srgbClr val="1F2937"/>
                </a:solidFill>
                <a:latin typeface="Calibri"/>
              </a:rPr>
              <a:t>▸  Bulardan tashqari autoasfiksiofiliya (seksual asfiksiya) holatlari ham mavjud.</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Asosiy tur</a:t>
                      </a:r>
                    </a:p>
                  </a:txBody>
                  <a:tcPr marL="73152" marR="73152" marT="36576" marB="36576">
                    <a:solidFill>
                      <a:srgbClr val="0B1F3A"/>
                    </a:solidFill>
                  </a:tcPr>
                </a:tc>
                <a:tc>
                  <a:txBody>
                    <a:bodyPr/>
                    <a:lstStyle/>
                    <a:p>
                      <a:r>
                        <a:rPr sz="1400" b="1">
                          <a:solidFill>
                            <a:srgbClr val="FFFFFF"/>
                          </a:solidFill>
                        </a:rPr>
                        <a:t>Kichik tur</a:t>
                      </a:r>
                    </a:p>
                  </a:txBody>
                  <a:tcPr marL="73152" marR="73152" marT="36576" marB="36576">
                    <a:solidFill>
                      <a:srgbClr val="0B1F3A"/>
                    </a:solidFill>
                  </a:tcPr>
                </a:tc>
              </a:tr>
              <a:tr h="411480">
                <a:tc>
                  <a:txBody>
                    <a:bodyPr/>
                    <a:lstStyle/>
                    <a:p>
                      <a:r>
                        <a:rPr sz="1300" b="0">
                          <a:solidFill>
                            <a:srgbClr val="1F2937"/>
                          </a:solidFill>
                        </a:rPr>
                        <a:t>Qisilishdan</a:t>
                      </a:r>
                    </a:p>
                  </a:txBody>
                  <a:tcPr marL="73152" marR="73152" marT="36576" marB="36576">
                    <a:solidFill>
                      <a:srgbClr val="E8EEF6"/>
                    </a:solidFill>
                  </a:tcPr>
                </a:tc>
                <a:tc>
                  <a:txBody>
                    <a:bodyPr/>
                    <a:lstStyle/>
                    <a:p>
                      <a:r>
                        <a:rPr sz="1300" b="0">
                          <a:solidFill>
                            <a:srgbClr val="1F2937"/>
                          </a:solidFill>
                        </a:rPr>
                        <a:t>Strangulyatsion: bo‘yin a’zolari qisiladi</a:t>
                      </a:r>
                    </a:p>
                  </a:txBody>
                  <a:tcPr marL="73152" marR="73152" marT="36576" marB="36576">
                    <a:solidFill>
                      <a:srgbClr val="E8EEF6"/>
                    </a:solidFill>
                  </a:tcPr>
                </a:tc>
              </a:tr>
              <a:tr h="411480">
                <a:tc>
                  <a:txBody>
                    <a:bodyPr/>
                    <a:lstStyle/>
                    <a:p>
                      <a:r>
                        <a:rPr sz="1300" b="0">
                          <a:solidFill>
                            <a:srgbClr val="1F2937"/>
                          </a:solidFill>
                        </a:rPr>
                        <a:t>Qisilishdan</a:t>
                      </a:r>
                    </a:p>
                  </a:txBody>
                  <a:tcPr marL="73152" marR="73152" marT="36576" marB="36576">
                    <a:solidFill>
                      <a:srgbClr val="FFFFFF"/>
                    </a:solidFill>
                  </a:tcPr>
                </a:tc>
                <a:tc>
                  <a:txBody>
                    <a:bodyPr/>
                    <a:lstStyle/>
                    <a:p>
                      <a:r>
                        <a:rPr sz="1300" b="0">
                          <a:solidFill>
                            <a:srgbClr val="1F2937"/>
                          </a:solidFill>
                        </a:rPr>
                        <a:t>Kompression: ko‘krak, qorin qisiladi</a:t>
                      </a:r>
                    </a:p>
                  </a:txBody>
                  <a:tcPr marL="73152" marR="73152" marT="36576" marB="36576">
                    <a:solidFill>
                      <a:srgbClr val="FFFFFF"/>
                    </a:solidFill>
                  </a:tcPr>
                </a:tc>
              </a:tr>
              <a:tr h="411480">
                <a:tc>
                  <a:txBody>
                    <a:bodyPr/>
                    <a:lstStyle/>
                    <a:p>
                      <a:r>
                        <a:rPr sz="1300" b="0">
                          <a:solidFill>
                            <a:srgbClr val="1F2937"/>
                          </a:solidFill>
                        </a:rPr>
                        <a:t>Yopilishdan</a:t>
                      </a:r>
                    </a:p>
                  </a:txBody>
                  <a:tcPr marL="73152" marR="73152" marT="36576" marB="36576">
                    <a:solidFill>
                      <a:srgbClr val="E8EEF6"/>
                    </a:solidFill>
                  </a:tcPr>
                </a:tc>
                <a:tc>
                  <a:txBody>
                    <a:bodyPr/>
                    <a:lstStyle/>
                    <a:p>
                      <a:r>
                        <a:rPr sz="1300" b="0">
                          <a:solidFill>
                            <a:srgbClr val="1F2937"/>
                          </a:solidFill>
                        </a:rPr>
                        <a:t>Nafas teshiklari, nafas yo‘llari, cho‘kish</a:t>
                      </a:r>
                    </a:p>
                  </a:txBody>
                  <a:tcPr marL="73152" marR="73152" marT="36576" marB="36576">
                    <a:solidFill>
                      <a:srgbClr val="E8EEF6"/>
                    </a:solidFill>
                  </a:tcPr>
                </a:tc>
              </a:tr>
              <a:tr h="411480">
                <a:tc>
                  <a:txBody>
                    <a:bodyPr/>
                    <a:lstStyle/>
                    <a:p>
                      <a:r>
                        <a:rPr sz="1300" b="0">
                          <a:solidFill>
                            <a:srgbClr val="1F2937"/>
                          </a:solidFill>
                        </a:rPr>
                        <a:t>Cheklangan muhit</a:t>
                      </a:r>
                    </a:p>
                  </a:txBody>
                  <a:tcPr marL="73152" marR="73152" marT="36576" marB="36576">
                    <a:solidFill>
                      <a:srgbClr val="FFFFFF"/>
                    </a:solidFill>
                  </a:tcPr>
                </a:tc>
                <a:tc>
                  <a:txBody>
                    <a:bodyPr/>
                    <a:lstStyle/>
                    <a:p>
                      <a:r>
                        <a:rPr sz="1300" b="0">
                          <a:solidFill>
                            <a:srgbClr val="1F2937"/>
                          </a:solidFill>
                        </a:rPr>
                        <a:t>Yopiq muhitdagi asfiksiya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Mexanik asfiksiya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Autoasfiksiofiliya (seksual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Bu hodisa ko‘pincha jinsiy chetlanishlarga moyil o‘rta yoshdagi yolg‘iz erkaklarda, ba’zan yosh erkaklarda kuzatiladi.</a:t>
            </a:r>
          </a:p>
          <a:p>
            <a:pPr>
              <a:spcAft>
                <a:spcPts val="1200"/>
              </a:spcAft>
            </a:pPr>
            <a:r>
              <a:rPr sz="2000">
                <a:solidFill>
                  <a:srgbClr val="1F2937"/>
                </a:solidFill>
                <a:latin typeface="Calibri"/>
              </a:rPr>
              <a:t>▸  Jinsiy qo‘zg‘alish gipoksiya va giperkapniya sharoitida sodir bo‘ladi. Orgazm asfiksiya holatida spontan yoki onanizm natijasida vujudga keladi.</a:t>
            </a:r>
          </a:p>
          <a:p>
            <a:pPr>
              <a:spcAft>
                <a:spcPts val="1200"/>
              </a:spcAft>
            </a:pPr>
            <a:r>
              <a:rPr sz="2000">
                <a:solidFill>
                  <a:srgbClr val="1F2937"/>
                </a:solidFill>
                <a:latin typeface="Calibri"/>
              </a:rPr>
              <a:t>▸  Xos belgi: asfiktik jarayon qo‘l, oyoq yoki moslamalar bilan boshqariladi. Asosan bo‘yin sirtmoq bilan qisiladi yoki polietilen qopcha bilan cheklangan muhit hosil qilinadi.</a:t>
            </a:r>
          </a:p>
          <a:p>
            <a:pPr>
              <a:spcAft>
                <a:spcPts val="1200"/>
              </a:spcAft>
            </a:pPr>
            <a:r>
              <a:rPr sz="2000">
                <a:solidFill>
                  <a:srgbClr val="1F2937"/>
                </a:solidFill>
                <a:latin typeface="Calibri"/>
              </a:rPr>
              <a:t>▸  O‘lim bilan tugasa, baxtsiz hodisa deb baholanadi. Joyda pornografik rasmlar, jinsiy a’zo imitatorlari, boshqa jins kiyimi topiladi; murda yalang‘ochlangan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105, 105-106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Asfiksiyaning kechishi: preasfiktik va asfiktik davr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Preasfiktik davr o‘rtacha 20-30 sek.: nafas qisqa to‘xtaydi, so‘ng uning maromi sekinlashadi.</a:t>
            </a:r>
          </a:p>
          <a:p>
            <a:pPr>
              <a:spcAft>
                <a:spcPts val="800"/>
              </a:spcAft>
            </a:pPr>
            <a:r>
              <a:rPr sz="1800">
                <a:solidFill>
                  <a:srgbClr val="1F2937"/>
                </a:solidFill>
                <a:latin typeface="Calibri"/>
              </a:rPr>
              <a:t>▸  Organizm moslashadi: qon miqdori ko‘payadi, qon suyuqlashadi va muhim a’zolarga qayta taqsimlanadi.</a:t>
            </a:r>
          </a:p>
          <a:p>
            <a:pPr>
              <a:spcAft>
                <a:spcPts val="800"/>
              </a:spcAft>
            </a:pPr>
            <a:r>
              <a:rPr sz="1800">
                <a:solidFill>
                  <a:srgbClr val="1F2937"/>
                </a:solidFill>
                <a:latin typeface="Calibri"/>
              </a:rPr>
              <a:t>▸  Shu sababli bu davrda asfiksiya belgilari rivojlanmaydi; asfiktik ta’sir davom etsa, asfiktik davr boshlanadi.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Inspirator hansirash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Ekspirator hansirash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Nafasning qisqa to‘xtashi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Terminal nafas olish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Nafasning to‘liq to‘xtashi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Asfiktik davr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Inspirator va ekspirator hansirash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Inspirator bosqichda 40-60 sek. o‘tganda hush yo‘qoladi; bosqich bir minutga yaqin davom etadi.</a:t>
            </a:r>
          </a:p>
          <a:p>
            <a:pPr>
              <a:spcAft>
                <a:spcPts val="800"/>
              </a:spcAft>
            </a:pPr>
            <a:r>
              <a:rPr sz="1800">
                <a:solidFill>
                  <a:srgbClr val="1F2937"/>
                </a:solidFill>
                <a:latin typeface="Calibri"/>
              </a:rPr>
              <a:t>▸  Ekspirator bosqichda siydik, maniy, axlat ajralishi bilan kechadigan kuchli klonik talvasalar bo‘lishi mumkin.</a:t>
            </a:r>
          </a:p>
          <a:p>
            <a:pPr>
              <a:spcAft>
                <a:spcPts val="800"/>
              </a:spcAft>
            </a:pPr>
            <a:r>
              <a:rPr sz="1800">
                <a:solidFill>
                  <a:srgbClr val="1F2937"/>
                </a:solidFill>
                <a:latin typeface="Calibri"/>
              </a:rPr>
              <a:t>▸  Diqqat: talvasadagi urilishdan hosil bo‘lgan jarohatni o‘zga shaxs yetkazgan jarohatdan farqlash zarur.</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430863"/>
                <a:gridCol w="1928555"/>
                <a:gridCol w="1928555"/>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Inspirator</a:t>
                      </a:r>
                    </a:p>
                  </a:txBody>
                  <a:tcPr marL="73152" marR="73152" marT="36576" marB="36576">
                    <a:solidFill>
                      <a:srgbClr val="0B1F3A"/>
                    </a:solidFill>
                  </a:tcPr>
                </a:tc>
                <a:tc>
                  <a:txBody>
                    <a:bodyPr/>
                    <a:lstStyle/>
                    <a:p>
                      <a:r>
                        <a:rPr sz="1300" b="1">
                          <a:solidFill>
                            <a:srgbClr val="FFFFFF"/>
                          </a:solidFill>
                        </a:rPr>
                        <a:t>Ekspirator</a:t>
                      </a:r>
                    </a:p>
                  </a:txBody>
                  <a:tcPr marL="73152" marR="73152" marT="36576" marB="36576">
                    <a:solidFill>
                      <a:srgbClr val="0B1F3A"/>
                    </a:solidFill>
                  </a:tcPr>
                </a:tc>
              </a:tr>
              <a:tr h="411480">
                <a:tc>
                  <a:txBody>
                    <a:bodyPr/>
                    <a:lstStyle/>
                    <a:p>
                      <a:r>
                        <a:rPr sz="1200" b="0">
                          <a:solidFill>
                            <a:srgbClr val="1F2937"/>
                          </a:solidFill>
                        </a:rPr>
                        <a:t>Nafas</a:t>
                      </a:r>
                    </a:p>
                  </a:txBody>
                  <a:tcPr marL="73152" marR="73152" marT="36576" marB="36576">
                    <a:solidFill>
                      <a:srgbClr val="E8EEF6"/>
                    </a:solidFill>
                  </a:tcPr>
                </a:tc>
                <a:tc>
                  <a:txBody>
                    <a:bodyPr/>
                    <a:lstStyle/>
                    <a:p>
                      <a:r>
                        <a:rPr sz="1200" b="0">
                          <a:solidFill>
                            <a:srgbClr val="1F2937"/>
                          </a:solidFill>
                        </a:rPr>
                        <a:t>Nafas olish tezlashadi, uzayadi</a:t>
                      </a:r>
                    </a:p>
                  </a:txBody>
                  <a:tcPr marL="73152" marR="73152" marT="36576" marB="36576">
                    <a:solidFill>
                      <a:srgbClr val="E8EEF6"/>
                    </a:solidFill>
                  </a:tcPr>
                </a:tc>
                <a:tc>
                  <a:txBody>
                    <a:bodyPr/>
                    <a:lstStyle/>
                    <a:p>
                      <a:r>
                        <a:rPr sz="1200" b="0">
                          <a:solidFill>
                            <a:srgbClr val="1F2937"/>
                          </a:solidFill>
                        </a:rPr>
                        <a:t>Nafas chiqarish kuchli, uzoq</a:t>
                      </a:r>
                    </a:p>
                  </a:txBody>
                  <a:tcPr marL="73152" marR="73152" marT="36576" marB="36576">
                    <a:solidFill>
                      <a:srgbClr val="E8EEF6"/>
                    </a:solidFill>
                  </a:tcPr>
                </a:tc>
              </a:tr>
              <a:tr h="411480">
                <a:tc>
                  <a:txBody>
                    <a:bodyPr/>
                    <a:lstStyle/>
                    <a:p>
                      <a:r>
                        <a:rPr sz="1200" b="0">
                          <a:solidFill>
                            <a:srgbClr val="1F2937"/>
                          </a:solidFill>
                        </a:rPr>
                        <a:t>Plevra bosimi</a:t>
                      </a:r>
                    </a:p>
                  </a:txBody>
                  <a:tcPr marL="73152" marR="73152" marT="36576" marB="36576">
                    <a:solidFill>
                      <a:srgbClr val="FFFFFF"/>
                    </a:solidFill>
                  </a:tcPr>
                </a:tc>
                <a:tc>
                  <a:txBody>
                    <a:bodyPr/>
                    <a:lstStyle/>
                    <a:p>
                      <a:r>
                        <a:rPr sz="1200" b="0">
                          <a:solidFill>
                            <a:srgbClr val="1F2937"/>
                          </a:solidFill>
                        </a:rPr>
                        <a:t>Keskin pasayadi</a:t>
                      </a:r>
                    </a:p>
                  </a:txBody>
                  <a:tcPr marL="73152" marR="73152" marT="36576" marB="36576">
                    <a:solidFill>
                      <a:srgbClr val="FFFFFF"/>
                    </a:solidFill>
                  </a:tcPr>
                </a:tc>
                <a:tc>
                  <a:txBody>
                    <a:bodyPr/>
                    <a:lstStyle/>
                    <a:p>
                      <a:r>
                        <a:rPr sz="1200" b="0">
                          <a:solidFill>
                            <a:srgbClr val="1F2937"/>
                          </a:solidFill>
                        </a:rPr>
                        <a:t>Ortadi</a:t>
                      </a:r>
                    </a:p>
                  </a:txBody>
                  <a:tcPr marL="73152" marR="73152" marT="36576" marB="36576">
                    <a:solidFill>
                      <a:srgbClr val="FFFFFF"/>
                    </a:solidFill>
                  </a:tcPr>
                </a:tc>
              </a:tr>
              <a:tr h="411480">
                <a:tc>
                  <a:txBody>
                    <a:bodyPr/>
                    <a:lstStyle/>
                    <a:p>
                      <a:r>
                        <a:rPr sz="1200" b="0">
                          <a:solidFill>
                            <a:srgbClr val="1F2937"/>
                          </a:solidFill>
                        </a:rPr>
                        <a:t>Arterial va venoz bosim</a:t>
                      </a:r>
                    </a:p>
                  </a:txBody>
                  <a:tcPr marL="73152" marR="73152" marT="36576" marB="36576">
                    <a:solidFill>
                      <a:srgbClr val="E8EEF6"/>
                    </a:solidFill>
                  </a:tcPr>
                </a:tc>
                <a:tc>
                  <a:txBody>
                    <a:bodyPr/>
                    <a:lstStyle/>
                    <a:p>
                      <a:r>
                        <a:rPr sz="1200" b="0">
                          <a:solidFill>
                            <a:srgbClr val="1F2937"/>
                          </a:solidFill>
                        </a:rPr>
                        <a:t>Arterial pasayadi, venoz ortadi</a:t>
                      </a:r>
                    </a:p>
                  </a:txBody>
                  <a:tcPr marL="73152" marR="73152" marT="36576" marB="36576">
                    <a:solidFill>
                      <a:srgbClr val="E8EEF6"/>
                    </a:solidFill>
                  </a:tcPr>
                </a:tc>
                <a:tc>
                  <a:txBody>
                    <a:bodyPr/>
                    <a:lstStyle/>
                    <a:p>
                      <a:r>
                        <a:rPr sz="1200" b="0">
                          <a:solidFill>
                            <a:srgbClr val="1F2937"/>
                          </a:solidFill>
                        </a:rPr>
                        <a:t>Arterial ortadi, venoz kamayadi</a:t>
                      </a:r>
                    </a:p>
                  </a:txBody>
                  <a:tcPr marL="73152" marR="73152" marT="36576" marB="36576">
                    <a:solidFill>
                      <a:srgbClr val="E8EEF6"/>
                    </a:solidFill>
                  </a:tcPr>
                </a:tc>
              </a:tr>
              <a:tr h="411480">
                <a:tc>
                  <a:txBody>
                    <a:bodyPr/>
                    <a:lstStyle/>
                    <a:p>
                      <a:r>
                        <a:rPr sz="1200" b="0">
                          <a:solidFill>
                            <a:srgbClr val="1F2937"/>
                          </a:solidFill>
                        </a:rPr>
                        <a:t>Puls</a:t>
                      </a:r>
                    </a:p>
                  </a:txBody>
                  <a:tcPr marL="73152" marR="73152" marT="36576" marB="36576">
                    <a:solidFill>
                      <a:srgbClr val="FFFFFF"/>
                    </a:solidFill>
                  </a:tcPr>
                </a:tc>
                <a:tc>
                  <a:txBody>
                    <a:bodyPr/>
                    <a:lstStyle/>
                    <a:p>
                      <a:r>
                        <a:rPr sz="1200" b="0">
                          <a:solidFill>
                            <a:srgbClr val="1F2937"/>
                          </a:solidFill>
                        </a:rPr>
                        <a:t>Sekinlashadi</a:t>
                      </a:r>
                    </a:p>
                  </a:txBody>
                  <a:tcPr marL="73152" marR="73152" marT="36576" marB="36576">
                    <a:solidFill>
                      <a:srgbClr val="FFFFFF"/>
                    </a:solidFill>
                  </a:tcPr>
                </a:tc>
                <a:tc>
                  <a:txBody>
                    <a:bodyPr/>
                    <a:lstStyle/>
                    <a:p>
                      <a:r>
                        <a:rPr sz="1200" b="0">
                          <a:solidFill>
                            <a:srgbClr val="1F2937"/>
                          </a:solidFill>
                        </a:rPr>
                        <a:t>Tezlashadi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bosqichni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Oxirgi bosqichlar va o‘lim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Qisqa to‘xtash (30-40 sek.): karbonat angidrid ko‘pligidan adashgan nerv ta’sirlanadi, nafas to‘xtaydi, reflekslar so‘na boshlaydi.</a:t>
            </a:r>
          </a:p>
          <a:p>
            <a:pPr>
              <a:spcAft>
                <a:spcPts val="1200"/>
              </a:spcAft>
            </a:pPr>
            <a:r>
              <a:rPr sz="2200">
                <a:solidFill>
                  <a:srgbClr val="1F2937"/>
                </a:solidFill>
                <a:latin typeface="Calibri"/>
              </a:rPr>
              <a:t>▸  Terminal nafas (5 minutgacha): onda-sonda noritmik nafas, ko‘pincha og‘iz ochilishi bilan; oxirida arterial bosim o‘ta pasayadi.</a:t>
            </a:r>
          </a:p>
          <a:p>
            <a:pPr>
              <a:spcAft>
                <a:spcPts val="1200"/>
              </a:spcAft>
            </a:pPr>
            <a:r>
              <a:rPr sz="2200">
                <a:solidFill>
                  <a:srgbClr val="1F2937"/>
                </a:solidFill>
                <a:latin typeface="Calibri"/>
              </a:rPr>
              <a:t>▸  To‘liq to‘xtashda nafas markazi falajlanadi; yurak yana 3-10 minut urishi mumkin, so‘ng yurak to‘xtab, klinik o‘lim keladi.</a:t>
            </a:r>
          </a:p>
          <a:p>
            <a:pPr>
              <a:spcAft>
                <a:spcPts val="1200"/>
              </a:spcAft>
            </a:pPr>
            <a:r>
              <a:rPr sz="2200">
                <a:solidFill>
                  <a:srgbClr val="1F2937"/>
                </a:solidFill>
                <a:latin typeface="Calibri"/>
              </a:rPr>
              <a:t>▸  Yurakning reflektor to‘xtashi 30 sek.gacha bo‘lsa, asfiktik belgilar rivojlanmaydi. Minovichi 1905-yilda osilish tajribasini o‘zida o‘tkazgan.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106, 106-107, 107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va tezkor savol: asfiksiya kechishi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asfiksiyadan 40-60 sek. o‘tib hush yo‘qolgan; nafas olish tezlashgan va uzaygan, puls sekin, venoz bosim ortgan. Bu qaysi bosqich?</a:t>
            </a:r>
          </a:p>
          <a:p>
            <a:pPr>
              <a:spcAft>
                <a:spcPts val="1200"/>
              </a:spcAft>
            </a:pPr>
            <a:r>
              <a:rPr sz="2200">
                <a:solidFill>
                  <a:srgbClr val="1F2937"/>
                </a:solidFill>
                <a:latin typeface="Calibri"/>
              </a:rPr>
              <a:t>▸  Keyingi bosqichda nafas chiqarish kuchayadi, klonik talvasalar va siydik, axlat ajralishi kuzatiladi. Talvasa jarohatini o‘zga shaxs jarohatidan farqlang.</a:t>
            </a:r>
          </a:p>
          <a:p>
            <a:pPr>
              <a:spcAft>
                <a:spcPts val="1200"/>
              </a:spcAft>
            </a:pPr>
            <a:r>
              <a:rPr sz="2200">
                <a:solidFill>
                  <a:srgbClr val="1F2937"/>
                </a:solidFill>
                <a:latin typeface="Calibri"/>
              </a:rPr>
              <a:t>▸  Tezkor savol: yurak 30 sekundgacha reflektor to‘xtasa, murdada asfiksiya belgilari nega topilmasligi mumkin?</a:t>
            </a:r>
          </a:p>
          <a:p>
            <a:pPr>
              <a:spcAft>
                <a:spcPts val="1200"/>
              </a:spcAft>
            </a:pPr>
            <a:r>
              <a:rPr sz="2200">
                <a:solidFill>
                  <a:srgbClr val="1F2937"/>
                </a:solidFill>
                <a:latin typeface="Calibri"/>
              </a:rPr>
              <a:t>▸  Javob: umumasfiktik belgilar rivojlanib ulgurmaydi. Diqqat: arterial bosim inspiratorda pasayadi, ekspiratorda ko‘tariladi.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106, 107, 106-107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Postasfiktik holat va uning davrlari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Asfiksiya o‘limsiz tugasa, hosil bo‘lgan o‘zgarishlar majmuyi postasfiktik holat deyiladi.</a:t>
            </a:r>
          </a:p>
          <a:p>
            <a:pPr>
              <a:spcAft>
                <a:spcPts val="800"/>
              </a:spcAft>
            </a:pPr>
            <a:r>
              <a:rPr sz="1800">
                <a:solidFill>
                  <a:srgbClr val="1F2937"/>
                </a:solidFill>
                <a:latin typeface="Calibri"/>
              </a:rPr>
              <a:t>▸  Belgilar asfiktik ta’sir turi, davomiyligi va organizm sog‘lig‘iga bog‘liq.</a:t>
            </a:r>
          </a:p>
          <a:p>
            <a:pPr>
              <a:spcAft>
                <a:spcPts val="800"/>
              </a:spcAft>
            </a:pPr>
            <a:r>
              <a:rPr sz="1800">
                <a:solidFill>
                  <a:srgbClr val="1F2937"/>
                </a:solidFill>
                <a:latin typeface="Calibri"/>
              </a:rPr>
              <a:t>▸  Yengil holatlarda to‘laqonli yordam bilan o‘zgarishlar 1-2 haftada izsiz yo‘qoladi.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Asfiktik koma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Karaxtlik</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Dezorientatsiya, amneziya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Qoldiq oqibatlar</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Postasfiktik davrlar</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107, 109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Asfiktik koma va karaxtlik davri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Koma boshida mushaklar atoniyada, qorachiqlar kengaygan, reflekslar chaqirilmaydi; bosh miya o‘zagi markazlari buzilgan, bosim juda past.</a:t>
            </a:r>
          </a:p>
          <a:p>
            <a:pPr>
              <a:spcAft>
                <a:spcPts val="1200"/>
              </a:spcAft>
            </a:pPr>
            <a:r>
              <a:rPr sz="2200">
                <a:solidFill>
                  <a:srgbClr val="1F2937"/>
                </a:solidFill>
                <a:latin typeface="Calibri"/>
              </a:rPr>
              <a:t>▸  Nafas va yurak tiklangach detserebratsion rigidlik rivojlanadi: bosim va mushak tonusi ko‘tariladi, tonik talvasalar, tana harorati ortadi.</a:t>
            </a:r>
          </a:p>
          <a:p>
            <a:pPr>
              <a:spcAft>
                <a:spcPts val="1200"/>
              </a:spcAft>
            </a:pPr>
            <a:r>
              <a:rPr sz="2200">
                <a:solidFill>
                  <a:srgbClr val="1F2937"/>
                </a:solidFill>
                <a:latin typeface="Calibri"/>
              </a:rPr>
              <a:t>▸  So‘nggi bosqichda tonik-klonik talvasalar, giperkinezlar bo‘ladi, reflekslar tiklana boshlaydi; ba’zan ichki qon ketish alomatlari topiladi.</a:t>
            </a:r>
          </a:p>
          <a:p>
            <a:pPr>
              <a:spcAft>
                <a:spcPts val="1200"/>
              </a:spcAft>
            </a:pPr>
            <a:r>
              <a:rPr sz="2200">
                <a:solidFill>
                  <a:srgbClr val="1F2937"/>
                </a:solidFill>
                <a:latin typeface="Calibri"/>
              </a:rPr>
              <a:t>▸  Karaxtlikda jabrlangan komadan chiqadi, talvasa yo‘q: sopor, chuqur karaxtlik, yengil karaxtlik, so‘ng uyquchanlik ketma-ket almashadi.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Dezorientatsiya, qoldiq oqibatlar va asoratlar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Hush tiklansa ham odam zamon va makonda adashadi. Konfabulyasiya — xotira bo‘shlig‘ini anglamay soxta xotira bilan to‘ldirish; retrograd amneziya ham kuzatiladi.</a:t>
            </a:r>
          </a:p>
          <a:p>
            <a:pPr>
              <a:spcAft>
                <a:spcPts val="1200"/>
              </a:spcAft>
            </a:pPr>
            <a:r>
              <a:rPr sz="2000">
                <a:solidFill>
                  <a:srgbClr val="1F2937"/>
                </a:solidFill>
                <a:latin typeface="Calibri"/>
              </a:rPr>
              <a:t>▸  To‘liq tibbiy yordam bilan yengil o‘zgarishlar 1-2 haftada izsiz o‘tadi. Boshqa holatda xotira va diqqat buziladi, bosh og‘rig‘i, paralich, ko‘rish va eshitish pasayishi qoladi.</a:t>
            </a:r>
          </a:p>
          <a:p>
            <a:pPr>
              <a:spcAft>
                <a:spcPts val="1200"/>
              </a:spcAft>
            </a:pPr>
            <a:r>
              <a:rPr sz="2000">
                <a:solidFill>
                  <a:srgbClr val="1F2937"/>
                </a:solidFill>
                <a:latin typeface="Calibri"/>
              </a:rPr>
              <a:t>▸  Jigarda distrofiya va o‘choqli nekrobioz, oshqozon-ichak shilliq qavatida eroziya va yaralar bo‘ladi. Asorat: organ yetishmovchiligi, peritonit, ichki qon ketish.</a:t>
            </a:r>
          </a:p>
          <a:p>
            <a:pPr>
              <a:spcAft>
                <a:spcPts val="1200"/>
              </a:spcAft>
            </a:pPr>
            <a:r>
              <a:rPr sz="2000">
                <a:solidFill>
                  <a:srgbClr val="1F2937"/>
                </a:solidFill>
                <a:latin typeface="Calibri"/>
              </a:rPr>
              <a:t>▸  Dastlabki minut-soatlarda o‘lim asfiktik komadan, birinchi sutkada o‘pka va miya shishidan, keyinroq gipostatik pnevmoniyadan sodir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108, 109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postasfiktik holatdagi jabrlanuvchi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suvda cho‘kayotgan odam qutqarildi. Hushi tiklangan, talvasasi yo‘q, ammo hozirgi vaqt va joyni adashtiradi, voqeani eslamaydi.</a:t>
            </a:r>
          </a:p>
          <a:p>
            <a:pPr>
              <a:spcAft>
                <a:spcPts val="1200"/>
              </a:spcAft>
            </a:pPr>
            <a:r>
              <a:rPr sz="2200">
                <a:solidFill>
                  <a:srgbClr val="1F2937"/>
                </a:solidFill>
                <a:latin typeface="Calibri"/>
              </a:rPr>
              <a:t>▸  Savol: bu postasfiktik holatning qaysi davri? Karaxtlik davridan farqi nimada?</a:t>
            </a:r>
          </a:p>
          <a:p>
            <a:pPr>
              <a:spcAft>
                <a:spcPts val="1200"/>
              </a:spcAft>
            </a:pPr>
            <a:r>
              <a:rPr sz="2200">
                <a:solidFill>
                  <a:srgbClr val="1F2937"/>
                </a:solidFill>
                <a:latin typeface="Calibri"/>
              </a:rPr>
              <a:t>▸  Yo‘nalish: bu 3-davr — dezorientatsiya va xotira buzilishi. Eslamagan voqealar o‘rnini soxta xotira (konfabulyasiya) to‘ldirishi mumkin.</a:t>
            </a:r>
          </a:p>
          <a:p>
            <a:pPr>
              <a:spcAft>
                <a:spcPts val="1200"/>
              </a:spcAft>
            </a:pPr>
            <a:r>
              <a:rPr sz="2200">
                <a:solidFill>
                  <a:srgbClr val="1F2937"/>
                </a:solidFill>
                <a:latin typeface="Calibri"/>
              </a:rPr>
              <a:t>▸  Keyingi ekspertizada to‘liq tibbiy hujjat tirik shaxsda jarohat og‘irligini, o‘lim holatida uning sababini aniqlashda juda muhim.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107-108, 108, 109-110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asfiksiyaning umumiy tashqi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Sianoz turg‘un emas: murda yotish holatiga qarab yo‘qolishi yoki asfiksiyasiz ham paydo bo‘lishi mumkin.</a:t>
            </a:r>
          </a:p>
          <a:p>
            <a:pPr>
              <a:spcAft>
                <a:spcPts val="800"/>
              </a:spcAft>
            </a:pPr>
            <a:r>
              <a:rPr sz="1800">
                <a:solidFill>
                  <a:srgbClr val="1F2937"/>
                </a:solidFill>
                <a:latin typeface="Calibri"/>
              </a:rPr>
              <a:t>▸  Murda dog‘lari ko‘lamli, ko‘kimtir-binafsha va o‘limdan 1 soat ichida hosil bo‘ladi.</a:t>
            </a:r>
          </a:p>
          <a:p>
            <a:pPr>
              <a:spcAft>
                <a:spcPts val="800"/>
              </a:spcAft>
            </a:pPr>
            <a:r>
              <a:rPr sz="1800">
                <a:solidFill>
                  <a:srgbClr val="1F2937"/>
                </a:solidFill>
                <a:latin typeface="Calibri"/>
              </a:rPr>
              <a:t>▸  Talvasada siydik, axlat, sperma, shilliq tiqin ajraladi — silliq mushaklar qisqarishi tufayli.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351371"/>
                <a:gridCol w="2350211"/>
                <a:gridCol w="1586392"/>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Sababi</a:t>
                      </a:r>
                    </a:p>
                  </a:txBody>
                  <a:tcPr marL="73152" marR="73152" marT="36576" marB="36576">
                    <a:solidFill>
                      <a:srgbClr val="0B1F3A"/>
                    </a:solidFill>
                  </a:tcPr>
                </a:tc>
                <a:tc>
                  <a:txBody>
                    <a:bodyPr/>
                    <a:lstStyle/>
                    <a:p>
                      <a:r>
                        <a:rPr sz="1300" b="1">
                          <a:solidFill>
                            <a:srgbClr val="FFFFFF"/>
                          </a:solidFill>
                        </a:rPr>
                        <a:t>Xususiyati</a:t>
                      </a:r>
                    </a:p>
                  </a:txBody>
                  <a:tcPr marL="73152" marR="73152" marT="36576" marB="36576">
                    <a:solidFill>
                      <a:srgbClr val="0B1F3A"/>
                    </a:solidFill>
                  </a:tcPr>
                </a:tc>
              </a:tr>
              <a:tr h="411480">
                <a:tc>
                  <a:txBody>
                    <a:bodyPr/>
                    <a:lstStyle/>
                    <a:p>
                      <a:r>
                        <a:rPr sz="1200" b="0">
                          <a:solidFill>
                            <a:srgbClr val="1F2937"/>
                          </a:solidFill>
                        </a:rPr>
                        <a:t>Yuz, bo‘yin sianozi</a:t>
                      </a:r>
                    </a:p>
                  </a:txBody>
                  <a:tcPr marL="73152" marR="73152" marT="36576" marB="36576">
                    <a:solidFill>
                      <a:srgbClr val="E8EEF6"/>
                    </a:solidFill>
                  </a:tcPr>
                </a:tc>
                <a:tc>
                  <a:txBody>
                    <a:bodyPr/>
                    <a:lstStyle/>
                    <a:p>
                      <a:r>
                        <a:rPr sz="1200" b="0">
                          <a:solidFill>
                            <a:srgbClr val="1F2937"/>
                          </a:solidFill>
                        </a:rPr>
                        <a:t>Hansirashdagi talvasalar</a:t>
                      </a:r>
                    </a:p>
                  </a:txBody>
                  <a:tcPr marL="73152" marR="73152" marT="36576" marB="36576">
                    <a:solidFill>
                      <a:srgbClr val="E8EEF6"/>
                    </a:solidFill>
                  </a:tcPr>
                </a:tc>
                <a:tc>
                  <a:txBody>
                    <a:bodyPr/>
                    <a:lstStyle/>
                    <a:p>
                      <a:r>
                        <a:rPr sz="1200" b="0">
                          <a:solidFill>
                            <a:srgbClr val="1F2937"/>
                          </a:solidFill>
                        </a:rPr>
                        <a:t>Turg‘un emas</a:t>
                      </a:r>
                    </a:p>
                  </a:txBody>
                  <a:tcPr marL="73152" marR="73152" marT="36576" marB="36576">
                    <a:solidFill>
                      <a:srgbClr val="E8EEF6"/>
                    </a:solidFill>
                  </a:tcPr>
                </a:tc>
              </a:tr>
              <a:tr h="411480">
                <a:tc>
                  <a:txBody>
                    <a:bodyPr/>
                    <a:lstStyle/>
                    <a:p>
                      <a:r>
                        <a:rPr sz="1200" b="0">
                          <a:solidFill>
                            <a:srgbClr val="1F2937"/>
                          </a:solidFill>
                        </a:rPr>
                        <a:t>Murda dog‘lari</a:t>
                      </a:r>
                    </a:p>
                  </a:txBody>
                  <a:tcPr marL="73152" marR="73152" marT="36576" marB="36576">
                    <a:solidFill>
                      <a:srgbClr val="FFFFFF"/>
                    </a:solidFill>
                  </a:tcPr>
                </a:tc>
                <a:tc>
                  <a:txBody>
                    <a:bodyPr/>
                    <a:lstStyle/>
                    <a:p>
                      <a:r>
                        <a:rPr sz="1200" b="0">
                          <a:solidFill>
                            <a:srgbClr val="1F2937"/>
                          </a:solidFill>
                        </a:rPr>
                        <a:t>Suyuq qon, karbonat angidridga to‘yinish</a:t>
                      </a:r>
                    </a:p>
                  </a:txBody>
                  <a:tcPr marL="73152" marR="73152" marT="36576" marB="36576">
                    <a:solidFill>
                      <a:srgbClr val="FFFFFF"/>
                    </a:solidFill>
                  </a:tcPr>
                </a:tc>
                <a:tc>
                  <a:txBody>
                    <a:bodyPr/>
                    <a:lstStyle/>
                    <a:p>
                      <a:r>
                        <a:rPr sz="1200" b="0">
                          <a:solidFill>
                            <a:srgbClr val="1F2937"/>
                          </a:solidFill>
                        </a:rPr>
                        <a:t>Ko‘lamli, tez hosil bo‘ladi</a:t>
                      </a:r>
                    </a:p>
                  </a:txBody>
                  <a:tcPr marL="73152" marR="73152" marT="36576" marB="36576">
                    <a:solidFill>
                      <a:srgbClr val="FFFFFF"/>
                    </a:solidFill>
                  </a:tcPr>
                </a:tc>
              </a:tr>
              <a:tr h="411480">
                <a:tc>
                  <a:txBody>
                    <a:bodyPr/>
                    <a:lstStyle/>
                    <a:p>
                      <a:r>
                        <a:rPr sz="1200" b="0">
                          <a:solidFill>
                            <a:srgbClr val="1F2937"/>
                          </a:solidFill>
                        </a:rPr>
                        <a:t>Subkonyunktival ekximoz</a:t>
                      </a:r>
                    </a:p>
                  </a:txBody>
                  <a:tcPr marL="73152" marR="73152" marT="36576" marB="36576">
                    <a:solidFill>
                      <a:srgbClr val="E8EEF6"/>
                    </a:solidFill>
                  </a:tcPr>
                </a:tc>
                <a:tc>
                  <a:txBody>
                    <a:bodyPr/>
                    <a:lstStyle/>
                    <a:p>
                      <a:r>
                        <a:rPr sz="1200" b="0">
                          <a:solidFill>
                            <a:srgbClr val="1F2937"/>
                          </a:solidFill>
                        </a:rPr>
                        <a:t>Qon bosimining keskin o‘zgarishi</a:t>
                      </a:r>
                    </a:p>
                  </a:txBody>
                  <a:tcPr marL="73152" marR="73152" marT="36576" marB="36576">
                    <a:solidFill>
                      <a:srgbClr val="E8EEF6"/>
                    </a:solidFill>
                  </a:tcPr>
                </a:tc>
                <a:tc>
                  <a:txBody>
                    <a:bodyPr/>
                    <a:lstStyle/>
                    <a:p>
                      <a:r>
                        <a:rPr sz="1200" b="0">
                          <a:solidFill>
                            <a:srgbClr val="1F2937"/>
                          </a:solidFill>
                        </a:rPr>
                        <a:t>O‘tish burmasida yaqqol</a:t>
                      </a:r>
                    </a:p>
                  </a:txBody>
                  <a:tcPr marL="73152" marR="73152" marT="36576" marB="36576">
                    <a:solidFill>
                      <a:srgbClr val="E8EEF6"/>
                    </a:solidFill>
                  </a:tcPr>
                </a:tc>
              </a:tr>
              <a:tr h="411480">
                <a:tc>
                  <a:txBody>
                    <a:bodyPr/>
                    <a:lstStyle/>
                    <a:p>
                      <a:r>
                        <a:rPr sz="1200" b="0">
                          <a:solidFill>
                            <a:srgbClr val="1F2937"/>
                          </a:solidFill>
                        </a:rPr>
                        <a:t>Midriaz</a:t>
                      </a:r>
                    </a:p>
                  </a:txBody>
                  <a:tcPr marL="73152" marR="73152" marT="36576" marB="36576">
                    <a:solidFill>
                      <a:srgbClr val="FFFFFF"/>
                    </a:solidFill>
                  </a:tcPr>
                </a:tc>
                <a:tc>
                  <a:txBody>
                    <a:bodyPr/>
                    <a:lstStyle/>
                    <a:p>
                      <a:r>
                        <a:rPr sz="1200" b="0">
                          <a:solidFill>
                            <a:srgbClr val="1F2937"/>
                          </a:solidFill>
                        </a:rPr>
                        <a:t>Stressda katexolaminlar ta’siri</a:t>
                      </a:r>
                    </a:p>
                  </a:txBody>
                  <a:tcPr marL="73152" marR="73152" marT="36576" marB="36576">
                    <a:solidFill>
                      <a:srgbClr val="FFFFFF"/>
                    </a:solidFill>
                  </a:tcPr>
                </a:tc>
                <a:tc>
                  <a:txBody>
                    <a:bodyPr/>
                    <a:lstStyle/>
                    <a:p>
                      <a:r>
                        <a:rPr sz="1200" b="0">
                          <a:solidFill>
                            <a:srgbClr val="1F2937"/>
                          </a:solidFill>
                        </a:rPr>
                        <a:t>Noturg‘un belgi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Tashqi belgilar va sababi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Umumiy ichki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Asfiktik yurak, kamqonlik va qisqargan taloq mexanik asfiksiya uchun nisbatan patognomik (xos) belgilardir.</a:t>
            </a:r>
          </a:p>
          <a:p>
            <a:pPr>
              <a:spcAft>
                <a:spcPts val="800"/>
              </a:spcAft>
            </a:pPr>
            <a:r>
              <a:rPr sz="1800">
                <a:solidFill>
                  <a:srgbClr val="1F2937"/>
                </a:solidFill>
                <a:latin typeface="Calibri"/>
              </a:rPr>
              <a:t>▸  O‘pkada qisman emfizema hansirash bosqichlarida paydo bo‘ladi; ichki a’zolar venoz to‘laqon bo‘ladi.</a:t>
            </a:r>
          </a:p>
          <a:p>
            <a:pPr>
              <a:spcAft>
                <a:spcPts val="800"/>
              </a:spcAft>
            </a:pPr>
            <a:r>
              <a:rPr sz="1800">
                <a:solidFill>
                  <a:srgbClr val="1F2937"/>
                </a:solidFill>
                <a:latin typeface="Calibri"/>
              </a:rPr>
              <a:t>▸  Tarde dog‘lari ko‘proq o‘pka bo‘laklari oralig‘i, diafragmal plevra va yurakning orqa yuzasida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62658"/>
                <a:gridCol w="3525316"/>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Sababi</a:t>
                      </a:r>
                    </a:p>
                  </a:txBody>
                  <a:tcPr marL="73152" marR="73152" marT="36576" marB="36576">
                    <a:solidFill>
                      <a:srgbClr val="0B1F3A"/>
                    </a:solidFill>
                  </a:tcPr>
                </a:tc>
              </a:tr>
              <a:tr h="411480">
                <a:tc>
                  <a:txBody>
                    <a:bodyPr/>
                    <a:lstStyle/>
                    <a:p>
                      <a:r>
                        <a:rPr sz="1300" b="0">
                          <a:solidFill>
                            <a:srgbClr val="1F2937"/>
                          </a:solidFill>
                        </a:rPr>
                        <a:t>Suyuq to‘q qizil qon</a:t>
                      </a:r>
                    </a:p>
                  </a:txBody>
                  <a:tcPr marL="73152" marR="73152" marT="36576" marB="36576">
                    <a:solidFill>
                      <a:srgbClr val="E8EEF6"/>
                    </a:solidFill>
                  </a:tcPr>
                </a:tc>
                <a:tc>
                  <a:txBody>
                    <a:bodyPr/>
                    <a:lstStyle/>
                    <a:p>
                      <a:r>
                        <a:rPr sz="1300" b="0">
                          <a:solidFill>
                            <a:srgbClr val="1F2937"/>
                          </a:solidFill>
                        </a:rPr>
                        <a:t>Giperkapniya; fibrinogenaza faolligi oshishi</a:t>
                      </a:r>
                    </a:p>
                  </a:txBody>
                  <a:tcPr marL="73152" marR="73152" marT="36576" marB="36576">
                    <a:solidFill>
                      <a:srgbClr val="E8EEF6"/>
                    </a:solidFill>
                  </a:tcPr>
                </a:tc>
              </a:tr>
              <a:tr h="411480">
                <a:tc>
                  <a:txBody>
                    <a:bodyPr/>
                    <a:lstStyle/>
                    <a:p>
                      <a:r>
                        <a:rPr sz="1300" b="0">
                          <a:solidFill>
                            <a:srgbClr val="1F2937"/>
                          </a:solidFill>
                        </a:rPr>
                        <a:t>Asfiktik yurak</a:t>
                      </a:r>
                    </a:p>
                  </a:txBody>
                  <a:tcPr marL="73152" marR="73152" marT="36576" marB="36576">
                    <a:solidFill>
                      <a:srgbClr val="FFFFFF"/>
                    </a:solidFill>
                  </a:tcPr>
                </a:tc>
                <a:tc>
                  <a:txBody>
                    <a:bodyPr/>
                    <a:lstStyle/>
                    <a:p>
                      <a:r>
                        <a:rPr sz="1300" b="0">
                          <a:solidFill>
                            <a:srgbClr val="1F2937"/>
                          </a:solidFill>
                        </a:rPr>
                        <a:t>O‘ng kameralar ko‘proq qonga to‘lgan</a:t>
                      </a:r>
                    </a:p>
                  </a:txBody>
                  <a:tcPr marL="73152" marR="73152" marT="36576" marB="36576">
                    <a:solidFill>
                      <a:srgbClr val="FFFFFF"/>
                    </a:solidFill>
                  </a:tcPr>
                </a:tc>
              </a:tr>
              <a:tr h="411480">
                <a:tc>
                  <a:txBody>
                    <a:bodyPr/>
                    <a:lstStyle/>
                    <a:p>
                      <a:r>
                        <a:rPr sz="1300" b="0">
                          <a:solidFill>
                            <a:srgbClr val="1F2937"/>
                          </a:solidFill>
                        </a:rPr>
                        <a:t>Tarde dog‘lari</a:t>
                      </a:r>
                    </a:p>
                  </a:txBody>
                  <a:tcPr marL="73152" marR="73152" marT="36576" marB="36576">
                    <a:solidFill>
                      <a:srgbClr val="E8EEF6"/>
                    </a:solidFill>
                  </a:tcPr>
                </a:tc>
                <a:tc>
                  <a:txBody>
                    <a:bodyPr/>
                    <a:lstStyle/>
                    <a:p>
                      <a:r>
                        <a:rPr sz="1300" b="0">
                          <a:solidFill>
                            <a:srgbClr val="1F2937"/>
                          </a:solidFill>
                        </a:rPr>
                        <a:t>Bosim oshishi, tomir devori o‘tkazuvchan</a:t>
                      </a:r>
                    </a:p>
                  </a:txBody>
                  <a:tcPr marL="73152" marR="73152" marT="36576" marB="36576">
                    <a:solidFill>
                      <a:srgbClr val="E8EEF6"/>
                    </a:solidFill>
                  </a:tcPr>
                </a:tc>
              </a:tr>
              <a:tr h="411480">
                <a:tc>
                  <a:txBody>
                    <a:bodyPr/>
                    <a:lstStyle/>
                    <a:p>
                      <a:r>
                        <a:rPr sz="1300" b="0">
                          <a:solidFill>
                            <a:srgbClr val="1F2937"/>
                          </a:solidFill>
                        </a:rPr>
                        <a:t>Sabinskiy belgisi</a:t>
                      </a:r>
                    </a:p>
                  </a:txBody>
                  <a:tcPr marL="73152" marR="73152" marT="36576" marB="36576">
                    <a:solidFill>
                      <a:srgbClr val="FFFFFF"/>
                    </a:solidFill>
                  </a:tcPr>
                </a:tc>
                <a:tc>
                  <a:txBody>
                    <a:bodyPr/>
                    <a:lstStyle/>
                    <a:p>
                      <a:r>
                        <a:rPr sz="1300" b="0">
                          <a:solidFill>
                            <a:srgbClr val="1F2937"/>
                          </a:solidFill>
                        </a:rPr>
                        <a:t>Depodagi qon preasfiktik davrda chiqadi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Ichki belgilar va sababi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111, 110-111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va tezkor savol: umumiy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murdada yuz ko‘kimtir, qon suyuq, Tarde dog‘lari va qisqargan taloq bor. Savol: bu asfiksiyadan o‘lim deyishga yetadimi?</a:t>
            </a:r>
          </a:p>
          <a:p>
            <a:pPr>
              <a:spcAft>
                <a:spcPts val="1200"/>
              </a:spcAft>
            </a:pPr>
            <a:r>
              <a:rPr sz="2200">
                <a:solidFill>
                  <a:srgbClr val="1F2937"/>
                </a:solidFill>
                <a:latin typeface="Calibri"/>
              </a:rPr>
              <a:t>▸  Bu belgilar spetsifik emas: elektrotravma, anafilaktik shok, to‘satdan yurak o‘limida ham uchraydi. Shuning uchun majmua baholanadi.</a:t>
            </a:r>
          </a:p>
          <a:p>
            <a:pPr>
              <a:spcAft>
                <a:spcPts val="1200"/>
              </a:spcAft>
            </a:pPr>
            <a:r>
              <a:rPr sz="2200">
                <a:solidFill>
                  <a:srgbClr val="1F2937"/>
                </a:solidFill>
                <a:latin typeface="Calibri"/>
              </a:rPr>
              <a:t>▸  Asfiktik yurak, kamqonlik, qisqargan taloq nisbatan patognomik, ammo ular ham boshqa belgilar bilan birga baholanadi.</a:t>
            </a:r>
          </a:p>
          <a:p>
            <a:pPr>
              <a:spcAft>
                <a:spcPts val="1200"/>
              </a:spcAft>
            </a:pPr>
            <a:r>
              <a:rPr sz="2200">
                <a:solidFill>
                  <a:srgbClr val="1F2937"/>
                </a:solidFill>
                <a:latin typeface="Calibri"/>
              </a:rPr>
              <a:t>▸  Diqqat: xato qilish xavfi. Yuz sianozi ≠ mexanik asfiksiya isboti: murda yuzi pastga yotsa, boshqa sabablarda ham ko‘kimtirlik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110-111, 111, 110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Osilish: turlari va sirtmoq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Sirtmoq yumshoq (sochiq, sharf), yarim qattiq (arqon, kamar) yoki qattiq (sim, zanjir) materialdan bo‘ladi.</a:t>
            </a:r>
          </a:p>
          <a:p>
            <a:pPr>
              <a:spcAft>
                <a:spcPts val="800"/>
              </a:spcAft>
            </a:pPr>
            <a:r>
              <a:rPr sz="1800">
                <a:solidFill>
                  <a:srgbClr val="1F2937"/>
                </a:solidFill>
                <a:latin typeface="Calibri"/>
              </a:rPr>
              <a:t>▸  Halqa bir, ikki yoki ko‘p o‘ramli, sirpanuvchan yoki sirpanmas bo‘lishi mumkin.</a:t>
            </a:r>
          </a:p>
          <a:p>
            <a:pPr>
              <a:spcAft>
                <a:spcPts val="800"/>
              </a:spcAft>
            </a:pPr>
            <a:r>
              <a:rPr sz="1800">
                <a:solidFill>
                  <a:srgbClr val="1F2937"/>
                </a:solidFill>
                <a:latin typeface="Calibri"/>
              </a:rPr>
              <a:t>▸  Tugun kasbiy ko‘nikmani ko‘rsatishi mumkin; sirtmoq tugunga qarama-qarshi tomondan kesib olinadi.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291455"/>
                <a:gridCol w="2996519"/>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Tipik (to‘liq) osilish</a:t>
                      </a:r>
                    </a:p>
                  </a:txBody>
                  <a:tcPr marL="73152" marR="73152" marT="36576" marB="36576">
                    <a:solidFill>
                      <a:srgbClr val="E8EEF6"/>
                    </a:solidFill>
                  </a:tcPr>
                </a:tc>
                <a:tc>
                  <a:txBody>
                    <a:bodyPr/>
                    <a:lstStyle/>
                    <a:p>
                      <a:r>
                        <a:rPr sz="1300" b="0">
                          <a:solidFill>
                            <a:srgbClr val="1F2937"/>
                          </a:solidFill>
                        </a:rPr>
                        <a:t>Tana sirtmoqda erkin osilib turadi</a:t>
                      </a:r>
                    </a:p>
                  </a:txBody>
                  <a:tcPr marL="73152" marR="73152" marT="36576" marB="36576">
                    <a:solidFill>
                      <a:srgbClr val="E8EEF6"/>
                    </a:solidFill>
                  </a:tcPr>
                </a:tc>
              </a:tr>
              <a:tr h="411480">
                <a:tc>
                  <a:txBody>
                    <a:bodyPr/>
                    <a:lstStyle/>
                    <a:p>
                      <a:r>
                        <a:rPr sz="1300" b="0">
                          <a:solidFill>
                            <a:srgbClr val="1F2937"/>
                          </a:solidFill>
                        </a:rPr>
                        <a:t>Notipik (noto‘liq) osilish</a:t>
                      </a:r>
                    </a:p>
                  </a:txBody>
                  <a:tcPr marL="73152" marR="73152" marT="36576" marB="36576">
                    <a:solidFill>
                      <a:srgbClr val="FFFFFF"/>
                    </a:solidFill>
                  </a:tcPr>
                </a:tc>
                <a:tc>
                  <a:txBody>
                    <a:bodyPr/>
                    <a:lstStyle/>
                    <a:p>
                      <a:r>
                        <a:rPr sz="1300" b="0">
                          <a:solidFill>
                            <a:srgbClr val="1F2937"/>
                          </a:solidFill>
                        </a:rPr>
                        <a:t>Tananing bir qismi tayanchga ega</a:t>
                      </a:r>
                    </a:p>
                  </a:txBody>
                  <a:tcPr marL="73152" marR="73152" marT="36576" marB="36576">
                    <a:solidFill>
                      <a:srgbClr val="FFFFFF"/>
                    </a:solidFill>
                  </a:tcPr>
                </a:tc>
              </a:tr>
              <a:tr h="411480">
                <a:tc>
                  <a:txBody>
                    <a:bodyPr/>
                    <a:lstStyle/>
                    <a:p>
                      <a:r>
                        <a:rPr sz="1300" b="0">
                          <a:solidFill>
                            <a:srgbClr val="1F2937"/>
                          </a:solidFill>
                        </a:rPr>
                        <a:t>Tipik tugun</a:t>
                      </a:r>
                    </a:p>
                  </a:txBody>
                  <a:tcPr marL="73152" marR="73152" marT="36576" marB="36576">
                    <a:solidFill>
                      <a:srgbClr val="E8EEF6"/>
                    </a:solidFill>
                  </a:tcPr>
                </a:tc>
                <a:tc>
                  <a:txBody>
                    <a:bodyPr/>
                    <a:lstStyle/>
                    <a:p>
                      <a:r>
                        <a:rPr sz="1300" b="0">
                          <a:solidFill>
                            <a:srgbClr val="1F2937"/>
                          </a:solidFill>
                        </a:rPr>
                        <a:t>Bo‘yinning orqa sohasida</a:t>
                      </a:r>
                    </a:p>
                  </a:txBody>
                  <a:tcPr marL="73152" marR="73152" marT="36576" marB="36576">
                    <a:solidFill>
                      <a:srgbClr val="E8EEF6"/>
                    </a:solidFill>
                  </a:tcPr>
                </a:tc>
              </a:tr>
              <a:tr h="411480">
                <a:tc>
                  <a:txBody>
                    <a:bodyPr/>
                    <a:lstStyle/>
                    <a:p>
                      <a:r>
                        <a:rPr sz="1300" b="0">
                          <a:solidFill>
                            <a:srgbClr val="1F2937"/>
                          </a:solidFill>
                        </a:rPr>
                        <a:t>Atipik tugun</a:t>
                      </a:r>
                    </a:p>
                  </a:txBody>
                  <a:tcPr marL="73152" marR="73152" marT="36576" marB="36576">
                    <a:solidFill>
                      <a:srgbClr val="FFFFFF"/>
                    </a:solidFill>
                  </a:tcPr>
                </a:tc>
                <a:tc>
                  <a:txBody>
                    <a:bodyPr/>
                    <a:lstStyle/>
                    <a:p>
                      <a:r>
                        <a:rPr sz="1300" b="0">
                          <a:solidFill>
                            <a:srgbClr val="1F2937"/>
                          </a:solidFill>
                        </a:rPr>
                        <a:t>Bo‘yinning old yoki yon sohasida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Osilish turi va tugun joyi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Osilishda o‘lim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Til asosi siljib, havo yo‘li torayadi; to‘liq yopilish faqat ayrim holatlarda bo‘ladi.</a:t>
            </a:r>
          </a:p>
          <a:p>
            <a:pPr>
              <a:spcAft>
                <a:spcPts val="800"/>
              </a:spcAft>
            </a:pPr>
            <a:r>
              <a:rPr sz="1800">
                <a:solidFill>
                  <a:srgbClr val="1F2937"/>
                </a:solidFill>
                <a:latin typeface="Calibri"/>
              </a:rPr>
              <a:t>▸  Venalar qisilib qon oqishi qiyinlashadi; kalla ichi bosimi oshib, miya faoliyati buziladi.</a:t>
            </a:r>
          </a:p>
          <a:p>
            <a:pPr>
              <a:spcAft>
                <a:spcPts val="800"/>
              </a:spcAft>
            </a:pPr>
            <a:r>
              <a:rPr sz="1800">
                <a:solidFill>
                  <a:srgbClr val="1F2937"/>
                </a:solidFill>
                <a:latin typeface="Calibri"/>
              </a:rPr>
              <a:t>▸  Adashgan nerv ta’sirlansa yurak reflektor to‘xtashi mumkin; yurak kasalida xavf yuqori.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Sirtmoq bo‘yinni qisadi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Havo yo‘li torayadi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Venalar qisilib, bosim oshadi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Nerv qisilib, yurak to‘xtaydi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Orqa miya/disk yorilishi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O‘limga olib keluvchi omillar</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Strangulyatsion egat tavsifi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Egat shilinma ko‘rinishida; joyi, yo‘nalishi, kengligi, chuqurligi sirtmoq bilan taqqoslanadi.</a:t>
            </a:r>
          </a:p>
          <a:p>
            <a:pPr>
              <a:spcAft>
                <a:spcPts val="800"/>
              </a:spcAft>
            </a:pPr>
            <a:r>
              <a:rPr sz="1800">
                <a:solidFill>
                  <a:srgbClr val="1F2937"/>
                </a:solidFill>
                <a:latin typeface="Calibri"/>
              </a:rPr>
              <a:t>▸  Tipik osilishda egat yuqorida, til osti suyagidan baland, qiyshiq-vertikal bo‘ladi.</a:t>
            </a:r>
          </a:p>
          <a:p>
            <a:pPr>
              <a:spcAft>
                <a:spcPts val="800"/>
              </a:spcAft>
            </a:pPr>
            <a:r>
              <a:rPr sz="1800">
                <a:solidFill>
                  <a:srgbClr val="1F2937"/>
                </a:solidFill>
                <a:latin typeface="Calibri"/>
              </a:rPr>
              <a:t>▸  Atipik osilishda egat pastroq bo‘lishi mumkin, vertikalligi kamayadi.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244229"/>
                <a:gridCol w="1555286"/>
                <a:gridCol w="2488458"/>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Qattiq</a:t>
                      </a:r>
                    </a:p>
                  </a:txBody>
                  <a:tcPr marL="73152" marR="73152" marT="36576" marB="36576">
                    <a:solidFill>
                      <a:srgbClr val="0B1F3A"/>
                    </a:solidFill>
                  </a:tcPr>
                </a:tc>
                <a:tc>
                  <a:txBody>
                    <a:bodyPr/>
                    <a:lstStyle/>
                    <a:p>
                      <a:r>
                        <a:rPr sz="1300" b="1">
                          <a:solidFill>
                            <a:srgbClr val="FFFFFF"/>
                          </a:solidFill>
                        </a:rPr>
                        <a:t>Yumshoq</a:t>
                      </a:r>
                    </a:p>
                  </a:txBody>
                  <a:tcPr marL="73152" marR="73152" marT="36576" marB="36576">
                    <a:solidFill>
                      <a:srgbClr val="0B1F3A"/>
                    </a:solidFill>
                  </a:tcPr>
                </a:tc>
              </a:tr>
              <a:tr h="411480">
                <a:tc>
                  <a:txBody>
                    <a:bodyPr/>
                    <a:lstStyle/>
                    <a:p>
                      <a:r>
                        <a:rPr sz="1200" b="0">
                          <a:solidFill>
                            <a:srgbClr val="1F2937"/>
                          </a:solidFill>
                        </a:rPr>
                        <a:t>Terida egat</a:t>
                      </a:r>
                    </a:p>
                  </a:txBody>
                  <a:tcPr marL="73152" marR="73152" marT="36576" marB="36576">
                    <a:solidFill>
                      <a:srgbClr val="E8EEF6"/>
                    </a:solidFill>
                  </a:tcPr>
                </a:tc>
                <a:tc>
                  <a:txBody>
                    <a:bodyPr/>
                    <a:lstStyle/>
                    <a:p>
                      <a:r>
                        <a:rPr sz="1200" b="0">
                          <a:solidFill>
                            <a:srgbClr val="1F2937"/>
                          </a:solidFill>
                        </a:rPr>
                        <a:t>Zich, chuqur</a:t>
                      </a:r>
                    </a:p>
                  </a:txBody>
                  <a:tcPr marL="73152" marR="73152" marT="36576" marB="36576">
                    <a:solidFill>
                      <a:srgbClr val="E8EEF6"/>
                    </a:solidFill>
                  </a:tcPr>
                </a:tc>
                <a:tc>
                  <a:txBody>
                    <a:bodyPr/>
                    <a:lstStyle/>
                    <a:p>
                      <a:r>
                        <a:rPr sz="1200" b="0">
                          <a:solidFill>
                            <a:srgbClr val="1F2937"/>
                          </a:solidFill>
                        </a:rPr>
                        <a:t>Yaqqol ko‘rinmaydi</a:t>
                      </a:r>
                    </a:p>
                  </a:txBody>
                  <a:tcPr marL="73152" marR="73152" marT="36576" marB="36576">
                    <a:solidFill>
                      <a:srgbClr val="E8EEF6"/>
                    </a:solidFill>
                  </a:tcPr>
                </a:tc>
              </a:tr>
              <a:tr h="411480">
                <a:tc>
                  <a:txBody>
                    <a:bodyPr/>
                    <a:lstStyle/>
                    <a:p>
                      <a:r>
                        <a:rPr sz="1200" b="0">
                          <a:solidFill>
                            <a:srgbClr val="1F2937"/>
                          </a:solidFill>
                        </a:rPr>
                        <a:t>Tugun qarshisida</a:t>
                      </a:r>
                    </a:p>
                  </a:txBody>
                  <a:tcPr marL="73152" marR="73152" marT="36576" marB="36576">
                    <a:solidFill>
                      <a:srgbClr val="FFFFFF"/>
                    </a:solidFill>
                  </a:tcPr>
                </a:tc>
                <a:tc>
                  <a:txBody>
                    <a:bodyPr/>
                    <a:lstStyle/>
                    <a:p>
                      <a:r>
                        <a:rPr sz="1200" b="0">
                          <a:solidFill>
                            <a:srgbClr val="1F2937"/>
                          </a:solidFill>
                        </a:rPr>
                        <a:t>Yaqqolroq, chuqurroq</a:t>
                      </a:r>
                    </a:p>
                  </a:txBody>
                  <a:tcPr marL="73152" marR="73152" marT="36576" marB="36576">
                    <a:solidFill>
                      <a:srgbClr val="FFFFFF"/>
                    </a:solidFill>
                  </a:tcPr>
                </a:tc>
                <a:tc>
                  <a:txBody>
                    <a:bodyPr/>
                    <a:lstStyle/>
                    <a:p>
                      <a:r>
                        <a:rPr sz="1200" b="0">
                          <a:solidFill>
                            <a:srgbClr val="1F2937"/>
                          </a:solidFill>
                        </a:rPr>
                        <a:t>—</a:t>
                      </a:r>
                    </a:p>
                  </a:txBody>
                  <a:tcPr marL="73152" marR="73152" marT="36576" marB="36576">
                    <a:solidFill>
                      <a:srgbClr val="FFFFFF"/>
                    </a:solidFill>
                  </a:tcPr>
                </a:tc>
              </a:tr>
              <a:tr h="411480">
                <a:tc>
                  <a:txBody>
                    <a:bodyPr/>
                    <a:lstStyle/>
                    <a:p>
                      <a:r>
                        <a:rPr sz="1200" b="0">
                          <a:solidFill>
                            <a:srgbClr val="1F2937"/>
                          </a:solidFill>
                        </a:rPr>
                        <a:t>Ichki tekshiruv</a:t>
                      </a:r>
                    </a:p>
                  </a:txBody>
                  <a:tcPr marL="73152" marR="73152" marT="36576" marB="36576">
                    <a:solidFill>
                      <a:srgbClr val="E8EEF6"/>
                    </a:solidFill>
                  </a:tcPr>
                </a:tc>
                <a:tc>
                  <a:txBody>
                    <a:bodyPr/>
                    <a:lstStyle/>
                    <a:p>
                      <a:r>
                        <a:rPr sz="1200" b="0">
                          <a:solidFill>
                            <a:srgbClr val="1F2937"/>
                          </a:solidFill>
                        </a:rPr>
                        <a:t>—</a:t>
                      </a:r>
                    </a:p>
                  </a:txBody>
                  <a:tcPr marL="73152" marR="73152" marT="36576" marB="36576">
                    <a:solidFill>
                      <a:srgbClr val="E8EEF6"/>
                    </a:solidFill>
                  </a:tcPr>
                </a:tc>
                <a:tc>
                  <a:txBody>
                    <a:bodyPr/>
                    <a:lstStyle/>
                    <a:p>
                      <a:r>
                        <a:rPr sz="1200" b="0">
                          <a:solidFill>
                            <a:srgbClr val="1F2937"/>
                          </a:solidFill>
                        </a:rPr>
                        <a:t>Oqimtir yo‘lka (mis sim belgisi)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Qattiq va yumshoq sirtmoq egati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114, 114-115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Bo‘yin ichki belgilari va egat hayotiyligi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Kasper — yumshoq to‘qimada oqimtir yo‘lka; Brouardel — halqum orti qon quyilishi.</a:t>
            </a:r>
          </a:p>
          <a:p>
            <a:pPr>
              <a:spcAft>
                <a:spcPts val="800"/>
              </a:spcAft>
            </a:pPr>
            <a:r>
              <a:rPr sz="1800">
                <a:solidFill>
                  <a:srgbClr val="1F2937"/>
                </a:solidFill>
                <a:latin typeface="Calibri"/>
              </a:rPr>
              <a:t>▸  Cho‘zilish belgilari asosan semiz odamlarda, tipik siltab osilishda kuzatiladi.</a:t>
            </a:r>
          </a:p>
          <a:p>
            <a:pPr>
              <a:spcAft>
                <a:spcPts val="800"/>
              </a:spcAft>
            </a:pPr>
            <a:r>
              <a:rPr sz="1800">
                <a:solidFill>
                  <a:srgbClr val="1F2937"/>
                </a:solidFill>
                <a:latin typeface="Calibri"/>
              </a:rPr>
              <a:t>▸  Egat hayotiyligi: Bokarius sinamasi (teri laxtagi), mikroskopda Neyding va Kasyanov belgilari.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94063"/>
                <a:gridCol w="1762658"/>
                <a:gridCol w="2431252"/>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Topilma</a:t>
                      </a:r>
                    </a:p>
                  </a:txBody>
                  <a:tcPr marL="73152" marR="73152" marT="36576" marB="36576">
                    <a:solidFill>
                      <a:srgbClr val="0B1F3A"/>
                    </a:solidFill>
                  </a:tcPr>
                </a:tc>
              </a:tr>
              <a:tr h="411480">
                <a:tc>
                  <a:txBody>
                    <a:bodyPr/>
                    <a:lstStyle/>
                    <a:p>
                      <a:r>
                        <a:rPr sz="1200" b="0">
                          <a:solidFill>
                            <a:srgbClr val="1F2937"/>
                          </a:solidFill>
                        </a:rPr>
                        <a:t>Qisilish izi</a:t>
                      </a:r>
                    </a:p>
                  </a:txBody>
                  <a:tcPr marL="73152" marR="73152" marT="36576" marB="36576">
                    <a:solidFill>
                      <a:srgbClr val="E8EEF6"/>
                    </a:solidFill>
                  </a:tcPr>
                </a:tc>
                <a:tc>
                  <a:txBody>
                    <a:bodyPr/>
                    <a:lstStyle/>
                    <a:p>
                      <a:r>
                        <a:rPr sz="1200" b="0">
                          <a:solidFill>
                            <a:srgbClr val="1F2937"/>
                          </a:solidFill>
                        </a:rPr>
                        <a:t>Kasper; Brouardel</a:t>
                      </a:r>
                    </a:p>
                  </a:txBody>
                  <a:tcPr marL="73152" marR="73152" marT="36576" marB="36576">
                    <a:solidFill>
                      <a:srgbClr val="E8EEF6"/>
                    </a:solidFill>
                  </a:tcPr>
                </a:tc>
                <a:tc>
                  <a:txBody>
                    <a:bodyPr/>
                    <a:lstStyle/>
                    <a:p>
                      <a:r>
                        <a:rPr sz="1200" b="0">
                          <a:solidFill>
                            <a:srgbClr val="1F2937"/>
                          </a:solidFill>
                        </a:rPr>
                        <a:t>Mis sim izi; halqum orti qon quyilishi</a:t>
                      </a:r>
                    </a:p>
                  </a:txBody>
                  <a:tcPr marL="73152" marR="73152" marT="36576" marB="36576">
                    <a:solidFill>
                      <a:srgbClr val="E8EEF6"/>
                    </a:solidFill>
                  </a:tcPr>
                </a:tc>
              </a:tr>
              <a:tr h="411480">
                <a:tc>
                  <a:txBody>
                    <a:bodyPr/>
                    <a:lstStyle/>
                    <a:p>
                      <a:r>
                        <a:rPr sz="1200" b="0">
                          <a:solidFill>
                            <a:srgbClr val="1F2937"/>
                          </a:solidFill>
                        </a:rPr>
                        <a:t>Cho‘zilish izi</a:t>
                      </a:r>
                    </a:p>
                  </a:txBody>
                  <a:tcPr marL="73152" marR="73152" marT="36576" marB="36576">
                    <a:solidFill>
                      <a:srgbClr val="FFFFFF"/>
                    </a:solidFill>
                  </a:tcPr>
                </a:tc>
                <a:tc>
                  <a:txBody>
                    <a:bodyPr/>
                    <a:lstStyle/>
                    <a:p>
                      <a:r>
                        <a:rPr sz="1200" b="0">
                          <a:solidFill>
                            <a:srgbClr val="1F2937"/>
                          </a:solidFill>
                        </a:rPr>
                        <a:t>Amyuss, Martin, Valxer, Simon</a:t>
                      </a:r>
                    </a:p>
                  </a:txBody>
                  <a:tcPr marL="73152" marR="73152" marT="36576" marB="36576">
                    <a:solidFill>
                      <a:srgbClr val="FFFFFF"/>
                    </a:solidFill>
                  </a:tcPr>
                </a:tc>
                <a:tc>
                  <a:txBody>
                    <a:bodyPr/>
                    <a:lstStyle/>
                    <a:p>
                      <a:r>
                        <a:rPr sz="1200" b="0">
                          <a:solidFill>
                            <a:srgbClr val="1F2937"/>
                          </a:solidFill>
                        </a:rPr>
                        <a:t>Arteriya, mushak, disk shikasti</a:t>
                      </a:r>
                    </a:p>
                  </a:txBody>
                  <a:tcPr marL="73152" marR="73152" marT="36576" marB="36576">
                    <a:solidFill>
                      <a:srgbClr val="FFFFFF"/>
                    </a:solidFill>
                  </a:tcPr>
                </a:tc>
              </a:tr>
              <a:tr h="411480">
                <a:tc>
                  <a:txBody>
                    <a:bodyPr/>
                    <a:lstStyle/>
                    <a:p>
                      <a:r>
                        <a:rPr sz="1200" b="0">
                          <a:solidFill>
                            <a:srgbClr val="1F2937"/>
                          </a:solidFill>
                        </a:rPr>
                        <a:t>Hayotiylik (makro)</a:t>
                      </a:r>
                    </a:p>
                  </a:txBody>
                  <a:tcPr marL="73152" marR="73152" marT="36576" marB="36576">
                    <a:solidFill>
                      <a:srgbClr val="E8EEF6"/>
                    </a:solidFill>
                  </a:tcPr>
                </a:tc>
                <a:tc>
                  <a:txBody>
                    <a:bodyPr/>
                    <a:lstStyle/>
                    <a:p>
                      <a:r>
                        <a:rPr sz="1200" b="0">
                          <a:solidFill>
                            <a:srgbClr val="1F2937"/>
                          </a:solidFill>
                        </a:rPr>
                        <a:t>Bokarius</a:t>
                      </a:r>
                    </a:p>
                  </a:txBody>
                  <a:tcPr marL="73152" marR="73152" marT="36576" marB="36576">
                    <a:solidFill>
                      <a:srgbClr val="E8EEF6"/>
                    </a:solidFill>
                  </a:tcPr>
                </a:tc>
                <a:tc>
                  <a:txBody>
                    <a:bodyPr/>
                    <a:lstStyle/>
                    <a:p>
                      <a:r>
                        <a:rPr sz="1200" b="0">
                          <a:solidFill>
                            <a:srgbClr val="1F2937"/>
                          </a:solidFill>
                        </a:rPr>
                        <a:t>Egat burmachasida to‘laqonlik, qon quyilish</a:t>
                      </a:r>
                    </a:p>
                  </a:txBody>
                  <a:tcPr marL="73152" marR="73152" marT="36576" marB="36576">
                    <a:solidFill>
                      <a:srgbClr val="E8EEF6"/>
                    </a:solidFill>
                  </a:tcPr>
                </a:tc>
              </a:tr>
              <a:tr h="411480">
                <a:tc>
                  <a:txBody>
                    <a:bodyPr/>
                    <a:lstStyle/>
                    <a:p>
                      <a:r>
                        <a:rPr sz="1200" b="0">
                          <a:solidFill>
                            <a:srgbClr val="1F2937"/>
                          </a:solidFill>
                        </a:rPr>
                        <a:t>Hayotiylik (mikro)</a:t>
                      </a:r>
                    </a:p>
                  </a:txBody>
                  <a:tcPr marL="73152" marR="73152" marT="36576" marB="36576">
                    <a:solidFill>
                      <a:srgbClr val="FFFFFF"/>
                    </a:solidFill>
                  </a:tcPr>
                </a:tc>
                <a:tc>
                  <a:txBody>
                    <a:bodyPr/>
                    <a:lstStyle/>
                    <a:p>
                      <a:r>
                        <a:rPr sz="1200" b="0">
                          <a:solidFill>
                            <a:srgbClr val="1F2937"/>
                          </a:solidFill>
                        </a:rPr>
                        <a:t>Neyding, Kasyanov</a:t>
                      </a:r>
                    </a:p>
                  </a:txBody>
                  <a:tcPr marL="73152" marR="73152" marT="36576" marB="36576">
                    <a:solidFill>
                      <a:srgbClr val="FFFFFF"/>
                    </a:solidFill>
                  </a:tcPr>
                </a:tc>
                <a:tc>
                  <a:txBody>
                    <a:bodyPr/>
                    <a:lstStyle/>
                    <a:p>
                      <a:r>
                        <a:rPr sz="1200" b="0">
                          <a:solidFill>
                            <a:srgbClr val="1F2937"/>
                          </a:solidFill>
                        </a:rPr>
                        <a:t>Qon aylanishi buzilishi; reaktiv belgi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Ichki va hayotiylik belgilari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115-116, 116, 116-117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Sirtmoq bilan bo‘g‘ish va qo‘l bilan bo‘g‘ish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Sirtmoq bilan bo‘g‘ishda sirtmoq tana og‘irligi bilan emas, o‘zga kuch bilan qisiladi. Bu ko‘pincha qotillikda uchraydi.</a:t>
            </a:r>
          </a:p>
          <a:p>
            <a:pPr>
              <a:spcAft>
                <a:spcPts val="800"/>
              </a:spcAft>
            </a:pPr>
            <a:r>
              <a:rPr sz="1800">
                <a:solidFill>
                  <a:srgbClr val="1F2937"/>
                </a:solidFill>
                <a:latin typeface="Calibri"/>
              </a:rPr>
              <a:t>▸  Egat odatda qalqonsimon tog‘ay sathida yoki undan pastroqda, gorizontal joylashadi.</a:t>
            </a:r>
          </a:p>
          <a:p>
            <a:pPr>
              <a:spcAft>
                <a:spcPts val="800"/>
              </a:spcAft>
            </a:pPr>
            <a:r>
              <a:rPr sz="1800">
                <a:solidFill>
                  <a:srgbClr val="1F2937"/>
                </a:solidFill>
                <a:latin typeface="Calibri"/>
              </a:rPr>
              <a:t>▸  Qo‘l bilan bo‘g‘ish odatda qotillik alomati. Yurakning reflektor to‘xtashi bunda ko‘proq kuzatiladi.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19647"/>
                <a:gridCol w="2299119"/>
                <a:gridCol w="2069207"/>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Sirtmoq</a:t>
                      </a:r>
                    </a:p>
                  </a:txBody>
                  <a:tcPr marL="73152" marR="73152" marT="36576" marB="36576">
                    <a:solidFill>
                      <a:srgbClr val="0B1F3A"/>
                    </a:solidFill>
                  </a:tcPr>
                </a:tc>
                <a:tc>
                  <a:txBody>
                    <a:bodyPr/>
                    <a:lstStyle/>
                    <a:p>
                      <a:r>
                        <a:rPr sz="1300" b="1">
                          <a:solidFill>
                            <a:srgbClr val="FFFFFF"/>
                          </a:solidFill>
                        </a:rPr>
                        <a:t>Qo‘l bilan</a:t>
                      </a:r>
                    </a:p>
                  </a:txBody>
                  <a:tcPr marL="73152" marR="73152" marT="36576" marB="36576">
                    <a:solidFill>
                      <a:srgbClr val="0B1F3A"/>
                    </a:solidFill>
                  </a:tcPr>
                </a:tc>
              </a:tr>
              <a:tr h="411480">
                <a:tc>
                  <a:txBody>
                    <a:bodyPr/>
                    <a:lstStyle/>
                    <a:p>
                      <a:r>
                        <a:rPr sz="1200" b="0">
                          <a:solidFill>
                            <a:srgbClr val="1F2937"/>
                          </a:solidFill>
                        </a:rPr>
                        <a:t>Bo‘yindagi iz</a:t>
                      </a:r>
                    </a:p>
                  </a:txBody>
                  <a:tcPr marL="73152" marR="73152" marT="36576" marB="36576">
                    <a:solidFill>
                      <a:srgbClr val="E8EEF6"/>
                    </a:solidFill>
                  </a:tcPr>
                </a:tc>
                <a:tc>
                  <a:txBody>
                    <a:bodyPr/>
                    <a:lstStyle/>
                    <a:p>
                      <a:r>
                        <a:rPr sz="1200" b="0">
                          <a:solidFill>
                            <a:srgbClr val="1F2937"/>
                          </a:solidFill>
                        </a:rPr>
                        <a:t>Gorizontal, ko‘pincha tutashgan egat</a:t>
                      </a:r>
                    </a:p>
                  </a:txBody>
                  <a:tcPr marL="73152" marR="73152" marT="36576" marB="36576">
                    <a:solidFill>
                      <a:srgbClr val="E8EEF6"/>
                    </a:solidFill>
                  </a:tcPr>
                </a:tc>
                <a:tc>
                  <a:txBody>
                    <a:bodyPr/>
                    <a:lstStyle/>
                    <a:p>
                      <a:r>
                        <a:rPr sz="1200" b="0">
                          <a:solidFill>
                            <a:srgbClr val="1F2937"/>
                          </a:solidFill>
                        </a:rPr>
                        <a:t>Egat emas, barmoq izlari</a:t>
                      </a:r>
                    </a:p>
                  </a:txBody>
                  <a:tcPr marL="73152" marR="73152" marT="36576" marB="36576">
                    <a:solidFill>
                      <a:srgbClr val="E8EEF6"/>
                    </a:solidFill>
                  </a:tcPr>
                </a:tc>
              </a:tr>
              <a:tr h="411480">
                <a:tc>
                  <a:txBody>
                    <a:bodyPr/>
                    <a:lstStyle/>
                    <a:p>
                      <a:r>
                        <a:rPr sz="1200" b="0">
                          <a:solidFill>
                            <a:srgbClr val="1F2937"/>
                          </a:solidFill>
                        </a:rPr>
                        <a:t>Tashqi jarohat</a:t>
                      </a:r>
                    </a:p>
                  </a:txBody>
                  <a:tcPr marL="73152" marR="73152" marT="36576" marB="36576">
                    <a:solidFill>
                      <a:srgbClr val="FFFFFF"/>
                    </a:solidFill>
                  </a:tcPr>
                </a:tc>
                <a:tc>
                  <a:txBody>
                    <a:bodyPr/>
                    <a:lstStyle/>
                    <a:p>
                      <a:r>
                        <a:rPr sz="1200" b="0">
                          <a:solidFill>
                            <a:srgbClr val="1F2937"/>
                          </a:solidFill>
                        </a:rPr>
                        <a:t>Egat, kurash izlari bo‘lishi mumkin</a:t>
                      </a:r>
                    </a:p>
                  </a:txBody>
                  <a:tcPr marL="73152" marR="73152" marT="36576" marB="36576">
                    <a:solidFill>
                      <a:srgbClr val="FFFFFF"/>
                    </a:solidFill>
                  </a:tcPr>
                </a:tc>
                <a:tc>
                  <a:txBody>
                    <a:bodyPr/>
                    <a:lstStyle/>
                    <a:p>
                      <a:r>
                        <a:rPr sz="1200" b="0">
                          <a:solidFill>
                            <a:srgbClr val="1F2937"/>
                          </a:solidFill>
                        </a:rPr>
                        <a:t>Dumaloq qontalash, tirnoq shilinmasi</a:t>
                      </a:r>
                    </a:p>
                  </a:txBody>
                  <a:tcPr marL="73152" marR="73152" marT="36576" marB="36576">
                    <a:solidFill>
                      <a:srgbClr val="FFFFFF"/>
                    </a:solidFill>
                  </a:tcPr>
                </a:tc>
              </a:tr>
              <a:tr h="411480">
                <a:tc>
                  <a:txBody>
                    <a:bodyPr/>
                    <a:lstStyle/>
                    <a:p>
                      <a:r>
                        <a:rPr sz="1200" b="0">
                          <a:solidFill>
                            <a:srgbClr val="1F2937"/>
                          </a:solidFill>
                        </a:rPr>
                        <a:t>Til osti suyagi</a:t>
                      </a:r>
                    </a:p>
                  </a:txBody>
                  <a:tcPr marL="73152" marR="73152" marT="36576" marB="36576">
                    <a:solidFill>
                      <a:srgbClr val="E8EEF6"/>
                    </a:solidFill>
                  </a:tcPr>
                </a:tc>
                <a:tc>
                  <a:txBody>
                    <a:bodyPr/>
                    <a:lstStyle/>
                    <a:p>
                      <a:r>
                        <a:rPr sz="1200" b="0">
                          <a:solidFill>
                            <a:srgbClr val="1F2937"/>
                          </a:solidFill>
                        </a:rPr>
                        <a:t>Shikastlanishi xos emas</a:t>
                      </a:r>
                    </a:p>
                  </a:txBody>
                  <a:tcPr marL="73152" marR="73152" marT="36576" marB="36576">
                    <a:solidFill>
                      <a:srgbClr val="E8EEF6"/>
                    </a:solidFill>
                  </a:tcPr>
                </a:tc>
                <a:tc>
                  <a:txBody>
                    <a:bodyPr/>
                    <a:lstStyle/>
                    <a:p>
                      <a:r>
                        <a:rPr sz="1200" b="0">
                          <a:solidFill>
                            <a:srgbClr val="1F2937"/>
                          </a:solidFill>
                        </a:rPr>
                        <a:t>Shoxchalari sinishi mumkin</a:t>
                      </a:r>
                    </a:p>
                  </a:txBody>
                  <a:tcPr marL="73152" marR="73152" marT="36576" marB="36576">
                    <a:solidFill>
                      <a:srgbClr val="E8EEF6"/>
                    </a:solidFill>
                  </a:tcPr>
                </a:tc>
              </a:tr>
              <a:tr h="411480">
                <a:tc>
                  <a:txBody>
                    <a:bodyPr/>
                    <a:lstStyle/>
                    <a:p>
                      <a:r>
                        <a:rPr sz="1200" b="0">
                          <a:solidFill>
                            <a:srgbClr val="1F2937"/>
                          </a:solidFill>
                        </a:rPr>
                        <a:t>Ichki jarohat</a:t>
                      </a:r>
                    </a:p>
                  </a:txBody>
                  <a:tcPr marL="73152" marR="73152" marT="36576" marB="36576">
                    <a:solidFill>
                      <a:srgbClr val="FFFFFF"/>
                    </a:solidFill>
                  </a:tcPr>
                </a:tc>
                <a:tc>
                  <a:txBody>
                    <a:bodyPr/>
                    <a:lstStyle/>
                    <a:p>
                      <a:r>
                        <a:rPr sz="1200" b="0">
                          <a:solidFill>
                            <a:srgbClr val="1F2937"/>
                          </a:solidFill>
                        </a:rPr>
                        <a:t>Qalqonsimon tog‘ay shoxlari sinishi mumkin</a:t>
                      </a:r>
                    </a:p>
                  </a:txBody>
                  <a:tcPr marL="73152" marR="73152" marT="36576" marB="36576">
                    <a:solidFill>
                      <a:srgbClr val="FFFFFF"/>
                    </a:solidFill>
                  </a:tcPr>
                </a:tc>
                <a:tc>
                  <a:txBody>
                    <a:bodyPr/>
                    <a:lstStyle/>
                    <a:p>
                      <a:r>
                        <a:rPr sz="1200" b="0">
                          <a:solidFill>
                            <a:srgbClr val="1F2937"/>
                          </a:solidFill>
                        </a:rPr>
                        <a:t>Tashqidan yaqqolroq, ko‘lamliroq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Sirtmoq va qo‘l bilan bo‘g‘ish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117, 118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O‘tmas jism bilan bo‘g‘ish va pozitsion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O‘tmas jism (tayoq, stul suyanchig‘i) bilan bo‘g‘ishda jarohatlar ta’sir yuzasining proyeksiyasida joylashadi: qontalash, shilinma va ichki qon quyilishlar.</a:t>
            </a:r>
          </a:p>
          <a:p>
            <a:pPr>
              <a:spcAft>
                <a:spcPts val="1200"/>
              </a:spcAft>
            </a:pPr>
            <a:r>
              <a:rPr sz="2000">
                <a:solidFill>
                  <a:srgbClr val="1F2937"/>
                </a:solidFill>
                <a:latin typeface="Calibri"/>
              </a:rPr>
              <a:t>▸  Til osti suyagi va qalqonsimon tog‘ay ham shikastlanishi mumkin. Jarohat xususiyati jism va ta’sir kuchiga bog‘liq.</a:t>
            </a:r>
          </a:p>
          <a:p>
            <a:pPr>
              <a:spcAft>
                <a:spcPts val="1200"/>
              </a:spcAft>
            </a:pPr>
            <a:r>
              <a:rPr sz="2000">
                <a:solidFill>
                  <a:srgbClr val="1F2937"/>
                </a:solidFill>
                <a:latin typeface="Calibri"/>
              </a:rPr>
              <a:t>▸  Pozitsion asfiksiyada bosh uzoq vaqt oldinga yoki yonga bukilib qoladi, odatda hushsiz shaxs cheklangan bo‘shliqqa tushganda. Bo‘yinda strangulyatsion egat bo‘lmaydi.</a:t>
            </a:r>
          </a:p>
          <a:p>
            <a:pPr>
              <a:spcAft>
                <a:spcPts val="1200"/>
              </a:spcAft>
            </a:pPr>
            <a:r>
              <a:rPr sz="2000">
                <a:solidFill>
                  <a:srgbClr val="1F2937"/>
                </a:solidFill>
                <a:latin typeface="Calibri"/>
              </a:rPr>
              <a:t>▸  Bukilish burmasi egatga o‘xshashi mumkin: ichki tekshiruvda oqimtir yo‘lka va qon quyilishlar topiladi. Tashxis boshqa o‘lim sabablarini istisno qilish bilan qo‘yiladi.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va tezkor savol: strangulyatsiya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murda bo‘ynida qalqonsimon tog‘ay sathida gorizontal, tutashgan egat bor. Tog‘ay shoxchasi singan, tanada kurash izlari ham bor.</a:t>
            </a:r>
          </a:p>
          <a:p>
            <a:pPr>
              <a:spcAft>
                <a:spcPts val="1200"/>
              </a:spcAft>
            </a:pPr>
            <a:r>
              <a:rPr sz="2200">
                <a:solidFill>
                  <a:srgbClr val="1F2937"/>
                </a:solidFill>
                <a:latin typeface="Calibri"/>
              </a:rPr>
              <a:t>▸  Savol: bu osilishmi yoki sirtmoq bilan bo‘g‘ishmi? Egatning joyi va yo‘nalishi hamda cho‘zilish belgilariga e’tibor bering.</a:t>
            </a:r>
          </a:p>
          <a:p>
            <a:pPr>
              <a:spcAft>
                <a:spcPts val="1200"/>
              </a:spcAft>
            </a:pPr>
            <a:r>
              <a:rPr sz="2200">
                <a:solidFill>
                  <a:srgbClr val="1F2937"/>
                </a:solidFill>
                <a:latin typeface="Calibri"/>
              </a:rPr>
              <a:t>▸  Diqqat: xato qilish xavfi! Osilishda til osti suyagi va qalqonsimon tog‘ay shikasti xos emas; sirtmoq pastroq bo‘lsa uchrashi mumkin.</a:t>
            </a:r>
          </a:p>
          <a:p>
            <a:pPr>
              <a:spcAft>
                <a:spcPts val="1200"/>
              </a:spcAft>
            </a:pPr>
            <a:r>
              <a:rPr sz="2200">
                <a:solidFill>
                  <a:srgbClr val="1F2937"/>
                </a:solidFill>
                <a:latin typeface="Calibri"/>
              </a:rPr>
              <a:t>▸  Tezkor savol: Amyuss, Valxer, Simon belgilari qachon bo‘lmaydi? Javob: sirtmoq bilan bo‘g‘ishda, chunki bo‘yin cho‘zilmaydi.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117, 114-115, 117, 116, 116-117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Obturatsion asfiksiya: nafas teshiklari va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Nafas teshiklarining yopilishi qotillik (bola, holsiz katta yoshli) yoki baxtsiz hodisa (hushsiz shaxs) bo‘lishi mumkin. Qarshilik bo‘lmasa, xos belgi topilmaydi.</a:t>
            </a:r>
          </a:p>
          <a:p>
            <a:pPr>
              <a:spcAft>
                <a:spcPts val="1200"/>
              </a:spcAft>
            </a:pPr>
            <a:r>
              <a:rPr sz="2000">
                <a:solidFill>
                  <a:srgbClr val="1F2937"/>
                </a:solidFill>
                <a:latin typeface="Calibri"/>
              </a:rPr>
              <a:t>▸  Qarshilikda og‘iz-burun atrofida qontalash, shilinma, milk va og‘iz shilliq qavatida qon quyilish bo‘ladi. Yumshoq jism tolalari ham topilishi mumkin.</a:t>
            </a:r>
          </a:p>
          <a:p>
            <a:pPr>
              <a:spcAft>
                <a:spcPts val="1200"/>
              </a:spcAft>
            </a:pPr>
            <a:r>
              <a:rPr sz="2000">
                <a:solidFill>
                  <a:srgbClr val="1F2937"/>
                </a:solidFill>
                <a:latin typeface="Calibri"/>
              </a:rPr>
              <a:t>▸  Yo‘llar yot jism, sochiluvchan modda, qon, qusuq bilan yopiladi. O‘lim ko‘pincha o‘pkaga havo o‘tishining qiyinlashuvidan; reflektor spazm yoki yurak to‘xtashi ham mumkin.</a:t>
            </a:r>
          </a:p>
          <a:p>
            <a:pPr>
              <a:spcAft>
                <a:spcPts val="1200"/>
              </a:spcAft>
            </a:pPr>
            <a:r>
              <a:rPr sz="2000">
                <a:solidFill>
                  <a:srgbClr val="1F2937"/>
                </a:solidFill>
                <a:latin typeface="Calibri"/>
              </a:rPr>
              <a:t>▸  Diqqat: qusuq topilishi ≠ obturatsiyadan o‘lim. Reanimatsiya, tashish, chirishda ham tushadi, lekin oz miqdorda va kichik bronxlarda bo‘lmaydi.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119, 119-120, 120, 120-121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Cho‘kish: chin va asfiktik turlar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Chin cho‘kishda suv alveolalargacha yetadi; asfiktikda hiqildoq spazmi suvni traxeya va bronxlarga o‘tkazmaydi.</a:t>
            </a:r>
          </a:p>
          <a:p>
            <a:pPr>
              <a:spcAft>
                <a:spcPts val="800"/>
              </a:spcAft>
            </a:pPr>
            <a:r>
              <a:rPr sz="1800">
                <a:solidFill>
                  <a:srgbClr val="1F2937"/>
                </a:solidFill>
                <a:latin typeface="Calibri"/>
              </a:rPr>
              <a:t>▸  Dengiz suvida qon quyuqlashadi, Rasskazov-Lukomskiy-Paltauf dog‘lari hosil bo‘lmaydi.</a:t>
            </a:r>
          </a:p>
          <a:p>
            <a:pPr>
              <a:spcAft>
                <a:spcPts val="800"/>
              </a:spcAft>
            </a:pPr>
            <a:r>
              <a:rPr sz="1800">
                <a:solidFill>
                  <a:srgbClr val="1F2937"/>
                </a:solidFill>
                <a:latin typeface="Calibri"/>
              </a:rPr>
              <a:t>▸  Asfiktik turda kalla asosi bo‘shlig‘ida 5-15 ml suyuqlik topiladi (Sveshnikov belgisi).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175105"/>
                <a:gridCol w="2570543"/>
                <a:gridCol w="1542326"/>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Chin</a:t>
                      </a:r>
                    </a:p>
                  </a:txBody>
                  <a:tcPr marL="73152" marR="73152" marT="36576" marB="36576">
                    <a:solidFill>
                      <a:srgbClr val="0B1F3A"/>
                    </a:solidFill>
                  </a:tcPr>
                </a:tc>
                <a:tc>
                  <a:txBody>
                    <a:bodyPr/>
                    <a:lstStyle/>
                    <a:p>
                      <a:r>
                        <a:rPr sz="1300" b="1">
                          <a:solidFill>
                            <a:srgbClr val="FFFFFF"/>
                          </a:solidFill>
                        </a:rPr>
                        <a:t>Asfiktik</a:t>
                      </a:r>
                    </a:p>
                  </a:txBody>
                  <a:tcPr marL="73152" marR="73152" marT="36576" marB="36576">
                    <a:solidFill>
                      <a:srgbClr val="0B1F3A"/>
                    </a:solidFill>
                  </a:tcPr>
                </a:tc>
              </a:tr>
              <a:tr h="411480">
                <a:tc>
                  <a:txBody>
                    <a:bodyPr/>
                    <a:lstStyle/>
                    <a:p>
                      <a:r>
                        <a:rPr sz="1200" b="0">
                          <a:solidFill>
                            <a:srgbClr val="1F2937"/>
                          </a:solidFill>
                        </a:rPr>
                        <a:t>Ko‘pik</a:t>
                      </a:r>
                    </a:p>
                  </a:txBody>
                  <a:tcPr marL="73152" marR="73152" marT="36576" marB="36576">
                    <a:solidFill>
                      <a:srgbClr val="E8EEF6"/>
                    </a:solidFill>
                  </a:tcPr>
                </a:tc>
                <a:tc>
                  <a:txBody>
                    <a:bodyPr/>
                    <a:lstStyle/>
                    <a:p>
                      <a:r>
                        <a:rPr sz="1200" b="0">
                          <a:solidFill>
                            <a:srgbClr val="1F2937"/>
                          </a:solidFill>
                        </a:rPr>
                        <a:t>Turg‘un oq (Krushevskiy)</a:t>
                      </a:r>
                    </a:p>
                  </a:txBody>
                  <a:tcPr marL="73152" marR="73152" marT="36576" marB="36576">
                    <a:solidFill>
                      <a:srgbClr val="E8EEF6"/>
                    </a:solidFill>
                  </a:tcPr>
                </a:tc>
                <a:tc>
                  <a:txBody>
                    <a:bodyPr/>
                    <a:lstStyle/>
                    <a:p>
                      <a:r>
                        <a:rPr sz="1200" b="0">
                          <a:solidFill>
                            <a:srgbClr val="1F2937"/>
                          </a:solidFill>
                        </a:rPr>
                        <a:t>Oz, noturg‘un oq</a:t>
                      </a:r>
                    </a:p>
                  </a:txBody>
                  <a:tcPr marL="73152" marR="73152" marT="36576" marB="36576">
                    <a:solidFill>
                      <a:srgbClr val="E8EEF6"/>
                    </a:solidFill>
                  </a:tcPr>
                </a:tc>
              </a:tr>
              <a:tr h="411480">
                <a:tc>
                  <a:txBody>
                    <a:bodyPr/>
                    <a:lstStyle/>
                    <a:p>
                      <a:r>
                        <a:rPr sz="1200" b="0">
                          <a:solidFill>
                            <a:srgbClr val="1F2937"/>
                          </a:solidFill>
                        </a:rPr>
                        <a:t>Nafas yo‘llari</a:t>
                      </a:r>
                    </a:p>
                  </a:txBody>
                  <a:tcPr marL="73152" marR="73152" marT="36576" marB="36576">
                    <a:solidFill>
                      <a:srgbClr val="FFFFFF"/>
                    </a:solidFill>
                  </a:tcPr>
                </a:tc>
                <a:tc>
                  <a:txBody>
                    <a:bodyPr/>
                    <a:lstStyle/>
                    <a:p>
                      <a:r>
                        <a:rPr sz="1200" b="0">
                          <a:solidFill>
                            <a:srgbClr val="1F2937"/>
                          </a:solidFill>
                        </a:rPr>
                        <a:t>Suv va yot moddalar bor</a:t>
                      </a:r>
                    </a:p>
                  </a:txBody>
                  <a:tcPr marL="73152" marR="73152" marT="36576" marB="36576">
                    <a:solidFill>
                      <a:srgbClr val="FFFFFF"/>
                    </a:solidFill>
                  </a:tcPr>
                </a:tc>
                <a:tc>
                  <a:txBody>
                    <a:bodyPr/>
                    <a:lstStyle/>
                    <a:p>
                      <a:r>
                        <a:rPr sz="1200" b="0">
                          <a:solidFill>
                            <a:srgbClr val="1F2937"/>
                          </a:solidFill>
                        </a:rPr>
                        <a:t>Suv aniqlanmaydi</a:t>
                      </a:r>
                    </a:p>
                  </a:txBody>
                  <a:tcPr marL="73152" marR="73152" marT="36576" marB="36576">
                    <a:solidFill>
                      <a:srgbClr val="FFFFFF"/>
                    </a:solidFill>
                  </a:tcPr>
                </a:tc>
              </a:tr>
              <a:tr h="411480">
                <a:tc>
                  <a:txBody>
                    <a:bodyPr/>
                    <a:lstStyle/>
                    <a:p>
                      <a:r>
                        <a:rPr sz="1200" b="0">
                          <a:solidFill>
                            <a:srgbClr val="1F2937"/>
                          </a:solidFill>
                        </a:rPr>
                        <a:t>Plevra osti</a:t>
                      </a:r>
                    </a:p>
                  </a:txBody>
                  <a:tcPr marL="73152" marR="73152" marT="36576" marB="36576">
                    <a:solidFill>
                      <a:srgbClr val="E8EEF6"/>
                    </a:solidFill>
                  </a:tcPr>
                </a:tc>
                <a:tc>
                  <a:txBody>
                    <a:bodyPr/>
                    <a:lstStyle/>
                    <a:p>
                      <a:r>
                        <a:rPr sz="1200" b="0">
                          <a:solidFill>
                            <a:srgbClr val="1F2937"/>
                          </a:solidFill>
                        </a:rPr>
                        <a:t>Tarde + Rasskazov-Lukomskiy-Paltauf</a:t>
                      </a:r>
                    </a:p>
                  </a:txBody>
                  <a:tcPr marL="73152" marR="73152" marT="36576" marB="36576">
                    <a:solidFill>
                      <a:srgbClr val="E8EEF6"/>
                    </a:solidFill>
                  </a:tcPr>
                </a:tc>
                <a:tc>
                  <a:txBody>
                    <a:bodyPr/>
                    <a:lstStyle/>
                    <a:p>
                      <a:r>
                        <a:rPr sz="1200" b="0">
                          <a:solidFill>
                            <a:srgbClr val="1F2937"/>
                          </a:solidFill>
                        </a:rPr>
                        <a:t>Faqat Tarde dog‘lari</a:t>
                      </a:r>
                    </a:p>
                  </a:txBody>
                  <a:tcPr marL="73152" marR="73152" marT="36576" marB="36576">
                    <a:solidFill>
                      <a:srgbClr val="E8EEF6"/>
                    </a:solidFill>
                  </a:tcPr>
                </a:tc>
              </a:tr>
              <a:tr h="411480">
                <a:tc>
                  <a:txBody>
                    <a:bodyPr/>
                    <a:lstStyle/>
                    <a:p>
                      <a:r>
                        <a:rPr sz="1200" b="0">
                          <a:solidFill>
                            <a:srgbClr val="1F2937"/>
                          </a:solidFill>
                        </a:rPr>
                        <a:t>Oshqozondagi suv</a:t>
                      </a:r>
                    </a:p>
                  </a:txBody>
                  <a:tcPr marL="73152" marR="73152" marT="36576" marB="36576">
                    <a:solidFill>
                      <a:srgbClr val="FFFFFF"/>
                    </a:solidFill>
                  </a:tcPr>
                </a:tc>
                <a:tc>
                  <a:txBody>
                    <a:bodyPr/>
                    <a:lstStyle/>
                    <a:p>
                      <a:r>
                        <a:rPr sz="1200" b="0">
                          <a:solidFill>
                            <a:srgbClr val="1F2937"/>
                          </a:solidFill>
                        </a:rPr>
                        <a:t>300 ml gacha (Fegerlund)</a:t>
                      </a:r>
                    </a:p>
                  </a:txBody>
                  <a:tcPr marL="73152" marR="73152" marT="36576" marB="36576">
                    <a:solidFill>
                      <a:srgbClr val="FFFFFF"/>
                    </a:solidFill>
                  </a:tcPr>
                </a:tc>
                <a:tc>
                  <a:txBody>
                    <a:bodyPr/>
                    <a:lstStyle/>
                    <a:p>
                      <a:r>
                        <a:rPr sz="1200" b="0">
                          <a:solidFill>
                            <a:srgbClr val="1F2937"/>
                          </a:solidFill>
                        </a:rPr>
                        <a:t>1 l gacha (Fegerlund)</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Chin va asfiktik cho‘kish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121, 123, 124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Cho‘kishning hayotiyligini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Diatom planktoni parenximatoz a’zolar va suyak miyada topilsa, cho‘kish hayotiy bo‘lgan; u havza suviga mos kelishi shart.</a:t>
            </a:r>
          </a:p>
          <a:p>
            <a:pPr>
              <a:spcAft>
                <a:spcPts val="800"/>
              </a:spcAft>
            </a:pPr>
            <a:r>
              <a:rPr sz="1800">
                <a:solidFill>
                  <a:srgbClr val="1F2937"/>
                </a:solidFill>
                <a:latin typeface="Calibri"/>
              </a:rPr>
              <a:t>▸  Asfiktik turda plankton uchun kalla asosi suyuqligi olinadi; o‘pkadagi diatom diagnostik emas.</a:t>
            </a:r>
          </a:p>
          <a:p>
            <a:pPr>
              <a:spcAft>
                <a:spcPts val="800"/>
              </a:spcAft>
            </a:pPr>
            <a:r>
              <a:rPr sz="1800">
                <a:solidFill>
                  <a:srgbClr val="1F2937"/>
                </a:solidFill>
                <a:latin typeface="Calibri"/>
              </a:rPr>
              <a:t>▸  Psevdoplankton polyarizatsion mikroskopiyada aniqlanadi; Pseudomonas topilishi suvga hayotiy tushganini tasdiqlaydi.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Suv namunasi (1 l) olinadi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Organ bo‘lakchalari olinadi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Diatom, bakteriya, krioskopiya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Suv namunasiga solishtirish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Hayotiylik haqida xulosa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Hayotiylikni tekshirish tartibi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125, 126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Murdaning suvda bo‘lganlik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Kiyim va tana loy, qum, moy, suv o‘tlari bilan ifloslanadi; murda suvda tezroq soviydi.</a:t>
            </a:r>
          </a:p>
          <a:p>
            <a:pPr>
              <a:spcAft>
                <a:spcPts val="800"/>
              </a:spcAft>
            </a:pPr>
            <a:r>
              <a:rPr sz="1800">
                <a:solidFill>
                  <a:srgbClr val="1F2937"/>
                </a:solidFill>
                <a:latin typeface="Calibri"/>
              </a:rPr>
              <a:t>▸  Sovuq suvda teri oqaradi, “g‘oz terisi” ko‘rinishini oladi; suv issiq bo‘lsa o‘zgarishlar tezroq rivojlanadi.</a:t>
            </a:r>
          </a:p>
          <a:p>
            <a:pPr>
              <a:spcAft>
                <a:spcPts val="800"/>
              </a:spcAft>
            </a:pPr>
            <a:r>
              <a:rPr sz="1800">
                <a:solidFill>
                  <a:srgbClr val="1F2937"/>
                </a:solidFill>
                <a:latin typeface="Calibri"/>
              </a:rPr>
              <a:t>▸  Jarohatlar suv tubiga urilish, kema qismlari, baliqlar, oqim va reanimatsiya (qayta jonlantirish) vaqtida ham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3326306"/>
                <a:gridCol w="1961668"/>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Muddat</a:t>
                      </a:r>
                    </a:p>
                  </a:txBody>
                  <a:tcPr marL="73152" marR="73152" marT="36576" marB="36576">
                    <a:solidFill>
                      <a:srgbClr val="0B1F3A"/>
                    </a:solidFill>
                  </a:tcPr>
                </a:tc>
              </a:tr>
              <a:tr h="411480">
                <a:tc>
                  <a:txBody>
                    <a:bodyPr/>
                    <a:lstStyle/>
                    <a:p>
                      <a:r>
                        <a:rPr sz="1300" b="0">
                          <a:solidFill>
                            <a:srgbClr val="1F2937"/>
                          </a:solidFill>
                        </a:rPr>
                        <a:t>Barmoqlar oqarib, bujmayadi</a:t>
                      </a:r>
                    </a:p>
                  </a:txBody>
                  <a:tcPr marL="73152" marR="73152" marT="36576" marB="36576">
                    <a:solidFill>
                      <a:srgbClr val="E8EEF6"/>
                    </a:solidFill>
                  </a:tcPr>
                </a:tc>
                <a:tc>
                  <a:txBody>
                    <a:bodyPr/>
                    <a:lstStyle/>
                    <a:p>
                      <a:r>
                        <a:rPr sz="1300" b="0">
                          <a:solidFill>
                            <a:srgbClr val="1F2937"/>
                          </a:solidFill>
                        </a:rPr>
                        <a:t>Bir necha soatdan so‘ng</a:t>
                      </a:r>
                    </a:p>
                  </a:txBody>
                  <a:tcPr marL="73152" marR="73152" marT="36576" marB="36576">
                    <a:solidFill>
                      <a:srgbClr val="E8EEF6"/>
                    </a:solidFill>
                  </a:tcPr>
                </a:tc>
              </a:tr>
              <a:tr h="411480">
                <a:tc>
                  <a:txBody>
                    <a:bodyPr/>
                    <a:lstStyle/>
                    <a:p>
                      <a:r>
                        <a:rPr sz="1300" b="0">
                          <a:solidFill>
                            <a:srgbClr val="1F2937"/>
                          </a:solidFill>
                        </a:rPr>
                        <a:t>Kaft, keyin tovon bujmayadi</a:t>
                      </a:r>
                    </a:p>
                  </a:txBody>
                  <a:tcPr marL="73152" marR="73152" marT="36576" marB="36576">
                    <a:solidFill>
                      <a:srgbClr val="FFFFFF"/>
                    </a:solidFill>
                  </a:tcPr>
                </a:tc>
                <a:tc>
                  <a:txBody>
                    <a:bodyPr/>
                    <a:lstStyle/>
                    <a:p>
                      <a:r>
                        <a:rPr sz="1300" b="0">
                          <a:solidFill>
                            <a:srgbClr val="1F2937"/>
                          </a:solidFill>
                        </a:rPr>
                        <a:t>2–5 kun, so‘ng 5–8 kun</a:t>
                      </a:r>
                    </a:p>
                  </a:txBody>
                  <a:tcPr marL="73152" marR="73152" marT="36576" marB="36576">
                    <a:solidFill>
                      <a:srgbClr val="FFFFFF"/>
                    </a:solidFill>
                  </a:tcPr>
                </a:tc>
              </a:tr>
              <a:tr h="411480">
                <a:tc>
                  <a:txBody>
                    <a:bodyPr/>
                    <a:lstStyle/>
                    <a:p>
                      <a:r>
                        <a:rPr sz="1300" b="0">
                          <a:solidFill>
                            <a:srgbClr val="1F2937"/>
                          </a:solidFill>
                        </a:rPr>
                        <a:t>Soch oson sug‘uriladi</a:t>
                      </a:r>
                    </a:p>
                  </a:txBody>
                  <a:tcPr marL="73152" marR="73152" marT="36576" marB="36576">
                    <a:solidFill>
                      <a:srgbClr val="E8EEF6"/>
                    </a:solidFill>
                  </a:tcPr>
                </a:tc>
                <a:tc>
                  <a:txBody>
                    <a:bodyPr/>
                    <a:lstStyle/>
                    <a:p>
                      <a:r>
                        <a:rPr sz="1300" b="0">
                          <a:solidFill>
                            <a:srgbClr val="1F2937"/>
                          </a:solidFill>
                        </a:rPr>
                        <a:t>10–15 kun</a:t>
                      </a:r>
                    </a:p>
                  </a:txBody>
                  <a:tcPr marL="73152" marR="73152" marT="36576" marB="36576">
                    <a:solidFill>
                      <a:srgbClr val="E8EEF6"/>
                    </a:solidFill>
                  </a:tcPr>
                </a:tc>
              </a:tr>
              <a:tr h="411480">
                <a:tc>
                  <a:txBody>
                    <a:bodyPr/>
                    <a:lstStyle/>
                    <a:p>
                      <a:r>
                        <a:rPr sz="1300" b="0">
                          <a:solidFill>
                            <a:srgbClr val="1F2937"/>
                          </a:solidFill>
                        </a:rPr>
                        <a:t>Kaft terisi ajraladi (“o‘lim qo‘lqopi”)</a:t>
                      </a:r>
                    </a:p>
                  </a:txBody>
                  <a:tcPr marL="73152" marR="73152" marT="36576" marB="36576">
                    <a:solidFill>
                      <a:srgbClr val="FFFFFF"/>
                    </a:solidFill>
                  </a:tcPr>
                </a:tc>
                <a:tc>
                  <a:txBody>
                    <a:bodyPr/>
                    <a:lstStyle/>
                    <a:p>
                      <a:r>
                        <a:rPr sz="1300" b="0">
                          <a:solidFill>
                            <a:srgbClr val="1F2937"/>
                          </a:solidFill>
                        </a:rPr>
                        <a:t>2–3 haftadan so‘ng</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Suvda bo‘lish muddatlari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127, 127–128, 126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suvdan topilgan murda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suvdan murda chiqarildi; og‘iz-burun atrofida mayda pufakli oq ko‘pik, o‘pkalar xamirsimon, hajmi katta.</a:t>
            </a:r>
          </a:p>
          <a:p>
            <a:pPr>
              <a:spcAft>
                <a:spcPts val="1200"/>
              </a:spcAft>
            </a:pPr>
            <a:r>
              <a:rPr sz="2200">
                <a:solidFill>
                  <a:srgbClr val="1F2937"/>
                </a:solidFill>
                <a:latin typeface="Calibri"/>
              </a:rPr>
              <a:t>▸  Bu chin cho‘kishga mos: nafas yo‘llarida suv bilan kirgan yot moddalar (suv o‘tlari, balchiq, qum) topiladi.</a:t>
            </a:r>
          </a:p>
          <a:p>
            <a:pPr>
              <a:spcAft>
                <a:spcPts val="1200"/>
              </a:spcAft>
            </a:pPr>
            <a:r>
              <a:rPr sz="2200">
                <a:solidFill>
                  <a:srgbClr val="1F2937"/>
                </a:solidFill>
                <a:latin typeface="Calibri"/>
              </a:rPr>
              <a:t>▸  Diqqat: suvga tushishi bilan yurak va nafas to‘xtasa, asfiksiya belgilari ulgurmaydi; yurakdagi o‘zgarishlar izlanadi.</a:t>
            </a:r>
          </a:p>
          <a:p>
            <a:pPr>
              <a:spcAft>
                <a:spcPts val="1200"/>
              </a:spcAft>
            </a:pPr>
            <a:r>
              <a:rPr sz="2200">
                <a:solidFill>
                  <a:srgbClr val="1F2937"/>
                </a:solidFill>
                <a:latin typeface="Calibri"/>
              </a:rPr>
              <a:t>▸  Savol: murdaning suvga tirik tushganini qaysi laboratoriya tekshiruvlari tasdiqlaydi?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122, 124, 124–125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Kompression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Ko‘krak va qorin o‘tmas jism bilan qisilib, nafas harakati cheklansa yoki to‘xtasa, kompression asfiksiya rivojlanadi.</a:t>
            </a:r>
          </a:p>
          <a:p>
            <a:pPr>
              <a:spcAft>
                <a:spcPts val="1200"/>
              </a:spcAft>
            </a:pPr>
            <a:r>
              <a:rPr sz="2200">
                <a:solidFill>
                  <a:srgbClr val="1F2937"/>
                </a:solidFill>
                <a:latin typeface="Calibri"/>
              </a:rPr>
              <a:t>▸  Ko‘pincha yer qimirlashi, ko‘chki, bino qulashi, avtomobil ag‘darilishi va olomon siqilishi oqibatida uchraydi.</a:t>
            </a:r>
          </a:p>
          <a:p>
            <a:pPr>
              <a:spcAft>
                <a:spcPts val="1200"/>
              </a:spcAft>
            </a:pPr>
            <a:r>
              <a:rPr sz="2200">
                <a:solidFill>
                  <a:srgbClr val="1F2937"/>
                </a:solidFill>
                <a:latin typeface="Calibri"/>
              </a:rPr>
              <a:t>▸  Frontal qisilish yonlamadan xavfliroq; faqat ko‘krak qisilganda o‘lim tezroq, faqat qorin qisilishiga organizm chidamliroq.</a:t>
            </a:r>
          </a:p>
          <a:p>
            <a:pPr>
              <a:spcAft>
                <a:spcPts val="1200"/>
              </a:spcAft>
            </a:pPr>
            <a:r>
              <a:rPr sz="2200">
                <a:solidFill>
                  <a:srgbClr val="1F2937"/>
                </a:solidFill>
                <a:latin typeface="Calibri"/>
              </a:rPr>
              <a:t>▸  Belgilar: yuz shishi va ko‘kimtirligi, yuz-bo‘yin-ko‘krakda qon quyilish (ekximotik niqob); o‘pkaning karmin shishishi.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Cheklangan yopiq muhitdagi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Yopiq muhitda kislorod asta-sekin kamayadi, karbonat angidrid ortadi. O‘limda karbonat angidrid miqdorining oshishi yetakchi ahamiyatga ega.</a:t>
            </a:r>
          </a:p>
          <a:p>
            <a:pPr>
              <a:spcAft>
                <a:spcPts val="1200"/>
              </a:spcAft>
            </a:pPr>
            <a:r>
              <a:rPr sz="2200">
                <a:solidFill>
                  <a:srgbClr val="1F2937"/>
                </a:solidFill>
                <a:latin typeface="Calibri"/>
              </a:rPr>
              <a:t>▸  Havoda karbonat angidrid 0,5% ga yetsa, nafas tezlashadi. Kattalarda o‘lim 8-10% da, bolalarda esa 2,0-2,5% hayot uchun xavfli.</a:t>
            </a:r>
          </a:p>
          <a:p>
            <a:pPr>
              <a:spcAft>
                <a:spcPts val="1200"/>
              </a:spcAft>
            </a:pPr>
            <a:r>
              <a:rPr sz="2200">
                <a:solidFill>
                  <a:srgbClr val="1F2937"/>
                </a:solidFill>
                <a:latin typeface="Calibri"/>
              </a:rPr>
              <a:t>▸  Qotillikda boshga plastik qopcha kiygiziladi. Autoasfiksiofiliyada ham qopcha usuli bor va bu holat baxtsiz hodisaga kiradi.</a:t>
            </a:r>
          </a:p>
          <a:p>
            <a:pPr>
              <a:spcAft>
                <a:spcPts val="1200"/>
              </a:spcAft>
            </a:pPr>
            <a:r>
              <a:rPr sz="2200">
                <a:solidFill>
                  <a:srgbClr val="1F2937"/>
                </a:solidFill>
                <a:latin typeface="Calibri"/>
              </a:rPr>
              <a:t>▸  Notoʻliq yopiq muhit: chuqur quduq, silos o‘rasi, sabzavot ombori. Bu yerda bijg‘ish va chirishdan chiqqan toksik moddalar ham o‘limga hissa qo‘shadi.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kompression va yopiq muhit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1-holat: stadiondan chiqishda olomon qisilishi. Murdada yuz shishishi, ko‘kimtirligi va qon quyilishlari – “ekximotik niqob” (Olive-Danjer belgisi) kutiladi.</a:t>
            </a:r>
          </a:p>
          <a:p>
            <a:pPr>
              <a:spcAft>
                <a:spcPts val="1200"/>
              </a:spcAft>
            </a:pPr>
            <a:r>
              <a:rPr sz="2200">
                <a:solidFill>
                  <a:srgbClr val="1F2937"/>
                </a:solidFill>
                <a:latin typeface="Calibri"/>
              </a:rPr>
              <a:t>▸  Qisilish uzoq davom etsa, o‘pka shishib yorqin qizil tusga kiradi – “karmin shishishi” (Lakkasan belgisi). Frontal qisilish yonlamadan xavfliroq.</a:t>
            </a:r>
          </a:p>
          <a:p>
            <a:pPr>
              <a:spcAft>
                <a:spcPts val="1200"/>
              </a:spcAft>
            </a:pPr>
            <a:r>
              <a:rPr sz="2200">
                <a:solidFill>
                  <a:srgbClr val="1F2937"/>
                </a:solidFill>
                <a:latin typeface="Calibri"/>
              </a:rPr>
              <a:t>▸  2-holat: bola sovutkich kamerasiga kirib qolgan. Murdada faqat umumasfiktik va tez o‘lim belgilari bo‘ladi, shu turga xos o‘zgarish topilmaydi.</a:t>
            </a:r>
          </a:p>
          <a:p>
            <a:pPr>
              <a:spcAft>
                <a:spcPts val="1200"/>
              </a:spcAft>
            </a:pPr>
            <a:r>
              <a:rPr sz="2200">
                <a:solidFill>
                  <a:srgbClr val="1F2937"/>
                </a:solidFill>
                <a:latin typeface="Calibri"/>
              </a:rPr>
              <a:t>▸  Diqqat: kompressiyada mexanik jarohatlar o‘limning raqobatli sababi bo‘lishi mumkin, shuning uchun differensial diagnostika sinchkovlik bilan o‘tkaziladi.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129, 130, 129-130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mustahkamlash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Mexanik asfiksiya uch turga bo‘linadi: qisilishdan, yopilishdan va cheklangan muhitdagi asfiksiya. Asfiksiyada gipoksiya giperkapniya bilan birga rivojlanadi.</a:t>
            </a:r>
          </a:p>
          <a:p>
            <a:pPr>
              <a:spcAft>
                <a:spcPts val="1200"/>
              </a:spcAft>
            </a:pPr>
            <a:r>
              <a:rPr sz="2200">
                <a:solidFill>
                  <a:srgbClr val="1F2937"/>
                </a:solidFill>
                <a:latin typeface="Calibri"/>
              </a:rPr>
              <a:t>▸  Umumasfiktik belgilar o‘ziga xos emas, tashxisda ularning majmuasi olinadi. Asfiktik yurak, kamqonlik va qisqargan taloq nisbatan patognomik.</a:t>
            </a:r>
          </a:p>
          <a:p>
            <a:pPr>
              <a:spcAft>
                <a:spcPts val="1200"/>
              </a:spcAft>
            </a:pPr>
            <a:r>
              <a:rPr sz="2200">
                <a:solidFill>
                  <a:srgbClr val="1F2937"/>
                </a:solidFill>
                <a:latin typeface="Calibri"/>
              </a:rPr>
              <a:t>▸  Farqlash: osilishda strangulyatsion egat, chin cho‘kishda Krushevskiy ko‘pigi, kompressiyada ekximotik niqob. Yopiq muhitda xos belgi yo‘q.</a:t>
            </a:r>
          </a:p>
          <a:p>
            <a:pPr>
              <a:spcAft>
                <a:spcPts val="1200"/>
              </a:spcAft>
            </a:pPr>
            <a:r>
              <a:rPr sz="2200">
                <a:solidFill>
                  <a:srgbClr val="1F2937"/>
                </a:solidFill>
                <a:latin typeface="Calibri"/>
              </a:rPr>
              <a:t>▸  Ekspertiza masalalari: egat va suvga tushishning hayotiyligi, o‘lim sababi. Nazorat: qaysi belgi umumiy, qaysi biri tur uchun xos?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104-105, 111, 114, 122, 129, 130, 116, 124, 130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“Asfiksiya” so‘zi grekcha bo‘lib, “pulsning yo‘qligi” degan ma’noni beradi (a — inkor, sphygmos — puls). Hozir esa u kislorod tanqisligi va karbonat angidridi ko‘payishi holatini bildiradi.</a:t>
            </a:r>
          </a:p>
          <a:p>
            <a:pPr>
              <a:spcAft>
                <a:spcPts val="1200"/>
              </a:spcAft>
            </a:pPr>
            <a:r>
              <a:rPr sz="1800">
                <a:solidFill>
                  <a:srgbClr val="1F2937"/>
                </a:solidFill>
                <a:latin typeface="Calibri"/>
              </a:rPr>
              <a:t>▸  Tibbiyot tarixida asfiksiyaning kechishi bo‘yicha faqat bitta tajriba qayd etilgan. N. Minovici 1905-yilda yordamchilari ko‘magida o‘zida osilish tajribalarini o‘tkazgan. Shu sababli bosqichlar vaqti shartli va taxminiy.</a:t>
            </a:r>
          </a:p>
          <a:p>
            <a:pPr>
              <a:spcAft>
                <a:spcPts val="1200"/>
              </a:spcAft>
            </a:pPr>
            <a:r>
              <a:rPr sz="1800">
                <a:solidFill>
                  <a:srgbClr val="1F2937"/>
                </a:solidFill>
                <a:latin typeface="Calibri"/>
              </a:rPr>
              <a:t>▸  Hodisa tahlili: chuchuk suvda chin cho‘kishda suv qonga o‘tib, qon suyulib, gemoliz bo‘ladi. Dengiz suvida esa osmotik bosim yuqori bo‘lgani uchun qonning suyuq qismi alveolaga o‘tadi va qon quyuqlashadi. Shuning uchun sho‘r suvda Rasskazov-Lukomskiy-Paltauf dog‘lari hosil bo‘lmaydi.</a:t>
            </a:r>
          </a:p>
          <a:p>
            <a:pPr>
              <a:spcAft>
                <a:spcPts val="1200"/>
              </a:spcAft>
            </a:pPr>
            <a:r>
              <a:rPr sz="1800">
                <a:solidFill>
                  <a:srgbClr val="1F2937"/>
                </a:solidFill>
                <a:latin typeface="Calibri"/>
              </a:rPr>
              <a:t>▸  Eslab qolish usuli (“suv qayerga ketdi?”): chin cho‘kishda suv alveolagacha boradi, oshqozonda 300 ml gacha bo‘ladi. Asfiktik cho‘kishda laringospazm suvni to‘sadi, u oshqozonga ko‘proq o‘tib, 1 l gacha yetadi (Fegerlund belgisi).</a:t>
            </a:r>
          </a:p>
          <a:p>
            <a:pPr>
              <a:spcAft>
                <a:spcPts val="1200"/>
              </a:spcAft>
            </a:pPr>
            <a:r>
              <a:rPr sz="1800">
                <a:solidFill>
                  <a:srgbClr val="1F2937"/>
                </a:solidFill>
                <a:latin typeface="Calibri"/>
              </a:rPr>
              <a:t>▸  Diqqat, dog‘larni adashtirmang: Tarde dog‘lari epikard va visseral plevra ostida bo‘ladi. Rasskazov-Lukomskiy-Paltauf dog‘lari kattaroq bo‘lib, faqat visseral plevra ostida uchraydi va epikard ostida bo‘lmaydi.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Odam organizmi uchun zarur kislorodning qancha qismi nafas a’zolari orqali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60,0-65,0%</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98,5-99,0%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80,0-85,0%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40,0-45,0%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Qon yo‘qotishdan keyin gemoglobin miqdori kamaygan bemorda qaysi endogen gipoksiya turi rivojlanadi?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Respirator tipdagi gipoksiya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Sirkulyator tipdagi gipoksiya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Sitotoksik tipdagi gipoksiya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Gemik tipdagi gipoksiya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Yopiq xonada havodagi kislorod kamaygan, karbonat angidrid esa ko‘paygan. Bu qaysi ekzogen gipoksiya turi?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Giperkapnik gipoksiya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Giperoksik gipoksiya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Gipoksik gipoksiya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Sitotoksik gipoksiya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Tashqi ta’sir natijasida sog‘liq buzilgan yoki o‘lim sodir bo‘lgan holatlarda, sud tibbiyoti uchun gipoksiyaning qaysi turlari ahamiyatli?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O‘tkir va biroz o‘tkir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Biroz o‘tkir va surunkali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Yashinsimon va o‘tkir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Yashinsimon va surunkali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Hodisa joyida yolg‘iz o‘rta yoshli erkak murdasi topildi: boshida polietilen qopcha, atrofda pornografik rasmlar. Bu o‘lim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Qasddan qotillik holati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O‘z-o‘zini o‘ldirish holati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Kasallikdan o‘lim holati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Baxtsiz hodisa holati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Asfiksiya paytida jabrlanuvchida kuchli klonik talvasalar, siydik va axlat ajralishi kuzatildi, tana atrofdagi jismlarga urilib jarohat hosil bo‘ldi. Bu qaysi bosqichga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Inspirator hansirash bosqichiga xos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Ekspirator hansirash bosqichiga xos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Nafasning qisqa to‘xtashi bosqichiga xos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Terminal nafas olish bosqichiga xos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Asfiksiyaning inspirator hansirash bosqichiga qaysi o‘zgarish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Nafas olish davomiyligi nafas chiqarishdan ortadi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Nafas chiqarish kuchayib, arterial bosim ko‘tariladi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Nafas butunlay to‘xtab, mushaklar bo‘shashadi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Onda-sonda noritmik nafas harakatlari paydo bo‘ladi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Asfiktik ta’sirdan 30 soniya ichida yurak reflektor to‘xtagan. Murda tekshiruvida umumasfiktik belgilar nega aniqlanmasligi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 to‘liq ivib, tomirlarda qotib qolgani uchun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Terminal nafas bosqichi uzoq cho‘zilgani uchun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 belgilar rivojlanib ulgurmagani uchun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 preasfiktik davrda quyuqlashgani uchun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Qutqarib olingan jabrlanuvchi komadan chiqmoqda, talvasalar yo‘q, hush asta tiklanib, sopor holati kuzatilmoqda. Bu postasfiktik holatning qaysi davri?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Asfiktik koma davri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Dezorientatsiya va xotira buzilishi davri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Qoldiq oqibatlar davri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Karaxtlik davri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chalqancha yotgan, yuz va bo‘yin sianozi aniqlanmadi. Mexanik asfiksiya bo‘lgan taqdirda sianoz nega yo‘qolgan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Qonning pastga oqib tushishi sababli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Katexolaminlar ta’siri tufayli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Subkonyunktival ekximozlar paydo bo‘lgani uchun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Tez o‘lim belgilari to‘liq rivojlangani uchun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Qaysi belgilar guruhi mexanik asfiksiya uchun nisbatan patognomik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Yuz sianozi hamda qorachiqlar kengayishi (midriaz)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Asfiktik yurak, kamqonlik va qisqargan taloq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Tarde dog‘lari hamda subkonyunktival ekximozlar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To‘q qizil suyuq qon hamda ichki a’zolar to‘laqonligi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Yurak-qon tomir kasalligi bor erkak osilgan, murdada umumasfiktik belgilar rivojlanmagan. O‘limning qaysi mexanizmi ehtimolroq?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Adashgan va yuqori hiqildoq nervlari qisilishidan yurakning reflektor to‘xtashi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Qizilo‘ngach to‘liq berkilib, oshqozon massasining nafas yo‘llariga aspiratsiyasi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Uyqu arteriyalarining to‘liq yopilishi va bo‘yinturuq venalarining ochiq qolishi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Til osti suyagi sinishi va hiqildoq yo‘lining butunlay mexanik yopilishi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Bo‘yinga sochiq ustidan sirtmoq solingan, teri sathida egat yaqqol ko‘rinmaydi. Ichki tekshiruvda qaysi belgi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Amyuss belgisi: uyqu arteriyasi intimasining ko‘ndalang yorilishi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Bruardel belgisi: halqum orti sohasidagi ko‘lamli qon quyilishlar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Kasper belgisi: yumshoq to‘qimalarda oqimtir yo‘lkasimon iz</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Simon belgisi: bo‘yin umurtqalararo disklariga qon quyilishlar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bo‘ynida gorizontal, tutashgan egat qalqonsimon tog‘ay sathida va undan pastda; Amyuss, Valxer belgilari yo‘q. Bu qaysi holatga mos?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Tipik to‘liq osilish natijasida o‘lim holatiga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Tayanchli notipik osilish natijasida o‘lim holatiga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Boshning bukilishidan pozitsion asfiksiya holatiga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Bo‘yinning sirtmoq bilan bo‘g‘ilishi holatiga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Hushsiz shaxs tor bo‘shliqqa tushib, boshi oldinga bukilgan holda topilgan. Pozitsion asfiksiyada murdada qaysi o‘zgarish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Bo‘yin burmasi proeksiyasida yumshoq to‘qimalarda oqimtir yo‘lka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Bo‘yinda aniq, chuqur va tutashgan haqiqiy strangulyatsion egat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Til osti suyagi va hiqildoq tog‘aylarining ko‘lamli sinishi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Qalqonsimon tog‘ay shoxchalari bilan uzuksimon tog‘ay sinishi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Chuchuk suvdan topilgan murdada og‘iz-burun atrofida mayda pufakli oq ko‘pik, o‘pkalar xamirsimon va ko‘lamli, visseral plevra ostida Rasskazov-Lukomskiy-Paltauf dog‘lari bor. Yurakning chap kameralaridagi qon o‘ngdagidan ochroq. Bu qaysi o‘lim turiga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Asfiktik (spastik, «quruq») cho‘kish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Chin (aspiratsion, «ho‘l») cho‘kish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Suvdagi to‘satdan (reflektor) o‘lim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Murdaning o‘limdan so‘ng suvga tushishi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Suv havzasidan topilgan murdada qo‘l va oyoq kaftlarining terisi tirnoqlari bilan «o‘lim qo‘lqopi», «o‘lim paypog‘i» tarzida ajralmoqda. Murdaning suvda bo‘lish muddati taxminan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necha soat atrofida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2-5 kun atrofida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5-8 kun atrofida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2-3 hafta atrofida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Stadiondan chiqishda olomonda qisilib halok bo‘lgan shaxs murdasida yuz shishgan va ko‘kimtir. Yuz, bo‘yin va ko‘krakning yuqori terisida hamda ko‘z shilliq pardalarida turli o‘lchamdagi qon quyilishlar bor. Bu qaysi belgi?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«Ekximotik niqob» (Olive-Danjer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Sabinskiy belgisi (qisqargan taloq)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Krushevskiy belgisi (oq ko‘pik)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Kasper belgisi (chap yurak qoni ochroq)</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Kichik yoshdagi bola germetik sandiq ichiga kirib qolib, u yerda asfiksiyadan halok bo‘ldi. Havodagi karbonat angidridi qaysi konsentratsiyaga yetganda bolalar uchun hayot xavfi tug‘iladi?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0,5% ga yetganda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8-10% ga yetganda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2,0-2,5% ga yetganda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20,93% ga yetganda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tekshiruvida nafas yo‘llarida oz miqdorda qusuq massa topildi, kichik bronxlar va alveolalarda u yo‘q. Reanimatsiyada yurakka bilvosita massaj qilingan. Bu topilma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Obturatsion asfiksiyaning aniq isboti deb</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Postmortem tushgan bo‘lishi mumkin, isbot emas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Asfiktik cho‘kishning patognomik belgisi deb</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Qusuq aspiratsiyasidan o‘lim sababi deb</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98,5-99,0%</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Zarur kislorodning 98,5-99,0% qismi nafas a’zolari orqali olinadi. Qolgan oz miqdori teri hamda oshqozon va ichaklar orqali o‘zlashtiriladi.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103-bet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Gemik tipdagi gipoksiya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Gemoglobin kamayganda (gipoxrom anemiya, qon yo‘qotish) yoki uning kislorodni bog‘lash xususiyati buzilganda (zaharlanish) gemik gipoksiya vujudga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104-bet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Giperkapnik gipoksiya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Giperkapnik gipoksiya cheklangan muhitda nafas olganda rivojlanadi: kislorod kamayadi, karbonat angidrid ko‘payadi. Sitotoksik gipoksiya esa endogen turga kiradi.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104-bet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Yashinsimon va o‘tkir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Rivojlanish jadalligi bo‘yicha sud tibbiyoti uchun yashinsimon (soniyalarda) va o‘tkir (daqiqalarda) gipoksiya ahamiyatli. Tashqi ta’sirdan kelib chiqqan bunday holatlar ekspertiza obyekti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104-bet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Baxtsiz hodisa holati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Seksual asfiksiya (autoasfiksiofiliya) ba’zan o‘lim bilan tugaydi va baxtsiz hodisa sifatida baholanadi. Hodisa joyidagi jinsiy chetlanishni tasdiqlovchi ashyolar buni tasdiqlaydi.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105-106-bet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Ekspirator hansirash bosqichiga xos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Ekspirator hansirash bosqichida nafas chiqarish kuchli va uzoq bo‘ladi, arterial bosim ko‘tariladi, puls tezlashadi. Siydik, maniy, axlat ajralishi bilan kechadigan klonik talvasalar ham shu bosqichda kuzatiladi. Talvasalar tufayli tana atrofdagi jismlarga urilib, o‘zga shaxs yetkazgan jarohatlarga o‘xshash shikastlar paydo bo‘lishi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106-bet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Nafas olish davomiyligi nafas chiqarishdan ortadi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Inspirator hansirashda karbonat angidridi nafas markaziga ta’sir qilib, nafas olish tezlashadi va nafas olishning davomiyligi nafas chiqarishga nisbatan ortadi. Ko‘krak qafasi kengayadi, arterial bosim pasayadi, venoz bosim ortadi, puls sekinlashadi. Boshqa variantlar ekspirator, tinchlik va terminal bosqichlarga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106-bet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Bu belgilar rivojlanib ulgurmagani uchun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Qisqa vaqt ichida (30 soniyagacha) yurak reflektor to‘xtasa, umumasfiktik belgilar rivojlanib ulgurmaydi va murda tekshiruvida topilmasligi mumkin. Yurakning reflektor to‘xtashi karotid sinuslari, hiqildoq, traxeya, bronxlar retseptorlarining ta’sirlanishi yoki adashgan nerv shikastlanishidan kelib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107-bet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Karaxtlik davri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Karaxtlik davrida jabrlanuvchi komadan chiqa boshlaydi, talvasalar bo‘lmaydi, hush asta tiklanadi. Dastlab sopor kuzatiladi, keyin chuqur, so‘ngra yengil karaxtlikka o‘tadi, davr oxirida uyquchanlik bo‘ladi. Koma davrida esa talvasalar va reflekslar buzilishi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108-bet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Qonning pastga oqib tushishi sababli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Yuz va bo‘yin sianozi hansirash paytidagi talvasalarda paydo bo‘ladi, lekin turg‘un belgi emas. Murda chalqancha yotganda qonning pastga oqib tushishi natijasida u yo‘qolishi mumkin. Murda yuzi bilan pastga yotganda esa asfiksiyaga aloqasiz holatlarda ham yuz ko‘kimtir bo‘lishi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110-bet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Asfiktik yurak, kamqonlik va qisqargan taloq</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Boshqa belgilar mexanik asfiksiyaga xos emas va tez o‘limning boshqa turlarida ham uchraydi. Asfiktik yurak, kamqon va qisqargan taloq (Sabinskiy belgisi) nisbatan patognomik deb ta’kidlanadi.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111-bet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Adashgan va yuqori hiqildoq nervlari qisilishidan yurakning reflektor to‘xtashi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Adashgan nerv, yuqori hiqildoq nervi va sinokarotid tugun sohalarining qisilishi yoki cho‘zilishi, ayniqsa yurak-qon tomir kasalligida, yurakning reflektor to‘xtashiga olib keladi. Bunda asfiksiya belgilari rivojlanib ulgurmaydi.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113-bet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Kasper belgisi: yumshoq to‘qimalarda oqimtir yo‘lkasimon iz</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Yumshoq sirtmoq ostida teridagi egat yaqqol bo‘lmaydi. Ichki tekshiruvda egat proeksiyasida yumshoq to‘qimalarda oqimtir yo‘lkasimon iz — “mis sim belgisi” (Kasper belgisi)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115-bet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Bo‘yinning sirtmoq bilan bo‘g‘ilishi holatiga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Sirtmoq bilan bo‘g‘ishda egat odatda gorizontal, tutashgan, qalqonsimon tog‘ay sathida yoki pastroqda bo‘ladi. Bo‘yin cho‘zilishi bilan bog‘liq belgilar (Amyuss, Valxer, Simon) vujudga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117-bet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Bo‘yin burmasi proeksiyasida yumshoq to‘qimalarda oqimtir yo‘lka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Pozitsion asfiksiyada strangulyatsion egat bo‘lmaydi. Bukilish burmasi egatga o‘xshashi, ichki tekshiruvda burma proeksiyasida oqimtir yo‘lka va ayrim qon quyilishlar topilishi mumkin. Til osti suyagi va hiqildoq tog‘aylari shikastlanmaydi.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119-bet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Chin (aspiratsion, «ho‘l») cho‘kish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Chin cho‘kishda suv alveolalargacha yetadi. Natijada turg‘un oq ko‘pik, gipergidriya holatidagi xamirsimon o‘pka, Rasskazov-Lukomskiy-Paltauf dog‘lari va chap yurak qonining ochroqligi (Kasper belgisi) paydo bo‘ladi. Asfiktik cho‘kishda ko‘pik oz va noturg‘un, o‘pka quruq bo‘ladi, bu dog‘lar uchramaydi.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121-123-bet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Taxminan 2-3 hafta atrofida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Qo‘l-oyoq barmoqlari bir necha soatdan so‘ng oqarib bujmayadi. 2-5 kunda kaft yuzasi, 5-8 kunda tovon yuzasi qamrab olinadi. 2-3 haftadan so‘ng kaftlar terisi tirnoqlari bilan ajraladi. Suv harorati, kiyim va yosh bu o‘zgarishlar tezligiga ta’sir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127-128-bet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«Ekximotik niqob» (Olive-Danjer belgisi)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Kompression asfiksiyada yuqori kovak venasi tizimidan qon o‘tishi buziladi. Natijada yuz shishadi, ko‘karadi, yuz-bo‘yin-ko‘krak yuqori qismi terisi va ko‘z shilliq pardalariga qon quyiladi. Bu «ekximotik niqob» (Olive-Danjer belgisi) deyiladi.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129-bet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Taxminan 2,0-2,5% ga yetganda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Bolalarda havodagi karbonat angidridi 2,0-2,5% ga yetishi hayot uchun xavfli. Kattalarda o‘lim odatda 8-10% da sodir bo‘ladi. 0,5% da esa nafas maromi tezlashadi va o‘pka ventilyasiyasi kuchayadi. 20,93% havodagi kislorodning odatiy ulushi.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130-bet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Postmortem tushgan bo‘lishi mumkin, isbot emas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Qusuq massaning nafas yo‘llarida topilishi hamma vaqt obturatsion asfiksiyani bildirmaydi. U reanimatsiyada yurak massajida, murda transportirovkasida va chirishda ham tushishi mumkin. Bunda massa oz bo‘ladi, kichik bronxlar va alveolalarda aniqlanmaydi.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120-121-bet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5. Kislorod tanqisligi (asfiksiya)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