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savollari: 1) Nima uchun tibbiyot xodimi mehnat huquqini bilishi kerak? 2) Mehnat va ma’muriy javobgarlik qanday farqlanadi deb o‘ylaysiz? Doskaga mashg‘ulot rejasini 2 ustunli (mehnat / ma’muriy) sxema qilib chizdiring. Tipik xato: talabalar intizomiy va ma’muriy javobgarlikni bir narsa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1) Konstitutsiya 37-moddasi qanday huquqlarni beradi? 2) Majburiy mehnatning qaysi istisnolari bor? Doskaga yozing: Konstitutsiya → Mehnat kodeksi → mehnat shartnomasi. Tipik xato: istisnolarni (sud hukmi, favqulodda holat) ham majburiy mehnat taqiqiga kiritish.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1) Shifokor mehnatida to‘rt belgi qanday ko‘rinadi? 2) Haq to‘lanishi nimani anglatadi? Doskaga jadvalni o‘zlari chizib, har belgiga bittadan misol yozsin. Tipik xato: belgilarni sanashda V (haq to‘lanishi) va G (shaxsiy mehnat) belgilarini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Vrach uchun qaysi huquq amaliyotda eng muhim (xavfsiz sharoit, malaka oshirish)? 2) Xodim huquqlari bilan ish beruvchi huquqlari bir-biriga qanday bog‘liq? Doskada: ikki ustunli ro‘yxat chizdiring (xodim huquqlari | ish beruvchi huquqlari). Tipik xato: talabalar ish beruvchi huquqlarini xodim majburiyatlari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Ish beruvchi vrachdan vazifasiga kirmaydigan ishni talab qilsa, nima qilish kerak? 2) Mehnat muhofazasi bo‘yicha ikki tarafning majburiyati nima uchun parallel? Doskada: jadvalni qayta chizib, har katakka tibbiyotdan bittadan misol yozdiring. Tipik xato: 176-modda (xodim) va 177-moddani (ish beruvchi) almashtirib yuborish. Qo‘shimcha: jamoa shartnomalarini tuzish ham ish beruvchi majburiyati.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majburiy mehnat, taqiqlanadi (MK 7-modda); 2) ish haqi, dam olish, xavfsiz sharoit, malaka oshirish, zararni qoplash, sud orqali himoya; 3) vazifasiga kirmaydigan, qonunga xilof, hayot va sog‘liqqa xavfli yoki sha’nni kamsituvchi ishlar. Muhokama: majburiy mehnat istisnolari nima uchun mavjud? Doskada: ’majburiy mehnat ≠ istisno holatlar’ sxemasini chizdiring. Tipik xato: har qanday majburiy bajariladigan ishni ’majburiy mehnat’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shartnomada mehnat vazifasi (mutaxassislik, lavozim) aniq yozilishi kerak? 2) Shartnomada xodim huquqlari qonundagidan past belgilansa nima bo‘ladi? Doskada: shartnoma bosqichlari zanjirini chizdiring va har bosqich yoniga tegishli shartni yozing. Tipik xato: shartnoma shartlari bilan qonunda berilgan kafolatlarni aralashtirish; kafolatlar pasaytirilmaydi.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Muddat yozilmagan shartnoma qanday turga kiradi? 2) Yangi bitirgan vrach qaysi hujjatlarni topshiradi? Doskada: muddat turlarining uch variantini (nomuayyan, 5 yilgacha, muayyan ish) chizing. Tipik xato: besh yil chegarasini nomuayyan shartnomaga ham qo‘llash; u faqat muddatli shartnomaga tegishli.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Sinov muddatida taraflarning huquqi qanday? 2) Qaysi xodimlarga sinov belgilanmaydi va nima uchun? Doskada: sinov jarayoni zanjirini chizib, ikki yo‘lni (bekor qilish / davom etish) ko‘rsating. Tipik xato: sinovdagi 3 kunlik ogohlantirishni xodim tashabbusidagi 2 haftalik ogohlantirish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Jamoa shartnomasi individual mehnat shartnomasidan nimasi bilan farq qiladi? 2) Nega qonundagidan imtiyozliroq shartlar kiritish mumkin? Doskada: jadvalni chizib, har qatorga o‘z muassasangizdan misol yozdiring. To‘liq tamoyillar ro‘yxatini ayting: qonunga rioya, vakolatlilik, masalalarni tanlash va muhokama erkinligi, ixtiyoriylik, bajarilishini ta’minlash, muntazam tekshirish, javobgarlikning muqarrarligi. Tipik xato: jamoa shartnomasini xodimning individual shartnomasi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Tashqi va ichki o‘rindoshlik nimasi bilan farqlanadi? 2) Bir necha kasbda ishlash qachon mumkin? Doskada: to‘rt shaklni vaqt o‘qida (asosiy ish vaqti / bo‘sh vaqt) joylashtiring. Tipik xato: bir necha kasbda ishlashni o‘rindoshlik bilan, o‘rinbosarlikni esa bir necha kasb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Qo‘shimcha ish qaysi shaklda (tashqi o‘rindoshlik) rasmiylashtiriladi va qaysi hujjat o‘zgaradi? 2) Qaysi toifadagi ayollarga dastlabki sinov belgilanmaydi? Javob: homilador ayollar va uch yoshga to‘lmagan bolasi borlar. Doskada: ishga qabul hujjatlari ro‘yxati va ikki ish joyi sxemasini chizdiring. Tipik xato: o‘rindoshga ham mehnat daftarchasini talab qilish; aslida ma’lumotnoma beriladi.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tibbiy xodimlar uchun ish vaqti qisqartirilgan (his-hayajon, aqliy zo‘riqish, asab tarangligi)? 2) Qisqartirilgan ish vaqtida ish haqi o‘zgaradimi? Doskaga chizish: 40 soatlik haftani 6 va 5 kunga bo‘lib, kunlik soatlarni hisoblash. Tipik xato: 36 soatni barcha xodimlarga tegishli deb o‘ylash. Bunday xodimlar ro‘yxati va aniq muddatni Hukumat belgilaydi.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Poliklinika yoki laboratoriyada ish beruvchi xodimga qanday xavflar haqida xabar berishi kerak? 2) Xodim baxtsiz hodisani yashirsa nima bo‘ladi? Doskaga chizish: ikki ustunli ro‘yxat (ish beruvchi vazifalari va xodim vazifalari). Tipik xato: mehnat muhofazasi javobgarligini faqat xodimga yuklash. Sharoitni yaratish uchun ish beruvchi mas’ul.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Xodim ko‘rikdan bosh tortsa, ish beruvchi nima qiladi? 2) Xodim salomatligi yomonlashganda ko‘rikni qanday talab qiladi? Doskaga chizish: dastlabki, davriy va navbatdan tashqari ko‘riklar sxemasi. Tipik xato: ko‘rik xarajatini xodim to‘laydi deb o‘ylash. Mehnat kodeksining 214-moddasiga ko‘ra, ro‘yxat va o‘tkazish tartibini Sog‘liqni saqlash vazirligi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tibbiy xodimlarga qisqartirilgan ish vaqti belgilangan? Ish beruvchi tibbiy ko‘rikni nima uchun tashkil etadi? Doskada: ikki ustunli ro‘yxat yozing: 40 soat (umumiy) va 36 soat (tibbiy xodim). Tipik xato: talabalar 40 va 36 soatni aralashtiradi yoki ko‘rik xarajatini xodimga yuklaydilar.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ishdan chetlatish bilan ishdan bo‘shatish bir xilmi? Navbatdan tashqari ko‘rik kimning tashabbusi bilan o‘tadi? Doskada: vaziyat–asos–oqibat sxemasini chizdiring. Tipik xato: ishdan chetlatishni mehnat shartnomasini bekor qilish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ikki haftalik muddat qisqartirilishi mumkinmi (kelishuv bilan)? Ish davom etishi imkonsiz bo‘lsa (o‘quv yurtiga qabul, pensiya) qanday tartib? Doskada: zanjirni talabalar bilan birga chizing. Tipik xato: ariza qaytarib olish huquqini ogohlantirish tugagandan keyin ham bor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Muntazam va bir martalik qo‘pol buzish qanday farqlanadi? 2) Qo‘pollik qanday aniqlanadi? Doskada: ish beruvchi tashabbusining ikki sharti (Mehnat kodeksida ko‘zda tutilgan sabab + rasmiy talablarga rioya) va 6 ta sababni ro‘yxat qilib chizing. Tipik xato: talabalar ish beruvchi istagan sababni ko‘rsatib bo‘shatishi mumkin deb o‘ylaydi; sabab faqat Mehnat kodeksidagi ro‘yxatdan bo‘ladi.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shtat qisqarishida muddat eng uzun? 2) Kompensatsiya qachon ogohlantirish o‘rnini bosadi? Doskada: jadvalni 2 oy – 2 hafta – 3 kun tartibida chizib, taqiqlangan davrlarni (kasallik, ta’til) alohida ramkaga oling. Tipik xato: 2 oy, 2 hafta va 3 kunni aralashtirish; 3 kun faqat intizom buzilishiga tegishli.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Shtat qisqarishi bo‘lsa ham X ni kasallikda bo‘shatish mumkinmi? 2) Ogohlantirish muddati kasallik davriga to‘g‘ri kelsa nima bo‘ladi? Doskada: X uchun vaqt chizig‘i — ogohlantirish, kasallik, bekor qilish sanasi. Tipik xato: shtat qisqarishi hamma holatda bo‘shatishga ruxsat beradi deb o‘ylash; kasallik va ta’til taqiqi saqlanadi.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Tibbiy xodimning qanday xatti-harakati intizomiy qilmish bo‘lishi mumkin? 2) Nega ichki tartibga ko‘ra jarima miqdori farqlanadi? Doskada chizish: 4 qatorli jazo jadvalini talabalar o‘zlari to‘ldirsin. Tipik xato: 30 foiz va 50 foizni aralashtirish hamda jarimani ish haqining to‘liq miqdori bilan adashtirish (u o‘rtacha oylik ish haqidan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jazodan oldin yozma tushuntirish xati talab qilinadi? 2) Jazoning bir yillik amal qilishi xodimga nimani anglatadi? Doskada chizish: 1 oy, 6 oy va 2 yillik muddatlarni vaqt chizig‘ida ko‘rsating. Tipik xato: 1 oylik muddatni qilmish sodir bo‘lgan kundan hisoblash (u qilmish aniqlangan kundan boshlanadi) va bitta qilmishga bir nechta jazo berish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Talabalar javobni daftarga yozib, juftlikda tekshirsin. Muhokama: ogohlantirish muddatlari tomonlarga qarab nega farqlanadi? Doskada chizish: ’xodim tashabbusi’ va ’ish beruvchi tashabbusi’ degan ikki ustun va ularning muddatlari. Tipik xato: xodim va ish beruvchining ogohlantirish muddatlarini aralashtirish hamda 1 oylik jazo muddatini 1 yillik amal qilish muddati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Bir oylik muddat qaysi paytdan boshlanadi va qaysi davrlar unga kirmaydi? 2) Tushuntirish xati nima uchun talab qilinadi? Doskada: jazo qo‘llash tartibi zanjirini (qilmish aniqlandi → tushuntirish xati → jazo → buyruq) chizdiring. Tipik xato: tushuntirish xatidan bosh tortish jazoni to‘sadi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Ma’muriy huquqbuzarlik jinoyatdan nimasi bilan farq qiladi? 2) Sanitariya yoki epidemiyaga qarshi qoidalar buzilishi qachon jinoyatga aylanishi mumkin? Doskada: ikki ustunli solishtirish jadvalini chizdiring. Tipik xato: ma’muriy huquqbuzarlikni jinoyatning yengil turi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Qasddan va ehtiyotsizlik orqasidagi huquqbuzarlik qanday farqlanadi? 2) Oxirgi zarurat holati qaysi ikki shart bilan huquqbuzarlik hisoblanmaydi? Doskada: ayb shakllari sxemasini (qasd / ehtiyotsizlik) chizdiring. Tipik xato: oxirgi zarurat holatida har qanday zarar ruxsat etilgan deb o‘ylash, zarar xavfdan kam bo‘lishi shartini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tibbiy xodimlarga asosan jarima solinadi? 2) Asosiy va qo‘shimcha jazo qanday farqlanadi? Doskada: beshta jazo turini zanjir qilib chizdiring, asosiy va qo‘shimcha jazoni alohida belgilang. Tipik xato: olib qo‘yish (haqi to‘lanadi, pul egasiga qaytadi) bilan musodarani (haqsiz davlat mulkiga o‘tadi) aralashtirish. Diqqat: olib qo‘yish ≠ musodara. Manbaga ko‘ra, bu ikki jazo xususiy tibbiy va farmatsevtika amaliyotida qo‘llanishi mumkin (95-bet).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Nima uchun mansabdor shaxsga jarima yuqoriroq chegarada belgilanadi? 2) Mahalliy hokimiyat qarorida chegara nega pastroq? Doskada: jadvalni chizib, har bir katakka o‘z so‘zingiz bilan misol yozdiring. Tipik xato: «ellikdan bir» va «o‘ndan bir» kasrlarini aralashtirish, mahalliy hokimiyat chegarasini (3 va 5) umumiy chegara (5 va 10) bilan adashtirish. Diqqat: istisno holatlar (100 va 150 baravar) faqat alohida turdagi huquqbuzarliklarga tegishli.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Muddat qaysi kundan boshlab hisoblanadi? 2) Nima uchun jinoyat ishi rad etilganda muddat qisqaroq? Doskada: vaqt chizig‘ini chizib, 2 oylik va 1 oylik muddatlarni belgilang. Tipik xato: 2 oy va 1 oyni aralashtirish; bojxona musodarasiga bu muddatlar tatbiq etilmasligini unutish. Eslatma: manbada faqat musodara qarorini chiqaruvchi organlar keltirilgan, haq to‘lab olib qo‘yish bo‘yicha alohida organlar ko‘rsatilmagan.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talabalarga yopiq kitob bilan so‘rang. Muhokama: nega tibbiy xodimlarga ko‘proq jarima qo‘llanadi? Ogohlantirish va javobgarlikdan ozod etish qanday bog‘lanadi? Doskada: ma’muriy huquqbuzarlik va jinoyat o‘rtasidagi farqni ikki ustunli ro‘yxat qilib chizdiring. Tipik xato: ma’muriy huquqbuzarlikni jinoyat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tibbiyot muassasasidagi sanitariya buzilishini qaysi organ ko‘rishi mumkin? Ekspertiza qachon kerak bo‘ladi? Doskada: organlar ro‘yxatini sud, komissiya va nazorat organlari bo‘yicha guruhlab yozdiring. Tipik xato: faqat sudni vakolatli organ deb o‘ylash, nazorat organlarini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shaxs imzodan bosh tortsa, bayonnoma bekor bo‘ladimi? Huquqlar nega tushuntirilishi shart? Doskada: zanjirni bosqichma-bosqich chizdiring va har bosqichga mas’ul shaxsni yozing. Tipik xato: imzodan bosh tortishni bayonnomani haqiqiy emas qiladi deb hisoblash. Aslida bu haqda bayonnomaga yozib qo‘yiladi. Qisqartma: MJhK — Ma’muriy javobgarlik to‘g‘risidagi kodeks.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guruh vrach kundalik ishiga eng yaqin? 2) Nega tuxmat va haqorat ko‘proq rahbarlarga taalluqli? Doskada jadvalni chizdiring va har guruhga bittadan o‘z misolini yozdiring. Tipik xato: modda raqamlarini aralashtirish; 199-moddada subyekt fuqaro, 215-moddada mansabdor shaxs ekanini unutish. Eslatma: OITS — orttirilgan immun tanqisligi sindromi.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Vaziyat darslik ma’lumotlari asosida soddalashtirilgan. Muhokama: 1) Imzolashdan bosh tortilsa nima yoziladi? 2) Fuqaro va mansabdor shaxsga jarima nega farqlanadi? Doskada bayonnoma bandlarini ketma-ket chizdiring. Tipik xato: bayonnomada huquqbuzar huquqlarini tushuntirishni va ikki oylik muddatni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Intizomiy va ma’muriy jazoni muddat bo‘yicha solishtiring. 2) Tibbiy xodim qaysi hollarda ma’muriy javobgar bo‘ladi? Doskada ikki ustunli solishtirish chizdiring: mehnat va ma’muriy javobgarlik. Tipik xato: intizomiy jazo muddati (bir oy) bilan ma’muriy jazo muddatini (ikki oy) aralashtirish. Talabalarga nazorat savollaridan juftlikda javob berdiring.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Mehnat qonunchiligi va tibbiy xodimlar faoliyati. Tibbiy xodimlarning ma’muriy javobgarligi.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mashg‘ulot maqsadi va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Mehnat qonunchiligi xodim va ish beruvchi munosabatlarini tartibga soladi. U ish haqi, ichki tartib, intizom va mehnatni himoya qilish masalalarini belgilaydi.</a:t>
            </a:r>
          </a:p>
          <a:p>
            <a:pPr>
              <a:spcAft>
                <a:spcPts val="1200"/>
              </a:spcAft>
            </a:pPr>
            <a:r>
              <a:rPr sz="2200">
                <a:solidFill>
                  <a:srgbClr val="1F2937"/>
                </a:solidFill>
                <a:latin typeface="Calibri"/>
              </a:rPr>
              <a:t>▸  Mehnat kodeksida tibbiy xodimlar ish vaqti haftasiga 36 soatdan oshmaydigan toifaga kiradi. Sababi: ish yuqori his-hayajon va asab tarangligi bilan bog‘liq.</a:t>
            </a:r>
          </a:p>
          <a:p>
            <a:pPr>
              <a:spcAft>
                <a:spcPts val="1200"/>
              </a:spcAft>
            </a:pPr>
            <a:r>
              <a:rPr sz="2200">
                <a:solidFill>
                  <a:srgbClr val="1F2937"/>
                </a:solidFill>
                <a:latin typeface="Calibri"/>
              </a:rPr>
              <a:t>▸  Sanitariya qoidalari yoki epidemiyaga qarshi kurash qoidalari buzilsa, tibbiy xodim ham ma’muriy huquqbuzarlik subyekti bo‘lishi mumkin.</a:t>
            </a:r>
          </a:p>
          <a:p>
            <a:pPr>
              <a:spcAft>
                <a:spcPts val="1200"/>
              </a:spcAft>
            </a:pPr>
            <a:r>
              <a:rPr sz="2200">
                <a:solidFill>
                  <a:srgbClr val="1F2937"/>
                </a:solidFill>
                <a:latin typeface="Calibri"/>
              </a:rPr>
              <a:t>▸  Reja: mehnat shartnomasi, ish vaqti, mehnatni muhofaza qilish, shartnomani bekor qilish, intizomiy jazo. Keyin ma’muriy javobgarlik.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78, 85, 99-100, 78-101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qonunchiligi: Konstitutsiya va Mehnat kodeksi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Konstitutsiyaning 37-moddasiga ko‘ra har bir fuqaro mehnat qilish, erkin ish tanlash, haqqoniy mehnat shartlari va ishsizlikdan himoyalanish huquqiga ega.</a:t>
            </a:r>
          </a:p>
          <a:p>
            <a:pPr>
              <a:spcAft>
                <a:spcPts val="1200"/>
              </a:spcAft>
            </a:pPr>
            <a:r>
              <a:rPr sz="2000">
                <a:solidFill>
                  <a:srgbClr val="1F2937"/>
                </a:solidFill>
                <a:latin typeface="Calibri"/>
              </a:rPr>
              <a:t>▸  Mehnat munosabatlarini bozor iqtisodiyoti tamoyillariga mos tartibga solishning asosiy manbai Mehnat kodeksidir.</a:t>
            </a:r>
          </a:p>
          <a:p>
            <a:pPr>
              <a:spcAft>
                <a:spcPts val="1200"/>
              </a:spcAft>
            </a:pPr>
            <a:r>
              <a:rPr sz="2000">
                <a:solidFill>
                  <a:srgbClr val="1F2937"/>
                </a:solidFill>
                <a:latin typeface="Calibri"/>
              </a:rPr>
              <a:t>▸  Mehnat huquqi mehnat shartnomasi asosidagi munosabatlarni tartibga soladi. Bunga shartnomani tuzish, o‘zgartirish, to‘xtatish, ish haqi, intizom va bahslarni ko‘rish kiradi.</a:t>
            </a:r>
          </a:p>
          <a:p>
            <a:pPr>
              <a:spcAft>
                <a:spcPts val="1200"/>
              </a:spcAft>
            </a:pPr>
            <a:r>
              <a:rPr sz="2000">
                <a:solidFill>
                  <a:srgbClr val="1F2937"/>
                </a:solidFill>
                <a:latin typeface="Calibri"/>
              </a:rPr>
              <a:t>▸  Majburiy mehnat, ya’ni jazo bilan tahdid qilib ishga majburlash, taqiqlanadi. Harbiy xizmat, favqulodda holat va sud hukmi kabi istisnolar Mehnat kodeksining 7-moddasida berilgan.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78, 79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munosabatlarining o‘ziga xos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Mehnat munosabatlari fuqarolik huquqi kabi tarmoqlardan o‘ziga xos belgilari bilan ajralib turadi.</a:t>
            </a:r>
          </a:p>
          <a:p>
            <a:pPr>
              <a:spcAft>
                <a:spcPts val="800"/>
              </a:spcAft>
            </a:pPr>
            <a:r>
              <a:rPr sz="1800">
                <a:solidFill>
                  <a:srgbClr val="1F2937"/>
                </a:solidFill>
                <a:latin typeface="Calibri"/>
              </a:rPr>
              <a:t>▸  Mehnat haq evaziga bo‘lgani uchun u jamoat tartibi asosidagi faoliyatdan farqlanadi.</a:t>
            </a:r>
          </a:p>
          <a:p>
            <a:pPr>
              <a:spcAft>
                <a:spcPts val="800"/>
              </a:spcAft>
            </a:pPr>
            <a:r>
              <a:rPr sz="1800">
                <a:solidFill>
                  <a:srgbClr val="1F2937"/>
                </a:solidFill>
                <a:latin typeface="Calibri"/>
              </a:rPr>
              <a:t>▸  Eslab qoling: to‘rt belgi bor — A, B, V, G.</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66807"/>
                <a:gridCol w="3721167"/>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A</a:t>
                      </a:r>
                    </a:p>
                  </a:txBody>
                  <a:tcPr marL="73152" marR="73152" marT="36576" marB="36576">
                    <a:solidFill>
                      <a:srgbClr val="E8EEF6"/>
                    </a:solidFill>
                  </a:tcPr>
                </a:tc>
                <a:tc>
                  <a:txBody>
                    <a:bodyPr/>
                    <a:lstStyle/>
                    <a:p>
                      <a:r>
                        <a:rPr sz="1300" b="0">
                          <a:solidFill>
                            <a:srgbClr val="1F2937"/>
                          </a:solidFill>
                        </a:rPr>
                        <a:t>Ishlab chiqarishda vujudga keladi</a:t>
                      </a:r>
                    </a:p>
                  </a:txBody>
                  <a:tcPr marL="73152" marR="73152" marT="36576" marB="36576">
                    <a:solidFill>
                      <a:srgbClr val="E8EEF6"/>
                    </a:solidFill>
                  </a:tcPr>
                </a:tc>
              </a:tr>
              <a:tr h="411480">
                <a:tc>
                  <a:txBody>
                    <a:bodyPr/>
                    <a:lstStyle/>
                    <a:p>
                      <a:r>
                        <a:rPr sz="1300" b="0">
                          <a:solidFill>
                            <a:srgbClr val="1F2937"/>
                          </a:solidFill>
                        </a:rPr>
                        <a:t>B</a:t>
                      </a:r>
                    </a:p>
                  </a:txBody>
                  <a:tcPr marL="73152" marR="73152" marT="36576" marB="36576">
                    <a:solidFill>
                      <a:srgbClr val="FFFFFF"/>
                    </a:solidFill>
                  </a:tcPr>
                </a:tc>
                <a:tc>
                  <a:txBody>
                    <a:bodyPr/>
                    <a:lstStyle/>
                    <a:p>
                      <a:r>
                        <a:rPr sz="1300" b="0">
                          <a:solidFill>
                            <a:srgbClr val="1F2937"/>
                          </a:solidFill>
                        </a:rPr>
                        <a:t>Jamoa a’zosi: aniq huquq va majburiyat</a:t>
                      </a:r>
                    </a:p>
                  </a:txBody>
                  <a:tcPr marL="73152" marR="73152" marT="36576" marB="36576">
                    <a:solidFill>
                      <a:srgbClr val="FFFFFF"/>
                    </a:solidFill>
                  </a:tcPr>
                </a:tc>
              </a:tr>
              <a:tr h="411480">
                <a:tc>
                  <a:txBody>
                    <a:bodyPr/>
                    <a:lstStyle/>
                    <a:p>
                      <a:r>
                        <a:rPr sz="1300" b="0">
                          <a:solidFill>
                            <a:srgbClr val="1F2937"/>
                          </a:solidFill>
                        </a:rPr>
                        <a:t>V</a:t>
                      </a:r>
                    </a:p>
                  </a:txBody>
                  <a:tcPr marL="73152" marR="73152" marT="36576" marB="36576">
                    <a:solidFill>
                      <a:srgbClr val="E8EEF6"/>
                    </a:solidFill>
                  </a:tcPr>
                </a:tc>
                <a:tc>
                  <a:txBody>
                    <a:bodyPr/>
                    <a:lstStyle/>
                    <a:p>
                      <a:r>
                        <a:rPr sz="1300" b="0">
                          <a:solidFill>
                            <a:srgbClr val="1F2937"/>
                          </a:solidFill>
                        </a:rPr>
                        <a:t>Haq to‘lanadi; ehtiyojlar qondiriladi</a:t>
                      </a:r>
                    </a:p>
                  </a:txBody>
                  <a:tcPr marL="73152" marR="73152" marT="36576" marB="36576">
                    <a:solidFill>
                      <a:srgbClr val="E8EEF6"/>
                    </a:solidFill>
                  </a:tcPr>
                </a:tc>
              </a:tr>
              <a:tr h="411480">
                <a:tc>
                  <a:txBody>
                    <a:bodyPr/>
                    <a:lstStyle/>
                    <a:p>
                      <a:r>
                        <a:rPr sz="1300" b="0">
                          <a:solidFill>
                            <a:srgbClr val="1F2937"/>
                          </a:solidFill>
                        </a:rPr>
                        <a:t>G</a:t>
                      </a:r>
                    </a:p>
                  </a:txBody>
                  <a:tcPr marL="73152" marR="73152" marT="36576" marB="36576">
                    <a:solidFill>
                      <a:srgbClr val="FFFFFF"/>
                    </a:solidFill>
                  </a:tcPr>
                </a:tc>
                <a:tc>
                  <a:txBody>
                    <a:bodyPr/>
                    <a:lstStyle/>
                    <a:p>
                      <a:r>
                        <a:rPr sz="1300" b="0">
                          <a:solidFill>
                            <a:srgbClr val="1F2937"/>
                          </a:solidFill>
                        </a:rPr>
                        <a:t>Shaxsiy mehnat, aniq kasb va lavozim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belgi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78, 79, 78-79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Xodim va ish beruvchining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Xodim qonunda belgilangan eng kam oylik ish haqidan kam bo‘lmagan haq olish, dam olish va xavfsiz, gigiena talablariga mos sharoitda ishlash huquqiga ega.</a:t>
            </a:r>
          </a:p>
          <a:p>
            <a:pPr>
              <a:spcAft>
                <a:spcPts val="1200"/>
              </a:spcAft>
            </a:pPr>
            <a:r>
              <a:rPr sz="2000">
                <a:solidFill>
                  <a:srgbClr val="1F2937"/>
                </a:solidFill>
                <a:latin typeface="Calibri"/>
              </a:rPr>
              <a:t>▸  Xodim kasbga tayyorlanish va malaka oshirish, ish bilan bog‘liq zarar o‘rnini qoplash hamda kasaba uyushmalariga a’zo bo‘lish huquqiga ham ega.</a:t>
            </a:r>
          </a:p>
          <a:p>
            <a:pPr>
              <a:spcAft>
                <a:spcPts val="1200"/>
              </a:spcAft>
            </a:pPr>
            <a:r>
              <a:rPr sz="2000">
                <a:solidFill>
                  <a:srgbClr val="1F2937"/>
                </a:solidFill>
                <a:latin typeface="Calibri"/>
              </a:rPr>
              <a:t>▸  Keksayganda yoki mehnat qobiliyatini yo‘qotganda ijtimoiy ta’minot olinadi. Mehnat huquqini sud orqali himoya qilish va yuridik yordam olish mumkin (MK 16-modda).</a:t>
            </a:r>
          </a:p>
          <a:p>
            <a:pPr>
              <a:spcAft>
                <a:spcPts val="1200"/>
              </a:spcAft>
            </a:pPr>
            <a:r>
              <a:rPr sz="2000">
                <a:solidFill>
                  <a:srgbClr val="1F2937"/>
                </a:solidFill>
                <a:latin typeface="Calibri"/>
              </a:rPr>
              <a:t>▸  Ish beruvchi shartnomalarni tuzish va bekor qilish hamda xodimdan shartnomadagi ishni to‘laqonli bajarishni talab qilish huquqiga ega (MK 17-modda).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79, 79-80, 80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Xodim va ish beruvchi majburiyatlari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Xodim ish beruvchining qonuniy farmonlarini o‘z vaqtida va aniq bajarishi shart.</a:t>
            </a:r>
          </a:p>
          <a:p>
            <a:pPr>
              <a:spcAft>
                <a:spcPts val="800"/>
              </a:spcAft>
            </a:pPr>
            <a:r>
              <a:rPr sz="1800">
                <a:solidFill>
                  <a:srgbClr val="1F2937"/>
                </a:solidFill>
                <a:latin typeface="Calibri"/>
              </a:rPr>
              <a:t>▸  Ish beruvchi vazifasiga kirmaydigan, qonunga xilof yoki hayot va sog‘liqqa xavfli ishni talab qila olmaydi.</a:t>
            </a:r>
          </a:p>
          <a:p>
            <a:pPr>
              <a:spcAft>
                <a:spcPts val="800"/>
              </a:spcAft>
            </a:pPr>
            <a:r>
              <a:rPr sz="1800">
                <a:solidFill>
                  <a:srgbClr val="1F2937"/>
                </a:solidFill>
                <a:latin typeface="Calibri"/>
              </a:rPr>
              <a:t>▸  Ish beruvchi xodimning sha’ni va qadr-qimmatini kamsituvchi harakatlarni talab etishga ham haqli emas.</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68273"/>
                <a:gridCol w="2152082"/>
                <a:gridCol w="1967618"/>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Xodim (176)</a:t>
                      </a:r>
                    </a:p>
                  </a:txBody>
                  <a:tcPr marL="73152" marR="73152" marT="36576" marB="36576">
                    <a:solidFill>
                      <a:srgbClr val="0B1F3A"/>
                    </a:solidFill>
                  </a:tcPr>
                </a:tc>
                <a:tc>
                  <a:txBody>
                    <a:bodyPr/>
                    <a:lstStyle/>
                    <a:p>
                      <a:r>
                        <a:rPr sz="1300" b="1">
                          <a:solidFill>
                            <a:srgbClr val="FFFFFF"/>
                          </a:solidFill>
                        </a:rPr>
                        <a:t>Ish beruvchi (177)</a:t>
                      </a:r>
                    </a:p>
                  </a:txBody>
                  <a:tcPr marL="73152" marR="73152" marT="36576" marB="36576">
                    <a:solidFill>
                      <a:srgbClr val="0B1F3A"/>
                    </a:solidFill>
                  </a:tcPr>
                </a:tc>
              </a:tr>
              <a:tr h="411480">
                <a:tc>
                  <a:txBody>
                    <a:bodyPr/>
                    <a:lstStyle/>
                    <a:p>
                      <a:r>
                        <a:rPr sz="1200" b="0">
                          <a:solidFill>
                            <a:srgbClr val="1F2937"/>
                          </a:solidFill>
                        </a:rPr>
                        <a:t>Mehnat vazifasi</a:t>
                      </a:r>
                    </a:p>
                  </a:txBody>
                  <a:tcPr marL="73152" marR="73152" marT="36576" marB="36576">
                    <a:solidFill>
                      <a:srgbClr val="E8EEF6"/>
                    </a:solidFill>
                  </a:tcPr>
                </a:tc>
                <a:tc>
                  <a:txBody>
                    <a:bodyPr/>
                    <a:lstStyle/>
                    <a:p>
                      <a:r>
                        <a:rPr sz="1200" b="0">
                          <a:solidFill>
                            <a:srgbClr val="1F2937"/>
                          </a:solidFill>
                        </a:rPr>
                        <a:t>Halol, vijdonan bajarish</a:t>
                      </a:r>
                    </a:p>
                  </a:txBody>
                  <a:tcPr marL="73152" marR="73152" marT="36576" marB="36576">
                    <a:solidFill>
                      <a:srgbClr val="E8EEF6"/>
                    </a:solidFill>
                  </a:tcPr>
                </a:tc>
                <a:tc>
                  <a:txBody>
                    <a:bodyPr/>
                    <a:lstStyle/>
                    <a:p>
                      <a:r>
                        <a:rPr sz="1200" b="0">
                          <a:solidFill>
                            <a:srgbClr val="1F2937"/>
                          </a:solidFill>
                        </a:rPr>
                        <a:t>Xodimlar mehnatini tashkil etish</a:t>
                      </a:r>
                    </a:p>
                  </a:txBody>
                  <a:tcPr marL="73152" marR="73152" marT="36576" marB="36576">
                    <a:solidFill>
                      <a:srgbClr val="E8EEF6"/>
                    </a:solidFill>
                  </a:tcPr>
                </a:tc>
              </a:tr>
              <a:tr h="411480">
                <a:tc>
                  <a:txBody>
                    <a:bodyPr/>
                    <a:lstStyle/>
                    <a:p>
                      <a:r>
                        <a:rPr sz="1200" b="0">
                          <a:solidFill>
                            <a:srgbClr val="1F2937"/>
                          </a:solidFill>
                        </a:rPr>
                        <a:t>Intizom</a:t>
                      </a:r>
                    </a:p>
                  </a:txBody>
                  <a:tcPr marL="73152" marR="73152" marT="36576" marB="36576">
                    <a:solidFill>
                      <a:srgbClr val="FFFFFF"/>
                    </a:solidFill>
                  </a:tcPr>
                </a:tc>
                <a:tc>
                  <a:txBody>
                    <a:bodyPr/>
                    <a:lstStyle/>
                    <a:p>
                      <a:r>
                        <a:rPr sz="1200" b="0">
                          <a:solidFill>
                            <a:srgbClr val="1F2937"/>
                          </a:solidFill>
                        </a:rPr>
                        <a:t>Mehnat intizomiga rioya qilish</a:t>
                      </a:r>
                    </a:p>
                  </a:txBody>
                  <a:tcPr marL="73152" marR="73152" marT="36576" marB="36576">
                    <a:solidFill>
                      <a:srgbClr val="FFFFFF"/>
                    </a:solidFill>
                  </a:tcPr>
                </a:tc>
                <a:tc>
                  <a:txBody>
                    <a:bodyPr/>
                    <a:lstStyle/>
                    <a:p>
                      <a:r>
                        <a:rPr sz="1200" b="0">
                          <a:solidFill>
                            <a:srgbClr val="1F2937"/>
                          </a:solidFill>
                        </a:rPr>
                        <a:t>Intizomni ta’minlash</a:t>
                      </a:r>
                    </a:p>
                  </a:txBody>
                  <a:tcPr marL="73152" marR="73152" marT="36576" marB="36576">
                    <a:solidFill>
                      <a:srgbClr val="FFFFFF"/>
                    </a:solidFill>
                  </a:tcPr>
                </a:tc>
              </a:tr>
              <a:tr h="411480">
                <a:tc>
                  <a:txBody>
                    <a:bodyPr/>
                    <a:lstStyle/>
                    <a:p>
                      <a:r>
                        <a:rPr sz="1200" b="0">
                          <a:solidFill>
                            <a:srgbClr val="1F2937"/>
                          </a:solidFill>
                        </a:rPr>
                        <a:t>Mehnat muhofazasi</a:t>
                      </a:r>
                    </a:p>
                  </a:txBody>
                  <a:tcPr marL="73152" marR="73152" marT="36576" marB="36576">
                    <a:solidFill>
                      <a:srgbClr val="E8EEF6"/>
                    </a:solidFill>
                  </a:tcPr>
                </a:tc>
                <a:tc>
                  <a:txBody>
                    <a:bodyPr/>
                    <a:lstStyle/>
                    <a:p>
                      <a:r>
                        <a:rPr sz="1200" b="0">
                          <a:solidFill>
                            <a:srgbClr val="1F2937"/>
                          </a:solidFill>
                        </a:rPr>
                        <a:t>Xavfsizlik talablariga rioya qilish</a:t>
                      </a:r>
                    </a:p>
                  </a:txBody>
                  <a:tcPr marL="73152" marR="73152" marT="36576" marB="36576">
                    <a:solidFill>
                      <a:srgbClr val="E8EEF6"/>
                    </a:solidFill>
                  </a:tcPr>
                </a:tc>
                <a:tc>
                  <a:txBody>
                    <a:bodyPr/>
                    <a:lstStyle/>
                    <a:p>
                      <a:r>
                        <a:rPr sz="1200" b="0">
                          <a:solidFill>
                            <a:srgbClr val="1F2937"/>
                          </a:solidFill>
                        </a:rPr>
                        <a:t>Muhofaza qoidalariga rioya etish</a:t>
                      </a:r>
                    </a:p>
                  </a:txBody>
                  <a:tcPr marL="73152" marR="73152" marT="36576" marB="36576">
                    <a:solidFill>
                      <a:srgbClr val="E8EEF6"/>
                    </a:solidFill>
                  </a:tcPr>
                </a:tc>
              </a:tr>
              <a:tr h="411480">
                <a:tc>
                  <a:txBody>
                    <a:bodyPr/>
                    <a:lstStyle/>
                    <a:p>
                      <a:r>
                        <a:rPr sz="1200" b="0">
                          <a:solidFill>
                            <a:srgbClr val="1F2937"/>
                          </a:solidFill>
                        </a:rPr>
                        <a:t>Mol-mulk va sharoit</a:t>
                      </a:r>
                    </a:p>
                  </a:txBody>
                  <a:tcPr marL="73152" marR="73152" marT="36576" marB="36576">
                    <a:solidFill>
                      <a:srgbClr val="FFFFFF"/>
                    </a:solidFill>
                  </a:tcPr>
                </a:tc>
                <a:tc>
                  <a:txBody>
                    <a:bodyPr/>
                    <a:lstStyle/>
                    <a:p>
                      <a:r>
                        <a:rPr sz="1200" b="0">
                          <a:solidFill>
                            <a:srgbClr val="1F2937"/>
                          </a:solidFill>
                        </a:rPr>
                        <a:t>Ish beruvchi mol-mulkini asrash</a:t>
                      </a:r>
                    </a:p>
                  </a:txBody>
                  <a:tcPr marL="73152" marR="73152" marT="36576" marB="36576">
                    <a:solidFill>
                      <a:srgbClr val="FFFFFF"/>
                    </a:solidFill>
                  </a:tcPr>
                </a:tc>
                <a:tc>
                  <a:txBody>
                    <a:bodyPr/>
                    <a:lstStyle/>
                    <a:p>
                      <a:r>
                        <a:rPr sz="1200" b="0">
                          <a:solidFill>
                            <a:srgbClr val="1F2937"/>
                          </a:solidFill>
                        </a:rPr>
                        <a:t>Shartnomadagi sharoitni yaratish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Majburiyatlarni solishtirish (MK 176, 177)</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huquq va majburiyatlar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jazo bilan tahdid qilib ishga majburlash qanday ataladi va qonun buni ruxsat etadimi?</a:t>
            </a:r>
          </a:p>
          <a:p>
            <a:pPr>
              <a:spcAft>
                <a:spcPts val="1200"/>
              </a:spcAft>
            </a:pPr>
            <a:r>
              <a:rPr sz="2200">
                <a:solidFill>
                  <a:srgbClr val="1F2937"/>
                </a:solidFill>
                <a:latin typeface="Calibri"/>
              </a:rPr>
              <a:t>▸  Savol 2: xodimning kamida uchta mehnat huquqini sanab bering.</a:t>
            </a:r>
          </a:p>
          <a:p>
            <a:pPr>
              <a:spcAft>
                <a:spcPts val="1200"/>
              </a:spcAft>
            </a:pPr>
            <a:r>
              <a:rPr sz="2200">
                <a:solidFill>
                  <a:srgbClr val="1F2937"/>
                </a:solidFill>
                <a:latin typeface="Calibri"/>
              </a:rPr>
              <a:t>▸  Savol 3: ish beruvchi xodimdan qaysi ishlarni talab qila olmaydi?</a:t>
            </a:r>
          </a:p>
          <a:p>
            <a:pPr>
              <a:spcAft>
                <a:spcPts val="1200"/>
              </a:spcAft>
            </a:pPr>
            <a:r>
              <a:rPr sz="2200">
                <a:solidFill>
                  <a:srgbClr val="1F2937"/>
                </a:solidFill>
                <a:latin typeface="Calibri"/>
              </a:rPr>
              <a:t>▸  Diqqat: favqulodda holatda yoki sudning hukmi kuchga kirganda bajariladigan ayrim ishlar majburiy mehnat hisoblanmaydi.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79, 79-80, 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shartnomasi: mohiyati va mazmuni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Ishga qabul qilishda mehnat shartnomasi tuziladi. Bu xodim va ish beruvchining haq evaziga ish bajarish haqidagi kelishuvi.</a:t>
            </a:r>
          </a:p>
          <a:p>
            <a:pPr>
              <a:spcAft>
                <a:spcPts val="800"/>
              </a:spcAft>
            </a:pPr>
            <a:r>
              <a:rPr sz="1800">
                <a:solidFill>
                  <a:srgbClr val="1F2937"/>
                </a:solidFill>
                <a:latin typeface="Calibri"/>
              </a:rPr>
              <a:t>▸  Shartnomada ish joyi, mehnat vazifasi, ish boshlanish vaqti, muddat va haq miqdori ko‘rsatilishi lozim.</a:t>
            </a:r>
          </a:p>
          <a:p>
            <a:pPr>
              <a:spcAft>
                <a:spcPts val="800"/>
              </a:spcAft>
            </a:pPr>
            <a:r>
              <a:rPr sz="1800">
                <a:solidFill>
                  <a:srgbClr val="1F2937"/>
                </a:solidFill>
                <a:latin typeface="Calibri"/>
              </a:rPr>
              <a:t>▸  Qonun bilan belgilangan mehnat huquqlari va kafolatlari darajasini shartnoma orqali pasaytirib bo‘lmaydi.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Tanlov yoki saylov (bo‘lsa)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Xodim va ish beruvchi kelishuvi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Mehnat shartnomasi tuziladi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Joy, vazifa, boshlanish vaqti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Muddat va haq miqdori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Shartnoma tuzish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Shartnoma muddatlari va ishga qabul hujjatlari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Shartnoma nomuayyan muddatga, besh yildan oshmagan muddatga yoki muayyan ishni bajarish vaqtiga tuziladi.</a:t>
            </a:r>
          </a:p>
          <a:p>
            <a:pPr>
              <a:spcAft>
                <a:spcPts val="800"/>
              </a:spcAft>
            </a:pPr>
            <a:r>
              <a:rPr sz="1800">
                <a:solidFill>
                  <a:srgbClr val="1F2937"/>
                </a:solidFill>
                <a:latin typeface="Calibri"/>
              </a:rPr>
              <a:t>▸  Muddat ko‘rsatilmasa, shartnoma nomuayyan hisoblanadi; xodim roziligisiz uni muddatliga qayta tuzib bo‘lmaydi.</a:t>
            </a:r>
          </a:p>
          <a:p>
            <a:pPr>
              <a:spcAft>
                <a:spcPts val="800"/>
              </a:spcAft>
            </a:pPr>
            <a:r>
              <a:rPr sz="1800">
                <a:solidFill>
                  <a:srgbClr val="1F2937"/>
                </a:solidFill>
                <a:latin typeface="Calibri"/>
              </a:rPr>
              <a:t>▸  O‘rindoshlik asosida kirayotganlar mehnat daftarchasi o‘rniga asosiy ish joyidan ma’lumotnoma beradi.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41095"/>
                <a:gridCol w="3646879"/>
              </a:tblGrid>
              <a:tr h="411480">
                <a:tc>
                  <a:txBody>
                    <a:bodyPr/>
                    <a:lstStyle/>
                    <a:p>
                      <a:r>
                        <a:rPr sz="1400" b="1">
                          <a:solidFill>
                            <a:srgbClr val="FFFFFF"/>
                          </a:solidFill>
                        </a:rPr>
                        <a:t>Hujjat</a:t>
                      </a:r>
                    </a:p>
                  </a:txBody>
                  <a:tcPr marL="73152" marR="73152" marT="36576" marB="36576">
                    <a:solidFill>
                      <a:srgbClr val="0B1F3A"/>
                    </a:solidFill>
                  </a:tcPr>
                </a:tc>
                <a:tc>
                  <a:txBody>
                    <a:bodyPr/>
                    <a:lstStyle/>
                    <a:p>
                      <a:r>
                        <a:rPr sz="1400" b="1">
                          <a:solidFill>
                            <a:srgbClr val="FFFFFF"/>
                          </a:solidFill>
                        </a:rPr>
                        <a:t>Izoh</a:t>
                      </a:r>
                    </a:p>
                  </a:txBody>
                  <a:tcPr marL="73152" marR="73152" marT="36576" marB="36576">
                    <a:solidFill>
                      <a:srgbClr val="0B1F3A"/>
                    </a:solidFill>
                  </a:tcPr>
                </a:tc>
              </a:tr>
              <a:tr h="411480">
                <a:tc>
                  <a:txBody>
                    <a:bodyPr/>
                    <a:lstStyle/>
                    <a:p>
                      <a:r>
                        <a:rPr sz="1300" b="0">
                          <a:solidFill>
                            <a:srgbClr val="1F2937"/>
                          </a:solidFill>
                        </a:rPr>
                        <a:t>Pasport</a:t>
                      </a:r>
                    </a:p>
                  </a:txBody>
                  <a:tcPr marL="73152" marR="73152" marT="36576" marB="36576">
                    <a:solidFill>
                      <a:srgbClr val="E8EEF6"/>
                    </a:solidFill>
                  </a:tcPr>
                </a:tc>
                <a:tc>
                  <a:txBody>
                    <a:bodyPr/>
                    <a:lstStyle/>
                    <a:p>
                      <a:r>
                        <a:rPr sz="1300" b="0">
                          <a:solidFill>
                            <a:srgbClr val="1F2937"/>
                          </a:solidFill>
                        </a:rPr>
                        <a:t>Yoki uning o‘rnini bosuvchi hujjat</a:t>
                      </a:r>
                    </a:p>
                  </a:txBody>
                  <a:tcPr marL="73152" marR="73152" marT="36576" marB="36576">
                    <a:solidFill>
                      <a:srgbClr val="E8EEF6"/>
                    </a:solidFill>
                  </a:tcPr>
                </a:tc>
              </a:tr>
              <a:tr h="411480">
                <a:tc>
                  <a:txBody>
                    <a:bodyPr/>
                    <a:lstStyle/>
                    <a:p>
                      <a:r>
                        <a:rPr sz="1300" b="0">
                          <a:solidFill>
                            <a:srgbClr val="1F2937"/>
                          </a:solidFill>
                        </a:rPr>
                        <a:t>Mehnat daftarchasi</a:t>
                      </a:r>
                    </a:p>
                  </a:txBody>
                  <a:tcPr marL="73152" marR="73152" marT="36576" marB="36576">
                    <a:solidFill>
                      <a:srgbClr val="FFFFFF"/>
                    </a:solidFill>
                  </a:tcPr>
                </a:tc>
                <a:tc>
                  <a:txBody>
                    <a:bodyPr/>
                    <a:lstStyle/>
                    <a:p>
                      <a:r>
                        <a:rPr sz="1300" b="0">
                          <a:solidFill>
                            <a:srgbClr val="1F2937"/>
                          </a:solidFill>
                        </a:rPr>
                        <a:t>Birinchi marta kirayotganlar bundan mustasno</a:t>
                      </a:r>
                    </a:p>
                  </a:txBody>
                  <a:tcPr marL="73152" marR="73152" marT="36576" marB="36576">
                    <a:solidFill>
                      <a:srgbClr val="FFFFFF"/>
                    </a:solidFill>
                  </a:tcPr>
                </a:tc>
              </a:tr>
              <a:tr h="411480">
                <a:tc>
                  <a:txBody>
                    <a:bodyPr/>
                    <a:lstStyle/>
                    <a:p>
                      <a:r>
                        <a:rPr sz="1300" b="0">
                          <a:solidFill>
                            <a:srgbClr val="1F2937"/>
                          </a:solidFill>
                        </a:rPr>
                        <a:t>Harbiy hujjat</a:t>
                      </a:r>
                    </a:p>
                  </a:txBody>
                  <a:tcPr marL="73152" marR="73152" marT="36576" marB="36576">
                    <a:solidFill>
                      <a:srgbClr val="E8EEF6"/>
                    </a:solidFill>
                  </a:tcPr>
                </a:tc>
                <a:tc>
                  <a:txBody>
                    <a:bodyPr/>
                    <a:lstStyle/>
                    <a:p>
                      <a:r>
                        <a:rPr sz="1300" b="0">
                          <a:solidFill>
                            <a:srgbClr val="1F2937"/>
                          </a:solidFill>
                        </a:rPr>
                        <a:t>Harbiy bilet yoki hisob guvohnomasi</a:t>
                      </a:r>
                    </a:p>
                  </a:txBody>
                  <a:tcPr marL="73152" marR="73152" marT="36576" marB="36576">
                    <a:solidFill>
                      <a:srgbClr val="E8EEF6"/>
                    </a:solidFill>
                  </a:tcPr>
                </a:tc>
              </a:tr>
              <a:tr h="411480">
                <a:tc>
                  <a:txBody>
                    <a:bodyPr/>
                    <a:lstStyle/>
                    <a:p>
                      <a:r>
                        <a:rPr sz="1300" b="0">
                          <a:solidFill>
                            <a:srgbClr val="1F2937"/>
                          </a:solidFill>
                        </a:rPr>
                        <a:t>Ta’lim hujjati</a:t>
                      </a:r>
                    </a:p>
                  </a:txBody>
                  <a:tcPr marL="73152" marR="73152" marT="36576" marB="36576">
                    <a:solidFill>
                      <a:srgbClr val="FFFFFF"/>
                    </a:solidFill>
                  </a:tcPr>
                </a:tc>
                <a:tc>
                  <a:txBody>
                    <a:bodyPr/>
                    <a:lstStyle/>
                    <a:p>
                      <a:r>
                        <a:rPr sz="1300" b="0">
                          <a:solidFill>
                            <a:srgbClr val="1F2937"/>
                          </a:solidFill>
                        </a:rPr>
                        <a:t>Oliy/o‘rta maxsus diplom yoki maxsus hujjat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Ishga qabulda hujjatlar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81, 82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Dastlabki sinov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Sinov xodimning ishga layoqatini tekshirish va ishni davom ettirish maqsadga muvofiqligini aniqlash uchun o‘tkaziladi.</a:t>
            </a:r>
          </a:p>
          <a:p>
            <a:pPr>
              <a:spcAft>
                <a:spcPts val="800"/>
              </a:spcAft>
            </a:pPr>
            <a:r>
              <a:rPr sz="1800">
                <a:solidFill>
                  <a:srgbClr val="1F2937"/>
                </a:solidFill>
                <a:latin typeface="Calibri"/>
              </a:rPr>
              <a:t>▸  Sinov uch oydan ortiq bo‘lmaydi; homilador ayollarga va uch yoshga to‘lmagan bolali ayollarga belgilanmaydi.</a:t>
            </a:r>
          </a:p>
          <a:p>
            <a:pPr>
              <a:spcAft>
                <a:spcPts val="800"/>
              </a:spcAft>
            </a:pPr>
            <a:r>
              <a:rPr sz="1800">
                <a:solidFill>
                  <a:srgbClr val="1F2937"/>
                </a:solidFill>
                <a:latin typeface="Calibri"/>
              </a:rPr>
              <a:t>▸  Sinov tugaguncha tomonlardan biri 3 kun oldin yozma ogohlantirib, shartnomani bekor qilishi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Sinov belgilanadi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Muddat: ko‘pi bilan 3 oy</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Bekor qilish: 3 kun oldin yozma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Aks holda shartnoma davom etadi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Sinov jarayoni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Jamoa shartnomasi va uning tamoyillari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Jamoa shartnomasi — ish beruvchi va xodimlar o‘rtasidagi munosabatlarni tartibga soluvchi normativ hujjat.</a:t>
            </a:r>
          </a:p>
          <a:p>
            <a:pPr>
              <a:spcAft>
                <a:spcPts val="800"/>
              </a:spcAft>
            </a:pPr>
            <a:r>
              <a:rPr sz="1800">
                <a:solidFill>
                  <a:srgbClr val="1F2937"/>
                </a:solidFill>
                <a:latin typeface="Calibri"/>
              </a:rPr>
              <a:t>▸  Tamoyillar: qonunga rioya, vakolatlilik, ixtiyoriylik, muntazam tekshiruv, javobgarlikning muqarrarligi.</a:t>
            </a:r>
          </a:p>
          <a:p>
            <a:pPr>
              <a:spcAft>
                <a:spcPts val="800"/>
              </a:spcAft>
            </a:pPr>
            <a:r>
              <a:rPr sz="1800">
                <a:solidFill>
                  <a:srgbClr val="1F2937"/>
                </a:solidFill>
                <a:latin typeface="Calibri"/>
              </a:rPr>
              <a:t>▸  Loyiha avval xodimlar muhokamasidan, so‘ng umumiy yig‘ilishdan o‘tadi.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Jihat</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Tomonlar</a:t>
                      </a:r>
                    </a:p>
                  </a:txBody>
                  <a:tcPr marL="73152" marR="73152" marT="36576" marB="36576">
                    <a:solidFill>
                      <a:srgbClr val="E8EEF6"/>
                    </a:solidFill>
                  </a:tcPr>
                </a:tc>
                <a:tc>
                  <a:txBody>
                    <a:bodyPr/>
                    <a:lstStyle/>
                    <a:p>
                      <a:r>
                        <a:rPr sz="1300" b="0">
                          <a:solidFill>
                            <a:srgbClr val="1F2937"/>
                          </a:solidFill>
                        </a:rPr>
                        <a:t>Kasaba uyushmasi ↔ ish beruvchi</a:t>
                      </a:r>
                    </a:p>
                  </a:txBody>
                  <a:tcPr marL="73152" marR="73152" marT="36576" marB="36576">
                    <a:solidFill>
                      <a:srgbClr val="E8EEF6"/>
                    </a:solidFill>
                  </a:tcPr>
                </a:tc>
              </a:tr>
              <a:tr h="411480">
                <a:tc>
                  <a:txBody>
                    <a:bodyPr/>
                    <a:lstStyle/>
                    <a:p>
                      <a:r>
                        <a:rPr sz="1300" b="0">
                          <a:solidFill>
                            <a:srgbClr val="1F2937"/>
                          </a:solidFill>
                        </a:rPr>
                        <a:t>Mazmun</a:t>
                      </a:r>
                    </a:p>
                  </a:txBody>
                  <a:tcPr marL="73152" marR="73152" marT="36576" marB="36576">
                    <a:solidFill>
                      <a:srgbClr val="FFFFFF"/>
                    </a:solidFill>
                  </a:tcPr>
                </a:tc>
                <a:tc>
                  <a:txBody>
                    <a:bodyPr/>
                    <a:lstStyle/>
                    <a:p>
                      <a:r>
                        <a:rPr sz="1300" b="0">
                          <a:solidFill>
                            <a:srgbClr val="1F2937"/>
                          </a:solidFill>
                        </a:rPr>
                        <a:t>Mehnat, ijtimoiy, iqtisodiy, kasb masalalari</a:t>
                      </a:r>
                    </a:p>
                  </a:txBody>
                  <a:tcPr marL="73152" marR="73152" marT="36576" marB="36576">
                    <a:solidFill>
                      <a:srgbClr val="FFFFFF"/>
                    </a:solidFill>
                  </a:tcPr>
                </a:tc>
              </a:tr>
              <a:tr h="411480">
                <a:tc>
                  <a:txBody>
                    <a:bodyPr/>
                    <a:lstStyle/>
                    <a:p>
                      <a:r>
                        <a:rPr sz="1300" b="0">
                          <a:solidFill>
                            <a:srgbClr val="1F2937"/>
                          </a:solidFill>
                        </a:rPr>
                        <a:t>Imtiyoz</a:t>
                      </a:r>
                    </a:p>
                  </a:txBody>
                  <a:tcPr marL="73152" marR="73152" marT="36576" marB="36576">
                    <a:solidFill>
                      <a:srgbClr val="E8EEF6"/>
                    </a:solidFill>
                  </a:tcPr>
                </a:tc>
                <a:tc>
                  <a:txBody>
                    <a:bodyPr/>
                    <a:lstStyle/>
                    <a:p>
                      <a:r>
                        <a:rPr sz="1300" b="0">
                          <a:solidFill>
                            <a:srgbClr val="1F2937"/>
                          </a:solidFill>
                        </a:rPr>
                        <a:t>Qo‘shimcha ta’til, pensiyaga ustama</a:t>
                      </a:r>
                    </a:p>
                  </a:txBody>
                  <a:tcPr marL="73152" marR="73152" marT="36576" marB="36576">
                    <a:solidFill>
                      <a:srgbClr val="E8EEF6"/>
                    </a:solidFill>
                  </a:tcPr>
                </a:tc>
              </a:tr>
              <a:tr h="411480">
                <a:tc>
                  <a:txBody>
                    <a:bodyPr/>
                    <a:lstStyle/>
                    <a:p>
                      <a:r>
                        <a:rPr sz="1300" b="0">
                          <a:solidFill>
                            <a:srgbClr val="1F2937"/>
                          </a:solidFill>
                        </a:rPr>
                        <a:t>Muddat</a:t>
                      </a:r>
                    </a:p>
                  </a:txBody>
                  <a:tcPr marL="73152" marR="73152" marT="36576" marB="36576">
                    <a:solidFill>
                      <a:srgbClr val="FFFFFF"/>
                    </a:solidFill>
                  </a:tcPr>
                </a:tc>
                <a:tc>
                  <a:txBody>
                    <a:bodyPr/>
                    <a:lstStyle/>
                    <a:p>
                      <a:r>
                        <a:rPr sz="1300" b="0">
                          <a:solidFill>
                            <a:srgbClr val="1F2937"/>
                          </a:solidFill>
                        </a:rPr>
                        <a:t>Taraflar belgilaydi; yangisigacha amalda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Jamoa shartnomasi xususiyatlari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82, 82-83, 83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O‘rindoshlik, bir necha kasb va o‘rinbosarlik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O‘rindoshlik — asosiy ishdan bo‘sh vaqtda shartnoma asosida haq to‘lanadigan ish.</a:t>
            </a:r>
          </a:p>
          <a:p>
            <a:pPr>
              <a:spcAft>
                <a:spcPts val="800"/>
              </a:spcAft>
            </a:pPr>
            <a:r>
              <a:rPr sz="1800">
                <a:solidFill>
                  <a:srgbClr val="1F2937"/>
                </a:solidFill>
                <a:latin typeface="Calibri"/>
              </a:rPr>
              <a:t>▸  Misol: muassasa rahbari vrach lavozimida, vrach esa o‘rta tibbiy xodim vazifasida ishlashi mumkin.</a:t>
            </a:r>
          </a:p>
          <a:p>
            <a:pPr>
              <a:spcAft>
                <a:spcPts val="800"/>
              </a:spcAft>
            </a:pPr>
            <a:r>
              <a:rPr sz="1800">
                <a:solidFill>
                  <a:srgbClr val="1F2937"/>
                </a:solidFill>
                <a:latin typeface="Calibri"/>
              </a:rPr>
              <a:t>▸  Diqqat: o‘rindoshlik ≠ o‘rinbosarlik — birida bo‘sh vaqtda ish, ikkinchisida yo‘q xodim o‘rniga ish.</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54845"/>
                <a:gridCol w="1823439"/>
                <a:gridCol w="2309690"/>
              </a:tblGrid>
              <a:tr h="411480">
                <a:tc>
                  <a:txBody>
                    <a:bodyPr/>
                    <a:lstStyle/>
                    <a:p>
                      <a:r>
                        <a:rPr sz="1300" b="1">
                          <a:solidFill>
                            <a:srgbClr val="FFFFFF"/>
                          </a:solidFill>
                        </a:rPr>
                        <a:t>Shakl</a:t>
                      </a:r>
                    </a:p>
                  </a:txBody>
                  <a:tcPr marL="73152" marR="73152" marT="36576" marB="36576">
                    <a:solidFill>
                      <a:srgbClr val="0B1F3A"/>
                    </a:solidFill>
                  </a:tcPr>
                </a:tc>
                <a:tc>
                  <a:txBody>
                    <a:bodyPr/>
                    <a:lstStyle/>
                    <a:p>
                      <a:r>
                        <a:rPr sz="1300" b="1">
                          <a:solidFill>
                            <a:srgbClr val="FFFFFF"/>
                          </a:solidFill>
                        </a:rPr>
                        <a:t>Qayerda/nima</a:t>
                      </a:r>
                    </a:p>
                  </a:txBody>
                  <a:tcPr marL="73152" marR="73152" marT="36576" marB="36576">
                    <a:solidFill>
                      <a:srgbClr val="0B1F3A"/>
                    </a:solidFill>
                  </a:tcPr>
                </a:tc>
                <a:tc>
                  <a:txBody>
                    <a:bodyPr/>
                    <a:lstStyle/>
                    <a:p>
                      <a:r>
                        <a:rPr sz="1300" b="1">
                          <a:solidFill>
                            <a:srgbClr val="FFFFFF"/>
                          </a:solidFill>
                        </a:rPr>
                        <a:t>Shart</a:t>
                      </a:r>
                    </a:p>
                  </a:txBody>
                  <a:tcPr marL="73152" marR="73152" marT="36576" marB="36576">
                    <a:solidFill>
                      <a:srgbClr val="0B1F3A"/>
                    </a:solidFill>
                  </a:tcPr>
                </a:tc>
              </a:tr>
              <a:tr h="411480">
                <a:tc>
                  <a:txBody>
                    <a:bodyPr/>
                    <a:lstStyle/>
                    <a:p>
                      <a:r>
                        <a:rPr sz="1200" b="0">
                          <a:solidFill>
                            <a:srgbClr val="1F2937"/>
                          </a:solidFill>
                        </a:rPr>
                        <a:t>Ichki o‘rindoshlik</a:t>
                      </a:r>
                    </a:p>
                  </a:txBody>
                  <a:tcPr marL="73152" marR="73152" marT="36576" marB="36576">
                    <a:solidFill>
                      <a:srgbClr val="E8EEF6"/>
                    </a:solidFill>
                  </a:tcPr>
                </a:tc>
                <a:tc>
                  <a:txBody>
                    <a:bodyPr/>
                    <a:lstStyle/>
                    <a:p>
                      <a:r>
                        <a:rPr sz="1200" b="0">
                          <a:solidFill>
                            <a:srgbClr val="1F2937"/>
                          </a:solidFill>
                        </a:rPr>
                        <a:t>Shu muassasada, haq evaziga</a:t>
                      </a:r>
                    </a:p>
                  </a:txBody>
                  <a:tcPr marL="73152" marR="73152" marT="36576" marB="36576">
                    <a:solidFill>
                      <a:srgbClr val="E8EEF6"/>
                    </a:solidFill>
                  </a:tcPr>
                </a:tc>
                <a:tc>
                  <a:txBody>
                    <a:bodyPr/>
                    <a:lstStyle/>
                    <a:p>
                      <a:r>
                        <a:rPr sz="1200" b="0">
                          <a:solidFill>
                            <a:srgbClr val="1F2937"/>
                          </a:solidFill>
                        </a:rPr>
                        <a:t>Asosiy ishdan bo‘sh vaqtda</a:t>
                      </a:r>
                    </a:p>
                  </a:txBody>
                  <a:tcPr marL="73152" marR="73152" marT="36576" marB="36576">
                    <a:solidFill>
                      <a:srgbClr val="E8EEF6"/>
                    </a:solidFill>
                  </a:tcPr>
                </a:tc>
              </a:tr>
              <a:tr h="411480">
                <a:tc>
                  <a:txBody>
                    <a:bodyPr/>
                    <a:lstStyle/>
                    <a:p>
                      <a:r>
                        <a:rPr sz="1200" b="0">
                          <a:solidFill>
                            <a:srgbClr val="1F2937"/>
                          </a:solidFill>
                        </a:rPr>
                        <a:t>Tashqi o‘rindoshlik</a:t>
                      </a:r>
                    </a:p>
                  </a:txBody>
                  <a:tcPr marL="73152" marR="73152" marT="36576" marB="36576">
                    <a:solidFill>
                      <a:srgbClr val="FFFFFF"/>
                    </a:solidFill>
                  </a:tcPr>
                </a:tc>
                <a:tc>
                  <a:txBody>
                    <a:bodyPr/>
                    <a:lstStyle/>
                    <a:p>
                      <a:r>
                        <a:rPr sz="1200" b="0">
                          <a:solidFill>
                            <a:srgbClr val="1F2937"/>
                          </a:solidFill>
                        </a:rPr>
                        <a:t>Boshqa muassasada, haq evaziga</a:t>
                      </a:r>
                    </a:p>
                  </a:txBody>
                  <a:tcPr marL="73152" marR="73152" marT="36576" marB="36576">
                    <a:solidFill>
                      <a:srgbClr val="FFFFFF"/>
                    </a:solidFill>
                  </a:tcPr>
                </a:tc>
                <a:tc>
                  <a:txBody>
                    <a:bodyPr/>
                    <a:lstStyle/>
                    <a:p>
                      <a:r>
                        <a:rPr sz="1200" b="0">
                          <a:solidFill>
                            <a:srgbClr val="1F2937"/>
                          </a:solidFill>
                        </a:rPr>
                        <a:t>Asosiy ishdan bo‘sh vaqtda</a:t>
                      </a:r>
                    </a:p>
                  </a:txBody>
                  <a:tcPr marL="73152" marR="73152" marT="36576" marB="36576">
                    <a:solidFill>
                      <a:srgbClr val="FFFFFF"/>
                    </a:solidFill>
                  </a:tcPr>
                </a:tc>
              </a:tr>
              <a:tr h="411480">
                <a:tc>
                  <a:txBody>
                    <a:bodyPr/>
                    <a:lstStyle/>
                    <a:p>
                      <a:r>
                        <a:rPr sz="1200" b="0">
                          <a:solidFill>
                            <a:srgbClr val="1F2937"/>
                          </a:solidFill>
                        </a:rPr>
                        <a:t>Bir necha kasb</a:t>
                      </a:r>
                    </a:p>
                  </a:txBody>
                  <a:tcPr marL="73152" marR="73152" marT="36576" marB="36576">
                    <a:solidFill>
                      <a:srgbClr val="E8EEF6"/>
                    </a:solidFill>
                  </a:tcPr>
                </a:tc>
                <a:tc>
                  <a:txBody>
                    <a:bodyPr/>
                    <a:lstStyle/>
                    <a:p>
                      <a:r>
                        <a:rPr sz="1200" b="0">
                          <a:solidFill>
                            <a:srgbClr val="1F2937"/>
                          </a:solidFill>
                        </a:rPr>
                        <a:t>Shu muassasada boshqa lavozim</a:t>
                      </a:r>
                    </a:p>
                  </a:txBody>
                  <a:tcPr marL="73152" marR="73152" marT="36576" marB="36576">
                    <a:solidFill>
                      <a:srgbClr val="E8EEF6"/>
                    </a:solidFill>
                  </a:tcPr>
                </a:tc>
                <a:tc>
                  <a:txBody>
                    <a:bodyPr/>
                    <a:lstStyle/>
                    <a:p>
                      <a:r>
                        <a:rPr sz="1200" b="0">
                          <a:solidFill>
                            <a:srgbClr val="1F2937"/>
                          </a:solidFill>
                        </a:rPr>
                        <a:t>Ish hajmi asosiy ish vaqtida bajarilsa</a:t>
                      </a:r>
                    </a:p>
                  </a:txBody>
                  <a:tcPr marL="73152" marR="73152" marT="36576" marB="36576">
                    <a:solidFill>
                      <a:srgbClr val="E8EEF6"/>
                    </a:solidFill>
                  </a:tcPr>
                </a:tc>
              </a:tr>
              <a:tr h="411480">
                <a:tc>
                  <a:txBody>
                    <a:bodyPr/>
                    <a:lstStyle/>
                    <a:p>
                      <a:r>
                        <a:rPr sz="1200" b="0">
                          <a:solidFill>
                            <a:srgbClr val="1F2937"/>
                          </a:solidFill>
                        </a:rPr>
                        <a:t>O‘rinbosarlik</a:t>
                      </a:r>
                    </a:p>
                  </a:txBody>
                  <a:tcPr marL="73152" marR="73152" marT="36576" marB="36576">
                    <a:solidFill>
                      <a:srgbClr val="FFFFFF"/>
                    </a:solidFill>
                  </a:tcPr>
                </a:tc>
                <a:tc>
                  <a:txBody>
                    <a:bodyPr/>
                    <a:lstStyle/>
                    <a:p>
                      <a:r>
                        <a:rPr sz="1200" b="0">
                          <a:solidFill>
                            <a:srgbClr val="1F2937"/>
                          </a:solidFill>
                        </a:rPr>
                        <a:t>Vaqtincha yo‘q xodim ishi</a:t>
                      </a:r>
                    </a:p>
                  </a:txBody>
                  <a:tcPr marL="73152" marR="73152" marT="36576" marB="36576">
                    <a:solidFill>
                      <a:srgbClr val="FFFFFF"/>
                    </a:solidFill>
                  </a:tcPr>
                </a:tc>
                <a:tc>
                  <a:txBody>
                    <a:bodyPr/>
                    <a:lstStyle/>
                    <a:p>
                      <a:r>
                        <a:rPr sz="1200" b="0">
                          <a:solidFill>
                            <a:srgbClr val="1F2937"/>
                          </a:solidFill>
                        </a:rPr>
                        <a:t>Xodim lavozimi saqlangan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shaklni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ishga qabul va qo‘shimcha 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vrach tibbiyot muassasasiga ishga qabul qilinmoqda va bo‘sh vaqtida boshqa muassasada ham ishlamoqchi.</a:t>
            </a:r>
          </a:p>
          <a:p>
            <a:pPr>
              <a:spcAft>
                <a:spcPts val="1200"/>
              </a:spcAft>
            </a:pPr>
            <a:r>
              <a:rPr sz="2200">
                <a:solidFill>
                  <a:srgbClr val="1F2937"/>
                </a:solidFill>
                <a:latin typeface="Calibri"/>
              </a:rPr>
              <a:t>▸  Asosiy ish uchun pasport, mehnat daftarchasi, harbiy hisob hujjati va diplom topshiriladi; shartnomada ish joyi, lavozim, boshlanish vaqti va haq ko‘rsatiladi.</a:t>
            </a:r>
          </a:p>
          <a:p>
            <a:pPr>
              <a:spcAft>
                <a:spcPts val="1200"/>
              </a:spcAft>
            </a:pPr>
            <a:r>
              <a:rPr sz="2200">
                <a:solidFill>
                  <a:srgbClr val="1F2937"/>
                </a:solidFill>
                <a:latin typeface="Calibri"/>
              </a:rPr>
              <a:t>▸  Boshqa muassasadagi ish — tashqi o‘rindoshlik: mehnat daftarchasi o‘rniga asosiy ish joyidan ma’lumotnoma beriladi. Dastlabki sinov uch oydan oshmaydi.</a:t>
            </a:r>
          </a:p>
          <a:p>
            <a:pPr>
              <a:spcAft>
                <a:spcPts val="1200"/>
              </a:spcAft>
            </a:pPr>
            <a:r>
              <a:rPr sz="2200">
                <a:solidFill>
                  <a:srgbClr val="1F2937"/>
                </a:solidFill>
                <a:latin typeface="Calibri"/>
              </a:rPr>
              <a:t>▸  Savol: qaysi shakl va hujjatlar talab etiladi? Vrach uch yoshga to‘lmagan bolasi bor ayol bo‘lsa, sinov belgilanadimi?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81-84, 81-82, 82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 vaqti va qisqartirilgan ish vaqti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Normal muddat haftasiga 40 soat; kunlik davomiylik hafta turiga bog‘liq (jadvalga qarang).</a:t>
            </a:r>
          </a:p>
          <a:p>
            <a:pPr>
              <a:spcAft>
                <a:spcPts val="800"/>
              </a:spcAft>
            </a:pPr>
            <a:r>
              <a:rPr sz="1800">
                <a:solidFill>
                  <a:srgbClr val="1F2937"/>
                </a:solidFill>
                <a:latin typeface="Calibri"/>
              </a:rPr>
              <a:t>▸  Qisqartirilgan ish vaqti: 18 yoshgacha, I-II guruh nogironlari, noqulay sharoit, 3 yoshgacha bolali ayollar.</a:t>
            </a:r>
          </a:p>
          <a:p>
            <a:pPr>
              <a:spcAft>
                <a:spcPts val="800"/>
              </a:spcAft>
            </a:pPr>
            <a:r>
              <a:rPr sz="1800">
                <a:solidFill>
                  <a:srgbClr val="1F2937"/>
                </a:solidFill>
                <a:latin typeface="Calibri"/>
              </a:rPr>
              <a:t>▸  Tibbiy xodimlar: haftasiga 36 soatdan oshmaydi (Mehnat kodeksi, 118-modda).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158357"/>
                <a:gridCol w="3129617"/>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Davomiyligi</a:t>
                      </a:r>
                    </a:p>
                  </a:txBody>
                  <a:tcPr marL="73152" marR="73152" marT="36576" marB="36576">
                    <a:solidFill>
                      <a:srgbClr val="0B1F3A"/>
                    </a:solidFill>
                  </a:tcPr>
                </a:tc>
              </a:tr>
              <a:tr h="411480">
                <a:tc>
                  <a:txBody>
                    <a:bodyPr/>
                    <a:lstStyle/>
                    <a:p>
                      <a:r>
                        <a:rPr sz="1300" b="0">
                          <a:solidFill>
                            <a:srgbClr val="1F2937"/>
                          </a:solidFill>
                        </a:rPr>
                        <a:t>Normal ish vaqti</a:t>
                      </a:r>
                    </a:p>
                  </a:txBody>
                  <a:tcPr marL="73152" marR="73152" marT="36576" marB="36576">
                    <a:solidFill>
                      <a:srgbClr val="E8EEF6"/>
                    </a:solidFill>
                  </a:tcPr>
                </a:tc>
                <a:tc>
                  <a:txBody>
                    <a:bodyPr/>
                    <a:lstStyle/>
                    <a:p>
                      <a:r>
                        <a:rPr sz="1300" b="0">
                          <a:solidFill>
                            <a:srgbClr val="1F2937"/>
                          </a:solidFill>
                        </a:rPr>
                        <a:t>Haftasiga 40 soatdan oshmaydi</a:t>
                      </a:r>
                    </a:p>
                  </a:txBody>
                  <a:tcPr marL="73152" marR="73152" marT="36576" marB="36576">
                    <a:solidFill>
                      <a:srgbClr val="E8EEF6"/>
                    </a:solidFill>
                  </a:tcPr>
                </a:tc>
              </a:tr>
              <a:tr h="411480">
                <a:tc>
                  <a:txBody>
                    <a:bodyPr/>
                    <a:lstStyle/>
                    <a:p>
                      <a:r>
                        <a:rPr sz="1300" b="0">
                          <a:solidFill>
                            <a:srgbClr val="1F2937"/>
                          </a:solidFill>
                        </a:rPr>
                        <a:t>6 kunlik ish haftasi</a:t>
                      </a:r>
                    </a:p>
                  </a:txBody>
                  <a:tcPr marL="73152" marR="73152" marT="36576" marB="36576">
                    <a:solidFill>
                      <a:srgbClr val="FFFFFF"/>
                    </a:solidFill>
                  </a:tcPr>
                </a:tc>
                <a:tc>
                  <a:txBody>
                    <a:bodyPr/>
                    <a:lstStyle/>
                    <a:p>
                      <a:r>
                        <a:rPr sz="1300" b="0">
                          <a:solidFill>
                            <a:srgbClr val="1F2937"/>
                          </a:solidFill>
                        </a:rPr>
                        <a:t>Kuniga 7 soatdan oshmaydi</a:t>
                      </a:r>
                    </a:p>
                  </a:txBody>
                  <a:tcPr marL="73152" marR="73152" marT="36576" marB="36576">
                    <a:solidFill>
                      <a:srgbClr val="FFFFFF"/>
                    </a:solidFill>
                  </a:tcPr>
                </a:tc>
              </a:tr>
              <a:tr h="411480">
                <a:tc>
                  <a:txBody>
                    <a:bodyPr/>
                    <a:lstStyle/>
                    <a:p>
                      <a:r>
                        <a:rPr sz="1300" b="0">
                          <a:solidFill>
                            <a:srgbClr val="1F2937"/>
                          </a:solidFill>
                        </a:rPr>
                        <a:t>5 kunlik ish haftasi</a:t>
                      </a:r>
                    </a:p>
                  </a:txBody>
                  <a:tcPr marL="73152" marR="73152" marT="36576" marB="36576">
                    <a:solidFill>
                      <a:srgbClr val="E8EEF6"/>
                    </a:solidFill>
                  </a:tcPr>
                </a:tc>
                <a:tc>
                  <a:txBody>
                    <a:bodyPr/>
                    <a:lstStyle/>
                    <a:p>
                      <a:r>
                        <a:rPr sz="1300" b="0">
                          <a:solidFill>
                            <a:srgbClr val="1F2937"/>
                          </a:solidFill>
                        </a:rPr>
                        <a:t>Kuniga 8 soatdan oshmaydi</a:t>
                      </a:r>
                    </a:p>
                  </a:txBody>
                  <a:tcPr marL="73152" marR="73152" marT="36576" marB="36576">
                    <a:solidFill>
                      <a:srgbClr val="E8EEF6"/>
                    </a:solidFill>
                  </a:tcPr>
                </a:tc>
              </a:tr>
              <a:tr h="411480">
                <a:tc>
                  <a:txBody>
                    <a:bodyPr/>
                    <a:lstStyle/>
                    <a:p>
                      <a:r>
                        <a:rPr sz="1300" b="0">
                          <a:solidFill>
                            <a:srgbClr val="1F2937"/>
                          </a:solidFill>
                        </a:rPr>
                        <a:t>Tibbiy xodimlar</a:t>
                      </a:r>
                    </a:p>
                  </a:txBody>
                  <a:tcPr marL="73152" marR="73152" marT="36576" marB="36576">
                    <a:solidFill>
                      <a:srgbClr val="FFFFFF"/>
                    </a:solidFill>
                  </a:tcPr>
                </a:tc>
                <a:tc>
                  <a:txBody>
                    <a:bodyPr/>
                    <a:lstStyle/>
                    <a:p>
                      <a:r>
                        <a:rPr sz="1300" b="0">
                          <a:solidFill>
                            <a:srgbClr val="1F2937"/>
                          </a:solidFill>
                        </a:rPr>
                        <a:t>Haftasiga 36 soatdan oshmaydi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 vaqti muddatlari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84, 84-85, 85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Mehnatni muhofaza qilish: taraflar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Xavfsizlik va gigiena talablariga javob beradigan sharoitni ish beruvchi tashkil etadi. U buning uchun qonun oldida javob beradi.</a:t>
            </a:r>
          </a:p>
          <a:p>
            <a:pPr>
              <a:spcAft>
                <a:spcPts val="1200"/>
              </a:spcAft>
            </a:pPr>
            <a:r>
              <a:rPr sz="2200">
                <a:solidFill>
                  <a:srgbClr val="1F2937"/>
                </a:solidFill>
                <a:latin typeface="Calibri"/>
              </a:rPr>
              <a:t>▸  Ishga qabul qilishda yoki boshqa ishga o‘tkazishda ish beruvchi xodimga ish sharoiti, kasbiy kasalliklar xavfi, imtiyozlar, qo‘shimcha haqlar va himoya vositalari haqida ma’lumot beradi.</a:t>
            </a:r>
          </a:p>
          <a:p>
            <a:pPr>
              <a:spcAft>
                <a:spcPts val="1200"/>
              </a:spcAft>
            </a:pPr>
            <a:r>
              <a:rPr sz="2200">
                <a:solidFill>
                  <a:srgbClr val="1F2937"/>
                </a:solidFill>
                <a:latin typeface="Calibri"/>
              </a:rPr>
              <a:t>▸  Xodim mehnat muhofazasi talablariga va xavfsiz ishlash bo‘yicha farmoyishlarga rioya qiladi hamda shaxsiy himoya vositalaridan foydalanadi.</a:t>
            </a:r>
          </a:p>
          <a:p>
            <a:pPr>
              <a:spcAft>
                <a:spcPts val="1200"/>
              </a:spcAft>
            </a:pPr>
            <a:r>
              <a:rPr sz="2200">
                <a:solidFill>
                  <a:srgbClr val="1F2937"/>
                </a:solidFill>
                <a:latin typeface="Calibri"/>
              </a:rPr>
              <a:t>▸  Xodim odamlar hayoti va sog‘lig‘iga xavf soluvchi vaziyatlar hamda ish bilan bog‘liq baxtsiz hodisalar haqida shoshilinch xabar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85, 85-86, 86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Dastlabki va davriy tibbiy ko‘riklar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Nogironlar, 18 yoshgacha va keksalar, tungi ish va aholiga xizmat ko‘rsatuvchilar ko‘rikdan o‘tadi.</a:t>
            </a:r>
          </a:p>
          <a:p>
            <a:pPr>
              <a:spcAft>
                <a:spcPts val="800"/>
              </a:spcAft>
            </a:pPr>
            <a:r>
              <a:rPr sz="1800">
                <a:solidFill>
                  <a:srgbClr val="1F2937"/>
                </a:solidFill>
                <a:latin typeface="Calibri"/>
              </a:rPr>
              <a:t>▸  Rad etish yoki vrach tavsiyasini bajarmaslik xodimni ishdan chetlatishga asos bo‘ladi.</a:t>
            </a:r>
          </a:p>
          <a:p>
            <a:pPr>
              <a:spcAft>
                <a:spcPts val="800"/>
              </a:spcAft>
            </a:pPr>
            <a:r>
              <a:rPr sz="1800">
                <a:solidFill>
                  <a:srgbClr val="1F2937"/>
                </a:solidFill>
                <a:latin typeface="Calibri"/>
              </a:rPr>
              <a:t>▸  Navbatdan tashqari ko‘rikni xodim talab qila oladi; ko‘rik xarajatini xodim to‘lamaydi.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Ishga qabul: dastlabki ko‘rik</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 davomida: davriy ko‘rik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Rad etish / tavsiya buzilishi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Ishdan chetlatish asosi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Tibbiy ko‘rik jarayoni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ish vaqti va muhofaza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tibbiy xodimlar uchun ish vaqti haftasiga necha soatdan oshmasligi kerak? Javob: 36 soat.</a:t>
            </a:r>
          </a:p>
          <a:p>
            <a:pPr>
              <a:spcAft>
                <a:spcPts val="1200"/>
              </a:spcAft>
            </a:pPr>
            <a:r>
              <a:rPr sz="2200">
                <a:solidFill>
                  <a:srgbClr val="1F2937"/>
                </a:solidFill>
                <a:latin typeface="Calibri"/>
              </a:rPr>
              <a:t>▸  Bunday xodimlar ishi yuqori his-hayajon, aqliy zo‘riqish va asab tarangligi bilan bog‘liq. Ro‘yxatni Hukumat belgilaydi.</a:t>
            </a:r>
          </a:p>
          <a:p>
            <a:pPr>
              <a:spcAft>
                <a:spcPts val="1200"/>
              </a:spcAft>
            </a:pPr>
            <a:r>
              <a:rPr sz="2200">
                <a:solidFill>
                  <a:srgbClr val="1F2937"/>
                </a:solidFill>
                <a:latin typeface="Calibri"/>
              </a:rPr>
              <a:t>▸  Savol 2: tibbiy ko‘rik xarajatini kim to‘laydi? Javob: xodim to‘lamaydi, bu xarajatlar uning zimmasiga yuklanmaydi.</a:t>
            </a:r>
          </a:p>
          <a:p>
            <a:pPr>
              <a:spcAft>
                <a:spcPts val="1200"/>
              </a:spcAft>
            </a:pPr>
            <a:r>
              <a:rPr sz="2200">
                <a:solidFill>
                  <a:srgbClr val="1F2937"/>
                </a:solidFill>
                <a:latin typeface="Calibri"/>
              </a:rPr>
              <a:t>▸  Diqqat: xato qilish xavfi. Umumiy me’yor haftasiga 40 soat ≠ tibbiy xodimlar uchun 36 soat.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85, 86, 84-85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tibbiy ko‘rikni rad etish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xodim davriy tibbiy ko‘rikdan bosh tortdi yoki vrach tavsiyalarini bajarmadi.</a:t>
            </a:r>
          </a:p>
          <a:p>
            <a:pPr>
              <a:spcAft>
                <a:spcPts val="1200"/>
              </a:spcAft>
            </a:pPr>
            <a:r>
              <a:rPr sz="2200">
                <a:solidFill>
                  <a:srgbClr val="1F2937"/>
                </a:solidFill>
                <a:latin typeface="Calibri"/>
              </a:rPr>
              <a:t>▸  Savol: ish beruvchi qanday huquqiy asosda harakat qiladi? Xodim ko‘rikni rad etishga haqlimi?</a:t>
            </a:r>
          </a:p>
          <a:p>
            <a:pPr>
              <a:spcAft>
                <a:spcPts val="1200"/>
              </a:spcAft>
            </a:pPr>
            <a:r>
              <a:rPr sz="2200">
                <a:solidFill>
                  <a:srgbClr val="1F2937"/>
                </a:solidFill>
                <a:latin typeface="Calibri"/>
              </a:rPr>
              <a:t>▸  Javob: xodim ko‘rikni rad etishga haqli emas. Rad etish yoki tavsiyaga amal qilmaslik ishdan chetlatish uchun asos bo‘ladi.</a:t>
            </a:r>
          </a:p>
          <a:p>
            <a:pPr>
              <a:spcAft>
                <a:spcPts val="1200"/>
              </a:spcAft>
            </a:pPr>
            <a:r>
              <a:rPr sz="2200">
                <a:solidFill>
                  <a:srgbClr val="1F2937"/>
                </a:solidFill>
                <a:latin typeface="Calibri"/>
              </a:rPr>
              <a:t>▸  Xodim salomatligi yomonlashuvini ish sharoiti bilan bog‘lasa, navbatdan tashqari ko‘rikni talab qilishi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Shartnomani xodim tashabbusi bilan bekor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Umumiy asoslar: kelishuv, bir taraf tashabbusi, muddat tugashi, taraflarga bog‘liq bo‘lmagan holat.</a:t>
            </a:r>
          </a:p>
          <a:p>
            <a:pPr>
              <a:spcAft>
                <a:spcPts val="800"/>
              </a:spcAft>
            </a:pPr>
            <a:r>
              <a:rPr sz="1800">
                <a:solidFill>
                  <a:srgbClr val="1F2937"/>
                </a:solidFill>
                <a:latin typeface="Calibri"/>
              </a:rPr>
              <a:t>▸  Xodim ikki hafta oldin yozma ogohlantirib, muddatli va muddatsiz shartnomani bekor qila oladi.</a:t>
            </a:r>
          </a:p>
          <a:p>
            <a:pPr>
              <a:spcAft>
                <a:spcPts val="800"/>
              </a:spcAft>
            </a:pPr>
            <a:r>
              <a:rPr sz="1800">
                <a:solidFill>
                  <a:srgbClr val="1F2937"/>
                </a:solidFill>
                <a:latin typeface="Calibri"/>
              </a:rPr>
              <a:t>▸  Ogohlantirish tugab, shartnoma bekor qilinmasa, ariza kuchini yo‘qotadi.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Yozma ogohlantirish (2 hafta)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Ariza qaytarilishi mumkin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Muddat tugadi: ish to‘xtaydi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Mehnat daftarchasi beriladi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Hisob-kitob qilinadi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Xodim tashabbusi tartibi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86-87, 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 beruvchi tashabbusi bilan bekor qilish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Shtat yoki ish hajmi qisqarishi, texnologiya va mehnat tashkilidagi o‘zgarish yoki korxona tugatilishi — birinchi asos.</a:t>
            </a:r>
          </a:p>
          <a:p>
            <a:pPr>
              <a:spcAft>
                <a:spcPts val="1200"/>
              </a:spcAft>
            </a:pPr>
            <a:r>
              <a:rPr sz="2200">
                <a:solidFill>
                  <a:srgbClr val="1F2937"/>
                </a:solidFill>
                <a:latin typeface="Calibri"/>
              </a:rPr>
              <a:t>▸  Malakasi yetarli bo‘lmagan yoki sog‘lig‘i sababli ishiga noloyiq bo‘lib qolgan xodim bilan ham shartnoma bekor qilinishi mumkin.</a:t>
            </a:r>
          </a:p>
          <a:p>
            <a:pPr>
              <a:spcAft>
                <a:spcPts val="1200"/>
              </a:spcAft>
            </a:pPr>
            <a:r>
              <a:rPr sz="2200">
                <a:solidFill>
                  <a:srgbClr val="1F2937"/>
                </a:solidFill>
                <a:latin typeface="Calibri"/>
              </a:rPr>
              <a:t>▸  Muntazam buzish: jazo qo‘llangan kundan bir yil ichida takroran nojo‘ya harakat. Bir marta qo‘pol buzish ham asos; qo‘pollik oqibatga qarab baholanadi.</a:t>
            </a:r>
          </a:p>
          <a:p>
            <a:pPr>
              <a:spcAft>
                <a:spcPts val="1200"/>
              </a:spcAft>
            </a:pPr>
            <a:r>
              <a:rPr sz="2200">
                <a:solidFill>
                  <a:srgbClr val="1F2937"/>
                </a:solidFill>
                <a:latin typeface="Calibri"/>
              </a:rPr>
              <a:t>▸  Qo‘shimcha asoslar: o‘rindosh bo‘lmagan xodim qabul qilinishi sababli o‘rindoshlar bilan, mulkdor o‘zgarishi sababli korxona rahbari bilan.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88, 88-89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 beruvchi tashabbusi: ogohlantirish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Ogohlantirish yozma bo‘ladi, xodim imzo chekadi; muddat bekor qilish sababiga qarab farqlanadi.</a:t>
            </a:r>
          </a:p>
          <a:p>
            <a:pPr>
              <a:spcAft>
                <a:spcPts val="800"/>
              </a:spcAft>
            </a:pPr>
            <a:r>
              <a:rPr sz="1800">
                <a:solidFill>
                  <a:srgbClr val="1F2937"/>
                </a:solidFill>
                <a:latin typeface="Calibri"/>
              </a:rPr>
              <a:t>▸  Taraflar kelishsa, birinchi ikki holatda ogohlantirish muddatiga mos pullik kompensatsiya bilan almashtiriladi.</a:t>
            </a:r>
          </a:p>
          <a:p>
            <a:pPr>
              <a:spcAft>
                <a:spcPts val="800"/>
              </a:spcAft>
            </a:pPr>
            <a:r>
              <a:rPr sz="1800">
                <a:solidFill>
                  <a:srgbClr val="1F2937"/>
                </a:solidFill>
                <a:latin typeface="Calibri"/>
              </a:rPr>
              <a:t>▸  Kasallik va ta’til davrida bekor qilish mumkin emas; korxona butunlay tugatilsa — istisno.</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301824"/>
                <a:gridCol w="1244229"/>
                <a:gridCol w="1741921"/>
              </a:tblGrid>
              <a:tr h="411480">
                <a:tc>
                  <a:txBody>
                    <a:bodyPr/>
                    <a:lstStyle/>
                    <a:p>
                      <a:r>
                        <a:rPr sz="1300" b="1">
                          <a:solidFill>
                            <a:srgbClr val="FFFFFF"/>
                          </a:solidFill>
                        </a:rPr>
                        <a:t>Sabab</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Shtat qisqarishi, korxona tugatilishi</a:t>
                      </a:r>
                    </a:p>
                  </a:txBody>
                  <a:tcPr marL="73152" marR="73152" marT="36576" marB="36576">
                    <a:solidFill>
                      <a:srgbClr val="E8EEF6"/>
                    </a:solidFill>
                  </a:tcPr>
                </a:tc>
                <a:tc>
                  <a:txBody>
                    <a:bodyPr/>
                    <a:lstStyle/>
                    <a:p>
                      <a:r>
                        <a:rPr sz="1200" b="0">
                          <a:solidFill>
                            <a:srgbClr val="1F2937"/>
                          </a:solidFill>
                        </a:rPr>
                        <a:t>Kamida 2 oy oldin</a:t>
                      </a:r>
                    </a:p>
                  </a:txBody>
                  <a:tcPr marL="73152" marR="73152" marT="36576" marB="36576">
                    <a:solidFill>
                      <a:srgbClr val="E8EEF6"/>
                    </a:solidFill>
                  </a:tcPr>
                </a:tc>
                <a:tc>
                  <a:txBody>
                    <a:bodyPr/>
                    <a:lstStyle/>
                    <a:p>
                      <a:r>
                        <a:rPr sz="1200" b="0">
                          <a:solidFill>
                            <a:srgbClr val="1F2937"/>
                          </a:solidFill>
                        </a:rPr>
                        <a:t>Yozma, imzo chektirib</a:t>
                      </a:r>
                    </a:p>
                  </a:txBody>
                  <a:tcPr marL="73152" marR="73152" marT="36576" marB="36576">
                    <a:solidFill>
                      <a:srgbClr val="E8EEF6"/>
                    </a:solidFill>
                  </a:tcPr>
                </a:tc>
              </a:tr>
              <a:tr h="411480">
                <a:tc>
                  <a:txBody>
                    <a:bodyPr/>
                    <a:lstStyle/>
                    <a:p>
                      <a:r>
                        <a:rPr sz="1200" b="0">
                          <a:solidFill>
                            <a:srgbClr val="1F2937"/>
                          </a:solidFill>
                        </a:rPr>
                        <a:t>Malaka yetarli emas, sog‘liq</a:t>
                      </a:r>
                    </a:p>
                  </a:txBody>
                  <a:tcPr marL="73152" marR="73152" marT="36576" marB="36576">
                    <a:solidFill>
                      <a:srgbClr val="FFFFFF"/>
                    </a:solidFill>
                  </a:tcPr>
                </a:tc>
                <a:tc>
                  <a:txBody>
                    <a:bodyPr/>
                    <a:lstStyle/>
                    <a:p>
                      <a:r>
                        <a:rPr sz="1200" b="0">
                          <a:solidFill>
                            <a:srgbClr val="1F2937"/>
                          </a:solidFill>
                        </a:rPr>
                        <a:t>Kamida 2 hafta oldin</a:t>
                      </a:r>
                    </a:p>
                  </a:txBody>
                  <a:tcPr marL="73152" marR="73152" marT="36576" marB="36576">
                    <a:solidFill>
                      <a:srgbClr val="FFFFFF"/>
                    </a:solidFill>
                  </a:tcPr>
                </a:tc>
                <a:tc>
                  <a:txBody>
                    <a:bodyPr/>
                    <a:lstStyle/>
                    <a:p>
                      <a:r>
                        <a:rPr sz="1200" b="0">
                          <a:solidFill>
                            <a:srgbClr val="1F2937"/>
                          </a:solidFill>
                        </a:rPr>
                        <a:t>Yozma, imzo chektirib</a:t>
                      </a:r>
                    </a:p>
                  </a:txBody>
                  <a:tcPr marL="73152" marR="73152" marT="36576" marB="36576">
                    <a:solidFill>
                      <a:srgbClr val="FFFFFF"/>
                    </a:solidFill>
                  </a:tcPr>
                </a:tc>
              </a:tr>
              <a:tr h="411480">
                <a:tc>
                  <a:txBody>
                    <a:bodyPr/>
                    <a:lstStyle/>
                    <a:p>
                      <a:r>
                        <a:rPr sz="1200" b="0">
                          <a:solidFill>
                            <a:srgbClr val="1F2937"/>
                          </a:solidFill>
                        </a:rPr>
                        <a:t>Muntazam yoki qo‘pol buzish</a:t>
                      </a:r>
                    </a:p>
                  </a:txBody>
                  <a:tcPr marL="73152" marR="73152" marT="36576" marB="36576">
                    <a:solidFill>
                      <a:srgbClr val="E8EEF6"/>
                    </a:solidFill>
                  </a:tcPr>
                </a:tc>
                <a:tc>
                  <a:txBody>
                    <a:bodyPr/>
                    <a:lstStyle/>
                    <a:p>
                      <a:r>
                        <a:rPr sz="1200" b="0">
                          <a:solidFill>
                            <a:srgbClr val="1F2937"/>
                          </a:solidFill>
                        </a:rPr>
                        <a:t>3 kun oldin xabar</a:t>
                      </a:r>
                    </a:p>
                  </a:txBody>
                  <a:tcPr marL="73152" marR="73152" marT="36576" marB="36576">
                    <a:solidFill>
                      <a:srgbClr val="E8EEF6"/>
                    </a:solidFill>
                  </a:tcPr>
                </a:tc>
                <a:tc>
                  <a:txBody>
                    <a:bodyPr/>
                    <a:lstStyle/>
                    <a:p>
                      <a:r>
                        <a:rPr sz="1200" b="0">
                          <a:solidFill>
                            <a:srgbClr val="1F2937"/>
                          </a:solidFill>
                        </a:rPr>
                        <a:t>Yoki mutanosib kompensatsiya</a:t>
                      </a:r>
                    </a:p>
                  </a:txBody>
                  <a:tcPr marL="73152" marR="73152" marT="36576" marB="36576">
                    <a:solidFill>
                      <a:srgbClr val="E8EEF6"/>
                    </a:solidFill>
                  </a:tcPr>
                </a:tc>
              </a:tr>
              <a:tr h="411480">
                <a:tc>
                  <a:txBody>
                    <a:bodyPr/>
                    <a:lstStyle/>
                    <a:p>
                      <a:r>
                        <a:rPr sz="1200" b="0">
                          <a:solidFill>
                            <a:srgbClr val="1F2937"/>
                          </a:solidFill>
                        </a:rPr>
                        <a:t>Yuqoridagi 1-2 sabab, kelishuv</a:t>
                      </a:r>
                    </a:p>
                  </a:txBody>
                  <a:tcPr marL="73152" marR="73152" marT="36576" marB="36576">
                    <a:solidFill>
                      <a:srgbClr val="FFFFFF"/>
                    </a:solidFill>
                  </a:tcPr>
                </a:tc>
                <a:tc>
                  <a:txBody>
                    <a:bodyPr/>
                    <a:lstStyle/>
                    <a:p>
                      <a:r>
                        <a:rPr sz="1200" b="0">
                          <a:solidFill>
                            <a:srgbClr val="1F2937"/>
                          </a:solidFill>
                        </a:rPr>
                        <a:t>Pullik kompensatsiya</a:t>
                      </a:r>
                    </a:p>
                  </a:txBody>
                  <a:tcPr marL="73152" marR="73152" marT="36576" marB="36576">
                    <a:solidFill>
                      <a:srgbClr val="FFFFFF"/>
                    </a:solidFill>
                  </a:tcPr>
                </a:tc>
                <a:tc>
                  <a:txBody>
                    <a:bodyPr/>
                    <a:lstStyle/>
                    <a:p>
                      <a:r>
                        <a:rPr sz="1200" b="0">
                          <a:solidFill>
                            <a:srgbClr val="1F2937"/>
                          </a:solidFill>
                        </a:rPr>
                        <a:t>Muddatga mos keladi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Ogohlantirish muddatlari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shtat qisqarishi va ishdan bo‘shatish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shifoxonada ish hajmi qisqargani sababli shtat qisqartirilmoqda. Vrach X shu paytda vaqtincha mehnatga layoqatsiz (kasallikda).</a:t>
            </a:r>
          </a:p>
          <a:p>
            <a:pPr>
              <a:spcAft>
                <a:spcPts val="1200"/>
              </a:spcAft>
            </a:pPr>
            <a:r>
              <a:rPr sz="2200">
                <a:solidFill>
                  <a:srgbClr val="1F2937"/>
                </a:solidFill>
                <a:latin typeface="Calibri"/>
              </a:rPr>
              <a:t>▸  Savol: ish beruvchi X bilan mehnat shartnomasini aynan kasallik davrida bekor qila oladimi?</a:t>
            </a:r>
          </a:p>
          <a:p>
            <a:pPr>
              <a:spcAft>
                <a:spcPts val="1200"/>
              </a:spcAft>
            </a:pPr>
            <a:r>
              <a:rPr sz="2200">
                <a:solidFill>
                  <a:srgbClr val="1F2937"/>
                </a:solidFill>
                <a:latin typeface="Calibri"/>
              </a:rPr>
              <a:t>▸  Yo‘nalish: kasallik va ta’til davrida bekor qilish taqiqlanadi; faqat korxona butunlay tugatilgan hol istisno.</a:t>
            </a:r>
          </a:p>
          <a:p>
            <a:pPr>
              <a:spcAft>
                <a:spcPts val="1200"/>
              </a:spcAft>
            </a:pPr>
            <a:r>
              <a:rPr sz="2200">
                <a:solidFill>
                  <a:srgbClr val="1F2937"/>
                </a:solidFill>
                <a:latin typeface="Calibri"/>
              </a:rPr>
              <a:t>▸  Sog‘lom xodimga shtat qisqarishi bo‘yicha kamida ikki oy oldin yozma, imzo bilan ogohlantiriladi yoki mos kompensatsiya to‘lanadi.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88-89, 89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Intizomiy jazo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Mehnat intizomini buzish intizomiy qilmish hisoblanadi; ish beruvchi xodimni jazolashga haqli.</a:t>
            </a:r>
          </a:p>
          <a:p>
            <a:pPr>
              <a:spcAft>
                <a:spcPts val="800"/>
              </a:spcAft>
            </a:pPr>
            <a:r>
              <a:rPr sz="1800">
                <a:solidFill>
                  <a:srgbClr val="1F2937"/>
                </a:solidFill>
                <a:latin typeface="Calibri"/>
              </a:rPr>
              <a:t>▸  Qonunda uch jazo turi bor: hayfsan, jarima va mehnat shartnomasini bekor qilish.</a:t>
            </a:r>
          </a:p>
          <a:p>
            <a:pPr>
              <a:spcAft>
                <a:spcPts val="800"/>
              </a:spcAft>
            </a:pPr>
            <a:r>
              <a:rPr sz="1800">
                <a:solidFill>
                  <a:srgbClr val="1F2937"/>
                </a:solidFill>
                <a:latin typeface="Calibri"/>
              </a:rPr>
              <a:t>▸  Diqqat: umumiy jarima 30 foizgacha, ichki tartibga ko‘ra alohida qilmishlarga esa 50 foizgacha bo‘lishi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277896"/>
                <a:gridCol w="3010078"/>
              </a:tblGrid>
              <a:tr h="411480">
                <a:tc>
                  <a:txBody>
                    <a:bodyPr/>
                    <a:lstStyle/>
                    <a:p>
                      <a:r>
                        <a:rPr sz="1400" b="1">
                          <a:solidFill>
                            <a:srgbClr val="FFFFFF"/>
                          </a:solidFill>
                        </a:rPr>
                        <a:t>Jazo turi</a:t>
                      </a:r>
                    </a:p>
                  </a:txBody>
                  <a:tcPr marL="73152" marR="73152" marT="36576" marB="36576">
                    <a:solidFill>
                      <a:srgbClr val="0B1F3A"/>
                    </a:solidFill>
                  </a:tcPr>
                </a:tc>
                <a:tc>
                  <a:txBody>
                    <a:bodyPr/>
                    <a:lstStyle/>
                    <a:p>
                      <a:r>
                        <a:rPr sz="1400" b="1">
                          <a:solidFill>
                            <a:srgbClr val="FFFFFF"/>
                          </a:solidFill>
                        </a:rPr>
                        <a:t>Miqdor/izoh</a:t>
                      </a:r>
                    </a:p>
                  </a:txBody>
                  <a:tcPr marL="73152" marR="73152" marT="36576" marB="36576">
                    <a:solidFill>
                      <a:srgbClr val="0B1F3A"/>
                    </a:solidFill>
                  </a:tcPr>
                </a:tc>
              </a:tr>
              <a:tr h="411480">
                <a:tc>
                  <a:txBody>
                    <a:bodyPr/>
                    <a:lstStyle/>
                    <a:p>
                      <a:r>
                        <a:rPr sz="1300" b="0">
                          <a:solidFill>
                            <a:srgbClr val="1F2937"/>
                          </a:solidFill>
                        </a:rPr>
                        <a:t>Hayfsan</a:t>
                      </a:r>
                    </a:p>
                  </a:txBody>
                  <a:tcPr marL="73152" marR="73152" marT="36576" marB="36576">
                    <a:solidFill>
                      <a:srgbClr val="E8EEF6"/>
                    </a:solidFill>
                  </a:tcPr>
                </a:tc>
                <a:tc>
                  <a:txBody>
                    <a:bodyPr/>
                    <a:lstStyle/>
                    <a:p>
                      <a:r>
                        <a:rPr sz="1300" b="0">
                          <a:solidFill>
                            <a:srgbClr val="1F2937"/>
                          </a:solidFill>
                        </a:rPr>
                        <a:t>Qonunda ko‘zda tutilgan jazo turi</a:t>
                      </a:r>
                    </a:p>
                  </a:txBody>
                  <a:tcPr marL="73152" marR="73152" marT="36576" marB="36576">
                    <a:solidFill>
                      <a:srgbClr val="E8EEF6"/>
                    </a:solidFill>
                  </a:tcPr>
                </a:tc>
              </a:tr>
              <a:tr h="411480">
                <a:tc>
                  <a:txBody>
                    <a:bodyPr/>
                    <a:lstStyle/>
                    <a:p>
                      <a:r>
                        <a:rPr sz="1300" b="0">
                          <a:solidFill>
                            <a:srgbClr val="1F2937"/>
                          </a:solidFill>
                        </a:rPr>
                        <a:t>Jarima</a:t>
                      </a:r>
                    </a:p>
                  </a:txBody>
                  <a:tcPr marL="73152" marR="73152" marT="36576" marB="36576">
                    <a:solidFill>
                      <a:srgbClr val="FFFFFF"/>
                    </a:solidFill>
                  </a:tcPr>
                </a:tc>
                <a:tc>
                  <a:txBody>
                    <a:bodyPr/>
                    <a:lstStyle/>
                    <a:p>
                      <a:r>
                        <a:rPr sz="1300" b="0">
                          <a:solidFill>
                            <a:srgbClr val="1F2937"/>
                          </a:solidFill>
                        </a:rPr>
                        <a:t>O‘rtacha oylik ish haqining ≤30 foizi</a:t>
                      </a:r>
                    </a:p>
                  </a:txBody>
                  <a:tcPr marL="73152" marR="73152" marT="36576" marB="36576">
                    <a:solidFill>
                      <a:srgbClr val="FFFFFF"/>
                    </a:solidFill>
                  </a:tcPr>
                </a:tc>
              </a:tr>
              <a:tr h="411480">
                <a:tc>
                  <a:txBody>
                    <a:bodyPr/>
                    <a:lstStyle/>
                    <a:p>
                      <a:r>
                        <a:rPr sz="1300" b="0">
                          <a:solidFill>
                            <a:srgbClr val="1F2937"/>
                          </a:solidFill>
                        </a:rPr>
                        <a:t>Shartnomani bekor qilish</a:t>
                      </a:r>
                    </a:p>
                  </a:txBody>
                  <a:tcPr marL="73152" marR="73152" marT="36576" marB="36576">
                    <a:solidFill>
                      <a:srgbClr val="E8EEF6"/>
                    </a:solidFill>
                  </a:tcPr>
                </a:tc>
                <a:tc>
                  <a:txBody>
                    <a:bodyPr/>
                    <a:lstStyle/>
                    <a:p>
                      <a:r>
                        <a:rPr sz="1300" b="0">
                          <a:solidFill>
                            <a:srgbClr val="1F2937"/>
                          </a:solidFill>
                        </a:rPr>
                        <a:t>Jazo turi sifatida ko‘zda tutilgan</a:t>
                      </a:r>
                    </a:p>
                  </a:txBody>
                  <a:tcPr marL="73152" marR="73152" marT="36576" marB="36576">
                    <a:solidFill>
                      <a:srgbClr val="E8EEF6"/>
                    </a:solidFill>
                  </a:tcPr>
                </a:tc>
              </a:tr>
              <a:tr h="411480">
                <a:tc>
                  <a:txBody>
                    <a:bodyPr/>
                    <a:lstStyle/>
                    <a:p>
                      <a:r>
                        <a:rPr sz="1300" b="0">
                          <a:solidFill>
                            <a:srgbClr val="1F2937"/>
                          </a:solidFill>
                        </a:rPr>
                        <a:t>Ichki tartib bo‘yicha jarima</a:t>
                      </a:r>
                    </a:p>
                  </a:txBody>
                  <a:tcPr marL="73152" marR="73152" marT="36576" marB="36576">
                    <a:solidFill>
                      <a:srgbClr val="FFFFFF"/>
                    </a:solidFill>
                  </a:tcPr>
                </a:tc>
                <a:tc>
                  <a:txBody>
                    <a:bodyPr/>
                    <a:lstStyle/>
                    <a:p>
                      <a:r>
                        <a:rPr sz="1300" b="0">
                          <a:solidFill>
                            <a:srgbClr val="1F2937"/>
                          </a:solidFill>
                        </a:rPr>
                        <a:t>Alohida qilmishlarda 50 foizgacha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Intizomiy jazo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Intizomiy jazoni qo‘llash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Jazo qilmish aniqlangandan 1 oy ichida qo‘llanadi; xodimning bemorlik va ta’til davri bu muddatga kirmaydi.</a:t>
            </a:r>
          </a:p>
          <a:p>
            <a:pPr>
              <a:spcAft>
                <a:spcPts val="800"/>
              </a:spcAft>
            </a:pPr>
            <a:r>
              <a:rPr sz="1800">
                <a:solidFill>
                  <a:srgbClr val="1F2937"/>
                </a:solidFill>
                <a:latin typeface="Calibri"/>
              </a:rPr>
              <a:t>▸  Qilmishdan 6 oy, taftishda aniqlansa 2 yil o‘tgach jazo qo‘llab bo‘lmaydi.</a:t>
            </a:r>
          </a:p>
          <a:p>
            <a:pPr>
              <a:spcAft>
                <a:spcPts val="800"/>
              </a:spcAft>
            </a:pPr>
            <a:r>
              <a:rPr sz="1800">
                <a:solidFill>
                  <a:srgbClr val="1F2937"/>
                </a:solidFill>
                <a:latin typeface="Calibri"/>
              </a:rPr>
              <a:t>▸  Tushuntirish xatidan bosh tortish jazoga to‘siq emas; jazoni muddatdan oldin bekor qilish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Qilmish aniqlanadi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Yozma tushuntirish xati olinadi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Bitta qilmishga bitta jazo</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Buyruq bilan e’lon qilinadi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Jazo 1 yil amal qiladi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Jazo qo‘llash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bekor qilish va intizomiy jazo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xodim o‘z tashabbusi bilan shartnomani bekor qilmoqchi bo‘lsa, ish beruvchini qancha muddat oldin ogohlantiradi?</a:t>
            </a:r>
          </a:p>
          <a:p>
            <a:pPr>
              <a:spcAft>
                <a:spcPts val="1200"/>
              </a:spcAft>
            </a:pPr>
            <a:r>
              <a:rPr sz="2200">
                <a:solidFill>
                  <a:srgbClr val="1F2937"/>
                </a:solidFill>
                <a:latin typeface="Calibri"/>
              </a:rPr>
              <a:t>▸  Savol 2: intizomiy jazo qilmish aniqlangandan keyin qancha muddatda qo‘llanishi mumkin?</a:t>
            </a:r>
          </a:p>
          <a:p>
            <a:pPr>
              <a:spcAft>
                <a:spcPts val="1200"/>
              </a:spcAft>
            </a:pPr>
            <a:r>
              <a:rPr sz="2200">
                <a:solidFill>
                  <a:srgbClr val="1F2937"/>
                </a:solidFill>
                <a:latin typeface="Calibri"/>
              </a:rPr>
              <a:t>▸  Javob: 1) ikki hafta oldin yozma ogohlantirish bilan; 2) bir oy ichida (bemorlik va ta’til davri kirmaydi).</a:t>
            </a:r>
          </a:p>
          <a:p>
            <a:pPr>
              <a:spcAft>
                <a:spcPts val="1200"/>
              </a:spcAft>
            </a:pPr>
            <a:r>
              <a:rPr sz="2200">
                <a:solidFill>
                  <a:srgbClr val="1F2937"/>
                </a:solidFill>
                <a:latin typeface="Calibri"/>
              </a:rPr>
              <a:t>▸  Diqqat: xodim tashabbusida ogohlantirish 2 hafta; ish beruvchi shtat qisqarishi sababli bekor qilsa, kamida 2 oy oldin.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87, 90, 89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intizomiy jazo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tibbiy xodim mehnat intizomini buzdi va tushuntirish xatini berishdan bosh tortdi. Savol: jazo qo‘llash mumkinmi va qanday tartibda?</a:t>
            </a:r>
          </a:p>
          <a:p>
            <a:pPr>
              <a:spcAft>
                <a:spcPts val="1200"/>
              </a:spcAft>
            </a:pPr>
            <a:r>
              <a:rPr sz="2200">
                <a:solidFill>
                  <a:srgbClr val="1F2937"/>
                </a:solidFill>
                <a:latin typeface="Calibri"/>
              </a:rPr>
              <a:t>▸  Intizomiy jazo qilmish aniqlangandan bir oy ichida qo‘llanadi. Xodimning kasallik yoki mehnat ta’tilida bo‘lgan vaqti bu muddatga kirmaydi.</a:t>
            </a:r>
          </a:p>
          <a:p>
            <a:pPr>
              <a:spcAft>
                <a:spcPts val="1200"/>
              </a:spcAft>
            </a:pPr>
            <a:r>
              <a:rPr sz="2200">
                <a:solidFill>
                  <a:srgbClr val="1F2937"/>
                </a:solidFill>
                <a:latin typeface="Calibri"/>
              </a:rPr>
              <a:t>▸  Jazodan oldin xodimdan yozma tushuntirish xati talab qilinadi. Xat berishdan bosh tortish jazo qo‘llashga to‘siq bo‘lmaydi.</a:t>
            </a:r>
          </a:p>
          <a:p>
            <a:pPr>
              <a:spcAft>
                <a:spcPts val="1200"/>
              </a:spcAft>
            </a:pPr>
            <a:r>
              <a:rPr sz="2200">
                <a:solidFill>
                  <a:srgbClr val="1F2937"/>
                </a:solidFill>
                <a:latin typeface="Calibri"/>
              </a:rPr>
              <a:t>▸  Har bir huquqbuzarlikka faqat bitta intizomiy jazo qo‘llanadi. Xodimning jazoga tortilgani buyruq bilan e’lon qilinadi.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qonunchilik va huquqbuzarlik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Qonunchilik fuqarolar huquqlarini mustahkamlaydi, buzganlik uchun javobgarlik va jazo tartibini belgilaydi.</a:t>
            </a:r>
          </a:p>
          <a:p>
            <a:pPr>
              <a:spcAft>
                <a:spcPts val="800"/>
              </a:spcAft>
            </a:pPr>
            <a:r>
              <a:rPr sz="1800">
                <a:solidFill>
                  <a:srgbClr val="1F2937"/>
                </a:solidFill>
                <a:latin typeface="Calibri"/>
              </a:rPr>
              <a:t>▸  Ma’muriy huquqbuzarlik — aybli, g‘ayrihuquqiy harakat yoki harakatsizlik; jamiyat uchun xavfli emas.</a:t>
            </a:r>
          </a:p>
          <a:p>
            <a:pPr>
              <a:spcAft>
                <a:spcPts val="800"/>
              </a:spcAft>
            </a:pPr>
            <a:r>
              <a:rPr sz="1800">
                <a:solidFill>
                  <a:srgbClr val="1F2937"/>
                </a:solidFill>
                <a:latin typeface="Calibri"/>
              </a:rPr>
              <a:t>▸  Ahamiyati, oqibati og‘ir yoki soni ko‘p bo‘lsa, qilmish jinoyat deb baholanishi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13257"/>
                <a:gridCol w="2087358"/>
                <a:gridCol w="2087358"/>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Ma’muriy</a:t>
                      </a:r>
                    </a:p>
                  </a:txBody>
                  <a:tcPr marL="73152" marR="73152" marT="36576" marB="36576">
                    <a:solidFill>
                      <a:srgbClr val="0B1F3A"/>
                    </a:solidFill>
                  </a:tcPr>
                </a:tc>
                <a:tc>
                  <a:txBody>
                    <a:bodyPr/>
                    <a:lstStyle/>
                    <a:p>
                      <a:r>
                        <a:rPr sz="1300" b="1">
                          <a:solidFill>
                            <a:srgbClr val="FFFFFF"/>
                          </a:solidFill>
                        </a:rPr>
                        <a:t>Jinoyat</a:t>
                      </a:r>
                    </a:p>
                  </a:txBody>
                  <a:tcPr marL="73152" marR="73152" marT="36576" marB="36576">
                    <a:solidFill>
                      <a:srgbClr val="0B1F3A"/>
                    </a:solidFill>
                  </a:tcPr>
                </a:tc>
              </a:tr>
              <a:tr h="411480">
                <a:tc>
                  <a:txBody>
                    <a:bodyPr/>
                    <a:lstStyle/>
                    <a:p>
                      <a:r>
                        <a:rPr sz="1200" b="0">
                          <a:solidFill>
                            <a:srgbClr val="1F2937"/>
                          </a:solidFill>
                        </a:rPr>
                        <a:t>Ijtimoiy xavf</a:t>
                      </a:r>
                    </a:p>
                  </a:txBody>
                  <a:tcPr marL="73152" marR="73152" marT="36576" marB="36576">
                    <a:solidFill>
                      <a:srgbClr val="E8EEF6"/>
                    </a:solidFill>
                  </a:tcPr>
                </a:tc>
                <a:tc>
                  <a:txBody>
                    <a:bodyPr/>
                    <a:lstStyle/>
                    <a:p>
                      <a:r>
                        <a:rPr sz="1200" b="0">
                          <a:solidFill>
                            <a:srgbClr val="1F2937"/>
                          </a:solidFill>
                        </a:rPr>
                        <a:t>Xavf alomatini tutmaydi</a:t>
                      </a:r>
                    </a:p>
                  </a:txBody>
                  <a:tcPr marL="73152" marR="73152" marT="36576" marB="36576">
                    <a:solidFill>
                      <a:srgbClr val="E8EEF6"/>
                    </a:solidFill>
                  </a:tcPr>
                </a:tc>
                <a:tc>
                  <a:txBody>
                    <a:bodyPr/>
                    <a:lstStyle/>
                    <a:p>
                      <a:r>
                        <a:rPr sz="1200" b="0">
                          <a:solidFill>
                            <a:srgbClr val="1F2937"/>
                          </a:solidFill>
                        </a:rPr>
                        <a:t>Ijtimoiy xavf alomatlari bor</a:t>
                      </a:r>
                    </a:p>
                  </a:txBody>
                  <a:tcPr marL="73152" marR="73152" marT="36576" marB="36576">
                    <a:solidFill>
                      <a:srgbClr val="E8EEF6"/>
                    </a:solidFill>
                  </a:tcPr>
                </a:tc>
              </a:tr>
              <a:tr h="411480">
                <a:tc>
                  <a:txBody>
                    <a:bodyPr/>
                    <a:lstStyle/>
                    <a:p>
                      <a:r>
                        <a:rPr sz="1200" b="0">
                          <a:solidFill>
                            <a:srgbClr val="1F2937"/>
                          </a:solidFill>
                        </a:rPr>
                        <a:t>Javobgarlik</a:t>
                      </a:r>
                    </a:p>
                  </a:txBody>
                  <a:tcPr marL="73152" marR="73152" marT="36576" marB="36576">
                    <a:solidFill>
                      <a:srgbClr val="FFFFFF"/>
                    </a:solidFill>
                  </a:tcPr>
                </a:tc>
                <a:tc>
                  <a:txBody>
                    <a:bodyPr/>
                    <a:lstStyle/>
                    <a:p>
                      <a:r>
                        <a:rPr sz="1200" b="0">
                          <a:solidFill>
                            <a:srgbClr val="1F2937"/>
                          </a:solidFill>
                        </a:rPr>
                        <a:t>Ma’muriy javobgarlik</a:t>
                      </a:r>
                    </a:p>
                  </a:txBody>
                  <a:tcPr marL="73152" marR="73152" marT="36576" marB="36576">
                    <a:solidFill>
                      <a:srgbClr val="FFFFFF"/>
                    </a:solidFill>
                  </a:tcPr>
                </a:tc>
                <a:tc>
                  <a:txBody>
                    <a:bodyPr/>
                    <a:lstStyle/>
                    <a:p>
                      <a:r>
                        <a:rPr sz="1200" b="0">
                          <a:solidFill>
                            <a:srgbClr val="1F2937"/>
                          </a:solidFill>
                        </a:rPr>
                        <a:t>Jinoiy javobgarlik</a:t>
                      </a:r>
                    </a:p>
                  </a:txBody>
                  <a:tcPr marL="73152" marR="73152" marT="36576" marB="36576">
                    <a:solidFill>
                      <a:srgbClr val="FFFFFF"/>
                    </a:solidFill>
                  </a:tcPr>
                </a:tc>
              </a:tr>
              <a:tr h="411480">
                <a:tc>
                  <a:txBody>
                    <a:bodyPr/>
                    <a:lstStyle/>
                    <a:p>
                      <a:r>
                        <a:rPr sz="1200" b="0">
                          <a:solidFill>
                            <a:srgbClr val="1F2937"/>
                          </a:solidFill>
                        </a:rPr>
                        <a:t>Umumiy belgi</a:t>
                      </a:r>
                    </a:p>
                  </a:txBody>
                  <a:tcPr marL="73152" marR="73152" marT="36576" marB="36576">
                    <a:solidFill>
                      <a:srgbClr val="E8EEF6"/>
                    </a:solidFill>
                  </a:tcPr>
                </a:tc>
                <a:tc>
                  <a:txBody>
                    <a:bodyPr/>
                    <a:lstStyle/>
                    <a:p>
                      <a:r>
                        <a:rPr sz="1200" b="0">
                          <a:solidFill>
                            <a:srgbClr val="1F2937"/>
                          </a:solidFill>
                        </a:rPr>
                        <a:t>G‘ayrihuquqiy, aybli qilmish</a:t>
                      </a:r>
                    </a:p>
                  </a:txBody>
                  <a:tcPr marL="73152" marR="73152" marT="36576" marB="36576">
                    <a:solidFill>
                      <a:srgbClr val="E8EEF6"/>
                    </a:solidFill>
                  </a:tcPr>
                </a:tc>
                <a:tc>
                  <a:txBody>
                    <a:bodyPr/>
                    <a:lstStyle/>
                    <a:p>
                      <a:r>
                        <a:rPr sz="1200" b="0">
                          <a:solidFill>
                            <a:srgbClr val="1F2937"/>
                          </a:solidFill>
                        </a:rPr>
                        <a:t>Shunga o‘xshash belgilarga ega</a:t>
                      </a:r>
                    </a:p>
                  </a:txBody>
                  <a:tcPr marL="73152" marR="73152" marT="36576" marB="36576">
                    <a:solidFill>
                      <a:srgbClr val="E8EEF6"/>
                    </a:solidFill>
                  </a:tcPr>
                </a:tc>
              </a:tr>
              <a:tr h="411480">
                <a:tc>
                  <a:txBody>
                    <a:bodyPr/>
                    <a:lstStyle/>
                    <a:p>
                      <a:r>
                        <a:rPr sz="1200" b="0">
                          <a:solidFill>
                            <a:srgbClr val="1F2937"/>
                          </a:solidFill>
                        </a:rPr>
                        <a:t>Misol</a:t>
                      </a:r>
                    </a:p>
                  </a:txBody>
                  <a:tcPr marL="73152" marR="73152" marT="36576" marB="36576">
                    <a:solidFill>
                      <a:srgbClr val="FFFFFF"/>
                    </a:solidFill>
                  </a:tcPr>
                </a:tc>
                <a:tc>
                  <a:txBody>
                    <a:bodyPr/>
                    <a:lstStyle/>
                    <a:p>
                      <a:r>
                        <a:rPr sz="1200" b="0">
                          <a:solidFill>
                            <a:srgbClr val="1F2937"/>
                          </a:solidFill>
                        </a:rPr>
                        <a:t>Sanitariya qoidalari buzilishi</a:t>
                      </a:r>
                    </a:p>
                  </a:txBody>
                  <a:tcPr marL="73152" marR="73152" marT="36576" marB="36576">
                    <a:solidFill>
                      <a:srgbClr val="FFFFFF"/>
                    </a:solidFill>
                  </a:tcPr>
                </a:tc>
                <a:tc>
                  <a:txBody>
                    <a:bodyPr/>
                    <a:lstStyle/>
                    <a:p>
                      <a:r>
                        <a:rPr sz="1200" b="0">
                          <a:solidFill>
                            <a:srgbClr val="1F2937"/>
                          </a:solidFill>
                        </a:rPr>
                        <a:t>Xavf yuzaga kelsa — jinoyat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Ma’muriy huquqbuzarlik va jinoyat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92, 93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Ayb shakllari, oxirgi zarurat va javobgarlik yoshi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Qasddan: oqibatni ko‘rib, istagan yoki ongli yo‘l qo‘ygan. Ehtiyotsizlik: yengiltaklik bilan oldini olaman deb o‘ylagan yoki oldindan ko‘rishi lozim edi.</a:t>
            </a:r>
          </a:p>
          <a:p>
            <a:pPr>
              <a:spcAft>
                <a:spcPts val="1200"/>
              </a:spcAft>
            </a:pPr>
            <a:r>
              <a:rPr sz="2200">
                <a:solidFill>
                  <a:srgbClr val="1F2937"/>
                </a:solidFill>
                <a:latin typeface="Calibri"/>
              </a:rPr>
              <a:t>▸  Xavfni boshqacha bartaraf etib bo‘lmasa va etkazilgan zarar bartaraf etilgan zarardan kam bo‘lsa, harakat ma’muriy huquqbuzarlik hisoblanmaydi.</a:t>
            </a:r>
          </a:p>
          <a:p>
            <a:pPr>
              <a:spcAft>
                <a:spcPts val="1200"/>
              </a:spcAft>
            </a:pPr>
            <a:r>
              <a:rPr sz="2200">
                <a:solidFill>
                  <a:srgbClr val="1F2937"/>
                </a:solidFill>
                <a:latin typeface="Calibri"/>
              </a:rPr>
              <a:t>▸  Huquqbuzarlik paytida 16 yoshga to‘lmagan shaxs javobgarlikka tortilmaydi. Kam ahamiyatli holatda organ ogohlantirish bilan kifoyalanishi mumkin.</a:t>
            </a:r>
          </a:p>
          <a:p>
            <a:pPr>
              <a:spcAft>
                <a:spcPts val="1200"/>
              </a:spcAft>
            </a:pPr>
            <a:r>
              <a:rPr sz="2200">
                <a:solidFill>
                  <a:srgbClr val="1F2937"/>
                </a:solidFill>
                <a:latin typeface="Calibri"/>
              </a:rPr>
              <a:t>▸  Diqqat: ma’muriy huquqbuzarlik ≠ jinoyat. Birinchisida ijtimoiy xavf alomati yo‘q, jinoiy javobgarlik kelib chiqmaydi.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93, 93-94, 94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jazo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Ma’muriy javobgarlik to‘g‘risidagi kodeksning (MJhK) 23-moddasida beshta jazo turi sanalgan.</a:t>
            </a:r>
          </a:p>
          <a:p>
            <a:pPr>
              <a:spcAft>
                <a:spcPts val="800"/>
              </a:spcAft>
            </a:pPr>
            <a:r>
              <a:rPr sz="1800">
                <a:solidFill>
                  <a:srgbClr val="1F2937"/>
                </a:solidFill>
                <a:latin typeface="Calibri"/>
              </a:rPr>
              <a:t>▸  Asosiy yoki asosiy va qo‘shimcha jazo belgilanadi; olib qo‘yish va musodara ikkalasi bo‘lishi mumkin.</a:t>
            </a:r>
          </a:p>
          <a:p>
            <a:pPr>
              <a:spcAft>
                <a:spcPts val="800"/>
              </a:spcAft>
            </a:pPr>
            <a:r>
              <a:rPr sz="1800">
                <a:solidFill>
                  <a:srgbClr val="1F2937"/>
                </a:solidFill>
                <a:latin typeface="Calibri"/>
              </a:rPr>
              <a:t>▸  Tibbiy xodimlarning kasbiy huquqbuzarliklarida aksariyat hollarda jarima belgilanadi.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Jarima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Haq to‘lab olib qo‘yish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Musodara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Maxsus huquqdan mahrum qilish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Ma’muriy qamoq</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Ma’muriy jazo turlari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Jarima miqdori: fuqaro va mansabdor shaxs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Jarima eng kam oylik ish haqidan hisoblanadi; huquqbuzarlik sodir etilgan vaqtdagi miqdor olinadi.</a:t>
            </a:r>
          </a:p>
          <a:p>
            <a:pPr>
              <a:spcAft>
                <a:spcPts val="800"/>
              </a:spcAft>
            </a:pPr>
            <a:r>
              <a:rPr sz="1800">
                <a:solidFill>
                  <a:srgbClr val="1F2937"/>
                </a:solidFill>
                <a:latin typeface="Calibri"/>
              </a:rPr>
              <a:t>▸  Davom etayotgan huquqbuzarlikda huquqbuzarlik aniqlangan vaqtdagi eng kam ish haqi asos bo‘ladi.</a:t>
            </a:r>
          </a:p>
          <a:p>
            <a:pPr>
              <a:spcAft>
                <a:spcPts val="800"/>
              </a:spcAft>
            </a:pPr>
            <a:r>
              <a:rPr sz="1800">
                <a:solidFill>
                  <a:srgbClr val="1F2937"/>
                </a:solidFill>
                <a:latin typeface="Calibri"/>
              </a:rPr>
              <a:t>▸  Jarima davlat hisobiga pul undirishdir; fuqaro va mansabdor shaxs uchun miqdori farqlanadi.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88562"/>
                <a:gridCol w="1661935"/>
                <a:gridCol w="1737477"/>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Fuqaro</a:t>
                      </a:r>
                    </a:p>
                  </a:txBody>
                  <a:tcPr marL="73152" marR="73152" marT="36576" marB="36576">
                    <a:solidFill>
                      <a:srgbClr val="0B1F3A"/>
                    </a:solidFill>
                  </a:tcPr>
                </a:tc>
                <a:tc>
                  <a:txBody>
                    <a:bodyPr/>
                    <a:lstStyle/>
                    <a:p>
                      <a:r>
                        <a:rPr sz="1300" b="1">
                          <a:solidFill>
                            <a:srgbClr val="FFFFFF"/>
                          </a:solidFill>
                        </a:rPr>
                        <a:t>Mansabdor</a:t>
                      </a:r>
                    </a:p>
                  </a:txBody>
                  <a:tcPr marL="73152" marR="73152" marT="36576" marB="36576">
                    <a:solidFill>
                      <a:srgbClr val="0B1F3A"/>
                    </a:solidFill>
                  </a:tcPr>
                </a:tc>
              </a:tr>
              <a:tr h="411480">
                <a:tc>
                  <a:txBody>
                    <a:bodyPr/>
                    <a:lstStyle/>
                    <a:p>
                      <a:r>
                        <a:rPr sz="1200" b="0">
                          <a:solidFill>
                            <a:srgbClr val="1F2937"/>
                          </a:solidFill>
                        </a:rPr>
                        <a:t>Eng kam miqdor</a:t>
                      </a:r>
                    </a:p>
                  </a:txBody>
                  <a:tcPr marL="73152" marR="73152" marT="36576" marB="36576">
                    <a:solidFill>
                      <a:srgbClr val="E8EEF6"/>
                    </a:solidFill>
                  </a:tcPr>
                </a:tc>
                <a:tc>
                  <a:txBody>
                    <a:bodyPr/>
                    <a:lstStyle/>
                    <a:p>
                      <a:r>
                        <a:rPr sz="1200" b="0">
                          <a:solidFill>
                            <a:srgbClr val="1F2937"/>
                          </a:solidFill>
                        </a:rPr>
                        <a:t>1/50 qismidan kam emas</a:t>
                      </a:r>
                    </a:p>
                  </a:txBody>
                  <a:tcPr marL="73152" marR="73152" marT="36576" marB="36576">
                    <a:solidFill>
                      <a:srgbClr val="E8EEF6"/>
                    </a:solidFill>
                  </a:tcPr>
                </a:tc>
                <a:tc>
                  <a:txBody>
                    <a:bodyPr/>
                    <a:lstStyle/>
                    <a:p>
                      <a:r>
                        <a:rPr sz="1200" b="0">
                          <a:solidFill>
                            <a:srgbClr val="1F2937"/>
                          </a:solidFill>
                        </a:rPr>
                        <a:t>1/10 qismidan kam emas</a:t>
                      </a:r>
                    </a:p>
                  </a:txBody>
                  <a:tcPr marL="73152" marR="73152" marT="36576" marB="36576">
                    <a:solidFill>
                      <a:srgbClr val="E8EEF6"/>
                    </a:solidFill>
                  </a:tcPr>
                </a:tc>
              </a:tr>
              <a:tr h="411480">
                <a:tc>
                  <a:txBody>
                    <a:bodyPr/>
                    <a:lstStyle/>
                    <a:p>
                      <a:r>
                        <a:rPr sz="1200" b="0">
                          <a:solidFill>
                            <a:srgbClr val="1F2937"/>
                          </a:solidFill>
                        </a:rPr>
                        <a:t>Eng ko‘p miqdor</a:t>
                      </a:r>
                    </a:p>
                  </a:txBody>
                  <a:tcPr marL="73152" marR="73152" marT="36576" marB="36576">
                    <a:solidFill>
                      <a:srgbClr val="FFFFFF"/>
                    </a:solidFill>
                  </a:tcPr>
                </a:tc>
                <a:tc>
                  <a:txBody>
                    <a:bodyPr/>
                    <a:lstStyle/>
                    <a:p>
                      <a:r>
                        <a:rPr sz="1200" b="0">
                          <a:solidFill>
                            <a:srgbClr val="1F2937"/>
                          </a:solidFill>
                        </a:rPr>
                        <a:t>5 baravaridan oshmaydi</a:t>
                      </a:r>
                    </a:p>
                  </a:txBody>
                  <a:tcPr marL="73152" marR="73152" marT="36576" marB="36576">
                    <a:solidFill>
                      <a:srgbClr val="FFFFFF"/>
                    </a:solidFill>
                  </a:tcPr>
                </a:tc>
                <a:tc>
                  <a:txBody>
                    <a:bodyPr/>
                    <a:lstStyle/>
                    <a:p>
                      <a:r>
                        <a:rPr sz="1200" b="0">
                          <a:solidFill>
                            <a:srgbClr val="1F2937"/>
                          </a:solidFill>
                        </a:rPr>
                        <a:t>10 baravaridan oshmaydi</a:t>
                      </a:r>
                    </a:p>
                  </a:txBody>
                  <a:tcPr marL="73152" marR="73152" marT="36576" marB="36576">
                    <a:solidFill>
                      <a:srgbClr val="FFFFFF"/>
                    </a:solidFill>
                  </a:tcPr>
                </a:tc>
              </a:tr>
              <a:tr h="411480">
                <a:tc>
                  <a:txBody>
                    <a:bodyPr/>
                    <a:lstStyle/>
                    <a:p>
                      <a:r>
                        <a:rPr sz="1200" b="0">
                          <a:solidFill>
                            <a:srgbClr val="1F2937"/>
                          </a:solidFill>
                        </a:rPr>
                        <a:t>Istisno holatlar</a:t>
                      </a:r>
                    </a:p>
                  </a:txBody>
                  <a:tcPr marL="73152" marR="73152" marT="36576" marB="36576">
                    <a:solidFill>
                      <a:srgbClr val="E8EEF6"/>
                    </a:solidFill>
                  </a:tcPr>
                </a:tc>
                <a:tc>
                  <a:txBody>
                    <a:bodyPr/>
                    <a:lstStyle/>
                    <a:p>
                      <a:r>
                        <a:rPr sz="1200" b="0">
                          <a:solidFill>
                            <a:srgbClr val="1F2937"/>
                          </a:solidFill>
                        </a:rPr>
                        <a:t>100 baravarigacha</a:t>
                      </a:r>
                    </a:p>
                  </a:txBody>
                  <a:tcPr marL="73152" marR="73152" marT="36576" marB="36576">
                    <a:solidFill>
                      <a:srgbClr val="E8EEF6"/>
                    </a:solidFill>
                  </a:tcPr>
                </a:tc>
                <a:tc>
                  <a:txBody>
                    <a:bodyPr/>
                    <a:lstStyle/>
                    <a:p>
                      <a:r>
                        <a:rPr sz="1200" b="0">
                          <a:solidFill>
                            <a:srgbClr val="1F2937"/>
                          </a:solidFill>
                        </a:rPr>
                        <a:t>150 baravarigacha</a:t>
                      </a:r>
                    </a:p>
                  </a:txBody>
                  <a:tcPr marL="73152" marR="73152" marT="36576" marB="36576">
                    <a:solidFill>
                      <a:srgbClr val="E8EEF6"/>
                    </a:solidFill>
                  </a:tcPr>
                </a:tc>
              </a:tr>
              <a:tr h="411480">
                <a:tc>
                  <a:txBody>
                    <a:bodyPr/>
                    <a:lstStyle/>
                    <a:p>
                      <a:r>
                        <a:rPr sz="1200" b="0">
                          <a:solidFill>
                            <a:srgbClr val="1F2937"/>
                          </a:solidFill>
                        </a:rPr>
                        <a:t>Mahalliy hokimiyat qarori</a:t>
                      </a:r>
                    </a:p>
                  </a:txBody>
                  <a:tcPr marL="73152" marR="73152" marT="36576" marB="36576">
                    <a:solidFill>
                      <a:srgbClr val="FFFFFF"/>
                    </a:solidFill>
                  </a:tcPr>
                </a:tc>
                <a:tc>
                  <a:txBody>
                    <a:bodyPr/>
                    <a:lstStyle/>
                    <a:p>
                      <a:r>
                        <a:rPr sz="1200" b="0">
                          <a:solidFill>
                            <a:srgbClr val="1F2937"/>
                          </a:solidFill>
                        </a:rPr>
                        <a:t>3 baravaridan oshmaydi</a:t>
                      </a:r>
                    </a:p>
                  </a:txBody>
                  <a:tcPr marL="73152" marR="73152" marT="36576" marB="36576">
                    <a:solidFill>
                      <a:srgbClr val="FFFFFF"/>
                    </a:solidFill>
                  </a:tcPr>
                </a:tc>
                <a:tc>
                  <a:txBody>
                    <a:bodyPr/>
                    <a:lstStyle/>
                    <a:p>
                      <a:r>
                        <a:rPr sz="1200" b="0">
                          <a:solidFill>
                            <a:srgbClr val="1F2937"/>
                          </a:solidFill>
                        </a:rPr>
                        <a:t>5 baravaridan oshmaydi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Jarima chegaralari (eng kam ish haqiga nisbatan)</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jazo qo‘llash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Jazo huquqbuzarlik sodir etilgan kundan, davom etayotgan bo‘lsa aniqlangan kundan 2 oy ichida qo‘llanadi.</a:t>
            </a:r>
          </a:p>
          <a:p>
            <a:pPr>
              <a:spcAft>
                <a:spcPts val="800"/>
              </a:spcAft>
            </a:pPr>
            <a:r>
              <a:rPr sz="1800">
                <a:solidFill>
                  <a:srgbClr val="1F2937"/>
                </a:solidFill>
                <a:latin typeface="Calibri"/>
              </a:rPr>
              <a:t>▸  Jinoyat ishi qo‘zg‘atish rad etilsa yoki ish to‘xtatilsa, qaror kunidan 1 oy ichida qo‘llanadi.</a:t>
            </a:r>
          </a:p>
          <a:p>
            <a:pPr>
              <a:spcAft>
                <a:spcPts val="800"/>
              </a:spcAft>
            </a:pPr>
            <a:r>
              <a:rPr sz="1800">
                <a:solidFill>
                  <a:srgbClr val="1F2937"/>
                </a:solidFill>
                <a:latin typeface="Calibri"/>
              </a:rPr>
              <a:t>▸  Musodara qarorini tuman (shahar) sudining ma’muriy ishlar sudyasi, soliq va bojxona idoralari chiqaradi.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065492"/>
                <a:gridCol w="2222482"/>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Muddat</a:t>
                      </a:r>
                    </a:p>
                  </a:txBody>
                  <a:tcPr marL="73152" marR="73152" marT="36576" marB="36576">
                    <a:solidFill>
                      <a:srgbClr val="0B1F3A"/>
                    </a:solidFill>
                  </a:tcPr>
                </a:tc>
              </a:tr>
              <a:tr h="411480">
                <a:tc>
                  <a:txBody>
                    <a:bodyPr/>
                    <a:lstStyle/>
                    <a:p>
                      <a:r>
                        <a:rPr sz="1300" b="0">
                          <a:solidFill>
                            <a:srgbClr val="1F2937"/>
                          </a:solidFill>
                        </a:rPr>
                        <a:t>Huquqbuzarlik sodir etilgan kundan</a:t>
                      </a:r>
                    </a:p>
                  </a:txBody>
                  <a:tcPr marL="73152" marR="73152" marT="36576" marB="36576">
                    <a:solidFill>
                      <a:srgbClr val="E8EEF6"/>
                    </a:solidFill>
                  </a:tcPr>
                </a:tc>
                <a:tc>
                  <a:txBody>
                    <a:bodyPr/>
                    <a:lstStyle/>
                    <a:p>
                      <a:r>
                        <a:rPr sz="1300" b="0">
                          <a:solidFill>
                            <a:srgbClr val="1F2937"/>
                          </a:solidFill>
                        </a:rPr>
                        <a:t>2 oydan kechiktirmay</a:t>
                      </a:r>
                    </a:p>
                  </a:txBody>
                  <a:tcPr marL="73152" marR="73152" marT="36576" marB="36576">
                    <a:solidFill>
                      <a:srgbClr val="E8EEF6"/>
                    </a:solidFill>
                  </a:tcPr>
                </a:tc>
              </a:tr>
              <a:tr h="411480">
                <a:tc>
                  <a:txBody>
                    <a:bodyPr/>
                    <a:lstStyle/>
                    <a:p>
                      <a:r>
                        <a:rPr sz="1300" b="0">
                          <a:solidFill>
                            <a:srgbClr val="1F2937"/>
                          </a:solidFill>
                        </a:rPr>
                        <a:t>Davom etayotgan: aniqlangan kundan</a:t>
                      </a:r>
                    </a:p>
                  </a:txBody>
                  <a:tcPr marL="73152" marR="73152" marT="36576" marB="36576">
                    <a:solidFill>
                      <a:srgbClr val="FFFFFF"/>
                    </a:solidFill>
                  </a:tcPr>
                </a:tc>
                <a:tc>
                  <a:txBody>
                    <a:bodyPr/>
                    <a:lstStyle/>
                    <a:p>
                      <a:r>
                        <a:rPr sz="1300" b="0">
                          <a:solidFill>
                            <a:srgbClr val="1F2937"/>
                          </a:solidFill>
                        </a:rPr>
                        <a:t>2 oydan kechiktirmay</a:t>
                      </a:r>
                    </a:p>
                  </a:txBody>
                  <a:tcPr marL="73152" marR="73152" marT="36576" marB="36576">
                    <a:solidFill>
                      <a:srgbClr val="FFFFFF"/>
                    </a:solidFill>
                  </a:tcPr>
                </a:tc>
              </a:tr>
              <a:tr h="411480">
                <a:tc>
                  <a:txBody>
                    <a:bodyPr/>
                    <a:lstStyle/>
                    <a:p>
                      <a:r>
                        <a:rPr sz="1300" b="0">
                          <a:solidFill>
                            <a:srgbClr val="1F2937"/>
                          </a:solidFill>
                        </a:rPr>
                        <a:t>Jinoyat ishi rad etilsa yoki to‘xtatilsa</a:t>
                      </a:r>
                    </a:p>
                  </a:txBody>
                  <a:tcPr marL="73152" marR="73152" marT="36576" marB="36576">
                    <a:solidFill>
                      <a:srgbClr val="E8EEF6"/>
                    </a:solidFill>
                  </a:tcPr>
                </a:tc>
                <a:tc>
                  <a:txBody>
                    <a:bodyPr/>
                    <a:lstStyle/>
                    <a:p>
                      <a:r>
                        <a:rPr sz="1300" b="0">
                          <a:solidFill>
                            <a:srgbClr val="1F2937"/>
                          </a:solidFill>
                        </a:rPr>
                        <a:t>1 oydan kechiktirmay</a:t>
                      </a:r>
                    </a:p>
                  </a:txBody>
                  <a:tcPr marL="73152" marR="73152" marT="36576" marB="36576">
                    <a:solidFill>
                      <a:srgbClr val="E8EEF6"/>
                    </a:solidFill>
                  </a:tcPr>
                </a:tc>
              </a:tr>
              <a:tr h="411480">
                <a:tc>
                  <a:txBody>
                    <a:bodyPr/>
                    <a:lstStyle/>
                    <a:p>
                      <a:r>
                        <a:rPr sz="1300" b="0">
                          <a:solidFill>
                            <a:srgbClr val="1F2937"/>
                          </a:solidFill>
                        </a:rPr>
                        <a:t>Bojxona organining musodarasi</a:t>
                      </a:r>
                    </a:p>
                  </a:txBody>
                  <a:tcPr marL="73152" marR="73152" marT="36576" marB="36576">
                    <a:solidFill>
                      <a:srgbClr val="FFFFFF"/>
                    </a:solidFill>
                  </a:tcPr>
                </a:tc>
                <a:tc>
                  <a:txBody>
                    <a:bodyPr/>
                    <a:lstStyle/>
                    <a:p>
                      <a:r>
                        <a:rPr sz="1300" b="0">
                          <a:solidFill>
                            <a:srgbClr val="1F2937"/>
                          </a:solidFill>
                        </a:rPr>
                        <a:t>Bu muddatlar tatbiq etilmaydi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Jazo qo‘llash muddatlari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4: ma’muriy javobgarlik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ma’muriy javobgarlik qaysi yoshdan boshlanadi? Javob: huquqbuzarlik paytida 16 yoshga to‘lmagan shaxs javobgarlikka tortilmaydi.</a:t>
            </a:r>
          </a:p>
          <a:p>
            <a:pPr>
              <a:spcAft>
                <a:spcPts val="1200"/>
              </a:spcAft>
            </a:pPr>
            <a:r>
              <a:rPr sz="2200">
                <a:solidFill>
                  <a:srgbClr val="1F2937"/>
                </a:solidFill>
                <a:latin typeface="Calibri"/>
              </a:rPr>
              <a:t>▸  Savol 2: tibbiy xodimlarning kasb huquqbuzarliklarida ko‘proq qaysi jazo qo‘llanadi? Javob: aksariyat holatlarda jarima.</a:t>
            </a:r>
          </a:p>
          <a:p>
            <a:pPr>
              <a:spcAft>
                <a:spcPts val="1200"/>
              </a:spcAft>
            </a:pPr>
            <a:r>
              <a:rPr sz="2200">
                <a:solidFill>
                  <a:srgbClr val="1F2937"/>
                </a:solidFill>
                <a:latin typeface="Calibri"/>
              </a:rPr>
              <a:t>▸  Huquqbuzarlik kam ahamiyatli bo‘lsa, ishni ko‘ruvchi organ javobgarlikdan ozod qilib, ogohlantirish bilan cheklanishi mumkin.</a:t>
            </a:r>
          </a:p>
          <a:p>
            <a:pPr>
              <a:spcAft>
                <a:spcPts val="1200"/>
              </a:spcAft>
            </a:pPr>
            <a:r>
              <a:rPr sz="2200">
                <a:solidFill>
                  <a:srgbClr val="1F2937"/>
                </a:solidFill>
                <a:latin typeface="Calibri"/>
              </a:rPr>
              <a:t>▸  Diqqat: xato qilish xavfi. Ma’muriy huquqbuzarlik ≠ jinoyat. Ammo oqibati og‘ir bo‘lsa, ayrim huquqbuzarlik jinoyat deb baholanishi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94, 93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Ishni ko‘rib chiqadigan organlar va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Ishlarni tuman (shahar) sudining ma’muriy ishlar bo‘yicha sudyasi va xo‘jalik sudlari ko‘rib chiqadi.</a:t>
            </a:r>
          </a:p>
          <a:p>
            <a:pPr>
              <a:spcAft>
                <a:spcPts val="1200"/>
              </a:spcAft>
            </a:pPr>
            <a:r>
              <a:rPr sz="2200">
                <a:solidFill>
                  <a:srgbClr val="1F2937"/>
                </a:solidFill>
                <a:latin typeface="Calibri"/>
              </a:rPr>
              <a:t>▸  Shuningdek, o‘zini o‘zi boshqarish organlari qoshidagi ma’muriy komissiyalar va voyaga etmaganlar ishlari bo‘yicha komissiyalar ko‘radi.</a:t>
            </a:r>
          </a:p>
          <a:p>
            <a:pPr>
              <a:spcAft>
                <a:spcPts val="1200"/>
              </a:spcAft>
            </a:pPr>
            <a:r>
              <a:rPr sz="2200">
                <a:solidFill>
                  <a:srgbClr val="1F2937"/>
                </a:solidFill>
                <a:latin typeface="Calibri"/>
              </a:rPr>
              <a:t>▸  Ichki ishlar va davlat inspeksiyasi organlari ham ko‘radi. Ular qatorida Davlat sanitariya nazorati va mehnat bo‘yicha inspektorlar bor.</a:t>
            </a:r>
          </a:p>
          <a:p>
            <a:pPr>
              <a:spcAft>
                <a:spcPts val="1200"/>
              </a:spcAft>
            </a:pPr>
            <a:r>
              <a:rPr sz="2200">
                <a:solidFill>
                  <a:srgbClr val="1F2937"/>
                </a:solidFill>
                <a:latin typeface="Calibri"/>
              </a:rPr>
              <a:t>▸  Maxsus bilim kerak bo‘lsa, ishni yuritayotgan organ ekspertiza tayinlaydi. Uning qoidalari jinoiy va fuqaroviy ishlardagi kabi.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96, 96-97, 99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Bayonnoma tuzish va shaxsning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Bayonnomada sana, joy, huquqbuzarlik mohiyati, me’yoriy hujjat va tushuntirish xati ko‘rsatiladi.</a:t>
            </a:r>
          </a:p>
          <a:p>
            <a:pPr>
              <a:spcAft>
                <a:spcPts val="800"/>
              </a:spcAft>
            </a:pPr>
            <a:r>
              <a:rPr sz="1800">
                <a:solidFill>
                  <a:srgbClr val="1F2937"/>
                </a:solidFill>
                <a:latin typeface="Calibri"/>
              </a:rPr>
              <a:t>▸  Shaxs ishni o‘rganadi, advokat va tarjimondan foydalanadi (Ma’muriy javobgarlik kodeksi, 294-modda).</a:t>
            </a:r>
          </a:p>
          <a:p>
            <a:pPr>
              <a:spcAft>
                <a:spcPts val="800"/>
              </a:spcAft>
            </a:pPr>
            <a:r>
              <a:rPr sz="1800">
                <a:solidFill>
                  <a:srgbClr val="1F2937"/>
                </a:solidFill>
                <a:latin typeface="Calibri"/>
              </a:rPr>
              <a:t>▸  Zarar ko‘rgan (jabrlanuvchi) ishda ayblanuvchi bilan bir xil huquqlarga ega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Bayonnoma tuziladi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Huquqlari tushuntiriladi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Imzo: tuzgan, huquqbuzar, guvoh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Imzosiz qolsa, qayd yoziladi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Shikoyat berish huquqi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Bayonnoma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97, 98, 98-99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xodimlarning ma’muriy huquqbuzarliklari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Kodeksning VI bobida sog‘liq sohasi qilmishlari bor; subyekt tibbiy xodim ham bo‘lishi mumkin.</a:t>
            </a:r>
          </a:p>
          <a:p>
            <a:pPr>
              <a:spcAft>
                <a:spcPts val="800"/>
              </a:spcAft>
            </a:pPr>
            <a:r>
              <a:rPr sz="1800">
                <a:solidFill>
                  <a:srgbClr val="1F2937"/>
                </a:solidFill>
                <a:latin typeface="Calibri"/>
              </a:rPr>
              <a:t>▸  Tuxmat, haqorat kabi moddalar ko‘proq tibbiyot muassasalari rahbarlariga taalluqli.</a:t>
            </a:r>
          </a:p>
          <a:p>
            <a:pPr>
              <a:spcAft>
                <a:spcPts val="800"/>
              </a:spcAft>
            </a:pPr>
            <a:r>
              <a:rPr sz="1800">
                <a:solidFill>
                  <a:srgbClr val="1F2937"/>
                </a:solidFill>
                <a:latin typeface="Calibri"/>
              </a:rPr>
              <a:t>▸  Davlat statistik hisobotini taqdim etish tartibini buzishda mansabdor shaxslar javob beradi.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31446"/>
                <a:gridCol w="1159008"/>
                <a:gridCol w="2897520"/>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Sog‘liq sohasi</a:t>
                      </a:r>
                    </a:p>
                  </a:txBody>
                  <a:tcPr marL="73152" marR="73152" marT="36576" marB="36576">
                    <a:solidFill>
                      <a:srgbClr val="E8EEF6"/>
                    </a:solidFill>
                  </a:tcPr>
                </a:tc>
                <a:tc>
                  <a:txBody>
                    <a:bodyPr/>
                    <a:lstStyle/>
                    <a:p>
                      <a:r>
                        <a:rPr sz="1200" b="0">
                          <a:solidFill>
                            <a:srgbClr val="1F2937"/>
                          </a:solidFill>
                        </a:rPr>
                        <a:t>52–56</a:t>
                      </a:r>
                    </a:p>
                  </a:txBody>
                  <a:tcPr marL="73152" marR="73152" marT="36576" marB="36576">
                    <a:solidFill>
                      <a:srgbClr val="E8EEF6"/>
                    </a:solidFill>
                  </a:tcPr>
                </a:tc>
                <a:tc>
                  <a:txBody>
                    <a:bodyPr/>
                    <a:lstStyle/>
                    <a:p>
                      <a:r>
                        <a:rPr sz="1200" b="0">
                          <a:solidFill>
                            <a:srgbClr val="1F2937"/>
                          </a:solidFill>
                        </a:rPr>
                        <a:t>Sanitariya, epidemiya, radiatsiya, giyohvand</a:t>
                      </a:r>
                    </a:p>
                  </a:txBody>
                  <a:tcPr marL="73152" marR="73152" marT="36576" marB="36576">
                    <a:solidFill>
                      <a:srgbClr val="E8EEF6"/>
                    </a:solidFill>
                  </a:tcPr>
                </a:tc>
              </a:tr>
              <a:tr h="411480">
                <a:tc>
                  <a:txBody>
                    <a:bodyPr/>
                    <a:lstStyle/>
                    <a:p>
                      <a:r>
                        <a:rPr sz="1200" b="0">
                          <a:solidFill>
                            <a:srgbClr val="1F2937"/>
                          </a:solidFill>
                        </a:rPr>
                        <a:t>Tanosil, OITS</a:t>
                      </a:r>
                    </a:p>
                  </a:txBody>
                  <a:tcPr marL="73152" marR="73152" marT="36576" marB="36576">
                    <a:solidFill>
                      <a:srgbClr val="FFFFFF"/>
                    </a:solidFill>
                  </a:tcPr>
                </a:tc>
                <a:tc>
                  <a:txBody>
                    <a:bodyPr/>
                    <a:lstStyle/>
                    <a:p>
                      <a:r>
                        <a:rPr sz="1200" b="0">
                          <a:solidFill>
                            <a:srgbClr val="1F2937"/>
                          </a:solidFill>
                        </a:rPr>
                        <a:t>57–59</a:t>
                      </a:r>
                    </a:p>
                  </a:txBody>
                  <a:tcPr marL="73152" marR="73152" marT="36576" marB="36576">
                    <a:solidFill>
                      <a:srgbClr val="FFFFFF"/>
                    </a:solidFill>
                  </a:tcPr>
                </a:tc>
                <a:tc>
                  <a:txBody>
                    <a:bodyPr/>
                    <a:lstStyle/>
                    <a:p>
                      <a:r>
                        <a:rPr sz="1200" b="0">
                          <a:solidFill>
                            <a:srgbClr val="1F2937"/>
                          </a:solidFill>
                        </a:rPr>
                        <a:t>Manbani yashirish, tekshiruvdan bosh tortish</a:t>
                      </a:r>
                    </a:p>
                  </a:txBody>
                  <a:tcPr marL="73152" marR="73152" marT="36576" marB="36576">
                    <a:solidFill>
                      <a:srgbClr val="FFFFFF"/>
                    </a:solidFill>
                  </a:tcPr>
                </a:tc>
              </a:tr>
              <a:tr h="411480">
                <a:tc>
                  <a:txBody>
                    <a:bodyPr/>
                    <a:lstStyle/>
                    <a:p>
                      <a:r>
                        <a:rPr sz="1200" b="0">
                          <a:solidFill>
                            <a:srgbClr val="1F2937"/>
                          </a:solidFill>
                        </a:rPr>
                        <a:t>Savdo, moliya</a:t>
                      </a:r>
                    </a:p>
                  </a:txBody>
                  <a:tcPr marL="73152" marR="73152" marT="36576" marB="36576">
                    <a:solidFill>
                      <a:srgbClr val="E8EEF6"/>
                    </a:solidFill>
                  </a:tcPr>
                </a:tc>
                <a:tc>
                  <a:txBody>
                    <a:bodyPr/>
                    <a:lstStyle/>
                    <a:p>
                      <a:r>
                        <a:rPr sz="1200" b="0">
                          <a:solidFill>
                            <a:srgbClr val="1F2937"/>
                          </a:solidFill>
                        </a:rPr>
                        <a:t>164, 176, 176-1</a:t>
                      </a:r>
                    </a:p>
                  </a:txBody>
                  <a:tcPr marL="73152" marR="73152" marT="36576" marB="36576">
                    <a:solidFill>
                      <a:srgbClr val="E8EEF6"/>
                    </a:solidFill>
                  </a:tcPr>
                </a:tc>
                <a:tc>
                  <a:txBody>
                    <a:bodyPr/>
                    <a:lstStyle/>
                    <a:p>
                      <a:r>
                        <a:rPr sz="1200" b="0">
                          <a:solidFill>
                            <a:srgbClr val="1F2937"/>
                          </a:solidFill>
                        </a:rPr>
                        <a:t>Pullik xizmat, tadbirkorlik tartibi, shartnoma</a:t>
                      </a:r>
                    </a:p>
                  </a:txBody>
                  <a:tcPr marL="73152" marR="73152" marT="36576" marB="36576">
                    <a:solidFill>
                      <a:srgbClr val="E8EEF6"/>
                    </a:solidFill>
                  </a:tcPr>
                </a:tc>
              </a:tr>
              <a:tr h="411480">
                <a:tc>
                  <a:txBody>
                    <a:bodyPr/>
                    <a:lstStyle/>
                    <a:p>
                      <a:r>
                        <a:rPr sz="1200" b="0">
                          <a:solidFill>
                            <a:srgbClr val="1F2937"/>
                          </a:solidFill>
                        </a:rPr>
                        <a:t>Boshqaruv tartibi</a:t>
                      </a:r>
                    </a:p>
                  </a:txBody>
                  <a:tcPr marL="73152" marR="73152" marT="36576" marB="36576">
                    <a:solidFill>
                      <a:srgbClr val="FFFFFF"/>
                    </a:solidFill>
                  </a:tcPr>
                </a:tc>
                <a:tc>
                  <a:txBody>
                    <a:bodyPr/>
                    <a:lstStyle/>
                    <a:p>
                      <a:r>
                        <a:rPr sz="1200" b="0">
                          <a:solidFill>
                            <a:srgbClr val="1F2937"/>
                          </a:solidFill>
                        </a:rPr>
                        <a:t>199, 215</a:t>
                      </a:r>
                    </a:p>
                  </a:txBody>
                  <a:tcPr marL="73152" marR="73152" marT="36576" marB="36576">
                    <a:solidFill>
                      <a:srgbClr val="FFFFFF"/>
                    </a:solidFill>
                  </a:tcPr>
                </a:tc>
                <a:tc>
                  <a:txBody>
                    <a:bodyPr/>
                    <a:lstStyle/>
                    <a:p>
                      <a:r>
                        <a:rPr sz="1200" b="0">
                          <a:solidFill>
                            <a:srgbClr val="1F2937"/>
                          </a:solidFill>
                        </a:rPr>
                        <a:t>Tez yordamga yolg‘on chaqiruv; hisobot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Huquqbuzarliklar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99-100, 99, 101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sanitariya qoidalari buzilishi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muassasada sanitariya yoki epidemiyaga qarshi qoida buzildi; vakolatli mansabdor shaxs bayonnoma tuzdi.</a:t>
            </a:r>
          </a:p>
          <a:p>
            <a:pPr>
              <a:spcAft>
                <a:spcPts val="1200"/>
              </a:spcAft>
            </a:pPr>
            <a:r>
              <a:rPr sz="2200">
                <a:solidFill>
                  <a:srgbClr val="1F2937"/>
                </a:solidFill>
                <a:latin typeface="Calibri"/>
              </a:rPr>
              <a:t>▸  Bayonnomada sana, joy, qilmish mohiyati, me’yoriy hujjat, guvohlar va tushuntirish xati yoziladi; uni ikki tomon imzolaydi.</a:t>
            </a:r>
          </a:p>
          <a:p>
            <a:pPr>
              <a:spcAft>
                <a:spcPts val="1200"/>
              </a:spcAft>
            </a:pPr>
            <a:r>
              <a:rPr sz="2200">
                <a:solidFill>
                  <a:srgbClr val="1F2937"/>
                </a:solidFill>
                <a:latin typeface="Calibri"/>
              </a:rPr>
              <a:t>▸  Shaxsga 294-modda bo‘yicha huquqlari tushuntiriladi: ish bilan tanishish, advokat, ona tili, tarjimon, shikoyat qilish.</a:t>
            </a:r>
          </a:p>
          <a:p>
            <a:pPr>
              <a:spcAft>
                <a:spcPts val="1200"/>
              </a:spcAft>
            </a:pPr>
            <a:r>
              <a:rPr sz="2200">
                <a:solidFill>
                  <a:srgbClr val="1F2937"/>
                </a:solidFill>
                <a:latin typeface="Calibri"/>
              </a:rPr>
              <a:t>▸  Savol: kim javobgar, qanday jazo? Tibbiy xodim ham subyekt; odatda jarima, qilmishdan ikki oy ichida qo‘llanadi.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97, 99, 97-98, 98, 94, 96, 99-100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Xodim shartnomani ikki hafta oldin yozma ogohlantirib bekor qiladi. Intizomiy jazo bir oy ichida va bitta huquqbuzarlikka bitta qo‘llanadi.</a:t>
            </a:r>
          </a:p>
          <a:p>
            <a:pPr>
              <a:spcAft>
                <a:spcPts val="1200"/>
              </a:spcAft>
            </a:pPr>
            <a:r>
              <a:rPr sz="2200">
                <a:solidFill>
                  <a:srgbClr val="1F2937"/>
                </a:solidFill>
                <a:latin typeface="Calibri"/>
              </a:rPr>
              <a:t>▸  Tibbiy xodimlarning ish vaqti haftasiga 36 soatdan oshmaydi. Ish beruvchi dastlabki va davriy tibbiy ko‘rik o‘tkazadi.</a:t>
            </a:r>
          </a:p>
          <a:p>
            <a:pPr>
              <a:spcAft>
                <a:spcPts val="1200"/>
              </a:spcAft>
            </a:pPr>
            <a:r>
              <a:rPr sz="2200">
                <a:solidFill>
                  <a:srgbClr val="1F2937"/>
                </a:solidFill>
                <a:latin typeface="Calibri"/>
              </a:rPr>
              <a:t>▸  Diqqat: ma’muriy huquqbuzarlik ≠ jinoyat (ijtimoiy xavf alomati yo‘q). Javobgarlik 16 yoshdan; tibbiy xodimga ko‘pincha jarima.</a:t>
            </a:r>
          </a:p>
          <a:p>
            <a:pPr>
              <a:spcAft>
                <a:spcPts val="1200"/>
              </a:spcAft>
            </a:pPr>
            <a:r>
              <a:rPr sz="2200">
                <a:solidFill>
                  <a:srgbClr val="1F2937"/>
                </a:solidFill>
                <a:latin typeface="Calibri"/>
              </a:rPr>
              <a:t>▸  Yakuniy muhokama: huquqlar, shartnoma, bekor qilish, jazo turlari, bayonnoma talablari bo‘yicha nazorat savollari.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87, 90, 85-86, 93-94, 91, 101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Intizomiy jazo muddatlarini «1–6–2–1» tartibida eslang. Jazo qilmish aniqlangandan keyin 1 oy ichida qo‘llanadi (xodimning bemorlik va ta’til kunlari hisobga kirmaydi). Qilmishdan 6 oy o‘tgach jazo berilmaydi, moliya-xo‘jalik tekshiruvida aniqlansa 2 yildan keyin berilmaydi. Jazo 1 yil amal qiladi.</a:t>
            </a:r>
          </a:p>
          <a:p>
            <a:pPr>
              <a:spcAft>
                <a:spcPts val="1200"/>
              </a:spcAft>
            </a:pPr>
            <a:r>
              <a:rPr sz="1800">
                <a:solidFill>
                  <a:srgbClr val="1F2937"/>
                </a:solidFill>
                <a:latin typeface="Calibri"/>
              </a:rPr>
              <a:t>▸  Hodisa tahlili: bemor vrach kasbiy vazifasini lozim darajada bajarmadi deb da’vo qilsa, fuqarolik huquqida vrach o‘z aybsizligini isbotlamaguncha aybdor hisoblanadi. Shuning uchun asl nusxadagi to‘liq tibbiy hujjat, kundaliklarning to‘laqonligi va to‘g‘rilashlarning yo‘qligi muhim. A. V. Tixomirov bunday zarar uchun «yatrogen delikt» atamasini taklif etgan.</a:t>
            </a:r>
          </a:p>
          <a:p>
            <a:pPr>
              <a:spcAft>
                <a:spcPts val="1200"/>
              </a:spcAft>
            </a:pPr>
            <a:r>
              <a:rPr sz="1800">
                <a:solidFill>
                  <a:srgbClr val="1F2937"/>
                </a:solidFill>
                <a:latin typeface="Calibri"/>
              </a:rPr>
              <a:t>▸  Farqlang: oxirgi zarurat holatida etkazilgan zarar ma’muriy huquqbuzarlik hisoblanmaydi (xavfni boshqacha bartaraf etib bo‘lmasa va zarar oldi olingan zarardan kam bo‘lsa). Lekin fuqarolik huquqida bu holat zararni qoplashdan ozod qilish uchun o‘z-o‘zidan asos bo‘lmaydi.</a:t>
            </a:r>
          </a:p>
          <a:p>
            <a:pPr>
              <a:spcAft>
                <a:spcPts val="1200"/>
              </a:spcAft>
            </a:pPr>
            <a:r>
              <a:rPr sz="1800">
                <a:solidFill>
                  <a:srgbClr val="1F2937"/>
                </a:solidFill>
                <a:latin typeface="Calibri"/>
              </a:rPr>
              <a:t>▸  Ma’muriy jarimada fuqaro va mansabdor shaxs farqlanadi. Eng kam miqdor fuqaroda eng kam oylik ish haqining 1/50 qismi, mansabdorda 1/10 qismi. Eng ko‘p miqdor fuqaroda 5 baravar, mansabdorda 10 baravar. Eslab qolish: mansabdorga jarima har ikki chegarada kattaroq.</a:t>
            </a:r>
          </a:p>
          <a:p>
            <a:pPr>
              <a:spcAft>
                <a:spcPts val="1200"/>
              </a:spcAft>
            </a:pPr>
            <a:r>
              <a:rPr sz="1800">
                <a:solidFill>
                  <a:srgbClr val="1F2937"/>
                </a:solidFill>
                <a:latin typeface="Calibri"/>
              </a:rPr>
              <a:t>▸  Tibbiy xodimlar ishi yuqori his-hayajon, aqliy zo‘riqish va asab tarangligi bilan bog‘liq. Shu sababli ularning ish vaqti haftasiga 36 soatdan oshmaydi, haq kamaytirilmaydi. Umumiy me’yor esa haftasiga 40 soat. Xodimlar ro‘yxati va aniq muddatni Hukumat belgilaydi.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O‘zbekiston Respublikasi Konstitutsiyasining qaysi moddasida fuqaroning mehnat qilish va erkin ish tanlash huquqi mustahkamlangan?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27-modda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32-modda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37-modda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47-modda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Poliklinika rahbari hamshiradan mehnat vazifasiga kirmaydigan ishni bajarishni talab qildi. Ish beruvchi bunga haqlimi?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Yo‘q, bunday ishni talab qilishga haqli emas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 agar ish vaqtincha va qisqa muddatli bo‘lsa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 agar rahbar yozma buyruq chiqargan bo‘lsa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 agar ish haqi vaqtincha oshirilgan bo‘lsa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Vrach uch oylik dastlabki sinov bilan ishga qabul qilindi. U sinov tugamasidan oldin shartnomani bekor qilmoqchi. Ish beruvchini necha kun oldin yozma ogohlantirishi shart?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Kamida bir kun oldin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Kamida uch kun oldin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Kamida ikki hafta oldin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Kamida ikki oy oldin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Tibbiyot universitetini endi bitirgan vrach hayotida birinchi marta ishga kirmoqda. Qaysi hujjatni topshirishdan u ozod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Pasport yoki uning o‘rnini bosuvchi hujjat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Oliy o‘quv yurtini tamomlagani haqidagi diplom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Harbiy bilet yoki harbiy hisob guvohnomasi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Mehnat daftarchasi, chunki ish stajiga ega emas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 majburiyatlardan qaysi biri xodimga emas, aynan ish beruvchiga yuklatilgan?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Ish beruvchining mol-mulkini avaylab asrash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Mehnat intizomiga o‘z vaqtida rioya qilish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Mehnat sharoitlarini qonunga muvofiq yaratib berish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Texnologiya intizomiga to‘liq rioya qilish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Davlat shifoxonasi vrachining ish vaqti Hukumat belgilagan tartibda haftasiga qancha soatdan oshmaydi?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40 soatdan oshmaydi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36 soatdan oshmaydi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42 soatdan oshmaydi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48 soatdan oshmaydi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Hamshira davriy tibbiy ko‘rikdan o‘tishni rad etdi. Ish beruvchi qaysi chorani qo‘llashga qonuniy asosga ega?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Ish haqini yarmiga kamaytirish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Ko‘rik xarajatini xodimga yuklash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Ko‘rikni navbatdan tashqari o‘tkazish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Xodimni ishdan chetlatish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Vrach muddatsiz mehnat shartnomasini o‘z tashabbusi bilan bekor qilmoqchi. Ish beruvchini qancha oldin yozma ogohlantirishi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Ikki hafta oldin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Uch kun oldin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Bir oy oldin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Ikki oy oldin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asosiy ishidan bo‘sh vaqtida boshqa muassasada shartnoma asosida haq to‘lanadigan ish bajaradi. Bu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Ichki o‘rindoshlik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O‘rinbosarlik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Tashqi o‘rindoshlik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 necha kasbda ishlash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Quyidagilardan qaysi biri jamoa shartnomasi tuzishning tamoyillaridan biri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Majburiyatlar olishning majburiyligi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Javobgarlikning muqarrarligi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Tekshiruvning tasodifiyligi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Vakolatlilikning ixtiyoriyligi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Poliklinikada shtat qisqartirilishi sababli hamshira bilan shartnoma ish beruvchi tashabbusi bilan bekor qilinmoqda. Ish beruvchi uni yozma ravishda kamida qancha oldin ogohlantirishi shart?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Kamida ikki hafta oldin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Kamida ikki oy oldin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Kamida uch kun oldin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Kamida bir oy oldin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Vrach intizomiy jazo olgan kundan 8 oy o‘tgach, yana intizomga xilof harakat sodir etdi. Bu holat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Mehnat vazifalarini bir marta qo‘pol buzish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Mehnat vazifalarini muntazam ravishda buzish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Mehnat shartnomasi muddatining tugashi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Shartnomaning tomonlar kelishuvi bilan tugashi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Ish beruvchi umumiy tartibda intizomiy jazo sifatida jarima solmoqchi. U o‘rtacha oylik ish haqining qancha qismidan oshmasligi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O‘ttiz foizidan oshmagan miqdorda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Ellik foizidan oshmagan miqdorda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Yigirma foizidan oshmagan miqdorda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Yuz foizigacha bo‘lgan miqdorda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Hamshiradan intizomiy jazo oldidan tushuntirish xati talab qilindi, u yozishdan bosh tortdi. Bu jazo qo‘llashga qanday ta’sir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Jazo qo‘llash endi mumkin emas bo‘lib qoladi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Jazo qo‘llash muddati bir yilga uzaytiriladi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Bu holat jazo qo‘llashga to‘siq bo‘la olmaydi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Ish beruvchi hamshirani majburan ishga tiklaydi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bemorga tahdid solayotgan xavfni boshqa yo‘l bilan bartaraf eta olmadi va xavfdan kichikroq zarar yetkazdi. Bu harakat ma’muriy javobgarlik nuqtai nazaridan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Ma’muriy huquqbuzarlik hisoblanadi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Ma’muriy huquqbuzarlik hisoblanmaydi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ogohlantirish bilan jazolanadi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jarima solinishi shart bo‘ladi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Ma’muriy huquqbuzarlik haqidagi jinoyat ishi qo‘zg‘atish rad etildi. Shundan keyin bu huquqbuzarlik uchun ma’muriy jazo qaror kunidan boshlab qancha muddatda qo‘llanishi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qaror qabul qilingan kundan boshlab olti oy ichida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qaror qabul qilingan kundan boshlab bir oy ichida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qaror qabul qilingan kundan boshlab ikki oy ichida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qaror qabul qilingan kundan boshlab bir yil ichida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Poliklinika bosh vrachi mansabdor shaxs sifatida umumiy tartibda jarimaga tortilmoqda. Jarimaning eng ko‘p miqdori qancha bo‘lishi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eng kam oylik ish haqining uch baravaridan oshmasligi kerak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eng kam oylik ish haqining besh baravaridan oshmasligi kerak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eng kam oylik ish haqining o‘n baravaridan oshmasligi kerak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eng kam oylik ish haqining yuz ellik baravaridan oshmasligi kerak</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Quyidagilardan qaysi biri Ma’muriy javobgarlik to‘g‘risidagi kodeksdagi ma’muriy jazo turlari ro‘yxatiga kirmaydi?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jarima solish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ashyoni musodara qilish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maxsus huquqdan mahrum etish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hayfsan e’lon qilish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Sanitariya inspektori shifoxona xodimi haqida bayonnoma tuzdi, xodim esa imzolashdan bosh tortdi. Bunda nima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bayonnomaga bu haqda yozib qo‘yiladi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bayonnoma bekor qilinib, qayta tuziladi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ish ko‘rib chiqilmasdan to‘xtatib qo‘yiladi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bayonnomani guvoh xodim o‘rniga imzolaydi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Ma’muriy ishda tibbiy xodim harakatiga baho berish uchun maxsus bilim zarur bo‘ldi. Ishni yuritayotgan organ (mansabdor shaxs) nima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ishni maxsus bilimsiz yopib qo‘yadi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huquqbuzarni bayonnomasiz jarimalaydi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ekspertiza tayinlaydi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bayonnomani tuzgan organga qaytaradi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37-modda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Darslikda Konstitutsiyaning 37-moddasiga ko‘ra har bir fuqaro mehnat qilish, erkin ish tanlash, haqqoniy mehnat shartlari asosida ishlash va ishsizlikdan himoyalanish huquqiga ega ekani aytilgan.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78-bet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Yo‘q, bunday ishni talab qilishga haqli emas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Ish beruvchi xodimdan mehnat vazifalari doirasiga kirmaydigan ishni bajarishni talab etishga haqli emas. Bu O‘zbekiston Respublikasi Mehnat kodeksining (MK) 177-moddasi sharhida keltirilgan.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80-bet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Kamida uch kun oldin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Dastlabki sinov tugaguncha har bir taraf ikkinchisini uch kun oldin yozma ogohlantirib, shartnomani bekor qilishga haqli (MK 87-modda). Ikki hafta xodim tashabbusi bilan odatiy bekor qilishda qo‘llanadi.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82-bet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Mehnat daftarchasi, chunki ish stajiga ega emas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Mehnat daftarchasi talab etilmaydigan yagona istisno — birinchi marta ishga kirayotgan shaxslar. Pasport, diplom va harbiy hisob hujjati (MK 80-modda) baribir topshiriladi.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81-bet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Mehnat sharoitlarini qonunga muvofiq yaratib berish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Mehnat sharoitlarini yaratib berish ish beruvchining majburiyati (MK 177-modda). Qolgan uchtasi xodimning majburiyatlari (MK 176-modda).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80-bet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36 soatdan oshmaydi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Yuqori his-hayajon, aqliy zo‘riqish va asab tarangligi bilan bog‘liq ishlarda ish vaqti haftasiga 36 soatdan oshmaydi. Tibbiy xodimlar shu toifaga kiradi. 40 soat esa ish vaqtining umumiy normal muddatidir.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85-bet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Xodimni ishdan chetlatish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Tibbiy ko‘rikni rad etish xodimni ishdan chetlatish uchun asos bo‘ladi. Ko‘rik bilan bog‘liq xarajatlarni xodim to‘lamaydi. Navbatdan tashqari ko‘rikni esa xodimning o‘zi talab qilishi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86-bet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Ikki hafta oldin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Xodim ish beruvchini ikki hafta oldin yozma ogohlantirib, muddatsiz va muddatli shartnomani bekor qilishi mumkin. Uch kun va ikki oy ish beruvchi tashabbusi bilan bekor qilishdagi muddatlardir.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87-bet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Tashqi o‘rindoshlik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Asosiy ishdan bo‘sh vaqtda boshqa muassasada haq evaziga ishlash tashqi o‘rindoshlik hisoblanadi. O‘z muassasasida ishlansa, bu ichki o‘rindoshlikdir.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84-bet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Javobgarlikning muqarrarligi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Tamoyillar qatorida javobgarlikning muqarrarligi bor. Majburiyatlar olish ixtiyoriy bo‘ladi, tekshirib borish esa muntazam bo‘lishi kerak. Taraflar vakillari vakolatli bo‘lishi talab etiladi.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83-bet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Kamida ikki oy oldin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Texnologiya, ish hajmi yoki shtat o‘zgarishi yoxud korxona tugatilishi sabab bo‘lsa, ish beruvchi xodimni kamida ikki oy oldin yozma ogohlantiradi. Ikki hafta xodim malakasi yoki sog‘lig‘i sababli noloyiq bo‘lib qolgan holatga tegishli. Uch kun esa muntazam yoki bir marta qo‘pol buzish holatida qo‘llanadi.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89-bet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Mehnat vazifalarini muntazam ravishda buzish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Jazo qo‘llangan kundan boshlab bir yil ichida takroran intizomga xilof nojo‘ya harakat sodir etilsa, bu mehnat vazifalarini muntazam buzish hisoblanadi va shartnomani bekor qilish uchun asos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88-bet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O‘ttiz foizidan oshmagan miqdorda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Intizomiy jarima o‘rtacha oylik ish haqining o‘ttiz foizidan ortiq bo‘lmasligi kerak. Ellik foiz faqat ichki tartibga binoan alohida turdagi intizomiy qilmishlarga belgilanishi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90-bet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Bu holat jazo qo‘llashga to‘siq bo‘la olmaydi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Jazodan oldin xodimdan yozma tushuntirish xati talab qilinadi. Xodimning xat berishdan bosh tortishi ilgari sodir etgan nojo‘ya harakati uchun jazo qo‘llashga to‘siq bo‘la 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90-bet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Ma’muriy huquqbuzarlik hisoblanmaydi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Xavf boshqacha choralar bilan bartaraf etilmasa va yetkazilgan zarar oldi olingan zarardan kam bo‘lsa, oxirgi zarurat holatidagi harakat ma’muriy huquqbuzarlik hisoblanmaydi.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93-94-bet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qaror qabul qilingan kundan boshlab bir oy ichida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Jinoyat ishi qo‘zg‘atish rad etilgan yoki ish to‘xtatilgan holatlarda jazo qaror kunidan boshlab bir oydan kechiktirmay qo‘llanadi. Umumiy muddat ikki oy, shuning uchun “ikki oy” varianti chalg‘ituvchi.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96-bet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eng kam oylik ish haqining o‘n baravaridan oshmasligi kerak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Umumiy tartibda mansabdor shaxsga eng ko‘p jarima eng kam ish haqining o‘n baravari. Besh baravar fuqarolarga tegishli. Yuz ellik baravar faqat istisno holatlarga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95-bet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hayfsan e’lon qilish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Ma’muriy jazolar: jarima, ashyoni haqini to‘lab olib qo‘yish, musodara, maxsus huquqdan mahrum qilish va ma’muriy qamoq. Hayfsan esa mehnat qonunchiligidagi intizomiy jazo turi (90-bet).</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94-bet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bayonnomaga bu haqda yozib qo‘yiladi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Huquqbuzar imzolashdan bosh tortsa, bayonnomaga bu haqda yozib qo‘yiladi. Shaxs imzodan bosh tortish sabablarini bayon etishga ham haqli.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98-bet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ekspertiza tayinlaydi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Maxsus bilim kerak bo‘lganda ishni yuritayotgan organ ekspertiza tayinlaydi. Ekspertning huquq va majburiyatlari jinoiy va fuqarolik ishlaridagi ekspertizaga o‘xshash.</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99-bet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Vrach faoliyatining huquqiy asoslari: darslik, Toshkent: Tafakkur-Bo‘stoni (egasi taqdim etgan; yopiq foydalanish). 2012. 6-bob. Mehnat qonunchiligi va tibbiy xodimlar; bet 78-91</a:t>
            </a:r>
          </a:p>
          <a:p>
            <a:pPr>
              <a:spcAft>
                <a:spcPts val="1200"/>
              </a:spcAft>
            </a:pPr>
            <a:r>
              <a:rPr sz="2000">
                <a:solidFill>
                  <a:srgbClr val="1F2937"/>
                </a:solidFill>
                <a:latin typeface="Calibri"/>
              </a:rPr>
              <a:t>▸  G‘iyosov Z.A. Vrach faoliyatining huquqiy asoslari: darslik, Toshkent: Tafakkur-Bo‘stoni (egasi taqdim etgan; yopiq foydalanish). 2012. 7-bob. Tibbiy xodimlarning ma’muriy javobgarligi; bet 92-101</a:t>
            </a:r>
          </a:p>
          <a:p>
            <a:pPr>
              <a:spcAft>
                <a:spcPts val="1200"/>
              </a:spcAft>
            </a:pPr>
            <a:r>
              <a:rPr sz="2000">
                <a:solidFill>
                  <a:srgbClr val="1F2937"/>
                </a:solidFill>
                <a:latin typeface="Calibri"/>
              </a:rPr>
              <a:t>▸  G‘iyosov Z.A. Vrach faoliyatining huquqiy asoslari: darslik, Toshkent: Tafakkur-Bo‘stoni (egasi taqdim etgan; yopiq foydalanish). 2012. 8-bob. Tibbiy xodimlarning fuqarolik-huquqiy javobgarligi; bet 102-114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