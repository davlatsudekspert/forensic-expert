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savollari: 1) Nima uchun tibbiyot xodimi mehnat huquqini bilishi kerak? 2) Mehnat va ma’muriy javobgarlik qanday farqlanadi deb o‘ylaysiz? Doskaga mashg‘ulot rejasini 2 ustunli (mehnat / ma’muriy) sxema qilib chizdiring. Tipik xato: talabalar intizomiy va ma’muriy javobgarlikni bir narsa deb o‘ylaydi.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savollari: 1) Konstitutsiya 37-moddasi qanday huquqlarni beradi? 2) Majburiy mehnatning qaysi istisnolari bor? Doskaga yozing: Konstitutsiya → Mehnat kodeksi → mehnat shartnomasi. Tipik xato: istisnolarni (sud hukmi, favqulodda holat) ham majburiy mehnat taqiqiga kiritish.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savollari: 1) Konstitutsiya 37-moddasi qanday huquqlarni beradi? 2) Majburiy mehnatning qaysi istisnolari bor? Doskaga yozing: Konstitutsiya → Mehnat kodeksi → mehnat shartnomasi. Tipik xato: istisnolarni (sud hukmi, favqulodda holat) ham majburiy mehnat taqiqiga kiritish.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savollari: 1) Shifokor mehnatida to‘rt belgi qanday ko‘rinadi? 2) Haq to‘lanishi nimani anglatadi? Doskaga jadvalni o‘zlari chizib, har belgiga bittadan misol yozsin. Tipik xato: belgilarni sanashda V (haq to‘lanishi) va G (shaxsiy mehnat) belgilarini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Vrach uchun qaysi huquq amaliyotda eng muhim (xavfsiz sharoit, malaka oshirish)? 2) Xodim huquqlari bilan ish beruvchi huquqlari bir-biriga qanday bog‘liq? Doskada: ikki ustunli ro‘yxat chizdiring (xodim huquqlari | ish beruvchi huquqlari). Tipik xato: talabalar ish beruvchi huquqlarini xodim majburiyatlari bilan aralashtiradi.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Ish beruvchi vrachdan vazifasiga kirmaydigan ishni talab qilsa, nima qilish kerak? 2) Mehnat muhofazasi bo‘yicha ikki tarafning majburiyati nima uchun parallel? Doskada: jadvalni qayta chizib, har katakka tibbiyotdan bittadan misol yozdiring. Tipik xato: 176-modda (xodim) va 177-moddani (ish beruvchi) almashtirib yuborish. Qo‘shimcha: jamoa shartnomalarini tuzish ham ish beruvchi majburiyati.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Javoblar: 1) majburiy mehnat, taqiqlanadi (MK 7-modda); 2) ish haqi, dam olish, xavfsiz sharoit, malaka oshirish, zararni qoplash, sud orqali himoya; 3) vazifasiga kirmaydigan, qonunga xilof, hayot va sog‘liqqa xavfli yoki sha’nni kamsituvchi ishlar. Muhokama: majburiy mehnat istisnolari nima uchun mavjud? Doskada: ’majburiy mehnat ≠ istisno holatlar’ sxemasini chizdiring. Tipik xato: har qanday majburiy bajariladigan ishni ’majburiy mehnat’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shartnomada mehnat vazifasi (mutaxassislik, lavozim) aniq yozilishi kerak? 2) Shartnomada xodim huquqlari qonundagidan past belgilansa nima bo‘ladi? Doskada: shartnoma bosqichlari zanjirini chizdiring va har bosqich yoniga tegishli shartni yozing. Tipik xato: shartnoma shartlari bilan qonunda berilgan kafolatlarni aralashtirish; kafolatlar pasaytirilmaydi.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Muddat yozilmagan shartnoma qanday turga kiradi? 2) Yangi bitirgan vrach qaysi hujjatlarni topshiradi? Doskada: muddat turlarining uch variantini (nomuayyan, 5 yilgacha, muayyan ish) chizing. Tipik xato: besh yil chegarasini nomuayyan shartnomaga ham qo‘llash; u faqat muddatli shartnomaga tegishli.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Sinov muddatida taraflarning huquqi qanday? 2) Qaysi xodimlarga sinov belgilanmaydi va nima uchun? Doskada: sinov jarayoni zanjirini chizib, ikki yo‘lni (bekor qilish / davom etish) ko‘rsating. Tipik xato: sinovdagi 3 kunlik ogohlantirishni xodim tashabbusidagi 2 haftalik ogohlantirish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Jamoa shartnomasi individual mehnat shartnomasidan nimasi bilan farq qiladi? 2) Nega qonundagidan imtiyozliroq shartlar kiritish mumkin? Doskada: jadvalni chizib, har qatorga o‘z muassasangizdan misol yozdiring. To‘liq tamoyillar ro‘yxatini ayting: qonunga rioya, vakolatlilik, masalalarni tanlash va muhokama erkinligi, ixtiyoriylik, bajarilishini ta’minlash, muntazam tekshirish, javobgarlikning muqarrarligi. Tipik xato: jamoa shartnomasini xodimning individual shartnomasi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Tashqi va ichki o‘rindoshlik nimasi bilan farqlanadi? 2) Bir necha kasbda ishlash qachon mumkin? Doskada: to‘rt shaklni vaqt o‘qida (asosiy ish vaqti / bo‘sh vaqt) joylashtiring. Tipik xato: bir necha kasbda ishlashni o‘rindoshlik bilan, o‘rinbosarlikni esa bir necha kasb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Qo‘shimcha ish qaysi shaklda (tashqi o‘rindoshlik) rasmiylashtiriladi va qaysi hujjat o‘zgaradi? 2) Qaysi toifadagi ayollarga dastlabki sinov belgilanmaydi? Javob: homilador ayollar va uch yoshga to‘lmagan bolasi borlar. Doskada: ishga qabul hujjatlari ro‘yxati va ikki ish joyi sxemasini chizdiring. Tipik xato: o‘rindoshga ham mehnat daftarchasini talab qilish; aslida ma’lumotnoma beriladi.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Nega tibbiy xodimlar uchun ish vaqti qisqartirilgan (his-hayajon, aqliy zo‘riqish, asab tarangligi)? 2) Qisqartirilgan ish vaqtida ish haqi o‘zgaradimi? Doskaga chizish: 40 soatlik haftani 6 va 5 kunga bo‘lib, kunlik soatlarni hisoblash. Tipik xato: 36 soatni barcha xodimlarga tegishli deb o‘ylash. Bunday xodimlar ro‘yxati va aniq muddatni Hukumat belgilaydi.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Poliklinika yoki laboratoriyada ish beruvchi xodimga qanday xavflar haqida xabar berishi kerak? 2) Xodim baxtsiz hodisani yashirsa nima bo‘ladi? Doskaga chizish: ikki ustunli ro‘yxat (ish beruvchi vazifalari va xodim vazifalari). Tipik xato: mehnat muhofazasi javobgarligini faqat xodimga yuklash. Sharoitni yaratish uchun ish beruvchi mas’ul.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Xodim ko‘rikdan bosh tortsa, ish beruvchi nima qiladi? 2) Xodim salomatligi yomonlashganda ko‘rikni qanday talab qiladi? Doskaga chizish: dastlabki, davriy va navbatdan tashqari ko‘riklar sxemasi. Tipik xato: ko‘rik xarajatini xodim to‘laydi deb o‘ylash. Mehnat kodeksining 214-moddasiga ko‘ra, ro‘yxat va o‘tkazish tartibini Sog‘liqni saqlash vazirligi belgilaydi.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nega tibbiy xodimlarga qisqartirilgan ish vaqti belgilangan? Ish beruvchi tibbiy ko‘rikni nima uchun tashkil etadi? Doskada: ikki ustunli ro‘yxat yozing: 40 soat (umumiy) va 36 soat (tibbiy xodim). Tipik xato: talabalar 40 va 36 soatni aralashtiradi yoki ko‘rik xarajatini xodimga yuklaydilar.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ishdan chetlatish bilan ishdan bo‘shatish bir xilmi? Navbatdan tashqari ko‘rik kimning tashabbusi bilan o‘tadi? Doskada: vaziyat–asos–oqibat sxemasini chizdiring. Tipik xato: ishdan chetlatishni mehnat shartnomasini bekor qilish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ikki haftalik muddat qisqartirilishi mumkinmi (kelishuv bilan)? Ish davom etishi imkonsiz bo‘lsa (o‘quv yurtiga qabul, pensiya) qanday tartib? Doskada: zanjirni talabalar bilan birga chizing. Tipik xato: ariza qaytarib olish huquqini ogohlantirish tugagandan keyin ham bor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Muntazam va bir martalik qo‘pol buzish qanday farqlanadi? 2) Qo‘pollik qanday aniqlanadi? Doskada: ish beruvchi tashabbusining ikki sharti (Mehnat kodeksida ko‘zda tutilgan sabab + rasmiy talablarga rioya) va 6 ta sababni ro‘yxat qilib chizing. Tipik xato: talabalar ish beruvchi istagan sababni ko‘rsatib bo‘shatishi mumkin deb o‘ylaydi; sabab faqat Mehnat kodeksidagi ro‘yxatdan bo‘ladi.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shtat qisqarishida muddat eng uzun? 2) Kompensatsiya qachon ogohlantirish o‘rnini bosadi? Doskada: jadvalni 2 oy – 2 hafta – 3 kun tartibida chizib, taqiqlangan davrlarni (kasallik, ta’til) alohida ramkaga oling. Tipik xato: 2 oy, 2 hafta va 3 kunni aralashtirish; 3 kun faqat intizom buzilishiga tegishli.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Shtat qisqarishi bo‘lsa ham X ni kasallikda bo‘shatish mumkinmi? 2) Ogohlantirish muddati kasallik davriga to‘g‘ri kelsa nima bo‘ladi? Doskada: X uchun vaqt chizig‘i — ogohlantirish, kasallik, bekor qilish sanasi. Tipik xato: shtat qisqarishi hamma holatda bo‘shatishga ruxsat beradi deb o‘ylash; kasallik va ta’til taqiqi saqlanadi.</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daqiqa. Muhokama: 1) Tibbiy xodimning qanday xatti-harakati intizomiy qilmish bo‘lishi mumkin? 2) Nega ichki tartibga ko‘ra jarima miqdori farqlanadi? Doskada chizish: 4 qatorli jazo jadvalini talabalar o‘zlari to‘ldirsin. Tipik xato: 30 foiz va 50 foizni aralashtirish hamda jarimani ish haqining to‘liq miqdori bilan adashtirish (u o‘rtacha oylik ish haqidan hisoblanadi).</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Nega jazodan oldin yozma tushuntirish xati talab qilinadi? 2) Jazoning bir yillik amal qilishi xodimga nimani anglatadi? Doskada chizish: 1 oy, 6 oy va 2 yillik muddatlarni vaqt chizig‘ida ko‘rsating. Tipik xato: 1 oylik muddatni qilmish sodir bo‘lgan kundan hisoblash (u qilmish aniqlangan kundan boshlanadi) va bitta qilmishga bir nechta jazo berish mumkin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daqiqa. Talabalar javobni daftarga yozib, juftlikda tekshirsin. Muhokama: ogohlantirish muddatlari tomonlarga qarab nega farqlanadi? Doskada chizish: ’xodim tashabbusi’ va ’ish beruvchi tashabbusi’ degan ikki ustun va ularning muddatlari. Tipik xato: xodim va ish beruvchining ogohlantirish muddatlarini aralashtirish hamda 1 oylik jazo muddatini 1 yillik amal qilish muddati bilan adashtirish.</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Bir oylik muddat qaysi paytdan boshlanadi va qaysi davrlar unga kirmaydi? 2) Tushuntirish xati nima uchun talab qilinadi? Doskada: jazo qo‘llash tartibi zanjirini (qilmish aniqlandi → tushuntirish xati → jazo → buyruq) chizdiring. Tipik xato: tushuntirish xatidan bosh tortish jazoni to‘sadi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Ma’muriy huquqbuzarlik jinoyatdan nimasi bilan farq qiladi? 2) Sanitariya yoki epidemiyaga qarshi qoidalar buzilishi qachon jinoyatga aylanishi mumkin? Doskada: ikki ustunli solishtirish jadvalini chizdiring. Tipik xato: ma’muriy huquqbuzarlikni jinoyatning yengil turi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Qasddan va ehtiyotsizlik orqasidagi huquqbuzarlik qanday farqlanadi? 2) Oxirgi zarurat holati qaysi ikki shart bilan huquqbuzarlik hisoblanmaydi? Doskada: ayb shakllari sxemasini (qasd / ehtiyotsizlik) chizdiring. Tipik xato: oxirgi zarurat holatida har qanday zarar ruxsat etilgan deb o‘ylash, zarar xavfdan kam bo‘lishi shartini unutish.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Nima uchun tibbiy xodimlarga asosan jarima solinadi? 2) Asosiy va qo‘shimcha jazo qanday farqlanadi? Doskada: beshta jazo turini zanjir qilib chizdiring, asosiy va qo‘shimcha jazoni alohida belgilang. Tipik xato: olib qo‘yish (haqi to‘lanadi, pul egasiga qaytadi) bilan musodarani (haqsiz davlat mulkiga o‘tadi) aralashtirish. Diqqat: olib qo‘yish ≠ musodara. Manbaga ko‘ra, bu ikki jazo xususiy tibbiy va farmatsevtika amaliyotida qo‘llanishi mumkin (95-bet).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Nima uchun mansabdor shaxsga jarima yuqoriroq chegarada belgilanadi? 2) Mahalliy hokimiyat qarorida chegara nega pastroq? Doskada: jadvalni chizib, har bir katakka o‘z so‘zingiz bilan misol yozdiring. Tipik xato: «ellikdan bir» va «o‘ndan bir» kasrlarini aralashtirish, mahalliy hokimiyat chegarasini (3 va 5) umumiy chegara (5 va 10) bilan adashtirish. Diqqat: istisno holatlar (100 va 150 baravar) faqat alohida turdagi huquqbuzarliklarga tegishli.</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Muddat qaysi kundan boshlab hisoblanadi? 2) Nima uchun jinoyat ishi rad etilganda muddat qisqaroq? Doskada: vaqt chizig‘ini chizib, 2 oylik va 1 oylik muddatlarni belgilang. Tipik xato: 2 oy va 1 oyni aralashtirish; bojxona musodarasiga bu muddatlar tatbiq etilmasligini unutish. Eslatma: manbada faqat musodara qarorini chiqaruvchi organlar keltirilgan, haq to‘lab olib qo‘yish bo‘yicha alohida organlar ko‘rsatilmagan.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Savollarni talabalarga yopiq kitob bilan so‘rang. Muhokama: nega tibbiy xodimlarga ko‘proq jarima qo‘llanadi? Ogohlantirish va javobgarlikdan ozod etish qanday bog‘lanadi? Doskada: ma’muriy huquqbuzarlik va jinoyat o‘rtasidagi farqni ikki ustunli ro‘yxat qilib chizdiring. Tipik xato: ma’muriy huquqbuzarlikni jinoyat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tibbiyot muassasasidagi sanitariya buzilishini qaysi organ ko‘rishi mumkin? Ekspertiza qachon kerak bo‘ladi? Doskada: organlar ro‘yxatini sud, komissiya va nazorat organlari bo‘yicha guruhlab yozdiring. Tipik xato: faqat sudni vakolatli organ deb o‘ylash, nazorat organlarini unutish.</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shaxs imzodan bosh tortsa, bayonnoma bekor bo‘ladimi? Huquqlar nega tushuntirilishi shart? Doskada: zanjirni bosqichma-bosqich chizdiring va har bosqichga mas’ul shaxsni yozing. Tipik xato: imzodan bosh tortishni bayonnomani haqiqiy emas qiladi deb hisoblash. Aslida bu haqda bayonnomaga yozib qo‘yiladi. Qisqartma: MJhK — Ma’muriy javobgarlik to‘g‘risidagi kodeks.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Qaysi guruh vrach kundalik ishiga eng yaqin? 2) Nega tuxmat va haqorat ko‘proq rahbarlarga taalluqli? Doskada jadvalni chizdiring va har guruhga bittadan o‘z misolini yozdiring. Tipik xato: modda raqamlarini aralashtirish; 199-moddada subyekt fuqaro, 215-moddada mansabdor shaxs ekanini unutish. Eslatma: OITS — orttirilgan immun tanqisligi sindromi.</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59-modda tibbiy xodimga qanday talab qo‘yadi? Tipik xato: 57 va 58-moddalarni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Vaziyat darslik ma’lumotlari asosida soddalashtirilgan. Muhokama: 1) Imzolashdan bosh tortilsa nima yoziladi? 2) Fuqaro va mansabdor shaxsga jarima nega farqlanadi? Doskada bayonnoma bandlarini ketma-ket chizdiring. Tipik xato: bayonnomada huquqbuzar huquqlarini tushuntirishni va ikki oylik muddatni e’tiborsiz qoldirish.</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Intizomiy va ma’muriy jazoni muddat bo‘yicha solishtiring. 2) Tibbiy xodim qaysi hollarda ma’muriy javobgar bo‘ladi? Doskada ikki ustunli solishtirish chizdiring: mehnat va ma’muriy javobgarlik. Tipik xato: intizomiy jazo muddati (bir oy) bilan ma’muriy jazo muddatini (ikki oy) aralashtirish. Talabalarga nazorat savollaridan juftlikda javob berdiring.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Mehnat qonunchiligi va tibbiy xodimlar faoliyati. Tibbiy xodimlarning ma’muriy javobgarligi.</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mashg‘ulot maqsadi va rejasi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Mehnat qonunchiligi xodim va ish beruvchi munosabatlarini tartibga soladi. U ish haqi, ichki tartib, intizom va mehnatni himoya qilish masalalarini belgilaydi.</a:t>
            </a:r>
          </a:p>
          <a:p>
            <a:pPr>
              <a:spcAft>
                <a:spcPts val="1200"/>
              </a:spcAft>
            </a:pPr>
            <a:r>
              <a:rPr sz="2200">
                <a:solidFill>
                  <a:srgbClr val="1F2937"/>
                </a:solidFill>
                <a:latin typeface="Calibri"/>
              </a:rPr>
              <a:t>▸  Mehnat kodeksida tibbiy xodimlar ish vaqti haftasiga 36 soatdan oshmaydigan toifaga kiradi. Sababi: ish yuqori his-hayajon va asab tarangligi bilan bog‘liq.</a:t>
            </a:r>
          </a:p>
          <a:p>
            <a:pPr>
              <a:spcAft>
                <a:spcPts val="1200"/>
              </a:spcAft>
            </a:pPr>
            <a:r>
              <a:rPr sz="2200">
                <a:solidFill>
                  <a:srgbClr val="1F2937"/>
                </a:solidFill>
                <a:latin typeface="Calibri"/>
              </a:rPr>
              <a:t>▸  Sanitariya qoidalari yoki epidemiyaga qarshi kurash qoidalari buzilsa, tibbiy xodim ham ma’muriy huquqbuzarlik subyekti bo‘lishi mumkin.</a:t>
            </a:r>
          </a:p>
          <a:p>
            <a:pPr>
              <a:spcAft>
                <a:spcPts val="1200"/>
              </a:spcAft>
            </a:pPr>
            <a:r>
              <a:rPr sz="2200">
                <a:solidFill>
                  <a:srgbClr val="1F2937"/>
                </a:solidFill>
                <a:latin typeface="Calibri"/>
              </a:rPr>
              <a:t>▸  Reja: mehnat shartnomasi, ish vaqti, mehnatni muhofaza qilish, shartnomani bekor qilish, intizomiy jazo. Keyin ma’muriy javobgarlik.</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78, 85, 99-100, 78-101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qonunchiligi: Konstitutsiya va Mehnat kodeksi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Konstitutsiyaning 37-moddasiga ko‘ra har bir fuqaro mehnat qilish, erkin ish tanlash, haqqoniy mehnat shartlari va ishsizlikdan himoyalanish huquqiga ega.</a:t>
            </a:r>
          </a:p>
          <a:p>
            <a:pPr>
              <a:spcAft>
                <a:spcPts val="1200"/>
              </a:spcAft>
            </a:pPr>
            <a:r>
              <a:rPr sz="2200">
                <a:solidFill>
                  <a:srgbClr val="1F2937"/>
                </a:solidFill>
                <a:latin typeface="Calibri"/>
              </a:rPr>
              <a:t>▸  Mehnat munosabatlarini bozor iqtisodiyoti tamoyillariga mos tartibga solishning asosiy manbai Mehnat kodeksidir.</a:t>
            </a:r>
          </a:p>
          <a:p>
            <a:pPr>
              <a:spcAft>
                <a:spcPts val="1200"/>
              </a:spcAft>
            </a:pPr>
            <a:r>
              <a:rPr sz="2200">
                <a:solidFill>
                  <a:srgbClr val="1F2937"/>
                </a:solidFill>
                <a:latin typeface="Calibri"/>
              </a:rPr>
              <a:t>▸  Mehnat huquqi mehnat shartnomasi asosidagi munosabatlarni tartibga soladi.</a:t>
            </a:r>
          </a:p>
          <a:p>
            <a:pPr>
              <a:spcAft>
                <a:spcPts val="1200"/>
              </a:spcAft>
            </a:pPr>
            <a:r>
              <a:rPr sz="2200">
                <a:solidFill>
                  <a:srgbClr val="1F2937"/>
                </a:solidFill>
                <a:latin typeface="Calibri"/>
              </a:rPr>
              <a:t>▸  Bunga shartnomani tuzish, o‘zgartirish, to‘xtatish, ish haqi, intizom va bahslarni ko‘rish kiradi.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qonunchiligi: Konstitutsiya va Mehnat kodeksi (davomi)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Majburiy mehnat, ya’ni jazo bilan tahdid qilib ishga majburlash, taqiqlanadi.</a:t>
            </a:r>
          </a:p>
          <a:p>
            <a:pPr>
              <a:spcAft>
                <a:spcPts val="1200"/>
              </a:spcAft>
            </a:pPr>
            <a:r>
              <a:rPr sz="2200">
                <a:solidFill>
                  <a:srgbClr val="1F2937"/>
                </a:solidFill>
                <a:latin typeface="Calibri"/>
              </a:rPr>
              <a:t>▸  Harbiy xizmat, favqulodda holat va sud hukmi kabi istisnolar Mehnat kodeksining 7-moddasida berilgan.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79</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munosabatlarining o‘ziga xos belgilari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Mehnat munosabatlari fuqarolik huquqi kabi tarmoqlardan o‘ziga xos belgilari bilan ajralib turadi.</a:t>
            </a:r>
          </a:p>
          <a:p>
            <a:pPr>
              <a:spcAft>
                <a:spcPts val="800"/>
              </a:spcAft>
            </a:pPr>
            <a:r>
              <a:rPr sz="1800">
                <a:solidFill>
                  <a:srgbClr val="1F2937"/>
                </a:solidFill>
                <a:latin typeface="Calibri"/>
              </a:rPr>
              <a:t>▸  Mehnat haq evaziga bo‘lgani uchun u jamoat tartibi asosidagi faoliyatdan farqlanadi.</a:t>
            </a:r>
          </a:p>
          <a:p>
            <a:pPr>
              <a:spcAft>
                <a:spcPts val="800"/>
              </a:spcAft>
            </a:pPr>
            <a:r>
              <a:rPr sz="1800">
                <a:solidFill>
                  <a:srgbClr val="1F2937"/>
                </a:solidFill>
                <a:latin typeface="Calibri"/>
              </a:rPr>
              <a:t>▸  Eslab qoling: to‘rt belgi bor — A, B, V, G.</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Mehnat munosabati belgilari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A. Ishlab chiqarish</a:t>
            </a:r>
          </a:p>
          <a:p>
            <a:pPr algn="l">
              <a:spcAft>
                <a:spcPts val="0"/>
              </a:spcAft>
            </a:pPr>
            <a:r>
              <a:rPr sz="1200" b="0">
                <a:solidFill>
                  <a:srgbClr val="1F2937"/>
                </a:solidFill>
                <a:latin typeface="Calibri"/>
              </a:rPr>
              <a:t>Ishlab chiqarishda vujudga keladi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 Jamoa a’zosi</a:t>
            </a:r>
          </a:p>
          <a:p>
            <a:pPr algn="l">
              <a:spcAft>
                <a:spcPts val="0"/>
              </a:spcAft>
            </a:pPr>
            <a:r>
              <a:rPr sz="1200" b="0">
                <a:solidFill>
                  <a:srgbClr val="1F2937"/>
                </a:solidFill>
                <a:latin typeface="Calibri"/>
              </a:rPr>
              <a:t>Aniq huquq va majburiyat</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V. Haq to‘lanadi</a:t>
            </a:r>
          </a:p>
          <a:p>
            <a:pPr algn="l">
              <a:spcAft>
                <a:spcPts val="0"/>
              </a:spcAft>
            </a:pPr>
            <a:r>
              <a:rPr sz="1200" b="0">
                <a:solidFill>
                  <a:srgbClr val="1F2937"/>
                </a:solidFill>
                <a:latin typeface="Calibri"/>
              </a:rPr>
              <a:t>Ehtiyojlar qondiriladi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G. Shaxsiy mehnat</a:t>
            </a:r>
          </a:p>
          <a:p>
            <a:pPr algn="l">
              <a:spcAft>
                <a:spcPts val="0"/>
              </a:spcAft>
            </a:pPr>
            <a:r>
              <a:rPr sz="1200" b="0">
                <a:solidFill>
                  <a:srgbClr val="1F2937"/>
                </a:solidFill>
                <a:latin typeface="Calibri"/>
              </a:rPr>
              <a:t>Aniq kasb va lavozim</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To‘rt belgi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78, 79, 78-79</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Xodim va ish beruvchining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Xodim qonunda belgilangan eng kam oylik ish haqidan kam bo‘lmagan haq olish, dam olish va xavfsiz, gigiena talablariga mos sharoitda ishlash huquqiga ega.</a:t>
            </a:r>
          </a:p>
          <a:p>
            <a:pPr>
              <a:spcAft>
                <a:spcPts val="1200"/>
              </a:spcAft>
            </a:pPr>
            <a:r>
              <a:rPr sz="2000">
                <a:solidFill>
                  <a:srgbClr val="1F2937"/>
                </a:solidFill>
                <a:latin typeface="Calibri"/>
              </a:rPr>
              <a:t>▸  Xodim kasbga tayyorlanish va malaka oshirish, ish bilan bog‘liq zarar o‘rnini qoplash hamda kasaba uyushmalariga a’zo bo‘lish huquqiga ham ega.</a:t>
            </a:r>
          </a:p>
          <a:p>
            <a:pPr>
              <a:spcAft>
                <a:spcPts val="1200"/>
              </a:spcAft>
            </a:pPr>
            <a:r>
              <a:rPr sz="2000">
                <a:solidFill>
                  <a:srgbClr val="1F2937"/>
                </a:solidFill>
                <a:latin typeface="Calibri"/>
              </a:rPr>
              <a:t>▸  Keksayganda yoki mehnat qobiliyatini yo‘qotganda ijtimoiy ta’minot olinadi.</a:t>
            </a:r>
          </a:p>
          <a:p>
            <a:pPr>
              <a:spcAft>
                <a:spcPts val="1200"/>
              </a:spcAft>
            </a:pPr>
            <a:r>
              <a:rPr sz="2000">
                <a:solidFill>
                  <a:srgbClr val="1F2937"/>
                </a:solidFill>
                <a:latin typeface="Calibri"/>
              </a:rPr>
              <a:t>▸  Mehnat huquqini sud orqali himoya qilish va yuridik yordam olish mumkin (MK 16-modda).</a:t>
            </a:r>
          </a:p>
          <a:p>
            <a:pPr>
              <a:spcAft>
                <a:spcPts val="1200"/>
              </a:spcAft>
            </a:pPr>
            <a:r>
              <a:rPr sz="2000">
                <a:solidFill>
                  <a:srgbClr val="1F2937"/>
                </a:solidFill>
                <a:latin typeface="Calibri"/>
              </a:rPr>
              <a:t>▸  Ish beruvchi shartnomalarni tuzish va bekor qilish hamda xodimdan shartnomadagi ishni to‘laqonli bajarishni talab qilish huquqiga ega (MK 17-modda).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79, 79-80,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Xodim va ish beruvchi majburiyatlari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Xodim ish beruvchining qonuniy farmonlarini o‘z vaqtida va aniq bajarishi shart.</a:t>
            </a:r>
          </a:p>
          <a:p>
            <a:pPr>
              <a:spcAft>
                <a:spcPts val="800"/>
              </a:spcAft>
            </a:pPr>
            <a:r>
              <a:rPr sz="1800">
                <a:solidFill>
                  <a:srgbClr val="1F2937"/>
                </a:solidFill>
                <a:latin typeface="Calibri"/>
              </a:rPr>
              <a:t>▸  Ish beruvchi vazifasiga kirmaydigan, qonunga xilof yoki hayot va sog‘liqqa xavfli ishni talab qila olmaydi.</a:t>
            </a:r>
          </a:p>
          <a:p>
            <a:pPr>
              <a:spcAft>
                <a:spcPts val="800"/>
              </a:spcAft>
            </a:pPr>
            <a:r>
              <a:rPr sz="1800">
                <a:solidFill>
                  <a:srgbClr val="1F2937"/>
                </a:solidFill>
                <a:latin typeface="Calibri"/>
              </a:rPr>
              <a:t>▸  Ish beruvchi xodimning sha’ni va qadr-qimmatini kamsituvchi harakatlarni talab etishga ham haqli emas.</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Xodim (MK 176)</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Halol, vijdonan bajarish</a:t>
            </a:r>
          </a:p>
          <a:p>
            <a:pPr algn="l">
              <a:spcAft>
                <a:spcPts val="700"/>
              </a:spcAft>
            </a:pPr>
            <a:r>
              <a:rPr sz="1500" b="1">
                <a:solidFill>
                  <a:srgbClr val="C9A227"/>
                </a:solidFill>
                <a:latin typeface="Calibri"/>
              </a:rPr>
              <a:t>●  </a:t>
            </a:r>
            <a:r>
              <a:rPr sz="1500" b="0">
                <a:solidFill>
                  <a:srgbClr val="1F2937"/>
                </a:solidFill>
                <a:latin typeface="Calibri"/>
              </a:rPr>
              <a:t>Mehnat intizomiga rioya</a:t>
            </a:r>
          </a:p>
          <a:p>
            <a:pPr algn="l">
              <a:spcAft>
                <a:spcPts val="700"/>
              </a:spcAft>
            </a:pPr>
            <a:r>
              <a:rPr sz="1500" b="1">
                <a:solidFill>
                  <a:srgbClr val="C9A227"/>
                </a:solidFill>
                <a:latin typeface="Calibri"/>
              </a:rPr>
              <a:t>●  </a:t>
            </a:r>
            <a:r>
              <a:rPr sz="1500" b="0">
                <a:solidFill>
                  <a:srgbClr val="1F2937"/>
                </a:solidFill>
                <a:latin typeface="Calibri"/>
              </a:rPr>
              <a:t>Xavfsizlik talablariga rioya</a:t>
            </a:r>
          </a:p>
          <a:p>
            <a:pPr algn="l">
              <a:spcAft>
                <a:spcPts val="700"/>
              </a:spcAft>
            </a:pPr>
            <a:r>
              <a:rPr sz="1500" b="1">
                <a:solidFill>
                  <a:srgbClr val="C9A227"/>
                </a:solidFill>
                <a:latin typeface="Calibri"/>
              </a:rPr>
              <a:t>●  </a:t>
            </a:r>
            <a:r>
              <a:rPr sz="1500" b="0">
                <a:solidFill>
                  <a:srgbClr val="1F2937"/>
                </a:solidFill>
                <a:latin typeface="Calibri"/>
              </a:rPr>
              <a:t>Ish beruvchi mol-mulkini asrash</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Ish beruvchi (MK 177)</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Xodimlar mehnatini tashkil etish</a:t>
            </a:r>
          </a:p>
          <a:p>
            <a:pPr algn="l">
              <a:spcAft>
                <a:spcPts val="700"/>
              </a:spcAft>
            </a:pPr>
            <a:r>
              <a:rPr sz="1500" b="1">
                <a:solidFill>
                  <a:srgbClr val="C9A227"/>
                </a:solidFill>
                <a:latin typeface="Calibri"/>
              </a:rPr>
              <a:t>●  </a:t>
            </a:r>
            <a:r>
              <a:rPr sz="1500" b="0">
                <a:solidFill>
                  <a:srgbClr val="1F2937"/>
                </a:solidFill>
                <a:latin typeface="Calibri"/>
              </a:rPr>
              <a:t>Intizomni ta’minlash</a:t>
            </a:r>
          </a:p>
          <a:p>
            <a:pPr algn="l">
              <a:spcAft>
                <a:spcPts val="700"/>
              </a:spcAft>
            </a:pPr>
            <a:r>
              <a:rPr sz="1500" b="1">
                <a:solidFill>
                  <a:srgbClr val="C9A227"/>
                </a:solidFill>
                <a:latin typeface="Calibri"/>
              </a:rPr>
              <a:t>●  </a:t>
            </a:r>
            <a:r>
              <a:rPr sz="1500" b="0">
                <a:solidFill>
                  <a:srgbClr val="1F2937"/>
                </a:solidFill>
                <a:latin typeface="Calibri"/>
              </a:rPr>
              <a:t>Muhofaza qoidalariga rioya</a:t>
            </a:r>
          </a:p>
          <a:p>
            <a:pPr algn="l">
              <a:spcAft>
                <a:spcPts val="700"/>
              </a:spcAft>
            </a:pPr>
            <a:r>
              <a:rPr sz="1500" b="1">
                <a:solidFill>
                  <a:srgbClr val="C9A227"/>
                </a:solidFill>
                <a:latin typeface="Calibri"/>
              </a:rPr>
              <a:t>●  </a:t>
            </a:r>
            <a:r>
              <a:rPr sz="1500" b="0">
                <a:solidFill>
                  <a:srgbClr val="1F2937"/>
                </a:solidFill>
                <a:latin typeface="Calibri"/>
              </a:rPr>
              <a:t>Shartnomadagi sharoitni yaratish</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Majburiyatlarni solishtirish</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 huquq va majburiyatlar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jazo bilan tahdid qilib ishga majburlash qanday ataladi va qonun buni ruxsat etadimi?</a:t>
            </a:r>
          </a:p>
          <a:p>
            <a:pPr>
              <a:spcAft>
                <a:spcPts val="1200"/>
              </a:spcAft>
            </a:pPr>
            <a:r>
              <a:rPr sz="2200">
                <a:solidFill>
                  <a:srgbClr val="1F2937"/>
                </a:solidFill>
                <a:latin typeface="Calibri"/>
              </a:rPr>
              <a:t>▸  Savol 2: xodimning kamida uchta mehnat huquqini sanab bering.</a:t>
            </a:r>
          </a:p>
          <a:p>
            <a:pPr>
              <a:spcAft>
                <a:spcPts val="1200"/>
              </a:spcAft>
            </a:pPr>
            <a:r>
              <a:rPr sz="2200">
                <a:solidFill>
                  <a:srgbClr val="1F2937"/>
                </a:solidFill>
                <a:latin typeface="Calibri"/>
              </a:rPr>
              <a:t>▸  Savol 3: ish beruvchi xodimdan qaysi ishlarni talab qila olmaydi?</a:t>
            </a:r>
          </a:p>
          <a:p>
            <a:pPr>
              <a:spcAft>
                <a:spcPts val="1200"/>
              </a:spcAft>
            </a:pPr>
            <a:r>
              <a:rPr sz="2200">
                <a:solidFill>
                  <a:srgbClr val="1F2937"/>
                </a:solidFill>
                <a:latin typeface="Calibri"/>
              </a:rPr>
              <a:t>▸  Diqqat: favqulodda holatda yoki sudning hukmi kuchga kirganda bajariladigan ayrim ishlar majburiy mehnat hisoblanmaydi.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79, 79-80, 80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 shartnomasi: mohiyati va mazmuni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Ishga qabul qilishda mehnat shartnomasi tuziladi. Bu xodim va ish beruvchining haq evaziga ish bajarish haqidagi kelishuvi.</a:t>
            </a:r>
          </a:p>
          <a:p>
            <a:pPr>
              <a:spcAft>
                <a:spcPts val="800"/>
              </a:spcAft>
            </a:pPr>
            <a:r>
              <a:rPr sz="1800">
                <a:solidFill>
                  <a:srgbClr val="1F2937"/>
                </a:solidFill>
                <a:latin typeface="Calibri"/>
              </a:rPr>
              <a:t>▸  Shartnomada ish joyi, mehnat vazifasi, ish boshlanish vaqti, muddat va haq miqdori ko‘rsatilishi lozim.</a:t>
            </a:r>
          </a:p>
          <a:p>
            <a:pPr>
              <a:spcAft>
                <a:spcPts val="800"/>
              </a:spcAft>
            </a:pPr>
            <a:r>
              <a:rPr sz="1800">
                <a:solidFill>
                  <a:srgbClr val="1F2937"/>
                </a:solidFill>
                <a:latin typeface="Calibri"/>
              </a:rPr>
              <a:t>▸  Qonun bilan belgilangan mehnat huquqlari va kafolatlari darajasini shartnoma orqali pasaytirib bo‘lmaydi.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Tanlov, saylov</a:t>
            </a:r>
          </a:p>
          <a:p>
            <a:pPr algn="l">
              <a:spcAft>
                <a:spcPts val="200"/>
              </a:spcAft>
            </a:pPr>
            <a:r>
              <a:rPr sz="1400" b="0">
                <a:solidFill>
                  <a:srgbClr val="1F2937"/>
                </a:solidFill>
                <a:latin typeface="Calibri"/>
              </a:rPr>
              <a:t>Agar bo‘lsa</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Kelishuv</a:t>
            </a:r>
          </a:p>
          <a:p>
            <a:pPr algn="l">
              <a:spcAft>
                <a:spcPts val="200"/>
              </a:spcAft>
            </a:pPr>
            <a:r>
              <a:rPr sz="1400" b="0">
                <a:solidFill>
                  <a:srgbClr val="1F2937"/>
                </a:solidFill>
                <a:latin typeface="Calibri"/>
              </a:rPr>
              <a:t>Xodim va ish beruvchi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Shartnoma</a:t>
            </a:r>
          </a:p>
          <a:p>
            <a:pPr algn="l">
              <a:spcAft>
                <a:spcPts val="200"/>
              </a:spcAft>
            </a:pPr>
            <a:r>
              <a:rPr sz="1400" b="0">
                <a:solidFill>
                  <a:srgbClr val="1F2937"/>
                </a:solidFill>
                <a:latin typeface="Calibri"/>
              </a:rPr>
              <a:t>Mehnat shartnomasi tuziladi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Ish sharti</a:t>
            </a:r>
          </a:p>
          <a:p>
            <a:pPr algn="l">
              <a:spcAft>
                <a:spcPts val="200"/>
              </a:spcAft>
            </a:pPr>
            <a:r>
              <a:rPr sz="1400" b="0">
                <a:solidFill>
                  <a:srgbClr val="1F2937"/>
                </a:solidFill>
                <a:latin typeface="Calibri"/>
              </a:rPr>
              <a:t>Joy, vazifa, boshlanish vaqti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Muddat, haq</a:t>
            </a:r>
          </a:p>
          <a:p>
            <a:pPr algn="l">
              <a:spcAft>
                <a:spcPts val="200"/>
              </a:spcAft>
            </a:pPr>
            <a:r>
              <a:rPr sz="1400" b="0">
                <a:solidFill>
                  <a:srgbClr val="1F2937"/>
                </a:solidFill>
                <a:latin typeface="Calibri"/>
              </a:rPr>
              <a:t>Muddat va haq miqdori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Shartnoma tuzish bosqichlari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Shartnoma muddatlari va ishga qabul hujjatlari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Shartnoma nomuayyan muddatga, besh yildan oshmagan muddatga yoki muayyan ishni bajarish vaqtiga tuziladi.</a:t>
            </a:r>
          </a:p>
          <a:p>
            <a:pPr>
              <a:spcAft>
                <a:spcPts val="800"/>
              </a:spcAft>
            </a:pPr>
            <a:r>
              <a:rPr sz="1800">
                <a:solidFill>
                  <a:srgbClr val="1F2937"/>
                </a:solidFill>
                <a:latin typeface="Calibri"/>
              </a:rPr>
              <a:t>▸  Muddat ko‘rsatilmasa, shartnoma nomuayyan hisoblanadi; xodim roziligisiz uni muddatliga qayta tuzib bo‘lmaydi.</a:t>
            </a:r>
          </a:p>
          <a:p>
            <a:pPr>
              <a:spcAft>
                <a:spcPts val="800"/>
              </a:spcAft>
            </a:pPr>
            <a:r>
              <a:rPr sz="1800">
                <a:solidFill>
                  <a:srgbClr val="1F2937"/>
                </a:solidFill>
                <a:latin typeface="Calibri"/>
              </a:rPr>
              <a:t>▸  O‘rindoshlik asosida kirayotganlar mehnat daftarchasi o‘rniga asosiy ish joyidan ma’lumotnoma beradi.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Ishga qabul hujjatlari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Pasport</a:t>
            </a:r>
          </a:p>
          <a:p>
            <a:pPr algn="l">
              <a:spcAft>
                <a:spcPts val="0"/>
              </a:spcAft>
            </a:pPr>
            <a:r>
              <a:rPr sz="1200" b="0">
                <a:solidFill>
                  <a:srgbClr val="1F2937"/>
                </a:solidFill>
                <a:latin typeface="Calibri"/>
              </a:rPr>
              <a:t>Yoki uning o‘rnini bosuvchi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Mehnat daftarchasi</a:t>
            </a:r>
          </a:p>
          <a:p>
            <a:pPr algn="l">
              <a:spcAft>
                <a:spcPts val="0"/>
              </a:spcAft>
            </a:pPr>
            <a:r>
              <a:rPr sz="1200" b="0">
                <a:solidFill>
                  <a:srgbClr val="1F2937"/>
                </a:solidFill>
                <a:latin typeface="Calibri"/>
              </a:rPr>
              <a:t>Birinchi marta kirayotganlar mustasno</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Harbiy hujjat</a:t>
            </a:r>
          </a:p>
          <a:p>
            <a:pPr algn="l">
              <a:spcAft>
                <a:spcPts val="0"/>
              </a:spcAft>
            </a:pPr>
            <a:r>
              <a:rPr sz="1200" b="0">
                <a:solidFill>
                  <a:srgbClr val="1F2937"/>
                </a:solidFill>
                <a:latin typeface="Calibri"/>
              </a:rPr>
              <a:t>Harbiy bilet yoki hisob guvohnomasi</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Ta’lim hujjati</a:t>
            </a:r>
          </a:p>
          <a:p>
            <a:pPr algn="l">
              <a:spcAft>
                <a:spcPts val="0"/>
              </a:spcAft>
            </a:pPr>
            <a:r>
              <a:rPr sz="1200" b="0">
                <a:solidFill>
                  <a:srgbClr val="1F2937"/>
                </a:solidFill>
                <a:latin typeface="Calibri"/>
              </a:rPr>
              <a:t>Diplom yoki maxsus hujjat</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Ishga qabulda hujjatlar</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81, 82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Dastlabki sinov tartibi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Sinov xodimning ishga layoqatini tekshirish va ishni davom ettirish maqsadga muvofiqligini aniqlash uchun o‘tkaziladi.</a:t>
            </a:r>
          </a:p>
          <a:p>
            <a:pPr>
              <a:spcAft>
                <a:spcPts val="800"/>
              </a:spcAft>
            </a:pPr>
            <a:r>
              <a:rPr sz="1800">
                <a:solidFill>
                  <a:srgbClr val="1F2937"/>
                </a:solidFill>
                <a:latin typeface="Calibri"/>
              </a:rPr>
              <a:t>▸  Sinov uch oydan ortiq bo‘lmaydi; homilador ayollarga va uch yoshga to‘lmagan bolali ayollarga belgilanmaydi.</a:t>
            </a:r>
          </a:p>
          <a:p>
            <a:pPr>
              <a:spcAft>
                <a:spcPts val="800"/>
              </a:spcAft>
            </a:pPr>
            <a:r>
              <a:rPr sz="1800">
                <a:solidFill>
                  <a:srgbClr val="1F2937"/>
                </a:solidFill>
                <a:latin typeface="Calibri"/>
              </a:rPr>
              <a:t>▸  Sinov tugaguncha tomonlardan biri 3 kun oldin yozma ogohlantirib, shartnomani bekor qilishi mumkin.</a:t>
            </a:r>
          </a:p>
        </p:txBody>
      </p:sp>
      <p:sp>
        <p:nvSpPr>
          <p:cNvPr id="9" name="Rounded Rectangle 8"/>
          <p:cNvSpPr/>
          <p:nvPr/>
        </p:nvSpPr>
        <p:spPr>
          <a:xfrm>
            <a:off x="5440680"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Sinov belgilanadi</a:t>
            </a:r>
          </a:p>
          <a:p>
            <a:pPr algn="l">
              <a:spcAft>
                <a:spcPts val="200"/>
              </a:spcAft>
            </a:pPr>
            <a:r>
              <a:rPr sz="1400" b="0">
                <a:solidFill>
                  <a:srgbClr val="1F2937"/>
                </a:solidFill>
                <a:latin typeface="Calibri"/>
              </a:rPr>
              <a:t>Xodim layoqatini tekshirish</a:t>
            </a:r>
          </a:p>
        </p:txBody>
      </p:sp>
      <p:sp>
        <p:nvSpPr>
          <p:cNvPr id="12" name="Rounded Rectangle 11"/>
          <p:cNvSpPr/>
          <p:nvPr/>
        </p:nvSpPr>
        <p:spPr>
          <a:xfrm>
            <a:off x="8578443" y="1417320"/>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2162556"/>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Muddat</a:t>
            </a:r>
          </a:p>
          <a:p>
            <a:pPr algn="l">
              <a:spcAft>
                <a:spcPts val="200"/>
              </a:spcAft>
            </a:pPr>
            <a:r>
              <a:rPr sz="1400" b="0">
                <a:solidFill>
                  <a:srgbClr val="1F2937"/>
                </a:solidFill>
                <a:latin typeface="Calibri"/>
              </a:rPr>
              <a:t>Ko‘pi bilan 3 oy</a:t>
            </a:r>
          </a:p>
        </p:txBody>
      </p:sp>
      <p:sp>
        <p:nvSpPr>
          <p:cNvPr id="15" name="Rounded Rectangle 14"/>
          <p:cNvSpPr/>
          <p:nvPr/>
        </p:nvSpPr>
        <p:spPr>
          <a:xfrm>
            <a:off x="5440680"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Bekor qilish</a:t>
            </a:r>
          </a:p>
          <a:p>
            <a:pPr algn="l">
              <a:spcAft>
                <a:spcPts val="200"/>
              </a:spcAft>
            </a:pPr>
            <a:r>
              <a:rPr sz="1400" b="0">
                <a:solidFill>
                  <a:srgbClr val="1F2937"/>
                </a:solidFill>
                <a:latin typeface="Calibri"/>
              </a:rPr>
              <a:t>3 kun oldin yozma ogohlantirish</a:t>
            </a:r>
          </a:p>
        </p:txBody>
      </p:sp>
      <p:sp>
        <p:nvSpPr>
          <p:cNvPr id="18" name="Rounded Rectangle 17"/>
          <p:cNvSpPr/>
          <p:nvPr/>
        </p:nvSpPr>
        <p:spPr>
          <a:xfrm>
            <a:off x="8578443" y="3493008"/>
            <a:ext cx="2973171" cy="1947672"/>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4238244"/>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3493008"/>
            <a:ext cx="2259939" cy="1947672"/>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Aks holda</a:t>
            </a:r>
          </a:p>
          <a:p>
            <a:pPr algn="l">
              <a:spcAft>
                <a:spcPts val="200"/>
              </a:spcAft>
            </a:pPr>
            <a:r>
              <a:rPr sz="1400" b="0">
                <a:solidFill>
                  <a:srgbClr val="1F2937"/>
                </a:solidFill>
                <a:latin typeface="Calibri"/>
              </a:rPr>
              <a:t>Shartnoma davom etadi</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Sinov jarayoni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Jamoa shartnomasi va uning tamoyillari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Jamoa shartnomasi — ish beruvchi va xodimlar o‘rtasidagi munosabatlarni tartibga soluvchi normativ hujjat.</a:t>
            </a:r>
          </a:p>
          <a:p>
            <a:pPr>
              <a:spcAft>
                <a:spcPts val="800"/>
              </a:spcAft>
            </a:pPr>
            <a:r>
              <a:rPr sz="1800">
                <a:solidFill>
                  <a:srgbClr val="1F2937"/>
                </a:solidFill>
                <a:latin typeface="Calibri"/>
              </a:rPr>
              <a:t>▸  Tamoyillar: qonunga rioya, vakolatlilik, ixtiyoriylik, muntazam tekshiruv, javobgarlikning muqarrarligi.</a:t>
            </a:r>
          </a:p>
          <a:p>
            <a:pPr>
              <a:spcAft>
                <a:spcPts val="800"/>
              </a:spcAft>
            </a:pPr>
            <a:r>
              <a:rPr sz="1800">
                <a:solidFill>
                  <a:srgbClr val="1F2937"/>
                </a:solidFill>
                <a:latin typeface="Calibri"/>
              </a:rPr>
              <a:t>▸  Loyiha avval xodimlar muhokamasidan, so‘ng umumiy yig‘ilishdan o‘tadi.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Jamoa shartnomasi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Tomonlar</a:t>
            </a:r>
          </a:p>
          <a:p>
            <a:pPr algn="l">
              <a:spcAft>
                <a:spcPts val="0"/>
              </a:spcAft>
            </a:pPr>
            <a:r>
              <a:rPr sz="1200" b="0">
                <a:solidFill>
                  <a:srgbClr val="1F2937"/>
                </a:solidFill>
                <a:latin typeface="Calibri"/>
              </a:rPr>
              <a:t>Kasaba uyushmasi ↔ ish beruvchi</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Mazmun</a:t>
            </a:r>
          </a:p>
          <a:p>
            <a:pPr algn="l">
              <a:spcAft>
                <a:spcPts val="0"/>
              </a:spcAft>
            </a:pPr>
            <a:r>
              <a:rPr sz="1200" b="0">
                <a:solidFill>
                  <a:srgbClr val="1F2937"/>
                </a:solidFill>
                <a:latin typeface="Calibri"/>
              </a:rPr>
              <a:t>Mehnat, ijtimoiy, iqtisodiy, kasb</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Imtiyoz</a:t>
            </a:r>
          </a:p>
          <a:p>
            <a:pPr algn="l">
              <a:spcAft>
                <a:spcPts val="0"/>
              </a:spcAft>
            </a:pPr>
            <a:r>
              <a:rPr sz="1200" b="0">
                <a:solidFill>
                  <a:srgbClr val="1F2937"/>
                </a:solidFill>
                <a:latin typeface="Calibri"/>
              </a:rPr>
              <a:t>Qo‘shimcha ta’til, pensiyaga ustama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Muddat</a:t>
            </a:r>
          </a:p>
          <a:p>
            <a:pPr algn="l">
              <a:spcAft>
                <a:spcPts val="0"/>
              </a:spcAft>
            </a:pPr>
            <a:r>
              <a:rPr sz="1200" b="0">
                <a:solidFill>
                  <a:srgbClr val="1F2937"/>
                </a:solidFill>
                <a:latin typeface="Calibri"/>
              </a:rPr>
              <a:t>Taraflar belgilaydi  ·  Yangisigacha amalda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Jamoa shartnomasi xususiyatlari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82, 82-83, 83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O‘rindoshlik, bir necha kasb va o‘rinbosarlik</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O‘rindoshlik — asosiy ishdan bo‘sh vaqtda shartnoma asosida haq to‘lanadigan ish.</a:t>
            </a:r>
          </a:p>
          <a:p>
            <a:pPr>
              <a:spcAft>
                <a:spcPts val="800"/>
              </a:spcAft>
            </a:pPr>
            <a:r>
              <a:rPr sz="1800">
                <a:solidFill>
                  <a:srgbClr val="1F2937"/>
                </a:solidFill>
                <a:latin typeface="Calibri"/>
              </a:rPr>
              <a:t>▸  Misol: muassasa rahbari vrach lavozimida, vrach esa o‘rta tibbiy xodim vazifasida ishlashi mumkin.</a:t>
            </a:r>
          </a:p>
          <a:p>
            <a:pPr>
              <a:spcAft>
                <a:spcPts val="800"/>
              </a:spcAft>
            </a:pPr>
            <a:r>
              <a:rPr sz="1800">
                <a:solidFill>
                  <a:srgbClr val="1F2937"/>
                </a:solidFill>
                <a:latin typeface="Calibri"/>
              </a:rPr>
              <a:t>▸  Diqqat: o‘rindoshlik ≠ o‘rinbosarlik — birida bo‘sh vaqtda ish, ikkinchisida yo‘q xodim o‘rniga ish.</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Ishning to‘rt shakli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Ichki o‘rindoshlik</a:t>
            </a:r>
          </a:p>
          <a:p>
            <a:pPr algn="l">
              <a:spcAft>
                <a:spcPts val="0"/>
              </a:spcAft>
            </a:pPr>
            <a:r>
              <a:rPr sz="1200" b="0">
                <a:solidFill>
                  <a:srgbClr val="1F2937"/>
                </a:solidFill>
                <a:latin typeface="Calibri"/>
              </a:rPr>
              <a:t>Shu muassasada, haq evaziga  ·  Asosiy ishdan bo‘sh vaqtda</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Tashqi o‘rindoshlik</a:t>
            </a:r>
          </a:p>
          <a:p>
            <a:pPr algn="l">
              <a:spcAft>
                <a:spcPts val="0"/>
              </a:spcAft>
            </a:pPr>
            <a:r>
              <a:rPr sz="1200" b="0">
                <a:solidFill>
                  <a:srgbClr val="1F2937"/>
                </a:solidFill>
                <a:latin typeface="Calibri"/>
              </a:rPr>
              <a:t>Boshqa muassasada, haq evaziga  ·  Asosiy ishdan bo‘sh vaqtda</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Bir necha kasb</a:t>
            </a:r>
          </a:p>
          <a:p>
            <a:pPr algn="l">
              <a:spcAft>
                <a:spcPts val="0"/>
              </a:spcAft>
            </a:pPr>
            <a:r>
              <a:rPr sz="1200" b="0">
                <a:solidFill>
                  <a:srgbClr val="1F2937"/>
                </a:solidFill>
                <a:latin typeface="Calibri"/>
              </a:rPr>
              <a:t>Shu muassasada boshqa lavozim</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O‘rinbosarlik</a:t>
            </a:r>
          </a:p>
          <a:p>
            <a:pPr algn="l">
              <a:spcAft>
                <a:spcPts val="0"/>
              </a:spcAft>
            </a:pPr>
            <a:r>
              <a:rPr sz="1200" b="0">
                <a:solidFill>
                  <a:srgbClr val="1F2937"/>
                </a:solidFill>
                <a:latin typeface="Calibri"/>
              </a:rPr>
              <a:t>Vaqtincha yo‘q xodim ishi  ·  Xodim lavozimi saqlanadi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To‘rt shaklni solishtirish</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ishga qabul va qo‘shimcha 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vrach tibbiyot muassasasiga ishga qabul qilinmoqda va bo‘sh vaqtida boshqa muassasada ham ishlamoqchi.</a:t>
            </a:r>
          </a:p>
          <a:p>
            <a:pPr>
              <a:spcAft>
                <a:spcPts val="1200"/>
              </a:spcAft>
            </a:pPr>
            <a:r>
              <a:rPr sz="2200">
                <a:solidFill>
                  <a:srgbClr val="1F2937"/>
                </a:solidFill>
                <a:latin typeface="Calibri"/>
              </a:rPr>
              <a:t>▸  Asosiy ish uchun pasport, mehnat daftarchasi, harbiy hisob hujjati va diplom topshiriladi; shartnomada ish joyi, lavozim, boshlanish vaqti va haq ko‘rsatiladi.</a:t>
            </a:r>
          </a:p>
          <a:p>
            <a:pPr>
              <a:spcAft>
                <a:spcPts val="1200"/>
              </a:spcAft>
            </a:pPr>
            <a:r>
              <a:rPr sz="2200">
                <a:solidFill>
                  <a:srgbClr val="1F2937"/>
                </a:solidFill>
                <a:latin typeface="Calibri"/>
              </a:rPr>
              <a:t>▸  Boshqa muassasadagi ish — tashqi o‘rindoshlik: mehnat daftarchasi o‘rniga asosiy ish joyidan ma’lumotnoma beriladi. Dastlabki sinov uch oydan oshmaydi.</a:t>
            </a:r>
          </a:p>
          <a:p>
            <a:pPr>
              <a:spcAft>
                <a:spcPts val="1200"/>
              </a:spcAft>
            </a:pPr>
            <a:r>
              <a:rPr sz="2200">
                <a:solidFill>
                  <a:srgbClr val="1F2937"/>
                </a:solidFill>
                <a:latin typeface="Calibri"/>
              </a:rPr>
              <a:t>▸  Savol: qaysi shakl va hujjatlar talab etiladi? Vrach uch yoshga to‘lmagan bolasi bor ayol bo‘lsa, sinov belgilanadimi?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81-84, 81-82, 82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 vaqti va qisqartirilgan ish vaqti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Normal muddat haftasiga 40 soat; kunlik davomiylik hafta turiga bog‘liq (jadvalga qarang).</a:t>
            </a:r>
          </a:p>
          <a:p>
            <a:pPr>
              <a:spcAft>
                <a:spcPts val="800"/>
              </a:spcAft>
            </a:pPr>
            <a:r>
              <a:rPr sz="1800">
                <a:solidFill>
                  <a:srgbClr val="1F2937"/>
                </a:solidFill>
                <a:latin typeface="Calibri"/>
              </a:rPr>
              <a:t>▸  Qisqartirilgan ish vaqti: 18 yoshgacha, I-II guruh nogironlari, noqulay sharoit, 3 yoshgacha bolali ayollar.</a:t>
            </a:r>
          </a:p>
          <a:p>
            <a:pPr>
              <a:spcAft>
                <a:spcPts val="800"/>
              </a:spcAft>
            </a:pPr>
            <a:r>
              <a:rPr sz="1800">
                <a:solidFill>
                  <a:srgbClr val="1F2937"/>
                </a:solidFill>
                <a:latin typeface="Calibri"/>
              </a:rPr>
              <a:t>▸  Tibbiy xodimlar: haftasiga 36 soatdan oshmaydi (Mehnat kodeksi, 118-modda).</a:t>
            </a:r>
          </a:p>
        </p:txBody>
      </p:sp>
      <p:sp>
        <p:nvSpPr>
          <p:cNvPr id="9" name="Rounded Rectangle 8"/>
          <p:cNvSpPr/>
          <p:nvPr/>
        </p:nvSpPr>
        <p:spPr>
          <a:xfrm>
            <a:off x="5440680"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Normal ish vaqti</a:t>
            </a:r>
          </a:p>
          <a:p>
            <a:pPr algn="l">
              <a:spcAft>
                <a:spcPts val="100"/>
              </a:spcAft>
            </a:pPr>
            <a:r>
              <a:rPr sz="2900" b="1">
                <a:solidFill>
                  <a:srgbClr val="0B1F3A"/>
                </a:solidFill>
                <a:latin typeface="Calibri"/>
              </a:rPr>
              <a:t>40</a:t>
            </a:r>
            <a:r>
              <a:rPr sz="1400" b="0">
                <a:solidFill>
                  <a:srgbClr val="6B7280"/>
                </a:solidFill>
                <a:latin typeface="Calibri"/>
              </a:rPr>
              <a:t>  soat/hafta</a:t>
            </a:r>
          </a:p>
        </p:txBody>
      </p:sp>
      <p:sp>
        <p:nvSpPr>
          <p:cNvPr id="12" name="Rounded Rectangle 11"/>
          <p:cNvSpPr/>
          <p:nvPr/>
        </p:nvSpPr>
        <p:spPr>
          <a:xfrm>
            <a:off x="8578443" y="1417320"/>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578443"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8171" y="1417320"/>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6 kunlik hafta</a:t>
            </a:r>
          </a:p>
          <a:p>
            <a:pPr algn="l">
              <a:spcAft>
                <a:spcPts val="100"/>
              </a:spcAft>
            </a:pPr>
            <a:r>
              <a:rPr sz="3000" b="1">
                <a:solidFill>
                  <a:srgbClr val="0B1F3A"/>
                </a:solidFill>
                <a:latin typeface="Calibri"/>
              </a:rPr>
              <a:t>7</a:t>
            </a:r>
            <a:r>
              <a:rPr sz="1500" b="0">
                <a:solidFill>
                  <a:srgbClr val="6B7280"/>
                </a:solidFill>
                <a:latin typeface="Calibri"/>
              </a:rPr>
              <a:t>  soat/kun</a:t>
            </a:r>
          </a:p>
        </p:txBody>
      </p:sp>
      <p:sp>
        <p:nvSpPr>
          <p:cNvPr id="15" name="Rounded Rectangle 14"/>
          <p:cNvSpPr/>
          <p:nvPr/>
        </p:nvSpPr>
        <p:spPr>
          <a:xfrm>
            <a:off x="5440680"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40680"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50408"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5 kunlik hafta</a:t>
            </a:r>
          </a:p>
          <a:p>
            <a:pPr algn="l">
              <a:spcAft>
                <a:spcPts val="100"/>
              </a:spcAft>
            </a:pPr>
            <a:r>
              <a:rPr sz="3000" b="1">
                <a:solidFill>
                  <a:srgbClr val="0B1F3A"/>
                </a:solidFill>
                <a:latin typeface="Calibri"/>
              </a:rPr>
              <a:t>8</a:t>
            </a:r>
            <a:r>
              <a:rPr sz="1500" b="0">
                <a:solidFill>
                  <a:srgbClr val="6B7280"/>
                </a:solidFill>
                <a:latin typeface="Calibri"/>
              </a:rPr>
              <a:t>  soat/kun</a:t>
            </a:r>
          </a:p>
        </p:txBody>
      </p:sp>
      <p:sp>
        <p:nvSpPr>
          <p:cNvPr id="18" name="Rounded Rectangle 17"/>
          <p:cNvSpPr/>
          <p:nvPr/>
        </p:nvSpPr>
        <p:spPr>
          <a:xfrm>
            <a:off x="8578443" y="3118104"/>
            <a:ext cx="2973171"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578443" y="3209544"/>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88171" y="3118104"/>
            <a:ext cx="2863443"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Tibbiy xodimlar</a:t>
            </a:r>
          </a:p>
          <a:p>
            <a:pPr algn="l">
              <a:spcAft>
                <a:spcPts val="100"/>
              </a:spcAft>
            </a:pPr>
            <a:r>
              <a:rPr sz="2900" b="1">
                <a:solidFill>
                  <a:srgbClr val="0B1F3A"/>
                </a:solidFill>
                <a:latin typeface="Calibri"/>
              </a:rPr>
              <a:t>36</a:t>
            </a:r>
            <a:r>
              <a:rPr sz="1400" b="0">
                <a:solidFill>
                  <a:srgbClr val="6B7280"/>
                </a:solidFill>
                <a:latin typeface="Calibri"/>
              </a:rPr>
              <a:t>  soat/hafta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Ish vaqti muddatlari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84, 84-85, 85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Mehnatni muhofaza qilish: taraflar vazifalari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Xavfsizlik va gigiena talablariga javob beradigan sharoitni ish beruvchi tashkil etadi. U buning uchun qonun oldida javob beradi.</a:t>
            </a:r>
          </a:p>
          <a:p>
            <a:pPr>
              <a:spcAft>
                <a:spcPts val="1200"/>
              </a:spcAft>
            </a:pPr>
            <a:r>
              <a:rPr sz="2200">
                <a:solidFill>
                  <a:srgbClr val="1F2937"/>
                </a:solidFill>
                <a:latin typeface="Calibri"/>
              </a:rPr>
              <a:t>▸  Ish beruvchi xodimga ish sharoiti, kasbiy kasallik xavfi, imtiyoz va qo‘shimcha haqlar, himoya vositalari haqida ma’lumot beradi.</a:t>
            </a:r>
          </a:p>
          <a:p>
            <a:pPr>
              <a:spcAft>
                <a:spcPts val="1200"/>
              </a:spcAft>
            </a:pPr>
            <a:r>
              <a:rPr sz="2200">
                <a:solidFill>
                  <a:srgbClr val="1F2937"/>
                </a:solidFill>
                <a:latin typeface="Calibri"/>
              </a:rPr>
              <a:t>▸  Xodim mehnat muhofazasi talablariga va xavfsiz ishlash bo‘yicha farmoyishlarga rioya qiladi hamda shaxsiy himoya vositalaridan foydalanadi.</a:t>
            </a:r>
          </a:p>
          <a:p>
            <a:pPr>
              <a:spcAft>
                <a:spcPts val="1200"/>
              </a:spcAft>
            </a:pPr>
            <a:r>
              <a:rPr sz="2200">
                <a:solidFill>
                  <a:srgbClr val="1F2937"/>
                </a:solidFill>
                <a:latin typeface="Calibri"/>
              </a:rPr>
              <a:t>▸  Xodim odamlar hayoti va sog‘lig‘iga xavf soluvchi vaziyatlar hamda ish bilan bog‘liq baxtsiz hodisalar haqida shoshilinch xabar beradi.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85, 85-86, 86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Dastlabki va davriy tibbiy ko‘riklar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Nogironlar, 18 yoshgacha va keksalar, tungi ish va aholiga xizmat ko‘rsatuvchilar ko‘rikdan o‘tadi.</a:t>
            </a:r>
          </a:p>
          <a:p>
            <a:pPr>
              <a:spcAft>
                <a:spcPts val="800"/>
              </a:spcAft>
            </a:pPr>
            <a:r>
              <a:rPr sz="1800">
                <a:solidFill>
                  <a:srgbClr val="1F2937"/>
                </a:solidFill>
                <a:latin typeface="Calibri"/>
              </a:rPr>
              <a:t>▸  Rad etish yoki vrach tavsiyasini bajarmaslik xodimni ishdan chetlatishga asos bo‘ladi.</a:t>
            </a:r>
          </a:p>
          <a:p>
            <a:pPr>
              <a:spcAft>
                <a:spcPts val="800"/>
              </a:spcAft>
            </a:pPr>
            <a:r>
              <a:rPr sz="1800">
                <a:solidFill>
                  <a:srgbClr val="1F2937"/>
                </a:solidFill>
                <a:latin typeface="Calibri"/>
              </a:rPr>
              <a:t>▸  Navbatdan tashqari ko‘rikni xodim talab qila oladi; ko‘rik xarajatini xodim to‘lamaydi.</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Ishga qabul: dastlabki ko‘rik</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Ish davomida: davriy ko‘rik</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Rad etish / tavsiya buzilishi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Ishdan chetlatish asosi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Tibbiy ko‘rik jarayoni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 ish vaqti va muhofaza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tibbiy xodimlar uchun ish vaqti haftasiga necha soatdan oshmasligi kerak? Javob: 36 soat.</a:t>
            </a:r>
          </a:p>
          <a:p>
            <a:pPr>
              <a:spcAft>
                <a:spcPts val="1200"/>
              </a:spcAft>
            </a:pPr>
            <a:r>
              <a:rPr sz="2200">
                <a:solidFill>
                  <a:srgbClr val="1F2937"/>
                </a:solidFill>
                <a:latin typeface="Calibri"/>
              </a:rPr>
              <a:t>▸  Bunday xodimlar ishi yuqori his-hayajon, aqliy zo‘riqish va asab tarangligi bilan bog‘liq. Ro‘yxatni Hukumat belgilaydi.</a:t>
            </a:r>
          </a:p>
          <a:p>
            <a:pPr>
              <a:spcAft>
                <a:spcPts val="1200"/>
              </a:spcAft>
            </a:pPr>
            <a:r>
              <a:rPr sz="2200">
                <a:solidFill>
                  <a:srgbClr val="1F2937"/>
                </a:solidFill>
                <a:latin typeface="Calibri"/>
              </a:rPr>
              <a:t>▸  Savol 2: tibbiy ko‘rik xarajatini kim to‘laydi? Javob: xodim to‘lamaydi, bu xarajatlar uning zimmasiga yuklanmaydi.</a:t>
            </a:r>
          </a:p>
          <a:p>
            <a:pPr>
              <a:spcAft>
                <a:spcPts val="1200"/>
              </a:spcAft>
            </a:pPr>
            <a:r>
              <a:rPr sz="2200">
                <a:solidFill>
                  <a:srgbClr val="1F2937"/>
                </a:solidFill>
                <a:latin typeface="Calibri"/>
              </a:rPr>
              <a:t>▸  Diqqat: xato qilish xavfi. Umumiy me’yor haftasiga 40 soat ≠ tibbiy xodimlar uchun 36 soat.</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85, 86, 84-85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tibbiy ko‘rikni rad etish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xodim davriy tibbiy ko‘rikdan bosh tortdi yoki vrach tavsiyalarini bajarmadi.</a:t>
            </a:r>
          </a:p>
          <a:p>
            <a:pPr>
              <a:spcAft>
                <a:spcPts val="1200"/>
              </a:spcAft>
            </a:pPr>
            <a:r>
              <a:rPr sz="2200">
                <a:solidFill>
                  <a:srgbClr val="1F2937"/>
                </a:solidFill>
                <a:latin typeface="Calibri"/>
              </a:rPr>
              <a:t>▸  Savol: ish beruvchi qanday huquqiy asosda harakat qiladi? Xodim ko‘rikni rad etishga haqlimi?</a:t>
            </a:r>
          </a:p>
          <a:p>
            <a:pPr>
              <a:spcAft>
                <a:spcPts val="1200"/>
              </a:spcAft>
            </a:pPr>
            <a:r>
              <a:rPr sz="2200">
                <a:solidFill>
                  <a:srgbClr val="1F2937"/>
                </a:solidFill>
                <a:latin typeface="Calibri"/>
              </a:rPr>
              <a:t>▸  Javob: xodim ko‘rikni rad etishga haqli emas. Rad etish yoki tavsiyaga amal qilmaslik ishdan chetlatish uchun asos bo‘ladi.</a:t>
            </a:r>
          </a:p>
          <a:p>
            <a:pPr>
              <a:spcAft>
                <a:spcPts val="1200"/>
              </a:spcAft>
            </a:pPr>
            <a:r>
              <a:rPr sz="2200">
                <a:solidFill>
                  <a:srgbClr val="1F2937"/>
                </a:solidFill>
                <a:latin typeface="Calibri"/>
              </a:rPr>
              <a:t>▸  Xodim salomatligi yomonlashuvini ish sharoiti bilan bog‘lasa, navbatdan tashqari ko‘rikni talab qilishi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Shartnomani xodim tashabbusi bilan bekor qilish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Umumiy asoslar: kelishuv, bir taraf tashabbusi, muddat tugashi, taraflarga bog‘liq bo‘lmagan holat.</a:t>
            </a:r>
          </a:p>
          <a:p>
            <a:pPr>
              <a:spcAft>
                <a:spcPts val="800"/>
              </a:spcAft>
            </a:pPr>
            <a:r>
              <a:rPr sz="1800">
                <a:solidFill>
                  <a:srgbClr val="1F2937"/>
                </a:solidFill>
                <a:latin typeface="Calibri"/>
              </a:rPr>
              <a:t>▸  Xodim ikki hafta oldin yozma ogohlantirib, muddatli va muddatsiz shartnomani bekor qila oladi.</a:t>
            </a:r>
          </a:p>
          <a:p>
            <a:pPr>
              <a:spcAft>
                <a:spcPts val="800"/>
              </a:spcAft>
            </a:pPr>
            <a:r>
              <a:rPr sz="1800">
                <a:solidFill>
                  <a:srgbClr val="1F2937"/>
                </a:solidFill>
                <a:latin typeface="Calibri"/>
              </a:rPr>
              <a:t>▸  Ogohlantirish tugab, shartnoma bekor qilinmasa, ariza kuchini yo‘qotadi.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Ogohlantirish</a:t>
            </a:r>
          </a:p>
          <a:p>
            <a:pPr algn="l">
              <a:spcAft>
                <a:spcPts val="200"/>
              </a:spcAft>
            </a:pPr>
            <a:r>
              <a:rPr sz="1400" b="0">
                <a:solidFill>
                  <a:srgbClr val="1F2937"/>
                </a:solidFill>
                <a:latin typeface="Calibri"/>
              </a:rPr>
              <a:t>Yozma, 2 hafta oldin</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Ariza</a:t>
            </a:r>
          </a:p>
          <a:p>
            <a:pPr algn="l">
              <a:spcAft>
                <a:spcPts val="200"/>
              </a:spcAft>
            </a:pPr>
            <a:r>
              <a:rPr sz="1400" b="0">
                <a:solidFill>
                  <a:srgbClr val="1F2937"/>
                </a:solidFill>
                <a:latin typeface="Calibri"/>
              </a:rPr>
              <a:t>Qaytarib olinishi mumkin</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Muddat tugadi</a:t>
            </a:r>
          </a:p>
          <a:p>
            <a:pPr algn="l">
              <a:spcAft>
                <a:spcPts val="200"/>
              </a:spcAft>
            </a:pPr>
            <a:r>
              <a:rPr sz="1400" b="0">
                <a:solidFill>
                  <a:srgbClr val="1F2937"/>
                </a:solidFill>
                <a:latin typeface="Calibri"/>
              </a:rPr>
              <a:t>Ish to‘xtaydi</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Hujjat</a:t>
            </a:r>
          </a:p>
          <a:p>
            <a:pPr algn="l">
              <a:spcAft>
                <a:spcPts val="200"/>
              </a:spcAft>
            </a:pPr>
            <a:r>
              <a:rPr sz="1400" b="0">
                <a:solidFill>
                  <a:srgbClr val="1F2937"/>
                </a:solidFill>
                <a:latin typeface="Calibri"/>
              </a:rPr>
              <a:t>Mehnat daftarchasi beriladi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Hisob-kitob</a:t>
            </a:r>
          </a:p>
          <a:p>
            <a:pPr algn="l">
              <a:spcAft>
                <a:spcPts val="200"/>
              </a:spcAft>
            </a:pPr>
            <a:r>
              <a:rPr sz="1400" b="0">
                <a:solidFill>
                  <a:srgbClr val="1F2937"/>
                </a:solidFill>
                <a:latin typeface="Calibri"/>
              </a:rPr>
              <a:t>Hisob-kitob qilinadi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Xodim tashabbusi tartibi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86-87, 87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 beruvchi tashabbusi bilan bekor qilish sabablari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Shtat yoki ish hajmi qisqarishi, texnologiya va mehnat tashkilidagi o‘zgarish yoki korxona tugatilishi — birinchi asos.</a:t>
            </a:r>
          </a:p>
          <a:p>
            <a:pPr>
              <a:spcAft>
                <a:spcPts val="1200"/>
              </a:spcAft>
            </a:pPr>
            <a:r>
              <a:rPr sz="2200">
                <a:solidFill>
                  <a:srgbClr val="1F2937"/>
                </a:solidFill>
                <a:latin typeface="Calibri"/>
              </a:rPr>
              <a:t>▸  Malakasi yetarli bo‘lmagan yoki sog‘lig‘i sababli ishiga noloyiq bo‘lib qolgan xodim bilan ham shartnoma bekor qilinishi mumkin.</a:t>
            </a:r>
          </a:p>
          <a:p>
            <a:pPr>
              <a:spcAft>
                <a:spcPts val="1200"/>
              </a:spcAft>
            </a:pPr>
            <a:r>
              <a:rPr sz="2200">
                <a:solidFill>
                  <a:srgbClr val="1F2937"/>
                </a:solidFill>
                <a:latin typeface="Calibri"/>
              </a:rPr>
              <a:t>▸  Muntazam buzish: jazo qo‘llangan kundan bir yil ichida takroran nojo‘ya harakat. Bir marta qo‘pol buzish ham asos; qo‘pollik oqibatga qarab baholanadi.</a:t>
            </a:r>
          </a:p>
          <a:p>
            <a:pPr>
              <a:spcAft>
                <a:spcPts val="1200"/>
              </a:spcAft>
            </a:pPr>
            <a:r>
              <a:rPr sz="2200">
                <a:solidFill>
                  <a:srgbClr val="1F2937"/>
                </a:solidFill>
                <a:latin typeface="Calibri"/>
              </a:rPr>
              <a:t>▸  Qo‘shimcha asoslar: o‘rindosh bo‘lmagan xodim qabul qilinishi sababli o‘rindoshlar bilan, mulkdor o‘zgarishi sababli korxona rahbari bilan.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88, 88-89</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 beruvchi tashabbusi: ogohlantirish muddatlari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Ogohlantirish yozma bo‘ladi, xodim imzo chekadi; muddat bekor qilish sababiga qarab farqlanadi.</a:t>
            </a:r>
          </a:p>
          <a:p>
            <a:pPr>
              <a:spcAft>
                <a:spcPts val="800"/>
              </a:spcAft>
            </a:pPr>
            <a:r>
              <a:rPr sz="1800">
                <a:solidFill>
                  <a:srgbClr val="1F2937"/>
                </a:solidFill>
                <a:latin typeface="Calibri"/>
              </a:rPr>
              <a:t>▸  Taraflar kelishsa, birinchi ikki holatda ogohlantirish muddatiga mos pullik kompensatsiya bilan almashtiriladi.</a:t>
            </a:r>
          </a:p>
          <a:p>
            <a:pPr>
              <a:spcAft>
                <a:spcPts val="800"/>
              </a:spcAft>
            </a:pPr>
            <a:r>
              <a:rPr sz="1800">
                <a:solidFill>
                  <a:srgbClr val="1F2937"/>
                </a:solidFill>
                <a:latin typeface="Calibri"/>
              </a:rPr>
              <a:t>▸  Kasallik va ta’til davrida bekor qilish mumkin emas; korxona butunlay tugatilsa — istisno.</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Ogohlantirish muddatlari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892808"/>
            <a:ext cx="0" cy="3072384"/>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892808"/>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Shtat qisqarishi, tugatish</a:t>
            </a:r>
          </a:p>
          <a:p>
            <a:pPr algn="l">
              <a:spcAft>
                <a:spcPts val="0"/>
              </a:spcAft>
            </a:pPr>
            <a:r>
              <a:rPr sz="1200" b="0">
                <a:solidFill>
                  <a:srgbClr val="1F2937"/>
                </a:solidFill>
                <a:latin typeface="Calibri"/>
              </a:rPr>
              <a:t>Kamida 2 oy oldin  ·  Yozma, imzo chektirib</a:t>
            </a:r>
          </a:p>
        </p:txBody>
      </p:sp>
      <p:cxnSp>
        <p:nvCxnSpPr>
          <p:cNvPr id="15" name="Connector 14"/>
          <p:cNvCxnSpPr/>
          <p:nvPr/>
        </p:nvCxnSpPr>
        <p:spPr>
          <a:xfrm>
            <a:off x="7612380" y="291693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441448"/>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441448"/>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Malaka, sog‘liq</a:t>
            </a:r>
          </a:p>
          <a:p>
            <a:pPr algn="l">
              <a:spcAft>
                <a:spcPts val="0"/>
              </a:spcAft>
            </a:pPr>
            <a:r>
              <a:rPr sz="1200" b="0">
                <a:solidFill>
                  <a:srgbClr val="1F2937"/>
                </a:solidFill>
                <a:latin typeface="Calibri"/>
              </a:rPr>
              <a:t>Kamida 2 hafta oldin  ·  Yozma, imzo chektirib</a:t>
            </a:r>
          </a:p>
        </p:txBody>
      </p:sp>
      <p:cxnSp>
        <p:nvCxnSpPr>
          <p:cNvPr id="18" name="Connector 17"/>
          <p:cNvCxnSpPr/>
          <p:nvPr/>
        </p:nvCxnSpPr>
        <p:spPr>
          <a:xfrm>
            <a:off x="7612380" y="394106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465576"/>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465576"/>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Muntazam, qo‘pol buzish</a:t>
            </a:r>
          </a:p>
          <a:p>
            <a:pPr algn="l">
              <a:spcAft>
                <a:spcPts val="0"/>
              </a:spcAft>
            </a:pPr>
            <a:r>
              <a:rPr sz="1200" b="0">
                <a:solidFill>
                  <a:srgbClr val="1F2937"/>
                </a:solidFill>
                <a:latin typeface="Calibri"/>
              </a:rPr>
              <a:t>3 kun oldin xabar  ·  Yoki mutanosib kompensatsiya</a:t>
            </a:r>
          </a:p>
        </p:txBody>
      </p:sp>
      <p:cxnSp>
        <p:nvCxnSpPr>
          <p:cNvPr id="21" name="Connector 20"/>
          <p:cNvCxnSpPr/>
          <p:nvPr/>
        </p:nvCxnSpPr>
        <p:spPr>
          <a:xfrm>
            <a:off x="7612380" y="496519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4489704"/>
            <a:ext cx="3779215" cy="950976"/>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4489704"/>
            <a:ext cx="3779215" cy="950976"/>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Kelishuv bo‘lsa</a:t>
            </a:r>
          </a:p>
          <a:p>
            <a:pPr algn="l">
              <a:spcAft>
                <a:spcPts val="0"/>
              </a:spcAft>
            </a:pPr>
            <a:r>
              <a:rPr sz="1200" b="0">
                <a:solidFill>
                  <a:srgbClr val="1F2937"/>
                </a:solidFill>
                <a:latin typeface="Calibri"/>
              </a:rPr>
              <a:t>Pullik kompensatsiya</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Sabab va muddat</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shtat qisqarishi va ishdan bo‘shatish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shifoxonada ish hajmi qisqargani sababli shtat qisqartirilmoqda. Vrach X shu paytda vaqtincha mehnatga layoqatsiz (kasallikda).</a:t>
            </a:r>
          </a:p>
          <a:p>
            <a:pPr>
              <a:spcAft>
                <a:spcPts val="1200"/>
              </a:spcAft>
            </a:pPr>
            <a:r>
              <a:rPr sz="2200">
                <a:solidFill>
                  <a:srgbClr val="1F2937"/>
                </a:solidFill>
                <a:latin typeface="Calibri"/>
              </a:rPr>
              <a:t>▸  Savol: ish beruvchi X bilan mehnat shartnomasini aynan kasallik davrida bekor qila oladimi?</a:t>
            </a:r>
          </a:p>
          <a:p>
            <a:pPr>
              <a:spcAft>
                <a:spcPts val="1200"/>
              </a:spcAft>
            </a:pPr>
            <a:r>
              <a:rPr sz="2200">
                <a:solidFill>
                  <a:srgbClr val="1F2937"/>
                </a:solidFill>
                <a:latin typeface="Calibri"/>
              </a:rPr>
              <a:t>▸  Yo‘nalish: kasallik va ta’til davrida bekor qilish taqiqlanadi; faqat korxona butunlay tugatilgan hol istisno.</a:t>
            </a:r>
          </a:p>
          <a:p>
            <a:pPr>
              <a:spcAft>
                <a:spcPts val="1200"/>
              </a:spcAft>
            </a:pPr>
            <a:r>
              <a:rPr sz="2200">
                <a:solidFill>
                  <a:srgbClr val="1F2937"/>
                </a:solidFill>
                <a:latin typeface="Calibri"/>
              </a:rPr>
              <a:t>▸  Sog‘lom xodimga shtat qisqarishi bo‘yicha kamida ikki oy oldin yozma, imzo bilan ogohlantiriladi yoki mos kompensatsiya to‘lanadi.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88-89, 89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Intizomiy jazo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Mehnat intizomini buzish intizomiy qilmish hisoblanadi; ish beruvchi xodimni jazolashga haqli.</a:t>
            </a:r>
          </a:p>
          <a:p>
            <a:pPr>
              <a:spcAft>
                <a:spcPts val="800"/>
              </a:spcAft>
            </a:pPr>
            <a:r>
              <a:rPr sz="1800">
                <a:solidFill>
                  <a:srgbClr val="1F2937"/>
                </a:solidFill>
                <a:latin typeface="Calibri"/>
              </a:rPr>
              <a:t>▸  Qonunda uch jazo turi bor: hayfsan, jarima va mehnat shartnomasini bekor qilish.</a:t>
            </a:r>
          </a:p>
          <a:p>
            <a:pPr>
              <a:spcAft>
                <a:spcPts val="800"/>
              </a:spcAft>
            </a:pPr>
            <a:r>
              <a:rPr sz="1800">
                <a:solidFill>
                  <a:srgbClr val="1F2937"/>
                </a:solidFill>
                <a:latin typeface="Calibri"/>
              </a:rPr>
              <a:t>▸  Diqqat: umumiy jarima 30 foizgacha, ichki tartibga ko‘ra alohida qilmishlarga esa 50 foizgacha bo‘lishi mumkin.</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Intizomiy jazo turlari</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2063496"/>
            <a:ext cx="0" cy="2731008"/>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2063496"/>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Hayfsan</a:t>
            </a:r>
          </a:p>
          <a:p>
            <a:pPr algn="l">
              <a:spcAft>
                <a:spcPts val="0"/>
              </a:spcAft>
            </a:pPr>
            <a:r>
              <a:rPr sz="1200" b="0">
                <a:solidFill>
                  <a:srgbClr val="1F2937"/>
                </a:solidFill>
                <a:latin typeface="Calibri"/>
              </a:rPr>
              <a:t>Qonunda ko‘zda tutilgan</a:t>
            </a:r>
          </a:p>
        </p:txBody>
      </p:sp>
      <p:cxnSp>
        <p:nvCxnSpPr>
          <p:cNvPr id="15" name="Connector 14"/>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782824"/>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782824"/>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Jarima</a:t>
            </a:r>
          </a:p>
          <a:p>
            <a:pPr algn="l">
              <a:spcAft>
                <a:spcPts val="0"/>
              </a:spcAft>
            </a:pPr>
            <a:r>
              <a:rPr sz="1200" b="0">
                <a:solidFill>
                  <a:srgbClr val="1F2937"/>
                </a:solidFill>
                <a:latin typeface="Calibri"/>
              </a:rPr>
              <a:t>Oylik ish haqining ≤30 foizi  ·  Alohida qilmishlarda 50 foizgacha</a:t>
            </a:r>
          </a:p>
        </p:txBody>
      </p:sp>
      <p:cxnSp>
        <p:nvCxnSpPr>
          <p:cNvPr id="18" name="Connector 17"/>
          <p:cNvCxnSpPr/>
          <p:nvPr/>
        </p:nvCxnSpPr>
        <p:spPr>
          <a:xfrm>
            <a:off x="7612380" y="47945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4148328"/>
            <a:ext cx="3779215" cy="1292352"/>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4148328"/>
            <a:ext cx="3779215" cy="1292352"/>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Shartnomani bekor qilish</a:t>
            </a:r>
          </a:p>
          <a:p>
            <a:pPr algn="l">
              <a:spcAft>
                <a:spcPts val="0"/>
              </a:spcAft>
            </a:pPr>
            <a:r>
              <a:rPr sz="1200" b="0">
                <a:solidFill>
                  <a:srgbClr val="1F2937"/>
                </a:solidFill>
                <a:latin typeface="Calibri"/>
              </a:rPr>
              <a:t>Jazo turi sifatida</a:t>
            </a:r>
          </a:p>
        </p:txBody>
      </p:sp>
      <p:sp>
        <p:nvSpPr>
          <p:cNvPr id="21" name="TextBox 20"/>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Uch jazo turi</a:t>
            </a:r>
          </a:p>
        </p:txBody>
      </p:sp>
      <p:sp>
        <p:nvSpPr>
          <p:cNvPr id="22" name="TextBox 21"/>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Intizomiy jazoni qo‘llash tartibi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Jazo qilmish aniqlangandan 1 oy ichida qo‘llanadi; xodimning bemorlik va ta’til davri bu muddatga kirmaydi.</a:t>
            </a:r>
          </a:p>
          <a:p>
            <a:pPr>
              <a:spcAft>
                <a:spcPts val="800"/>
              </a:spcAft>
            </a:pPr>
            <a:r>
              <a:rPr sz="1800">
                <a:solidFill>
                  <a:srgbClr val="1F2937"/>
                </a:solidFill>
                <a:latin typeface="Calibri"/>
              </a:rPr>
              <a:t>▸  Qilmishdan 6 oy, taftishda aniqlansa 2 yil o‘tgach jazo qo‘llab bo‘lmaydi.</a:t>
            </a:r>
          </a:p>
          <a:p>
            <a:pPr>
              <a:spcAft>
                <a:spcPts val="800"/>
              </a:spcAft>
            </a:pPr>
            <a:r>
              <a:rPr sz="1800">
                <a:solidFill>
                  <a:srgbClr val="1F2937"/>
                </a:solidFill>
                <a:latin typeface="Calibri"/>
              </a:rPr>
              <a:t>▸  Tushuntirish xatidan bosh tortish jazoga to‘siq emas; jazoni muddatdan oldin bekor qilish mumkin.</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Qilmish aniqlanadi</a:t>
            </a:r>
          </a:p>
          <a:p>
            <a:pPr algn="l">
              <a:spcAft>
                <a:spcPts val="200"/>
              </a:spcAft>
            </a:pPr>
            <a:r>
              <a:rPr sz="1400" b="0">
                <a:solidFill>
                  <a:srgbClr val="1F2937"/>
                </a:solidFill>
                <a:latin typeface="Calibri"/>
              </a:rPr>
              <a:t>Jazo 1 oy ichida qo‘llanadi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Tushuntirish xati</a:t>
            </a:r>
          </a:p>
          <a:p>
            <a:pPr algn="l">
              <a:spcAft>
                <a:spcPts val="200"/>
              </a:spcAft>
            </a:pPr>
            <a:r>
              <a:rPr sz="1400" b="0">
                <a:solidFill>
                  <a:srgbClr val="1F2937"/>
                </a:solidFill>
                <a:latin typeface="Calibri"/>
              </a:rPr>
              <a:t>Yozma talab qilinadi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Bitta jazo</a:t>
            </a:r>
          </a:p>
          <a:p>
            <a:pPr algn="l">
              <a:spcAft>
                <a:spcPts val="200"/>
              </a:spcAft>
            </a:pPr>
            <a:r>
              <a:rPr sz="1400" b="0">
                <a:solidFill>
                  <a:srgbClr val="1F2937"/>
                </a:solidFill>
                <a:latin typeface="Calibri"/>
              </a:rPr>
              <a:t>Bitta qilmishga bitta jazo</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Buyruq</a:t>
            </a:r>
          </a:p>
          <a:p>
            <a:pPr algn="l">
              <a:spcAft>
                <a:spcPts val="200"/>
              </a:spcAft>
            </a:pPr>
            <a:r>
              <a:rPr sz="1400" b="0">
                <a:solidFill>
                  <a:srgbClr val="1F2937"/>
                </a:solidFill>
                <a:latin typeface="Calibri"/>
              </a:rPr>
              <a:t>Buyruq bilan e’lon qilinadi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Amal qilishi</a:t>
            </a:r>
          </a:p>
          <a:p>
            <a:pPr algn="l">
              <a:spcAft>
                <a:spcPts val="200"/>
              </a:spcAft>
            </a:pPr>
            <a:r>
              <a:rPr sz="1400" b="0">
                <a:solidFill>
                  <a:srgbClr val="1F2937"/>
                </a:solidFill>
                <a:latin typeface="Calibri"/>
              </a:rPr>
              <a:t>Jazo 1 yil amal qiladi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Jazo qo‘llash zanjiri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 bekor qilish va intizomiy jazo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xodim o‘z tashabbusi bilan shartnomani bekor qilmoqchi bo‘lsa, ish beruvchini qancha muddat oldin ogohlantiradi?</a:t>
            </a:r>
          </a:p>
          <a:p>
            <a:pPr>
              <a:spcAft>
                <a:spcPts val="1200"/>
              </a:spcAft>
            </a:pPr>
            <a:r>
              <a:rPr sz="2200">
                <a:solidFill>
                  <a:srgbClr val="1F2937"/>
                </a:solidFill>
                <a:latin typeface="Calibri"/>
              </a:rPr>
              <a:t>▸  Savol 2: intizomiy jazo qilmish aniqlangandan keyin qancha muddatda qo‘llanishi mumkin?</a:t>
            </a:r>
          </a:p>
          <a:p>
            <a:pPr>
              <a:spcAft>
                <a:spcPts val="1200"/>
              </a:spcAft>
            </a:pPr>
            <a:r>
              <a:rPr sz="2200">
                <a:solidFill>
                  <a:srgbClr val="1F2937"/>
                </a:solidFill>
                <a:latin typeface="Calibri"/>
              </a:rPr>
              <a:t>▸  Javob: 1) ikki hafta oldin yozma ogohlantirish bilan; 2) bir oy ichida (bemorlik va ta’til davri kirmaydi).</a:t>
            </a:r>
          </a:p>
          <a:p>
            <a:pPr>
              <a:spcAft>
                <a:spcPts val="1200"/>
              </a:spcAft>
            </a:pPr>
            <a:r>
              <a:rPr sz="2200">
                <a:solidFill>
                  <a:srgbClr val="1F2937"/>
                </a:solidFill>
                <a:latin typeface="Calibri"/>
              </a:rPr>
              <a:t>▸  Diqqat: xodim tashabbusida ogohlantirish 2 hafta; ish beruvchi shtat qisqarishi sababli bekor qilsa, kamida 2 oy oldin.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87, 90, 89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intizomiy jazo</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tibbiy xodim mehnat intizomini buzdi va tushuntirish xatini berishdan bosh tortdi. Savol: jazo qo‘llash mumkinmi va qanday tartibda?</a:t>
            </a:r>
          </a:p>
          <a:p>
            <a:pPr>
              <a:spcAft>
                <a:spcPts val="1200"/>
              </a:spcAft>
            </a:pPr>
            <a:r>
              <a:rPr sz="2200">
                <a:solidFill>
                  <a:srgbClr val="1F2937"/>
                </a:solidFill>
                <a:latin typeface="Calibri"/>
              </a:rPr>
              <a:t>▸  Intizomiy jazo qilmish aniqlangandan bir oy ichida qo‘llanadi. Xodimning kasallik yoki mehnat ta’tilida bo‘lgan vaqti bu muddatga kirmaydi.</a:t>
            </a:r>
          </a:p>
          <a:p>
            <a:pPr>
              <a:spcAft>
                <a:spcPts val="1200"/>
              </a:spcAft>
            </a:pPr>
            <a:r>
              <a:rPr sz="2200">
                <a:solidFill>
                  <a:srgbClr val="1F2937"/>
                </a:solidFill>
                <a:latin typeface="Calibri"/>
              </a:rPr>
              <a:t>▸  Jazodan oldin xodimdan yozma tushuntirish xati talab qilinadi. Xat berishdan bosh tortish jazo qo‘llashga to‘siq bo‘lmaydi.</a:t>
            </a:r>
          </a:p>
          <a:p>
            <a:pPr>
              <a:spcAft>
                <a:spcPts val="1200"/>
              </a:spcAft>
            </a:pPr>
            <a:r>
              <a:rPr sz="2200">
                <a:solidFill>
                  <a:srgbClr val="1F2937"/>
                </a:solidFill>
                <a:latin typeface="Calibri"/>
              </a:rPr>
              <a:t>▸  Har bir huquqbuzarlikka faqat bitta intizomiy jazo qo‘llanadi. Xodimning jazoga tortilgani buyruq bilan e’lon qilinadi.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Ma’muriy qonunchilik va huquqbuzarlik tushunchasi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Qonunchilik fuqarolar huquqlarini mustahkamlaydi, buzganlik uchun javobgarlik va jazo tartibini belgilaydi.</a:t>
            </a:r>
          </a:p>
          <a:p>
            <a:pPr>
              <a:spcAft>
                <a:spcPts val="800"/>
              </a:spcAft>
            </a:pPr>
            <a:r>
              <a:rPr sz="1800">
                <a:solidFill>
                  <a:srgbClr val="1F2937"/>
                </a:solidFill>
                <a:latin typeface="Calibri"/>
              </a:rPr>
              <a:t>▸  Ma’muriy huquqbuzarlik — aybli, g‘ayrihuquqiy harakat yoki harakatsizlik; jamiyat uchun xavfli emas.</a:t>
            </a:r>
          </a:p>
          <a:p>
            <a:pPr>
              <a:spcAft>
                <a:spcPts val="800"/>
              </a:spcAft>
            </a:pPr>
            <a:r>
              <a:rPr sz="1800">
                <a:solidFill>
                  <a:srgbClr val="1F2937"/>
                </a:solidFill>
                <a:latin typeface="Calibri"/>
              </a:rPr>
              <a:t>▸  Ahamiyati, oqibati og‘ir yoki soni ko‘p bo‘lsa, qilmish jinoyat deb baholanishi mumkin.</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Ma’muriy huquqbuzarlik</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Ijtimoiy xavf alomatini tutmaydi</a:t>
            </a:r>
          </a:p>
          <a:p>
            <a:pPr algn="l">
              <a:spcAft>
                <a:spcPts val="700"/>
              </a:spcAft>
            </a:pPr>
            <a:r>
              <a:rPr sz="1500" b="1">
                <a:solidFill>
                  <a:srgbClr val="C9A227"/>
                </a:solidFill>
                <a:latin typeface="Calibri"/>
              </a:rPr>
              <a:t>●  </a:t>
            </a:r>
            <a:r>
              <a:rPr sz="1500" b="0">
                <a:solidFill>
                  <a:srgbClr val="1F2937"/>
                </a:solidFill>
                <a:latin typeface="Calibri"/>
              </a:rPr>
              <a:t>Ma’muriy javobgarlik</a:t>
            </a:r>
          </a:p>
          <a:p>
            <a:pPr algn="l">
              <a:spcAft>
                <a:spcPts val="700"/>
              </a:spcAft>
            </a:pPr>
            <a:r>
              <a:rPr sz="1500" b="1">
                <a:solidFill>
                  <a:srgbClr val="C9A227"/>
                </a:solidFill>
                <a:latin typeface="Calibri"/>
              </a:rPr>
              <a:t>●  </a:t>
            </a:r>
            <a:r>
              <a:rPr sz="1500" b="0">
                <a:solidFill>
                  <a:srgbClr val="1F2937"/>
                </a:solidFill>
                <a:latin typeface="Calibri"/>
              </a:rPr>
              <a:t>Misol: sanitariya qoidalari buzilishi</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Jinoyat</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Ijtimoiy xavf alomatlari bor</a:t>
            </a:r>
          </a:p>
          <a:p>
            <a:pPr algn="l">
              <a:spcAft>
                <a:spcPts val="700"/>
              </a:spcAft>
            </a:pPr>
            <a:r>
              <a:rPr sz="1500" b="1">
                <a:solidFill>
                  <a:srgbClr val="C9A227"/>
                </a:solidFill>
                <a:latin typeface="Calibri"/>
              </a:rPr>
              <a:t>●  </a:t>
            </a:r>
            <a:r>
              <a:rPr sz="1500" b="0">
                <a:solidFill>
                  <a:srgbClr val="1F2937"/>
                </a:solidFill>
                <a:latin typeface="Calibri"/>
              </a:rPr>
              <a:t>Jinoiy javobgarlik</a:t>
            </a:r>
          </a:p>
          <a:p>
            <a:pPr algn="l">
              <a:spcAft>
                <a:spcPts val="700"/>
              </a:spcAft>
            </a:pPr>
            <a:r>
              <a:rPr sz="1500" b="1">
                <a:solidFill>
                  <a:srgbClr val="C9A227"/>
                </a:solidFill>
                <a:latin typeface="Calibri"/>
              </a:rPr>
              <a:t>●  </a:t>
            </a:r>
            <a:r>
              <a:rPr sz="1500" b="0">
                <a:solidFill>
                  <a:srgbClr val="1F2937"/>
                </a:solidFill>
                <a:latin typeface="Calibri"/>
              </a:rPr>
              <a:t>Misol: xavf yuzaga kelsa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G‘ayrihuquqiy, aybli qilmish — umumiy belgi</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92, 93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Ayb shakllari, oxirgi zarurat va javobgarlik yoshi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Qasddan: oqibatni ko‘rib, istagan yoki ongli yo‘l qo‘ygan. Ehtiyotsizlik: yengiltaklik bilan oldini olaman deb o‘ylagan yoki oldindan ko‘rishi lozim edi.</a:t>
            </a:r>
          </a:p>
          <a:p>
            <a:pPr>
              <a:spcAft>
                <a:spcPts val="1200"/>
              </a:spcAft>
            </a:pPr>
            <a:r>
              <a:rPr sz="2200">
                <a:solidFill>
                  <a:srgbClr val="1F2937"/>
                </a:solidFill>
                <a:latin typeface="Calibri"/>
              </a:rPr>
              <a:t>▸  Xavfni boshqacha bartaraf etib bo‘lmasa va etkazilgan zarar bartaraf etilgan zarardan kam bo‘lsa, harakat ma’muriy huquqbuzarlik hisoblanmaydi.</a:t>
            </a:r>
          </a:p>
          <a:p>
            <a:pPr>
              <a:spcAft>
                <a:spcPts val="1200"/>
              </a:spcAft>
            </a:pPr>
            <a:r>
              <a:rPr sz="2200">
                <a:solidFill>
                  <a:srgbClr val="1F2937"/>
                </a:solidFill>
                <a:latin typeface="Calibri"/>
              </a:rPr>
              <a:t>▸  Huquqbuzarlik paytida 16 yoshga to‘lmagan shaxs javobgarlikka tortilmaydi. Kam ahamiyatli holatda organ ogohlantirish bilan kifoyalanishi mumkin.</a:t>
            </a:r>
          </a:p>
          <a:p>
            <a:pPr>
              <a:spcAft>
                <a:spcPts val="1200"/>
              </a:spcAft>
            </a:pPr>
            <a:r>
              <a:rPr sz="2200">
                <a:solidFill>
                  <a:srgbClr val="1F2937"/>
                </a:solidFill>
                <a:latin typeface="Calibri"/>
              </a:rPr>
              <a:t>▸  Diqqat: ma’muriy huquqbuzarlik ≠ jinoyat. Birinchisida ijtimoiy xavf alomati yo‘q, jinoiy javobgarlik kelib chiqmaydi.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93, 93-94, 94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Ma’muriy jazo turlari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Ma’muriy javobgarlik to‘g‘risidagi kodeksning (MJhK) 23-moddasida beshta jazo turi sanalgan.</a:t>
            </a:r>
          </a:p>
          <a:p>
            <a:pPr>
              <a:spcAft>
                <a:spcPts val="800"/>
              </a:spcAft>
            </a:pPr>
            <a:r>
              <a:rPr sz="1800">
                <a:solidFill>
                  <a:srgbClr val="1F2937"/>
                </a:solidFill>
                <a:latin typeface="Calibri"/>
              </a:rPr>
              <a:t>▸  Asosiy yoki asosiy va qo‘shimcha jazo belgilanadi; olib qo‘yish va musodara ikkalasi bo‘lishi mumkin.</a:t>
            </a:r>
          </a:p>
          <a:p>
            <a:pPr>
              <a:spcAft>
                <a:spcPts val="800"/>
              </a:spcAft>
            </a:pPr>
            <a:r>
              <a:rPr sz="1800">
                <a:solidFill>
                  <a:srgbClr val="1F2937"/>
                </a:solidFill>
                <a:latin typeface="Calibri"/>
              </a:rPr>
              <a:t>▸  Tibbiy xodimlarning kasbiy huquqbuzarliklarida aksariyat hollarda jarima belgilanadi.</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Ma’muriy jazo (MJhK 23)</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Jarima</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Haq to‘lab olib qo‘yish</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Musodara</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Maxsus huquqdan mahrum</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500" b="1">
                <a:solidFill>
                  <a:srgbClr val="0B1F3A"/>
                </a:solidFill>
                <a:latin typeface="Calibri"/>
              </a:rPr>
              <a:t>Ma’muriy qamoq</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Beshta jazo turi</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Jarima miqdori: fuqaro va mansabdor shaxs</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Jarima eng kam oylik ish haqidan hisoblanadi; huquqbuzarlik sodir etilgan vaqtdagi miqdor olinadi.</a:t>
            </a:r>
          </a:p>
          <a:p>
            <a:pPr>
              <a:spcAft>
                <a:spcPts val="800"/>
              </a:spcAft>
            </a:pPr>
            <a:r>
              <a:rPr sz="1800">
                <a:solidFill>
                  <a:srgbClr val="1F2937"/>
                </a:solidFill>
                <a:latin typeface="Calibri"/>
              </a:rPr>
              <a:t>▸  Davom etayotgan huquqbuzarlikda huquqbuzarlik aniqlangan vaqtdagi eng kam ish haqi asos bo‘ladi.</a:t>
            </a:r>
          </a:p>
          <a:p>
            <a:pPr>
              <a:spcAft>
                <a:spcPts val="800"/>
              </a:spcAft>
            </a:pPr>
            <a:r>
              <a:rPr sz="1800">
                <a:solidFill>
                  <a:srgbClr val="1F2937"/>
                </a:solidFill>
                <a:latin typeface="Calibri"/>
              </a:rPr>
              <a:t>▸  Jarima davlat hisobiga pul undirishdir; fuqaro va mansabdor shaxs uchun miqdori farqlanadi.</a:t>
            </a:r>
          </a:p>
        </p:txBody>
      </p:sp>
      <p:sp>
        <p:nvSpPr>
          <p:cNvPr id="9" name="Rounded Rectangle 8"/>
          <p:cNvSpPr/>
          <p:nvPr/>
        </p:nvSpPr>
        <p:spPr>
          <a:xfrm>
            <a:off x="5440680" y="1417320"/>
            <a:ext cx="2986887" cy="54864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Fuqaro</a:t>
            </a:r>
          </a:p>
        </p:txBody>
      </p:sp>
      <p:sp>
        <p:nvSpPr>
          <p:cNvPr id="10" name="Rectangle 9"/>
          <p:cNvSpPr/>
          <p:nvPr/>
        </p:nvSpPr>
        <p:spPr>
          <a:xfrm>
            <a:off x="5440680"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Eng kam: 1/50 qismdan kam emas</a:t>
            </a:r>
          </a:p>
          <a:p>
            <a:pPr algn="l">
              <a:spcAft>
                <a:spcPts val="700"/>
              </a:spcAft>
            </a:pPr>
            <a:r>
              <a:rPr sz="1500" b="1">
                <a:solidFill>
                  <a:srgbClr val="C9A227"/>
                </a:solidFill>
                <a:latin typeface="Calibri"/>
              </a:rPr>
              <a:t>●  </a:t>
            </a:r>
            <a:r>
              <a:rPr sz="1500" b="0">
                <a:solidFill>
                  <a:srgbClr val="1F2937"/>
                </a:solidFill>
                <a:latin typeface="Calibri"/>
              </a:rPr>
              <a:t>Eng ko‘p: 5 baravardan oshmaydi</a:t>
            </a:r>
          </a:p>
          <a:p>
            <a:pPr algn="l">
              <a:spcAft>
                <a:spcPts val="700"/>
              </a:spcAft>
            </a:pPr>
            <a:r>
              <a:rPr sz="1500" b="1">
                <a:solidFill>
                  <a:srgbClr val="C9A227"/>
                </a:solidFill>
                <a:latin typeface="Calibri"/>
              </a:rPr>
              <a:t>●  </a:t>
            </a:r>
            <a:r>
              <a:rPr sz="1500" b="0">
                <a:solidFill>
                  <a:srgbClr val="1F2937"/>
                </a:solidFill>
                <a:latin typeface="Calibri"/>
              </a:rPr>
              <a:t>Istisno: 100 baravargacha</a:t>
            </a:r>
          </a:p>
          <a:p>
            <a:pPr algn="l">
              <a:spcAft>
                <a:spcPts val="700"/>
              </a:spcAft>
            </a:pPr>
            <a:r>
              <a:rPr sz="1500" b="1">
                <a:solidFill>
                  <a:srgbClr val="C9A227"/>
                </a:solidFill>
                <a:latin typeface="Calibri"/>
              </a:rPr>
              <a:t>●  </a:t>
            </a:r>
            <a:r>
              <a:rPr sz="1500" b="0">
                <a:solidFill>
                  <a:srgbClr val="1F2937"/>
                </a:solidFill>
                <a:latin typeface="Calibri"/>
              </a:rPr>
              <a:t>Mahalliy qaror: 3 baravargacha</a:t>
            </a:r>
          </a:p>
        </p:txBody>
      </p:sp>
      <p:sp>
        <p:nvSpPr>
          <p:cNvPr id="11" name="Rounded Rectangle 10"/>
          <p:cNvSpPr/>
          <p:nvPr/>
        </p:nvSpPr>
        <p:spPr>
          <a:xfrm>
            <a:off x="8564727" y="1417320"/>
            <a:ext cx="2986887" cy="548640"/>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600" b="1">
                <a:solidFill>
                  <a:srgbClr val="FFFFFF"/>
                </a:solidFill>
                <a:latin typeface="Calibri"/>
              </a:rPr>
              <a:t>Mansabdor shaxs</a:t>
            </a:r>
          </a:p>
        </p:txBody>
      </p:sp>
      <p:sp>
        <p:nvSpPr>
          <p:cNvPr id="12" name="Rectangle 11"/>
          <p:cNvSpPr/>
          <p:nvPr/>
        </p:nvSpPr>
        <p:spPr>
          <a:xfrm>
            <a:off x="8564727" y="2020824"/>
            <a:ext cx="2986887" cy="3419856"/>
          </a:xfrm>
          <a:prstGeom prst="rect">
            <a:avLst/>
          </a:prstGeom>
          <a:solidFill>
            <a:srgbClr val="E8EEF6"/>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t" wrap="square" tIns="36576" bIns="36576"/>
          <a:lstStyle/>
          <a:p>
            <a:pPr algn="l">
              <a:spcAft>
                <a:spcPts val="700"/>
              </a:spcAft>
            </a:pPr>
            <a:r>
              <a:rPr sz="1500" b="1">
                <a:solidFill>
                  <a:srgbClr val="C9A227"/>
                </a:solidFill>
                <a:latin typeface="Calibri"/>
              </a:rPr>
              <a:t>●  </a:t>
            </a:r>
            <a:r>
              <a:rPr sz="1500" b="0">
                <a:solidFill>
                  <a:srgbClr val="1F2937"/>
                </a:solidFill>
                <a:latin typeface="Calibri"/>
              </a:rPr>
              <a:t>Eng kam: 1/10 qismdan kam emas</a:t>
            </a:r>
          </a:p>
          <a:p>
            <a:pPr algn="l">
              <a:spcAft>
                <a:spcPts val="700"/>
              </a:spcAft>
            </a:pPr>
            <a:r>
              <a:rPr sz="1500" b="1">
                <a:solidFill>
                  <a:srgbClr val="C9A227"/>
                </a:solidFill>
                <a:latin typeface="Calibri"/>
              </a:rPr>
              <a:t>●  </a:t>
            </a:r>
            <a:r>
              <a:rPr sz="1500" b="0">
                <a:solidFill>
                  <a:srgbClr val="1F2937"/>
                </a:solidFill>
                <a:latin typeface="Calibri"/>
              </a:rPr>
              <a:t>Eng ko‘p: 10 baravardan oshmaydi</a:t>
            </a:r>
          </a:p>
          <a:p>
            <a:pPr algn="l">
              <a:spcAft>
                <a:spcPts val="700"/>
              </a:spcAft>
            </a:pPr>
            <a:r>
              <a:rPr sz="1500" b="1">
                <a:solidFill>
                  <a:srgbClr val="C9A227"/>
                </a:solidFill>
                <a:latin typeface="Calibri"/>
              </a:rPr>
              <a:t>●  </a:t>
            </a:r>
            <a:r>
              <a:rPr sz="1500" b="0">
                <a:solidFill>
                  <a:srgbClr val="1F2937"/>
                </a:solidFill>
                <a:latin typeface="Calibri"/>
              </a:rPr>
              <a:t>Istisno: 150 baravargacha</a:t>
            </a:r>
          </a:p>
          <a:p>
            <a:pPr algn="l">
              <a:spcAft>
                <a:spcPts val="700"/>
              </a:spcAft>
            </a:pPr>
            <a:r>
              <a:rPr sz="1500" b="1">
                <a:solidFill>
                  <a:srgbClr val="C9A227"/>
                </a:solidFill>
                <a:latin typeface="Calibri"/>
              </a:rPr>
              <a:t>●  </a:t>
            </a:r>
            <a:r>
              <a:rPr sz="1500" b="0">
                <a:solidFill>
                  <a:srgbClr val="1F2937"/>
                </a:solidFill>
                <a:latin typeface="Calibri"/>
              </a:rPr>
              <a:t>Mahalliy qaror: 5 baravargacha</a:t>
            </a:r>
          </a:p>
        </p:txBody>
      </p:sp>
      <p:sp>
        <p:nvSpPr>
          <p:cNvPr id="13" name="TextBox 12"/>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Eng kam ish haqiga nisbatan</a:t>
            </a:r>
          </a:p>
        </p:txBody>
      </p:sp>
      <p:sp>
        <p:nvSpPr>
          <p:cNvPr id="14" name="TextBox 13"/>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95</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Ma’muriy jazo qo‘llash muddatlari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Jazo huquqbuzarlik sodir etilgan kundan, davom etayotgan bo‘lsa aniqlangan kundan 2 oy ichida qo‘llanadi.</a:t>
            </a:r>
          </a:p>
          <a:p>
            <a:pPr>
              <a:spcAft>
                <a:spcPts val="800"/>
              </a:spcAft>
            </a:pPr>
            <a:r>
              <a:rPr sz="1800">
                <a:solidFill>
                  <a:srgbClr val="1F2937"/>
                </a:solidFill>
                <a:latin typeface="Calibri"/>
              </a:rPr>
              <a:t>▸  Jinoyat ishi qo‘zg‘atish rad etilsa yoki ish to‘xtatilsa, qaror kunidan 1 oy ichida qo‘llanadi.</a:t>
            </a:r>
          </a:p>
          <a:p>
            <a:pPr>
              <a:spcAft>
                <a:spcPts val="800"/>
              </a:spcAft>
            </a:pPr>
            <a:r>
              <a:rPr sz="1800">
                <a:solidFill>
                  <a:srgbClr val="1F2937"/>
                </a:solidFill>
                <a:latin typeface="Calibri"/>
              </a:rPr>
              <a:t>▸  Musodara qarorini tuman (shahar) sudining ma’muriy ishlar sudyasi, soliq va bojxona idoralari chiqaradi.</a:t>
            </a:r>
          </a:p>
        </p:txBody>
      </p:sp>
      <p:sp>
        <p:nvSpPr>
          <p:cNvPr id="9" name="Rounded Rectangle 8"/>
          <p:cNvSpPr/>
          <p:nvPr/>
        </p:nvSpPr>
        <p:spPr>
          <a:xfrm>
            <a:off x="5440680"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40680"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50408"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Sodir etilgan kundan</a:t>
            </a:r>
          </a:p>
          <a:p>
            <a:pPr algn="l">
              <a:spcAft>
                <a:spcPts val="100"/>
              </a:spcAft>
            </a:pPr>
            <a:r>
              <a:rPr sz="3000" b="1">
                <a:solidFill>
                  <a:srgbClr val="0B1F3A"/>
                </a:solidFill>
                <a:latin typeface="Calibri"/>
              </a:rPr>
              <a:t>2</a:t>
            </a:r>
            <a:r>
              <a:rPr sz="1500" b="0">
                <a:solidFill>
                  <a:srgbClr val="6B7280"/>
                </a:solidFill>
                <a:latin typeface="Calibri"/>
              </a:rPr>
              <a:t>  oy</a:t>
            </a:r>
          </a:p>
        </p:txBody>
      </p:sp>
      <p:sp>
        <p:nvSpPr>
          <p:cNvPr id="12" name="Rounded Rectangle 11"/>
          <p:cNvSpPr/>
          <p:nvPr/>
        </p:nvSpPr>
        <p:spPr>
          <a:xfrm>
            <a:off x="7532522"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532522"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642250"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Aniqlangan kundan</a:t>
            </a:r>
          </a:p>
          <a:p>
            <a:pPr algn="l">
              <a:spcAft>
                <a:spcPts val="100"/>
              </a:spcAft>
            </a:pPr>
            <a:r>
              <a:rPr sz="3000" b="1">
                <a:solidFill>
                  <a:srgbClr val="0B1F3A"/>
                </a:solidFill>
                <a:latin typeface="Calibri"/>
              </a:rPr>
              <a:t>2</a:t>
            </a:r>
            <a:r>
              <a:rPr sz="1500" b="0">
                <a:solidFill>
                  <a:srgbClr val="6B7280"/>
                </a:solidFill>
                <a:latin typeface="Calibri"/>
              </a:rPr>
              <a:t>  oy</a:t>
            </a:r>
          </a:p>
        </p:txBody>
      </p:sp>
      <p:sp>
        <p:nvSpPr>
          <p:cNvPr id="15" name="Rounded Rectangle 14"/>
          <p:cNvSpPr/>
          <p:nvPr/>
        </p:nvSpPr>
        <p:spPr>
          <a:xfrm>
            <a:off x="9624364" y="1417320"/>
            <a:ext cx="1927250" cy="1554480"/>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624364" y="1508760"/>
            <a:ext cx="64008" cy="13716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34092" y="1417320"/>
            <a:ext cx="1817522" cy="1554480"/>
          </a:xfrm>
          <a:prstGeom prst="rect">
            <a:avLst/>
          </a:prstGeom>
          <a:noFill/>
        </p:spPr>
        <p:txBody>
          <a:bodyPr wrap="square" anchor="ctr" tIns="36576" bIns="36576">
            <a:spAutoFit/>
          </a:bodyPr>
          <a:lstStyle/>
          <a:p>
            <a:pPr algn="l">
              <a:spcAft>
                <a:spcPts val="100"/>
              </a:spcAft>
            </a:pPr>
            <a:r>
              <a:rPr sz="1300" b="0">
                <a:solidFill>
                  <a:srgbClr val="6B7280"/>
                </a:solidFill>
                <a:latin typeface="Calibri"/>
              </a:rPr>
              <a:t>Ish rad etilganda</a:t>
            </a:r>
          </a:p>
          <a:p>
            <a:pPr algn="l">
              <a:spcAft>
                <a:spcPts val="100"/>
              </a:spcAft>
            </a:pPr>
            <a:r>
              <a:rPr sz="3000" b="1">
                <a:solidFill>
                  <a:srgbClr val="0B1F3A"/>
                </a:solidFill>
                <a:latin typeface="Calibri"/>
              </a:rPr>
              <a:t>1</a:t>
            </a:r>
            <a:r>
              <a:rPr sz="1500" b="0">
                <a:solidFill>
                  <a:srgbClr val="6B7280"/>
                </a:solidFill>
                <a:latin typeface="Calibri"/>
              </a:rPr>
              <a:t>  oy</a:t>
            </a:r>
          </a:p>
        </p:txBody>
      </p:sp>
      <p:sp>
        <p:nvSpPr>
          <p:cNvPr id="18" name="TextBox 17"/>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Jazo qo‘llash muddatlari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4: ma’muriy javobgarlik asoslari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1: ma’muriy javobgarlik qaysi yoshdan boshlanadi? Javob: huquqbuzarlik paytida 16 yoshga to‘lmagan shaxs javobgarlikka tortilmaydi.</a:t>
            </a:r>
          </a:p>
          <a:p>
            <a:pPr>
              <a:spcAft>
                <a:spcPts val="1200"/>
              </a:spcAft>
            </a:pPr>
            <a:r>
              <a:rPr sz="2200">
                <a:solidFill>
                  <a:srgbClr val="1F2937"/>
                </a:solidFill>
                <a:latin typeface="Calibri"/>
              </a:rPr>
              <a:t>▸  Savol 2: tibbiy xodimlarning kasb huquqbuzarliklarida ko‘proq qaysi jazo qo‘llanadi? Javob: aksariyat holatlarda jarima.</a:t>
            </a:r>
          </a:p>
          <a:p>
            <a:pPr>
              <a:spcAft>
                <a:spcPts val="1200"/>
              </a:spcAft>
            </a:pPr>
            <a:r>
              <a:rPr sz="2200">
                <a:solidFill>
                  <a:srgbClr val="1F2937"/>
                </a:solidFill>
                <a:latin typeface="Calibri"/>
              </a:rPr>
              <a:t>▸  Huquqbuzarlik kam ahamiyatli bo‘lsa, ishni ko‘ruvchi organ javobgarlikdan ozod qilib, ogohlantirish bilan cheklanishi mumkin.</a:t>
            </a:r>
          </a:p>
          <a:p>
            <a:pPr>
              <a:spcAft>
                <a:spcPts val="1200"/>
              </a:spcAft>
            </a:pPr>
            <a:r>
              <a:rPr sz="2200">
                <a:solidFill>
                  <a:srgbClr val="1F2937"/>
                </a:solidFill>
                <a:latin typeface="Calibri"/>
              </a:rPr>
              <a:t>▸  Diqqat: xato qilish xavfi. Ma’muriy huquqbuzarlik ≠ jinoyat. Ammo oqibati og‘ir bo‘lsa, ayrim huquqbuzarlik jinoyat deb baholanishi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94, 93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Ishni ko‘rib chiqadigan organlar va ekspertiza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Ishlarni tuman (shahar) sudining ma’muriy ishlar bo‘yicha sudyasi va xo‘jalik sudlari ko‘rib chiqadi.</a:t>
            </a:r>
          </a:p>
          <a:p>
            <a:pPr>
              <a:spcAft>
                <a:spcPts val="1200"/>
              </a:spcAft>
            </a:pPr>
            <a:r>
              <a:rPr sz="2200">
                <a:solidFill>
                  <a:srgbClr val="1F2937"/>
                </a:solidFill>
                <a:latin typeface="Calibri"/>
              </a:rPr>
              <a:t>▸  Shuningdek, o‘zini o‘zi boshqarish organlari qoshidagi ma’muriy komissiyalar va voyaga etmaganlar ishlari bo‘yicha komissiyalar ko‘radi.</a:t>
            </a:r>
          </a:p>
          <a:p>
            <a:pPr>
              <a:spcAft>
                <a:spcPts val="1200"/>
              </a:spcAft>
            </a:pPr>
            <a:r>
              <a:rPr sz="2200">
                <a:solidFill>
                  <a:srgbClr val="1F2937"/>
                </a:solidFill>
                <a:latin typeface="Calibri"/>
              </a:rPr>
              <a:t>▸  Ichki ishlar va davlat inspeksiyasi organlari ham ko‘radi. Ular qatorida Davlat sanitariya nazorati va mehnat bo‘yicha inspektorlar bor.</a:t>
            </a:r>
          </a:p>
          <a:p>
            <a:pPr>
              <a:spcAft>
                <a:spcPts val="1200"/>
              </a:spcAft>
            </a:pPr>
            <a:r>
              <a:rPr sz="2200">
                <a:solidFill>
                  <a:srgbClr val="1F2937"/>
                </a:solidFill>
                <a:latin typeface="Calibri"/>
              </a:rPr>
              <a:t>▸  Maxsus bilim kerak bo‘lsa, ishni yuritayotgan organ ekspertiza tayinlaydi. Uning qoidalari jinoiy va fuqaroviy ishlardagi kabi.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96, 96-97, 99</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Bayonnoma tuzish va shaxsning huquqlari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800">
                <a:solidFill>
                  <a:srgbClr val="1F2937"/>
                </a:solidFill>
                <a:latin typeface="Calibri"/>
              </a:rPr>
              <a:t>▸  Bayonnomada sana, joy, huquqbuzarlik mohiyati, me’yoriy hujjat va tushuntirish xati ko‘rsatiladi.</a:t>
            </a:r>
          </a:p>
          <a:p>
            <a:pPr>
              <a:spcAft>
                <a:spcPts val="800"/>
              </a:spcAft>
            </a:pPr>
            <a:r>
              <a:rPr sz="1800">
                <a:solidFill>
                  <a:srgbClr val="1F2937"/>
                </a:solidFill>
                <a:latin typeface="Calibri"/>
              </a:rPr>
              <a:t>▸  Shaxs ishni o‘rganadi, advokat va tarjimondan foydalanadi (Ma’muriy javobgarlik kodeksi, 294-modda).</a:t>
            </a:r>
          </a:p>
          <a:p>
            <a:pPr>
              <a:spcAft>
                <a:spcPts val="800"/>
              </a:spcAft>
            </a:pPr>
            <a:r>
              <a:rPr sz="1800">
                <a:solidFill>
                  <a:srgbClr val="1F2937"/>
                </a:solidFill>
                <a:latin typeface="Calibri"/>
              </a:rPr>
              <a:t>▸  Zarar ko‘rgan (jabrlanuvchi) ishda ayblanuvchi bilan bir xil huquqlarga ega bo‘ladi.</a:t>
            </a:r>
          </a:p>
        </p:txBody>
      </p:sp>
      <p:sp>
        <p:nvSpPr>
          <p:cNvPr id="9" name="Rounded Rectangle 8"/>
          <p:cNvSpPr/>
          <p:nvPr/>
        </p:nvSpPr>
        <p:spPr>
          <a:xfrm>
            <a:off x="5440680"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50408"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1</a:t>
            </a:r>
          </a:p>
        </p:txBody>
      </p:sp>
      <p:sp>
        <p:nvSpPr>
          <p:cNvPr id="11" name="TextBox 10"/>
          <p:cNvSpPr txBox="1"/>
          <p:nvPr/>
        </p:nvSpPr>
        <p:spPr>
          <a:xfrm>
            <a:off x="6080760"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Bayonnoma</a:t>
            </a:r>
          </a:p>
          <a:p>
            <a:pPr algn="l">
              <a:spcAft>
                <a:spcPts val="200"/>
              </a:spcAft>
            </a:pPr>
            <a:r>
              <a:rPr sz="1400" b="0">
                <a:solidFill>
                  <a:srgbClr val="1F2937"/>
                </a:solidFill>
                <a:latin typeface="Calibri"/>
              </a:rPr>
              <a:t>Bayonnoma tuziladi</a:t>
            </a:r>
          </a:p>
        </p:txBody>
      </p:sp>
      <p:sp>
        <p:nvSpPr>
          <p:cNvPr id="12" name="Rounded Rectangle 11"/>
          <p:cNvSpPr/>
          <p:nvPr/>
        </p:nvSpPr>
        <p:spPr>
          <a:xfrm>
            <a:off x="8578443" y="1417320"/>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688171" y="1816608"/>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2</a:t>
            </a:r>
          </a:p>
        </p:txBody>
      </p:sp>
      <p:sp>
        <p:nvSpPr>
          <p:cNvPr id="14" name="TextBox 13"/>
          <p:cNvSpPr txBox="1"/>
          <p:nvPr/>
        </p:nvSpPr>
        <p:spPr>
          <a:xfrm>
            <a:off x="9218523" y="1417320"/>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Huquqlar</a:t>
            </a:r>
          </a:p>
          <a:p>
            <a:pPr algn="l">
              <a:spcAft>
                <a:spcPts val="200"/>
              </a:spcAft>
            </a:pPr>
            <a:r>
              <a:rPr sz="1400" b="0">
                <a:solidFill>
                  <a:srgbClr val="1F2937"/>
                </a:solidFill>
                <a:latin typeface="Calibri"/>
              </a:rPr>
              <a:t>Huquqlari tushuntiriladi</a:t>
            </a:r>
          </a:p>
        </p:txBody>
      </p:sp>
      <p:sp>
        <p:nvSpPr>
          <p:cNvPr id="15" name="Rounded Rectangle 14"/>
          <p:cNvSpPr/>
          <p:nvPr/>
        </p:nvSpPr>
        <p:spPr>
          <a:xfrm>
            <a:off x="5440680"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550408"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3</a:t>
            </a:r>
          </a:p>
        </p:txBody>
      </p:sp>
      <p:sp>
        <p:nvSpPr>
          <p:cNvPr id="17" name="TextBox 16"/>
          <p:cNvSpPr txBox="1"/>
          <p:nvPr/>
        </p:nvSpPr>
        <p:spPr>
          <a:xfrm>
            <a:off x="6080760"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Imzo</a:t>
            </a:r>
          </a:p>
          <a:p>
            <a:pPr algn="l">
              <a:spcAft>
                <a:spcPts val="200"/>
              </a:spcAft>
            </a:pPr>
            <a:r>
              <a:rPr sz="1400" b="0">
                <a:solidFill>
                  <a:srgbClr val="1F2937"/>
                </a:solidFill>
                <a:latin typeface="Calibri"/>
              </a:rPr>
              <a:t>Tuzgan, huquqbuzar, guvoh</a:t>
            </a:r>
          </a:p>
        </p:txBody>
      </p:sp>
      <p:sp>
        <p:nvSpPr>
          <p:cNvPr id="18" name="Rounded Rectangle 17"/>
          <p:cNvSpPr/>
          <p:nvPr/>
        </p:nvSpPr>
        <p:spPr>
          <a:xfrm>
            <a:off x="8578443" y="2801112"/>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688171" y="3200400"/>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4</a:t>
            </a:r>
          </a:p>
        </p:txBody>
      </p:sp>
      <p:sp>
        <p:nvSpPr>
          <p:cNvPr id="20" name="TextBox 19"/>
          <p:cNvSpPr txBox="1"/>
          <p:nvPr/>
        </p:nvSpPr>
        <p:spPr>
          <a:xfrm>
            <a:off x="9218523" y="2801112"/>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Imzosiz</a:t>
            </a:r>
          </a:p>
          <a:p>
            <a:pPr algn="l">
              <a:spcAft>
                <a:spcPts val="200"/>
              </a:spcAft>
            </a:pPr>
            <a:r>
              <a:rPr sz="1400" b="0">
                <a:solidFill>
                  <a:srgbClr val="1F2937"/>
                </a:solidFill>
                <a:latin typeface="Calibri"/>
              </a:rPr>
              <a:t>Qayd yoziladi</a:t>
            </a:r>
          </a:p>
        </p:txBody>
      </p:sp>
      <p:sp>
        <p:nvSpPr>
          <p:cNvPr id="21" name="Rounded Rectangle 20"/>
          <p:cNvSpPr/>
          <p:nvPr/>
        </p:nvSpPr>
        <p:spPr>
          <a:xfrm>
            <a:off x="5440680" y="4184904"/>
            <a:ext cx="2973171" cy="1255776"/>
          </a:xfrm>
          <a:prstGeom prst="roundRect">
            <a:avLst>
              <a:gd name="adj" fmla="val 8000"/>
            </a:avLst>
          </a:prstGeom>
          <a:solidFill>
            <a:srgbClr val="FFFFFF"/>
          </a:solidFill>
          <a:ln w="15875">
            <a:solidFill>
              <a:srgbClr val="E8EE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5550408" y="4584192"/>
            <a:ext cx="457200" cy="457200"/>
          </a:xfrm>
          <a:prstGeom prst="ellipse">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36576" bIns="36576"/>
          <a:lstStyle/>
          <a:p>
            <a:pPr algn="ctr">
              <a:spcAft>
                <a:spcPts val="200"/>
              </a:spcAft>
            </a:pPr>
            <a:r>
              <a:rPr sz="1600" b="1">
                <a:solidFill>
                  <a:srgbClr val="FFFFFF"/>
                </a:solidFill>
                <a:latin typeface="Calibri"/>
              </a:rPr>
              <a:t>5</a:t>
            </a:r>
          </a:p>
        </p:txBody>
      </p:sp>
      <p:sp>
        <p:nvSpPr>
          <p:cNvPr id="23" name="TextBox 22"/>
          <p:cNvSpPr txBox="1"/>
          <p:nvPr/>
        </p:nvSpPr>
        <p:spPr>
          <a:xfrm>
            <a:off x="6080760" y="4184904"/>
            <a:ext cx="2259939" cy="1255776"/>
          </a:xfrm>
          <a:prstGeom prst="rect">
            <a:avLst/>
          </a:prstGeom>
          <a:noFill/>
        </p:spPr>
        <p:txBody>
          <a:bodyPr wrap="square" anchor="ctr" lIns="18288" rIns="18288" tIns="36576" bIns="36576">
            <a:spAutoFit/>
          </a:bodyPr>
          <a:lstStyle/>
          <a:p>
            <a:pPr algn="l">
              <a:spcAft>
                <a:spcPts val="200"/>
              </a:spcAft>
            </a:pPr>
            <a:r>
              <a:rPr sz="1600" b="1">
                <a:solidFill>
                  <a:srgbClr val="0B1F3A"/>
                </a:solidFill>
                <a:latin typeface="Calibri"/>
              </a:rPr>
              <a:t>Shikoyat</a:t>
            </a:r>
          </a:p>
          <a:p>
            <a:pPr algn="l">
              <a:spcAft>
                <a:spcPts val="200"/>
              </a:spcAft>
            </a:pPr>
            <a:r>
              <a:rPr sz="1400" b="0">
                <a:solidFill>
                  <a:srgbClr val="1F2937"/>
                </a:solidFill>
                <a:latin typeface="Calibri"/>
              </a:rPr>
              <a:t>Shikoyat berish huquqi</a:t>
            </a:r>
          </a:p>
        </p:txBody>
      </p:sp>
      <p:sp>
        <p:nvSpPr>
          <p:cNvPr id="24" name="TextBox 23"/>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Bayonnoma zanjiri</a:t>
            </a:r>
          </a:p>
        </p:txBody>
      </p:sp>
      <p:sp>
        <p:nvSpPr>
          <p:cNvPr id="25" name="TextBox 24"/>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97, 98, 98-99</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Tibbiy xodimlarning ma’muriy huquqbuzarliklari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41</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Kodeksning VI bobida sog‘liq sohasi qilmishlari bor; subyekt tibbiy xodim ham bo‘lishi mumkin.</a:t>
            </a:r>
          </a:p>
          <a:p>
            <a:pPr>
              <a:spcAft>
                <a:spcPts val="800"/>
              </a:spcAft>
            </a:pPr>
            <a:r>
              <a:rPr sz="1800">
                <a:solidFill>
                  <a:srgbClr val="1F2937"/>
                </a:solidFill>
                <a:latin typeface="Calibri"/>
              </a:rPr>
              <a:t>▸  Tuxmat, haqorat kabi moddalar ko‘proq tibbiyot muassasalari rahbarlariga taalluqli.</a:t>
            </a:r>
          </a:p>
          <a:p>
            <a:pPr>
              <a:spcAft>
                <a:spcPts val="800"/>
              </a:spcAft>
            </a:pPr>
            <a:r>
              <a:rPr sz="1800">
                <a:solidFill>
                  <a:srgbClr val="1F2937"/>
                </a:solidFill>
                <a:latin typeface="Calibri"/>
              </a:rPr>
              <a:t>▸  Davlat statistik hisobotini taqdim etish tartibini buzishda mansabdor shaxslar javob beradi.</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337310"/>
                <a:gridCol w="1174391"/>
                <a:gridCol w="2776273"/>
              </a:tblGrid>
              <a:tr h="614476">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Modda</a:t>
                      </a:r>
                    </a:p>
                  </a:txBody>
                  <a:tcPr marL="73152" marR="73152" marT="36576" marB="36576">
                    <a:solidFill>
                      <a:srgbClr val="0B1F3A"/>
                    </a:solidFill>
                  </a:tcPr>
                </a:tc>
                <a:tc>
                  <a:txBody>
                    <a:bodyPr/>
                    <a:lstStyle/>
                    <a:p>
                      <a:r>
                        <a:rPr sz="1600" b="1">
                          <a:solidFill>
                            <a:srgbClr val="FFFFFF"/>
                          </a:solidFill>
                        </a:rPr>
                        <a:t>Misol</a:t>
                      </a:r>
                    </a:p>
                  </a:txBody>
                  <a:tcPr marL="73152" marR="73152" marT="36576" marB="36576">
                    <a:solidFill>
                      <a:srgbClr val="0B1F3A"/>
                    </a:solidFill>
                  </a:tcPr>
                </a:tc>
              </a:tr>
              <a:tr h="614476">
                <a:tc>
                  <a:txBody>
                    <a:bodyPr/>
                    <a:lstStyle/>
                    <a:p>
                      <a:r>
                        <a:rPr sz="1500" b="0">
                          <a:solidFill>
                            <a:srgbClr val="1F2937"/>
                          </a:solidFill>
                        </a:rPr>
                        <a:t>Sog‘liq sohasi</a:t>
                      </a:r>
                    </a:p>
                  </a:txBody>
                  <a:tcPr marL="73152" marR="73152" marT="36576" marB="36576">
                    <a:solidFill>
                      <a:srgbClr val="E8EEF6"/>
                    </a:solidFill>
                  </a:tcPr>
                </a:tc>
                <a:tc>
                  <a:txBody>
                    <a:bodyPr/>
                    <a:lstStyle/>
                    <a:p>
                      <a:r>
                        <a:rPr sz="1500" b="0">
                          <a:solidFill>
                            <a:srgbClr val="1F2937"/>
                          </a:solidFill>
                        </a:rPr>
                        <a:t>52–56</a:t>
                      </a:r>
                    </a:p>
                  </a:txBody>
                  <a:tcPr marL="73152" marR="73152" marT="36576" marB="36576">
                    <a:solidFill>
                      <a:srgbClr val="E8EEF6"/>
                    </a:solidFill>
                  </a:tcPr>
                </a:tc>
                <a:tc>
                  <a:txBody>
                    <a:bodyPr/>
                    <a:lstStyle/>
                    <a:p>
                      <a:r>
                        <a:rPr sz="1500" b="0">
                          <a:solidFill>
                            <a:srgbClr val="1F2937"/>
                          </a:solidFill>
                        </a:rPr>
                        <a:t>Sanitariya, epidemiya, giyohvand</a:t>
                      </a:r>
                    </a:p>
                  </a:txBody>
                  <a:tcPr marL="73152" marR="73152" marT="36576" marB="36576">
                    <a:solidFill>
                      <a:srgbClr val="E8EEF6"/>
                    </a:solidFill>
                  </a:tcPr>
                </a:tc>
              </a:tr>
              <a:tr h="614476">
                <a:tc>
                  <a:txBody>
                    <a:bodyPr/>
                    <a:lstStyle/>
                    <a:p>
                      <a:r>
                        <a:rPr sz="1500" b="0">
                          <a:solidFill>
                            <a:srgbClr val="1F2937"/>
                          </a:solidFill>
                        </a:rPr>
                        <a:t>Tanosil, OITS</a:t>
                      </a:r>
                    </a:p>
                  </a:txBody>
                  <a:tcPr marL="73152" marR="73152" marT="36576" marB="36576">
                    <a:solidFill>
                      <a:srgbClr val="FFFFFF"/>
                    </a:solidFill>
                  </a:tcPr>
                </a:tc>
                <a:tc>
                  <a:txBody>
                    <a:bodyPr/>
                    <a:lstStyle/>
                    <a:p>
                      <a:r>
                        <a:rPr sz="1500" b="0">
                          <a:solidFill>
                            <a:srgbClr val="1F2937"/>
                          </a:solidFill>
                        </a:rPr>
                        <a:t>57–59</a:t>
                      </a:r>
                    </a:p>
                  </a:txBody>
                  <a:tcPr marL="73152" marR="73152" marT="36576" marB="36576">
                    <a:solidFill>
                      <a:srgbClr val="FFFFFF"/>
                    </a:solidFill>
                  </a:tcPr>
                </a:tc>
                <a:tc>
                  <a:txBody>
                    <a:bodyPr/>
                    <a:lstStyle/>
                    <a:p>
                      <a:r>
                        <a:rPr sz="1500" b="0">
                          <a:solidFill>
                            <a:srgbClr val="1F2937"/>
                          </a:solidFill>
                        </a:rPr>
                        <a:t>Manbani yashirish, tekshiruvni rad</a:t>
                      </a:r>
                    </a:p>
                  </a:txBody>
                  <a:tcPr marL="73152" marR="73152" marT="36576" marB="36576">
                    <a:solidFill>
                      <a:srgbClr val="FFFFFF"/>
                    </a:solidFill>
                  </a:tcPr>
                </a:tc>
              </a:tr>
              <a:tr h="614476">
                <a:tc>
                  <a:txBody>
                    <a:bodyPr/>
                    <a:lstStyle/>
                    <a:p>
                      <a:r>
                        <a:rPr sz="1500" b="0">
                          <a:solidFill>
                            <a:srgbClr val="1F2937"/>
                          </a:solidFill>
                        </a:rPr>
                        <a:t>Savdo, moliya</a:t>
                      </a:r>
                    </a:p>
                  </a:txBody>
                  <a:tcPr marL="73152" marR="73152" marT="36576" marB="36576">
                    <a:solidFill>
                      <a:srgbClr val="E8EEF6"/>
                    </a:solidFill>
                  </a:tcPr>
                </a:tc>
                <a:tc>
                  <a:txBody>
                    <a:bodyPr/>
                    <a:lstStyle/>
                    <a:p>
                      <a:r>
                        <a:rPr sz="1500" b="0">
                          <a:solidFill>
                            <a:srgbClr val="1F2937"/>
                          </a:solidFill>
                        </a:rPr>
                        <a:t>164, 176, 176-1</a:t>
                      </a:r>
                    </a:p>
                  </a:txBody>
                  <a:tcPr marL="73152" marR="73152" marT="36576" marB="36576">
                    <a:solidFill>
                      <a:srgbClr val="E8EEF6"/>
                    </a:solidFill>
                  </a:tcPr>
                </a:tc>
                <a:tc>
                  <a:txBody>
                    <a:bodyPr/>
                    <a:lstStyle/>
                    <a:p>
                      <a:r>
                        <a:rPr sz="1500" b="0">
                          <a:solidFill>
                            <a:srgbClr val="1F2937"/>
                          </a:solidFill>
                        </a:rPr>
                        <a:t>Pullik xizmat, tadbirkorlik, shartnoma</a:t>
                      </a:r>
                    </a:p>
                  </a:txBody>
                  <a:tcPr marL="73152" marR="73152" marT="36576" marB="36576">
                    <a:solidFill>
                      <a:srgbClr val="E8EEF6"/>
                    </a:solidFill>
                  </a:tcPr>
                </a:tc>
              </a:tr>
              <a:tr h="614476">
                <a:tc>
                  <a:txBody>
                    <a:bodyPr/>
                    <a:lstStyle/>
                    <a:p>
                      <a:r>
                        <a:rPr sz="1500" b="0">
                          <a:solidFill>
                            <a:srgbClr val="1F2937"/>
                          </a:solidFill>
                        </a:rPr>
                        <a:t>Boshqaruv tartibi</a:t>
                      </a:r>
                    </a:p>
                  </a:txBody>
                  <a:tcPr marL="73152" marR="73152" marT="36576" marB="36576">
                    <a:solidFill>
                      <a:srgbClr val="FFFFFF"/>
                    </a:solidFill>
                  </a:tcPr>
                </a:tc>
                <a:tc>
                  <a:txBody>
                    <a:bodyPr/>
                    <a:lstStyle/>
                    <a:p>
                      <a:r>
                        <a:rPr sz="1500" b="0">
                          <a:solidFill>
                            <a:srgbClr val="1F2937"/>
                          </a:solidFill>
                        </a:rPr>
                        <a:t>199, 215</a:t>
                      </a:r>
                    </a:p>
                  </a:txBody>
                  <a:tcPr marL="73152" marR="73152" marT="36576" marB="36576">
                    <a:solidFill>
                      <a:srgbClr val="FFFFFF"/>
                    </a:solidFill>
                  </a:tcPr>
                </a:tc>
                <a:tc>
                  <a:txBody>
                    <a:bodyPr/>
                    <a:lstStyle/>
                    <a:p>
                      <a:r>
                        <a:rPr sz="1500" b="0">
                          <a:solidFill>
                            <a:srgbClr val="1F2937"/>
                          </a:solidFill>
                        </a:rPr>
                        <a:t>Tez yordamga yolg‘on chaqiruv; hisobot</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Huquqbuzarliklar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99-100, 99, 101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Tanosil, OITS va boshqaruv tartibi bo‘yicha huquqbuzarliklar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41</a:t>
            </a:r>
          </a:p>
        </p:txBody>
      </p:sp>
      <p:sp>
        <p:nvSpPr>
          <p:cNvPr id="8" name="TextBox 7"/>
          <p:cNvSpPr txBox="1"/>
          <p:nvPr/>
        </p:nvSpPr>
        <p:spPr>
          <a:xfrm>
            <a:off x="640080" y="1417320"/>
            <a:ext cx="4572000" cy="4480560"/>
          </a:xfrm>
          <a:prstGeom prst="rect">
            <a:avLst/>
          </a:prstGeom>
          <a:noFill/>
        </p:spPr>
        <p:txBody>
          <a:bodyPr wrap="square">
            <a:spAutoFit/>
          </a:bodyPr>
          <a:lstStyle/>
          <a:p>
            <a:pPr>
              <a:spcAft>
                <a:spcPts val="800"/>
              </a:spcAft>
            </a:pPr>
            <a:r>
              <a:rPr sz="1600">
                <a:solidFill>
                  <a:srgbClr val="1F2937"/>
                </a:solidFill>
                <a:latin typeface="Calibri"/>
              </a:rPr>
              <a:t>▸  57-modda: tanosil kasalligi yoki OITS bilan kasallangan bemor yuqtirish manbasini yoki xavf tug‘diruvchi aloqadagi shaxslarni yashirsa, ma’muriy huquqbuzarlik.</a:t>
            </a:r>
          </a:p>
          <a:p>
            <a:pPr>
              <a:spcAft>
                <a:spcPts val="800"/>
              </a:spcAft>
            </a:pPr>
            <a:r>
              <a:rPr sz="1600">
                <a:solidFill>
                  <a:srgbClr val="1F2937"/>
                </a:solidFill>
                <a:latin typeface="Calibri"/>
              </a:rPr>
              <a:t>▸  58-modda: kasallanganligi haqida yetarli ma’lumot bo‘lsa-da, tekshiruvni rad etish ham ma’muriy javobgarlikka olib kelishi mumkin.</a:t>
            </a:r>
          </a:p>
          <a:p>
            <a:pPr>
              <a:spcAft>
                <a:spcPts val="800"/>
              </a:spcAft>
            </a:pPr>
            <a:r>
              <a:rPr sz="1600">
                <a:solidFill>
                  <a:srgbClr val="1F2937"/>
                </a:solidFill>
                <a:latin typeface="Calibri"/>
              </a:rPr>
              <a:t>▸  59-modda: OITS yuqqanligini aniqlash uchun ko‘rik, tibbiy va kosmetik muolajalarda xavfsizlik ta’minlanmasa, tibbiy xodimlar javob beradi.</a:t>
            </a:r>
          </a:p>
          <a:p>
            <a:pPr>
              <a:spcAft>
                <a:spcPts val="800"/>
              </a:spcAft>
            </a:pPr>
            <a:r>
              <a:rPr sz="1600">
                <a:solidFill>
                  <a:srgbClr val="1F2937"/>
                </a:solidFill>
                <a:latin typeface="Calibri"/>
              </a:rPr>
              <a:t>▸  199-modda: tez yordamni qasddan aldab chaqirish (subyekt — fuqaro); 215-modda: statistik hisobot tartibini buzish (subyekt — mansabdor shaxs).</a:t>
            </a:r>
          </a:p>
        </p:txBody>
      </p:sp>
      <p:sp>
        <p:nvSpPr>
          <p:cNvPr id="9" name="Rounded Rectangle 8"/>
          <p:cNvSpPr/>
          <p:nvPr/>
        </p:nvSpPr>
        <p:spPr>
          <a:xfrm>
            <a:off x="5440680" y="2788920"/>
            <a:ext cx="2011680" cy="1280160"/>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bIns="36576"/>
          <a:lstStyle/>
          <a:p>
            <a:pPr algn="ctr">
              <a:spcAft>
                <a:spcPts val="200"/>
              </a:spcAft>
            </a:pPr>
            <a:r>
              <a:rPr sz="1800" b="1">
                <a:solidFill>
                  <a:srgbClr val="FFFFFF"/>
                </a:solidFill>
                <a:latin typeface="Calibri"/>
              </a:rPr>
              <a:t>Ma’muriy huquqbuzarliklar</a:t>
            </a:r>
          </a:p>
        </p:txBody>
      </p:sp>
      <p:cxnSp>
        <p:nvCxnSpPr>
          <p:cNvPr id="10" name="Connector 9"/>
          <p:cNvCxnSpPr/>
          <p:nvPr/>
        </p:nvCxnSpPr>
        <p:spPr>
          <a:xfrm>
            <a:off x="745236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612380" y="1790395"/>
            <a:ext cx="0" cy="3277209"/>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612380" y="1790395"/>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0" y="1417320"/>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0" y="1417320"/>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57-modda</a:t>
            </a:r>
          </a:p>
          <a:p>
            <a:pPr algn="l">
              <a:spcAft>
                <a:spcPts val="0"/>
              </a:spcAft>
            </a:pPr>
            <a:r>
              <a:rPr sz="1200" b="0">
                <a:solidFill>
                  <a:srgbClr val="1F2937"/>
                </a:solidFill>
                <a:latin typeface="Calibri"/>
              </a:rPr>
              <a:t>Manba va aloqadagilarni yashirish</a:t>
            </a:r>
          </a:p>
        </p:txBody>
      </p:sp>
      <p:cxnSp>
        <p:nvCxnSpPr>
          <p:cNvPr id="15" name="Connector 14"/>
          <p:cNvCxnSpPr/>
          <p:nvPr/>
        </p:nvCxnSpPr>
        <p:spPr>
          <a:xfrm>
            <a:off x="7612380" y="2609697"/>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0" y="2236622"/>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0" y="2236622"/>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58-modda</a:t>
            </a:r>
          </a:p>
          <a:p>
            <a:pPr algn="l">
              <a:spcAft>
                <a:spcPts val="0"/>
              </a:spcAft>
            </a:pPr>
            <a:r>
              <a:rPr sz="1200" b="0">
                <a:solidFill>
                  <a:srgbClr val="1F2937"/>
                </a:solidFill>
                <a:latin typeface="Calibri"/>
              </a:rPr>
              <a:t>Tekshiruvni rad etish</a:t>
            </a:r>
          </a:p>
        </p:txBody>
      </p:sp>
      <p:cxnSp>
        <p:nvCxnSpPr>
          <p:cNvPr id="18" name="Connector 17"/>
          <p:cNvCxnSpPr/>
          <p:nvPr/>
        </p:nvCxnSpPr>
        <p:spPr>
          <a:xfrm>
            <a:off x="7612380" y="3429000"/>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772400" y="3055924"/>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0" y="3055924"/>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59-modda</a:t>
            </a:r>
          </a:p>
          <a:p>
            <a:pPr algn="l">
              <a:spcAft>
                <a:spcPts val="0"/>
              </a:spcAft>
            </a:pPr>
            <a:r>
              <a:rPr sz="1200" b="0">
                <a:solidFill>
                  <a:srgbClr val="1F2937"/>
                </a:solidFill>
                <a:latin typeface="Calibri"/>
              </a:rPr>
              <a:t>Muolajada xavfsizlik buzilishi</a:t>
            </a:r>
          </a:p>
        </p:txBody>
      </p:sp>
      <p:cxnSp>
        <p:nvCxnSpPr>
          <p:cNvPr id="21" name="Connector 20"/>
          <p:cNvCxnSpPr/>
          <p:nvPr/>
        </p:nvCxnSpPr>
        <p:spPr>
          <a:xfrm>
            <a:off x="7612380" y="4248302"/>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0" y="3875227"/>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0" y="3875227"/>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199-modda</a:t>
            </a:r>
          </a:p>
          <a:p>
            <a:pPr algn="l">
              <a:spcAft>
                <a:spcPts val="0"/>
              </a:spcAft>
            </a:pPr>
            <a:r>
              <a:rPr sz="1200" b="0">
                <a:solidFill>
                  <a:srgbClr val="1F2937"/>
                </a:solidFill>
                <a:latin typeface="Calibri"/>
              </a:rPr>
              <a:t>Tez yordamga yolg‘on chaqiruv  ·  Subyekt — fuqaro</a:t>
            </a:r>
          </a:p>
        </p:txBody>
      </p:sp>
      <p:cxnSp>
        <p:nvCxnSpPr>
          <p:cNvPr id="24" name="Connector 23"/>
          <p:cNvCxnSpPr/>
          <p:nvPr/>
        </p:nvCxnSpPr>
        <p:spPr>
          <a:xfrm>
            <a:off x="7612380" y="5067604"/>
            <a:ext cx="160020" cy="0"/>
          </a:xfrm>
          <a:prstGeom prst="line">
            <a:avLst/>
          </a:prstGeom>
          <a:ln w="25400">
            <a:solidFill>
              <a:srgbClr val="C9A227"/>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772400" y="4694529"/>
            <a:ext cx="3779215" cy="746150"/>
          </a:xfrm>
          <a:prstGeom prst="roundRect">
            <a:avLst>
              <a:gd name="adj" fmla="val 8000"/>
            </a:avLst>
          </a:prstGeom>
          <a:solidFill>
            <a:srgbClr val="FFFFFF"/>
          </a:solidFill>
          <a:ln w="15875">
            <a:solidFill>
              <a:srgbClr val="C9A2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772400" y="4694529"/>
            <a:ext cx="3779215" cy="746150"/>
          </a:xfrm>
          <a:prstGeom prst="rect">
            <a:avLst/>
          </a:prstGeom>
          <a:noFill/>
        </p:spPr>
        <p:txBody>
          <a:bodyPr wrap="square" anchor="ctr" tIns="36576" bIns="36576">
            <a:spAutoFit/>
          </a:bodyPr>
          <a:lstStyle/>
          <a:p>
            <a:pPr algn="l">
              <a:spcAft>
                <a:spcPts val="0"/>
              </a:spcAft>
            </a:pPr>
            <a:r>
              <a:rPr sz="1400" b="1">
                <a:solidFill>
                  <a:srgbClr val="0B1F3A"/>
                </a:solidFill>
                <a:latin typeface="Calibri"/>
              </a:rPr>
              <a:t>215-modda</a:t>
            </a:r>
          </a:p>
          <a:p>
            <a:pPr algn="l">
              <a:spcAft>
                <a:spcPts val="0"/>
              </a:spcAft>
            </a:pPr>
            <a:r>
              <a:rPr sz="1200" b="0">
                <a:solidFill>
                  <a:srgbClr val="1F2937"/>
                </a:solidFill>
                <a:latin typeface="Calibri"/>
              </a:rPr>
              <a:t>Hisobot tartibini buzish  ·  Subyekt — mansabdor shaxs</a:t>
            </a:r>
          </a:p>
        </p:txBody>
      </p:sp>
      <p:sp>
        <p:nvSpPr>
          <p:cNvPr id="27" name="TextBox 26"/>
          <p:cNvSpPr txBox="1"/>
          <p:nvPr/>
        </p:nvSpPr>
        <p:spPr>
          <a:xfrm>
            <a:off x="5440680" y="5486400"/>
            <a:ext cx="6110935" cy="365760"/>
          </a:xfrm>
          <a:prstGeom prst="rect">
            <a:avLst/>
          </a:prstGeom>
          <a:noFill/>
        </p:spPr>
        <p:txBody>
          <a:bodyPr wrap="square">
            <a:spAutoFit/>
          </a:bodyPr>
          <a:lstStyle/>
          <a:p>
            <a:r>
              <a:rPr sz="1200" b="0">
                <a:solidFill>
                  <a:srgbClr val="6B7280"/>
                </a:solidFill>
                <a:latin typeface="Calibri"/>
              </a:rPr>
              <a:t>G‘iyosov, 100–101-betlar</a:t>
            </a:r>
          </a:p>
        </p:txBody>
      </p:sp>
      <p:sp>
        <p:nvSpPr>
          <p:cNvPr id="28" name="TextBox 27"/>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100, 101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sanitariya qoidalari buzilishi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muassasada sanitariya yoki epidemiyaga qarshi qoida buzildi; vakolatli mansabdor shaxs bayonnoma tuzdi.</a:t>
            </a:r>
          </a:p>
          <a:p>
            <a:pPr>
              <a:spcAft>
                <a:spcPts val="1200"/>
              </a:spcAft>
            </a:pPr>
            <a:r>
              <a:rPr sz="2200">
                <a:solidFill>
                  <a:srgbClr val="1F2937"/>
                </a:solidFill>
                <a:latin typeface="Calibri"/>
              </a:rPr>
              <a:t>▸  Bayonnomada sana, joy, qilmish mohiyati, me’yoriy hujjat, guvohlar va tushuntirish xati yoziladi; uni ikki tomon imzolaydi.</a:t>
            </a:r>
          </a:p>
          <a:p>
            <a:pPr>
              <a:spcAft>
                <a:spcPts val="1200"/>
              </a:spcAft>
            </a:pPr>
            <a:r>
              <a:rPr sz="2200">
                <a:solidFill>
                  <a:srgbClr val="1F2937"/>
                </a:solidFill>
                <a:latin typeface="Calibri"/>
              </a:rPr>
              <a:t>▸  Shaxsga 294-modda bo‘yicha huquqlari tushuntiriladi: ish bilan tanishish, advokat, ona tili, tarjimon, shikoyat qilish.</a:t>
            </a:r>
          </a:p>
          <a:p>
            <a:pPr>
              <a:spcAft>
                <a:spcPts val="1200"/>
              </a:spcAft>
            </a:pPr>
            <a:r>
              <a:rPr sz="2200">
                <a:solidFill>
                  <a:srgbClr val="1F2937"/>
                </a:solidFill>
                <a:latin typeface="Calibri"/>
              </a:rPr>
              <a:t>▸  Savol: kim javobgar, qanday jazo? Tibbiy xodim ham subyekt; odatda jarima, qilmishdan ikki oy ichida qo‘llanadi.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97, 99, 97-98, 98, 94, 96, 99-100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41</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Xodim shartnomani ikki hafta oldin yozma ogohlantirib bekor qiladi. Intizomiy jazo bir oy ichida va bitta huquqbuzarlikka bitta qo‘llanadi.</a:t>
            </a:r>
          </a:p>
          <a:p>
            <a:pPr>
              <a:spcAft>
                <a:spcPts val="1200"/>
              </a:spcAft>
            </a:pPr>
            <a:r>
              <a:rPr sz="2200">
                <a:solidFill>
                  <a:srgbClr val="1F2937"/>
                </a:solidFill>
                <a:latin typeface="Calibri"/>
              </a:rPr>
              <a:t>▸  Tibbiy xodimlarning ish vaqti haftasiga 36 soatdan oshmaydi. Ish beruvchi dastlabki va davriy tibbiy ko‘rik o‘tkazadi.</a:t>
            </a:r>
          </a:p>
          <a:p>
            <a:pPr>
              <a:spcAft>
                <a:spcPts val="1200"/>
              </a:spcAft>
            </a:pPr>
            <a:r>
              <a:rPr sz="2200">
                <a:solidFill>
                  <a:srgbClr val="1F2937"/>
                </a:solidFill>
                <a:latin typeface="Calibri"/>
              </a:rPr>
              <a:t>▸  Diqqat: ma’muriy huquqbuzarlik ≠ jinoyat (ijtimoiy xavf alomati yo‘q). Javobgarlik 16 yoshdan; tibbiy xodimga ko‘pincha jarima.</a:t>
            </a:r>
          </a:p>
          <a:p>
            <a:pPr>
              <a:spcAft>
                <a:spcPts val="1200"/>
              </a:spcAft>
            </a:pPr>
            <a:r>
              <a:rPr sz="2200">
                <a:solidFill>
                  <a:srgbClr val="1F2937"/>
                </a:solidFill>
                <a:latin typeface="Calibri"/>
              </a:rPr>
              <a:t>▸  Yakuniy muhokama: huquqlar, shartnoma, bekor qilish, jazo turlari, bayonnoma talablari bo‘yicha nazorat savollari.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Vrach faoliyatining huquqiy asoslari: darslik, betlar: 87, 90, 85-86, 93-94, 91, 101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Intizomiy jazo muddatlarini «1–6–2–1» tartibida eslang. Jazo qilmish aniqlangandan keyin 1 oy ichida qo‘llanadi (xodimning bemorlik va ta’til kunlari hisobga kirmaydi). Qilmishdan 6 oy o‘tgach jazo berilmaydi, moliya-xo‘jalik tekshiruvida aniqlansa 2 yildan keyin berilmaydi. Jazo 1 yil amal qiladi.</a:t>
            </a:r>
          </a:p>
          <a:p>
            <a:pPr>
              <a:spcAft>
                <a:spcPts val="1200"/>
              </a:spcAft>
            </a:pPr>
            <a:r>
              <a:rPr sz="1800">
                <a:solidFill>
                  <a:srgbClr val="1F2937"/>
                </a:solidFill>
                <a:latin typeface="Calibri"/>
              </a:rPr>
              <a:t>▸  Hodisa tahlili: bemor vrach kasbiy vazifasini lozim darajada bajarmadi deb da’vo qilsa, fuqarolik huquqida vrach o‘z aybsizligini isbotlamaguncha aybdor hisoblanadi. Shuning uchun asl nusxadagi to‘liq tibbiy hujjat, kundaliklarning to‘laqonligi va to‘g‘rilashlarning yo‘qligi muhim. A. V. Tixomirov bunday zarar uchun «yatrogen delikt» atamasini taklif etgan.</a:t>
            </a:r>
          </a:p>
          <a:p>
            <a:pPr>
              <a:spcAft>
                <a:spcPts val="1200"/>
              </a:spcAft>
            </a:pPr>
            <a:r>
              <a:rPr sz="1800">
                <a:solidFill>
                  <a:srgbClr val="1F2937"/>
                </a:solidFill>
                <a:latin typeface="Calibri"/>
              </a:rPr>
              <a:t>▸  Farqlang: oxirgi zarurat holatida etkazilgan zarar ma’muriy huquqbuzarlik hisoblanmaydi (xavfni boshqacha bartaraf etib bo‘lmasa va zarar oldi olingan zarardan kam bo‘lsa). Lekin fuqarolik huquqida bu holat zararni qoplashdan ozod qilish uchun o‘z-o‘zidan asos bo‘lmaydi.</a:t>
            </a:r>
          </a:p>
          <a:p>
            <a:pPr>
              <a:spcAft>
                <a:spcPts val="1200"/>
              </a:spcAft>
            </a:pPr>
            <a:r>
              <a:rPr sz="1800">
                <a:solidFill>
                  <a:srgbClr val="1F2937"/>
                </a:solidFill>
                <a:latin typeface="Calibri"/>
              </a:rPr>
              <a:t>▸  Ma’muriy jarimada fuqaro va mansabdor shaxs farqlanadi. Eng kam miqdor fuqaroda eng kam oylik ish haqining 1/50 qismi, mansabdorda 1/10 qismi. Eng ko‘p miqdor fuqaroda 5 baravar, mansabdorda 10 baravar. Eslab qolish: mansabdorga jarima har ikki chegarada kattaroq.</a:t>
            </a:r>
          </a:p>
          <a:p>
            <a:pPr>
              <a:spcAft>
                <a:spcPts val="1200"/>
              </a:spcAft>
            </a:pPr>
            <a:r>
              <a:rPr sz="1800">
                <a:solidFill>
                  <a:srgbClr val="1F2937"/>
                </a:solidFill>
                <a:latin typeface="Calibri"/>
              </a:rPr>
              <a:t>▸  Tibbiy xodimlar ishi yuqori his-hayajon, aqliy zo‘riqish va asab tarangligi bilan bog‘liq. Shu sababli ularning ish vaqti haftasiga 36 soatdan oshmaydi, haq kamaytirilmaydi. Umumiy me’yor esa haftasiga 40 soat. Xodimlar ro‘yxati va aniq muddatni Hukumat belgilaydi.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Mehnat qonunchiligi va tibbiy xodimlar faoliyati. Tibbiy xodimlarning m</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41</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Vrach faoliyatining huquqiy asoslari: darslik, Toshkent: Tafakkur-Bo‘stoni. 2012. 6-bob. Mehnat qonunchiligi va tibbiy xodimlar; bet 78-91; 7-bob. Tibbiy xodimlarning ma’muriy javobgarligi; bet 92-101; 8-bob. Tibbiy xodimlarning fuqarolik-huquqiy javobgarligi; bet 102-114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