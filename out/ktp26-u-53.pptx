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jarohat yoshini bilish sud jarayoniga ta’sir qiladi? 2) Gistologiya sud tibbiyotida qaysi savollarga javob beradi? Doskada: mavzu rejasini 4 blokda chizing (tushuncha, usullar, belgilar, raqamli gistologiya). Tipik xato: gistologiyani faqat o‘lim sababini aniqlash usuli deb o‘ylash. U jarohat vitalligi va yoshini ham ko‘rsatadi.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Agonal davrda yetkazilgan jarohatni qanday talqin qilamiz? 2) Jarohat yoshi aniq bo‘lsa, vitalliklik savoli hal bo‘ladimi? Doskada: jadvalni o‘zlari chizib, har qatorga bittadan misol yozsin. Tipik xato: ikki tushunchani bir xil deb olish.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Qaysi belgi eng erta paydo bo‘ladi? 2) Nima uchun bitta belgi yetarli emas? Doskada: zanjirni chizib, har bosqich yoniga mikroskopda ko‘rinadigan hujayralarni yozing. Tipik xato: qon quyilishining o‘zini vitallikning qat’iy isboti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H&amp;E yolg‘iz vitallikni isbotlay olmaydi? 2) IGK oddiy gistologiyadan nimasi bilan farq qiladi? Doskada: uch usulning ustunli jadvalini chizdiring. Tipik xato: vitallikni (jarohat tirik paytda yetkazilganmi) jarohat yoshi (qancha vaqt o‘tgan) bilan aralashtirish. Diqqat: vitallik ≠ jarohat yoshi.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Jarohatlar tartibi nima uchun sud jarayoniga ta’sir qiladi? 2) Qaysi qo‘shimcha usullar kerak bo‘ladi? Doskada: vaqt chizig‘i (tirik – agonal – o‘limdan keyin) chizdiring va unga jarohatlarni joylashtiring. Tipik xato: tashqi ko‘rinishga qarab, mikroskopsiz xulosa chiqarish.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miya jarohatlari ko‘p o‘rganilgan? 2) Tajriba va tekshiruv tadqiqotlari qanday farq qiladi? Doskada: uch to‘qimani yozib, har biriga bittadan sabab yozdiring. Tipik xato: tajriba tadqiqotlarini avtomatik tarzda inson uchun to‘liq mos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faqat bitta manbaga tayanib bo‘lmaydi? 2) Qaysi manba vaqt aniqligi bo‘yicha ustun? Doskada: shu uch ustunli jadvalni talabalar bilan birga chizing. Tipik xato: autopsiya namunasini har doim eng ishonchli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Hayvon natijasini odamga ko‘chirishda qanday xavf bor? 2) Yolg‘on manfiy natija sud uchun nega xavfli? Doskada: ‘hayvon → odam’ ko‘chirish zanjirini va noaniq joyini belgilang. Tipik xato: hayvon tajribasini odamga to‘g‘ridan-to‘g‘ri tatbiq etish mumkin deb o‘ylash.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A va B ni solishtirib, qaysi birining cheklovi og‘irroq? 2) Nazorat guruhi va markerning o‘limdan keyingi barqarorligi nega muhim? Doskada: A va B uchun ‘afzallik / xavf’ ikki ustunini chizing. Tipik xato: faqat vaqt aniqligiga qarab B ni tanlash, namuna hajmi va sharoitni unutish.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qonama rangi bo‘yicha yosh aniqlash sud jarayonida xavfli? 2) Chuqurlik va teri rangi rangga qanday ta’sir qiladi? Doskaga: ‘vitallik’ va ‘jarohat yoshi’ tushunchalarini ikki ustunda yozing (tirik paytda hosil bo‘lganmi / necha vaqt yashagan). Tipik xato: qonama rangini aniq soatga bog‘lash, ko‘z bilan baholashni yakuniy dalil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6 soatdan oldingi jarohatda gistologiya kam yordam beradi? 2) Bo‘yoqlarni qachon birga qo‘llash kerak? Doskaga: jadvalni ko‘chirib, har bo‘yoq yoniga o‘zingizning misolingizni yozing. Tipik xato: H&amp;E ni vitallikning mustaqil isboti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Reanimatsiyadan keyin topilgan qon quyilishini qanday talqin qilasiz? 2) Qanday qo‘shimcha usullar (immunogistokimyo, molekulyar) kerak? Doskaga: ‘ekstravazatsiya → vital?’ savol belgisi bilan sxema chizing va ikki yo‘lni (tirik / o‘limdan keyin) ko‘rsating. Tipik xato: qizil qon hujayralari topilsa, jarohatni avtomatik vital deb yozish.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talabalarga og‘zaki bering, javobni slaydda oxirida oching. Muhokama: nima uchun H&amp;E yagona dalil bo‘la olmaydi? Eritrotsit ekstravazatsiyasi nega vitallikning ishonchsiz belgisi? Doskada chizing: «vitallik» va «jarohat yoshi» uchun ikki ustunli qisqa jadval. Tipik xato: vitallik tushunchasini jarohat yoshi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bir vaqtda bir nechta markerni aniqlash foydali? Antigen-antitana reaksiyasi to‘qimada nimani ko‘rsatadi? Doskada chizing: antigen → antitana → ko‘rinadigan signal sxemasi. Tipik xato: IGK ni oddiy H&amp;E bo‘yash bilan bir xil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IGK ni nima uchun ‘oltin standart’ deyish mumkin, lekin kamchiliklari qanday? Eski ishlarni qayta ko‘rish sud-tibbiyotda nima uchun muhim? Doskada chizing: jadvalni daftarga ko‘chirib, har ustunga bittadan misol qo‘shing. Tipik xato: ‘oltin standart’ni xatosiz va to‘liq standartlashgan usul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ivindi yetilgani sari fibrin rangi o‘zgaradi deb o‘ylaysiz? 2) Bu usul jarohat yoshini aniqlashda yagona dalil bo‘la oladimi? Doskada: vaqt o‘qini chizib, qizil–binafsha–ko‘k bosqichlarini rangli bo‘r bilan belgilang. Tipik xato: 12–24 soat oralig‘i uchun manbada rang berilmagan, talabalar uni o‘zlaricha to‘ldirib yuboradi. Shuningdek, FXIII ni rang beruvchi omil deb adashtirmang: u ivindini mustahkamlovchi oqsil.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savollari: 1) Chirigan jasadda IGK natijasini qanday tekshirasiz? 2) Qaysi qo‘shimcha usullarni tanlaysiz va nima uchun? Doskada: ikki ustunli ‘IGK ishonchli / ehtiyot talab’ sxemasini chizdiring. Tipik xato: IGK ijobiy chiqdi, demak jarohat hayotlik davrida bo‘lgan deb darhol xulosa qilish. Manbada chirish ta’siri bo‘yicha dalillar kam ekani ta’kidlangan.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erta jarohatlarda mRNA ga asoslangan tahlil qulay? 2) Reference gen noto‘g‘ri tanlansa natijaga nima bo‘ladi? Doskada: to‘rt bosqichli zanjirni chizib, qPCR da normallashtirish qadamini alohida belgilang. Tipik xato: har qanday uy xo‘jaligi genini barqaror deb hisoblash; manbada ba’zilari jarohatdan keyin ifodasi oshishi aytilgan, shuning uchun barqaror genni tanlash muhim.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yuqori o‘tkazuvchan usullar narxni kamaytiradi? 2) Nega laboratoriyalararo solishtirish qiyin? Doskada chizing: gen (mRNK) → oqsil → morfologiya zanjiri va har bosqichga mos usulni yozing. Tipik xato: Western blot/ELISA ni gistologik usul deb o‘ylash; ular oqsil miqdorini o‘lchaydi, joylashuvini emas.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Talabalar javobni yopiq daftarda yozsin, so‘ng juftlikda tekshirsin. Muhokama: mRNA beqarorligiga qaramay nega erta jarohatda foydali? Doskada: ‘mRNA → oqsil → morfologiya’ zanjirini chizing. Tipik xato: elektrolit tahlilini uzoq o‘tgan o‘limda ham ishonchli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gistologiya erta jarohatda zaif, kechda esa ishonchli? Qaysi vaziyatda usullar kombinatsiyasi kerak? Doskada: vaqt o‘qini (3 daq – 6 soat – 12 soat – 24 soat) chizib, usullarni joylashtiring. Tipik xato: 12 va 24 soat chegaralarini qat’iy qoida deb qabul qilish; ular umumiy tendensiya.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bu holatda qanday usullar kombinatsiyasini tanlaysiz? Nega holat ma’lumotlari (tibbiy tarix, tergov) muhim? Doskada: ‘jarohat → o‘lim’ oralig‘ini daqiqalarda chizib, usullarni ko‘rsating. Tipik xato: eritrotsitlar ekstravazatini vitallikning yagona isboti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sudtibbiyotchi yallig‘lanish hujayralarini vaqt bo‘yicha xaritalaydi? 2) Diabetli mayitda jarohat yoshini baholash nega qiyin? Doskada: uch bosqichli zanjirni chizing va teri hamda mushak ustunlarini to‘ldiring. Tipik xato: bitish bosqichlarini yagona, hammaga bir xil vaqt jadvali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β-amiloid prekursor oqsili nima uchun akson shikasti markeri bo‘la oladi? 2) Miyadagi mahalliy reaksiya teri yallig‘lanishidan nimasi bilan farq qiladi? Doskada: neyron tanasi, akson va uzilish joyini chizib, oqsil to‘planishini ko‘rsating. Tipik xato: miya yallig‘lanishini teri bilan to‘liq bir xil deb hisoblash, glial hujayralar migratsiyasini unutish.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har bir marker uchun nazorat guruhi kerak? 2) Mavsum o‘zgarishi marker barqarorligiga qanday ta’sir qilishi mumkin? Doskada: soat o‘qini chizib, 3 soat, 12 soat, 18 soat, 48 soat va 4 sutkani belgilang, markerlarni joylashtiring. Tipik xato: barcha mRNA va oqsillar o‘limdan keyin bir xil tezlikda parchalanadi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qoldiq hayot vital reaksiyani taqlid qiladi? 2) Reanimatsiya qaysi topilmalarni sun’iy hosil qiladi? Doskada chizing: o‘limdan yolg‘on vital belgigacha va holatni tekshirishgacha bo‘lgan zanjir. Tipik xato: topilma bor ekan, jarohat tirikligida bo‘lgan deb xulosa qilish. Diqqat: qoldiq hayot belgisi ≠ haqiqiy vitalitet.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Reanimatsiya haqidagi ma’lumot xulosani qanday o‘zgartiradi? 2) Qaysi qo‘shimcha ma’lumotlar kerak? Doskada chizing: qaror daraxti (qon quyilishi → reanimatsiya bo‘lganmi → boshqa belgilar). Tipik xato: faqat bitta belgiga tayanib vitalitet haqida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1) Qaysi cheklov eng xavfli xatoga olib keladi? 2) Diabetda qanday qo‘shimcha parametrlar kerak bo‘lishi mumkin? Doskada chizing: 4 ta cheklov (qoldiq hayot, chirish, diabet, manipulyatsiya) va har birining ta’siri. Tipik xato: normal yara mezonlarini diabetli kishiga o‘zgartirmay qo‘llash.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bitta marker yoshni aniq ko‘rsatmaydi? 2) Matematik modelni ob-havo prognoziga o‘xshatish nimani anglatadi? Doskada: jadvalni chizing va har yondashuv yoniga ‘oraliq torayadi’ deb yozing. Tipik xato: mualliflar ko‘p markerli tizim ‘tayyor’ deb o‘ylash; aslida hali yagona tizim yoki model taklif etilmagan. Operator mahorati va to‘qima tiklanishidagi ko‘p omillar aniqlikka hali to‘sqinlik qiladi.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Nima uchun ikki haftalik tanaffus kerak? 2) Bir kuzatuvchining ikki usuldagi tashxisini solishtirish nimani ko‘rsatadi? Doskada: flow zanjirini chizing va CAP shartlarini (60 holat, 95%) yoniga yozing. Tipik xato: CAP minimumi 60 holatni iForensic soni (100)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97,8% natija nimani isbotlaydi va nimani isbotlamaydi? 2) WSI ta’lim va masofaviy maslahatda qanday foyda beradi? Doskada: 95% chegarani va 97,8% natijani son o‘qida chizing. Tipik xato: CSUQ ballini foizga aylantirish; u 1–7 shkalada, yuqori ball yuqori qoniqishni bildiradi (mualliflar shkalani shunday qo‘llagan). H&amp;E — gematoksilin-eozin bo‘yog‘i.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WSI an’anaviy mikroskopiyadan qaysi jihatda qulay? 2) AI tahlili nega subyektivlikni kamaytiradi? Doskada chizish: xizmat – tadqiqot – ta’lim uchta ustunli sxema, har biriga bittadan misol yozing. Tipik xato: WSI ni mikroskopni butunlay almashtiradi deb o‘ylash. Manbada u mikroskopdan kam bo‘lmagan aniqlik berishi aytilgan (non-inferiority), almashtirish haqida emas.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Talabalar 2 kishilik guruhda ishlaydi. Muhokama: 1) Nega kechikish sud-tibbiyotda ayniqsa muhim? 2) Raqamli tashxis qanday validatsiya qilinishi kerak (CAP ko‘rsatmasidagi mos kelish chegarasi 95% dan yuqori)? Doskada chizish: preparat – skaner – server – neyropatolog zanjiri. Tipik xato: validatsiyani unutish. Raqamli tasvir shishа preparat bilan bir xil tashxis berishi tekshirilishi shart.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Nega bitta usul sud uchun yetarli emas? 2) Raqamli usullar kompleks yondashuvga qanday hissa qo‘shadi? Doskada chizish: morfologik, immunogistokimyoviy va molekulyar usullarni birlashtiruvchi uchburchak. Tipik xato: immunogistokimyoni mutlaq aniq usul deb hisoblash. Manbada u operatorga bog‘liq va standart protokoli yo‘qligi ta’kidlangan.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Gistomorfologik diagnostika</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gistomorfologik diagnostika nima?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78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Sud tibbiyotida tizimli gistologik tekshiruv so‘nggi ikki o‘n yillikda asta-sekin o‘z o‘rnini topdi, ayniqsa sud-tibbiy yorib ko‘rishda.</a:t>
            </a:r>
          </a:p>
          <a:p>
            <a:pPr>
              <a:spcAft>
                <a:spcPts val="1200"/>
              </a:spcAft>
            </a:pPr>
            <a:r>
              <a:rPr sz="2200">
                <a:solidFill>
                  <a:srgbClr val="1F2937"/>
                </a:solidFill>
                <a:latin typeface="Calibri"/>
              </a:rPr>
              <a:t>▸  Gematoksilin-eozin (H&amp;E) bilan bo‘yash, maxsus bo‘yoqlar va immunogistokimyo (IHC) jarohatning yoshi va vitalligini hamda o‘lim sababini aniqlashga yordam beradi.</a:t>
            </a:r>
          </a:p>
          <a:p>
            <a:pPr>
              <a:spcAft>
                <a:spcPts val="1200"/>
              </a:spcAft>
            </a:pPr>
            <a:r>
              <a:rPr sz="2200">
                <a:solidFill>
                  <a:srgbClr val="1F2937"/>
                </a:solidFill>
                <a:latin typeface="Calibri"/>
              </a:rPr>
              <a:t>▸  Jarohat yoshini aniqlash jinoyat joyini qayta tiklashga va gumonlanuvchini ushlashga yordam beradi. Jazo jarohat og‘irligiga qarab farqlanadi.</a:t>
            </a:r>
          </a:p>
          <a:p>
            <a:pPr>
              <a:spcAft>
                <a:spcPts val="1200"/>
              </a:spcAft>
            </a:pPr>
            <a:r>
              <a:rPr sz="2200">
                <a:solidFill>
                  <a:srgbClr val="1F2937"/>
                </a:solidFill>
                <a:latin typeface="Calibri"/>
              </a:rPr>
              <a:t>▸  Reja: vitalliklik va jarohat yoshi, morfologik va molekulyar usullar, vitalliklik belgilari, so‘ng raqamli gistologiya (WSI).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Pigaiani N va boshq., iForensic, betlar: PMID 39836212; Li N va boshq., Vitality and wound-age estimation in forensic pathology: review and future prospects, betlar: PMID 32490306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Vitalliklik va jarohat yoshi: ikki savol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78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Zo‘ravonlik o‘limida asosiy e’tibor ikki savolga qaratiladi.</a:t>
            </a:r>
          </a:p>
          <a:p>
            <a:pPr>
              <a:spcAft>
                <a:spcPts val="800"/>
              </a:spcAft>
            </a:pPr>
            <a:r>
              <a:rPr sz="1800">
                <a:solidFill>
                  <a:srgbClr val="1F2937"/>
                </a:solidFill>
                <a:latin typeface="Calibri"/>
              </a:rPr>
              <a:t>▸  Vitalliklik jarohat tirikligida yetkazilganini, jarohat yoshi esa jabrlanuvchining omon qolgan davrini ko‘rsatadi.</a:t>
            </a:r>
          </a:p>
          <a:p>
            <a:pPr>
              <a:spcAft>
                <a:spcPts val="800"/>
              </a:spcAft>
            </a:pPr>
            <a:r>
              <a:rPr sz="1800">
                <a:solidFill>
                  <a:srgbClr val="1F2937"/>
                </a:solidFill>
                <a:latin typeface="Calibri"/>
              </a:rPr>
              <a:t>▸  Diqqat: vitalliklik ≠ jarohat yoshi. Biri tirikligini, ikkinchisi yashagan vaqtni aniqlaydi.</a:t>
            </a:r>
          </a:p>
        </p:txBody>
      </p:sp>
      <p:graphicFrame>
        <p:nvGraphicFramePr>
          <p:cNvPr id="9" name="Table 8"/>
          <p:cNvGraphicFramePr>
            <a:graphicFrameLocks noGrp="1"/>
          </p:cNvGraphicFramePr>
          <p:nvPr/>
        </p:nvGraphicFramePr>
        <p:xfrm>
          <a:off x="6263640" y="1463040"/>
          <a:ext cx="5287975" cy="1645920"/>
        </p:xfrm>
        <a:graphic>
          <a:graphicData uri="http://schemas.openxmlformats.org/drawingml/2006/table">
            <a:tbl>
              <a:tblPr firstRow="1" bandRow="1">
                <a:tableStyleId>{5C22544A-7EE6-4342-B048-85BDC9FD1C3A}</a:tableStyleId>
              </a:tblPr>
              <a:tblGrid>
                <a:gridCol w="1692152"/>
                <a:gridCol w="3595823"/>
              </a:tblGrid>
              <a:tr h="411480">
                <a:tc>
                  <a:txBody>
                    <a:bodyPr/>
                    <a:lstStyle/>
                    <a:p>
                      <a:r>
                        <a:rPr sz="1400" b="1">
                          <a:solidFill>
                            <a:srgbClr val="FFFFFF"/>
                          </a:solidFill>
                        </a:rPr>
                        <a:t>Tushuncha</a:t>
                      </a:r>
                    </a:p>
                  </a:txBody>
                  <a:tcPr marL="73152" marR="73152" marT="36576" marB="36576">
                    <a:solidFill>
                      <a:srgbClr val="0B1F3A"/>
                    </a:solidFill>
                  </a:tcPr>
                </a:tc>
                <a:tc>
                  <a:txBody>
                    <a:bodyPr/>
                    <a:lstStyle/>
                    <a:p>
                      <a:r>
                        <a:rPr sz="1400" b="1">
                          <a:solidFill>
                            <a:srgbClr val="FFFFFF"/>
                          </a:solidFill>
                        </a:rPr>
                        <a:t>Savol</a:t>
                      </a:r>
                    </a:p>
                  </a:txBody>
                  <a:tcPr marL="73152" marR="73152" marT="36576" marB="36576">
                    <a:solidFill>
                      <a:srgbClr val="0B1F3A"/>
                    </a:solidFill>
                  </a:tcPr>
                </a:tc>
              </a:tr>
              <a:tr h="411480">
                <a:tc>
                  <a:txBody>
                    <a:bodyPr/>
                    <a:lstStyle/>
                    <a:p>
                      <a:r>
                        <a:rPr sz="1300" b="0">
                          <a:solidFill>
                            <a:srgbClr val="1F2937"/>
                          </a:solidFill>
                        </a:rPr>
                        <a:t>Vitalliklik</a:t>
                      </a:r>
                    </a:p>
                  </a:txBody>
                  <a:tcPr marL="73152" marR="73152" marT="36576" marB="36576">
                    <a:solidFill>
                      <a:srgbClr val="E8EEF6"/>
                    </a:solidFill>
                  </a:tcPr>
                </a:tc>
                <a:tc>
                  <a:txBody>
                    <a:bodyPr/>
                    <a:lstStyle/>
                    <a:p>
                      <a:r>
                        <a:rPr sz="1300" b="0">
                          <a:solidFill>
                            <a:srgbClr val="1F2937"/>
                          </a:solidFill>
                        </a:rPr>
                        <a:t>Jarohat tirikligida yetkazilganmi?</a:t>
                      </a:r>
                    </a:p>
                  </a:txBody>
                  <a:tcPr marL="73152" marR="73152" marT="36576" marB="36576">
                    <a:solidFill>
                      <a:srgbClr val="E8EEF6"/>
                    </a:solidFill>
                  </a:tcPr>
                </a:tc>
              </a:tr>
              <a:tr h="411480">
                <a:tc>
                  <a:txBody>
                    <a:bodyPr/>
                    <a:lstStyle/>
                    <a:p>
                      <a:r>
                        <a:rPr sz="1300" b="0">
                          <a:solidFill>
                            <a:srgbClr val="1F2937"/>
                          </a:solidFill>
                        </a:rPr>
                        <a:t>Jarohat yoshi</a:t>
                      </a:r>
                    </a:p>
                  </a:txBody>
                  <a:tcPr marL="73152" marR="73152" marT="36576" marB="36576">
                    <a:solidFill>
                      <a:srgbClr val="FFFFFF"/>
                    </a:solidFill>
                  </a:tcPr>
                </a:tc>
                <a:tc>
                  <a:txBody>
                    <a:bodyPr/>
                    <a:lstStyle/>
                    <a:p>
                      <a:r>
                        <a:rPr sz="1300" b="0">
                          <a:solidFill>
                            <a:srgbClr val="1F2937"/>
                          </a:solidFill>
                        </a:rPr>
                        <a:t>Jarohatdan keyin qancha yashagan?</a:t>
                      </a:r>
                    </a:p>
                  </a:txBody>
                  <a:tcPr marL="73152" marR="73152" marT="36576" marB="36576">
                    <a:solidFill>
                      <a:srgbClr val="FFFFFF"/>
                    </a:solidFill>
                  </a:tcPr>
                </a:tc>
              </a:tr>
              <a:tr h="411480">
                <a:tc>
                  <a:txBody>
                    <a:bodyPr/>
                    <a:lstStyle/>
                    <a:p>
                      <a:r>
                        <a:rPr sz="1300" b="0">
                          <a:solidFill>
                            <a:srgbClr val="1F2937"/>
                          </a:solidFill>
                        </a:rPr>
                        <a:t>Davrlar</a:t>
                      </a:r>
                    </a:p>
                  </a:txBody>
                  <a:tcPr marL="73152" marR="73152" marT="36576" marB="36576">
                    <a:solidFill>
                      <a:srgbClr val="E8EEF6"/>
                    </a:solidFill>
                  </a:tcPr>
                </a:tc>
                <a:tc>
                  <a:txBody>
                    <a:bodyPr/>
                    <a:lstStyle/>
                    <a:p>
                      <a:r>
                        <a:rPr sz="1300" b="0">
                          <a:solidFill>
                            <a:srgbClr val="1F2937"/>
                          </a:solidFill>
                        </a:rPr>
                        <a:t>Tirik, agonal yoki o‘limdan keyin</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tushunchani solishtirish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N va boshq., Vitality and wound-age estimation in forensic pathology: review and future prospects, betlar: PMID 32490306; Maiese A va boshq., State-of-the-Art on Wound Vitality Evaluation: A Systematic Review, betlar: PMID 35805886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Hayotiy reaksiyalar zanjiri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78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Jarohatdan keyin qon quyilishi, yallig‘lanish hujayralari infiltratsiyasi va granulyatsion to‘qima hosil bo‘lishi kuzatiladi.</a:t>
            </a:r>
          </a:p>
          <a:p>
            <a:pPr>
              <a:spcAft>
                <a:spcPts val="800"/>
              </a:spcAft>
            </a:pPr>
            <a:r>
              <a:rPr sz="1800">
                <a:solidFill>
                  <a:srgbClr val="1F2937"/>
                </a:solidFill>
                <a:latin typeface="Calibri"/>
              </a:rPr>
              <a:t>▸  Bu tirikligidagi reaksiyalar yig‘ma ravishda vitalliklik deb ataladi.</a:t>
            </a:r>
          </a:p>
          <a:p>
            <a:pPr>
              <a:spcAft>
                <a:spcPts val="800"/>
              </a:spcAft>
            </a:pPr>
            <a:r>
              <a:rPr sz="1800">
                <a:solidFill>
                  <a:srgbClr val="1F2937"/>
                </a:solidFill>
                <a:latin typeface="Calibri"/>
              </a:rPr>
              <a:t>▸  Diqqat: qon hujayralarining tomirdan chiqishi o‘limdan keyin ham uchraydi; yolg‘iz ishonchli belgi emas.</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Jarohat yetkazilishi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Qon quyilishi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Yallig‘lanish infiltratsiyasi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Granulyatsion to‘qima</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Yig‘ma nomi: vitalliklik</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Vitalliklik belgilari ketma-ketligi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N va boshq., Vitality and wound-age estimation in forensic pathology: review and future prospects, betlar: PMID 32490306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Gistologik usullar: umumiy ko‘rinish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78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Gematoksilin-eozin (H&amp;E) va maxsus bo‘yoqlar jarohat yoshi va vitalligini baholashga yordam beradi.</a:t>
            </a:r>
          </a:p>
          <a:p>
            <a:pPr>
              <a:spcAft>
                <a:spcPts val="800"/>
              </a:spcAft>
            </a:pPr>
            <a:r>
              <a:rPr sz="1800">
                <a:solidFill>
                  <a:srgbClr val="1F2937"/>
                </a:solidFill>
                <a:latin typeface="Calibri"/>
              </a:rPr>
              <a:t>▸  Gistologiya o‘lim sababini aniqlash va tabiiy yoki tabiiy bo‘lmagan o‘limni ajratishda ham qo‘llanadi.</a:t>
            </a:r>
          </a:p>
          <a:p>
            <a:pPr>
              <a:spcAft>
                <a:spcPts val="800"/>
              </a:spcAft>
            </a:pPr>
            <a:r>
              <a:rPr sz="1800">
                <a:solidFill>
                  <a:srgbClr val="1F2937"/>
                </a:solidFill>
                <a:latin typeface="Calibri"/>
              </a:rPr>
              <a:t>▸  Immunogistokimyo (IGK) antigen–antitana reaksiyasiga asoslanadi; gistologiya yolg‘iz yetarli emas.</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1710815"/>
                <a:gridCol w="1918187"/>
                <a:gridCol w="1658972"/>
              </a:tblGrid>
              <a:tr h="411480">
                <a:tc>
                  <a:txBody>
                    <a:bodyPr/>
                    <a:lstStyle/>
                    <a:p>
                      <a:r>
                        <a:rPr sz="1300" b="1">
                          <a:solidFill>
                            <a:srgbClr val="FFFFFF"/>
                          </a:solidFill>
                        </a:rPr>
                        <a:t>Usul</a:t>
                      </a:r>
                    </a:p>
                  </a:txBody>
                  <a:tcPr marL="73152" marR="73152" marT="36576" marB="36576">
                    <a:solidFill>
                      <a:srgbClr val="0B1F3A"/>
                    </a:solidFill>
                  </a:tcPr>
                </a:tc>
                <a:tc>
                  <a:txBody>
                    <a:bodyPr/>
                    <a:lstStyle/>
                    <a:p>
                      <a:r>
                        <a:rPr sz="1300" b="1">
                          <a:solidFill>
                            <a:srgbClr val="FFFFFF"/>
                          </a:solidFill>
                        </a:rPr>
                        <a:t>Ko‘rsatadi</a:t>
                      </a:r>
                    </a:p>
                  </a:txBody>
                  <a:tcPr marL="73152" marR="73152" marT="36576" marB="36576">
                    <a:solidFill>
                      <a:srgbClr val="0B1F3A"/>
                    </a:solidFill>
                  </a:tcPr>
                </a:tc>
                <a:tc>
                  <a:txBody>
                    <a:bodyPr/>
                    <a:lstStyle/>
                    <a:p>
                      <a:r>
                        <a:rPr sz="1300" b="1">
                          <a:solidFill>
                            <a:srgbClr val="FFFFFF"/>
                          </a:solidFill>
                        </a:rPr>
                        <a:t>Cheklov</a:t>
                      </a:r>
                    </a:p>
                  </a:txBody>
                  <a:tcPr marL="73152" marR="73152" marT="36576" marB="36576">
                    <a:solidFill>
                      <a:srgbClr val="0B1F3A"/>
                    </a:solidFill>
                  </a:tcPr>
                </a:tc>
              </a:tr>
              <a:tr h="411480">
                <a:tc>
                  <a:txBody>
                    <a:bodyPr/>
                    <a:lstStyle/>
                    <a:p>
                      <a:r>
                        <a:rPr sz="1200" b="0">
                          <a:solidFill>
                            <a:srgbClr val="1F2937"/>
                          </a:solidFill>
                        </a:rPr>
                        <a:t>H&amp;E (gematoksilin-eozin)</a:t>
                      </a:r>
                    </a:p>
                  </a:txBody>
                  <a:tcPr marL="73152" marR="73152" marT="36576" marB="36576">
                    <a:solidFill>
                      <a:srgbClr val="E8EEF6"/>
                    </a:solidFill>
                  </a:tcPr>
                </a:tc>
                <a:tc>
                  <a:txBody>
                    <a:bodyPr/>
                    <a:lstStyle/>
                    <a:p>
                      <a:r>
                        <a:rPr sz="1200" b="0">
                          <a:solidFill>
                            <a:srgbClr val="1F2937"/>
                          </a:solidFill>
                        </a:rPr>
                        <a:t>Eritrotsit, yallig‘lanish, fibroblast</a:t>
                      </a:r>
                    </a:p>
                  </a:txBody>
                  <a:tcPr marL="73152" marR="73152" marT="36576" marB="36576">
                    <a:solidFill>
                      <a:srgbClr val="E8EEF6"/>
                    </a:solidFill>
                  </a:tcPr>
                </a:tc>
                <a:tc>
                  <a:txBody>
                    <a:bodyPr/>
                    <a:lstStyle/>
                    <a:p>
                      <a:r>
                        <a:rPr sz="1200" b="0">
                          <a:solidFill>
                            <a:srgbClr val="1F2937"/>
                          </a:solidFill>
                        </a:rPr>
                        <a:t>Operatorga bog‘liq; artefaktlar</a:t>
                      </a:r>
                    </a:p>
                  </a:txBody>
                  <a:tcPr marL="73152" marR="73152" marT="36576" marB="36576">
                    <a:solidFill>
                      <a:srgbClr val="E8EEF6"/>
                    </a:solidFill>
                  </a:tcPr>
                </a:tc>
              </a:tr>
              <a:tr h="411480">
                <a:tc>
                  <a:txBody>
                    <a:bodyPr/>
                    <a:lstStyle/>
                    <a:p>
                      <a:r>
                        <a:rPr sz="1200" b="0">
                          <a:solidFill>
                            <a:srgbClr val="1F2937"/>
                          </a:solidFill>
                        </a:rPr>
                        <a:t>Prussian ko‘k, elastika-van Gizon</a:t>
                      </a:r>
                    </a:p>
                  </a:txBody>
                  <a:tcPr marL="73152" marR="73152" marT="36576" marB="36576">
                    <a:solidFill>
                      <a:srgbClr val="FFFFFF"/>
                    </a:solidFill>
                  </a:tcPr>
                </a:tc>
                <a:tc>
                  <a:txBody>
                    <a:bodyPr/>
                    <a:lstStyle/>
                    <a:p>
                      <a:r>
                        <a:rPr sz="1200" b="0">
                          <a:solidFill>
                            <a:srgbClr val="1F2937"/>
                          </a:solidFill>
                        </a:rPr>
                        <a:t>Tirik reaksiyalarni ko‘rsatadi</a:t>
                      </a:r>
                    </a:p>
                  </a:txBody>
                  <a:tcPr marL="73152" marR="73152" marT="36576" marB="36576">
                    <a:solidFill>
                      <a:srgbClr val="FFFFFF"/>
                    </a:solidFill>
                  </a:tcPr>
                </a:tc>
                <a:tc>
                  <a:txBody>
                    <a:bodyPr/>
                    <a:lstStyle/>
                    <a:p>
                      <a:r>
                        <a:rPr sz="1200" b="0">
                          <a:solidFill>
                            <a:srgbClr val="1F2937"/>
                          </a:solidFill>
                        </a:rPr>
                        <a:t>Gistologiya yolg‘iz yetarli emas</a:t>
                      </a:r>
                    </a:p>
                  </a:txBody>
                  <a:tcPr marL="73152" marR="73152" marT="36576" marB="36576">
                    <a:solidFill>
                      <a:srgbClr val="FFFFFF"/>
                    </a:solidFill>
                  </a:tcPr>
                </a:tc>
              </a:tr>
              <a:tr h="411480">
                <a:tc>
                  <a:txBody>
                    <a:bodyPr/>
                    <a:lstStyle/>
                    <a:p>
                      <a:r>
                        <a:rPr sz="1200" b="0">
                          <a:solidFill>
                            <a:srgbClr val="1F2937"/>
                          </a:solidFill>
                        </a:rPr>
                        <a:t>Immunogistokimyo (IGK)</a:t>
                      </a:r>
                    </a:p>
                  </a:txBody>
                  <a:tcPr marL="73152" marR="73152" marT="36576" marB="36576">
                    <a:solidFill>
                      <a:srgbClr val="E8EEF6"/>
                    </a:solidFill>
                  </a:tcPr>
                </a:tc>
                <a:tc>
                  <a:txBody>
                    <a:bodyPr/>
                    <a:lstStyle/>
                    <a:p>
                      <a:r>
                        <a:rPr sz="1200" b="0">
                          <a:solidFill>
                            <a:srgbClr val="1F2937"/>
                          </a:solidFill>
                        </a:rPr>
                        <a:t>Sitokinlar, yallig‘lanish hujayralari</a:t>
                      </a:r>
                    </a:p>
                  </a:txBody>
                  <a:tcPr marL="73152" marR="73152" marT="36576" marB="36576">
                    <a:solidFill>
                      <a:srgbClr val="E8EEF6"/>
                    </a:solidFill>
                  </a:tcPr>
                </a:tc>
                <a:tc>
                  <a:txBody>
                    <a:bodyPr/>
                    <a:lstStyle/>
                    <a:p>
                      <a:r>
                        <a:rPr sz="1200" b="0">
                          <a:solidFill>
                            <a:srgbClr val="1F2937"/>
                          </a:solidFill>
                        </a:rPr>
                        <a:t>Yagona xalqaro protokol yo‘q</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Usullar solishtirmasi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Pigaiani N va boshq., iForensic, betlar: PMID 39836212; Maiese A va boshq., State-of-the-Art on Wound Vitality Evaluation: A Systematic Review, betlar: PMID 35805886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 jarohat tirik paytda yetkazilganmi?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78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jasadda bir nechta jarohat bor va ularni turli shaxslar yetkazgan deb taxmin qilinadi.</a:t>
            </a:r>
          </a:p>
          <a:p>
            <a:pPr>
              <a:spcAft>
                <a:spcPts val="1200"/>
              </a:spcAft>
            </a:pPr>
            <a:r>
              <a:rPr sz="2200">
                <a:solidFill>
                  <a:srgbClr val="1F2937"/>
                </a:solidFill>
                <a:latin typeface="Calibri"/>
              </a:rPr>
              <a:t>▸  Jazo odatda jarohat og‘irligiga qarab farqlanadi, shuning uchun jarohatlar vaqti va tartibini aniqlash zarur.</a:t>
            </a:r>
          </a:p>
          <a:p>
            <a:pPr>
              <a:spcAft>
                <a:spcPts val="1200"/>
              </a:spcAft>
            </a:pPr>
            <a:r>
              <a:rPr sz="2200">
                <a:solidFill>
                  <a:srgbClr val="1F2937"/>
                </a:solidFill>
                <a:latin typeface="Calibri"/>
              </a:rPr>
              <a:t>▸  Patolog ikki savol qo‘yadi: jarohat tirik paytdami, agonal yoki o‘limdan keyingi davrdami? Jabrlanuvchi undan keyin qancha yashagan?</a:t>
            </a:r>
          </a:p>
          <a:p>
            <a:pPr>
              <a:spcAft>
                <a:spcPts val="1200"/>
              </a:spcAft>
            </a:pPr>
            <a:r>
              <a:rPr sz="2200">
                <a:solidFill>
                  <a:srgbClr val="1F2937"/>
                </a:solidFill>
                <a:latin typeface="Calibri"/>
              </a:rPr>
              <a:t>▸  Savol: nima uchun jarohatga faqat ko‘z bilan qarab xulosa qilish ishonchli emas?</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N va boshq., Vitality and wound-age estimation in forensic pathology: review and future prospects, betlar: PMID 32490306; Maiese A va boshq., State-of-the-Art on Wound Vitality Evaluation: A Systematic Review, betlar: PMID 35805886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Jarohat yoshini aniqlashda ko‘p o‘rganiladigan to‘qimalar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78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Teri, skelet mushagi va miya jarohat atrofida eng ko‘p o‘rganilgan, chunki amaliyotda tez uchraydi.</a:t>
            </a:r>
          </a:p>
          <a:p>
            <a:pPr>
              <a:spcAft>
                <a:spcPts val="800"/>
              </a:spcAft>
            </a:pPr>
            <a:r>
              <a:rPr sz="1800">
                <a:solidFill>
                  <a:srgbClr val="1F2937"/>
                </a:solidFill>
                <a:latin typeface="Calibri"/>
              </a:rPr>
              <a:t>▸  Ko‘rib chiqilgan tadqiqotlarda asosan kesilgan yoki ezilgan jarohatlar o‘rganilgan.</a:t>
            </a:r>
          </a:p>
          <a:p>
            <a:pPr>
              <a:spcAft>
                <a:spcPts val="800"/>
              </a:spcAft>
            </a:pPr>
            <a:r>
              <a:rPr sz="1800">
                <a:solidFill>
                  <a:srgbClr val="1F2937"/>
                </a:solidFill>
                <a:latin typeface="Calibri"/>
              </a:rPr>
              <a:t>▸  Tadqiqotlar asosan hayvon va otopsiya namunalariga tayangan; ba’zilari tirik odamlardan olingan.</a:t>
            </a:r>
          </a:p>
        </p:txBody>
      </p:sp>
      <p:graphicFrame>
        <p:nvGraphicFramePr>
          <p:cNvPr id="9" name="Table 8"/>
          <p:cNvGraphicFramePr>
            <a:graphicFrameLocks noGrp="1"/>
          </p:cNvGraphicFramePr>
          <p:nvPr/>
        </p:nvGraphicFramePr>
        <p:xfrm>
          <a:off x="6263640" y="1463040"/>
          <a:ext cx="5287975" cy="1645920"/>
        </p:xfrm>
        <a:graphic>
          <a:graphicData uri="http://schemas.openxmlformats.org/drawingml/2006/table">
            <a:tbl>
              <a:tblPr firstRow="1" bandRow="1">
                <a:tableStyleId>{5C22544A-7EE6-4342-B048-85BDC9FD1C3A}</a:tableStyleId>
              </a:tblPr>
              <a:tblGrid>
                <a:gridCol w="961450"/>
                <a:gridCol w="2403625"/>
                <a:gridCol w="1922900"/>
              </a:tblGrid>
              <a:tr h="411480">
                <a:tc>
                  <a:txBody>
                    <a:bodyPr/>
                    <a:lstStyle/>
                    <a:p>
                      <a:r>
                        <a:rPr sz="1300" b="1">
                          <a:solidFill>
                            <a:srgbClr val="FFFFFF"/>
                          </a:solidFill>
                        </a:rPr>
                        <a:t>To‘qima</a:t>
                      </a:r>
                    </a:p>
                  </a:txBody>
                  <a:tcPr marL="73152" marR="73152" marT="36576" marB="36576">
                    <a:solidFill>
                      <a:srgbClr val="0B1F3A"/>
                    </a:solidFill>
                  </a:tcPr>
                </a:tc>
                <a:tc>
                  <a:txBody>
                    <a:bodyPr/>
                    <a:lstStyle/>
                    <a:p>
                      <a:r>
                        <a:rPr sz="1300" b="1">
                          <a:solidFill>
                            <a:srgbClr val="FFFFFF"/>
                          </a:solidFill>
                        </a:rPr>
                        <a:t>Nega tanlanadi</a:t>
                      </a:r>
                    </a:p>
                  </a:txBody>
                  <a:tcPr marL="73152" marR="73152" marT="36576" marB="36576">
                    <a:solidFill>
                      <a:srgbClr val="0B1F3A"/>
                    </a:solidFill>
                  </a:tcPr>
                </a:tc>
                <a:tc>
                  <a:txBody>
                    <a:bodyPr/>
                    <a:lstStyle/>
                    <a:p>
                      <a:r>
                        <a:rPr sz="1300" b="1">
                          <a:solidFill>
                            <a:srgbClr val="FFFFFF"/>
                          </a:solidFill>
                        </a:rPr>
                        <a:t>Tadqiqot turi</a:t>
                      </a:r>
                    </a:p>
                  </a:txBody>
                  <a:tcPr marL="73152" marR="73152" marT="36576" marB="36576">
                    <a:solidFill>
                      <a:srgbClr val="0B1F3A"/>
                    </a:solidFill>
                  </a:tcPr>
                </a:tc>
              </a:tr>
              <a:tr h="411480">
                <a:tc>
                  <a:txBody>
                    <a:bodyPr/>
                    <a:lstStyle/>
                    <a:p>
                      <a:r>
                        <a:rPr sz="1200" b="0">
                          <a:solidFill>
                            <a:srgbClr val="1F2937"/>
                          </a:solidFill>
                        </a:rPr>
                        <a:t>Teri</a:t>
                      </a:r>
                    </a:p>
                  </a:txBody>
                  <a:tcPr marL="73152" marR="73152" marT="36576" marB="36576">
                    <a:solidFill>
                      <a:srgbClr val="E8EEF6"/>
                    </a:solidFill>
                  </a:tcPr>
                </a:tc>
                <a:tc>
                  <a:txBody>
                    <a:bodyPr/>
                    <a:lstStyle/>
                    <a:p>
                      <a:r>
                        <a:rPr sz="1200" b="0">
                          <a:solidFill>
                            <a:srgbClr val="1F2937"/>
                          </a:solidFill>
                        </a:rPr>
                        <a:t>Amaliyotda tez-tez uchraydi</a:t>
                      </a:r>
                    </a:p>
                  </a:txBody>
                  <a:tcPr marL="73152" marR="73152" marT="36576" marB="36576">
                    <a:solidFill>
                      <a:srgbClr val="E8EEF6"/>
                    </a:solidFill>
                  </a:tcPr>
                </a:tc>
                <a:tc>
                  <a:txBody>
                    <a:bodyPr/>
                    <a:lstStyle/>
                    <a:p>
                      <a:r>
                        <a:rPr sz="1200" b="0">
                          <a:solidFill>
                            <a:srgbClr val="1F2937"/>
                          </a:solidFill>
                        </a:rPr>
                        <a:t>Ko‘proq tekshiruv tadqiqotlarida</a:t>
                      </a:r>
                    </a:p>
                  </a:txBody>
                  <a:tcPr marL="73152" marR="73152" marT="36576" marB="36576">
                    <a:solidFill>
                      <a:srgbClr val="E8EEF6"/>
                    </a:solidFill>
                  </a:tcPr>
                </a:tc>
              </a:tr>
              <a:tr h="411480">
                <a:tc>
                  <a:txBody>
                    <a:bodyPr/>
                    <a:lstStyle/>
                    <a:p>
                      <a:r>
                        <a:rPr sz="1200" b="0">
                          <a:solidFill>
                            <a:srgbClr val="1F2937"/>
                          </a:solidFill>
                        </a:rPr>
                        <a:t>Skelet mushagi</a:t>
                      </a:r>
                    </a:p>
                  </a:txBody>
                  <a:tcPr marL="73152" marR="73152" marT="36576" marB="36576">
                    <a:solidFill>
                      <a:srgbClr val="FFFFFF"/>
                    </a:solidFill>
                  </a:tcPr>
                </a:tc>
                <a:tc>
                  <a:txBody>
                    <a:bodyPr/>
                    <a:lstStyle/>
                    <a:p>
                      <a:r>
                        <a:rPr sz="1200" b="0">
                          <a:solidFill>
                            <a:srgbClr val="1F2937"/>
                          </a:solidFill>
                        </a:rPr>
                        <a:t>Amaliyotda tez-tez uchraydi</a:t>
                      </a:r>
                    </a:p>
                  </a:txBody>
                  <a:tcPr marL="73152" marR="73152" marT="36576" marB="36576">
                    <a:solidFill>
                      <a:srgbClr val="FFFFFF"/>
                    </a:solidFill>
                  </a:tcPr>
                </a:tc>
                <a:tc>
                  <a:txBody>
                    <a:bodyPr/>
                    <a:lstStyle/>
                    <a:p>
                      <a:r>
                        <a:rPr sz="1200" b="0">
                          <a:solidFill>
                            <a:srgbClr val="1F2937"/>
                          </a:solidFill>
                        </a:rPr>
                        <a:t>Ko‘proq tajriba tadqiqotlarida</a:t>
                      </a:r>
                    </a:p>
                  </a:txBody>
                  <a:tcPr marL="73152" marR="73152" marT="36576" marB="36576">
                    <a:solidFill>
                      <a:srgbClr val="FFFFFF"/>
                    </a:solidFill>
                  </a:tcPr>
                </a:tc>
              </a:tr>
              <a:tr h="411480">
                <a:tc>
                  <a:txBody>
                    <a:bodyPr/>
                    <a:lstStyle/>
                    <a:p>
                      <a:r>
                        <a:rPr sz="1200" b="0">
                          <a:solidFill>
                            <a:srgbClr val="1F2937"/>
                          </a:solidFill>
                        </a:rPr>
                        <a:t>Miya</a:t>
                      </a:r>
                    </a:p>
                  </a:txBody>
                  <a:tcPr marL="73152" marR="73152" marT="36576" marB="36576">
                    <a:solidFill>
                      <a:srgbClr val="E8EEF6"/>
                    </a:solidFill>
                  </a:tcPr>
                </a:tc>
                <a:tc>
                  <a:txBody>
                    <a:bodyPr/>
                    <a:lstStyle/>
                    <a:p>
                      <a:r>
                        <a:rPr sz="1200" b="0">
                          <a:solidFill>
                            <a:srgbClr val="1F2937"/>
                          </a:solidFill>
                        </a:rPr>
                        <a:t>Zo‘ravon o‘limda ko‘p va ko‘pincha o‘ldiradi</a:t>
                      </a:r>
                    </a:p>
                  </a:txBody>
                  <a:tcPr marL="73152" marR="73152" marT="36576" marB="36576">
                    <a:solidFill>
                      <a:srgbClr val="E8EEF6"/>
                    </a:solidFill>
                  </a:tcPr>
                </a:tc>
                <a:tc>
                  <a:txBody>
                    <a:bodyPr/>
                    <a:lstStyle/>
                    <a:p>
                      <a:r>
                        <a:rPr sz="1200" b="0">
                          <a:solidFill>
                            <a:srgbClr val="1F2937"/>
                          </a:solidFill>
                        </a:rPr>
                        <a:t>Jarohat yoshi tadqiqotlari ko‘p</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Asosiy to‘qimalar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N va boshq., Vitality and wound-age estimation in forensic pathology: review and future prospects, betlar: PMID 32490306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Namuna manbalari: hayvon, autopsiya, tirik odam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78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Hayvonda vaqt nazorat qilinadi, bitish jarayoni odamnikiga o‘xshash.</a:t>
            </a:r>
          </a:p>
          <a:p>
            <a:pPr>
              <a:spcAft>
                <a:spcPts val="800"/>
              </a:spcAft>
            </a:pPr>
            <a:r>
              <a:rPr sz="1800">
                <a:solidFill>
                  <a:srgbClr val="1F2937"/>
                </a:solidFill>
                <a:latin typeface="Calibri"/>
              </a:rPr>
              <a:t>▸  Autopsiya namunasi eng real, lekin hujjatlar yetarli emas va postmortem o‘zgarishlar xalaqit beradi.</a:t>
            </a:r>
          </a:p>
          <a:p>
            <a:pPr>
              <a:spcAft>
                <a:spcPts val="800"/>
              </a:spcAft>
            </a:pPr>
            <a:r>
              <a:rPr sz="1800">
                <a:solidFill>
                  <a:srgbClr val="1F2937"/>
                </a:solidFill>
                <a:latin typeface="Calibri"/>
              </a:rPr>
              <a:t>▸  Tirik odam namunasida vaqt aniq yozilgan, lekin u odatda kasal bemorlardan olinadi.</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940084"/>
                <a:gridCol w="1997679"/>
                <a:gridCol w="2350211"/>
              </a:tblGrid>
              <a:tr h="411480">
                <a:tc>
                  <a:txBody>
                    <a:bodyPr/>
                    <a:lstStyle/>
                    <a:p>
                      <a:r>
                        <a:rPr sz="1300" b="1">
                          <a:solidFill>
                            <a:srgbClr val="FFFFFF"/>
                          </a:solidFill>
                        </a:rPr>
                        <a:t>Manba</a:t>
                      </a:r>
                    </a:p>
                  </a:txBody>
                  <a:tcPr marL="73152" marR="73152" marT="36576" marB="36576">
                    <a:solidFill>
                      <a:srgbClr val="0B1F3A"/>
                    </a:solidFill>
                  </a:tcPr>
                </a:tc>
                <a:tc>
                  <a:txBody>
                    <a:bodyPr/>
                    <a:lstStyle/>
                    <a:p>
                      <a:r>
                        <a:rPr sz="1300" b="1">
                          <a:solidFill>
                            <a:srgbClr val="FFFFFF"/>
                          </a:solidFill>
                        </a:rPr>
                        <a:t>Afzalligi</a:t>
                      </a:r>
                    </a:p>
                  </a:txBody>
                  <a:tcPr marL="73152" marR="73152" marT="36576" marB="36576">
                    <a:solidFill>
                      <a:srgbClr val="0B1F3A"/>
                    </a:solidFill>
                  </a:tcPr>
                </a:tc>
                <a:tc>
                  <a:txBody>
                    <a:bodyPr/>
                    <a:lstStyle/>
                    <a:p>
                      <a:r>
                        <a:rPr sz="1300" b="1">
                          <a:solidFill>
                            <a:srgbClr val="FFFFFF"/>
                          </a:solidFill>
                        </a:rPr>
                        <a:t>Kamchiligi</a:t>
                      </a:r>
                    </a:p>
                  </a:txBody>
                  <a:tcPr marL="73152" marR="73152" marT="36576" marB="36576">
                    <a:solidFill>
                      <a:srgbClr val="0B1F3A"/>
                    </a:solidFill>
                  </a:tcPr>
                </a:tc>
              </a:tr>
              <a:tr h="411480">
                <a:tc>
                  <a:txBody>
                    <a:bodyPr/>
                    <a:lstStyle/>
                    <a:p>
                      <a:r>
                        <a:rPr sz="1200" b="0">
                          <a:solidFill>
                            <a:srgbClr val="1F2937"/>
                          </a:solidFill>
                        </a:rPr>
                        <a:t>Hayvon</a:t>
                      </a:r>
                    </a:p>
                  </a:txBody>
                  <a:tcPr marL="73152" marR="73152" marT="36576" marB="36576">
                    <a:solidFill>
                      <a:srgbClr val="E8EEF6"/>
                    </a:solidFill>
                  </a:tcPr>
                </a:tc>
                <a:tc>
                  <a:txBody>
                    <a:bodyPr/>
                    <a:lstStyle/>
                    <a:p>
                      <a:r>
                        <a:rPr sz="1200" b="0">
                          <a:solidFill>
                            <a:srgbClr val="1F2937"/>
                          </a:solidFill>
                        </a:rPr>
                        <a:t>Nazorat qilinadi, takrorlanuvchan</a:t>
                      </a:r>
                    </a:p>
                  </a:txBody>
                  <a:tcPr marL="73152" marR="73152" marT="36576" marB="36576">
                    <a:solidFill>
                      <a:srgbClr val="E8EEF6"/>
                    </a:solidFill>
                  </a:tcPr>
                </a:tc>
                <a:tc>
                  <a:txBody>
                    <a:bodyPr/>
                    <a:lstStyle/>
                    <a:p>
                      <a:r>
                        <a:rPr sz="1200" b="0">
                          <a:solidFill>
                            <a:srgbClr val="1F2937"/>
                          </a:solidFill>
                        </a:rPr>
                        <a:t>Odamga qo‘llanishi noaniq</a:t>
                      </a:r>
                    </a:p>
                  </a:txBody>
                  <a:tcPr marL="73152" marR="73152" marT="36576" marB="36576">
                    <a:solidFill>
                      <a:srgbClr val="E8EEF6"/>
                    </a:solidFill>
                  </a:tcPr>
                </a:tc>
              </a:tr>
              <a:tr h="411480">
                <a:tc>
                  <a:txBody>
                    <a:bodyPr/>
                    <a:lstStyle/>
                    <a:p>
                      <a:r>
                        <a:rPr sz="1200" b="0">
                          <a:solidFill>
                            <a:srgbClr val="1F2937"/>
                          </a:solidFill>
                        </a:rPr>
                        <a:t>Autopsiya</a:t>
                      </a:r>
                    </a:p>
                  </a:txBody>
                  <a:tcPr marL="73152" marR="73152" marT="36576" marB="36576">
                    <a:solidFill>
                      <a:srgbClr val="FFFFFF"/>
                    </a:solidFill>
                  </a:tcPr>
                </a:tc>
                <a:tc>
                  <a:txBody>
                    <a:bodyPr/>
                    <a:lstStyle/>
                    <a:p>
                      <a:r>
                        <a:rPr sz="1200" b="0">
                          <a:solidFill>
                            <a:srgbClr val="1F2937"/>
                          </a:solidFill>
                        </a:rPr>
                        <a:t>Eng real; yoshi ma’lum bo‘lsa aniq</a:t>
                      </a:r>
                    </a:p>
                  </a:txBody>
                  <a:tcPr marL="73152" marR="73152" marT="36576" marB="36576">
                    <a:solidFill>
                      <a:srgbClr val="FFFFFF"/>
                    </a:solidFill>
                  </a:tcPr>
                </a:tc>
                <a:tc>
                  <a:txBody>
                    <a:bodyPr/>
                    <a:lstStyle/>
                    <a:p>
                      <a:r>
                        <a:rPr sz="1200" b="0">
                          <a:solidFill>
                            <a:srgbClr val="1F2937"/>
                          </a:solidFill>
                        </a:rPr>
                        <a:t>Ma’lumot yetishmaydi, chirish o‘zgarishi</a:t>
                      </a:r>
                    </a:p>
                  </a:txBody>
                  <a:tcPr marL="73152" marR="73152" marT="36576" marB="36576">
                    <a:solidFill>
                      <a:srgbClr val="FFFFFF"/>
                    </a:solidFill>
                  </a:tcPr>
                </a:tc>
              </a:tr>
              <a:tr h="411480">
                <a:tc>
                  <a:txBody>
                    <a:bodyPr/>
                    <a:lstStyle/>
                    <a:p>
                      <a:r>
                        <a:rPr sz="1200" b="0">
                          <a:solidFill>
                            <a:srgbClr val="1F2937"/>
                          </a:solidFill>
                        </a:rPr>
                        <a:t>Tirik odam</a:t>
                      </a:r>
                    </a:p>
                  </a:txBody>
                  <a:tcPr marL="73152" marR="73152" marT="36576" marB="36576">
                    <a:solidFill>
                      <a:srgbClr val="E8EEF6"/>
                    </a:solidFill>
                  </a:tcPr>
                </a:tc>
                <a:tc>
                  <a:txBody>
                    <a:bodyPr/>
                    <a:lstStyle/>
                    <a:p>
                      <a:r>
                        <a:rPr sz="1200" b="0">
                          <a:solidFill>
                            <a:srgbClr val="1F2937"/>
                          </a:solidFill>
                        </a:rPr>
                        <a:t>Odam namunasi, vaqti aniq</a:t>
                      </a:r>
                    </a:p>
                  </a:txBody>
                  <a:tcPr marL="73152" marR="73152" marT="36576" marB="36576">
                    <a:solidFill>
                      <a:srgbClr val="E8EEF6"/>
                    </a:solidFill>
                  </a:tcPr>
                </a:tc>
                <a:tc>
                  <a:txBody>
                    <a:bodyPr/>
                    <a:lstStyle/>
                    <a:p>
                      <a:r>
                        <a:rPr sz="1200" b="0">
                          <a:solidFill>
                            <a:srgbClr val="1F2937"/>
                          </a:solidFill>
                        </a:rPr>
                        <a:t>Sog‘lom emas, namuna kam</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Uch namuna manbasi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N va boshq., Vitality and wound-age estimation in forensic pathology: review and future prospects, betlar: PMID 32490306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Etika va namuna cheklovlari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78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Odamlarda tadqiqot mahalliy etika qo‘mitasi tasdig‘ini talab qiladi. Tirik donor to‘qimasini ishlatish ham muhim etik masala.</a:t>
            </a:r>
          </a:p>
          <a:p>
            <a:pPr>
              <a:spcAft>
                <a:spcPts val="1200"/>
              </a:spcAft>
            </a:pPr>
            <a:r>
              <a:rPr sz="2200">
                <a:solidFill>
                  <a:srgbClr val="1F2937"/>
                </a:solidFill>
                <a:latin typeface="Calibri"/>
              </a:rPr>
              <a:t>▸  Vaqti ma’lum odam namunalarini olish etik muammolarga ega va oson emas, shuning uchun hayvon tadqiqotlari zarur.</a:t>
            </a:r>
          </a:p>
          <a:p>
            <a:pPr>
              <a:spcAft>
                <a:spcPts val="1200"/>
              </a:spcAft>
            </a:pPr>
            <a:r>
              <a:rPr sz="2200">
                <a:solidFill>
                  <a:srgbClr val="1F2937"/>
                </a:solidFill>
                <a:latin typeface="Calibri"/>
              </a:rPr>
              <a:t>▸  Diqqat: hayvon natijasi ≠ odamda isbotlangan natija. Yuqori gomologiyali markerlar o‘xshash vazifa bajarishi mumkin.</a:t>
            </a:r>
          </a:p>
          <a:p>
            <a:pPr>
              <a:spcAft>
                <a:spcPts val="1200"/>
              </a:spcAft>
            </a:pPr>
            <a:r>
              <a:rPr sz="2200">
                <a:solidFill>
                  <a:srgbClr val="1F2937"/>
                </a:solidFill>
                <a:latin typeface="Calibri"/>
              </a:rPr>
              <a:t>▸  Tirik odamdan namuna noinvaziv (surtma) olinadi. Hajm yetarli bo‘lmasa, natija ishonchsiz, ba’zan yolg‘on manfiy chiqadi.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N va boshq., Vitality and wound-age estimation in forensic pathology: review and future prospects, betlar: PMID 32490306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2: qaysi namunaga tayanamiz?</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78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A — autopsiya namunasi, jarohat vaqti noma’lum; B — tirik odamdan olingan, vaqti aniq yozilgan namuna.</a:t>
            </a:r>
          </a:p>
          <a:p>
            <a:pPr>
              <a:spcAft>
                <a:spcPts val="1200"/>
              </a:spcAft>
            </a:pPr>
            <a:r>
              <a:rPr sz="2200">
                <a:solidFill>
                  <a:srgbClr val="1F2937"/>
                </a:solidFill>
                <a:latin typeface="Calibri"/>
              </a:rPr>
              <a:t>▸  A da chirish, parchalanish, qurish, odam yoshi, jarohat joyi va yashash vaqti hisobga olinishi kerak.</a:t>
            </a:r>
          </a:p>
          <a:p>
            <a:pPr>
              <a:spcAft>
                <a:spcPts val="1200"/>
              </a:spcAft>
            </a:pPr>
            <a:r>
              <a:rPr sz="2200">
                <a:solidFill>
                  <a:srgbClr val="1F2937"/>
                </a:solidFill>
                <a:latin typeface="Calibri"/>
              </a:rPr>
              <a:t>▸  B da vaqt aniq, lekin namuna kichik bo‘lishi va yolg‘on manfiy natija chiqishi mumkin. Probirkada saqlash vital reaksiyani bostiradi.</a:t>
            </a:r>
          </a:p>
          <a:p>
            <a:pPr>
              <a:spcAft>
                <a:spcPts val="1200"/>
              </a:spcAft>
            </a:pPr>
            <a:r>
              <a:rPr sz="2200">
                <a:solidFill>
                  <a:srgbClr val="1F2937"/>
                </a:solidFill>
                <a:latin typeface="Calibri"/>
              </a:rPr>
              <a:t>▸  Savol: qaysi namunaga tayanasiz va postmortem ta’sirni qanday nazorat qilasiz?</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N va boshq., Vitality and wound-age estimation in forensic pathology: review and future prospects, betlar: PMID 32490306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Makroskopik baholash: gematoma rangi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78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Ko‘k-qonama rangiga qarab uning yoshini aniqlashga urinishlar uzoq vaqtdan beri qo‘llanib kelinadi.</a:t>
            </a:r>
          </a:p>
          <a:p>
            <a:pPr>
              <a:spcAft>
                <a:spcPts val="1200"/>
              </a:spcAft>
            </a:pPr>
            <a:r>
              <a:rPr sz="2200">
                <a:solidFill>
                  <a:srgbClr val="1F2937"/>
                </a:solidFill>
                <a:latin typeface="Calibri"/>
              </a:rPr>
              <a:t>▸  Bu usul amaliy qo‘llash uchun juda o‘zgaruvchan. Qonama rangi va paydo bo‘lish vaqtiga chuqurlik, joylashuv va teri rangi ta’sir qiladi.</a:t>
            </a:r>
          </a:p>
          <a:p>
            <a:pPr>
              <a:spcAft>
                <a:spcPts val="1200"/>
              </a:spcAft>
            </a:pPr>
            <a:r>
              <a:rPr sz="2200">
                <a:solidFill>
                  <a:srgbClr val="1F2937"/>
                </a:solidFill>
                <a:latin typeface="Calibri"/>
              </a:rPr>
              <a:t>▸  Terida yumshoq to‘qimalarga qon quyilishi qonamaning vitalligini, rang o‘zgarishi esa yashash vaqtini ko‘rsatishi mumkin.</a:t>
            </a:r>
          </a:p>
          <a:p>
            <a:pPr>
              <a:spcAft>
                <a:spcPts val="1200"/>
              </a:spcAft>
            </a:pPr>
            <a:r>
              <a:rPr sz="2200">
                <a:solidFill>
                  <a:srgbClr val="1F2937"/>
                </a:solidFill>
                <a:latin typeface="Calibri"/>
              </a:rPr>
              <a:t>▸  Jarohatni ko‘z bilan ko‘rib baholash vitallikni isbotlash uchun ishonchli usul emas.</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N va boshq., Vitality and wound-age estimation in forensic pathology: review and future prospects, betlar: PMID 32490306; Maiese A va boshq., State-of-the-Art on Wound Vitality Evaluation: A Systematic Review, betlar: PMID 35805886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H&amp;E, Berlin ko‘ki va boshqa bo‘yoqlar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78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Oddiy gistologiya (H&amp;E, Berlin ko‘ki) jarohatdan taxminan 6 soat o‘tgach o‘zgarishlarni ko‘rsatishi mumkin.</a:t>
            </a:r>
          </a:p>
          <a:p>
            <a:pPr>
              <a:spcAft>
                <a:spcPts val="800"/>
              </a:spcAft>
            </a:pPr>
            <a:r>
              <a:rPr sz="1800">
                <a:solidFill>
                  <a:srgbClr val="1F2937"/>
                </a:solidFill>
                <a:latin typeface="Calibri"/>
              </a:rPr>
              <a:t>▸  H&amp;E bilan birga Prussiya ko‘ki va elastika-van Gizon bo‘yoqlari vital reaksiyalarni ko‘rinadigan qiladi.</a:t>
            </a:r>
          </a:p>
          <a:p>
            <a:pPr>
              <a:spcAft>
                <a:spcPts val="800"/>
              </a:spcAft>
            </a:pPr>
            <a:r>
              <a:rPr sz="1800">
                <a:solidFill>
                  <a:srgbClr val="1F2937"/>
                </a:solidFill>
                <a:latin typeface="Calibri"/>
              </a:rPr>
              <a:t>▸  Amaliy qo‘llanilishi cheklangan: faqat gistologiya vitallikni isbotlash uchun yetarli emas.</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335909"/>
                <a:gridCol w="2170852"/>
                <a:gridCol w="1781212"/>
              </a:tblGrid>
              <a:tr h="411480">
                <a:tc>
                  <a:txBody>
                    <a:bodyPr/>
                    <a:lstStyle/>
                    <a:p>
                      <a:r>
                        <a:rPr sz="1300" b="1">
                          <a:solidFill>
                            <a:srgbClr val="FFFFFF"/>
                          </a:solidFill>
                        </a:rPr>
                        <a:t>Bo‘yoq</a:t>
                      </a:r>
                    </a:p>
                  </a:txBody>
                  <a:tcPr marL="73152" marR="73152" marT="36576" marB="36576">
                    <a:solidFill>
                      <a:srgbClr val="0B1F3A"/>
                    </a:solidFill>
                  </a:tcPr>
                </a:tc>
                <a:tc>
                  <a:txBody>
                    <a:bodyPr/>
                    <a:lstStyle/>
                    <a:p>
                      <a:r>
                        <a:rPr sz="1300" b="1">
                          <a:solidFill>
                            <a:srgbClr val="FFFFFF"/>
                          </a:solidFill>
                        </a:rPr>
                        <a:t>Vazifasi</a:t>
                      </a:r>
                    </a:p>
                  </a:txBody>
                  <a:tcPr marL="73152" marR="73152" marT="36576" marB="36576">
                    <a:solidFill>
                      <a:srgbClr val="0B1F3A"/>
                    </a:solidFill>
                  </a:tcPr>
                </a:tc>
                <a:tc>
                  <a:txBody>
                    <a:bodyPr/>
                    <a:lstStyle/>
                    <a:p>
                      <a:r>
                        <a:rPr sz="1300" b="1">
                          <a:solidFill>
                            <a:srgbClr val="FFFFFF"/>
                          </a:solidFill>
                        </a:rPr>
                        <a:t>Cheklov</a:t>
                      </a:r>
                    </a:p>
                  </a:txBody>
                  <a:tcPr marL="73152" marR="73152" marT="36576" marB="36576">
                    <a:solidFill>
                      <a:srgbClr val="0B1F3A"/>
                    </a:solidFill>
                  </a:tcPr>
                </a:tc>
              </a:tr>
              <a:tr h="411480">
                <a:tc>
                  <a:txBody>
                    <a:bodyPr/>
                    <a:lstStyle/>
                    <a:p>
                      <a:r>
                        <a:rPr sz="1200" b="0">
                          <a:solidFill>
                            <a:srgbClr val="1F2937"/>
                          </a:solidFill>
                        </a:rPr>
                        <a:t>H&amp;E (gematoksilin-eozin)</a:t>
                      </a:r>
                    </a:p>
                  </a:txBody>
                  <a:tcPr marL="73152" marR="73152" marT="36576" marB="36576">
                    <a:solidFill>
                      <a:srgbClr val="E8EEF6"/>
                    </a:solidFill>
                  </a:tcPr>
                </a:tc>
                <a:tc>
                  <a:txBody>
                    <a:bodyPr/>
                    <a:lstStyle/>
                    <a:p>
                      <a:r>
                        <a:rPr sz="1200" b="0">
                          <a:solidFill>
                            <a:srgbClr val="1F2937"/>
                          </a:solidFill>
                        </a:rPr>
                        <a:t>Vital reaksiyalarni ko‘rsatish</a:t>
                      </a:r>
                    </a:p>
                  </a:txBody>
                  <a:tcPr marL="73152" marR="73152" marT="36576" marB="36576">
                    <a:solidFill>
                      <a:srgbClr val="E8EEF6"/>
                    </a:solidFill>
                  </a:tcPr>
                </a:tc>
                <a:tc>
                  <a:txBody>
                    <a:bodyPr/>
                    <a:lstStyle/>
                    <a:p>
                      <a:r>
                        <a:rPr sz="1200" b="0">
                          <a:solidFill>
                            <a:srgbClr val="1F2937"/>
                          </a:solidFill>
                        </a:rPr>
                        <a:t>Operator va bo‘yash artefaktlari</a:t>
                      </a:r>
                    </a:p>
                  </a:txBody>
                  <a:tcPr marL="73152" marR="73152" marT="36576" marB="36576">
                    <a:solidFill>
                      <a:srgbClr val="E8EEF6"/>
                    </a:solidFill>
                  </a:tcPr>
                </a:tc>
              </a:tr>
              <a:tr h="411480">
                <a:tc>
                  <a:txBody>
                    <a:bodyPr/>
                    <a:lstStyle/>
                    <a:p>
                      <a:r>
                        <a:rPr sz="1200" b="0">
                          <a:solidFill>
                            <a:srgbClr val="1F2937"/>
                          </a:solidFill>
                        </a:rPr>
                        <a:t>Berlin ko‘ki</a:t>
                      </a:r>
                    </a:p>
                  </a:txBody>
                  <a:tcPr marL="73152" marR="73152" marT="36576" marB="36576">
                    <a:solidFill>
                      <a:srgbClr val="FFFFFF"/>
                    </a:solidFill>
                  </a:tcPr>
                </a:tc>
                <a:tc>
                  <a:txBody>
                    <a:bodyPr/>
                    <a:lstStyle/>
                    <a:p>
                      <a:r>
                        <a:rPr sz="1200" b="0">
                          <a:solidFill>
                            <a:srgbClr val="1F2937"/>
                          </a:solidFill>
                        </a:rPr>
                        <a:t>6 soatdan keyin o‘zgarishni ko‘rsatish</a:t>
                      </a:r>
                    </a:p>
                  </a:txBody>
                  <a:tcPr marL="73152" marR="73152" marT="36576" marB="36576">
                    <a:solidFill>
                      <a:srgbClr val="FFFFFF"/>
                    </a:solidFill>
                  </a:tcPr>
                </a:tc>
                <a:tc>
                  <a:txBody>
                    <a:bodyPr/>
                    <a:lstStyle/>
                    <a:p>
                      <a:r>
                        <a:rPr sz="1200" b="0">
                          <a:solidFill>
                            <a:srgbClr val="1F2937"/>
                          </a:solidFill>
                        </a:rPr>
                        <a:t>Amaliy qo‘llanish cheklangan</a:t>
                      </a:r>
                    </a:p>
                  </a:txBody>
                  <a:tcPr marL="73152" marR="73152" marT="36576" marB="36576">
                    <a:solidFill>
                      <a:srgbClr val="FFFFFF"/>
                    </a:solidFill>
                  </a:tcPr>
                </a:tc>
              </a:tr>
              <a:tr h="411480">
                <a:tc>
                  <a:txBody>
                    <a:bodyPr/>
                    <a:lstStyle/>
                    <a:p>
                      <a:r>
                        <a:rPr sz="1200" b="0">
                          <a:solidFill>
                            <a:srgbClr val="1F2937"/>
                          </a:solidFill>
                        </a:rPr>
                        <a:t>Prussiya ko‘ki</a:t>
                      </a:r>
                    </a:p>
                  </a:txBody>
                  <a:tcPr marL="73152" marR="73152" marT="36576" marB="36576">
                    <a:solidFill>
                      <a:srgbClr val="E8EEF6"/>
                    </a:solidFill>
                  </a:tcPr>
                </a:tc>
                <a:tc>
                  <a:txBody>
                    <a:bodyPr/>
                    <a:lstStyle/>
                    <a:p>
                      <a:r>
                        <a:rPr sz="1200" b="0">
                          <a:solidFill>
                            <a:srgbClr val="1F2937"/>
                          </a:solidFill>
                        </a:rPr>
                        <a:t>Vital reaksiyalarni ko‘rinadigan qilish</a:t>
                      </a:r>
                    </a:p>
                  </a:txBody>
                  <a:tcPr marL="73152" marR="73152" marT="36576" marB="36576">
                    <a:solidFill>
                      <a:srgbClr val="E8EEF6"/>
                    </a:solidFill>
                  </a:tcPr>
                </a:tc>
                <a:tc>
                  <a:txBody>
                    <a:bodyPr/>
                    <a:lstStyle/>
                    <a:p>
                      <a:r>
                        <a:rPr sz="1200" b="0">
                          <a:solidFill>
                            <a:srgbClr val="1F2937"/>
                          </a:solidFill>
                        </a:rPr>
                        <a:t>Faqat gistologiya yetarli emas</a:t>
                      </a:r>
                    </a:p>
                  </a:txBody>
                  <a:tcPr marL="73152" marR="73152" marT="36576" marB="36576">
                    <a:solidFill>
                      <a:srgbClr val="E8EEF6"/>
                    </a:solidFill>
                  </a:tcPr>
                </a:tc>
              </a:tr>
              <a:tr h="411480">
                <a:tc>
                  <a:txBody>
                    <a:bodyPr/>
                    <a:lstStyle/>
                    <a:p>
                      <a:r>
                        <a:rPr sz="1200" b="0">
                          <a:solidFill>
                            <a:srgbClr val="1F2937"/>
                          </a:solidFill>
                        </a:rPr>
                        <a:t>Elastika-van Gizon</a:t>
                      </a:r>
                    </a:p>
                  </a:txBody>
                  <a:tcPr marL="73152" marR="73152" marT="36576" marB="36576">
                    <a:solidFill>
                      <a:srgbClr val="FFFFFF"/>
                    </a:solidFill>
                  </a:tcPr>
                </a:tc>
                <a:tc>
                  <a:txBody>
                    <a:bodyPr/>
                    <a:lstStyle/>
                    <a:p>
                      <a:r>
                        <a:rPr sz="1200" b="0">
                          <a:solidFill>
                            <a:srgbClr val="1F2937"/>
                          </a:solidFill>
                        </a:rPr>
                        <a:t>Vital reaksiyalarni ko‘rinadigan qilish</a:t>
                      </a:r>
                    </a:p>
                  </a:txBody>
                  <a:tcPr marL="73152" marR="73152" marT="36576" marB="36576">
                    <a:solidFill>
                      <a:srgbClr val="FFFFFF"/>
                    </a:solidFill>
                  </a:tcPr>
                </a:tc>
                <a:tc>
                  <a:txBody>
                    <a:bodyPr/>
                    <a:lstStyle/>
                    <a:p>
                      <a:r>
                        <a:rPr sz="1200" b="0">
                          <a:solidFill>
                            <a:srgbClr val="1F2937"/>
                          </a:solidFill>
                        </a:rPr>
                        <a:t>Operator va artefaktlar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Gistologik bo‘yoqlar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N va boshq., Vitality and wound-age estimation in forensic pathology: review and future prospects, betlar: PMID 32490306; Maiese A va boshq., State-of-the-Art on Wound Vitality Evaluation: A Systematic Review, betlar: PMID 35805886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Diqqat: eritrotsit ekstravazatsiyasi ishonchlimi?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78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Qizil qon hujayralarining to‘qimaga chiqishi (ekstravazatsiya) vital reaksiya belgisi sanaladi.</a:t>
            </a:r>
          </a:p>
          <a:p>
            <a:pPr>
              <a:spcAft>
                <a:spcPts val="1200"/>
              </a:spcAft>
            </a:pPr>
            <a:r>
              <a:rPr sz="2200">
                <a:solidFill>
                  <a:srgbClr val="1F2937"/>
                </a:solidFill>
                <a:latin typeface="Calibri"/>
              </a:rPr>
              <a:t>▸  Diqqat: ekstravazatsiya ≠ vitallik isboti. U o‘limdan keyin ham paydo bo‘lishi mumkin, shuning uchun ishonchli marker emas.</a:t>
            </a:r>
          </a:p>
          <a:p>
            <a:pPr>
              <a:spcAft>
                <a:spcPts val="1200"/>
              </a:spcAft>
            </a:pPr>
            <a:r>
              <a:rPr sz="2200">
                <a:solidFill>
                  <a:srgbClr val="1F2937"/>
                </a:solidFill>
                <a:latin typeface="Calibri"/>
              </a:rPr>
              <a:t>▸  Reanimatsiya choralari qon aylanishini saqlab, o‘limdan keyingi eritrotsit ekstravazatsiyasini keltirib chiqarishi mumkin.</a:t>
            </a:r>
          </a:p>
          <a:p>
            <a:pPr>
              <a:spcAft>
                <a:spcPts val="1200"/>
              </a:spcAft>
            </a:pPr>
            <a:r>
              <a:rPr sz="2200">
                <a:solidFill>
                  <a:srgbClr val="1F2937"/>
                </a:solidFill>
                <a:latin typeface="Calibri"/>
              </a:rPr>
              <a:t>▸  Gistologiyada operator bog‘liqligi va bo‘yash artefaktlari bor. Bunday belgilar vital jarohatlanmagan terida ham uchragan.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N va boshq., Vitality and wound-age estimation in forensic pathology: review and future prospects, betlar: PMID 32490306; Maiese A va boshq., State-of-the-Art on Wound Vitality Evaluation: A Systematic Review, betlar: PMID 35805886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1: gistologiya asoslari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78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1-savol: vitallik bilan jarohat yoshi qanday farq qiladi? Javob: vitallik jarohat tirikligida yoki o‘limdan keyin hosil bo‘lganini, yosh esa jarohatdan keyin qancha yashalganini bildiradi.</a:t>
            </a:r>
          </a:p>
          <a:p>
            <a:pPr>
              <a:spcAft>
                <a:spcPts val="1200"/>
              </a:spcAft>
            </a:pPr>
            <a:r>
              <a:rPr sz="2000">
                <a:solidFill>
                  <a:srgbClr val="1F2937"/>
                </a:solidFill>
                <a:latin typeface="Calibri"/>
              </a:rPr>
              <a:t>▸  2-savol: gematoksilin-eozin (H&amp;E) bo‘yashi yolg‘iz o‘zi vitallikni isbotlaydimi? Javob: yo‘q. Usul operatorga bog‘liq, artefaktlar bor, belgilar vital jarohatlanmagan terida ham uchrashi mumkin.</a:t>
            </a:r>
          </a:p>
          <a:p>
            <a:pPr>
              <a:spcAft>
                <a:spcPts val="1200"/>
              </a:spcAft>
            </a:pPr>
            <a:r>
              <a:rPr sz="2000">
                <a:solidFill>
                  <a:srgbClr val="1F2937"/>
                </a:solidFill>
                <a:latin typeface="Calibri"/>
              </a:rPr>
              <a:t>▸  3-savol: H&amp;E va Berlin ko‘ki jarohatdan necha soat keyin o‘zgarishni ko‘rsata oladi? Javob: taxminan 6 soatdan keyin, ammo amaliy qo‘llanishi cheklangan.</a:t>
            </a:r>
          </a:p>
          <a:p>
            <a:pPr>
              <a:spcAft>
                <a:spcPts val="1200"/>
              </a:spcAft>
            </a:pPr>
            <a:r>
              <a:rPr sz="2000">
                <a:solidFill>
                  <a:srgbClr val="1F2937"/>
                </a:solidFill>
                <a:latin typeface="Calibri"/>
              </a:rPr>
              <a:t>▸  Diqqat: eritrotsit ekstravazatsiyasi ≠ vitallikning ishonchli isboti. U o‘limdan keyin ham paydo bo‘lishi mumkin, shuning uchun yagona marker bo‘la olmaydi.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Maiese A va boshq., State-of-the-Art on Wound Vitality Evaluation: A Systematic Review, betlar: PMID 35805886; Li N va boshq., Vitality and wound-age estimation in forensic pathology: review and future prospects, betlar: PMID 32490306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Immunogistokimyo va immunofluoressensiya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78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Immunogistokimyo (IGK) antigen bilan antitana orasidagi immunologik reaksiyaga asoslanadi. Bu reaksiya to‘qimadagi kerakli molekulani ko‘rinadigan qiladi.</a:t>
            </a:r>
          </a:p>
          <a:p>
            <a:pPr>
              <a:spcAft>
                <a:spcPts val="1200"/>
              </a:spcAft>
            </a:pPr>
            <a:r>
              <a:rPr sz="2200">
                <a:solidFill>
                  <a:srgbClr val="1F2937"/>
                </a:solidFill>
                <a:latin typeface="Calibri"/>
              </a:rPr>
              <a:t>▸  Eng ko‘p qo‘llanadigan bo‘yashlar sitokinlarni (IL-1, IL-6, TNF-α), semiz hujayralar kabi yallig‘lanish hujayralarini va shikastga oid molekulalarni ko‘rsatadi.</a:t>
            </a:r>
          </a:p>
          <a:p>
            <a:pPr>
              <a:spcAft>
                <a:spcPts val="1200"/>
              </a:spcAft>
            </a:pPr>
            <a:r>
              <a:rPr sz="2200">
                <a:solidFill>
                  <a:srgbClr val="1F2937"/>
                </a:solidFill>
                <a:latin typeface="Calibri"/>
              </a:rPr>
              <a:t>▸  Ba’zi molekulalarning ifodalanishi vaqt o‘tishi bilan o‘zgaradi, shuning uchun ulardan jarohat yoshini aniqlashda foydalanish mumkin.</a:t>
            </a:r>
          </a:p>
          <a:p>
            <a:pPr>
              <a:spcAft>
                <a:spcPts val="1200"/>
              </a:spcAft>
            </a:pPr>
            <a:r>
              <a:rPr sz="2200">
                <a:solidFill>
                  <a:srgbClr val="1F2937"/>
                </a:solidFill>
                <a:latin typeface="Calibri"/>
              </a:rPr>
              <a:t>▸  IGK va immunofluoressensiya erta jarohatlarda to‘qima omillari joyini ko‘rsatadi. Ko‘p bo‘yash usuli 3-4 markerni bir vaqtda aniqlashga imkon beradi.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Maiese A va boshq., State-of-the-Art on Wound Vitality Evaluation: A Systematic Review, betlar: PMID 35805886; Li N va boshq., Vitality and wound-age estimation in forensic pathology: review and future prospects, betlar: PMID 32490306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IGK: afzallik va kamchilik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78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IGK morfologik usul: molekulalar jarohatlangan to‘qimada qayerda joylashganini va qancha ekanini ko‘rsatadi.</a:t>
            </a:r>
          </a:p>
          <a:p>
            <a:pPr>
              <a:spcAft>
                <a:spcPts val="800"/>
              </a:spcAft>
            </a:pPr>
            <a:r>
              <a:rPr sz="1800">
                <a:solidFill>
                  <a:srgbClr val="1F2937"/>
                </a:solidFill>
                <a:latin typeface="Calibri"/>
              </a:rPr>
              <a:t>▸  Parafinli bloklarda qo‘llanadi, shuning uchun eski, ochilmagan ishlarni qayta ko‘rish mumkin.</a:t>
            </a:r>
          </a:p>
          <a:p>
            <a:pPr>
              <a:spcAft>
                <a:spcPts val="800"/>
              </a:spcAft>
            </a:pPr>
            <a:r>
              <a:rPr sz="1800">
                <a:solidFill>
                  <a:srgbClr val="1F2937"/>
                </a:solidFill>
                <a:latin typeface="Calibri"/>
              </a:rPr>
              <a:t>▸  Diqqat: miqdorni baholash operatorga bog‘liq, shuning uchun natija xato yoki takrorlanmas bo‘lishi mumkin.</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919647"/>
                <a:gridCol w="2299119"/>
                <a:gridCol w="2069207"/>
              </a:tblGrid>
              <a:tr h="411480">
                <a:tc>
                  <a:txBody>
                    <a:bodyPr/>
                    <a:lstStyle/>
                    <a:p>
                      <a:r>
                        <a:rPr sz="1300" b="1">
                          <a:solidFill>
                            <a:srgbClr val="FFFFFF"/>
                          </a:solidFill>
                        </a:rPr>
                        <a:t>Jihat</a:t>
                      </a:r>
                    </a:p>
                  </a:txBody>
                  <a:tcPr marL="73152" marR="73152" marT="36576" marB="36576">
                    <a:solidFill>
                      <a:srgbClr val="0B1F3A"/>
                    </a:solidFill>
                  </a:tcPr>
                </a:tc>
                <a:tc>
                  <a:txBody>
                    <a:bodyPr/>
                    <a:lstStyle/>
                    <a:p>
                      <a:r>
                        <a:rPr sz="1300" b="1">
                          <a:solidFill>
                            <a:srgbClr val="FFFFFF"/>
                          </a:solidFill>
                        </a:rPr>
                        <a:t>Afzallik</a:t>
                      </a:r>
                    </a:p>
                  </a:txBody>
                  <a:tcPr marL="73152" marR="73152" marT="36576" marB="36576">
                    <a:solidFill>
                      <a:srgbClr val="0B1F3A"/>
                    </a:solidFill>
                  </a:tcPr>
                </a:tc>
                <a:tc>
                  <a:txBody>
                    <a:bodyPr/>
                    <a:lstStyle/>
                    <a:p>
                      <a:r>
                        <a:rPr sz="1300" b="1">
                          <a:solidFill>
                            <a:srgbClr val="FFFFFF"/>
                          </a:solidFill>
                        </a:rPr>
                        <a:t>Kamchilik</a:t>
                      </a:r>
                    </a:p>
                  </a:txBody>
                  <a:tcPr marL="73152" marR="73152" marT="36576" marB="36576">
                    <a:solidFill>
                      <a:srgbClr val="0B1F3A"/>
                    </a:solidFill>
                  </a:tcPr>
                </a:tc>
              </a:tr>
              <a:tr h="411480">
                <a:tc>
                  <a:txBody>
                    <a:bodyPr/>
                    <a:lstStyle/>
                    <a:p>
                      <a:r>
                        <a:rPr sz="1200" b="0">
                          <a:solidFill>
                            <a:srgbClr val="1F2937"/>
                          </a:solidFill>
                        </a:rPr>
                        <a:t>Maqomi</a:t>
                      </a:r>
                    </a:p>
                  </a:txBody>
                  <a:tcPr marL="73152" marR="73152" marT="36576" marB="36576">
                    <a:solidFill>
                      <a:srgbClr val="E8EEF6"/>
                    </a:solidFill>
                  </a:tcPr>
                </a:tc>
                <a:tc>
                  <a:txBody>
                    <a:bodyPr/>
                    <a:lstStyle/>
                    <a:p>
                      <a:r>
                        <a:rPr sz="1200" b="0">
                          <a:solidFill>
                            <a:srgbClr val="1F2937"/>
                          </a:solidFill>
                        </a:rPr>
                        <a:t>‘Oltin standart’ deb hisoblanishi mumkin</a:t>
                      </a:r>
                    </a:p>
                  </a:txBody>
                  <a:tcPr marL="73152" marR="73152" marT="36576" marB="36576">
                    <a:solidFill>
                      <a:srgbClr val="E8EEF6"/>
                    </a:solidFill>
                  </a:tcPr>
                </a:tc>
                <a:tc>
                  <a:txBody>
                    <a:bodyPr/>
                    <a:lstStyle/>
                    <a:p>
                      <a:r>
                        <a:rPr sz="1200" b="0">
                          <a:solidFill>
                            <a:srgbClr val="1F2937"/>
                          </a:solidFill>
                        </a:rPr>
                        <a:t>Xalqaro standart protokol yo‘q</a:t>
                      </a:r>
                    </a:p>
                  </a:txBody>
                  <a:tcPr marL="73152" marR="73152" marT="36576" marB="36576">
                    <a:solidFill>
                      <a:srgbClr val="E8EEF6"/>
                    </a:solidFill>
                  </a:tcPr>
                </a:tc>
              </a:tr>
              <a:tr h="411480">
                <a:tc>
                  <a:txBody>
                    <a:bodyPr/>
                    <a:lstStyle/>
                    <a:p>
                      <a:r>
                        <a:rPr sz="1200" b="0">
                          <a:solidFill>
                            <a:srgbClr val="1F2937"/>
                          </a:solidFill>
                        </a:rPr>
                        <a:t>Uskuna</a:t>
                      </a:r>
                    </a:p>
                  </a:txBody>
                  <a:tcPr marL="73152" marR="73152" marT="36576" marB="36576">
                    <a:solidFill>
                      <a:srgbClr val="FFFFFF"/>
                    </a:solidFill>
                  </a:tcPr>
                </a:tc>
                <a:tc>
                  <a:txBody>
                    <a:bodyPr/>
                    <a:lstStyle/>
                    <a:p>
                      <a:r>
                        <a:rPr sz="1200" b="0">
                          <a:solidFill>
                            <a:srgbClr val="1F2937"/>
                          </a:solidFill>
                        </a:rPr>
                        <a:t>Qimmat murakkab uskuna shart emas</a:t>
                      </a:r>
                    </a:p>
                  </a:txBody>
                  <a:tcPr marL="73152" marR="73152" marT="36576" marB="36576">
                    <a:solidFill>
                      <a:srgbClr val="FFFFFF"/>
                    </a:solidFill>
                  </a:tcPr>
                </a:tc>
                <a:tc>
                  <a:txBody>
                    <a:bodyPr/>
                    <a:lstStyle/>
                    <a:p>
                      <a:r>
                        <a:rPr sz="1200" b="0">
                          <a:solidFill>
                            <a:srgbClr val="1F2937"/>
                          </a:solidFill>
                        </a:rPr>
                        <a:t>Bo‘yash sifati ko‘p omilga bog‘liq</a:t>
                      </a:r>
                    </a:p>
                  </a:txBody>
                  <a:tcPr marL="73152" marR="73152" marT="36576" marB="36576">
                    <a:solidFill>
                      <a:srgbClr val="FFFFFF"/>
                    </a:solidFill>
                  </a:tcPr>
                </a:tc>
              </a:tr>
              <a:tr h="411480">
                <a:tc>
                  <a:txBody>
                    <a:bodyPr/>
                    <a:lstStyle/>
                    <a:p>
                      <a:r>
                        <a:rPr sz="1200" b="0">
                          <a:solidFill>
                            <a:srgbClr val="1F2937"/>
                          </a:solidFill>
                        </a:rPr>
                        <a:t>Material</a:t>
                      </a:r>
                    </a:p>
                  </a:txBody>
                  <a:tcPr marL="73152" marR="73152" marT="36576" marB="36576">
                    <a:solidFill>
                      <a:srgbClr val="E8EEF6"/>
                    </a:solidFill>
                  </a:tcPr>
                </a:tc>
                <a:tc>
                  <a:txBody>
                    <a:bodyPr/>
                    <a:lstStyle/>
                    <a:p>
                      <a:r>
                        <a:rPr sz="1200" b="0">
                          <a:solidFill>
                            <a:srgbClr val="1F2937"/>
                          </a:solidFill>
                        </a:rPr>
                        <a:t>Parafinli bloklarda ishlaydi</a:t>
                      </a:r>
                    </a:p>
                  </a:txBody>
                  <a:tcPr marL="73152" marR="73152" marT="36576" marB="36576">
                    <a:solidFill>
                      <a:srgbClr val="E8EEF6"/>
                    </a:solidFill>
                  </a:tcPr>
                </a:tc>
                <a:tc>
                  <a:txBody>
                    <a:bodyPr/>
                    <a:lstStyle/>
                    <a:p>
                      <a:r>
                        <a:rPr sz="1200" b="0">
                          <a:solidFill>
                            <a:srgbClr val="1F2937"/>
                          </a:solidFill>
                        </a:rPr>
                        <a:t>Miqdorni baholash operatorga bog‘liq</a:t>
                      </a:r>
                    </a:p>
                  </a:txBody>
                  <a:tcPr marL="73152" marR="73152" marT="36576" marB="36576">
                    <a:solidFill>
                      <a:srgbClr val="E8EEF6"/>
                    </a:solidFill>
                  </a:tcPr>
                </a:tc>
              </a:tr>
              <a:tr h="411480">
                <a:tc>
                  <a:txBody>
                    <a:bodyPr/>
                    <a:lstStyle/>
                    <a:p>
                      <a:r>
                        <a:rPr sz="1200" b="0">
                          <a:solidFill>
                            <a:srgbClr val="1F2937"/>
                          </a:solidFill>
                        </a:rPr>
                        <a:t>Natija</a:t>
                      </a:r>
                    </a:p>
                  </a:txBody>
                  <a:tcPr marL="73152" marR="73152" marT="36576" marB="36576">
                    <a:solidFill>
                      <a:srgbClr val="FFFFFF"/>
                    </a:solidFill>
                  </a:tcPr>
                </a:tc>
                <a:tc>
                  <a:txBody>
                    <a:bodyPr/>
                    <a:lstStyle/>
                    <a:p>
                      <a:r>
                        <a:rPr sz="1200" b="0">
                          <a:solidFill>
                            <a:srgbClr val="1F2937"/>
                          </a:solidFill>
                        </a:rPr>
                        <a:t>Molekula taqsimotini ko‘rsatadi</a:t>
                      </a:r>
                    </a:p>
                  </a:txBody>
                  <a:tcPr marL="73152" marR="73152" marT="36576" marB="36576">
                    <a:solidFill>
                      <a:srgbClr val="FFFFFF"/>
                    </a:solidFill>
                  </a:tcPr>
                </a:tc>
                <a:tc>
                  <a:txBody>
                    <a:bodyPr/>
                    <a:lstStyle/>
                    <a:p>
                      <a:r>
                        <a:rPr sz="1200" b="0">
                          <a:solidFill>
                            <a:srgbClr val="1F2937"/>
                          </a:solidFill>
                        </a:rPr>
                        <a:t>Xato yoki takrorlanmas natija mumkin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IGK: solishtirish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Maiese A va boshq., State-of-the-Art on Wound Vitality Evaluation: A Systematic Review, betlar: PMID 35805886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Fibrin va Pikro-Mallori bo‘yog‘i vaqt chizig‘i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78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Pikro-Mallori bo‘yog‘ida fibrin rangi ivindining yetilishiga qarab qizildan ko‘kka o‘zgaradi.</a:t>
            </a:r>
          </a:p>
          <a:p>
            <a:pPr>
              <a:spcAft>
                <a:spcPts val="800"/>
              </a:spcAft>
            </a:pPr>
            <a:r>
              <a:rPr sz="1800">
                <a:solidFill>
                  <a:srgbClr val="1F2937"/>
                </a:solidFill>
                <a:latin typeface="Calibri"/>
              </a:rPr>
              <a:t>▸  FXIII fibrin monomerlarining o‘zaro bog‘lanishini boshqaradi va ivindini mustahkamlaydi.</a:t>
            </a:r>
          </a:p>
          <a:p>
            <a:pPr>
              <a:spcAft>
                <a:spcPts val="800"/>
              </a:spcAft>
            </a:pPr>
            <a:r>
              <a:rPr sz="1800">
                <a:solidFill>
                  <a:srgbClr val="1F2937"/>
                </a:solidFill>
                <a:latin typeface="Calibri"/>
              </a:rPr>
              <a:t>▸  Hayotlik davrida hosil bo‘lgan suyak sinishlarida fibrin cho‘kmalari 34 daqiqadan 26 kungacha topilgan.</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2115190"/>
                <a:gridCol w="3172785"/>
              </a:tblGrid>
              <a:tr h="411480">
                <a:tc>
                  <a:txBody>
                    <a:bodyPr/>
                    <a:lstStyle/>
                    <a:p>
                      <a:r>
                        <a:rPr sz="1400" b="1">
                          <a:solidFill>
                            <a:srgbClr val="FFFFFF"/>
                          </a:solidFill>
                        </a:rPr>
                        <a:t>Ivindi yoshi</a:t>
                      </a:r>
                    </a:p>
                  </a:txBody>
                  <a:tcPr marL="73152" marR="73152" marT="36576" marB="36576">
                    <a:solidFill>
                      <a:srgbClr val="0B1F3A"/>
                    </a:solidFill>
                  </a:tcPr>
                </a:tc>
                <a:tc>
                  <a:txBody>
                    <a:bodyPr/>
                    <a:lstStyle/>
                    <a:p>
                      <a:r>
                        <a:rPr sz="1400" b="1">
                          <a:solidFill>
                            <a:srgbClr val="FFFFFF"/>
                          </a:solidFill>
                        </a:rPr>
                        <a:t>Fibrin rangi</a:t>
                      </a:r>
                    </a:p>
                  </a:txBody>
                  <a:tcPr marL="73152" marR="73152" marT="36576" marB="36576">
                    <a:solidFill>
                      <a:srgbClr val="0B1F3A"/>
                    </a:solidFill>
                  </a:tcPr>
                </a:tc>
              </a:tr>
              <a:tr h="411480">
                <a:tc>
                  <a:txBody>
                    <a:bodyPr/>
                    <a:lstStyle/>
                    <a:p>
                      <a:r>
                        <a:rPr sz="1300" b="0">
                          <a:solidFill>
                            <a:srgbClr val="1F2937"/>
                          </a:solidFill>
                        </a:rPr>
                        <a:t>30 daqiqa – 6 soat</a:t>
                      </a:r>
                    </a:p>
                  </a:txBody>
                  <a:tcPr marL="73152" marR="73152" marT="36576" marB="36576">
                    <a:solidFill>
                      <a:srgbClr val="E8EEF6"/>
                    </a:solidFill>
                  </a:tcPr>
                </a:tc>
                <a:tc>
                  <a:txBody>
                    <a:bodyPr/>
                    <a:lstStyle/>
                    <a:p>
                      <a:r>
                        <a:rPr sz="1300" b="0">
                          <a:solidFill>
                            <a:srgbClr val="1F2937"/>
                          </a:solidFill>
                        </a:rPr>
                        <a:t>Qizil</a:t>
                      </a:r>
                    </a:p>
                  </a:txBody>
                  <a:tcPr marL="73152" marR="73152" marT="36576" marB="36576">
                    <a:solidFill>
                      <a:srgbClr val="E8EEF6"/>
                    </a:solidFill>
                  </a:tcPr>
                </a:tc>
              </a:tr>
              <a:tr h="411480">
                <a:tc>
                  <a:txBody>
                    <a:bodyPr/>
                    <a:lstStyle/>
                    <a:p>
                      <a:r>
                        <a:rPr sz="1300" b="0">
                          <a:solidFill>
                            <a:srgbClr val="1F2937"/>
                          </a:solidFill>
                        </a:rPr>
                        <a:t>6 – 12 soat</a:t>
                      </a:r>
                    </a:p>
                  </a:txBody>
                  <a:tcPr marL="73152" marR="73152" marT="36576" marB="36576">
                    <a:solidFill>
                      <a:srgbClr val="FFFFFF"/>
                    </a:solidFill>
                  </a:tcPr>
                </a:tc>
                <a:tc>
                  <a:txBody>
                    <a:bodyPr/>
                    <a:lstStyle/>
                    <a:p>
                      <a:r>
                        <a:rPr sz="1300" b="0">
                          <a:solidFill>
                            <a:srgbClr val="1F2937"/>
                          </a:solidFill>
                        </a:rPr>
                        <a:t>Binafsha yoki ko‘k-binafsha</a:t>
                      </a:r>
                    </a:p>
                  </a:txBody>
                  <a:tcPr marL="73152" marR="73152" marT="36576" marB="36576">
                    <a:solidFill>
                      <a:srgbClr val="FFFFFF"/>
                    </a:solidFill>
                  </a:tcPr>
                </a:tc>
              </a:tr>
              <a:tr h="411480">
                <a:tc>
                  <a:txBody>
                    <a:bodyPr/>
                    <a:lstStyle/>
                    <a:p>
                      <a:r>
                        <a:rPr sz="1300" b="0">
                          <a:solidFill>
                            <a:srgbClr val="1F2937"/>
                          </a:solidFill>
                        </a:rPr>
                        <a:t>12 – 24 soat</a:t>
                      </a:r>
                    </a:p>
                  </a:txBody>
                  <a:tcPr marL="73152" marR="73152" marT="36576" marB="36576">
                    <a:solidFill>
                      <a:srgbClr val="E8EEF6"/>
                    </a:solidFill>
                  </a:tcPr>
                </a:tc>
                <a:tc>
                  <a:txBody>
                    <a:bodyPr/>
                    <a:lstStyle/>
                    <a:p>
                      <a:r>
                        <a:rPr sz="1300" b="0">
                          <a:solidFill>
                            <a:srgbClr val="1F2937"/>
                          </a:solidFill>
                        </a:rPr>
                        <a:t>Manbada ko‘rsatilmagan</a:t>
                      </a:r>
                    </a:p>
                  </a:txBody>
                  <a:tcPr marL="73152" marR="73152" marT="36576" marB="36576">
                    <a:solidFill>
                      <a:srgbClr val="E8EEF6"/>
                    </a:solidFill>
                  </a:tcPr>
                </a:tc>
              </a:tr>
              <a:tr h="411480">
                <a:tc>
                  <a:txBody>
                    <a:bodyPr/>
                    <a:lstStyle/>
                    <a:p>
                      <a:r>
                        <a:rPr sz="1300" b="0">
                          <a:solidFill>
                            <a:srgbClr val="1F2937"/>
                          </a:solidFill>
                        </a:rPr>
                        <a:t>24 soatdan eski</a:t>
                      </a:r>
                    </a:p>
                  </a:txBody>
                  <a:tcPr marL="73152" marR="73152" marT="36576" marB="36576">
                    <a:solidFill>
                      <a:srgbClr val="FFFFFF"/>
                    </a:solidFill>
                  </a:tcPr>
                </a:tc>
                <a:tc>
                  <a:txBody>
                    <a:bodyPr/>
                    <a:lstStyle/>
                    <a:p>
                      <a:r>
                        <a:rPr sz="1300" b="0">
                          <a:solidFill>
                            <a:srgbClr val="1F2937"/>
                          </a:solidFill>
                        </a:rPr>
                        <a:t>Ko‘k</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Fibrin rangi va ivindi yoshi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Maiese A va boshq., State-of-the-Art on Wound Vitality Evaluation: A Systematic Review, betlar: PMID 35805886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3: IGK natijasi shubhali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78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Taxminiy vaziyat: jasad chirigan, teri jarohatida immunogistokimyo (IGK) vital marker uchun ijobiy chiqdi. Natijaga ishonish mumkinmi?</a:t>
            </a:r>
          </a:p>
          <a:p>
            <a:pPr>
              <a:spcAft>
                <a:spcPts val="1200"/>
              </a:spcAft>
            </a:pPr>
            <a:r>
              <a:rPr sz="2200">
                <a:solidFill>
                  <a:srgbClr val="1F2937"/>
                </a:solidFill>
                <a:latin typeface="Calibri"/>
              </a:rPr>
              <a:t>▸  Ayrim mualliflar IGK chirigan jasadda ham ishonchli ekanini ko‘rsatgan, biroq bunday tadqiqotlar atigi uchta topilgan.</a:t>
            </a:r>
          </a:p>
          <a:p>
            <a:pPr>
              <a:spcAft>
                <a:spcPts val="1200"/>
              </a:spcAft>
            </a:pPr>
            <a:r>
              <a:rPr sz="2200">
                <a:solidFill>
                  <a:srgbClr val="1F2937"/>
                </a:solidFill>
                <a:latin typeface="Calibri"/>
              </a:rPr>
              <a:t>▸  Chirish to‘qima tuzilishini buzadi. Bu bo‘yalish kuchiga ham, belgining joylashuviga ham ta’sir qilishi mumkin.</a:t>
            </a:r>
          </a:p>
          <a:p>
            <a:pPr>
              <a:spcAft>
                <a:spcPts val="1200"/>
              </a:spcAft>
            </a:pPr>
            <a:r>
              <a:rPr sz="2200">
                <a:solidFill>
                  <a:srgbClr val="1F2937"/>
                </a:solidFill>
                <a:latin typeface="Calibri"/>
              </a:rPr>
              <a:t>▸  Xatoni kamaytirish uchun morfologik va molekulyar ko‘rsatkichlarni birgalikda qo‘llash tavsiya etiladi.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Maiese A va boshq., State-of-the-Art on Wound Vitality Evaluation: A Systematic Review, betlar: PMID 35805886; Li N va boshq., Vitality and wound-age estimation in forensic pathology: review and future prospects, betlar: PMID 32490306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mRNA tahlili va real-time PCR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78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Jarohatdan keyin sitokin va ferment mRNA darajasi oqsil va gistomorfologiyadan oldin o‘zgaradi.</a:t>
            </a:r>
          </a:p>
          <a:p>
            <a:pPr>
              <a:spcAft>
                <a:spcPts val="800"/>
              </a:spcAft>
            </a:pPr>
            <a:r>
              <a:rPr sz="1800">
                <a:solidFill>
                  <a:srgbClr val="1F2937"/>
                </a:solidFill>
                <a:latin typeface="Calibri"/>
              </a:rPr>
              <a:t>▸  Real-time PCR (polimeraza zanjir reaksiyasi) gen ifodasidagi ozgina farqni ham aniqlaydi.</a:t>
            </a:r>
          </a:p>
          <a:p>
            <a:pPr>
              <a:spcAft>
                <a:spcPts val="800"/>
              </a:spcAft>
            </a:pPr>
            <a:r>
              <a:rPr sz="1800">
                <a:solidFill>
                  <a:srgbClr val="1F2937"/>
                </a:solidFill>
                <a:latin typeface="Calibri"/>
              </a:rPr>
              <a:t>▸  Normallashtirishda reference gen kerak; ba’zi uy xo‘jaligi genlari jarohatdan keyin faollashadi.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Jarohat yetkazilishi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mRNA darajasi o‘zgaradi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Oqsil darajasi o‘zgaradi</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Gistomorfologik o‘zgarish</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O‘zgarishlar ketma-ketligi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N va boshq., Vitality and wound-age estimation in forensic pathology: review and future prospects, betlar: PMID 32490306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Yuqori o‘tkazuvchan usullar va oqsil tahlili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78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Gen chiplari, yuqori o‘tkazuvchan sekvenirlash va 384 mikroplastinka tizimi bir vaqtda o‘nlab–yuzlab genni tahlil qiladi.</a:t>
            </a:r>
          </a:p>
          <a:p>
            <a:pPr>
              <a:spcAft>
                <a:spcPts val="1200"/>
              </a:spcAft>
            </a:pPr>
            <a:r>
              <a:rPr sz="2200">
                <a:solidFill>
                  <a:srgbClr val="1F2937"/>
                </a:solidFill>
                <a:latin typeface="Calibri"/>
              </a:rPr>
              <a:t>▸  Bunday usullar tahlil narxini ancha kamaytiradi, natijalarni takrorlanuvchan va barqaror qiladi hamda marker tanlashga yordam beradi.</a:t>
            </a:r>
          </a:p>
          <a:p>
            <a:pPr>
              <a:spcAft>
                <a:spcPts val="1200"/>
              </a:spcAft>
            </a:pPr>
            <a:r>
              <a:rPr sz="2200">
                <a:solidFill>
                  <a:srgbClr val="1F2937"/>
                </a:solidFill>
                <a:latin typeface="Calibri"/>
              </a:rPr>
              <a:t>▸  Western blot va ELISA (fermentga bog‘liq immunosorbent tahlil) immunogistokimyodan sezgirroq; oqsil mikroarrayi ko‘p oqsilni bir namunada tahlil qiladi.</a:t>
            </a:r>
          </a:p>
          <a:p>
            <a:pPr>
              <a:spcAft>
                <a:spcPts val="1200"/>
              </a:spcAft>
            </a:pPr>
            <a:r>
              <a:rPr sz="2200">
                <a:solidFill>
                  <a:srgbClr val="1F2937"/>
                </a:solidFill>
                <a:latin typeface="Calibri"/>
              </a:rPr>
              <a:t>▸  Diqqat: laboratoriyalar natijalarini solishtirish qiyin — protseduralar murakkab, sharoitlarni nazorat qilish ham oson emas.</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N va boshq., Vitality and wound-age estimation in forensic pathology: review and future prospects, betlar: PMID 32490306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2: molekulyar usullar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78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erta jarohatda nega mRNA (xabarchi RNK) tahlili afzal? Javob: mRNA darajasi oqsil va gistomorfologiyadan oldin o‘zgaradi.</a:t>
            </a:r>
          </a:p>
          <a:p>
            <a:pPr>
              <a:spcAft>
                <a:spcPts val="1200"/>
              </a:spcAft>
            </a:pPr>
            <a:r>
              <a:rPr sz="2200">
                <a:solidFill>
                  <a:srgbClr val="1F2937"/>
                </a:solidFill>
                <a:latin typeface="Calibri"/>
              </a:rPr>
              <a:t>▸  Savol: real-time PCR (polimeraza zanjir reaksiyasi, qPCR) da mos yozuv geni nega kerak? Javob: ba’zi uy genlari jarohatdan keyin ortadi, normalizatsiya buziladi.</a:t>
            </a:r>
          </a:p>
          <a:p>
            <a:pPr>
              <a:spcAft>
                <a:spcPts val="1200"/>
              </a:spcAft>
            </a:pPr>
            <a:r>
              <a:rPr sz="2200">
                <a:solidFill>
                  <a:srgbClr val="1F2937"/>
                </a:solidFill>
                <a:latin typeface="Calibri"/>
              </a:rPr>
              <a:t>▸  Savol: mikroRNK (miRNA) nega erta belgi bo‘lishi mumkin? Javob: u oqsil sintezini boshqaradi, o‘zgarishi oqsildan oldin ko‘rinishi kutiladi. (?)</a:t>
            </a:r>
          </a:p>
          <a:p>
            <a:pPr>
              <a:spcAft>
                <a:spcPts val="1200"/>
              </a:spcAft>
            </a:pPr>
            <a:r>
              <a:rPr sz="2200">
                <a:solidFill>
                  <a:srgbClr val="1F2937"/>
                </a:solidFill>
                <a:latin typeface="Calibri"/>
              </a:rPr>
              <a:t>▸  Savol: elektrolit va oqsil o‘lchashning afzalligi va cheklovi? Javob: operatorga bog‘liq emas; odatda o‘limdan 48 soat ichida ishlaydi.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N va boshq., Vitality and wound-age estimation in forensic pathology: review and future prospects, betlar: PMID 32490306; Maiese A va boshq., State-of-the-Art on Wound Vitality Evaluation: A Systematic Review, betlar: PMID 35805886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Usullarning vaqt bo‘yicha ‘oynasi’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78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Gistologik reaksiya odatda 24 soatdan keyin, mRNA va oqsil o‘zgarishi taxminan 12 soatda aniqlanadi.</a:t>
            </a:r>
          </a:p>
          <a:p>
            <a:pPr>
              <a:spcAft>
                <a:spcPts val="800"/>
              </a:spcAft>
            </a:pPr>
            <a:r>
              <a:rPr sz="1800">
                <a:solidFill>
                  <a:srgbClr val="1F2937"/>
                </a:solidFill>
                <a:latin typeface="Calibri"/>
              </a:rPr>
              <a:t>▸  Erta jarohatga mRNA va oqsil usullari, kechroq jarohatga gistologiya mosroq hisoblanadi.</a:t>
            </a:r>
          </a:p>
          <a:p>
            <a:pPr>
              <a:spcAft>
                <a:spcPts val="800"/>
              </a:spcAft>
            </a:pPr>
            <a:r>
              <a:rPr sz="1800">
                <a:solidFill>
                  <a:srgbClr val="1F2937"/>
                </a:solidFill>
                <a:latin typeface="Calibri"/>
              </a:rPr>
              <a:t>▸  Diqqat: bitta usulga tayanmang; morfologik va molekulyar belgilar birga qo‘llanadi.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376322"/>
                <a:gridCol w="1666074"/>
                <a:gridCol w="2245578"/>
              </a:tblGrid>
              <a:tr h="411480">
                <a:tc>
                  <a:txBody>
                    <a:bodyPr/>
                    <a:lstStyle/>
                    <a:p>
                      <a:r>
                        <a:rPr sz="1300" b="1">
                          <a:solidFill>
                            <a:srgbClr val="FFFFFF"/>
                          </a:solidFill>
                        </a:rPr>
                        <a:t>Usul</a:t>
                      </a:r>
                    </a:p>
                  </a:txBody>
                  <a:tcPr marL="73152" marR="73152" marT="36576" marB="36576">
                    <a:solidFill>
                      <a:srgbClr val="0B1F3A"/>
                    </a:solidFill>
                  </a:tcPr>
                </a:tc>
                <a:tc>
                  <a:txBody>
                    <a:bodyPr/>
                    <a:lstStyle/>
                    <a:p>
                      <a:r>
                        <a:rPr sz="1300" b="1">
                          <a:solidFill>
                            <a:srgbClr val="FFFFFF"/>
                          </a:solidFill>
                        </a:rPr>
                        <a:t>Vaqt</a:t>
                      </a:r>
                    </a:p>
                  </a:txBody>
                  <a:tcPr marL="73152" marR="73152" marT="36576" marB="36576">
                    <a:solidFill>
                      <a:srgbClr val="0B1F3A"/>
                    </a:solidFill>
                  </a:tcPr>
                </a:tc>
                <a:tc>
                  <a:txBody>
                    <a:bodyPr/>
                    <a:lstStyle/>
                    <a:p>
                      <a:r>
                        <a:rPr sz="1300" b="1">
                          <a:solidFill>
                            <a:srgbClr val="FFFFFF"/>
                          </a:solidFill>
                        </a:rPr>
                        <a:t>Mazmuni</a:t>
                      </a:r>
                    </a:p>
                  </a:txBody>
                  <a:tcPr marL="73152" marR="73152" marT="36576" marB="36576">
                    <a:solidFill>
                      <a:srgbClr val="0B1F3A"/>
                    </a:solidFill>
                  </a:tcPr>
                </a:tc>
              </a:tr>
              <a:tr h="411480">
                <a:tc>
                  <a:txBody>
                    <a:bodyPr/>
                    <a:lstStyle/>
                    <a:p>
                      <a:r>
                        <a:rPr sz="1200" b="0">
                          <a:solidFill>
                            <a:srgbClr val="1F2937"/>
                          </a:solidFill>
                        </a:rPr>
                        <a:t>Gistologik belgilar</a:t>
                      </a:r>
                    </a:p>
                  </a:txBody>
                  <a:tcPr marL="73152" marR="73152" marT="36576" marB="36576">
                    <a:solidFill>
                      <a:srgbClr val="E8EEF6"/>
                    </a:solidFill>
                  </a:tcPr>
                </a:tc>
                <a:tc>
                  <a:txBody>
                    <a:bodyPr/>
                    <a:lstStyle/>
                    <a:p>
                      <a:r>
                        <a:rPr sz="1200" b="0">
                          <a:solidFill>
                            <a:srgbClr val="1F2937"/>
                          </a:solidFill>
                        </a:rPr>
                        <a:t>Odatda 24 soatdan keyin</a:t>
                      </a:r>
                    </a:p>
                  </a:txBody>
                  <a:tcPr marL="73152" marR="73152" marT="36576" marB="36576">
                    <a:solidFill>
                      <a:srgbClr val="E8EEF6"/>
                    </a:solidFill>
                  </a:tcPr>
                </a:tc>
                <a:tc>
                  <a:txBody>
                    <a:bodyPr/>
                    <a:lstStyle/>
                    <a:p>
                      <a:r>
                        <a:rPr sz="1200" b="0">
                          <a:solidFill>
                            <a:srgbClr val="1F2937"/>
                          </a:solidFill>
                        </a:rPr>
                        <a:t>Kechroq jarohat uchun ishonchli</a:t>
                      </a:r>
                    </a:p>
                  </a:txBody>
                  <a:tcPr marL="73152" marR="73152" marT="36576" marB="36576">
                    <a:solidFill>
                      <a:srgbClr val="E8EEF6"/>
                    </a:solidFill>
                  </a:tcPr>
                </a:tc>
              </a:tr>
              <a:tr h="411480">
                <a:tc>
                  <a:txBody>
                    <a:bodyPr/>
                    <a:lstStyle/>
                    <a:p>
                      <a:r>
                        <a:rPr sz="1200" b="0">
                          <a:solidFill>
                            <a:srgbClr val="1F2937"/>
                          </a:solidFill>
                        </a:rPr>
                        <a:t>mRNA va oqsil</a:t>
                      </a:r>
                    </a:p>
                  </a:txBody>
                  <a:tcPr marL="73152" marR="73152" marT="36576" marB="36576">
                    <a:solidFill>
                      <a:srgbClr val="FFFFFF"/>
                    </a:solidFill>
                  </a:tcPr>
                </a:tc>
                <a:tc>
                  <a:txBody>
                    <a:bodyPr/>
                    <a:lstStyle/>
                    <a:p>
                      <a:r>
                        <a:rPr sz="1200" b="0">
                          <a:solidFill>
                            <a:srgbClr val="1F2937"/>
                          </a:solidFill>
                        </a:rPr>
                        <a:t>Taxminan 12 soatda</a:t>
                      </a:r>
                    </a:p>
                  </a:txBody>
                  <a:tcPr marL="73152" marR="73152" marT="36576" marB="36576">
                    <a:solidFill>
                      <a:srgbClr val="FFFFFF"/>
                    </a:solidFill>
                  </a:tcPr>
                </a:tc>
                <a:tc>
                  <a:txBody>
                    <a:bodyPr/>
                    <a:lstStyle/>
                    <a:p>
                      <a:r>
                        <a:rPr sz="1200" b="0">
                          <a:solidFill>
                            <a:srgbClr val="1F2937"/>
                          </a:solidFill>
                        </a:rPr>
                        <a:t>Erta jarohat uchun mos</a:t>
                      </a:r>
                    </a:p>
                  </a:txBody>
                  <a:tcPr marL="73152" marR="73152" marT="36576" marB="36576">
                    <a:solidFill>
                      <a:srgbClr val="FFFFFF"/>
                    </a:solidFill>
                  </a:tcPr>
                </a:tc>
              </a:tr>
              <a:tr h="411480">
                <a:tc>
                  <a:txBody>
                    <a:bodyPr/>
                    <a:lstStyle/>
                    <a:p>
                      <a:r>
                        <a:rPr sz="1200" b="0">
                          <a:solidFill>
                            <a:srgbClr val="1F2937"/>
                          </a:solidFill>
                        </a:rPr>
                        <a:t>H&amp;E, Berlin ko‘k</a:t>
                      </a:r>
                    </a:p>
                  </a:txBody>
                  <a:tcPr marL="73152" marR="73152" marT="36576" marB="36576">
                    <a:solidFill>
                      <a:srgbClr val="E8EEF6"/>
                    </a:solidFill>
                  </a:tcPr>
                </a:tc>
                <a:tc>
                  <a:txBody>
                    <a:bodyPr/>
                    <a:lstStyle/>
                    <a:p>
                      <a:r>
                        <a:rPr sz="1200" b="0">
                          <a:solidFill>
                            <a:srgbClr val="1F2937"/>
                          </a:solidFill>
                        </a:rPr>
                        <a:t>Jarohatdan 6 soat keyin</a:t>
                      </a:r>
                    </a:p>
                  </a:txBody>
                  <a:tcPr marL="73152" marR="73152" marT="36576" marB="36576">
                    <a:solidFill>
                      <a:srgbClr val="E8EEF6"/>
                    </a:solidFill>
                  </a:tcPr>
                </a:tc>
                <a:tc>
                  <a:txBody>
                    <a:bodyPr/>
                    <a:lstStyle/>
                    <a:p>
                      <a:r>
                        <a:rPr sz="1200" b="0">
                          <a:solidFill>
                            <a:srgbClr val="1F2937"/>
                          </a:solidFill>
                        </a:rPr>
                        <a:t>Amaliy qo‘llanishi cheklangan</a:t>
                      </a:r>
                    </a:p>
                  </a:txBody>
                  <a:tcPr marL="73152" marR="73152" marT="36576" marB="36576">
                    <a:solidFill>
                      <a:srgbClr val="E8EEF6"/>
                    </a:solidFill>
                  </a:tcPr>
                </a:tc>
              </a:tr>
              <a:tr h="411480">
                <a:tc>
                  <a:txBody>
                    <a:bodyPr/>
                    <a:lstStyle/>
                    <a:p>
                      <a:r>
                        <a:rPr sz="1200" b="0">
                          <a:solidFill>
                            <a:srgbClr val="1F2937"/>
                          </a:solidFill>
                        </a:rPr>
                        <a:t>P-selektin (IGK)</a:t>
                      </a:r>
                    </a:p>
                  </a:txBody>
                  <a:tcPr marL="73152" marR="73152" marT="36576" marB="36576">
                    <a:solidFill>
                      <a:srgbClr val="FFFFFF"/>
                    </a:solidFill>
                  </a:tcPr>
                </a:tc>
                <a:tc>
                  <a:txBody>
                    <a:bodyPr/>
                    <a:lstStyle/>
                    <a:p>
                      <a:r>
                        <a:rPr sz="1200" b="0">
                          <a:solidFill>
                            <a:srgbClr val="1F2937"/>
                          </a:solidFill>
                        </a:rPr>
                        <a:t>Jarohatdan 3 daqiqada</a:t>
                      </a:r>
                    </a:p>
                  </a:txBody>
                  <a:tcPr marL="73152" marR="73152" marT="36576" marB="36576">
                    <a:solidFill>
                      <a:srgbClr val="FFFFFF"/>
                    </a:solidFill>
                  </a:tcPr>
                </a:tc>
                <a:tc>
                  <a:txBody>
                    <a:bodyPr/>
                    <a:lstStyle/>
                    <a:p>
                      <a:r>
                        <a:rPr sz="1200" b="0">
                          <a:solidFill>
                            <a:srgbClr val="1F2937"/>
                          </a:solidFill>
                        </a:rPr>
                        <a:t>1998 yilgi kuzatuv, erta belgi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Usul va aniqlanish vaqti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N va boshq., Vitality and wound-age estimation in forensic pathology: review and future prospects, betlar: PMID 32490306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4: juda erta jarohat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78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jarohat o‘limdan bir necha daqiqa oldin yetkazilgan. Savol: gistologiya yetarlimi? Yo‘q: dastlabki daqiqa-soatlarda u hal qila olmaydi.</a:t>
            </a:r>
          </a:p>
          <a:p>
            <a:pPr>
              <a:spcAft>
                <a:spcPts val="1200"/>
              </a:spcAft>
            </a:pPr>
            <a:r>
              <a:rPr sz="2200">
                <a:solidFill>
                  <a:srgbClr val="1F2937"/>
                </a:solidFill>
                <a:latin typeface="Calibri"/>
              </a:rPr>
              <a:t>▸  Molekulyar usul imkon beradi: mRNA darajalari oqsil va gistomorfologiyaga qaraganda tezroq o‘zgaradi.</a:t>
            </a:r>
          </a:p>
          <a:p>
            <a:pPr>
              <a:spcAft>
                <a:spcPts val="1200"/>
              </a:spcAft>
            </a:pPr>
            <a:r>
              <a:rPr sz="2200">
                <a:solidFill>
                  <a:srgbClr val="1F2937"/>
                </a:solidFill>
                <a:latin typeface="Calibri"/>
              </a:rPr>
              <a:t>▸  Dressler va boshq. 1998 yilda jarohatdan 3 daqiqa o‘tib P-selektinga kuchli musbat immunogistokimyoviy reaksiyani kuzatgan.</a:t>
            </a:r>
          </a:p>
          <a:p>
            <a:pPr>
              <a:spcAft>
                <a:spcPts val="1200"/>
              </a:spcAft>
            </a:pPr>
            <a:r>
              <a:rPr sz="2200">
                <a:solidFill>
                  <a:srgbClr val="1F2937"/>
                </a:solidFill>
                <a:latin typeface="Calibri"/>
              </a:rPr>
              <a:t>▸  Diqqat: o‘lim zahoti ‘qoldiq hayot hodisalari’ vital reaksiyani taqlid qilishi mumkin; holat ma’lumotlari ham baholanadi.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N va boshq., Vitality and wound-age estimation in forensic pathology: review and future prospects, betlar: PMID 32490306; Maiese A va boshq., State-of-the-Art on Wound Vitality Evaluation: A Systematic Review, betlar: PMID 35805886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Teri va skelet mushagi: bitish bosqichlari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78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Bitish uch bosqichdan iborat: yallig‘lanish, proliferatsiya va yetilish.</a:t>
            </a:r>
          </a:p>
          <a:p>
            <a:pPr>
              <a:spcAft>
                <a:spcPts val="800"/>
              </a:spcAft>
            </a:pPr>
            <a:r>
              <a:rPr sz="1800">
                <a:solidFill>
                  <a:srgbClr val="1F2937"/>
                </a:solidFill>
                <a:latin typeface="Calibri"/>
              </a:rPr>
              <a:t>▸  Sudtibbiyotda yallig‘lanish hujayralarining paydo bo‘lishi va yo‘qolishi vaqt bo‘yicha xaritalanadi.</a:t>
            </a:r>
          </a:p>
          <a:p>
            <a:pPr>
              <a:spcAft>
                <a:spcPts val="800"/>
              </a:spcAft>
            </a:pPr>
            <a:r>
              <a:rPr sz="1800">
                <a:solidFill>
                  <a:srgbClr val="1F2937"/>
                </a:solidFill>
                <a:latin typeface="Calibri"/>
              </a:rPr>
              <a:t>▸  Diabetda bitish oddiy jarohatdan farq qiladi, shuning uchun oddiy parametrlar mos kelmasligi mumkin.</a:t>
            </a:r>
          </a:p>
        </p:txBody>
      </p:sp>
      <p:graphicFrame>
        <p:nvGraphicFramePr>
          <p:cNvPr id="9" name="Table 8"/>
          <p:cNvGraphicFramePr>
            <a:graphicFrameLocks noGrp="1"/>
          </p:cNvGraphicFramePr>
          <p:nvPr/>
        </p:nvGraphicFramePr>
        <p:xfrm>
          <a:off x="6263640" y="1463040"/>
          <a:ext cx="5287973" cy="1234440"/>
        </p:xfrm>
        <a:graphic>
          <a:graphicData uri="http://schemas.openxmlformats.org/drawingml/2006/table">
            <a:tbl>
              <a:tblPr firstRow="1" bandRow="1">
                <a:tableStyleId>{5C22544A-7EE6-4342-B048-85BDC9FD1C3A}</a:tableStyleId>
              </a:tblPr>
              <a:tblGrid>
                <a:gridCol w="890606"/>
                <a:gridCol w="2170852"/>
                <a:gridCol w="2226515"/>
              </a:tblGrid>
              <a:tr h="411480">
                <a:tc>
                  <a:txBody>
                    <a:bodyPr/>
                    <a:lstStyle/>
                    <a:p>
                      <a:r>
                        <a:rPr sz="1300" b="1">
                          <a:solidFill>
                            <a:srgbClr val="FFFFFF"/>
                          </a:solidFill>
                        </a:rPr>
                        <a:t>Bosqich</a:t>
                      </a:r>
                    </a:p>
                  </a:txBody>
                  <a:tcPr marL="73152" marR="73152" marT="36576" marB="36576">
                    <a:solidFill>
                      <a:srgbClr val="0B1F3A"/>
                    </a:solidFill>
                  </a:tcPr>
                </a:tc>
                <a:tc>
                  <a:txBody>
                    <a:bodyPr/>
                    <a:lstStyle/>
                    <a:p>
                      <a:r>
                        <a:rPr sz="1300" b="1">
                          <a:solidFill>
                            <a:srgbClr val="FFFFFF"/>
                          </a:solidFill>
                        </a:rPr>
                        <a:t>Teri</a:t>
                      </a:r>
                    </a:p>
                  </a:txBody>
                  <a:tcPr marL="73152" marR="73152" marT="36576" marB="36576">
                    <a:solidFill>
                      <a:srgbClr val="0B1F3A"/>
                    </a:solidFill>
                  </a:tcPr>
                </a:tc>
                <a:tc>
                  <a:txBody>
                    <a:bodyPr/>
                    <a:lstStyle/>
                    <a:p>
                      <a:r>
                        <a:rPr sz="1300" b="1">
                          <a:solidFill>
                            <a:srgbClr val="FFFFFF"/>
                          </a:solidFill>
                        </a:rPr>
                        <a:t>Skelet mushagi</a:t>
                      </a:r>
                    </a:p>
                  </a:txBody>
                  <a:tcPr marL="73152" marR="73152" marT="36576" marB="36576">
                    <a:solidFill>
                      <a:srgbClr val="0B1F3A"/>
                    </a:solidFill>
                  </a:tcPr>
                </a:tc>
              </a:tr>
              <a:tr h="411480">
                <a:tc>
                  <a:txBody>
                    <a:bodyPr/>
                    <a:lstStyle/>
                    <a:p>
                      <a:r>
                        <a:rPr sz="1200" b="0">
                          <a:solidFill>
                            <a:srgbClr val="1F2937"/>
                          </a:solidFill>
                        </a:rPr>
                        <a:t>Yallig‘lanish</a:t>
                      </a:r>
                    </a:p>
                  </a:txBody>
                  <a:tcPr marL="73152" marR="73152" marT="36576" marB="36576">
                    <a:solidFill>
                      <a:srgbClr val="E8EEF6"/>
                    </a:solidFill>
                  </a:tcPr>
                </a:tc>
                <a:tc>
                  <a:txBody>
                    <a:bodyPr/>
                    <a:lstStyle/>
                    <a:p>
                      <a:r>
                        <a:rPr sz="1200" b="0">
                          <a:solidFill>
                            <a:srgbClr val="1F2937"/>
                          </a:solidFill>
                        </a:rPr>
                        <a:t>Neytrofil va makrofaglar keladi</a:t>
                      </a:r>
                    </a:p>
                  </a:txBody>
                  <a:tcPr marL="73152" marR="73152" marT="36576" marB="36576">
                    <a:solidFill>
                      <a:srgbClr val="E8EEF6"/>
                    </a:solidFill>
                  </a:tcPr>
                </a:tc>
                <a:tc>
                  <a:txBody>
                    <a:bodyPr/>
                    <a:lstStyle/>
                    <a:p>
                      <a:r>
                        <a:rPr sz="1200" b="0">
                          <a:solidFill>
                            <a:srgbClr val="1F2937"/>
                          </a:solidFill>
                        </a:rPr>
                        <a:t>Neytrofil va makrofaglar keladi</a:t>
                      </a:r>
                    </a:p>
                  </a:txBody>
                  <a:tcPr marL="73152" marR="73152" marT="36576" marB="36576">
                    <a:solidFill>
                      <a:srgbClr val="E8EEF6"/>
                    </a:solidFill>
                  </a:tcPr>
                </a:tc>
              </a:tr>
              <a:tr h="411480">
                <a:tc>
                  <a:txBody>
                    <a:bodyPr/>
                    <a:lstStyle/>
                    <a:p>
                      <a:r>
                        <a:rPr sz="1200" b="0">
                          <a:solidFill>
                            <a:srgbClr val="1F2937"/>
                          </a:solidFill>
                        </a:rPr>
                        <a:t>Proliferatsiya</a:t>
                      </a:r>
                    </a:p>
                  </a:txBody>
                  <a:tcPr marL="73152" marR="73152" marT="36576" marB="36576">
                    <a:solidFill>
                      <a:srgbClr val="FFFFFF"/>
                    </a:solidFill>
                  </a:tcPr>
                </a:tc>
                <a:tc>
                  <a:txBody>
                    <a:bodyPr/>
                    <a:lstStyle/>
                    <a:p>
                      <a:r>
                        <a:rPr sz="1200" b="0">
                          <a:solidFill>
                            <a:srgbClr val="1F2937"/>
                          </a:solidFill>
                        </a:rPr>
                        <a:t>Reepitelizatsiya, granulyatsion to‘qima</a:t>
                      </a:r>
                    </a:p>
                  </a:txBody>
                  <a:tcPr marL="73152" marR="73152" marT="36576" marB="36576">
                    <a:solidFill>
                      <a:srgbClr val="FFFFFF"/>
                    </a:solidFill>
                  </a:tcPr>
                </a:tc>
                <a:tc>
                  <a:txBody>
                    <a:bodyPr/>
                    <a:lstStyle/>
                    <a:p>
                      <a:r>
                        <a:rPr sz="1200" b="0">
                          <a:solidFill>
                            <a:srgbClr val="1F2937"/>
                          </a:solidFill>
                        </a:rPr>
                        <a:t>Satellit hujayralar miotsitga farqlanadi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Bitish bosqichlari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N va boshq., Vitality and wound-age estimation in forensic pathology: review and future prospects, betlar: PMID 32490306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Miya jarohati biomarkerlari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78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Markaziy nerv sistemasi mexanik, ishemik va toksik ta’sirga juda sezgir. Neyronlar yangilanmagani uchun miya shikasti qaytmasdir.</a:t>
            </a:r>
          </a:p>
          <a:p>
            <a:pPr>
              <a:spcAft>
                <a:spcPts val="1200"/>
              </a:spcAft>
            </a:pPr>
            <a:r>
              <a:rPr sz="2000">
                <a:solidFill>
                  <a:srgbClr val="1F2937"/>
                </a:solidFill>
                <a:latin typeface="Calibri"/>
              </a:rPr>
              <a:t>▸  Mexanik shikast ko‘pincha epidural, subdural, subaraxnoidal va parenximal qon quyilish bilan birga keladi. Qon quyilish yoshi gematoksilin-eozin va immunogistokimyo bilan baholanadi.</a:t>
            </a:r>
          </a:p>
          <a:p>
            <a:pPr>
              <a:spcAft>
                <a:spcPts val="1200"/>
              </a:spcAft>
            </a:pPr>
            <a:r>
              <a:rPr sz="2000">
                <a:solidFill>
                  <a:srgbClr val="1F2937"/>
                </a:solidFill>
                <a:latin typeface="Calibri"/>
              </a:rPr>
              <a:t>▸  Diffuz aksonal shikast og‘ir oqibat beradi, erta tashxisi qiyin. β-amiloid prekursor oqsili akson uzilgan joyda aniqlanadi va sezgir, o‘ziga xos marker hisoblanadi.</a:t>
            </a:r>
          </a:p>
          <a:p>
            <a:pPr>
              <a:spcAft>
                <a:spcPts val="1200"/>
              </a:spcAft>
            </a:pPr>
            <a:r>
              <a:rPr sz="2000">
                <a:solidFill>
                  <a:srgbClr val="1F2937"/>
                </a:solidFill>
                <a:latin typeface="Calibri"/>
              </a:rPr>
              <a:t>▸  Mikroglia faollashadi, reaktiv astrositlar ko‘payadi. Glial va yallig‘lanish hujayralari dinamikasi miya jarohati vaqtini aniqlashda qo‘llanadi.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N va boshq., Vitality and wound-age estimation in forensic pathology: review and future prospects, betlar: PMID 32490306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Postmortem barqarorlik: marker tanlash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78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Chirish, parchalanish va qurish mRNA hamda oqsillarni buzadi; o‘limdan keyin barqaror markerlar tanlanadi.</a:t>
            </a:r>
          </a:p>
          <a:p>
            <a:pPr>
              <a:spcAft>
                <a:spcPts val="800"/>
              </a:spcAft>
            </a:pPr>
            <a:r>
              <a:rPr sz="1800">
                <a:solidFill>
                  <a:srgbClr val="1F2937"/>
                </a:solidFill>
                <a:latin typeface="Calibri"/>
              </a:rPr>
              <a:t>▸  Matriks metalloproteinaza-2 va TIMP-2 mRNA 12 soatda sezilarli parchalangan.</a:t>
            </a:r>
          </a:p>
          <a:p>
            <a:pPr>
              <a:spcAft>
                <a:spcPts val="800"/>
              </a:spcAft>
            </a:pPr>
            <a:r>
              <a:rPr sz="1800">
                <a:solidFill>
                  <a:srgbClr val="1F2937"/>
                </a:solidFill>
                <a:latin typeface="Calibri"/>
              </a:rPr>
              <a:t>▸  Postmortem interval ta’sirini bartaraf etish uchun nazorat guruhi va mavsumiy omillar hisobga olinadi.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509547"/>
                <a:gridCol w="2778427"/>
              </a:tblGrid>
              <a:tr h="411480">
                <a:tc>
                  <a:txBody>
                    <a:bodyPr/>
                    <a:lstStyle/>
                    <a:p>
                      <a:r>
                        <a:rPr sz="1400" b="1">
                          <a:solidFill>
                            <a:srgbClr val="FFFFFF"/>
                          </a:solidFill>
                        </a:rPr>
                        <a:t>Marker</a:t>
                      </a:r>
                    </a:p>
                  </a:txBody>
                  <a:tcPr marL="73152" marR="73152" marT="36576" marB="36576">
                    <a:solidFill>
                      <a:srgbClr val="0B1F3A"/>
                    </a:solidFill>
                  </a:tcPr>
                </a:tc>
                <a:tc>
                  <a:txBody>
                    <a:bodyPr/>
                    <a:lstStyle/>
                    <a:p>
                      <a:r>
                        <a:rPr sz="1400" b="1">
                          <a:solidFill>
                            <a:srgbClr val="FFFFFF"/>
                          </a:solidFill>
                        </a:rPr>
                        <a:t>Holat</a:t>
                      </a:r>
                    </a:p>
                  </a:txBody>
                  <a:tcPr marL="73152" marR="73152" marT="36576" marB="36576">
                    <a:solidFill>
                      <a:srgbClr val="0B1F3A"/>
                    </a:solidFill>
                  </a:tcPr>
                </a:tc>
              </a:tr>
              <a:tr h="411480">
                <a:tc>
                  <a:txBody>
                    <a:bodyPr/>
                    <a:lstStyle/>
                    <a:p>
                      <a:r>
                        <a:rPr sz="1300" b="0">
                          <a:solidFill>
                            <a:srgbClr val="1F2937"/>
                          </a:solidFill>
                        </a:rPr>
                        <a:t>Argininosuksinat liaza mRNA</a:t>
                      </a:r>
                    </a:p>
                  </a:txBody>
                  <a:tcPr marL="73152" marR="73152" marT="36576" marB="36576">
                    <a:solidFill>
                      <a:srgbClr val="E8EEF6"/>
                    </a:solidFill>
                  </a:tcPr>
                </a:tc>
                <a:tc>
                  <a:txBody>
                    <a:bodyPr/>
                    <a:lstStyle/>
                    <a:p>
                      <a:r>
                        <a:rPr sz="1300" b="0">
                          <a:solidFill>
                            <a:srgbClr val="1F2937"/>
                          </a:solidFill>
                        </a:rPr>
                        <a:t>18 soatgacha barqaror</a:t>
                      </a:r>
                    </a:p>
                  </a:txBody>
                  <a:tcPr marL="73152" marR="73152" marT="36576" marB="36576">
                    <a:solidFill>
                      <a:srgbClr val="E8EEF6"/>
                    </a:solidFill>
                  </a:tcPr>
                </a:tc>
              </a:tr>
              <a:tr h="411480">
                <a:tc>
                  <a:txBody>
                    <a:bodyPr/>
                    <a:lstStyle/>
                    <a:p>
                      <a:r>
                        <a:rPr sz="1300" b="0">
                          <a:solidFill>
                            <a:srgbClr val="1F2937"/>
                          </a:solidFill>
                        </a:rPr>
                        <a:t>SNAT2 mRNA</a:t>
                      </a:r>
                    </a:p>
                  </a:txBody>
                  <a:tcPr marL="73152" marR="73152" marT="36576" marB="36576">
                    <a:solidFill>
                      <a:srgbClr val="FFFFFF"/>
                    </a:solidFill>
                  </a:tcPr>
                </a:tc>
                <a:tc>
                  <a:txBody>
                    <a:bodyPr/>
                    <a:lstStyle/>
                    <a:p>
                      <a:r>
                        <a:rPr sz="1300" b="0">
                          <a:solidFill>
                            <a:srgbClr val="1F2937"/>
                          </a:solidFill>
                        </a:rPr>
                        <a:t>48 soatgacha barqaror</a:t>
                      </a:r>
                    </a:p>
                  </a:txBody>
                  <a:tcPr marL="73152" marR="73152" marT="36576" marB="36576">
                    <a:solidFill>
                      <a:srgbClr val="FFFFFF"/>
                    </a:solidFill>
                  </a:tcPr>
                </a:tc>
              </a:tr>
              <a:tr h="411480">
                <a:tc>
                  <a:txBody>
                    <a:bodyPr/>
                    <a:lstStyle/>
                    <a:p>
                      <a:r>
                        <a:rPr sz="1300" b="0">
                          <a:solidFill>
                            <a:srgbClr val="1F2937"/>
                          </a:solidFill>
                        </a:rPr>
                        <a:t>LC3-II va p62 oqsillari</a:t>
                      </a:r>
                    </a:p>
                  </a:txBody>
                  <a:tcPr marL="73152" marR="73152" marT="36576" marB="36576">
                    <a:solidFill>
                      <a:srgbClr val="E8EEF6"/>
                    </a:solidFill>
                  </a:tcPr>
                </a:tc>
                <a:tc>
                  <a:txBody>
                    <a:bodyPr/>
                    <a:lstStyle/>
                    <a:p>
                      <a:r>
                        <a:rPr sz="1300" b="0">
                          <a:solidFill>
                            <a:srgbClr val="1F2937"/>
                          </a:solidFill>
                        </a:rPr>
                        <a:t>4 sutkagacha barqaror</a:t>
                      </a:r>
                    </a:p>
                  </a:txBody>
                  <a:tcPr marL="73152" marR="73152" marT="36576" marB="36576">
                    <a:solidFill>
                      <a:srgbClr val="E8EEF6"/>
                    </a:solidFill>
                  </a:tcPr>
                </a:tc>
              </a:tr>
              <a:tr h="411480">
                <a:tc>
                  <a:txBody>
                    <a:bodyPr/>
                    <a:lstStyle/>
                    <a:p>
                      <a:r>
                        <a:rPr sz="1300" b="0">
                          <a:solidFill>
                            <a:srgbClr val="1F2937"/>
                          </a:solidFill>
                        </a:rPr>
                        <a:t>Kannabinoid retseptor-2 mRNA</a:t>
                      </a:r>
                    </a:p>
                  </a:txBody>
                  <a:tcPr marL="73152" marR="73152" marT="36576" marB="36576">
                    <a:solidFill>
                      <a:srgbClr val="FFFFFF"/>
                    </a:solidFill>
                  </a:tcPr>
                </a:tc>
                <a:tc>
                  <a:txBody>
                    <a:bodyPr/>
                    <a:lstStyle/>
                    <a:p>
                      <a:r>
                        <a:rPr sz="1300" b="0">
                          <a:solidFill>
                            <a:srgbClr val="1F2937"/>
                          </a:solidFill>
                        </a:rPr>
                        <a:t>3 soatda sezilarli parchalangan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Markerlar barqarorligi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N va boshq., Vitality and wound-age estimation in forensic pathology: review and future prospects, betlar: PMID 32490306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Qoldiq hayot hodisalari va postmortem manipulyatsiyalar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78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O‘limdan keyin qisqa vaqt hujayralar faol qolib, vital reaksiyani taqlid qilishi mumkin.</a:t>
            </a:r>
          </a:p>
          <a:p>
            <a:pPr>
              <a:spcAft>
                <a:spcPts val="800"/>
              </a:spcAft>
            </a:pPr>
            <a:r>
              <a:rPr sz="1800">
                <a:solidFill>
                  <a:srgbClr val="1F2937"/>
                </a:solidFill>
                <a:latin typeface="Calibri"/>
              </a:rPr>
              <a:t>▸  Ventilyatsiya emfizemani, reanimatsiya qon quyilishini sun’iy hosil qilishi mumkin.</a:t>
            </a:r>
          </a:p>
          <a:p>
            <a:pPr>
              <a:spcAft>
                <a:spcPts val="800"/>
              </a:spcAft>
            </a:pPr>
            <a:r>
              <a:rPr sz="1800">
                <a:solidFill>
                  <a:srgbClr val="1F2937"/>
                </a:solidFill>
                <a:latin typeface="Calibri"/>
              </a:rPr>
              <a:t>▸  O‘lim intervali uzaysa, biomarkerlar ishonchliligi pasayadi; immunogistokimyo nisbatan chidamli.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O‘lim yuz beradi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Qoldiq hayot hodisalari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Ventilyatsiya / reanimatsiya</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Yolg‘on vital belgi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Holatni tekshirish</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Yolg‘on vital belgi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Maiese A va boshq., State-of-the-Art on Wound Vitality Evaluation: A Systematic Review, betlar: PMID 35805886, 4-bo‘lim (Discussion)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5: reanimatsiyadan keyingi topilma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78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reanimatsiya o‘tkazilgan jasadning to‘qimasida eritrotsitlar chiqishi (qon quyilishi) topildi.</a:t>
            </a:r>
          </a:p>
          <a:p>
            <a:pPr>
              <a:spcAft>
                <a:spcPts val="1200"/>
              </a:spcAft>
            </a:pPr>
            <a:r>
              <a:rPr sz="2200">
                <a:solidFill>
                  <a:srgbClr val="1F2937"/>
                </a:solidFill>
                <a:latin typeface="Calibri"/>
              </a:rPr>
              <a:t>▸  Reanimatsiya qon aylanishini saqlagani uchun postmortem eritrotsit ekstravazatsiyasini hosil qilishi mumkin.</a:t>
            </a:r>
          </a:p>
          <a:p>
            <a:pPr>
              <a:spcAft>
                <a:spcPts val="1200"/>
              </a:spcAft>
            </a:pPr>
            <a:r>
              <a:rPr sz="2200">
                <a:solidFill>
                  <a:srgbClr val="1F2937"/>
                </a:solidFill>
                <a:latin typeface="Calibri"/>
              </a:rPr>
              <a:t>▸  Diqqat: eritrotsit ekstravazatsiyasi ≠ vitalitet isboti, chunki u o‘limdan keyin ham paydo bo‘lishi mumkin.</a:t>
            </a:r>
          </a:p>
          <a:p>
            <a:pPr>
              <a:spcAft>
                <a:spcPts val="1200"/>
              </a:spcAft>
            </a:pPr>
            <a:r>
              <a:rPr sz="2200">
                <a:solidFill>
                  <a:srgbClr val="1F2937"/>
                </a:solidFill>
                <a:latin typeface="Calibri"/>
              </a:rPr>
              <a:t>▸  Savol: topilmani qanday baholaysiz? Holat ma’lumotlari, tergov va kasallik tarixi bilan solishtiring.</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Maiese A va boshq., State-of-the-Art on Wound Vitality Evaluation: A Systematic Review, betlar: PMID 35805886, 4-bo‘lim (Discussion); Li N va boshq., Vitality and wound-age estimation in forensic pathology: review and future prospects, betlar: PMID 32490306, Methods: Other methods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3: cheklovlar va xatolar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78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qoldiq hayot nima? Javob: o‘limdan keyin qisqa vaqt davom etuvchi reaksiyalar, vitalni taqlid qilishi mumkin.</a:t>
            </a:r>
          </a:p>
          <a:p>
            <a:pPr>
              <a:spcAft>
                <a:spcPts val="1200"/>
              </a:spcAft>
            </a:pPr>
            <a:r>
              <a:rPr sz="2200">
                <a:solidFill>
                  <a:srgbClr val="1F2937"/>
                </a:solidFill>
                <a:latin typeface="Calibri"/>
              </a:rPr>
              <a:t>▸  Savol: chirish nimaga ta’sir qiladi? Javob: biomarkerlar ishonchliligini pasaytiradi, to‘qima tuzilishini o‘zgartirishi mumkin.</a:t>
            </a:r>
          </a:p>
          <a:p>
            <a:pPr>
              <a:spcAft>
                <a:spcPts val="1200"/>
              </a:spcAft>
            </a:pPr>
            <a:r>
              <a:rPr sz="2200">
                <a:solidFill>
                  <a:srgbClr val="1F2937"/>
                </a:solidFill>
                <a:latin typeface="Calibri"/>
              </a:rPr>
              <a:t>▸  Savol: diabetli kishida normal yara mezonlari mosmi? Javob: yo‘q, diabetda yara tiklanishi farq qiladi.</a:t>
            </a:r>
          </a:p>
          <a:p>
            <a:pPr>
              <a:spcAft>
                <a:spcPts val="1200"/>
              </a:spcAft>
            </a:pPr>
            <a:r>
              <a:rPr sz="2200">
                <a:solidFill>
                  <a:srgbClr val="1F2937"/>
                </a:solidFill>
                <a:latin typeface="Calibri"/>
              </a:rPr>
              <a:t>▸  Savol: reanimatsiya va ventilyatsiya nimani hosil qiladi? Javob: qon quyilishi va emfizemaga o‘xshash yolg‘on belgilar.</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Maiese A va boshq., State-of-the-Art on Wound Vitality Evaluation: A Systematic Review, betlar: PMID 35805886, 4-bo‘lim (Discussion); Li N va boshq., Vitality and wound-age estimation in forensic pathology: review and future prospects, betlar: PMID 32490306, Biomarkers: Skin and skeletal muscle injury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Ko‘p markerli yondashuv va tahlil modellari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78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Bitta ko‘rsatkich jarohat yoshini aniqlashga yetmaydi; bir necha ko‘rsatkichni birlashtirish xatoni kamaytiradi.</a:t>
            </a:r>
          </a:p>
          <a:p>
            <a:pPr>
              <a:spcAft>
                <a:spcPts val="800"/>
              </a:spcAft>
            </a:pPr>
            <a:r>
              <a:rPr sz="1800">
                <a:solidFill>
                  <a:srgbClr val="1F2937"/>
                </a:solidFill>
                <a:latin typeface="Calibri"/>
              </a:rPr>
              <a:t>▸  To‘rt mRNA (xabarchi RNK)ning yuqoriga/o‘zgarishsiz/pastga modeli jarohat yoshi oralig‘ini toraytirdi.</a:t>
            </a:r>
          </a:p>
          <a:p>
            <a:pPr>
              <a:spcAft>
                <a:spcPts val="800"/>
              </a:spcAft>
            </a:pPr>
            <a:r>
              <a:rPr sz="1800">
                <a:solidFill>
                  <a:srgbClr val="1F2937"/>
                </a:solidFill>
                <a:latin typeface="Calibri"/>
              </a:rPr>
              <a:t>▸  CD14, CD32B, CD68 birgalikda bitta markerdan o‘ziga xosroq bo‘ldi; ehtimollik ballari tizimlari ham tuzilgan.</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313489"/>
                <a:gridCol w="2974485"/>
              </a:tblGrid>
              <a:tr h="411480">
                <a:tc>
                  <a:txBody>
                    <a:bodyPr/>
                    <a:lstStyle/>
                    <a:p>
                      <a:r>
                        <a:rPr sz="1400" b="1">
                          <a:solidFill>
                            <a:srgbClr val="FFFFFF"/>
                          </a:solidFill>
                        </a:rPr>
                        <a:t>Yondashuv</a:t>
                      </a:r>
                    </a:p>
                  </a:txBody>
                  <a:tcPr marL="73152" marR="73152" marT="36576" marB="36576">
                    <a:solidFill>
                      <a:srgbClr val="0B1F3A"/>
                    </a:solidFill>
                  </a:tcPr>
                </a:tc>
                <a:tc>
                  <a:txBody>
                    <a:bodyPr/>
                    <a:lstStyle/>
                    <a:p>
                      <a:r>
                        <a:rPr sz="1400" b="1">
                          <a:solidFill>
                            <a:srgbClr val="FFFFFF"/>
                          </a:solidFill>
                        </a:rPr>
                        <a:t>Mohiyati</a:t>
                      </a:r>
                    </a:p>
                  </a:txBody>
                  <a:tcPr marL="73152" marR="73152" marT="36576" marB="36576">
                    <a:solidFill>
                      <a:srgbClr val="0B1F3A"/>
                    </a:solidFill>
                  </a:tcPr>
                </a:tc>
              </a:tr>
              <a:tr h="411480">
                <a:tc>
                  <a:txBody>
                    <a:bodyPr/>
                    <a:lstStyle/>
                    <a:p>
                      <a:r>
                        <a:rPr sz="1300" b="0">
                          <a:solidFill>
                            <a:srgbClr val="1F2937"/>
                          </a:solidFill>
                        </a:rPr>
                        <a:t>Yuqoriga/o‘zgarishsiz/pastga</a:t>
                      </a:r>
                    </a:p>
                  </a:txBody>
                  <a:tcPr marL="73152" marR="73152" marT="36576" marB="36576">
                    <a:solidFill>
                      <a:srgbClr val="E8EEF6"/>
                    </a:solidFill>
                  </a:tcPr>
                </a:tc>
                <a:tc>
                  <a:txBody>
                    <a:bodyPr/>
                    <a:lstStyle/>
                    <a:p>
                      <a:r>
                        <a:rPr sz="1300" b="0">
                          <a:solidFill>
                            <a:srgbClr val="1F2937"/>
                          </a:solidFill>
                        </a:rPr>
                        <a:t>4 ta mRNK bo‘yicha model</a:t>
                      </a:r>
                    </a:p>
                  </a:txBody>
                  <a:tcPr marL="73152" marR="73152" marT="36576" marB="36576">
                    <a:solidFill>
                      <a:srgbClr val="E8EEF6"/>
                    </a:solidFill>
                  </a:tcPr>
                </a:tc>
              </a:tr>
              <a:tr h="411480">
                <a:tc>
                  <a:txBody>
                    <a:bodyPr/>
                    <a:lstStyle/>
                    <a:p>
                      <a:r>
                        <a:rPr sz="1300" b="0">
                          <a:solidFill>
                            <a:srgbClr val="1F2937"/>
                          </a:solidFill>
                        </a:rPr>
                        <a:t>CD14 + CD32B + CD68</a:t>
                      </a:r>
                    </a:p>
                  </a:txBody>
                  <a:tcPr marL="73152" marR="73152" marT="36576" marB="36576">
                    <a:solidFill>
                      <a:srgbClr val="FFFFFF"/>
                    </a:solidFill>
                  </a:tcPr>
                </a:tc>
                <a:tc>
                  <a:txBody>
                    <a:bodyPr/>
                    <a:lstStyle/>
                    <a:p>
                      <a:r>
                        <a:rPr sz="1300" b="0">
                          <a:solidFill>
                            <a:srgbClr val="1F2937"/>
                          </a:solidFill>
                        </a:rPr>
                        <a:t>Teri jarohati, torroq oraliq</a:t>
                      </a:r>
                    </a:p>
                  </a:txBody>
                  <a:tcPr marL="73152" marR="73152" marT="36576" marB="36576">
                    <a:solidFill>
                      <a:srgbClr val="FFFFFF"/>
                    </a:solidFill>
                  </a:tcPr>
                </a:tc>
              </a:tr>
              <a:tr h="411480">
                <a:tc>
                  <a:txBody>
                    <a:bodyPr/>
                    <a:lstStyle/>
                    <a:p>
                      <a:r>
                        <a:rPr sz="1300" b="0">
                          <a:solidFill>
                            <a:srgbClr val="1F2937"/>
                          </a:solidFill>
                        </a:rPr>
                        <a:t>Ehtimollik ballari</a:t>
                      </a:r>
                    </a:p>
                  </a:txBody>
                  <a:tcPr marL="73152" marR="73152" marT="36576" marB="36576">
                    <a:solidFill>
                      <a:srgbClr val="E8EEF6"/>
                    </a:solidFill>
                  </a:tcPr>
                </a:tc>
                <a:tc>
                  <a:txBody>
                    <a:bodyPr/>
                    <a:lstStyle/>
                    <a:p>
                      <a:r>
                        <a:rPr sz="1300" b="0">
                          <a:solidFill>
                            <a:srgbClr val="1F2937"/>
                          </a:solidFill>
                        </a:rPr>
                        <a:t>Morfologik belgilarni ballash</a:t>
                      </a:r>
                    </a:p>
                  </a:txBody>
                  <a:tcPr marL="73152" marR="73152" marT="36576" marB="36576">
                    <a:solidFill>
                      <a:srgbClr val="E8EEF6"/>
                    </a:solidFill>
                  </a:tcPr>
                </a:tc>
              </a:tr>
              <a:tr h="411480">
                <a:tc>
                  <a:txBody>
                    <a:bodyPr/>
                    <a:lstStyle/>
                    <a:p>
                      <a:r>
                        <a:rPr sz="1300" b="0">
                          <a:solidFill>
                            <a:srgbClr val="1F2937"/>
                          </a:solidFill>
                        </a:rPr>
                        <a:t>Matematik model</a:t>
                      </a:r>
                    </a:p>
                  </a:txBody>
                  <a:tcPr marL="73152" marR="73152" marT="36576" marB="36576">
                    <a:solidFill>
                      <a:srgbClr val="FFFFFF"/>
                    </a:solidFill>
                  </a:tcPr>
                </a:tc>
                <a:tc>
                  <a:txBody>
                    <a:bodyPr/>
                    <a:lstStyle/>
                    <a:p>
                      <a:r>
                        <a:rPr sz="1300" b="0">
                          <a:solidFill>
                            <a:srgbClr val="1F2937"/>
                          </a:solidFill>
                        </a:rPr>
                        <a:t>Hayvon ma’lumoti + autopsiya kalibri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Tahlil modellari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Li N va boshq., Vitality and wound-age estimation in forensic pathology: review and future prospects, betlar: PMID 32490306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Raqamli WSI: validatsiya usuli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78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WSI — butun shisha preparatning yuqori aniqlikdagi raqamli tasviri; u kompyuter ekranida ko‘riladi.</a:t>
            </a:r>
          </a:p>
          <a:p>
            <a:pPr>
              <a:spcAft>
                <a:spcPts val="800"/>
              </a:spcAft>
            </a:pPr>
            <a:r>
              <a:rPr sz="1800">
                <a:solidFill>
                  <a:srgbClr val="1F2937"/>
                </a:solidFill>
                <a:latin typeface="Calibri"/>
              </a:rPr>
              <a:t>▸  CAP (Amerika patologlar kolleji): kamida 60 holat, ikki hafta tanaffus, moslik 95% dan yuqori bo‘lishi kerak.</a:t>
            </a:r>
          </a:p>
          <a:p>
            <a:pPr>
              <a:spcAft>
                <a:spcPts val="800"/>
              </a:spcAft>
            </a:pPr>
            <a:r>
              <a:rPr sz="1800">
                <a:solidFill>
                  <a:srgbClr val="1F2937"/>
                </a:solidFill>
                <a:latin typeface="Calibri"/>
              </a:rPr>
              <a:t>▸  iForensic: 6 sud patologi 100 preparatni avval mikroskopda, ikki haftadan so‘ng WSIda baholadi.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100 preparat mikroskopda ko‘rildi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Skanerlash (Aperio GT 450 DX)</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Ikki hafta tanaffus</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WSI ekranda ko‘rildi (O3 viewer)</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Moslikni solishtirish</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iForensic dizayni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Pigaiani N va boshq., iForensic, betlar: PMID 39836212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iForensic natijalari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78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6 sud patologi (har biri 500 dan ortiq autopsiya o‘tkazgan) 100 preparatni baholadi.</a:t>
            </a:r>
          </a:p>
          <a:p>
            <a:pPr>
              <a:spcAft>
                <a:spcPts val="800"/>
              </a:spcAft>
            </a:pPr>
            <a:r>
              <a:rPr sz="1800">
                <a:solidFill>
                  <a:srgbClr val="1F2937"/>
                </a:solidFill>
                <a:latin typeface="Calibri"/>
              </a:rPr>
              <a:t>▸  Mikroskop va WSI tashxislari o‘rtacha 97,8% mos keldi — bu CAP chegarasidan yuqori; qoniqish ham yuqori.</a:t>
            </a:r>
          </a:p>
          <a:p>
            <a:pPr>
              <a:spcAft>
                <a:spcPts val="800"/>
              </a:spcAft>
            </a:pPr>
            <a:r>
              <a:rPr sz="1800">
                <a:solidFill>
                  <a:srgbClr val="1F2937"/>
                </a:solidFill>
                <a:latin typeface="Calibri"/>
              </a:rPr>
              <a:t>▸  Fayl hajmi 119–997 megabayt (o‘rtacha 640); tasvir sifati va ekranda yurish qulayligi yuqori baholandi.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177401"/>
                <a:gridCol w="3110573"/>
              </a:tblGrid>
              <a:tr h="411480">
                <a:tc>
                  <a:txBody>
                    <a:bodyPr/>
                    <a:lstStyle/>
                    <a:p>
                      <a:r>
                        <a:rPr sz="1400" b="1">
                          <a:solidFill>
                            <a:srgbClr val="FFFFFF"/>
                          </a:solidFill>
                        </a:rPr>
                        <a:t>Ko‘rsatkich</a:t>
                      </a:r>
                    </a:p>
                  </a:txBody>
                  <a:tcPr marL="73152" marR="73152" marT="36576" marB="36576">
                    <a:solidFill>
                      <a:srgbClr val="0B1F3A"/>
                    </a:solidFill>
                  </a:tcPr>
                </a:tc>
                <a:tc>
                  <a:txBody>
                    <a:bodyPr/>
                    <a:lstStyle/>
                    <a:p>
                      <a:r>
                        <a:rPr sz="1400" b="1">
                          <a:solidFill>
                            <a:srgbClr val="FFFFFF"/>
                          </a:solidFill>
                        </a:rPr>
                        <a:t>Natija</a:t>
                      </a:r>
                    </a:p>
                  </a:txBody>
                  <a:tcPr marL="73152" marR="73152" marT="36576" marB="36576">
                    <a:solidFill>
                      <a:srgbClr val="0B1F3A"/>
                    </a:solidFill>
                  </a:tcPr>
                </a:tc>
              </a:tr>
              <a:tr h="411480">
                <a:tc>
                  <a:txBody>
                    <a:bodyPr/>
                    <a:lstStyle/>
                    <a:p>
                      <a:r>
                        <a:rPr sz="1300" b="0">
                          <a:solidFill>
                            <a:srgbClr val="1F2937"/>
                          </a:solidFill>
                        </a:rPr>
                        <a:t>Preparatlar soni</a:t>
                      </a:r>
                    </a:p>
                  </a:txBody>
                  <a:tcPr marL="73152" marR="73152" marT="36576" marB="36576">
                    <a:solidFill>
                      <a:srgbClr val="E8EEF6"/>
                    </a:solidFill>
                  </a:tcPr>
                </a:tc>
                <a:tc>
                  <a:txBody>
                    <a:bodyPr/>
                    <a:lstStyle/>
                    <a:p>
                      <a:r>
                        <a:rPr sz="1300" b="0">
                          <a:solidFill>
                            <a:srgbClr val="1F2937"/>
                          </a:solidFill>
                        </a:rPr>
                        <a:t>100 (80 H&amp;E, 20 maxsus bo‘yoq)</a:t>
                      </a:r>
                    </a:p>
                  </a:txBody>
                  <a:tcPr marL="73152" marR="73152" marT="36576" marB="36576">
                    <a:solidFill>
                      <a:srgbClr val="E8EEF6"/>
                    </a:solidFill>
                  </a:tcPr>
                </a:tc>
              </a:tr>
              <a:tr h="411480">
                <a:tc>
                  <a:txBody>
                    <a:bodyPr/>
                    <a:lstStyle/>
                    <a:p>
                      <a:r>
                        <a:rPr sz="1300" b="0">
                          <a:solidFill>
                            <a:srgbClr val="1F2937"/>
                          </a:solidFill>
                        </a:rPr>
                        <a:t>O‘rtacha moslik</a:t>
                      </a:r>
                    </a:p>
                  </a:txBody>
                  <a:tcPr marL="73152" marR="73152" marT="36576" marB="36576">
                    <a:solidFill>
                      <a:srgbClr val="FFFFFF"/>
                    </a:solidFill>
                  </a:tcPr>
                </a:tc>
                <a:tc>
                  <a:txBody>
                    <a:bodyPr/>
                    <a:lstStyle/>
                    <a:p>
                      <a:r>
                        <a:rPr sz="1300" b="0">
                          <a:solidFill>
                            <a:srgbClr val="1F2937"/>
                          </a:solidFill>
                        </a:rPr>
                        <a:t>97,8%</a:t>
                      </a:r>
                    </a:p>
                  </a:txBody>
                  <a:tcPr marL="73152" marR="73152" marT="36576" marB="36576">
                    <a:solidFill>
                      <a:srgbClr val="FFFFFF"/>
                    </a:solidFill>
                  </a:tcPr>
                </a:tc>
              </a:tr>
              <a:tr h="411480">
                <a:tc>
                  <a:txBody>
                    <a:bodyPr/>
                    <a:lstStyle/>
                    <a:p>
                      <a:r>
                        <a:rPr sz="1300" b="0">
                          <a:solidFill>
                            <a:srgbClr val="1F2937"/>
                          </a:solidFill>
                        </a:rPr>
                        <a:t>CSUQ balli (qulaylik)</a:t>
                      </a:r>
                    </a:p>
                  </a:txBody>
                  <a:tcPr marL="73152" marR="73152" marT="36576" marB="36576">
                    <a:solidFill>
                      <a:srgbClr val="E8EEF6"/>
                    </a:solidFill>
                  </a:tcPr>
                </a:tc>
                <a:tc>
                  <a:txBody>
                    <a:bodyPr/>
                    <a:lstStyle/>
                    <a:p>
                      <a:r>
                        <a:rPr sz="1300" b="0">
                          <a:solidFill>
                            <a:srgbClr val="1F2937"/>
                          </a:solidFill>
                        </a:rPr>
                        <a:t>o‘rtacha 6,6 / 7</a:t>
                      </a:r>
                    </a:p>
                  </a:txBody>
                  <a:tcPr marL="73152" marR="73152" marT="36576" marB="36576">
                    <a:solidFill>
                      <a:srgbClr val="E8EEF6"/>
                    </a:solidFill>
                  </a:tcPr>
                </a:tc>
              </a:tr>
              <a:tr h="411480">
                <a:tc>
                  <a:txBody>
                    <a:bodyPr/>
                    <a:lstStyle/>
                    <a:p>
                      <a:r>
                        <a:rPr sz="1300" b="0">
                          <a:solidFill>
                            <a:srgbClr val="1F2937"/>
                          </a:solidFill>
                        </a:rPr>
                        <a:t>Skanerlash vaqti</a:t>
                      </a:r>
                    </a:p>
                  </a:txBody>
                  <a:tcPr marL="73152" marR="73152" marT="36576" marB="36576">
                    <a:solidFill>
                      <a:srgbClr val="FFFFFF"/>
                    </a:solidFill>
                  </a:tcPr>
                </a:tc>
                <a:tc>
                  <a:txBody>
                    <a:bodyPr/>
                    <a:lstStyle/>
                    <a:p>
                      <a:r>
                        <a:rPr sz="1300" b="0">
                          <a:solidFill>
                            <a:srgbClr val="1F2937"/>
                          </a:solidFill>
                        </a:rPr>
                        <a:t>o‘rtacha 44 soniya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Asosiy natijalar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Pigaiani N va boshq., iForensic, betlar: PMID 39836212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WSI imkoniyatlari: xizmat, tadqiqot, ta’lim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78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Xizmat: yuqori sifatli raqamli tasvirni boshqa joydagi mutaxassisga tez yuborish mumkin. Real vaqtda konsultatsiya o‘tkaziladi, namuna jo‘natishni kutish shart emas.</a:t>
            </a:r>
          </a:p>
          <a:p>
            <a:pPr>
              <a:spcAft>
                <a:spcPts val="1200"/>
              </a:spcAft>
            </a:pPr>
            <a:r>
              <a:rPr sz="2200">
                <a:solidFill>
                  <a:srgbClr val="1F2937"/>
                </a:solidFill>
                <a:latin typeface="Calibri"/>
              </a:rPr>
              <a:t>▸  Tadqiqot: sun’iy intellekt (AI) hujayra zichligi, to‘qima tuzilishi va yallig‘lanish javobini miqdoriy baholay oladi. Bu subyektivlikni kamaytiradi.</a:t>
            </a:r>
          </a:p>
          <a:p>
            <a:pPr>
              <a:spcAft>
                <a:spcPts val="1200"/>
              </a:spcAft>
            </a:pPr>
            <a:r>
              <a:rPr sz="2200">
                <a:solidFill>
                  <a:srgbClr val="1F2937"/>
                </a:solidFill>
                <a:latin typeface="Calibri"/>
              </a:rPr>
              <a:t>▸  Eski ishlarni qayta o‘rganish ham mumkin. Katta hajmli va retrospektiv tadqiqotlarda bu yangi ma’lumot berishi mumkin.</a:t>
            </a:r>
          </a:p>
          <a:p>
            <a:pPr>
              <a:spcAft>
                <a:spcPts val="1200"/>
              </a:spcAft>
            </a:pPr>
            <a:r>
              <a:rPr sz="2200">
                <a:solidFill>
                  <a:srgbClr val="1F2937"/>
                </a:solidFill>
                <a:latin typeface="Calibri"/>
              </a:rPr>
              <a:t>▸  Ta’lim: talabalar laboratoriyada bo‘lmasdan masofadan tasvirni ko‘radi. Ular topilmalarni birga muhokama qiladi, mutaxassisdan fikr 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Pigaiani N va boshq., iForensic, betlar: PMID 39836212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6: raqamli konsultatsiya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78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(o‘quv misoli): otopsiyada miya to‘qimasi preparatida murakkab o‘zgarish topildi. Ekspert tashxisga to‘liq ishonmayapti.</a:t>
            </a:r>
          </a:p>
          <a:p>
            <a:pPr>
              <a:spcAft>
                <a:spcPts val="1200"/>
              </a:spcAft>
            </a:pPr>
            <a:r>
              <a:rPr sz="2200">
                <a:solidFill>
                  <a:srgbClr val="1F2937"/>
                </a:solidFill>
                <a:latin typeface="Calibri"/>
              </a:rPr>
              <a:t>▸  Preparat skanerlanadi va raqamli tasvir neyropatologga yuboriladi. U tasvirni real vaqtda ko‘rib, o‘z fikrini bildiradi.</a:t>
            </a:r>
          </a:p>
          <a:p>
            <a:pPr>
              <a:spcAft>
                <a:spcPts val="1200"/>
              </a:spcAft>
            </a:pPr>
            <a:r>
              <a:rPr sz="2200">
                <a:solidFill>
                  <a:srgbClr val="1F2937"/>
                </a:solidFill>
                <a:latin typeface="Calibri"/>
              </a:rPr>
              <a:t>▸  Jismoniy namunani jo‘natish odatda kechikish keltiradi. Raqamli almashinuv bu kechikishni bartaraf etib, xulosani tezlashtiradi.</a:t>
            </a:r>
          </a:p>
          <a:p>
            <a:pPr>
              <a:spcAft>
                <a:spcPts val="1200"/>
              </a:spcAft>
            </a:pPr>
            <a:r>
              <a:rPr sz="2200">
                <a:solidFill>
                  <a:srgbClr val="1F2937"/>
                </a:solidFill>
                <a:latin typeface="Calibri"/>
              </a:rPr>
              <a:t>▸  Savol: bu holatda raqamli konsultatsiya qaysi ikki afzallikni beradi va qaysi muhim tekshiruv shart bo‘lib qoladi?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Pigaiani N va boshq., iForensic, betlar: PMID 39836212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standart va kompleks yondashuv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78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Jarohatning tirik davrda yetkazilganligini va yoshini isbotlashning xalqaro tan olingan standart usuli hozircha yo‘q.</a:t>
            </a:r>
          </a:p>
          <a:p>
            <a:pPr>
              <a:spcAft>
                <a:spcPts val="1200"/>
              </a:spcAft>
            </a:pPr>
            <a:r>
              <a:rPr sz="2200">
                <a:solidFill>
                  <a:srgbClr val="1F2937"/>
                </a:solidFill>
                <a:latin typeface="Calibri"/>
              </a:rPr>
              <a:t>▸  Diqqat: faqat gistologiya ≠ yetarli isbot. Gistologik, immunogistokimyoviy va genetik usullarni birlashtirgan kompleks yondashuv zarur.</a:t>
            </a:r>
          </a:p>
          <a:p>
            <a:pPr>
              <a:spcAft>
                <a:spcPts val="1200"/>
              </a:spcAft>
            </a:pPr>
            <a:r>
              <a:rPr sz="2200">
                <a:solidFill>
                  <a:srgbClr val="1F2937"/>
                </a:solidFill>
                <a:latin typeface="Calibri"/>
              </a:rPr>
              <a:t>▸  Jarohat yoshini baholash murakkab, shuning uchun bitta ko‘rsatkich yetmaydi. Bir nechta belgini birga qo‘llash xatoni kamaytiradi.</a:t>
            </a:r>
          </a:p>
          <a:p>
            <a:pPr>
              <a:spcAft>
                <a:spcPts val="1200"/>
              </a:spcAft>
            </a:pPr>
            <a:r>
              <a:rPr sz="2200">
                <a:solidFill>
                  <a:srgbClr val="1F2937"/>
                </a:solidFill>
                <a:latin typeface="Calibri"/>
              </a:rPr>
              <a:t>▸  Raqamli WSI mikroskop bilan 97,8% mos keldi, ya’ni 95% chegarasidan yuqori. Bu raqamli yo‘nalishni kelajak uchun istiqbolli qiladi.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Maiese A va boshq., State-of-the-Art on Wound Vitality Evaluation: A Systematic Review, betlar: PMID 35805886; Li N va boshq., Vitality and wound-age estimation in forensic pathology: review and future prospects, betlar: PMID 32490306; Pigaiani N va boshq., iForensic, betlar: PMID 39836212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78</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Qiziqarli fakt: 1998-yilda Dressler va hamkasblari jarohat yetkazilgandan atigi 3 daqiqa o‘tib P-selektin uchun kuchli musbat immunogistokimyoviy reaksiyani kuzatgan. Bu erta jarohat yoshini baholash mumkinligini ko‘rsatadi.</a:t>
            </a:r>
          </a:p>
          <a:p>
            <a:pPr>
              <a:spcAft>
                <a:spcPts val="1200"/>
              </a:spcAft>
            </a:pPr>
            <a:r>
              <a:rPr sz="1800">
                <a:solidFill>
                  <a:srgbClr val="1F2937"/>
                </a:solidFill>
                <a:latin typeface="Calibri"/>
              </a:rPr>
              <a:t>▸  Eslab qolish usuli (svetofor qoidasi): Pikro-Mallori bo‘yog‘ida fibrin rangi pixish davriga bog‘liq. 30 daqiqa–6 soatda qizil, 6–12 soatda binafsha, 24 soatdan keyin ko‘k bo‘ladi: «qizil – binafsha – ko‘k» = yangidan eskiga.</a:t>
            </a:r>
          </a:p>
          <a:p>
            <a:pPr>
              <a:spcAft>
                <a:spcPts val="1200"/>
              </a:spcAft>
            </a:pPr>
            <a:r>
              <a:rPr sz="1800">
                <a:solidFill>
                  <a:srgbClr val="1F2937"/>
                </a:solidFill>
                <a:latin typeface="Calibri"/>
              </a:rPr>
              <a:t>▸  Hodisa tahlili: qayta jonlantirish choralari qon aylanishini saqlab, o‘limdan keyin to‘qimaga eritrotsitlar chiqishini (ekstravazatsiya) chaqirishi mumkin. Sun’iy ventilyatsiya esa emfizemani taqlid qilishi mumkin. Shu sababli «hayotiylik» belgisi sohta bo‘lishi ehtimol.</a:t>
            </a:r>
          </a:p>
          <a:p>
            <a:pPr>
              <a:spcAft>
                <a:spcPts val="1200"/>
              </a:spcAft>
            </a:pPr>
            <a:r>
              <a:rPr sz="1800">
                <a:solidFill>
                  <a:srgbClr val="1F2937"/>
                </a:solidFill>
                <a:latin typeface="Calibri"/>
              </a:rPr>
              <a:t>▸  Qiziqarli fakt: jarohat yoshini baholash murakkab va ko‘p omilli muammo bo‘lib, mualliflar uni ob-havo prognoziga o‘xshatadi. Shuning uchun bir nechta ko‘rsatkichni birga qo‘llash xatoni kamaytirishi mumkin.</a:t>
            </a:r>
          </a:p>
          <a:p>
            <a:pPr>
              <a:spcAft>
                <a:spcPts val="1200"/>
              </a:spcAft>
            </a:pPr>
            <a:r>
              <a:rPr sz="1800">
                <a:solidFill>
                  <a:srgbClr val="1F2937"/>
                </a:solidFill>
                <a:latin typeface="Calibri"/>
              </a:rPr>
              <a:t>▸  Raqamli gistologiya: 6 sud-tibbiyot patologi 100 ta shisha preparatni mikroskopda, ikki hafta «yuvilish» (wash-out) oralig‘idan so‘ng esa WSI (to‘liq preparat raqamli tasviri) orqali ko‘rdi. O‘rtacha moslik 97,8% bo‘ldi, CAP (Amerika Patologlar Kolleji) chegarasi esa 95% dan yuqori edi.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78</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jarohat o‘lim oldidan yoki o‘limdan keyin yetkazilganini aniqlamoqchi. U aynan nimani isbotlamoqda?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Jarohat yoshini, ya’ni omon qolish muddatini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Jarohat vitalligini, ya’ni tirikdagi paydo bo‘lishini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O‘lim sodir bo‘lgan aniq vaqtni belgilashni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Jarohat og‘irlik darajasining tasnifini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78</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Quyidagi topilmalardan qaysi biri jarohatning hayotiy reaksiyasi (vitalliklik) belgisi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Jarohat atrofidagi to‘qimaning chirishi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Jarohat atrofidagi to‘qimaning qurishi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Granulyatsion to‘qima hosil bo‘lishi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Jarohat atrofidagi to‘qimaning parchalanishi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78</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Reanimatsiya o‘tkazilgan jasadda jarohat to‘qimasida faqat eritrotsitlar ekstravazatsiyasi topildi. Qaysi xulosa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Bu belgi o‘limdan keyin ham chiqishi mumkin, yolg‘iz o‘zi yetarli emas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Bu belgi jarohat tirikligida yetkazilganini aniq isbotlab beradi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Bu belgi jarohat o‘limdan keyin yetkazilganini aniq isbotlaydi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Bu belgi jarohat yoshini aniq soatgacha ko‘rsatib beradi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78</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Tadqiqotchi jarohatdan keyingi vaqtni oldindan aniq belgilashi va natijalarni takrorlay olishi kerak. Qaysi namuna manbasi eng mos?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Hujjatlari to‘liq bo‘lmagan autopsiya namunalari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Tirik odamlardan surtma orqali olingan namunalar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Jarrohlik yo‘li bilan olingan bemor to‘qimalari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Tajriba hayvonlaridan olingan to‘qima namunalari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78</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Tirik odamdagi jarohatdan namuna faqat noinvaziv usulda (surtma) olinadi. Bu qanday asosiy xavfni keltirib chiqaradi?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Namuna hajmi yetarli bo‘lmay, yolg‘on ijobiy natija chiqishi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Namuna hajmi yetarli bo‘lmay, yolg‘on salbiy natija chiqishi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Namunada o‘limdan keyingi chirish o‘zgarishlari paydo bo‘lishi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Namunaning hayvon to‘qimasi bilan almashib ketishi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78</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Tadqiqotchiga inson to‘qimasi, aniq vaqt qaydi va kerakli muddatgacha saqlangan namuna kerak. Qaysi namuna turi eng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Hayvon modelidan olingan nazoratli namunalar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Tirik bemorlardan olingan to‘qima namunalari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Hujjatlari yetarli bo‘lmagan autopsiya namunalari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Chirigan jasaddan olingan ex vivo namunalar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78</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Ikki shaxsda bir vaqtning o‘zida hosil bo‘lgan gematomalar rangi turlicha ko‘rindi. Bu farqning asosiy sababi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jabrlanuvchining jinsi rangni belgilaydi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Gematomada rang o‘zgarishi umuman bo‘lmaydi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o‘lim oralig‘i rangni belgilab beradi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Chuqurlik, joylashuv va teri rangi ta’sir qiladi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78</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Gematoksilin-eozin va Berlin ko‘ki bilan oddiy gistologik baholashda o‘zgarishlarni eng erta qachon aniqlash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Jarohatdan taxminan 6 soat o‘tgach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Jarohatdan taxminan 3 daqiqa o‘tgach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Jarohatdan taxminan 12 soat o‘tgach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Jarohatdan taxminan 48 soat o‘tgach</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78</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Reanimatsiya o‘tkazilgan jasad to‘qimasida eritrotsit ekstravazatsiyasi topildi. Bu topilmadan qanday to‘g‘ri xulosa chiqariladi?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Topilma jarohat tirikligida hosil bo‘lganini qat’iy isbotlaydi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Reanimatsiya ekstravazatsiyani mutlaqo chaqira olmaydi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Yolg‘iz o‘zi hayotiylik isboti bo‘la olmaydi, o‘limdan keyin ham chiqishi mumkin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Topilma faqat o‘lim sababini ko‘rsatadi, hayotiylikka aloqasi yo‘q</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78</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Pikro-Mallori bilan bo‘yalgan qon laxtasida fibrin qizil rangda ko‘rindi. Laxtaning taxminiy yoshi qancha?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Taxminan 6 soatdan 12 soatgacha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Taxminan 30 daqiqadan 6 soatgacha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Taxminan 24 soatdan ortiq muddat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Rang vaqtga umuman bog‘liq emas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78</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Jarohatdan bir necha daqiqa o‘tgan. Gistologiya jarohat hayotiymi yoki o‘limdan keyingimi, aniqlab bera olmayapti. Erta bosqich uchun qaysi yondashuv mosroq?</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Gematoksilin-eozin bilan bo‘yab baholash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Real-time PCR bilan mRNA darajasini o‘lchash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Ko‘kargan rangini ko‘z bilan kuzatish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Berlin ko‘ki bilan temir izini qidirish</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78</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Laboratoriya bitta namunada bir vaqtning o‘zida ko‘plab oqsillarni tahlil qilmoqchi. Qaysi usul shu maqsadga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Oddiy gematoksilin-eozin bilan bo‘yash usuli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Elektr impedans spektroskopiyasi usuli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Ko‘kargan rangini vizual kuzatish usuli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Oqsil mikroarrayi (protein microarray) usuli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78</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Ikki laboratoriya bir xil jarohatni immunogistokimyo bilan miqdoriy baholab, turlicha natija oldi. Eng ehtimoliy asosiy sabab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Operatorga bog‘liqlik va yagona protokol yo‘qligi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Usul murakkab va qimmat uskunani talab qilishi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Parafinli to‘qimalarda usulni qo‘llab bo‘lmasligi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Usul faqat o‘limdan keyingi jarohatda ishlashi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78</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O‘lim yuz bergach, to‘qima darhol olindi va unda hayotiy reaksiyaga o‘xshash belgilar topildi. Bu qaysi hodisa bilan izohlanadi?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Chirishning kechki bosqichidagi o‘zgarishlar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Gistologik bo‘yoqdagi tasodifiy artefaktlar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Qoldiq hayot hodisalari (o‘limdan keyingi)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Adipotsir hosil bo‘lishining oqibatlari</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78</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Avtopsiyada oq moddaning diffuz aksonal jarohati gumon qilinmoqda. Akson uzilishini ko‘rsatuvchi qaysi marker o‘ziga xos va sezgir deb ta’riflanadi?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Qon zardobidagi C-reaktiv oqsil darajasi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β-amiloid prekursor oqsili (β-amyloid precursor)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Mushakdagi MyoD oqsilining ifodalanishi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Teridagi fibronektin miqdorining oshishi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78</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Jasad o‘limdan 2 sutka (48 soat) o‘tgach topildi. Yara yoshini baholash uchun postmortem barqarorligi jihatidan qaysi marker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Kannabinoid retseptori 2-tur mRNKsi (messenjer RNK)</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Matriks metalloproteinaza-2 mRNKsi (messenjer RNK)</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SNAT2 aminokislota tashuvchisi mRNKsi (messenjer RNK)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TIMP-2 metalloproteinaza ingibitori mRNKsi (messenjer RNK)</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78</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Reanimatsiya o‘tkazilgan o‘lgan odamda yara atrofida eritrotsitlar ekstravazatsiyasi topildi. Buni qanday izohlash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Reanimatsiya qon aylanishini saqlab, o‘limdan keyingi ekstravazatni chaqirishi mumkin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Bu topilma jarohat tirikligida yetkazilganini yakuniy va aniq isbotlaydi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Bu topilma faqat jasadning chirish bosqichida paydo bo‘ladigan belgidir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Bu topilma qoldiq hayot hodisalari bo‘lishi mumkinligini butunlay inkor etadi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78</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Bitta markerning ifodalanish shakli ikki cho‘qqili bo‘lib, yara yoshi bo‘yicha qarama-qarshi natija berdi. Qaysi yondashuv yara yoshi oralig‘ini toraytirgan?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Bitta markerning o‘rtacha qiymatiga tayanib baho berish usuli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jarohat rangini ko‘z bilan kuzatib baho berish usuli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gematoksilin-eozin bo‘yog‘ini qo‘llab baho berish usuli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To‘rt mRNKli oshish, o‘zgarmaslik va pasayish modelini qo‘llash</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78</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Laboratoriya raqamli WSI (to‘liq slayd tasviri) tizimini CAP (Amerika patologlar kolleji) tavsiyalari bo‘yicha validatsiya qilmoqda. Bir kuzatuvchining shisha slayd va WSI tashxislari mosligi qanday chegaradan yuqori bo‘lishi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90 foizdan yuqori bo‘lishi lozim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95 foizdan yuqori bo‘lishi lozim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97,8 foizdan yuqori bo‘lishi lozim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99 foizdan yuqori bo‘lishi lozim</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78</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Murakkab miya jarohati holatida boshqa shahardagi neyropatolog bilan maslahat kerak. WSI qaysi asosiy afzallikni beradi?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Neyropatolog ishtirokiga ehtiyojni butunlay yo‘qotib tashxis qo‘yish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Tashxisni shisha slaydsiz va mikroskopsiz avtomatik chiqarib berish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Slaydni jismonan jo‘natmasdan mutaxassis bilan tez maslahatlashish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Skanerlash jarayoni vaqtini nolgacha qisqartirib vaqtni tejash</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78</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Jarohat vitalligini, ya’ni tirikdagi paydo bo‘lishini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Vitalliklikni isbotlash jarohat tirikligida (antemortem) yoki o‘limdan keyin (postmortem) yetkazilganini aniqlashni anglatadi. Jarohat yoshi esa jarohatdan keyin odam qancha vaqt tirik qolganini baholaydi. Bu ikki tushunchani aralashtirmaslik kerak.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Maiese A va boshq., State-of-the-Art on Wound Vitality Evaluation: A Systematic Review, PMID 35805886-bet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78</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Granulyatsion to‘qima hosil bo‘lishi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Qon quyilishi, yallig‘lanish hujayralari infiltratsiyasi va granulyatsion to‘qima hosil bo‘lishi tirikdagi jarohatga xos hayotiy reaksiyalar hisoblanadi. Chirish, qurish va parchalanish esa o‘limdan keyingi o‘zgarishlardir.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Li N va boshq., Vitality and wound-age estimation in forensic pathology: review and future prospects, PMID 32490306-bet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78</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Bu belgi o‘limdan keyin ham chiqishi mumkin, yolg‘iz o‘zi yetarli emas</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Eritrotsitlar ekstravazatsiyasi o‘limdan keyin ham paydo bo‘lishi mumkin. Qon aylanishini saqlab turadigan reanimatsiya amaliyoti uni sun’iy chaqirishi mumkin. Shuning uchun bu belgi vitallikning ishonchli markeri emas va uni boshqa belgilar bilan birga baholash kerak.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Maiese A va boshq., State-of-the-Art on Wound Vitality Evaluation: A Systematic Review, PMID 35805886-bet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78</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Tajriba hayvonlaridan olingan to‘qima namunalari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Hayvon tajribalarini nazorat qilish mumkin, jarohatdan keyingi vaqtni ham belgilash mumkin, shuning uchun natijalar takrorlanuvchan va ishonchli bo‘ladi. Kamchiligi shuki, natijalarning odamga qo‘llanilishi hali noaniq.</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Li N va boshq., Vitality and wound-age estimation in forensic pathology: review and future prospects, PMID 32490306-bet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78</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Namuna hajmi yetarli bo‘lmay, yolg‘on salbiy natija chiqishi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Tirik odamlardagi jarohatdan namuna noinvaziv (surtma) usulda olinishi kerak, shuning uchun namuna hajmi ko‘pincha yetarli bo‘lmaydi. Bu ishonchsiz, ba’zan yolg‘on salbiy natijalarga olib keladi. Bundan tashqari, tirik odamlarni tadqiqotga jalb etish mahalliy etika qo‘mitasi ruxsatini talab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Li N va boshq., Vitality and wound-age estimation in forensic pathology: review and future prospects, PMID 32490306-bet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78</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Tirik bemorlardan olingan to‘qima namunalari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Tirik bemorlardan olingan namunalarda vaqt qaydi aniq bo‘ladi, ular kerakli muddatgacha saqlanadi va inson to‘qimasi hisoblanadi. Hayvon namunalarini inson uchun qo‘llash esa to‘liq isbotlanmagan. Autopsiya namunalarida ma’lumot ko‘pincha yetarli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Li N va boshq., Vitality and wound-age estimation in forensic pathology: review and future prospects, PMID 32490306-bet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78</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Chuqurlik, joylashuv va teri rangi ta’sir qiladi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Gematoma paydo bo‘lish vaqti va rangiga uning chuqurligi, joylashuvi va teri rangi ta’sir qiladi. Shu sababli rang bo‘yicha yoshni aniqlash amaliyot uchun juda o‘zgaruvchan deb topilgan.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Li N va boshq., Vitality and wound-age estimation in forensic pathology: review and future prospects, PMID 32490306-bet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78</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Jarohatdan taxminan 6 soat o‘tgach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Oddiy gistologiya (gematoksilin-eozin, Berlin ko‘ki) o‘zgarishlarni jarohatdan 6 soat o‘tgach aniqlay oladi, ammo amaliy qo‘llanishi cheklangan. 3 daqiqa — immunogistokimyoda P-selektin kuzatilgan muddat.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Li N va boshq., Vitality and wound-age estimation in forensic pathology: review and future prospects, PMID 32490306-bet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78</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Yolg‘iz o‘zi hayotiylik isboti bo‘la olmaydi, o‘limdan keyin ham chiqishi mumkin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Eritrotsit ekstravazatsiyasi o‘limdan keyin ham paydo bo‘lishi mumkin. Qon aylanishini saqlaydigan reanimatsiya harakatlari ham uni chaqirishi mumkin. Shuning uchun u ishonchli hayotiylik belgisi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Maiese A va boshq., State-of-the-Art on Wound Vitality Evaluation: A Systematic Review, PMID 35805886-bet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78</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Taxminan 30 daqiqadan 6 soatgacha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Pikro-Mallori usulida fibrin 30 daqiqadan 6 soatgacha qizil, 6–12 soatda binafsha, 24 soatdan keyingi laxtalarda ko‘k rangga bo‘yaladi.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Maiese A va boshq., State-of-the-Art on Wound Vitality Evaluation: A Systematic Review, PMID 35805886-bet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78</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Real-time PCR bilan mRNA darajasini o‘lchash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Jarohatdan keyingi dastlabki daqiqa va soatlarda gistologiya jarohat qachon hosil bo‘lganini ayta olmaydi. Sitokin va fermentlar mRNA darajasi esa oqsil darajasi va gistomorfologiyadan oldin o‘zgaradi. Shu sababli mRNA asosidagi tahlillar erta bosqich uchun mos. Real-time PCR bunday o‘zgarishlarni sezgirlik bilan aniqlaydi.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Li N va boshq., Vitality and wound-age estimation in forensic pathology: review and future prospects, PMID 32490306-bet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78</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Oqsil mikroarrayi (protein microarray) usuli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Oqsil mikroarrayi sezgir yuqori o‘tkazuvchan usul bo‘lib, bitta namunada ko‘plab oqsil analitlarini bir vaqtda tahlil qilish imkonini beradi. Western blot va ELISA oqsil darajasini baholaydi va immunogistokimyodan sezgirroq. Lekin laboratoriyalar natijalarini taqqoslash jarayonlarning murakkabligi tufayli qiyin.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Li N va boshq., Vitality and wound-age estimation in forensic pathology: review and future prospects, PMID 32490306-bet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78</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Operatorga bog‘liqlik va yagona protokol yo‘qligi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Immunogistokimyoda oqsil ifodasini miqdoriy baholash operatorga juda bog‘liq. Bo‘yash sifatiga ko‘p omillar ta’sir qiladi, sud patologiyasida esa mustahkam protokol va avtomatlashtirilgan o‘lchov hali ishlab chiqilmagan. Natijada xatolar yoki qiyin takrorlanadigan natijalar chiqishi mumkin. Usulning o‘zi esa murakkab uskunani talab qilmaydi va formalinda fiksatsiyalangan parafinli to‘qimalarda qo‘llanadi.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Maiese A va boshq., State-of-the-Art on Wound Vitality Evaluation: A Systematic Review, PMID 35805886-bet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78</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Qoldiq hayot hodisalari (o‘limdan keyingi)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O‘limdan keyin metabolik jarayonlar barcha hujayra va to‘qimalarda bir vaqtda to‘xtamaydi. Shuning uchun juda qisqa vaqt ichida ular hayotiy reaksiyalarga o‘xshab ko‘rinadi. Bu “qoldiq hayot hodisalari” deyiladi va hayotiy jarohatni erta o‘limdan keyingisidan ajratishni qiyinlashtiradi. Bunday holatda holat ma’lumotlari, tergov va kasallik tarixi ham sinchiklab baholanadi.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Maiese A va boshq., State-of-the-Art on Wound Vitality Evaluation: A Systematic Review, PMID 35805886-bet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78</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β-amiloid prekursor oqsili (β-amyloid precursor)</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β-amiloid prekursor oqsili neyron tanasidan akson chetiga tez tashish mexanizmi orqali ko‘chadi. Akson uzilganda u jarohat joyida aniqlanadi. Adabiyotda u aksonal shikastning o‘ziga xos va yuqori sezgir markeri sifatida ta’riflangan. Diffuz aksonal jarohat og‘ir oqibat bo‘lib, uni erta tashxislash qiyin.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Li N va boshq., Vitality and wound-age estimation in forensic pathology: review and future prospects, PMID 32490306-bet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78</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SNAT2 aminokislota tashuvchisi mRNKsi (messenjer RNK)</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SNAT2 mRNKsi o‘limdan keyin 48 soat barqaror qoladi. Kannabinoid retseptori 2-tur mRNKsi 3 soatda, MMP-2 va TIMP-2 mRNKlari 12 soatda sezilarli parchalanadi. Shuning uchun marker o‘limdan keyin ma’lum vaqt barqaror qoladiganlar orasidan tanlanadi.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Li N va boshq., Vitality and wound-age estimation in forensic pathology: review and future prospects, PMID 32490306-bet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78</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Reanimatsiya qon aylanishini saqlab, o‘limdan keyingi ekstravazatni chaqirishi mumkin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Reanimatsiya choralari qon aylanishini saqlab turadi va to‘qimalarda o‘limdan keyingi eritrotsit ekstravazatini keltirib chiqarishi mumkin. Shuning uchun bunday topilma jarohat tirikligida yetkazilganining yakuniy isboti bo‘la olmaydi. Sharoit ma’lumotlari va kasallik tarixi bilan birga baholanadi.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Maiese A va boshq., State-of-the-Art on Wound Vitality Evaluation: A Systematic Review, PMID 35805886-bet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78</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To‘rt mRNKli oshish, o‘zgarmaslik va pasayish modelini qo‘llash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Sun va hamkasblari to‘rt mRNKdan iborat oshish, o‘zgarmaslik va pasayish modelini ishlab chiqdi. U yara yoshi oralig‘ini toraytirdi. Bitta marker esa ko‘pincha ikki yoki ko‘p cho‘qqili shakl tufayli ziddiyatli natija beradi.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Li N va boshq., Vitality and wound-age estimation in forensic pathology: review and future prospects, PMID 32490306-bet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78</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95 foizdan yuqori bo‘lishi lozim</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CAP tavsiyalariga ko‘ra bir kuzatuvchining shisha slayd va WSI tashxislari mosligi 95 foizdan yuqori bo‘lishi kerak. Baholash kamida 60 ta oddiy holatda, avval mikroskopda, ikki haftalik tanaffusdan keyin raqamli ko‘rgich bilan o‘tkaziladi. 97,8 foiz esa iForensic tadqiqotining o‘rtacha natijasi.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Pigaiani N va boshq., iForensic, PMID 39836212-bet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78</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Slaydni jismonan jo‘natmasdan mutaxassis bilan tez maslahatlashish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Yuqori sifatli raqamli slaydlar turli joydagi mutaxassislarga tez yuboriladi. Bu geografik to‘siqlarni olib tashlaydi va namunani jismonan jo‘natishdagi kechikishsiz maslahat berish imkonini beradi. Neyropatolog kabi mutaxassislar ishtiroki zarurligicha qoladi.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Pigaiani N va boshq., iForensic, PMID 39836212-bet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Foydalanilgan manbalar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Gistomorfologik diagnostika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78</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Li N va boshq. Vitality and wound-age estimation in forensic pathology: review and future prospects, Forensic Sciences Research. 2018. PMID 32490306; DOI 10.1080/20961790.2018.1445441</a:t>
            </a:r>
          </a:p>
          <a:p>
            <a:pPr>
              <a:spcAft>
                <a:spcPts val="1200"/>
              </a:spcAft>
            </a:pPr>
            <a:r>
              <a:rPr sz="2000">
                <a:solidFill>
                  <a:srgbClr val="1F2937"/>
                </a:solidFill>
                <a:latin typeface="Calibri"/>
              </a:rPr>
              <a:t>▸  Maiese A va boshq. State-of-the-Art on Wound Vitality Evaluation: A Systematic Review, International Journal of Molecular Sciences. 2022. PMID 35805886; DOI 10.3390/ijms23136881</a:t>
            </a:r>
          </a:p>
          <a:p>
            <a:pPr>
              <a:spcAft>
                <a:spcPts val="1200"/>
              </a:spcAft>
            </a:pPr>
            <a:r>
              <a:rPr sz="2000">
                <a:solidFill>
                  <a:srgbClr val="1F2937"/>
                </a:solidFill>
                <a:latin typeface="Calibri"/>
              </a:rPr>
              <a:t>▸  Pigaiani N va boshq. iForensic, multicentric validation of digital whole slide images (WSI) in forensic histopathology setting according to the College of American Pathologists guidelines, International Journal of Legal Medicine. 2025. PMID 39836212; DOI 10.1007/s00414-025-03421-5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