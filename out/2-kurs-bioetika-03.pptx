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odamda tajriba o‘tkazish alohida axloqiy nazoratni talab qiladi? 2) Hayvon tajribalari zarur deb hisoblaysizmi? Doskada: rejadagi 5 bosqichni strelkalar bilan chizing. Tipik xato: talabalar hayvon tajribalari mavzusini odam tajribalaridan butunlay ajratib qo‘yadi, aslida ikkalasi bir axloqiy mantiqqa tayanadi.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Kasallik belgisi yo‘q odamdan davolashga rozilikni qanday olish mumkin? 2) Tibbiy sir qanday saqlanishi kerak? Doskada: ikki ustunli juft yozing: JTU — Lissabon (1981); JSST — Yevropa (1994). Tipik xato: deklaratsiyalarni tashkilotlar bilan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Hippokrat qasamyodi nega shifokorlarni to‘xtata olmadi? 2) Axloqiy chegara nima uchun faqat qasamyodga tayanmasligi kerak? Doskada: vaqt chizig‘i — 1947 tribunal → 20 avgust yakun → Nyurnberg kodeksi. Tipik xato: Nyurnberg kodeksini alohida sud emas, tribunal hukmining bir bo‘limi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Tafsilotlarga chuqur kirmang, faqat tajriba turi va axloqiy xulosani ayting. Muhokama: 1) ‘Ilmiy natija foydali bo‘lsa, tajriba oqlanadimi?’ 2) Gippokrat qasamyodi nega to‘sqinlik qilmadi? Doskada: jadvalning 1-ustunini yozib, har biriga ‘rozilik bormi?’ degan savolga ‘yo‘q’ belgisini qo‘ying. Tipik xato: talaba tajribaning ilmiy qiymatini muhokama qilib, rozilik masalasini unutadi.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hujjat sud hukmi shaklida qabul qilinsa ham asosan axloqiy kuchga ega? 2) ‘Inson manfaati fan manfaatidan ustun’ degani amalda nimani anglatadi? Doskada: ‘Hukm → bo‘lim → Nyurnberg kodeksi (10 tamoyil)’ zanjirini chizing. Tipik xato: kodeksni qonun deb, uni majburiy yuridik norma sifatida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Qaysi shart buzilsa, rozilik haqiqiy hisoblanmaydi? 2) ‘Ixtiyoriy’ va ‘xabardorlikka asoslangan’ rozilik farqi nimada? Doskada: besh bosqichli zanjirni chizib, har bosqichga bittadan buzilish misoli yozdirib chiqing. Tipik xato: talaba imzo qo‘yilgan varaqni rozilik bilan tenglashtiradi, tushunish va erkin tanlovni e’tiborsiz qoldiradi.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faqat «ixtiyoriylik» yetarli emas? 2) Majburlovning yashirin shakllariga misol keltiring. Doskada: ikki ustunli jadvalni talabalar bilan birga to‘ldiring. Tipik xato: ikki atamani sinonim deb hisoblash; Nyurnberg kodeksini qonuniy kuchi bor hujjat deb o‘ylash (u asosan axloqiy kuchga ega).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«Bemorga yo‘naltirilgan» mezon nimani o‘zgartirdi? 2) Nega aynan sud ishlari bu tushunchani rivojlantirdi? Doskada: 1947 dan 70-yillargacha vaqt chizig‘ini chizing. Tipik xato: 50-yillar va 70-yillar mezonlarini aralashtirish (professional va bemorga yo‘naltirilgan).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bemor shifokorga tabiiy ravishda qaram? 2) Tibbiyot yutuqlari paternalizmdan chekinishga qanday ta’sir qildi? Doskada: ikki modelni «kim qaror qiladi?» savoli bilan sxemada chizing. Tipik xato: paternalizmni yomon niyatli deb tushunish; u g‘amxo‘rlik modeli, muammo bemorning qarorda ishtirok etmasligida.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Natija foydali bo‘lsa, majburlash oqlanadimi? 2) Mahbus ‘ha’ desa ham rozilik ixtiyoriy bo‘ladimi? Doskada: ‘shaxs manfaati’ va ‘jamiyat manfaati’ tarozisini chizdiring. Tipik xato: talabalar buzilgan tamoyilni faqat ‘zo‘ravonlik’ deb tushunadi, bilimsiz rozilikni unutadi.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 og‘zaki, har biriga 1 talaba. Muhokama: nega kodeks sud hukmi bo‘lsa-da, ko‘proq axloqiy kuchga ega? Doskada: rozilikning uch sharti (qobiliyat, erkinlik, tushunish) ni yozdiring. Tipik xato: kodeks yuridik majburiy hujjat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xavfsizlikka sarflanadigan vaqt va mablag‘ oshdi? 2) Bu kechikish bemorlarga qanday foyda beradi? Doskada: zanjirni o‘zingiz davom ettirib, ‘etika qo‘mitasi’ bosqichini qo‘shing. Tipik xato: manbada talidamid fojiasi ikki joyda turlicha sanalangan (1958 va 1966); aniq yilni da’vo qilmang.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aynan dori fojialari deklaratsiyaga turtki bo‘ldi? 2) Nega hujjat bir marta emas, bir necha bor yangilandi? Doskada: 1958–2000 yillar vaqt chizig‘ini chizdiring va har bir shaharni belgilang. Tipik xato: manbaning o‘zida talidamid fojiasi ikki joyda — 1958-yil (Germaniya) va 1966-yil deb berilgan; talabalarga bu nomuvofiqlikni ta’kidlang, jadvaldagi 1958 yilni manbadagi variant sifatida qabul qiling.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Qo‘mita nima uchun moliyaviy va idoraviy ta’sirdan mustaqil bo‘lishi kerak? 2) Axloqiy ekspertizasiz sinov o‘tkazish nimaga olib kelishi mumkin? Doskada: ekspertiza sxemasini o‘zingiz tuzib chizdiring. Diqqat: xato qilish xavfi — Xelsinki deklaratsiyasi ≠ GCP: birinchisi axloqiy-huquqiy tamoyillar, ikkinchisi klinik amaliyot qoidalari. Tipik xato: sxemani manbadagi rasmiy tartib deb o‘ylash; u o‘quv soddalashtirmasi.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O‘zbekiston qo‘mitasi qaysi hujjatlarga amal qiladi? 2) Nega milliy qonunlarni bioetika nuqtai nazaridan chuqurlashtirish kerak (manbada shunday fikr bor)? Doskada: qo‘mita tayanadigan hujjatlar ro‘yxatini ustun shaklida yozdiring. Tipik xato: Belmont tamoyillarini (uchta) manbadan olingandek aytish — manbada faqat hujjat nomi bor, tamoyillar uchun qo‘shimcha manba kerak. Manbada nomi «Balmont» deb yozilgan, bu imloviy xato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Ekspertiza xulosasi bo‘lmasa, sinovni kim to‘xtatishi kerak? 2) Qo‘mita mustaqilligi nimaga kerak? Doskada chizish: «Sinov → etika qo‘mitasi → xulosa → ruxsat» zanjirini chizing va qo‘mita tayanadigan hujjatlarni yozing. Tipik xato: etika qo‘mitasini faqat qonun talabi deb bilish; etika qonundan kengroq, halollik va beg‘arazlikni talab qiladi.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bemorlarni guruhlarga tasodifiy ajratish kerak? 2) Tizimli sharhni nega muntazam yangilash lozim? Doskada chizish: ro‘yxatdagi bemorlar → tasodifiy ajratish → tadqiqot va nazorat guruhi sxemasi. Tipik xato: randomizatsiyani «tanlab olish» bilan adashtirish; u tasodifiy ajratishdir.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dorining qimmatligi samaradorlikni kafolatlamaydi? 2) Reklama ma’lumotini isbotlangan ma’lumotdan qanday farqlaysiz? Doskada chizish: to‘rt sababni to‘rtta o‘q bilan «IIT» ga yo‘naltiring. Tipik xato: yangi preparatni avtomatik ravishda eng yaxshi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«yangi» dori «yaxshi» dori degani emas? 2) Reklama va ilmiy dalil qanday farqlanadi? Doskada: «Samaradorlik – narx» nisbatini ikki ustunda (bemor uchun / tizim uchun) chizdiring. Tipik xato: talabalar qimmat dorini avtomatik samarali deb hisoblaydi; arzon dorini esa faqat arzon bo‘lgani uchun tanlash ham xato ekanini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Qonun bilan tartiblab bo‘lmaydigan fazilatlarga misol keltiring. 2) Klinik sinovda faqat huquqqa tayanish nega yetarli emas? Doskada: ikki doira (huquq kichik, etika katta) chizdiring. Tipik xato: etikani huquqning sinonimi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(juftlikda 4 daqiqa, umumiy muhokama 4 daqiqa). Muhokama: 1) Shifokor bemorga nima deyishi kerak? 2) Ma’lumotni qaerdan va qanday tekshiradi? Doskada: «bemor – shifokor – dalil» uch tugunli sxema chizdiring. Tipik xato: bemor so‘ragan dorini tekshirmasdan yozib berish yoki bemorning ma’lumotini umuman rad etish.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bittadan o‘qing, talabalar yozma javob bersin, so‘ng birgalikda tekshiring. Muhokama: nima uchun nazorat guruhiga tasodifiy ajratish kerak? Doskada: 1947 (Nyurnberg), 1964 (Xelsinki), 1972 (Kokran g‘oyasi), 1992 (Oksford markazi) vaqt chizig‘ini chizdiring. Tipik xato: Xelsinki deklaratsiyasini Nyurnberg kodeksi bilan, 1972 va 1992 yillarni o‘zaro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nima uchun Ibn Sino va Ibn Zuhr birinchi bosqichdan oldin hayvonda sinashni qo‘llagan? Doskada: uch ustunli jadvalni talabalar bilan to‘ldiring. Tipik xato: manbada Vezaliy (1514–1564) 1-bosqichning boshi deb ko‘rsatilgan, lekin bosqich XVII–XVIII asr deyiladi; bu farqni alohida aytib o‘ting. 2-bosqichdagi 1878 yil va «XX asr» ko‘rsatkichi ham manbada to‘liq izohlanmagan.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jamoat fikri o‘zgardi va Darvin ta’limoti bunga qanday ta’sir qildi? Hozirgi 3R qoidasi bilan bog‘lang: og‘riq va azobni kamaytirish talabi qayerdan chiqqan? Doskada: «narkoz yo‘q → shafqatsizlik → Darvin → 1878 qonun» zanjirini chizdiring. Tipik xato: vivisektsiya faqat Vezaliy davriga xos deb o‘ylash; manbada Bernar tajribalari XIX asrda ham davom etgani aytilgan.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o‘quv jarayonida hayvonni yorish masalasi jamoatchilikni bezovta qildi? 2) Kodeksning «og‘riqsiz va xavfsiz» sharti amalda nimani anglatadi? Doskada: to‘rt bosqichli vaqt chizig‘ini chizdiring. NSTA — Табиий фанлар ўқитувчилари миллий ассоциацияси (Natural Science Teachers Association). Diqqat: xato qilish xavfi — 1986-yilgi Strasburg konvensiyasi hayvonlar haqida, 1993-yilgi Yevropa Kengashi konvensiyasi esa inson huquqlari haqida; ikkalasini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zahar yoki infeksiya ta’sirini odamda modellashtirib bo‘lmaydi? 2) «Hayvonlar zarur» degan fikr qanday axloqiy savollarni qoldiradi? Doskada: «tadqiqot maqsadi → odamda mumkin emas → hayvon modeli» zanjirini chizdiring. Tipik xato: «zarur» degan fikr kitobda bir tomonning pozitsiyasi; keyingi slaydda qarshi dalillar bor, talabalar buni mutlaq haqiqat deb olmasin.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o‘lim kamayishining sababi bo‘yicha fikrlar turlicha? 2) Tanqidchilar dalilini qanday tekshirish mumkin? Doskada: ikki ustunli jadval («hayvon tajribasi tarafdorlari» va «tanqidchilar») chizdiring. Tipik xato: bu dalillarni isbotlangan haqiqat deb olish. Kitobda ular tanqidchilar pozitsiyasi sifatida keltirilgan. Klofibrat odamlarda o‘tkazilgan sinov, kitob uni model kamchiligi misoli sifatida beradi; talabalar bu bog‘lanishni tanqidiy baholasin.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hayvondagi xavfsizlik odamga kafolat bo‘lmaydi? 2) Metabolizm tezligi farqi dozani tanlashga qanday ta’sir qiladi? Doskada chizing: odam–hayvon ikki ustunli jadval va 2-3 modda misoli. Tipik xato: talabalar hayvon tajribasi natijasini odamga to‘g‘ridan-to‘g‘ri ko‘chirsa bo‘ladi deb o‘ylaydi. Diqqat: ‘hayvonda zararsiz’ ≠ ‘odamda zararsiz’.</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3 guruhga bo‘linib, savolga 3 daqiqada javob tayyorlaydi. Muhokama: 1) Tur farqini hisobga olmaslik qanday oqibat berdi? 2) Qaysi hollarda hayvonda sinash baribir shart? Doskada chizing: ‘hayvon → ekstrapolyatsiya → odam’ zanjirida xato bo‘lishi mumkin bo‘lgan joylarni belgilang. Tipik xato: faqat hayvonni ayblash; asl muammo natijani to‘g‘ridan-to‘g‘ri ko‘chirishda. Manbada hujayra kulturasi tur bog‘liqligi masalasini bartaraf qilishi aytilgan.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tajribada almashtirish imkonsiz? 2) Refinement nima uchun hayvon uchun ham, natija sifati uchun ham muhim? Doskada chizing: uch ustunli 3R jadvali va har ustunga bittadan o‘z misolingiz. Eslab qoling: 3R = almashtir, kamaytir, yengillashtir. Tipik xato: Reduction va Replacement ni aralashtirish — biri sonni kamaytiradi, ikkinchisi hayvonni umuman olib tashlaydi. Eslatma: Birch–Russell muallifligi manbada ko‘rsatilmagan, shuning uchun uni alohida manbadan tekshirish kerak.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Hujayra kulturasi qaysi muammoni (tur farqi) bartaraf etadi? 2) Nega GLP muqobil usul tamoyiliga ziddek ko‘rinadi? Doskada: 3R ustuniga «Replacement» ostida muqobil usullarni yozdiring. Tipik xato: muqobil usul hayvonni hamma holatda almashtiradi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25-modda tajribachiga qanday majburiyat yuklaydi? 2) Nega oldindan axloqiy ma’qullash kerak? Doskada: talablar ro‘yxatini «oldin–paytida–keyin» ustunlariga ajrating. Tipik xato: konvensiya 25-moddasini 3R tamoyilining o‘zi deb aytish; M3 haqida manbasiz xulosa chiqarish.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modeldan odamga natijani ko‘chirish (ekstrapolyatsiya) xavfli? 2) Mini-cho‘chqa qaysi jihatdan ma’qul model? Doskada: uch tartibli biomodellar piramidasini chizing. Tipik xato: 2-tartibni (muqobil obyektlar) 3-tartib (matematik modellar)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hayvonni to‘g‘ri tutish uning og‘rig‘ini kamaytiradi? 2) Nega bir xil narkoz hamma turga mos kelmaydi? Doskada: narkoz bosqichlari zanjirini chizdiring va har bosqichga bitta misol yozdiring. Tipik xato: immobilizatsiyani narkoz bilan bir xil deb o‘ylash. Immobilizatsiya harakatni cheklaydi, narkoz esa og‘riq hissini o‘chiradi.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Refinement bilan reduction (soni kamaytirish) farqi nimada? 2) Aspirin va morfin misollari tur farqi haqida nimani ko‘rsatadi? Doskada: ustunlar bilan «tur – xavfli preparat – nega» jadvalini tuzdiring. Tipik xato: refinementni faqat og‘riqsizlantirish deb tushunish. Unga yashash sharoitini yaxshilash va distressni kamaytirish ham kiradi.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Nazorat savollari: 1) Nyurnberg kodeksining 1-printsipi nima? 2) 3R nimani anglatadi? 3) Nega etika qo‘mitasi mustaqil bo‘lishi kerak? 4) Belmont tamoyillari haqida manbada nima yo‘q? Doskada: «odam – hayvon» ikki ustunli xulosa jadvalini chizdiring. Tipik xato: Belmont tamoyillarini manbada yo‘q tafsilotlar bilan to‘ldirish. Manbada nomi «Balmont» deb yozilgan, shuning uchun aniqlash kerak.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Odamlar va hayvonlar ustida klinik sinovlar va tajribalarning axloqiy masalalari: bioetika standartlari, Belmont tamoyillari, Birch–Russell (3R) qoidasi, hayvonlar bilan biotibbiy tadqiqotlar bo‘yicha xalqaro ko‘rsatmalar (M3)</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ma’ruza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Odam va hayvon tajribalari tibbiyot uchun zarur, ammo og‘ir axloqiy savollarni keltirib chiqaradi.</a:t>
            </a:r>
          </a:p>
          <a:p>
            <a:pPr>
              <a:spcAft>
                <a:spcPts val="800"/>
              </a:spcAft>
            </a:pPr>
            <a:r>
              <a:rPr sz="1800">
                <a:solidFill>
                  <a:srgbClr val="1F2937"/>
                </a:solidFill>
                <a:latin typeface="Calibri"/>
              </a:rPr>
              <a:t>▸  Maqsad: rozilik, bemor huquqlari va hayvonlarga insoniy munosabat qoidalarini o‘zlashtirish.</a:t>
            </a:r>
          </a:p>
          <a:p>
            <a:pPr>
              <a:spcAft>
                <a:spcPts val="800"/>
              </a:spcAft>
            </a:pPr>
            <a:r>
              <a:rPr sz="1800">
                <a:solidFill>
                  <a:srgbClr val="1F2937"/>
                </a:solidFill>
                <a:latin typeface="Calibri"/>
              </a:rPr>
              <a:t>▸  Ma’ruza besh qismdan iborat; reja diagrammada ketma-ket ko‘rsatilgan.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Nyurnberg va rozilik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Farmatsevtik bioetika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Dalilli tibbiyot</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Hayvon tajribalari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3R tamoyili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Ma’ruza rejasi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1.2 bo‘lim; 2.2 bo‘lim; Muhamedova Z.M., Bioetika, betlar: II bob, 1-bo‘lim, II bob, 1–2-bo‘limlar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Xalqaro tibbiy-axloqiy kodekslar va tashkilotlar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Jahon sog‘liqni saqlash tashkiloti (JSST) va Jahon tibbiyot uyushmasi (JTU) turli axloqiy qarashlarni tan olib, ularni xalqaro kodekslar va bitimlar orqali tartibga soladi.</a:t>
            </a:r>
          </a:p>
          <a:p>
            <a:pPr>
              <a:spcAft>
                <a:spcPts val="1200"/>
              </a:spcAft>
            </a:pPr>
            <a:r>
              <a:rPr sz="2200">
                <a:solidFill>
                  <a:srgbClr val="1F2937"/>
                </a:solidFill>
                <a:latin typeface="Calibri"/>
              </a:rPr>
              <a:t>▸  Bemor huquqlari haqidagi Lissabon deklaratsiyasi (JTU, 1981) va Yevropa deklaratsiyasi (JSST, 1994) xabardor rozilik masalasida juda muhim.</a:t>
            </a:r>
          </a:p>
          <a:p>
            <a:pPr>
              <a:spcAft>
                <a:spcPts val="1200"/>
              </a:spcAft>
            </a:pPr>
            <a:r>
              <a:rPr sz="2200">
                <a:solidFill>
                  <a:srgbClr val="1F2937"/>
                </a:solidFill>
                <a:latin typeface="Calibri"/>
              </a:rPr>
              <a:t>▸  Diqqat: xato qilish xavfi! Lissabon deklaratsiyasini JTU (1981) qabul qilgan, Yevropa deklaratsiyasini JSST (1994) — tashkilot va yilni adashtirmang.</a:t>
            </a:r>
          </a:p>
          <a:p>
            <a:pPr>
              <a:spcAft>
                <a:spcPts val="1200"/>
              </a:spcAft>
            </a:pPr>
            <a:r>
              <a:rPr sz="2200">
                <a:solidFill>
                  <a:srgbClr val="1F2937"/>
                </a:solidFill>
                <a:latin typeface="Calibri"/>
              </a:rPr>
              <a:t>▸  Prognostik tibbiyot kasallikka moyillikni aniqlay oladi. Og‘riq bo‘lmasa, davolashga rozilikni qanday olish kerak degan savol tug‘iladi.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Nyurnberg jarayoni: tarixiy fon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1947 yilda Germaniyada AQSh 1-harbiy tribunali ‘tibbiyot xodimlari’ ishini ko‘rdi. Xabardor rozilik tushunchasi shu davrda shakllana boshladi.</a:t>
            </a:r>
          </a:p>
          <a:p>
            <a:pPr>
              <a:spcAft>
                <a:spcPts val="1200"/>
              </a:spcAft>
            </a:pPr>
            <a:r>
              <a:rPr sz="2200">
                <a:solidFill>
                  <a:srgbClr val="1F2937"/>
                </a:solidFill>
                <a:latin typeface="Calibri"/>
              </a:rPr>
              <a:t>▸  23 nafar yetakchi nemis shifokor-olim ishi bo‘yicha jarayon 1947 yil 20 avgustda yakunlandi.</a:t>
            </a:r>
          </a:p>
          <a:p>
            <a:pPr>
              <a:spcAft>
                <a:spcPts val="1200"/>
              </a:spcAft>
            </a:pPr>
            <a:r>
              <a:rPr sz="2200">
                <a:solidFill>
                  <a:srgbClr val="1F2937"/>
                </a:solidFill>
                <a:latin typeface="Calibri"/>
              </a:rPr>
              <a:t>▸  Xalqaro harbiy tribunal bu harakatlarni insoniyatga qarshi jinoyat deb tasnifladi.</a:t>
            </a:r>
          </a:p>
          <a:p>
            <a:pPr>
              <a:spcAft>
                <a:spcPts val="1200"/>
              </a:spcAft>
            </a:pPr>
            <a:r>
              <a:rPr sz="2200">
                <a:solidFill>
                  <a:srgbClr val="1F2937"/>
                </a:solidFill>
                <a:latin typeface="Calibri"/>
              </a:rPr>
              <a:t>▸  Hippokrat qasamyodi nemis shifokorlariga to‘siq bo‘lmadi. Jarayon yaxshilik bilan yomonlik chegarasi mo‘rt ekanini ko‘rsatdi.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 (Nyurnberg saboqlari)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Nyurnberg sudida ochilgan tajriba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Amerikalik prokuror Telford Taylor kirish nutqida sudga tajribalarning bir necha faktini keltirgan.</a:t>
            </a:r>
          </a:p>
          <a:p>
            <a:pPr>
              <a:spcAft>
                <a:spcPts val="800"/>
              </a:spcAft>
            </a:pPr>
            <a:r>
              <a:rPr sz="1800">
                <a:solidFill>
                  <a:srgbClr val="1F2937"/>
                </a:solidFill>
                <a:latin typeface="Calibri"/>
              </a:rPr>
              <a:t>▸  Tajribalar harbiy asirlar va mahbuslarda o‘tkazilgan, ularning roziligi so‘ralmagan.</a:t>
            </a:r>
          </a:p>
          <a:p>
            <a:pPr>
              <a:spcAft>
                <a:spcPts val="800"/>
              </a:spcAft>
            </a:pPr>
            <a:r>
              <a:rPr sz="1800">
                <a:solidFill>
                  <a:srgbClr val="1F2937"/>
                </a:solidFill>
                <a:latin typeface="Calibri"/>
              </a:rPr>
              <a:t>▸  Muhimi ilmiy qiymat emas, rozilikning yo‘qligi: tribunal buni insoniyatga qarshi jinoyat dedi.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86392"/>
                <a:gridCol w="1255894"/>
                <a:gridCol w="2445688"/>
              </a:tblGrid>
              <a:tr h="411480">
                <a:tc>
                  <a:txBody>
                    <a:bodyPr/>
                    <a:lstStyle/>
                    <a:p>
                      <a:r>
                        <a:rPr sz="1300" b="1">
                          <a:solidFill>
                            <a:srgbClr val="FFFFFF"/>
                          </a:solidFill>
                        </a:rPr>
                        <a:t>Tajriba turi</a:t>
                      </a:r>
                    </a:p>
                  </a:txBody>
                  <a:tcPr marL="73152" marR="73152" marT="36576" marB="36576">
                    <a:solidFill>
                      <a:srgbClr val="0B1F3A"/>
                    </a:solidFill>
                  </a:tcPr>
                </a:tc>
                <a:tc>
                  <a:txBody>
                    <a:bodyPr/>
                    <a:lstStyle/>
                    <a:p>
                      <a:r>
                        <a:rPr sz="1300" b="1">
                          <a:solidFill>
                            <a:srgbClr val="FFFFFF"/>
                          </a:solidFill>
                        </a:rPr>
                        <a:t>Lager</a:t>
                      </a:r>
                    </a:p>
                  </a:txBody>
                  <a:tcPr marL="73152" marR="73152" marT="36576" marB="36576">
                    <a:solidFill>
                      <a:srgbClr val="0B1F3A"/>
                    </a:solidFill>
                  </a:tcPr>
                </a:tc>
                <a:tc>
                  <a:txBody>
                    <a:bodyPr/>
                    <a:lstStyle/>
                    <a:p>
                      <a:r>
                        <a:rPr sz="1300" b="1">
                          <a:solidFill>
                            <a:srgbClr val="FFFFFF"/>
                          </a:solidFill>
                        </a:rPr>
                        <a:t>Axloqiy xulosa</a:t>
                      </a:r>
                    </a:p>
                  </a:txBody>
                  <a:tcPr marL="73152" marR="73152" marT="36576" marB="36576">
                    <a:solidFill>
                      <a:srgbClr val="0B1F3A"/>
                    </a:solidFill>
                  </a:tcPr>
                </a:tc>
              </a:tr>
              <a:tr h="411480">
                <a:tc>
                  <a:txBody>
                    <a:bodyPr/>
                    <a:lstStyle/>
                    <a:p>
                      <a:r>
                        <a:rPr sz="1200" b="0">
                          <a:solidFill>
                            <a:srgbClr val="1F2937"/>
                          </a:solidFill>
                        </a:rPr>
                        <a:t>Balandlik va sovuq</a:t>
                      </a:r>
                    </a:p>
                  </a:txBody>
                  <a:tcPr marL="73152" marR="73152" marT="36576" marB="36576">
                    <a:solidFill>
                      <a:srgbClr val="E8EEF6"/>
                    </a:solidFill>
                  </a:tcPr>
                </a:tc>
                <a:tc>
                  <a:txBody>
                    <a:bodyPr/>
                    <a:lstStyle/>
                    <a:p>
                      <a:r>
                        <a:rPr sz="1200" b="0">
                          <a:solidFill>
                            <a:srgbClr val="1F2937"/>
                          </a:solidFill>
                        </a:rPr>
                        <a:t>Dahau</a:t>
                      </a:r>
                    </a:p>
                  </a:txBody>
                  <a:tcPr marL="73152" marR="73152" marT="36576" marB="36576">
                    <a:solidFill>
                      <a:srgbClr val="E8EEF6"/>
                    </a:solidFill>
                  </a:tcPr>
                </a:tc>
                <a:tc>
                  <a:txBody>
                    <a:bodyPr/>
                    <a:lstStyle/>
                    <a:p>
                      <a:r>
                        <a:rPr sz="1200" b="0">
                          <a:solidFill>
                            <a:srgbClr val="1F2937"/>
                          </a:solidFill>
                        </a:rPr>
                        <a:t>Rozilik yo‘q, hayot xavf ostida</a:t>
                      </a:r>
                    </a:p>
                  </a:txBody>
                  <a:tcPr marL="73152" marR="73152" marT="36576" marB="36576">
                    <a:solidFill>
                      <a:srgbClr val="E8EEF6"/>
                    </a:solidFill>
                  </a:tcPr>
                </a:tc>
              </a:tr>
              <a:tr h="411480">
                <a:tc>
                  <a:txBody>
                    <a:bodyPr/>
                    <a:lstStyle/>
                    <a:p>
                      <a:r>
                        <a:rPr sz="1200" b="0">
                          <a:solidFill>
                            <a:srgbClr val="1F2937"/>
                          </a:solidFill>
                        </a:rPr>
                        <a:t>Bezgak va iprit gazi</a:t>
                      </a:r>
                    </a:p>
                  </a:txBody>
                  <a:tcPr marL="73152" marR="73152" marT="36576" marB="36576">
                    <a:solidFill>
                      <a:srgbClr val="FFFFFF"/>
                    </a:solidFill>
                  </a:tcPr>
                </a:tc>
                <a:tc>
                  <a:txBody>
                    <a:bodyPr/>
                    <a:lstStyle/>
                    <a:p>
                      <a:r>
                        <a:rPr sz="1200" b="0">
                          <a:solidFill>
                            <a:srgbClr val="1F2937"/>
                          </a:solidFill>
                        </a:rPr>
                        <a:t>Dahau, Zaksenxauzen</a:t>
                      </a:r>
                    </a:p>
                  </a:txBody>
                  <a:tcPr marL="73152" marR="73152" marT="36576" marB="36576">
                    <a:solidFill>
                      <a:srgbClr val="FFFFFF"/>
                    </a:solidFill>
                  </a:tcPr>
                </a:tc>
                <a:tc>
                  <a:txBody>
                    <a:bodyPr/>
                    <a:lstStyle/>
                    <a:p>
                      <a:r>
                        <a:rPr sz="1200" b="0">
                          <a:solidFill>
                            <a:srgbClr val="1F2937"/>
                          </a:solidFill>
                        </a:rPr>
                        <a:t>Sog‘lom odamlar zararlantirilgan</a:t>
                      </a:r>
                    </a:p>
                  </a:txBody>
                  <a:tcPr marL="73152" marR="73152" marT="36576" marB="36576">
                    <a:solidFill>
                      <a:srgbClr val="FFFFFF"/>
                    </a:solidFill>
                  </a:tcPr>
                </a:tc>
              </a:tr>
              <a:tr h="411480">
                <a:tc>
                  <a:txBody>
                    <a:bodyPr/>
                    <a:lstStyle/>
                    <a:p>
                      <a:r>
                        <a:rPr sz="1200" b="0">
                          <a:solidFill>
                            <a:srgbClr val="1F2937"/>
                          </a:solidFill>
                        </a:rPr>
                        <a:t>Yara va transplantatsiya</a:t>
                      </a:r>
                    </a:p>
                  </a:txBody>
                  <a:tcPr marL="73152" marR="73152" marT="36576" marB="36576">
                    <a:solidFill>
                      <a:srgbClr val="E8EEF6"/>
                    </a:solidFill>
                  </a:tcPr>
                </a:tc>
                <a:tc>
                  <a:txBody>
                    <a:bodyPr/>
                    <a:lstStyle/>
                    <a:p>
                      <a:r>
                        <a:rPr sz="1200" b="0">
                          <a:solidFill>
                            <a:srgbClr val="1F2937"/>
                          </a:solidFill>
                        </a:rPr>
                        <a:t>Ravensbryuk</a:t>
                      </a:r>
                    </a:p>
                  </a:txBody>
                  <a:tcPr marL="73152" marR="73152" marT="36576" marB="36576">
                    <a:solidFill>
                      <a:srgbClr val="E8EEF6"/>
                    </a:solidFill>
                  </a:tcPr>
                </a:tc>
                <a:tc>
                  <a:txBody>
                    <a:bodyPr/>
                    <a:lstStyle/>
                    <a:p>
                      <a:r>
                        <a:rPr sz="1200" b="0">
                          <a:solidFill>
                            <a:srgbClr val="1F2937"/>
                          </a:solidFill>
                        </a:rPr>
                        <a:t>Mahbuslar tajriba obyekti bo‘lgan</a:t>
                      </a:r>
                    </a:p>
                  </a:txBody>
                  <a:tcPr marL="73152" marR="73152" marT="36576" marB="36576">
                    <a:solidFill>
                      <a:srgbClr val="E8EEF6"/>
                    </a:solidFill>
                  </a:tcPr>
                </a:tc>
              </a:tr>
              <a:tr h="411480">
                <a:tc>
                  <a:txBody>
                    <a:bodyPr/>
                    <a:lstStyle/>
                    <a:p>
                      <a:r>
                        <a:rPr sz="1200" b="0">
                          <a:solidFill>
                            <a:srgbClr val="1F2937"/>
                          </a:solidFill>
                        </a:rPr>
                        <a:t>Dengiz suvi ichirish</a:t>
                      </a:r>
                    </a:p>
                  </a:txBody>
                  <a:tcPr marL="73152" marR="73152" marT="36576" marB="36576">
                    <a:solidFill>
                      <a:srgbClr val="FFFFFF"/>
                    </a:solidFill>
                  </a:tcPr>
                </a:tc>
                <a:tc>
                  <a:txBody>
                    <a:bodyPr/>
                    <a:lstStyle/>
                    <a:p>
                      <a:r>
                        <a:rPr sz="1200" b="0">
                          <a:solidFill>
                            <a:srgbClr val="1F2937"/>
                          </a:solidFill>
                        </a:rPr>
                        <a:t>Dahau</a:t>
                      </a:r>
                    </a:p>
                  </a:txBody>
                  <a:tcPr marL="73152" marR="73152" marT="36576" marB="36576">
                    <a:solidFill>
                      <a:srgbClr val="FFFFFF"/>
                    </a:solidFill>
                  </a:tcPr>
                </a:tc>
                <a:tc>
                  <a:txBody>
                    <a:bodyPr/>
                    <a:lstStyle/>
                    <a:p>
                      <a:r>
                        <a:rPr sz="1200" b="0">
                          <a:solidFill>
                            <a:srgbClr val="1F2937"/>
                          </a:solidFill>
                        </a:rPr>
                        <a:t>Tanlov mahbuslar ixtiyorisiz qilingan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Tajribalar va axloqiy xulosa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 («Nyurnberg saboqlari»)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Nyurnberg kodeksi: tuzilishi va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Tribunal hukmiga ‘O‘tkazish mumkin bo‘lgan tibbiy tajribalar’ bo‘limi kiritildi. Keyin u ‘Nyurnberg kodeksi’ nomi bilan mustaqil hujjatga aylandi.</a:t>
            </a:r>
          </a:p>
          <a:p>
            <a:pPr>
              <a:spcAft>
                <a:spcPts val="1200"/>
              </a:spcAft>
            </a:pPr>
            <a:r>
              <a:rPr sz="2200">
                <a:solidFill>
                  <a:srgbClr val="1F2937"/>
                </a:solidFill>
                <a:latin typeface="Calibri"/>
              </a:rPr>
              <a:t>▸  Kodeks odamda tibbiy tajriba o‘tkazishni tartibga soluvchi birinchi xalqaro hujjat bo‘ldi. U 10 ta tamoyildan iborat.</a:t>
            </a:r>
          </a:p>
          <a:p>
            <a:pPr>
              <a:spcAft>
                <a:spcPts val="1200"/>
              </a:spcAft>
            </a:pPr>
            <a:r>
              <a:rPr sz="2200">
                <a:solidFill>
                  <a:srgbClr val="1F2937"/>
                </a:solidFill>
                <a:latin typeface="Calibri"/>
              </a:rPr>
              <a:t>▸  Kodeks sud hukmi shaklida qabul qilingan, lekin uning axloqiy kuchi yuridik kuchidan kattaroq.</a:t>
            </a:r>
          </a:p>
          <a:p>
            <a:pPr>
              <a:spcAft>
                <a:spcPts val="1200"/>
              </a:spcAft>
            </a:pPr>
            <a:r>
              <a:rPr sz="2200">
                <a:solidFill>
                  <a:srgbClr val="1F2937"/>
                </a:solidFill>
                <a:latin typeface="Calibri"/>
              </a:rPr>
              <a:t>▸  Birinchi marta alohida inson manfaati fan va jamiyat manfaatidan ustun qo‘yildi. Kodeks hozirgacha namuna vazifasini bajaradi.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 («Nyurnberg saboqlari»)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Birinchi tamoyil: ixtiyoriy rozilik shartlari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Kodeksning 1-tamoyili: tajribadagi odamning ixtiyoriy roziligi mutlaqo zarur shartdir.</a:t>
            </a:r>
          </a:p>
          <a:p>
            <a:pPr>
              <a:spcAft>
                <a:spcPts val="800"/>
              </a:spcAft>
            </a:pPr>
            <a:r>
              <a:rPr sz="1800">
                <a:solidFill>
                  <a:srgbClr val="1F2937"/>
                </a:solidFill>
                <a:latin typeface="Calibri"/>
              </a:rPr>
              <a:t>▸  Rozilik zo‘ravonlik, aldov, firibgarlik va bosimning yashirin shakllarisiz berilishi kerak.</a:t>
            </a:r>
          </a:p>
          <a:p>
            <a:pPr>
              <a:spcAft>
                <a:spcPts val="800"/>
              </a:spcAft>
            </a:pPr>
            <a:r>
              <a:rPr sz="1800">
                <a:solidFill>
                  <a:srgbClr val="1F2937"/>
                </a:solidFill>
                <a:latin typeface="Calibri"/>
              </a:rPr>
              <a:t>▸  Diqqat: hozir ‘ixtiyoriy’ emas, ‘xabardorlikka asoslangan’ rozilik talab qilinadi. Bu qattiqroq norma.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Rozilik berish layoqati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Majburlash va aldovsiz tanlov</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Tajriba tafsilotlarini tushunish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Yetarli bilim va tushuncha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Puxta o‘ylangan qaror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Rozilik shartlari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 («Nyurnberg saboqlari»)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Ixtiyoriy rozilik va xabardorlikka asoslangan rozilik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Nyurnberg kodeksining 1-bandida «ixtiyoriy rozilik» tushunchasi birinchi marta qo‘llangan.</a:t>
            </a:r>
          </a:p>
          <a:p>
            <a:pPr>
              <a:spcAft>
                <a:spcPts val="800"/>
              </a:spcAft>
            </a:pPr>
            <a:r>
              <a:rPr sz="1800">
                <a:solidFill>
                  <a:srgbClr val="1F2937"/>
                </a:solidFill>
                <a:latin typeface="Calibri"/>
              </a:rPr>
              <a:t>▸  Diqqat: ikki atama bir narsa emas. Bugungi hujjatlarda xabardorlikka asoslangan rozilik qattiqroq norma.</a:t>
            </a:r>
          </a:p>
          <a:p>
            <a:pPr>
              <a:spcAft>
                <a:spcPts val="800"/>
              </a:spcAft>
            </a:pPr>
            <a:r>
              <a:rPr sz="1800">
                <a:solidFill>
                  <a:srgbClr val="1F2937"/>
                </a:solidFill>
                <a:latin typeface="Calibri"/>
              </a:rPr>
              <a:t>▸  Ixtiyoriy rozilikda zo‘ravonlik, aldov va bosimsiz erkin tanlash hamda tafsilotni tushunish talab qilinadi.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961450"/>
                <a:gridCol w="1922900"/>
                <a:gridCol w="2403625"/>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Ixtiyoriy</a:t>
                      </a:r>
                    </a:p>
                  </a:txBody>
                  <a:tcPr marL="73152" marR="73152" marT="36576" marB="36576">
                    <a:solidFill>
                      <a:srgbClr val="0B1F3A"/>
                    </a:solidFill>
                  </a:tcPr>
                </a:tc>
                <a:tc>
                  <a:txBody>
                    <a:bodyPr/>
                    <a:lstStyle/>
                    <a:p>
                      <a:r>
                        <a:rPr sz="1300" b="1">
                          <a:solidFill>
                            <a:srgbClr val="FFFFFF"/>
                          </a:solidFill>
                        </a:rPr>
                        <a:t>Xabardor</a:t>
                      </a:r>
                    </a:p>
                  </a:txBody>
                  <a:tcPr marL="73152" marR="73152" marT="36576" marB="36576">
                    <a:solidFill>
                      <a:srgbClr val="0B1F3A"/>
                    </a:solidFill>
                  </a:tcPr>
                </a:tc>
              </a:tr>
              <a:tr h="411480">
                <a:tc>
                  <a:txBody>
                    <a:bodyPr/>
                    <a:lstStyle/>
                    <a:p>
                      <a:r>
                        <a:rPr sz="1200" b="0">
                          <a:solidFill>
                            <a:srgbClr val="1F2937"/>
                          </a:solidFill>
                        </a:rPr>
                        <a:t>Mazmuni</a:t>
                      </a:r>
                    </a:p>
                  </a:txBody>
                  <a:tcPr marL="73152" marR="73152" marT="36576" marB="36576">
                    <a:solidFill>
                      <a:srgbClr val="E8EEF6"/>
                    </a:solidFill>
                  </a:tcPr>
                </a:tc>
                <a:tc>
                  <a:txBody>
                    <a:bodyPr/>
                    <a:lstStyle/>
                    <a:p>
                      <a:r>
                        <a:rPr sz="1200" b="0">
                          <a:solidFill>
                            <a:srgbClr val="1F2937"/>
                          </a:solidFill>
                        </a:rPr>
                        <a:t>Erkin, majburlovsiz qaror</a:t>
                      </a:r>
                    </a:p>
                  </a:txBody>
                  <a:tcPr marL="73152" marR="73152" marT="36576" marB="36576">
                    <a:solidFill>
                      <a:srgbClr val="E8EEF6"/>
                    </a:solidFill>
                  </a:tcPr>
                </a:tc>
                <a:tc>
                  <a:txBody>
                    <a:bodyPr/>
                    <a:lstStyle/>
                    <a:p>
                      <a:r>
                        <a:rPr sz="1200" b="0">
                          <a:solidFill>
                            <a:srgbClr val="1F2937"/>
                          </a:solidFill>
                        </a:rPr>
                        <a:t>Axborotga tayangan erkin qaror</a:t>
                      </a:r>
                    </a:p>
                  </a:txBody>
                  <a:tcPr marL="73152" marR="73152" marT="36576" marB="36576">
                    <a:solidFill>
                      <a:srgbClr val="E8EEF6"/>
                    </a:solidFill>
                  </a:tcPr>
                </a:tc>
              </a:tr>
              <a:tr h="411480">
                <a:tc>
                  <a:txBody>
                    <a:bodyPr/>
                    <a:lstStyle/>
                    <a:p>
                      <a:r>
                        <a:rPr sz="1200" b="0">
                          <a:solidFill>
                            <a:srgbClr val="1F2937"/>
                          </a:solidFill>
                        </a:rPr>
                        <a:t>Hujjat</a:t>
                      </a:r>
                    </a:p>
                  </a:txBody>
                  <a:tcPr marL="73152" marR="73152" marT="36576" marB="36576">
                    <a:solidFill>
                      <a:srgbClr val="FFFFFF"/>
                    </a:solidFill>
                  </a:tcPr>
                </a:tc>
                <a:tc>
                  <a:txBody>
                    <a:bodyPr/>
                    <a:lstStyle/>
                    <a:p>
                      <a:r>
                        <a:rPr sz="1200" b="0">
                          <a:solidFill>
                            <a:srgbClr val="1F2937"/>
                          </a:solidFill>
                        </a:rPr>
                        <a:t>Nyurnberg kodeksi, 1-band (1947)</a:t>
                      </a:r>
                    </a:p>
                  </a:txBody>
                  <a:tcPr marL="73152" marR="73152" marT="36576" marB="36576">
                    <a:solidFill>
                      <a:srgbClr val="FFFFFF"/>
                    </a:solidFill>
                  </a:tcPr>
                </a:tc>
                <a:tc>
                  <a:txBody>
                    <a:bodyPr/>
                    <a:lstStyle/>
                    <a:p>
                      <a:r>
                        <a:rPr sz="1200" b="0">
                          <a:solidFill>
                            <a:srgbClr val="1F2937"/>
                          </a:solidFill>
                        </a:rPr>
                        <a:t>Bugungi huquqiy va axloqiy ko‘rsatmalar</a:t>
                      </a:r>
                    </a:p>
                  </a:txBody>
                  <a:tcPr marL="73152" marR="73152" marT="36576" marB="36576">
                    <a:solidFill>
                      <a:srgbClr val="FFFFFF"/>
                    </a:solidFill>
                  </a:tcPr>
                </a:tc>
              </a:tr>
              <a:tr h="411480">
                <a:tc>
                  <a:txBody>
                    <a:bodyPr/>
                    <a:lstStyle/>
                    <a:p>
                      <a:r>
                        <a:rPr sz="1200" b="0">
                          <a:solidFill>
                            <a:srgbClr val="1F2937"/>
                          </a:solidFill>
                        </a:rPr>
                        <a:t>Axborot</a:t>
                      </a:r>
                    </a:p>
                  </a:txBody>
                  <a:tcPr marL="73152" marR="73152" marT="36576" marB="36576">
                    <a:solidFill>
                      <a:srgbClr val="E8EEF6"/>
                    </a:solidFill>
                  </a:tcPr>
                </a:tc>
                <a:tc>
                  <a:txBody>
                    <a:bodyPr/>
                    <a:lstStyle/>
                    <a:p>
                      <a:r>
                        <a:rPr sz="1200" b="0">
                          <a:solidFill>
                            <a:srgbClr val="1F2937"/>
                          </a:solidFill>
                        </a:rPr>
                        <a:t>Tajriba tafsilotini tushunish</a:t>
                      </a:r>
                    </a:p>
                  </a:txBody>
                  <a:tcPr marL="73152" marR="73152" marT="36576" marB="36576">
                    <a:solidFill>
                      <a:srgbClr val="E8EEF6"/>
                    </a:solidFill>
                  </a:tcPr>
                </a:tc>
                <a:tc>
                  <a:txBody>
                    <a:bodyPr/>
                    <a:lstStyle/>
                    <a:p>
                      <a:r>
                        <a:rPr sz="1200" b="0">
                          <a:solidFill>
                            <a:srgbClr val="1F2937"/>
                          </a:solidFill>
                        </a:rPr>
                        <a:t>Maqsad, xavf va muqobillar, tushunarli tilda</a:t>
                      </a:r>
                    </a:p>
                  </a:txBody>
                  <a:tcPr marL="73152" marR="73152" marT="36576" marB="36576">
                    <a:solidFill>
                      <a:srgbClr val="E8EEF6"/>
                    </a:solidFill>
                  </a:tcPr>
                </a:tc>
              </a:tr>
              <a:tr h="411480">
                <a:tc>
                  <a:txBody>
                    <a:bodyPr/>
                    <a:lstStyle/>
                    <a:p>
                      <a:r>
                        <a:rPr sz="1200" b="0">
                          <a:solidFill>
                            <a:srgbClr val="1F2937"/>
                          </a:solidFill>
                        </a:rPr>
                        <a:t>Talab darajasi</a:t>
                      </a:r>
                    </a:p>
                  </a:txBody>
                  <a:tcPr marL="73152" marR="73152" marT="36576" marB="36576">
                    <a:solidFill>
                      <a:srgbClr val="FFFFFF"/>
                    </a:solidFill>
                  </a:tcPr>
                </a:tc>
                <a:tc>
                  <a:txBody>
                    <a:bodyPr/>
                    <a:lstStyle/>
                    <a:p>
                      <a:r>
                        <a:rPr sz="1200" b="0">
                          <a:solidFill>
                            <a:srgbClr val="1F2937"/>
                          </a:solidFill>
                        </a:rPr>
                        <a:t>Asosiy model</a:t>
                      </a:r>
                    </a:p>
                  </a:txBody>
                  <a:tcPr marL="73152" marR="73152" marT="36576" marB="36576">
                    <a:solidFill>
                      <a:srgbClr val="FFFFFF"/>
                    </a:solidFill>
                  </a:tcPr>
                </a:tc>
                <a:tc>
                  <a:txBody>
                    <a:bodyPr/>
                    <a:lstStyle/>
                    <a:p>
                      <a:r>
                        <a:rPr sz="1200" b="0">
                          <a:solidFill>
                            <a:srgbClr val="1F2937"/>
                          </a:solidFill>
                        </a:rPr>
                        <a:t>Qattiqroq norma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rozilik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Informed consent evolyutsiyasi: AQSh sud amaliyoti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Tushuncha AQShda noto‘g‘ri davolash zararini qoplash bo‘yicha sud ishlarida qo‘llana boshlagan.</a:t>
            </a:r>
          </a:p>
          <a:p>
            <a:pPr>
              <a:spcAft>
                <a:spcPts val="800"/>
              </a:spcAft>
            </a:pPr>
            <a:r>
              <a:rPr sz="1800">
                <a:solidFill>
                  <a:srgbClr val="1F2937"/>
                </a:solidFill>
                <a:latin typeface="Calibri"/>
              </a:rPr>
              <a:t>▸  50–60-yillarda shifokor bemorni tibbiy xavf va muqobil davolash shakllari haqida xabardor qilishi shart bo‘ldi.</a:t>
            </a:r>
          </a:p>
          <a:p>
            <a:pPr>
              <a:spcAft>
                <a:spcPts val="800"/>
              </a:spcAft>
            </a:pPr>
            <a:r>
              <a:rPr sz="1800">
                <a:solidFill>
                  <a:srgbClr val="1F2937"/>
                </a:solidFill>
                <a:latin typeface="Calibri"/>
              </a:rPr>
              <a:t>▸  Bugun AQSh sudida rozilik shifokor bemorga qanchalik g‘amxo‘rlik qilganining huquqiy mezoni hisoblanadi.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84712"/>
                <a:gridCol w="1491480"/>
                <a:gridCol w="2711782"/>
              </a:tblGrid>
              <a:tr h="411480">
                <a:tc>
                  <a:txBody>
                    <a:bodyPr/>
                    <a:lstStyle/>
                    <a:p>
                      <a:r>
                        <a:rPr sz="1300" b="1">
                          <a:solidFill>
                            <a:srgbClr val="FFFFFF"/>
                          </a:solidFill>
                        </a:rPr>
                        <a:t>Davr</a:t>
                      </a:r>
                    </a:p>
                  </a:txBody>
                  <a:tcPr marL="73152" marR="73152" marT="36576" marB="36576">
                    <a:solidFill>
                      <a:srgbClr val="0B1F3A"/>
                    </a:solidFill>
                  </a:tcPr>
                </a:tc>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r>
              <a:tr h="411480">
                <a:tc>
                  <a:txBody>
                    <a:bodyPr/>
                    <a:lstStyle/>
                    <a:p>
                      <a:r>
                        <a:rPr sz="1200" b="0">
                          <a:solidFill>
                            <a:srgbClr val="1F2937"/>
                          </a:solidFill>
                        </a:rPr>
                        <a:t>1947</a:t>
                      </a:r>
                    </a:p>
                  </a:txBody>
                  <a:tcPr marL="73152" marR="73152" marT="36576" marB="36576">
                    <a:solidFill>
                      <a:srgbClr val="E8EEF6"/>
                    </a:solidFill>
                  </a:tcPr>
                </a:tc>
                <a:tc>
                  <a:txBody>
                    <a:bodyPr/>
                    <a:lstStyle/>
                    <a:p>
                      <a:r>
                        <a:rPr sz="1200" b="0">
                          <a:solidFill>
                            <a:srgbClr val="1F2937"/>
                          </a:solidFill>
                        </a:rPr>
                        <a:t>Ixtiyoriy rozilik</a:t>
                      </a:r>
                    </a:p>
                  </a:txBody>
                  <a:tcPr marL="73152" marR="73152" marT="36576" marB="36576">
                    <a:solidFill>
                      <a:srgbClr val="E8EEF6"/>
                    </a:solidFill>
                  </a:tcPr>
                </a:tc>
                <a:tc>
                  <a:txBody>
                    <a:bodyPr/>
                    <a:lstStyle/>
                    <a:p>
                      <a:r>
                        <a:rPr sz="1200" b="0">
                          <a:solidFill>
                            <a:srgbClr val="1F2937"/>
                          </a:solidFill>
                        </a:rPr>
                        <a:t>Nyurnberg kodeksi, 1-band</a:t>
                      </a:r>
                    </a:p>
                  </a:txBody>
                  <a:tcPr marL="73152" marR="73152" marT="36576" marB="36576">
                    <a:solidFill>
                      <a:srgbClr val="E8EEF6"/>
                    </a:solidFill>
                  </a:tcPr>
                </a:tc>
              </a:tr>
              <a:tr h="411480">
                <a:tc>
                  <a:txBody>
                    <a:bodyPr/>
                    <a:lstStyle/>
                    <a:p>
                      <a:r>
                        <a:rPr sz="1200" b="0">
                          <a:solidFill>
                            <a:srgbClr val="1F2937"/>
                          </a:solidFill>
                        </a:rPr>
                        <a:t>50–60-yillar</a:t>
                      </a:r>
                    </a:p>
                  </a:txBody>
                  <a:tcPr marL="73152" marR="73152" marT="36576" marB="36576">
                    <a:solidFill>
                      <a:srgbClr val="FFFFFF"/>
                    </a:solidFill>
                  </a:tcPr>
                </a:tc>
                <a:tc>
                  <a:txBody>
                    <a:bodyPr/>
                    <a:lstStyle/>
                    <a:p>
                      <a:r>
                        <a:rPr sz="1200" b="0">
                          <a:solidFill>
                            <a:srgbClr val="1F2937"/>
                          </a:solidFill>
                        </a:rPr>
                        <a:t>Atama va majburiyat</a:t>
                      </a:r>
                    </a:p>
                  </a:txBody>
                  <a:tcPr marL="73152" marR="73152" marT="36576" marB="36576">
                    <a:solidFill>
                      <a:srgbClr val="FFFFFF"/>
                    </a:solidFill>
                  </a:tcPr>
                </a:tc>
                <a:tc>
                  <a:txBody>
                    <a:bodyPr/>
                    <a:lstStyle/>
                    <a:p>
                      <a:r>
                        <a:rPr sz="1200" b="0">
                          <a:solidFill>
                            <a:srgbClr val="1F2937"/>
                          </a:solidFill>
                        </a:rPr>
                        <a:t>Xavf va muqobillar haqida axborot berish</a:t>
                      </a:r>
                    </a:p>
                  </a:txBody>
                  <a:tcPr marL="73152" marR="73152" marT="36576" marB="36576">
                    <a:solidFill>
                      <a:srgbClr val="FFFFFF"/>
                    </a:solidFill>
                  </a:tcPr>
                </a:tc>
              </a:tr>
              <a:tr h="411480">
                <a:tc>
                  <a:txBody>
                    <a:bodyPr/>
                    <a:lstStyle/>
                    <a:p>
                      <a:r>
                        <a:rPr sz="1200" b="0">
                          <a:solidFill>
                            <a:srgbClr val="1F2937"/>
                          </a:solidFill>
                        </a:rPr>
                        <a:t>50-yillar</a:t>
                      </a:r>
                    </a:p>
                  </a:txBody>
                  <a:tcPr marL="73152" marR="73152" marT="36576" marB="36576">
                    <a:solidFill>
                      <a:srgbClr val="E8EEF6"/>
                    </a:solidFill>
                  </a:tcPr>
                </a:tc>
                <a:tc>
                  <a:txBody>
                    <a:bodyPr/>
                    <a:lstStyle/>
                    <a:p>
                      <a:r>
                        <a:rPr sz="1200" b="0">
                          <a:solidFill>
                            <a:srgbClr val="1F2937"/>
                          </a:solidFill>
                        </a:rPr>
                        <a:t>Professional</a:t>
                      </a:r>
                    </a:p>
                  </a:txBody>
                  <a:tcPr marL="73152" marR="73152" marT="36576" marB="36576">
                    <a:solidFill>
                      <a:srgbClr val="E8EEF6"/>
                    </a:solidFill>
                  </a:tcPr>
                </a:tc>
                <a:tc>
                  <a:txBody>
                    <a:bodyPr/>
                    <a:lstStyle/>
                    <a:p>
                      <a:r>
                        <a:rPr sz="1200" b="0">
                          <a:solidFill>
                            <a:srgbClr val="1F2937"/>
                          </a:solidFill>
                        </a:rPr>
                        <a:t>Axborot kasbiy xususiyatga ega edi</a:t>
                      </a:r>
                    </a:p>
                  </a:txBody>
                  <a:tcPr marL="73152" marR="73152" marT="36576" marB="36576">
                    <a:solidFill>
                      <a:srgbClr val="E8EEF6"/>
                    </a:solidFill>
                  </a:tcPr>
                </a:tc>
              </a:tr>
              <a:tr h="411480">
                <a:tc>
                  <a:txBody>
                    <a:bodyPr/>
                    <a:lstStyle/>
                    <a:p>
                      <a:r>
                        <a:rPr sz="1200" b="0">
                          <a:solidFill>
                            <a:srgbClr val="1F2937"/>
                          </a:solidFill>
                        </a:rPr>
                        <a:t>70-yillar</a:t>
                      </a:r>
                    </a:p>
                  </a:txBody>
                  <a:tcPr marL="73152" marR="73152" marT="36576" marB="36576">
                    <a:solidFill>
                      <a:srgbClr val="FFFFFF"/>
                    </a:solidFill>
                  </a:tcPr>
                </a:tc>
                <a:tc>
                  <a:txBody>
                    <a:bodyPr/>
                    <a:lstStyle/>
                    <a:p>
                      <a:r>
                        <a:rPr sz="1200" b="0">
                          <a:solidFill>
                            <a:srgbClr val="1F2937"/>
                          </a:solidFill>
                        </a:rPr>
                        <a:t>Bemorga yo‘naltirilgan</a:t>
                      </a:r>
                    </a:p>
                  </a:txBody>
                  <a:tcPr marL="73152" marR="73152" marT="36576" marB="36576">
                    <a:solidFill>
                      <a:srgbClr val="FFFFFF"/>
                    </a:solidFill>
                  </a:tcPr>
                </a:tc>
                <a:tc>
                  <a:txBody>
                    <a:bodyPr/>
                    <a:lstStyle/>
                    <a:p>
                      <a:r>
                        <a:rPr sz="1200" b="0">
                          <a:solidFill>
                            <a:srgbClr val="1F2937"/>
                          </a:solidFill>
                        </a:rPr>
                        <a:t>Tushunarli; maqsad, xavf, muqobillar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Axborot mezoni vaqt chizig‘i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Paternalizm va bemorning huquqiy himoyasi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Paternalizmda shifokor bemor ahvolini o‘rganib, davo usulini o‘zi tanlar, rozilik shunga bog‘liq bo‘lardi.</a:t>
            </a:r>
          </a:p>
          <a:p>
            <a:pPr>
              <a:spcAft>
                <a:spcPts val="800"/>
              </a:spcAft>
            </a:pPr>
            <a:r>
              <a:rPr sz="1800">
                <a:solidFill>
                  <a:srgbClr val="1F2937"/>
                </a:solidFill>
                <a:latin typeface="Calibri"/>
              </a:rPr>
              <a:t>▸  Bemor huquqlari: rozilik berish va voz kechish, sog‘lig‘i haqida axborot olish; muassasa buni ta’minlaydi.</a:t>
            </a:r>
          </a:p>
          <a:p>
            <a:pPr>
              <a:spcAft>
                <a:spcPts val="800"/>
              </a:spcAft>
            </a:pPr>
            <a:r>
              <a:rPr sz="1800">
                <a:solidFill>
                  <a:srgbClr val="1F2937"/>
                </a:solidFill>
                <a:latin typeface="Calibri"/>
              </a:rPr>
              <a:t>▸  Xabardor rozilik bemor va shifokor o‘rtasidagi tabiiy tengsizlikni bartaraf etadi: bemor shifokorga qaram.</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983809"/>
                <a:gridCol w="2090594"/>
                <a:gridCol w="2213570"/>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Paternalizm</a:t>
                      </a:r>
                    </a:p>
                  </a:txBody>
                  <a:tcPr marL="73152" marR="73152" marT="36576" marB="36576">
                    <a:solidFill>
                      <a:srgbClr val="0B1F3A"/>
                    </a:solidFill>
                  </a:tcPr>
                </a:tc>
                <a:tc>
                  <a:txBody>
                    <a:bodyPr/>
                    <a:lstStyle/>
                    <a:p>
                      <a:r>
                        <a:rPr sz="1300" b="1">
                          <a:solidFill>
                            <a:srgbClr val="FFFFFF"/>
                          </a:solidFill>
                        </a:rPr>
                        <a:t>Xabardor rozilik</a:t>
                      </a:r>
                    </a:p>
                  </a:txBody>
                  <a:tcPr marL="73152" marR="73152" marT="36576" marB="36576">
                    <a:solidFill>
                      <a:srgbClr val="0B1F3A"/>
                    </a:solidFill>
                  </a:tcPr>
                </a:tc>
              </a:tr>
              <a:tr h="411480">
                <a:tc>
                  <a:txBody>
                    <a:bodyPr/>
                    <a:lstStyle/>
                    <a:p>
                      <a:r>
                        <a:rPr sz="1200" b="0">
                          <a:solidFill>
                            <a:srgbClr val="1F2937"/>
                          </a:solidFill>
                        </a:rPr>
                        <a:t>Asos</a:t>
                      </a:r>
                    </a:p>
                  </a:txBody>
                  <a:tcPr marL="73152" marR="73152" marT="36576" marB="36576">
                    <a:solidFill>
                      <a:srgbClr val="E8EEF6"/>
                    </a:solidFill>
                  </a:tcPr>
                </a:tc>
                <a:tc>
                  <a:txBody>
                    <a:bodyPr/>
                    <a:lstStyle/>
                    <a:p>
                      <a:r>
                        <a:rPr sz="1200" b="0">
                          <a:solidFill>
                            <a:srgbClr val="1F2937"/>
                          </a:solidFill>
                        </a:rPr>
                        <a:t>Otalarcha g‘amxo‘rlik modeli</a:t>
                      </a:r>
                    </a:p>
                  </a:txBody>
                  <a:tcPr marL="73152" marR="73152" marT="36576" marB="36576">
                    <a:solidFill>
                      <a:srgbClr val="E8EEF6"/>
                    </a:solidFill>
                  </a:tcPr>
                </a:tc>
                <a:tc>
                  <a:txBody>
                    <a:bodyPr/>
                    <a:lstStyle/>
                    <a:p>
                      <a:r>
                        <a:rPr sz="1200" b="0">
                          <a:solidFill>
                            <a:srgbClr val="1F2937"/>
                          </a:solidFill>
                        </a:rPr>
                        <a:t>Bemorni huquqiy himoya qilish</a:t>
                      </a:r>
                    </a:p>
                  </a:txBody>
                  <a:tcPr marL="73152" marR="73152" marT="36576" marB="36576">
                    <a:solidFill>
                      <a:srgbClr val="E8EEF6"/>
                    </a:solidFill>
                  </a:tcPr>
                </a:tc>
              </a:tr>
              <a:tr h="411480">
                <a:tc>
                  <a:txBody>
                    <a:bodyPr/>
                    <a:lstStyle/>
                    <a:p>
                      <a:r>
                        <a:rPr sz="1200" b="0">
                          <a:solidFill>
                            <a:srgbClr val="1F2937"/>
                          </a:solidFill>
                        </a:rPr>
                        <a:t>Usul tanlovi</a:t>
                      </a:r>
                    </a:p>
                  </a:txBody>
                  <a:tcPr marL="73152" marR="73152" marT="36576" marB="36576">
                    <a:solidFill>
                      <a:srgbClr val="FFFFFF"/>
                    </a:solidFill>
                  </a:tcPr>
                </a:tc>
                <a:tc>
                  <a:txBody>
                    <a:bodyPr/>
                    <a:lstStyle/>
                    <a:p>
                      <a:r>
                        <a:rPr sz="1200" b="0">
                          <a:solidFill>
                            <a:srgbClr val="1F2937"/>
                          </a:solidFill>
                        </a:rPr>
                        <a:t>Shifokor belgilaydi</a:t>
                      </a:r>
                    </a:p>
                  </a:txBody>
                  <a:tcPr marL="73152" marR="73152" marT="36576" marB="36576">
                    <a:solidFill>
                      <a:srgbClr val="FFFFFF"/>
                    </a:solidFill>
                  </a:tcPr>
                </a:tc>
                <a:tc>
                  <a:txBody>
                    <a:bodyPr/>
                    <a:lstStyle/>
                    <a:p>
                      <a:r>
                        <a:rPr sz="1200" b="0">
                          <a:solidFill>
                            <a:srgbClr val="1F2937"/>
                          </a:solidFill>
                        </a:rPr>
                        <a:t>Axborot asosida bemor rozilik beradi</a:t>
                      </a:r>
                    </a:p>
                  </a:txBody>
                  <a:tcPr marL="73152" marR="73152" marT="36576" marB="36576">
                    <a:solidFill>
                      <a:srgbClr val="FFFFFF"/>
                    </a:solidFill>
                  </a:tcPr>
                </a:tc>
              </a:tr>
              <a:tr h="411480">
                <a:tc>
                  <a:txBody>
                    <a:bodyPr/>
                    <a:lstStyle/>
                    <a:p>
                      <a:r>
                        <a:rPr sz="1200" b="0">
                          <a:solidFill>
                            <a:srgbClr val="1F2937"/>
                          </a:solidFill>
                        </a:rPr>
                        <a:t>Rozilik</a:t>
                      </a:r>
                    </a:p>
                  </a:txBody>
                  <a:tcPr marL="73152" marR="73152" marT="36576" marB="36576">
                    <a:solidFill>
                      <a:srgbClr val="E8EEF6"/>
                    </a:solidFill>
                  </a:tcPr>
                </a:tc>
                <a:tc>
                  <a:txBody>
                    <a:bodyPr/>
                    <a:lstStyle/>
                    <a:p>
                      <a:r>
                        <a:rPr sz="1200" b="0">
                          <a:solidFill>
                            <a:srgbClr val="1F2937"/>
                          </a:solidFill>
                        </a:rPr>
                        <a:t>Shifokor tanlovi bilan belgilanadi</a:t>
                      </a:r>
                    </a:p>
                  </a:txBody>
                  <a:tcPr marL="73152" marR="73152" marT="36576" marB="36576">
                    <a:solidFill>
                      <a:srgbClr val="E8EEF6"/>
                    </a:solidFill>
                  </a:tcPr>
                </a:tc>
                <a:tc>
                  <a:txBody>
                    <a:bodyPr/>
                    <a:lstStyle/>
                    <a:p>
                      <a:r>
                        <a:rPr sz="1200" b="0">
                          <a:solidFill>
                            <a:srgbClr val="1F2937"/>
                          </a:solidFill>
                        </a:rPr>
                        <a:t>Rozilik berish va voz kechish huquqi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Paternalizm va xabardor rozilik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rozilik va majburlash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Dachau lagerida mahbuslar 12 km balandlikka xos sharoitda sinaldi. Maqsad nemis uchuvchilariga yordam berish edi.</a:t>
            </a:r>
          </a:p>
          <a:p>
            <a:pPr>
              <a:spcAft>
                <a:spcPts val="1200"/>
              </a:spcAft>
            </a:pPr>
            <a:r>
              <a:rPr sz="2200">
                <a:solidFill>
                  <a:srgbClr val="1F2937"/>
                </a:solidFill>
                <a:latin typeface="Calibri"/>
              </a:rPr>
              <a:t>▸  Savol: Nyurnberg kodeksining qaysi tamoyili buzilgan? Birinchi tamoyil: tajribadagi odamning ixtiyoriy roziligi mutlaqo zarur.</a:t>
            </a:r>
          </a:p>
          <a:p>
            <a:pPr>
              <a:spcAft>
                <a:spcPts val="1200"/>
              </a:spcAft>
            </a:pPr>
            <a:r>
              <a:rPr sz="2200">
                <a:solidFill>
                  <a:srgbClr val="1F2937"/>
                </a:solidFill>
                <a:latin typeface="Calibri"/>
              </a:rPr>
              <a:t>▸  Kodeksda tarixda birinchi marta alohida shaxs manfaati fan va jamiyat manfaatidan ustun qo‘yildi. ‘Foyda jamiyatga’ degan asos o‘tmaydi.</a:t>
            </a:r>
          </a:p>
          <a:p>
            <a:pPr>
              <a:spcAft>
                <a:spcPts val="1200"/>
              </a:spcAft>
            </a:pPr>
            <a:r>
              <a:rPr sz="2200">
                <a:solidFill>
                  <a:srgbClr val="1F2937"/>
                </a:solidFill>
                <a:latin typeface="Calibri"/>
              </a:rPr>
              <a:t>▸  Diqqat: xato qilish xavfi. Ixtiyoriy rozilik ≠ xabardorlikka asoslangan rozilik. Hozirgi ko‘rsatmalarda ikkinchisi qattiqroq norma.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 (Nyurnberg saboqlari)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Nyurnberg va rozilik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Nyurnberg kodeksi qachon va qaysi tribunal tomonidan tayyorlangan? (Javob: 1947-yil, AQShning 1-Harbiy tribunali.)</a:t>
            </a:r>
          </a:p>
          <a:p>
            <a:pPr>
              <a:spcAft>
                <a:spcPts val="1200"/>
              </a:spcAft>
            </a:pPr>
            <a:r>
              <a:rPr sz="2200">
                <a:solidFill>
                  <a:srgbClr val="1F2937"/>
                </a:solidFill>
                <a:latin typeface="Calibri"/>
              </a:rPr>
              <a:t>▸  2-savol: Kodeks nechta tamoyilni o‘z ichiga oladi va birinchisi nima haqida? (Javob: o‘nta; ixtiyoriy rozilik haqida.)</a:t>
            </a:r>
          </a:p>
          <a:p>
            <a:pPr>
              <a:spcAft>
                <a:spcPts val="1200"/>
              </a:spcAft>
            </a:pPr>
            <a:r>
              <a:rPr sz="2200">
                <a:solidFill>
                  <a:srgbClr val="1F2937"/>
                </a:solidFill>
                <a:latin typeface="Calibri"/>
              </a:rPr>
              <a:t>▸  3-savol: Ixtiyoriy rozilik shaxsdan nimani talab qiladi? (Javob: qonuniy qobiliyat, majburlovsiz erkin tanlov, tafsilotni tushunish.)</a:t>
            </a:r>
          </a:p>
          <a:p>
            <a:pPr>
              <a:spcAft>
                <a:spcPts val="1200"/>
              </a:spcAft>
            </a:pPr>
            <a:r>
              <a:rPr sz="2200">
                <a:solidFill>
                  <a:srgbClr val="1F2937"/>
                </a:solidFill>
                <a:latin typeface="Calibri"/>
              </a:rPr>
              <a:t>▸  4-savol: Ixtiyoriy va xabardor rozilik farqi nima? (Javob: xabardorlikka asoslangan rozilik qattiqroq norma.)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 II bob, 1-bo‘lim (Nyurnberg saboqlari)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Talidamid fojiasi va farmatsevtik bioetika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Talidamid halokati fan maqsadini o‘zgartirdi: yangi dori yaratish bilan birga zararni oldini olish ham.</a:t>
            </a:r>
          </a:p>
          <a:p>
            <a:pPr>
              <a:spcAft>
                <a:spcPts val="800"/>
              </a:spcAft>
            </a:pPr>
            <a:r>
              <a:rPr sz="1800">
                <a:solidFill>
                  <a:srgbClr val="1F2937"/>
                </a:solidFill>
                <a:latin typeface="Calibri"/>
              </a:rPr>
              <a:t>▸  Yaratish va klinikada qo‘llash oralig‘i: 60-yillar boshida bir necha hafta, 80-yillar boshida 10 yilgacha.</a:t>
            </a:r>
          </a:p>
          <a:p>
            <a:pPr>
              <a:spcAft>
                <a:spcPts val="800"/>
              </a:spcAft>
            </a:pPr>
            <a:r>
              <a:rPr sz="1800">
                <a:solidFill>
                  <a:srgbClr val="1F2937"/>
                </a:solidFill>
                <a:latin typeface="Calibri"/>
              </a:rPr>
              <a:t>▸  Farmatsevtik bioetika dori yaratishdan iste’molchigacha bo‘lgan axloqiy muammolarni o‘rganadi.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Homiladorlarga uyqu dorisi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Qo‘l-oyoqsiz bolalar tug‘ildi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Zararning oldini olish maqsad</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Kechikish: haftadan 10 yilgacha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Narx 20 baravardan oshdi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Sabab-oqibat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Xelsinki deklaratsiyasi: shakllanish tarixi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Talidamid: 20 mingga yaqin bola qo‘l-oyoqsiz tug‘ilgan; Yaponiyada dori «smon» kasalligini keltirib chiqargan.</a:t>
            </a:r>
          </a:p>
          <a:p>
            <a:pPr>
              <a:spcAft>
                <a:spcPts val="800"/>
              </a:spcAft>
            </a:pPr>
            <a:r>
              <a:rPr sz="1800">
                <a:solidFill>
                  <a:srgbClr val="1F2937"/>
                </a:solidFill>
                <a:latin typeface="Calibri"/>
              </a:rPr>
              <a:t>▸  Bu holat Jahon vrachlar uyushmasini tashvishga soldi; u 1964-yilda Xelsinkida deklaratsiya qabul qildi.</a:t>
            </a:r>
          </a:p>
          <a:p>
            <a:pPr>
              <a:spcAft>
                <a:spcPts val="800"/>
              </a:spcAft>
            </a:pPr>
            <a:r>
              <a:rPr sz="1800">
                <a:solidFill>
                  <a:srgbClr val="1F2937"/>
                </a:solidFill>
                <a:latin typeface="Calibri"/>
              </a:rPr>
              <a:t>▸  Keyin to‘ldirildi: Tokio 1975, Venetsiya 1984, Gonkong 1989, Somerset-Vest 1996, Edinburg 2000.</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96369"/>
                <a:gridCol w="3691605"/>
              </a:tblGrid>
              <a:tr h="411480">
                <a:tc>
                  <a:txBody>
                    <a:bodyPr/>
                    <a:lstStyle/>
                    <a:p>
                      <a:r>
                        <a:rPr sz="1400" b="1">
                          <a:solidFill>
                            <a:srgbClr val="FFFFFF"/>
                          </a:solidFill>
                        </a:rPr>
                        <a:t>Yil</a:t>
                      </a:r>
                    </a:p>
                  </a:txBody>
                  <a:tcPr marL="73152" marR="73152" marT="36576" marB="36576">
                    <a:solidFill>
                      <a:srgbClr val="0B1F3A"/>
                    </a:solidFill>
                  </a:tcPr>
                </a:tc>
                <a:tc>
                  <a:txBody>
                    <a:bodyPr/>
                    <a:lstStyle/>
                    <a:p>
                      <a:r>
                        <a:rPr sz="1400" b="1">
                          <a:solidFill>
                            <a:srgbClr val="FFFFFF"/>
                          </a:solidFill>
                        </a:rPr>
                        <a:t>Voqea</a:t>
                      </a:r>
                    </a:p>
                  </a:txBody>
                  <a:tcPr marL="73152" marR="73152" marT="36576" marB="36576">
                    <a:solidFill>
                      <a:srgbClr val="0B1F3A"/>
                    </a:solidFill>
                  </a:tcPr>
                </a:tc>
              </a:tr>
              <a:tr h="411480">
                <a:tc>
                  <a:txBody>
                    <a:bodyPr/>
                    <a:lstStyle/>
                    <a:p>
                      <a:r>
                        <a:rPr sz="1300" b="0">
                          <a:solidFill>
                            <a:srgbClr val="1F2937"/>
                          </a:solidFill>
                        </a:rPr>
                        <a:t>1958</a:t>
                      </a:r>
                    </a:p>
                  </a:txBody>
                  <a:tcPr marL="73152" marR="73152" marT="36576" marB="36576">
                    <a:solidFill>
                      <a:srgbClr val="E8EEF6"/>
                    </a:solidFill>
                  </a:tcPr>
                </a:tc>
                <a:tc>
                  <a:txBody>
                    <a:bodyPr/>
                    <a:lstStyle/>
                    <a:p>
                      <a:r>
                        <a:rPr sz="1300" b="0">
                          <a:solidFill>
                            <a:srgbClr val="1F2937"/>
                          </a:solidFill>
                        </a:rPr>
                        <a:t>Germaniya: talidamid fojiasi</a:t>
                      </a:r>
                    </a:p>
                  </a:txBody>
                  <a:tcPr marL="73152" marR="73152" marT="36576" marB="36576">
                    <a:solidFill>
                      <a:srgbClr val="E8EEF6"/>
                    </a:solidFill>
                  </a:tcPr>
                </a:tc>
              </a:tr>
              <a:tr h="411480">
                <a:tc>
                  <a:txBody>
                    <a:bodyPr/>
                    <a:lstStyle/>
                    <a:p>
                      <a:r>
                        <a:rPr sz="1300" b="0">
                          <a:solidFill>
                            <a:srgbClr val="1F2937"/>
                          </a:solidFill>
                        </a:rPr>
                        <a:t>1960</a:t>
                      </a:r>
                    </a:p>
                  </a:txBody>
                  <a:tcPr marL="73152" marR="73152" marT="36576" marB="36576">
                    <a:solidFill>
                      <a:srgbClr val="FFFFFF"/>
                    </a:solidFill>
                  </a:tcPr>
                </a:tc>
                <a:tc>
                  <a:txBody>
                    <a:bodyPr/>
                    <a:lstStyle/>
                    <a:p>
                      <a:r>
                        <a:rPr sz="1300" b="0">
                          <a:solidFill>
                            <a:srgbClr val="1F2937"/>
                          </a:solidFill>
                        </a:rPr>
                        <a:t>Yaponiya: ommaviy zaharlanish, smon</a:t>
                      </a:r>
                    </a:p>
                  </a:txBody>
                  <a:tcPr marL="73152" marR="73152" marT="36576" marB="36576">
                    <a:solidFill>
                      <a:srgbClr val="FFFFFF"/>
                    </a:solidFill>
                  </a:tcPr>
                </a:tc>
              </a:tr>
              <a:tr h="411480">
                <a:tc>
                  <a:txBody>
                    <a:bodyPr/>
                    <a:lstStyle/>
                    <a:p>
                      <a:r>
                        <a:rPr sz="1300" b="0">
                          <a:solidFill>
                            <a:srgbClr val="1F2937"/>
                          </a:solidFill>
                        </a:rPr>
                        <a:t>1964</a:t>
                      </a:r>
                    </a:p>
                  </a:txBody>
                  <a:tcPr marL="73152" marR="73152" marT="36576" marB="36576">
                    <a:solidFill>
                      <a:srgbClr val="E8EEF6"/>
                    </a:solidFill>
                  </a:tcPr>
                </a:tc>
                <a:tc>
                  <a:txBody>
                    <a:bodyPr/>
                    <a:lstStyle/>
                    <a:p>
                      <a:r>
                        <a:rPr sz="1300" b="0">
                          <a:solidFill>
                            <a:srgbClr val="1F2937"/>
                          </a:solidFill>
                        </a:rPr>
                        <a:t>Xelsinki deklaratsiyasi qabul qilindi</a:t>
                      </a:r>
                    </a:p>
                  </a:txBody>
                  <a:tcPr marL="73152" marR="73152" marT="36576" marB="36576">
                    <a:solidFill>
                      <a:srgbClr val="E8EEF6"/>
                    </a:solidFill>
                  </a:tcPr>
                </a:tc>
              </a:tr>
              <a:tr h="411480">
                <a:tc>
                  <a:txBody>
                    <a:bodyPr/>
                    <a:lstStyle/>
                    <a:p>
                      <a:r>
                        <a:rPr sz="1300" b="0">
                          <a:solidFill>
                            <a:srgbClr val="1F2937"/>
                          </a:solidFill>
                        </a:rPr>
                        <a:t>1975–2000</a:t>
                      </a:r>
                    </a:p>
                  </a:txBody>
                  <a:tcPr marL="73152" marR="73152" marT="36576" marB="36576">
                    <a:solidFill>
                      <a:srgbClr val="FFFFFF"/>
                    </a:solidFill>
                  </a:tcPr>
                </a:tc>
                <a:tc>
                  <a:txBody>
                    <a:bodyPr/>
                    <a:lstStyle/>
                    <a:p>
                      <a:r>
                        <a:rPr sz="1300" b="0">
                          <a:solidFill>
                            <a:srgbClr val="1F2937"/>
                          </a:solidFill>
                        </a:rPr>
                        <a:t>5 ta Bosh assambleyada tahrirlandi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Deklaratsiya xronologiyasi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Etika qo‘mitalari va Good Clinical Practice (GCP)</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Xelsinki-Tokio tavsiyalari: mustaqil komissiya yoki qo‘mita tadqiqot bayonnomalarini nazorat qilishi shart.</a:t>
            </a:r>
          </a:p>
          <a:p>
            <a:pPr>
              <a:spcAft>
                <a:spcPts val="800"/>
              </a:spcAft>
            </a:pPr>
            <a:r>
              <a:rPr sz="1800">
                <a:solidFill>
                  <a:srgbClr val="1F2937"/>
                </a:solidFill>
                <a:latin typeface="Calibri"/>
              </a:rPr>
              <a:t>▸  Keyin GCP — Good Clinical Practice, ya’ni «Muvofiq klinik amaliyot» qoidalari ishlab chiqildi.</a:t>
            </a:r>
          </a:p>
          <a:p>
            <a:pPr>
              <a:spcAft>
                <a:spcPts val="800"/>
              </a:spcAft>
            </a:pPr>
            <a:r>
              <a:rPr sz="1800">
                <a:solidFill>
                  <a:srgbClr val="1F2937"/>
                </a:solidFill>
                <a:latin typeface="Calibri"/>
              </a:rPr>
              <a:t>▸  Jahon sog‘liqni saqlash tashkiloti (JSST): qo‘mita siyosiy, idoraviy, moliyaviy ta’sirdan mustaqil bo‘lsin.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Tadqiqot bayonnomasi tayyor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Mustaqil qo‘mita ko‘radi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Axloqiy ekspertiza xulosasi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Xulosa bo‘lsa — sinov boshlanadi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Qo‘mita nazorat qilib boradi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Etik ekspertiza yo‘li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Yevropa konvensiyasi, Belmont, O‘zbekiston qo‘mitalari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1993-yilda Yevropa Kengashi Bosh assambleyasi biologiya va tibbiyotda inson huquqi va qadr-qimmatini himoya qilish konvensiyasini qabul qildi; aksar Yevropa davlatlari unga a’zo.</a:t>
            </a:r>
          </a:p>
          <a:p>
            <a:pPr>
              <a:spcAft>
                <a:spcPts val="1200"/>
              </a:spcAft>
            </a:pPr>
            <a:r>
              <a:rPr sz="2000">
                <a:solidFill>
                  <a:srgbClr val="1F2937"/>
                </a:solidFill>
                <a:latin typeface="Calibri"/>
              </a:rPr>
              <a:t>▸  O‘zbekistonda Sog‘liqni saqlash vazirligi qoshida Bioetika qo‘mitasi ishlaydi (rahbari akademik M.S. Abdullaxo‘jayeva). Ibn Sino Xalqaro Jamg‘armasi qoshida ham Milliy qo‘mita tuzilgan.</a:t>
            </a:r>
          </a:p>
          <a:p>
            <a:pPr>
              <a:spcAft>
                <a:spcPts val="1200"/>
              </a:spcAft>
            </a:pPr>
            <a:r>
              <a:rPr sz="2000">
                <a:solidFill>
                  <a:srgbClr val="1F2937"/>
                </a:solidFill>
                <a:latin typeface="Calibri"/>
              </a:rPr>
              <a:t>▸  Qo‘mita Konstitutsiya, «Fuqarolar sog‘ligini saqlash to‘g‘risida»gi (1996) va «Dori vositalari va farmatsevtika faoliyati to‘g‘risida»gi (1997) qonunlar, Xelsinki va GCP ga tayanadi.</a:t>
            </a:r>
          </a:p>
          <a:p>
            <a:pPr>
              <a:spcAft>
                <a:spcPts val="1200"/>
              </a:spcAft>
            </a:pPr>
            <a:r>
              <a:rPr sz="2000">
                <a:solidFill>
                  <a:srgbClr val="1F2937"/>
                </a:solidFill>
                <a:latin typeface="Calibri"/>
              </a:rPr>
              <a:t>▸  Belmont «Axloq tamoyillari va tadqiqot ishtirokchilarini himoya qilish qo‘llanmasi» ro‘yxatda faqat nomi bilan keltirilgan; uning uch tamoyili manbada yo‘q. (?)</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dori sinovi va etik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yangi dori klinik sinovga tayyor, lekin unda axloqiy (etik) ekspertiza xulosasi yo‘q.</a:t>
            </a:r>
          </a:p>
          <a:p>
            <a:pPr>
              <a:spcAft>
                <a:spcPts val="1200"/>
              </a:spcAft>
            </a:pPr>
            <a:r>
              <a:rPr sz="2200">
                <a:solidFill>
                  <a:srgbClr val="1F2937"/>
                </a:solidFill>
                <a:latin typeface="Calibri"/>
              </a:rPr>
              <a:t>▸  Manbaga ko‘ra, bugun axloqiy ekspertiza xulosasisiz g‘arbdagi birorta mamlakatda odamda tajriba o‘tkazib bo‘lmaydi.</a:t>
            </a:r>
          </a:p>
          <a:p>
            <a:pPr>
              <a:spcAft>
                <a:spcPts val="1200"/>
              </a:spcAft>
            </a:pPr>
            <a:r>
              <a:rPr sz="2200">
                <a:solidFill>
                  <a:srgbClr val="1F2937"/>
                </a:solidFill>
                <a:latin typeface="Calibri"/>
              </a:rPr>
              <a:t>▸  O‘zbekistondagi Bioetika qo‘mitasi Konstitutsiya, sog‘liqni saqlash va dori vositalari qonunlari, Xelsinki deklaratsiyasi, Belmont qo‘llanmasi (manbada «Balmont»), GCP va JSST tavsiyalariga tayanadi.</a:t>
            </a:r>
          </a:p>
          <a:p>
            <a:pPr>
              <a:spcAft>
                <a:spcPts val="1200"/>
              </a:spcAft>
            </a:pPr>
            <a:r>
              <a:rPr sz="2200">
                <a:solidFill>
                  <a:srgbClr val="1F2937"/>
                </a:solidFill>
                <a:latin typeface="Calibri"/>
              </a:rPr>
              <a:t>▸  Savol: nega bunday sinov mumkin emas? Etika qo‘mitasi siyosiy, idoraviy va moliyaviy ta’sirdan mustaqil bo‘lishi shartmi?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Dalilli tibbiyot: Kokran va randomizatsiya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1972 yilda Kokran jamiyat dorilarning haqiqiy samaradorligidan bexabar ekanini ta’kidladi.</a:t>
            </a:r>
          </a:p>
          <a:p>
            <a:pPr>
              <a:spcAft>
                <a:spcPts val="800"/>
              </a:spcAft>
            </a:pPr>
            <a:r>
              <a:rPr sz="1800">
                <a:solidFill>
                  <a:srgbClr val="1F2937"/>
                </a:solidFill>
                <a:latin typeface="Calibri"/>
              </a:rPr>
              <a:t>▸  Randomizatsiya — bemorlarni tadqiqot va nazorat guruhiga tasodifiy usulda ajratish.</a:t>
            </a:r>
          </a:p>
          <a:p>
            <a:pPr>
              <a:spcAft>
                <a:spcPts val="800"/>
              </a:spcAft>
            </a:pPr>
            <a:r>
              <a:rPr sz="1800">
                <a:solidFill>
                  <a:srgbClr val="1F2937"/>
                </a:solidFill>
                <a:latin typeface="Calibri"/>
              </a:rPr>
              <a:t>▸  1992: Oksfordda birinchi Kokran markazi; 1993: kollokvium, 9 mamlakatdan 73 vakil.</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Ma’lumotlarni tizimli yig‘ish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Tahlil qilish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Ilmiy sharh yaratish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Yangi ma’lumot bilan yangilash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Kokran bazasida nashr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Tizimli sharh jarayoni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Dalilli tibbiyot tarqalishining asosiy sabablari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Ilmiy isbotlovchi tibbiyot (IIT): faqat samaradorligi isbotlangan usullar qo‘llanadi.</a:t>
            </a:r>
          </a:p>
          <a:p>
            <a:pPr>
              <a:spcAft>
                <a:spcPts val="800"/>
              </a:spcAft>
            </a:pPr>
            <a:r>
              <a:rPr sz="1800">
                <a:solidFill>
                  <a:srgbClr val="1F2937"/>
                </a:solidFill>
                <a:latin typeface="Calibri"/>
              </a:rPr>
              <a:t>▸  IIT atamasi Kanadadagi McMaster universiteti mutaxassislari tomonidan muomalaga kiritilgan.</a:t>
            </a:r>
          </a:p>
          <a:p>
            <a:pPr>
              <a:spcAft>
                <a:spcPts val="800"/>
              </a:spcAft>
            </a:pPr>
            <a:r>
              <a:rPr sz="1800">
                <a:solidFill>
                  <a:srgbClr val="1F2937"/>
                </a:solidFill>
                <a:latin typeface="Calibri"/>
              </a:rPr>
              <a:t>▸  Diqqat: yangi yoki qimmat dori ≠ samarali dori; samaradorlik faqat isbot bilan tasdiqlanadi.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930530"/>
                <a:gridCol w="3357444"/>
              </a:tblGrid>
              <a:tr h="411480">
                <a:tc>
                  <a:txBody>
                    <a:bodyPr/>
                    <a:lstStyle/>
                    <a:p>
                      <a:r>
                        <a:rPr sz="1400" b="1">
                          <a:solidFill>
                            <a:srgbClr val="FFFFFF"/>
                          </a:solidFill>
                        </a:rPr>
                        <a:t>Sabab</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Noaniq samaradorlik</a:t>
                      </a:r>
                    </a:p>
                  </a:txBody>
                  <a:tcPr marL="73152" marR="73152" marT="36576" marB="36576">
                    <a:solidFill>
                      <a:srgbClr val="E8EEF6"/>
                    </a:solidFill>
                  </a:tcPr>
                </a:tc>
                <a:tc>
                  <a:txBody>
                    <a:bodyPr/>
                    <a:lstStyle/>
                    <a:p>
                      <a:r>
                        <a:rPr sz="1300" b="0">
                          <a:solidFill>
                            <a:srgbClr val="1F2937"/>
                          </a:solidFill>
                        </a:rPr>
                        <a:t>Eski dorilar ham qat’iy tekshirilmagan</a:t>
                      </a:r>
                    </a:p>
                  </a:txBody>
                  <a:tcPr marL="73152" marR="73152" marT="36576" marB="36576">
                    <a:solidFill>
                      <a:srgbClr val="E8EEF6"/>
                    </a:solidFill>
                  </a:tcPr>
                </a:tc>
              </a:tr>
              <a:tr h="411480">
                <a:tc>
                  <a:txBody>
                    <a:bodyPr/>
                    <a:lstStyle/>
                    <a:p>
                      <a:r>
                        <a:rPr sz="1300" b="0">
                          <a:solidFill>
                            <a:srgbClr val="1F2937"/>
                          </a:solidFill>
                        </a:rPr>
                        <a:t>Sifatni oshirish</a:t>
                      </a:r>
                    </a:p>
                  </a:txBody>
                  <a:tcPr marL="73152" marR="73152" marT="36576" marB="36576">
                    <a:solidFill>
                      <a:srgbClr val="FFFFFF"/>
                    </a:solidFill>
                  </a:tcPr>
                </a:tc>
                <a:tc>
                  <a:txBody>
                    <a:bodyPr/>
                    <a:lstStyle/>
                    <a:p>
                      <a:r>
                        <a:rPr sz="1300" b="0">
                          <a:solidFill>
                            <a:srgbClr val="1F2937"/>
                          </a:solidFill>
                        </a:rPr>
                        <a:t>Asosli, ishonchli, tejamkor yechimlar</a:t>
                      </a:r>
                    </a:p>
                  </a:txBody>
                  <a:tcPr marL="73152" marR="73152" marT="36576" marB="36576">
                    <a:solidFill>
                      <a:srgbClr val="FFFFFF"/>
                    </a:solidFill>
                  </a:tcPr>
                </a:tc>
              </a:tr>
              <a:tr h="411480">
                <a:tc>
                  <a:txBody>
                    <a:bodyPr/>
                    <a:lstStyle/>
                    <a:p>
                      <a:r>
                        <a:rPr sz="1300" b="0">
                          <a:solidFill>
                            <a:srgbClr val="1F2937"/>
                          </a:solidFill>
                        </a:rPr>
                        <a:t>Axborot texnologiyalari</a:t>
                      </a:r>
                    </a:p>
                  </a:txBody>
                  <a:tcPr marL="73152" marR="73152" marT="36576" marB="36576">
                    <a:solidFill>
                      <a:srgbClr val="E8EEF6"/>
                    </a:solidFill>
                  </a:tcPr>
                </a:tc>
                <a:tc>
                  <a:txBody>
                    <a:bodyPr/>
                    <a:lstStyle/>
                    <a:p>
                      <a:r>
                        <a:rPr sz="1300" b="0">
                          <a:solidFill>
                            <a:srgbClr val="1F2937"/>
                          </a:solidFill>
                        </a:rPr>
                        <a:t>Kompyuter va IT — IIT vositasi</a:t>
                      </a:r>
                    </a:p>
                  </a:txBody>
                  <a:tcPr marL="73152" marR="73152" marT="36576" marB="36576">
                    <a:solidFill>
                      <a:srgbClr val="E8EEF6"/>
                    </a:solidFill>
                  </a:tcPr>
                </a:tc>
              </a:tr>
              <a:tr h="411480">
                <a:tc>
                  <a:txBody>
                    <a:bodyPr/>
                    <a:lstStyle/>
                    <a:p>
                      <a:r>
                        <a:rPr sz="1300" b="0">
                          <a:solidFill>
                            <a:srgbClr val="1F2937"/>
                          </a:solidFill>
                        </a:rPr>
                        <a:t>Yangi tafakkur</a:t>
                      </a:r>
                    </a:p>
                  </a:txBody>
                  <a:tcPr marL="73152" marR="73152" marT="36576" marB="36576">
                    <a:solidFill>
                      <a:srgbClr val="FFFFFF"/>
                    </a:solidFill>
                  </a:tcPr>
                </a:tc>
                <a:tc>
                  <a:txBody>
                    <a:bodyPr/>
                    <a:lstStyle/>
                    <a:p>
                      <a:r>
                        <a:rPr sz="1300" b="0">
                          <a:solidFill>
                            <a:srgbClr val="1F2937"/>
                          </a:solidFill>
                        </a:rPr>
                        <a:t>Tanqidiy tahlilga asoslangan yangi qarash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IIT tarqalish sabablari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Dalilli tibbiyotning iqtisodiy va axloqiy jihati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Preparatning yangiligi yoki narxining yuqoriligi uning samaradorligini kafolatlamaydi.</a:t>
            </a:r>
          </a:p>
          <a:p>
            <a:pPr>
              <a:spcAft>
                <a:spcPts val="1200"/>
              </a:spcAft>
            </a:pPr>
            <a:r>
              <a:rPr sz="2200">
                <a:solidFill>
                  <a:srgbClr val="1F2937"/>
                </a:solidFill>
                <a:latin typeface="Calibri"/>
              </a:rPr>
              <a:t>▸  Turli ma’lumotlarga ko‘ra, tibbiy aralashuvlarning atigi 30–50 foizi keng qamrovli klinik sinovdan o‘tgan.</a:t>
            </a:r>
          </a:p>
          <a:p>
            <a:pPr>
              <a:spcAft>
                <a:spcPts val="1200"/>
              </a:spcAft>
            </a:pPr>
            <a:r>
              <a:rPr sz="2200">
                <a:solidFill>
                  <a:srgbClr val="1F2937"/>
                </a:solidFill>
                <a:latin typeface="Calibri"/>
              </a:rPr>
              <a:t>▸  Shifokor ilmiy dalilga asoslangan ma’lumotni tavsifiy yoki yashirin reklamadan farqlay olishi shart.</a:t>
            </a:r>
          </a:p>
          <a:p>
            <a:pPr>
              <a:spcAft>
                <a:spcPts val="1200"/>
              </a:spcAft>
            </a:pPr>
            <a:r>
              <a:rPr sz="2200">
                <a:solidFill>
                  <a:srgbClr val="1F2937"/>
                </a:solidFill>
                <a:latin typeface="Calibri"/>
              </a:rPr>
              <a:t>▸  Diqqat: arzon, lekin samarasiz dori ham, o‘xshash natijali arzon dori turganda qimmat dori yozish ham xarajatni oshiradi.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Etika va huquq: farq va o‘zaro bog‘liqlik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Diqqat: «etika» tushunchasi «huquq»dan kengroq; ular bir xil narsa emas (etika ≠ huquq).</a:t>
            </a:r>
          </a:p>
          <a:p>
            <a:pPr>
              <a:spcAft>
                <a:spcPts val="800"/>
              </a:spcAft>
            </a:pPr>
            <a:r>
              <a:rPr sz="1800">
                <a:solidFill>
                  <a:srgbClr val="1F2937"/>
                </a:solidFill>
                <a:latin typeface="Calibri"/>
              </a:rPr>
              <a:t>▸  Biotibbiy tadqiqotlarda etika va huquq masalalari o‘zaro bog‘liq, shuning uchun birga ko‘riladi.</a:t>
            </a:r>
          </a:p>
          <a:p>
            <a:pPr>
              <a:spcAft>
                <a:spcPts val="800"/>
              </a:spcAft>
            </a:pPr>
            <a:r>
              <a:rPr sz="1800">
                <a:solidFill>
                  <a:srgbClr val="1F2937"/>
                </a:solidFill>
                <a:latin typeface="Calibri"/>
              </a:rPr>
              <a:t>▸  Shifokor–bemor munosabatlarining ayrim jihatlari hali huquqiy tartibga solinmagan.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335347"/>
                <a:gridCol w="1816072"/>
                <a:gridCol w="2136555"/>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Huquq</a:t>
                      </a:r>
                    </a:p>
                  </a:txBody>
                  <a:tcPr marL="73152" marR="73152" marT="36576" marB="36576">
                    <a:solidFill>
                      <a:srgbClr val="0B1F3A"/>
                    </a:solidFill>
                  </a:tcPr>
                </a:tc>
                <a:tc>
                  <a:txBody>
                    <a:bodyPr/>
                    <a:lstStyle/>
                    <a:p>
                      <a:r>
                        <a:rPr sz="1300" b="1">
                          <a:solidFill>
                            <a:srgbClr val="FFFFFF"/>
                          </a:solidFill>
                        </a:rPr>
                        <a:t>Etika</a:t>
                      </a:r>
                    </a:p>
                  </a:txBody>
                  <a:tcPr marL="73152" marR="73152" marT="36576" marB="36576">
                    <a:solidFill>
                      <a:srgbClr val="0B1F3A"/>
                    </a:solidFill>
                  </a:tcPr>
                </a:tc>
              </a:tr>
              <a:tr h="411480">
                <a:tc>
                  <a:txBody>
                    <a:bodyPr/>
                    <a:lstStyle/>
                    <a:p>
                      <a:r>
                        <a:rPr sz="1200" b="0">
                          <a:solidFill>
                            <a:srgbClr val="1F2937"/>
                          </a:solidFill>
                        </a:rPr>
                        <a:t>Nimani talab qiladi</a:t>
                      </a:r>
                    </a:p>
                  </a:txBody>
                  <a:tcPr marL="73152" marR="73152" marT="36576" marB="36576">
                    <a:solidFill>
                      <a:srgbClr val="E8EEF6"/>
                    </a:solidFill>
                  </a:tcPr>
                </a:tc>
                <a:tc>
                  <a:txBody>
                    <a:bodyPr/>
                    <a:lstStyle/>
                    <a:p>
                      <a:r>
                        <a:rPr sz="1200" b="0">
                          <a:solidFill>
                            <a:srgbClr val="1F2937"/>
                          </a:solidFill>
                        </a:rPr>
                        <a:t>Qoidalarga rioya qilishni</a:t>
                      </a:r>
                    </a:p>
                  </a:txBody>
                  <a:tcPr marL="73152" marR="73152" marT="36576" marB="36576">
                    <a:solidFill>
                      <a:srgbClr val="E8EEF6"/>
                    </a:solidFill>
                  </a:tcPr>
                </a:tc>
                <a:tc>
                  <a:txBody>
                    <a:bodyPr/>
                    <a:lstStyle/>
                    <a:p>
                      <a:r>
                        <a:rPr sz="1200" b="0">
                          <a:solidFill>
                            <a:srgbClr val="1F2937"/>
                          </a:solidFill>
                        </a:rPr>
                        <a:t>Halollik va beg‘arazlikni</a:t>
                      </a:r>
                    </a:p>
                  </a:txBody>
                  <a:tcPr marL="73152" marR="73152" marT="36576" marB="36576">
                    <a:solidFill>
                      <a:srgbClr val="E8EEF6"/>
                    </a:solidFill>
                  </a:tcPr>
                </a:tc>
              </a:tr>
              <a:tr h="411480">
                <a:tc>
                  <a:txBody>
                    <a:bodyPr/>
                    <a:lstStyle/>
                    <a:p>
                      <a:r>
                        <a:rPr sz="1200" b="0">
                          <a:solidFill>
                            <a:srgbClr val="1F2937"/>
                          </a:solidFill>
                        </a:rPr>
                        <a:t>Qonun bilan tartiblanishi</a:t>
                      </a:r>
                    </a:p>
                  </a:txBody>
                  <a:tcPr marL="73152" marR="73152" marT="36576" marB="36576">
                    <a:solidFill>
                      <a:srgbClr val="FFFFFF"/>
                    </a:solidFill>
                  </a:tcPr>
                </a:tc>
                <a:tc>
                  <a:txBody>
                    <a:bodyPr/>
                    <a:lstStyle/>
                    <a:p>
                      <a:r>
                        <a:rPr sz="1200" b="0">
                          <a:solidFill>
                            <a:srgbClr val="1F2937"/>
                          </a:solidFill>
                        </a:rPr>
                        <a:t>Qonun bilan mustahkamlanadi</a:t>
                      </a:r>
                    </a:p>
                  </a:txBody>
                  <a:tcPr marL="73152" marR="73152" marT="36576" marB="36576">
                    <a:solidFill>
                      <a:srgbClr val="FFFFFF"/>
                    </a:solidFill>
                  </a:tcPr>
                </a:tc>
                <a:tc>
                  <a:txBody>
                    <a:bodyPr/>
                    <a:lstStyle/>
                    <a:p>
                      <a:r>
                        <a:rPr sz="1200" b="0">
                          <a:solidFill>
                            <a:srgbClr val="1F2937"/>
                          </a:solidFill>
                        </a:rPr>
                        <a:t>Qonun bilan tartiblab bo‘lmaydi</a:t>
                      </a:r>
                    </a:p>
                  </a:txBody>
                  <a:tcPr marL="73152" marR="73152" marT="36576" marB="36576">
                    <a:solidFill>
                      <a:srgbClr val="FFFFFF"/>
                    </a:solidFill>
                  </a:tcPr>
                </a:tc>
              </a:tr>
              <a:tr h="411480">
                <a:tc>
                  <a:txBody>
                    <a:bodyPr/>
                    <a:lstStyle/>
                    <a:p>
                      <a:r>
                        <a:rPr sz="1200" b="0">
                          <a:solidFill>
                            <a:srgbClr val="1F2937"/>
                          </a:solidFill>
                        </a:rPr>
                        <a:t>Bemorga kafolati</a:t>
                      </a:r>
                    </a:p>
                  </a:txBody>
                  <a:tcPr marL="73152" marR="73152" marT="36576" marB="36576">
                    <a:solidFill>
                      <a:srgbClr val="E8EEF6"/>
                    </a:solidFill>
                  </a:tcPr>
                </a:tc>
                <a:tc>
                  <a:txBody>
                    <a:bodyPr/>
                    <a:lstStyle/>
                    <a:p>
                      <a:r>
                        <a:rPr sz="1200" b="0">
                          <a:solidFill>
                            <a:srgbClr val="1F2937"/>
                          </a:solidFill>
                        </a:rPr>
                        <a:t>Yuridik mustahkamlangan majburiyat</a:t>
                      </a:r>
                    </a:p>
                  </a:txBody>
                  <a:tcPr marL="73152" marR="73152" marT="36576" marB="36576">
                    <a:solidFill>
                      <a:srgbClr val="E8EEF6"/>
                    </a:solidFill>
                  </a:tcPr>
                </a:tc>
                <a:tc>
                  <a:txBody>
                    <a:bodyPr/>
                    <a:lstStyle/>
                    <a:p>
                      <a:r>
                        <a:rPr sz="1200" b="0">
                          <a:solidFill>
                            <a:srgbClr val="1F2937"/>
                          </a:solidFill>
                        </a:rPr>
                        <a:t>Yuridik tus olguncha xavfsizlik kafolati</a:t>
                      </a:r>
                    </a:p>
                  </a:txBody>
                  <a:tcPr marL="73152" marR="73152" marT="36576" marB="36576">
                    <a:solidFill>
                      <a:srgbClr val="E8EEF6"/>
                    </a:solidFill>
                  </a:tcPr>
                </a:tc>
              </a:tr>
              <a:tr h="411480">
                <a:tc>
                  <a:txBody>
                    <a:bodyPr/>
                    <a:lstStyle/>
                    <a:p>
                      <a:r>
                        <a:rPr sz="1200" b="0">
                          <a:solidFill>
                            <a:srgbClr val="1F2937"/>
                          </a:solidFill>
                        </a:rPr>
                        <a:t>Qamrovi</a:t>
                      </a:r>
                    </a:p>
                  </a:txBody>
                  <a:tcPr marL="73152" marR="73152" marT="36576" marB="36576">
                    <a:solidFill>
                      <a:srgbClr val="FFFFFF"/>
                    </a:solidFill>
                  </a:tcPr>
                </a:tc>
                <a:tc>
                  <a:txBody>
                    <a:bodyPr/>
                    <a:lstStyle/>
                    <a:p>
                      <a:r>
                        <a:rPr sz="1200" b="0">
                          <a:solidFill>
                            <a:srgbClr val="1F2937"/>
                          </a:solidFill>
                        </a:rPr>
                        <a:t>Torroq</a:t>
                      </a:r>
                    </a:p>
                  </a:txBody>
                  <a:tcPr marL="73152" marR="73152" marT="36576" marB="36576">
                    <a:solidFill>
                      <a:srgbClr val="FFFFFF"/>
                    </a:solidFill>
                  </a:tcPr>
                </a:tc>
                <a:tc>
                  <a:txBody>
                    <a:bodyPr/>
                    <a:lstStyle/>
                    <a:p>
                      <a:r>
                        <a:rPr sz="1200" b="0">
                          <a:solidFill>
                            <a:srgbClr val="1F2937"/>
                          </a:solidFill>
                        </a:rPr>
                        <a:t>Kengroq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 va etika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reklama, narx va samaradorlik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 internetdan topgan qimmat dorini yozib berishni so‘raydi, shifokor esa bunday ma’lumotni topishga vaqt yoki imkon topmagan.</a:t>
            </a:r>
          </a:p>
          <a:p>
            <a:pPr>
              <a:spcAft>
                <a:spcPts val="1200"/>
              </a:spcAft>
            </a:pPr>
            <a:r>
              <a:rPr sz="2200">
                <a:solidFill>
                  <a:srgbClr val="1F2937"/>
                </a:solidFill>
                <a:latin typeface="Calibri"/>
              </a:rPr>
              <a:t>▸  Manbaga ko‘ra, bundan xavfliroq vaziyatni tasavvur qilish qiyin.</a:t>
            </a:r>
          </a:p>
          <a:p>
            <a:pPr>
              <a:spcAft>
                <a:spcPts val="1200"/>
              </a:spcAft>
            </a:pPr>
            <a:r>
              <a:rPr sz="2200">
                <a:solidFill>
                  <a:srgbClr val="1F2937"/>
                </a:solidFill>
                <a:latin typeface="Calibri"/>
              </a:rPr>
              <a:t>▸  Xabardor rozilikda shifokor ma’lumot taklif qiladi va bemorga uni tanqidiy baholashda ko‘maklashadi.</a:t>
            </a:r>
          </a:p>
          <a:p>
            <a:pPr>
              <a:spcAft>
                <a:spcPts val="1200"/>
              </a:spcAft>
            </a:pPr>
            <a:r>
              <a:rPr sz="2200">
                <a:solidFill>
                  <a:srgbClr val="1F2937"/>
                </a:solidFill>
                <a:latin typeface="Calibri"/>
              </a:rPr>
              <a:t>▸  Savol: dalilli tibbiyot bu yerda nima beradi? Shifokor yangi ma’lumotni mustaqil izlab, tanqidiy baholab, amaliyotga joriy etishi lozim.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farmatsevtik bioetika va Kokran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Xelsinki deklaratsiyasi qachon va qayerda qabul qilingan? Javob: 1964-yil iyun, Xelsinki, Jahon vrachlar uyushmasining 18-Bosh assambleyasi.</a:t>
            </a:r>
          </a:p>
          <a:p>
            <a:pPr>
              <a:spcAft>
                <a:spcPts val="1200"/>
              </a:spcAft>
            </a:pPr>
            <a:r>
              <a:rPr sz="2200">
                <a:solidFill>
                  <a:srgbClr val="1F2937"/>
                </a:solidFill>
                <a:latin typeface="Calibri"/>
              </a:rPr>
              <a:t>▸  2-savol: Randomizatsiya nima? Javob: bemorlarni tadqiqot va nazorat guruhlariga tasodifiy usulda ajratish.</a:t>
            </a:r>
          </a:p>
          <a:p>
            <a:pPr>
              <a:spcAft>
                <a:spcPts val="1200"/>
              </a:spcAft>
            </a:pPr>
            <a:r>
              <a:rPr sz="2200">
                <a:solidFill>
                  <a:srgbClr val="1F2937"/>
                </a:solidFill>
                <a:latin typeface="Calibri"/>
              </a:rPr>
              <a:t>▸  3-savol: GCP nima? Javob: Good Clinical Practice, ya’ni «Muvofiq klinik amaliyot» – deklaratsiyadan keyin ishlab chiqilgan qoidalar.</a:t>
            </a:r>
          </a:p>
          <a:p>
            <a:pPr>
              <a:spcAft>
                <a:spcPts val="1200"/>
              </a:spcAft>
            </a:pPr>
            <a:r>
              <a:rPr sz="2200">
                <a:solidFill>
                  <a:srgbClr val="1F2937"/>
                </a:solidFill>
                <a:latin typeface="Calibri"/>
              </a:rPr>
              <a:t>▸  4-savol: Birinchi Kokran markazi qayerda ochilgan? Javob: Oksfordda, 1992-yil oktabrda. Diqqat: Kokran g‘oyasi (1972) ≠ markaz ochilishi (1992).</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2-bo‘lim «Farmatsiyadagi bioetika»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Hayvon tajribalari tarixining uch bosqichi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Ibn Sino dori ta’sirini o‘rganishning eng ishonchli yo‘li hayvonda tajriba deb hisoblagan.</a:t>
            </a:r>
          </a:p>
          <a:p>
            <a:pPr>
              <a:spcAft>
                <a:spcPts val="800"/>
              </a:spcAft>
            </a:pPr>
            <a:r>
              <a:rPr sz="1800">
                <a:solidFill>
                  <a:srgbClr val="1F2937"/>
                </a:solidFill>
                <a:latin typeface="Calibri"/>
              </a:rPr>
              <a:t>▸  Ibn Zuhr yangi dorilarni odamlarda qo‘llashdan oldin hayvonlarda sinab ko‘rgan.</a:t>
            </a:r>
          </a:p>
          <a:p>
            <a:pPr>
              <a:spcAft>
                <a:spcPts val="800"/>
              </a:spcAft>
            </a:pPr>
            <a:r>
              <a:rPr sz="1800">
                <a:solidFill>
                  <a:srgbClr val="1F2937"/>
                </a:solidFill>
                <a:latin typeface="Calibri"/>
              </a:rPr>
              <a:t>▸  Vezaliy narkozsiz ishlagan: og‘riq qoldiruvchi dorilar XIX asr boshida ochilgan.</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159008"/>
                <a:gridCol w="1593636"/>
                <a:gridCol w="2535330"/>
              </a:tblGrid>
              <a:tr h="411480">
                <a:tc>
                  <a:txBody>
                    <a:bodyPr/>
                    <a:lstStyle/>
                    <a:p>
                      <a:r>
                        <a:rPr sz="1300" b="1">
                          <a:solidFill>
                            <a:srgbClr val="FFFFFF"/>
                          </a:solidFill>
                        </a:rPr>
                        <a:t>Bosqich</a:t>
                      </a:r>
                    </a:p>
                  </a:txBody>
                  <a:tcPr marL="73152" marR="73152" marT="36576" marB="36576">
                    <a:solidFill>
                      <a:srgbClr val="0B1F3A"/>
                    </a:solidFill>
                  </a:tcPr>
                </a:tc>
                <a:tc>
                  <a:txBody>
                    <a:bodyPr/>
                    <a:lstStyle/>
                    <a:p>
                      <a:r>
                        <a:rPr sz="1300" b="1">
                          <a:solidFill>
                            <a:srgbClr val="FFFFFF"/>
                          </a:solidFill>
                        </a:rPr>
                        <a:t>Davr</a:t>
                      </a:r>
                    </a:p>
                  </a:txBody>
                  <a:tcPr marL="73152" marR="73152" marT="36576" marB="36576">
                    <a:solidFill>
                      <a:srgbClr val="0B1F3A"/>
                    </a:solidFill>
                  </a:tcPr>
                </a:tc>
                <a:tc>
                  <a:txBody>
                    <a:bodyPr/>
                    <a:lstStyle/>
                    <a:p>
                      <a:r>
                        <a:rPr sz="1300" b="1">
                          <a:solidFill>
                            <a:srgbClr val="FFFFFF"/>
                          </a:solidFill>
                        </a:rPr>
                        <a:t>Asosiy belgi</a:t>
                      </a:r>
                    </a:p>
                  </a:txBody>
                  <a:tcPr marL="73152" marR="73152" marT="36576" marB="36576">
                    <a:solidFill>
                      <a:srgbClr val="0B1F3A"/>
                    </a:solidFill>
                  </a:tcPr>
                </a:tc>
              </a:tr>
              <a:tr h="411480">
                <a:tc>
                  <a:txBody>
                    <a:bodyPr/>
                    <a:lstStyle/>
                    <a:p>
                      <a:r>
                        <a:rPr sz="1200" b="0">
                          <a:solidFill>
                            <a:srgbClr val="1F2937"/>
                          </a:solidFill>
                        </a:rPr>
                        <a:t>1-bosqich</a:t>
                      </a:r>
                    </a:p>
                  </a:txBody>
                  <a:tcPr marL="73152" marR="73152" marT="36576" marB="36576">
                    <a:solidFill>
                      <a:srgbClr val="E8EEF6"/>
                    </a:solidFill>
                  </a:tcPr>
                </a:tc>
                <a:tc>
                  <a:txBody>
                    <a:bodyPr/>
                    <a:lstStyle/>
                    <a:p>
                      <a:r>
                        <a:rPr sz="1200" b="0">
                          <a:solidFill>
                            <a:srgbClr val="1F2937"/>
                          </a:solidFill>
                        </a:rPr>
                        <a:t>XVII–XVIII asrlar</a:t>
                      </a:r>
                    </a:p>
                  </a:txBody>
                  <a:tcPr marL="73152" marR="73152" marT="36576" marB="36576">
                    <a:solidFill>
                      <a:srgbClr val="E8EEF6"/>
                    </a:solidFill>
                  </a:tcPr>
                </a:tc>
                <a:tc>
                  <a:txBody>
                    <a:bodyPr/>
                    <a:lstStyle/>
                    <a:p>
                      <a:r>
                        <a:rPr sz="1200" b="0">
                          <a:solidFill>
                            <a:srgbClr val="1F2937"/>
                          </a:solidFill>
                        </a:rPr>
                        <a:t>Vezaliy; narkozsiz vivisektsiya</a:t>
                      </a:r>
                    </a:p>
                  </a:txBody>
                  <a:tcPr marL="73152" marR="73152" marT="36576" marB="36576">
                    <a:solidFill>
                      <a:srgbClr val="E8EEF6"/>
                    </a:solidFill>
                  </a:tcPr>
                </a:tc>
              </a:tr>
              <a:tr h="411480">
                <a:tc>
                  <a:txBody>
                    <a:bodyPr/>
                    <a:lstStyle/>
                    <a:p>
                      <a:r>
                        <a:rPr sz="1200" b="0">
                          <a:solidFill>
                            <a:srgbClr val="1F2937"/>
                          </a:solidFill>
                        </a:rPr>
                        <a:t>2-bosqich</a:t>
                      </a:r>
                    </a:p>
                  </a:txBody>
                  <a:tcPr marL="73152" marR="73152" marT="36576" marB="36576">
                    <a:solidFill>
                      <a:srgbClr val="FFFFFF"/>
                    </a:solidFill>
                  </a:tcPr>
                </a:tc>
                <a:tc>
                  <a:txBody>
                    <a:bodyPr/>
                    <a:lstStyle/>
                    <a:p>
                      <a:r>
                        <a:rPr sz="1200" b="0">
                          <a:solidFill>
                            <a:srgbClr val="1F2937"/>
                          </a:solidFill>
                        </a:rPr>
                        <a:t>~100 yil, XX asr</a:t>
                      </a:r>
                    </a:p>
                  </a:txBody>
                  <a:tcPr marL="73152" marR="73152" marT="36576" marB="36576">
                    <a:solidFill>
                      <a:srgbClr val="FFFFFF"/>
                    </a:solidFill>
                  </a:tcPr>
                </a:tc>
                <a:tc>
                  <a:txBody>
                    <a:bodyPr/>
                    <a:lstStyle/>
                    <a:p>
                      <a:r>
                        <a:rPr sz="1200" b="0">
                          <a:solidFill>
                            <a:srgbClr val="1F2937"/>
                          </a:solidFill>
                        </a:rPr>
                        <a:t>Jamoat noroziligi; 1878 yil qonun</a:t>
                      </a:r>
                    </a:p>
                  </a:txBody>
                  <a:tcPr marL="73152" marR="73152" marT="36576" marB="36576">
                    <a:solidFill>
                      <a:srgbClr val="FFFFFF"/>
                    </a:solidFill>
                  </a:tcPr>
                </a:tc>
              </a:tr>
              <a:tr h="411480">
                <a:tc>
                  <a:txBody>
                    <a:bodyPr/>
                    <a:lstStyle/>
                    <a:p>
                      <a:r>
                        <a:rPr sz="1200" b="0">
                          <a:solidFill>
                            <a:srgbClr val="1F2937"/>
                          </a:solidFill>
                        </a:rPr>
                        <a:t>3-bosqich</a:t>
                      </a:r>
                    </a:p>
                  </a:txBody>
                  <a:tcPr marL="73152" marR="73152" marT="36576" marB="36576">
                    <a:solidFill>
                      <a:srgbClr val="E8EEF6"/>
                    </a:solidFill>
                  </a:tcPr>
                </a:tc>
                <a:tc>
                  <a:txBody>
                    <a:bodyPr/>
                    <a:lstStyle/>
                    <a:p>
                      <a:r>
                        <a:rPr sz="1200" b="0">
                          <a:solidFill>
                            <a:srgbClr val="1F2937"/>
                          </a:solidFill>
                        </a:rPr>
                        <a:t>XX asr, 1920-yillardan</a:t>
                      </a:r>
                    </a:p>
                  </a:txBody>
                  <a:tcPr marL="73152" marR="73152" marT="36576" marB="36576">
                    <a:solidFill>
                      <a:srgbClr val="E8EEF6"/>
                    </a:solidFill>
                  </a:tcPr>
                </a:tc>
                <a:tc>
                  <a:txBody>
                    <a:bodyPr/>
                    <a:lstStyle/>
                    <a:p>
                      <a:r>
                        <a:rPr sz="1200" b="0">
                          <a:solidFill>
                            <a:srgbClr val="1F2937"/>
                          </a:solidFill>
                        </a:rPr>
                        <a:t>Ta’limda hayvon; xalqaro tavsiyalar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bosqich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1.2-bo‘lim «Biomeditsina eksperimenti tarixiga qisqacha ekskurs»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Vivisektsiya va jamoatchilik munosabati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Og‘riqsizlantiruvchi dorilar XIX asr boshida ochilgan, shuning uchun vivisektsiya o‘ta shafqatsiz bo‘lgan.</a:t>
            </a:r>
          </a:p>
          <a:p>
            <a:pPr>
              <a:spcAft>
                <a:spcPts val="1200"/>
              </a:spcAft>
            </a:pPr>
            <a:r>
              <a:rPr sz="2200">
                <a:solidFill>
                  <a:srgbClr val="1F2937"/>
                </a:solidFill>
                <a:latin typeface="Calibri"/>
              </a:rPr>
              <a:t>▸  Qiynoqqa solish odatiy hol bo‘lgani uchun jamoat vivisektsiya shafqatsizligiga amalda fikr bildirmagan.</a:t>
            </a:r>
          </a:p>
          <a:p>
            <a:pPr>
              <a:spcAft>
                <a:spcPts val="1200"/>
              </a:spcAft>
            </a:pPr>
            <a:r>
              <a:rPr sz="2200">
                <a:solidFill>
                  <a:srgbClr val="1F2937"/>
                </a:solidFill>
                <a:latin typeface="Calibri"/>
              </a:rPr>
              <a:t>▸  Darvin ta’limoti insonning hayvonlarga qarindoshligini anglatdi; 1878-yilda Buyuk Britaniyada hayvonlarni himoya qiluvchi qonun qabul qilindi.</a:t>
            </a:r>
          </a:p>
          <a:p>
            <a:pPr>
              <a:spcAft>
                <a:spcPts val="1200"/>
              </a:spcAft>
            </a:pPr>
            <a:r>
              <a:rPr sz="2200">
                <a:solidFill>
                  <a:srgbClr val="1F2937"/>
                </a:solidFill>
                <a:latin typeface="Calibri"/>
              </a:rPr>
              <a:t>▸  Klod Bernar itlar, quyonlar va kaptarlarni maxsus pechlarga solib, yuqori harorat ta’sirini o‘rgangan; hayvonlar 90–100 °C da nobud bo‘lgan.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1.2-bo‘lim «Biomeditsina eksperimenti tarixiga qisqacha ekskurs»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XX asr: hujjatlar va xalqaro tavsiyalar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XX asrda shifokorlar ham hayvon tajribalarini cheklash harakatiga qo‘shildi va xalqaro tavsiyalar qabul qilindi.</a:t>
            </a:r>
          </a:p>
          <a:p>
            <a:pPr>
              <a:spcAft>
                <a:spcPts val="800"/>
              </a:spcAft>
            </a:pPr>
            <a:r>
              <a:rPr sz="1800">
                <a:solidFill>
                  <a:srgbClr val="1F2937"/>
                </a:solidFill>
                <a:latin typeface="Calibri"/>
              </a:rPr>
              <a:t>▸  1981-yilgi kodeksga ko‘ra, talaba umurtqali hayvonda faqat og‘riqsiz va odam sog‘lig‘iga xavfsiz tajriba o‘tkazishi mumkin.</a:t>
            </a:r>
          </a:p>
          <a:p>
            <a:pPr>
              <a:spcAft>
                <a:spcPts val="800"/>
              </a:spcAft>
            </a:pPr>
            <a:r>
              <a:rPr sz="1800">
                <a:solidFill>
                  <a:srgbClr val="1F2937"/>
                </a:solidFill>
                <a:latin typeface="Calibri"/>
              </a:rPr>
              <a:t>▸  Qonun va jamoat fikriga qaramay, bugun ham shafqatsiz tajribalar olib borilmoqda.</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29753"/>
                <a:gridCol w="2033836"/>
                <a:gridCol w="2324384"/>
              </a:tblGrid>
              <a:tr h="411480">
                <a:tc>
                  <a:txBody>
                    <a:bodyPr/>
                    <a:lstStyle/>
                    <a:p>
                      <a:r>
                        <a:rPr sz="1300" b="1">
                          <a:solidFill>
                            <a:srgbClr val="FFFFFF"/>
                          </a:solidFill>
                        </a:rPr>
                        <a:t>Yil</a:t>
                      </a:r>
                    </a:p>
                  </a:txBody>
                  <a:tcPr marL="73152" marR="73152" marT="36576" marB="36576">
                    <a:solidFill>
                      <a:srgbClr val="0B1F3A"/>
                    </a:solidFill>
                  </a:tcPr>
                </a:tc>
                <a:tc>
                  <a:txBody>
                    <a:bodyPr/>
                    <a:lstStyle/>
                    <a:p>
                      <a:r>
                        <a:rPr sz="1300" b="1">
                          <a:solidFill>
                            <a:srgbClr val="FFFFFF"/>
                          </a:solidFill>
                        </a:rPr>
                        <a:t>Hujjat/hodisa</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r>
              <a:tr h="411480">
                <a:tc>
                  <a:txBody>
                    <a:bodyPr/>
                    <a:lstStyle/>
                    <a:p>
                      <a:r>
                        <a:rPr sz="1200" b="0">
                          <a:solidFill>
                            <a:srgbClr val="1F2937"/>
                          </a:solidFill>
                        </a:rPr>
                        <a:t>1920-yillar</a:t>
                      </a:r>
                    </a:p>
                  </a:txBody>
                  <a:tcPr marL="73152" marR="73152" marT="36576" marB="36576">
                    <a:solidFill>
                      <a:srgbClr val="E8EEF6"/>
                    </a:solidFill>
                  </a:tcPr>
                </a:tc>
                <a:tc>
                  <a:txBody>
                    <a:bodyPr/>
                    <a:lstStyle/>
                    <a:p>
                      <a:r>
                        <a:rPr sz="1200" b="0">
                          <a:solidFill>
                            <a:srgbClr val="1F2937"/>
                          </a:solidFill>
                        </a:rPr>
                        <a:t>Hayvonni yorish o‘quv dasturida</a:t>
                      </a:r>
                    </a:p>
                  </a:txBody>
                  <a:tcPr marL="73152" marR="73152" marT="36576" marB="36576">
                    <a:solidFill>
                      <a:srgbClr val="E8EEF6"/>
                    </a:solidFill>
                  </a:tcPr>
                </a:tc>
                <a:tc>
                  <a:txBody>
                    <a:bodyPr/>
                    <a:lstStyle/>
                    <a:p>
                      <a:r>
                        <a:rPr sz="1200" b="0">
                          <a:solidFill>
                            <a:srgbClr val="1F2937"/>
                          </a:solidFill>
                        </a:rPr>
                        <a:t>Vivisektsiya o‘qitishning bir qismi bo‘ldi</a:t>
                      </a:r>
                    </a:p>
                  </a:txBody>
                  <a:tcPr marL="73152" marR="73152" marT="36576" marB="36576">
                    <a:solidFill>
                      <a:srgbClr val="E8EEF6"/>
                    </a:solidFill>
                  </a:tcPr>
                </a:tc>
              </a:tr>
              <a:tr h="411480">
                <a:tc>
                  <a:txBody>
                    <a:bodyPr/>
                    <a:lstStyle/>
                    <a:p>
                      <a:r>
                        <a:rPr sz="1200" b="0">
                          <a:solidFill>
                            <a:srgbClr val="1F2937"/>
                          </a:solidFill>
                        </a:rPr>
                        <a:t>1981</a:t>
                      </a:r>
                    </a:p>
                  </a:txBody>
                  <a:tcPr marL="73152" marR="73152" marT="36576" marB="36576">
                    <a:solidFill>
                      <a:srgbClr val="FFFFFF"/>
                    </a:solidFill>
                  </a:tcPr>
                </a:tc>
                <a:tc>
                  <a:txBody>
                    <a:bodyPr/>
                    <a:lstStyle/>
                    <a:p>
                      <a:r>
                        <a:rPr sz="1200" b="0">
                          <a:solidFill>
                            <a:srgbClr val="1F2937"/>
                          </a:solidFill>
                        </a:rPr>
                        <a:t>O‘quv amaliyot kodeksi (NSTA)</a:t>
                      </a:r>
                    </a:p>
                  </a:txBody>
                  <a:tcPr marL="73152" marR="73152" marT="36576" marB="36576">
                    <a:solidFill>
                      <a:srgbClr val="FFFFFF"/>
                    </a:solidFill>
                  </a:tcPr>
                </a:tc>
                <a:tc>
                  <a:txBody>
                    <a:bodyPr/>
                    <a:lstStyle/>
                    <a:p>
                      <a:r>
                        <a:rPr sz="1200" b="0">
                          <a:solidFill>
                            <a:srgbClr val="1F2937"/>
                          </a:solidFill>
                        </a:rPr>
                        <a:t>Og‘riq beradigan tajribaga cheklov</a:t>
                      </a:r>
                    </a:p>
                  </a:txBody>
                  <a:tcPr marL="73152" marR="73152" marT="36576" marB="36576">
                    <a:solidFill>
                      <a:srgbClr val="FFFFFF"/>
                    </a:solidFill>
                  </a:tcPr>
                </a:tc>
              </a:tr>
              <a:tr h="411480">
                <a:tc>
                  <a:txBody>
                    <a:bodyPr/>
                    <a:lstStyle/>
                    <a:p>
                      <a:r>
                        <a:rPr sz="1200" b="0">
                          <a:solidFill>
                            <a:srgbClr val="1F2937"/>
                          </a:solidFill>
                        </a:rPr>
                        <a:t>1984</a:t>
                      </a:r>
                    </a:p>
                  </a:txBody>
                  <a:tcPr marL="73152" marR="73152" marT="36576" marB="36576">
                    <a:solidFill>
                      <a:srgbClr val="E8EEF6"/>
                    </a:solidFill>
                  </a:tcPr>
                </a:tc>
                <a:tc>
                  <a:txBody>
                    <a:bodyPr/>
                    <a:lstStyle/>
                    <a:p>
                      <a:r>
                        <a:rPr sz="1200" b="0">
                          <a:solidFill>
                            <a:srgbClr val="1F2937"/>
                          </a:solidFill>
                        </a:rPr>
                        <a:t>Yevropa Kengashi maslahat qo‘mitasi</a:t>
                      </a:r>
                    </a:p>
                  </a:txBody>
                  <a:tcPr marL="73152" marR="73152" marT="36576" marB="36576">
                    <a:solidFill>
                      <a:srgbClr val="E8EEF6"/>
                    </a:solidFill>
                  </a:tcPr>
                </a:tc>
                <a:tc>
                  <a:txBody>
                    <a:bodyPr/>
                    <a:lstStyle/>
                    <a:p>
                      <a:r>
                        <a:rPr sz="1200" b="0">
                          <a:solidFill>
                            <a:srgbClr val="1F2937"/>
                          </a:solidFill>
                        </a:rPr>
                        <a:t>Xalqaro tavsiyalarni tasdiqladi</a:t>
                      </a:r>
                    </a:p>
                  </a:txBody>
                  <a:tcPr marL="73152" marR="73152" marT="36576" marB="36576">
                    <a:solidFill>
                      <a:srgbClr val="E8EEF6"/>
                    </a:solidFill>
                  </a:tcPr>
                </a:tc>
              </a:tr>
              <a:tr h="411480">
                <a:tc>
                  <a:txBody>
                    <a:bodyPr/>
                    <a:lstStyle/>
                    <a:p>
                      <a:r>
                        <a:rPr sz="1200" b="0">
                          <a:solidFill>
                            <a:srgbClr val="1F2937"/>
                          </a:solidFill>
                        </a:rPr>
                        <a:t>1986</a:t>
                      </a:r>
                    </a:p>
                  </a:txBody>
                  <a:tcPr marL="73152" marR="73152" marT="36576" marB="36576">
                    <a:solidFill>
                      <a:srgbClr val="FFFFFF"/>
                    </a:solidFill>
                  </a:tcPr>
                </a:tc>
                <a:tc>
                  <a:txBody>
                    <a:bodyPr/>
                    <a:lstStyle/>
                    <a:p>
                      <a:r>
                        <a:rPr sz="1200" b="0">
                          <a:solidFill>
                            <a:srgbClr val="1F2937"/>
                          </a:solidFill>
                        </a:rPr>
                        <a:t>Strasburg konvensiyasi</a:t>
                      </a:r>
                    </a:p>
                  </a:txBody>
                  <a:tcPr marL="73152" marR="73152" marT="36576" marB="36576">
                    <a:solidFill>
                      <a:srgbClr val="FFFFFF"/>
                    </a:solidFill>
                  </a:tcPr>
                </a:tc>
                <a:tc>
                  <a:txBody>
                    <a:bodyPr/>
                    <a:lstStyle/>
                    <a:p>
                      <a:r>
                        <a:rPr sz="1200" b="0">
                          <a:solidFill>
                            <a:srgbClr val="1F2937"/>
                          </a:solidFill>
                        </a:rPr>
                        <a:t>Umurtqali hayvonlarni himoya qilish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Vaqt chizig‘i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1.2-bo‘lim «Biomeditsina eksperimenti tarixiga qisqacha ekskurs»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Hayvon tajribalari nega zarur deb hisoblanadi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Genetika, biokimyo, fiziologiya, farmakologiya, toksikologiya va gigiena hayvon tajribasiz tadqiq qilinmas edi deb hisoblanadi.</a:t>
            </a:r>
          </a:p>
          <a:p>
            <a:pPr>
              <a:spcAft>
                <a:spcPts val="1200"/>
              </a:spcAft>
            </a:pPr>
            <a:r>
              <a:rPr sz="2200">
                <a:solidFill>
                  <a:srgbClr val="1F2937"/>
                </a:solidFill>
                <a:latin typeface="Calibri"/>
              </a:rPr>
              <a:t>▸  Pasteur, Bernar, Majandi, Sechenov, Pavlov kabi olimlarning kashfiyotlari hayvon tajribalariga tayangan.</a:t>
            </a:r>
          </a:p>
          <a:p>
            <a:pPr>
              <a:spcAft>
                <a:spcPts val="1200"/>
              </a:spcAft>
            </a:pPr>
            <a:r>
              <a:rPr sz="2200">
                <a:solidFill>
                  <a:srgbClr val="1F2937"/>
                </a:solidFill>
                <a:latin typeface="Calibri"/>
              </a:rPr>
              <a:t>▸  Zahar, jarohat, ionli nurlanish va yuqumli qo‘zg‘atuvchilar ta’sirini odamda sinab bo‘lmaydi, shuning uchun modelni hayvonda yaratishadi.</a:t>
            </a:r>
          </a:p>
          <a:p>
            <a:pPr>
              <a:spcAft>
                <a:spcPts val="1200"/>
              </a:spcAft>
            </a:pPr>
            <a:r>
              <a:rPr sz="2200">
                <a:solidFill>
                  <a:srgbClr val="1F2937"/>
                </a:solidFill>
                <a:latin typeface="Calibri"/>
              </a:rPr>
              <a:t>▸  Ibn Sino dori ta’sirini o‘rganishning eng ishonchli yo‘li hayvonlarda tajriba o‘tkazish deb hisoblagan.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1.2-bo‘lim «Biomeditsina eksperimenti tarixiga qisqacha ekskurs»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Hayvon tajribalariga qarshi dalillar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Fox (AQSh) fikricha, vivisektsiya kasallikni oldini olishga o‘tishga halaqit beradi, modellar esa klinik holatni yomon aks ettiradi.</a:t>
            </a:r>
          </a:p>
          <a:p>
            <a:pPr>
              <a:spcAft>
                <a:spcPts val="1200"/>
              </a:spcAft>
            </a:pPr>
            <a:r>
              <a:rPr sz="2200">
                <a:solidFill>
                  <a:srgbClr val="1F2937"/>
                </a:solidFill>
                <a:latin typeface="Calibri"/>
              </a:rPr>
              <a:t>▸  Inglis fikricha, yuqumli kasallik o‘limi sanitariya va turmush sharoiti yaxshilangani tufayli kamaygan; Britaniyada 92 foizgacha pasaygan deyiladi. (?)</a:t>
            </a:r>
          </a:p>
          <a:p>
            <a:pPr>
              <a:spcAft>
                <a:spcPts val="1200"/>
              </a:spcAft>
            </a:pPr>
            <a:r>
              <a:rPr sz="2200">
                <a:solidFill>
                  <a:srgbClr val="1F2937"/>
                </a:solidFill>
                <a:latin typeface="Calibri"/>
              </a:rPr>
              <a:t>▸  Klofibrat sinovi (1964–1972, Jahon sog‘liqni saqlash tashkiloti, 10 ming erkak): umumiy o‘lim dori olmaganlarga qaraganda 37 foizga yuqori chiqdi.</a:t>
            </a:r>
          </a:p>
          <a:p>
            <a:pPr>
              <a:spcAft>
                <a:spcPts val="1200"/>
              </a:spcAft>
            </a:pPr>
            <a:r>
              <a:rPr sz="2200">
                <a:solidFill>
                  <a:srgbClr val="1F2937"/>
                </a:solidFill>
                <a:latin typeface="Calibri"/>
              </a:rPr>
              <a:t>▸  Coleman (Buyuk Britaniya) hayvon tajribasi natijasida erishilgan muhim yutuqni eslay olmasligini yozadi. Bu tanqidchilar pozitsiyasi.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2.1-bo‘lim «Hayvonlar qo‘llanilishiga qarshi dalillar»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Tur farqlari: dori ta’siri nega o‘zgaradi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Talidamid hayvon tajribasida teratogen bo‘lmadi; xavfi faqat odamda va kam ishlatiladigan hayvonlarda chiqdi.</a:t>
            </a:r>
          </a:p>
          <a:p>
            <a:pPr>
              <a:spcAft>
                <a:spcPts val="800"/>
              </a:spcAft>
            </a:pPr>
            <a:r>
              <a:rPr sz="1800">
                <a:solidFill>
                  <a:srgbClr val="1F2937"/>
                </a:solidFill>
                <a:latin typeface="Calibri"/>
              </a:rPr>
              <a:t>▸  Fenilbutazon metabolizmi odamda 72 soat, kuchuk va kalamushda atigi 6 soat davom etadi.</a:t>
            </a:r>
          </a:p>
          <a:p>
            <a:pPr>
              <a:spcAft>
                <a:spcPts val="800"/>
              </a:spcAft>
            </a:pPr>
            <a:r>
              <a:rPr sz="1800">
                <a:solidFill>
                  <a:srgbClr val="1F2937"/>
                </a:solidFill>
                <a:latin typeface="Calibri"/>
              </a:rPr>
              <a:t>▸  23 ta birikma solishtirilganda faqat to‘rttasida odam va kalamush metabolizmi bir xil kechdi.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098800"/>
                <a:gridCol w="1716875"/>
                <a:gridCol w="2472300"/>
              </a:tblGrid>
              <a:tr h="411480">
                <a:tc>
                  <a:txBody>
                    <a:bodyPr/>
                    <a:lstStyle/>
                    <a:p>
                      <a:r>
                        <a:rPr sz="1300" b="1">
                          <a:solidFill>
                            <a:srgbClr val="FFFFFF"/>
                          </a:solidFill>
                        </a:rPr>
                        <a:t>Modda</a:t>
                      </a:r>
                    </a:p>
                  </a:txBody>
                  <a:tcPr marL="73152" marR="73152" marT="36576" marB="36576">
                    <a:solidFill>
                      <a:srgbClr val="0B1F3A"/>
                    </a:solidFill>
                  </a:tcPr>
                </a:tc>
                <a:tc>
                  <a:txBody>
                    <a:bodyPr/>
                    <a:lstStyle/>
                    <a:p>
                      <a:r>
                        <a:rPr sz="1300" b="1">
                          <a:solidFill>
                            <a:srgbClr val="FFFFFF"/>
                          </a:solidFill>
                        </a:rPr>
                        <a:t>Odamda</a:t>
                      </a:r>
                    </a:p>
                  </a:txBody>
                  <a:tcPr marL="73152" marR="73152" marT="36576" marB="36576">
                    <a:solidFill>
                      <a:srgbClr val="0B1F3A"/>
                    </a:solidFill>
                  </a:tcPr>
                </a:tc>
                <a:tc>
                  <a:txBody>
                    <a:bodyPr/>
                    <a:lstStyle/>
                    <a:p>
                      <a:r>
                        <a:rPr sz="1300" b="1">
                          <a:solidFill>
                            <a:srgbClr val="FFFFFF"/>
                          </a:solidFill>
                        </a:rPr>
                        <a:t>Hayvonda</a:t>
                      </a:r>
                    </a:p>
                  </a:txBody>
                  <a:tcPr marL="73152" marR="73152" marT="36576" marB="36576">
                    <a:solidFill>
                      <a:srgbClr val="0B1F3A"/>
                    </a:solidFill>
                  </a:tcPr>
                </a:tc>
              </a:tr>
              <a:tr h="411480">
                <a:tc>
                  <a:txBody>
                    <a:bodyPr/>
                    <a:lstStyle/>
                    <a:p>
                      <a:r>
                        <a:rPr sz="1200" b="0">
                          <a:solidFill>
                            <a:srgbClr val="1F2937"/>
                          </a:solidFill>
                        </a:rPr>
                        <a:t>Talidamid</a:t>
                      </a:r>
                    </a:p>
                  </a:txBody>
                  <a:tcPr marL="73152" marR="73152" marT="36576" marB="36576">
                    <a:solidFill>
                      <a:srgbClr val="E8EEF6"/>
                    </a:solidFill>
                  </a:tcPr>
                </a:tc>
                <a:tc>
                  <a:txBody>
                    <a:bodyPr/>
                    <a:lstStyle/>
                    <a:p>
                      <a:r>
                        <a:rPr sz="1200" b="0">
                          <a:solidFill>
                            <a:srgbClr val="1F2937"/>
                          </a:solidFill>
                        </a:rPr>
                        <a:t>Homilaga teratogen ta’sir</a:t>
                      </a:r>
                    </a:p>
                  </a:txBody>
                  <a:tcPr marL="73152" marR="73152" marT="36576" marB="36576">
                    <a:solidFill>
                      <a:srgbClr val="E8EEF6"/>
                    </a:solidFill>
                  </a:tcPr>
                </a:tc>
                <a:tc>
                  <a:txBody>
                    <a:bodyPr/>
                    <a:lstStyle/>
                    <a:p>
                      <a:r>
                        <a:rPr sz="1200" b="0">
                          <a:solidFill>
                            <a:srgbClr val="1F2937"/>
                          </a:solidFill>
                        </a:rPr>
                        <a:t>Kemiruvchilarga zararsiz</a:t>
                      </a:r>
                    </a:p>
                  </a:txBody>
                  <a:tcPr marL="73152" marR="73152" marT="36576" marB="36576">
                    <a:solidFill>
                      <a:srgbClr val="E8EEF6"/>
                    </a:solidFill>
                  </a:tcPr>
                </a:tc>
              </a:tr>
              <a:tr h="411480">
                <a:tc>
                  <a:txBody>
                    <a:bodyPr/>
                    <a:lstStyle/>
                    <a:p>
                      <a:r>
                        <a:rPr sz="1200" b="0">
                          <a:solidFill>
                            <a:srgbClr val="1F2937"/>
                          </a:solidFill>
                        </a:rPr>
                        <a:t>Morfin</a:t>
                      </a:r>
                    </a:p>
                  </a:txBody>
                  <a:tcPr marL="73152" marR="73152" marT="36576" marB="36576">
                    <a:solidFill>
                      <a:srgbClr val="FFFFFF"/>
                    </a:solidFill>
                  </a:tcPr>
                </a:tc>
                <a:tc>
                  <a:txBody>
                    <a:bodyPr/>
                    <a:lstStyle/>
                    <a:p>
                      <a:r>
                        <a:rPr sz="1200" b="0">
                          <a:solidFill>
                            <a:srgbClr val="1F2937"/>
                          </a:solidFill>
                        </a:rPr>
                        <a:t>Tinchlantiradi</a:t>
                      </a:r>
                    </a:p>
                  </a:txBody>
                  <a:tcPr marL="73152" marR="73152" marT="36576" marB="36576">
                    <a:solidFill>
                      <a:srgbClr val="FFFFFF"/>
                    </a:solidFill>
                  </a:tcPr>
                </a:tc>
                <a:tc>
                  <a:txBody>
                    <a:bodyPr/>
                    <a:lstStyle/>
                    <a:p>
                      <a:r>
                        <a:rPr sz="1200" b="0">
                          <a:solidFill>
                            <a:srgbClr val="1F2937"/>
                          </a:solidFill>
                        </a:rPr>
                        <a:t>Mushukni asabiylashtiradi</a:t>
                      </a:r>
                    </a:p>
                  </a:txBody>
                  <a:tcPr marL="73152" marR="73152" marT="36576" marB="36576">
                    <a:solidFill>
                      <a:srgbClr val="FFFFFF"/>
                    </a:solidFill>
                  </a:tcPr>
                </a:tc>
              </a:tr>
              <a:tr h="411480">
                <a:tc>
                  <a:txBody>
                    <a:bodyPr/>
                    <a:lstStyle/>
                    <a:p>
                      <a:r>
                        <a:rPr sz="1200" b="0">
                          <a:solidFill>
                            <a:srgbClr val="1F2937"/>
                          </a:solidFill>
                        </a:rPr>
                        <a:t>Aspirin</a:t>
                      </a:r>
                    </a:p>
                  </a:txBody>
                  <a:tcPr marL="73152" marR="73152" marT="36576" marB="36576">
                    <a:solidFill>
                      <a:srgbClr val="E8EEF6"/>
                    </a:solidFill>
                  </a:tcPr>
                </a:tc>
                <a:tc>
                  <a:txBody>
                    <a:bodyPr/>
                    <a:lstStyle/>
                    <a:p>
                      <a:r>
                        <a:rPr sz="1200" b="0">
                          <a:solidFill>
                            <a:srgbClr val="1F2937"/>
                          </a:solidFill>
                        </a:rPr>
                        <a:t>Tug‘ma nuqson keltirmaydi</a:t>
                      </a:r>
                    </a:p>
                  </a:txBody>
                  <a:tcPr marL="73152" marR="73152" marT="36576" marB="36576">
                    <a:solidFill>
                      <a:srgbClr val="E8EEF6"/>
                    </a:solidFill>
                  </a:tcPr>
                </a:tc>
                <a:tc>
                  <a:txBody>
                    <a:bodyPr/>
                    <a:lstStyle/>
                    <a:p>
                      <a:r>
                        <a:rPr sz="1200" b="0">
                          <a:solidFill>
                            <a:srgbClr val="1F2937"/>
                          </a:solidFill>
                        </a:rPr>
                        <a:t>Sichqon, kalamushda nuqson chiqaradi</a:t>
                      </a:r>
                    </a:p>
                  </a:txBody>
                  <a:tcPr marL="73152" marR="73152" marT="36576" marB="36576">
                    <a:solidFill>
                      <a:srgbClr val="E8EEF6"/>
                    </a:solidFill>
                  </a:tcPr>
                </a:tc>
              </a:tr>
              <a:tr h="411480">
                <a:tc>
                  <a:txBody>
                    <a:bodyPr/>
                    <a:lstStyle/>
                    <a:p>
                      <a:r>
                        <a:rPr sz="1200" b="0">
                          <a:solidFill>
                            <a:srgbClr val="1F2937"/>
                          </a:solidFill>
                        </a:rPr>
                        <a:t>Insulin</a:t>
                      </a:r>
                    </a:p>
                  </a:txBody>
                  <a:tcPr marL="73152" marR="73152" marT="36576" marB="36576">
                    <a:solidFill>
                      <a:srgbClr val="FFFFFF"/>
                    </a:solidFill>
                  </a:tcPr>
                </a:tc>
                <a:tc>
                  <a:txBody>
                    <a:bodyPr/>
                    <a:lstStyle/>
                    <a:p>
                      <a:r>
                        <a:rPr sz="1200" b="0">
                          <a:solidFill>
                            <a:srgbClr val="1F2937"/>
                          </a:solidFill>
                        </a:rPr>
                        <a:t>Zararsiz</a:t>
                      </a:r>
                    </a:p>
                  </a:txBody>
                  <a:tcPr marL="73152" marR="73152" marT="36576" marB="36576">
                    <a:solidFill>
                      <a:srgbClr val="FFFFFF"/>
                    </a:solidFill>
                  </a:tcPr>
                </a:tc>
                <a:tc>
                  <a:txBody>
                    <a:bodyPr/>
                    <a:lstStyle/>
                    <a:p>
                      <a:r>
                        <a:rPr sz="1200" b="0">
                          <a:solidFill>
                            <a:srgbClr val="1F2937"/>
                          </a:solidFill>
                        </a:rPr>
                        <a:t>Laboratoriya hayvonlariga zararli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Tur farqlari misollari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2.1-bo‘lim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izoprenalin va talidamid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1960-yillarda Buyuk Britaniyada astma bilan og‘rigan va izoprenalin aerozol ingalyatorlaridan foydalangan 3,5 ming bemor halok bo‘ldi.</a:t>
            </a:r>
          </a:p>
          <a:p>
            <a:pPr>
              <a:spcAft>
                <a:spcPts val="1200"/>
              </a:spcAft>
            </a:pPr>
            <a:r>
              <a:rPr sz="2000">
                <a:solidFill>
                  <a:srgbClr val="1F2937"/>
                </a:solidFill>
                <a:latin typeface="Calibri"/>
              </a:rPr>
              <a:t>▸  Hayvonlarda katta dozalar ham yurak urishini ozgina oshirdi; mushuk odamdan 175 baravar katta dozani ko‘tardi. Odamda esa juda kam doza taxikardiya va aritmiya berishi mumkin.</a:t>
            </a:r>
          </a:p>
          <a:p>
            <a:pPr>
              <a:spcAft>
                <a:spcPts val="1200"/>
              </a:spcAft>
            </a:pPr>
            <a:r>
              <a:rPr sz="2000">
                <a:solidFill>
                  <a:srgbClr val="1F2937"/>
                </a:solidFill>
                <a:latin typeface="Calibri"/>
              </a:rPr>
              <a:t>▸  Talidamid ham xuddi shunday: hayvon tajribasida zararsiz deb topilib, o‘n mingga yaqin bola nuqson bilan tug‘ildi.</a:t>
            </a:r>
          </a:p>
          <a:p>
            <a:pPr>
              <a:spcAft>
                <a:spcPts val="1200"/>
              </a:spcAft>
            </a:pPr>
            <a:r>
              <a:rPr sz="2000">
                <a:solidFill>
                  <a:srgbClr val="1F2937"/>
                </a:solidFill>
                <a:latin typeface="Calibri"/>
              </a:rPr>
              <a:t>▸  Savol: hayvon natijasini odamga ko‘chirish (ekstrapolyatsiya) qanday xatarlar tug‘diradi? Inson hujayralari kulturasi (3R — almashtirish) bu xatarni qanday kamaytiradi?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2.1-bo‘lim, 2.2-bo‘lim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3R tamoyili: Replacement, Reduction, Refinement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3R — hayvonlardan foydalanishni almashtirish, kamaytirish va takomillashtirishga qaratilgan bioetik konsepsiya.</a:t>
            </a:r>
          </a:p>
          <a:p>
            <a:pPr>
              <a:spcAft>
                <a:spcPts val="800"/>
              </a:spcAft>
            </a:pPr>
            <a:r>
              <a:rPr sz="1800">
                <a:solidFill>
                  <a:srgbClr val="1F2937"/>
                </a:solidFill>
                <a:latin typeface="Calibri"/>
              </a:rPr>
              <a:t>▸  London universitetida 1926-yilda jamiyat tuzildi; 1938-yildan UFAW (Hayvonlarni himoya qilish universitetlar federatsiyasi).</a:t>
            </a:r>
          </a:p>
          <a:p>
            <a:pPr>
              <a:spcAft>
                <a:spcPts val="800"/>
              </a:spcAft>
            </a:pPr>
            <a:r>
              <a:rPr sz="1800">
                <a:solidFill>
                  <a:srgbClr val="1F2937"/>
                </a:solidFill>
                <a:latin typeface="Calibri"/>
              </a:rPr>
              <a:t>▸  Birch–Russell nomi berilgan matnda uchramaydi; 3R mazmuni faqat darslikdagi bayondan olindi. (?)</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40084"/>
                <a:gridCol w="2350211"/>
                <a:gridCol w="1997679"/>
              </a:tblGrid>
              <a:tr h="411480">
                <a:tc>
                  <a:txBody>
                    <a:bodyPr/>
                    <a:lstStyle/>
                    <a:p>
                      <a:r>
                        <a:rPr sz="1300" b="1">
                          <a:solidFill>
                            <a:srgbClr val="FFFFFF"/>
                          </a:solidFill>
                        </a:rPr>
                        <a:t>Tamoyil</a:t>
                      </a:r>
                    </a:p>
                  </a:txBody>
                  <a:tcPr marL="73152" marR="73152" marT="36576" marB="36576">
                    <a:solidFill>
                      <a:srgbClr val="0B1F3A"/>
                    </a:solidFill>
                  </a:tcPr>
                </a:tc>
                <a:tc>
                  <a:txBody>
                    <a:bodyPr/>
                    <a:lstStyle/>
                    <a:p>
                      <a:r>
                        <a:rPr sz="1300" b="1">
                          <a:solidFill>
                            <a:srgbClr val="FFFFFF"/>
                          </a:solidFill>
                        </a:rPr>
                        <a:t>Ma’nosi</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Replacement</a:t>
                      </a:r>
                    </a:p>
                  </a:txBody>
                  <a:tcPr marL="73152" marR="73152" marT="36576" marB="36576">
                    <a:solidFill>
                      <a:srgbClr val="E8EEF6"/>
                    </a:solidFill>
                  </a:tcPr>
                </a:tc>
                <a:tc>
                  <a:txBody>
                    <a:bodyPr/>
                    <a:lstStyle/>
                    <a:p>
                      <a:r>
                        <a:rPr sz="1200" b="0">
                          <a:solidFill>
                            <a:srgbClr val="1F2937"/>
                          </a:solidFill>
                        </a:rPr>
                        <a:t>Hayvonni muqobil usul bilan almashtirish</a:t>
                      </a:r>
                    </a:p>
                  </a:txBody>
                  <a:tcPr marL="73152" marR="73152" marT="36576" marB="36576">
                    <a:solidFill>
                      <a:srgbClr val="E8EEF6"/>
                    </a:solidFill>
                  </a:tcPr>
                </a:tc>
                <a:tc>
                  <a:txBody>
                    <a:bodyPr/>
                    <a:lstStyle/>
                    <a:p>
                      <a:r>
                        <a:rPr sz="1200" b="0">
                          <a:solidFill>
                            <a:srgbClr val="1F2937"/>
                          </a:solidFill>
                        </a:rPr>
                        <a:t>Hujayra kulturasi, tuxum embrioni</a:t>
                      </a:r>
                    </a:p>
                  </a:txBody>
                  <a:tcPr marL="73152" marR="73152" marT="36576" marB="36576">
                    <a:solidFill>
                      <a:srgbClr val="E8EEF6"/>
                    </a:solidFill>
                  </a:tcPr>
                </a:tc>
              </a:tr>
              <a:tr h="411480">
                <a:tc>
                  <a:txBody>
                    <a:bodyPr/>
                    <a:lstStyle/>
                    <a:p>
                      <a:r>
                        <a:rPr sz="1200" b="0">
                          <a:solidFill>
                            <a:srgbClr val="1F2937"/>
                          </a:solidFill>
                        </a:rPr>
                        <a:t>Reduction</a:t>
                      </a:r>
                    </a:p>
                  </a:txBody>
                  <a:tcPr marL="73152" marR="73152" marT="36576" marB="36576">
                    <a:solidFill>
                      <a:srgbClr val="FFFFFF"/>
                    </a:solidFill>
                  </a:tcPr>
                </a:tc>
                <a:tc>
                  <a:txBody>
                    <a:bodyPr/>
                    <a:lstStyle/>
                    <a:p>
                      <a:r>
                        <a:rPr sz="1200" b="0">
                          <a:solidFill>
                            <a:srgbClr val="1F2937"/>
                          </a:solidFill>
                        </a:rPr>
                        <a:t>Hayvonlar sonini asosli kamaytirish</a:t>
                      </a:r>
                    </a:p>
                  </a:txBody>
                  <a:tcPr marL="73152" marR="73152" marT="36576" marB="36576">
                    <a:solidFill>
                      <a:srgbClr val="FFFFFF"/>
                    </a:solidFill>
                  </a:tcPr>
                </a:tc>
                <a:tc>
                  <a:txBody>
                    <a:bodyPr/>
                    <a:lstStyle/>
                    <a:p>
                      <a:r>
                        <a:rPr sz="1200" b="0">
                          <a:solidFill>
                            <a:srgbClr val="1F2937"/>
                          </a:solidFill>
                        </a:rPr>
                        <a:t>Takroriy tajribaga yo‘l qo‘ymaslik</a:t>
                      </a:r>
                    </a:p>
                  </a:txBody>
                  <a:tcPr marL="73152" marR="73152" marT="36576" marB="36576">
                    <a:solidFill>
                      <a:srgbClr val="FFFFFF"/>
                    </a:solidFill>
                  </a:tcPr>
                </a:tc>
              </a:tr>
              <a:tr h="411480">
                <a:tc>
                  <a:txBody>
                    <a:bodyPr/>
                    <a:lstStyle/>
                    <a:p>
                      <a:r>
                        <a:rPr sz="1200" b="0">
                          <a:solidFill>
                            <a:srgbClr val="1F2937"/>
                          </a:solidFill>
                        </a:rPr>
                        <a:t>Refinement</a:t>
                      </a:r>
                    </a:p>
                  </a:txBody>
                  <a:tcPr marL="73152" marR="73152" marT="36576" marB="36576">
                    <a:solidFill>
                      <a:srgbClr val="E8EEF6"/>
                    </a:solidFill>
                  </a:tcPr>
                </a:tc>
                <a:tc>
                  <a:txBody>
                    <a:bodyPr/>
                    <a:lstStyle/>
                    <a:p>
                      <a:r>
                        <a:rPr sz="1200" b="0">
                          <a:solidFill>
                            <a:srgbClr val="1F2937"/>
                          </a:solidFill>
                        </a:rPr>
                        <a:t>Stress va og‘riqni kamaytirish</a:t>
                      </a:r>
                    </a:p>
                  </a:txBody>
                  <a:tcPr marL="73152" marR="73152" marT="36576" marB="36576">
                    <a:solidFill>
                      <a:srgbClr val="E8EEF6"/>
                    </a:solidFill>
                  </a:tcPr>
                </a:tc>
                <a:tc>
                  <a:txBody>
                    <a:bodyPr/>
                    <a:lstStyle/>
                    <a:p>
                      <a:r>
                        <a:rPr sz="1200" b="0">
                          <a:solidFill>
                            <a:srgbClr val="1F2937"/>
                          </a:solidFill>
                        </a:rPr>
                        <a:t>Og‘riq qoldiruvchi vositalar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3R = almashtir, kamaytir, yengillashtir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2.2-bo‘lim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Muqobil usullar va tadqiqot markazlari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ECVAM (Yevropa muqobil usullarni tasdiqlash markazi, Ispra), Nottingem fondi va Berlindagi «Muqobil markaz» ishlaydi.</a:t>
            </a:r>
          </a:p>
          <a:p>
            <a:pPr>
              <a:spcAft>
                <a:spcPts val="800"/>
              </a:spcAft>
            </a:pPr>
            <a:r>
              <a:rPr sz="1800">
                <a:solidFill>
                  <a:srgbClr val="1F2937"/>
                </a:solidFill>
                <a:latin typeface="Calibri"/>
              </a:rPr>
              <a:t>▸  Muqobil usul har doim ham mumkin emas: ko‘p tajribani sodda tizimda emas, butun organizmda o‘tkazish kerak.</a:t>
            </a:r>
          </a:p>
          <a:p>
            <a:pPr>
              <a:spcAft>
                <a:spcPts val="800"/>
              </a:spcAft>
            </a:pPr>
            <a:r>
              <a:rPr sz="1800">
                <a:solidFill>
                  <a:srgbClr val="1F2937"/>
                </a:solidFill>
                <a:latin typeface="Calibri"/>
              </a:rPr>
              <a:t>▸  GLP (yaxshi laboratoriya amaliyoti) ba’zan yangi mahsulotni hayvonda sinashni talab qiladi.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264515"/>
                <a:gridCol w="2126685"/>
                <a:gridCol w="1896773"/>
              </a:tblGrid>
              <a:tr h="411480">
                <a:tc>
                  <a:txBody>
                    <a:bodyPr/>
                    <a:lstStyle/>
                    <a:p>
                      <a:r>
                        <a:rPr sz="1300" b="1">
                          <a:solidFill>
                            <a:srgbClr val="FFFFFF"/>
                          </a:solidFill>
                        </a:rPr>
                        <a:t>Usul</a:t>
                      </a:r>
                    </a:p>
                  </a:txBody>
                  <a:tcPr marL="73152" marR="73152" marT="36576" marB="36576">
                    <a:solidFill>
                      <a:srgbClr val="0B1F3A"/>
                    </a:solidFill>
                  </a:tcPr>
                </a:tc>
                <a:tc>
                  <a:txBody>
                    <a:bodyPr/>
                    <a:lstStyle/>
                    <a:p>
                      <a:r>
                        <a:rPr sz="1300" b="1">
                          <a:solidFill>
                            <a:srgbClr val="FFFFFF"/>
                          </a:solidFill>
                        </a:rPr>
                        <a:t>Afzalligi</a:t>
                      </a:r>
                    </a:p>
                  </a:txBody>
                  <a:tcPr marL="73152" marR="73152" marT="36576" marB="36576">
                    <a:solidFill>
                      <a:srgbClr val="0B1F3A"/>
                    </a:solidFill>
                  </a:tcPr>
                </a:tc>
                <a:tc>
                  <a:txBody>
                    <a:bodyPr/>
                    <a:lstStyle/>
                    <a:p>
                      <a:r>
                        <a:rPr sz="1300" b="1">
                          <a:solidFill>
                            <a:srgbClr val="FFFFFF"/>
                          </a:solidFill>
                        </a:rPr>
                        <a:t>Qo‘llanishi</a:t>
                      </a:r>
                    </a:p>
                  </a:txBody>
                  <a:tcPr marL="73152" marR="73152" marT="36576" marB="36576">
                    <a:solidFill>
                      <a:srgbClr val="0B1F3A"/>
                    </a:solidFill>
                  </a:tcPr>
                </a:tc>
              </a:tr>
              <a:tr h="411480">
                <a:tc>
                  <a:txBody>
                    <a:bodyPr/>
                    <a:lstStyle/>
                    <a:p>
                      <a:r>
                        <a:rPr sz="1200" b="0">
                          <a:solidFill>
                            <a:srgbClr val="1F2937"/>
                          </a:solidFill>
                        </a:rPr>
                        <a:t>Hujayra kulturasi</a:t>
                      </a:r>
                    </a:p>
                  </a:txBody>
                  <a:tcPr marL="73152" marR="73152" marT="36576" marB="36576">
                    <a:solidFill>
                      <a:srgbClr val="E8EEF6"/>
                    </a:solidFill>
                  </a:tcPr>
                </a:tc>
                <a:tc>
                  <a:txBody>
                    <a:bodyPr/>
                    <a:lstStyle/>
                    <a:p>
                      <a:r>
                        <a:rPr sz="1200" b="0">
                          <a:solidFill>
                            <a:srgbClr val="1F2937"/>
                          </a:solidFill>
                        </a:rPr>
                        <a:t>Chuqur tahlil, arzon; inson hujayrasi</a:t>
                      </a:r>
                    </a:p>
                  </a:txBody>
                  <a:tcPr marL="73152" marR="73152" marT="36576" marB="36576">
                    <a:solidFill>
                      <a:srgbClr val="E8EEF6"/>
                    </a:solidFill>
                  </a:tcPr>
                </a:tc>
                <a:tc>
                  <a:txBody>
                    <a:bodyPr/>
                    <a:lstStyle/>
                    <a:p>
                      <a:r>
                        <a:rPr sz="1200" b="0">
                          <a:solidFill>
                            <a:srgbClr val="1F2937"/>
                          </a:solidFill>
                        </a:rPr>
                        <a:t>Virusologiya, onkologiya, vaksina</a:t>
                      </a:r>
                    </a:p>
                  </a:txBody>
                  <a:tcPr marL="73152" marR="73152" marT="36576" marB="36576">
                    <a:solidFill>
                      <a:srgbClr val="E8EEF6"/>
                    </a:solidFill>
                  </a:tcPr>
                </a:tc>
              </a:tr>
              <a:tr h="411480">
                <a:tc>
                  <a:txBody>
                    <a:bodyPr/>
                    <a:lstStyle/>
                    <a:p>
                      <a:r>
                        <a:rPr sz="1200" b="0">
                          <a:solidFill>
                            <a:srgbClr val="1F2937"/>
                          </a:solidFill>
                        </a:rPr>
                        <a:t>Bir hujayrali organizm</a:t>
                      </a:r>
                    </a:p>
                  </a:txBody>
                  <a:tcPr marL="73152" marR="73152" marT="36576" marB="36576">
                    <a:solidFill>
                      <a:srgbClr val="FFFFFF"/>
                    </a:solidFill>
                  </a:tcPr>
                </a:tc>
                <a:tc>
                  <a:txBody>
                    <a:bodyPr/>
                    <a:lstStyle/>
                    <a:p>
                      <a:r>
                        <a:rPr sz="1200" b="0">
                          <a:solidFill>
                            <a:srgbClr val="1F2937"/>
                          </a:solidFill>
                        </a:rPr>
                        <a:t>Qulay va arzon</a:t>
                      </a:r>
                    </a:p>
                  </a:txBody>
                  <a:tcPr marL="73152" marR="73152" marT="36576" marB="36576">
                    <a:solidFill>
                      <a:srgbClr val="FFFFFF"/>
                    </a:solidFill>
                  </a:tcPr>
                </a:tc>
                <a:tc>
                  <a:txBody>
                    <a:bodyPr/>
                    <a:lstStyle/>
                    <a:p>
                      <a:r>
                        <a:rPr sz="1200" b="0">
                          <a:solidFill>
                            <a:srgbClr val="1F2937"/>
                          </a:solidFill>
                        </a:rPr>
                        <a:t>Harakat sekinlashadi, nur so‘nadi</a:t>
                      </a:r>
                    </a:p>
                  </a:txBody>
                  <a:tcPr marL="73152" marR="73152" marT="36576" marB="36576">
                    <a:solidFill>
                      <a:srgbClr val="FFFFFF"/>
                    </a:solidFill>
                  </a:tcPr>
                </a:tc>
              </a:tr>
              <a:tr h="411480">
                <a:tc>
                  <a:txBody>
                    <a:bodyPr/>
                    <a:lstStyle/>
                    <a:p>
                      <a:r>
                        <a:rPr sz="1200" b="0">
                          <a:solidFill>
                            <a:srgbClr val="1F2937"/>
                          </a:solidFill>
                        </a:rPr>
                        <a:t>Tuxum embrioni</a:t>
                      </a:r>
                    </a:p>
                  </a:txBody>
                  <a:tcPr marL="73152" marR="73152" marT="36576" marB="36576">
                    <a:solidFill>
                      <a:srgbClr val="E8EEF6"/>
                    </a:solidFill>
                  </a:tcPr>
                </a:tc>
                <a:tc>
                  <a:txBody>
                    <a:bodyPr/>
                    <a:lstStyle/>
                    <a:p>
                      <a:r>
                        <a:rPr sz="1200" b="0">
                          <a:solidFill>
                            <a:srgbClr val="1F2937"/>
                          </a:solidFill>
                        </a:rPr>
                        <a:t>Arzon, sodda, ishonchli</a:t>
                      </a:r>
                    </a:p>
                  </a:txBody>
                  <a:tcPr marL="73152" marR="73152" marT="36576" marB="36576">
                    <a:solidFill>
                      <a:srgbClr val="E8EEF6"/>
                    </a:solidFill>
                  </a:tcPr>
                </a:tc>
                <a:tc>
                  <a:txBody>
                    <a:bodyPr/>
                    <a:lstStyle/>
                    <a:p>
                      <a:r>
                        <a:rPr sz="1200" b="0">
                          <a:solidFill>
                            <a:srgbClr val="1F2937"/>
                          </a:solidFill>
                        </a:rPr>
                        <a:t>Qo‘zg‘atuvchi ta’sirni aniqlash</a:t>
                      </a:r>
                    </a:p>
                  </a:txBody>
                  <a:tcPr marL="73152" marR="73152" marT="36576" marB="36576">
                    <a:solidFill>
                      <a:srgbClr val="E8EEF6"/>
                    </a:solidFill>
                  </a:tcPr>
                </a:tc>
              </a:tr>
              <a:tr h="411480">
                <a:tc>
                  <a:txBody>
                    <a:bodyPr/>
                    <a:lstStyle/>
                    <a:p>
                      <a:r>
                        <a:rPr sz="1200" b="0">
                          <a:solidFill>
                            <a:srgbClr val="1F2937"/>
                          </a:solidFill>
                        </a:rPr>
                        <a:t>Kompyuter modellari</a:t>
                      </a:r>
                    </a:p>
                  </a:txBody>
                  <a:tcPr marL="73152" marR="73152" marT="36576" marB="36576">
                    <a:solidFill>
                      <a:srgbClr val="FFFFFF"/>
                    </a:solidFill>
                  </a:tcPr>
                </a:tc>
                <a:tc>
                  <a:txBody>
                    <a:bodyPr/>
                    <a:lstStyle/>
                    <a:p>
                      <a:r>
                        <a:rPr sz="1200" b="0">
                          <a:solidFill>
                            <a:srgbClr val="1F2937"/>
                          </a:solidFill>
                        </a:rPr>
                        <a:t>Manbada tafsilot yo‘q</a:t>
                      </a:r>
                    </a:p>
                  </a:txBody>
                  <a:tcPr marL="73152" marR="73152" marT="36576" marB="36576">
                    <a:solidFill>
                      <a:srgbClr val="FFFFFF"/>
                    </a:solidFill>
                  </a:tcPr>
                </a:tc>
                <a:tc>
                  <a:txBody>
                    <a:bodyPr/>
                    <a:lstStyle/>
                    <a:p>
                      <a:r>
                        <a:rPr sz="1200" b="0">
                          <a:solidFill>
                            <a:srgbClr val="1F2937"/>
                          </a:solidFill>
                        </a:rPr>
                        <a:t>Muqobil sifatida sanalgan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Hayvonga muqobil usullar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2.2-bo‘lim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Hayvonlar bilan ishlashda umumiy axloqiy talablar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Yevropa Kengashi konvensiyasining 25-moddasi: hayvonsiz ilmiy qoniqarli usul bo‘lsa, hayvonda tajriba qilinmaydi. Direktiva 86/609/EEC ham shunga tayanadi.</a:t>
            </a:r>
          </a:p>
          <a:p>
            <a:pPr>
              <a:spcAft>
                <a:spcPts val="1200"/>
              </a:spcAft>
            </a:pPr>
            <a:r>
              <a:rPr sz="2200">
                <a:solidFill>
                  <a:srgbClr val="1F2937"/>
                </a:solidFill>
                <a:latin typeface="Calibri"/>
              </a:rPr>
              <a:t>▸  Tajriba faqat zarur maqsadda va foyda kutishga asos bo‘lsa mumkin. Keraksiz takrorlash mumkin emas; sonu metodika oldindan ma’qullanadi.</a:t>
            </a:r>
          </a:p>
          <a:p>
            <a:pPr>
              <a:spcAft>
                <a:spcPts val="1200"/>
              </a:spcAft>
            </a:pPr>
            <a:r>
              <a:rPr sz="2200">
                <a:solidFill>
                  <a:srgbClr val="1F2937"/>
                </a:solidFill>
                <a:latin typeface="Calibri"/>
              </a:rPr>
              <a:t>▸  Hayvonlar sertifikatlangan pitomniklardan olinadi, daydi hayvon mumkin emas. Tajribani malakali tadqiqotchi o‘tkazadi, laboratoriya GLP bo‘yicha attestatsiyadan o‘tadi.</a:t>
            </a:r>
          </a:p>
          <a:p>
            <a:pPr>
              <a:spcAft>
                <a:spcPts val="1200"/>
              </a:spcAft>
            </a:pPr>
            <a:r>
              <a:rPr sz="2200">
                <a:solidFill>
                  <a:srgbClr val="1F2937"/>
                </a:solidFill>
                <a:latin typeface="Calibri"/>
              </a:rPr>
              <a:t>▸  Diqqat: «M3» nomli ko‘rsatma manbada aniq berilmagan. Uni ishlatishdan oldin qo‘shimcha manba bilan tekshiring. (?)</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4-bob</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Biomodellar tartiblari va vivarium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1-tartib: laboratoriya hayvonlari; 2-tartib: bakteriya va hujayra kulturasi; 3-tartib: matematik modellar.</a:t>
            </a:r>
          </a:p>
          <a:p>
            <a:pPr>
              <a:spcAft>
                <a:spcPts val="800"/>
              </a:spcAft>
            </a:pPr>
            <a:r>
              <a:rPr sz="1800">
                <a:solidFill>
                  <a:srgbClr val="1F2937"/>
                </a:solidFill>
                <a:latin typeface="Calibri"/>
              </a:rPr>
              <a:t>▸  Mini-cho‘chqa maymundan keyin odamga eng yaqin model: qon bosimi, teri va ateroskleroz pilakchalari o‘xshash.</a:t>
            </a:r>
          </a:p>
          <a:p>
            <a:pPr>
              <a:spcAft>
                <a:spcPts val="800"/>
              </a:spcAft>
            </a:pPr>
            <a:r>
              <a:rPr sz="1800">
                <a:solidFill>
                  <a:srgbClr val="1F2937"/>
                </a:solidFill>
                <a:latin typeface="Calibri"/>
              </a:rPr>
              <a:t>▸  Bigl iti keng qo‘llanadigan model. Hayvonlar vivariumda (parvarish va ko‘paytirish bo‘limi) saqlanadi.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Mezon</a:t>
                      </a:r>
                    </a:p>
                  </a:txBody>
                  <a:tcPr marL="73152" marR="73152" marT="36576" marB="36576">
                    <a:solidFill>
                      <a:srgbClr val="0B1F3A"/>
                    </a:solidFill>
                  </a:tcPr>
                </a:tc>
                <a:tc>
                  <a:txBody>
                    <a:bodyPr/>
                    <a:lstStyle/>
                    <a:p>
                      <a:r>
                        <a:rPr sz="1400" b="1">
                          <a:solidFill>
                            <a:srgbClr val="FFFFFF"/>
                          </a:solidFill>
                        </a:rPr>
                        <a:t>Nimani solishtiradi</a:t>
                      </a:r>
                    </a:p>
                  </a:txBody>
                  <a:tcPr marL="73152" marR="73152" marT="36576" marB="36576">
                    <a:solidFill>
                      <a:srgbClr val="0B1F3A"/>
                    </a:solidFill>
                  </a:tcPr>
                </a:tc>
              </a:tr>
              <a:tr h="411480">
                <a:tc>
                  <a:txBody>
                    <a:bodyPr/>
                    <a:lstStyle/>
                    <a:p>
                      <a:r>
                        <a:rPr sz="1300" b="0">
                          <a:solidFill>
                            <a:srgbClr val="1F2937"/>
                          </a:solidFill>
                        </a:rPr>
                        <a:t>1. Tuzilish</a:t>
                      </a:r>
                    </a:p>
                  </a:txBody>
                  <a:tcPr marL="73152" marR="73152" marT="36576" marB="36576">
                    <a:solidFill>
                      <a:srgbClr val="E8EEF6"/>
                    </a:solidFill>
                  </a:tcPr>
                </a:tc>
                <a:tc>
                  <a:txBody>
                    <a:bodyPr/>
                    <a:lstStyle/>
                    <a:p>
                      <a:r>
                        <a:rPr sz="1300" b="0">
                          <a:solidFill>
                            <a:srgbClr val="1F2937"/>
                          </a:solidFill>
                        </a:rPr>
                        <a:t>Morfologik o‘xshashlik</a:t>
                      </a:r>
                    </a:p>
                  </a:txBody>
                  <a:tcPr marL="73152" marR="73152" marT="36576" marB="36576">
                    <a:solidFill>
                      <a:srgbClr val="E8EEF6"/>
                    </a:solidFill>
                  </a:tcPr>
                </a:tc>
              </a:tr>
              <a:tr h="411480">
                <a:tc>
                  <a:txBody>
                    <a:bodyPr/>
                    <a:lstStyle/>
                    <a:p>
                      <a:r>
                        <a:rPr sz="1300" b="0">
                          <a:solidFill>
                            <a:srgbClr val="1F2937"/>
                          </a:solidFill>
                        </a:rPr>
                        <a:t>2. Funksiya</a:t>
                      </a:r>
                    </a:p>
                  </a:txBody>
                  <a:tcPr marL="73152" marR="73152" marT="36576" marB="36576">
                    <a:solidFill>
                      <a:srgbClr val="FFFFFF"/>
                    </a:solidFill>
                  </a:tcPr>
                </a:tc>
                <a:tc>
                  <a:txBody>
                    <a:bodyPr/>
                    <a:lstStyle/>
                    <a:p>
                      <a:r>
                        <a:rPr sz="1300" b="0">
                          <a:solidFill>
                            <a:srgbClr val="1F2937"/>
                          </a:solidFill>
                        </a:rPr>
                        <a:t>Metabolik, neyrogumoral, ekzokrin o‘xshashlik</a:t>
                      </a:r>
                    </a:p>
                  </a:txBody>
                  <a:tcPr marL="73152" marR="73152" marT="36576" marB="36576">
                    <a:solidFill>
                      <a:srgbClr val="FFFFFF"/>
                    </a:solidFill>
                  </a:tcPr>
                </a:tc>
              </a:tr>
              <a:tr h="411480">
                <a:tc>
                  <a:txBody>
                    <a:bodyPr/>
                    <a:lstStyle/>
                    <a:p>
                      <a:r>
                        <a:rPr sz="1300" b="0">
                          <a:solidFill>
                            <a:srgbClr val="1F2937"/>
                          </a:solidFill>
                        </a:rPr>
                        <a:t>3. Javob</a:t>
                      </a:r>
                    </a:p>
                  </a:txBody>
                  <a:tcPr marL="73152" marR="73152" marT="36576" marB="36576">
                    <a:solidFill>
                      <a:srgbClr val="E8EEF6"/>
                    </a:solidFill>
                  </a:tcPr>
                </a:tc>
                <a:tc>
                  <a:txBody>
                    <a:bodyPr/>
                    <a:lstStyle/>
                    <a:p>
                      <a:r>
                        <a:rPr sz="1300" b="0">
                          <a:solidFill>
                            <a:srgbClr val="1F2937"/>
                          </a:solidFill>
                        </a:rPr>
                        <a:t>Tashqi ta’sirga reaksiya o‘xshashligi</a:t>
                      </a:r>
                    </a:p>
                  </a:txBody>
                  <a:tcPr marL="73152" marR="73152" marT="36576" marB="36576">
                    <a:solidFill>
                      <a:srgbClr val="E8EEF6"/>
                    </a:solidFill>
                  </a:tcPr>
                </a:tc>
              </a:tr>
              <a:tr h="411480">
                <a:tc>
                  <a:txBody>
                    <a:bodyPr/>
                    <a:lstStyle/>
                    <a:p>
                      <a:r>
                        <a:rPr sz="1300" b="0">
                          <a:solidFill>
                            <a:srgbClr val="1F2937"/>
                          </a:solidFill>
                        </a:rPr>
                        <a:t>4. Konstantalar</a:t>
                      </a:r>
                    </a:p>
                  </a:txBody>
                  <a:tcPr marL="73152" marR="73152" marT="36576" marB="36576">
                    <a:solidFill>
                      <a:srgbClr val="FFFFFF"/>
                    </a:solidFill>
                  </a:tcPr>
                </a:tc>
                <a:tc>
                  <a:txBody>
                    <a:bodyPr/>
                    <a:lstStyle/>
                    <a:p>
                      <a:r>
                        <a:rPr sz="1300" b="0">
                          <a:solidFill>
                            <a:srgbClr val="1F2937"/>
                          </a:solidFill>
                        </a:rPr>
                        <a:t>Miqdoriy ko‘rsatkichlar asl nusxaga mos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Model mosligi mezonlari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4-bob</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Immobilizatsiya va narkoz: og‘riqni kamaytirish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To‘g‘ri muomala hayvonni tinchlantiradi, qo‘rquv va og‘riqni kamaytiradi, xodimlarni ham himoya qiladi.</a:t>
            </a:r>
          </a:p>
          <a:p>
            <a:pPr>
              <a:spcAft>
                <a:spcPts val="800"/>
              </a:spcAft>
            </a:pPr>
            <a:r>
              <a:rPr sz="1800">
                <a:solidFill>
                  <a:srgbClr val="1F2937"/>
                </a:solidFill>
                <a:latin typeface="Calibri"/>
              </a:rPr>
              <a:t>▸  Narkoz usullari: ingalyatsion, enteral (rektal, og‘iz), parenteral, orqa miya orqali va kombinatsiyalangan.</a:t>
            </a:r>
          </a:p>
          <a:p>
            <a:pPr>
              <a:spcAft>
                <a:spcPts val="800"/>
              </a:spcAft>
            </a:pPr>
            <a:r>
              <a:rPr sz="1800">
                <a:solidFill>
                  <a:srgbClr val="1F2937"/>
                </a:solidFill>
                <a:latin typeface="Calibri"/>
              </a:rPr>
              <a:t>▸  Narkozdan oldin premedikatsiya (tinchlantirish) kerak; mushuk va quyon xloroformga o‘ta sezgir.</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Premedikatsiya (tinchlantirish)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Fiksatsiya (immobilizatsiya)</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Narkoz berish</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 va refleks nazorati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Narkoz bosqichlari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5-bob (Hayvonlar immobilizatsiyasi), 6.2-bo‘lim (Eksperimental hayvonlarda narkoz)</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narkoz tanlash va refinement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quyon va mushukda operatsiya rejalashtirilgan; odatiy aralash morfin–efir–xloroform narkozi tanlanmoqda.</a:t>
            </a:r>
          </a:p>
          <a:p>
            <a:pPr>
              <a:spcAft>
                <a:spcPts val="1200"/>
              </a:spcAft>
            </a:pPr>
            <a:r>
              <a:rPr sz="2200">
                <a:solidFill>
                  <a:srgbClr val="1F2937"/>
                </a:solidFill>
                <a:latin typeface="Calibri"/>
              </a:rPr>
              <a:t>▸  Quyon va mushuk xloroformga o‘ta sezgir va undan tez nobud bo‘ladi; mushukda morfin tormozlamaydi, aksincha qo‘zg‘atib, talvasa keltiradi.</a:t>
            </a:r>
          </a:p>
          <a:p>
            <a:pPr>
              <a:spcAft>
                <a:spcPts val="1200"/>
              </a:spcAft>
            </a:pPr>
            <a:r>
              <a:rPr sz="2200">
                <a:solidFill>
                  <a:srgbClr val="1F2937"/>
                </a:solidFill>
                <a:latin typeface="Calibri"/>
              </a:rPr>
              <a:t>▸  Tahlil: bu refinement — distress va og‘riqni kamaytirish. Tajribachi premedikatsiya (atropin) beradi, xloroform o‘rniga oz efir ishlatadi, nafasni kuzatadi.</a:t>
            </a:r>
          </a:p>
          <a:p>
            <a:pPr>
              <a:spcAft>
                <a:spcPts val="1200"/>
              </a:spcAft>
            </a:pPr>
            <a:r>
              <a:rPr sz="2200">
                <a:solidFill>
                  <a:srgbClr val="1F2937"/>
                </a:solidFill>
                <a:latin typeface="Calibri"/>
              </a:rPr>
              <a:t>▸  Savol: qaysi R amalga oshmoqda va tajribachi nima qilishi kerak? Diqqat: bir tur uchun xavfsiz doza boshqasiga to‘g‘ri kelmaydi.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6.2-bo‘lim (Eksperimental hayvonlarda narkoz), 2.2-bo‘lim (3R tamoyili); 6.2-bo‘lim, 2.1-bo‘lim (tur farqlari)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odam va hayvon tajribalarida axloqiy chegaralar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Ixtiyoriy rozilik — Nyurnberg kodeksining 1-printsipi. Bugun xabardorlikka asoslangan rozilik talab qilinadi, bu undan qattiqroq norma.</a:t>
            </a:r>
          </a:p>
          <a:p>
            <a:pPr>
              <a:spcAft>
                <a:spcPts val="1200"/>
              </a:spcAft>
            </a:pPr>
            <a:r>
              <a:rPr sz="2200">
                <a:solidFill>
                  <a:srgbClr val="1F2937"/>
                </a:solidFill>
                <a:latin typeface="Calibri"/>
              </a:rPr>
              <a:t>▸  Tadqiqotni mustaqil etika qo‘mitalari ko‘rib chiqadi (Xelsinki deklaratsiyasi, GCP). Samaradorlik dalilga asoslangan tibbiyot bilan tekshiriladi.</a:t>
            </a:r>
          </a:p>
          <a:p>
            <a:pPr>
              <a:spcAft>
                <a:spcPts val="1200"/>
              </a:spcAft>
            </a:pPr>
            <a:r>
              <a:rPr sz="2200">
                <a:solidFill>
                  <a:srgbClr val="1F2937"/>
                </a:solidFill>
                <a:latin typeface="Calibri"/>
              </a:rPr>
              <a:t>▸  Hayvonlarda 3R: o‘rnini bosish, kamaytirish, takomillashtirish. Muqobil usul bo‘lsa hayvon ishlatilmaydi; laboratoriya GLP talabiga mos bo‘lishi kerak.</a:t>
            </a:r>
          </a:p>
          <a:p>
            <a:pPr>
              <a:spcAft>
                <a:spcPts val="1200"/>
              </a:spcAft>
            </a:pPr>
            <a:r>
              <a:rPr sz="2200">
                <a:solidFill>
                  <a:srgbClr val="1F2937"/>
                </a:solidFill>
                <a:latin typeface="Calibri"/>
              </a:rPr>
              <a:t>▸  Belmont tamoyillari matni manbada batafsil berilmagan: qo‘mita faqat «Balmont qo‘llanmasi»ga amal qilishi aytilgan. (?)</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II bob, 1-bo‘lim (Nyurnberg saboqlari), II bob, 2-bo‘lim (Farmatsiyadagi bioetika); Yuldashev N.M., Saydalixodjayeva O.Z., Saidov A.B., Bioetika, betlar: 2.2-bo‘lim (3R tamoyili); 4-bob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Nyurnberg kodeksi sud hukmi shaklida qabul qilingan, lekin yuridik kuchdan ko‘ra ko‘proq axloqiy kuchga ega. U 10 ta tamoyildan iborat, birinchisi — ixtiyoriy rozilik. Bugun ‘xabardorlikka asoslangan rozilik’ aytiladi va bu yanada qattiqroq normadir. Eslab qoling: ixtiyoriy rozilik — boshlang‘ich nuqta, xabardorlikka asoslangan rozilik — uning kuchaytirilgan shakli.</a:t>
            </a:r>
          </a:p>
          <a:p>
            <a:pPr>
              <a:spcAft>
                <a:spcPts val="1200"/>
              </a:spcAft>
            </a:pPr>
            <a:r>
              <a:rPr sz="1800">
                <a:solidFill>
                  <a:srgbClr val="1F2937"/>
                </a:solidFill>
                <a:latin typeface="Calibri"/>
              </a:rPr>
              <a:t>▸  Hodisa tahlili — talidomid. Hayvonlarda zaharlilik o‘rganilganda katta dozada ham o‘lim kuzatilmagan, teratogen ta’sir ham topilmagan. Xavfli teratogen xususiyat faqat odamda va kam ishlatiladigan laboratoriya hayvonlarida chiqqan. Xulosa: bitta tur natijasi boshqa turga avtomatik o‘tmaydi.</a:t>
            </a:r>
          </a:p>
          <a:p>
            <a:pPr>
              <a:spcAft>
                <a:spcPts val="1200"/>
              </a:spcAft>
            </a:pPr>
            <a:r>
              <a:rPr sz="1800">
                <a:solidFill>
                  <a:srgbClr val="1F2937"/>
                </a:solidFill>
                <a:latin typeface="Calibri"/>
              </a:rPr>
              <a:t>▸  Qiziqarli fakt: turlar orasidagi farq dori ta’sirini o‘zgartiradi. Morfin odamni tinchlantiradi, mushukni esa asabiylashtiradi. Penitsillin dengiz cho‘chqasi va oq maxonlarga yuqori darajada zaharli. Mushuklar odamga qaraganda 175 baravar katta izoprenalin dozasini ko‘targan.</a:t>
            </a:r>
          </a:p>
          <a:p>
            <a:pPr>
              <a:spcAft>
                <a:spcPts val="1200"/>
              </a:spcAft>
            </a:pPr>
            <a:r>
              <a:rPr sz="1800">
                <a:solidFill>
                  <a:srgbClr val="1F2937"/>
                </a:solidFill>
                <a:latin typeface="Calibri"/>
              </a:rPr>
              <a:t>▸  Eslab qolish usuli (3R, o‘z so‘zimiz bilan): ALMASHTIR — hayvon o‘rniga hujayra kulturasi, tuxum embrioni, kompyuter modeli; QISQARTIR — hayvonlar sonini kamaytir; TAKOMILLASHTIR — og‘riq va distressni kamaytir. Manbada 3R ‘qisqartirish, takomillashtirish va almashtirish’ deb ta’riflanadi.</a:t>
            </a:r>
          </a:p>
          <a:p>
            <a:pPr>
              <a:spcAft>
                <a:spcPts val="1200"/>
              </a:spcAft>
            </a:pPr>
            <a:r>
              <a:rPr sz="1800">
                <a:solidFill>
                  <a:srgbClr val="1F2937"/>
                </a:solidFill>
                <a:latin typeface="Calibri"/>
              </a:rPr>
              <a:t>▸  Tahlil uchun misol: tanqidchilar keltirgan klofibrat tajribasi. 1964–1972 yillarda JSST 10 ming erkak bilan ommaviy tajriba o‘tkazdi. Kuchsiz yurak xurujlari kamaydi, lekin umumiy o‘lim dori olmaganlarga nisbatan 37 foiz yuqori chiqdi. Savol: nega bitta ijobiy ko‘rsatkich dorining xavfsizligini isbotlamaydi?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Odamlarda tajriba o‘tkazish bo‘yicha xalqaro miqyosdagi birinchi qoidalar to‘plami qaysi hujjat bo‘ldi?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Lissabon deklaratsiyasi (Jahon tibbiyot uyushmasi, 1981)</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Nyurnberg kodeksi (AQSh 1-Harbiy tribunali, 1947)</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Yevropada bemorlar huquqlari deklaratsiyasi (1994)</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Xelsinki deklaratsiyasi (Jahon vrachlar uyushmasi, 1964)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ishtirokchiga tajriba xavfsiz deb yolg‘on aytib, rozilik oldi. Ixtiyoriy rozilikning qaysi sharti buzilgan?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Shaxsning qonunda belgilangan rozilik berish qobiliyati yo‘qligi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Tajriba tafsilotlarini tushunish uchun bilimning yetishmasligi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Tajribani etika qo‘mitasi tasdiqlamaganligi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Aldov va firibgarliksiz erkin tanlash huquqining buzilganligi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Dachau lagerida mahbuslar 12 km balandlikdagi sharoitga o‘xshash muhitda sinalgan. Nyurnbergdagi xalqaro harbiy tribunal bunday harakatlarni qanday tasnifladi?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Insoniyatga qarshi jinoyat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Gippokrat qasamyodini buzish bo‘yicha intizomiy qoidabuzarlik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Jazolanmaydigan yanglishish sifatidagi tibbiy xato</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Harbiy xizmat tartibini buzish holati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AQShda 1970-yillarda vrach davolash xavflarini bemorga faqat murakkab tibbiy atamalarda tushuntirdi. Qaysi mezon talabi buzilgan?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Ma’lumotni faqat kasbiy shaklda berish haqidagi 1950-yillar mezoni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Vrach sirini saqlash haqidagi kasbiy axloq mezoni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Beborga yo‘naltirilgan (patient-oriented) mezon talabi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Dori retseptini to‘g‘ri yozish haqidagi tartib mezoni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Paternalizm modelida mo‘ljallangan tibbiy aralashuvga bemorning roziligi nima bilan belgilanar edi?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 mustaqil tanlagan davolash usullari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Vrach tanlagan davolash usullari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Sud tomonidan tayinlangan davolash usullari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Oila a’zolari taklif qilgan davolash usullari bilan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mahbusga tajriba tafsilotlarini aytmadi va rad etsa jazolanishini bildirib, rozilik qog‘ozini imzolatdi. Nyurnberg kodeksining qaysi talabi buzildi?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Tadqiqot natijalarini ommaga muntazam e’lon qilish talabi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Ixtiyoriy rozilikning bosimsiz, erkin berilishi talabi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Tajribani faqat yuqori malakali shifokor o‘tkazishi talabi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Tadqiqot guruhlarini tasodifiy usulda shakllantirish talabi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1960-yilda Yaponiyada dori qabul qilganlar ommaviy zaharlanib, «smon» kasalligi rivojlandi. Bu Jahon vrachlar uyushmasini bezovta qildi. U 1964-yilda qaysi hujjatni qabul qildi?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 huquqlari to‘g‘risidagi Lissabon deklaratsiyasini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Odamlarda tajriba o‘tkazish bo‘yicha Nyurnberg kodeksini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Tadqiqotchilar uchun Belmont hisobotini (qo‘llanmasini)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Xelsinki deklaratsiyasini (keyin Xelsinki–Tokio)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Etika qo‘mitasi yangi dori sinovini ko‘rib chiqmoqda, ammo homiy kompaniya qo‘mita a’zolariga moliyaviy bosim o‘tkazmoqda. JSSTning etika qo‘mitalariga tavsiyasi bu holatda nimani talab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Qo‘mita siyosiy, idoraviy va moliyaviy ta’sirlardan mustaqil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Qo‘mita homiy kompaniya vakillari ko‘rsatmasiga amal qilishi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Qo‘mita faqat vazirlik rahbariyati qarorlarini tasdiqlab borishi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Qo‘mita qarorni tadqiqotchi bilan oldindan kelishib qabul qilishi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dori sinovida bemorlarni tadqiqot va nazorat guruhlariga tasodifiy usulda ajratdi. Dalilli tibbiyot terminologiyasida bu qanday jarayon deb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Tizimli sharh yaratish jarayoni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Placebo bilan almashtirish jarayoni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Randomizatsiya qilish jarayoni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Klinik ekspertiza o‘tkazish jarayoni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 omillardan qaysi biri darslikda dalilli tibbiyot tarqalishining asosiy sabablaridan biri sifatida ko‘rsatilgan?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Dori reklamasining barcha mamlakatlarda butunlay taqiqlanishi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Kompyuter va axborot texnologiyalarining paydo bo‘lishi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Klinik sinovlarning to‘liq to‘xtatilishi va cheklanishi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Vrach–bemor munosabatida paternalizmning yanada kuchayishi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Vrach ikki dorini solishtirdi: arzon dori qimmat dori bilan bir xil yoki undan yaxshiroq samara beradi. Dalilli tibbiyot nuqtayi nazaridan qaysi qaror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Arzon dorini tanlash, chunki qimmatini tayinlash xarajatni oshiradi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Qimmat yangi dorini tanlash, chunki narx samaradorlikni kafolatlaydi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Dorini ilmiy ma’lumotsiz, faqat reklamaga tayanib tanlash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Ikkala dorini bemorga bir vaqtning o‘zida tayinlash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Etika vrachdan qaysi fazilatni talab qiladi, lekin uni hech qanday qonun bilan tartibga solib bo‘lmaydi?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Hujjatlarni belgilangan muddatda to‘ldirish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Halollik va beg‘arazlik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Litsenziya olish tartibiga rioya qilish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Qonun moddalarini to‘liq yod bilish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internetdan topgan ma’lumotga tayanib aniq bir dorini so‘radi, vrach esa bunday ma’lumotni izlashga vaqt topmagan. Matnga ko‘ra bu vaziyat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Eng yaxshi holat, chunki bemor faol qatnashmoqda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Ahamiyatsiz holat, chunki bemor har doim haq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Juda xavfli holat, undan xavfliroqni tasavvur qilish qiyin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huquqiy masala, etikaga aloqasi yo‘q holat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Talaba so‘raydi: nega Vezaliy hayvon tajribalarida narkozdan foydalanmagan? Matnga ko‘ra eng to‘g‘ri javob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Narkozdan foydalanish o‘sha davrda qonun bilan taqiqlangan edi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 hayvonlar og‘riqni umuman sezmaydi, deb hisoblagan edi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Cherkov inkvizitsiyasi narkozni qo‘llashni man etgan edi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Og‘riqsizlantiruvchi dorilar faqat XIX asr boshida ochilgan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Talidomid hayvonlarda sinalganda teratogen ta’sir ko‘rsatmadi, odamda esa nuqsonli bolalar tug‘ildi. Hayvon tajribalariga qarshi dalillarga ko‘ra bu holat nimani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Hayvonlarda sinash har doim to‘liq xavfsizlikni kafolatlaydi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Tur xususiyatlari natijani buzishi va halokatli oqibatga olib kelishi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Dori dozasi hayvonlarda har gal noto‘g‘ri tanlanadi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Talidomid faqat kemiruvchilar uchun xavfli bo‘lgan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Talidomid sinovda kemiruvchilarga zarar bermadi, ammo odam homilasiga ta’sir qildi. Bu hodisa nimani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Teratogen ta’sir faqat juda yuqori dozalarda namoyon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Tur xususiyatlari tajriba natijasini jiddiy buzishi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Kemiruvchilardagi natijalar odam uchun har doim ishonchli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Dori xavfsizligi faqat zaharlilik darajasi bilan baholanadi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Izoprenalin ingalyatorlarida hayvonlarda katta dozalar ham xavfsiz ko‘ringan, odamlarda esa 3,5 ming bemor halok bo‘lgan.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Hayvondagi doza chegarasi odamga to‘g‘ridan-to‘g‘ri tatbiq etiladi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Tadqiqotchilar dozani hayvonlarda ataylab kamaytirib yuborgan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Mushuklar odamdan sezgirroq bo‘lgani uchun xato yuz bergan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Hayvondagi chidamlilik odam uchun xavfsizlikni kafolatlamaydi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Laboratoriyada hayvonlar distressini kamaytirish va og‘riqsizlantiruvchi vositalar qo‘llash 3R ning qaysi tamoyiliga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Refinement — tajriba sharoitini takomillashtirish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Replacement — hayvonni muqobil usul bilan almashtirish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Reduction — hayvonlar sonini qisqartirish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Replication — tajribani qayta takrorlash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yangi dorining zaharliligini hujayra darajasida, hayvonsiz va arzon yo‘l bilan aniqlamoqchi. Qaysi usul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Zotli itlarda uzoq muddatli sinov o‘tkazish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Mini-cho‘chqalarda takroriy sinov o‘tkazish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Inson hujayralari kulturasidan foydalanish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Kemiruvchilar guruhlarida sinov o‘tkazish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mushukda ingalyatsion narkozni xloroform bilan boshlamoqchi. Manbaga ko‘ra bu nima uchun noto‘g‘ri?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Mushuklar efirga umuman chidamsiz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Mushuklar xloroformga juda sezgir, tez nobud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Xloroform faqat vena orqali yuborilishi kerak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Xloroform mushuklarda og‘riqni qol, faqat uyqu beradi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Nyurnberg kodeksi (AQSh 1-Harbiy tribunali, 1947)</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Nyurnberg kodeksi 1947-yilda «tibbiyot xodimlari» ishi bo‘yicha hukm bilan birga tayyorlandi. U odamlarda tajriba o‘tkazish bo‘yicha birinchi xalqaro qoidalar to‘plami bo‘ldi. Boshqa hujjatlar keyinroq qabul qilingan.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1-bo‘lim «Odamlarda tajriba o‘tkazish va xabardorlikka asoslangan rozilik»-bet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Aldov va firibgarliksiz erkin tanlash huquqining buzilganligi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Birinchi tamoyilga ko‘ra shaxs zo‘ravonlik, aldov, firibgarlik, hiyla-nayrang va yashirin majburlashsiz erkin tanlash huquqiga ega bo‘lishi shart. Yolg‘on axborot bilan olingan rozilik bu shartni buzadi.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1-bo‘lim «Odamlarda tajriba o‘tkazish va xabardorlikka asoslangan rozilik» (Nyurnberg saboqlari)-bet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Insoniyatga qarshi jinoyat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Nyurnbergdagi xalqaro harbiy tribunal mazkur harakatlarni insoniyatga qarshi jinoyat deb tasnifladi. Kislorod tanqisligi tajribasi Dachaudagi misollardan biri edi.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1-bo‘lim «Odamlarda tajriba o‘tkazish va xabardorlikka asoslangan rozilik» (Nyurnberg saboqlari)-bet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Beborga yo‘naltirilgan (patient-oriented) mezon talabi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1950-yillarda axborot kasbiy xususiyatga ega edi. 1970-yillarda «beborga yo‘naltirilgan» mezon joriy etildi. Unga ko‘ra axborot hamma uchun tushunarli bo‘lishi, davolash maqsadi, xavf va muqobillarni ochiqlashi lozim.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1-bo‘lim «Odamlarda tajriba o‘tkazish va xabardorlikka asoslangan rozilik»-bet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Vrach tanlagan davolash usullari bilan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«Otalarcha g‘amxo‘rlik» modelida vrach bemor holatini o‘rganib, davolash usulini o‘zi tanlardi. Bemorning roziligi shu tanlov bilan belgilanardi. XX asrning ikkinchi yarmida bu modeldan chekinish boshlandi.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1-bo‘lim «Odamlarda tajriba o‘tkazish va xabardorlikka asoslangan rozilik»-bet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Ixtiyoriy rozilikning bosimsiz, erkin berilishi talabi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Nyurnberg kodeksining birinchi ttamoyiliga ko‘ra, ixtiyoriy rozilik mutlaqo zarur shart. Shaxs zo‘ravonlik, aldov, bosim yoki majburlashning yashirin shakllarisiz erkin tanlashi va tajriba tafsilotlarini tushunishi lozim. Bu voqeada bosim va axborot yetishmasligi bor.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1-bo‘lim (Nyurnberg saboqlari)-bet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Xelsinki deklaratsiyasini (keyin Xelsinki–Tokio)</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yozilishicha, Yaponiyadagi ommaviy zaharlanish Jahon vrachlar uyushmasini tashvishga soldi va u 1964-yilda Xelsinkida deklaratsiya qabul qildi. Keyinroq unga yangi qoidalar kiritildi. Nyurnberg kodeksi 1947-yilda sud hukmi tarkibida paydo bo‘lgan.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2-bo‘lim (Farmatsiyadagi bioetika)-bet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Qo‘mita siyosiy, idoraviy va moliyaviy ta’sirlardan mustaqil bo‘lishi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JSSTning tavsiyasiga ko‘ra, etika qo‘mitalari tarkibida, qarorlar qabul qilish tartib-taomillarida siyosiy, ma’muriy, idoraviy, kasbiy va moliyaviy-iqtisodiy ta’sirlardan mustaqil bo‘lishi lozim.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2-bo‘lim (etika qo‘mitalari)-bet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Randomizatsiya qilish jarayoni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Randomizatsiya — bemorlarni, masalan, tadqiqot va nazorat guruhlariga tasodifiy usulda ajratish. Randomizatsiya qilingan klinik tadqiqotlar dalilli tibbiyotdagi tadqiqot texnologiyasida yetakchilik qiladi. Kokran bunday sinovlarni tizimli umumlashtirishni taklif qilgan.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2-bo‘lim (dalilli tibbiyot, Kokran)-bet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Kompyuter va axborot texnologiyalarining paydo bo‘lishi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Sabablar orasida klinik samaradorligi noaniq preparatlar, klinik qarorlar sifatini yaxshilash zarurati, kompyuter va axborot texnologiyalarining paydo bo‘lishi hamda yangi klinik tafakkur paradigmasi bor. Boshqa variantlar manbada sabab sifatida keltirilmagan.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2-bo‘lim (dalilli tibbiyot tarqalishi sabablari)-bet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Arzon dorini tanlash, chunki qimmatini tayinlash xarajatni oshiradi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Matnga ko‘ra, preparatning yangiligi yoki narxi uning samaradorligini kafolatlamaydi. Arzon vosita teng yoki yaxshiroq samara bersa, qimmat dori tayinlash noto‘g‘ri va xarajatni oshiradi.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2-bo‘lim «Farmatsiyadagi bioetika» (dalilli tibbiyotning iqtisodiy omili)-bet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Halollik va beg‘arazlik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Huquqqa rioya qilish uchun qoidalarga amal qilishning o‘zi yetarli. Etika esa halollik va beg‘arazlikni talab qiladi, bu fazilatlarni qonun bilan tartibga solib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2-bo‘lim «Farmatsiyadagi bioetika» (etika va huquq)-bet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Juda xavfli holat, undan xavfliroqni tasavvur qilish qiyin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Matnda ommaviy axborot vositalari bemorning rozilik berishiga katta ta’sir ko‘rsatishi aytilgan. Bemor topgan ma’lumotga tayanib dori so‘rasa-yu, vrach u ma’lumotni topishga ulgurmagan bo‘lsa, bundan xavfliroq vaziyatni tasavvur qilish qiyin.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II bob, 2-bo‘lim «Farmatsiyadagi bioetika» (ISM va bemor axborotiga oid qism)-bet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Og‘riqsizlantiruvchi dorilar faqat XIX asr boshida ochilgan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Matnga ko‘ra, og‘riqni qoldiradigan dorilar faqat XIX asr boshida kashf etilgan. Shu sababli Vezaliy tajribalarda narkozdan foydalanmagan, bunday tajribalar esa o‘ta shafqatsiz vivisektsiya deb atalgan.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1.2 «Biomeditsina eksperimenti tarixiga qisqacha ekskurs»-bet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Tur xususiyatlari natijani buzishi va halokatli oqibatga olib kelishi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Matnda talidomidning xavfli teratogen xususiyati faqat odamda va kam qo‘llaniladigan laboratoriya hayvonlarida namoyon bo‘lgani aytiladi. Tur xususiyatlari tajriba natijalarini jiddiy buzishi va halokatli oqibatlarga olib kelishi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2.1 «Hayvonlar qo‘llanilishiga qarshi chiqayotgan olimlarning dalillari»-bet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Tur xususiyatlari tajriba natijasini jiddiy buzishi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Manbaga ko‘ra talidomidning xavfli teratogen xususiyati faqat odamda va kam ishlatiladigan laboratoriya hayvonlarida paydo bo‘lgan, kemiruvchilar uchun u zararsiz bo‘lgan. Tarix tur xususiyatlari natijani buzib, halokatli oqibatlarga olib kelishini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2.1-bo‘lim (tur farqlari, talidomid)-bet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Hayvondagi chidamlilik odam uchun xavfsizlikni kafolatlamaydi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mushuklar odamga qaraganda 175 baravar katta dozani ko‘targani, odamda esa juda kam doza ham taxikardiya va aritmiyaga olib kelishi mumkinligi yozilgan. Demak, hayvondagi natijani odamga ko‘chirish xavfsizlikni kafolatlamaydi.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2.1-bo‘lim (izoprenalin va talidomid misollari)-bet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Refinement — tajriba sharoitini takomillashtirish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Refinement laboratoriya hayvonlarini saqlash va ulardan foydalanish sharoitini yaxshilash, distressni kamaytirish va tajriba maqsadiga zid bo‘lmagan holda og‘riqsizlantiruvchi vositalar qo‘llash deb ta’riflangan.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2.2-bo‘lim (3R tamoyili, Refinement)-bet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Inson hujayralari kulturasidan foydalanish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Manbaga ko‘ra hujayra kulturasi hayvon organizmiga muqobil bo‘lib, zaharlilikni hujayra, ba’zan subhujayra darajasida aniqlaydi, hayvon tajribasidan arzon va inson hujayralarini qo‘llab turga bog‘liqlik masalasini bartaraf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2.2-bo‘lim (muqobil usullar, kultural usullar)-bet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Mushuklar xloroformga juda sezgir, tez nobud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quyon va mushuklar xloroformga juda sezgir va tez nobud bo‘lishi aytilgan. Shuning uchun premedikatsiyadan so‘ng etil efirining kichik miqdorlari bilan chuqur bo‘lmagan narkoz chaqirish tavsiya etiladi.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6.2-bo‘lim (eksperimental hayvonlarda narkoz)-bet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Odamlar va hayvonlar ustida klinik sinovlar va tajribalarning axloqiy masalalari: bioetika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Muhamedova Z.M. Bioetika (o‘quv qo‘llanma, falsafa fakulteti), Toshkent, 2006. 2006. II bob 1-bo‘lim «Odamlarda tajriba o‘tkazish va xabardorlikka asoslangan rozilik» (Nyurnberg saboqlari); 2-bo‘lim «Farmatsiyadagi bioetika»</a:t>
            </a:r>
          </a:p>
          <a:p>
            <a:pPr>
              <a:spcAft>
                <a:spcPts val="1200"/>
              </a:spcAft>
            </a:pPr>
            <a:r>
              <a:rPr sz="2000">
                <a:solidFill>
                  <a:srgbClr val="1F2937"/>
                </a:solidFill>
                <a:latin typeface="Calibri"/>
              </a:rPr>
              <a:t>▸  Yuldashev N.M., Saydalixodjayeva O.Z., Saidov A.B. Bioetika (tibbiyot OTM talabalari uchun darslik), Toshkent tibbiyot akademiyasi, Toshkent, 2019 (titul betida 2018). 2019. 1.2 «Biomeditsina eksperimenti tarixiga qisqacha ekskurs»; 2-bob (2.1 hayvonlar qo‘llanilishiga qarshi dalillar, 2.2 3R tamoyili); II qism 4-6-boblar (hayvonlarda eksperimental tadqiqotlar, immobilizatsiya, narkoz — 6.2 bo‘limgacha)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