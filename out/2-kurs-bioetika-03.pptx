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odamda tajriba o‘tkazish alohida axloqiy nazoratni talab qiladi? 2) Hayvon tajribalari zarur deb hisoblaysizmi? Doskada: rejadagi 5 bosqichni strelkalar bilan chizing. Tipik xato: talabalar hayvon tajribalari mavzusini odam tajribalaridan butunlay ajratib qo‘yadi, aslida ikkalasi bir axloqiy mantiqqa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Kasallik belgisi yo‘q odamdan davolashga rozilikni qanday olish mumkin? 2) Tibbiy sir qanday saqlanishi kerak? Doskada: ikki ustunli juft yozing: JTU — Lissabon (1981); JSST — Yevropa (1994). Tipik xato: deklaratsiyalarni tashkilotlar bilan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Hippokrat qasamyodi nega shifokorlarni to‘xtata olmadi? 2) Axloqiy chegara nima uchun faqat qasamyodga tayanmasligi kerak? Doskada: vaqt chizig‘i — 1947 tribunal → 20 avgust yakun → Nyurnberg kodeksi. Tipik xato: Nyurnberg kodeksini alohida sud emas, tribunal hukmining bir bo‘limi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Tafsilotlarga chuqur kirmang, faqat tajriba turi va axloqiy xulosani ayting. Muhokama: 1) ‘Ilmiy natija foydali bo‘lsa, tajriba oqlanadimi?’ 2) Gippokrat qasamyodi nega to‘sqinlik qilmadi? Doskada: jadvalning 1-ustunini yozib, har biriga ‘rozilik bormi?’ degan savolga ‘yo‘q’ belgisini qo‘ying. Tipik xato: talaba tajribaning ilmiy qiymatini muhokama qilib, rozilik masalasini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hujjat sud hukmi shaklida qabul qilinsa ham asosan axloqiy kuchga ega? 2) ‘Inson manfaati fan manfaatidan ustun’ degani amalda nimani anglatadi? Doskada: ‘Hukm → bo‘lim → Nyurnberg kodeksi (10 tamoyil)’ zanjirini chizing. Tipik xato: kodeksni qonun deb, uni majburiy yuridik norma sifatida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Qaysi shart buzilsa, rozilik haqiqiy hisoblanmaydi? 2) ‘Ixtiyoriy’ va ‘xabardorlikka asoslangan’ rozilik farqi nimada? Doskada: besh bosqichli zanjirni chizib, har bosqichga bittadan buzilish misoli yozdirib chiqing. Tipik xato: talaba imzo qo‘yilgan varaqni rozilik bilan tenglashtiradi, tushunish va erkin tanlovni e’tiborsiz qoldiradi.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faqat «ixtiyoriylik» yetarli emas? 2) Majburlovning yashirin shakllariga misol keltiring. Doskada: ikki ustunli jadvalni talabalar bilan birga to‘ldiring. Tipik xato: ikki atamani sinonim deb hisoblash; Nyurnberg kodeksini qonuniy kuchi bor hujjat deb o‘ylash (u asosan axloqiy kuchga ega).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«Bemorga yo‘naltirilgan» mezon nimani o‘zgartirdi? 2) Nega aynan sud ishlari bu tushunchani rivojlantirdi? Doskada: 1947 dan 70-yillargacha vaqt chizig‘ini chizing. Tipik xato: 50-yillar va 70-yillar mezonlarini aralashtirish (professional va bemorga yo‘naltirilgan).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bemor shifokorga tabiiy ravishda qaram? 2) Tibbiyot yutuqlari paternalizmdan chekinishga qanday ta’sir qildi? Doskada: ikki modelni «kim qaror qiladi?» savoli bilan sxemada chizing. Tipik xato: paternalizmni yomon niyatli deb tushunish; u g‘amxo‘rlik modeli, muammo bemorning qarorda ishtirok etmasligida.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Muhokama: 1) Natija foydali bo‘lsa, majburlash oqlanadimi? 2) Mahbus ‘ha’ desa ham rozilik ixtiyoriy bo‘ladimi? Doskada: ‘shaxs manfaati’ va ‘jamiyat manfaati’ tarozisini chizdiring. Tipik xato: talabalar buzilgan tamoyilni faqat ‘zo‘ravonlik’ deb tushunadi, bilimsiz rozilikni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 og‘zaki, har biriga 1 talaba. Muhokama: nega kodeks sud hukmi bo‘lsa-da, ko‘proq axloqiy kuchga ega? Doskada: rozilikning uch sharti (qobiliyat, erkinlik, tushunish) ni yozdiring. Tipik xato: kodeks yuridik majburiy hujjat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xavfsizlikka sarflanadigan vaqt va mablag‘ oshdi? 2) Bu kechikish bemorlarga qanday foyda beradi? Doskada: zanjirni o‘zingiz davom ettirib, ‘etika qo‘mitasi’ bosqichini qo‘shing. Tipik xato: manbada talidamid fojiasi ikki joyda turlicha sanalangan (1958 va 1966); aniq yilni da’vo qilmang.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aynan dori fojialari deklaratsiyaga turtki bo‘ldi? 2) Nega hujjat bir marta emas, bir necha bor yangilandi? Doskada: 1958–2000 yillar vaqt chizig‘ini chizdiring va har bir shaharni belgilang. Tipik xato: manbaning o‘zida talidamid fojiasi ikki joyda — 1958-yil (Germaniya) va 1966-yil deb berilgan; talabalarga bu nomuvofiqlikni ta’kidlang, jadvaldagi 1958 yilni manbadagi variant sifatida qabul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Qo‘mita nima uchun moliyaviy va idoraviy ta’sirdan mustaqil bo‘lishi kerak? 2) Axloqiy ekspertizasiz sinov o‘tkazish nimaga olib kelishi mumkin? Doskada: ekspertiza sxemasini o‘zingiz tuzib chizdiring. Diqqat: xato qilish xavfi — Xelsinki deklaratsiyasi ≠ GCP: birinchisi axloqiy-huquqiy tamoyillar, ikkinchisi klinik amaliyot qoidalari. Tipik xato: sxemani manbadagi rasmiy tartib deb o‘ylash; u o‘quv soddalashtirmasi.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O‘zbekiston qo‘mitasi qaysi hujjatlarga amal qiladi? 2) Nega milliy qonunlarni bioetika nuqtai nazaridan chuqurlashtirish kerak (manbada shunday fikr bor)? Doskada: qo‘mita tayanadigan hujjatlar ro‘yxatini ustun shaklida yozdiring. Tipik xato: Belmont tamoyillarini (uchta) manbadan olingandek aytish — manbada faqat hujjat nomi bor, tamoyillar uchun qo‘shimcha manba kerak. Manbada nomi «Balmont» deb yozilgan, bu imloviy xato bo‘lishi mumkin.</a:t>
            </a:r>
          </a:p>
          <a:p/>
          <a:p>
            <a:r>
              <a:t>Tekshirish kerak (manbada noaniq):</a:t>
            </a:r>
          </a:p>
          <a:p>
            <a:r>
              <a:t>- Belmont «Axloq tamoyillari va tadqiqot ishtirokchilarini himoya qilish qo‘llanmasi» ro‘yxatda faqat nomi bilan keltirilgan; uning uch tamoyili manbada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Ekspertiza xulosasi bo‘lmasa, sinovni kim to‘xtatishi kerak? 2) Qo‘mita mustaqilligi nimaga kerak? Doskada chizish: «Sinov → etika qo‘mitasi → xulosa → ruxsat» zanjirini chizing va qo‘mita tayanadigan hujjatlarni yozing. Tipik xato: etika qo‘mitasini faqat qonun talabi deb bilish; etika qonundan kengroq, halollik va beg‘arazlikni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bemorlarni guruhlarga tasodifiy ajratish kerak? 2) Tizimli sharhni nega muntazam yangilash lozim? Doskada chizish: ro‘yxatdagi bemorlar → tasodifiy ajratish → tadqiqot va nazorat guruhi sxemasi. Tipik xato: randomizatsiyani «tanlab olish» bilan adashtirish; u tasodifiy ajratishdir.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dorining qimmatligi samaradorlikni kafolatlamaydi? 2) Reklama ma’lumotini isbotlangan ma’lumotdan qanday farqlaysiz? Doskada chizish: to‘rt sababni to‘rtta o‘q bilan «IIT» ga yo‘naltiring. Tipik xato: yangi preparatni avtomatik ravishda eng yaxshi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«yangi» dori «yaxshi» dori degani emas? 2) Reklama va ilmiy dalil qanday farqlanadi? Doskada: «Samaradorlik – narx» nisbatini ikki ustunda (bemor uchun / tizim uchun) chizdiring. Tipik xato: talabalar qimmat dorini avtomatik samarali deb hisoblaydi; arzon dorini esa faqat arzon bo‘lgani uchun tanlash ham xato ekanini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Qonun bilan tartiblab bo‘lmaydigan fazilatlarga misol keltiring. 2) Klinik sinovda faqat huquqqa tayanish nega yetarli emas? Doskada: ikki doira (huquq kichik, etika katta) chizdiring. Tipik xato: etikani huquqning sinonimi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 (juftlikda 4 daqiqa, umumiy muhokama 4 daqiqa). Muhokama: 1) Shifokor bemorga nima deyishi kerak? 2) Ma’lumotni qaerdan va qanday tekshiradi? Doskada: «bemor – shifokor – dalil» uch tugunli sxema chizdiring. Tipik xato: bemor so‘ragan dorini tekshirmasdan yozib berish yoki bemorning ma’lumotini umuman rad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bittadan o‘qing, talabalar yozma javob bersin, so‘ng birgalikda tekshiring. Muhokama: nima uchun nazorat guruhiga tasodifiy ajratish kerak? Doskada: 1947 (Nyurnberg), 1964 (Xelsinki), 1972 (Kokran g‘oyasi), 1992 (Oksford markazi) vaqt chizig‘ini chizdiring. Tipik xato: Xelsinki deklaratsiyasini Nyurnberg kodeksi bilan, 1972 va 1992 yillarni o‘zaro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nima uchun Ibn Sino va Ibn Zuhr birinchi bosqichdan oldin hayvonda sinashni qo‘llagan? Doskada: uch ustunli jadvalni talabalar bilan to‘ldiring. Tipik xato: manbada Vezaliy (1514–1564) 1-bosqichning boshi deb ko‘rsatilgan, lekin bosqich XVII–XVIII asr deyiladi; bu farqni alohida aytib o‘ting. 2-bosqichdagi 1878 yil va «XX asr» ko‘rsatkichi ham manbada to‘liq izohlanmagan.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jamoat fikri o‘zgardi va Darvin ta’limoti bunga qanday ta’sir qildi? Hozirgi 3R qoidasi bilan bog‘lang: og‘riq va azobni kamaytirish talabi qayerdan chiqqan? Doskada: «narkoz yo‘q → shafqatsizlik → Darvin → 1878 qonun» zanjirini chizdiring. Tipik xato: vivisektsiya faqat Vezaliy davriga xos deb o‘ylash; manbada Bernar tajribalari XIX asrda ham davom etgani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o‘quv jarayonida hayvonni yorish masalasi jamoatchilikni bezovta qildi? 2) Kodeksning «og‘riqsiz va xavfsiz» sharti amalda nimani anglatadi? Doskada: to‘rt bosqichli vaqt chizig‘ini chizdiring. NSTA — Табиий фанлар ўқитувчилари миллий ассоциацияси (Natural Science Teachers Association). Diqqat: xato qilish xavfi — 1986-yilgi Strasburg konvensiyasi hayvonlar haqida, 1993-yilgi Yevropa Kengashi konvensiyasi esa inson huquqlari haqida; ikkalasini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zahar yoki infeksiya ta’sirini odamda modellashtirib bo‘lmaydi? 2) «Hayvonlar zarur» degan fikr qanday axloqiy savollarni qoldiradi? Doskada: «tadqiqot maqsadi → odamda mumkin emas → hayvon modeli» zanjirini chizdiring. Tipik xato: «zarur» degan fikr kitobda bir tomonning pozitsiyasi; keyingi slaydda qarshi dalillar bor, talabalar buni mutlaq haqiqat deb olmasin.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o‘lim kamayishining sababi bo‘yicha fikrlar turlicha? 2) Tanqidchilar dalilini qanday tekshirish mumkin? Doskada: ikki ustunli jadval («hayvon tajribasi tarafdorlari» va «tanqidchilar») chizdiring. Tipik xato: bu dalillarni isbotlangan haqiqat deb olish. Kitobda ular tanqidchilar pozitsiyasi sifatida keltirilgan. Klofibrat odamlarda o‘tkazilgan sinov, kitob uni model kamchiligi misoli sifatida beradi; talabalar bu bog‘lanishni tanqidiy baholasin.</a:t>
            </a:r>
          </a:p>
          <a:p/>
          <a:p>
            <a:r>
              <a:t>Tekshirish kerak (manbada noaniq):</a:t>
            </a:r>
          </a:p>
          <a:p>
            <a:r>
              <a:t>- Inglis fikricha, yuqumli kasallik o‘limi sanitariya va turmush sharoiti yaxshilangani tufayli kamaygan; Britaniyada 92 foizgacha pasaygan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hayvondagi xavfsizlik odamga kafolat bo‘lmaydi? 2) Metabolizm tezligi farqi dozani tanlashga qanday ta’sir qiladi? Doskada chizing: odam–hayvon ikki ustunli jadval va 2-3 modda misoli. Tipik xato: talabalar hayvon tajribasi natijasini odamga to‘g‘ridan-to‘g‘ri ko‘chirsa bo‘ladi deb o‘ylaydi. Diqqat: ‘hayvonda zararsiz’ ≠ ‘odamda zararsiz’.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3 guruhga bo‘linib, savolga 3 daqiqada javob tayyorlaydi. Muhokama: 1) Tur farqini hisobga olmaslik qanday oqibat berdi? 2) Qaysi hollarda hayvonda sinash baribir shart? Doskada chizing: ‘hayvon → ekstrapolyatsiya → odam’ zanjirida xato bo‘lishi mumkin bo‘lgan joylarni belgilang. Tipik xato: faqat hayvonni ayblash; asl muammo natijani to‘g‘ridan-to‘g‘ri ko‘chirishda. Manbada hujayra kulturasi tur bog‘liqligi masalasini bartaraf qilishi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Qaysi tajribada almashtirish imkonsiz? 2) Refinement nima uchun hayvon uchun ham, natija sifati uchun ham muhim? Doskada chizing: uch ustunli 3R jadvali va har ustunga bittadan o‘z misolingiz. Eslab qoling: 3R = almashtir, kamaytir, yengillashtir. Tipik xato: Reduction va Replacement ni aralashtirish — biri sonni kamaytiradi, ikkinchisi hayvonni umuman olib tashlaydi. Eslatma: Birch–Russell muallifligi manbada ko‘rsatilmagan, shuning uchun uni alohida manbadan tekshirish kerak.</a:t>
            </a:r>
          </a:p>
          <a:p/>
          <a:p>
            <a:r>
              <a:t>Tekshirish kerak (manbada noaniq):</a:t>
            </a:r>
          </a:p>
          <a:p>
            <a:r>
              <a:t>- Birch–Russell nomi berilgan matnda uchramaydi; 3R mazmuni faqat darslikdagi bayondan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Hujayra kulturasi qaysi muammoni (tur farqi) bartaraf etadi? 2) Nega GLP muqobil usul tamoyiliga ziddek ko‘rinadi? Doskada: 3R ustuniga «Replacement» ostida muqobil usullarni yozdiring. Tipik xato: muqobil usul hayvonni hamma holatda almashtiradi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25-modda tajribachiga qanday majburiyat yuklaydi? 2) Nega oldindan axloqiy ma’qullash kerak? Doskada: talablar ro‘yxatini «oldin–paytida–keyin» ustunlariga ajrating. Tipik xato: konvensiya 25-moddasini 3R tamoyilining o‘zi deb aytish; M3 haqida manbasiz xulosa chiqarish.</a:t>
            </a:r>
          </a:p>
          <a:p/>
          <a:p>
            <a:r>
              <a:t>Tekshirish kerak (manbada noaniq):</a:t>
            </a:r>
          </a:p>
          <a:p>
            <a:r>
              <a:t>- Diqqat: «M3» nomli ko‘rsatma manbada aniq berilmagan. Uni ishlatishdan oldin qo‘shimcha manba bilan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modeldan odamga natijani ko‘chirish (ekstrapolyatsiya) xavfli? 2) Mini-cho‘chqa qaysi jihatdan ma’qul model? Doskada: uch tartibli biomodellar piramidasini chizing. Tipik xato: 2-tartibni (muqobil obyektlar) 3-tartib (matematik modellar)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hayvonni to‘g‘ri tutish uning og‘rig‘ini kamaytiradi? 2) Nega bir xil narkoz hamma turga mos kelmaydi? Doskada: narkoz bosqichlari zanjirini chizdiring va har bosqichga bitta misol yozdiring. Tipik xato: immobilizatsiyani narkoz bilan bir xil deb o‘ylash. Immobilizatsiya harakatni cheklaydi, narkoz esa og‘riq hissini o‘chiradi.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Refinement bilan reduction (soni kamaytirish) farqi nimada? 2) Aspirin va morfin misollari tur farqi haqida nimani ko‘rsatadi? Doskada: ustunlar bilan «tur – xavfli preparat – nega» jadvalini tuzdiring. Tipik xato: refinementni faqat og‘riqsizlantirish deb tushunish. Unga yashash sharoitini yaxshilash va distressni kamaytirish ham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Nazorat savollari: 1) Nyurnberg kodeksining 1-printsipi nima? 2) 3R nimani anglatadi? 3) Nega etika qo‘mitasi mustaqil bo‘lishi kerak? 4) Belmont tamoyillari haqida manbada nima yo‘q? Doskada: «odam – hayvon» ikki ustunli xulosa jadvalini chizdiring. Tipik xato: Belmont tamoyillarini manbada yo‘q tafsilotlar bilan to‘ldirish. Manbada nomi «Balmont» deb yozilgan, shuning uchun aniqlash kerak.</a:t>
            </a:r>
          </a:p>
          <a:p/>
          <a:p>
            <a:r>
              <a:t>Tekshirish kerak (manbada noaniq):</a:t>
            </a:r>
          </a:p>
          <a:p>
            <a:r>
              <a:t>- Belmont tamoyillari matni manbada batafsil berilmagan: qo‘mita faqat «Balmont qo‘llanmasi»ga amal qilishi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Odamlar va hayvonlar ustida klinik sinovlar va tajribalarning axloqiy masalalari: bioetika standartlari, Belmont tamoyillari, Birch–Russell (3R) qoidasi, hayvonlar bilan biotibbiy tadqiqotlar bo‘yicha xalqaro ko‘rsatmalar (M3)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va hayvon tajribalari tibbiyot uchun zarur, ammo og‘ir axloqiy savollarni keltirib chiqaradi.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rozilik, bemor huquqlari va hayvonlarga insoniy munosabat qoidalarini o‘zlashtirish.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 besh qismdan iborat; reja diagrammada ketma-ket ko‘rsatilgan.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Nyurnberg va rozilik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Farmatsevtik bioetika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Dalilli tibbiyot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Hayvon tajribalari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3R tamoyili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 rejasi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 bo‘lim; 2.2 bo‘lim; Muhamedova Z.M., Bioetika, betlar: II bob, 1-bo‘lim, II bob, 1–2-bo‘limlar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Xalqaro tibbiy-axloqiy kodekslar va tashkilotlar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Jahon sog‘liqni saqlash tashkiloti (JSST) va Jahon tibbiyot uyushmasi (JTU) turli axloqiy qarashlarni tan olib, ularni xalqaro kodekslar va bitimlar orqali tartibga soladi.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huquqlari haqidagi Lissabon deklaratsiyasi (JTU, 1981) va Yevropa deklaratsiyasi (JSST, 1994) xabardor rozilik masalasida juda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Lissabon deklaratsiyasini JTU (1981) qabul qilgan, Yevropa deklaratsiyasini JSST (1994) — tashkilot va yilni adashtirmang.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Prognostik tibbiyot kasallikka moyillikni aniqlay oladi. Og‘riq bo‘lmasa, davolashga rozilikni qanday olish kerak degan savol tug‘iladi.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jarayoni: tarixiy fon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1947 yilda Germaniyada AQSh 1-harbiy tribunali ‘tibbiyot xodimlari’ ishini ko‘rdi. Xabardor rozilik tushunchasi shu davrda shakllana boshladi.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23 nafar yetakchi nemis shifokor-olim ishi bo‘yicha jarayon 1947 yil 20 avgustda yakunlandi.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Xalqaro harbiy tribunal bu harakatlarni insoniyatga qarshi jinoyat deb tasnifladi.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Hippokrat qasamyodi nemis shifokorlariga to‘siq bo‘lmadi. Jarayon yaxshilik bilan yomonlik chegarasi mo‘rt ekanini ko‘rsatdi.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(Nyurnberg saboqlari)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sudida ochilgan tajriba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Amerikalik prokuror Telford Taylor kirish nutqida sudga tajribalarning bir necha faktini keltirgan.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Tajribalar harbiy asirlar va mahbuslarda o‘tkazilgan, ularning roziligi so‘ralmagan.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Muhimi ilmiy qiymat emas, rozilikning yo‘qligi: tribunal buni insoniyatga qarshi jinoyat dedi.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080"/>
                <a:gridCol w="1691639"/>
                <a:gridCol w="14322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Tajriba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Lager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Axloqiy xulosa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Balandlik va sovuq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Dahau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 yo‘q, hayot xavf ostida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Bezgak va iprit gazi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Dahau, Zaksenxauzen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Sog‘lom odamlar zararlantirilgan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Yara va transplantatsiya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Ravensbryuk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Mahbuslar tajriba obyekti bo‘lgan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Dengiz suvi ichirish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Dahau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Tanlov mahbuslar ixtiyorisiz qilingan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Tajribalar va axloqiy xulosa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(«Nyurnberg saboqlari»)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kodeksi: tuzilishi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Tribunal hukmiga ‘O‘tkazish mumkin bo‘lgan tibbiy tajribalar’ bo‘limi kiritildi. Keyin u ‘Nyurnberg kodeksi’ nomi bilan mustaqil hujjatga aylandi.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Kodeks odamda tibbiy tajriba o‘tkazishni tartibga soluvchi birinchi xalqaro hujjat bo‘ldi. U 10 ta tamoyildan iborat.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Kodeks sud hukmi shaklida qabul qilingan, lekin uning axloqiy kuchi yuridik kuchidan kattaroq.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marta alohida inson manfaati fan va jamiyat manfaatidan ustun qo‘yildi. Kodeks hozirgacha namuna vazifasini bajaradi.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(«Nyurnberg saboqlari»)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tamoyil: ixtiyoriy rozilik shartlari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Kodeksning 1-tamoyili: tajribadagi odamning ixtiyoriy roziligi mutlaqo zarur shartdir.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zo‘ravonlik, aldov, firibgarlik va bosimning yashirin shakllarisiz berilishi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hozir ‘ixtiyoriy’ emas, ‘xabardorlikka asoslangan’ rozilik talab qilinadi. Bu qattiqroq norma.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Rozilik berish layoqati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Majburlash va aldovsiz tanlov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Tajriba tafsilotlarini tushunish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Yetarli bilim va tushuncha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Puxta o‘ylangan qaror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Rozilik shartlari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(«Nyurnberg saboqlari»)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Ixtiyoriy rozilik va xabardorlikka asoslangan rozilik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Nyurnberg kodeksining 1-bandida «ixtiyoriy rozilik» tushunchasi birinchi marta qo‘llangan.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ikki atama bir narsa emas. Bugungi hujjatlarda xabardorlikka asoslangan rozilik qattiqroq norma.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Ixtiyoriy rozilikda zo‘ravonlik, aldov va bosimsiz erkin tanlash hamda tafsilotni tushunish talab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859706"/>
                <a:gridCol w="220906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Ixtiyoriy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Xabardor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Erkin, majburlovsiz 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Axborotga tayangan erkin qaror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Nyurnberg kodeksi, 1-band (1947)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Bugungi huquqiy va axloqiy ko‘rsatmalar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Axborot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Tajriba tafsilotini tushunish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Maqsad, xavf va muqobillar, tushunarli tilda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Talab darajasi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model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Qattiqroq norma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rozilik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Informed consent evolyutsiyasi: AQSh sud amaliyoti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Tushuncha AQShda noto‘g‘ri davolash zararini qoplash bo‘yicha sud ishlarida qo‘llana boshlagan.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50–60-yillarda shifokor bemorni tibbiy xavf va muqobil davolash shakllari haqida xabardor qilishi shart bo‘ldi.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Bugun AQSh sudida rozilik shifokor bemorga qanchalik g‘amxo‘rlik qilganining huquqiy mezoni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927859"/>
                <a:gridCol w="166847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1947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Ixtiyoriy rozilik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Nyurnberg kodeksi, 1-band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50–60-yillar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Atama va majburiyat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Xavf va muqobillar haqida axborot berish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50-yillar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Professional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Axborot kasbiy xususiyatga ega edi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70-yillar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Bemorga yo‘naltirilgan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Tushunarli; maqsad, xavf, muqobillar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Axborot mezoni vaqt chizig‘i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Paternalizm va bemorning huquqiy himoyasi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Paternalizmda shifokor bemor ahvolini o‘rganib, davo usulini o‘zi tanlar, rozilik shunga bog‘liq bo‘lardi.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huquqlari: rozilik berish va voz kechish, sog‘lig‘i haqida axborot olish; muassasa buni ta’minlaydi.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Xabardor rozilik bemor va shifokor o‘rtasidagi tabiiy tengsizlikni bartaraf etadi: bemor shifokorga qaram.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50472"/>
                <a:gridCol w="213641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Paternalizm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Xabardor rozilik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Otalarcha g‘amxo‘rlik modeli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Bemorni huquqiy himoya 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Usul tanlovi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Shifokor belgilaydi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Axborot asosida bemor rozilik beradi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Shifokor tanlovi bilan belgilanadi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 berish va voz kechish huquqi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Paternalizm va xabardor rozilik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rozilik va majburlash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Dachau lagerida mahbuslar 12 km balandlikka xos sharoitda sinaldi. Maqsad nemis uchuvchilariga yordam berish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Nyurnberg kodeksining qaysi tamoyili buzilgan? Birinchi tamoyil: tajribadagi odamning ixtiyoriy roziligi mutlaqo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Kodeksda tarixda birinchi marta alohida shaxs manfaati fan va jamiyat manfaatidan ustun qo‘yildi. ‘Foyda jamiyatga’ degan asos o‘tmaydi.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Ixtiyoriy rozilik ≠ xabardorlikka asoslangan rozilik. Hozirgi ko‘rsatmalarda ikkinchisi qattiqroq norma.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(Nyurnberg saboqlari)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Nyurnberg va rozilik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Nyurnberg kodeksi qachon va qaysi tribunal tomonidan tayyorlangan? (Javob: 1947-yil, AQShning 1-Harbiy tribunali.)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Kodeks nechta tamoyilni o‘z ichiga oladi va birinchisi nima haqida? (Javob: o‘nta; ixtiyoriy rozilik haqida.)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Ixtiyoriy rozilik shaxsdan nimani talab qiladi? (Javob: qonuniy qobiliyat, majburlovsiz erkin tanlov, tafsilotni tushunish.)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Ixtiyoriy va xabardor rozilik farqi nima? (Javob: xabardorlikka asoslangan rozilik qattiqroq norma.)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1-bo‘lim, II bob, 1-bo‘lim (Nyurnberg saboqlari)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Talidamid fojiasi va farmatsevtik bioetika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Talidamid halokati fan maqsadini o‘zgartirdi: yangi dori yaratish bilan birga zararni oldini olish ham.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Yaratish va klinikada qo‘llash oralig‘i: 60-yillar boshida bir necha hafta, 80-yillar boshida 10 yilgacha.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Farmatsevtik bioetika dori yaratishdan iste’molchigacha bo‘lgan axloqiy muammolarni o‘rganadi.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Homiladorlarga uyqu dorisi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Qo‘l-oyoqsiz bolalar tug‘ildi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Zararning oldini olish maqsad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Kechikish: haftadan 10 yilgacha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Narx 20 baravardan oshdi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Sabab-oqibat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(Farmatsiyadagi bioetika)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Xelsinki deklaratsiyasi: shakllanish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Talidamid: 20 mingga yaqin bola qo‘l-oyoqsiz tug‘ilgan; Yaponiyada dori «smon» kasalligini keltirib chiqargan.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holat Jahon vrachlar uyushmasini tashvishga soldi; u 1964-yilda Xelsinkida deklaratsiya qabul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to‘ldirildi: Tokio 1975, Venetsiya 1984, Gonkong 1989, Somerset-Vest 1996, Edinburg 2000.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1958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Germaniya: talidamid fojiasi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Yaponiya: ommaviy zaharlanish, smon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Xelsinki deklaratsiyasi qabul qilindi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1975–2000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 ta Bosh assambleyada tahrirlandi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Deklaratsiya xronologiyasi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qo‘mitalari va Good Clinical Practice (GCP)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Xelsinki-Tokio tavsiyalari: mustaqil komissiya yoki qo‘mita tadqiqot bayonnomalarini nazorat qilishi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GCP — Good Clinical Practice, ya’ni «Muvofiq klinik amaliyot» qoidalari ishlab chiqildi.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Jahon sog‘liqni saqlash tashkiloti (JSST): qo‘mita siyosiy, idoraviy, moliyaviy ta’sirdan mustaqil bo‘lsin.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Tadqiqot bayonnomasi tayyor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Mustaqil qo‘mita ko‘radi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Axloqiy ekspertiza xulosasi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 bo‘lsa — sinov boshlanadi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Qo‘mita nazorat qilib boradi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Etik ekspertiza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Yevropa konvensiyasi, Belmont, O‘zbekiston qo‘mitalari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1993-yilda Yevropa Kengashi Bosh assambleyasi biologiya va tibbiyotda inson huquqi va qadr-qimmatini himoya qilish konvensiyasini qabul qildi; aksar Yevropa davlatlari unga a’zo.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O‘zbekistonda Sog‘liqni saqlash vazirligi qoshida Bioetika qo‘mitasi ishlaydi (rahbari akademik M.S. Abdullaxo‘jayeva). Ibn Sino Xalqaro Jamg‘armasi qoshida ham Milliy qo‘mita tuzilgan.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Qo‘mita Konstitutsiya, «Fuqarolar sog‘ligini saqlash to‘g‘risida»gi (1996) va «Dori vositalari va farmatsevtika faoliyati to‘g‘risida»gi (1997) qonunlar, Xelsinki va GCP ga tayanadi.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Belmont «Axloq tamoyillari va tadqiqot ishtirokchilarini himoya qilish qo‘llanmasi» ro‘yxatda faqat nomi bilan keltirilgan; uning uch tamoyili manbada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dori sinovi va etik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yangi dori klinik sinovga tayyor, lekin unda axloqiy (etik) ekspertiza xulosasi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Manbaga ko‘ra, bugun axloqiy ekspertiza xulosasisiz g‘arbdagi birorta mamlakatda odamda tajriba o‘tkazib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O‘zbekistondagi Bioetika qo‘mitasi Konstitutsiya, sog‘liqni saqlash va dori vositalari qonunlari, Xelsinki deklaratsiyasi, Belmont qo‘llanmasi (manbada «Balmont»), GCP va JSST tavsiyalariga tayanadi.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bunday sinov mumkin emas? Etika qo‘mitasi siyosiy, idoraviy va moliyaviy ta’sirdan mustaqil bo‘lishi shartmi?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Dalilli tibbiyot: Kokran va randomizatsiya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1972 yilda Kokran jamiyat dorilarning haqiqiy samaradorligidan bexabar ekanini ta’kidladi.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Randomizatsiya — bemorlarni tadqiqot va nazorat guruhiga tasodifiy usulda ajratish.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1992: Oksfordda birinchi Kokran markazi; 1993: kollokvium, 9 mamlakatdan 73 vakil.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Ma’lumotlarni tizimli yig‘ish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Tahlil qilish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Ilmiy sharh yaratish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Yangi ma’lumot bilan yangilash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Kokran bazasida nashr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Tizimli sharh jarayoni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Dalilli tibbiyot tarqalishining asosiy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Ilmiy isbotlovchi tibbiyot (IIT): faqat samaradorligi isbotlangan usullar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IIT atamasi Kanadadagi McMaster universiteti mutaxassislari tomonidan muomalaga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yangi yoki qimmat dori ≠ samarali dori; samaradorlik faqat isbot bilan tasdiqlanadi.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Sabab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Noaniq samaradorlik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Eski dorilar ham qat’iy tekshirilmagan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Sifatni oshirish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Asosli, ishonchli, tejamkor yechimlar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Axborot texnologiyalari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Kompyuter va IT — IIT vositasi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Yangi tafakkur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Tanqidiy tahlilga asoslangan yangi qarash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IIT tarqalish sabablari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Dalilli tibbiyotning iqtisodiy va axloqiy jihati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Preparatning yangiligi yoki narxining yuqoriligi uning samaradorligini kafolatlamaydi.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ma’lumotlarga ko‘ra, tibbiy aralashuvlarning atigi 30–50 foizi keng qamrovli klinik sinovdan o‘tgan.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 ilmiy dalilga asoslangan ma’lumotni tavsifiy yoki yashirin reklamadan farqlay olishi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arzon, lekin samarasiz dori ham, o‘xshash natijali arzon dori turganda qimmat dori yozish ham xarajatni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Etika va huquq: farq va o‘zaro bog‘liqlik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«etika» tushunchasi «huquq»dan kengroq; ular bir xil narsa emas (etika ≠ huquq).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Biotibbiy tadqiqotlarda etika va huquq masalalari o‘zaro bog‘liq, shuning uchun birga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Shifokor–bemor munosabatlarining ayrim jihatlari hali huquqiy tartibga solinmagan.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2045969"/>
                <a:gridCol w="14322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Huquq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Etika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Nimani talab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Qoidalarga rioya qilishni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Halollik va beg‘arazlikni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Qonun bilan tartiblanishi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Qonun bilan mustahkamlanadi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Qonun bilan tartiblab bo‘lmaydi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Bemorga kafolati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Yuridik mustahkamlangan majburiyat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Yuridik tus olguncha xavfsizlik kafolati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Qamrovi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Torroq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Kengroq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 va etika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reklama, narx va samaradorlik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internetdan topgan qimmat dorini yozib berishni so‘raydi, shifokor esa bunday ma’lumotni topishga vaqt yoki imkon topmagan.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Manbaga ko‘ra, bundan xavfliroq vaziyatni tasavvur qilish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Xabardor rozilikda shifokor ma’lumot taklif qiladi va bemorga uni tanqidiy baholashda ko‘maklashadi.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dalilli tibbiyot bu yerda nima beradi? Shifokor yangi ma’lumotni mustaqil izlab, tanqidiy baholab, amaliyotga joriy etishi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farmatsevtik bioetika va Kokran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Xelsinki deklaratsiyasi qachon va qayerda qabul qilingan? Javob: 1964-yil iyun, Xelsinki, Jahon vrachlar uyushmasining 18-Bosh assambleyasi.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Randomizatsiya nima? Javob: bemorlarni tadqiqot va nazorat guruhlariga tasodifiy usulda ajratish.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GCP nima? Javob: Good Clinical Practice, ya’ni «Muvofiq klinik amaliyot» – deklaratsiyadan keyin ishlab chiqilgan qoidalar.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Birinchi Kokran markazi qayerda ochilgan? Javob: Oksfordda, 1992-yil oktabrda. Diqqat: Kokran g‘oyasi (1972) ≠ markaz ochilishi (1992).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2-bo‘lim «Farmatsiyadagi bioetika»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 tarixining uch bosqichi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Sino dori ta’sirini o‘rganishning eng ishonchli yo‘li hayvonda tajriba deb hisoblagan.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Zuhr yangi dorilarni odamlarda qo‘llashdan oldin hayvonlarda sinab ko‘rgan.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Vezaliy narkozsiz ishlagan: og‘riq qoldiruvchi dorilar XIX asr boshida ochilgan.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27859"/>
                <a:gridCol w="202280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1-bosqich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XVII–XVIII asrlar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Vezaliy; narkozsiz vivisektsiya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2-bosqich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~100 yil, XX asr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Jamoat noroziligi; 1878 yil qonun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3-bosqich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XX asr, 1920-yillardan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Ta’limda hayvon; xalqaro tavsiyalar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bosqich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Vivisektsiya va jamoatchilik munosabati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Og‘riqsizlantiruvchi dorilar XIX asr boshida ochilgan, shuning uchun vivisektsiya o‘ta shafqatsiz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Qiynoqqa solish odatiy hol bo‘lgani uchun jamoat vivisektsiya shafqatsizligiga amalda fikr bildirmagan.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Darvin ta’limoti insonning hayvonlarga qarindoshligini anglatdi; 1878-yilda Buyuk Britaniyada hayvonlarni himoya qiluvchi qonun qabul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Klod Bernar itlar, quyonlar va kaptarlarni maxsus pechlarga solib, yuqori harorat ta’sirini o‘rgangan; hayvonlar 90–100 °C da nobud bo‘lgan.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XX asr: hujjatlar va xalqaro tavsiyalar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XX asrda shifokorlar ham hayvon tajribalarini cheklash harakatiga qo‘shildi va xalqaro tavsiyalar qabul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1981-yilgi kodeksga ko‘ra, talaba umurtqali hayvonda faqat og‘riqsiz va odam sog‘lig‘iga xavfsiz tajriba o‘tkazishi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va jamoat fikriga qaramay, bugun ham shafqatsiz tajribalar olib borilmoqda.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865470"/>
                <a:gridCol w="184897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Hujjat/hodisa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1920-yillar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Hayvonni yorish o‘quv dasturida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Vivisektsiya o‘qitishning bir qismi bo‘ldi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O‘quv amaliyot kodeksi (NSTA)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Og‘riq beradigan tajribaga cheklov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Yevropa Kengashi maslahat qo‘mitasi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Xalqaro tavsiyalarni tasdiqladi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Strasburg konvensiyasi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Umurtqali hayvonlarni himoya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Vaqt chizig‘i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 nega zarur deb hisoblanadi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Genetika, biokimyo, fiziologiya, farmakologiya, toksikologiya va gigiena hayvon tajribasiz tadqiq qilinmas edi deb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Pasteur, Bernar, Majandi, Sechenov, Pavlov kabi olimlarning kashfiyotlari hayvon tajribalariga tayangan.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Zahar, jarohat, ionli nurlanish va yuqumli qo‘zg‘atuvchilar ta’sirini odamda sinab bo‘lmaydi, shuning uchun modelni hayvonda yaratishadi.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Ibn Sino dori ta’sirini o‘rganishning eng ishonchli yo‘li hayvonlarda tajriba o‘tkazish deb hisoblagan.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1.2-bo‘lim «Biomeditsina eksperimenti tarixiga qisqacha ekskurs»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tajribalariga qarshi dalillar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Fox (AQSh) fikricha, vivisektsiya kasallikni oldini olishga o‘tishga halaqit beradi, modellar esa klinik holatni yomon aks ettiradi.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Inglis fikricha, yuqumli kasallik o‘limi sanitariya va turmush sharoiti yaxshilangani tufayli kamaygan; Britaniyada 92 foizgacha pasaygan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Klofibrat sinovi (1964–1972, Jahon sog‘liqni saqlash tashkiloti, 10 ming erkak): umumiy o‘lim dori olmaganlarga qaraganda 37 foizga yuqori chiqdi.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Coleman (Buyuk Britaniya) hayvon tajribasi natijasida erishilgan muhim yutuqni eslay olmasligini yozadi. Bu tanqidchilar pozitsiyasi.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2.1-bo‘lim «Hayvonlar qo‘llanilishiga qarshi dalillar»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Tur farqlari: dori ta’siri nega o‘zgaradi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Talidamid hayvon tajribasida teratogen bo‘lmadi; xavfi faqat odamda va kam ishlatiladigan hayvonlarda chiqdi.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Fenilbutazon metabolizmi odamda 72 soat, kuchuk va kalamushda atigi 6 soat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23 ta birikma solishtirilganda faqat to‘rttasida odam va kalamush metabolizmi bir xil kechdi.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27859"/>
                <a:gridCol w="202280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Odamda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Hayvonda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Talidamid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Homilaga teratogen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Kemiruvchilarga zararsiz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Tinchlantiradi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Mushukni asabiylashtiradi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Aspirin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Tug‘ma nuqson keltirmaydi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Sichqon, kalamushda nuqson chiqaradi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Insulin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Zararsiz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Laboratoriya hayvonlariga zararli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 farqlari misollari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2.1-bo‘lim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izoprenalin va talidamid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1960-yillarda Buyuk Britaniyada astma bilan og‘rigan va izoprenalin aerozol ingalyatorlaridan foydalangan 3,5 ming bemor halok bo‘ldi.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Hayvonlarda katta dozalar ham yurak urishini ozgina oshirdi; mushuk odamdan 175 baravar katta dozani ko‘tardi. Odamda esa juda kam doza taxikardiya va aritmiya berishi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Talidamid ham xuddi shunday: hayvon tajribasida zararsiz deb topilib, o‘n mingga yaqin bola nuqson bilan tug‘ildi.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hayvon natijasini odamga ko‘chirish (ekstrapolyatsiya) qanday xatarlar tug‘diradi? Inson hujayralari kulturasi (3R — almashtirish) bu xatarni qanday kamaytiradi?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2.1-bo‘lim, 2.2-bo‘lim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3R tamoyili: Replacement, Reduction,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3R — hayvonlardan foydalanishni almashtirish, kamaytirish va takomillashtirishga qaratilgan bioetik konsepsiya.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London universitetida 1926-yilda jamiyat tuzildi; 1938-yildan UFAW (Hayvonlarni himoya qilish universitetlar federatsiyasi).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Birch–Russell nomi berilgan matnda uchramaydi; 3R mazmuni faqat darslikdagi bayondan olindi.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964914"/>
                <a:gridCol w="174953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Tamoyil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Replacement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Hayvonni muqobil usul bilan almashtirish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kulturasi, tuxum embrioni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Reduction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Hayvonlar sonini asosli kamaytirish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Takroriy tajribaga yo‘l qo‘ymaslik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Refinement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Stress va og‘riqni kamaytirish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Og‘riq qoldiruvchi vositalar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3R = almashtir, kamaytir, yengillashtir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2.2-bo‘lim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Muqobil usullar va tadqiqot markazlari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ECVAM (Yevropa muqobil usullarni tasdiqlash markazi, Ispra), Nottingem fondi va Berlindagi «Muqobil markaz» ishlaydi.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Muqobil usul har doim ham mumkin emas: ko‘p tajribani sodda tizimda emas, butun organizmda o‘tkazish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GLP (yaxshi laboratoriya amaliyoti) ba’zan yangi mahsulotni hayvonda sinashni talab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061120"/>
                <a:gridCol w="188954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Afzalligi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Qo‘llanishi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kulturasi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 tahlil, arzon; inson hujayrasi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Virusologiya, onkologiya, vaksina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hujayrali organizm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Qulay va arzon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Harakat sekinlashadi, nur so‘nadi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Tuxum embrioni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Arzon, sodda, ishonchli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Qo‘zg‘atuvchi ta’sirni aniqlash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Kompyuter modellari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tafsilot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Muqobil sifatida sanalgan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Hayvonga muqobil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2.2-bo‘lim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Hayvonlar bilan ishlashda umumiy axloqiy talablar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Yevropa Kengashi konvensiyasining 25-moddasi: hayvonsiz ilmiy qoniqarli usul bo‘lsa, hayvonda tajriba qilinmaydi. Direktiva 86/609/EEC ham shunga tayanadi.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Tajriba faqat zarur maqsadda va foyda kutishga asos bo‘lsa mumkin. Keraksiz takrorlash mumkin emas; sonu metodika oldindan ma’qullanadi.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Hayvonlar sertifikatlangan pitomniklardan olinadi, daydi hayvon mumkin emas. Tajribani malakali tadqiqotchi o‘tkazadi, laboratoriya GLP bo‘yicha attestatsiyadan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«M3» nomli ko‘rsatma manbada aniq berilmagan. Uni ishlatishdan oldin qo‘shimcha manba bilan tekshiring.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4-bob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Biomodellar tartiblari va vivarium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1-tartib: laboratoriya hayvonlari; 2-tartib: bakteriya va hujayra kulturasi; 3-tartib: matematik modellar.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Mini-cho‘chqa maymundan keyin odamga eng yaqin model: qon bosimi, teri va ateroskleroz pilakchalari o‘xshash.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Bigl iti keng qo‘llanadigan model. Hayvonlar vivariumda (parvarish va ko‘paytirish bo‘limi) saqlanadi.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Nimani solishtiradi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Tuzilish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Morfologik o‘xshashlik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Funksiya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Metabolik, neyrogumoral, ekzokrin o‘xshashlik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3. Javob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ta’sirga reaksiya o‘xshashligi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4. Konstantalar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Miqdoriy ko‘rsatkichlar asl nusxaga mos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Model mosligi mezonlari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4-bob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Immobilizatsiya va narkoz: og‘riqni kamaytirish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muomala hayvonni tinchlantiradi, qo‘rquv va og‘riqni kamaytiradi, xodimlarni ham himoya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Narkoz usullari: ingalyatsion, enteral (rektal, og‘iz), parenteral, orqa miya orqali va kombinatsiyalangan.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Narkozdan oldin premedikatsiya (tinchlantirish) kerak; mushuk va quyon xloroformga o‘ta sezgir.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Premedikatsiya (tinchlantirish)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Fiksatsiya (immobilizatsiya)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Narkoz berish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va refleks nazorati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Narkoz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5-bob (Hayvonlar immobilizatsiyasi), 6.2-bo‘lim (Eksperimental hayvonlarda narkoz)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narkoz tanlash va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quyon va mushukda operatsiya rejalashtirilgan; odatiy aralash morfin–efir–xloroform narkozi tanlanmoqda.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Quyon va mushuk xloroformga o‘ta sezgir va undan tez nobud bo‘ladi; mushukda morfin tormozlamaydi, aksincha qo‘zg‘atib, talvasa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Tahlil: bu refinement — distress va og‘riqni kamaytirish. Tajribachi premedikatsiya (atropin) beradi, xloroform o‘rniga oz efir ishlatadi, nafasni kuzatadi.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R amalga oshmoqda va tajribachi nima qilishi kerak? Diqqat: bir tur uchun xavfsiz doza boshqasiga to‘g‘ri kelmaydi.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6.2-bo‘lim (Eksperimental hayvonlarda narkoz), 2.2-bo‘lim (3R tamoyili); 6.2-bo‘lim, 2.1-bo‘lim (tur farqlari)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odam va hayvon tajribalarida axloqiy chegaralar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Ixtiyoriy rozilik — Nyurnberg kodeksining 1-printsipi. Bugun xabardorlikka asoslangan rozilik talab qilinadi, bu undan qattiqroq norma.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Tadqiqotni mustaqil etika qo‘mitalari ko‘rib chiqadi (Xelsinki deklaratsiyasi, GCP). Samaradorlik dalilga asoslangan tibbiyot bilan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Hayvonlarda 3R: o‘rnini bosish, kamaytirish, takomillashtirish. Muqobil usul bo‘lsa hayvon ishlatilmaydi; laboratoriya GLP talabiga mos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Belmont tamoyillari matni manbada batafsil berilmagan: qo‘mita faqat «Balmont qo‘llanmasi»ga amal qilishi aytilgan.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1-bo‘lim (Nyurnberg saboqlari), II bob, 2-bo‘lim (Farmatsiyadagi bioetika); Yuldashev N.M., Saydalixodjayeva O.Z., Saidov A.B., Bioetika, betlar: 2.2-bo‘lim (3R tamoyili); 4-bob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Nyurnberg kodeksi sud hukmi shaklida qabul qilingan, lekin yuridik kuchdan ko‘ra ko‘proq axloqiy kuchga ega. U 10 ta tamoyildan iborat, birinchisi — ixtiyoriy rozilik. Bugun ‘xabardorlikka asoslangan rozilik’ aytiladi va bu yanada qattiqroq normadir. Eslab qoling: ixtiyoriy rozilik — boshlang‘ich nuqta, xabardorlikka asoslangan rozilik — uning kuchaytirilgan shakli.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 — talidomid. Hayvonlarda zaharlilik o‘rganilganda katta dozada ham o‘lim kuzatilmagan, teratogen ta’sir ham topilmagan. Xavfli teratogen xususiyat faqat odamda va kam ishlatiladigan laboratoriya hayvonlarida chiqqan. Xulosa: bitta tur natijasi boshqa turga avtomatik o‘tmaydi.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turlar orasidagi farq dori ta’sirini o‘zgartiradi. Morfin odamni tinchlantiradi, mushukni esa asabiylashtiradi. Penitsillin dengiz cho‘chqasi va oq maxonlarga yuqori darajada zaharli. Mushuklar odamga qaraganda 175 baravar katta izoprenalin dozasini ko‘targan.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(3R, o‘z so‘zimiz bilan): ALMASHTIR — hayvon o‘rniga hujayra kulturasi, tuxum embrioni, kompyuter modeli; QISQARTIR — hayvonlar sonini kamaytir; TAKOMILLASHTIR — og‘riq va distressni kamaytir. Manbada 3R ‘qisqartirish, takomillashtirish va almashtirish’ deb ta’riflanadi.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misol: tanqidchilar keltirgan klofibrat tajribasi. 1964–1972 yillarda JSST 10 ming erkak bilan ommaviy tajriba o‘tkazdi. Kuchsiz yurak xurujlari kamaydi, lekin umumiy o‘lim dori olmaganlarga nisbatan 37 foiz yuqori chiqdi. Savol: nega bitta ijobiy ko‘rsatkich dorining xavfsizligini isbotlamaydi?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Odamlar va hayvonlar ustida klinik sinovlar va tajribalarning axloqiy masalalari: bioetika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Muhamedova Z.M. Bioetika (o‘quv qo‘llanma, falsafa fakulteti), Toshkent, 2006. 2006. II bob 1-bo‘lim «Odamlarda tajriba o‘tkazish va xabardorlikka asoslangan rozilik» (Nyurnberg saboqlari); 2-bo‘lim «Farmatsiyadagi bioetika»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N.M., Saydalixodjayeva O.Z., Saidov A.B. Bioetika (tibbiyot OTM talabalari uchun darslik), Toshkent tibbiyot akademiyasi, Toshkent, 2019 (titul betida 2018). 2019. 1.2 «Biomeditsina eksperimenti tarixiga qisqacha ekskurs»; 2-bob (2.1 hayvonlar qo‘llanilishiga qarshi dalillar, 2.2 3R tamoyili); II qism 4-6-boblar (hayvonlarda eksperimental tadqiqotlar, immobilizatsiya, narkoz — 6.2 bo‘limgacha)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