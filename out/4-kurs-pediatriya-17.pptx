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O‘zbekiston Respublikasi Sog‘liqni saqlash vazirligining 2026-yil 15 apreldagi 130-son buyrug‘i matni manbada yo‘q, uni o‘qituvchi alohida o‘qib beradi. Muhokama: pediatr hodisa joyida ashyoviy dalilga duch kelsa, qanday harakat qiladi? Doskada mashg‘ulot rejasini 7 ta sarlavha bilan yozdiring. Tipik xato: talabalar ashyoviy dalilni faqat jinoyat quroli deb tushunadi.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dalil faqat ayblovni isbotlaydimi yoki uni inkor etishga ham xizmat qiladimi? Doskada ’ashyoviy dalil’ markazli 4 shoxli sxema chizdiring: quroli, izi, ob’ekti, aniqlovchi predmet. Tipik xato: dalilni faqat qurol bilan cheklash; aslida izni saqlagan va ob’ekt bo‘lgan narsalar ham kiradi.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Jadval ma’lumotlari: qon — 305-bet, maniy — 308-bet, gistologiya — 316-bet, tibbiy kriminalistika — 317-bet, sud kimyo — 319-bet. Muhokama: nega bu ob’ektlar turli bo‘limlarga yuboriladi? Doskada jadvalni talabalar bilan to‘ldiring. Tipik xato: qon dog‘ini sud kimyo bo‘limiga yuborish (u sud-biologik bo‘limda tekshiriladi).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Pediatr hodisa joyiga chaqirilsa, qanday vazifalarni bajaradi? 2) Nega tekshiruvni laboratoriya mutaxassisi o‘tkazadi? Doskada chizish: ’Hodisa joyi → shifokor (topish, tavsiflash, namuna) → laboratoriya (tekshiruv)’ zanjirini chizdiring. Tipik xato: talabalar shifokorni dalilni tekshiruvchi deb o‘ylaydi va namunani tergovchi o‘rniga olish mumkin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Bir xil qon yo‘qotilganda paxta mato va kafel yuzada izlar nega farq qiladi? 2) Surtma izdan nimani taxmin qilish mumkin? Doskada chizish: jadvalni ko‘chiring va har bir iz uchun bitta sodda rasm chizing. Tipik xato: surtma va bosma izlarini aralashtirish; sirpanishning bor-yo‘qligiga e’tibor bering.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Noksimon dog‘ ensiz uchiga qarab harakat yo‘nalishini qanday aniqlaysiz? 2) Dog‘ chetlari tishsimon bo‘lsa, tomchi qanday sharoitda tushgan? Doskada chizish: to‘rt xil dog‘ni (dumaloq, noksimon, tishsimon, sachrali) chizing va yo‘nalish strelkasini qo‘ying. Tipik xato: ensiz tomonni yo‘nalishga teskari ko‘rsatish.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kichik buyum butunligicha olinadi? 2) Yangi doka nega yaramaydi? Doskada: jadvaldagi to‘rt ob’ektni chizib, har biriga olish usulini yozing. Tipik xato: talaba kontrol namunani unutadi yoki namunani isitkich yonida quritadi.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avval qon borligi, keyin tur aniqlanadi? 2) Taxminiy sinama musbat bo‘lsa, xulosa chiqarish mumkinmi? Doskada: to‘rt bosqichli zanjirni chizing. Tipik xato: taxminiy sinama natijasini qat’iy dalil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Kiyim va devor uchun usullar nimasi bilan farq qiladi? 2) Kontrol namuna nimani ko‘rsatadi? Javob: dog‘siz sohadan olingan namuna dog‘li namuna bilan solishtirish uchun xizmat qiladi. Manbada kontrolning maqsadi aniq yozilmagan, bu o‘qituvchi izohi. Doskada: kiyim va devor uchun namuna olish sxemasini chizing. Tipik xato: kontrol namunani dog‘li joydan olish.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Qiya yuzadagi noksimon dog‘ning ensiz tomoni nimani ko‘rsatadi? (2) Nega kontrol namuna ifloslanmagan sohadan olinadi? Doskada chizing: tomchi balandligi oshgani sari dog‘ shakli (dumaloq, tishsimon chet, sachralar). Tipik xato: surtma va bosma izni aralashtirish; kontrol namunani dog‘li buyum bilan bir o‘ramga solish.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fenolftalein natijasi 1 daqiqadan keyin hisobga olinmaydi? (2) Lyuminol qaysi sharoitda qulay? Doskada chizing: sinama nomi, ranglar va natija jadvali. Tipik xato: musbat taxminiy sinamani qonning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mikroskopik va mikrokristallik usullar kam qo‘llanadi? (2) Taxminiy va ishonchli usullarning farqi nimada? Doskada chizing: to‘rt ishonchli usulni ikki ustunga (cheklangan / asosiy) bo‘lib yozing. Tipik xato: Teyxman va Takayama sinamalarini hozirgi asosiy usul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qon dog‘ida avval tur mansubligi aniqlanadi? 2) Qaysi usul qon kam bo‘lganda qulay? Doskada: jadvaldagi to‘rt usulni ‘holat → usul’ juftligida chizdiring. Tipik xato: ABAcard testi qon guruhini aniqlaydi deb o‘ylash. Aslida u qon borligi va uning insonga mansubligini bir vaqtda ko‘rsatadi. Diqqat: pretsipitatsiya halqasi faqat odam oqsiliga qarshi zardob solingan probirkada kutiladi.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Klinik va sud-tibbiy qon guruhi tekshiruvi qanday farq qiladi? 2) Nega dog‘da kuchsiz antigenlar uchun absorbsiya-elyusiya tanlanadi? Doskada: guruhiy tizimlarni to‘rt toifaga (eritrotsitar, zardob, ferment, leykotsitar) ajratib yozing. Tipik xato: sud-tibbiyotda ham faqat agglyutinogenlar tekshiriladi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Guruhiy tizimlarni taqqoslash nima uchun DNK-tekshiruvidan kam ishonchli? 2) Ekspertizada AVO nega birinchi tekshiriladi? Doskada: zanjir chizing — iz → guruhiy tizimlar taqqosi → DNK. Tipik xato: bitta tizim (AVO) mos kelsa, qon shu shaxsniki deb xulosa qilish. Manbada bunday xulosa keltirilmagan.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jins qon hujayralari yadrosidagi xromatin bilan aniqlanadi? 2) Menstrual qon belgisi nega yetarli ishonchli emas? Doskada: 4 qatorli jadvalni (masala – belgi – eslatma) chizdiring. Tipik xato: oksitotsinaza topilsa, homiladorlik qat’iy isbotlandi deb o‘ylash. Oksitotsinaza tug‘ruqdan keyin ham qon dog‘ida 2-3 oy saqlanadi.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HbA va HbF qaysi usulda farqlanadi (ishqoriy denaturatsiya)? 2) Dog‘ muddatiga qanday omillar ta’sir qiladi (harorat, namlik, shamol, buyum xususiyati)? Doskada: HbF miqdorining kamayish chizig‘ini (tug‘ruq – 1-yil) chizdiring. Tipik xato: HbF faqat go‘daklarda bo‘ladi deb o‘ylash; manbaga ko‘ra u ba’zan homilador ayollarda ham ko‘p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 juftlikda ishlasin: ekspertiza savollarini to‘g‘ri ketma-ketlikda tuzsin (qon borligi – tur – guruh – shaxs). Muhokama: 1) Taxminiy sinama musbat bo‘lsa, ekspert nima qiladi? 2) Nega AVO bo‘yicha mos kelish yetarli emas, DNK nega kerak? Doskada: 4 bosqichli zanjirni chizdiring. Tipik xato: benzidin sinamasi musbat bo‘lsa, qon bor deb qat’iy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har bir namuna bilan birga kontrol namuna olinadi? 2) Qon bilan aralashgan maniy dog‘i qanday rangda ko‘rinadi? Doskaga chizing: shimuvchi matoda va qattiq yuzada maniy dog‘ining ko‘rinishini solishtiruvchi ikki ustunli jadval. Tipik xato: tekshiriladigan namuna va kontrol namunani bitta o‘ramga solish. Bu mumkin emas, ular alohida o‘raladi.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Kartoshka sharbati reaksiyasida musbat natija nimani bildiradi? 2) Nega sun’iy matoda ultrabinafsha usul qiyinlashadi? Doskaga chizing: 4 masalaning ketma-ketligi (borligi, tur, guruh, shaxs). Tipik xato: kartoshka sharbati agglyutinatsiyani chaqirsa, natija musbat deb o‘ylash. Aslida agglyutinatsiya tormozlansa musbat.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spermatozoidning alohida bo‘laklari yetarli emas? 2) Azospermiya va nekrospermiyada nega morfologik usul qo‘llanmaydi? Doskaga chizing: spermatozoid tuzilishi (bosh, tana, dum) va xromatografiyada topiladigan uch modda. Tipik xato: faqat spermatozoid boshi topilganda natijani musbat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Ajratuvchi va ajratuvchi emas odam o‘rtasida maniy dog‘ini tekshirish natijasi qanday farq qiladi? 2) Nega gumondordan qon bilan birga so‘lak ham olinadi? Doskada chizish: Le (a- b+), Le (a+ b-), Le (a- b-) uch ustunli jadval. Diqqat: xato qilish xavfi: Le (a+ b-) ≠ Le (a- b-). Birinchisi ajratuvchi emas, ikkinchisida ajratuvchanlikni aniq belgilab bo‘lmaydi. Ajratuvchanlikni Lyuis va Gm tizimlari orqali aniqlash mumkin. Tipik xato: ajratuvchi emaslar guruhini ‘guruhi yo‘q’ deb tushunish. Qon guruhi bor, lekin ajratmalarda antigen topilmaydi.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Talabalar 3-4 kishilik guruhda ishlaydi. Muhokama: 1) Qaysi namunalar kimdan olinadi va nima uchun? 2) Qon bo‘yicha nima, so‘lak bo‘yicha nima taqqoslanadi? Javob: qon bilan guruhiy omillar taqqoslanadi, so‘lak ajratuvchanlik masalasini oydinlashtiradi. Doskada chizish: ‘dog‘ → gumondor / jabrlanuvchi’ taqqoslash sxemasi. Tipik xato: faqat gumondordan namuna olish kifoya deb o‘ylash. Jabrlanuvchi namunasi ham zarur, chunki dog‘dagi antigen uniki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og‘zaki so‘rov. Javoblar: 1) Yo‘q, taxminiy sinamalar nospetsifik, soxta musbat berishi mumkin; ular faqat gumon qilish imkonini beradi. 2) Bitta bo‘lsa-da butun spermatozoid (bosh, tana, dum birga) topilishi; alohida qismlar inobatga olinmaydi. 3) Spermatozoidlar yo‘q; qog‘ozda xromatografiya qo‘llanadi, xolin, spermin va nordon fosfataza birga topilsa maniy borligi ishonchli. 4) Le (a- b+); Lyuis va Gm tizimlari. Doskada chizish: ‘taxminiy → ishonchli’ ikki ustunli ro‘yxat. Tipik xato: musbat taxminiy sinamani ishonchli dalil deb hisoblash va spermatozoid qismlarini butun deb sanash.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siydik va najasda tur aniqlanmaydi? Qaysi ajratma ayniqsa jinsiy jinoyatlarda tekshiriladi? Doskada jadvalni chizdiring: ajratma – belgi – tur/guruh. Tipik xato: kontrol namunani tekshiruv ob’ekti bilan bitta o‘ramga solish yoki namunani issiqlik manbai yonida quritish.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kontrol namuna aynan besh sohadan olinadi? Soch qaysi hodisalarda tekshiriladi? Doskada ro‘yxat tuzing: boshning 5 sohasi va 7 savol. Tipik xato: sochni yalang qo‘l bilan olish yoki turli sohalarning sochini bitta konvertga solish.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ingichka tuk sochlarda mag‘iz qavati nega ko‘rinmasligi mumkin? Nima uchun faqat mikroskop bilan farqlanadi? Doskada soch sterjenining uch qavatini va pigment joyini chizdiring. Tipik xato: odam sochida mag‘iz qavati asosiy qismni egallaydi, deb aytish; aslida bu hayvon sochiga xos.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Soch uchining tekisligi kesilganini yoki uzilganini qanday ko‘rsatadi? 2) Yulingan va to‘kilgan soch ildizi nimasi bilan farq qiladi? Doskada chizish: yulingan va to‘kilgan soch ildizining sxemasini (ilmoqsimon piyozcha va ovalsimon ildiz) chizing. Tipik xato: ko‘ndalang kesim shaklini hamma sohada bir xil deb o‘ylash. Jadvaldagi “Manbada ko‘rsatilmagan” kataklariga manbada ma’lumot yo‘qligini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Soch namunasini olishda qanday xatolar tekshiruvga zarar yetkazadi? 2) Nega shaxsga mansublik bo‘yicha xulosa faqat ehtimol bo‘ladi? Doskada chizish: tekshiruv ketma-ketligini yozing: soch → odam/hayvon → guruh → soha → shaxs. Tipik xato: guruhiy mansublikka asoslanib, sochni aniq bir shaxsniki deb xulosa qilish. Talabalar javobini kutib, so‘ng sharhlang.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Chirish gistologik tekshiruvni rad etish uchun asos bo‘ladimi? 2) Diatom tekshiruvi qaysi savolga javob beradi? Doskada chizish: arxiv muddatlari jadvalini (2 yil va 3 yil) chizing. Tipik xato: formalinli arxiv bilan blok va preparat arxiv muddatlarini aralashtirish. Tezkor savol: gistologik preparatlar qaysi bo‘yoq bilan bo‘yaladi?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Qaror, ajrim va yo‘llanma asosida nima farq qiladi (ekspertiza yoki tekshiruv)? 2) Diagnostik, identifikatsion va situatsion masalalar nimasi bilan farqlanadi? Doskada: hujjatdan xulosagacha bo‘lgan zanjirni chizing. Tipik xato: talabalar tibbiy-kriminalistikani sud-biologik bo‘lim ishi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Ballistik tekshiruvda qaysi savollar hal bo‘ladi? 2) Mikrologik tekshiruvda nima o‘tishi o‘rganiladi? Doskada: besh turni ob’ekti bilan jadval qilib chizing. Tipik xato: trassologik va ballistik tekshiruvlar usullari o‘xshashligi sababli ularni bir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Suyaklardan qanday ma’lumotlar olinadi? 2) Jarohat izi qurolga mosligini qaysi tekshiruv aniqlaydi? Doskada: identifikatsiyaning uch bosqichini (o‘rganish, taqqoslash, xulosa) chizing. Tipik xato: talabalar faqat bitta tekshiruv tayinlash kifoya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toksikologiyada kamida ikki usul kerak? 2) Nega qon-siydik namunasi spirt uchun konservatsiyasiz saqlanadi? Doskada: DNK tarixi vaqt chizig‘ini chizdiring. Tipik xato: 1985 va 1986 yillarni aralashtirish — 1985-yilda markerlar topilgan va imkoniyat ko‘rsatilgan, 1986-yildan genetik usullar qo‘llana boshlagan.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Taxminiy sinama musbat chiqsa, keyingi qadam qanday? 2) Kontrol namuna nima uchun kerak? Doskada: ‘taxminiy → ishonchli → tur → guruh → shaxs’ ketma-ketligini chizdiring. Tipik xato: taxminiy sinama natijasini qatʼiy dalil deb yozish va kontrolni ob’ekt bilan birga o‘rash. Yakunda nazorat savollaridan 2-3 tasini so‘rang.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Ashyoviy dalillar sud tibbiy ekspertizasi. O’zb. Res. SSVning 2026-yil 15 apreldagi 130-son buyrug‘i.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ashyoviy dalillarni sud-tibbiy tekshirish. Qotillik, nomusga tegish va boshqa og‘ir jinoyatlarni ochishda uning ahamiyati juda katta.</a:t>
            </a:r>
          </a:p>
          <a:p>
            <a:pPr>
              <a:spcAft>
                <a:spcPts val="1200"/>
              </a:spcAft>
            </a:pPr>
            <a:r>
              <a:rPr sz="2200">
                <a:solidFill>
                  <a:srgbClr val="1F2937"/>
                </a:solidFill>
                <a:latin typeface="Calibri"/>
              </a:rPr>
              <a:t>▸  Reja: ashyoviy dalil tushunchasi, so‘ng qon, maniy, boshqa ajratmalar va soch ekspertizasi.</a:t>
            </a:r>
          </a:p>
          <a:p>
            <a:pPr>
              <a:spcAft>
                <a:spcPts val="1200"/>
              </a:spcAft>
            </a:pPr>
            <a:r>
              <a:rPr sz="2200">
                <a:solidFill>
                  <a:srgbClr val="1F2937"/>
                </a:solidFill>
                <a:latin typeface="Calibri"/>
              </a:rPr>
              <a:t>▸  Reja davomi: sud-gistologik, tibbiy-kriminalistik, sud-kimyoviy va DNK tekshiruvlari.</a:t>
            </a:r>
          </a:p>
          <a:p>
            <a:pPr>
              <a:spcAft>
                <a:spcPts val="1200"/>
              </a:spcAft>
            </a:pPr>
            <a:r>
              <a:rPr sz="2200">
                <a:solidFill>
                  <a:srgbClr val="1F2937"/>
                </a:solidFill>
                <a:latin typeface="Calibri"/>
              </a:rPr>
              <a:t>▸  Klinik shifokorlarga bu tekshiruv yuklanmaydi. Ammo ba’zan ular hodisa joyini ko‘rish, dalil topish va namuna olishga jalb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 303-312, 315-321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Ashyoviy dalil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Jinoyat-protsessual kodeksining 203-moddasiga ko‘ra, ashyoviy dalil ish holatlarini aniqlashga xizmat qiladigan fizikaviy alomat va belgilarga ega narsadir.</a:t>
            </a:r>
          </a:p>
          <a:p>
            <a:pPr>
              <a:spcAft>
                <a:spcPts val="1200"/>
              </a:spcAft>
            </a:pPr>
            <a:r>
              <a:rPr sz="2200">
                <a:solidFill>
                  <a:srgbClr val="1F2937"/>
                </a:solidFill>
                <a:latin typeface="Calibri"/>
              </a:rPr>
              <a:t>▸  Bu belgilar narsaning kelib chiqishi, kimga tegishliligi, ishlatilishi yoki yaroqliligi va joyi o‘zgarganini aniqlashga imkon beradi. Moddalar ta’siri ham aniqlanadi.</a:t>
            </a:r>
          </a:p>
          <a:p>
            <a:pPr>
              <a:spcAft>
                <a:spcPts val="1200"/>
              </a:spcAft>
            </a:pPr>
            <a:r>
              <a:rPr sz="2200">
                <a:solidFill>
                  <a:srgbClr val="1F2937"/>
                </a:solidFill>
                <a:latin typeface="Calibri"/>
              </a:rPr>
              <a:t>▸  Asosan jinoyat quroli, jinoyat izini saqlagan narsa va jinoiy harakat ob’ekti bo‘lgan predmetlar ashyoviy dalil hisoblanadi.</a:t>
            </a:r>
          </a:p>
          <a:p>
            <a:pPr>
              <a:spcAft>
                <a:spcPts val="1200"/>
              </a:spcAft>
            </a:pPr>
            <a:r>
              <a:rPr sz="2200">
                <a:solidFill>
                  <a:srgbClr val="1F2937"/>
                </a:solidFill>
                <a:latin typeface="Calibri"/>
              </a:rPr>
              <a:t>▸  Jinoyatni aniqlashga, aybdorni topishga, ayblovni inkor etishga yoki aybni yengillashtirishga xizmat qiluvchi predmetlar ham dalil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Biologik dalillar va laboratoriya tuzilmalari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Biologik ashyo: to‘qima bo‘laklari, qon, ajratmalar (so‘lak, siydik, ter, maniy, najas), dog‘lar va soch.</a:t>
            </a:r>
          </a:p>
          <a:p>
            <a:pPr>
              <a:spcAft>
                <a:spcPts val="800"/>
              </a:spcAft>
            </a:pPr>
            <a:r>
              <a:rPr sz="1800">
                <a:solidFill>
                  <a:srgbClr val="1F2937"/>
                </a:solidFill>
                <a:latin typeface="Calibri"/>
              </a:rPr>
              <a:t>▸  Tekshiruv maxsus jihozlangan laboratoriyalarda, tayyorgarlikka ega mutaxassislar tomonidan o‘tkaziladi.</a:t>
            </a:r>
          </a:p>
          <a:p>
            <a:pPr>
              <a:spcAft>
                <a:spcPts val="800"/>
              </a:spcAft>
            </a:pPr>
            <a:r>
              <a:rPr sz="1800">
                <a:solidFill>
                  <a:srgbClr val="1F2937"/>
                </a:solidFill>
                <a:latin typeface="Calibri"/>
              </a:rPr>
              <a:t>▸  Qotillik, nomusga tegish va boshqa og‘ir jinoyatlarni ochishda bu ekspertizalar ahamiyati katta.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814567"/>
                <a:gridCol w="2473407"/>
              </a:tblGrid>
              <a:tr h="411480">
                <a:tc>
                  <a:txBody>
                    <a:bodyPr/>
                    <a:lstStyle/>
                    <a:p>
                      <a:r>
                        <a:rPr sz="1400" b="1">
                          <a:solidFill>
                            <a:srgbClr val="FFFFFF"/>
                          </a:solidFill>
                        </a:rPr>
                        <a:t>Ob’ekt turi</a:t>
                      </a:r>
                    </a:p>
                  </a:txBody>
                  <a:tcPr marL="73152" marR="73152" marT="36576" marB="36576">
                    <a:solidFill>
                      <a:srgbClr val="0B1F3A"/>
                    </a:solidFill>
                  </a:tcPr>
                </a:tc>
                <a:tc>
                  <a:txBody>
                    <a:bodyPr/>
                    <a:lstStyle/>
                    <a:p>
                      <a:r>
                        <a:rPr sz="1400" b="1">
                          <a:solidFill>
                            <a:srgbClr val="FFFFFF"/>
                          </a:solidFill>
                        </a:rPr>
                        <a:t>Bo‘lim</a:t>
                      </a:r>
                    </a:p>
                  </a:txBody>
                  <a:tcPr marL="73152" marR="73152" marT="36576" marB="36576">
                    <a:solidFill>
                      <a:srgbClr val="0B1F3A"/>
                    </a:solidFill>
                  </a:tcPr>
                </a:tc>
              </a:tr>
              <a:tr h="411480">
                <a:tc>
                  <a:txBody>
                    <a:bodyPr/>
                    <a:lstStyle/>
                    <a:p>
                      <a:r>
                        <a:rPr sz="1300" b="0">
                          <a:solidFill>
                            <a:srgbClr val="1F2937"/>
                          </a:solidFill>
                        </a:rPr>
                        <a:t>Qon, maniy va ularning dog‘lari</a:t>
                      </a:r>
                    </a:p>
                  </a:txBody>
                  <a:tcPr marL="73152" marR="73152" marT="36576" marB="36576">
                    <a:solidFill>
                      <a:srgbClr val="E8EEF6"/>
                    </a:solidFill>
                  </a:tcPr>
                </a:tc>
                <a:tc>
                  <a:txBody>
                    <a:bodyPr/>
                    <a:lstStyle/>
                    <a:p>
                      <a:r>
                        <a:rPr sz="1300" b="0">
                          <a:solidFill>
                            <a:srgbClr val="1F2937"/>
                          </a:solidFill>
                        </a:rPr>
                        <a:t>Sud-biologik bo‘lim</a:t>
                      </a:r>
                    </a:p>
                  </a:txBody>
                  <a:tcPr marL="73152" marR="73152" marT="36576" marB="36576">
                    <a:solidFill>
                      <a:srgbClr val="E8EEF6"/>
                    </a:solidFill>
                  </a:tcPr>
                </a:tc>
              </a:tr>
              <a:tr h="411480">
                <a:tc>
                  <a:txBody>
                    <a:bodyPr/>
                    <a:lstStyle/>
                    <a:p>
                      <a:r>
                        <a:rPr sz="1300" b="0">
                          <a:solidFill>
                            <a:srgbClr val="1F2937"/>
                          </a:solidFill>
                        </a:rPr>
                        <a:t>A’zo va to‘qima bo‘lakchalari</a:t>
                      </a:r>
                    </a:p>
                  </a:txBody>
                  <a:tcPr marL="73152" marR="73152" marT="36576" marB="36576">
                    <a:solidFill>
                      <a:srgbClr val="FFFFFF"/>
                    </a:solidFill>
                  </a:tcPr>
                </a:tc>
                <a:tc>
                  <a:txBody>
                    <a:bodyPr/>
                    <a:lstStyle/>
                    <a:p>
                      <a:r>
                        <a:rPr sz="1300" b="0">
                          <a:solidFill>
                            <a:srgbClr val="1F2937"/>
                          </a:solidFill>
                        </a:rPr>
                        <a:t>Sud-gistologik bo‘lim</a:t>
                      </a:r>
                    </a:p>
                  </a:txBody>
                  <a:tcPr marL="73152" marR="73152" marT="36576" marB="36576">
                    <a:solidFill>
                      <a:srgbClr val="FFFFFF"/>
                    </a:solidFill>
                  </a:tcPr>
                </a:tc>
              </a:tr>
              <a:tr h="411480">
                <a:tc>
                  <a:txBody>
                    <a:bodyPr/>
                    <a:lstStyle/>
                    <a:p>
                      <a:r>
                        <a:rPr sz="1300" b="0">
                          <a:solidFill>
                            <a:srgbClr val="1F2937"/>
                          </a:solidFill>
                        </a:rPr>
                        <a:t>Jarohat izlari, qurol, mikroizlar</a:t>
                      </a:r>
                    </a:p>
                  </a:txBody>
                  <a:tcPr marL="73152" marR="73152" marT="36576" marB="36576">
                    <a:solidFill>
                      <a:srgbClr val="E8EEF6"/>
                    </a:solidFill>
                  </a:tcPr>
                </a:tc>
                <a:tc>
                  <a:txBody>
                    <a:bodyPr/>
                    <a:lstStyle/>
                    <a:p>
                      <a:r>
                        <a:rPr sz="1300" b="0">
                          <a:solidFill>
                            <a:srgbClr val="1F2937"/>
                          </a:solidFill>
                        </a:rPr>
                        <a:t>Tibbiy-kriminalistika bo‘limi</a:t>
                      </a:r>
                    </a:p>
                  </a:txBody>
                  <a:tcPr marL="73152" marR="73152" marT="36576" marB="36576">
                    <a:solidFill>
                      <a:srgbClr val="E8EEF6"/>
                    </a:solidFill>
                  </a:tcPr>
                </a:tc>
              </a:tr>
              <a:tr h="411480">
                <a:tc>
                  <a:txBody>
                    <a:bodyPr/>
                    <a:lstStyle/>
                    <a:p>
                      <a:r>
                        <a:rPr sz="1300" b="0">
                          <a:solidFill>
                            <a:srgbClr val="1F2937"/>
                          </a:solidFill>
                        </a:rPr>
                        <a:t>Toksik moddalar, dori, zahar</a:t>
                      </a:r>
                    </a:p>
                  </a:txBody>
                  <a:tcPr marL="73152" marR="73152" marT="36576" marB="36576">
                    <a:solidFill>
                      <a:srgbClr val="FFFFFF"/>
                    </a:solidFill>
                  </a:tcPr>
                </a:tc>
                <a:tc>
                  <a:txBody>
                    <a:bodyPr/>
                    <a:lstStyle/>
                    <a:p>
                      <a:r>
                        <a:rPr sz="1300" b="0">
                          <a:solidFill>
                            <a:srgbClr val="1F2937"/>
                          </a:solidFill>
                        </a:rPr>
                        <a:t>Sud kimyo bo‘limi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Ob’ekt va bo‘lim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Shifokorlarning hodisa joyidagi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Ashyoviy dalillarni sud-tibbiy tekshirish klinitsist-shifokorlarga yuklanmaydi.</a:t>
            </a:r>
          </a:p>
          <a:p>
            <a:pPr>
              <a:spcAft>
                <a:spcPts val="1200"/>
              </a:spcAft>
            </a:pPr>
            <a:r>
              <a:rPr sz="2200">
                <a:solidFill>
                  <a:srgbClr val="1F2937"/>
                </a:solidFill>
                <a:latin typeface="Calibri"/>
              </a:rPr>
              <a:t>▸  Bunday tekshiruvlarni sud-tibbiy ekspertiza muassasalarining laboratoriyalarida maxsus tayyorgarlikka ega mutaxassislar o‘tkazadi.</a:t>
            </a:r>
          </a:p>
          <a:p>
            <a:pPr>
              <a:spcAft>
                <a:spcPts val="1200"/>
              </a:spcAft>
            </a:pPr>
            <a:r>
              <a:rPr sz="2200">
                <a:solidFill>
                  <a:srgbClr val="1F2937"/>
                </a:solidFill>
                <a:latin typeface="Calibri"/>
              </a:rPr>
              <a:t>▸  Ayrim hollarda umumiy amaliyot shifokorlari va boshqa vrachlar hodisa joyini ko‘zdan kechirishga jalb qilinishi mumkin.</a:t>
            </a:r>
          </a:p>
          <a:p>
            <a:pPr>
              <a:spcAft>
                <a:spcPts val="1200"/>
              </a:spcAft>
            </a:pPr>
            <a:r>
              <a:rPr sz="2200">
                <a:solidFill>
                  <a:srgbClr val="1F2937"/>
                </a:solidFill>
                <a:latin typeface="Calibri"/>
              </a:rPr>
              <a:t>▸  Diqqat: shifokor dalilni topadi, tavsiflaydi va namuna oladi, lekin uni tekshirmaydi. Qon izlarini olishni qonunga ko‘ra tergovchi amalga oshiradi.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izlarining ko‘rinishlari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Iz turi qon tushgan materialga va izning hosil bo‘lish xususiyatiga bog‘liq.</a:t>
            </a:r>
          </a:p>
          <a:p>
            <a:pPr>
              <a:spcAft>
                <a:spcPts val="800"/>
              </a:spcAft>
            </a:pPr>
            <a:r>
              <a:rPr sz="1800">
                <a:solidFill>
                  <a:srgbClr val="1F2937"/>
                </a:solidFill>
                <a:latin typeface="Calibri"/>
              </a:rPr>
              <a:t>▸  Sachrama izlar: jism keskin siltansa, zarb berilsa yoki yirik arteriyadan qon fontan bo‘lib oqsa hosil bo‘ladi.</a:t>
            </a:r>
          </a:p>
          <a:p>
            <a:pPr>
              <a:spcAft>
                <a:spcPts val="800"/>
              </a:spcAft>
            </a:pPr>
            <a:r>
              <a:rPr sz="1800">
                <a:solidFill>
                  <a:srgbClr val="1F2937"/>
                </a:solidFill>
                <a:latin typeface="Calibri"/>
              </a:rPr>
              <a:t>▸  Diqqat: surtma — sirpanishda, bosma — sirpanishsiz kontaktda hosil bo‘ladi. Bosma shakli jism yuzasiga mos.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Iz turi</a:t>
                      </a:r>
                    </a:p>
                  </a:txBody>
                  <a:tcPr marL="73152" marR="73152" marT="36576" marB="36576">
                    <a:solidFill>
                      <a:srgbClr val="0B1F3A"/>
                    </a:solidFill>
                  </a:tcPr>
                </a:tc>
                <a:tc>
                  <a:txBody>
                    <a:bodyPr/>
                    <a:lstStyle/>
                    <a:p>
                      <a:r>
                        <a:rPr sz="1400" b="1">
                          <a:solidFill>
                            <a:srgbClr val="FFFFFF"/>
                          </a:solidFill>
                        </a:rPr>
                        <a:t>Hosil bo‘lishi</a:t>
                      </a:r>
                    </a:p>
                  </a:txBody>
                  <a:tcPr marL="73152" marR="73152" marT="36576" marB="36576">
                    <a:solidFill>
                      <a:srgbClr val="0B1F3A"/>
                    </a:solidFill>
                  </a:tcPr>
                </a:tc>
              </a:tr>
              <a:tr h="411480">
                <a:tc>
                  <a:txBody>
                    <a:bodyPr/>
                    <a:lstStyle/>
                    <a:p>
                      <a:r>
                        <a:rPr sz="1300" b="0">
                          <a:solidFill>
                            <a:srgbClr val="1F2937"/>
                          </a:solidFill>
                        </a:rPr>
                        <a:t>Qon ko‘lmagi</a:t>
                      </a:r>
                    </a:p>
                  </a:txBody>
                  <a:tcPr marL="73152" marR="73152" marT="36576" marB="36576">
                    <a:solidFill>
                      <a:srgbClr val="E8EEF6"/>
                    </a:solidFill>
                  </a:tcPr>
                </a:tc>
                <a:tc>
                  <a:txBody>
                    <a:bodyPr/>
                    <a:lstStyle/>
                    <a:p>
                      <a:r>
                        <a:rPr sz="1300" b="0">
                          <a:solidFill>
                            <a:srgbClr val="1F2937"/>
                          </a:solidFill>
                        </a:rPr>
                        <a:t>Past singdiruvchi material, ko‘p qon</a:t>
                      </a:r>
                    </a:p>
                  </a:txBody>
                  <a:tcPr marL="73152" marR="73152" marT="36576" marB="36576">
                    <a:solidFill>
                      <a:srgbClr val="E8EEF6"/>
                    </a:solidFill>
                  </a:tcPr>
                </a:tc>
              </a:tr>
              <a:tr h="411480">
                <a:tc>
                  <a:txBody>
                    <a:bodyPr/>
                    <a:lstStyle/>
                    <a:p>
                      <a:r>
                        <a:rPr sz="1300" b="0">
                          <a:solidFill>
                            <a:srgbClr val="1F2937"/>
                          </a:solidFill>
                        </a:rPr>
                        <a:t>Singgan dog‘</a:t>
                      </a:r>
                    </a:p>
                  </a:txBody>
                  <a:tcPr marL="73152" marR="73152" marT="36576" marB="36576">
                    <a:solidFill>
                      <a:srgbClr val="FFFFFF"/>
                    </a:solidFill>
                  </a:tcPr>
                </a:tc>
                <a:tc>
                  <a:txBody>
                    <a:bodyPr/>
                    <a:lstStyle/>
                    <a:p>
                      <a:r>
                        <a:rPr sz="1300" b="0">
                          <a:solidFill>
                            <a:srgbClr val="1F2937"/>
                          </a:solidFill>
                        </a:rPr>
                        <a:t>Namni yaxshi oladigan material</a:t>
                      </a:r>
                    </a:p>
                  </a:txBody>
                  <a:tcPr marL="73152" marR="73152" marT="36576" marB="36576">
                    <a:solidFill>
                      <a:srgbClr val="FFFFFF"/>
                    </a:solidFill>
                  </a:tcPr>
                </a:tc>
              </a:tr>
              <a:tr h="411480">
                <a:tc>
                  <a:txBody>
                    <a:bodyPr/>
                    <a:lstStyle/>
                    <a:p>
                      <a:r>
                        <a:rPr sz="1300" b="0">
                          <a:solidFill>
                            <a:srgbClr val="1F2937"/>
                          </a:solidFill>
                        </a:rPr>
                        <a:t>Oqma iz</a:t>
                      </a:r>
                    </a:p>
                  </a:txBody>
                  <a:tcPr marL="73152" marR="73152" marT="36576" marB="36576">
                    <a:solidFill>
                      <a:srgbClr val="E8EEF6"/>
                    </a:solidFill>
                  </a:tcPr>
                </a:tc>
                <a:tc>
                  <a:txBody>
                    <a:bodyPr/>
                    <a:lstStyle/>
                    <a:p>
                      <a:r>
                        <a:rPr sz="1300" b="0">
                          <a:solidFill>
                            <a:srgbClr val="1F2937"/>
                          </a:solidFill>
                        </a:rPr>
                        <a:t>Qiya yuza bo‘ylab oqqan qon</a:t>
                      </a:r>
                    </a:p>
                  </a:txBody>
                  <a:tcPr marL="73152" marR="73152" marT="36576" marB="36576">
                    <a:solidFill>
                      <a:srgbClr val="E8EEF6"/>
                    </a:solidFill>
                  </a:tcPr>
                </a:tc>
              </a:tr>
              <a:tr h="411480">
                <a:tc>
                  <a:txBody>
                    <a:bodyPr/>
                    <a:lstStyle/>
                    <a:p>
                      <a:r>
                        <a:rPr sz="1300" b="0">
                          <a:solidFill>
                            <a:srgbClr val="1F2937"/>
                          </a:solidFill>
                        </a:rPr>
                        <a:t>Surtma va bosma</a:t>
                      </a:r>
                    </a:p>
                  </a:txBody>
                  <a:tcPr marL="73152" marR="73152" marT="36576" marB="36576">
                    <a:solidFill>
                      <a:srgbClr val="FFFFFF"/>
                    </a:solidFill>
                  </a:tcPr>
                </a:tc>
                <a:tc>
                  <a:txBody>
                    <a:bodyPr/>
                    <a:lstStyle/>
                    <a:p>
                      <a:r>
                        <a:rPr sz="1300" b="0">
                          <a:solidFill>
                            <a:srgbClr val="1F2937"/>
                          </a:solidFill>
                        </a:rPr>
                        <a:t>Sirpanish: surtma; sirpanishsiz: bosma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izi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 304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tomchisi izlari: balandlik va yo‘nalish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Noksimon dog‘ning ensiz tomoni harakat yo‘nalishiga yoki yuzaning pastroq tomoniga qaraydi.</a:t>
            </a:r>
          </a:p>
          <a:p>
            <a:pPr>
              <a:spcAft>
                <a:spcPts val="800"/>
              </a:spcAft>
            </a:pPr>
            <a:r>
              <a:rPr sz="1800">
                <a:solidFill>
                  <a:srgbClr val="1F2937"/>
                </a:solidFill>
                <a:latin typeface="Calibri"/>
              </a:rPr>
              <a:t>▸  Katta balandlikdan harakatdagi jismdan yoki qiya yuzaga tomganda sachralar ham shu tomonda joylashadi.</a:t>
            </a:r>
          </a:p>
          <a:p>
            <a:pPr>
              <a:spcAft>
                <a:spcPts val="800"/>
              </a:spcAft>
            </a:pPr>
            <a:r>
              <a:rPr sz="1800">
                <a:solidFill>
                  <a:srgbClr val="1F2937"/>
                </a:solidFill>
                <a:latin typeface="Calibri"/>
              </a:rPr>
              <a:t>▸  Diqqat: dumaloq dog‘ — gorizontal yuza va past balandlik; noksimon dog‘ — harakatdagi jism yoki qiya yuza.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521957"/>
                <a:gridCol w="2766017"/>
              </a:tblGrid>
              <a:tr h="411480">
                <a:tc>
                  <a:txBody>
                    <a:bodyPr/>
                    <a:lstStyle/>
                    <a:p>
                      <a:r>
                        <a:rPr sz="1400" b="1">
                          <a:solidFill>
                            <a:srgbClr val="FFFFFF"/>
                          </a:solidFill>
                        </a:rPr>
                        <a:t>Sharoit</a:t>
                      </a:r>
                    </a:p>
                  </a:txBody>
                  <a:tcPr marL="73152" marR="73152" marT="36576" marB="36576">
                    <a:solidFill>
                      <a:srgbClr val="0B1F3A"/>
                    </a:solidFill>
                  </a:tcPr>
                </a:tc>
                <a:tc>
                  <a:txBody>
                    <a:bodyPr/>
                    <a:lstStyle/>
                    <a:p>
                      <a:r>
                        <a:rPr sz="1400" b="1">
                          <a:solidFill>
                            <a:srgbClr val="FFFFFF"/>
                          </a:solidFill>
                        </a:rPr>
                        <a:t>Dog‘ shakli</a:t>
                      </a:r>
                    </a:p>
                  </a:txBody>
                  <a:tcPr marL="73152" marR="73152" marT="36576" marB="36576">
                    <a:solidFill>
                      <a:srgbClr val="0B1F3A"/>
                    </a:solidFill>
                  </a:tcPr>
                </a:tc>
              </a:tr>
              <a:tr h="411480">
                <a:tc>
                  <a:txBody>
                    <a:bodyPr/>
                    <a:lstStyle/>
                    <a:p>
                      <a:r>
                        <a:rPr sz="1300" b="0">
                          <a:solidFill>
                            <a:srgbClr val="1F2937"/>
                          </a:solidFill>
                        </a:rPr>
                        <a:t>10–15 sm gacha, gorizontal yuza</a:t>
                      </a:r>
                    </a:p>
                  </a:txBody>
                  <a:tcPr marL="73152" marR="73152" marT="36576" marB="36576">
                    <a:solidFill>
                      <a:srgbClr val="E8EEF6"/>
                    </a:solidFill>
                  </a:tcPr>
                </a:tc>
                <a:tc>
                  <a:txBody>
                    <a:bodyPr/>
                    <a:lstStyle/>
                    <a:p>
                      <a:r>
                        <a:rPr sz="1300" b="0">
                          <a:solidFill>
                            <a:srgbClr val="1F2937"/>
                          </a:solidFill>
                        </a:rPr>
                        <a:t>Dumaloq, chetlari tekis</a:t>
                      </a:r>
                    </a:p>
                  </a:txBody>
                  <a:tcPr marL="73152" marR="73152" marT="36576" marB="36576">
                    <a:solidFill>
                      <a:srgbClr val="E8EEF6"/>
                    </a:solidFill>
                  </a:tcPr>
                </a:tc>
              </a:tr>
              <a:tr h="411480">
                <a:tc>
                  <a:txBody>
                    <a:bodyPr/>
                    <a:lstStyle/>
                    <a:p>
                      <a:r>
                        <a:rPr sz="1300" b="0">
                          <a:solidFill>
                            <a:srgbClr val="1F2937"/>
                          </a:solidFill>
                        </a:rPr>
                        <a:t>Harakatdagi tana yoki qiya yuza</a:t>
                      </a:r>
                    </a:p>
                  </a:txBody>
                  <a:tcPr marL="73152" marR="73152" marT="36576" marB="36576">
                    <a:solidFill>
                      <a:srgbClr val="FFFFFF"/>
                    </a:solidFill>
                  </a:tcPr>
                </a:tc>
                <a:tc>
                  <a:txBody>
                    <a:bodyPr/>
                    <a:lstStyle/>
                    <a:p>
                      <a:r>
                        <a:rPr sz="1300" b="0">
                          <a:solidFill>
                            <a:srgbClr val="1F2937"/>
                          </a:solidFill>
                        </a:rPr>
                        <a:t>Noksimon, undov belgisiga o‘xshash</a:t>
                      </a:r>
                    </a:p>
                  </a:txBody>
                  <a:tcPr marL="73152" marR="73152" marT="36576" marB="36576">
                    <a:solidFill>
                      <a:srgbClr val="FFFFFF"/>
                    </a:solidFill>
                  </a:tcPr>
                </a:tc>
              </a:tr>
              <a:tr h="411480">
                <a:tc>
                  <a:txBody>
                    <a:bodyPr/>
                    <a:lstStyle/>
                    <a:p>
                      <a:r>
                        <a:rPr sz="1300" b="0">
                          <a:solidFill>
                            <a:srgbClr val="1F2937"/>
                          </a:solidFill>
                        </a:rPr>
                        <a:t>Balandroq tushish</a:t>
                      </a:r>
                    </a:p>
                  </a:txBody>
                  <a:tcPr marL="73152" marR="73152" marT="36576" marB="36576">
                    <a:solidFill>
                      <a:srgbClr val="E8EEF6"/>
                    </a:solidFill>
                  </a:tcPr>
                </a:tc>
                <a:tc>
                  <a:txBody>
                    <a:bodyPr/>
                    <a:lstStyle/>
                    <a:p>
                      <a:r>
                        <a:rPr sz="1300" b="0">
                          <a:solidFill>
                            <a:srgbClr val="1F2937"/>
                          </a:solidFill>
                        </a:rPr>
                        <a:t>Chetlari mayda tishsimon</a:t>
                      </a:r>
                    </a:p>
                  </a:txBody>
                  <a:tcPr marL="73152" marR="73152" marT="36576" marB="36576">
                    <a:solidFill>
                      <a:srgbClr val="E8EEF6"/>
                    </a:solidFill>
                  </a:tcPr>
                </a:tc>
              </a:tr>
              <a:tr h="411480">
                <a:tc>
                  <a:txBody>
                    <a:bodyPr/>
                    <a:lstStyle/>
                    <a:p>
                      <a:r>
                        <a:rPr sz="1300" b="0">
                          <a:solidFill>
                            <a:srgbClr val="1F2937"/>
                          </a:solidFill>
                        </a:rPr>
                        <a:t>Yanada balandroq tushish</a:t>
                      </a:r>
                    </a:p>
                  </a:txBody>
                  <a:tcPr marL="73152" marR="73152" marT="36576" marB="36576">
                    <a:solidFill>
                      <a:srgbClr val="FFFFFF"/>
                    </a:solidFill>
                  </a:tcPr>
                </a:tc>
                <a:tc>
                  <a:txBody>
                    <a:bodyPr/>
                    <a:lstStyle/>
                    <a:p>
                      <a:r>
                        <a:rPr sz="1300" b="0">
                          <a:solidFill>
                            <a:srgbClr val="1F2937"/>
                          </a:solidFill>
                        </a:rPr>
                        <a:t>Atrofida ikkilamchi sachralar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Tomchi balandligi va dog‘ shakli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 303–304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 ekspertizaga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yangi doka yoki bint ishlatilmaydi. Ulardagi appretura serologik reaksiyalarga salbiy ta’sir qiladi.</a:t>
            </a:r>
          </a:p>
          <a:p>
            <a:pPr>
              <a:spcAft>
                <a:spcPts val="800"/>
              </a:spcAft>
            </a:pPr>
            <a:r>
              <a:rPr sz="1800">
                <a:solidFill>
                  <a:srgbClr val="1F2937"/>
                </a:solidFill>
                <a:latin typeface="Calibri"/>
              </a:rPr>
              <a:t>▸  Har bir namunaga kontrol olinadi: ifloslanmagan soha, toza doka yoki toza qor va tuproq.</a:t>
            </a:r>
          </a:p>
          <a:p>
            <a:pPr>
              <a:spcAft>
                <a:spcPts val="800"/>
              </a:spcAft>
            </a:pPr>
            <a:r>
              <a:rPr sz="1800">
                <a:solidFill>
                  <a:srgbClr val="1F2937"/>
                </a:solidFill>
                <a:latin typeface="Calibri"/>
              </a:rPr>
              <a:t>▸  Doka namunalari quyoshsiz joyda, isitkichdan uzoqda quritiladi va alohida qog‘ozga o‘raladi.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22482"/>
                <a:gridCol w="3065492"/>
              </a:tblGrid>
              <a:tr h="411480">
                <a:tc>
                  <a:txBody>
                    <a:bodyPr/>
                    <a:lstStyle/>
                    <a:p>
                      <a:r>
                        <a:rPr sz="1400" b="1">
                          <a:solidFill>
                            <a:srgbClr val="FFFFFF"/>
                          </a:solidFill>
                        </a:rPr>
                        <a:t>Ob’ekt</a:t>
                      </a:r>
                    </a:p>
                  </a:txBody>
                  <a:tcPr marL="73152" marR="73152" marT="36576" marB="36576">
                    <a:solidFill>
                      <a:srgbClr val="0B1F3A"/>
                    </a:solidFill>
                  </a:tcPr>
                </a:tc>
                <a:tc>
                  <a:txBody>
                    <a:bodyPr/>
                    <a:lstStyle/>
                    <a:p>
                      <a:r>
                        <a:rPr sz="1400" b="1">
                          <a:solidFill>
                            <a:srgbClr val="FFFFFF"/>
                          </a:solidFill>
                        </a:rPr>
                        <a:t>Olish usuli</a:t>
                      </a:r>
                    </a:p>
                  </a:txBody>
                  <a:tcPr marL="73152" marR="73152" marT="36576" marB="36576">
                    <a:solidFill>
                      <a:srgbClr val="0B1F3A"/>
                    </a:solidFill>
                  </a:tcPr>
                </a:tc>
              </a:tr>
              <a:tr h="411480">
                <a:tc>
                  <a:txBody>
                    <a:bodyPr/>
                    <a:lstStyle/>
                    <a:p>
                      <a:r>
                        <a:rPr sz="1300" b="0">
                          <a:solidFill>
                            <a:srgbClr val="1F2937"/>
                          </a:solidFill>
                        </a:rPr>
                        <a:t>Kiyim, poyafzal, yostiq jildi</a:t>
                      </a:r>
                    </a:p>
                  </a:txBody>
                  <a:tcPr marL="73152" marR="73152" marT="36576" marB="36576">
                    <a:solidFill>
                      <a:srgbClr val="E8EEF6"/>
                    </a:solidFill>
                  </a:tcPr>
                </a:tc>
                <a:tc>
                  <a:txBody>
                    <a:bodyPr/>
                    <a:lstStyle/>
                    <a:p>
                      <a:r>
                        <a:rPr sz="1300" b="0">
                          <a:solidFill>
                            <a:srgbClr val="1F2937"/>
                          </a:solidFill>
                        </a:rPr>
                        <a:t>Butunligicha olinadi</a:t>
                      </a:r>
                    </a:p>
                  </a:txBody>
                  <a:tcPr marL="73152" marR="73152" marT="36576" marB="36576">
                    <a:solidFill>
                      <a:srgbClr val="E8EEF6"/>
                    </a:solidFill>
                  </a:tcPr>
                </a:tc>
              </a:tr>
              <a:tr h="411480">
                <a:tc>
                  <a:txBody>
                    <a:bodyPr/>
                    <a:lstStyle/>
                    <a:p>
                      <a:r>
                        <a:rPr sz="1300" b="0">
                          <a:solidFill>
                            <a:srgbClr val="1F2937"/>
                          </a:solidFill>
                        </a:rPr>
                        <a:t>Gobelen, palas, to‘shak</a:t>
                      </a:r>
                    </a:p>
                  </a:txBody>
                  <a:tcPr marL="73152" marR="73152" marT="36576" marB="36576">
                    <a:solidFill>
                      <a:srgbClr val="FFFFFF"/>
                    </a:solidFill>
                  </a:tcPr>
                </a:tc>
                <a:tc>
                  <a:txBody>
                    <a:bodyPr/>
                    <a:lstStyle/>
                    <a:p>
                      <a:r>
                        <a:rPr sz="1300" b="0">
                          <a:solidFill>
                            <a:srgbClr val="1F2937"/>
                          </a:solidFill>
                        </a:rPr>
                        <a:t>Dog‘li va toza bo‘lak qirqiladi</a:t>
                      </a:r>
                    </a:p>
                  </a:txBody>
                  <a:tcPr marL="73152" marR="73152" marT="36576" marB="36576">
                    <a:solidFill>
                      <a:srgbClr val="FFFFFF"/>
                    </a:solidFill>
                  </a:tcPr>
                </a:tc>
              </a:tr>
              <a:tr h="411480">
                <a:tc>
                  <a:txBody>
                    <a:bodyPr/>
                    <a:lstStyle/>
                    <a:p>
                      <a:r>
                        <a:rPr sz="1300" b="0">
                          <a:solidFill>
                            <a:srgbClr val="1F2937"/>
                          </a:solidFill>
                        </a:rPr>
                        <a:t>Devor, mebel (qattiq yuza)</a:t>
                      </a:r>
                    </a:p>
                  </a:txBody>
                  <a:tcPr marL="73152" marR="73152" marT="36576" marB="36576">
                    <a:solidFill>
                      <a:srgbClr val="E8EEF6"/>
                    </a:solidFill>
                  </a:tcPr>
                </a:tc>
                <a:tc>
                  <a:txBody>
                    <a:bodyPr/>
                    <a:lstStyle/>
                    <a:p>
                      <a:r>
                        <a:rPr sz="1300" b="0">
                          <a:solidFill>
                            <a:srgbClr val="1F2937"/>
                          </a:solidFill>
                        </a:rPr>
                        <a:t>Skalpel bilan qirindi yoki doka yuvma</a:t>
                      </a:r>
                    </a:p>
                  </a:txBody>
                  <a:tcPr marL="73152" marR="73152" marT="36576" marB="36576">
                    <a:solidFill>
                      <a:srgbClr val="E8EEF6"/>
                    </a:solidFill>
                  </a:tcPr>
                </a:tc>
              </a:tr>
              <a:tr h="411480">
                <a:tc>
                  <a:txBody>
                    <a:bodyPr/>
                    <a:lstStyle/>
                    <a:p>
                      <a:r>
                        <a:rPr sz="1300" b="0">
                          <a:solidFill>
                            <a:srgbClr val="1F2937"/>
                          </a:solidFill>
                        </a:rPr>
                        <a:t>Qor, tuproq, qum</a:t>
                      </a:r>
                    </a:p>
                  </a:txBody>
                  <a:tcPr marL="73152" marR="73152" marT="36576" marB="36576">
                    <a:solidFill>
                      <a:srgbClr val="FFFFFF"/>
                    </a:solidFill>
                  </a:tcPr>
                </a:tc>
                <a:tc>
                  <a:txBody>
                    <a:bodyPr/>
                    <a:lstStyle/>
                    <a:p>
                      <a:r>
                        <a:rPr sz="1300" b="0">
                          <a:solidFill>
                            <a:srgbClr val="1F2937"/>
                          </a:solidFill>
                        </a:rPr>
                        <a:t>Qor eritiladi; tuproq qalinligicha olinadi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izini olish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 304-305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ekspertizasi masalalari ketma-ketligi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Savollar shu tartibda yechiladi. Tekshiruv sud-biologik bo‘limida o‘tkaziladi.</a:t>
            </a:r>
          </a:p>
          <a:p>
            <a:pPr>
              <a:spcAft>
                <a:spcPts val="800"/>
              </a:spcAft>
            </a:pPr>
            <a:r>
              <a:rPr sz="1800">
                <a:solidFill>
                  <a:srgbClr val="1F2937"/>
                </a:solidFill>
                <a:latin typeface="Calibri"/>
              </a:rPr>
              <a:t>▸  Ba’zan jins, regional mansublik va homilador yoki yaqinda tuqqan ayolga tegishlilik ham so‘raladi.</a:t>
            </a:r>
          </a:p>
          <a:p>
            <a:pPr>
              <a:spcAft>
                <a:spcPts val="800"/>
              </a:spcAft>
            </a:pPr>
            <a:r>
              <a:rPr sz="1800">
                <a:solidFill>
                  <a:srgbClr val="1F2937"/>
                </a:solidFill>
                <a:latin typeface="Calibri"/>
              </a:rPr>
              <a:t>▸  Diqqat: taxminiy sinamalar qon borligini faqat gumon qildiradi, qat’iy isbotlamaydi.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Qon borligi aniqlanadi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Tur mansubligi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Guruhiy mansubligi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Muayyan shaxsga mansubligi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ekspertizasi bosqichlari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 306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hodisa joyidagi qon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qon izli kiyim va devorda quruq qon dog‘i topildi. Namuna qanday olinadi?</a:t>
            </a:r>
          </a:p>
          <a:p>
            <a:pPr>
              <a:spcAft>
                <a:spcPts val="1200"/>
              </a:spcAft>
            </a:pPr>
            <a:r>
              <a:rPr sz="2200">
                <a:solidFill>
                  <a:srgbClr val="1F2937"/>
                </a:solidFill>
                <a:latin typeface="Calibri"/>
              </a:rPr>
              <a:t>▸  Kiyim kichik buyum sifatida butunligicha olinadi. Devordan toza skalpel bilan qirindi olinib, toza qog‘ozga o‘raladi.</a:t>
            </a:r>
          </a:p>
          <a:p>
            <a:pPr>
              <a:spcAft>
                <a:spcPts val="1200"/>
              </a:spcAft>
            </a:pPr>
            <a:r>
              <a:rPr sz="2200">
                <a:solidFill>
                  <a:srgbClr val="1F2937"/>
                </a:solidFill>
                <a:latin typeface="Calibri"/>
              </a:rPr>
              <a:t>▸  Kontrol uchun devorning ifloslanmagan sohasidan xuddi shunday qirindi olinadi.</a:t>
            </a:r>
          </a:p>
          <a:p>
            <a:pPr>
              <a:spcAft>
                <a:spcPts val="1200"/>
              </a:spcAft>
            </a:pPr>
            <a:r>
              <a:rPr sz="2200">
                <a:solidFill>
                  <a:srgbClr val="1F2937"/>
                </a:solidFill>
                <a:latin typeface="Calibri"/>
              </a:rPr>
              <a:t>▸  Savol: kontrol namuna nima uchun kerak va u qayerdan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qon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10-15 sm balandlikdan gorizontal yuzaga tomgan tomchi qanday dog‘ beradi? Javob: dumaloq, chetlari tekis. Qiya yuzada dog‘ noksimon bo‘ladi.</a:t>
            </a:r>
          </a:p>
          <a:p>
            <a:pPr>
              <a:spcAft>
                <a:spcPts val="1200"/>
              </a:spcAft>
            </a:pPr>
            <a:r>
              <a:rPr sz="2000">
                <a:solidFill>
                  <a:srgbClr val="1F2937"/>
                </a:solidFill>
                <a:latin typeface="Calibri"/>
              </a:rPr>
              <a:t>▸  2-savol: tushish balandligi oshsa dog‘ qanday o‘zgaradi? Javob: chetlari tishsimon bo‘ladi, yanada oshsa atrofida sachralar (ikkilamchi dog‘lar) paydo bo‘ladi.</a:t>
            </a:r>
          </a:p>
          <a:p>
            <a:pPr>
              <a:spcAft>
                <a:spcPts val="1200"/>
              </a:spcAft>
            </a:pPr>
            <a:r>
              <a:rPr sz="2000">
                <a:solidFill>
                  <a:srgbClr val="1F2937"/>
                </a:solidFill>
                <a:latin typeface="Calibri"/>
              </a:rPr>
              <a:t>▸  Diqqat: xato qilish xavfi! Surtma iz ≠ bosma iz. Surtma qonli jism qattiq yuzada sirpanganda, bosma esa sirpanishsiz kontaktda qoladi va jism yuzasiga mos bo‘ladi.</a:t>
            </a:r>
          </a:p>
          <a:p>
            <a:pPr>
              <a:spcAft>
                <a:spcPts val="1200"/>
              </a:spcAft>
            </a:pPr>
            <a:r>
              <a:rPr sz="2000">
                <a:solidFill>
                  <a:srgbClr val="1F2937"/>
                </a:solidFill>
                <a:latin typeface="Calibri"/>
              </a:rPr>
              <a:t>▸  3-savol: kontrol namuna nima uchun kerak? Katta buyumdan dog‘li sohadan va ifloslanmagan sohadan (kontrol) bo‘lak olinadi. Kichik buyum butunligicha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303-304, 304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borligini aniqlash: taxminiy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Taxminiy usullar dastlabki bosqichda qonga shubhali dog‘larni tanlash va tekshiruvni maqsadli qilish uchun qo‘llanadi.</a:t>
            </a:r>
          </a:p>
          <a:p>
            <a:pPr>
              <a:spcAft>
                <a:spcPts val="800"/>
              </a:spcAft>
            </a:pPr>
            <a:r>
              <a:rPr sz="1800">
                <a:solidFill>
                  <a:srgbClr val="1F2937"/>
                </a:solidFill>
                <a:latin typeface="Calibri"/>
              </a:rPr>
              <a:t>▸  Ultrabinafsha nurda qon dog‘i lyuminessensiya bermaydi, to‘q jigar rang bo‘ladi; eski dog‘da olov rang flyuoressensiya.</a:t>
            </a:r>
          </a:p>
          <a:p>
            <a:pPr>
              <a:spcAft>
                <a:spcPts val="800"/>
              </a:spcAft>
            </a:pPr>
            <a:r>
              <a:rPr sz="1800">
                <a:solidFill>
                  <a:srgbClr val="1F2937"/>
                </a:solidFill>
                <a:latin typeface="Calibri"/>
              </a:rPr>
              <a:t>▸  Diqqat: sinamalar nospetsifik, soxta musbat berishi mumkin; ular qonni isbotlamaydi, faqat gumon qildiradi.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36521"/>
                <a:gridCol w="1627069"/>
                <a:gridCol w="2324384"/>
              </a:tblGrid>
              <a:tr h="411480">
                <a:tc>
                  <a:txBody>
                    <a:bodyPr/>
                    <a:lstStyle/>
                    <a:p>
                      <a:r>
                        <a:rPr sz="1300" b="1">
                          <a:solidFill>
                            <a:srgbClr val="FFFFFF"/>
                          </a:solidFill>
                        </a:rPr>
                        <a:t>Sinama</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c>
                  <a:txBody>
                    <a:bodyPr/>
                    <a:lstStyle/>
                    <a:p>
                      <a:r>
                        <a:rPr sz="1300" b="1">
                          <a:solidFill>
                            <a:srgbClr val="FFFFFF"/>
                          </a:solidFill>
                        </a:rPr>
                        <a:t>Muhim</a:t>
                      </a:r>
                    </a:p>
                  </a:txBody>
                  <a:tcPr marL="73152" marR="73152" marT="36576" marB="36576">
                    <a:solidFill>
                      <a:srgbClr val="0B1F3A"/>
                    </a:solidFill>
                  </a:tcPr>
                </a:tc>
              </a:tr>
              <a:tr h="411480">
                <a:tc>
                  <a:txBody>
                    <a:bodyPr/>
                    <a:lstStyle/>
                    <a:p>
                      <a:r>
                        <a:rPr sz="1200" b="0">
                          <a:solidFill>
                            <a:srgbClr val="1F2937"/>
                          </a:solidFill>
                        </a:rPr>
                        <a:t>Vodorod peroksid 3%</a:t>
                      </a:r>
                    </a:p>
                  </a:txBody>
                  <a:tcPr marL="73152" marR="73152" marT="36576" marB="36576">
                    <a:solidFill>
                      <a:srgbClr val="E8EEF6"/>
                    </a:solidFill>
                  </a:tcPr>
                </a:tc>
                <a:tc>
                  <a:txBody>
                    <a:bodyPr/>
                    <a:lstStyle/>
                    <a:p>
                      <a:r>
                        <a:rPr sz="1200" b="0">
                          <a:solidFill>
                            <a:srgbClr val="1F2937"/>
                          </a:solidFill>
                        </a:rPr>
                        <a:t>Oq rangli ko‘pik</a:t>
                      </a:r>
                    </a:p>
                  </a:txBody>
                  <a:tcPr marL="73152" marR="73152" marT="36576" marB="36576">
                    <a:solidFill>
                      <a:srgbClr val="E8EEF6"/>
                    </a:solidFill>
                  </a:tcPr>
                </a:tc>
                <a:tc>
                  <a:txBody>
                    <a:bodyPr/>
                    <a:lstStyle/>
                    <a:p>
                      <a:r>
                        <a:rPr sz="1200" b="0">
                          <a:solidFill>
                            <a:srgbClr val="1F2937"/>
                          </a:solidFill>
                        </a:rPr>
                        <a:t>Peroksidaza, katalaza fermentlariga asoslangan</a:t>
                      </a:r>
                    </a:p>
                  </a:txBody>
                  <a:tcPr marL="73152" marR="73152" marT="36576" marB="36576">
                    <a:solidFill>
                      <a:srgbClr val="E8EEF6"/>
                    </a:solidFill>
                  </a:tcPr>
                </a:tc>
              </a:tr>
              <a:tr h="411480">
                <a:tc>
                  <a:txBody>
                    <a:bodyPr/>
                    <a:lstStyle/>
                    <a:p>
                      <a:r>
                        <a:rPr sz="1200" b="0">
                          <a:solidFill>
                            <a:srgbClr val="1F2937"/>
                          </a:solidFill>
                        </a:rPr>
                        <a:t>Benzidin + peroksid</a:t>
                      </a:r>
                    </a:p>
                  </a:txBody>
                  <a:tcPr marL="73152" marR="73152" marT="36576" marB="36576">
                    <a:solidFill>
                      <a:srgbClr val="FFFFFF"/>
                    </a:solidFill>
                  </a:tcPr>
                </a:tc>
                <a:tc>
                  <a:txBody>
                    <a:bodyPr/>
                    <a:lstStyle/>
                    <a:p>
                      <a:r>
                        <a:rPr sz="1200" b="0">
                          <a:solidFill>
                            <a:srgbClr val="1F2937"/>
                          </a:solidFill>
                        </a:rPr>
                        <a:t>Ko‘k rang</a:t>
                      </a:r>
                    </a:p>
                  </a:txBody>
                  <a:tcPr marL="73152" marR="73152" marT="36576" marB="36576">
                    <a:solidFill>
                      <a:srgbClr val="FFFFFF"/>
                    </a:solidFill>
                  </a:tcPr>
                </a:tc>
                <a:tc>
                  <a:txBody>
                    <a:bodyPr/>
                    <a:lstStyle/>
                    <a:p>
                      <a:r>
                        <a:rPr sz="1200" b="0">
                          <a:solidFill>
                            <a:srgbClr val="1F2937"/>
                          </a:solidFill>
                        </a:rPr>
                        <a:t>Kislorod benzidinni oksidlaydi</a:t>
                      </a:r>
                    </a:p>
                  </a:txBody>
                  <a:tcPr marL="73152" marR="73152" marT="36576" marB="36576">
                    <a:solidFill>
                      <a:srgbClr val="FFFFFF"/>
                    </a:solidFill>
                  </a:tcPr>
                </a:tc>
              </a:tr>
              <a:tr h="411480">
                <a:tc>
                  <a:txBody>
                    <a:bodyPr/>
                    <a:lstStyle/>
                    <a:p>
                      <a:r>
                        <a:rPr sz="1200" b="0">
                          <a:solidFill>
                            <a:srgbClr val="1F2937"/>
                          </a:solidFill>
                        </a:rPr>
                        <a:t>Fenolftalein + peroksid</a:t>
                      </a:r>
                    </a:p>
                  </a:txBody>
                  <a:tcPr marL="73152" marR="73152" marT="36576" marB="36576">
                    <a:solidFill>
                      <a:srgbClr val="E8EEF6"/>
                    </a:solidFill>
                  </a:tcPr>
                </a:tc>
                <a:tc>
                  <a:txBody>
                    <a:bodyPr/>
                    <a:lstStyle/>
                    <a:p>
                      <a:r>
                        <a:rPr sz="1200" b="0">
                          <a:solidFill>
                            <a:srgbClr val="1F2937"/>
                          </a:solidFill>
                        </a:rPr>
                        <a:t>10-15 soniyada qizg‘ish</a:t>
                      </a:r>
                    </a:p>
                  </a:txBody>
                  <a:tcPr marL="73152" marR="73152" marT="36576" marB="36576">
                    <a:solidFill>
                      <a:srgbClr val="E8EEF6"/>
                    </a:solidFill>
                  </a:tcPr>
                </a:tc>
                <a:tc>
                  <a:txBody>
                    <a:bodyPr/>
                    <a:lstStyle/>
                    <a:p>
                      <a:r>
                        <a:rPr sz="1200" b="0">
                          <a:solidFill>
                            <a:srgbClr val="1F2937"/>
                          </a:solidFill>
                        </a:rPr>
                        <a:t>1 daqiqadan keyingisi hisobga olinmaydi</a:t>
                      </a:r>
                    </a:p>
                  </a:txBody>
                  <a:tcPr marL="73152" marR="73152" marT="36576" marB="36576">
                    <a:solidFill>
                      <a:srgbClr val="E8EEF6"/>
                    </a:solidFill>
                  </a:tcPr>
                </a:tc>
              </a:tr>
              <a:tr h="411480">
                <a:tc>
                  <a:txBody>
                    <a:bodyPr/>
                    <a:lstStyle/>
                    <a:p>
                      <a:r>
                        <a:rPr sz="1200" b="0">
                          <a:solidFill>
                            <a:srgbClr val="1F2937"/>
                          </a:solidFill>
                        </a:rPr>
                        <a:t>Lyuminol</a:t>
                      </a:r>
                    </a:p>
                  </a:txBody>
                  <a:tcPr marL="73152" marR="73152" marT="36576" marB="36576">
                    <a:solidFill>
                      <a:srgbClr val="FFFFFF"/>
                    </a:solidFill>
                  </a:tcPr>
                </a:tc>
                <a:tc>
                  <a:txBody>
                    <a:bodyPr/>
                    <a:lstStyle/>
                    <a:p>
                      <a:r>
                        <a:rPr sz="1200" b="0">
                          <a:solidFill>
                            <a:srgbClr val="1F2937"/>
                          </a:solidFill>
                        </a:rPr>
                        <a:t>Havo rang nur, 1 daqiqagacha</a:t>
                      </a:r>
                    </a:p>
                  </a:txBody>
                  <a:tcPr marL="73152" marR="73152" marT="36576" marB="36576">
                    <a:solidFill>
                      <a:srgbClr val="FFFFFF"/>
                    </a:solidFill>
                  </a:tcPr>
                </a:tc>
                <a:tc>
                  <a:txBody>
                    <a:bodyPr/>
                    <a:lstStyle/>
                    <a:p>
                      <a:r>
                        <a:rPr sz="1200" b="0">
                          <a:solidFill>
                            <a:srgbClr val="1F2937"/>
                          </a:solidFill>
                        </a:rPr>
                        <a:t>Qorong‘i joyda qo‘llanadi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Taxminiy sinamalar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 306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borligini aniqlash: ishonchli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Mikroskopik usul eritrotsitlarni topishga asoslangan. Qon hujayralarining ko‘rinishi tez o‘zgargani uchun imkoniyati cheklangan.</a:t>
            </a:r>
          </a:p>
          <a:p>
            <a:pPr>
              <a:spcAft>
                <a:spcPts val="1200"/>
              </a:spcAft>
            </a:pPr>
            <a:r>
              <a:rPr sz="2200">
                <a:solidFill>
                  <a:srgbClr val="1F2937"/>
                </a:solidFill>
                <a:latin typeface="Calibri"/>
              </a:rPr>
              <a:t>▸  Mikrokristallik usullar (Teyxman, Takayama) gemoglobin hosilalari kristallariga asoslangan. Sezgirligi past, shuning uchun amaliyotda qo‘llanmaydi.</a:t>
            </a:r>
          </a:p>
          <a:p>
            <a:pPr>
              <a:spcAft>
                <a:spcPts val="1200"/>
              </a:spcAft>
            </a:pPr>
            <a:r>
              <a:rPr sz="2200">
                <a:solidFill>
                  <a:srgbClr val="1F2937"/>
                </a:solidFill>
                <a:latin typeface="Calibri"/>
              </a:rPr>
              <a:t>▸  Spektral usul gemoglobin va hosilalarining ma’lum to‘lqinlarni yutishiga asoslangan; mikrospektral moslamali mikroskopda o‘tkaziladi.</a:t>
            </a:r>
          </a:p>
          <a:p>
            <a:pPr>
              <a:spcAft>
                <a:spcPts val="1200"/>
              </a:spcAft>
            </a:pPr>
            <a:r>
              <a:rPr sz="2200">
                <a:solidFill>
                  <a:srgbClr val="1F2937"/>
                </a:solidFill>
                <a:latin typeface="Calibri"/>
              </a:rPr>
              <a:t>▸  Hozirgi davrda qon asosan xromatografik usulda aniqlanadi: qog‘ozda yoki silufol plastinkasida yupqa qatlamli xromatografiya.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tur mansubligi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dog‘i odamga ham, hayvonga ham tegishli bo‘lishi mumkin, shuning uchun tur mansubligi aniqlanadi.</a:t>
            </a:r>
          </a:p>
          <a:p>
            <a:pPr>
              <a:spcAft>
                <a:spcPts val="800"/>
              </a:spcAft>
            </a:pPr>
            <a:r>
              <a:rPr sz="1800">
                <a:solidFill>
                  <a:srgbClr val="1F2937"/>
                </a:solidFill>
                <a:latin typeface="Calibri"/>
              </a:rPr>
              <a:t>▸  Chistovich–Ulengut reaksiyasida odam oqsiliga qarshi zardob qo‘shilgan probirkada pretsipitatsiya halqasi paydo bo‘ladi.</a:t>
            </a:r>
          </a:p>
          <a:p>
            <a:pPr>
              <a:spcAft>
                <a:spcPts val="800"/>
              </a:spcAft>
            </a:pPr>
            <a:r>
              <a:rPr sz="1800">
                <a:solidFill>
                  <a:srgbClr val="1F2937"/>
                </a:solidFill>
                <a:latin typeface="Calibri"/>
              </a:rPr>
              <a:t>▸  Qon kam bo‘lsa elektroforez, tortilma loyqa bo‘lsa Ouxterloni usuli maqsadga muvofiq.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50211"/>
                <a:gridCol w="2937763"/>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Qo‘llanishi</a:t>
                      </a:r>
                    </a:p>
                  </a:txBody>
                  <a:tcPr marL="73152" marR="73152" marT="36576" marB="36576">
                    <a:solidFill>
                      <a:srgbClr val="0B1F3A"/>
                    </a:solidFill>
                  </a:tcPr>
                </a:tc>
              </a:tr>
              <a:tr h="411480">
                <a:tc>
                  <a:txBody>
                    <a:bodyPr/>
                    <a:lstStyle/>
                    <a:p>
                      <a:r>
                        <a:rPr sz="1300" b="0">
                          <a:solidFill>
                            <a:srgbClr val="1F2937"/>
                          </a:solidFill>
                        </a:rPr>
                        <a:t>Chistovich–Ulengut</a:t>
                      </a:r>
                    </a:p>
                  </a:txBody>
                  <a:tcPr marL="73152" marR="73152" marT="36576" marB="36576">
                    <a:solidFill>
                      <a:srgbClr val="E8EEF6"/>
                    </a:solidFill>
                  </a:tcPr>
                </a:tc>
                <a:tc>
                  <a:txBody>
                    <a:bodyPr/>
                    <a:lstStyle/>
                    <a:p>
                      <a:r>
                        <a:rPr sz="1300" b="0">
                          <a:solidFill>
                            <a:srgbClr val="1F2937"/>
                          </a:solidFill>
                        </a:rPr>
                        <a:t>Odam oqsiliga qarshi zardob; halqa chiqadi</a:t>
                      </a:r>
                    </a:p>
                  </a:txBody>
                  <a:tcPr marL="73152" marR="73152" marT="36576" marB="36576">
                    <a:solidFill>
                      <a:srgbClr val="E8EEF6"/>
                    </a:solidFill>
                  </a:tcPr>
                </a:tc>
              </a:tr>
              <a:tr h="411480">
                <a:tc>
                  <a:txBody>
                    <a:bodyPr/>
                    <a:lstStyle/>
                    <a:p>
                      <a:r>
                        <a:rPr sz="1300" b="0">
                          <a:solidFill>
                            <a:srgbClr val="1F2937"/>
                          </a:solidFill>
                        </a:rPr>
                        <a:t>Atsetat-sellyuloza elektroforezi</a:t>
                      </a:r>
                    </a:p>
                  </a:txBody>
                  <a:tcPr marL="73152" marR="73152" marT="36576" marB="36576">
                    <a:solidFill>
                      <a:srgbClr val="FFFFFF"/>
                    </a:solidFill>
                  </a:tcPr>
                </a:tc>
                <a:tc>
                  <a:txBody>
                    <a:bodyPr/>
                    <a:lstStyle/>
                    <a:p>
                      <a:r>
                        <a:rPr sz="1300" b="0">
                          <a:solidFill>
                            <a:srgbClr val="1F2937"/>
                          </a:solidFill>
                        </a:rPr>
                        <a:t>Tortilmada qon miqdori kam bo‘lsa</a:t>
                      </a:r>
                    </a:p>
                  </a:txBody>
                  <a:tcPr marL="73152" marR="73152" marT="36576" marB="36576">
                    <a:solidFill>
                      <a:srgbClr val="FFFFFF"/>
                    </a:solidFill>
                  </a:tcPr>
                </a:tc>
              </a:tr>
              <a:tr h="411480">
                <a:tc>
                  <a:txBody>
                    <a:bodyPr/>
                    <a:lstStyle/>
                    <a:p>
                      <a:r>
                        <a:rPr sz="1300" b="0">
                          <a:solidFill>
                            <a:srgbClr val="1F2937"/>
                          </a:solidFill>
                        </a:rPr>
                        <a:t>Ouxterloni (gelli agar)</a:t>
                      </a:r>
                    </a:p>
                  </a:txBody>
                  <a:tcPr marL="73152" marR="73152" marT="36576" marB="36576">
                    <a:solidFill>
                      <a:srgbClr val="E8EEF6"/>
                    </a:solidFill>
                  </a:tcPr>
                </a:tc>
                <a:tc>
                  <a:txBody>
                    <a:bodyPr/>
                    <a:lstStyle/>
                    <a:p>
                      <a:r>
                        <a:rPr sz="1300" b="0">
                          <a:solidFill>
                            <a:srgbClr val="1F2937"/>
                          </a:solidFill>
                        </a:rPr>
                        <a:t>Tortilma loyqa bo‘lsa</a:t>
                      </a:r>
                    </a:p>
                  </a:txBody>
                  <a:tcPr marL="73152" marR="73152" marT="36576" marB="36576">
                    <a:solidFill>
                      <a:srgbClr val="E8EEF6"/>
                    </a:solidFill>
                  </a:tcPr>
                </a:tc>
              </a:tr>
              <a:tr h="411480">
                <a:tc>
                  <a:txBody>
                    <a:bodyPr/>
                    <a:lstStyle/>
                    <a:p>
                      <a:r>
                        <a:rPr sz="1300" b="0">
                          <a:solidFill>
                            <a:srgbClr val="1F2937"/>
                          </a:solidFill>
                        </a:rPr>
                        <a:t>ABAcard testi</a:t>
                      </a:r>
                    </a:p>
                  </a:txBody>
                  <a:tcPr marL="73152" marR="73152" marT="36576" marB="36576">
                    <a:solidFill>
                      <a:srgbClr val="FFFFFF"/>
                    </a:solidFill>
                  </a:tcPr>
                </a:tc>
                <a:tc>
                  <a:txBody>
                    <a:bodyPr/>
                    <a:lstStyle/>
                    <a:p>
                      <a:r>
                        <a:rPr sz="1300" b="0">
                          <a:solidFill>
                            <a:srgbClr val="1F2937"/>
                          </a:solidFill>
                        </a:rPr>
                        <a:t>Qon borligi va inson qoni — bir vaqtda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Tur mansubligi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guruhiy mansubligi (AVO va boshqa tizimlar)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Guruhiy mansublik guruhiy xususiyatli turli tizimlarni tekshirib aniqlanadi. Antigenlar va ularning majmui turlari bir necha yuz mingdan ortiq.</a:t>
            </a:r>
          </a:p>
          <a:p>
            <a:pPr>
              <a:spcAft>
                <a:spcPts val="1200"/>
              </a:spcAft>
            </a:pPr>
            <a:r>
              <a:rPr sz="2200">
                <a:solidFill>
                  <a:srgbClr val="1F2937"/>
                </a:solidFill>
                <a:latin typeface="Calibri"/>
              </a:rPr>
              <a:t>▸  Eritrotsitar tizimlarga AVO, Rezus (Rh), MNSs, Lyuis (Le) kiradi. Zardob tizimlari: Gm, Hp, Gc; ferment tizimlari va leykotsitar HLA tizimi ham bor.</a:t>
            </a:r>
          </a:p>
          <a:p>
            <a:pPr>
              <a:spcAft>
                <a:spcPts val="1200"/>
              </a:spcAft>
            </a:pPr>
            <a:r>
              <a:rPr sz="2200">
                <a:solidFill>
                  <a:srgbClr val="1F2937"/>
                </a:solidFill>
                <a:latin typeface="Calibri"/>
              </a:rPr>
              <a:t>▸  Tekshiruv odatda AVO tizimidan boshlanadi. Diqqat: klinikada faqat agglyutinogenlar, sud-tibbiyotda agglyutinogen va agglyutininlar birga o‘rganiladi.</a:t>
            </a:r>
          </a:p>
          <a:p>
            <a:pPr>
              <a:spcAft>
                <a:spcPts val="1200"/>
              </a:spcAft>
            </a:pPr>
            <a:r>
              <a:rPr sz="2200">
                <a:solidFill>
                  <a:srgbClr val="1F2937"/>
                </a:solidFill>
                <a:latin typeface="Calibri"/>
              </a:rPr>
              <a:t>▸  Suyuq qonda Shiff usuli qo‘llanadi. Dog‘da agglyutinogenlar absorbsiya-elyusiya va boshqa reaksiyalar bilan, kam miqdorda absorbsiya-elyusiya tavsiya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Muayyan shaxsga mansublik va DNK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izi aniq shaxsniki ekanini bilish uchun hodisa joyidagi iz shu shaxs qoni bilan guruhiy tizimlar bo‘yicha taqqoslanadi.</a:t>
            </a:r>
          </a:p>
          <a:p>
            <a:pPr>
              <a:spcAft>
                <a:spcPts val="1200"/>
              </a:spcAft>
            </a:pPr>
            <a:r>
              <a:rPr sz="2200">
                <a:solidFill>
                  <a:srgbClr val="1F2937"/>
                </a:solidFill>
                <a:latin typeface="Calibri"/>
              </a:rPr>
              <a:t>▸  Taqqoslash AVO tizimidan boshlanadi, zarur bo‘lsa boshqa tizimlar antigenlari ham tekshiriladi.</a:t>
            </a:r>
          </a:p>
          <a:p>
            <a:pPr>
              <a:spcAft>
                <a:spcPts val="1200"/>
              </a:spcAft>
            </a:pPr>
            <a:r>
              <a:rPr sz="2200">
                <a:solidFill>
                  <a:srgbClr val="1F2937"/>
                </a:solidFill>
                <a:latin typeface="Calibri"/>
              </a:rPr>
              <a:t>▸  Ikki shaxsda barcha guruhiy tizimlar bo‘yicha antigenlar mutlaqo mos kelishi mumkin emas. Biroq bunday taqqoslash ko‘p mehnat va vaqt talab qiladi.</a:t>
            </a:r>
          </a:p>
          <a:p>
            <a:pPr>
              <a:spcAft>
                <a:spcPts val="1200"/>
              </a:spcAft>
            </a:pPr>
            <a:r>
              <a:rPr sz="2200">
                <a:solidFill>
                  <a:srgbClr val="1F2937"/>
                </a:solidFill>
                <a:latin typeface="Calibri"/>
              </a:rPr>
              <a:t>▸  So‘nggi davrda qonning aniq shaxsga tegishliligi DNK (dezoksiribonuklein kislota) tekshiruvi yordamida qat’iy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jins, region va homiladorlik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Jins X- va Y-xromatin yoki DNK (dezoksiribonuklein kislota) tekshiruvi orqali aniqlanadi; Y-xromatin akrixin bilan bo‘yaladi.</a:t>
            </a:r>
          </a:p>
          <a:p>
            <a:pPr>
              <a:spcAft>
                <a:spcPts val="800"/>
              </a:spcAft>
            </a:pPr>
            <a:r>
              <a:rPr sz="1800">
                <a:solidFill>
                  <a:srgbClr val="1F2937"/>
                </a:solidFill>
                <a:latin typeface="Calibri"/>
              </a:rPr>
              <a:t>▸  X-xromatin azur-eozin bilan ayollar hujayralarida topiladi; Y-xromatin esa faqat insonga xos.</a:t>
            </a:r>
          </a:p>
          <a:p>
            <a:pPr>
              <a:spcAft>
                <a:spcPts val="800"/>
              </a:spcAft>
            </a:pPr>
            <a:r>
              <a:rPr sz="1800">
                <a:solidFill>
                  <a:srgbClr val="1F2937"/>
                </a:solidFill>
                <a:latin typeface="Calibri"/>
              </a:rPr>
              <a:t>▸  Diqqat: qon dog‘i bo‘yicha homiladorlikni qat’iy aniqlab bo‘lmaydi.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70982"/>
                <a:gridCol w="1941155"/>
                <a:gridCol w="2275837"/>
              </a:tblGrid>
              <a:tr h="411480">
                <a:tc>
                  <a:txBody>
                    <a:bodyPr/>
                    <a:lstStyle/>
                    <a:p>
                      <a:r>
                        <a:rPr sz="1300" b="1">
                          <a:solidFill>
                            <a:srgbClr val="FFFFFF"/>
                          </a:solidFill>
                        </a:rPr>
                        <a:t>Masala</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Eslatma</a:t>
                      </a:r>
                    </a:p>
                  </a:txBody>
                  <a:tcPr marL="73152" marR="73152" marT="36576" marB="36576">
                    <a:solidFill>
                      <a:srgbClr val="0B1F3A"/>
                    </a:solidFill>
                  </a:tcPr>
                </a:tc>
              </a:tr>
              <a:tr h="411480">
                <a:tc>
                  <a:txBody>
                    <a:bodyPr/>
                    <a:lstStyle/>
                    <a:p>
                      <a:r>
                        <a:rPr sz="1200" b="0">
                          <a:solidFill>
                            <a:srgbClr val="1F2937"/>
                          </a:solidFill>
                        </a:rPr>
                        <a:t>Jins</a:t>
                      </a:r>
                    </a:p>
                  </a:txBody>
                  <a:tcPr marL="73152" marR="73152" marT="36576" marB="36576">
                    <a:solidFill>
                      <a:srgbClr val="E8EEF6"/>
                    </a:solidFill>
                  </a:tcPr>
                </a:tc>
                <a:tc>
                  <a:txBody>
                    <a:bodyPr/>
                    <a:lstStyle/>
                    <a:p>
                      <a:r>
                        <a:rPr sz="1200" b="0">
                          <a:solidFill>
                            <a:srgbClr val="1F2937"/>
                          </a:solidFill>
                        </a:rPr>
                        <a:t>X-/Y-xromatin yoki DNK</a:t>
                      </a:r>
                    </a:p>
                  </a:txBody>
                  <a:tcPr marL="73152" marR="73152" marT="36576" marB="36576">
                    <a:solidFill>
                      <a:srgbClr val="E8EEF6"/>
                    </a:solidFill>
                  </a:tcPr>
                </a:tc>
                <a:tc>
                  <a:txBody>
                    <a:bodyPr/>
                    <a:lstStyle/>
                    <a:p>
                      <a:r>
                        <a:rPr sz="1200" b="0">
                          <a:solidFill>
                            <a:srgbClr val="1F2937"/>
                          </a:solidFill>
                        </a:rPr>
                        <a:t>Hujayralar sitologiyasi</a:t>
                      </a:r>
                    </a:p>
                  </a:txBody>
                  <a:tcPr marL="73152" marR="73152" marT="36576" marB="36576">
                    <a:solidFill>
                      <a:srgbClr val="E8EEF6"/>
                    </a:solidFill>
                  </a:tcPr>
                </a:tc>
              </a:tr>
              <a:tr h="411480">
                <a:tc>
                  <a:txBody>
                    <a:bodyPr/>
                    <a:lstStyle/>
                    <a:p>
                      <a:r>
                        <a:rPr sz="1200" b="0">
                          <a:solidFill>
                            <a:srgbClr val="1F2937"/>
                          </a:solidFill>
                        </a:rPr>
                        <a:t>Region</a:t>
                      </a:r>
                    </a:p>
                  </a:txBody>
                  <a:tcPr marL="73152" marR="73152" marT="36576" marB="36576">
                    <a:solidFill>
                      <a:srgbClr val="FFFFFF"/>
                    </a:solidFill>
                  </a:tcPr>
                </a:tc>
                <a:tc>
                  <a:txBody>
                    <a:bodyPr/>
                    <a:lstStyle/>
                    <a:p>
                      <a:r>
                        <a:rPr sz="1200" b="0">
                          <a:solidFill>
                            <a:srgbClr val="1F2937"/>
                          </a:solidFill>
                        </a:rPr>
                        <a:t>Shu soha epiteliy hujayralari</a:t>
                      </a:r>
                    </a:p>
                  </a:txBody>
                  <a:tcPr marL="73152" marR="73152" marT="36576" marB="36576">
                    <a:solidFill>
                      <a:srgbClr val="FFFFFF"/>
                    </a:solidFill>
                  </a:tcPr>
                </a:tc>
                <a:tc>
                  <a:txBody>
                    <a:bodyPr/>
                    <a:lstStyle/>
                    <a:p>
                      <a:r>
                        <a:rPr sz="1200" b="0">
                          <a:solidFill>
                            <a:srgbClr val="1F2937"/>
                          </a:solidFill>
                        </a:rPr>
                        <a:t>Burun, o‘pka, ichak, bachadon, qin</a:t>
                      </a:r>
                    </a:p>
                  </a:txBody>
                  <a:tcPr marL="73152" marR="73152" marT="36576" marB="36576">
                    <a:solidFill>
                      <a:srgbClr val="FFFFFF"/>
                    </a:solidFill>
                  </a:tcPr>
                </a:tc>
              </a:tr>
              <a:tr h="411480">
                <a:tc>
                  <a:txBody>
                    <a:bodyPr/>
                    <a:lstStyle/>
                    <a:p>
                      <a:r>
                        <a:rPr sz="1200" b="0">
                          <a:solidFill>
                            <a:srgbClr val="1F2937"/>
                          </a:solidFill>
                        </a:rPr>
                        <a:t>Menstrual qon</a:t>
                      </a:r>
                    </a:p>
                  </a:txBody>
                  <a:tcPr marL="73152" marR="73152" marT="36576" marB="36576">
                    <a:solidFill>
                      <a:srgbClr val="E8EEF6"/>
                    </a:solidFill>
                  </a:tcPr>
                </a:tc>
                <a:tc>
                  <a:txBody>
                    <a:bodyPr/>
                    <a:lstStyle/>
                    <a:p>
                      <a:r>
                        <a:rPr sz="1200" b="0">
                          <a:solidFill>
                            <a:srgbClr val="1F2937"/>
                          </a:solidFill>
                        </a:rPr>
                        <a:t>Fermentlar faolligi kattaroq</a:t>
                      </a:r>
                    </a:p>
                  </a:txBody>
                  <a:tcPr marL="73152" marR="73152" marT="36576" marB="36576">
                    <a:solidFill>
                      <a:srgbClr val="E8EEF6"/>
                    </a:solidFill>
                  </a:tcPr>
                </a:tc>
                <a:tc>
                  <a:txBody>
                    <a:bodyPr/>
                    <a:lstStyle/>
                    <a:p>
                      <a:r>
                        <a:rPr sz="1200" b="0">
                          <a:solidFill>
                            <a:srgbClr val="1F2937"/>
                          </a:solidFill>
                        </a:rPr>
                        <a:t>Belgi yetarli ishonchli emas</a:t>
                      </a:r>
                    </a:p>
                  </a:txBody>
                  <a:tcPr marL="73152" marR="73152" marT="36576" marB="36576">
                    <a:solidFill>
                      <a:srgbClr val="E8EEF6"/>
                    </a:solidFill>
                  </a:tcPr>
                </a:tc>
              </a:tr>
              <a:tr h="411480">
                <a:tc>
                  <a:txBody>
                    <a:bodyPr/>
                    <a:lstStyle/>
                    <a:p>
                      <a:r>
                        <a:rPr sz="1200" b="0">
                          <a:solidFill>
                            <a:srgbClr val="1F2937"/>
                          </a:solidFill>
                        </a:rPr>
                        <a:t>Homiladorlik</a:t>
                      </a:r>
                    </a:p>
                  </a:txBody>
                  <a:tcPr marL="73152" marR="73152" marT="36576" marB="36576">
                    <a:solidFill>
                      <a:srgbClr val="FFFFFF"/>
                    </a:solidFill>
                  </a:tcPr>
                </a:tc>
                <a:tc>
                  <a:txBody>
                    <a:bodyPr/>
                    <a:lstStyle/>
                    <a:p>
                      <a:r>
                        <a:rPr sz="1200" b="0">
                          <a:solidFill>
                            <a:srgbClr val="1F2937"/>
                          </a:solidFill>
                        </a:rPr>
                        <a:t>Xorionogonadotrop gormon</a:t>
                      </a:r>
                    </a:p>
                  </a:txBody>
                  <a:tcPr marL="73152" marR="73152" marT="36576" marB="36576">
                    <a:solidFill>
                      <a:srgbClr val="FFFFFF"/>
                    </a:solidFill>
                  </a:tcPr>
                </a:tc>
                <a:tc>
                  <a:txBody>
                    <a:bodyPr/>
                    <a:lstStyle/>
                    <a:p>
                      <a:r>
                        <a:rPr sz="1200" b="0">
                          <a:solidFill>
                            <a:srgbClr val="1F2937"/>
                          </a:solidFill>
                        </a:rPr>
                        <a:t>Oksitotsinaza: 1-oy oxiridan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izi: qo‘shimcha savollar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307-308, 308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 qoni, dog‘ muddati va qon miqdori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Yangi dog‘larda kattalar va go‘daklar qonini gemoglobin turi bo‘yicha farqlash mumkin.</a:t>
            </a:r>
          </a:p>
          <a:p>
            <a:pPr>
              <a:spcAft>
                <a:spcPts val="800"/>
              </a:spcAft>
            </a:pPr>
            <a:r>
              <a:rPr sz="1800">
                <a:solidFill>
                  <a:srgbClr val="1F2937"/>
                </a:solidFill>
                <a:latin typeface="Calibri"/>
              </a:rPr>
              <a:t>▸  15-20 kunlik dog‘da farqlab bo‘lmaydi. Dog‘ muddati faqat taxminiy aniqlanadi.</a:t>
            </a:r>
          </a:p>
          <a:p>
            <a:pPr>
              <a:spcAft>
                <a:spcPts val="800"/>
              </a:spcAft>
            </a:pPr>
            <a:r>
              <a:rPr sz="1800">
                <a:solidFill>
                  <a:srgbClr val="1F2937"/>
                </a:solidFill>
                <a:latin typeface="Calibri"/>
              </a:rPr>
              <a:t>▸  Qon miqdorini hisoblashda 1 litr suyuq qondan o‘rtacha 210 g quruq qoldiq qoladi deb olinadi.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031800"/>
                <a:gridCol w="1676675"/>
                <a:gridCol w="257950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Kattalar</a:t>
                      </a:r>
                    </a:p>
                  </a:txBody>
                  <a:tcPr marL="73152" marR="73152" marT="36576" marB="36576">
                    <a:solidFill>
                      <a:srgbClr val="0B1F3A"/>
                    </a:solidFill>
                  </a:tcPr>
                </a:tc>
                <a:tc>
                  <a:txBody>
                    <a:bodyPr/>
                    <a:lstStyle/>
                    <a:p>
                      <a:r>
                        <a:rPr sz="1300" b="1">
                          <a:solidFill>
                            <a:srgbClr val="FFFFFF"/>
                          </a:solidFill>
                        </a:rPr>
                        <a:t>Go‘daklar</a:t>
                      </a:r>
                    </a:p>
                  </a:txBody>
                  <a:tcPr marL="73152" marR="73152" marT="36576" marB="36576">
                    <a:solidFill>
                      <a:srgbClr val="0B1F3A"/>
                    </a:solidFill>
                  </a:tcPr>
                </a:tc>
              </a:tr>
              <a:tr h="411480">
                <a:tc>
                  <a:txBody>
                    <a:bodyPr/>
                    <a:lstStyle/>
                    <a:p>
                      <a:r>
                        <a:rPr sz="1200" b="0">
                          <a:solidFill>
                            <a:srgbClr val="1F2937"/>
                          </a:solidFill>
                        </a:rPr>
                        <a:t>Gemoglobin turi</a:t>
                      </a:r>
                    </a:p>
                  </a:txBody>
                  <a:tcPr marL="73152" marR="73152" marT="36576" marB="36576">
                    <a:solidFill>
                      <a:srgbClr val="E8EEF6"/>
                    </a:solidFill>
                  </a:tcPr>
                </a:tc>
                <a:tc>
                  <a:txBody>
                    <a:bodyPr/>
                    <a:lstStyle/>
                    <a:p>
                      <a:r>
                        <a:rPr sz="1200" b="0">
                          <a:solidFill>
                            <a:srgbClr val="1F2937"/>
                          </a:solidFill>
                        </a:rPr>
                        <a:t>HbA (kattalar gemoglobini)</a:t>
                      </a:r>
                    </a:p>
                  </a:txBody>
                  <a:tcPr marL="73152" marR="73152" marT="36576" marB="36576">
                    <a:solidFill>
                      <a:srgbClr val="E8EEF6"/>
                    </a:solidFill>
                  </a:tcPr>
                </a:tc>
                <a:tc>
                  <a:txBody>
                    <a:bodyPr/>
                    <a:lstStyle/>
                    <a:p>
                      <a:r>
                        <a:rPr sz="1200" b="0">
                          <a:solidFill>
                            <a:srgbClr val="1F2937"/>
                          </a:solidFill>
                        </a:rPr>
                        <a:t>HbF (fetal gemoglobin)</a:t>
                      </a:r>
                    </a:p>
                  </a:txBody>
                  <a:tcPr marL="73152" marR="73152" marT="36576" marB="36576">
                    <a:solidFill>
                      <a:srgbClr val="E8EEF6"/>
                    </a:solidFill>
                  </a:tcPr>
                </a:tc>
              </a:tr>
              <a:tr h="411480">
                <a:tc>
                  <a:txBody>
                    <a:bodyPr/>
                    <a:lstStyle/>
                    <a:p>
                      <a:r>
                        <a:rPr sz="1200" b="0">
                          <a:solidFill>
                            <a:srgbClr val="1F2937"/>
                          </a:solidFill>
                        </a:rPr>
                        <a:t>Ishqor ta’siriga</a:t>
                      </a:r>
                    </a:p>
                  </a:txBody>
                  <a:tcPr marL="73152" marR="73152" marT="36576" marB="36576">
                    <a:solidFill>
                      <a:srgbClr val="FFFFFF"/>
                    </a:solidFill>
                  </a:tcPr>
                </a:tc>
                <a:tc>
                  <a:txBody>
                    <a:bodyPr/>
                    <a:lstStyle/>
                    <a:p>
                      <a:r>
                        <a:rPr sz="1200" b="0">
                          <a:solidFill>
                            <a:srgbClr val="1F2937"/>
                          </a:solidFill>
                        </a:rPr>
                        <a:t>Kamroq chidamli</a:t>
                      </a:r>
                    </a:p>
                  </a:txBody>
                  <a:tcPr marL="73152" marR="73152" marT="36576" marB="36576">
                    <a:solidFill>
                      <a:srgbClr val="FFFFFF"/>
                    </a:solidFill>
                  </a:tcPr>
                </a:tc>
                <a:tc>
                  <a:txBody>
                    <a:bodyPr/>
                    <a:lstStyle/>
                    <a:p>
                      <a:r>
                        <a:rPr sz="1200" b="0">
                          <a:solidFill>
                            <a:srgbClr val="1F2937"/>
                          </a:solidFill>
                        </a:rPr>
                        <a:t>Chidamliroq</a:t>
                      </a:r>
                    </a:p>
                  </a:txBody>
                  <a:tcPr marL="73152" marR="73152" marT="36576" marB="36576">
                    <a:solidFill>
                      <a:srgbClr val="FFFFFF"/>
                    </a:solidFill>
                  </a:tcPr>
                </a:tc>
              </a:tr>
              <a:tr h="411480">
                <a:tc>
                  <a:txBody>
                    <a:bodyPr/>
                    <a:lstStyle/>
                    <a:p>
                      <a:r>
                        <a:rPr sz="1200" b="0">
                          <a:solidFill>
                            <a:srgbClr val="1F2937"/>
                          </a:solidFill>
                        </a:rPr>
                        <a:t>HbF miqdori</a:t>
                      </a:r>
                    </a:p>
                  </a:txBody>
                  <a:tcPr marL="73152" marR="73152" marT="36576" marB="36576">
                    <a:solidFill>
                      <a:srgbClr val="E8EEF6"/>
                    </a:solidFill>
                  </a:tcPr>
                </a:tc>
                <a:tc>
                  <a:txBody>
                    <a:bodyPr/>
                    <a:lstStyle/>
                    <a:p>
                      <a:r>
                        <a:rPr sz="1200" b="0">
                          <a:solidFill>
                            <a:srgbClr val="1F2937"/>
                          </a:solidFill>
                        </a:rPr>
                        <a:t>—</a:t>
                      </a:r>
                    </a:p>
                  </a:txBody>
                  <a:tcPr marL="73152" marR="73152" marT="36576" marB="36576">
                    <a:solidFill>
                      <a:srgbClr val="E8EEF6"/>
                    </a:solidFill>
                  </a:tcPr>
                </a:tc>
                <a:tc>
                  <a:txBody>
                    <a:bodyPr/>
                    <a:lstStyle/>
                    <a:p>
                      <a:r>
                        <a:rPr sz="1200" b="0">
                          <a:solidFill>
                            <a:srgbClr val="1F2937"/>
                          </a:solidFill>
                        </a:rPr>
                        <a:t>Tug‘ruqda 80% gacha, 1-yil oxirida 5% gacha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Kattalar va go‘daklar gemoglobini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 dog‘i ekspertizasi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joyidagi kiyimda qonga o‘xshash dog‘ topildi. Avval qon borligi, so‘ng tur, guruh va shaxsga mansubligi aniqlanadi.</a:t>
            </a:r>
          </a:p>
          <a:p>
            <a:pPr>
              <a:spcAft>
                <a:spcPts val="1200"/>
              </a:spcAft>
            </a:pPr>
            <a:r>
              <a:rPr sz="2200">
                <a:solidFill>
                  <a:srgbClr val="1F2937"/>
                </a:solidFill>
                <a:latin typeface="Calibri"/>
              </a:rPr>
              <a:t>▸  Dastlab benzidin, vodorod peroksid, lyuminol kabi taxminiy sinamalar qo‘llanadi. Ular faqat gumon beradi, qat’iy isbot emas.</a:t>
            </a:r>
          </a:p>
          <a:p>
            <a:pPr>
              <a:spcAft>
                <a:spcPts val="1200"/>
              </a:spcAft>
            </a:pPr>
            <a:r>
              <a:rPr sz="2200">
                <a:solidFill>
                  <a:srgbClr val="1F2937"/>
                </a:solidFill>
                <a:latin typeface="Calibri"/>
              </a:rPr>
              <a:t>▸  Qon borligi xromatografiya bilan ishonchli tasdiqlanadi. Tur mansubligi Chistovich-Ulengut pretsipitatsiya reaksiyasi bilan hal etiladi.</a:t>
            </a:r>
          </a:p>
          <a:p>
            <a:pPr>
              <a:spcAft>
                <a:spcPts val="1200"/>
              </a:spcAft>
            </a:pPr>
            <a:r>
              <a:rPr sz="2200">
                <a:solidFill>
                  <a:srgbClr val="1F2937"/>
                </a:solidFill>
                <a:latin typeface="Calibri"/>
              </a:rPr>
              <a:t>▸  Savol: dog‘ inson qonimi yoki hayvonnikimi? Shaxsga tegishliligi AVO (ABO) guruh tizimi va DNK-tekshiruvi bilan qanday hal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 305-306, 306, 307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 izlarini topish va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Maniy izlari hodisa joyidagi predmetlarda, yotoq anjomlarida, jabrlanuvchining kiyimi va tanasida bo‘lishi mumkin. Ular ko‘z bilan yoki lupa yordamida qidiriladi.</a:t>
            </a:r>
          </a:p>
          <a:p>
            <a:pPr>
              <a:spcAft>
                <a:spcPts val="1200"/>
              </a:spcAft>
            </a:pPr>
            <a:r>
              <a:rPr sz="2000">
                <a:solidFill>
                  <a:srgbClr val="1F2937"/>
                </a:solidFill>
                <a:latin typeface="Calibri"/>
              </a:rPr>
              <a:t>▸  Shimuvchi matoda dog‘ chetlari landkartasimon bo‘ladi. Qattiq yuzada oqimtir-kulrang yaltiroq qoplama, qon aralashsa pushti yoki qizg‘imtir rang ko‘rinadi.</a:t>
            </a:r>
          </a:p>
          <a:p>
            <a:pPr>
              <a:spcAft>
                <a:spcPts val="1200"/>
              </a:spcAft>
            </a:pPr>
            <a:r>
              <a:rPr sz="2000">
                <a:solidFill>
                  <a:srgbClr val="1F2937"/>
                </a:solidFill>
                <a:latin typeface="Calibri"/>
              </a:rPr>
              <a:t>▸  Gumon qilingan kiyim va choyshab to‘liq olinadi. Katta materialdan dog‘li bo‘lak va dog‘siz joydan kontrol namuna olinadi. Tanadan rentgen plenkaga bosma olish mumkin.</a:t>
            </a:r>
          </a:p>
          <a:p>
            <a:pPr>
              <a:spcAft>
                <a:spcPts val="1200"/>
              </a:spcAft>
            </a:pPr>
            <a:r>
              <a:rPr sz="2000">
                <a:solidFill>
                  <a:srgbClr val="1F2937"/>
                </a:solidFill>
                <a:latin typeface="Calibri"/>
              </a:rPr>
              <a:t>▸  Nomusga tegish va besoqolbozlikda qin va orqa teshikdan doka tiqim bilan namuna olinadi, alohida kontrol tiqim ham tayyorlanadi. Gumondor va jabrlanuvchidan qon va so‘lak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 ekspertizasi masalalari va taxminiy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Ekspertizada 4 masala hal etiladi: maniy borligi, tur, guruhiy va muayyan shaxsga mansubligi.</a:t>
            </a:r>
          </a:p>
          <a:p>
            <a:pPr>
              <a:spcAft>
                <a:spcPts val="800"/>
              </a:spcAft>
            </a:pPr>
            <a:r>
              <a:rPr sz="1800">
                <a:solidFill>
                  <a:srgbClr val="1F2937"/>
                </a:solidFill>
                <a:latin typeface="Calibri"/>
              </a:rPr>
              <a:t>▸  Kartoshka sharbati eritrotsitlarni yopishtiradi, maniy esa bu xususiyatni tormozlaydi.</a:t>
            </a:r>
          </a:p>
          <a:p>
            <a:pPr>
              <a:spcAft>
                <a:spcPts val="800"/>
              </a:spcAft>
            </a:pPr>
            <a:r>
              <a:rPr sz="1800">
                <a:solidFill>
                  <a:srgbClr val="1F2937"/>
                </a:solidFill>
                <a:latin typeface="Calibri"/>
              </a:rPr>
              <a:t>▸  Diqqat: sun’iy matolarning o‘zi ham ultrabinafsha nurda o‘xshash flyuoressensiya berishi mumkin.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94063"/>
                <a:gridCol w="2431252"/>
                <a:gridCol w="1762658"/>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Musbat natija</a:t>
                      </a:r>
                    </a:p>
                  </a:txBody>
                  <a:tcPr marL="73152" marR="73152" marT="36576" marB="36576">
                    <a:solidFill>
                      <a:srgbClr val="0B1F3A"/>
                    </a:solidFill>
                  </a:tcPr>
                </a:tc>
                <a:tc>
                  <a:txBody>
                    <a:bodyPr/>
                    <a:lstStyle/>
                    <a:p>
                      <a:r>
                        <a:rPr sz="1300" b="1">
                          <a:solidFill>
                            <a:srgbClr val="FFFFFF"/>
                          </a:solidFill>
                        </a:rPr>
                        <a:t>Holati</a:t>
                      </a:r>
                    </a:p>
                  </a:txBody>
                  <a:tcPr marL="73152" marR="73152" marT="36576" marB="36576">
                    <a:solidFill>
                      <a:srgbClr val="0B1F3A"/>
                    </a:solidFill>
                  </a:tcPr>
                </a:tc>
              </a:tr>
              <a:tr h="411480">
                <a:tc>
                  <a:txBody>
                    <a:bodyPr/>
                    <a:lstStyle/>
                    <a:p>
                      <a:r>
                        <a:rPr sz="1200" b="0">
                          <a:solidFill>
                            <a:srgbClr val="1F2937"/>
                          </a:solidFill>
                        </a:rPr>
                        <a:t>Kartoshka sharbati</a:t>
                      </a:r>
                    </a:p>
                  </a:txBody>
                  <a:tcPr marL="73152" marR="73152" marT="36576" marB="36576">
                    <a:solidFill>
                      <a:srgbClr val="E8EEF6"/>
                    </a:solidFill>
                  </a:tcPr>
                </a:tc>
                <a:tc>
                  <a:txBody>
                    <a:bodyPr/>
                    <a:lstStyle/>
                    <a:p>
                      <a:r>
                        <a:rPr sz="1200" b="0">
                          <a:solidFill>
                            <a:srgbClr val="1F2937"/>
                          </a:solidFill>
                        </a:rPr>
                        <a:t>Eritrotsit agglyutinatsiyasi tormozlanadi</a:t>
                      </a:r>
                    </a:p>
                  </a:txBody>
                  <a:tcPr marL="73152" marR="73152" marT="36576" marB="36576">
                    <a:solidFill>
                      <a:srgbClr val="E8EEF6"/>
                    </a:solidFill>
                  </a:tcPr>
                </a:tc>
                <a:tc>
                  <a:txBody>
                    <a:bodyPr/>
                    <a:lstStyle/>
                    <a:p>
                      <a:r>
                        <a:rPr sz="1200" b="0">
                          <a:solidFill>
                            <a:srgbClr val="1F2937"/>
                          </a:solidFill>
                        </a:rPr>
                        <a:t>Taxminiy usul</a:t>
                      </a:r>
                    </a:p>
                  </a:txBody>
                  <a:tcPr marL="73152" marR="73152" marT="36576" marB="36576">
                    <a:solidFill>
                      <a:srgbClr val="E8EEF6"/>
                    </a:solidFill>
                  </a:tcPr>
                </a:tc>
              </a:tr>
              <a:tr h="411480">
                <a:tc>
                  <a:txBody>
                    <a:bodyPr/>
                    <a:lstStyle/>
                    <a:p>
                      <a:r>
                        <a:rPr sz="1200" b="0">
                          <a:solidFill>
                            <a:srgbClr val="1F2937"/>
                          </a:solidFill>
                        </a:rPr>
                        <a:t>Ultrabinafsha nur</a:t>
                      </a:r>
                    </a:p>
                  </a:txBody>
                  <a:tcPr marL="73152" marR="73152" marT="36576" marB="36576">
                    <a:solidFill>
                      <a:srgbClr val="FFFFFF"/>
                    </a:solidFill>
                  </a:tcPr>
                </a:tc>
                <a:tc>
                  <a:txBody>
                    <a:bodyPr/>
                    <a:lstStyle/>
                    <a:p>
                      <a:r>
                        <a:rPr sz="1200" b="0">
                          <a:solidFill>
                            <a:srgbClr val="1F2937"/>
                          </a:solidFill>
                        </a:rPr>
                        <a:t>Och-havo rang flyuoressensiya</a:t>
                      </a:r>
                    </a:p>
                  </a:txBody>
                  <a:tcPr marL="73152" marR="73152" marT="36576" marB="36576">
                    <a:solidFill>
                      <a:srgbClr val="FFFFFF"/>
                    </a:solidFill>
                  </a:tcPr>
                </a:tc>
                <a:tc>
                  <a:txBody>
                    <a:bodyPr/>
                    <a:lstStyle/>
                    <a:p>
                      <a:r>
                        <a:rPr sz="1200" b="0">
                          <a:solidFill>
                            <a:srgbClr val="1F2937"/>
                          </a:solidFill>
                        </a:rPr>
                        <a:t>Taxminiy; sun’iy matoda qiyin</a:t>
                      </a:r>
                    </a:p>
                  </a:txBody>
                  <a:tcPr marL="73152" marR="73152" marT="36576" marB="36576">
                    <a:solidFill>
                      <a:srgbClr val="FFFFFF"/>
                    </a:solidFill>
                  </a:tcPr>
                </a:tc>
              </a:tr>
              <a:tr h="411480">
                <a:tc>
                  <a:txBody>
                    <a:bodyPr/>
                    <a:lstStyle/>
                    <a:p>
                      <a:r>
                        <a:rPr sz="1200" b="0">
                          <a:solidFill>
                            <a:srgbClr val="1F2937"/>
                          </a:solidFill>
                        </a:rPr>
                        <a:t>Florans, Barberio</a:t>
                      </a:r>
                    </a:p>
                  </a:txBody>
                  <a:tcPr marL="73152" marR="73152" marT="36576" marB="36576">
                    <a:solidFill>
                      <a:srgbClr val="E8EEF6"/>
                    </a:solidFill>
                  </a:tcPr>
                </a:tc>
                <a:tc>
                  <a:txBody>
                    <a:bodyPr/>
                    <a:lstStyle/>
                    <a:p>
                      <a:r>
                        <a:rPr sz="1200" b="0">
                          <a:solidFill>
                            <a:srgbClr val="1F2937"/>
                          </a:solidFill>
                        </a:rPr>
                        <a:t>Mikrokristallik reaksiya</a:t>
                      </a:r>
                    </a:p>
                  </a:txBody>
                  <a:tcPr marL="73152" marR="73152" marT="36576" marB="36576">
                    <a:solidFill>
                      <a:srgbClr val="E8EEF6"/>
                    </a:solidFill>
                  </a:tcPr>
                </a:tc>
                <a:tc>
                  <a:txBody>
                    <a:bodyPr/>
                    <a:lstStyle/>
                    <a:p>
                      <a:r>
                        <a:rPr sz="1200" b="0">
                          <a:solidFill>
                            <a:srgbClr val="1F2937"/>
                          </a:solidFill>
                        </a:rPr>
                        <a:t>Amaliy ahamiyatga ega emas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Taxminiy usullar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 borligini ishonchli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Butun spermatozoid (bosh, tana, dum) bitta bo‘lsa ham topilsa, natija musbat.</a:t>
            </a:r>
          </a:p>
          <a:p>
            <a:pPr>
              <a:spcAft>
                <a:spcPts val="800"/>
              </a:spcAft>
            </a:pPr>
            <a:r>
              <a:rPr sz="1800">
                <a:solidFill>
                  <a:srgbClr val="1F2937"/>
                </a:solidFill>
                <a:latin typeface="Calibri"/>
              </a:rPr>
              <a:t>▸  Spermatozoidning bosh, tana yoki dumi alohida topilsa, bu hisobga olinmaydi.</a:t>
            </a:r>
          </a:p>
          <a:p>
            <a:pPr>
              <a:spcAft>
                <a:spcPts val="800"/>
              </a:spcAft>
            </a:pPr>
            <a:r>
              <a:rPr sz="1800">
                <a:solidFill>
                  <a:srgbClr val="1F2937"/>
                </a:solidFill>
                <a:latin typeface="Calibri"/>
              </a:rPr>
              <a:t>▸  Azospermiya, nekrospermiyada spermatozoid yo‘q; xolin, spermin, nordon fosfataza birga topilsa maniy bor.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Dog‘ tekshiruvga olinadi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Morfologik usul</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Butun spermatozoid bormi?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 maniy borligi isbotlandi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Azospermiyada: xromatografiya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Ishonchli usullar tanlovi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Maniyning tur va guruhiy mansubligi, ajratuvchilar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Maniyning guruhiy mansubligi qon kabi guruhiy omillar bo‘yicha, ko‘pincha AVO tizimida aniqlanadi.</a:t>
            </a:r>
          </a:p>
          <a:p>
            <a:pPr>
              <a:spcAft>
                <a:spcPts val="800"/>
              </a:spcAft>
            </a:pPr>
            <a:r>
              <a:rPr sz="1800">
                <a:solidFill>
                  <a:srgbClr val="1F2937"/>
                </a:solidFill>
                <a:latin typeface="Calibri"/>
              </a:rPr>
              <a:t>▸  80% ga yaqin odamda guruhiy antigenlar maniy va boshqa ajratmalarda ham topiladi: ular ajratuvchilar.</a:t>
            </a:r>
          </a:p>
          <a:p>
            <a:pPr>
              <a:spcAft>
                <a:spcPts val="800"/>
              </a:spcAft>
            </a:pPr>
            <a:r>
              <a:rPr sz="1800">
                <a:solidFill>
                  <a:srgbClr val="1F2937"/>
                </a:solidFill>
                <a:latin typeface="Calibri"/>
              </a:rPr>
              <a:t>▸  Gumondor va jabrlanuvchidan qon hamda so‘lak namunalari olinib, ekspertizaga taqdim etiladi.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169425"/>
                <a:gridCol w="3118549"/>
              </a:tblGrid>
              <a:tr h="411480">
                <a:tc>
                  <a:txBody>
                    <a:bodyPr/>
                    <a:lstStyle/>
                    <a:p>
                      <a:r>
                        <a:rPr sz="1400" b="1">
                          <a:solidFill>
                            <a:srgbClr val="FFFFFF"/>
                          </a:solidFill>
                        </a:rPr>
                        <a:t>Le guruhi</a:t>
                      </a:r>
                    </a:p>
                  </a:txBody>
                  <a:tcPr marL="73152" marR="73152" marT="36576" marB="36576">
                    <a:solidFill>
                      <a:srgbClr val="0B1F3A"/>
                    </a:solidFill>
                  </a:tcPr>
                </a:tc>
                <a:tc>
                  <a:txBody>
                    <a:bodyPr/>
                    <a:lstStyle/>
                    <a:p>
                      <a:r>
                        <a:rPr sz="1400" b="1">
                          <a:solidFill>
                            <a:srgbClr val="FFFFFF"/>
                          </a:solidFill>
                        </a:rPr>
                        <a:t>Xulosa</a:t>
                      </a:r>
                    </a:p>
                  </a:txBody>
                  <a:tcPr marL="73152" marR="73152" marT="36576" marB="36576">
                    <a:solidFill>
                      <a:srgbClr val="0B1F3A"/>
                    </a:solidFill>
                  </a:tcPr>
                </a:tc>
              </a:tr>
              <a:tr h="411480">
                <a:tc>
                  <a:txBody>
                    <a:bodyPr/>
                    <a:lstStyle/>
                    <a:p>
                      <a:r>
                        <a:rPr sz="1300" b="0">
                          <a:solidFill>
                            <a:srgbClr val="1F2937"/>
                          </a:solidFill>
                        </a:rPr>
                        <a:t>Le (a- b+)</a:t>
                      </a:r>
                    </a:p>
                  </a:txBody>
                  <a:tcPr marL="73152" marR="73152" marT="36576" marB="36576">
                    <a:solidFill>
                      <a:srgbClr val="E8EEF6"/>
                    </a:solidFill>
                  </a:tcPr>
                </a:tc>
                <a:tc>
                  <a:txBody>
                    <a:bodyPr/>
                    <a:lstStyle/>
                    <a:p>
                      <a:r>
                        <a:rPr sz="1300" b="0">
                          <a:solidFill>
                            <a:srgbClr val="1F2937"/>
                          </a:solidFill>
                        </a:rPr>
                        <a:t>Ajratuvchi</a:t>
                      </a:r>
                    </a:p>
                  </a:txBody>
                  <a:tcPr marL="73152" marR="73152" marT="36576" marB="36576">
                    <a:solidFill>
                      <a:srgbClr val="E8EEF6"/>
                    </a:solidFill>
                  </a:tcPr>
                </a:tc>
              </a:tr>
              <a:tr h="411480">
                <a:tc>
                  <a:txBody>
                    <a:bodyPr/>
                    <a:lstStyle/>
                    <a:p>
                      <a:r>
                        <a:rPr sz="1300" b="0">
                          <a:solidFill>
                            <a:srgbClr val="1F2937"/>
                          </a:solidFill>
                        </a:rPr>
                        <a:t>Le (a+ b-)</a:t>
                      </a:r>
                    </a:p>
                  </a:txBody>
                  <a:tcPr marL="73152" marR="73152" marT="36576" marB="36576">
                    <a:solidFill>
                      <a:srgbClr val="FFFFFF"/>
                    </a:solidFill>
                  </a:tcPr>
                </a:tc>
                <a:tc>
                  <a:txBody>
                    <a:bodyPr/>
                    <a:lstStyle/>
                    <a:p>
                      <a:r>
                        <a:rPr sz="1300" b="0">
                          <a:solidFill>
                            <a:srgbClr val="1F2937"/>
                          </a:solidFill>
                        </a:rPr>
                        <a:t>Ajratuvchi emas</a:t>
                      </a:r>
                    </a:p>
                  </a:txBody>
                  <a:tcPr marL="73152" marR="73152" marT="36576" marB="36576">
                    <a:solidFill>
                      <a:srgbClr val="FFFFFF"/>
                    </a:solidFill>
                  </a:tcPr>
                </a:tc>
              </a:tr>
              <a:tr h="411480">
                <a:tc>
                  <a:txBody>
                    <a:bodyPr/>
                    <a:lstStyle/>
                    <a:p>
                      <a:r>
                        <a:rPr sz="1300" b="0">
                          <a:solidFill>
                            <a:srgbClr val="1F2937"/>
                          </a:solidFill>
                        </a:rPr>
                        <a:t>Le (a- b-)</a:t>
                      </a:r>
                    </a:p>
                  </a:txBody>
                  <a:tcPr marL="73152" marR="73152" marT="36576" marB="36576">
                    <a:solidFill>
                      <a:srgbClr val="E8EEF6"/>
                    </a:solidFill>
                  </a:tcPr>
                </a:tc>
                <a:tc>
                  <a:txBody>
                    <a:bodyPr/>
                    <a:lstStyle/>
                    <a:p>
                      <a:r>
                        <a:rPr sz="1300" b="0">
                          <a:solidFill>
                            <a:srgbClr val="1F2937"/>
                          </a:solidFill>
                        </a:rPr>
                        <a:t>Aniq belgilab bo‘lmaydi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Lyuis tizimi va ajratuvchanlik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jinsiy jinoyatda biologik izlar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nomusga tegish gumoni. Qin sohasidan doka tiqim bilan namuna olingan, jabrlanuvchi kiyimida gumon qilingan dog‘ bor.</a:t>
            </a:r>
          </a:p>
          <a:p>
            <a:pPr>
              <a:spcAft>
                <a:spcPts val="1200"/>
              </a:spcAft>
            </a:pPr>
            <a:r>
              <a:rPr sz="2200">
                <a:solidFill>
                  <a:srgbClr val="1F2937"/>
                </a:solidFill>
                <a:latin typeface="Calibri"/>
              </a:rPr>
              <a:t>▸  Doka tiqim quritilib, qog‘ozga o‘raladi va kontrol tiqim ham olinadi. Kiyim ekspertizaga to‘liq olinadi.</a:t>
            </a:r>
          </a:p>
          <a:p>
            <a:pPr>
              <a:spcAft>
                <a:spcPts val="1200"/>
              </a:spcAft>
            </a:pPr>
            <a:r>
              <a:rPr sz="2200">
                <a:solidFill>
                  <a:srgbClr val="1F2937"/>
                </a:solidFill>
                <a:latin typeface="Calibri"/>
              </a:rPr>
              <a:t>▸  Savol: gumondordan qon va so‘lak olinadi. Nega jabrlanuvchidan ham xuddi shu namunalar olinadi?</a:t>
            </a:r>
          </a:p>
          <a:p>
            <a:pPr>
              <a:spcAft>
                <a:spcPts val="1200"/>
              </a:spcAft>
            </a:pPr>
            <a:r>
              <a:rPr sz="2200">
                <a:solidFill>
                  <a:srgbClr val="1F2937"/>
                </a:solidFill>
                <a:latin typeface="Calibri"/>
              </a:rPr>
              <a:t>▸  Ishora: dog‘da jabrlanuvchining qoni va qin ajratmalari bo‘lishi mumkin, topilgan guruhiy omil unga tegishli bo‘lishi ehtimoli bor.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309, 311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maniy va qon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benzidin, vodorod peroksid, lyuminol sinamalari dog‘da qon borligini qat’iy isbotlaydimi?</a:t>
            </a:r>
          </a:p>
          <a:p>
            <a:pPr>
              <a:spcAft>
                <a:spcPts val="1200"/>
              </a:spcAft>
            </a:pPr>
            <a:r>
              <a:rPr sz="2200">
                <a:solidFill>
                  <a:srgbClr val="1F2937"/>
                </a:solidFill>
                <a:latin typeface="Calibri"/>
              </a:rPr>
              <a:t>▸  2-savol: dog‘da maniy borligini ishonchli isbotlaydigan morfologik mezon nima?</a:t>
            </a:r>
          </a:p>
          <a:p>
            <a:pPr>
              <a:spcAft>
                <a:spcPts val="1200"/>
              </a:spcAft>
            </a:pPr>
            <a:r>
              <a:rPr sz="2200">
                <a:solidFill>
                  <a:srgbClr val="1F2937"/>
                </a:solidFill>
                <a:latin typeface="Calibri"/>
              </a:rPr>
              <a:t>▸  3-savol: azospermiya va nekrospermiyada morfologik usul nega yaramaydi? Qaysi usul qo‘llanadi?</a:t>
            </a:r>
          </a:p>
          <a:p>
            <a:pPr>
              <a:spcAft>
                <a:spcPts val="1200"/>
              </a:spcAft>
            </a:pPr>
            <a:r>
              <a:rPr sz="2200">
                <a:solidFill>
                  <a:srgbClr val="1F2937"/>
                </a:solidFill>
                <a:latin typeface="Calibri"/>
              </a:rPr>
              <a:t>▸  4-savol: qaysi Lyuis guruhi ajratuvchilarga xos? Ajratuvchanlik qaysi tizimlar bilan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305-306, 310, 311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So‘lak, ter, siydik, najas va a’zo bo‘laklari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Quritish: xona haroratida, quyoshsiz, issiqdan va hasharotdan uzoq joyda; har ob’ekt alohida o‘raladi.</a:t>
            </a:r>
          </a:p>
          <a:p>
            <a:pPr>
              <a:spcAft>
                <a:spcPts val="800"/>
              </a:spcAft>
            </a:pPr>
            <a:r>
              <a:rPr sz="1800">
                <a:solidFill>
                  <a:srgbClr val="1F2937"/>
                </a:solidFill>
                <a:latin typeface="Calibri"/>
              </a:rPr>
              <a:t>▸  Diqqat: tekshiruv ob’ekti va kontrol namuna bir o‘ramga solinmaydi.</a:t>
            </a:r>
          </a:p>
          <a:p>
            <a:pPr>
              <a:spcAft>
                <a:spcPts val="800"/>
              </a:spcAft>
            </a:pPr>
            <a:r>
              <a:rPr sz="1800">
                <a:solidFill>
                  <a:srgbClr val="1F2937"/>
                </a:solidFill>
                <a:latin typeface="Calibri"/>
              </a:rPr>
              <a:t>▸  A’zo bo‘lagi: a’zo gistologik, tur zardob, guruh AVO, jins sitologik usulda aniqlanadi.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31800"/>
                <a:gridCol w="2257062"/>
                <a:gridCol w="1999112"/>
              </a:tblGrid>
              <a:tr h="411480">
                <a:tc>
                  <a:txBody>
                    <a:bodyPr/>
                    <a:lstStyle/>
                    <a:p>
                      <a:r>
                        <a:rPr sz="1300" b="1">
                          <a:solidFill>
                            <a:srgbClr val="FFFFFF"/>
                          </a:solidFill>
                        </a:rPr>
                        <a:t>Ajratma</a:t>
                      </a:r>
                    </a:p>
                  </a:txBody>
                  <a:tcPr marL="73152" marR="73152" marT="36576" marB="36576">
                    <a:solidFill>
                      <a:srgbClr val="0B1F3A"/>
                    </a:solidFill>
                  </a:tcPr>
                </a:tc>
                <a:tc>
                  <a:txBody>
                    <a:bodyPr/>
                    <a:lstStyle/>
                    <a:p>
                      <a:r>
                        <a:rPr sz="1300" b="1">
                          <a:solidFill>
                            <a:srgbClr val="FFFFFF"/>
                          </a:solidFill>
                        </a:rPr>
                        <a:t>Belgisi</a:t>
                      </a:r>
                    </a:p>
                  </a:txBody>
                  <a:tcPr marL="73152" marR="73152" marT="36576" marB="36576">
                    <a:solidFill>
                      <a:srgbClr val="0B1F3A"/>
                    </a:solidFill>
                  </a:tcPr>
                </a:tc>
                <a:tc>
                  <a:txBody>
                    <a:bodyPr/>
                    <a:lstStyle/>
                    <a:p>
                      <a:r>
                        <a:rPr sz="1300" b="1">
                          <a:solidFill>
                            <a:srgbClr val="FFFFFF"/>
                          </a:solidFill>
                        </a:rPr>
                        <a:t>Tur / guruh</a:t>
                      </a:r>
                    </a:p>
                  </a:txBody>
                  <a:tcPr marL="73152" marR="73152" marT="36576" marB="36576">
                    <a:solidFill>
                      <a:srgbClr val="0B1F3A"/>
                    </a:solidFill>
                  </a:tcPr>
                </a:tc>
              </a:tr>
              <a:tr h="411480">
                <a:tc>
                  <a:txBody>
                    <a:bodyPr/>
                    <a:lstStyle/>
                    <a:p>
                      <a:r>
                        <a:rPr sz="1200" b="0">
                          <a:solidFill>
                            <a:srgbClr val="1F2937"/>
                          </a:solidFill>
                        </a:rPr>
                        <a:t>So‘lak</a:t>
                      </a:r>
                    </a:p>
                  </a:txBody>
                  <a:tcPr marL="73152" marR="73152" marT="36576" marB="36576">
                    <a:solidFill>
                      <a:srgbClr val="E8EEF6"/>
                    </a:solidFill>
                  </a:tcPr>
                </a:tc>
                <a:tc>
                  <a:txBody>
                    <a:bodyPr/>
                    <a:lstStyle/>
                    <a:p>
                      <a:r>
                        <a:rPr sz="1200" b="0">
                          <a:solidFill>
                            <a:srgbClr val="1F2937"/>
                          </a:solidFill>
                        </a:rPr>
                        <a:t>Amilaza fermenti</a:t>
                      </a:r>
                    </a:p>
                  </a:txBody>
                  <a:tcPr marL="73152" marR="73152" marT="36576" marB="36576">
                    <a:solidFill>
                      <a:srgbClr val="E8EEF6"/>
                    </a:solidFill>
                  </a:tcPr>
                </a:tc>
                <a:tc>
                  <a:txBody>
                    <a:bodyPr/>
                    <a:lstStyle/>
                    <a:p>
                      <a:r>
                        <a:rPr sz="1200" b="0">
                          <a:solidFill>
                            <a:srgbClr val="1F2937"/>
                          </a:solidFill>
                        </a:rPr>
                        <a:t>Tur – zardob; guruh – AVO</a:t>
                      </a:r>
                    </a:p>
                  </a:txBody>
                  <a:tcPr marL="73152" marR="73152" marT="36576" marB="36576">
                    <a:solidFill>
                      <a:srgbClr val="E8EEF6"/>
                    </a:solidFill>
                  </a:tcPr>
                </a:tc>
              </a:tr>
              <a:tr h="411480">
                <a:tc>
                  <a:txBody>
                    <a:bodyPr/>
                    <a:lstStyle/>
                    <a:p>
                      <a:r>
                        <a:rPr sz="1200" b="0">
                          <a:solidFill>
                            <a:srgbClr val="1F2937"/>
                          </a:solidFill>
                        </a:rPr>
                        <a:t>Ter</a:t>
                      </a:r>
                    </a:p>
                  </a:txBody>
                  <a:tcPr marL="73152" marR="73152" marT="36576" marB="36576">
                    <a:solidFill>
                      <a:srgbClr val="FFFFFF"/>
                    </a:solidFill>
                  </a:tcPr>
                </a:tc>
                <a:tc>
                  <a:txBody>
                    <a:bodyPr/>
                    <a:lstStyle/>
                    <a:p>
                      <a:r>
                        <a:rPr sz="1200" b="0">
                          <a:solidFill>
                            <a:srgbClr val="1F2937"/>
                          </a:solidFill>
                        </a:rPr>
                        <a:t>Serin aminokislotasi</a:t>
                      </a:r>
                    </a:p>
                  </a:txBody>
                  <a:tcPr marL="73152" marR="73152" marT="36576" marB="36576">
                    <a:solidFill>
                      <a:srgbClr val="FFFFFF"/>
                    </a:solidFill>
                  </a:tcPr>
                </a:tc>
                <a:tc>
                  <a:txBody>
                    <a:bodyPr/>
                    <a:lstStyle/>
                    <a:p>
                      <a:r>
                        <a:rPr sz="1200" b="0">
                          <a:solidFill>
                            <a:srgbClr val="1F2937"/>
                          </a:solidFill>
                        </a:rPr>
                        <a:t>Tur – zardob; guruh – AVO</a:t>
                      </a:r>
                    </a:p>
                  </a:txBody>
                  <a:tcPr marL="73152" marR="73152" marT="36576" marB="36576">
                    <a:solidFill>
                      <a:srgbClr val="FFFFFF"/>
                    </a:solidFill>
                  </a:tcPr>
                </a:tc>
              </a:tr>
              <a:tr h="411480">
                <a:tc>
                  <a:txBody>
                    <a:bodyPr/>
                    <a:lstStyle/>
                    <a:p>
                      <a:r>
                        <a:rPr sz="1200" b="0">
                          <a:solidFill>
                            <a:srgbClr val="1F2937"/>
                          </a:solidFill>
                        </a:rPr>
                        <a:t>Siydik</a:t>
                      </a:r>
                    </a:p>
                  </a:txBody>
                  <a:tcPr marL="73152" marR="73152" marT="36576" marB="36576">
                    <a:solidFill>
                      <a:srgbClr val="E8EEF6"/>
                    </a:solidFill>
                  </a:tcPr>
                </a:tc>
                <a:tc>
                  <a:txBody>
                    <a:bodyPr/>
                    <a:lstStyle/>
                    <a:p>
                      <a:r>
                        <a:rPr sz="1200" b="0">
                          <a:solidFill>
                            <a:srgbClr val="1F2937"/>
                          </a:solidFill>
                        </a:rPr>
                        <a:t>Kreatinin, mochevina</a:t>
                      </a:r>
                    </a:p>
                  </a:txBody>
                  <a:tcPr marL="73152" marR="73152" marT="36576" marB="36576">
                    <a:solidFill>
                      <a:srgbClr val="E8EEF6"/>
                    </a:solidFill>
                  </a:tcPr>
                </a:tc>
                <a:tc>
                  <a:txBody>
                    <a:bodyPr/>
                    <a:lstStyle/>
                    <a:p>
                      <a:r>
                        <a:rPr sz="1200" b="0">
                          <a:solidFill>
                            <a:srgbClr val="1F2937"/>
                          </a:solidFill>
                        </a:rPr>
                        <a:t>Tur aniqlanmaydi; guruh – AVO</a:t>
                      </a:r>
                    </a:p>
                  </a:txBody>
                  <a:tcPr marL="73152" marR="73152" marT="36576" marB="36576">
                    <a:solidFill>
                      <a:srgbClr val="E8EEF6"/>
                    </a:solidFill>
                  </a:tcPr>
                </a:tc>
              </a:tr>
              <a:tr h="411480">
                <a:tc>
                  <a:txBody>
                    <a:bodyPr/>
                    <a:lstStyle/>
                    <a:p>
                      <a:r>
                        <a:rPr sz="1200" b="0">
                          <a:solidFill>
                            <a:srgbClr val="1F2937"/>
                          </a:solidFill>
                        </a:rPr>
                        <a:t>Najas</a:t>
                      </a:r>
                    </a:p>
                  </a:txBody>
                  <a:tcPr marL="73152" marR="73152" marT="36576" marB="36576">
                    <a:solidFill>
                      <a:srgbClr val="FFFFFF"/>
                    </a:solidFill>
                  </a:tcPr>
                </a:tc>
                <a:tc>
                  <a:txBody>
                    <a:bodyPr/>
                    <a:lstStyle/>
                    <a:p>
                      <a:r>
                        <a:rPr sz="1200" b="0">
                          <a:solidFill>
                            <a:srgbClr val="1F2937"/>
                          </a:solidFill>
                        </a:rPr>
                        <a:t>Mikroskopiya: ovqat, gelmint tuxumi</a:t>
                      </a:r>
                    </a:p>
                  </a:txBody>
                  <a:tcPr marL="73152" marR="73152" marT="36576" marB="36576">
                    <a:solidFill>
                      <a:srgbClr val="FFFFFF"/>
                    </a:solidFill>
                  </a:tcPr>
                </a:tc>
                <a:tc>
                  <a:txBody>
                    <a:bodyPr/>
                    <a:lstStyle/>
                    <a:p>
                      <a:r>
                        <a:rPr sz="1200" b="0">
                          <a:solidFill>
                            <a:srgbClr val="1F2937"/>
                          </a:solidFill>
                        </a:rPr>
                        <a:t>Tur ham, guruh ham aniqlanmaydi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Ajratmalarni aniqlash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Sochni tekshirish: olish va hal etiladigan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 yaxshi yorug‘likda ko‘z yoki lupa bilan topiladi. Qo‘l yoki rezina ushlagichli pinset bilan olinadi, shikast yetkazilmaydi.</a:t>
            </a:r>
          </a:p>
          <a:p>
            <a:pPr>
              <a:spcAft>
                <a:spcPts val="1200"/>
              </a:spcAft>
            </a:pPr>
            <a:r>
              <a:rPr sz="2200">
                <a:solidFill>
                  <a:srgbClr val="1F2937"/>
                </a:solidFill>
                <a:latin typeface="Calibri"/>
              </a:rPr>
              <a:t>▸  Har sohadan olingan sochlar belgi qo‘yilib, alohida qog‘oz paket yoki konvertga solinadi va laboratoriyaga yuboriladi.</a:t>
            </a:r>
          </a:p>
          <a:p>
            <a:pPr>
              <a:spcAft>
                <a:spcPts val="1200"/>
              </a:spcAft>
            </a:pPr>
            <a:r>
              <a:rPr sz="2200">
                <a:solidFill>
                  <a:srgbClr val="1F2937"/>
                </a:solidFill>
                <a:latin typeface="Calibri"/>
              </a:rPr>
              <a:t>▸  Kontrol namuna: boshning 5 sohasi – peshona, tepa, ikki chekka, ensa. Har biridan 20–30 tola teriga yaqin kesiladi.</a:t>
            </a:r>
          </a:p>
          <a:p>
            <a:pPr>
              <a:spcAft>
                <a:spcPts val="1200"/>
              </a:spcAft>
            </a:pPr>
            <a:r>
              <a:rPr sz="2200">
                <a:solidFill>
                  <a:srgbClr val="1F2937"/>
                </a:solidFill>
                <a:latin typeface="Calibri"/>
              </a:rPr>
              <a:t>▸  7 savol: tola sochmi; odamnikimi; guruhi; regioni; tushgan yoki yulinganmi; qanday ta’sir bo‘lgan; kimga tegishli.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Odam va hayvon sochining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 ildiz va sterjenga bo‘linadi; sterjenda kutikula, po‘stloq va mag‘iz qavatlari farqlanadi.</a:t>
            </a:r>
          </a:p>
          <a:p>
            <a:pPr>
              <a:spcAft>
                <a:spcPts val="800"/>
              </a:spcAft>
            </a:pPr>
            <a:r>
              <a:rPr sz="1800">
                <a:solidFill>
                  <a:srgbClr val="1F2937"/>
                </a:solidFill>
                <a:latin typeface="Calibri"/>
              </a:rPr>
              <a:t>▸  Hayvon sochi qaysi hayvonniki ekani kolleksiya yoki atlas bilan taqqoslab aniqlanadi.</a:t>
            </a:r>
          </a:p>
          <a:p>
            <a:pPr>
              <a:spcAft>
                <a:spcPts val="800"/>
              </a:spcAft>
            </a:pPr>
            <a:r>
              <a:rPr sz="1800">
                <a:solidFill>
                  <a:srgbClr val="1F2937"/>
                </a:solidFill>
                <a:latin typeface="Calibri"/>
              </a:rPr>
              <a:t>▸  Odam sochi aniqlansa, keyin guruhiy va regional mansublik tekshiriladi.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77125"/>
                <a:gridCol w="2241641"/>
                <a:gridCol w="206920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Odam</a:t>
                      </a:r>
                    </a:p>
                  </a:txBody>
                  <a:tcPr marL="73152" marR="73152" marT="36576" marB="36576">
                    <a:solidFill>
                      <a:srgbClr val="0B1F3A"/>
                    </a:solidFill>
                  </a:tcPr>
                </a:tc>
                <a:tc>
                  <a:txBody>
                    <a:bodyPr/>
                    <a:lstStyle/>
                    <a:p>
                      <a:r>
                        <a:rPr sz="1300" b="1">
                          <a:solidFill>
                            <a:srgbClr val="FFFFFF"/>
                          </a:solidFill>
                        </a:rPr>
                        <a:t>Hayvon</a:t>
                      </a:r>
                    </a:p>
                  </a:txBody>
                  <a:tcPr marL="73152" marR="73152" marT="36576" marB="36576">
                    <a:solidFill>
                      <a:srgbClr val="0B1F3A"/>
                    </a:solidFill>
                  </a:tcPr>
                </a:tc>
              </a:tr>
              <a:tr h="411480">
                <a:tc>
                  <a:txBody>
                    <a:bodyPr/>
                    <a:lstStyle/>
                    <a:p>
                      <a:r>
                        <a:rPr sz="1200" b="0">
                          <a:solidFill>
                            <a:srgbClr val="1F2937"/>
                          </a:solidFill>
                        </a:rPr>
                        <a:t>Kutikula chekkasi</a:t>
                      </a:r>
                    </a:p>
                  </a:txBody>
                  <a:tcPr marL="73152" marR="73152" marT="36576" marB="36576">
                    <a:solidFill>
                      <a:srgbClr val="E8EEF6"/>
                    </a:solidFill>
                  </a:tcPr>
                </a:tc>
                <a:tc>
                  <a:txBody>
                    <a:bodyPr/>
                    <a:lstStyle/>
                    <a:p>
                      <a:r>
                        <a:rPr sz="1200" b="0">
                          <a:solidFill>
                            <a:srgbClr val="1F2937"/>
                          </a:solidFill>
                        </a:rPr>
                        <a:t>Mayda tishli, yaqin, o‘qqa yopishgan</a:t>
                      </a:r>
                    </a:p>
                  </a:txBody>
                  <a:tcPr marL="73152" marR="73152" marT="36576" marB="36576">
                    <a:solidFill>
                      <a:srgbClr val="E8EEF6"/>
                    </a:solidFill>
                  </a:tcPr>
                </a:tc>
                <a:tc>
                  <a:txBody>
                    <a:bodyPr/>
                    <a:lstStyle/>
                    <a:p>
                      <a:r>
                        <a:rPr sz="1200" b="0">
                          <a:solidFill>
                            <a:srgbClr val="1F2937"/>
                          </a:solidFill>
                        </a:rPr>
                        <a:t>Yirik tishli, ba’zan arrasimon, uzoq</a:t>
                      </a:r>
                    </a:p>
                  </a:txBody>
                  <a:tcPr marL="73152" marR="73152" marT="36576" marB="36576">
                    <a:solidFill>
                      <a:srgbClr val="E8EEF6"/>
                    </a:solidFill>
                  </a:tcPr>
                </a:tc>
              </a:tr>
              <a:tr h="411480">
                <a:tc>
                  <a:txBody>
                    <a:bodyPr/>
                    <a:lstStyle/>
                    <a:p>
                      <a:r>
                        <a:rPr sz="1200" b="0">
                          <a:solidFill>
                            <a:srgbClr val="1F2937"/>
                          </a:solidFill>
                        </a:rPr>
                        <a:t>Kutikula bosmasi</a:t>
                      </a:r>
                    </a:p>
                  </a:txBody>
                  <a:tcPr marL="73152" marR="73152" marT="36576" marB="36576">
                    <a:solidFill>
                      <a:srgbClr val="FFFFFF"/>
                    </a:solidFill>
                  </a:tcPr>
                </a:tc>
                <a:tc>
                  <a:txBody>
                    <a:bodyPr/>
                    <a:lstStyle/>
                    <a:p>
                      <a:r>
                        <a:rPr sz="1200" b="0">
                          <a:solidFill>
                            <a:srgbClr val="1F2937"/>
                          </a:solidFill>
                        </a:rPr>
                        <a:t>Yaqin to‘lqinsimon chiziqlar</a:t>
                      </a:r>
                    </a:p>
                  </a:txBody>
                  <a:tcPr marL="73152" marR="73152" marT="36576" marB="36576">
                    <a:solidFill>
                      <a:srgbClr val="FFFFFF"/>
                    </a:solidFill>
                  </a:tcPr>
                </a:tc>
                <a:tc>
                  <a:txBody>
                    <a:bodyPr/>
                    <a:lstStyle/>
                    <a:p>
                      <a:r>
                        <a:rPr sz="1200" b="0">
                          <a:solidFill>
                            <a:srgbClr val="1F2937"/>
                          </a:solidFill>
                        </a:rPr>
                        <a:t>Turli shakldagi chiziqlar</a:t>
                      </a:r>
                    </a:p>
                  </a:txBody>
                  <a:tcPr marL="73152" marR="73152" marT="36576" marB="36576">
                    <a:solidFill>
                      <a:srgbClr val="FFFFFF"/>
                    </a:solidFill>
                  </a:tcPr>
                </a:tc>
              </a:tr>
              <a:tr h="411480">
                <a:tc>
                  <a:txBody>
                    <a:bodyPr/>
                    <a:lstStyle/>
                    <a:p>
                      <a:r>
                        <a:rPr sz="1200" b="0">
                          <a:solidFill>
                            <a:srgbClr val="1F2937"/>
                          </a:solidFill>
                        </a:rPr>
                        <a:t>Qavatlar</a:t>
                      </a:r>
                    </a:p>
                  </a:txBody>
                  <a:tcPr marL="73152" marR="73152" marT="36576" marB="36576">
                    <a:solidFill>
                      <a:srgbClr val="E8EEF6"/>
                    </a:solidFill>
                  </a:tcPr>
                </a:tc>
                <a:tc>
                  <a:txBody>
                    <a:bodyPr/>
                    <a:lstStyle/>
                    <a:p>
                      <a:r>
                        <a:rPr sz="1200" b="0">
                          <a:solidFill>
                            <a:srgbClr val="1F2937"/>
                          </a:solidFill>
                        </a:rPr>
                        <a:t>Po‘stloq keng; mag‘iz ingichka, uzlukli</a:t>
                      </a:r>
                    </a:p>
                  </a:txBody>
                  <a:tcPr marL="73152" marR="73152" marT="36576" marB="36576">
                    <a:solidFill>
                      <a:srgbClr val="E8EEF6"/>
                    </a:solidFill>
                  </a:tcPr>
                </a:tc>
                <a:tc>
                  <a:txBody>
                    <a:bodyPr/>
                    <a:lstStyle/>
                    <a:p>
                      <a:r>
                        <a:rPr sz="1200" b="0">
                          <a:solidFill>
                            <a:srgbClr val="1F2937"/>
                          </a:solidFill>
                        </a:rPr>
                        <a:t>Mag‘iz qalinlikning asosiy qismi</a:t>
                      </a:r>
                    </a:p>
                  </a:txBody>
                  <a:tcPr marL="73152" marR="73152" marT="36576" marB="36576">
                    <a:solidFill>
                      <a:srgbClr val="E8EEF6"/>
                    </a:solidFill>
                  </a:tcPr>
                </a:tc>
              </a:tr>
              <a:tr h="411480">
                <a:tc>
                  <a:txBody>
                    <a:bodyPr/>
                    <a:lstStyle/>
                    <a:p>
                      <a:r>
                        <a:rPr sz="1200" b="0">
                          <a:solidFill>
                            <a:srgbClr val="1F2937"/>
                          </a:solidFill>
                        </a:rPr>
                        <a:t>Pigment</a:t>
                      </a:r>
                    </a:p>
                  </a:txBody>
                  <a:tcPr marL="73152" marR="73152" marT="36576" marB="36576">
                    <a:solidFill>
                      <a:srgbClr val="FFFFFF"/>
                    </a:solidFill>
                  </a:tcPr>
                </a:tc>
                <a:tc>
                  <a:txBody>
                    <a:bodyPr/>
                    <a:lstStyle/>
                    <a:p>
                      <a:r>
                        <a:rPr sz="1200" b="0">
                          <a:solidFill>
                            <a:srgbClr val="1F2937"/>
                          </a:solidFill>
                        </a:rPr>
                        <a:t>Po‘stloqning periferik qismida</a:t>
                      </a:r>
                    </a:p>
                  </a:txBody>
                  <a:tcPr marL="73152" marR="73152" marT="36576" marB="36576">
                    <a:solidFill>
                      <a:srgbClr val="FFFFFF"/>
                    </a:solidFill>
                  </a:tcPr>
                </a:tc>
                <a:tc>
                  <a:txBody>
                    <a:bodyPr/>
                    <a:lstStyle/>
                    <a:p>
                      <a:r>
                        <a:rPr sz="1200" b="0">
                          <a:solidFill>
                            <a:srgbClr val="1F2937"/>
                          </a:solidFill>
                        </a:rPr>
                        <a:t>Po‘stloqning mag‘izga yaqin qismida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Odam va hayvon sochi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313, 314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Sochning regional mansubligi va ta’sir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Regional mansublikni aniqlashda sochning uzunligi, qalinligi va ko‘ndalang kesim shakliga e’tibor beriladi.</a:t>
            </a:r>
          </a:p>
          <a:p>
            <a:pPr>
              <a:spcAft>
                <a:spcPts val="800"/>
              </a:spcAft>
            </a:pPr>
            <a:r>
              <a:rPr sz="1800">
                <a:solidFill>
                  <a:srgbClr val="1F2937"/>
                </a:solidFill>
                <a:latin typeface="Calibri"/>
              </a:rPr>
              <a:t>▸  O‘tkir jism kesgan soch uchi tekis yoki mayda tishli. Tez uzilganda yuza tekis, sekin uzilganda zinasimon bo‘ladi.</a:t>
            </a:r>
          </a:p>
          <a:p>
            <a:pPr>
              <a:spcAft>
                <a:spcPts val="800"/>
              </a:spcAft>
            </a:pPr>
            <a:r>
              <a:rPr sz="1800">
                <a:solidFill>
                  <a:srgbClr val="1F2937"/>
                </a:solidFill>
                <a:latin typeface="Calibri"/>
              </a:rPr>
              <a:t>▸  Yulingan soch ildizida ilmoqsimon piyozcha bo‘ladi. To‘kilgan soch ildizi ovalsimon yoki kolbasimon shaklda.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83008"/>
                <a:gridCol w="1789776"/>
                <a:gridCol w="2115190"/>
              </a:tblGrid>
              <a:tr h="411480">
                <a:tc>
                  <a:txBody>
                    <a:bodyPr/>
                    <a:lstStyle/>
                    <a:p>
                      <a:r>
                        <a:rPr sz="1300" b="1">
                          <a:solidFill>
                            <a:srgbClr val="FFFFFF"/>
                          </a:solidFill>
                        </a:rPr>
                        <a:t>Soha</a:t>
                      </a:r>
                    </a:p>
                  </a:txBody>
                  <a:tcPr marL="73152" marR="73152" marT="36576" marB="36576">
                    <a:solidFill>
                      <a:srgbClr val="0B1F3A"/>
                    </a:solidFill>
                  </a:tcPr>
                </a:tc>
                <a:tc>
                  <a:txBody>
                    <a:bodyPr/>
                    <a:lstStyle/>
                    <a:p>
                      <a:r>
                        <a:rPr sz="1300" b="1">
                          <a:solidFill>
                            <a:srgbClr val="FFFFFF"/>
                          </a:solidFill>
                        </a:rPr>
                        <a:t>Qalinligi</a:t>
                      </a:r>
                    </a:p>
                  </a:txBody>
                  <a:tcPr marL="73152" marR="73152" marT="36576" marB="36576">
                    <a:solidFill>
                      <a:srgbClr val="0B1F3A"/>
                    </a:solidFill>
                  </a:tcPr>
                </a:tc>
                <a:tc>
                  <a:txBody>
                    <a:bodyPr/>
                    <a:lstStyle/>
                    <a:p>
                      <a:r>
                        <a:rPr sz="1300" b="1">
                          <a:solidFill>
                            <a:srgbClr val="FFFFFF"/>
                          </a:solidFill>
                        </a:rPr>
                        <a:t>Kesimi</a:t>
                      </a:r>
                    </a:p>
                  </a:txBody>
                  <a:tcPr marL="73152" marR="73152" marT="36576" marB="36576">
                    <a:solidFill>
                      <a:srgbClr val="0B1F3A"/>
                    </a:solidFill>
                  </a:tcPr>
                </a:tc>
              </a:tr>
              <a:tr h="411480">
                <a:tc>
                  <a:txBody>
                    <a:bodyPr/>
                    <a:lstStyle/>
                    <a:p>
                      <a:r>
                        <a:rPr sz="1200" b="0">
                          <a:solidFill>
                            <a:srgbClr val="1F2937"/>
                          </a:solidFill>
                        </a:rPr>
                        <a:t>Bosh</a:t>
                      </a:r>
                    </a:p>
                  </a:txBody>
                  <a:tcPr marL="73152" marR="73152" marT="36576" marB="36576">
                    <a:solidFill>
                      <a:srgbClr val="E8EEF6"/>
                    </a:solidFill>
                  </a:tcPr>
                </a:tc>
                <a:tc>
                  <a:txBody>
                    <a:bodyPr/>
                    <a:lstStyle/>
                    <a:p>
                      <a:r>
                        <a:rPr sz="1200" b="0">
                          <a:solidFill>
                            <a:srgbClr val="1F2937"/>
                          </a:solidFill>
                        </a:rPr>
                        <a:t>0,1 mm gacha</a:t>
                      </a:r>
                    </a:p>
                  </a:txBody>
                  <a:tcPr marL="73152" marR="73152" marT="36576" marB="36576">
                    <a:solidFill>
                      <a:srgbClr val="E8EEF6"/>
                    </a:solidFill>
                  </a:tcPr>
                </a:tc>
                <a:tc>
                  <a:txBody>
                    <a:bodyPr/>
                    <a:lstStyle/>
                    <a:p>
                      <a:r>
                        <a:rPr sz="1200" b="0">
                          <a:solidFill>
                            <a:srgbClr val="1F2937"/>
                          </a:solidFill>
                        </a:rPr>
                        <a:t>Dumaloq, oval</a:t>
                      </a:r>
                    </a:p>
                  </a:txBody>
                  <a:tcPr marL="73152" marR="73152" marT="36576" marB="36576">
                    <a:solidFill>
                      <a:srgbClr val="E8EEF6"/>
                    </a:solidFill>
                  </a:tcPr>
                </a:tc>
              </a:tr>
              <a:tr h="411480">
                <a:tc>
                  <a:txBody>
                    <a:bodyPr/>
                    <a:lstStyle/>
                    <a:p>
                      <a:r>
                        <a:rPr sz="1200" b="0">
                          <a:solidFill>
                            <a:srgbClr val="1F2937"/>
                          </a:solidFill>
                        </a:rPr>
                        <a:t>Qosh, kiprik</a:t>
                      </a:r>
                    </a:p>
                  </a:txBody>
                  <a:tcPr marL="73152" marR="73152" marT="36576" marB="36576">
                    <a:solidFill>
                      <a:srgbClr val="FFFFFF"/>
                    </a:solidFill>
                  </a:tcPr>
                </a:tc>
                <a:tc>
                  <a:txBody>
                    <a:bodyPr/>
                    <a:lstStyle/>
                    <a:p>
                      <a:r>
                        <a:rPr sz="1200" b="0">
                          <a:solidFill>
                            <a:srgbClr val="1F2937"/>
                          </a:solidFill>
                        </a:rPr>
                        <a:t>0,11-0,12 mm</a:t>
                      </a:r>
                    </a:p>
                  </a:txBody>
                  <a:tcPr marL="73152" marR="73152" marT="36576" marB="36576">
                    <a:solidFill>
                      <a:srgbClr val="FFFFFF"/>
                    </a:solidFill>
                  </a:tcPr>
                </a:tc>
                <a:tc>
                  <a:txBody>
                    <a:bodyPr/>
                    <a:lstStyle/>
                    <a:p>
                      <a:r>
                        <a:rPr sz="1200" b="0">
                          <a:solidFill>
                            <a:srgbClr val="1F2937"/>
                          </a:solidFill>
                        </a:rPr>
                        <a:t>Manbada ko‘rsatilmagan</a:t>
                      </a:r>
                    </a:p>
                  </a:txBody>
                  <a:tcPr marL="73152" marR="73152" marT="36576" marB="36576">
                    <a:solidFill>
                      <a:srgbClr val="FFFFFF"/>
                    </a:solidFill>
                  </a:tcPr>
                </a:tc>
              </a:tr>
              <a:tr h="411480">
                <a:tc>
                  <a:txBody>
                    <a:bodyPr/>
                    <a:lstStyle/>
                    <a:p>
                      <a:r>
                        <a:rPr sz="1200" b="0">
                          <a:solidFill>
                            <a:srgbClr val="1F2937"/>
                          </a:solidFill>
                        </a:rPr>
                        <a:t>Soqol, mo‘ylov</a:t>
                      </a:r>
                    </a:p>
                  </a:txBody>
                  <a:tcPr marL="73152" marR="73152" marT="36576" marB="36576">
                    <a:solidFill>
                      <a:srgbClr val="E8EEF6"/>
                    </a:solidFill>
                  </a:tcPr>
                </a:tc>
                <a:tc>
                  <a:txBody>
                    <a:bodyPr/>
                    <a:lstStyle/>
                    <a:p>
                      <a:r>
                        <a:rPr sz="1200" b="0">
                          <a:solidFill>
                            <a:srgbClr val="1F2937"/>
                          </a:solidFill>
                        </a:rPr>
                        <a:t>0,15-0,17 mm</a:t>
                      </a:r>
                    </a:p>
                  </a:txBody>
                  <a:tcPr marL="73152" marR="73152" marT="36576" marB="36576">
                    <a:solidFill>
                      <a:srgbClr val="E8EEF6"/>
                    </a:solidFill>
                  </a:tcPr>
                </a:tc>
                <a:tc>
                  <a:txBody>
                    <a:bodyPr/>
                    <a:lstStyle/>
                    <a:p>
                      <a:r>
                        <a:rPr sz="1200" b="0">
                          <a:solidFill>
                            <a:srgbClr val="1F2937"/>
                          </a:solidFill>
                        </a:rPr>
                        <a:t>Uch-, to‘rt-, ko‘pburchak</a:t>
                      </a:r>
                    </a:p>
                  </a:txBody>
                  <a:tcPr marL="73152" marR="73152" marT="36576" marB="36576">
                    <a:solidFill>
                      <a:srgbClr val="E8EEF6"/>
                    </a:solidFill>
                  </a:tcPr>
                </a:tc>
              </a:tr>
              <a:tr h="411480">
                <a:tc>
                  <a:txBody>
                    <a:bodyPr/>
                    <a:lstStyle/>
                    <a:p>
                      <a:r>
                        <a:rPr sz="1200" b="0">
                          <a:solidFill>
                            <a:srgbClr val="1F2937"/>
                          </a:solidFill>
                        </a:rPr>
                        <a:t>Qo‘ltiq osti, qov</a:t>
                      </a:r>
                    </a:p>
                  </a:txBody>
                  <a:tcPr marL="73152" marR="73152" marT="36576" marB="36576">
                    <a:solidFill>
                      <a:srgbClr val="FFFFFF"/>
                    </a:solidFill>
                  </a:tcPr>
                </a:tc>
                <a:tc>
                  <a:txBody>
                    <a:bodyPr/>
                    <a:lstStyle/>
                    <a:p>
                      <a:r>
                        <a:rPr sz="1200" b="0">
                          <a:solidFill>
                            <a:srgbClr val="1F2937"/>
                          </a:solidFill>
                        </a:rPr>
                        <a:t>Manbada ko‘rsatilmagan</a:t>
                      </a:r>
                    </a:p>
                  </a:txBody>
                  <a:tcPr marL="73152" marR="73152" marT="36576" marB="36576">
                    <a:solidFill>
                      <a:srgbClr val="FFFFFF"/>
                    </a:solidFill>
                  </a:tcPr>
                </a:tc>
                <a:tc>
                  <a:txBody>
                    <a:bodyPr/>
                    <a:lstStyle/>
                    <a:p>
                      <a:r>
                        <a:rPr sz="1200" b="0">
                          <a:solidFill>
                            <a:srgbClr val="1F2937"/>
                          </a:solidFill>
                        </a:rPr>
                        <a:t>Uzunchoq oval, loviyasimon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 qalinligi va kesimi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314-315, 315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yo‘l-transport hodisasida soch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yo‘l-transport hodisasidan so‘ng mashinaning tashqi qismida soch topildi. Soch lupa yoki ko‘z bilan qidiriladi, qo‘l yoki rezina ushlagichli pinsetda olinadi.</a:t>
            </a:r>
          </a:p>
          <a:p>
            <a:pPr>
              <a:spcAft>
                <a:spcPts val="1200"/>
              </a:spcAft>
            </a:pPr>
            <a:r>
              <a:rPr sz="2000">
                <a:solidFill>
                  <a:srgbClr val="1F2937"/>
                </a:solidFill>
                <a:latin typeface="Calibri"/>
              </a:rPr>
              <a:t>▸  Avval mikroskopda tola soch ekanligi aniqlanadi. Keyin odamnikimi yoki hayvonnikimi ekani hal etiladi: odam sochida kutikula tishchalari mayda va zich, mag‘iz qavati ingichka.</a:t>
            </a:r>
          </a:p>
          <a:p>
            <a:pPr>
              <a:spcAft>
                <a:spcPts val="1200"/>
              </a:spcAft>
            </a:pPr>
            <a:r>
              <a:rPr sz="2000">
                <a:solidFill>
                  <a:srgbClr val="1F2937"/>
                </a:solidFill>
                <a:latin typeface="Calibri"/>
              </a:rPr>
              <a:t>▸  Odam sochi bo‘lsa, guruhiy mansublik AVO tizimi bo‘yicha absorbsiya-elyusiya reaksiyasi bilan aniqlanadi. Regional mansublik uzunlik, qalinlik va kesim shakliga qarab hal qilinadi.</a:t>
            </a:r>
          </a:p>
          <a:p>
            <a:pPr>
              <a:spcAft>
                <a:spcPts val="1200"/>
              </a:spcAft>
            </a:pPr>
            <a:r>
              <a:rPr sz="2000">
                <a:solidFill>
                  <a:srgbClr val="1F2937"/>
                </a:solidFill>
                <a:latin typeface="Calibri"/>
              </a:rPr>
              <a:t>▸  Shaxsga mansublik kontrol namunalar bilan taqqoslanadi. Diqqat: natija qat’iy emas, ehtimol ko‘rinishida beriladi. Savol: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312-313, 313-314, 314-315, 313, 315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Sud-gistologik tekshiruvlar va diatom planktoni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ekspertizasi o‘tkazilgan barcha holatda gistologiya uchun ichki a’zo va to‘qima bo‘lakchalari olinadi.</a:t>
            </a:r>
          </a:p>
          <a:p>
            <a:pPr>
              <a:spcAft>
                <a:spcPts val="800"/>
              </a:spcAft>
            </a:pPr>
            <a:r>
              <a:rPr sz="1800">
                <a:solidFill>
                  <a:srgbClr val="1F2937"/>
                </a:solidFill>
                <a:latin typeface="Calibri"/>
              </a:rPr>
              <a:t>▸  Diatom planktoni suvga tirik yoki o‘lik tushganini aniqlaydi. Murda topilgan havzadan suv namunasi ham taqdim etiladi.</a:t>
            </a:r>
          </a:p>
          <a:p>
            <a:pPr>
              <a:spcAft>
                <a:spcPts val="800"/>
              </a:spcAft>
            </a:pPr>
            <a:r>
              <a:rPr sz="1800">
                <a:solidFill>
                  <a:srgbClr val="1F2937"/>
                </a:solidFill>
                <a:latin typeface="Calibri"/>
              </a:rPr>
              <a:t>▸  Arxiv: formalinli material kamida 2 yil; preparat, blok va diatom mineralizati kamida 3 yil saqlanadi.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Murda ichki a’zo bo‘lakchalari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Bloklar, kesmalar tayyorlash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Gematoksilin-eozin bo‘yash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Mikroskopiya, diatom tekshiruvi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Dalolatnoma va arxiv</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Sud-gistologik tekshiruv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 317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Tibbiy-kriminalistik tekshiruvlar: umumiy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Bo‘limda diagnostik, identifikatsion (shaxs aynanligi) va situatsion (vaziyatli) masalalar hal etiladi.</a:t>
            </a:r>
          </a:p>
          <a:p>
            <a:pPr>
              <a:spcAft>
                <a:spcPts val="800"/>
              </a:spcAft>
            </a:pPr>
            <a:r>
              <a:rPr sz="1800">
                <a:solidFill>
                  <a:srgbClr val="1F2937"/>
                </a:solidFill>
                <a:latin typeface="Calibri"/>
              </a:rPr>
              <a:t>▸  Usullar: vizual, infraqizil va ultrabinafsha nur, o‘lchov, fotografiya, rentgen, modellashtirish, rekonstruksiya.</a:t>
            </a:r>
          </a:p>
          <a:p>
            <a:pPr>
              <a:spcAft>
                <a:spcPts val="800"/>
              </a:spcAft>
            </a:pPr>
            <a:r>
              <a:rPr sz="1800">
                <a:solidFill>
                  <a:srgbClr val="1F2937"/>
                </a:solidFill>
                <a:latin typeface="Calibri"/>
              </a:rPr>
              <a:t>▸  Hujjat kirish, tekshiruv va yakuniy qismdan iborat; ilovaga foto, chizma, grafik beriladi.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Hujjat: qaror/ajrim/yo‘llanma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Tibbiy-kriminalistika bo‘limi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Uch turdagi masala yechiladi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Xulosa yoki dalolatnoma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Ilova: foto, chizma, grafik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Tekshiruv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317, 319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Trassologik, ballistik, identifikatsion, mikrologik, situatsion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Ballistikada o‘q masofasi, kirish-chiqish teshigi, yara kanali yo‘nalishi va qurol turi aniqlanadi.</a:t>
            </a:r>
          </a:p>
          <a:p>
            <a:pPr>
              <a:spcAft>
                <a:spcPts val="800"/>
              </a:spcAft>
            </a:pPr>
            <a:r>
              <a:rPr sz="1800">
                <a:solidFill>
                  <a:srgbClr val="1F2937"/>
                </a:solidFill>
                <a:latin typeface="Calibri"/>
              </a:rPr>
              <a:t>▸  Suyak qoldig‘idan tur, jins, taxminiy yosh, bo‘y uzunligi, jarohat va uning muddati aniqlanadi.</a:t>
            </a:r>
          </a:p>
          <a:p>
            <a:pPr>
              <a:spcAft>
                <a:spcPts val="800"/>
              </a:spcAft>
            </a:pPr>
            <a:r>
              <a:rPr sz="1800">
                <a:solidFill>
                  <a:srgbClr val="1F2937"/>
                </a:solidFill>
                <a:latin typeface="Calibri"/>
              </a:rPr>
              <a:t>▸  Situatsion tekshiruvda taxmin etilgan sharoitda harakat sodir etish mumkinligi o‘rganiladi.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Ob’ekt va savol</a:t>
                      </a:r>
                    </a:p>
                  </a:txBody>
                  <a:tcPr marL="73152" marR="73152" marT="36576" marB="36576">
                    <a:solidFill>
                      <a:srgbClr val="0B1F3A"/>
                    </a:solidFill>
                  </a:tcPr>
                </a:tc>
              </a:tr>
              <a:tr h="411480">
                <a:tc>
                  <a:txBody>
                    <a:bodyPr/>
                    <a:lstStyle/>
                    <a:p>
                      <a:r>
                        <a:rPr sz="1300" b="0">
                          <a:solidFill>
                            <a:srgbClr val="1F2937"/>
                          </a:solidFill>
                        </a:rPr>
                        <a:t>Trassologik</a:t>
                      </a:r>
                    </a:p>
                  </a:txBody>
                  <a:tcPr marL="73152" marR="73152" marT="36576" marB="36576">
                    <a:solidFill>
                      <a:srgbClr val="E8EEF6"/>
                    </a:solidFill>
                  </a:tcPr>
                </a:tc>
                <a:tc>
                  <a:txBody>
                    <a:bodyPr/>
                    <a:lstStyle/>
                    <a:p>
                      <a:r>
                        <a:rPr sz="1300" b="0">
                          <a:solidFill>
                            <a:srgbClr val="1F2937"/>
                          </a:solidFill>
                        </a:rPr>
                        <a:t>Jarohat/iz bo‘yicha shikastlovchi omil</a:t>
                      </a:r>
                    </a:p>
                  </a:txBody>
                  <a:tcPr marL="73152" marR="73152" marT="36576" marB="36576">
                    <a:solidFill>
                      <a:srgbClr val="E8EEF6"/>
                    </a:solidFill>
                  </a:tcPr>
                </a:tc>
              </a:tr>
              <a:tr h="411480">
                <a:tc>
                  <a:txBody>
                    <a:bodyPr/>
                    <a:lstStyle/>
                    <a:p>
                      <a:r>
                        <a:rPr sz="1300" b="0">
                          <a:solidFill>
                            <a:srgbClr val="1F2937"/>
                          </a:solidFill>
                        </a:rPr>
                        <a:t>Ballistik</a:t>
                      </a:r>
                    </a:p>
                  </a:txBody>
                  <a:tcPr marL="73152" marR="73152" marT="36576" marB="36576">
                    <a:solidFill>
                      <a:srgbClr val="FFFFFF"/>
                    </a:solidFill>
                  </a:tcPr>
                </a:tc>
                <a:tc>
                  <a:txBody>
                    <a:bodyPr/>
                    <a:lstStyle/>
                    <a:p>
                      <a:r>
                        <a:rPr sz="1300" b="0">
                          <a:solidFill>
                            <a:srgbClr val="1F2937"/>
                          </a:solidFill>
                        </a:rPr>
                        <a:t>O‘qotar jarohat, portlash travmasi</a:t>
                      </a:r>
                    </a:p>
                  </a:txBody>
                  <a:tcPr marL="73152" marR="73152" marT="36576" marB="36576">
                    <a:solidFill>
                      <a:srgbClr val="FFFFFF"/>
                    </a:solidFill>
                  </a:tcPr>
                </a:tc>
              </a:tr>
              <a:tr h="411480">
                <a:tc>
                  <a:txBody>
                    <a:bodyPr/>
                    <a:lstStyle/>
                    <a:p>
                      <a:r>
                        <a:rPr sz="1300" b="0">
                          <a:solidFill>
                            <a:srgbClr val="1F2937"/>
                          </a:solidFill>
                        </a:rPr>
                        <a:t>Identifikatsion</a:t>
                      </a:r>
                    </a:p>
                  </a:txBody>
                  <a:tcPr marL="73152" marR="73152" marT="36576" marB="36576">
                    <a:solidFill>
                      <a:srgbClr val="E8EEF6"/>
                    </a:solidFill>
                  </a:tcPr>
                </a:tc>
                <a:tc>
                  <a:txBody>
                    <a:bodyPr/>
                    <a:lstStyle/>
                    <a:p>
                      <a:r>
                        <a:rPr sz="1300" b="0">
                          <a:solidFill>
                            <a:srgbClr val="1F2937"/>
                          </a:solidFill>
                        </a:rPr>
                        <a:t>Noma’lum murda yoki suyak shaxsi</a:t>
                      </a:r>
                    </a:p>
                  </a:txBody>
                  <a:tcPr marL="73152" marR="73152" marT="36576" marB="36576">
                    <a:solidFill>
                      <a:srgbClr val="E8EEF6"/>
                    </a:solidFill>
                  </a:tcPr>
                </a:tc>
              </a:tr>
              <a:tr h="411480">
                <a:tc>
                  <a:txBody>
                    <a:bodyPr/>
                    <a:lstStyle/>
                    <a:p>
                      <a:r>
                        <a:rPr sz="1300" b="0">
                          <a:solidFill>
                            <a:srgbClr val="1F2937"/>
                          </a:solidFill>
                        </a:rPr>
                        <a:t>Mikrologik</a:t>
                      </a:r>
                    </a:p>
                  </a:txBody>
                  <a:tcPr marL="73152" marR="73152" marT="36576" marB="36576">
                    <a:solidFill>
                      <a:srgbClr val="FFFFFF"/>
                    </a:solidFill>
                  </a:tcPr>
                </a:tc>
                <a:tc>
                  <a:txBody>
                    <a:bodyPr/>
                    <a:lstStyle/>
                    <a:p>
                      <a:r>
                        <a:rPr sz="1300" b="0">
                          <a:solidFill>
                            <a:srgbClr val="1F2937"/>
                          </a:solidFill>
                        </a:rPr>
                        <a:t>Mikroizlar, mikrozarralar o‘tishi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Tekshiruv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317-318, 318, 319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noma’lum shaxs murdasi va jarohat izi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uchun): shaxsi noma’lum murdaning suyak qoldiqlari topildi, jarohat izi gumon qilingan qurol bilan taqqoslanishi kerak.</a:t>
            </a:r>
          </a:p>
          <a:p>
            <a:pPr>
              <a:spcAft>
                <a:spcPts val="1200"/>
              </a:spcAft>
            </a:pPr>
            <a:r>
              <a:rPr sz="2200">
                <a:solidFill>
                  <a:srgbClr val="1F2937"/>
                </a:solidFill>
                <a:latin typeface="Calibri"/>
              </a:rPr>
              <a:t>▸  Savol: qaysi tekshiruvlar tayinlanadi? Suyaklar uchun identifikatsion, jarohat va qurol izi uchun trassologik tekshiruv.</a:t>
            </a:r>
          </a:p>
          <a:p>
            <a:pPr>
              <a:spcAft>
                <a:spcPts val="1200"/>
              </a:spcAft>
            </a:pPr>
            <a:r>
              <a:rPr sz="2200">
                <a:solidFill>
                  <a:srgbClr val="1F2937"/>
                </a:solidFill>
                <a:latin typeface="Calibri"/>
              </a:rPr>
              <a:t>▸  Identifikatsion tekshiruvda belgilar avval alohida o‘rganiladi, so‘ng taqqoslanadi va aynanlik haqida xulosa qilinadi.</a:t>
            </a:r>
          </a:p>
          <a:p>
            <a:pPr>
              <a:spcAft>
                <a:spcPts val="1200"/>
              </a:spcAft>
            </a:pPr>
            <a:r>
              <a:rPr sz="2200">
                <a:solidFill>
                  <a:srgbClr val="1F2937"/>
                </a:solidFill>
                <a:latin typeface="Calibri"/>
              </a:rPr>
              <a:t>▸  Diqqat: trassologik (jarohat va qurol aynanligi) ≠ identifikatsion (murda shaxsi aynanligi); ikkalasini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317-318, 318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kimyo va DNK tekshiruvlari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kimyo toksik moddalarni topadi va miqdorini aniqlaydi. Har bir holatda kamida ikki xil tamoyilli usul tavsiya etiladi.</a:t>
            </a:r>
          </a:p>
          <a:p>
            <a:pPr>
              <a:spcAft>
                <a:spcPts val="800"/>
              </a:spcAft>
            </a:pPr>
            <a:r>
              <a:rPr sz="1800">
                <a:solidFill>
                  <a:srgbClr val="1F2937"/>
                </a:solidFill>
                <a:latin typeface="Calibri"/>
              </a:rPr>
              <a:t>▸  Arxivdagi biologik ob’ekt spirtda sovutkichda bir yilgacha saqlanadi. Etil spirti uchun qon va siydik 30 kun saqlanadi.</a:t>
            </a:r>
          </a:p>
          <a:p>
            <a:pPr>
              <a:spcAft>
                <a:spcPts val="800"/>
              </a:spcAft>
            </a:pPr>
            <a:r>
              <a:rPr sz="1800">
                <a:solidFill>
                  <a:srgbClr val="1F2937"/>
                </a:solidFill>
                <a:latin typeface="Calibri"/>
              </a:rPr>
              <a:t>▸  DNK (dezoksiribonuklein kislota) usuli har bir insonning genetik xususiyatlarini aniqlashga asoslanadi.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1985: minisatellit markerlar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1985: ashyoviy dalilda DNK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1986: genetik usullar joriy</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Nomi: genom daktiloskopiya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DNK usuli tarixi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319-320, 320, 321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tipik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Taxminiy sinamalar (benzidin, lyuminol va b.) nospetsifik. Ular faqat qon borligini gumon qilishga imkon beradi; ishonchli usul — xromatografiya.</a:t>
            </a:r>
          </a:p>
          <a:p>
            <a:pPr>
              <a:spcAft>
                <a:spcPts val="1200"/>
              </a:spcAft>
            </a:pPr>
            <a:r>
              <a:rPr sz="2200">
                <a:solidFill>
                  <a:srgbClr val="1F2937"/>
                </a:solidFill>
                <a:latin typeface="Calibri"/>
              </a:rPr>
              <a:t>▸  Diqqat: xato qilish xavfi — taxminiy usul ≠ ishonchli usul. Musbat taxminiy sinama qon borligini qat’iy isbotlamaydi.</a:t>
            </a:r>
          </a:p>
          <a:p>
            <a:pPr>
              <a:spcAft>
                <a:spcPts val="1200"/>
              </a:spcAft>
            </a:pPr>
            <a:r>
              <a:rPr sz="2200">
                <a:solidFill>
                  <a:srgbClr val="1F2937"/>
                </a:solidFill>
                <a:latin typeface="Calibri"/>
              </a:rPr>
              <a:t>▸  Namuna olishda kontrol ifloslanmagan sohadan olinadi. Ob’ekt va kontrol bir o‘ramda bo‘lmaydi; yangi doka, bint tavsiya etilmaydi.</a:t>
            </a:r>
          </a:p>
          <a:p>
            <a:pPr>
              <a:spcAft>
                <a:spcPts val="1200"/>
              </a:spcAft>
            </a:pPr>
            <a:r>
              <a:rPr sz="2200">
                <a:solidFill>
                  <a:srgbClr val="1F2937"/>
                </a:solidFill>
                <a:latin typeface="Calibri"/>
              </a:rPr>
              <a:t>▸  Qon konkret shaxsga tegishliligi so‘nggi davrda DNK bilan qat’iy aniqlanadi. Sud kimyoda namuna yetarli bo‘lishi va arxivga qoldirilishi shart.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305-306, 306, 304, 312, 307, 320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Fenolftalein sinamasi vaqtga bog‘liq: qizg‘ish rang 10-15 soniya ichida paydo bo‘lsa, natija musbat. Bir daqiqadan keyingi rang hisobga olinmaydi, chunki oksidlanish havo yoki nur ta’sirida ham bo‘lishi mumkin.</a:t>
            </a:r>
          </a:p>
          <a:p>
            <a:pPr>
              <a:spcAft>
                <a:spcPts val="1200"/>
              </a:spcAft>
            </a:pPr>
            <a:r>
              <a:rPr sz="1800">
                <a:solidFill>
                  <a:srgbClr val="1F2937"/>
                </a:solidFill>
                <a:latin typeface="Calibri"/>
              </a:rPr>
              <a:t>▸  Qon tomchisi shakli uning yo‘lini ko‘rsatadi. 10-15 sm balandlikdan tushsa, dog‘ dumaloq va chetlari tekis bo‘ladi. Balandlik oshsa, chetlari tishsimon bo‘ladi va atrofda sachralar paydo bo‘ladi. Harakatdagi yoki qiya yuzada dog‘ undov belgisiga o‘xshaydi.</a:t>
            </a:r>
          </a:p>
          <a:p>
            <a:pPr>
              <a:spcAft>
                <a:spcPts val="1200"/>
              </a:spcAft>
            </a:pPr>
            <a:r>
              <a:rPr sz="1800">
                <a:solidFill>
                  <a:srgbClr val="1F2937"/>
                </a:solidFill>
                <a:latin typeface="Calibri"/>
              </a:rPr>
              <a:t>▸  Pediatriya uchun muhim: bolalar qonini kattalar qonidan gemoglobin turi bilan farqlash mumkin. Kattalarda HbA, go‘daklarda fetal gemoglobin HbF bor. HbF kindik qonida 80% gacha bo‘ladi, birinchi yil oxirida 5% gacha kamayadi. 15-20 kunlik dog‘larda bu farq aniqlanmaydi.</a:t>
            </a:r>
          </a:p>
          <a:p>
            <a:pPr>
              <a:spcAft>
                <a:spcPts val="1200"/>
              </a:spcAft>
            </a:pPr>
            <a:r>
              <a:rPr sz="1800">
                <a:solidFill>
                  <a:srgbClr val="1F2937"/>
                </a:solidFill>
                <a:latin typeface="Calibri"/>
              </a:rPr>
              <a:t>▸  Eslab qolish usuli: qon dog‘i ekspertizasi savollari tartibi «Bor – Tur – Guruh – Shaxs». Avval qon borligi, keyin tur mansubligi, so‘ng guruhi, oxirida aniq shaxsga tegishliligi aniqlanadi. Hozir shaxsga tegishlilik DNK-tekshiruvi bilan qat’iy aniqlanadi.</a:t>
            </a:r>
          </a:p>
          <a:p>
            <a:pPr>
              <a:spcAft>
                <a:spcPts val="1200"/>
              </a:spcAft>
            </a:pPr>
            <a:r>
              <a:rPr sz="1800">
                <a:solidFill>
                  <a:srgbClr val="1F2937"/>
                </a:solidFill>
                <a:latin typeface="Calibri"/>
              </a:rPr>
              <a:t>▸  Odam sochini hayvon sochidan kutikula bilan farqlash mumkin. Odam sochida tishchalar mayda, bir-biriga yaqin va soch o‘qiga mahkam yopishgan. Hayvon sochida tishchalar yirik, ba’zan arrasimon va bir-biridan uzoqroq. Odamda po‘stloq qavati kengroq, hayvonda mag‘iz qavati asosiy qismni egallaydi.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hodisa joyida jinoyat izlarini saqlagan ko‘ylakni topdi. Bu ko‘ylak nima uchun ashyoviy dalil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Chunki u faqat guvohning ko‘rsatmasi bilan tasdiqlanadi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Chunki u o‘zida jinoyatning izlarini saqlagan predmetdir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Chunki u faqat jabrlanuvchining shaxsiy mulki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Chunki u faqat sud majlisida tuzilgan hujjat hisoblanadi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joyiga umumiy amaliyot shifokori jalb qilindi. Qonuniy ravishda u nima qilishi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guruhini aniqlab, ekspertiza xulosasini yozishi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Dog‘lardan DNK-tahlil o‘tkazib, shaxsni aniqlashi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Gumondorni so‘roq qilib, ayblov xulosasini tuzishi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Ashyoviy dalillarni topib, tavsiflab, namuna olishi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tomchisi harakatdagi tana qismidan tushdi va dog‘ noksimon, undov belgisi shaklida bo‘ldi. Dog‘ning ensiz tomoni qayerga qaragan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Harakat yo‘nalishi tomoniga qaragan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Harakat yo‘nalishiga teskari tomonga qaragan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Yuzaning yuqoriroq joylashgan tarafiga qaragan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 doim dumaloq bo‘lgani uchun ensiz tomoni bo‘lmaydi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singdirmaydigan devor yuzasida quruq qon dog‘i topildi. Ekspertizaga namuna qanday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Dog‘ ustiga suv sepib, katta doka bilan artib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Devorning butun qismini kesib, butunligicha olinadi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Toza skalpel bilan qirindi olinib, toza qog‘ozga o‘raladi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Yangi bint bo‘lagi bilan artilib, issiqlikda quritiladi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ekspertizasida qon borligi va tur mansubligi aniqlangach, ketma-ketlikda qaysi masala hal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Qonning muayyan shaxsga taalluqli ekanligi aniqlanadi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Qonning guruhiy mansubligi aniqlanadi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izining vujudga kelish muddati aniqlanadi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dog‘ining regional mansubligi aniqlanadi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qiya yuzaga tushgan qon tomchisi noksimon, undov belgisi shaklidagi dog‘ hosil qilgan. Dog‘ning ensiz tomoni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Tomchi tushgan balandlikning kattaligini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Harakat yo‘nalishini yoki yuzaning pastki tomonini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singan materialning singdirish xususiyatini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yo‘qotilishining umumiy miqdorini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Qorong‘i, yaxshi yoritilmagan xonani ko‘zdan kechirishda qon izlarini qidirish uchun qaysi taxminiy sinama qo‘llaniladi?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Lyuminol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Benzidin sinamasi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Fenolftalein sinamasi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Vodorod peroksid sinamasi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Fenolftalein sinamasida qizg‘ish rang dog‘ga reaktivlar tomizilgandan bir daqiqa o‘tgach paydo bo‘ldi. Bu natija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borligining musbat natijasi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Dog‘ eski qonga tegishli ekanini bildiradi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Qonning inson qoni ekanini tasdiqlaydi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Inobatga olinmaydi, oksidlanish havoda ham bo‘ladi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Dog‘da qon borligi aniqlangan. Qon odamga tegishli ekanini aniqlash uchun qaysi reaksiyadan foydalaniladi?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Benzidin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Teyxman sinamasi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Chistovich-Ulengut reaksiyasi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Lyuminol sinamasi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So‘nggi davrda qonning aynan muayyan shaxsga tegishli ekanligi qat’iy tarzda qaysi usul bilan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Teyxman mikrokristallik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DNK-tekshiruvi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Ultrabinafsha nurlarda tekshirish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AVO tizimini o‘rganish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Dog‘da ishqor ta’siriga chidamliroq gemoglobin aniqlandi. U qaysi qonga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 qoni, fetal gemoglobin HbF</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Katta yoshli qoni, gemoglobin HbA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hayvon qoni, mioglobin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menstrual qon, oksitotsinaza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Gumondorning qonida Lyuis tizimi bo‘yicha Le (a+ b-) guruhi topildi. Ajratuvchanligi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Ajratuvchi, antigenlar maniyda topiladi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Ajratuvchi emas, ajratmada antigen yo‘q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Ajratuvchanlikni aniq belgilab bo‘lmaydi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jabrlanuvchiga tegishli deb olinadi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Katta choyshabdan maniy gumon qilingan dog‘li bo‘lak kesib olindi. Yana nima olinishi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Dog‘li bo‘lakni suv bilan yuvib tozalash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Dog‘li sohani yangi doka bilan artish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Dog‘siz sohadan kontrol namuna 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Bo‘lakni isitkich yonida tez quritish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Dog‘dan olingan tortilma kartoshka sharbati ta’sirida standart eritrotsitlar agglyutinatsiyasini tormozladi. Bu natija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Manfiy; qon borligini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Musbat; ishonchli maniy isboti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Manfiy; maniy yo‘qligi aniq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Musbat; maniy borligi taxminiy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Azospermiya holatidagi shaxs maniy dog‘ida spermatozoid yo‘q. Maniy borligini ishonchli aniqlash uchun qaysi usul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Morfologik usul, butun spermatozoid</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Qog‘ozda xromatografiya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Kartoshka sharbati bilan reaksiya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Florans mikrokristallik reaksiyasi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Yo‘l-transport hodisasidan keyin avtomobil bamperida tola topildi. Uning soch ekanligi qaysi usul bilan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Benzidin sinamasi yordamida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Mikroskopik tekshiruv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Amilaza fermentini aniqlash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Serin aminokislotasini aniqlash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Mikroskopda sochning mag‘iz qavati qalinlikning asosiy qismini egallagan va hujayralari turli yo‘nalishda joylashgan. Bu qaysi sochga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Odam sochiga xos belgi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Bo‘yalgan sochga xos belgi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Yulib olingan sochga xos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Hayvon sochiga xos belgi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Ko‘ndalang kesimi uchburchak, to‘rtburchak yoki ko‘pburchak shaklidagi sochlar odatda tananing qaysi sohasiga tegishli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Soqol va mo‘ylov sohasiga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Boshning peshona sohasiga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Qo‘ltiq osti sohasiga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Qov sohasiga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 havzasidan murda topildi. Uning suvga tirik yoki o‘lik holda tushganini hal etish uchun qaysi tekshiruv o‘tkaziladi?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guruhini AVO tizimi bo‘yicha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Soch kutikulasidan bosma tayyorlash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Diatom planktoniga tekshiruv o‘tkazish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Siydikda kreatinin va mochevinani aniqlash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Shaxsi noma’lum murdaning suyak qoldiqlari topildi. Ularning muayyan shaxsga tegishliligini aniqlash uchun qaysi tibbiy-kriminalistik tekshiruv o‘tkaziladi?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Ballistik tekshiruv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Identifikatsion tekshiruv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Trassologik tekshiruv</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Situatsion tekshiruv</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Chunki u o‘zida jinoyatning izlarini saqlagan predmetdir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Jinoyat-protsessual kodeksining 203-moddasiga ko‘ra, ashyoviy dalillarga jinoyat quroli bo‘lgan yoki o‘zida jinoyat izlarini saqlagan predmetlar kiradi. Ko‘rsatma va hujjat esa predmet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303-bet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Ashyoviy dalillarni topib, tavsiflab, namuna 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Ashyoviy dalillarni sud-tibbiy tekshirish klinitsist-shifokorlarga yuklanmaydi. Ammo ayrim hollarda ular hodisa joyini ko‘zdan kechirish, dalillarni topish, tavsiflash va tekshiruv uchun namuna olishga jalb qilinishi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303-bet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Harakat yo‘nalishi tomoniga qaragan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Tomchi harakatdagi tana qismidan yoki qiya yuzaga tushsa, dog‘ noksimon bo‘ladi. Uning ensiz tomoni harakat yo‘nalishida yoki yuzaning pastroq tarafida joylashadi. Dumaloq dog‘ esa 10-15 sm balandlikdan gorizontal yuzaga tushganda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Toza skalpel bilan qirindi olinib, toza qog‘ozga o‘raladi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singdirmaydigan qattiq yuzalardagi quruq dog‘dan toza skalpel yoki yupqa tig‘li pichoq bilan qirindi olinadi va toza qog‘ozga o‘raladi. Kontrol uchun ifloslanmagan sohadan ham shunday qirindi olinadi. Yangi doka yoki bint tavsiya etilmaydi, chunki appreturalar serologik reaksiyalarga salbiy ta’sir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Qonning guruhiy mansubligi aniqlanadi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Masalalar ketma-ketligi: qon borligi, tur mansubligi, guruhiy mansubligi, so‘ngra muayyan shaxsga taalluqliligi. Jins va regional mansublik kabi savollar esa ba’zan qo‘shimcha qo‘yiladi.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Harakat yo‘nalishini yoki yuzaning pastki tomonini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tomchisi harakatdagi tana qismidan yoki qiya yuzaga tushsa, dog‘ noksimon bo‘ladi. Uning ensiz tomoni harakat yo‘nalishi yoki yuzaning pastroq tarafi bo‘ladi. Gorizontal yuzada dog‘ dumaloq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303-304-bet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Lyuminol sinamasi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Lyuminol sinamasi qorong‘i joylarni tekshirishda ishlatiladi. Dog‘ga lyuminol purkalganda yoki tomizilganda, qon bo‘lsa, bir minutgacha davom etadigan yorqin havo rang nurlanish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Inobatga olinmaydi, oksidlanish havoda ham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Musbat natija 10-15 soniya ichida qizg‘ish rang paydo bo‘lishidir. Bir daqiqadan keyingi rang inobatga olinmaydi, chunki oksidlanish havoda yoki nur ta’sirida ham sodir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Chistovich-Ulengut reaksiyasi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Chistovich-Ulengut reaksiyasida inson oqsiliga qarshi zardob qo‘shilgan probirkada, dog‘da inson qoni bo‘lsa, pretsipitatsiya halqasi ko‘rinadi. Qolgan sinamalar qon borligini aniqlash uchun ishlatiladi.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DNK-tekshiruvi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Guruhiy tizimlar bo‘yicha taqqoslash ko‘p mehnat va vaqt talab qiladi. Shuning uchun so‘nggi davrda qonning konkret shaxsga tegishli ekanligi qat’iy tarzda DNK-tekshiruvi yordamida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307-bet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Go‘dak qoni, fetal gemoglobin HbF</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Fetal gemoglobin (HbF) katta yoshlilar gemoglobiniga (HbA) nisbatan ishqoriy denaturatsiyaga chidamliroq. Shu sababli ishqoriy denaturatsiya usuli ularni farqlaydi. Bu usul faqat nisbatan yangi dog‘larda ishlaydi, 15-20 kunlik dog‘larda imkon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Ajratuvchi emas, ajratmada antigen yo‘q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Le (a+ b-) guruhi “ajratuvchi emaslarga” xos. Le (a- b+) guruhi “ajratuvchilar” bo‘ladi. Le (a- b-) guruhida ajratuvchanlikni aniq belgilab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Dog‘siz sohadan kontrol namuna 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Katta o‘lchamli materialdan dog‘ saqlovchi bo‘laklar, dog‘ bo‘lmagan sohadan olingan kontrol namuna bilan birga olinadi. Kontrol namuna materialning o‘zi natijaga ta’sir qilmasligini tekshirishga xizmat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309-bet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Musbat; maniy borligi taxminiy</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Kartoshka sharbati eritrotsitlarni agglyutinatsiya qiladi, maniy esa bu xususiyatni tormozlaydi. Shuning uchun tormozlanish musbat natija hisoblanadi. Biroq bu taxminiy usul, ishonchli tasdiq uchun morfologik yoki xromatografik usul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310-bet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Qog‘ozda xromatografiya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Azospermiya va nekrospermiyada spermatozoid bo‘lmaydi, shu sababli morfologik usul yaroqsiz. Qog‘ozda xromatografiyada xolin, spermin va nordon fosfatazaning bir vaqtda topilishi maniy borligini ishonchli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Mikroskopik tekshiruv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 ob’ektining soch ekanligi mikroskopik tekshiruv bilan aniqlanadi. Benzidin sinamasi qonga, amilaza so‘lakka, serin esa terga oid tekshiruvlardir.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Hayvon sochiga xos belgi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Hayvon sochida mag‘iz qavati asosiy qalinlikni tashkil etadi. Odam sochida esa po‘stloq qavati kengroq bo‘lib, mag‘iz qavati ingichka va strukturasiz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Soqol va mo‘ylov sohasiga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Soqol va mo‘ylov sochlarining kesimi uchburchak, to‘rtburchak yoki ko‘pburchak bo‘ladi. Boshdagi sochlarniki dumaloq yoki oval, qo‘ltiq osti va qovdagilarniki uzunchoq oval yoki loviyasimon.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Diatom planktoniga tekshiruv o‘tkazish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Suvga tirik yoki o‘lik holda tushganlik masalasini hal etish uchun sud-gistologik bo‘limda diatom planktoniga tekshiruv o‘tkaziladi. Biomateriallar bilan birga havzadan suv namunasi ham taqdim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Identifikatsion tekshiruv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Identifikatsion tekshiruvlar shaxsi noma’lum murda yoki uning qoldiqlari muayyan shaxsga tegishli ekanini aniqlash uchun o‘tkaziladi. Ballistik tekshiruv o‘qotar jarohat va portlash travmasiga, trassologik tekshiruv shikastlovchi omilni aniqlashga, situatsion tekshiruv harakatni sodir etish imkoniyatiga oid.</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318-bet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Ashyoviy dalillar sud tibbiy ekspertizasi. O’zb. Res. SSVning 2026-yil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13. Ashyoviy dalillarni sud-tibbiy tekshirish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