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Nega shifokor uchun o‘lim haqidagi bilim kerak? 2) Rejadagi qaysi bo‘lim amaliyotda ko‘proq uchraydi deb o‘ylaysiz? Doskada: ma’ruza rejasini 3 ustunli sxema qilib chizing. Tipik xato: talabalar tanatologiyani faqat murda o‘zgarishlari deb tushunadi, aslida u o‘lish jarayonini ham o‘rganadi.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Tezkor savol: “Tanatologiya” atamasini kim kiritgan va u qaysi so‘zlardan tuzilgan? Muhokama: nega hayot va o‘lim “uzviy bog‘liq” deyiladi? Doskada: thanatos + logos = tanatologiya formulasini yozing. Tipik xato: atamani kiritgan olim ismini adashtirish; to‘g‘risi I.I.Mechnikov.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Umumiy va xususiy tanatologiya farqi nimada? 2) Sud-tibbiy tanatologiya nega huquqni muhofaza etuvchi idoralar uchun kerak? Doskada: jadvalni chizib, har turga bittadan misol so‘rang. Tipik xato: sud-tibbiy tanatologiyani umumiy tanatologiya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o‘lishni “jarayon” deb atashadi? 2) Klinik va biologik o‘lim farqi amaliyotda nimani o‘zgartiradi? Doskada besh bosqichli zanjirni chizdirib, har biriga davomiylikni yozdiring. Tipik xato: klinik o‘limni biologik o‘lim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Preagoniyada nega puls faqat yirik arteriyalarda aniqlanadi? 2) Terminal pauzani preagoniyadan nima ajratadi? Doskada ikki ustunli solishtirish (preagoniya / terminal pauza) tuzdiring. Tipik xato: terminal pauzani bir necha kun davom etadi deb o‘ylash, bu preagoniya xususiyati. Qo‘shimcha (slayddan ko‘chirilgan, manba shu bet): Teri oqaradi, yuz ko‘kimtir tus oladi, hansirash bo‘ladi. Bu bir necha soniyadan 3-4 daqiqagacha davom etadi. Manbadan qo‘shimcha (slaydda sig‘magan): Qorachiqlar kengayib nurga javob bermaydi, reflekslar so‘nadi. Bu bir necha soniyadan 3-4 daqiqagacha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Agoniyada nafas va puls nega vaqtincha tiklanadi? 2) Facies hippocratica qaysi belgilardan iborat? Doskada nafas holatini 3 bosqichda (buzilgan – to‘xtagan – tiklangan) chizdirib, qaysi bosqichga mosligini aytdiring. Tipik xato: agoniyadagi tiklanishni sog‘ayish alomati deb baholash. Qo‘shimcha (slayddan ko‘chirilgan, manba shu bet): Bosh miya oliy markazlari tormozlanib nazorat yo‘qoladi, ularning vazifasini miyaning pastda joylashgan nomukammal markazlari oladi. Agoniya hayotga qaytish uchun so‘nggi urinish deb qaraladi. Manbadan qo‘shimcha (slaydda sig‘magan): Agoniya hayotga qaytish uchun so‘nggi urinish deb qaraladi.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Nima uchun 5-6 daqiqadan keyin hayotga qaytarish qiyin? 2) Past harorat klinik o‘lim muddatiga qanday ta’sir qiladi? Doskada: jadvalni chizdirib, ikki bosqichni solishtirishni so‘rang. Tipik xato: klinik o‘limni biologik o‘lim bilan aralashtirish va 5-6 daqiqani barcha holatlar uchun mutlaq deb o‘ylash. Qo‘shimcha (slayddan ko‘chirilgan, manba shu bet): Past haroratda 30 daqiqagacha cho‘ziladi. Biologik o‘lim so‘nggi bosqich bo‘lib, a’zo va to‘qimalarda, avvalo bosh miyada tiklab bo‘lmaydigan o‘zgarishlar yuz beradi. Manbadan qo‘shimcha (slaydda sig‘magan): Biologik o‘lim so‘nggi bosqich bo‘lib, a’zo va to‘qimalarda, avvalo bosh miyada tiklab bo‘lmaydigan o‘zgarishlar yuz beradi.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elektrotravmada agoniya qisqa bo‘ladi? 2) Sun’iy uzaytirilgan agoniya amaliyotda qanday muammolar tug‘diradi? Doskada: to‘rt tipni davomiyligi o‘sib borish tartibida chizdiring. Tipik xato: tez o‘limni (jadallik) agoniya tipi bilan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Preagoniya, terminal pauza va agoniyani qaysi belgilar bo‘yicha farqlaysiz? 2) Agoniyani nega «so‘nggi urinish» deyishadi? Doskada: bosqichlar ketma-ketligini chizdirib, har biriga asosiy belgini yozdiring. Tipik xato: agoniyadagi nafas tiklanishini bemorning sog‘ayishi deb talqin qilish. Qo‘shimcha (slayddan ko‘chirilgan, manba shu bet): Bir necha soniyadan keyin nafas tiklandi, puls aniqlana boshladi. Nafas va pulsning tiklanishi esa agoniya belgisidir.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Bilvosita aktiv evtanaziyada vrachning niyati nima bilan farqlanadi? 2) Nega bemorning o‘zi dori qabul qilgan holat ham bu tushunchaga kiradi? Doskada: bevosita aktiv, bilvosita aktiv va passiv turlarining uch ustunli jadvalini chizdiring. Tipik xato: bilvosita aktiv evtanaziyani bevosita (qasddan) deb aralashtirish. Qo‘shimcha (slayddan ko‘chirilgan, manba shu bet): Bevosita aktiv evtanaziyada maqsad aynan o‘limni tezlashtirish: qotillik yoki o‘z-o‘zini o‘ldirish ko‘rinishida bo‘ladi. Masalan, og‘riqni kamaytirish uchun og‘riqqoldiruvchi katta dozada yuboriladi; o‘lim ehtiyotsizlik yoki baxtsiz hodisa deb baholanadi. Manbadan qo‘shimcha (slaydda sig‘magan): Bevosita aktiv evtanaziyada maqsad aynan o‘limni tezlashtirish: qotillik yoki o‘z-o‘zini o‘ldirish ko‘rinishida bo‘ladi.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Medikotanaziya va distanaziyaning asosiy farqi nimada? 2) Nega tor ma’noda faqat aktiv va passiv turlar olinadi? Doskada: to‘rt tur va tor ma’no doirasini ajratib ko‘rsatuvchi doira sxemasi. Tipik xato: distanaziyani o‘limni tezlashtirish deb o‘ylash, aslida u hayotni maksimal uzaytirishdir. Qo‘shimcha (slayddan ko‘chirilgan, manba shu bet): Birinchisida yordam cheklanadi va jinoyat qonunchiligida vazifani bajarmaslik deb baholanadi; ikkinchisida azob dori bilan yengillashtiriladi. Manbadan qo‘shimcha (slaydda sig‘magan): Diqqat: passiv evtanaziya ≠ medikotanaziya. Birinchisida yordam cheklanadi va jinoyat qonunchiligida vazifani bajarmaslik deb baholanadi; ikkinchisida azob dori bilan yengillashtiriladi.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yozadi, so‘ng juftlikda tekshiradi. Muhokama: agoniya nega «hayotga qaytish uchun so‘nggi urinish» deyiladi? Doskada: besh bosqichli vaqt zanjirini chizdiring. Tipik xato: terminal pauza va agoniyani, shuningdek klinik va biologik o‘limni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po‘stloq boshqa to‘qimalardan oldin zararlanadi? 2) “Individual o‘lim” iborasi nimani bildiradi? Doskada: to‘qimalar “filogenetik yosh” bo‘yicha sezgirlik zinapoyasini chizing (eng sezgir – po‘stloq). Tipik xato: miya o‘limini barcha a’zolar o‘limi bilan bir xil deb o‘ylash. Aslida oraliq davr taxminan 20 soat. Qo‘shimcha (slayddan ko‘chirilgan, manba shu bet): Shuning uchun tiklanmas o‘zgarish avval bosh miya po‘stlog‘ida sodir bo‘lib, markaziy nerv tizimining (MNT) integratsion faoliyati buziladi. Bu davrda boshqa a’zolar faoliyati davom etishi yoki tiklanishi mumkin. Manbadan qo‘shimcha (slaydda sig‘magan): Filogenetik yoshroq to‘qimalar ta’sirga sezgir bo‘ladi. Shuning uchun tiklanmas o‘zgarish avval bosh miya po‘stlog‘ida sodir bo‘lib, markaziy nerv tizimining (MNT) integratsion faoliyati buziladi. Po‘stloq o‘limi bilan boshqa a’zo va to‘qimalar o‘limi orasidagi oraliq davr taxminan 20 soat. Bu davrda boshqa a’zolar faoliyati davom etishi yoki tiklanishi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a’zoni erta olish natijani yaxshilaydi? 2) Apparatura bo‘lmagan sharoitda o‘limni qanday aniqlaymiz? Doskada: zanjir chizing: po‘stloq o‘limi → reanimatsiyani to‘xtatish / a’zo olish ruxsati. Tipik xato: vegetativ holatni “tirik shaxs” deb, miya o‘limi bilan adashtirish. Tezkor savol: miya o‘limini kimlar aniqlaydi? Qo‘shimcha (slayddan ko‘chirilgan, manba shu bet): Reanimatsiya bilan uni yillab saqlash mumkin. Qonunga ko‘ra reanimatsiyani to‘xtatish va murdadan a’zo olishga ruxsat beriladi. Apparatura bo‘lmasa, murda o‘zgarishlariga tayaniladi. Manbadan qo‘shimcha (slaydda sig‘magan): Reanimatsiya bilan uni yillab saqlash mumkin. Apparatura bo‘lmasa, murda o‘zgarishlariga tayaniladi.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harakatsizlik va oqarish yetarli emas? 2) Beloglazov simptomi nega 1,5-2 soatdan keyin yo‘qolishi mumkin? Doskada: jadvalni ko‘chiring, ustunlarni “ehtimoliy” va “ishonchli” deb ajrating. Tipik xato: oqarish, nafas va yurak urishining yo‘qligini ishonchli belgi deb hisoblash. Mnemonika: “Darhol – ehtimoliy, biroz keyin – ishonchli”. Tezkor savol: eng erta ishonchli belgi qaysi?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o‘limning xilini ekspert emas, huquqni muhofaza organlari aniqlaydi? Nozo‘raki o‘limda nega xil ajratilmaydi? Doskada chizish: toifa → xil → tur daraxt sxemasini chizdiring. Tipik xato: talabalar «xil» va «tur» tushunchalarini aralashtiradi (qotillik — xil, mexanik jarohat — tur). Qo‘shimcha (slayddan ko‘chirilgan, manba shu bet): Nozo‘raki o‘lim turi kasallikka qarab belgilanadi. Xilni huquqni muhofaza etuvchi organlar xodimlari belgilaydi, chunki bunda qasdning mavjudligi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ekspert «bu qotillik» deb xulosa yoza oladimi? Nima uchun qasd masalasi ekspert vakolatiga kirmaydi? Doskada chizish: vaziyatni toifa–tur–xil qatoriga joylashtirish. Tipik xato: «zo‘raki o‘lim» va «qotillik»ni bir xil deb o‘ylash; qotillik zo‘raki o‘limning faqat bitta xili.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mexanik ta’sirga javob o‘lim muddatini baholashda yordam beradi? Nima uchun o‘sma vaqt o‘tgan sari pasayadi? Doskada chizish: soat o‘qi bo‘yicha 1-2 soat, 10 soat, 10-11 soat bosqichlarini belgilang. Tipik xato: idiomuskulyar o‘smani mushak qisqarishi bilan aralashtirish; 1-2 soatdan keyin mushak qisqarmaydi, faqat o‘sma hosil bo‘ladi. Qo‘shimcha (slayddan ko‘chirilgan, manba shu bet): U dastlab zich, 2 sm gacha baland, vaqt o‘tgach pasayadi. Ko‘pincha yelka mushaklari tekshiriladi, ta’sir nevrologik bolg‘acha bandi yoki metall chizg‘ich bilan beriladi. Manbadan qo‘shimcha (slaydda sig‘magan): Keyin 10 soatgacha mushak qisqarmaydi, ammo ta’sir joyida burma shaklidagi shish — idiomuskulyar o‘sma paydo bo‘ladi. U dastlab zich, 2 sm gacha baland, vaqt o‘tgach pasayadi.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mushak reaksiyasi vaqt o‘tgan sari faqat ko‘z mushaklarida qoladi? 2) Qaysi usul o‘lim muddatini eng uzoq vaqtgacha baholashga imkon beradi? Doskada chizish: reaksiya turlari (elektr, kimyoviy, ter bezi) va ularning muddat chegaralarini bitta vaqt o‘qida ko‘rsating. Tipik xato: atropin kengaytiradi, pilokarpin toraytiradi, talabalar buni almashtirib yuboradi. Atropin va pilokarpinning ter bezi sinamasidagi rolini ham farqlang. Qo‘shimcha (slayddan ko‘chirilgan, manba shu bet): 3-5 soatgacha og‘iz aylana mushaklari, 11-12 soatgacha faqat ko‘z mushaklari qisqaradi. Eritma (0,1 ml) old kameraga yuborilsa, reaksiya 24 soatgacha aniqlanadi. Teri ostiga adrenalin yoki pilokarpin yuboriladi, 0,5-1 soatda ko‘k dog‘ paydo bo‘ladi. Usul 30 soatgacha qo‘llanadi.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sun’iy o‘zgarishlar o‘lim muddatini aniqlashda ishonchli emas? 2) Mumifikatsiya va chirish qaysi jihatdan qarama-qarshi? Doskada chizish: tasnif daraxti (ilk/kech, yemiruvchi/saqlovchi, sun’iy). Tipik xato: autolizni kech o‘zgarish deb hisoblash; u ilk o‘zgarishlar qatoriga kiradi, garchi kech davrda ham davom etsa. Muzlash tabiiy va ilk yoki kech muddatda bo‘lishi mumkinligini ham eslatib o‘ting. Qo‘shimcha (slayddan ko‘chirilgan, manba shu bet): Ular paydo bo‘lish muddatiga ko‘ra ilk va kech o‘zgarishlarga bo‘linadi. Manbadan qo‘shimcha (slaydda sig‘magan): Biologik o‘limdan so‘ng hayotiy funksiyalar to‘xtagani uchun qaytmas o‘zgarishlar boshlanadi. Ular paydo bo‘lish muddatiga ko‘ra ilk va kech o‘zgarishlarga bo‘linadi.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to‘g‘ri ichak va jigar harorati o‘lim muddatini baholashda qulay? 2) Qanday holatlarda dastlabki soatlarda harorat ko‘tarilishi mumkin? Doskada chizish: qo‘ltiq, to‘g‘ri ichak va jigar uchun tenglashish muddatlari (16, 19, 25 soat) ketma-ketligini chizing. Tipik xato: soatiga 1°S qoidasini mutlaq deb olish; u faqat xona sharoitida taxminiy qiymat, omillar uni o‘zgartiradi. Qo‘shimcha (slayddan ko‘chirilgan, manba shu bet): Tana muhit harorati bilan tenglashguncha soviydi. Ba’zan dastlabki soatlarda harorat bir necha gradusga ko‘tariladi. Oxirgi uchtasida pasayish bir maromroq. Manbadan qo‘shimcha (slaydda sig‘magan): Sovushga havo harorati, namlik, shamol, kiyim, shuningdek yosh, oziqlanish, o‘lim sababi va jadalligi ta’sir qiladi. Ba’zan dastlabki soatlarda harorat bir necha gradusga ko‘tariladi. Termometriya aniqroq: og‘iz, qo‘ltiq osti, ko‘krak bo‘shlig‘i, to‘g‘ri ichak, jigarda o‘tkaziladi. Oxirgi uchtasida pasayish bir maromroq.</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qurish avval lab va ko‘zda boshlanadi? 2) Pergament dog‘ini shilinmadan oddiy usulda qanday farqlaysiz? Doskaga chizing: pergament dog‘i va hayotiy shilinmani suvli doka sinamasidagi natijalari bilan ikki ustunli taqqoslash. Diqqat: pergament dog‘ ≠ hayotiy shilinma. Tipik xato: terining tortilishidan soch, soqol va timoq o‘sgan deb o‘ylash. Bu soxta tasavvur, manbada shunday izohlangan (225-bet). Qo‘shimcha (slayddan ko‘chirilgan, manba shu bet): Shuningdek shilinma va yara chekkalarida. Iliq suvli doka 5-10 daqiqa qo‘yilsa ular yumshab oqaradi, hayotiy shilinma esa o‘zgarmaydi. Manbadan qo‘shimcha (slaydda sig‘magan): Alomatlar avval hayotda nam turadigan joylarda ko‘rinadi: lablarning qizil hoshiyasi, shilliq qavatlar, shox parda, konyunktiva, moyak terisi. Shuningdek shilinma va yara chekkalarida.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AUF qisqarishda va bo‘shashishda qanday rol o‘ynaydi? 2) Nega o‘limdan keyin mushaklar darhol qotmaydi? Doskaga chizing: AUF → aktomiozin → qisqarish; resintez → bo‘shashish; o‘limda sintezning to‘xtashi. Eslatma: mexanizm hozirgacha aniq ochilmagan, eski nazariyalar (oqsil koagulyasiyasi, gidratatsiya yoki degidratatsiya, nerv tizimi o‘limi, parabioz) ham aytilgan (225-bet). Tipik xato: AUF yo‘qolishi bilan mushak bo‘shashadi deb o‘ylash, aslida AUF kamayishi qotishga olib keladi. Qo‘shimcha (slayddan ko‘chirilgan, manba shu bet): AUF aktomiozin bilan ta’sirlashib parchalansa mushak qisqaradi, resintezda bo‘shashadi.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Dastlabki soatlarda buzilgan qotishning tiklanishi nimani ko‘rsatadi? 2) Qaysi omillar qotishni tezlashtiradi, qaysilari sustlashtiradi? Doskaga chizing: pastga yo‘nalgan (Nisten) tipda mushaklar ketma-ketligi: chaynash → bo‘yin → tana → qo‘l → oyoq. Eslab qoling: qotish kichik, kalta mushaklarda avval boshlanadi. Tipik xato: kataleptik qotishni oddiy qotish bilan adashtirish; kataleptikda qotish darhol va barcha mushaklarda bo‘ladi. Yuz va oyoqda qotish bor, qo‘lda sust yoki yo‘q bo‘lsa, murda holati o‘zgartirilganidan shubha qilinadi (226-bet). Murda tekshiruvida qotish mushaklarni ushlab ko‘rish va bo‘g‘imlarni harakatlantirish orqali baholanadi (227-bet). Qo‘shimcha (slayddan ko‘chirilgan, manba shu bet): Avval kalta kuchli (chaynash) mushaklarda, so‘ng bo‘yin, tana, qo‘l-oyoqda (Nisten bo‘yicha pastga yo‘nalgan tip). Bu murdaga tegilgani yoki holati o‘zgartirilganini aniqlashda ahamiyatli. Manbadan qo‘shimcha (slaydda sig‘magan): Keyinroq buzilsa tiklanmaydi. Bu murdaga tegilgani yoki holati o‘zgartirilganini aniqlashda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savollarni yopiq kitob bilan so‘rang. Muhokama: murda holati o‘zgartirilganini qotish orqali qanday aniqlash mumkin? Doskada chizish: soat o‘qi (1–3 soat, 12–16 soat, 24 soat, 3–7 kun). Tipik xato: qotish o‘lim zahoti boshlanadi deb o‘ylash, aslida aniqlanishi 1–3 soatdan keyin. Qo‘shimcha (slayddan ko‘chirilgan, manba shu bet): Mushaklarda adenozinuchfosfat (AUF) 10–12 soatda to‘liq yo‘qoladi.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bosqichlar orasida aniq vaqt chegarasi qo‘yib bo‘lmaydi? Barmoq bilan bosish sinovi nimani ko‘rsatadi? Doskada chizish: jadvalni 3 ustunli qilib ko‘chiring va har bosqichga bosish natijasini yozing. Tipik xato: staz bosqichida dog‘ butunlay yo‘qoladi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is gazi va sianid zaharlanishida dog‘ rangi o‘zgaradi? Murda dog‘i va qontalashni farqlash tekshiruvchi uchun nima uchun muhim? Doskada chizish: murda yuzi bilan tepaga, pastga va osilgan holatda dog‘lar joylashuvi sxemasi. Tipik xato: barcha zaharlanishda dog‘ rangi bir xil deb o‘ylash. Qo‘shimcha (slayddan ko‘chirilgan, manba shu bet): Yuzi bilan tepaga yotsa, dog‘lar orqa va yon qismlarda; pastga yotsa, old va yon qismlarda; osilganda pastki qismlarning barcha yuzalarida. O‘tkir ko‘p qon yo‘qotishda 3–4 soatdan keyin, orolchalar shaklida. Manbadan qo‘shimcha (slaydda sig‘magan): Yuzi bilan tepaga yotsa, dog‘lar orqa va yon qismlarda; pastga yotsa, old va yon qismlarda; osilganda pastki qismlarning barcha yuzalarida.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Oddiy fuqaro nega dog‘ni qontalash deb o‘ylashi mumkin? 2) Shifokor ko‘rikda qanday amaliy tekshiruv qiladi? Doskada: ikki ustunli solishtirish jadvalini chizdirish va xochsimon kesma natijasini yozdirish. Tipik xato: bosilganda rang o‘zgarishini imbibitsiya bosqichida ham saqlanadi deb o‘ylash; bu bosqichda dog‘ bosilganda rangini o‘zgartirmaydi. Qo‘shimcha (slayddan ko‘chirilgan, manba shu bet): Fuqarolar xato baholab, asossiz ekspertiza va eksgumatsiyani talab qilishi mumkin. Gipostaz va staz bosqichida bosilsa yo‘qoladi yoki oqaradi. O‘limdan ancha oldin etkazilgani yashil yoki sarg‘imtir bo‘ladi. Shubhali sohada xochsimon kesma qilinadi: dog‘da qon tomchilari yoki qon singgan yog‘ to‘qimasi, qontalashda to‘qimaga quyilgan va ivigan qon topiladi. Manbadan qo‘shimcha (slaydda sig‘magan): Fuqarolar xato baholab, asossiz ekspertiza va eksgumatsiyani talab qilishi mumkin. O‘limdan ancha oldin etkazilgani yashil yoki sarg‘imtir bo‘ladi.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oshqozon va oshqozon osti bezi autolizi tez boshlanadi? 2) Autoliz natijasi qaysi hayotiy jarayon yoki zaharlanish bilan adashtirilishi mumkin? Doskada: ‘ferment → hujayra yemirilishi → gemoliz → imbibitsiya’ zanjirini chizdirish. Tipik xato: autolizni chirish (mikroorganizmlar faoliyati) bilan aralashtirish; autolizda sabab o‘z fermentlari. Qo‘shimcha (slayddan ko‘chirilgan, manba shu bet): Ular ta’sirida hujayra va to‘qimalar o‘z-o‘zini hazm qiladi. Eritrotsitlar autolizi gemoliz va qon tomir devori imbibitsiyasiga olib keladi. Autolitik va hayotiy o‘zgarishni mikroskopiya ajratadi. Manbadan qo‘shimcha (slaydda sig‘magan): O‘limdan keyin hujayra ichidagi (lizosomal) va boshqa proteolitik fermentlar faolligi darhol yo‘qolmaydi. Ular ta’sirida hujayra va to‘qimalar o‘z-o‘zini hazm qiladi. Autolitik va hayotiy o‘zgarishni mikroskopiya ajratadi.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Dog‘lar ikki sohada bo‘lsa, bu qaysi bosqichni bildiradi va nima uchun? 2) Qotishning qo‘lda sustligi murdaga o‘limdan keyin tegilganini qanday ko‘rsatadi? Doskada: murda holatini o‘zgartirish sxemasini (avval yuzi tepaga, keyin pastga) va dog‘lar joyini chizdirish. Tipik xato: murda holati o‘zgarsa dog‘lar har doim yangi joyda paydo bo‘ladi deb o‘ylash; bu faqat gipostaz va qisman staz uchun to‘g‘ri. Qo‘shimcha (slayddan ko‘chirilgan, manba shu bet): Demak, murda holati o‘zgartirilgan bo‘lishi mumkin. Imbibitsiyada yangi joyda dog‘ paydo bo‘lmaydi. Buzilgan qotish dastlabki soatlarda tiklanadi, keyin tiklanmaydi.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suvda va yerda chirish sekin? 2) Nima uchun hid birinchi kunoq tabiiy teshiklardan seziladi? Doskada: Kasper indeksi 1:2:8 ni havo–suv–yer tartibida chizdiring. Tipik xato: aerob va anaerob chirishni aralashtirish (aerob — jadal, anaerob — sust, hidi o‘ta yoqimsiz). Qo‘shimcha (229-230-betlar): ko‘p qon yo‘qotish, suvsizlanish, is gazi, antibiotiklar chirishni sekinlashtiradi; sepsis va semizlik tezlashtiradi; chaqaloqlarda sekin. Qo‘shimcha (slayddan ko‘chirilgan, manba shu bet): Anaerob chirish sust, lekin o‘ta yoqimsiz hidli bo‘ladi.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kasallikda qaysi chirish tipi kutiladi? 2) Nima uchun ichki a’zolar turlicha chiriydi? Doskada: 3 tipni «kasallik → belgi» ustunli ro‘yxat qilib yozdiring. Tipik xato: quruq tipda ham emfizema bo‘ladi deb o‘ylash (bo‘lmaydi). Eslab qolish: gaz — infeksiya, nam — suyuqlik, quruq — oriqlik. Qo‘shimcha (slayddan ko‘chirilgan, manba shu bet): Nam tipda chirish pufaklari yaqqol, u suyuqlik to‘planadigan kasalliklarda uchraydi. Dafn etilganda bu kechroq bo‘ladi. Manbadan qo‘shimcha (slaydda sig‘magan): Dafn etilganda bu kechroq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entomologik tekshiruvga hasharotlar konservatsiya qilib yuboriladi? (238-bet: etil efiri yoki formalin) 2) Hayvon izini hayotiy jarohatdan qanday ajratamiz? Doskada: pashsha sikli — tuxum → lichinka → qo‘g‘irchoq → etuk pashsha zanjirini chizdiring. Tipik xato: hayvon, qush, baliq yemirishi bo‘yicha ham o‘lim muddatini aniqlash mumkin deb o‘ylash (mumkin emas). Diqqat: hasharotlar bilan hayvonlarni aralashtirmang. Qo‘shimcha (slayddan ko‘chirilgan, manba shu bet): Xona haroratida 24-30 soatda lichinkalar chiqib, fermenti bilan yumshoq to‘qimani eritadi. Lichinka 7-10 kunda qo‘g‘irchoqqa, 2 haftadan so‘ng etuk pashshaga aylanadi. Hasharotlar o‘lim muddatini aniqlashga yordam beradi, hayvon, qush, baliqlar esa bermaydi. Manbadan qo‘shimcha (slaydda sig‘magan): Lichinka 7-10 kunda qo‘g‘irchoqqa, 2 haftadan so‘ng etuk pashshaga aylanadi. Hasharotlar o‘lim muddatini aniqlashga yordam beradi, hayvon, qush, baliqlar esa bermaydi.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suvda murda havoga nisbatan sekin chiriydi (kislorod kam, harorat past)? 2) Mumifikatsiyada shaxsni aniqlash imkoniyati qanday? Doskada 3 ustunli jadval (turi-sharoit-muddat) chizdiring. Tipik xato: yog‘-mo‘mni quruq muhitda hosil bo‘ladi deb o‘ylash; aslida u nam muhitda rivojlanadi, quruq joyga ko‘chirilsa qotadi va uvalanishi mumkin. Qo‘shimcha (slayddan ko‘chirilgan, manba shu bet): To‘liq holatda tana 80-90% namlikni yo‘qotadi.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Defenziv va offenziv qismlashni qanday ajratish mumkin? 2) Nega sun’iy o‘zgarishlar o‘lim muddatini aniqlashga asos bo‘lmaydi? Doskada ikki ustunli ro‘yxat chizdiring: saqlovchi va yemiruvchi sun’iy o‘zgarishlar. Tipik xato: sun’iy o‘zgarishlarni tabiiy kech o‘zgarishlar bilan aralashtirish va ularni vaqt bilan bog‘lash. Qo‘shimcha (slayddan ko‘chirilgan, manba shu bet): Sovutkichda ham saqlanadi. Eritish kam uchraydi, kislotalar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2 daqiqa juftlikda o‘ylaydi, keyin javob beradi. Muhokama: 1) Muhitning qaysi xususiyati (nam yoki quruq) farqni belgilaydi? 2) Murda yog‘-mo‘m holatida quruq muhitga ko‘chirilsa nima bo‘ladi? Doskada A va B ustunli taqqoslash jadvalini chizdiring. Tipik xato: qisman va to‘liq shakllarni, ya’ni muddatlarni aralashtirish. Qo‘shimcha (slayddan ko‘chirilgan, manba shu bet): Ikkalasida ham jarohat izlari va ma’lum darajada tashqi qiyofa saqlanishi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bitta usulga tayanib bo‘lmaydi? 2) Nega aniqlik vaqt o‘tgan sari pasayadi? Doskada chizing: rektal haroratning vaqt bo‘yicha pasayish chizig‘i va 30-31 soatda tenglashuv nuqtasi. Tipik xato: bir marta o‘lchangan haroratdan muddat chiqarish; kamida ikki o‘lchov kerak. Qo‘shimcha (slayddan ko‘chirilgan, manba shu bet): Amaliyotda ko‘proq murdaning sovushi va murda dog‘lari baholanadi. Vaqt o‘tgan sari aniqlik pasayadi: dastlab soatlar, kech o‘zgarishlarda kunlar, skeletda oylar va yillar. Manbadan qo‘shimcha (slaydda sig‘magan): Amaliyotda ko‘proq murdaning sovushi va murda dog‘lari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Qaysi holatlarda ekspertiza majburiy tayinlanadi? 2) Nega laboratoriya natijalari qat’iy kuchga ega emas? Doskada chizing: xulosaning uch qismi (kirish – tekshiruv – to‘xtam). Tipik xato: chirish boshlangan murdani ekspertizaga to‘sqinlik deb hisoblash; manbaga ko‘ra bu to‘siq emas. Qo‘shimcha (slayddan ko‘chirilgan, manba shu bet): Zo‘raki o‘lim yoki unga shubha, noma’lum shaxs o‘limi va tibbiy yordamga shikoyat holatlarida o‘tkaziladi. Tekshiruv ilk murda belgilari paydo bo‘lgach boshlanadi; qo‘shimcha laboratoriya natijalari ekspert tomonidan tanqidiy baholanadi. Manbadan qo‘shimcha (slaydda sig‘magan): Tekshiruv ilk murda belgilari paydo bo‘lgach boshlanadi; qo‘shimcha laboratoriya natijalari ekspert tomonidan tanqidiy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Ko‘krak sanchma-kesma jarohatida zanjirni tuzing (gemoperikard – yurak siqilishi). 2) Yo‘l-transport hodisasidagi kalla-miya jarohati va suvga tashlash holatida raqobat nimada? Doskada chizing: uzoq → oraliq → yaqin zanjir va raqobatli ikki zanjir. Tipik xato: uzoq sabab bilan yaqin sababni almashtirib yuborish (uzoq ≠ yaqin); diagnozda uzoq sabab birinchi yoziladi. Qo‘shimcha (slayddan ko‘chirilgan, manba shu bet): Masalan, sirka kislotasidan og‘riq shoki, asfiksiya, postgemorragik shok yoki sepsis rivojlanadi. Ekspert asosiy shaklni aniqlashga harakat qiladi, istisno holda ikkisi ko‘rsatiladi. Manbadan qo‘shimcha (slaydda sig‘magan): Ekspert asosiy shaklni aniqlashga harakat qiladi, istisno holda ikkisi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qismlangan murda qismlari tergovchi ruxsatigacha murdaxonada saqlanadi? 2) Skeletdan nimalarni bilish mumkin, nimani bilib bo‘lmaydi? Doskada: noma’lum murdada shaxsni aniqlash bo‘yicha tekshiruv ro‘yxatini (kiyim, so‘z portreti, qon, barmoq izi) chizdiring. Tipik xato: eksgumatsiyani faqat dafn qilishning teskarisi deb o‘ylash, uning protsessual qaror talab qilishini unutish. Qo‘shimcha (slayddan ko‘chirilgan, manba shu bet): Guruhiy mansublik uchun qon olinadi, kriminalistlar barmoq izini oladi. Qismlar odamnikimi, bir kishigami, qaysi qurol bilan qismlangan — shular aniqlanadi. U protsessual harakat: qaror yoki ajrim bilan, xolislar va sud-tibbiyot mutaxassisi ishtirokida o‘tadi, bayonnoma tuziladi. Manbadan qo‘shimcha (slaydda sig‘magan): Guruhiy mansublik uchun qon olinadi, kriminalistlar barmoq izini oladi. Eksgumatsiya — murdani qabrdan chiqarish. U protsessual harakat: qaror yoki ajrim bilan, xolislar va sud-tibbiyot mutaxassisi ishtirokida o‘tadi, bayonnoma tuziladi.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 Muhokama: 1) Uyda sodir bo‘lgan o‘limda verbal autopsiya qanday o‘tadi? 2) Nega sud-tibbiy ekspertiza o‘lim joyidan qat’i nazar o‘tkaziladi? Doskada: jadvalning 2 ustunini talabalar bilan to‘ldirtiring. Tipik xato: patologo-anatomik tekshiruvni ham tergovchi qaroriga asoslanadi deb o‘ylash; virtual autopsiyani keng amaliyotda deb hisoblash. Qo‘shimcha (slayddan ko‘chirilgan, manba shu bet): Patologo-anatomik tekshiruv asosan davolash muassasasidagi o‘limda. Murdaxonada uch sutkagacha saqlash kafolatlangan; guvohnomasiz berish taqiqlanadi. Manbadan qo‘shimcha (slaydda sig‘magan): Patologo-anatomik tekshiruv asosan davolash muassasasidagi o‘limda.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Klinik shifokor uchun tanatogenezni bilish nimaga kerak? 2) O‘lim muddatini aniqlashda nega bir nechta usul qo‘llanadi? Doskada: tanatogenez zanjirini (uzoq – oraliq – yaqin sabab) bitta misolda chizdiring. Tipik xato: uzoq va yaqin sababni almashtirib yuborish; klinik o‘lim bilan biologik o‘limni aralashtirish. Qo‘shimcha (slayddan ko‘chirilgan, manba shu bet): O‘lim muddatini bitta usul bilan aniqlab bo‘lmaydi; vaqt o‘tgan sari aniqlik pasayadi. Sud-tibbiy diagnoz uzoq sabab bilan boshlanadi. Manbadan qo‘shimcha (slaydda sig‘magan): Sud-tibbiy diagnoz uzoq sabab bilan boshlanadi.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№1. Ma’ruza: Sud-tibbiy tanatologiya.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sud-tibbiy tanatologiya. Bu o‘lim haqidagi ta’limotning surishtiruv, tergov va sud ehtiyojlariga xizmat qiladigan qismi.</a:t>
            </a:r>
          </a:p>
          <a:p>
            <a:pPr>
              <a:spcAft>
                <a:spcPts val="1200"/>
              </a:spcAft>
            </a:pPr>
            <a:r>
              <a:rPr sz="2200">
                <a:solidFill>
                  <a:srgbClr val="1F2937"/>
                </a:solidFill>
                <a:latin typeface="Calibri"/>
              </a:rPr>
              <a:t>▸  Reja, 1-qism: o‘lish va terminal holatlar, evtanaziya, o‘lim yuz berganligini aniqlash, o‘limning sud-tibbiy tasnifi, supravital reaksiyalar.</a:t>
            </a:r>
          </a:p>
          <a:p>
            <a:pPr>
              <a:spcAft>
                <a:spcPts val="1200"/>
              </a:spcAft>
            </a:pPr>
            <a:r>
              <a:rPr sz="2200">
                <a:solidFill>
                  <a:srgbClr val="1F2937"/>
                </a:solidFill>
                <a:latin typeface="Calibri"/>
              </a:rPr>
              <a:t>▸  Reja, 2-qism: murda o‘zgarishlari, o‘lim muddatini aniqlash, murda sud-tibbiy ekspertizasi va uni hujjatlashtirish.</a:t>
            </a:r>
          </a:p>
          <a:p>
            <a:pPr>
              <a:spcAft>
                <a:spcPts val="1200"/>
              </a:spcAft>
            </a:pPr>
            <a:r>
              <a:rPr sz="2200">
                <a:solidFill>
                  <a:srgbClr val="1F2937"/>
                </a:solidFill>
                <a:latin typeface="Calibri"/>
              </a:rPr>
              <a:t>▸  Reja, 3-qism: tanatogenez va o‘lim sabablarining raqobati, noma’lum shaxslar va eksgumatsiya qilingan murdalar, autopsiya turlari.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217-222, 222-241, 241-246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tushunchasi va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va o‘lim uzviy bog‘liq. O‘lim hayotning mantiqiy yakuni: o‘limsiz hayot ham, hayotsiz o‘lim ham bo‘lmaydi.</a:t>
            </a:r>
          </a:p>
          <a:p>
            <a:pPr>
              <a:spcAft>
                <a:spcPts val="1200"/>
              </a:spcAft>
            </a:pPr>
            <a:r>
              <a:rPr sz="2200">
                <a:solidFill>
                  <a:srgbClr val="1F2937"/>
                </a:solidFill>
                <a:latin typeface="Calibri"/>
              </a:rPr>
              <a:t>▸  “Tanatologiya” atamasini tibbiyotga I.I.Mechnikov kiritgan. U o‘lim haqidagi ta’limotni anglatadi.</a:t>
            </a:r>
          </a:p>
          <a:p>
            <a:pPr>
              <a:spcAft>
                <a:spcPts val="1200"/>
              </a:spcAft>
            </a:pPr>
            <a:r>
              <a:rPr sz="2200">
                <a:solidFill>
                  <a:srgbClr val="1F2937"/>
                </a:solidFill>
                <a:latin typeface="Calibri"/>
              </a:rPr>
              <a:t>▸  Eslab qoling: thanatos (o‘lim xudosining nomi) + logos (ta’limot) = o‘lim haqidagi ta’limot.</a:t>
            </a:r>
          </a:p>
          <a:p>
            <a:pPr>
              <a:spcAft>
                <a:spcPts val="1200"/>
              </a:spcAft>
            </a:pPr>
            <a:r>
              <a:rPr sz="2200">
                <a:solidFill>
                  <a:srgbClr val="1F2937"/>
                </a:solidFill>
                <a:latin typeface="Calibri"/>
              </a:rPr>
              <a:t>▸  Tanatologiya biologiya fanining tarkibiy qismi. U o‘lish jarayonini, o‘lim faktini, o‘lim sabablarini va murda o‘zgarishlarini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vazifalari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Tanatologiya o‘lish jarayonidagi klinik, morfologik, biokimyoviy o‘zgarishlarni va o‘lim sodir bo‘lganligi faktini aniqlashni o‘rganadi.</a:t>
            </a:r>
          </a:p>
          <a:p>
            <a:pPr>
              <a:spcAft>
                <a:spcPts val="800"/>
              </a:spcAft>
            </a:pPr>
            <a:r>
              <a:rPr sz="1600">
                <a:solidFill>
                  <a:srgbClr val="1F2937"/>
                </a:solidFill>
                <a:latin typeface="Calibri"/>
              </a:rPr>
              <a:t>▸  Yana o‘lim sabablari, o‘limdan keyingi murda o‘zgarishlari, ularga tashqi va ichki omillar ta’siri, murdani dafn etish va konservatsiya qilish o‘rganiladi.</a:t>
            </a:r>
          </a:p>
          <a:p>
            <a:pPr>
              <a:spcAft>
                <a:spcPts val="800"/>
              </a:spcAft>
            </a:pPr>
            <a:r>
              <a:rPr sz="1600">
                <a:solidFill>
                  <a:srgbClr val="1F2937"/>
                </a:solidFill>
                <a:latin typeface="Calibri"/>
              </a:rPr>
              <a:t>▸  Umumiy tanatologiya masalalarning umumiy jihatlarini, xususiy tanatologiya esa ularni o‘limning muayyan turlari nuqtai nazaridan ko‘radi.</a:t>
            </a:r>
          </a:p>
          <a:p>
            <a:pPr>
              <a:spcAft>
                <a:spcPts val="800"/>
              </a:spcAft>
            </a:pPr>
            <a:r>
              <a:rPr sz="1600">
                <a:solidFill>
                  <a:srgbClr val="1F2937"/>
                </a:solidFill>
                <a:latin typeface="Calibri"/>
              </a:rPr>
              <a:t>▸  Diqqat: umumiy ≠ xususiy ≠ sud-tibbiy tanatologiya. Sud-tibbiy turi masalalarni surishtiruv, tergov va sud faoliyatida hal etish uchun o‘rganadi.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Tanatologiya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Umumiy</a:t>
            </a:r>
          </a:p>
          <a:p>
            <a:pPr algn="l">
              <a:spcAft>
                <a:spcPts val="0"/>
              </a:spcAft>
            </a:pPr>
            <a:r>
              <a:rPr sz="1200" b="0">
                <a:solidFill>
                  <a:srgbClr val="1F2937"/>
                </a:solidFill>
                <a:latin typeface="Calibri"/>
              </a:rPr>
              <a:t>Masalalarning umumiy jihatlari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Xususiy</a:t>
            </a:r>
          </a:p>
          <a:p>
            <a:pPr algn="l">
              <a:spcAft>
                <a:spcPts val="0"/>
              </a:spcAft>
            </a:pPr>
            <a:r>
              <a:rPr sz="1200" b="0">
                <a:solidFill>
                  <a:srgbClr val="1F2937"/>
                </a:solidFill>
                <a:latin typeface="Calibri"/>
              </a:rPr>
              <a:t>O‘limning muayyan turlari bo‘yicha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Sud-tibbiy</a:t>
            </a:r>
          </a:p>
          <a:p>
            <a:pPr algn="l">
              <a:spcAft>
                <a:spcPts val="0"/>
              </a:spcAft>
            </a:pPr>
            <a:r>
              <a:rPr sz="1200" b="0">
                <a:solidFill>
                  <a:srgbClr val="1F2937"/>
                </a:solidFill>
                <a:latin typeface="Calibri"/>
              </a:rPr>
              <a:t>Surishtiruv, tergov, sud masalalari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Tanatologiya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O‘lish va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Hayot va o‘lim bog‘liq: o‘lim hayotning mantiqiy yakuni. “Tanatologiya” atamasini tibbiyotga I.I.Mechnikov kiritgan, u o‘lim haqidagi ta’limotni bildiradi.</a:t>
            </a:r>
          </a:p>
          <a:p>
            <a:pPr>
              <a:spcAft>
                <a:spcPts val="800"/>
              </a:spcAft>
            </a:pPr>
            <a:r>
              <a:rPr sz="1600">
                <a:solidFill>
                  <a:srgbClr val="1F2937"/>
                </a:solidFill>
                <a:latin typeface="Calibri"/>
              </a:rPr>
              <a:t>▸  O‘lish bir lahzalik hodisa emas, ma’lum vaqt davom etadigan jarayon. Uni terminal, ya’ni chegara holatlar deb ataydi.</a:t>
            </a:r>
          </a:p>
          <a:p>
            <a:pPr>
              <a:spcAft>
                <a:spcPts val="800"/>
              </a:spcAft>
            </a:pPr>
            <a:r>
              <a:rPr sz="1600">
                <a:solidFill>
                  <a:srgbClr val="1F2937"/>
                </a:solidFill>
                <a:latin typeface="Calibri"/>
              </a:rPr>
              <a:t>▸  Jarayon bosqichlari: preagoniya, terminal pauza, agoniya, klinik o‘lim va oxirgi bosqich — biologik o‘lim.</a:t>
            </a:r>
          </a:p>
          <a:p>
            <a:pPr>
              <a:spcAft>
                <a:spcPts val="800"/>
              </a:spcAft>
            </a:pPr>
            <a:r>
              <a:rPr sz="1600">
                <a:solidFill>
                  <a:srgbClr val="1F2937"/>
                </a:solidFill>
                <a:latin typeface="Calibri"/>
              </a:rPr>
              <a:t>▸  Diqqat: klinik o‘lim ≠ biologik o‘lim. Klinik o‘limda faoliyatni tiklash mumkin, biologik o‘limda (avvalo miyada) o‘zgarishlar tiklanmaydi.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Preagoniya</a:t>
            </a:r>
          </a:p>
          <a:p>
            <a:pPr algn="l">
              <a:spcAft>
                <a:spcPts val="200"/>
              </a:spcAft>
            </a:pPr>
            <a:r>
              <a:rPr sz="1400" b="0">
                <a:solidFill>
                  <a:srgbClr val="1F2937"/>
                </a:solidFill>
                <a:latin typeface="Calibri"/>
              </a:rPr>
              <a:t>Daqiqa–kunlar</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Terminal pauza</a:t>
            </a:r>
          </a:p>
          <a:p>
            <a:pPr algn="l">
              <a:spcAft>
                <a:spcPts val="200"/>
              </a:spcAft>
            </a:pPr>
            <a:r>
              <a:rPr sz="1400" b="0">
                <a:solidFill>
                  <a:srgbClr val="1F2937"/>
                </a:solidFill>
                <a:latin typeface="Calibri"/>
              </a:rPr>
              <a:t>Soniya–3-4 daqiqa</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Agoniya</a:t>
            </a:r>
          </a:p>
          <a:p>
            <a:pPr algn="l">
              <a:spcAft>
                <a:spcPts val="200"/>
              </a:spcAft>
            </a:pPr>
            <a:r>
              <a:rPr sz="1400" b="0">
                <a:solidFill>
                  <a:srgbClr val="1F2937"/>
                </a:solidFill>
                <a:latin typeface="Calibri"/>
              </a:rPr>
              <a:t>Daqiqa–kunlar</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Klinik o‘lim</a:t>
            </a:r>
          </a:p>
          <a:p>
            <a:pPr algn="l">
              <a:spcAft>
                <a:spcPts val="200"/>
              </a:spcAft>
            </a:pPr>
            <a:r>
              <a:rPr sz="1400" b="0">
                <a:solidFill>
                  <a:srgbClr val="1F2937"/>
                </a:solidFill>
                <a:latin typeface="Calibri"/>
              </a:rPr>
              <a:t>Odatda 5-6 daqiqa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Biologik o‘lim</a:t>
            </a:r>
          </a:p>
          <a:p>
            <a:pPr algn="l">
              <a:spcAft>
                <a:spcPts val="200"/>
              </a:spcAft>
            </a:pPr>
            <a:r>
              <a:rPr sz="1400" b="0">
                <a:solidFill>
                  <a:srgbClr val="1F2937"/>
                </a:solidFill>
                <a:latin typeface="Calibri"/>
              </a:rPr>
              <a:t>Qaytmas</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O‘lish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217-218,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Preagoniya va terminal pauza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Preagoniyada markaziy nerv tizimi (MNT) oliy bo‘limlari tormozlanadi, qon aylanishi va nafas keskin buziladi. To‘qimalarda atsidoz va gipoksiya paydo bo‘ladi.</a:t>
            </a:r>
          </a:p>
          <a:p>
            <a:pPr>
              <a:spcAft>
                <a:spcPts val="800"/>
              </a:spcAft>
            </a:pPr>
            <a:r>
              <a:rPr sz="1600">
                <a:solidFill>
                  <a:srgbClr val="1F2937"/>
                </a:solidFill>
                <a:latin typeface="Calibri"/>
              </a:rPr>
              <a:t>▸  Hush xiralashadi yoki yo‘qoladi, arterial bosim tushadi, puls faqat uyqu va son arteriyalarida sezilad.</a:t>
            </a:r>
          </a:p>
          <a:p>
            <a:pPr>
              <a:spcAft>
                <a:spcPts val="800"/>
              </a:spcAft>
            </a:pPr>
            <a:r>
              <a:rPr sz="1600">
                <a:solidFill>
                  <a:srgbClr val="1F2937"/>
                </a:solidFill>
                <a:latin typeface="Calibri"/>
              </a:rPr>
              <a:t>▸  Preagoniya bir necha daqiqadan bir necha kungacha cho‘zilishi mumkin.</a:t>
            </a:r>
          </a:p>
          <a:p>
            <a:pPr>
              <a:spcAft>
                <a:spcPts val="800"/>
              </a:spcAft>
            </a:pPr>
            <a:r>
              <a:rPr sz="1600">
                <a:solidFill>
                  <a:srgbClr val="1F2937"/>
                </a:solidFill>
                <a:latin typeface="Calibri"/>
              </a:rPr>
              <a:t>▸  Terminal pauzada nafas birdan to‘xtaydi, yurak faoliyati keskin buziladi. Qorachiqlar kengayib nurga javob bermaydi, reflekslar so‘nadi.</a:t>
            </a:r>
          </a:p>
          <a:p>
            <a:pPr>
              <a:spcAft>
                <a:spcPts val="800"/>
              </a:spcAft>
            </a:pPr>
            <a:r>
              <a:rPr sz="1600">
                <a:solidFill>
                  <a:srgbClr val="1F2937"/>
                </a:solidFill>
                <a:latin typeface="Calibri"/>
              </a:rPr>
              <a:t>▸  Teri oqaradi, yuz ko‘kimtir tus oladi, hansirash bo‘ladi.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Preagoniya</a:t>
            </a:r>
          </a:p>
          <a:p>
            <a:pPr algn="l">
              <a:spcAft>
                <a:spcPts val="200"/>
              </a:spcAft>
            </a:pPr>
            <a:r>
              <a:rPr sz="1400" b="0">
                <a:solidFill>
                  <a:srgbClr val="1F2937"/>
                </a:solidFill>
                <a:latin typeface="Calibri"/>
              </a:rPr>
              <a:t>MNT tormozlanadi, atsidoz, gipoksiya</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Hush</a:t>
            </a:r>
          </a:p>
          <a:p>
            <a:pPr algn="l">
              <a:spcAft>
                <a:spcPts val="200"/>
              </a:spcAft>
            </a:pPr>
            <a:r>
              <a:rPr sz="1400" b="0">
                <a:solidFill>
                  <a:srgbClr val="1F2937"/>
                </a:solidFill>
                <a:latin typeface="Calibri"/>
              </a:rPr>
              <a:t>Xiralashadi yoki yo‘qoladi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Terminal pauza</a:t>
            </a:r>
          </a:p>
          <a:p>
            <a:pPr algn="l">
              <a:spcAft>
                <a:spcPts val="200"/>
              </a:spcAft>
            </a:pPr>
            <a:r>
              <a:rPr sz="1400" b="0">
                <a:solidFill>
                  <a:srgbClr val="1F2937"/>
                </a:solidFill>
                <a:latin typeface="Calibri"/>
              </a:rPr>
              <a:t>Nafas to‘xtaydi, qorachiq kengayadi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Davomiyligi</a:t>
            </a:r>
          </a:p>
          <a:p>
            <a:pPr algn="l">
              <a:spcAft>
                <a:spcPts val="200"/>
              </a:spcAft>
            </a:pPr>
            <a:r>
              <a:rPr sz="1400" b="0">
                <a:solidFill>
                  <a:srgbClr val="1F2937"/>
                </a:solidFill>
                <a:latin typeface="Calibri"/>
              </a:rPr>
              <a:t>Soniyadan 3-4 daqiqagacha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Preagoniya va terminal pauza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Agoniya va facies hippocratica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Agoniya bir necha daqiqadan bir necha kungacha davom etadi.</a:t>
            </a:r>
          </a:p>
          <a:p>
            <a:pPr>
              <a:spcAft>
                <a:spcPts val="800"/>
              </a:spcAft>
            </a:pPr>
            <a:r>
              <a:rPr sz="1600">
                <a:solidFill>
                  <a:srgbClr val="1F2937"/>
                </a:solidFill>
                <a:latin typeface="Calibri"/>
              </a:rPr>
              <a:t>▸  Nafas tiklanadi, arterial bosim biroz, ba’zan subnormal ko‘rsatkichgacha ko‘tariladi, puls yana aniqlanadi.</a:t>
            </a:r>
          </a:p>
          <a:p>
            <a:pPr>
              <a:spcAft>
                <a:spcPts val="800"/>
              </a:spcAft>
            </a:pPr>
            <a:r>
              <a:rPr sz="1600">
                <a:solidFill>
                  <a:srgbClr val="1F2937"/>
                </a:solidFill>
                <a:latin typeface="Calibri"/>
              </a:rPr>
              <a:t>▸  Bosqich oxirida avval nafas, so‘ng yurak urishi to‘xtaydi. Shundan keyin klinik o‘lim boshlanadi.</a:t>
            </a:r>
          </a:p>
          <a:p>
            <a:pPr>
              <a:spcAft>
                <a:spcPts val="800"/>
              </a:spcAft>
            </a:pPr>
            <a:r>
              <a:rPr sz="1600">
                <a:solidFill>
                  <a:srgbClr val="1F2937"/>
                </a:solidFill>
                <a:latin typeface="Calibri"/>
              </a:rPr>
              <a:t>▸  O‘layotgan odam yuzi o‘ziga xos o‘zgaradi (facies hippocratica): tuproqsimon oqaradi, ko‘z olmalari chuqurlashadi, pastki jag‘ osilib og‘iz ochilib qoladi.</a:t>
            </a:r>
          </a:p>
          <a:p>
            <a:pPr>
              <a:spcAft>
                <a:spcPts val="800"/>
              </a:spcAft>
            </a:pPr>
            <a:r>
              <a:rPr sz="1600">
                <a:solidFill>
                  <a:srgbClr val="1F2937"/>
                </a:solidFill>
                <a:latin typeface="Calibri"/>
              </a:rPr>
              <a:t>▸  Bosh miya oliy markazlari tormozlanib nazorat yo‘qoladi, ularning vazifasini miyaning pastda joylashgan nomukammal markazlari 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Agoniya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Mexanizm</a:t>
            </a:r>
          </a:p>
          <a:p>
            <a:pPr algn="l">
              <a:spcAft>
                <a:spcPts val="0"/>
              </a:spcAft>
            </a:pPr>
            <a:r>
              <a:rPr sz="1200" b="0">
                <a:solidFill>
                  <a:srgbClr val="1F2937"/>
                </a:solidFill>
                <a:latin typeface="Calibri"/>
              </a:rPr>
              <a:t>Oliy markazlar tormozlanadi  ·  Past markazlar vazifani oladi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Belgilar</a:t>
            </a:r>
          </a:p>
          <a:p>
            <a:pPr algn="l">
              <a:spcAft>
                <a:spcPts val="0"/>
              </a:spcAft>
            </a:pPr>
            <a:r>
              <a:rPr sz="1200" b="0">
                <a:solidFill>
                  <a:srgbClr val="1F2937"/>
                </a:solidFill>
                <a:latin typeface="Calibri"/>
              </a:rPr>
              <a:t>Nafas tiklanadi  ·  Bosim ko‘tariladi, puls paydo bo‘ladi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Yakun</a:t>
            </a:r>
          </a:p>
          <a:p>
            <a:pPr algn="l">
              <a:spcAft>
                <a:spcPts val="0"/>
              </a:spcAft>
            </a:pPr>
            <a:r>
              <a:rPr sz="1200" b="0">
                <a:solidFill>
                  <a:srgbClr val="1F2937"/>
                </a:solidFill>
                <a:latin typeface="Calibri"/>
              </a:rPr>
              <a:t>Avval nafas, so‘ng yurak to‘xtaydi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Facies hippocratica</a:t>
            </a:r>
          </a:p>
          <a:p>
            <a:pPr algn="l">
              <a:spcAft>
                <a:spcPts val="0"/>
              </a:spcAft>
            </a:pPr>
            <a:r>
              <a:rPr sz="1200" b="0">
                <a:solidFill>
                  <a:srgbClr val="1F2937"/>
                </a:solidFill>
                <a:latin typeface="Calibri"/>
              </a:rPr>
              <a:t>Tuproqsimon rang, ko‘z chuqurlashadi  ·  Pastki jag‘ osiladi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Agoniya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217-218,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va biologik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Klinik o‘lim yurak urishi to‘xtagach boshlanadi. Bosh miya chuqur buzilgan bo‘lsa ham, uning faoliyatini tiklash imkoniyati saqlanadi.</a:t>
            </a:r>
          </a:p>
          <a:p>
            <a:pPr>
              <a:spcAft>
                <a:spcPts val="800"/>
              </a:spcAft>
            </a:pPr>
            <a:r>
              <a:rPr sz="1600">
                <a:solidFill>
                  <a:srgbClr val="1F2937"/>
                </a:solidFill>
                <a:latin typeface="Calibri"/>
              </a:rPr>
              <a:t>▸  Odatdagi sharoitda klinik o‘lim 5-6 daqiqa davom etadi: shundan so‘ng bosh miya po‘stlog‘ida qaytmas o‘zgarishlar rivojlanadi.</a:t>
            </a:r>
          </a:p>
          <a:p>
            <a:pPr>
              <a:spcAft>
                <a:spcPts val="800"/>
              </a:spcAft>
            </a:pPr>
            <a:r>
              <a:rPr sz="1600">
                <a:solidFill>
                  <a:srgbClr val="1F2937"/>
                </a:solidFill>
                <a:latin typeface="Calibri"/>
              </a:rPr>
              <a:t>▸  Muddat kasallik yoki jarohat xususiyatiga, yoshga va salomatlikka bog‘liq. Hayotga qaytarish imkoniyati reanimatologiya fanining paydo bo‘lishiga asos bo‘ldi.</a:t>
            </a:r>
          </a:p>
          <a:p>
            <a:pPr>
              <a:spcAft>
                <a:spcPts val="800"/>
              </a:spcAft>
            </a:pPr>
            <a:r>
              <a:rPr sz="1600">
                <a:solidFill>
                  <a:srgbClr val="1F2937"/>
                </a:solidFill>
                <a:latin typeface="Calibri"/>
              </a:rPr>
              <a:t>▸  Diqqat: klinik o‘lim ≠ biologik o‘lim.</a:t>
            </a:r>
          </a:p>
          <a:p>
            <a:pPr>
              <a:spcAft>
                <a:spcPts val="800"/>
              </a:spcAft>
            </a:pPr>
            <a:r>
              <a:rPr sz="1600">
                <a:solidFill>
                  <a:srgbClr val="1F2937"/>
                </a:solidFill>
                <a:latin typeface="Calibri"/>
              </a:rPr>
              <a:t>▸  Past haroratda 30 daqiqagacha cho‘ziladi.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Klinik o‘lim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Yurak urishi to‘xtagach boshlanadi</a:t>
            </a:r>
          </a:p>
          <a:p>
            <a:pPr algn="l">
              <a:spcAft>
                <a:spcPts val="700"/>
              </a:spcAft>
            </a:pPr>
            <a:r>
              <a:rPr sz="1500" b="1">
                <a:solidFill>
                  <a:srgbClr val="C9A227"/>
                </a:solidFill>
                <a:latin typeface="Calibri"/>
              </a:rPr>
              <a:t>●  </a:t>
            </a:r>
            <a:r>
              <a:rPr sz="1500" b="0">
                <a:solidFill>
                  <a:srgbClr val="1F2937"/>
                </a:solidFill>
                <a:latin typeface="Calibri"/>
              </a:rPr>
              <a:t>5-6 daqiqa; sovuqda 30 daqiqagacha</a:t>
            </a:r>
          </a:p>
          <a:p>
            <a:pPr algn="l">
              <a:spcAft>
                <a:spcPts val="700"/>
              </a:spcAft>
            </a:pPr>
            <a:r>
              <a:rPr sz="1500" b="1">
                <a:solidFill>
                  <a:srgbClr val="C9A227"/>
                </a:solidFill>
                <a:latin typeface="Calibri"/>
              </a:rPr>
              <a:t>●  </a:t>
            </a:r>
            <a:r>
              <a:rPr sz="1500" b="0">
                <a:solidFill>
                  <a:srgbClr val="1F2937"/>
                </a:solidFill>
                <a:latin typeface="Calibri"/>
              </a:rPr>
              <a:t>Faoliyatni tiklash mumkin</a:t>
            </a:r>
          </a:p>
          <a:p>
            <a:pPr algn="l">
              <a:spcAft>
                <a:spcPts val="700"/>
              </a:spcAft>
            </a:pPr>
            <a:r>
              <a:rPr sz="1500" b="1">
                <a:solidFill>
                  <a:srgbClr val="C9A227"/>
                </a:solidFill>
                <a:latin typeface="Calibri"/>
              </a:rPr>
              <a:t>●  </a:t>
            </a:r>
            <a:r>
              <a:rPr sz="1500" b="0">
                <a:solidFill>
                  <a:srgbClr val="1F2937"/>
                </a:solidFill>
                <a:latin typeface="Calibri"/>
              </a:rPr>
              <a:t>Reanimatologiyaga asos</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Biologik o‘lim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Bosh miyada qaytmas o‘zgarishlar</a:t>
            </a:r>
          </a:p>
          <a:p>
            <a:pPr algn="l">
              <a:spcAft>
                <a:spcPts val="700"/>
              </a:spcAft>
            </a:pPr>
            <a:r>
              <a:rPr sz="1500" b="1">
                <a:solidFill>
                  <a:srgbClr val="C9A227"/>
                </a:solidFill>
                <a:latin typeface="Calibri"/>
              </a:rPr>
              <a:t>●  </a:t>
            </a:r>
            <a:r>
              <a:rPr sz="1500" b="0">
                <a:solidFill>
                  <a:srgbClr val="1F2937"/>
                </a:solidFill>
                <a:latin typeface="Calibri"/>
              </a:rPr>
              <a:t>So‘nggi bosqich</a:t>
            </a:r>
          </a:p>
          <a:p>
            <a:pPr algn="l">
              <a:spcAft>
                <a:spcPts val="700"/>
              </a:spcAft>
            </a:pPr>
            <a:r>
              <a:rPr sz="1500" b="1">
                <a:solidFill>
                  <a:srgbClr val="C9A227"/>
                </a:solidFill>
                <a:latin typeface="Calibri"/>
              </a:rPr>
              <a:t>●  </a:t>
            </a:r>
            <a:r>
              <a:rPr sz="1500" b="0">
                <a:solidFill>
                  <a:srgbClr val="1F2937"/>
                </a:solidFill>
                <a:latin typeface="Calibri"/>
              </a:rPr>
              <a:t>Faoliyatni tiklash mumkin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Klinik va biologik o‘lim</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 va sekin o‘lim; agoniya tiplari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O‘lim jadalligi bo‘yicha tez va sekin turlarga bo‘linadi. Tez o‘lim elektrotravma, mexanik asfiksiya, anafilaktik shokda; sekin o‘lim kasalliklar bilan bog‘liq.</a:t>
            </a:r>
          </a:p>
          <a:p>
            <a:pPr>
              <a:spcAft>
                <a:spcPts val="800"/>
              </a:spcAft>
            </a:pPr>
            <a:r>
              <a:rPr sz="1600">
                <a:solidFill>
                  <a:srgbClr val="1F2937"/>
                </a:solidFill>
                <a:latin typeface="Calibri"/>
              </a:rPr>
              <a:t>▸  Lawes va Berg (1965) agoniyani davomiyligi bo‘yicha to‘rt tipga ajratadi. Agoniyasiz o‘lim bir zumda yuz beradi, masalan tana parchalanganda.</a:t>
            </a:r>
          </a:p>
          <a:p>
            <a:pPr>
              <a:spcAft>
                <a:spcPts val="800"/>
              </a:spcAft>
            </a:pPr>
            <a:r>
              <a:rPr sz="1600">
                <a:solidFill>
                  <a:srgbClr val="1F2937"/>
                </a:solidFill>
                <a:latin typeface="Calibri"/>
              </a:rPr>
              <a:t>▸  Qisqa agoniya 4-5 daqiqa davom etadi (mexanik asfiksiya, elektrotravma). Uzoq agoniya soatlar, kunlar davom etib, kasallik yoki shikastlanishda uchraydi.</a:t>
            </a:r>
          </a:p>
          <a:p>
            <a:pPr>
              <a:spcAft>
                <a:spcPts val="800"/>
              </a:spcAft>
            </a:pPr>
            <a:r>
              <a:rPr sz="1600">
                <a:solidFill>
                  <a:srgbClr val="1F2937"/>
                </a:solidFill>
                <a:latin typeface="Calibri"/>
              </a:rPr>
              <a:t>▸  Sun’iy uzaytirilgan agoniyada tegishli tibbiy muolajalar yordamida holatni bir necha hafta, oy, hatto yillarga cho‘zish mumkin.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Agoniyasiz</a:t>
            </a:r>
          </a:p>
          <a:p>
            <a:pPr algn="l">
              <a:spcAft>
                <a:spcPts val="200"/>
              </a:spcAft>
            </a:pPr>
            <a:r>
              <a:rPr sz="1400" b="0">
                <a:solidFill>
                  <a:srgbClr val="1F2937"/>
                </a:solidFill>
                <a:latin typeface="Calibri"/>
              </a:rPr>
              <a:t>Bir zumda; tana parchalanishi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Qisqa</a:t>
            </a:r>
          </a:p>
          <a:p>
            <a:pPr algn="l">
              <a:spcAft>
                <a:spcPts val="200"/>
              </a:spcAft>
            </a:pPr>
            <a:r>
              <a:rPr sz="1400" b="0">
                <a:solidFill>
                  <a:srgbClr val="1F2937"/>
                </a:solidFill>
                <a:latin typeface="Calibri"/>
              </a:rPr>
              <a:t>4-5 daqiqa; asfiksiya, elektrotravma</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Uzoq</a:t>
            </a:r>
          </a:p>
          <a:p>
            <a:pPr algn="l">
              <a:spcAft>
                <a:spcPts val="200"/>
              </a:spcAft>
            </a:pPr>
            <a:r>
              <a:rPr sz="1400" b="0">
                <a:solidFill>
                  <a:srgbClr val="1F2937"/>
                </a:solidFill>
                <a:latin typeface="Calibri"/>
              </a:rPr>
              <a:t>Soatlar, kunlar; kasallik</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Sun’iy uzaytirilgan</a:t>
            </a:r>
          </a:p>
          <a:p>
            <a:pPr algn="l">
              <a:spcAft>
                <a:spcPts val="200"/>
              </a:spcAft>
            </a:pPr>
            <a:r>
              <a:rPr sz="1400" b="0">
                <a:solidFill>
                  <a:srgbClr val="1F2937"/>
                </a:solidFill>
                <a:latin typeface="Calibri"/>
              </a:rPr>
              <a:t>Hafta, oy, yillar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Agoniyaning to‘rt tipi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bemorda nafas to‘satdan to‘xtadi, qorachiqlar kengayib nurga javob bermadi, reflekslar so‘ndi.</a:t>
            </a:r>
          </a:p>
          <a:p>
            <a:pPr>
              <a:spcAft>
                <a:spcPts val="1200"/>
              </a:spcAft>
            </a:pPr>
            <a:r>
              <a:rPr sz="2000">
                <a:solidFill>
                  <a:srgbClr val="1F2937"/>
                </a:solidFill>
                <a:latin typeface="Calibri"/>
              </a:rPr>
              <a:t>▸  Nafasning to‘satdan to‘xtashi terminal pauzaga mos keladi, u bir necha soniyadan 3-4 daqiqagacha davom etadi.</a:t>
            </a:r>
          </a:p>
          <a:p>
            <a:pPr>
              <a:spcAft>
                <a:spcPts val="1200"/>
              </a:spcAft>
            </a:pPr>
            <a:r>
              <a:rPr sz="2000">
                <a:solidFill>
                  <a:srgbClr val="1F2937"/>
                </a:solidFill>
                <a:latin typeface="Calibri"/>
              </a:rPr>
              <a:t>▸  Agoniyada oliy markazlar tormozlangani uchun ularning vazifasini miyaning past markazlari oladi. Bosqich oxirida avval nafas, so‘ng yurak urishi to‘xtaydi.</a:t>
            </a:r>
          </a:p>
          <a:p>
            <a:pPr>
              <a:spcAft>
                <a:spcPts val="1200"/>
              </a:spcAft>
            </a:pPr>
            <a:r>
              <a:rPr sz="2000">
                <a:solidFill>
                  <a:srgbClr val="1F2937"/>
                </a:solidFill>
                <a:latin typeface="Calibri"/>
              </a:rPr>
              <a:t>▸  Savol: bu bemorda klinik o‘lim boshlanganmi? Yo‘q: klinik o‘lim faqat yurak urishi to‘xtagandan keyin boshlanadi, bu bemorda esa puls aniqlanmoqda.</a:t>
            </a:r>
          </a:p>
          <a:p>
            <a:pPr>
              <a:spcAft>
                <a:spcPts val="1200"/>
              </a:spcAft>
            </a:pPr>
            <a:r>
              <a:rPr sz="2000">
                <a:solidFill>
                  <a:srgbClr val="1F2937"/>
                </a:solidFill>
                <a:latin typeface="Calibri"/>
              </a:rPr>
              <a:t>▸  Bir necha soniyadan keyin nafas tiklandi, puls aniqlana boshladi: nafas va pulsning tiklanishi agoniya belgisidir.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tushuncha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Evtanaziya atamasini XVI asrda ingliz faylasufi F.Bekon kiritgan. Grekcha eu — yaxshi, thanatos — o‘lim, ya’ni «yaxshi o‘lim».</a:t>
            </a:r>
          </a:p>
          <a:p>
            <a:pPr>
              <a:spcAft>
                <a:spcPts val="800"/>
              </a:spcAft>
            </a:pPr>
            <a:r>
              <a:rPr sz="1600">
                <a:solidFill>
                  <a:srgbClr val="1F2937"/>
                </a:solidFill>
                <a:latin typeface="Calibri"/>
              </a:rPr>
              <a:t>▸  Evtanaziyaning tub ma’nosi — o‘limga mahkum bemorlarning azob-uqubatlarini yengillashtirish. Darslikda uning to‘rt turi farqlanadi.</a:t>
            </a:r>
          </a:p>
          <a:p>
            <a:pPr>
              <a:spcAft>
                <a:spcPts val="800"/>
              </a:spcAft>
            </a:pPr>
            <a:r>
              <a:rPr sz="1600">
                <a:solidFill>
                  <a:srgbClr val="1F2937"/>
                </a:solidFill>
                <a:latin typeface="Calibri"/>
              </a:rPr>
              <a:t>▸  Aktiv evtanaziya — ma’lum harakat orqali o‘limni tezlashtirish.</a:t>
            </a:r>
          </a:p>
          <a:p>
            <a:pPr>
              <a:spcAft>
                <a:spcPts val="800"/>
              </a:spcAft>
            </a:pPr>
            <a:r>
              <a:rPr sz="1600">
                <a:solidFill>
                  <a:srgbClr val="1F2937"/>
                </a:solidFill>
                <a:latin typeface="Calibri"/>
              </a:rPr>
              <a:t>▸  Bilvosita aktiv evtanaziyada bunday maqsad yo‘q.</a:t>
            </a:r>
          </a:p>
          <a:p>
            <a:pPr>
              <a:spcAft>
                <a:spcPts val="800"/>
              </a:spcAft>
            </a:pPr>
            <a:r>
              <a:rPr sz="1600">
                <a:solidFill>
                  <a:srgbClr val="1F2937"/>
                </a:solidFill>
                <a:latin typeface="Calibri"/>
              </a:rPr>
              <a:t>▸  Masalan, og‘riqni kamaytirish uchun og‘riqqoldiruvchi katta dozada yuboriladi; o‘lim ehtiyotsizlik yoki baxtsiz hodisa deb baholanadi.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Bevosita aktiv</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O‘limni tezlashtirish maqsadida harakat</a:t>
            </a:r>
          </a:p>
          <a:p>
            <a:pPr algn="l">
              <a:spcAft>
                <a:spcPts val="700"/>
              </a:spcAft>
            </a:pPr>
            <a:r>
              <a:rPr sz="1500" b="1">
                <a:solidFill>
                  <a:srgbClr val="C9A227"/>
                </a:solidFill>
                <a:latin typeface="Calibri"/>
              </a:rPr>
              <a:t>●  </a:t>
            </a:r>
            <a:r>
              <a:rPr sz="1500" b="0">
                <a:solidFill>
                  <a:srgbClr val="1F2937"/>
                </a:solidFill>
                <a:latin typeface="Calibri"/>
              </a:rPr>
              <a:t>Qotillik yoki o‘z-o‘zini o‘ldirish</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Bilvosita aktiv</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yo‘q (katta doza og‘riqqoldiruvchi)</a:t>
            </a:r>
          </a:p>
          <a:p>
            <a:pPr algn="l">
              <a:spcAft>
                <a:spcPts val="700"/>
              </a:spcAft>
            </a:pPr>
            <a:r>
              <a:rPr sz="1500" b="1">
                <a:solidFill>
                  <a:srgbClr val="C9A227"/>
                </a:solidFill>
                <a:latin typeface="Calibri"/>
              </a:rPr>
              <a:t>●  </a:t>
            </a:r>
            <a:r>
              <a:rPr sz="1500" b="0">
                <a:solidFill>
                  <a:srgbClr val="1F2937"/>
                </a:solidFill>
                <a:latin typeface="Calibri"/>
              </a:rPr>
              <a:t>Ehtiyotsizlik yoki baxtsiz hodisa</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Passiv (ortotanaziya)</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yordamni cheklash, to‘xtatish</a:t>
            </a:r>
          </a:p>
          <a:p>
            <a:pPr algn="l">
              <a:spcAft>
                <a:spcPts val="700"/>
              </a:spcAft>
            </a:pPr>
            <a:r>
              <a:rPr sz="1500" b="1">
                <a:solidFill>
                  <a:srgbClr val="C9A227"/>
                </a:solidFill>
                <a:latin typeface="Calibri"/>
              </a:rPr>
              <a:t>●  </a:t>
            </a:r>
            <a:r>
              <a:rPr sz="1500" b="0">
                <a:solidFill>
                  <a:srgbClr val="1F2937"/>
                </a:solidFill>
                <a:latin typeface="Calibri"/>
              </a:rPr>
              <a:t>Vazifani bajarmaslik, xavf ostida qoldirish</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Evtanaziya turlari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218-219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Medikotanaziya, distanaziya va huquqiy baho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Medikotanaziya — turli dori-darmonlar yordamida o‘limga mahkum bemorlarning azobini yengillashtirib, hayot sifatini imkon qadar yaxshilash.</a:t>
            </a:r>
          </a:p>
          <a:p>
            <a:pPr>
              <a:spcAft>
                <a:spcPts val="1200"/>
              </a:spcAft>
            </a:pPr>
            <a:r>
              <a:rPr sz="2200">
                <a:solidFill>
                  <a:srgbClr val="1F2937"/>
                </a:solidFill>
                <a:latin typeface="Calibri"/>
              </a:rPr>
              <a:t>▸  Distanaziya — azobni yengillashtirgan holda bunday bemorlarning hayotini nafaqat palliativ, balki radikal muolajalar bilan ham maksimal uzaytirish.</a:t>
            </a:r>
          </a:p>
          <a:p>
            <a:pPr>
              <a:spcAft>
                <a:spcPts val="1200"/>
              </a:spcAft>
            </a:pPr>
            <a:r>
              <a:rPr sz="2200">
                <a:solidFill>
                  <a:srgbClr val="1F2937"/>
                </a:solidFill>
                <a:latin typeface="Calibri"/>
              </a:rPr>
              <a:t>▸  Aksariyat mualliflar evtanaziyani tor ma’noda tushunadi: unga faqat aktiv va passiv evtanaziya kiradi, ya’ni o‘limni aktiv yoki passiv yo‘l bilan tezlashtirish.</a:t>
            </a:r>
          </a:p>
          <a:p>
            <a:pPr>
              <a:spcAft>
                <a:spcPts val="1200"/>
              </a:spcAft>
            </a:pPr>
            <a:r>
              <a:rPr sz="2200">
                <a:solidFill>
                  <a:srgbClr val="1F2937"/>
                </a:solidFill>
                <a:latin typeface="Calibri"/>
              </a:rPr>
              <a:t>▸  Diqqat: passiv evtanaziya ≠ medikotanaziya.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bosqichlar va evtanaziya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terminal holat bosqichlari qaysilar? Javob: preagoniya, terminal pauza, agoniya, klinik o‘lim va biologik o‘lim.</a:t>
            </a:r>
          </a:p>
          <a:p>
            <a:pPr>
              <a:spcAft>
                <a:spcPts val="1200"/>
              </a:spcAft>
            </a:pPr>
            <a:r>
              <a:rPr sz="2200">
                <a:solidFill>
                  <a:srgbClr val="1F2937"/>
                </a:solidFill>
                <a:latin typeface="Calibri"/>
              </a:rPr>
              <a:t>▸  2-savol: klinik o‘lim odatdagi sharoitda qancha davom etadi? Javob: 5-6 daqiqagacha; past haroratda 30 daqiqagacha cho‘zilishi mumkin.</a:t>
            </a:r>
          </a:p>
          <a:p>
            <a:pPr>
              <a:spcAft>
                <a:spcPts val="1200"/>
              </a:spcAft>
            </a:pPr>
            <a:r>
              <a:rPr sz="2200">
                <a:solidFill>
                  <a:srgbClr val="1F2937"/>
                </a:solidFill>
                <a:latin typeface="Calibri"/>
              </a:rPr>
              <a:t>▸  3-savol: terminal pauzada nimalar kuzatiladi? Javob: nafas to‘xtaydi, yurak faoliyati buziladi, qorachiq kengayadi; soniyadan 3-4 daqiqagacha.</a:t>
            </a:r>
          </a:p>
          <a:p>
            <a:pPr>
              <a:spcAft>
                <a:spcPts val="1200"/>
              </a:spcAft>
            </a:pPr>
            <a:r>
              <a:rPr sz="2200">
                <a:solidFill>
                  <a:srgbClr val="1F2937"/>
                </a:solidFill>
                <a:latin typeface="Calibri"/>
              </a:rPr>
              <a:t>▸  4-savol: evtanaziya atamasini kim kiritgan va nimani anglatadi? Javob: F.Bekon (XVI asr); «yaxshi o‘lim», maqsad azobni yengillashtirish.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217-218, 218, 217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yuz berganini aniqlash: miya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A’zo va to‘qimalarning filogenetik (evolyutsion) yoshi turlicha. Shu sababli ularda tiklab bo‘lmaydigan o‘zgarishlar bir vaqtda yuz bermaydi.</a:t>
            </a:r>
          </a:p>
          <a:p>
            <a:pPr>
              <a:spcAft>
                <a:spcPts val="800"/>
              </a:spcAft>
            </a:pPr>
            <a:r>
              <a:rPr sz="1800">
                <a:solidFill>
                  <a:srgbClr val="1F2937"/>
                </a:solidFill>
                <a:latin typeface="Calibri"/>
              </a:rPr>
              <a:t>▸  Filogenetik yoshroq to‘qimalar ta’sirga sezgir bo‘ladi.</a:t>
            </a:r>
          </a:p>
          <a:p>
            <a:pPr>
              <a:spcAft>
                <a:spcPts val="800"/>
              </a:spcAft>
            </a:pPr>
            <a:r>
              <a:rPr sz="1800">
                <a:solidFill>
                  <a:srgbClr val="1F2937"/>
                </a:solidFill>
                <a:latin typeface="Calibri"/>
              </a:rPr>
              <a:t>▸  Bosh miya po‘stlog‘ining o‘limi biologik o‘limning boshlanishi hisoblanadi va “miya o‘limi” deyiladi. W. Durwald (1981) uni “individual o‘lim” deb atagan.</a:t>
            </a:r>
          </a:p>
          <a:p>
            <a:pPr>
              <a:spcAft>
                <a:spcPts val="800"/>
              </a:spcAft>
            </a:pPr>
            <a:r>
              <a:rPr sz="1800">
                <a:solidFill>
                  <a:srgbClr val="1F2937"/>
                </a:solidFill>
                <a:latin typeface="Calibri"/>
              </a:rPr>
              <a:t>▸  Po‘stloq o‘limi bilan boshqa a’zo va to‘qimalar o‘limi orasidagi oraliq davr taxminan 20 soat.</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Po‘stloq–a’zo oralig‘i</a:t>
            </a:r>
          </a:p>
          <a:p>
            <a:pPr algn="l">
              <a:spcAft>
                <a:spcPts val="100"/>
              </a:spcAft>
            </a:pPr>
            <a:r>
              <a:rPr sz="2900" b="1">
                <a:solidFill>
                  <a:srgbClr val="0B1F3A"/>
                </a:solidFill>
                <a:latin typeface="Calibri"/>
              </a:rPr>
              <a:t>~20</a:t>
            </a:r>
            <a:r>
              <a:rPr sz="1400" b="0">
                <a:solidFill>
                  <a:srgbClr val="6B7280"/>
                </a:solidFill>
                <a:latin typeface="Calibri"/>
              </a:rPr>
              <a:t>  soat</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Yosh to‘qima</a:t>
            </a:r>
          </a:p>
          <a:p>
            <a:pPr algn="l">
              <a:spcAft>
                <a:spcPts val="100"/>
              </a:spcAft>
            </a:pPr>
            <a:r>
              <a:rPr sz="3000" b="1">
                <a:solidFill>
                  <a:srgbClr val="0B1F3A"/>
                </a:solidFill>
                <a:latin typeface="Calibri"/>
              </a:rPr>
              <a:t>sezgir</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Individual o‘lim</a:t>
            </a:r>
          </a:p>
          <a:p>
            <a:pPr algn="l">
              <a:spcAft>
                <a:spcPts val="100"/>
              </a:spcAft>
            </a:pPr>
            <a:r>
              <a:rPr sz="2300" b="1">
                <a:solidFill>
                  <a:srgbClr val="0B1F3A"/>
                </a:solidFill>
                <a:latin typeface="Calibri"/>
              </a:rPr>
              <a:t>W. Durwald, 1981</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Miya o‘limi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219, 219-220, 220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va transplantatsiya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shaxs o‘limi (po‘stloq o‘limi) ≠ barcha a’zolarning o‘limi. Organizm bir butunligini yo‘qotadi, hayot faoliyati vegetativ holatda davom etadi.</a:t>
            </a:r>
          </a:p>
          <a:p>
            <a:pPr>
              <a:spcAft>
                <a:spcPts val="1200"/>
              </a:spcAft>
            </a:pPr>
            <a:r>
              <a:rPr sz="2000">
                <a:solidFill>
                  <a:srgbClr val="1F2937"/>
                </a:solidFill>
                <a:latin typeface="Calibri"/>
              </a:rPr>
              <a:t>▸  Aksariyat mamlakatlarda bosh miyaning tiklanmas o‘limi insonning biologik o‘limi hisoblanadi.</a:t>
            </a:r>
          </a:p>
          <a:p>
            <a:pPr>
              <a:spcAft>
                <a:spcPts val="1200"/>
              </a:spcAft>
            </a:pPr>
            <a:r>
              <a:rPr sz="2000">
                <a:solidFill>
                  <a:srgbClr val="1F2937"/>
                </a:solidFill>
                <a:latin typeface="Calibri"/>
              </a:rPr>
              <a:t>▸  Biologik o‘limdan so‘ng a’zo va to‘qimalar qanchalik erta olinsa, ko‘chirib o‘tkazish (transplantatsiya) natijasi shunchalik samarali bo‘ladi.</a:t>
            </a:r>
          </a:p>
          <a:p>
            <a:pPr>
              <a:spcAft>
                <a:spcPts val="1200"/>
              </a:spcAft>
            </a:pPr>
            <a:r>
              <a:rPr sz="2000">
                <a:solidFill>
                  <a:srgbClr val="1F2937"/>
                </a:solidFill>
                <a:latin typeface="Calibri"/>
              </a:rPr>
              <a:t>▸  Miya o‘limini aniqlash tartibini Sog‘liqni saqlash vazirligi ishlab chiqadi. Davolash muassasalarida uni reanimatolog va nevrologlar aniqlaydi.</a:t>
            </a:r>
          </a:p>
          <a:p>
            <a:pPr>
              <a:spcAft>
                <a:spcPts val="1200"/>
              </a:spcAft>
            </a:pPr>
            <a:r>
              <a:rPr sz="2000">
                <a:solidFill>
                  <a:srgbClr val="1F2937"/>
                </a:solidFill>
                <a:latin typeface="Calibri"/>
              </a:rPr>
              <a:t>▸  Qonunga ko‘ra reanimatsiyani to‘xtatish va murdadan a’zo olishga ruxsat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dastlabki, ehtimoliy va ishonchli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Dastlabki belgilar darhol seziladi, lekin ehtimoliy: harakatsizlik, teri oqarishi, hush, nafas va yurak urishining yo‘qligi, biroz sovush.</a:t>
            </a:r>
          </a:p>
          <a:p>
            <a:pPr>
              <a:spcAft>
                <a:spcPts val="800"/>
              </a:spcAft>
            </a:pPr>
            <a:r>
              <a:rPr sz="1600">
                <a:solidFill>
                  <a:srgbClr val="1F2937"/>
                </a:solidFill>
                <a:latin typeface="Calibri"/>
              </a:rPr>
              <a:t>▸  Ishonchli belgilar biroz muddatdan so‘ng paydo bo‘ladi. Eng erta belgi – Beloglazov simptomi (“mushuk ko‘zi”), u 15-20 daqiqadan so‘ng aniqlanadi.</a:t>
            </a:r>
          </a:p>
          <a:p>
            <a:pPr>
              <a:spcAft>
                <a:spcPts val="800"/>
              </a:spcAft>
            </a:pPr>
            <a:r>
              <a:rPr sz="1600">
                <a:solidFill>
                  <a:srgbClr val="1F2937"/>
                </a:solidFill>
                <a:latin typeface="Calibri"/>
              </a:rPr>
              <a:t>▸  Ko‘z olmasi yon tomonlardan siqilganda qorachiq ovalsimon bo‘ladi. 1,5-2,0 soatdan so‘ng qorachiq mushaklari qotgani uchun simptom aniqlanmasligi mumkin.</a:t>
            </a:r>
          </a:p>
          <a:p>
            <a:pPr>
              <a:spcAft>
                <a:spcPts val="800"/>
              </a:spcAft>
            </a:pPr>
            <a:r>
              <a:rPr sz="1600">
                <a:solidFill>
                  <a:srgbClr val="1F2937"/>
                </a:solidFill>
                <a:latin typeface="Calibri"/>
              </a:rPr>
              <a:t>▸  Tana haroratining 23°S va undan pastga tushishi ham ishonchli belgi. Murda dog‘lari, murdaning qotishi va qurishi ham ilk murda o‘zgarishlari qatoriga kiradi.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O‘lim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Dastlabki (ehtimoliy)</a:t>
            </a:r>
          </a:p>
          <a:p>
            <a:pPr algn="l">
              <a:spcAft>
                <a:spcPts val="0"/>
              </a:spcAft>
            </a:pPr>
            <a:r>
              <a:rPr sz="1200" b="0">
                <a:solidFill>
                  <a:srgbClr val="1F2937"/>
                </a:solidFill>
                <a:latin typeface="Calibri"/>
              </a:rPr>
              <a:t>Harakatsizlik, oqarish  ·  Hush, nafas, yurak urishi yo‘q</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Beloglazov simptomi</a:t>
            </a:r>
          </a:p>
          <a:p>
            <a:pPr algn="l">
              <a:spcAft>
                <a:spcPts val="0"/>
              </a:spcAft>
            </a:pPr>
            <a:r>
              <a:rPr sz="1200" b="0">
                <a:solidFill>
                  <a:srgbClr val="1F2937"/>
                </a:solidFill>
                <a:latin typeface="Calibri"/>
              </a:rPr>
              <a:t>Qorachiq ovalsimon  ·  15-20 daqiqadan so‘ng</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 sovushi</a:t>
            </a:r>
          </a:p>
          <a:p>
            <a:pPr algn="l">
              <a:spcAft>
                <a:spcPts val="0"/>
              </a:spcAft>
            </a:pPr>
            <a:r>
              <a:rPr sz="1200" b="0">
                <a:solidFill>
                  <a:srgbClr val="1F2937"/>
                </a:solidFill>
                <a:latin typeface="Calibri"/>
              </a:rPr>
              <a:t>23°S va past — ishonchli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Ilk murda o‘zgarishlari</a:t>
            </a:r>
          </a:p>
          <a:p>
            <a:pPr algn="l">
              <a:spcAft>
                <a:spcPts val="0"/>
              </a:spcAft>
            </a:pPr>
            <a:r>
              <a:rPr sz="1200" b="0">
                <a:solidFill>
                  <a:srgbClr val="1F2937"/>
                </a:solidFill>
                <a:latin typeface="Calibri"/>
              </a:rPr>
              <a:t>Dog‘lar, qotish, qurish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 221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Toifa bo‘yicha o‘lim ikki xil: zo‘raki (tashqi ta’sir natijasida) va nozo‘raki (turli kasalliklardan).</a:t>
            </a:r>
          </a:p>
          <a:p>
            <a:pPr>
              <a:spcAft>
                <a:spcPts val="800"/>
              </a:spcAft>
            </a:pPr>
            <a:r>
              <a:rPr sz="1600">
                <a:solidFill>
                  <a:srgbClr val="1F2937"/>
                </a:solidFill>
                <a:latin typeface="Calibri"/>
              </a:rPr>
              <a:t>▸  Zo‘raki o‘lim xil bo‘yicha qotillik, o‘z-o‘zini o‘ldirish va baxtsiz hodisaga bo‘linadi. Nozo‘raki o‘lim xillarga bo‘linmaydi.</a:t>
            </a:r>
          </a:p>
          <a:p>
            <a:pPr>
              <a:spcAft>
                <a:spcPts val="800"/>
              </a:spcAft>
            </a:pPr>
            <a:r>
              <a:rPr sz="1600">
                <a:solidFill>
                  <a:srgbClr val="1F2937"/>
                </a:solidFill>
                <a:latin typeface="Calibri"/>
              </a:rPr>
              <a:t>▸  Zo‘raki o‘lim turlari: mexanik jarohat, mexanik asfiksiya, zaharlanish, yuqori va past harorat, elektr toki, boshqa omillar.</a:t>
            </a:r>
          </a:p>
          <a:p>
            <a:pPr>
              <a:spcAft>
                <a:spcPts val="800"/>
              </a:spcAft>
            </a:pPr>
            <a:r>
              <a:rPr sz="1600">
                <a:solidFill>
                  <a:srgbClr val="1F2937"/>
                </a:solidFill>
                <a:latin typeface="Calibri"/>
              </a:rPr>
              <a:t>▸  Diqqat: toifa va turni sud-tibbiy ekspert aniqlaydi.</a:t>
            </a:r>
          </a:p>
          <a:p>
            <a:pPr>
              <a:spcAft>
                <a:spcPts val="800"/>
              </a:spcAft>
            </a:pPr>
            <a:r>
              <a:rPr sz="1600">
                <a:solidFill>
                  <a:srgbClr val="1F2937"/>
                </a:solidFill>
                <a:latin typeface="Calibri"/>
              </a:rPr>
              <a:t>▸  Xilni (qotillik, o‘z-o‘zini o‘ldirish, baxtsiz hodisa) huquqni muhofaza etuvchi organlar xodimlari belgilaydi, chunki qasd mavjudligi hal qiluvchi.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Zo‘raki o‘lim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ta’sirdan</a:t>
            </a:r>
          </a:p>
          <a:p>
            <a:pPr algn="l">
              <a:spcAft>
                <a:spcPts val="700"/>
              </a:spcAft>
            </a:pPr>
            <a:r>
              <a:rPr sz="1500" b="1">
                <a:solidFill>
                  <a:srgbClr val="C9A227"/>
                </a:solidFill>
                <a:latin typeface="Calibri"/>
              </a:rPr>
              <a:t>●  </a:t>
            </a:r>
            <a:r>
              <a:rPr sz="1500" b="0">
                <a:solidFill>
                  <a:srgbClr val="1F2937"/>
                </a:solidFill>
                <a:latin typeface="Calibri"/>
              </a:rPr>
              <a:t>Xil: qotillik, o‘z-o‘zini o‘ldirish, baxtsiz hodisa</a:t>
            </a:r>
          </a:p>
          <a:p>
            <a:pPr algn="l">
              <a:spcAft>
                <a:spcPts val="700"/>
              </a:spcAft>
            </a:pPr>
            <a:r>
              <a:rPr sz="1500" b="1">
                <a:solidFill>
                  <a:srgbClr val="C9A227"/>
                </a:solidFill>
                <a:latin typeface="Calibri"/>
              </a:rPr>
              <a:t>●  </a:t>
            </a:r>
            <a:r>
              <a:rPr sz="1500" b="0">
                <a:solidFill>
                  <a:srgbClr val="1F2937"/>
                </a:solidFill>
                <a:latin typeface="Calibri"/>
              </a:rPr>
              <a:t>Tur: jarohat, asfiksiya, zaharlanish, harorat, tok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Nozo‘raki o‘lim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Kasalliklardan</a:t>
            </a:r>
          </a:p>
          <a:p>
            <a:pPr algn="l">
              <a:spcAft>
                <a:spcPts val="700"/>
              </a:spcAft>
            </a:pPr>
            <a:r>
              <a:rPr sz="1500" b="1">
                <a:solidFill>
                  <a:srgbClr val="C9A227"/>
                </a:solidFill>
                <a:latin typeface="Calibri"/>
              </a:rPr>
              <a:t>●  </a:t>
            </a:r>
            <a:r>
              <a:rPr sz="1500" b="0">
                <a:solidFill>
                  <a:srgbClr val="1F2937"/>
                </a:solidFill>
                <a:latin typeface="Calibri"/>
              </a:rPr>
              <a:t>Xilga bo‘linmaydi</a:t>
            </a:r>
          </a:p>
          <a:p>
            <a:pPr algn="l">
              <a:spcAft>
                <a:spcPts val="700"/>
              </a:spcAft>
            </a:pPr>
            <a:r>
              <a:rPr sz="1500" b="1">
                <a:solidFill>
                  <a:srgbClr val="C9A227"/>
                </a:solidFill>
                <a:latin typeface="Calibri"/>
              </a:rPr>
              <a:t>●  </a:t>
            </a:r>
            <a:r>
              <a:rPr sz="1500" b="0">
                <a:solidFill>
                  <a:srgbClr val="1F2937"/>
                </a:solidFill>
                <a:latin typeface="Calibri"/>
              </a:rPr>
              <a:t>Tur: kasallik bo‘yicha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O‘limning sud-tibbiy tasnifi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toifasi va xili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shaxsning o‘limi tashqi ta’sir, ya’ni mexanik jarohat natijasida yuz bergan.</a:t>
            </a:r>
          </a:p>
          <a:p>
            <a:pPr>
              <a:spcAft>
                <a:spcPts val="1200"/>
              </a:spcAft>
            </a:pPr>
            <a:r>
              <a:rPr sz="2200">
                <a:solidFill>
                  <a:srgbClr val="1F2937"/>
                </a:solidFill>
                <a:latin typeface="Calibri"/>
              </a:rPr>
              <a:t>▸  Tashqi ta’sirdan sodir bo‘lgani uchun toifasi — zo‘raki, turi — mexanik jarohatdan o‘lim.</a:t>
            </a:r>
          </a:p>
          <a:p>
            <a:pPr>
              <a:spcAft>
                <a:spcPts val="1200"/>
              </a:spcAft>
            </a:pPr>
            <a:r>
              <a:rPr sz="2200">
                <a:solidFill>
                  <a:srgbClr val="1F2937"/>
                </a:solidFill>
                <a:latin typeface="Calibri"/>
              </a:rPr>
              <a:t>▸  Xilni (qotillik, o‘z-o‘zini o‘ldirish yoki baxtsiz hodisa) belgilashning asosi — qasdning mavjudligini aniqlash.</a:t>
            </a:r>
          </a:p>
          <a:p>
            <a:pPr>
              <a:spcAft>
                <a:spcPts val="1200"/>
              </a:spcAft>
            </a:pPr>
            <a:r>
              <a:rPr sz="2200">
                <a:solidFill>
                  <a:srgbClr val="1F2937"/>
                </a:solidFill>
                <a:latin typeface="Calibri"/>
              </a:rPr>
              <a:t>▸  Savol: toifa, tur va xilni kim belgilaydi? Javob: toifa va turni sud-tibbiy ekspert, xilni huquqni muhofaza etuvchi organlar xodimlari.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mexanik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Miya o‘limidan keyin dastlabki vaqtda ayrim a’zo va to‘qimalar tashqi ta’sirga javob beradi. Bu reaksiya o‘lim muddatini aniqlashda qo‘llanadi.</a:t>
            </a:r>
          </a:p>
          <a:p>
            <a:pPr>
              <a:spcAft>
                <a:spcPts val="800"/>
              </a:spcAft>
            </a:pPr>
            <a:r>
              <a:rPr sz="1600">
                <a:solidFill>
                  <a:srgbClr val="1F2937"/>
                </a:solidFill>
                <a:latin typeface="Calibri"/>
              </a:rPr>
              <a:t>▸  O‘limdan keyingi 1-2 soatda mexanik ta’sirga qo‘l va oyoq mushaklari qisqarishi mumkin.</a:t>
            </a:r>
          </a:p>
          <a:p>
            <a:pPr>
              <a:spcAft>
                <a:spcPts val="800"/>
              </a:spcAft>
            </a:pPr>
            <a:r>
              <a:rPr sz="1600">
                <a:solidFill>
                  <a:srgbClr val="1F2937"/>
                </a:solidFill>
                <a:latin typeface="Calibri"/>
              </a:rPr>
              <a:t>▸  Keyin 10 soatgacha mushak qisqarmaydi, ammo ta’sir joyida burma shaklidagi shish — idiomuskulyar o‘sma paydo bo‘ladi.</a:t>
            </a:r>
          </a:p>
          <a:p>
            <a:pPr>
              <a:spcAft>
                <a:spcPts val="800"/>
              </a:spcAft>
            </a:pPr>
            <a:r>
              <a:rPr sz="1600">
                <a:solidFill>
                  <a:srgbClr val="1F2937"/>
                </a:solidFill>
                <a:latin typeface="Calibri"/>
              </a:rPr>
              <a:t>▸  10-11 soatda ta’sir joyida chuqurcha hosil bo‘ladi.</a:t>
            </a:r>
          </a:p>
          <a:p>
            <a:pPr>
              <a:spcAft>
                <a:spcPts val="800"/>
              </a:spcAft>
            </a:pPr>
            <a:r>
              <a:rPr sz="1600">
                <a:solidFill>
                  <a:srgbClr val="1F2937"/>
                </a:solidFill>
                <a:latin typeface="Calibri"/>
              </a:rPr>
              <a:t>▸  Ko‘pincha yelka mushaklari tekshiriladi, ta’sir nevrologik bolg‘acha bandi yoki metall chizg‘ich bilan beriladi.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1-2 soat</a:t>
            </a:r>
          </a:p>
          <a:p>
            <a:pPr algn="l">
              <a:spcAft>
                <a:spcPts val="200"/>
              </a:spcAft>
            </a:pPr>
            <a:r>
              <a:rPr sz="1400" b="0">
                <a:solidFill>
                  <a:srgbClr val="1F2937"/>
                </a:solidFill>
                <a:latin typeface="Calibri"/>
              </a:rPr>
              <a:t>Qo‘l-oyoq mushagi qisqaradi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 soatgacha</a:t>
            </a:r>
          </a:p>
          <a:p>
            <a:pPr algn="l">
              <a:spcAft>
                <a:spcPts val="200"/>
              </a:spcAft>
            </a:pPr>
            <a:r>
              <a:rPr sz="1400" b="0">
                <a:solidFill>
                  <a:srgbClr val="1F2937"/>
                </a:solidFill>
                <a:latin typeface="Calibri"/>
              </a:rPr>
              <a:t>Idiomuskulyar o‘sma</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Keyin</a:t>
            </a:r>
          </a:p>
          <a:p>
            <a:pPr algn="l">
              <a:spcAft>
                <a:spcPts val="200"/>
              </a:spcAft>
            </a:pPr>
            <a:r>
              <a:rPr sz="1400" b="0">
                <a:solidFill>
                  <a:srgbClr val="1F2937"/>
                </a:solidFill>
                <a:latin typeface="Calibri"/>
              </a:rPr>
              <a:t>O‘sma past va yumshoq</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10-11 soat</a:t>
            </a:r>
          </a:p>
          <a:p>
            <a:pPr algn="l">
              <a:spcAft>
                <a:spcPts val="200"/>
              </a:spcAft>
            </a:pPr>
            <a:r>
              <a:rPr sz="1400" b="0">
                <a:solidFill>
                  <a:srgbClr val="1F2937"/>
                </a:solidFill>
                <a:latin typeface="Calibri"/>
              </a:rPr>
              <a:t>Ta’sir joyida chuqurcha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Mexanik ta’sirga javob dinamikasi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 222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elektr va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Elektr tokida mushaklar o‘limdan 2-3 soat ichida yuz, bo‘yin, qo‘l, oyoqda qisqaradi.</a:t>
            </a:r>
          </a:p>
          <a:p>
            <a:pPr>
              <a:spcAft>
                <a:spcPts val="800"/>
              </a:spcAft>
            </a:pPr>
            <a:r>
              <a:rPr sz="1600">
                <a:solidFill>
                  <a:srgbClr val="1F2937"/>
                </a:solidFill>
                <a:latin typeface="Calibri"/>
              </a:rPr>
              <a:t>▸  Ignasimon elektrodlar bilan qorachiq tekshiriladi. Dastlabki 6 soatda u torayadi, 7-12 soatda torayadi va shakli o‘zgaradi, 30 soatgacha faqat shakli o‘zgaradi.</a:t>
            </a:r>
          </a:p>
          <a:p>
            <a:pPr>
              <a:spcAft>
                <a:spcPts val="800"/>
              </a:spcAft>
            </a:pPr>
            <a:r>
              <a:rPr sz="1600">
                <a:solidFill>
                  <a:srgbClr val="1F2937"/>
                </a:solidFill>
                <a:latin typeface="Calibri"/>
              </a:rPr>
              <a:t>▸  Dastlabki 5-6 soatda ko‘zga 1% atropin tomizilsa qorachiq kengayadi, 1% pilokarpin esa toraytiradi.</a:t>
            </a:r>
          </a:p>
          <a:p>
            <a:pPr>
              <a:spcAft>
                <a:spcPts val="800"/>
              </a:spcAft>
            </a:pPr>
            <a:r>
              <a:rPr sz="1600">
                <a:solidFill>
                  <a:srgbClr val="1F2937"/>
                </a:solidFill>
                <a:latin typeface="Calibri"/>
              </a:rPr>
              <a:t>▸  Ter bezlari sinamasi: teriga yodning 2% spirtli eritmasi, so‘ng kraxmal va kastor moyi surtiladi.</a:t>
            </a:r>
          </a:p>
          <a:p>
            <a:pPr>
              <a:spcAft>
                <a:spcPts val="800"/>
              </a:spcAft>
            </a:pPr>
            <a:r>
              <a:rPr sz="1600">
                <a:solidFill>
                  <a:srgbClr val="1F2937"/>
                </a:solidFill>
                <a:latin typeface="Calibri"/>
              </a:rPr>
              <a:t>▸  Old kameraga 0,1 ml eritma yuborilsa, reaksiya 24 soatgacha aniqlanadi; ter bezlari sinamasida ko‘k dog‘ 0,5-1 soatda paydo bo‘ladi (30 soatgacha).</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Yuz, bo‘yin, qo‘l, oyoq</a:t>
            </a:r>
          </a:p>
          <a:p>
            <a:pPr algn="l">
              <a:spcAft>
                <a:spcPts val="100"/>
              </a:spcAft>
            </a:pPr>
            <a:r>
              <a:rPr sz="3000" b="1">
                <a:solidFill>
                  <a:srgbClr val="0B1F3A"/>
                </a:solidFill>
                <a:latin typeface="Calibri"/>
              </a:rPr>
              <a:t>2-3</a:t>
            </a:r>
            <a:r>
              <a:rPr sz="1500" b="0">
                <a:solidFill>
                  <a:srgbClr val="6B7280"/>
                </a:solidFill>
                <a:latin typeface="Calibri"/>
              </a:rPr>
              <a:t>  soat</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Og‘iz aylana mushagi</a:t>
            </a:r>
          </a:p>
          <a:p>
            <a:pPr algn="l">
              <a:spcAft>
                <a:spcPts val="100"/>
              </a:spcAft>
            </a:pPr>
            <a:r>
              <a:rPr sz="3000" b="1">
                <a:solidFill>
                  <a:srgbClr val="0B1F3A"/>
                </a:solidFill>
                <a:latin typeface="Calibri"/>
              </a:rPr>
              <a:t>3-5</a:t>
            </a:r>
            <a:r>
              <a:rPr sz="1500" b="0">
                <a:solidFill>
                  <a:srgbClr val="6B7280"/>
                </a:solidFill>
                <a:latin typeface="Calibri"/>
              </a:rPr>
              <a:t>  soat</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Ko‘z mushaklari</a:t>
            </a:r>
          </a:p>
          <a:p>
            <a:pPr algn="l">
              <a:spcAft>
                <a:spcPts val="100"/>
              </a:spcAft>
            </a:pPr>
            <a:r>
              <a:rPr sz="3000" b="1">
                <a:solidFill>
                  <a:srgbClr val="0B1F3A"/>
                </a:solidFill>
                <a:latin typeface="Calibri"/>
              </a:rPr>
              <a:t>11-12</a:t>
            </a:r>
            <a:r>
              <a:rPr sz="1500" b="0">
                <a:solidFill>
                  <a:srgbClr val="6B7280"/>
                </a:solidFill>
                <a:latin typeface="Calibri"/>
              </a:rPr>
              <a:t>  soat</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Qorachiq tekshiruvi</a:t>
            </a:r>
          </a:p>
          <a:p>
            <a:pPr algn="l">
              <a:spcAft>
                <a:spcPts val="100"/>
              </a:spcAft>
            </a:pPr>
            <a:r>
              <a:rPr sz="2900" b="1">
                <a:solidFill>
                  <a:srgbClr val="0B1F3A"/>
                </a:solidFill>
                <a:latin typeface="Calibri"/>
              </a:rPr>
              <a:t>30 gacha</a:t>
            </a:r>
            <a:r>
              <a:rPr sz="1400" b="0">
                <a:solidFill>
                  <a:srgbClr val="6B7280"/>
                </a:solidFill>
                <a:latin typeface="Calibri"/>
              </a:rPr>
              <a:t>  soat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Elektr ta’siriga javob (soat)</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o‘zgarishlari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Biologik o‘limdan so‘ng hayotiy funksiyalar to‘xtagani uchun qaytmas o‘zgarishlar boshlanadi.</a:t>
            </a:r>
          </a:p>
          <a:p>
            <a:pPr>
              <a:spcAft>
                <a:spcPts val="800"/>
              </a:spcAft>
            </a:pPr>
            <a:r>
              <a:rPr sz="1600">
                <a:solidFill>
                  <a:srgbClr val="1F2937"/>
                </a:solidFill>
                <a:latin typeface="Calibri"/>
              </a:rPr>
              <a:t>▸  Ilk o‘zgarishlar o‘limdan keyingi dastlabki kunda ko‘rinadi. Kech o‘zgarishlar ikkinchi kundan boshlanadi va yemiruvchi hamda saqlovchi turlarga bo‘linadi.</a:t>
            </a:r>
          </a:p>
          <a:p>
            <a:pPr>
              <a:spcAft>
                <a:spcPts val="800"/>
              </a:spcAft>
            </a:pPr>
            <a:r>
              <a:rPr sz="1600">
                <a:solidFill>
                  <a:srgbClr val="1F2937"/>
                </a:solidFill>
                <a:latin typeface="Calibri"/>
              </a:rPr>
              <a:t>▸  Tabiiy o‘zgarishlardan tashqari sun’iy o‘zgarishlar ham bo‘ladi. Ular o‘lim muddati bilan bog‘liq emas va o‘limdan keyin istalgan vaqtda ro‘y berishi mumkin.</a:t>
            </a:r>
          </a:p>
          <a:p>
            <a:pPr>
              <a:spcAft>
                <a:spcPts val="800"/>
              </a:spcAft>
            </a:pPr>
            <a:r>
              <a:rPr sz="1600">
                <a:solidFill>
                  <a:srgbClr val="1F2937"/>
                </a:solidFill>
                <a:latin typeface="Calibri"/>
              </a:rPr>
              <a:t>▸  Murda tegishli tabiiy sharoitda ham ilk, ham kech muddatda muzlashi mumkin. Shuning uchun muzlash alohida eslatib o‘tiladi.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Murda o‘zgarishlari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Ilk (1-kun)</a:t>
            </a:r>
          </a:p>
          <a:p>
            <a:pPr algn="l">
              <a:spcAft>
                <a:spcPts val="0"/>
              </a:spcAft>
            </a:pPr>
            <a:r>
              <a:rPr sz="1200" b="0">
                <a:solidFill>
                  <a:srgbClr val="1F2937"/>
                </a:solidFill>
                <a:latin typeface="Calibri"/>
              </a:rPr>
              <a:t>Sovush, qurish  ·  Dog‘lar, qotish, autoliz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Kech yemiruvchi (2-kundan)</a:t>
            </a:r>
          </a:p>
          <a:p>
            <a:pPr algn="l">
              <a:spcAft>
                <a:spcPts val="0"/>
              </a:spcAft>
            </a:pPr>
            <a:r>
              <a:rPr sz="1200" b="0">
                <a:solidFill>
                  <a:srgbClr val="1F2937"/>
                </a:solidFill>
                <a:latin typeface="Calibri"/>
              </a:rPr>
              <a:t>Chirish  ·  Hasharot, hayvon yemirishi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Kech saqlovchi (2-kundan)</a:t>
            </a:r>
          </a:p>
          <a:p>
            <a:pPr algn="l">
              <a:spcAft>
                <a:spcPts val="0"/>
              </a:spcAft>
            </a:pPr>
            <a:r>
              <a:rPr sz="1200" b="0">
                <a:solidFill>
                  <a:srgbClr val="1F2937"/>
                </a:solidFill>
                <a:latin typeface="Calibri"/>
              </a:rPr>
              <a:t>Mumifikatsiya, yog‘-mo‘m  ·  Torfli oshlash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Sun’iy</a:t>
            </a:r>
          </a:p>
          <a:p>
            <a:pPr algn="l">
              <a:spcAft>
                <a:spcPts val="0"/>
              </a:spcAft>
            </a:pPr>
            <a:r>
              <a:rPr sz="1200" b="0">
                <a:solidFill>
                  <a:srgbClr val="1F2937"/>
                </a:solidFill>
                <a:latin typeface="Calibri"/>
              </a:rPr>
              <a:t>Yemiruvchi: qismlash, yoqish  ·  Saqlovchi: balzamlash, muzlatish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o‘zgarishlari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 222-223, 224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sovushi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O‘limdan so‘ng termoregulyatsiya buziladi: issiqlik ishlab chiqarish to‘xtaydi, tashqariga ajralishi davom etadi.</a:t>
            </a:r>
          </a:p>
          <a:p>
            <a:pPr>
              <a:spcAft>
                <a:spcPts val="800"/>
              </a:spcAft>
            </a:pPr>
            <a:r>
              <a:rPr sz="1600">
                <a:solidFill>
                  <a:srgbClr val="1F2937"/>
                </a:solidFill>
                <a:latin typeface="Calibri"/>
              </a:rPr>
              <a:t>▸  Sovushga havo harorati, namlik, shamol, kiyim, shuningdek yosh, oziqlanish, o‘lim sababi va jadalligi ta’sir qiladi.</a:t>
            </a:r>
          </a:p>
          <a:p>
            <a:pPr>
              <a:spcAft>
                <a:spcPts val="800"/>
              </a:spcAft>
            </a:pPr>
            <a:r>
              <a:rPr sz="1600">
                <a:solidFill>
                  <a:srgbClr val="1F2937"/>
                </a:solidFill>
                <a:latin typeface="Calibri"/>
              </a:rPr>
              <a:t>▸  Sovush ushlab ko‘rib va termometr bilan aniqlanadi. Termometriya aniqroq: og‘iz, qo‘ltiq osti, ko‘krak bo‘shlig‘i, to‘g‘ri ichak, jigarda o‘tkaziladi.</a:t>
            </a:r>
          </a:p>
          <a:p>
            <a:pPr>
              <a:spcAft>
                <a:spcPts val="800"/>
              </a:spcAft>
            </a:pPr>
            <a:r>
              <a:rPr sz="1600">
                <a:solidFill>
                  <a:srgbClr val="1F2937"/>
                </a:solidFill>
                <a:latin typeface="Calibri"/>
              </a:rPr>
              <a:t>▸  Xonada tana harorati taxminan soatiga 1°S tushadi. Qo‘ltiq ostida 16, to‘g‘ri ichakda 19, jigarda 25 soatdan keyin muhit harorati bilan tenglashadi.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Xonada sovush</a:t>
            </a:r>
          </a:p>
          <a:p>
            <a:pPr algn="l">
              <a:spcAft>
                <a:spcPts val="100"/>
              </a:spcAft>
            </a:pPr>
            <a:r>
              <a:rPr sz="3000" b="1">
                <a:solidFill>
                  <a:srgbClr val="0B1F3A"/>
                </a:solidFill>
                <a:latin typeface="Calibri"/>
              </a:rPr>
              <a:t>~1</a:t>
            </a:r>
            <a:r>
              <a:rPr sz="1500" b="0">
                <a:solidFill>
                  <a:srgbClr val="6B7280"/>
                </a:solidFill>
                <a:latin typeface="Calibri"/>
              </a:rPr>
              <a:t>  °S/soat</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Qo‘ltiq ostida</a:t>
            </a:r>
          </a:p>
          <a:p>
            <a:pPr algn="l">
              <a:spcAft>
                <a:spcPts val="100"/>
              </a:spcAft>
            </a:pPr>
            <a:r>
              <a:rPr sz="3000" b="1">
                <a:solidFill>
                  <a:srgbClr val="0B1F3A"/>
                </a:solidFill>
                <a:latin typeface="Calibri"/>
              </a:rPr>
              <a:t>16</a:t>
            </a:r>
            <a:r>
              <a:rPr sz="1500" b="0">
                <a:solidFill>
                  <a:srgbClr val="6B7280"/>
                </a:solidFill>
                <a:latin typeface="Calibri"/>
              </a:rPr>
              <a:t>  soat</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To‘g‘ri ichakda</a:t>
            </a:r>
          </a:p>
          <a:p>
            <a:pPr algn="l">
              <a:spcAft>
                <a:spcPts val="100"/>
              </a:spcAft>
            </a:pPr>
            <a:r>
              <a:rPr sz="3000" b="1">
                <a:solidFill>
                  <a:srgbClr val="0B1F3A"/>
                </a:solidFill>
                <a:latin typeface="Calibri"/>
              </a:rPr>
              <a:t>19</a:t>
            </a:r>
            <a:r>
              <a:rPr sz="1500" b="0">
                <a:solidFill>
                  <a:srgbClr val="6B7280"/>
                </a:solidFill>
                <a:latin typeface="Calibri"/>
              </a:rPr>
              <a:t>  soat</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Jigarda</a:t>
            </a:r>
          </a:p>
          <a:p>
            <a:pPr algn="l">
              <a:spcAft>
                <a:spcPts val="100"/>
              </a:spcAft>
            </a:pPr>
            <a:r>
              <a:rPr sz="3000" b="1">
                <a:solidFill>
                  <a:srgbClr val="0B1F3A"/>
                </a:solidFill>
                <a:latin typeface="Calibri"/>
              </a:rPr>
              <a:t>25</a:t>
            </a:r>
            <a:r>
              <a:rPr sz="1500" b="0">
                <a:solidFill>
                  <a:srgbClr val="6B7280"/>
                </a:solidFill>
                <a:latin typeface="Calibri"/>
              </a:rPr>
              <a:t>  soat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Murdaning sovushi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qurishi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Qurish ter va boshqa bezlar ajratishi to‘xtashi hamda namlikning bug‘lanishi tufayli yuzaga keladi. Epidermis odatda namlikni yo‘qotishdan himoya qiladi.</a:t>
            </a:r>
          </a:p>
          <a:p>
            <a:pPr>
              <a:spcAft>
                <a:spcPts val="800"/>
              </a:spcAft>
            </a:pPr>
            <a:r>
              <a:rPr sz="1600">
                <a:solidFill>
                  <a:srgbClr val="1F2937"/>
                </a:solidFill>
                <a:latin typeface="Calibri"/>
              </a:rPr>
              <a:t>▸  Alomatlar avval hayotda nam turadigan joylarda ko‘rinadi: lablarning qizil hoshiyasi, shilliq qavatlar, shox parda, konyunktiva, moyak terisi.</a:t>
            </a:r>
          </a:p>
          <a:p>
            <a:pPr>
              <a:spcAft>
                <a:spcPts val="800"/>
              </a:spcAft>
            </a:pPr>
            <a:r>
              <a:rPr sz="1600">
                <a:solidFill>
                  <a:srgbClr val="1F2937"/>
                </a:solidFill>
                <a:latin typeface="Calibri"/>
              </a:rPr>
              <a:t>▸  Shox parda 1-3 soatda xiralashadi. 4-5 soatda konyunktivada uchburchak yoki yo‘lkasimon qo‘ng‘ir-jigar rang Lyarshe dog‘i paydo bo‘ladi.</a:t>
            </a:r>
          </a:p>
          <a:p>
            <a:pPr>
              <a:spcAft>
                <a:spcPts val="800"/>
              </a:spcAft>
            </a:pPr>
            <a:r>
              <a:rPr sz="1600">
                <a:solidFill>
                  <a:srgbClr val="1F2937"/>
                </a:solidFill>
                <a:latin typeface="Calibri"/>
              </a:rPr>
              <a:t>▸  Pergament dog‘lari: qurigan shikastlangan teri qattiq, sarg‘ish-qo‘ng‘ir.</a:t>
            </a:r>
          </a:p>
          <a:p>
            <a:pPr>
              <a:spcAft>
                <a:spcPts val="800"/>
              </a:spcAft>
            </a:pPr>
            <a:r>
              <a:rPr sz="1600">
                <a:solidFill>
                  <a:srgbClr val="1F2937"/>
                </a:solidFill>
                <a:latin typeface="Calibri"/>
              </a:rPr>
              <a:t>▸  Iliq suvli doka 5-10 daqiqa qo‘yilsa pergament dog‘lari yumshab oqaradi, hayotiy shilinma esa o‘zgarmaydi.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Shox parda xiralashadi</a:t>
            </a:r>
          </a:p>
          <a:p>
            <a:pPr algn="l">
              <a:spcAft>
                <a:spcPts val="100"/>
              </a:spcAft>
            </a:pPr>
            <a:r>
              <a:rPr sz="2900" b="1">
                <a:solidFill>
                  <a:srgbClr val="0B1F3A"/>
                </a:solidFill>
                <a:latin typeface="Calibri"/>
              </a:rPr>
              <a:t>1-3</a:t>
            </a:r>
            <a:r>
              <a:rPr sz="1400" b="0">
                <a:solidFill>
                  <a:srgbClr val="6B7280"/>
                </a:solidFill>
                <a:latin typeface="Calibri"/>
              </a:rPr>
              <a:t>  soat</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Lyarshe dog‘i</a:t>
            </a:r>
          </a:p>
          <a:p>
            <a:pPr algn="l">
              <a:spcAft>
                <a:spcPts val="100"/>
              </a:spcAft>
            </a:pPr>
            <a:r>
              <a:rPr sz="2900" b="1">
                <a:solidFill>
                  <a:srgbClr val="0B1F3A"/>
                </a:solidFill>
                <a:latin typeface="Calibri"/>
              </a:rPr>
              <a:t>4-5</a:t>
            </a:r>
            <a:r>
              <a:rPr sz="1400" b="0">
                <a:solidFill>
                  <a:srgbClr val="6B7280"/>
                </a:solidFill>
                <a:latin typeface="Calibri"/>
              </a:rPr>
              <a:t>  soat</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Pergament dog‘i sinovi</a:t>
            </a:r>
          </a:p>
          <a:p>
            <a:pPr algn="l">
              <a:spcAft>
                <a:spcPts val="100"/>
              </a:spcAft>
            </a:pPr>
            <a:r>
              <a:rPr sz="2300" b="1">
                <a:solidFill>
                  <a:srgbClr val="0B1F3A"/>
                </a:solidFill>
                <a:latin typeface="Calibri"/>
              </a:rPr>
              <a:t>5-10</a:t>
            </a:r>
            <a:r>
              <a:rPr sz="1100" b="0">
                <a:solidFill>
                  <a:srgbClr val="6B7280"/>
                </a:solidFill>
                <a:latin typeface="Calibri"/>
              </a:rPr>
              <a:t>  daqiqa</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Murdaning qurishi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O‘limdan so‘ng mushaklar bo‘shashgan, bo‘g‘imlarda passiv harakat to‘liq. Keyin mushaklar qattiqlashib qisqaradi va murda ma’lum holatda qotadi.</a:t>
            </a:r>
          </a:p>
          <a:p>
            <a:pPr>
              <a:spcAft>
                <a:spcPts val="800"/>
              </a:spcAft>
            </a:pPr>
            <a:r>
              <a:rPr sz="1600">
                <a:solidFill>
                  <a:srgbClr val="1F2937"/>
                </a:solidFill>
                <a:latin typeface="Calibri"/>
              </a:rPr>
              <a:t>▸  Hozir ko‘pchilik qotishni adenozinuchfosfat kislotasi (AUF) parchalanishi bilan bog‘laydi.</a:t>
            </a:r>
          </a:p>
          <a:p>
            <a:pPr>
              <a:spcAft>
                <a:spcPts val="800"/>
              </a:spcAft>
            </a:pPr>
            <a:r>
              <a:rPr sz="1600">
                <a:solidFill>
                  <a:srgbClr val="1F2937"/>
                </a:solidFill>
                <a:latin typeface="Calibri"/>
              </a:rPr>
              <a:t>▸  O‘limdan so‘ng glikolitik va oksidlanish jarayonlari to‘xtab, AUF kamayadi. Mushaklarda kalsiy ortishidan kontrakturalar ham qotishda muhim rol o‘ynaydi.</a:t>
            </a:r>
          </a:p>
          <a:p>
            <a:pPr>
              <a:spcAft>
                <a:spcPts val="800"/>
              </a:spcAft>
            </a:pPr>
            <a:r>
              <a:rPr sz="1600">
                <a:solidFill>
                  <a:srgbClr val="1F2937"/>
                </a:solidFill>
                <a:latin typeface="Calibri"/>
              </a:rPr>
              <a:t>▸  Erkin AUF qolgan paytda mushaklar bir necha soat yumshoq turadi. AUF kamayishi qotishga olib keladi va 10-12 soatdan keyin mushaklarda to‘liq yo‘qoladi.</a:t>
            </a:r>
          </a:p>
          <a:p>
            <a:pPr>
              <a:spcAft>
                <a:spcPts val="800"/>
              </a:spcAft>
            </a:pPr>
            <a:r>
              <a:rPr sz="1600">
                <a:solidFill>
                  <a:srgbClr val="1F2937"/>
                </a:solidFill>
                <a:latin typeface="Calibri"/>
              </a:rPr>
              <a:t>▸  AUF aktomiozin bilan ta’sirlashib parchalansa mushak qisqaradi, resintezda bo‘shashadi.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O‘lim</a:t>
            </a:r>
          </a:p>
          <a:p>
            <a:pPr algn="l">
              <a:spcAft>
                <a:spcPts val="200"/>
              </a:spcAft>
            </a:pPr>
            <a:r>
              <a:rPr sz="1400" b="0">
                <a:solidFill>
                  <a:srgbClr val="1F2937"/>
                </a:solidFill>
                <a:latin typeface="Calibri"/>
              </a:rPr>
              <a:t>Mushaklar bo‘shashgan</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AUF</a:t>
            </a:r>
          </a:p>
          <a:p>
            <a:pPr algn="l">
              <a:spcAft>
                <a:spcPts val="200"/>
              </a:spcAft>
            </a:pPr>
            <a:r>
              <a:rPr sz="1400" b="0">
                <a:solidFill>
                  <a:srgbClr val="1F2937"/>
                </a:solidFill>
                <a:latin typeface="Calibri"/>
              </a:rPr>
              <a:t>Glikoliz to‘xtab, AUF kamayadi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Kalsiy</a:t>
            </a:r>
          </a:p>
          <a:p>
            <a:pPr algn="l">
              <a:spcAft>
                <a:spcPts val="200"/>
              </a:spcAft>
            </a:pPr>
            <a:r>
              <a:rPr sz="1400" b="0">
                <a:solidFill>
                  <a:srgbClr val="1F2937"/>
                </a:solidFill>
                <a:latin typeface="Calibri"/>
              </a:rPr>
              <a:t>Kontraktura qotishga yordam beradi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Qotish</a:t>
            </a:r>
          </a:p>
          <a:p>
            <a:pPr algn="l">
              <a:spcAft>
                <a:spcPts val="200"/>
              </a:spcAft>
            </a:pPr>
            <a:r>
              <a:rPr sz="1400" b="0">
                <a:solidFill>
                  <a:srgbClr val="1F2937"/>
                </a:solidFill>
                <a:latin typeface="Calibri"/>
              </a:rPr>
              <a:t>AUF kamayganda mushak qotadi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10-12 soat</a:t>
            </a:r>
          </a:p>
          <a:p>
            <a:pPr algn="l">
              <a:spcAft>
                <a:spcPts val="200"/>
              </a:spcAft>
            </a:pPr>
            <a:r>
              <a:rPr sz="1400" b="0">
                <a:solidFill>
                  <a:srgbClr val="1F2937"/>
                </a:solidFill>
                <a:latin typeface="Calibri"/>
              </a:rPr>
              <a:t>AUF to‘liq yo‘qoladi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qotishi mexanizmi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 225-226, 226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 dinamikasi va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Qotish barcha mushaklarda darhol boshlansa-da, 1-3 soatdan keyin aniqlanadi.</a:t>
            </a:r>
          </a:p>
          <a:p>
            <a:pPr>
              <a:spcAft>
                <a:spcPts val="800"/>
              </a:spcAft>
            </a:pPr>
            <a:r>
              <a:rPr sz="1600">
                <a:solidFill>
                  <a:srgbClr val="1F2937"/>
                </a:solidFill>
                <a:latin typeface="Calibri"/>
              </a:rPr>
              <a:t>▸  Dastlabki soatlarda buzilgan qotish tiklanadi, lekin kuchsizroq. Keyinroq buzilsa tiklanmaydi.</a:t>
            </a:r>
          </a:p>
          <a:p>
            <a:pPr>
              <a:spcAft>
                <a:spcPts val="800"/>
              </a:spcAft>
            </a:pPr>
            <a:r>
              <a:rPr sz="1600">
                <a:solidFill>
                  <a:srgbClr val="1F2937"/>
                </a:solidFill>
                <a:latin typeface="Calibri"/>
              </a:rPr>
              <a:t>▸  Kataleptik qotish o‘limdan so‘ng darhol barcha mushaklarda: uzunchoq miya, bo‘yin orqa miyasi, quyosh chigali shikasti, talvasali zaharlanishda.</a:t>
            </a:r>
          </a:p>
          <a:p>
            <a:pPr>
              <a:spcAft>
                <a:spcPts val="800"/>
              </a:spcAft>
            </a:pPr>
            <a:r>
              <a:rPr sz="1600">
                <a:solidFill>
                  <a:srgbClr val="1F2937"/>
                </a:solidFill>
                <a:latin typeface="Calibri"/>
              </a:rPr>
              <a:t>▸  Sust: past harorat, bolalar, keksalar, holsizlanish, kaxeksiya. Tez va kuchli: yuqori harorat, kuchli mushaklar, talvasa, strixnin, sikuta bilan zaharlanish.</a:t>
            </a:r>
          </a:p>
          <a:p>
            <a:pPr>
              <a:spcAft>
                <a:spcPts val="800"/>
              </a:spcAft>
            </a:pPr>
            <a:r>
              <a:rPr sz="1600">
                <a:solidFill>
                  <a:srgbClr val="1F2937"/>
                </a:solidFill>
                <a:latin typeface="Calibri"/>
              </a:rPr>
              <a:t>▸  Avval kalta kuchli (chaynash) mushaklarda, so‘ng bo‘yin, tana, qo‘l-oyoqda (Nisten bo‘yicha pastga yo‘nalgan tip).</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1-3 soat</a:t>
            </a:r>
          </a:p>
          <a:p>
            <a:pPr algn="l">
              <a:spcAft>
                <a:spcPts val="200"/>
              </a:spcAft>
            </a:pPr>
            <a:r>
              <a:rPr sz="1400" b="0">
                <a:solidFill>
                  <a:srgbClr val="1F2937"/>
                </a:solidFill>
                <a:latin typeface="Calibri"/>
              </a:rPr>
              <a:t>Chaynash mushaklarida aniqlanadi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12-16 soat</a:t>
            </a:r>
          </a:p>
          <a:p>
            <a:pPr algn="l">
              <a:spcAft>
                <a:spcPts val="200"/>
              </a:spcAft>
            </a:pPr>
            <a:r>
              <a:rPr sz="1400" b="0">
                <a:solidFill>
                  <a:srgbClr val="1F2937"/>
                </a:solidFill>
                <a:latin typeface="Calibri"/>
              </a:rPr>
              <a:t>Barcha mushaklarda</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24 soat</a:t>
            </a:r>
          </a:p>
          <a:p>
            <a:pPr algn="l">
              <a:spcAft>
                <a:spcPts val="200"/>
              </a:spcAft>
            </a:pPr>
            <a:r>
              <a:rPr sz="1400" b="0">
                <a:solidFill>
                  <a:srgbClr val="1F2937"/>
                </a:solidFill>
                <a:latin typeface="Calibri"/>
              </a:rPr>
              <a:t>Maksimal daraja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2-kun o‘rtasi</a:t>
            </a:r>
          </a:p>
          <a:p>
            <a:pPr algn="l">
              <a:spcAft>
                <a:spcPts val="200"/>
              </a:spcAft>
            </a:pPr>
            <a:r>
              <a:rPr sz="1400" b="0">
                <a:solidFill>
                  <a:srgbClr val="1F2937"/>
                </a:solidFill>
                <a:latin typeface="Calibri"/>
              </a:rPr>
              <a:t>Yo‘qola boshlaydi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3-7 kun</a:t>
            </a:r>
          </a:p>
          <a:p>
            <a:pPr algn="l">
              <a:spcAft>
                <a:spcPts val="200"/>
              </a:spcAft>
            </a:pPr>
            <a:r>
              <a:rPr sz="1400" b="0">
                <a:solidFill>
                  <a:srgbClr val="1F2937"/>
                </a:solidFill>
                <a:latin typeface="Calibri"/>
              </a:rPr>
              <a:t>To‘liq yo‘qoladi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qotishi dinamikasi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 226-227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murda qotishi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murda qotishi qachon va qaysi mushaklardan boshlab aniqlanadi? Javob: 1–3 soatdan keyin, avval kalta kuchli (chaynash) mushaklarda.</a:t>
            </a:r>
          </a:p>
          <a:p>
            <a:pPr>
              <a:spcAft>
                <a:spcPts val="1200"/>
              </a:spcAft>
            </a:pPr>
            <a:r>
              <a:rPr sz="2200">
                <a:solidFill>
                  <a:srgbClr val="1F2937"/>
                </a:solidFill>
                <a:latin typeface="Calibri"/>
              </a:rPr>
              <a:t>▸  Savol 2: qotish qachon eng kuchli bo‘ladi, qachon yo‘qoladi? Javob: 24 soatdan keyin maksimal; 3–7 kunda to‘liq yo‘qoladi.</a:t>
            </a:r>
          </a:p>
          <a:p>
            <a:pPr>
              <a:spcAft>
                <a:spcPts val="1200"/>
              </a:spcAft>
            </a:pPr>
            <a:r>
              <a:rPr sz="2200">
                <a:solidFill>
                  <a:srgbClr val="1F2937"/>
                </a:solidFill>
                <a:latin typeface="Calibri"/>
              </a:rPr>
              <a:t>▸  Savol 3: buzilgan qotish tiklanadimi? Javob: dastlabki soatlarda tiklanadi, lekin avvalgisidan kuchsizroq. Keyinroq tiklanmaydi.</a:t>
            </a:r>
          </a:p>
          <a:p>
            <a:pPr>
              <a:spcAft>
                <a:spcPts val="1200"/>
              </a:spcAft>
            </a:pPr>
            <a:r>
              <a:rPr sz="2200">
                <a:solidFill>
                  <a:srgbClr val="1F2937"/>
                </a:solidFill>
                <a:latin typeface="Calibri"/>
              </a:rPr>
              <a:t>▸  Diqqat: tiklanmagan qotish murdaga tegilganini yoki holati o‘zgartirilganini ko‘rsatishi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Murda dog‘lari teri va teri osti yog‘ qatlamida to‘plangan qonning ko‘rinishi. Ichki a’zolarda gipostaz hosil bo‘ladi. Bosqichlar orasida aniq chegara yo‘q.</a:t>
            </a:r>
          </a:p>
          <a:p>
            <a:pPr>
              <a:spcAft>
                <a:spcPts val="800"/>
              </a:spcAft>
            </a:pPr>
            <a:r>
              <a:rPr sz="1600">
                <a:solidFill>
                  <a:srgbClr val="1F2937"/>
                </a:solidFill>
                <a:latin typeface="Calibri"/>
              </a:rPr>
              <a:t>▸  Gipostaz 1,5–2 soatdan 8–12 soatgacha davom etadi. Dog‘ bosilganda yo‘qolib, tez tiklanadi; murda holati o‘zgarsa, yangi past sohada paydo bo‘ladi.</a:t>
            </a:r>
          </a:p>
          <a:p>
            <a:pPr>
              <a:spcAft>
                <a:spcPts val="800"/>
              </a:spcAft>
            </a:pPr>
            <a:r>
              <a:rPr sz="1600">
                <a:solidFill>
                  <a:srgbClr val="1F2937"/>
                </a:solidFill>
                <a:latin typeface="Calibri"/>
              </a:rPr>
              <a:t>▸  Staz 12–24 soat. Bosilganda dog‘ to‘liq yo‘qolmaydi, faqat oqaradi va sekin tiklanadi. Holat o‘zgarsa, yangi sohalarda dog‘ qisman paydo bo‘ladi.</a:t>
            </a:r>
          </a:p>
          <a:p>
            <a:pPr>
              <a:spcAft>
                <a:spcPts val="800"/>
              </a:spcAft>
            </a:pPr>
            <a:r>
              <a:rPr sz="1600">
                <a:solidFill>
                  <a:srgbClr val="1F2937"/>
                </a:solidFill>
                <a:latin typeface="Calibri"/>
              </a:rPr>
              <a:t>▸  Imbibitsiyada eritrotsitlar gemolizi bo‘lib, gemoglobin tomir devori va to‘qimaga singadi. Dog‘ bosilganda rangi o‘zgarmaydi, yangi joyda paydo bo‘lmaydi.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Gipostaz</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1,5–2 soatdan; 8–12 soatgacha</a:t>
            </a:r>
          </a:p>
          <a:p>
            <a:pPr algn="l">
              <a:spcAft>
                <a:spcPts val="700"/>
              </a:spcAft>
            </a:pPr>
            <a:r>
              <a:rPr sz="1500" b="1">
                <a:solidFill>
                  <a:srgbClr val="C9A227"/>
                </a:solidFill>
                <a:latin typeface="Calibri"/>
              </a:rPr>
              <a:t>●  </a:t>
            </a:r>
            <a:r>
              <a:rPr sz="1500" b="0">
                <a:solidFill>
                  <a:srgbClr val="1F2937"/>
                </a:solidFill>
                <a:latin typeface="Calibri"/>
              </a:rPr>
              <a:t>Eritrotsit 6–7 mln gacha</a:t>
            </a:r>
          </a:p>
          <a:p>
            <a:pPr algn="l">
              <a:spcAft>
                <a:spcPts val="700"/>
              </a:spcAft>
            </a:pPr>
            <a:r>
              <a:rPr sz="1500" b="1">
                <a:solidFill>
                  <a:srgbClr val="C9A227"/>
                </a:solidFill>
                <a:latin typeface="Calibri"/>
              </a:rPr>
              <a:t>●  </a:t>
            </a:r>
            <a:r>
              <a:rPr sz="1500" b="0">
                <a:solidFill>
                  <a:srgbClr val="1F2937"/>
                </a:solidFill>
                <a:latin typeface="Calibri"/>
              </a:rPr>
              <a:t>Bosilsa yo‘qoladi, tez tiklanadi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Staz</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12–24 soat</a:t>
            </a:r>
          </a:p>
          <a:p>
            <a:pPr algn="l">
              <a:spcAft>
                <a:spcPts val="700"/>
              </a:spcAft>
            </a:pPr>
            <a:r>
              <a:rPr sz="1500" b="1">
                <a:solidFill>
                  <a:srgbClr val="C9A227"/>
                </a:solidFill>
                <a:latin typeface="Calibri"/>
              </a:rPr>
              <a:t>●  </a:t>
            </a:r>
            <a:r>
              <a:rPr sz="1500" b="0">
                <a:solidFill>
                  <a:srgbClr val="1F2937"/>
                </a:solidFill>
                <a:latin typeface="Calibri"/>
              </a:rPr>
              <a:t>Eritrotsit 8–10 mln gacha</a:t>
            </a:r>
          </a:p>
          <a:p>
            <a:pPr algn="l">
              <a:spcAft>
                <a:spcPts val="700"/>
              </a:spcAft>
            </a:pPr>
            <a:r>
              <a:rPr sz="1500" b="1">
                <a:solidFill>
                  <a:srgbClr val="C9A227"/>
                </a:solidFill>
                <a:latin typeface="Calibri"/>
              </a:rPr>
              <a:t>●  </a:t>
            </a:r>
            <a:r>
              <a:rPr sz="1500" b="0">
                <a:solidFill>
                  <a:srgbClr val="1F2937"/>
                </a:solidFill>
                <a:latin typeface="Calibri"/>
              </a:rPr>
              <a:t>Bosilsa oqaradi, sekin tiklanadi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Imbibitsiya</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Chirish hisobiga</a:t>
            </a:r>
          </a:p>
          <a:p>
            <a:pPr algn="l">
              <a:spcAft>
                <a:spcPts val="700"/>
              </a:spcAft>
            </a:pPr>
            <a:r>
              <a:rPr sz="1500" b="1">
                <a:solidFill>
                  <a:srgbClr val="C9A227"/>
                </a:solidFill>
                <a:latin typeface="Calibri"/>
              </a:rPr>
              <a:t>●  </a:t>
            </a:r>
            <a:r>
              <a:rPr sz="1500" b="0">
                <a:solidFill>
                  <a:srgbClr val="1F2937"/>
                </a:solidFill>
                <a:latin typeface="Calibri"/>
              </a:rPr>
              <a:t>Gemoliz sodir bo‘ladi</a:t>
            </a:r>
          </a:p>
          <a:p>
            <a:pPr algn="l">
              <a:spcAft>
                <a:spcPts val="700"/>
              </a:spcAft>
            </a:pPr>
            <a:r>
              <a:rPr sz="1500" b="1">
                <a:solidFill>
                  <a:srgbClr val="C9A227"/>
                </a:solidFill>
                <a:latin typeface="Calibri"/>
              </a:rPr>
              <a:t>●  </a:t>
            </a:r>
            <a:r>
              <a:rPr sz="1500" b="0">
                <a:solidFill>
                  <a:srgbClr val="1F2937"/>
                </a:solidFill>
                <a:latin typeface="Calibri"/>
              </a:rPr>
              <a:t>Rangi o‘zgarmaydi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dog‘lari bosqichlari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227, 227-228, 228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joylashuvi va rangi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Joylashuv murda holatiga bog‘liq.</a:t>
            </a:r>
          </a:p>
          <a:p>
            <a:pPr>
              <a:spcAft>
                <a:spcPts val="800"/>
              </a:spcAft>
            </a:pPr>
            <a:r>
              <a:rPr sz="1600">
                <a:solidFill>
                  <a:srgbClr val="1F2937"/>
                </a:solidFill>
                <a:latin typeface="Calibri"/>
              </a:rPr>
              <a:t>▸  Tez o‘limda qon suyuq, dog‘lar tez paydo bo‘lib, yoyilgan bo‘ladi. Sekin agonal o‘limda kechroq va yaqqol emas.</a:t>
            </a:r>
          </a:p>
          <a:p>
            <a:pPr>
              <a:spcAft>
                <a:spcPts val="800"/>
              </a:spcAft>
            </a:pPr>
            <a:r>
              <a:rPr sz="1600">
                <a:solidFill>
                  <a:srgbClr val="1F2937"/>
                </a:solidFill>
                <a:latin typeface="Calibri"/>
              </a:rPr>
              <a:t>▸  Rang o‘lim sababiga bog‘liq: is gazida pushti-qizil, sianidlarda olcha rang, metgemoglobin hosil qiluvchi moddalarda qo‘ng‘ir-jigarrang.</a:t>
            </a:r>
          </a:p>
          <a:p>
            <a:pPr>
              <a:spcAft>
                <a:spcPts val="800"/>
              </a:spcAft>
            </a:pPr>
            <a:r>
              <a:rPr sz="1600">
                <a:solidFill>
                  <a:srgbClr val="1F2937"/>
                </a:solidFill>
                <a:latin typeface="Calibri"/>
              </a:rPr>
              <a:t>▸  Diqqat: murda dog‘i ≠ qontalash. Dog‘ shakli noaniq, qo‘shilib ketadi, bosilganda oqaradi; qontalash aniq chegarali, bosilganda rangi o‘zgarmaydi.</a:t>
            </a:r>
          </a:p>
          <a:p>
            <a:pPr>
              <a:spcAft>
                <a:spcPts val="800"/>
              </a:spcAft>
            </a:pPr>
            <a:r>
              <a:rPr sz="1600">
                <a:solidFill>
                  <a:srgbClr val="1F2937"/>
                </a:solidFill>
                <a:latin typeface="Calibri"/>
              </a:rPr>
              <a:t>▸  O‘tkir ko‘p qon yo‘qotishda 3–4 soatdan keyin, orolchalar shaklida.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Murda dog‘lari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Joylashuv</a:t>
            </a:r>
          </a:p>
          <a:p>
            <a:pPr algn="l">
              <a:spcAft>
                <a:spcPts val="0"/>
              </a:spcAft>
            </a:pPr>
            <a:r>
              <a:rPr sz="1200" b="0">
                <a:solidFill>
                  <a:srgbClr val="1F2937"/>
                </a:solidFill>
                <a:latin typeface="Calibri"/>
              </a:rPr>
              <a:t>Chalqancha: orqa, yon  ·  Yuzi pastga: old, yon  ·  Osilganda: pastki qismlar</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Hosil bo‘lish tezligi</a:t>
            </a:r>
          </a:p>
          <a:p>
            <a:pPr algn="l">
              <a:spcAft>
                <a:spcPts val="0"/>
              </a:spcAft>
            </a:pPr>
            <a:r>
              <a:rPr sz="1200" b="0">
                <a:solidFill>
                  <a:srgbClr val="1F2937"/>
                </a:solidFill>
                <a:latin typeface="Calibri"/>
              </a:rPr>
              <a:t>Tez o‘lim: tez, yoyilgan  ·  Qon yo‘qotish: orolchalar</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Rangi</a:t>
            </a:r>
          </a:p>
          <a:p>
            <a:pPr algn="l">
              <a:spcAft>
                <a:spcPts val="0"/>
              </a:spcAft>
            </a:pPr>
            <a:r>
              <a:rPr sz="1200" b="0">
                <a:solidFill>
                  <a:srgbClr val="1F2937"/>
                </a:solidFill>
                <a:latin typeface="Calibri"/>
              </a:rPr>
              <a:t>Is gazi: pushti-qizil  ·  Sianid: olcha rang  ·  Metgemoglobin: qo‘ng‘ir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dog‘lari joylashuvi va rangi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va qontalashlarni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Murda dog‘lari o‘limning ishonchli belgisi, ammo ularni qontalashdan farqlash kerak bo‘ladi.</a:t>
            </a:r>
          </a:p>
          <a:p>
            <a:pPr>
              <a:spcAft>
                <a:spcPts val="800"/>
              </a:spcAft>
            </a:pPr>
            <a:r>
              <a:rPr sz="1600">
                <a:solidFill>
                  <a:srgbClr val="1F2937"/>
                </a:solidFill>
                <a:latin typeface="Calibri"/>
              </a:rPr>
              <a:t>▸  Murda dog‘lari tananing past joylashgan sohalarida paydo bo‘ladi. Chegarasi noaniq, dog‘lar bir-biriga qo‘shiladi.</a:t>
            </a:r>
          </a:p>
          <a:p>
            <a:pPr>
              <a:spcAft>
                <a:spcPts val="800"/>
              </a:spcAft>
            </a:pPr>
            <a:r>
              <a:rPr sz="1600">
                <a:solidFill>
                  <a:srgbClr val="1F2937"/>
                </a:solidFill>
                <a:latin typeface="Calibri"/>
              </a:rPr>
              <a:t>▸  Qontalash tananing istalgan sohasida bo‘ladi, shakli va chegarasi aniq, bir-biriga qo‘shilmaydi. Bosilganda rangi o‘zgarmaydi.</a:t>
            </a:r>
          </a:p>
          <a:p>
            <a:pPr>
              <a:spcAft>
                <a:spcPts val="800"/>
              </a:spcAft>
            </a:pPr>
            <a:r>
              <a:rPr sz="1600">
                <a:solidFill>
                  <a:srgbClr val="1F2937"/>
                </a:solidFill>
                <a:latin typeface="Calibri"/>
              </a:rPr>
              <a:t>▸  Diqqat: dog‘ ≠ qontalash.</a:t>
            </a:r>
          </a:p>
          <a:p>
            <a:pPr>
              <a:spcAft>
                <a:spcPts val="800"/>
              </a:spcAft>
            </a:pPr>
            <a:r>
              <a:rPr sz="1600">
                <a:solidFill>
                  <a:srgbClr val="1F2937"/>
                </a:solidFill>
                <a:latin typeface="Calibri"/>
              </a:rPr>
              <a:t>▸  Shubhali sohada xochsimon kesma qilinadi: dog‘da qon tomchilari yoki qon singgan yog‘ to‘qimasi, qontalashda to‘qimaga quyilgan va ivigan qon topiladi.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Murda dog‘lari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Past joylashgan sohalarda</a:t>
            </a:r>
          </a:p>
          <a:p>
            <a:pPr algn="l">
              <a:spcAft>
                <a:spcPts val="700"/>
              </a:spcAft>
            </a:pPr>
            <a:r>
              <a:rPr sz="1500" b="1">
                <a:solidFill>
                  <a:srgbClr val="C9A227"/>
                </a:solidFill>
                <a:latin typeface="Calibri"/>
              </a:rPr>
              <a:t>●  </a:t>
            </a:r>
            <a:r>
              <a:rPr sz="1500" b="0">
                <a:solidFill>
                  <a:srgbClr val="1F2937"/>
                </a:solidFill>
                <a:latin typeface="Calibri"/>
              </a:rPr>
              <a:t>Chegarasi noaniq, qo‘shiladi</a:t>
            </a:r>
          </a:p>
          <a:p>
            <a:pPr algn="l">
              <a:spcAft>
                <a:spcPts val="700"/>
              </a:spcAft>
            </a:pPr>
            <a:r>
              <a:rPr sz="1500" b="1">
                <a:solidFill>
                  <a:srgbClr val="C9A227"/>
                </a:solidFill>
                <a:latin typeface="Calibri"/>
              </a:rPr>
              <a:t>●  </a:t>
            </a:r>
            <a:r>
              <a:rPr sz="1500" b="0">
                <a:solidFill>
                  <a:srgbClr val="1F2937"/>
                </a:solidFill>
                <a:latin typeface="Calibri"/>
              </a:rPr>
              <a:t>Bosilganda yo‘qoladi yoki oqaradi</a:t>
            </a:r>
          </a:p>
          <a:p>
            <a:pPr algn="l">
              <a:spcAft>
                <a:spcPts val="700"/>
              </a:spcAft>
            </a:pPr>
            <a:r>
              <a:rPr sz="1500" b="1">
                <a:solidFill>
                  <a:srgbClr val="C9A227"/>
                </a:solidFill>
                <a:latin typeface="Calibri"/>
              </a:rPr>
              <a:t>●  </a:t>
            </a:r>
            <a:r>
              <a:rPr sz="1500" b="0">
                <a:solidFill>
                  <a:srgbClr val="1F2937"/>
                </a:solidFill>
                <a:latin typeface="Calibri"/>
              </a:rPr>
              <a:t>Kesmada qon tomchilari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Qontalash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Tananing turli sohalarida</a:t>
            </a:r>
          </a:p>
          <a:p>
            <a:pPr algn="l">
              <a:spcAft>
                <a:spcPts val="700"/>
              </a:spcAft>
            </a:pPr>
            <a:r>
              <a:rPr sz="1500" b="1">
                <a:solidFill>
                  <a:srgbClr val="C9A227"/>
                </a:solidFill>
                <a:latin typeface="Calibri"/>
              </a:rPr>
              <a:t>●  </a:t>
            </a:r>
            <a:r>
              <a:rPr sz="1500" b="0">
                <a:solidFill>
                  <a:srgbClr val="1F2937"/>
                </a:solidFill>
                <a:latin typeface="Calibri"/>
              </a:rPr>
              <a:t>Aniq shakl va chegara</a:t>
            </a:r>
          </a:p>
          <a:p>
            <a:pPr algn="l">
              <a:spcAft>
                <a:spcPts val="700"/>
              </a:spcAft>
            </a:pPr>
            <a:r>
              <a:rPr sz="1500" b="1">
                <a:solidFill>
                  <a:srgbClr val="C9A227"/>
                </a:solidFill>
                <a:latin typeface="Calibri"/>
              </a:rPr>
              <a:t>●  </a:t>
            </a:r>
            <a:r>
              <a:rPr sz="1500" b="0">
                <a:solidFill>
                  <a:srgbClr val="1F2937"/>
                </a:solidFill>
                <a:latin typeface="Calibri"/>
              </a:rPr>
              <a:t>Bosilganda rangi o‘zgarmaydi</a:t>
            </a:r>
          </a:p>
          <a:p>
            <a:pPr algn="l">
              <a:spcAft>
                <a:spcPts val="700"/>
              </a:spcAft>
            </a:pPr>
            <a:r>
              <a:rPr sz="1500" b="1">
                <a:solidFill>
                  <a:srgbClr val="C9A227"/>
                </a:solidFill>
                <a:latin typeface="Calibri"/>
              </a:rPr>
              <a:t>●  </a:t>
            </a:r>
            <a:r>
              <a:rPr sz="1500" b="0">
                <a:solidFill>
                  <a:srgbClr val="1F2937"/>
                </a:solidFill>
                <a:latin typeface="Calibri"/>
              </a:rPr>
              <a:t>Kesmada ivigan qon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dog‘i va qontalash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 228-229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Autoliz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O‘limdan keyin hujayra ichidagi (lizosomal) va boshqa proteolitik fermentlar faolligi darhol yo‘qolmaydi.</a:t>
            </a:r>
          </a:p>
          <a:p>
            <a:pPr>
              <a:spcAft>
                <a:spcPts val="800"/>
              </a:spcAft>
            </a:pPr>
            <a:r>
              <a:rPr sz="1600">
                <a:solidFill>
                  <a:srgbClr val="1F2937"/>
                </a:solidFill>
                <a:latin typeface="Calibri"/>
              </a:rPr>
              <a:t>▸  Jarayon fermentga boy to‘qimalarda tezroq: oshqozon va ichak shilliq qavati, oshqozon osti bezi, buyrak usti bezi mag‘iz qavati, ayrisimon bez, buyraklar.</a:t>
            </a:r>
          </a:p>
          <a:p>
            <a:pPr>
              <a:spcAft>
                <a:spcPts val="800"/>
              </a:spcAft>
            </a:pPr>
            <a:r>
              <a:rPr sz="1600">
                <a:solidFill>
                  <a:srgbClr val="1F2937"/>
                </a:solidFill>
                <a:latin typeface="Calibri"/>
              </a:rPr>
              <a:t>▸  Autoliz o‘limdan keyingi birinchi kunda boshlanadi va kech o‘zgarishlar davrida ham davom etadi.</a:t>
            </a:r>
          </a:p>
          <a:p>
            <a:pPr>
              <a:spcAft>
                <a:spcPts val="800"/>
              </a:spcAft>
            </a:pPr>
            <a:r>
              <a:rPr sz="1600">
                <a:solidFill>
                  <a:srgbClr val="1F2937"/>
                </a:solidFill>
                <a:latin typeface="Calibri"/>
              </a:rPr>
              <a:t>▸  Diqqat: oshqozon shilliq qavati autolizi o‘yuvchi zahar ta’siri, oshqozon osti bezi autolizi esa gemorragik pankreonekrozga o‘xshab ketadi.</a:t>
            </a:r>
          </a:p>
          <a:p>
            <a:pPr>
              <a:spcAft>
                <a:spcPts val="800"/>
              </a:spcAft>
            </a:pPr>
            <a:r>
              <a:rPr sz="1600">
                <a:solidFill>
                  <a:srgbClr val="1F2937"/>
                </a:solidFill>
                <a:latin typeface="Calibri"/>
              </a:rPr>
              <a:t>▸  Eritrotsitlar autolizi gemoliz va qon tomir devori imbibitsiyasiga olib keladi.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Autoliz</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Mexanizm</a:t>
            </a:r>
          </a:p>
          <a:p>
            <a:pPr algn="l">
              <a:spcAft>
                <a:spcPts val="0"/>
              </a:spcAft>
            </a:pPr>
            <a:r>
              <a:rPr sz="1200" b="0">
                <a:solidFill>
                  <a:srgbClr val="1F2937"/>
                </a:solidFill>
                <a:latin typeface="Calibri"/>
              </a:rPr>
              <a:t>Lizosomal fermentlar o‘zini hazm qiladi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Tez kechadigan to‘qimalar</a:t>
            </a:r>
          </a:p>
          <a:p>
            <a:pPr algn="l">
              <a:spcAft>
                <a:spcPts val="0"/>
              </a:spcAft>
            </a:pPr>
            <a:r>
              <a:rPr sz="1200" b="0">
                <a:solidFill>
                  <a:srgbClr val="1F2937"/>
                </a:solidFill>
                <a:latin typeface="Calibri"/>
              </a:rPr>
              <a:t>Oshqozon, ichak shilliq qavati  ·  Oshqozon osti bezi, buyrak usti bezi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Muddat</a:t>
            </a:r>
          </a:p>
          <a:p>
            <a:pPr algn="l">
              <a:spcAft>
                <a:spcPts val="0"/>
              </a:spcAft>
            </a:pPr>
            <a:r>
              <a:rPr sz="1200" b="0">
                <a:solidFill>
                  <a:srgbClr val="1F2937"/>
                </a:solidFill>
                <a:latin typeface="Calibri"/>
              </a:rPr>
              <a:t>1-kundan boshlanadi  ·  Kech davrda ham davom etadi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Xato talqin</a:t>
            </a:r>
          </a:p>
          <a:p>
            <a:pPr algn="l">
              <a:spcAft>
                <a:spcPts val="0"/>
              </a:spcAft>
            </a:pPr>
            <a:r>
              <a:rPr sz="1200" b="0">
                <a:solidFill>
                  <a:srgbClr val="1F2937"/>
                </a:solidFill>
                <a:latin typeface="Calibri"/>
              </a:rPr>
              <a:t>O‘yuvchi zahar yoki pankreonekroz  ·  Mikroskopiya ajratadi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Autoliz</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ilk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 yuzi bilan pastga yotibdi, ammo murda dog‘lari orqa va yon yuzalarda. Yuz va oyoqlarda qotish aniq, qo‘l mushaklarida qotish sust yoki yo‘q.</a:t>
            </a:r>
          </a:p>
          <a:p>
            <a:pPr>
              <a:spcAft>
                <a:spcPts val="1200"/>
              </a:spcAft>
            </a:pPr>
            <a:r>
              <a:rPr sz="2000">
                <a:solidFill>
                  <a:srgbClr val="1F2937"/>
                </a:solidFill>
                <a:latin typeface="Calibri"/>
              </a:rPr>
              <a:t>▸  Dog‘lar past joylashgan sohada hosil bo‘ladi: yuzi pastga yotgan murdada old va yon qismlarda bo‘lishi kerak. Demak, murda holati o‘zgartirilgan.</a:t>
            </a:r>
          </a:p>
          <a:p>
            <a:pPr>
              <a:spcAft>
                <a:spcPts val="1200"/>
              </a:spcAft>
            </a:pPr>
            <a:r>
              <a:rPr sz="2000">
                <a:solidFill>
                  <a:srgbClr val="1F2937"/>
                </a:solidFill>
                <a:latin typeface="Calibri"/>
              </a:rPr>
              <a:t>▸  Gipostazda holat o‘zgarsa, dog‘lar yangi past sohada paydo bo‘ladi; stazda eski dog‘ yo‘qolmaydi, imbibitsiyada yangi joyda dog‘ paydo bo‘lmaydi.</a:t>
            </a:r>
          </a:p>
          <a:p>
            <a:pPr>
              <a:spcAft>
                <a:spcPts val="1200"/>
              </a:spcAft>
            </a:pPr>
            <a:r>
              <a:rPr sz="2000">
                <a:solidFill>
                  <a:srgbClr val="1F2937"/>
                </a:solidFill>
                <a:latin typeface="Calibri"/>
              </a:rPr>
              <a:t>▸  Savol: dog‘lar ikki joyda bo‘lsa, qaysi bosqichga mos? Qo‘llarda qotishning sustligi nimani eslatadi?</a:t>
            </a:r>
          </a:p>
          <a:p>
            <a:pPr>
              <a:spcAft>
                <a:spcPts val="1200"/>
              </a:spcAft>
            </a:pPr>
            <a:r>
              <a:rPr sz="2000">
                <a:solidFill>
                  <a:srgbClr val="1F2937"/>
                </a:solidFill>
                <a:latin typeface="Calibri"/>
              </a:rPr>
              <a:t>▸  Buzilgan qotish dastlabki soatlarda tiklanib, keyin tiklanmaydi.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226-228, 228, 227-228, 226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omillari va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Chirish — mikroorganizmlar ta’sirida murda oqsillarining yemirilishi. Asosan aerob bakteriyalar qatnashadi va jadal kechadi.</a:t>
            </a:r>
          </a:p>
          <a:p>
            <a:pPr>
              <a:spcAft>
                <a:spcPts val="800"/>
              </a:spcAft>
            </a:pPr>
            <a:r>
              <a:rPr sz="1600">
                <a:solidFill>
                  <a:srgbClr val="1F2937"/>
                </a:solidFill>
                <a:latin typeface="Calibri"/>
              </a:rPr>
              <a:t>▸  Chirish ochiq havoda, +20…+40°S haroratda va o‘rtacha namlikda yaxshi kechadi. Minus haroratda va +55°S dan yuqorida to‘xtaydi; 0…+10°S da juda sekin.</a:t>
            </a:r>
          </a:p>
          <a:p>
            <a:pPr>
              <a:spcAft>
                <a:spcPts val="800"/>
              </a:spcAft>
            </a:pPr>
            <a:r>
              <a:rPr sz="1600">
                <a:solidFill>
                  <a:srgbClr val="1F2937"/>
                </a:solidFill>
                <a:latin typeface="Calibri"/>
              </a:rPr>
              <a:t>▸  Kasper indeksi 1:2:8: murda havoga nisbatan suvda 2 barobar, yerda 8 barobar sekin chiriydi. Sababi — kislorodning kamligi va past harorat.</a:t>
            </a:r>
          </a:p>
          <a:p>
            <a:pPr>
              <a:spcAft>
                <a:spcPts val="800"/>
              </a:spcAft>
            </a:pPr>
            <a:r>
              <a:rPr sz="1600">
                <a:solidFill>
                  <a:srgbClr val="1F2937"/>
                </a:solidFill>
                <a:latin typeface="Calibri"/>
              </a:rPr>
              <a:t>▸  Gazlar teri osti yog‘da to‘planib murda emfizemasini beradi: ushlaganda krepitatsiya seziladi, yuz, qorin va moyaklar kattalashadi.</a:t>
            </a:r>
          </a:p>
          <a:p>
            <a:pPr>
              <a:spcAft>
                <a:spcPts val="800"/>
              </a:spcAft>
            </a:pPr>
            <a:r>
              <a:rPr sz="1600">
                <a:solidFill>
                  <a:srgbClr val="1F2937"/>
                </a:solidFill>
                <a:latin typeface="Calibri"/>
              </a:rPr>
              <a:t>▸  Anaerob chirish sust, lekin o‘ta yoqimsiz hidli bo‘ladi.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1-kun</a:t>
            </a:r>
          </a:p>
          <a:p>
            <a:pPr algn="l">
              <a:spcAft>
                <a:spcPts val="200"/>
              </a:spcAft>
            </a:pPr>
            <a:r>
              <a:rPr sz="1400" b="0">
                <a:solidFill>
                  <a:srgbClr val="1F2937"/>
                </a:solidFill>
                <a:latin typeface="Calibri"/>
              </a:rPr>
              <a:t>Chirish hidi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2-kun</a:t>
            </a:r>
          </a:p>
          <a:p>
            <a:pPr algn="l">
              <a:spcAft>
                <a:spcPts val="200"/>
              </a:spcAft>
            </a:pPr>
            <a:r>
              <a:rPr sz="1400" b="0">
                <a:solidFill>
                  <a:srgbClr val="1F2937"/>
                </a:solidFill>
                <a:latin typeface="Calibri"/>
              </a:rPr>
              <a:t>Murda yashili (o‘ng yonbosh)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3-4-kun</a:t>
            </a:r>
          </a:p>
          <a:p>
            <a:pPr algn="l">
              <a:spcAft>
                <a:spcPts val="200"/>
              </a:spcAft>
            </a:pPr>
            <a:r>
              <a:rPr sz="1400" b="0">
                <a:solidFill>
                  <a:srgbClr val="1F2937"/>
                </a:solidFill>
                <a:latin typeface="Calibri"/>
              </a:rPr>
              <a:t>Chirish venoz to‘ri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4-6-kun</a:t>
            </a:r>
          </a:p>
          <a:p>
            <a:pPr algn="l">
              <a:spcAft>
                <a:spcPts val="200"/>
              </a:spcAft>
            </a:pPr>
            <a:r>
              <a:rPr sz="1400" b="0">
                <a:solidFill>
                  <a:srgbClr val="1F2937"/>
                </a:solidFill>
                <a:latin typeface="Calibri"/>
              </a:rPr>
              <a:t>Chirish pufaklari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Chirish belgilari vaqt chizig‘i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 230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tiplari va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Gazli tip infeksion kasalliklar va septik asoratlardan o‘limda kuzatiladi, emfizema kuchli bo‘ladi.</a:t>
            </a:r>
          </a:p>
          <a:p>
            <a:pPr>
              <a:spcAft>
                <a:spcPts val="800"/>
              </a:spcAft>
            </a:pPr>
            <a:r>
              <a:rPr sz="1600">
                <a:solidFill>
                  <a:srgbClr val="1F2937"/>
                </a:solidFill>
                <a:latin typeface="Calibri"/>
              </a:rPr>
              <a:t>▸  Quruq tip kaxeksiyaga olib keladigan kasalliklarda (rak, tuberkulez) rivojlanadi. Bunda murda emfizemasi ham, chirish pufakchalari ham bo‘lmaydi.</a:t>
            </a:r>
          </a:p>
          <a:p>
            <a:pPr>
              <a:spcAft>
                <a:spcPts val="800"/>
              </a:spcAft>
            </a:pPr>
            <a:r>
              <a:rPr sz="1600">
                <a:solidFill>
                  <a:srgbClr val="1F2937"/>
                </a:solidFill>
                <a:latin typeface="Calibri"/>
              </a:rPr>
              <a:t>▸  Xona haroratida havoda chirish 2-haftada avjiga chiqadi. 3-oyda yumshoq to‘qimalar yarim suyuq massaga aylanadi, 6-oyda murda skeletlanadi.</a:t>
            </a:r>
          </a:p>
          <a:p>
            <a:pPr>
              <a:spcAft>
                <a:spcPts val="800"/>
              </a:spcAft>
            </a:pPr>
            <a:r>
              <a:rPr sz="1600">
                <a:solidFill>
                  <a:srgbClr val="1F2937"/>
                </a:solidFill>
                <a:latin typeface="Calibri"/>
              </a:rPr>
              <a:t>▸  Oshqozon, ichak, jigar, taloq, qon, miya tez chiriydi. Soch, suyak, tish, tog‘ay, boylam, yirik qon tomirlar va homilador bo‘lmaganlarda bachadon chidamliroq.</a:t>
            </a:r>
          </a:p>
          <a:p>
            <a:pPr>
              <a:spcAft>
                <a:spcPts val="800"/>
              </a:spcAft>
            </a:pPr>
            <a:r>
              <a:rPr sz="1600">
                <a:solidFill>
                  <a:srgbClr val="1F2937"/>
                </a:solidFill>
                <a:latin typeface="Calibri"/>
              </a:rPr>
              <a:t>▸  Nam tipda chirish pufaklari yaqqol, u suyuqlik to‘planadigan kasalliklarda uchraydi.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Chirish avjiga chiqadi</a:t>
            </a:r>
          </a:p>
          <a:p>
            <a:pPr algn="l">
              <a:spcAft>
                <a:spcPts val="100"/>
              </a:spcAft>
            </a:pPr>
            <a:r>
              <a:rPr sz="3000" b="1">
                <a:solidFill>
                  <a:srgbClr val="0B1F3A"/>
                </a:solidFill>
                <a:latin typeface="Calibri"/>
              </a:rPr>
              <a:t>2</a:t>
            </a:r>
            <a:r>
              <a:rPr sz="1500" b="0">
                <a:solidFill>
                  <a:srgbClr val="6B7280"/>
                </a:solidFill>
                <a:latin typeface="Calibri"/>
              </a:rPr>
              <a:t>  hafta</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Yarim suyuq massa</a:t>
            </a:r>
          </a:p>
          <a:p>
            <a:pPr algn="l">
              <a:spcAft>
                <a:spcPts val="100"/>
              </a:spcAft>
            </a:pPr>
            <a:r>
              <a:rPr sz="3000" b="1">
                <a:solidFill>
                  <a:srgbClr val="0B1F3A"/>
                </a:solidFill>
                <a:latin typeface="Calibri"/>
              </a:rPr>
              <a:t>3</a:t>
            </a:r>
            <a:r>
              <a:rPr sz="1500" b="0">
                <a:solidFill>
                  <a:srgbClr val="6B7280"/>
                </a:solidFill>
                <a:latin typeface="Calibri"/>
              </a:rPr>
              <a:t>  oy</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Skeletlanish</a:t>
            </a:r>
          </a:p>
          <a:p>
            <a:pPr algn="l">
              <a:spcAft>
                <a:spcPts val="100"/>
              </a:spcAft>
            </a:pPr>
            <a:r>
              <a:rPr sz="3000" b="1">
                <a:solidFill>
                  <a:srgbClr val="0B1F3A"/>
                </a:solidFill>
                <a:latin typeface="Calibri"/>
              </a:rPr>
              <a:t>6</a:t>
            </a:r>
            <a:r>
              <a:rPr sz="1500" b="0">
                <a:solidFill>
                  <a:srgbClr val="6B7280"/>
                </a:solidFill>
                <a:latin typeface="Calibri"/>
              </a:rPr>
              <a:t>  oy</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Kasper indeksi</a:t>
            </a:r>
          </a:p>
          <a:p>
            <a:pPr algn="l">
              <a:spcAft>
                <a:spcPts val="100"/>
              </a:spcAft>
            </a:pPr>
            <a:r>
              <a:rPr sz="3000" b="1">
                <a:solidFill>
                  <a:srgbClr val="0B1F3A"/>
                </a:solidFill>
                <a:latin typeface="Calibri"/>
              </a:rPr>
              <a:t>1:2:8</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Chirish muddatlari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231, 231-232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Hasharotlar va hayvonlar bilan yemirilish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Pashshalar o‘limdan so‘ng tez orada ko‘z, burun, og‘iz atrofiga va yaralarga tuxum qo‘yadi.</a:t>
            </a:r>
          </a:p>
          <a:p>
            <a:pPr>
              <a:spcAft>
                <a:spcPts val="800"/>
              </a:spcAft>
            </a:pPr>
            <a:r>
              <a:rPr sz="1600">
                <a:solidFill>
                  <a:srgbClr val="1F2937"/>
                </a:solidFill>
                <a:latin typeface="Calibri"/>
              </a:rPr>
              <a:t>▸  Katta odamda yumshoq to‘qimalar 4-6 haftada, bolada 1-2 haftada skeletgacha yemirilishi mumkin.</a:t>
            </a:r>
          </a:p>
          <a:p>
            <a:pPr>
              <a:spcAft>
                <a:spcPts val="800"/>
              </a:spcAft>
            </a:pPr>
            <a:r>
              <a:rPr sz="1600">
                <a:solidFill>
                  <a:srgbClr val="1F2937"/>
                </a:solidFill>
                <a:latin typeface="Calibri"/>
              </a:rPr>
              <a:t>▸  Keyin nekrofag qo‘ng‘izlar (30-45 kun) va yirtqich qo‘ng‘izlar (45-60 kun) lichinkalari to‘qimani yemiradi.</a:t>
            </a:r>
          </a:p>
          <a:p>
            <a:pPr>
              <a:spcAft>
                <a:spcPts val="800"/>
              </a:spcAft>
            </a:pPr>
            <a:r>
              <a:rPr sz="1600">
                <a:solidFill>
                  <a:srgbClr val="1F2937"/>
                </a:solidFill>
                <a:latin typeface="Calibri"/>
              </a:rPr>
              <a:t>▸  Hayvon jarohatini hayotiy shikastdan farqlash uchun joy, tish yoki tirnoq izi, kiyim va tanadagi tuk, pat, ajratmalar baholanadi.</a:t>
            </a:r>
          </a:p>
          <a:p>
            <a:pPr>
              <a:spcAft>
                <a:spcPts val="800"/>
              </a:spcAft>
            </a:pPr>
            <a:r>
              <a:rPr sz="1600">
                <a:solidFill>
                  <a:srgbClr val="1F2937"/>
                </a:solidFill>
                <a:latin typeface="Calibri"/>
              </a:rPr>
              <a:t>▸  Xona haroratida 24-30 soatda lichinkalar chiqib, fermenti bilan yumshoq to‘qimani eritadi.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24-30 soat</a:t>
            </a:r>
          </a:p>
          <a:p>
            <a:pPr algn="l">
              <a:spcAft>
                <a:spcPts val="200"/>
              </a:spcAft>
            </a:pPr>
            <a:r>
              <a:rPr sz="1400" b="0">
                <a:solidFill>
                  <a:srgbClr val="1F2937"/>
                </a:solidFill>
                <a:latin typeface="Calibri"/>
              </a:rPr>
              <a:t>Lichinkalar chiqadi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7-10 kun</a:t>
            </a:r>
          </a:p>
          <a:p>
            <a:pPr algn="l">
              <a:spcAft>
                <a:spcPts val="200"/>
              </a:spcAft>
            </a:pPr>
            <a:r>
              <a:rPr sz="1400" b="0">
                <a:solidFill>
                  <a:srgbClr val="1F2937"/>
                </a:solidFill>
                <a:latin typeface="Calibri"/>
              </a:rPr>
              <a:t>Qo‘g‘irchoq</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 hafta</a:t>
            </a:r>
          </a:p>
          <a:p>
            <a:pPr algn="l">
              <a:spcAft>
                <a:spcPts val="200"/>
              </a:spcAft>
            </a:pPr>
            <a:r>
              <a:rPr sz="1400" b="0">
                <a:solidFill>
                  <a:srgbClr val="1F2937"/>
                </a:solidFill>
                <a:latin typeface="Calibri"/>
              </a:rPr>
              <a:t>Etuk pashsha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30-45 kun</a:t>
            </a:r>
          </a:p>
          <a:p>
            <a:pPr algn="l">
              <a:spcAft>
                <a:spcPts val="200"/>
              </a:spcAft>
            </a:pPr>
            <a:r>
              <a:rPr sz="1400" b="0">
                <a:solidFill>
                  <a:srgbClr val="1F2937"/>
                </a:solidFill>
                <a:latin typeface="Calibri"/>
              </a:rPr>
              <a:t>Nekrofag qo‘ng‘izlar</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45-60 kun</a:t>
            </a:r>
          </a:p>
          <a:p>
            <a:pPr algn="l">
              <a:spcAft>
                <a:spcPts val="200"/>
              </a:spcAft>
            </a:pPr>
            <a:r>
              <a:rPr sz="1400" b="0">
                <a:solidFill>
                  <a:srgbClr val="1F2937"/>
                </a:solidFill>
                <a:latin typeface="Calibri"/>
              </a:rPr>
              <a:t>Yirtqich qo‘ng‘izlar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Hasharotlar bilan yemirilish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232, 232-233, 233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Saqlovchi kech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Mumifikatsiya – murdaning kech qurishi. U issiq, quruq, yaxshi shamollatiladigan joyda rivojlanadi va chirish to‘xtaydi.</a:t>
            </a:r>
          </a:p>
          <a:p>
            <a:pPr>
              <a:spcAft>
                <a:spcPts val="800"/>
              </a:spcAft>
            </a:pPr>
            <a:r>
              <a:rPr sz="1600">
                <a:solidFill>
                  <a:srgbClr val="1F2937"/>
                </a:solidFill>
                <a:latin typeface="Calibri"/>
              </a:rPr>
              <a:t>▸  Yog‘-mo‘m (sovunlanish) nam yoki suvli, havosi kam, nisbatan sovuq muhitda hosil bo‘ladi. Yog‘ gidrolizlanib, yog‘ kislotalari sovunga aylanadi.</a:t>
            </a:r>
          </a:p>
          <a:p>
            <a:pPr>
              <a:spcAft>
                <a:spcPts val="800"/>
              </a:spcAft>
            </a:pPr>
            <a:r>
              <a:rPr sz="1600">
                <a:solidFill>
                  <a:srgbClr val="1F2937"/>
                </a:solidFill>
                <a:latin typeface="Calibri"/>
              </a:rPr>
              <a:t>▸  Torfli oshlash murda torfli botqoqqa tushganda sodir bo‘ladi. Gumus kislotalari to‘qimalarni suvsizlantiradi, murda ko‘p yillar saqlanadi.</a:t>
            </a:r>
          </a:p>
          <a:p>
            <a:pPr>
              <a:spcAft>
                <a:spcPts val="800"/>
              </a:spcAft>
            </a:pPr>
            <a:r>
              <a:rPr sz="1600">
                <a:solidFill>
                  <a:srgbClr val="1F2937"/>
                </a:solidFill>
                <a:latin typeface="Calibri"/>
              </a:rPr>
              <a:t>▸  Diqqat: xato qilish xavfi! Quruq-issiq muhit mumifikatsiyaga, nam-havosiz-sovuq muhit yog‘-momga olib keladi. Ikkalasida ham chirish to‘xtaydi.</a:t>
            </a:r>
          </a:p>
          <a:p>
            <a:pPr>
              <a:spcAft>
                <a:spcPts val="800"/>
              </a:spcAft>
            </a:pPr>
            <a:r>
              <a:rPr sz="1600">
                <a:solidFill>
                  <a:srgbClr val="1F2937"/>
                </a:solidFill>
                <a:latin typeface="Calibri"/>
              </a:rPr>
              <a:t>▸  To‘liq mumifikatsiyada tana 80-90% namlikni yo‘qotadi.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Saqlovchi o‘zgarishlar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Mumifikatsiya</a:t>
            </a:r>
          </a:p>
          <a:p>
            <a:pPr algn="l">
              <a:spcAft>
                <a:spcPts val="0"/>
              </a:spcAft>
            </a:pPr>
            <a:r>
              <a:rPr sz="1200" b="0">
                <a:solidFill>
                  <a:srgbClr val="1F2937"/>
                </a:solidFill>
                <a:latin typeface="Calibri"/>
              </a:rPr>
              <a:t>Issiq, quruq, ventilyatsiya  ·  Kattalarda 6-12 oy</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Yog‘-mo‘m</a:t>
            </a:r>
          </a:p>
          <a:p>
            <a:pPr algn="l">
              <a:spcAft>
                <a:spcPts val="0"/>
              </a:spcAft>
            </a:pPr>
            <a:r>
              <a:rPr sz="1200" b="0">
                <a:solidFill>
                  <a:srgbClr val="1F2937"/>
                </a:solidFill>
                <a:latin typeface="Calibri"/>
              </a:rPr>
              <a:t>Nam yoki suvli, havo kam  ·  Kattalarda 10-12 oy</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Torfli oshlash</a:t>
            </a:r>
          </a:p>
          <a:p>
            <a:pPr algn="l">
              <a:spcAft>
                <a:spcPts val="0"/>
              </a:spcAft>
            </a:pPr>
            <a:r>
              <a:rPr sz="1200" b="0">
                <a:solidFill>
                  <a:srgbClr val="1F2937"/>
                </a:solidFill>
                <a:latin typeface="Calibri"/>
              </a:rPr>
              <a:t>Torfli botqoq, gumus kislotalari  ·  Teri zich, suyak yumshaydi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 muhit</a:t>
            </a:r>
          </a:p>
          <a:p>
            <a:pPr algn="l">
              <a:spcAft>
                <a:spcPts val="0"/>
              </a:spcAft>
            </a:pPr>
            <a:r>
              <a:rPr sz="1200" b="0">
                <a:solidFill>
                  <a:srgbClr val="1F2937"/>
                </a:solidFill>
                <a:latin typeface="Calibri"/>
              </a:rPr>
              <a:t>Tuz, spirt, neft, moy, muz  ·  Yillar davomida saqlanadi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Saqlovchi kech o‘zgarishlar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 234, 233-234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Sun’iy o‘zgarishlar saqlovchi (balzamlash, muzlatish) va yemiruvchi (qismlash, yoqish, eritish) guruhlarga bo‘linadi. Ular o‘lim muddatiga bog‘liq emas.</a:t>
            </a:r>
          </a:p>
          <a:p>
            <a:pPr>
              <a:spcAft>
                <a:spcPts val="800"/>
              </a:spcAft>
            </a:pPr>
            <a:r>
              <a:rPr sz="1600">
                <a:solidFill>
                  <a:srgbClr val="1F2937"/>
                </a:solidFill>
                <a:latin typeface="Calibri"/>
              </a:rPr>
              <a:t>▸  Balzamlash qadimdan ma’lum (Misr fir’avnlari). Oddiy konservatsiyada son arteriyasi va bo‘shliqlarga etil spirti va formalin teng ulushda yuboriladi.</a:t>
            </a:r>
          </a:p>
          <a:p>
            <a:pPr>
              <a:spcAft>
                <a:spcPts val="800"/>
              </a:spcAft>
            </a:pPr>
            <a:r>
              <a:rPr sz="1600">
                <a:solidFill>
                  <a:srgbClr val="1F2937"/>
                </a:solidFill>
                <a:latin typeface="Calibri"/>
              </a:rPr>
              <a:t>▸  Defenziv qismlash – jinoyatni yashirish uchun. Offenziv qismlash – ehtiros, qasos, haqorat tufayli; unda jinoyat yashirilmaydi, aksincha oshkor etiladi.</a:t>
            </a:r>
          </a:p>
          <a:p>
            <a:pPr>
              <a:spcAft>
                <a:spcPts val="800"/>
              </a:spcAft>
            </a:pPr>
            <a:r>
              <a:rPr sz="1600">
                <a:solidFill>
                  <a:srgbClr val="1F2937"/>
                </a:solidFill>
                <a:latin typeface="Calibri"/>
              </a:rPr>
              <a:t>▸  Jinoyatni yashirishda murda kerosin, benzin bilan yoqilishi mumkin. Katta yoshli odamni to‘liq yoqish 20 soat, kichik bolani 2-3 soat oladi.</a:t>
            </a:r>
          </a:p>
          <a:p>
            <a:pPr>
              <a:spcAft>
                <a:spcPts val="800"/>
              </a:spcAft>
            </a:pPr>
            <a:r>
              <a:rPr sz="1600">
                <a:solidFill>
                  <a:srgbClr val="1F2937"/>
                </a:solidFill>
                <a:latin typeface="Calibri"/>
              </a:rPr>
              <a:t>▸  Eritish kam uchraydi, kislotalar ishlatiladi.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Sun’iy o‘zgarishlar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Saqlovchi</a:t>
            </a:r>
          </a:p>
          <a:p>
            <a:pPr algn="l">
              <a:spcAft>
                <a:spcPts val="0"/>
              </a:spcAft>
            </a:pPr>
            <a:r>
              <a:rPr sz="1200" b="0">
                <a:solidFill>
                  <a:srgbClr val="1F2937"/>
                </a:solidFill>
                <a:latin typeface="Calibri"/>
              </a:rPr>
              <a:t>Balzamlash  ·  Muzlatish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Yemiruvchi</a:t>
            </a:r>
          </a:p>
          <a:p>
            <a:pPr algn="l">
              <a:spcAft>
                <a:spcPts val="0"/>
              </a:spcAft>
            </a:pPr>
            <a:r>
              <a:rPr sz="1200" b="0">
                <a:solidFill>
                  <a:srgbClr val="1F2937"/>
                </a:solidFill>
                <a:latin typeface="Calibri"/>
              </a:rPr>
              <a:t>Qismlash (defenziv, offenziv)  ·  Yoqish, eritish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Yoqish vaqti</a:t>
            </a:r>
          </a:p>
          <a:p>
            <a:pPr algn="l">
              <a:spcAft>
                <a:spcPts val="0"/>
              </a:spcAft>
            </a:pPr>
            <a:r>
              <a:rPr sz="1200" b="0">
                <a:solidFill>
                  <a:srgbClr val="1F2937"/>
                </a:solidFill>
                <a:latin typeface="Calibri"/>
              </a:rPr>
              <a:t>Kattalar ~20 soat  ·  Kichik bola 2-3 soat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Sun’iy o‘zgarishlar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kech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katta yoshli odam murdasi suvli, havosi kam, sovuq muhitda topildi. Murda yumshoq, iflos-kul rangli, o‘ziga xos yoqimsiz hidli massa holatida.</a:t>
            </a:r>
          </a:p>
          <a:p>
            <a:pPr>
              <a:spcAft>
                <a:spcPts val="1200"/>
              </a:spcAft>
            </a:pPr>
            <a:r>
              <a:rPr sz="2200">
                <a:solidFill>
                  <a:srgbClr val="1F2937"/>
                </a:solidFill>
                <a:latin typeface="Calibri"/>
              </a:rPr>
              <a:t>▸  Vaziyat B: murda issiq, quruq, shamollatiladigan xonada topildi. Teri qo‘ng‘ir-qora va qattiq, murda vazni kichik, ichki a’zolar qurigan.</a:t>
            </a:r>
          </a:p>
          <a:p>
            <a:pPr>
              <a:spcAft>
                <a:spcPts val="1200"/>
              </a:spcAft>
            </a:pPr>
            <a:r>
              <a:rPr sz="2200">
                <a:solidFill>
                  <a:srgbClr val="1F2937"/>
                </a:solidFill>
                <a:latin typeface="Calibri"/>
              </a:rPr>
              <a:t>▸  Savol: har ikkala holatda qaysi kech o‘zgarish rivojlangan? Nega chirish to‘xtagan? Bu holatlarda jarohat izlari va shaxsni aniqlash imkoniyati qanday?</a:t>
            </a:r>
          </a:p>
          <a:p>
            <a:pPr>
              <a:spcAft>
                <a:spcPts val="1200"/>
              </a:spcAft>
            </a:pPr>
            <a:r>
              <a:rPr sz="2200">
                <a:solidFill>
                  <a:srgbClr val="1F2937"/>
                </a:solidFill>
                <a:latin typeface="Calibri"/>
              </a:rPr>
              <a:t>▸  Javob kaliti: A – yog‘-mo‘m (kattalarda 10-12 oy), B – mumifikatsiya (6-12 oy). Ikkalasida jarohat izlari va tashqi qiyofa qisman saqlanishi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234, 233, 233-234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Muddat murda o‘zgarishlari, to‘qimalarning supravital reaksiyalari va laboratoriya natijalariga tayanib aniqlanadi.</a:t>
            </a:r>
          </a:p>
          <a:p>
            <a:pPr>
              <a:spcAft>
                <a:spcPts val="800"/>
              </a:spcAft>
            </a:pPr>
            <a:r>
              <a:rPr sz="1600">
                <a:solidFill>
                  <a:srgbClr val="1F2937"/>
                </a:solidFill>
                <a:latin typeface="Calibri"/>
              </a:rPr>
              <a:t>▸  Rektal termometriya kamida ikki marta o‘tkaziladi, muddat sovush tezligiga qarab topiladi. Xona sharoitida tana harorati taxminan soatiga bir gradusga tushadi.</a:t>
            </a:r>
          </a:p>
          <a:p>
            <a:pPr>
              <a:spcAft>
                <a:spcPts val="800"/>
              </a:spcAft>
            </a:pPr>
            <a:r>
              <a:rPr sz="1600">
                <a:solidFill>
                  <a:srgbClr val="1F2937"/>
                </a:solidFill>
                <a:latin typeface="Calibri"/>
              </a:rPr>
              <a:t>▸  Fiddes–Patten va Burmann formulalarida t – o‘tgan vaqt (soat), T – murda harorati. Rektal harorat atrof-muhit bilan 30-31 soatdan keyin tenglashadi.</a:t>
            </a:r>
          </a:p>
          <a:p>
            <a:pPr>
              <a:spcAft>
                <a:spcPts val="800"/>
              </a:spcAft>
            </a:pPr>
            <a:r>
              <a:rPr sz="1600">
                <a:solidFill>
                  <a:srgbClr val="1F2937"/>
                </a:solidFill>
                <a:latin typeface="Calibri"/>
              </a:rPr>
              <a:t>▸  Yagona ishonchli usul yo‘q, shuning uchun imkon qadar ko‘p usul qo‘llanadi.</a:t>
            </a:r>
          </a:p>
          <a:p>
            <a:pPr>
              <a:spcAft>
                <a:spcPts val="800"/>
              </a:spcAft>
            </a:pPr>
            <a:r>
              <a:rPr sz="1600">
                <a:solidFill>
                  <a:srgbClr val="1F2937"/>
                </a:solidFill>
                <a:latin typeface="Calibri"/>
              </a:rPr>
              <a:t>▸  Vaqt o‘tgan sari aniqlik pasayadi: dastlab soatlar, kech o‘zgarishlarda kunlar, skeletda oylar va yillar.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O‘lim muddati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Rektal termometriya</a:t>
            </a:r>
          </a:p>
          <a:p>
            <a:pPr algn="l">
              <a:spcAft>
                <a:spcPts val="0"/>
              </a:spcAft>
            </a:pPr>
            <a:r>
              <a:rPr sz="1200" b="0">
                <a:solidFill>
                  <a:srgbClr val="1F2937"/>
                </a:solidFill>
                <a:latin typeface="Calibri"/>
              </a:rPr>
              <a:t>Kamida 2 marta o‘lchanadi  ·  Xonada ~1°S/soat</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Murda dog‘lari sinovi</a:t>
            </a:r>
          </a:p>
          <a:p>
            <a:pPr algn="l">
              <a:spcAft>
                <a:spcPts val="0"/>
              </a:spcAft>
            </a:pPr>
            <a:r>
              <a:rPr sz="1200" b="0">
                <a:solidFill>
                  <a:srgbClr val="1F2937"/>
                </a:solidFill>
                <a:latin typeface="Calibri"/>
              </a:rPr>
              <a:t>196 kPa, 3 soniya  ·  Rang tiklanishi vaqti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Laboratoriya</a:t>
            </a:r>
          </a:p>
          <a:p>
            <a:pPr algn="l">
              <a:spcAft>
                <a:spcPts val="0"/>
              </a:spcAft>
            </a:pPr>
            <a:r>
              <a:rPr sz="1200" b="0">
                <a:solidFill>
                  <a:srgbClr val="1F2937"/>
                </a:solidFill>
                <a:latin typeface="Calibri"/>
              </a:rPr>
              <a:t>Kaliy ortadi, natriy kamayadi  ·  AUF 12 soatdan so‘ng yo‘qoladi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Entomologik</a:t>
            </a:r>
          </a:p>
          <a:p>
            <a:pPr algn="l">
              <a:spcAft>
                <a:spcPts val="0"/>
              </a:spcAft>
            </a:pPr>
            <a:r>
              <a:rPr sz="1200" b="0">
                <a:solidFill>
                  <a:srgbClr val="1F2937"/>
                </a:solidFill>
                <a:latin typeface="Calibri"/>
              </a:rPr>
              <a:t>Hasharot turi va bosqichi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Aniqlik</a:t>
            </a:r>
          </a:p>
          <a:p>
            <a:pPr algn="l">
              <a:spcAft>
                <a:spcPts val="0"/>
              </a:spcAft>
            </a:pPr>
            <a:r>
              <a:rPr sz="1200" b="0">
                <a:solidFill>
                  <a:srgbClr val="1F2937"/>
                </a:solidFill>
                <a:latin typeface="Calibri"/>
              </a:rPr>
              <a:t>1-2 kunda soatlar  ·  Skeletda oy, yillar</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 muddatini aniqlash usullari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235-236, 224, 236, 237, 238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sud-tibbiy ekspertizasi va hujjatlashtirish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Ekspertiza surishtiruv, tergov yoki sud qarori bilan tayinlanadi.</a:t>
            </a:r>
          </a:p>
          <a:p>
            <a:pPr>
              <a:spcAft>
                <a:spcPts val="800"/>
              </a:spcAft>
            </a:pPr>
            <a:r>
              <a:rPr sz="1600">
                <a:solidFill>
                  <a:srgbClr val="1F2937"/>
                </a:solidFill>
                <a:latin typeface="Calibri"/>
              </a:rPr>
              <a:t>▸  Ekspertiza olti bosqichdan iborat.</a:t>
            </a:r>
          </a:p>
          <a:p>
            <a:pPr>
              <a:spcAft>
                <a:spcPts val="800"/>
              </a:spcAft>
            </a:pPr>
            <a:r>
              <a:rPr sz="1600">
                <a:solidFill>
                  <a:srgbClr val="1F2937"/>
                </a:solidFill>
                <a:latin typeface="Calibri"/>
              </a:rPr>
              <a:t>▸  Ekspert xulosasi uch qismdan iborat: kirish, tekshiruv va to‘xtam. Kirish bilan tekshiruv qismi birgalikda bayon qismi deyiladi.</a:t>
            </a:r>
          </a:p>
          <a:p>
            <a:pPr>
              <a:spcAft>
                <a:spcPts val="800"/>
              </a:spcAft>
            </a:pPr>
            <a:r>
              <a:rPr sz="1600">
                <a:solidFill>
                  <a:srgbClr val="1F2937"/>
                </a:solidFill>
                <a:latin typeface="Calibri"/>
              </a:rPr>
              <a:t>▸  Sud-tibbiy diagnoz va to‘xtamni faqat ekspert imzolaydi. Xulosa kamida ikki nusxada tuziladi: biri tayinlagan shaxsga, ikkinchisi muassasa arxiviga beriladi.</a:t>
            </a:r>
          </a:p>
          <a:p>
            <a:pPr>
              <a:spcAft>
                <a:spcPts val="800"/>
              </a:spcAft>
            </a:pPr>
            <a:r>
              <a:rPr sz="1600">
                <a:solidFill>
                  <a:srgbClr val="1F2937"/>
                </a:solidFill>
                <a:latin typeface="Calibri"/>
              </a:rPr>
              <a:t>▸  Ekspertiza zo‘raki o‘lim yoki unga shubha, noma’lum shaxs o‘limi va tibbiy yordamga shikoyat holatlarida o‘tkaziladi.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Materiallar</a:t>
            </a:r>
          </a:p>
          <a:p>
            <a:pPr algn="l">
              <a:spcAft>
                <a:spcPts val="200"/>
              </a:spcAft>
            </a:pPr>
            <a:r>
              <a:rPr sz="1400" b="0">
                <a:solidFill>
                  <a:srgbClr val="1F2937"/>
                </a:solidFill>
                <a:latin typeface="Calibri"/>
              </a:rPr>
              <a:t>Tanishish</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Tashqi</a:t>
            </a:r>
          </a:p>
          <a:p>
            <a:pPr algn="l">
              <a:spcAft>
                <a:spcPts val="200"/>
              </a:spcAft>
            </a:pPr>
            <a:r>
              <a:rPr sz="1400" b="0">
                <a:solidFill>
                  <a:srgbClr val="1F2937"/>
                </a:solidFill>
                <a:latin typeface="Calibri"/>
              </a:rPr>
              <a:t>Murda tashqi tekshiruvi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Ichki</a:t>
            </a:r>
          </a:p>
          <a:p>
            <a:pPr algn="l">
              <a:spcAft>
                <a:spcPts val="200"/>
              </a:spcAft>
            </a:pPr>
            <a:r>
              <a:rPr sz="1400" b="0">
                <a:solidFill>
                  <a:srgbClr val="1F2937"/>
                </a:solidFill>
                <a:latin typeface="Calibri"/>
              </a:rPr>
              <a:t>Uch bo‘shliq</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Diagnoz</a:t>
            </a:r>
          </a:p>
          <a:p>
            <a:pPr algn="l">
              <a:spcAft>
                <a:spcPts val="200"/>
              </a:spcAft>
            </a:pPr>
            <a:r>
              <a:rPr sz="1400" b="0">
                <a:solidFill>
                  <a:srgbClr val="1F2937"/>
                </a:solidFill>
                <a:latin typeface="Calibri"/>
              </a:rPr>
              <a:t>O‘lim guvohnomasi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Laboratoriya</a:t>
            </a:r>
          </a:p>
          <a:p>
            <a:pPr algn="l">
              <a:spcAft>
                <a:spcPts val="200"/>
              </a:spcAft>
            </a:pPr>
            <a:r>
              <a:rPr sz="1400" b="0">
                <a:solidFill>
                  <a:srgbClr val="1F2937"/>
                </a:solidFill>
                <a:latin typeface="Calibri"/>
              </a:rPr>
              <a:t>Qo‘shimcha tekshiruv</a:t>
            </a:r>
          </a:p>
        </p:txBody>
      </p:sp>
      <p:sp>
        <p:nvSpPr>
          <p:cNvPr id="24" name="Rounded Rectangle 23"/>
          <p:cNvSpPr/>
          <p:nvPr/>
        </p:nvSpPr>
        <p:spPr>
          <a:xfrm>
            <a:off x="8578443"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688171"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6</a:t>
            </a:r>
          </a:p>
        </p:txBody>
      </p:sp>
      <p:sp>
        <p:nvSpPr>
          <p:cNvPr id="26" name="TextBox 25"/>
          <p:cNvSpPr txBox="1"/>
          <p:nvPr/>
        </p:nvSpPr>
        <p:spPr>
          <a:xfrm>
            <a:off x="9218523"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Xulosa</a:t>
            </a:r>
          </a:p>
          <a:p>
            <a:pPr algn="l">
              <a:spcAft>
                <a:spcPts val="200"/>
              </a:spcAft>
            </a:pPr>
            <a:r>
              <a:rPr sz="1400" b="0">
                <a:solidFill>
                  <a:srgbClr val="1F2937"/>
                </a:solidFill>
                <a:latin typeface="Calibri"/>
              </a:rPr>
              <a:t>Ekspert xulosasi to‘xtami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bosqichlari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238, 238-239, 240, 240-241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Tanatogenez va o‘lim sabablari raqobati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Tanatogenez – o‘limning vujudga kelish mexanizmi, sabab-oqibat zanjiri. Birinchi bo‘g‘in – uzoq sabab, o‘rtadagilar – oraliq, oxirgisi – yaqin sabab.</a:t>
            </a:r>
          </a:p>
          <a:p>
            <a:pPr>
              <a:spcAft>
                <a:spcPts val="800"/>
              </a:spcAft>
            </a:pPr>
            <a:r>
              <a:rPr sz="1600">
                <a:solidFill>
                  <a:srgbClr val="1F2937"/>
                </a:solidFill>
                <a:latin typeface="Calibri"/>
              </a:rPr>
              <a:t>▸  Misol: oshqozon yarasi perforatsiyalanib, peritonit va sepsis rivojlandi. Yara – uzoq sabab, perforatsiya va peritonit – oraliq, sepsis – yaqin sabab.</a:t>
            </a:r>
          </a:p>
          <a:p>
            <a:pPr>
              <a:spcAft>
                <a:spcPts val="800"/>
              </a:spcAft>
            </a:pPr>
            <a:r>
              <a:rPr sz="1600">
                <a:solidFill>
                  <a:srgbClr val="1F2937"/>
                </a:solidFill>
                <a:latin typeface="Calibri"/>
              </a:rPr>
              <a:t>▸  Bir jarohatdan turli oraliq va yaqin sabablar kelib chiqishi mumkin.</a:t>
            </a:r>
          </a:p>
          <a:p>
            <a:pPr>
              <a:spcAft>
                <a:spcPts val="800"/>
              </a:spcAft>
            </a:pPr>
            <a:r>
              <a:rPr sz="1600">
                <a:solidFill>
                  <a:srgbClr val="1F2937"/>
                </a:solidFill>
                <a:latin typeface="Calibri"/>
              </a:rPr>
              <a:t>▸  Raqobatda ikki va undan ortiq jarohat yoki kasallik har biri o‘limga olib kelishi mumkin.</a:t>
            </a:r>
          </a:p>
          <a:p>
            <a:pPr>
              <a:spcAft>
                <a:spcPts val="800"/>
              </a:spcAft>
            </a:pPr>
            <a:r>
              <a:rPr sz="1600">
                <a:solidFill>
                  <a:srgbClr val="1F2937"/>
                </a:solidFill>
                <a:latin typeface="Calibri"/>
              </a:rPr>
              <a:t>▸  Masalan, sirka kislotasidan og‘riq shoki, asfiksiya, postgemorragik shok yoki sepsis rivojlanadi.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Oshqozon yarasi</a:t>
            </a:r>
          </a:p>
          <a:p>
            <a:pPr algn="l">
              <a:spcAft>
                <a:spcPts val="200"/>
              </a:spcAft>
            </a:pPr>
            <a:r>
              <a:rPr sz="1400" b="0">
                <a:solidFill>
                  <a:srgbClr val="1F2937"/>
                </a:solidFill>
                <a:latin typeface="Calibri"/>
              </a:rPr>
              <a:t>Uzoq sabab</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Perforatsiya</a:t>
            </a:r>
          </a:p>
          <a:p>
            <a:pPr algn="l">
              <a:spcAft>
                <a:spcPts val="200"/>
              </a:spcAft>
            </a:pPr>
            <a:r>
              <a:rPr sz="1400" b="0">
                <a:solidFill>
                  <a:srgbClr val="1F2937"/>
                </a:solidFill>
                <a:latin typeface="Calibri"/>
              </a:rPr>
              <a:t>Oraliq sabab</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Peritonit</a:t>
            </a:r>
          </a:p>
          <a:p>
            <a:pPr algn="l">
              <a:spcAft>
                <a:spcPts val="200"/>
              </a:spcAft>
            </a:pPr>
            <a:r>
              <a:rPr sz="1400" b="0">
                <a:solidFill>
                  <a:srgbClr val="1F2937"/>
                </a:solidFill>
                <a:latin typeface="Calibri"/>
              </a:rPr>
              <a:t>Oraliq sabab</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Sepsis</a:t>
            </a:r>
          </a:p>
          <a:p>
            <a:pPr algn="l">
              <a:spcAft>
                <a:spcPts val="200"/>
              </a:spcAft>
            </a:pPr>
            <a:r>
              <a:rPr sz="1400" b="0">
                <a:solidFill>
                  <a:srgbClr val="1F2937"/>
                </a:solidFill>
                <a:latin typeface="Calibri"/>
              </a:rPr>
              <a:t>Yaqin sabab</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Tanatogenez zanjiri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241, 241-242, 242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Noma’lum, qismlangan va skeletlangan murdalar; eksgumatsiya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Noma’lum shaxsda avval kiyim, poyafzal, “so‘z portreti”, hol, tatuirovka va chandiqlar tavsiflanadi.</a:t>
            </a:r>
          </a:p>
          <a:p>
            <a:pPr>
              <a:spcAft>
                <a:spcPts val="800"/>
              </a:spcAft>
            </a:pPr>
            <a:r>
              <a:rPr sz="1600">
                <a:solidFill>
                  <a:srgbClr val="1F2937"/>
                </a:solidFill>
                <a:latin typeface="Calibri"/>
              </a:rPr>
              <a:t>▸  Qismlangan murda tasodifiy (portlash, rels, aviatsiya travmasi) yoki qasddan bo‘ladi.</a:t>
            </a:r>
          </a:p>
          <a:p>
            <a:pPr>
              <a:spcAft>
                <a:spcPts val="800"/>
              </a:spcAft>
            </a:pPr>
            <a:r>
              <a:rPr sz="1600">
                <a:solidFill>
                  <a:srgbClr val="1F2937"/>
                </a:solidFill>
                <a:latin typeface="Calibri"/>
              </a:rPr>
              <a:t>▸  Skeletdan jins, yosh va bo‘y aniqlanadi, ammo o‘lim sababi ko‘pincha noma’lum qoladi. Suyakda diatom planktoni va ayrim zaharlar topilishi mumkin.</a:t>
            </a:r>
          </a:p>
          <a:p>
            <a:pPr>
              <a:spcAft>
                <a:spcPts val="800"/>
              </a:spcAft>
            </a:pPr>
            <a:r>
              <a:rPr sz="1600">
                <a:solidFill>
                  <a:srgbClr val="1F2937"/>
                </a:solidFill>
                <a:latin typeface="Calibri"/>
              </a:rPr>
              <a:t>▸  Eksgumatsiya — murdani qabrdan chiqarish.</a:t>
            </a:r>
          </a:p>
          <a:p>
            <a:pPr>
              <a:spcAft>
                <a:spcPts val="800"/>
              </a:spcAft>
            </a:pPr>
            <a:r>
              <a:rPr sz="1600">
                <a:solidFill>
                  <a:srgbClr val="1F2937"/>
                </a:solidFill>
                <a:latin typeface="Calibri"/>
              </a:rPr>
              <a:t>▸  Qismlar odamnikimi, bir kishigami, qaysi qurol bilan qismlangan — shular aniqlanadi.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Maxsus holatlar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Noma’lum shaxs</a:t>
            </a:r>
          </a:p>
          <a:p>
            <a:pPr algn="l">
              <a:spcAft>
                <a:spcPts val="0"/>
              </a:spcAft>
            </a:pPr>
            <a:r>
              <a:rPr sz="1200" b="0">
                <a:solidFill>
                  <a:srgbClr val="1F2937"/>
                </a:solidFill>
                <a:latin typeface="Calibri"/>
              </a:rPr>
              <a:t>So‘z portreti, kiyim, tatuirovka  ·  Qon guruhi, barmoq izi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Qismlangan murda</a:t>
            </a:r>
          </a:p>
          <a:p>
            <a:pPr algn="l">
              <a:spcAft>
                <a:spcPts val="0"/>
              </a:spcAft>
            </a:pPr>
            <a:r>
              <a:rPr sz="1200" b="0">
                <a:solidFill>
                  <a:srgbClr val="1F2937"/>
                </a:solidFill>
                <a:latin typeface="Calibri"/>
              </a:rPr>
              <a:t>Tasodifiy yoki qasddan  ·  Odamnikimi, qurol qaysi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Skelet</a:t>
            </a:r>
          </a:p>
          <a:p>
            <a:pPr algn="l">
              <a:spcAft>
                <a:spcPts val="0"/>
              </a:spcAft>
            </a:pPr>
            <a:r>
              <a:rPr sz="1200" b="0">
                <a:solidFill>
                  <a:srgbClr val="1F2937"/>
                </a:solidFill>
                <a:latin typeface="Calibri"/>
              </a:rPr>
              <a:t>Jins, yosh, bo‘y  ·  O‘lim sababi ko‘pincha noma’lum</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Eksgumatsiya</a:t>
            </a:r>
          </a:p>
          <a:p>
            <a:pPr algn="l">
              <a:spcAft>
                <a:spcPts val="0"/>
              </a:spcAft>
            </a:pPr>
            <a:r>
              <a:rPr sz="1200" b="0">
                <a:solidFill>
                  <a:srgbClr val="1F2937"/>
                </a:solidFill>
                <a:latin typeface="Calibri"/>
              </a:rPr>
              <a:t>Qaror yoki ajrim bilan  ·  Xolislar, bayonnoma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Noma’lum, qismlangan, skelet</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242-243, 243, 244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va patologo-anatomik tekshiruv; autopsiya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45</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Autopsiya uch xil: real (murdani ochib tekshirish), verbal (hujjat va qarindoshlar so‘rovi) va virtual (tomografiya, hozircha ilmiy muassasalarda).</a:t>
            </a:r>
          </a:p>
          <a:p>
            <a:pPr>
              <a:spcAft>
                <a:spcPts val="800"/>
              </a:spcAft>
            </a:pPr>
            <a:r>
              <a:rPr sz="1600">
                <a:solidFill>
                  <a:srgbClr val="1F2937"/>
                </a:solidFill>
                <a:latin typeface="Calibri"/>
              </a:rPr>
              <a:t>▸  Sud-tibbiy ekspertiza zo‘rakilikni tasdiqlash yoki inkor etish uchun, o‘lim joyidan qat’i nazar o‘tadi.</a:t>
            </a:r>
          </a:p>
          <a:p>
            <a:pPr>
              <a:spcAft>
                <a:spcPts val="800"/>
              </a:spcAft>
            </a:pPr>
            <a:r>
              <a:rPr sz="1600">
                <a:solidFill>
                  <a:srgbClr val="1F2937"/>
                </a:solidFill>
                <a:latin typeface="Calibri"/>
              </a:rPr>
              <a:t>▸  Diqqat: sud-tibbiy ≠ patologo-anatomik tekshiruv. Birida kiyim va jarohatlar sinchiklab o‘rganiladi, o‘lim muddati aniqlanadi; ikkinchisida bunday zarurat yo‘q.</a:t>
            </a:r>
          </a:p>
          <a:p>
            <a:pPr>
              <a:spcAft>
                <a:spcPts val="800"/>
              </a:spcAft>
            </a:pPr>
            <a:r>
              <a:rPr sz="1600">
                <a:solidFill>
                  <a:srgbClr val="1F2937"/>
                </a:solidFill>
                <a:latin typeface="Calibri"/>
              </a:rPr>
              <a:t>▸  Dafn hujjatlari sabab aniqlangach darhol beriladi; tekshiruv kerak bo‘lsa bir sutkadan kechiktirmay.</a:t>
            </a:r>
          </a:p>
          <a:p>
            <a:pPr>
              <a:spcAft>
                <a:spcPts val="800"/>
              </a:spcAft>
            </a:pPr>
            <a:r>
              <a:rPr sz="1600">
                <a:solidFill>
                  <a:srgbClr val="1F2937"/>
                </a:solidFill>
                <a:latin typeface="Calibri"/>
              </a:rPr>
              <a:t>▸  Murdaxonada uch sutkagacha saqlash kafolatlangan; guvohnomasiz berish taqiqlanadi.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 ekspertiza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 tergovchi qarori, sud ajrimi</a:t>
            </a:r>
          </a:p>
          <a:p>
            <a:pPr algn="l">
              <a:spcAft>
                <a:spcPts val="700"/>
              </a:spcAft>
            </a:pPr>
            <a:r>
              <a:rPr sz="1500" b="1">
                <a:solidFill>
                  <a:srgbClr val="C9A227"/>
                </a:solidFill>
                <a:latin typeface="Calibri"/>
              </a:rPr>
              <a:t>●  </a:t>
            </a:r>
            <a:r>
              <a:rPr sz="1500" b="0">
                <a:solidFill>
                  <a:srgbClr val="1F2937"/>
                </a:solidFill>
                <a:latin typeface="Calibri"/>
              </a:rPr>
              <a:t>Zo‘rakilikni aniqlash, o‘lim sababi</a:t>
            </a:r>
          </a:p>
          <a:p>
            <a:pPr algn="l">
              <a:spcAft>
                <a:spcPts val="700"/>
              </a:spcAft>
            </a:pPr>
            <a:r>
              <a:rPr sz="1500" b="1">
                <a:solidFill>
                  <a:srgbClr val="C9A227"/>
                </a:solidFill>
                <a:latin typeface="Calibri"/>
              </a:rPr>
              <a:t>●  </a:t>
            </a:r>
            <a:r>
              <a:rPr sz="1500" b="0">
                <a:solidFill>
                  <a:srgbClr val="1F2937"/>
                </a:solidFill>
                <a:latin typeface="Calibri"/>
              </a:rPr>
              <a:t>Ekspert xulosasi</a:t>
            </a:r>
          </a:p>
          <a:p>
            <a:pPr algn="l">
              <a:spcAft>
                <a:spcPts val="700"/>
              </a:spcAft>
            </a:pPr>
            <a:r>
              <a:rPr sz="1500" b="1">
                <a:solidFill>
                  <a:srgbClr val="C9A227"/>
                </a:solidFill>
                <a:latin typeface="Calibri"/>
              </a:rPr>
              <a:t>●  </a:t>
            </a:r>
            <a:r>
              <a:rPr sz="1500" b="0">
                <a:solidFill>
                  <a:srgbClr val="1F2937"/>
                </a:solidFill>
                <a:latin typeface="Calibri"/>
              </a:rPr>
              <a:t>O‘lim muddati muhim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Patologo-anatomik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 muassasa rahbari ko‘rsatmasi</a:t>
            </a:r>
          </a:p>
          <a:p>
            <a:pPr algn="l">
              <a:spcAft>
                <a:spcPts val="700"/>
              </a:spcAft>
            </a:pPr>
            <a:r>
              <a:rPr sz="1500" b="1">
                <a:solidFill>
                  <a:srgbClr val="C9A227"/>
                </a:solidFill>
                <a:latin typeface="Calibri"/>
              </a:rPr>
              <a:t>●  </a:t>
            </a:r>
            <a:r>
              <a:rPr sz="1500" b="0">
                <a:solidFill>
                  <a:srgbClr val="1F2937"/>
                </a:solidFill>
                <a:latin typeface="Calibri"/>
              </a:rPr>
              <a:t>Davolash to‘g‘riligini nazorat qilish</a:t>
            </a:r>
          </a:p>
          <a:p>
            <a:pPr algn="l">
              <a:spcAft>
                <a:spcPts val="700"/>
              </a:spcAft>
            </a:pPr>
            <a:r>
              <a:rPr sz="1500" b="1">
                <a:solidFill>
                  <a:srgbClr val="C9A227"/>
                </a:solidFill>
                <a:latin typeface="Calibri"/>
              </a:rPr>
              <a:t>●  </a:t>
            </a:r>
            <a:r>
              <a:rPr sz="1500" b="0">
                <a:solidFill>
                  <a:srgbClr val="1F2937"/>
                </a:solidFill>
                <a:latin typeface="Calibri"/>
              </a:rPr>
              <a:t>Bayonnoma — kasallik tarixiga</a:t>
            </a:r>
          </a:p>
          <a:p>
            <a:pPr algn="l">
              <a:spcAft>
                <a:spcPts val="700"/>
              </a:spcAft>
            </a:pPr>
            <a:r>
              <a:rPr sz="1500" b="1">
                <a:solidFill>
                  <a:srgbClr val="C9A227"/>
                </a:solidFill>
                <a:latin typeface="Calibri"/>
              </a:rPr>
              <a:t>●  </a:t>
            </a:r>
            <a:r>
              <a:rPr sz="1500" b="0">
                <a:solidFill>
                  <a:srgbClr val="1F2937"/>
                </a:solidFill>
                <a:latin typeface="Calibri"/>
              </a:rPr>
              <a:t>Tilxat talab qilinmaydi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tekshiruvning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245-246, 245, 246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Tanatologiya — o‘lim haqidagi ta’limot. O‘lish bosqichlari: preagoniya, terminal pauza, agoniya, klinik o‘lim, biologik o‘lim.</a:t>
            </a:r>
          </a:p>
          <a:p>
            <a:pPr>
              <a:spcAft>
                <a:spcPts val="1200"/>
              </a:spcAft>
            </a:pPr>
            <a:r>
              <a:rPr sz="2200">
                <a:solidFill>
                  <a:srgbClr val="1F2937"/>
                </a:solidFill>
                <a:latin typeface="Calibri"/>
              </a:rPr>
              <a:t>▸  Murda o‘zgarishlari ilk va kech, yemiruvchi va saqlovchi turlarga bo‘linadi.</a:t>
            </a:r>
          </a:p>
          <a:p>
            <a:pPr>
              <a:spcAft>
                <a:spcPts val="1200"/>
              </a:spcAft>
            </a:pPr>
            <a:r>
              <a:rPr sz="2200">
                <a:solidFill>
                  <a:srgbClr val="1F2937"/>
                </a:solidFill>
                <a:latin typeface="Calibri"/>
              </a:rPr>
              <a:t>▸  Tanatogenez — o‘lim mexanizmi: uzoq sabab (asosiy jarohat yoki kasallik), oraliq sabablar va yaqin sabab zanjiri.</a:t>
            </a:r>
          </a:p>
          <a:p>
            <a:pPr>
              <a:spcAft>
                <a:spcPts val="1200"/>
              </a:spcAft>
            </a:pPr>
            <a:r>
              <a:rPr sz="2200">
                <a:solidFill>
                  <a:srgbClr val="1F2937"/>
                </a:solidFill>
                <a:latin typeface="Calibri"/>
              </a:rPr>
              <a:t>▸  Takrorlash: klinik o‘lim necha daqiqa davom etadi? Murda dog‘lari qanday bosqichlardan o‘tadi? Sud-tibbiy va patologo-anatomik tekshiruv farqi nimada?</a:t>
            </a:r>
          </a:p>
          <a:p>
            <a:pPr>
              <a:spcAft>
                <a:spcPts val="1200"/>
              </a:spcAft>
            </a:pPr>
            <a:r>
              <a:rPr sz="2200">
                <a:solidFill>
                  <a:srgbClr val="1F2937"/>
                </a:solidFill>
                <a:latin typeface="Calibri"/>
              </a:rPr>
              <a:t>▸  O‘lim muddatini bitta usul bilan aniqlab bo‘lmaydi; vaqt o‘tgan sari aniqlik pasayadi.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217-218, 222-223, 238, 241, 218, 227, 245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(Kasper indeksi 1:2:8): murda havoda 1, suvda 2, yerda 8 barobar sekin chiriydi. Sababi, suv va yerda kislorod kam, harorat pastroq. Tartib: havo – suv – yer.</a:t>
            </a:r>
          </a:p>
          <a:p>
            <a:pPr>
              <a:spcAft>
                <a:spcPts val="1200"/>
              </a:spcAft>
            </a:pPr>
            <a:r>
              <a:rPr sz="1800">
                <a:solidFill>
                  <a:srgbClr val="1F2937"/>
                </a:solidFill>
                <a:latin typeface="Calibri"/>
              </a:rPr>
              <a:t>▸  Qiziqarli fakt: murda terisi qurib tortilgach, soch, soqol va timoqlar o‘sgandek ko‘rinadi. Bu soxta tasavvur, o‘limdan keyin ular o‘smaydi.</a:t>
            </a:r>
          </a:p>
          <a:p>
            <a:pPr>
              <a:spcAft>
                <a:spcPts val="1200"/>
              </a:spcAft>
            </a:pPr>
            <a:r>
              <a:rPr sz="1800">
                <a:solidFill>
                  <a:srgbClr val="1F2937"/>
                </a:solidFill>
                <a:latin typeface="Calibri"/>
              </a:rPr>
              <a:t>▸  Hodisa tahlili: tanada ko‘kimtir dog‘lar topildi. Murda dog‘lari barmoq bilan bosilganda (gipostaz va staz bosqichida) yo‘qoladi yoki oqaradi. Qontalashlar o‘zgarmaydi. Shubhali sohada xochsimon kesma qilinadi: dog‘da qon tomchilari, qontalashda ivigan qon ko‘rinadi.</a:t>
            </a:r>
          </a:p>
          <a:p>
            <a:pPr>
              <a:spcAft>
                <a:spcPts val="1200"/>
              </a:spcAft>
            </a:pPr>
            <a:r>
              <a:rPr sz="1800">
                <a:solidFill>
                  <a:srgbClr val="1F2937"/>
                </a:solidFill>
                <a:latin typeface="Calibri"/>
              </a:rPr>
              <a:t>▸  Eslab qolish usuli (tanatogenez zanjiri): uzoq sabab – oraliq sabab – yaqin sabab. Misol: oshqozon yarasi (uzoq), perforatsiya va peritonit (oraliq), sepsis (yaqin). Diagnozda uzoq sabab birinchi yoziladi.</a:t>
            </a:r>
          </a:p>
          <a:p>
            <a:pPr>
              <a:spcAft>
                <a:spcPts val="1200"/>
              </a:spcAft>
            </a:pPr>
            <a:r>
              <a:rPr sz="1800">
                <a:solidFill>
                  <a:srgbClr val="1F2937"/>
                </a:solidFill>
                <a:latin typeface="Calibri"/>
              </a:rPr>
              <a:t>▸  Qiziqarli fakt: murdani balzamlash qadimgi Misr fir’avnlaridan ma’lum. Buyuk xirurg N.I.Pirogovning murdasi ham balzamlangan va Vinnitsa shahri yaqinidagi cherkov-nekropolda saqlanadi.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Ma’ruza: Sud-tibbiy tanatologiya.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(Tibbiyot oliy o‘quv yurtlari talabalari uchun darslik), Toshkent: Global Books nashriyoti. 2018. Bob 8 «Sud-tibbiy tanatologiya», 8.1-8.13-bo‘limlar, kitob beti 217-246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